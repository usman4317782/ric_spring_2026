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6256000" cy="9144000"/>
  <p:notesSz cx="9144000" cy="16256000"/>
  <p:embeddedFontLst>
    <p:embeddedFont>
      <p:font typeface="Quattrocento Sans" charset="-122" pitchFamily="34"/>
      <p:regular r:id="rId36"/>
    </p:embeddedFont>
    <p:embeddedFont>
      <p:font typeface="Liter" charset="-122" pitchFamily="34"/>
      <p:regular r:id="rId3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font" Target="fonts/font1.fntdata"/><Relationship Id="rId3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unity.com/download" TargetMode="Externa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nasa3d.arc.nasa.gov"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3rhuirp567422/mnt/agents/output/game-programming-week2/images/8_Lost_in_Space_Wallpaper_4K_Alone.png">    </p:cNvPr>
          <p:cNvPicPr>
            <a:picLocks noChangeAspect="1"/>
          </p:cNvPicPr>
          <p:nvPr/>
        </p:nvPicPr>
        <p:blipFill>
          <a:blip r:embed="rId1"/>
          <a:srcRect l="0" r="0"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A1D23">
                  <a:alpha val="69000"/>
                </a:srgbClr>
              </a:gs>
              <a:gs pos="100000">
                <a:srgbClr val="1A1D23">
                  <a:alpha val="94000"/>
                </a:srgbClr>
              </a:gs>
            </a:gsLst>
            <a:path path="circle"/>
          </a:gradFill>
          <a:ln w="12700">
            <a:solidFill>
              <a:srgbClr val="333333"/>
            </a:solidFill>
            <a:prstDash val="solid"/>
          </a:ln>
        </p:spPr>
      </p:sp>
      <p:sp>
        <p:nvSpPr>
          <p:cNvPr id="4" name="Shape 1"/>
          <p:cNvSpPr/>
          <p:nvPr/>
        </p:nvSpPr>
        <p:spPr>
          <a:xfrm>
            <a:off x="6858000" y="2921000"/>
            <a:ext cx="2540000" cy="38100"/>
          </a:xfrm>
          <a:prstGeom prst="rect">
            <a:avLst/>
          </a:prstGeom>
          <a:solidFill>
            <a:srgbClr val="FF6B35"/>
          </a:solidFill>
          <a:ln/>
        </p:spPr>
      </p:sp>
      <p:sp>
        <p:nvSpPr>
          <p:cNvPr id="5" name="Text 2"/>
          <p:cNvSpPr/>
          <p:nvPr/>
        </p:nvSpPr>
        <p:spPr>
          <a:xfrm>
            <a:off x="4318000" y="3175000"/>
            <a:ext cx="7620000" cy="279400"/>
          </a:xfrm>
          <a:prstGeom prst="rect">
            <a:avLst/>
          </a:prstGeom>
          <a:noFill/>
          <a:ln/>
        </p:spPr>
        <p:txBody>
          <a:bodyPr wrap="none" lIns="0" tIns="0" rIns="0" bIns="0" rtlCol="0" anchor="ctr"/>
          <a:lstStyle/>
          <a:p>
            <a:pPr algn="ctr">
              <a:lnSpc>
                <a:spcPct val="100000"/>
              </a:lnSpc>
            </a:pPr>
            <a:r>
              <a:rPr lang="en-US" sz="1300" spc="200" kern="0" dirty="0">
                <a:solidFill>
                  <a:srgbClr val="FF6B35"/>
                </a:solidFill>
                <a:latin typeface="Liter" pitchFamily="34" charset="0"/>
                <a:ea typeface="Liter" pitchFamily="34" charset="-122"/>
                <a:cs typeface="Liter" pitchFamily="34" charset="-120"/>
              </a:rPr>
              <a:t>GAME PROGRAMMING COURSE</a:t>
            </a:r>
            <a:endParaRPr lang="en-US" sz="1300" dirty="0"/>
          </a:p>
        </p:txBody>
      </p:sp>
      <p:sp>
        <p:nvSpPr>
          <p:cNvPr id="6" name="Text 3"/>
          <p:cNvSpPr/>
          <p:nvPr/>
        </p:nvSpPr>
        <p:spPr>
          <a:xfrm>
            <a:off x="2413000" y="3619500"/>
            <a:ext cx="11430000" cy="762000"/>
          </a:xfrm>
          <a:prstGeom prst="rect">
            <a:avLst/>
          </a:prstGeom>
          <a:noFill/>
          <a:ln/>
        </p:spPr>
        <p:txBody>
          <a:bodyPr wrap="none" lIns="0" tIns="0" rIns="0" bIns="0" rtlCol="0" anchor="ctr"/>
          <a:lstStyle/>
          <a:p>
            <a:pPr algn="ctr">
              <a:lnSpc>
                <a:spcPct val="100000"/>
              </a:lnSpc>
            </a:pPr>
            <a:r>
              <a:rPr lang="en-US" sz="4800" spc="400" kern="0" dirty="0">
                <a:solidFill>
                  <a:srgbClr val="FFFFFF"/>
                </a:solidFill>
                <a:latin typeface="Liter" pitchFamily="34" charset="0"/>
                <a:ea typeface="Liter" pitchFamily="34" charset="-122"/>
                <a:cs typeface="Liter" pitchFamily="34" charset="-120"/>
              </a:rPr>
              <a:t>WEEK 2</a:t>
            </a:r>
            <a:endParaRPr lang="en-US" sz="4000" dirty="0"/>
          </a:p>
        </p:txBody>
      </p:sp>
      <p:sp>
        <p:nvSpPr>
          <p:cNvPr id="7" name="Text 4"/>
          <p:cNvSpPr/>
          <p:nvPr/>
        </p:nvSpPr>
        <p:spPr>
          <a:xfrm>
            <a:off x="3048000" y="4572000"/>
            <a:ext cx="10160000" cy="444500"/>
          </a:xfrm>
          <a:prstGeom prst="rect">
            <a:avLst/>
          </a:prstGeom>
          <a:noFill/>
          <a:ln/>
        </p:spPr>
        <p:txBody>
          <a:bodyPr wrap="none" lIns="0" tIns="0" rIns="0" bIns="0" rtlCol="0" anchor="ctr"/>
          <a:lstStyle/>
          <a:p>
            <a:pPr algn="ctr">
              <a:lnSpc>
                <a:spcPct val="150000"/>
              </a:lnSpc>
            </a:pPr>
            <a:r>
              <a:rPr lang="en-US" sz="2000" dirty="0">
                <a:solidFill>
                  <a:srgbClr val="A0A5AD"/>
                </a:solidFill>
                <a:latin typeface="QuattrocentoSans" pitchFamily="34" charset="0"/>
                <a:ea typeface="QuattrocentoSans" pitchFamily="34" charset="-122"/>
                <a:cs typeface="QuattrocentoSans" pitchFamily="34" charset="-120"/>
              </a:rPr>
              <a:t>Unity Engine Fundamentals &amp; Project Setup</a:t>
            </a:r>
            <a:endParaRPr lang="en-US" sz="2000" dirty="0"/>
          </a:p>
        </p:txBody>
      </p:sp>
      <p:sp>
        <p:nvSpPr>
          <p:cNvPr id="8" name="Shape 5"/>
          <p:cNvSpPr/>
          <p:nvPr/>
        </p:nvSpPr>
        <p:spPr>
          <a:xfrm>
            <a:off x="6858000" y="5270500"/>
            <a:ext cx="2540000" cy="38100"/>
          </a:xfrm>
          <a:prstGeom prst="rect">
            <a:avLst/>
          </a:prstGeom>
          <a:solidFill>
            <a:srgbClr val="FF6B35"/>
          </a:solidFill>
          <a:ln/>
        </p:spPr>
      </p:sp>
      <p:sp>
        <p:nvSpPr>
          <p:cNvPr id="9" name="Text 6"/>
          <p:cNvSpPr/>
          <p:nvPr/>
        </p:nvSpPr>
        <p:spPr>
          <a:xfrm>
            <a:off x="4318000" y="7493000"/>
            <a:ext cx="7620000" cy="825500"/>
          </a:xfrm>
          <a:prstGeom prst="rect">
            <a:avLst/>
          </a:prstGeom>
          <a:noFill/>
          <a:ln/>
        </p:spPr>
        <p:txBody>
          <a:bodyPr wrap="square" lIns="0" tIns="0" rIns="0" bIns="0" rtlCol="0" anchor="ctr"/>
          <a:lstStyle/>
          <a:p>
            <a:pPr algn="ct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Lecture 3 — Game Engine Overview &amp; Unity Installation</a:t>
            </a:r>
            <a:endParaRPr lang="en-US" sz="1600" dirty="0"/>
          </a:p>
          <a:p>
            <a:pPr algn="ct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Lecture 4 — Unity Project Setup &amp; Editor Interface</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762000" y="635000"/>
            <a:ext cx="635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This Week's Agenda</a:t>
            </a:r>
            <a:endParaRPr lang="en-US" sz="2800" dirty="0"/>
          </a:p>
        </p:txBody>
      </p:sp>
      <p:sp>
        <p:nvSpPr>
          <p:cNvPr id="3" name="Shape 1"/>
          <p:cNvSpPr/>
          <p:nvPr/>
        </p:nvSpPr>
        <p:spPr>
          <a:xfrm>
            <a:off x="762000" y="1206500"/>
            <a:ext cx="762000" cy="50800"/>
          </a:xfrm>
          <a:prstGeom prst="rect">
            <a:avLst/>
          </a:prstGeom>
          <a:solidFill>
            <a:srgbClr val="FF6B35"/>
          </a:solidFill>
          <a:ln/>
        </p:spPr>
      </p:sp>
      <p:sp>
        <p:nvSpPr>
          <p:cNvPr id="4" name="Text 2"/>
          <p:cNvSpPr/>
          <p:nvPr/>
        </p:nvSpPr>
        <p:spPr>
          <a:xfrm>
            <a:off x="13970000" y="6985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5" name="Shape 3"/>
          <p:cNvSpPr/>
          <p:nvPr/>
        </p:nvSpPr>
        <p:spPr>
          <a:xfrm>
            <a:off x="8128000" y="1778000"/>
            <a:ext cx="0" cy="6350000"/>
          </a:xfrm>
          <a:prstGeom prst="straightConnector1">
            <a:avLst/>
          </a:prstGeom>
          <a:noFill/>
          <a:ln w="12700">
            <a:solidFill>
              <a:srgbClr val="E8EAED"/>
            </a:solidFill>
            <a:prstDash val="solid"/>
            <a:headEnd type="none"/>
            <a:tailEnd type="none"/>
          </a:ln>
        </p:spPr>
      </p:sp>
      <p:sp>
        <p:nvSpPr>
          <p:cNvPr id="6" name="Shape 4"/>
          <p:cNvSpPr/>
          <p:nvPr/>
        </p:nvSpPr>
        <p:spPr>
          <a:xfrm>
            <a:off x="762000" y="2032000"/>
            <a:ext cx="635000" cy="635000"/>
          </a:xfrm>
          <a:prstGeom prst="rect">
            <a:avLst/>
          </a:prstGeom>
          <a:solidFill>
            <a:srgbClr val="FF6B35"/>
          </a:solidFill>
          <a:ln/>
        </p:spPr>
      </p:sp>
      <p:sp>
        <p:nvSpPr>
          <p:cNvPr id="7" name="Text 5"/>
          <p:cNvSpPr/>
          <p:nvPr/>
        </p:nvSpPr>
        <p:spPr>
          <a:xfrm>
            <a:off x="762000" y="2032000"/>
            <a:ext cx="635000" cy="635000"/>
          </a:xfrm>
          <a:prstGeom prst="rect">
            <a:avLst/>
          </a:prstGeom>
          <a:noFill/>
          <a:ln/>
        </p:spPr>
        <p:txBody>
          <a:bodyPr wrap="none" lIns="0" tIns="0" rIns="0" bIns="0" rtlCol="0" anchor="ctr"/>
          <a:lstStyle/>
          <a:p>
            <a:pPr algn="ctr">
              <a:lnSpc>
                <a:spcPct val="100000"/>
              </a:lnSpc>
            </a:pPr>
            <a:r>
              <a:rPr lang="en-US" sz="2000" dirty="0">
                <a:solidFill>
                  <a:srgbClr val="FFFFFF"/>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1651000" y="2032000"/>
            <a:ext cx="5969000" cy="381000"/>
          </a:xfrm>
          <a:prstGeom prst="rect">
            <a:avLst/>
          </a:prstGeom>
          <a:noFill/>
          <a:ln/>
        </p:spPr>
        <p:txBody>
          <a:bodyPr wrap="none" lIns="0" tIns="0" rIns="0" bIns="0" rtlCol="0" anchor="ctr"/>
          <a:lstStyle/>
          <a:p>
            <a:pPr>
              <a:lnSpc>
                <a:spcPct val="140000"/>
              </a:lnSpc>
            </a:pPr>
            <a:r>
              <a:rPr lang="en-US" sz="2200" dirty="0">
                <a:solidFill>
                  <a:srgbClr val="1A1D23"/>
                </a:solidFill>
                <a:latin typeface="Liter" pitchFamily="34" charset="0"/>
                <a:ea typeface="Liter" pitchFamily="34" charset="-122"/>
                <a:cs typeface="Liter" pitchFamily="34" charset="-120"/>
              </a:rPr>
              <a:t>Lecture 3</a:t>
            </a:r>
            <a:endParaRPr lang="en-US" sz="2000" dirty="0"/>
          </a:p>
        </p:txBody>
      </p:sp>
      <p:sp>
        <p:nvSpPr>
          <p:cNvPr id="9" name="Text 7"/>
          <p:cNvSpPr/>
          <p:nvPr/>
        </p:nvSpPr>
        <p:spPr>
          <a:xfrm>
            <a:off x="1651000" y="2476500"/>
            <a:ext cx="5969000" cy="317500"/>
          </a:xfrm>
          <a:prstGeom prst="rect">
            <a:avLst/>
          </a:prstGeom>
          <a:noFill/>
          <a:ln/>
        </p:spPr>
        <p:txBody>
          <a:bodyPr wrap="none" lIns="0" tIns="0" rIns="0" bIns="0" rtlCol="0" anchor="ctr"/>
          <a:lstStyle/>
          <a:p>
            <a:pPr>
              <a:lnSpc>
                <a:spcPct val="140000"/>
              </a:lnSpc>
            </a:pPr>
            <a:r>
              <a:rPr lang="en-US" sz="1400" dirty="0">
                <a:solidFill>
                  <a:srgbClr val="6B7280"/>
                </a:solidFill>
                <a:latin typeface="QuattrocentoSans" pitchFamily="34" charset="0"/>
                <a:ea typeface="QuattrocentoSans" pitchFamily="34" charset="-122"/>
                <a:cs typeface="QuattrocentoSans" pitchFamily="34" charset="-120"/>
              </a:rPr>
              <a:t>Game Engine Overview &amp; Unity Installation</a:t>
            </a:r>
            <a:endParaRPr lang="en-US" sz="1400" dirty="0"/>
          </a:p>
        </p:txBody>
      </p:sp>
      <p:sp>
        <p:nvSpPr>
          <p:cNvPr id="10" name="Text 8"/>
          <p:cNvSpPr/>
          <p:nvPr/>
        </p:nvSpPr>
        <p:spPr>
          <a:xfrm>
            <a:off x="762000" y="3302000"/>
            <a:ext cx="6858000" cy="4826000"/>
          </a:xfrm>
          <a:prstGeom prst="rect">
            <a:avLst/>
          </a:prstGeom>
          <a:noFill/>
          <a:ln/>
        </p:spPr>
        <p:txBody>
          <a:bodyPr wrap="square" lIns="0" tIns="0" rIns="0" bIns="0" rtlCol="0" anchor="t"/>
          <a:lstStyle/>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What is a Game Engine?</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Core Components of Game Engines</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Popular Game Engines Comparison</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Why Unity for This Course?</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Solar System Project Overview</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Project Goals &amp; Learning Outcomes</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Download &amp; Install Unity Hub</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Installing the Unity Editor</a:t>
            </a:r>
            <a:endParaRPr lang="en-US" sz="1800" dirty="0"/>
          </a:p>
        </p:txBody>
      </p:sp>
      <p:sp>
        <p:nvSpPr>
          <p:cNvPr id="11" name="Shape 9"/>
          <p:cNvSpPr/>
          <p:nvPr/>
        </p:nvSpPr>
        <p:spPr>
          <a:xfrm>
            <a:off x="8636000" y="2032000"/>
            <a:ext cx="635000" cy="635000"/>
          </a:xfrm>
          <a:prstGeom prst="rect">
            <a:avLst/>
          </a:prstGeom>
          <a:solidFill>
            <a:srgbClr val="FF6B35"/>
          </a:solidFill>
          <a:ln/>
        </p:spPr>
      </p:sp>
      <p:sp>
        <p:nvSpPr>
          <p:cNvPr id="12" name="Text 10"/>
          <p:cNvSpPr/>
          <p:nvPr/>
        </p:nvSpPr>
        <p:spPr>
          <a:xfrm>
            <a:off x="8636000" y="2032000"/>
            <a:ext cx="635000" cy="635000"/>
          </a:xfrm>
          <a:prstGeom prst="rect">
            <a:avLst/>
          </a:prstGeom>
          <a:noFill/>
          <a:ln/>
        </p:spPr>
        <p:txBody>
          <a:bodyPr wrap="none" lIns="0" tIns="0" rIns="0" bIns="0" rtlCol="0" anchor="ctr"/>
          <a:lstStyle/>
          <a:p>
            <a:pPr algn="ctr">
              <a:lnSpc>
                <a:spcPct val="100000"/>
              </a:lnSpc>
            </a:pPr>
            <a:r>
              <a:rPr lang="en-US" sz="2000" dirty="0">
                <a:solidFill>
                  <a:srgbClr val="FFFFFF"/>
                </a:solidFill>
                <a:latin typeface="Liter" pitchFamily="34" charset="0"/>
                <a:ea typeface="Liter" pitchFamily="34" charset="-122"/>
                <a:cs typeface="Liter" pitchFamily="34" charset="-120"/>
              </a:rPr>
              <a:t>02</a:t>
            </a:r>
            <a:endParaRPr lang="en-US" sz="1600" dirty="0"/>
          </a:p>
        </p:txBody>
      </p:sp>
      <p:sp>
        <p:nvSpPr>
          <p:cNvPr id="13" name="Text 11"/>
          <p:cNvSpPr/>
          <p:nvPr/>
        </p:nvSpPr>
        <p:spPr>
          <a:xfrm>
            <a:off x="9525000" y="2032000"/>
            <a:ext cx="5969000" cy="381000"/>
          </a:xfrm>
          <a:prstGeom prst="rect">
            <a:avLst/>
          </a:prstGeom>
          <a:noFill/>
          <a:ln/>
        </p:spPr>
        <p:txBody>
          <a:bodyPr wrap="none" lIns="0" tIns="0" rIns="0" bIns="0" rtlCol="0" anchor="ctr"/>
          <a:lstStyle/>
          <a:p>
            <a:pPr>
              <a:lnSpc>
                <a:spcPct val="140000"/>
              </a:lnSpc>
            </a:pPr>
            <a:r>
              <a:rPr lang="en-US" sz="2200" dirty="0">
                <a:solidFill>
                  <a:srgbClr val="1A1D23"/>
                </a:solidFill>
                <a:latin typeface="Liter" pitchFamily="34" charset="0"/>
                <a:ea typeface="Liter" pitchFamily="34" charset="-122"/>
                <a:cs typeface="Liter" pitchFamily="34" charset="-120"/>
              </a:rPr>
              <a:t>Lecture 4</a:t>
            </a:r>
            <a:endParaRPr lang="en-US" sz="2000" dirty="0"/>
          </a:p>
        </p:txBody>
      </p:sp>
      <p:sp>
        <p:nvSpPr>
          <p:cNvPr id="14" name="Text 12"/>
          <p:cNvSpPr/>
          <p:nvPr/>
        </p:nvSpPr>
        <p:spPr>
          <a:xfrm>
            <a:off x="9525000" y="2476500"/>
            <a:ext cx="5969000" cy="317500"/>
          </a:xfrm>
          <a:prstGeom prst="rect">
            <a:avLst/>
          </a:prstGeom>
          <a:noFill/>
          <a:ln/>
        </p:spPr>
        <p:txBody>
          <a:bodyPr wrap="none" lIns="0" tIns="0" rIns="0" bIns="0" rtlCol="0" anchor="ctr"/>
          <a:lstStyle/>
          <a:p>
            <a:pPr>
              <a:lnSpc>
                <a:spcPct val="140000"/>
              </a:lnSpc>
            </a:pPr>
            <a:r>
              <a:rPr lang="en-US" sz="1400" dirty="0">
                <a:solidFill>
                  <a:srgbClr val="6B7280"/>
                </a:solidFill>
                <a:latin typeface="QuattrocentoSans" pitchFamily="34" charset="0"/>
                <a:ea typeface="QuattrocentoSans" pitchFamily="34" charset="-122"/>
                <a:cs typeface="QuattrocentoSans" pitchFamily="34" charset="-120"/>
              </a:rPr>
              <a:t>Unity Project Setup &amp; Editor Interface</a:t>
            </a:r>
            <a:endParaRPr lang="en-US" sz="1400" dirty="0"/>
          </a:p>
        </p:txBody>
      </p:sp>
      <p:sp>
        <p:nvSpPr>
          <p:cNvPr id="15" name="Text 13"/>
          <p:cNvSpPr/>
          <p:nvPr/>
        </p:nvSpPr>
        <p:spPr>
          <a:xfrm>
            <a:off x="8636000" y="3302000"/>
            <a:ext cx="6858000" cy="4826000"/>
          </a:xfrm>
          <a:prstGeom prst="rect">
            <a:avLst/>
          </a:prstGeom>
          <a:noFill/>
          <a:ln/>
        </p:spPr>
        <p:txBody>
          <a:bodyPr wrap="square" lIns="0" tIns="0" rIns="0" bIns="0" rtlCol="0" anchor="t"/>
          <a:lstStyle/>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Launching Unity for the First Time</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Creating a New Unity Project</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Understanding Project Templates</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Downloading Project Assets</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Importing Assets into Unity</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Asset Organization Best Practices</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Unity Editor Interface Overview</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Scene View, Game View &amp; Windows</a:t>
            </a:r>
            <a:endParaRPr lang="en-US" sz="1800" dirty="0"/>
          </a:p>
          <a:p>
            <a:pPr>
              <a:lnSpc>
                <a:spcPct val="18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80000"/>
              </a:lnSpc>
            </a:pPr>
            <a:r>
              <a:rPr lang="en-US" sz="1600" dirty="0">
                <a:solidFill>
                  <a:srgbClr val="1E2328"/>
                </a:solidFill>
                <a:latin typeface="QuattrocentoSans" pitchFamily="34" charset="0"/>
                <a:ea typeface="QuattrocentoSans" pitchFamily="34" charset="-122"/>
                <a:cs typeface="QuattrocentoSans" pitchFamily="34" charset="-120"/>
              </a:rPr>
              <a:t> Toolbar &amp; Customizing Layout</a:t>
            </a:r>
            <a:endParaRPr lang="en-US" sz="1800" dirty="0"/>
          </a:p>
        </p:txBody>
      </p:sp>
      <p:sp>
        <p:nvSpPr>
          <p:cNvPr id="16" name="Shape 14"/>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ttps://kimi-img.moonshot.cn/pub/slides/okc/3rhuirp567422/mnt/agents/output/game-programming-week2/images/2_Deep_Space_Nebula_Background_Images.png">    </p:cNvPr>
          <p:cNvPicPr>
            <a:picLocks noChangeAspect="1"/>
          </p:cNvPicPr>
          <p:nvPr/>
        </p:nvPicPr>
        <p:blipFill>
          <a:blip r:embed="rId1"/>
          <a:srcRect l="0" r="0" t="862" b="862"/>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A1D23">
                  <a:alpha val="94000"/>
                </a:srgbClr>
              </a:gs>
              <a:gs pos="50000">
                <a:srgbClr val="1A1D23">
                  <a:alpha val="82000"/>
                </a:srgbClr>
              </a:gs>
              <a:gs pos="100000">
                <a:srgbClr val="1A1D23">
                  <a:alpha val="63000"/>
                </a:srgbClr>
              </a:gs>
            </a:gsLst>
            <a:lin ang="0" scaled="1"/>
          </a:gradFill>
          <a:ln w="12700">
            <a:solidFill>
              <a:srgbClr val="333333"/>
            </a:solidFill>
            <a:prstDash val="solid"/>
          </a:ln>
        </p:spPr>
      </p:sp>
      <p:sp>
        <p:nvSpPr>
          <p:cNvPr id="4" name="Text 1"/>
          <p:cNvSpPr/>
          <p:nvPr/>
        </p:nvSpPr>
        <p:spPr>
          <a:xfrm>
            <a:off x="762000" y="1524000"/>
            <a:ext cx="5080000" cy="2032000"/>
          </a:xfrm>
          <a:prstGeom prst="rect">
            <a:avLst/>
          </a:prstGeom>
          <a:noFill/>
          <a:ln/>
        </p:spPr>
        <p:txBody>
          <a:bodyPr wrap="none" lIns="0" tIns="0" rIns="0" bIns="0" rtlCol="0" anchor="ctr"/>
          <a:lstStyle/>
          <a:p>
            <a:pPr>
              <a:lnSpc>
                <a:spcPct val="100000"/>
              </a:lnSpc>
            </a:pPr>
            <a:r>
              <a:rPr lang="en-US" sz="12000" spc="400" kern="0" dirty="0">
                <a:solidFill>
                  <a:srgbClr val="FFFFFF">
                    <a:alpha val="8235"/>
                  </a:srgbClr>
                </a:solidFill>
                <a:latin typeface="Liter" pitchFamily="34" charset="0"/>
                <a:ea typeface="Liter" pitchFamily="34" charset="-122"/>
                <a:cs typeface="Liter" pitchFamily="34" charset="-120"/>
              </a:rPr>
              <a:t>01</a:t>
            </a:r>
            <a:endParaRPr lang="en-US" sz="12000" dirty="0"/>
          </a:p>
        </p:txBody>
      </p:sp>
      <p:sp>
        <p:nvSpPr>
          <p:cNvPr id="5" name="Shape 2"/>
          <p:cNvSpPr/>
          <p:nvPr/>
        </p:nvSpPr>
        <p:spPr>
          <a:xfrm>
            <a:off x="762000" y="3810000"/>
            <a:ext cx="1016000" cy="50800"/>
          </a:xfrm>
          <a:prstGeom prst="rect">
            <a:avLst/>
          </a:prstGeom>
          <a:solidFill>
            <a:srgbClr val="FF6B35"/>
          </a:solidFill>
          <a:ln/>
        </p:spPr>
      </p:sp>
      <p:sp>
        <p:nvSpPr>
          <p:cNvPr id="6" name="Text 3"/>
          <p:cNvSpPr/>
          <p:nvPr/>
        </p:nvSpPr>
        <p:spPr>
          <a:xfrm>
            <a:off x="762000" y="4064000"/>
            <a:ext cx="2540000" cy="279400"/>
          </a:xfrm>
          <a:prstGeom prst="rect">
            <a:avLst/>
          </a:prstGeom>
          <a:noFill/>
          <a:ln/>
        </p:spPr>
        <p:txBody>
          <a:bodyPr wrap="none" lIns="0" tIns="0" rIns="0" bIns="0" rtlCol="0" anchor="ctr"/>
          <a:lstStyle/>
          <a:p>
            <a:pPr>
              <a:lnSpc>
                <a:spcPct val="100000"/>
              </a:lnSpc>
            </a:pPr>
            <a:r>
              <a:rPr lang="en-US" sz="1300" spc="200" kern="0" dirty="0">
                <a:solidFill>
                  <a:srgbClr val="FF6B35"/>
                </a:solidFill>
                <a:latin typeface="Liter" pitchFamily="34" charset="0"/>
                <a:ea typeface="Liter" pitchFamily="34" charset="-122"/>
                <a:cs typeface="Liter" pitchFamily="34" charset="-120"/>
              </a:rPr>
              <a:t>LECTURE 3</a:t>
            </a:r>
            <a:endParaRPr lang="en-US" sz="1300" dirty="0"/>
          </a:p>
        </p:txBody>
      </p:sp>
      <p:sp>
        <p:nvSpPr>
          <p:cNvPr id="7" name="Text 4"/>
          <p:cNvSpPr/>
          <p:nvPr/>
        </p:nvSpPr>
        <p:spPr>
          <a:xfrm>
            <a:off x="762000" y="4508500"/>
            <a:ext cx="8890000" cy="635000"/>
          </a:xfrm>
          <a:prstGeom prst="rect">
            <a:avLst/>
          </a:prstGeom>
          <a:noFill/>
          <a:ln/>
        </p:spPr>
        <p:txBody>
          <a:bodyPr wrap="none" lIns="0" tIns="0" rIns="0" bIns="0" rtlCol="0" anchor="ctr"/>
          <a:lstStyle/>
          <a:p>
            <a:pPr>
              <a:lnSpc>
                <a:spcPct val="100000"/>
              </a:lnSpc>
            </a:pPr>
            <a:r>
              <a:rPr lang="en-US" sz="3600" spc="100" kern="0" dirty="0">
                <a:solidFill>
                  <a:srgbClr val="FFFFFF"/>
                </a:solidFill>
                <a:latin typeface="Liter" pitchFamily="34" charset="0"/>
                <a:ea typeface="Liter" pitchFamily="34" charset="-122"/>
                <a:cs typeface="Liter" pitchFamily="34" charset="-120"/>
              </a:rPr>
              <a:t>Game Engines &amp; Unity Setup</a:t>
            </a:r>
            <a:endParaRPr lang="en-US" sz="4000" dirty="0"/>
          </a:p>
        </p:txBody>
      </p:sp>
      <p:sp>
        <p:nvSpPr>
          <p:cNvPr id="8" name="Text 5"/>
          <p:cNvSpPr/>
          <p:nvPr/>
        </p:nvSpPr>
        <p:spPr>
          <a:xfrm>
            <a:off x="762000" y="5270500"/>
            <a:ext cx="8890000" cy="381000"/>
          </a:xfrm>
          <a:prstGeom prst="rect">
            <a:avLst/>
          </a:prstGeom>
          <a:noFill/>
          <a:ln/>
        </p:spPr>
        <p:txBody>
          <a:bodyPr wrap="none" lIns="0" tIns="0" rIns="0" bIns="0" rtlCol="0" anchor="ctr"/>
          <a:lstStyle/>
          <a:p>
            <a:pPr>
              <a:lnSpc>
                <a:spcPct val="150000"/>
              </a:lnSpc>
            </a:pPr>
            <a:r>
              <a:rPr lang="en-US" sz="2000" dirty="0">
                <a:solidFill>
                  <a:srgbClr val="A0A5AD"/>
                </a:solidFill>
                <a:latin typeface="QuattrocentoSans" pitchFamily="34" charset="0"/>
                <a:ea typeface="QuattrocentoSans" pitchFamily="34" charset="-122"/>
                <a:cs typeface="QuattrocentoSans" pitchFamily="34" charset="-120"/>
              </a:rPr>
              <a:t>Game Engine Overview, Solar System Project &amp; Unity Installation</a:t>
            </a:r>
            <a:endParaRPr lang="en-US" sz="2000" dirty="0"/>
          </a:p>
        </p:txBody>
      </p:sp>
      <p:pic>
        <p:nvPicPr>
          <p:cNvPr id="9" name="Image 1" descr="https://kimi-img.moonshot.cn/pub/slides/okc/3rhuirp567422/mnt/agents/output/game-programming-week2/images/1_Unity_game_engine_Other_Logopedia.png">    </p:cNvPr>
          <p:cNvPicPr>
            <a:picLocks noChangeAspect="1"/>
          </p:cNvPicPr>
          <p:nvPr/>
        </p:nvPicPr>
        <p:blipFill>
          <a:blip r:embed="rId2"/>
          <a:srcRect l="-199" r="-199" t="0" b="0"/>
          <a:stretch/>
        </p:blipFill>
        <p:spPr>
          <a:xfrm>
            <a:off x="13970000" y="7366000"/>
            <a:ext cx="1524000" cy="1524000"/>
          </a:xfrm>
          <a:prstGeom prst="rect">
            <a:avLst/>
          </a:prstGeom>
        </p:spPr>
      </p:pic>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889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What Is a Game Engine?</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14732000" cy="1524000"/>
          </a:xfrm>
          <a:prstGeom prst="rect">
            <a:avLst/>
          </a:prstGeom>
          <a:solidFill>
            <a:srgbClr val="FFFFFF"/>
          </a:solidFill>
          <a:ln w="12700">
            <a:solidFill>
              <a:srgbClr val="E8EAED"/>
            </a:solidFill>
            <a:prstDash val="solid"/>
          </a:ln>
        </p:spPr>
      </p:sp>
      <p:sp>
        <p:nvSpPr>
          <p:cNvPr id="6" name="Shape 4"/>
          <p:cNvSpPr/>
          <p:nvPr/>
        </p:nvSpPr>
        <p:spPr>
          <a:xfrm>
            <a:off x="762000" y="1524000"/>
            <a:ext cx="50800" cy="1524000"/>
          </a:xfrm>
          <a:prstGeom prst="rect">
            <a:avLst/>
          </a:prstGeom>
          <a:solidFill>
            <a:srgbClr val="FF6B35"/>
          </a:solidFill>
          <a:ln/>
        </p:spPr>
      </p:sp>
      <p:sp>
        <p:nvSpPr>
          <p:cNvPr id="7" name="Text 5"/>
          <p:cNvSpPr/>
          <p:nvPr/>
        </p:nvSpPr>
        <p:spPr>
          <a:xfrm>
            <a:off x="1066800" y="1651000"/>
            <a:ext cx="14097000" cy="1270000"/>
          </a:xfrm>
          <a:prstGeom prst="rect">
            <a:avLst/>
          </a:prstGeom>
          <a:noFill/>
          <a:ln/>
        </p:spPr>
        <p:txBody>
          <a:bodyPr wrap="square" lIns="0" tIns="0" rIns="0" bIns="0" rtlCol="0" anchor="ctr"/>
          <a:lstStyle/>
          <a:p>
            <a:pPr>
              <a:lnSpc>
                <a:spcPct val="160000"/>
              </a:lnSpc>
            </a:pPr>
            <a:r>
              <a:rPr lang="en-US" sz="1800" dirty="0">
                <a:solidFill>
                  <a:srgbClr val="1E2328"/>
                </a:solidFill>
                <a:latin typeface="QuattrocentoSans" pitchFamily="34" charset="0"/>
                <a:ea typeface="QuattrocentoSans" pitchFamily="34" charset="-122"/>
                <a:cs typeface="QuattrocentoSans" pitchFamily="34" charset="-120"/>
              </a:rPr>
              <a:t>A </a:t>
            </a:r>
            <a:pPr>
              <a:lnSpc>
                <a:spcPct val="160000"/>
              </a:lnSpc>
            </a:pPr>
            <a:r>
              <a:rPr lang="en-US" sz="1800" b="1" dirty="0">
                <a:solidFill>
                  <a:srgbClr val="1E2328"/>
                </a:solidFill>
                <a:latin typeface="QuattrocentoSans" pitchFamily="34" charset="0"/>
                <a:ea typeface="QuattrocentoSans" pitchFamily="34" charset="-122"/>
                <a:cs typeface="QuattrocentoSans" pitchFamily="34" charset="-120"/>
              </a:rPr>
              <a:t>game engine</a:t>
            </a:r>
            <a:pPr>
              <a:lnSpc>
                <a:spcPct val="160000"/>
              </a:lnSpc>
            </a:pPr>
            <a:r>
              <a:rPr lang="en-US" sz="1800" dirty="0">
                <a:solidFill>
                  <a:srgbClr val="1E2328"/>
                </a:solidFill>
                <a:latin typeface="QuattrocentoSans" pitchFamily="34" charset="0"/>
                <a:ea typeface="QuattrocentoSans" pitchFamily="34" charset="-122"/>
                <a:cs typeface="QuattrocentoSans" pitchFamily="34" charset="-120"/>
              </a:rPr>
              <a:t> is a software framework designed to help developers build video games. It provides core functionality including </a:t>
            </a:r>
            <a:pPr>
              <a:lnSpc>
                <a:spcPct val="160000"/>
              </a:lnSpc>
            </a:pPr>
            <a:r>
              <a:rPr lang="en-US" sz="1800" dirty="0">
                <a:solidFill>
                  <a:srgbClr val="FF6B35"/>
                </a:solidFill>
                <a:latin typeface="QuattrocentoSans" pitchFamily="34" charset="0"/>
                <a:ea typeface="QuattrocentoSans" pitchFamily="34" charset="-122"/>
                <a:cs typeface="QuattrocentoSans" pitchFamily="34" charset="-120"/>
              </a:rPr>
              <a:t>rendering, physics, audio, scripting, and asset management</a:t>
            </a:r>
            <a:pPr>
              <a:lnSpc>
                <a:spcPct val="160000"/>
              </a:lnSpc>
            </a:pPr>
            <a:r>
              <a:rPr lang="en-US" sz="1800" dirty="0">
                <a:solidFill>
                  <a:srgbClr val="1E2328"/>
                </a:solidFill>
                <a:latin typeface="QuattrocentoSans" pitchFamily="34" charset="0"/>
                <a:ea typeface="QuattrocentoSans" pitchFamily="34" charset="-122"/>
                <a:cs typeface="QuattrocentoSans" pitchFamily="34" charset="-120"/>
              </a:rPr>
              <a:t> — so developers can focus on creating gameplay rather than building technical systems from scratch.</a:t>
            </a:r>
            <a:endParaRPr lang="en-US" sz="1800" dirty="0"/>
          </a:p>
        </p:txBody>
      </p:sp>
      <p:sp>
        <p:nvSpPr>
          <p:cNvPr id="8" name="Text 6"/>
          <p:cNvSpPr/>
          <p:nvPr/>
        </p:nvSpPr>
        <p:spPr>
          <a:xfrm>
            <a:off x="762000" y="3429000"/>
            <a:ext cx="6350000" cy="381000"/>
          </a:xfrm>
          <a:prstGeom prst="rect">
            <a:avLst/>
          </a:prstGeom>
          <a:noFill/>
          <a:ln/>
        </p:spPr>
        <p:txBody>
          <a:bodyPr wrap="none" lIns="0" tIns="0" rIns="0" bIns="0" rtlCol="0" anchor="ctr"/>
          <a:lstStyle/>
          <a:p>
            <a:pPr>
              <a:lnSpc>
                <a:spcPct val="140000"/>
              </a:lnSpc>
            </a:pPr>
            <a:r>
              <a:rPr lang="en-US" sz="2000" dirty="0">
                <a:solidFill>
                  <a:srgbClr val="6B7280"/>
                </a:solidFill>
                <a:latin typeface="Liter" pitchFamily="34" charset="0"/>
                <a:ea typeface="Liter" pitchFamily="34" charset="-122"/>
                <a:cs typeface="Liter" pitchFamily="34" charset="-120"/>
              </a:rPr>
              <a:t>Beyond Gaming</a:t>
            </a:r>
            <a:endParaRPr lang="en-US" sz="2000" dirty="0"/>
          </a:p>
        </p:txBody>
      </p:sp>
      <p:sp>
        <p:nvSpPr>
          <p:cNvPr id="9" name="Text 7"/>
          <p:cNvSpPr/>
          <p:nvPr/>
        </p:nvSpPr>
        <p:spPr>
          <a:xfrm>
            <a:off x="762000" y="3937000"/>
            <a:ext cx="6858000" cy="2159000"/>
          </a:xfrm>
          <a:prstGeom prst="rect">
            <a:avLst/>
          </a:prstGeom>
          <a:noFill/>
          <a:ln/>
        </p:spPr>
        <p:txBody>
          <a:bodyPr wrap="square" lIns="0" tIns="0" rIns="0" bIns="0" rtlCol="0" anchor="t"/>
          <a:lstStyle/>
          <a:p>
            <a:pPr>
              <a:lnSpc>
                <a:spcPct val="170000"/>
              </a:lnSpc>
            </a:pPr>
            <a:r>
              <a:rPr lang="en-US" sz="1600" dirty="0">
                <a:solidFill>
                  <a:srgbClr val="1E2328"/>
                </a:solidFill>
                <a:latin typeface="QuattrocentoSans" pitchFamily="34" charset="0"/>
                <a:ea typeface="QuattrocentoSans" pitchFamily="34" charset="-122"/>
                <a:cs typeface="QuattrocentoSans" pitchFamily="34" charset="-120"/>
              </a:rPr>
              <a:t>Game engines now power industries far beyond entertainment:</a:t>
            </a:r>
            <a:endParaRPr lang="en-US" sz="1800" dirty="0"/>
          </a:p>
          <a:p>
            <a:pPr>
              <a:lnSpc>
                <a:spcPct val="17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70000"/>
              </a:lnSpc>
            </a:pPr>
            <a:r>
              <a:rPr lang="en-US" sz="1600" dirty="0">
                <a:solidFill>
                  <a:srgbClr val="1E2328"/>
                </a:solidFill>
                <a:latin typeface="QuattrocentoSans" pitchFamily="34" charset="0"/>
                <a:ea typeface="QuattrocentoSans" pitchFamily="34" charset="-122"/>
                <a:cs typeface="QuattrocentoSans" pitchFamily="34" charset="-120"/>
              </a:rPr>
              <a:t> </a:t>
            </a:r>
            <a:pPr>
              <a:lnSpc>
                <a:spcPct val="170000"/>
              </a:lnSpc>
            </a:pPr>
            <a:r>
              <a:rPr lang="en-US" sz="1600" b="1" dirty="0">
                <a:solidFill>
                  <a:srgbClr val="1E2328"/>
                </a:solidFill>
                <a:latin typeface="QuattrocentoSans" pitchFamily="34" charset="0"/>
                <a:ea typeface="QuattrocentoSans" pitchFamily="34" charset="-122"/>
                <a:cs typeface="QuattrocentoSans" pitchFamily="34" charset="-120"/>
              </a:rPr>
              <a:t>Film &amp; Animation</a:t>
            </a:r>
            <a:pPr>
              <a:lnSpc>
                <a:spcPct val="170000"/>
              </a:lnSpc>
            </a:pPr>
            <a:r>
              <a:rPr lang="en-US" sz="1600" dirty="0">
                <a:solidFill>
                  <a:srgbClr val="1E2328"/>
                </a:solidFill>
                <a:latin typeface="QuattrocentoSans" pitchFamily="34" charset="0"/>
                <a:ea typeface="QuattrocentoSans" pitchFamily="34" charset="-122"/>
                <a:cs typeface="QuattrocentoSans" pitchFamily="34" charset="-120"/>
              </a:rPr>
              <a:t> — virtual production</a:t>
            </a:r>
            <a:endParaRPr lang="en-US" sz="1800" dirty="0"/>
          </a:p>
          <a:p>
            <a:pPr>
              <a:lnSpc>
                <a:spcPct val="17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70000"/>
              </a:lnSpc>
            </a:pPr>
            <a:r>
              <a:rPr lang="en-US" sz="1600" dirty="0">
                <a:solidFill>
                  <a:srgbClr val="1E2328"/>
                </a:solidFill>
                <a:latin typeface="QuattrocentoSans" pitchFamily="34" charset="0"/>
                <a:ea typeface="QuattrocentoSans" pitchFamily="34" charset="-122"/>
                <a:cs typeface="QuattrocentoSans" pitchFamily="34" charset="-120"/>
              </a:rPr>
              <a:t> </a:t>
            </a:r>
            <a:pPr>
              <a:lnSpc>
                <a:spcPct val="170000"/>
              </a:lnSpc>
            </a:pPr>
            <a:r>
              <a:rPr lang="en-US" sz="1600" b="1" dirty="0">
                <a:solidFill>
                  <a:srgbClr val="1E2328"/>
                </a:solidFill>
                <a:latin typeface="QuattrocentoSans" pitchFamily="34" charset="0"/>
                <a:ea typeface="QuattrocentoSans" pitchFamily="34" charset="-122"/>
                <a:cs typeface="QuattrocentoSans" pitchFamily="34" charset="-120"/>
              </a:rPr>
              <a:t>Architecture</a:t>
            </a:r>
            <a:pPr>
              <a:lnSpc>
                <a:spcPct val="170000"/>
              </a:lnSpc>
            </a:pPr>
            <a:r>
              <a:rPr lang="en-US" sz="1600" dirty="0">
                <a:solidFill>
                  <a:srgbClr val="1E2328"/>
                </a:solidFill>
                <a:latin typeface="QuattrocentoSans" pitchFamily="34" charset="0"/>
                <a:ea typeface="QuattrocentoSans" pitchFamily="34" charset="-122"/>
                <a:cs typeface="QuattrocentoSans" pitchFamily="34" charset="-120"/>
              </a:rPr>
              <a:t> — 3D visualizations</a:t>
            </a:r>
            <a:endParaRPr lang="en-US" sz="1800" dirty="0"/>
          </a:p>
          <a:p>
            <a:pPr>
              <a:lnSpc>
                <a:spcPct val="17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70000"/>
              </a:lnSpc>
            </a:pPr>
            <a:r>
              <a:rPr lang="en-US" sz="1600" dirty="0">
                <a:solidFill>
                  <a:srgbClr val="1E2328"/>
                </a:solidFill>
                <a:latin typeface="QuattrocentoSans" pitchFamily="34" charset="0"/>
                <a:ea typeface="QuattrocentoSans" pitchFamily="34" charset="-122"/>
                <a:cs typeface="QuattrocentoSans" pitchFamily="34" charset="-120"/>
              </a:rPr>
              <a:t> </a:t>
            </a:r>
            <a:pPr>
              <a:lnSpc>
                <a:spcPct val="170000"/>
              </a:lnSpc>
            </a:pPr>
            <a:r>
              <a:rPr lang="en-US" sz="1600" b="1" dirty="0">
                <a:solidFill>
                  <a:srgbClr val="1E2328"/>
                </a:solidFill>
                <a:latin typeface="QuattrocentoSans" pitchFamily="34" charset="0"/>
                <a:ea typeface="QuattrocentoSans" pitchFamily="34" charset="-122"/>
                <a:cs typeface="QuattrocentoSans" pitchFamily="34" charset="-120"/>
              </a:rPr>
              <a:t>Automotive</a:t>
            </a:r>
            <a:pPr>
              <a:lnSpc>
                <a:spcPct val="170000"/>
              </a:lnSpc>
            </a:pPr>
            <a:r>
              <a:rPr lang="en-US" sz="1600" dirty="0">
                <a:solidFill>
                  <a:srgbClr val="1E2328"/>
                </a:solidFill>
                <a:latin typeface="QuattrocentoSans" pitchFamily="34" charset="0"/>
                <a:ea typeface="QuattrocentoSans" pitchFamily="34" charset="-122"/>
                <a:cs typeface="QuattrocentoSans" pitchFamily="34" charset="-120"/>
              </a:rPr>
              <a:t> — prototyping</a:t>
            </a:r>
            <a:endParaRPr lang="en-US" sz="1800" dirty="0"/>
          </a:p>
          <a:p>
            <a:pPr>
              <a:lnSpc>
                <a:spcPct val="170000"/>
              </a:lnSpc>
            </a:pPr>
            <a:r>
              <a:rPr lang="en-US" sz="1600" dirty="0">
                <a:solidFill>
                  <a:srgbClr val="FF6B35"/>
                </a:solidFill>
                <a:latin typeface="QuattrocentoSans" pitchFamily="34" charset="0"/>
                <a:ea typeface="QuattrocentoSans" pitchFamily="34" charset="-122"/>
                <a:cs typeface="QuattrocentoSans" pitchFamily="34" charset="-120"/>
              </a:rPr>
              <a:t>■</a:t>
            </a:r>
            <a:pPr>
              <a:lnSpc>
                <a:spcPct val="170000"/>
              </a:lnSpc>
            </a:pPr>
            <a:r>
              <a:rPr lang="en-US" sz="1600" dirty="0">
                <a:solidFill>
                  <a:srgbClr val="1E2328"/>
                </a:solidFill>
                <a:latin typeface="QuattrocentoSans" pitchFamily="34" charset="0"/>
                <a:ea typeface="QuattrocentoSans" pitchFamily="34" charset="-122"/>
                <a:cs typeface="QuattrocentoSans" pitchFamily="34" charset="-120"/>
              </a:rPr>
              <a:t> </a:t>
            </a:r>
            <a:pPr>
              <a:lnSpc>
                <a:spcPct val="170000"/>
              </a:lnSpc>
            </a:pPr>
            <a:r>
              <a:rPr lang="en-US" sz="1600" b="1" dirty="0">
                <a:solidFill>
                  <a:srgbClr val="1E2328"/>
                </a:solidFill>
                <a:latin typeface="QuattrocentoSans" pitchFamily="34" charset="0"/>
                <a:ea typeface="QuattrocentoSans" pitchFamily="34" charset="-122"/>
                <a:cs typeface="QuattrocentoSans" pitchFamily="34" charset="-120"/>
              </a:rPr>
              <a:t>VR/AR</a:t>
            </a:r>
            <a:pPr>
              <a:lnSpc>
                <a:spcPct val="170000"/>
              </a:lnSpc>
            </a:pPr>
            <a:r>
              <a:rPr lang="en-US" sz="1600" dirty="0">
                <a:solidFill>
                  <a:srgbClr val="1E2328"/>
                </a:solidFill>
                <a:latin typeface="QuattrocentoSans" pitchFamily="34" charset="0"/>
                <a:ea typeface="QuattrocentoSans" pitchFamily="34" charset="-122"/>
                <a:cs typeface="QuattrocentoSans" pitchFamily="34" charset="-120"/>
              </a:rPr>
              <a:t> — immersive experiences</a:t>
            </a:r>
            <a:endParaRPr lang="en-US" sz="1800" dirty="0"/>
          </a:p>
        </p:txBody>
      </p:sp>
      <p:sp>
        <p:nvSpPr>
          <p:cNvPr id="10" name="Shape 8"/>
          <p:cNvSpPr/>
          <p:nvPr/>
        </p:nvSpPr>
        <p:spPr>
          <a:xfrm>
            <a:off x="8128000" y="3429000"/>
            <a:ext cx="7366000" cy="2159000"/>
          </a:xfrm>
          <a:prstGeom prst="rect">
            <a:avLst/>
          </a:prstGeom>
          <a:solidFill>
            <a:srgbClr val="1A1D23"/>
          </a:solidFill>
          <a:ln/>
        </p:spPr>
      </p:sp>
      <p:sp>
        <p:nvSpPr>
          <p:cNvPr id="11" name="Shape 9"/>
          <p:cNvSpPr/>
          <p:nvPr/>
        </p:nvSpPr>
        <p:spPr>
          <a:xfrm>
            <a:off x="8489950" y="36195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FF6B35"/>
          </a:solidFill>
          <a:ln/>
        </p:spPr>
      </p:sp>
      <p:sp>
        <p:nvSpPr>
          <p:cNvPr id="12" name="Text 10"/>
          <p:cNvSpPr/>
          <p:nvPr/>
        </p:nvSpPr>
        <p:spPr>
          <a:xfrm>
            <a:off x="8890000" y="3619500"/>
            <a:ext cx="2540000" cy="355600"/>
          </a:xfrm>
          <a:prstGeom prst="rect">
            <a:avLst/>
          </a:prstGeom>
          <a:noFill/>
          <a:ln/>
        </p:spPr>
        <p:txBody>
          <a:bodyPr wrap="none" lIns="0" tIns="0" rIns="0" bIns="0" rtlCol="0" anchor="ctr"/>
          <a:lstStyle/>
          <a:p>
            <a:pPr>
              <a:lnSpc>
                <a:spcPct val="100000"/>
              </a:lnSpc>
            </a:pPr>
            <a:r>
              <a:rPr lang="en-US" sz="1300" spc="200" kern="0" dirty="0">
                <a:solidFill>
                  <a:srgbClr val="FF6B35"/>
                </a:solidFill>
                <a:latin typeface="Liter" pitchFamily="34" charset="0"/>
                <a:ea typeface="Liter" pitchFamily="34" charset="-122"/>
                <a:cs typeface="Liter" pitchFamily="34" charset="-120"/>
              </a:rPr>
              <a:t>ANALOGY</a:t>
            </a:r>
            <a:endParaRPr lang="en-US" sz="1600" dirty="0"/>
          </a:p>
        </p:txBody>
      </p:sp>
      <p:sp>
        <p:nvSpPr>
          <p:cNvPr id="13" name="Text 11"/>
          <p:cNvSpPr/>
          <p:nvPr/>
        </p:nvSpPr>
        <p:spPr>
          <a:xfrm>
            <a:off x="8445500" y="4064000"/>
            <a:ext cx="6731000" cy="1270000"/>
          </a:xfrm>
          <a:prstGeom prst="rect">
            <a:avLst/>
          </a:prstGeom>
          <a:noFill/>
          <a:ln/>
        </p:spPr>
        <p:txBody>
          <a:bodyPr wrap="square" lIns="0" tIns="0" rIns="0" bIns="0" rtlCol="0" anchor="t"/>
          <a:lstStyle/>
          <a:p>
            <a:pP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Think of a game engine like a </a:t>
            </a:r>
            <a:pPr>
              <a:lnSpc>
                <a:spcPct val="160000"/>
              </a:lnSpc>
            </a:pPr>
            <a:r>
              <a:rPr lang="en-US" sz="1600" b="1" dirty="0">
                <a:solidFill>
                  <a:srgbClr val="FFFFFF"/>
                </a:solidFill>
                <a:latin typeface="Quattrocento Sans" pitchFamily="34" charset="0"/>
                <a:ea typeface="Quattrocento Sans" pitchFamily="34" charset="-122"/>
                <a:cs typeface="Quattrocento Sans" pitchFamily="34" charset="-120"/>
              </a:rPr>
              <a:t>car chassis</a:t>
            </a:r>
            <a:pP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 — it provides the frame, engine, wheels, and controls. You don't build a car from raw metal; you design the body, interior, and driving experience on top of a proven platform.</a:t>
            </a:r>
            <a:endParaRPr lang="en-US" sz="1600" dirty="0"/>
          </a:p>
        </p:txBody>
      </p:sp>
      <p:sp>
        <p:nvSpPr>
          <p:cNvPr id="14" name="Shape 12"/>
          <p:cNvSpPr/>
          <p:nvPr/>
        </p:nvSpPr>
        <p:spPr>
          <a:xfrm>
            <a:off x="762000" y="6223000"/>
            <a:ext cx="14732000" cy="2159000"/>
          </a:xfrm>
          <a:prstGeom prst="rect">
            <a:avLst/>
          </a:prstGeom>
          <a:solidFill>
            <a:srgbClr val="FFFFFF"/>
          </a:solidFill>
          <a:ln w="12700">
            <a:solidFill>
              <a:srgbClr val="E8EAED"/>
            </a:solidFill>
            <a:prstDash val="solid"/>
          </a:ln>
        </p:spPr>
      </p:sp>
      <p:sp>
        <p:nvSpPr>
          <p:cNvPr id="15" name="Text 13"/>
          <p:cNvSpPr/>
          <p:nvPr/>
        </p:nvSpPr>
        <p:spPr>
          <a:xfrm>
            <a:off x="1270000" y="6477000"/>
            <a:ext cx="2540000" cy="635000"/>
          </a:xfrm>
          <a:prstGeom prst="rect">
            <a:avLst/>
          </a:prstGeom>
          <a:noFill/>
          <a:ln/>
        </p:spPr>
        <p:txBody>
          <a:bodyPr wrap="none" lIns="0" tIns="0" rIns="0" bIns="0" rtlCol="0" anchor="ctr"/>
          <a:lstStyle/>
          <a:p>
            <a:pPr algn="ctr">
              <a:lnSpc>
                <a:spcPct val="100000"/>
              </a:lnSpc>
            </a:pPr>
            <a:r>
              <a:rPr lang="en-US" sz="3600" dirty="0">
                <a:solidFill>
                  <a:srgbClr val="FF6B35"/>
                </a:solidFill>
                <a:latin typeface="Liter" pitchFamily="34" charset="0"/>
                <a:ea typeface="Liter" pitchFamily="34" charset="-122"/>
                <a:cs typeface="Liter" pitchFamily="34" charset="-120"/>
              </a:rPr>
              <a:t>50%</a:t>
            </a:r>
            <a:endParaRPr lang="en-US" sz="1600" dirty="0"/>
          </a:p>
        </p:txBody>
      </p:sp>
      <p:sp>
        <p:nvSpPr>
          <p:cNvPr id="16" name="Text 14"/>
          <p:cNvSpPr/>
          <p:nvPr/>
        </p:nvSpPr>
        <p:spPr>
          <a:xfrm>
            <a:off x="1016000" y="7175500"/>
            <a:ext cx="3048000" cy="571500"/>
          </a:xfrm>
          <a:prstGeom prst="rect">
            <a:avLst/>
          </a:prstGeom>
          <a:noFill/>
          <a:ln/>
        </p:spPr>
        <p:txBody>
          <a:bodyPr wrap="square" lIns="0" tIns="0" rIns="0" bIns="0" rtlCol="0" anchor="t"/>
          <a:lstStyle/>
          <a:p>
            <a:pPr algn="ct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of mobile games are built with Unity</a:t>
            </a:r>
            <a:endParaRPr lang="en-US" sz="1600" dirty="0"/>
          </a:p>
        </p:txBody>
      </p:sp>
      <p:sp>
        <p:nvSpPr>
          <p:cNvPr id="17" name="Shape 15"/>
          <p:cNvSpPr/>
          <p:nvPr/>
        </p:nvSpPr>
        <p:spPr>
          <a:xfrm>
            <a:off x="4826000" y="6604000"/>
            <a:ext cx="0" cy="1270000"/>
          </a:xfrm>
          <a:prstGeom prst="straightConnector1">
            <a:avLst/>
          </a:prstGeom>
          <a:noFill/>
          <a:ln w="12700">
            <a:solidFill>
              <a:srgbClr val="E8EAED"/>
            </a:solidFill>
            <a:prstDash val="solid"/>
            <a:headEnd type="none"/>
            <a:tailEnd type="none"/>
          </a:ln>
        </p:spPr>
      </p:sp>
      <p:sp>
        <p:nvSpPr>
          <p:cNvPr id="18" name="Text 16"/>
          <p:cNvSpPr/>
          <p:nvPr/>
        </p:nvSpPr>
        <p:spPr>
          <a:xfrm>
            <a:off x="5461000" y="6477000"/>
            <a:ext cx="2540000" cy="635000"/>
          </a:xfrm>
          <a:prstGeom prst="rect">
            <a:avLst/>
          </a:prstGeom>
          <a:noFill/>
          <a:ln/>
        </p:spPr>
        <p:txBody>
          <a:bodyPr wrap="none" lIns="0" tIns="0" rIns="0" bIns="0" rtlCol="0" anchor="ctr"/>
          <a:lstStyle/>
          <a:p>
            <a:pPr algn="ctr">
              <a:lnSpc>
                <a:spcPct val="100000"/>
              </a:lnSpc>
            </a:pPr>
            <a:r>
              <a:rPr lang="en-US" sz="3600" dirty="0">
                <a:solidFill>
                  <a:srgbClr val="FF6B35"/>
                </a:solidFill>
                <a:latin typeface="Liter" pitchFamily="34" charset="0"/>
                <a:ea typeface="Liter" pitchFamily="34" charset="-122"/>
                <a:cs typeface="Liter" pitchFamily="34" charset="-120"/>
              </a:rPr>
              <a:t>190+</a:t>
            </a:r>
            <a:endParaRPr lang="en-US" sz="1600" dirty="0"/>
          </a:p>
        </p:txBody>
      </p:sp>
      <p:sp>
        <p:nvSpPr>
          <p:cNvPr id="19" name="Text 17"/>
          <p:cNvSpPr/>
          <p:nvPr/>
        </p:nvSpPr>
        <p:spPr>
          <a:xfrm>
            <a:off x="5207000" y="7175500"/>
            <a:ext cx="3048000" cy="571500"/>
          </a:xfrm>
          <a:prstGeom prst="rect">
            <a:avLst/>
          </a:prstGeom>
          <a:noFill/>
          <a:ln/>
        </p:spPr>
        <p:txBody>
          <a:bodyPr wrap="square" lIns="0" tIns="0" rIns="0" bIns="0" rtlCol="0" anchor="t"/>
          <a:lstStyle/>
          <a:p>
            <a:pPr algn="ct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countries have Unity developers</a:t>
            </a:r>
            <a:endParaRPr lang="en-US" sz="1600" dirty="0"/>
          </a:p>
        </p:txBody>
      </p:sp>
      <p:sp>
        <p:nvSpPr>
          <p:cNvPr id="20" name="Shape 18"/>
          <p:cNvSpPr/>
          <p:nvPr/>
        </p:nvSpPr>
        <p:spPr>
          <a:xfrm>
            <a:off x="9017000" y="6604000"/>
            <a:ext cx="0" cy="1270000"/>
          </a:xfrm>
          <a:prstGeom prst="straightConnector1">
            <a:avLst/>
          </a:prstGeom>
          <a:noFill/>
          <a:ln w="12700">
            <a:solidFill>
              <a:srgbClr val="E8EAED"/>
            </a:solidFill>
            <a:prstDash val="solid"/>
            <a:headEnd type="none"/>
            <a:tailEnd type="none"/>
          </a:ln>
        </p:spPr>
      </p:sp>
      <p:sp>
        <p:nvSpPr>
          <p:cNvPr id="21" name="Text 19"/>
          <p:cNvSpPr/>
          <p:nvPr/>
        </p:nvSpPr>
        <p:spPr>
          <a:xfrm>
            <a:off x="9652000" y="6477000"/>
            <a:ext cx="2540000" cy="635000"/>
          </a:xfrm>
          <a:prstGeom prst="rect">
            <a:avLst/>
          </a:prstGeom>
          <a:noFill/>
          <a:ln/>
        </p:spPr>
        <p:txBody>
          <a:bodyPr wrap="none" lIns="0" tIns="0" rIns="0" bIns="0" rtlCol="0" anchor="ctr"/>
          <a:lstStyle/>
          <a:p>
            <a:pPr algn="ctr">
              <a:lnSpc>
                <a:spcPct val="100000"/>
              </a:lnSpc>
            </a:pPr>
            <a:r>
              <a:rPr lang="en-US" sz="3600" dirty="0">
                <a:solidFill>
                  <a:srgbClr val="FF6B35"/>
                </a:solidFill>
                <a:latin typeface="Liter" pitchFamily="34" charset="0"/>
                <a:ea typeface="Liter" pitchFamily="34" charset="-122"/>
                <a:cs typeface="Liter" pitchFamily="34" charset="-120"/>
              </a:rPr>
              <a:t>4.5B+</a:t>
            </a:r>
            <a:endParaRPr lang="en-US" sz="1600" dirty="0"/>
          </a:p>
        </p:txBody>
      </p:sp>
      <p:sp>
        <p:nvSpPr>
          <p:cNvPr id="22" name="Text 20"/>
          <p:cNvSpPr/>
          <p:nvPr/>
        </p:nvSpPr>
        <p:spPr>
          <a:xfrm>
            <a:off x="9398000" y="7175500"/>
            <a:ext cx="3048000" cy="698500"/>
          </a:xfrm>
          <a:prstGeom prst="rect">
            <a:avLst/>
          </a:prstGeom>
          <a:noFill/>
          <a:ln/>
        </p:spPr>
        <p:txBody>
          <a:bodyPr wrap="square" lIns="0" tIns="0" rIns="0" bIns="0" rtlCol="0" anchor="t"/>
          <a:lstStyle/>
          <a:p>
            <a:pPr algn="ct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downloads of Unity-made games per month</a:t>
            </a:r>
            <a:endParaRPr lang="en-US" sz="1600" dirty="0"/>
          </a:p>
        </p:txBody>
      </p:sp>
      <p:sp>
        <p:nvSpPr>
          <p:cNvPr id="23" name="Shape 21"/>
          <p:cNvSpPr/>
          <p:nvPr/>
        </p:nvSpPr>
        <p:spPr>
          <a:xfrm>
            <a:off x="13208000" y="6604000"/>
            <a:ext cx="0" cy="1270000"/>
          </a:xfrm>
          <a:prstGeom prst="straightConnector1">
            <a:avLst/>
          </a:prstGeom>
          <a:noFill/>
          <a:ln w="12700">
            <a:solidFill>
              <a:srgbClr val="E8EAED"/>
            </a:solidFill>
            <a:prstDash val="solid"/>
            <a:headEnd type="none"/>
            <a:tailEnd type="none"/>
          </a:ln>
        </p:spPr>
      </p:sp>
      <p:sp>
        <p:nvSpPr>
          <p:cNvPr id="24" name="Text 22"/>
          <p:cNvSpPr/>
          <p:nvPr/>
        </p:nvSpPr>
        <p:spPr>
          <a:xfrm>
            <a:off x="13462000" y="6477000"/>
            <a:ext cx="1778000" cy="635000"/>
          </a:xfrm>
          <a:prstGeom prst="rect">
            <a:avLst/>
          </a:prstGeom>
          <a:noFill/>
          <a:ln/>
        </p:spPr>
        <p:txBody>
          <a:bodyPr wrap="none" lIns="0" tIns="0" rIns="0" bIns="0" rtlCol="0" anchor="ctr"/>
          <a:lstStyle/>
          <a:p>
            <a:pPr algn="ctr">
              <a:lnSpc>
                <a:spcPct val="100000"/>
              </a:lnSpc>
            </a:pPr>
            <a:r>
              <a:rPr lang="en-US" sz="3600" dirty="0">
                <a:solidFill>
                  <a:srgbClr val="FF6B35"/>
                </a:solidFill>
                <a:latin typeface="Liter" pitchFamily="34" charset="0"/>
                <a:ea typeface="Liter" pitchFamily="34" charset="-122"/>
                <a:cs typeface="Liter" pitchFamily="34" charset="-120"/>
              </a:rPr>
              <a:t>70%</a:t>
            </a:r>
            <a:endParaRPr lang="en-US" sz="1600" dirty="0"/>
          </a:p>
        </p:txBody>
      </p:sp>
      <p:sp>
        <p:nvSpPr>
          <p:cNvPr id="25" name="Text 23"/>
          <p:cNvSpPr/>
          <p:nvPr/>
        </p:nvSpPr>
        <p:spPr>
          <a:xfrm>
            <a:off x="13462000" y="7175500"/>
            <a:ext cx="1778000" cy="698500"/>
          </a:xfrm>
          <a:prstGeom prst="rect">
            <a:avLst/>
          </a:prstGeom>
          <a:noFill/>
          <a:ln/>
        </p:spPr>
        <p:txBody>
          <a:bodyPr wrap="square" lIns="0" tIns="0" rIns="0" bIns="0" rtlCol="0" anchor="t"/>
          <a:lstStyle/>
          <a:p>
            <a:pPr algn="ct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of top mobile games use Unity</a:t>
            </a:r>
            <a:endParaRPr lang="en-US" sz="1600" dirty="0"/>
          </a:p>
        </p:txBody>
      </p:sp>
      <p:sp>
        <p:nvSpPr>
          <p:cNvPr id="26" name="Shape 24"/>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Core Components of a Game Engine</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4699000" cy="2159000"/>
          </a:xfrm>
          <a:prstGeom prst="rect">
            <a:avLst/>
          </a:prstGeom>
          <a:solidFill>
            <a:srgbClr val="FFFFFF"/>
          </a:solidFill>
          <a:ln w="12700">
            <a:solidFill>
              <a:srgbClr val="E8EAED"/>
            </a:solidFill>
            <a:prstDash val="solid"/>
          </a:ln>
        </p:spPr>
      </p:sp>
      <p:sp>
        <p:nvSpPr>
          <p:cNvPr id="6" name="Shape 4"/>
          <p:cNvSpPr/>
          <p:nvPr/>
        </p:nvSpPr>
        <p:spPr>
          <a:xfrm>
            <a:off x="762000" y="1524000"/>
            <a:ext cx="4699000" cy="50800"/>
          </a:xfrm>
          <a:prstGeom prst="rect">
            <a:avLst/>
          </a:prstGeom>
          <a:solidFill>
            <a:srgbClr val="FF6B35"/>
          </a:solidFill>
          <a:ln/>
        </p:spPr>
      </p:sp>
      <p:sp>
        <p:nvSpPr>
          <p:cNvPr id="7" name="Shape 5"/>
          <p:cNvSpPr/>
          <p:nvPr/>
        </p:nvSpPr>
        <p:spPr>
          <a:xfrm>
            <a:off x="993775" y="1778000"/>
            <a:ext cx="400050" cy="355600"/>
          </a:xfrm>
          <a:custGeom>
            <a:avLst/>
            <a:gdLst/>
            <a:ahLst/>
            <a:cxnLst/>
            <a:rect l="l" t="t" r="r" b="b"/>
            <a:pathLst>
              <a:path w="400050" h="355600">
                <a:moveTo>
                  <a:pt x="200025" y="22225"/>
                </a:moveTo>
                <a:cubicBezTo>
                  <a:pt x="143907" y="22225"/>
                  <a:pt x="98971" y="47784"/>
                  <a:pt x="66258" y="78204"/>
                </a:cubicBezTo>
                <a:cubicBezTo>
                  <a:pt x="33754" y="108416"/>
                  <a:pt x="12015" y="144463"/>
                  <a:pt x="1667" y="169257"/>
                </a:cubicBezTo>
                <a:cubicBezTo>
                  <a:pt x="-625" y="174744"/>
                  <a:pt x="-625" y="180856"/>
                  <a:pt x="1667" y="186343"/>
                </a:cubicBezTo>
                <a:cubicBezTo>
                  <a:pt x="12015" y="211138"/>
                  <a:pt x="33754" y="247253"/>
                  <a:pt x="66258" y="277396"/>
                </a:cubicBezTo>
                <a:cubicBezTo>
                  <a:pt x="98971" y="307747"/>
                  <a:pt x="143907" y="333375"/>
                  <a:pt x="200025" y="333375"/>
                </a:cubicBezTo>
                <a:cubicBezTo>
                  <a:pt x="256143" y="333375"/>
                  <a:pt x="301079" y="307816"/>
                  <a:pt x="333792" y="277396"/>
                </a:cubicBezTo>
                <a:cubicBezTo>
                  <a:pt x="366296" y="247184"/>
                  <a:pt x="388035" y="211138"/>
                  <a:pt x="398383" y="186343"/>
                </a:cubicBezTo>
                <a:cubicBezTo>
                  <a:pt x="400675" y="180856"/>
                  <a:pt x="400675" y="174744"/>
                  <a:pt x="398383" y="169257"/>
                </a:cubicBezTo>
                <a:cubicBezTo>
                  <a:pt x="388035" y="144462"/>
                  <a:pt x="366296" y="108347"/>
                  <a:pt x="333792" y="78204"/>
                </a:cubicBezTo>
                <a:cubicBezTo>
                  <a:pt x="301079" y="47853"/>
                  <a:pt x="256143" y="22225"/>
                  <a:pt x="200025" y="22225"/>
                </a:cubicBezTo>
                <a:close/>
                <a:moveTo>
                  <a:pt x="100013" y="177800"/>
                </a:moveTo>
                <a:cubicBezTo>
                  <a:pt x="100013" y="122602"/>
                  <a:pt x="144827" y="77788"/>
                  <a:pt x="200025" y="77788"/>
                </a:cubicBezTo>
                <a:cubicBezTo>
                  <a:pt x="255223" y="77788"/>
                  <a:pt x="300038" y="122602"/>
                  <a:pt x="300038" y="177800"/>
                </a:cubicBezTo>
                <a:cubicBezTo>
                  <a:pt x="300038" y="232998"/>
                  <a:pt x="255223" y="277813"/>
                  <a:pt x="200025" y="277813"/>
                </a:cubicBezTo>
                <a:cubicBezTo>
                  <a:pt x="144827" y="277813"/>
                  <a:pt x="100013" y="232998"/>
                  <a:pt x="100013" y="177800"/>
                </a:cubicBezTo>
                <a:close/>
                <a:moveTo>
                  <a:pt x="200025" y="133350"/>
                </a:moveTo>
                <a:cubicBezTo>
                  <a:pt x="200025" y="157867"/>
                  <a:pt x="180092" y="177800"/>
                  <a:pt x="155575" y="177800"/>
                </a:cubicBezTo>
                <a:cubicBezTo>
                  <a:pt x="147588" y="177800"/>
                  <a:pt x="140087" y="175716"/>
                  <a:pt x="133558" y="171966"/>
                </a:cubicBezTo>
                <a:cubicBezTo>
                  <a:pt x="132864" y="179536"/>
                  <a:pt x="133489" y="187315"/>
                  <a:pt x="135573" y="195024"/>
                </a:cubicBezTo>
                <a:cubicBezTo>
                  <a:pt x="145088" y="230584"/>
                  <a:pt x="181689" y="251698"/>
                  <a:pt x="217249" y="242183"/>
                </a:cubicBezTo>
                <a:cubicBezTo>
                  <a:pt x="252809" y="232668"/>
                  <a:pt x="273923" y="196066"/>
                  <a:pt x="264408" y="160506"/>
                </a:cubicBezTo>
                <a:cubicBezTo>
                  <a:pt x="255935" y="128766"/>
                  <a:pt x="225862" y="108555"/>
                  <a:pt x="194191" y="111333"/>
                </a:cubicBezTo>
                <a:cubicBezTo>
                  <a:pt x="197872" y="117793"/>
                  <a:pt x="200025" y="125293"/>
                  <a:pt x="200025" y="133350"/>
                </a:cubicBezTo>
                <a:close/>
              </a:path>
            </a:pathLst>
          </a:custGeom>
          <a:solidFill>
            <a:srgbClr val="FF6B35"/>
          </a:solidFill>
          <a:ln/>
        </p:spPr>
      </p:sp>
      <p:sp>
        <p:nvSpPr>
          <p:cNvPr id="8" name="Text 6"/>
          <p:cNvSpPr/>
          <p:nvPr/>
        </p:nvSpPr>
        <p:spPr>
          <a:xfrm>
            <a:off x="1498600" y="1778000"/>
            <a:ext cx="3683000" cy="3556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Rendering Engine</a:t>
            </a:r>
            <a:endParaRPr lang="en-US" sz="1600" dirty="0"/>
          </a:p>
        </p:txBody>
      </p:sp>
      <p:sp>
        <p:nvSpPr>
          <p:cNvPr id="9" name="Text 7"/>
          <p:cNvSpPr/>
          <p:nvPr/>
        </p:nvSpPr>
        <p:spPr>
          <a:xfrm>
            <a:off x="1016000" y="2260600"/>
            <a:ext cx="4191000" cy="12065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Handles 2D/3D graphics, shaders, lighting, and visual effects. Converts 3D models and textures into the images you see on screen.</a:t>
            </a:r>
            <a:endParaRPr lang="en-US" sz="1600" dirty="0"/>
          </a:p>
        </p:txBody>
      </p:sp>
      <p:sp>
        <p:nvSpPr>
          <p:cNvPr id="10" name="Shape 8"/>
          <p:cNvSpPr/>
          <p:nvPr/>
        </p:nvSpPr>
        <p:spPr>
          <a:xfrm>
            <a:off x="5778500" y="1524000"/>
            <a:ext cx="4699000" cy="2159000"/>
          </a:xfrm>
          <a:prstGeom prst="rect">
            <a:avLst/>
          </a:prstGeom>
          <a:solidFill>
            <a:srgbClr val="FFFFFF"/>
          </a:solidFill>
          <a:ln w="12700">
            <a:solidFill>
              <a:srgbClr val="E8EAED"/>
            </a:solidFill>
            <a:prstDash val="solid"/>
          </a:ln>
        </p:spPr>
      </p:sp>
      <p:sp>
        <p:nvSpPr>
          <p:cNvPr id="11" name="Shape 9"/>
          <p:cNvSpPr/>
          <p:nvPr/>
        </p:nvSpPr>
        <p:spPr>
          <a:xfrm>
            <a:off x="5778500" y="1524000"/>
            <a:ext cx="4699000" cy="50800"/>
          </a:xfrm>
          <a:prstGeom prst="rect">
            <a:avLst/>
          </a:prstGeom>
          <a:solidFill>
            <a:srgbClr val="FF6B35"/>
          </a:solidFill>
          <a:ln/>
        </p:spPr>
      </p:sp>
      <p:sp>
        <p:nvSpPr>
          <p:cNvPr id="12" name="Shape 10"/>
          <p:cNvSpPr/>
          <p:nvPr/>
        </p:nvSpPr>
        <p:spPr>
          <a:xfrm>
            <a:off x="6054725" y="1778000"/>
            <a:ext cx="311150" cy="355600"/>
          </a:xfrm>
          <a:custGeom>
            <a:avLst/>
            <a:gdLst/>
            <a:ahLst/>
            <a:cxnLst/>
            <a:rect l="l" t="t" r="r" b="b"/>
            <a:pathLst>
              <a:path w="311150" h="355600">
                <a:moveTo>
                  <a:pt x="155575" y="77788"/>
                </a:moveTo>
                <a:cubicBezTo>
                  <a:pt x="149463" y="77788"/>
                  <a:pt x="144463" y="72787"/>
                  <a:pt x="144463" y="66675"/>
                </a:cubicBezTo>
                <a:lnTo>
                  <a:pt x="144463" y="55563"/>
                </a:lnTo>
                <a:cubicBezTo>
                  <a:pt x="144463" y="24864"/>
                  <a:pt x="169327" y="0"/>
                  <a:pt x="200025" y="0"/>
                </a:cubicBezTo>
                <a:lnTo>
                  <a:pt x="211138" y="0"/>
                </a:lnTo>
                <a:cubicBezTo>
                  <a:pt x="217249" y="0"/>
                  <a:pt x="222250" y="5001"/>
                  <a:pt x="222250" y="11112"/>
                </a:cubicBezTo>
                <a:lnTo>
                  <a:pt x="222250" y="22225"/>
                </a:lnTo>
                <a:cubicBezTo>
                  <a:pt x="222250" y="52923"/>
                  <a:pt x="197386" y="77788"/>
                  <a:pt x="166688" y="77788"/>
                </a:cubicBezTo>
                <a:lnTo>
                  <a:pt x="155575" y="77788"/>
                </a:lnTo>
                <a:close/>
                <a:moveTo>
                  <a:pt x="0" y="200025"/>
                </a:moveTo>
                <a:cubicBezTo>
                  <a:pt x="0" y="147032"/>
                  <a:pt x="24795" y="88900"/>
                  <a:pt x="77788" y="88900"/>
                </a:cubicBezTo>
                <a:cubicBezTo>
                  <a:pt x="96748" y="88900"/>
                  <a:pt x="119251" y="96054"/>
                  <a:pt x="135225" y="102304"/>
                </a:cubicBezTo>
                <a:cubicBezTo>
                  <a:pt x="148282" y="107375"/>
                  <a:pt x="162937" y="107375"/>
                  <a:pt x="175994" y="102304"/>
                </a:cubicBezTo>
                <a:cubicBezTo>
                  <a:pt x="191899" y="96123"/>
                  <a:pt x="214471" y="88900"/>
                  <a:pt x="233432" y="88900"/>
                </a:cubicBezTo>
                <a:cubicBezTo>
                  <a:pt x="286425" y="88900"/>
                  <a:pt x="311219" y="147032"/>
                  <a:pt x="311219" y="200025"/>
                </a:cubicBezTo>
                <a:cubicBezTo>
                  <a:pt x="311219" y="288925"/>
                  <a:pt x="255657" y="355600"/>
                  <a:pt x="200094" y="355600"/>
                </a:cubicBezTo>
                <a:cubicBezTo>
                  <a:pt x="188635" y="355600"/>
                  <a:pt x="173633" y="351016"/>
                  <a:pt x="164326" y="347752"/>
                </a:cubicBezTo>
                <a:cubicBezTo>
                  <a:pt x="158700" y="345807"/>
                  <a:pt x="152589" y="345807"/>
                  <a:pt x="146963" y="347752"/>
                </a:cubicBezTo>
                <a:cubicBezTo>
                  <a:pt x="137656" y="351016"/>
                  <a:pt x="122654" y="355600"/>
                  <a:pt x="111194" y="355600"/>
                </a:cubicBezTo>
                <a:cubicBezTo>
                  <a:pt x="55632" y="355600"/>
                  <a:pt x="69" y="288925"/>
                  <a:pt x="69" y="200025"/>
                </a:cubicBezTo>
                <a:close/>
              </a:path>
            </a:pathLst>
          </a:custGeom>
          <a:solidFill>
            <a:srgbClr val="FF6B35"/>
          </a:solidFill>
          <a:ln/>
        </p:spPr>
      </p:sp>
      <p:sp>
        <p:nvSpPr>
          <p:cNvPr id="13" name="Text 11"/>
          <p:cNvSpPr/>
          <p:nvPr/>
        </p:nvSpPr>
        <p:spPr>
          <a:xfrm>
            <a:off x="6515100" y="1778000"/>
            <a:ext cx="3683000" cy="3556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Physics Engine</a:t>
            </a:r>
            <a:endParaRPr lang="en-US" sz="1600" dirty="0"/>
          </a:p>
        </p:txBody>
      </p:sp>
      <p:sp>
        <p:nvSpPr>
          <p:cNvPr id="14" name="Text 12"/>
          <p:cNvSpPr/>
          <p:nvPr/>
        </p:nvSpPr>
        <p:spPr>
          <a:xfrm>
            <a:off x="6032500" y="2260600"/>
            <a:ext cx="4191000" cy="12065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Simulates collisions, gravity, rigid bodies, and realistic motion. Makes objects behave naturally in the game world.</a:t>
            </a:r>
            <a:endParaRPr lang="en-US" sz="1600" dirty="0"/>
          </a:p>
        </p:txBody>
      </p:sp>
      <p:sp>
        <p:nvSpPr>
          <p:cNvPr id="15" name="Shape 13"/>
          <p:cNvSpPr/>
          <p:nvPr/>
        </p:nvSpPr>
        <p:spPr>
          <a:xfrm>
            <a:off x="10795000" y="1524000"/>
            <a:ext cx="4699000" cy="2159000"/>
          </a:xfrm>
          <a:prstGeom prst="rect">
            <a:avLst/>
          </a:prstGeom>
          <a:solidFill>
            <a:srgbClr val="FFFFFF"/>
          </a:solidFill>
          <a:ln w="12700">
            <a:solidFill>
              <a:srgbClr val="E8EAED"/>
            </a:solidFill>
            <a:prstDash val="solid"/>
          </a:ln>
        </p:spPr>
      </p:sp>
      <p:sp>
        <p:nvSpPr>
          <p:cNvPr id="16" name="Shape 14"/>
          <p:cNvSpPr/>
          <p:nvPr/>
        </p:nvSpPr>
        <p:spPr>
          <a:xfrm>
            <a:off x="10795000" y="1524000"/>
            <a:ext cx="4699000" cy="50800"/>
          </a:xfrm>
          <a:prstGeom prst="rect">
            <a:avLst/>
          </a:prstGeom>
          <a:solidFill>
            <a:srgbClr val="FF6B35"/>
          </a:solidFill>
          <a:ln/>
        </p:spPr>
      </p:sp>
      <p:sp>
        <p:nvSpPr>
          <p:cNvPr id="17" name="Shape 15"/>
          <p:cNvSpPr/>
          <p:nvPr/>
        </p:nvSpPr>
        <p:spPr>
          <a:xfrm>
            <a:off x="11049000" y="1778000"/>
            <a:ext cx="355600" cy="355600"/>
          </a:xfrm>
          <a:custGeom>
            <a:avLst/>
            <a:gdLst/>
            <a:ahLst/>
            <a:cxnLst/>
            <a:rect l="l" t="t" r="r" b="b"/>
            <a:pathLst>
              <a:path w="355600" h="355600">
                <a:moveTo>
                  <a:pt x="325041" y="4862"/>
                </a:moveTo>
                <a:cubicBezTo>
                  <a:pt x="330319" y="9098"/>
                  <a:pt x="333375" y="15488"/>
                  <a:pt x="333375" y="22225"/>
                </a:cubicBezTo>
                <a:lnTo>
                  <a:pt x="333375" y="233363"/>
                </a:lnTo>
                <a:cubicBezTo>
                  <a:pt x="333375" y="264061"/>
                  <a:pt x="303510" y="288925"/>
                  <a:pt x="266700" y="288925"/>
                </a:cubicBezTo>
                <a:cubicBezTo>
                  <a:pt x="229890" y="288925"/>
                  <a:pt x="200025" y="264061"/>
                  <a:pt x="200025" y="233363"/>
                </a:cubicBezTo>
                <a:cubicBezTo>
                  <a:pt x="200025" y="202664"/>
                  <a:pt x="229890" y="177800"/>
                  <a:pt x="266700" y="177800"/>
                </a:cubicBezTo>
                <a:cubicBezTo>
                  <a:pt x="274479" y="177800"/>
                  <a:pt x="281980" y="178911"/>
                  <a:pt x="288925" y="180995"/>
                </a:cubicBezTo>
                <a:lnTo>
                  <a:pt x="288925" y="99943"/>
                </a:lnTo>
                <a:lnTo>
                  <a:pt x="133350" y="134531"/>
                </a:lnTo>
                <a:lnTo>
                  <a:pt x="133350" y="277813"/>
                </a:lnTo>
                <a:cubicBezTo>
                  <a:pt x="133350" y="308511"/>
                  <a:pt x="103485" y="333375"/>
                  <a:pt x="66675" y="333375"/>
                </a:cubicBezTo>
                <a:cubicBezTo>
                  <a:pt x="29865" y="333375"/>
                  <a:pt x="0" y="308511"/>
                  <a:pt x="0" y="277813"/>
                </a:cubicBezTo>
                <a:cubicBezTo>
                  <a:pt x="0" y="247114"/>
                  <a:pt x="29865" y="222250"/>
                  <a:pt x="66675" y="222250"/>
                </a:cubicBezTo>
                <a:cubicBezTo>
                  <a:pt x="74454" y="222250"/>
                  <a:pt x="81955" y="223361"/>
                  <a:pt x="88900" y="225445"/>
                </a:cubicBezTo>
                <a:lnTo>
                  <a:pt x="88900" y="66675"/>
                </a:lnTo>
                <a:cubicBezTo>
                  <a:pt x="88900" y="56257"/>
                  <a:pt x="96123" y="47228"/>
                  <a:pt x="106333" y="45006"/>
                </a:cubicBezTo>
                <a:lnTo>
                  <a:pt x="306358" y="556"/>
                </a:lnTo>
                <a:cubicBezTo>
                  <a:pt x="312956" y="-903"/>
                  <a:pt x="319832" y="695"/>
                  <a:pt x="325110" y="4931"/>
                </a:cubicBezTo>
                <a:close/>
              </a:path>
            </a:pathLst>
          </a:custGeom>
          <a:solidFill>
            <a:srgbClr val="FF6B35"/>
          </a:solidFill>
          <a:ln/>
        </p:spPr>
      </p:sp>
      <p:sp>
        <p:nvSpPr>
          <p:cNvPr id="18" name="Text 16"/>
          <p:cNvSpPr/>
          <p:nvPr/>
        </p:nvSpPr>
        <p:spPr>
          <a:xfrm>
            <a:off x="11531600" y="1778000"/>
            <a:ext cx="3683000" cy="3556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Audio System</a:t>
            </a:r>
            <a:endParaRPr lang="en-US" sz="1600" dirty="0"/>
          </a:p>
        </p:txBody>
      </p:sp>
      <p:sp>
        <p:nvSpPr>
          <p:cNvPr id="19" name="Text 17"/>
          <p:cNvSpPr/>
          <p:nvPr/>
        </p:nvSpPr>
        <p:spPr>
          <a:xfrm>
            <a:off x="11049000" y="2260600"/>
            <a:ext cx="4191000" cy="12065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Manages sound effects, music, and spatial audio. Positional audio creates immersive 3D soundscapes.</a:t>
            </a:r>
            <a:endParaRPr lang="en-US" sz="1600" dirty="0"/>
          </a:p>
        </p:txBody>
      </p:sp>
      <p:sp>
        <p:nvSpPr>
          <p:cNvPr id="20" name="Shape 18"/>
          <p:cNvSpPr/>
          <p:nvPr/>
        </p:nvSpPr>
        <p:spPr>
          <a:xfrm>
            <a:off x="762000" y="4000500"/>
            <a:ext cx="4699000" cy="2159000"/>
          </a:xfrm>
          <a:prstGeom prst="rect">
            <a:avLst/>
          </a:prstGeom>
          <a:solidFill>
            <a:srgbClr val="FFFFFF"/>
          </a:solidFill>
          <a:ln w="12700">
            <a:solidFill>
              <a:srgbClr val="E8EAED"/>
            </a:solidFill>
            <a:prstDash val="solid"/>
          </a:ln>
        </p:spPr>
      </p:sp>
      <p:sp>
        <p:nvSpPr>
          <p:cNvPr id="21" name="Shape 19"/>
          <p:cNvSpPr/>
          <p:nvPr/>
        </p:nvSpPr>
        <p:spPr>
          <a:xfrm>
            <a:off x="762000" y="4000500"/>
            <a:ext cx="4699000" cy="50800"/>
          </a:xfrm>
          <a:prstGeom prst="rect">
            <a:avLst/>
          </a:prstGeom>
          <a:solidFill>
            <a:srgbClr val="FF6B35"/>
          </a:solidFill>
          <a:ln/>
        </p:spPr>
      </p:sp>
      <p:sp>
        <p:nvSpPr>
          <p:cNvPr id="22" name="Shape 20"/>
          <p:cNvSpPr/>
          <p:nvPr/>
        </p:nvSpPr>
        <p:spPr>
          <a:xfrm>
            <a:off x="993775" y="4254500"/>
            <a:ext cx="400050" cy="355600"/>
          </a:xfrm>
          <a:custGeom>
            <a:avLst/>
            <a:gdLst/>
            <a:ahLst/>
            <a:cxnLst/>
            <a:rect l="l" t="t" r="r" b="b"/>
            <a:pathLst>
              <a:path w="400050" h="355600">
                <a:moveTo>
                  <a:pt x="250587" y="833"/>
                </a:moveTo>
                <a:cubicBezTo>
                  <a:pt x="238780" y="-2570"/>
                  <a:pt x="226487" y="4306"/>
                  <a:pt x="223083" y="16113"/>
                </a:cubicBezTo>
                <a:lnTo>
                  <a:pt x="134183" y="327263"/>
                </a:lnTo>
                <a:cubicBezTo>
                  <a:pt x="130780" y="339070"/>
                  <a:pt x="137656" y="351363"/>
                  <a:pt x="149463" y="354767"/>
                </a:cubicBezTo>
                <a:cubicBezTo>
                  <a:pt x="161270" y="358170"/>
                  <a:pt x="173563" y="351294"/>
                  <a:pt x="176967" y="339487"/>
                </a:cubicBezTo>
                <a:lnTo>
                  <a:pt x="265867" y="28337"/>
                </a:lnTo>
                <a:cubicBezTo>
                  <a:pt x="269270" y="16530"/>
                  <a:pt x="262394" y="4237"/>
                  <a:pt x="250587" y="833"/>
                </a:cubicBezTo>
                <a:close/>
                <a:moveTo>
                  <a:pt x="295454" y="95359"/>
                </a:moveTo>
                <a:cubicBezTo>
                  <a:pt x="286772" y="104041"/>
                  <a:pt x="286772" y="118140"/>
                  <a:pt x="295454" y="126821"/>
                </a:cubicBezTo>
                <a:lnTo>
                  <a:pt x="346432" y="177800"/>
                </a:lnTo>
                <a:lnTo>
                  <a:pt x="295454" y="228779"/>
                </a:lnTo>
                <a:cubicBezTo>
                  <a:pt x="286772" y="237460"/>
                  <a:pt x="286772" y="251559"/>
                  <a:pt x="295454" y="260241"/>
                </a:cubicBezTo>
                <a:cubicBezTo>
                  <a:pt x="304135" y="268922"/>
                  <a:pt x="318234" y="268922"/>
                  <a:pt x="326916" y="260241"/>
                </a:cubicBezTo>
                <a:lnTo>
                  <a:pt x="393591" y="193566"/>
                </a:lnTo>
                <a:cubicBezTo>
                  <a:pt x="402273" y="184884"/>
                  <a:pt x="402273" y="170785"/>
                  <a:pt x="393591" y="162104"/>
                </a:cubicBezTo>
                <a:lnTo>
                  <a:pt x="326916" y="95429"/>
                </a:lnTo>
                <a:cubicBezTo>
                  <a:pt x="318234" y="86747"/>
                  <a:pt x="304135" y="86747"/>
                  <a:pt x="295454" y="95429"/>
                </a:cubicBezTo>
                <a:close/>
                <a:moveTo>
                  <a:pt x="104666" y="95359"/>
                </a:moveTo>
                <a:cubicBezTo>
                  <a:pt x="95984" y="86678"/>
                  <a:pt x="81885" y="86678"/>
                  <a:pt x="73204" y="95359"/>
                </a:cubicBezTo>
                <a:lnTo>
                  <a:pt x="6529" y="162034"/>
                </a:lnTo>
                <a:cubicBezTo>
                  <a:pt x="-2153" y="170716"/>
                  <a:pt x="-2153" y="184815"/>
                  <a:pt x="6529" y="193496"/>
                </a:cubicBezTo>
                <a:lnTo>
                  <a:pt x="73204" y="260171"/>
                </a:lnTo>
                <a:cubicBezTo>
                  <a:pt x="81885" y="268853"/>
                  <a:pt x="95984" y="268853"/>
                  <a:pt x="104666" y="260171"/>
                </a:cubicBezTo>
                <a:cubicBezTo>
                  <a:pt x="113348" y="251490"/>
                  <a:pt x="113348" y="237391"/>
                  <a:pt x="104666" y="228709"/>
                </a:cubicBezTo>
                <a:lnTo>
                  <a:pt x="53687" y="177800"/>
                </a:lnTo>
                <a:lnTo>
                  <a:pt x="104596" y="126821"/>
                </a:lnTo>
                <a:cubicBezTo>
                  <a:pt x="113278" y="118140"/>
                  <a:pt x="113278" y="104041"/>
                  <a:pt x="104596" y="95359"/>
                </a:cubicBezTo>
                <a:close/>
              </a:path>
            </a:pathLst>
          </a:custGeom>
          <a:solidFill>
            <a:srgbClr val="FF6B35"/>
          </a:solidFill>
          <a:ln/>
        </p:spPr>
      </p:sp>
      <p:sp>
        <p:nvSpPr>
          <p:cNvPr id="23" name="Text 21"/>
          <p:cNvSpPr/>
          <p:nvPr/>
        </p:nvSpPr>
        <p:spPr>
          <a:xfrm>
            <a:off x="1498600" y="4254500"/>
            <a:ext cx="3683000" cy="3556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Scripting System</a:t>
            </a:r>
            <a:endParaRPr lang="en-US" sz="1600" dirty="0"/>
          </a:p>
        </p:txBody>
      </p:sp>
      <p:sp>
        <p:nvSpPr>
          <p:cNvPr id="24" name="Text 22"/>
          <p:cNvSpPr/>
          <p:nvPr/>
        </p:nvSpPr>
        <p:spPr>
          <a:xfrm>
            <a:off x="1016000" y="4737100"/>
            <a:ext cx="4191000" cy="12065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Allows developers to program game behavior using languages like C#. Brings interactivity and logic to the game world.</a:t>
            </a:r>
            <a:endParaRPr lang="en-US" sz="1600" dirty="0"/>
          </a:p>
        </p:txBody>
      </p:sp>
      <p:sp>
        <p:nvSpPr>
          <p:cNvPr id="25" name="Shape 23"/>
          <p:cNvSpPr/>
          <p:nvPr/>
        </p:nvSpPr>
        <p:spPr>
          <a:xfrm>
            <a:off x="5778500" y="4000500"/>
            <a:ext cx="4699000" cy="2159000"/>
          </a:xfrm>
          <a:prstGeom prst="rect">
            <a:avLst/>
          </a:prstGeom>
          <a:solidFill>
            <a:srgbClr val="FFFFFF"/>
          </a:solidFill>
          <a:ln w="12700">
            <a:solidFill>
              <a:srgbClr val="E8EAED"/>
            </a:solidFill>
            <a:prstDash val="solid"/>
          </a:ln>
        </p:spPr>
      </p:sp>
      <p:sp>
        <p:nvSpPr>
          <p:cNvPr id="26" name="Shape 24"/>
          <p:cNvSpPr/>
          <p:nvPr/>
        </p:nvSpPr>
        <p:spPr>
          <a:xfrm>
            <a:off x="5778500" y="4000500"/>
            <a:ext cx="4699000" cy="50800"/>
          </a:xfrm>
          <a:prstGeom prst="rect">
            <a:avLst/>
          </a:prstGeom>
          <a:solidFill>
            <a:srgbClr val="FF6B35"/>
          </a:solidFill>
          <a:ln/>
        </p:spPr>
      </p:sp>
      <p:sp>
        <p:nvSpPr>
          <p:cNvPr id="27" name="Shape 25"/>
          <p:cNvSpPr/>
          <p:nvPr/>
        </p:nvSpPr>
        <p:spPr>
          <a:xfrm>
            <a:off x="6010275" y="4254500"/>
            <a:ext cx="400050" cy="355600"/>
          </a:xfrm>
          <a:custGeom>
            <a:avLst/>
            <a:gdLst/>
            <a:ahLst/>
            <a:cxnLst/>
            <a:rect l="l" t="t" r="r" b="b"/>
            <a:pathLst>
              <a:path w="400050" h="355600">
                <a:moveTo>
                  <a:pt x="38894" y="156686"/>
                </a:moveTo>
                <a:lnTo>
                  <a:pt x="22503" y="205720"/>
                </a:lnTo>
                <a:lnTo>
                  <a:pt x="22503" y="66675"/>
                </a:lnTo>
                <a:cubicBezTo>
                  <a:pt x="22503" y="42158"/>
                  <a:pt x="42436" y="22225"/>
                  <a:pt x="66953" y="22225"/>
                </a:cubicBezTo>
                <a:lnTo>
                  <a:pt x="163284" y="22225"/>
                </a:lnTo>
                <a:cubicBezTo>
                  <a:pt x="172869" y="22225"/>
                  <a:pt x="182245" y="25350"/>
                  <a:pt x="189954" y="31115"/>
                </a:cubicBezTo>
                <a:lnTo>
                  <a:pt x="216624" y="51117"/>
                </a:lnTo>
                <a:cubicBezTo>
                  <a:pt x="220444" y="54035"/>
                  <a:pt x="225167" y="55563"/>
                  <a:pt x="229959" y="55563"/>
                </a:cubicBezTo>
                <a:lnTo>
                  <a:pt x="311428" y="55563"/>
                </a:lnTo>
                <a:cubicBezTo>
                  <a:pt x="335945" y="55563"/>
                  <a:pt x="355878" y="75496"/>
                  <a:pt x="355878" y="100013"/>
                </a:cubicBezTo>
                <a:lnTo>
                  <a:pt x="355878" y="111125"/>
                </a:lnTo>
                <a:lnTo>
                  <a:pt x="102096" y="111125"/>
                </a:lnTo>
                <a:cubicBezTo>
                  <a:pt x="73412" y="111125"/>
                  <a:pt x="47923" y="129461"/>
                  <a:pt x="38824" y="156686"/>
                </a:cubicBezTo>
                <a:close/>
                <a:moveTo>
                  <a:pt x="331847" y="311150"/>
                </a:moveTo>
                <a:lnTo>
                  <a:pt x="68759" y="311150"/>
                </a:lnTo>
                <a:cubicBezTo>
                  <a:pt x="45978" y="311150"/>
                  <a:pt x="29934" y="288856"/>
                  <a:pt x="37157" y="267256"/>
                </a:cubicBezTo>
                <a:lnTo>
                  <a:pt x="70495" y="167243"/>
                </a:lnTo>
                <a:cubicBezTo>
                  <a:pt x="75009" y="153630"/>
                  <a:pt x="87789" y="144463"/>
                  <a:pt x="102096" y="144463"/>
                </a:cubicBezTo>
                <a:lnTo>
                  <a:pt x="365185" y="144463"/>
                </a:lnTo>
                <a:cubicBezTo>
                  <a:pt x="387965" y="144463"/>
                  <a:pt x="404009" y="166757"/>
                  <a:pt x="396786" y="188357"/>
                </a:cubicBezTo>
                <a:lnTo>
                  <a:pt x="363448" y="288369"/>
                </a:lnTo>
                <a:cubicBezTo>
                  <a:pt x="358934" y="301982"/>
                  <a:pt x="346154" y="311150"/>
                  <a:pt x="331847" y="311150"/>
                </a:cubicBezTo>
                <a:close/>
              </a:path>
            </a:pathLst>
          </a:custGeom>
          <a:solidFill>
            <a:srgbClr val="FF6B35"/>
          </a:solidFill>
          <a:ln/>
        </p:spPr>
      </p:sp>
      <p:sp>
        <p:nvSpPr>
          <p:cNvPr id="28" name="Text 26"/>
          <p:cNvSpPr/>
          <p:nvPr/>
        </p:nvSpPr>
        <p:spPr>
          <a:xfrm>
            <a:off x="6515100" y="4254500"/>
            <a:ext cx="3683000" cy="3556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Asset Management</a:t>
            </a:r>
            <a:endParaRPr lang="en-US" sz="1600" dirty="0"/>
          </a:p>
        </p:txBody>
      </p:sp>
      <p:sp>
        <p:nvSpPr>
          <p:cNvPr id="29" name="Text 27"/>
          <p:cNvSpPr/>
          <p:nvPr/>
        </p:nvSpPr>
        <p:spPr>
          <a:xfrm>
            <a:off x="6032500" y="4737100"/>
            <a:ext cx="4191000" cy="12065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Organizes and imports 3D models, textures, animations, and sounds. Keeps project resources structured and accessible.</a:t>
            </a:r>
            <a:endParaRPr lang="en-US" sz="1600" dirty="0"/>
          </a:p>
        </p:txBody>
      </p:sp>
      <p:sp>
        <p:nvSpPr>
          <p:cNvPr id="30" name="Shape 28"/>
          <p:cNvSpPr/>
          <p:nvPr/>
        </p:nvSpPr>
        <p:spPr>
          <a:xfrm>
            <a:off x="10795000" y="4000500"/>
            <a:ext cx="4699000" cy="2159000"/>
          </a:xfrm>
          <a:prstGeom prst="rect">
            <a:avLst/>
          </a:prstGeom>
          <a:solidFill>
            <a:srgbClr val="FFFFFF"/>
          </a:solidFill>
          <a:ln w="12700">
            <a:solidFill>
              <a:srgbClr val="E8EAED"/>
            </a:solidFill>
            <a:prstDash val="solid"/>
          </a:ln>
        </p:spPr>
      </p:sp>
      <p:sp>
        <p:nvSpPr>
          <p:cNvPr id="31" name="Shape 29"/>
          <p:cNvSpPr/>
          <p:nvPr/>
        </p:nvSpPr>
        <p:spPr>
          <a:xfrm>
            <a:off x="10795000" y="4000500"/>
            <a:ext cx="4699000" cy="50800"/>
          </a:xfrm>
          <a:prstGeom prst="rect">
            <a:avLst/>
          </a:prstGeom>
          <a:solidFill>
            <a:srgbClr val="FF6B35"/>
          </a:solidFill>
          <a:ln/>
        </p:spPr>
      </p:sp>
      <p:sp>
        <p:nvSpPr>
          <p:cNvPr id="32" name="Shape 30"/>
          <p:cNvSpPr/>
          <p:nvPr/>
        </p:nvSpPr>
        <p:spPr>
          <a:xfrm>
            <a:off x="11004550" y="4254500"/>
            <a:ext cx="444500" cy="355600"/>
          </a:xfrm>
          <a:custGeom>
            <a:avLst/>
            <a:gdLst/>
            <a:ahLst/>
            <a:cxnLst/>
            <a:rect l="l" t="t" r="r" b="b"/>
            <a:pathLst>
              <a:path w="444500" h="355600">
                <a:moveTo>
                  <a:pt x="311150" y="44450"/>
                </a:moveTo>
                <a:cubicBezTo>
                  <a:pt x="384770" y="44450"/>
                  <a:pt x="444500" y="104180"/>
                  <a:pt x="444500" y="177800"/>
                </a:cubicBezTo>
                <a:cubicBezTo>
                  <a:pt x="444500" y="251420"/>
                  <a:pt x="384770" y="311150"/>
                  <a:pt x="311150" y="311150"/>
                </a:cubicBezTo>
                <a:lnTo>
                  <a:pt x="133350" y="311150"/>
                </a:lnTo>
                <a:cubicBezTo>
                  <a:pt x="59730" y="311150"/>
                  <a:pt x="0" y="251420"/>
                  <a:pt x="0" y="177800"/>
                </a:cubicBezTo>
                <a:cubicBezTo>
                  <a:pt x="0" y="104180"/>
                  <a:pt x="59730" y="44450"/>
                  <a:pt x="133350" y="44450"/>
                </a:cubicBezTo>
                <a:lnTo>
                  <a:pt x="311150" y="44450"/>
                </a:lnTo>
                <a:close/>
                <a:moveTo>
                  <a:pt x="133350" y="122238"/>
                </a:moveTo>
                <a:cubicBezTo>
                  <a:pt x="124113" y="122238"/>
                  <a:pt x="116681" y="129669"/>
                  <a:pt x="116681" y="138906"/>
                </a:cubicBezTo>
                <a:lnTo>
                  <a:pt x="116681" y="161131"/>
                </a:lnTo>
                <a:lnTo>
                  <a:pt x="94456" y="161131"/>
                </a:lnTo>
                <a:cubicBezTo>
                  <a:pt x="85219" y="161131"/>
                  <a:pt x="77788" y="168563"/>
                  <a:pt x="77788" y="177800"/>
                </a:cubicBezTo>
                <a:cubicBezTo>
                  <a:pt x="77788" y="187037"/>
                  <a:pt x="85219" y="194469"/>
                  <a:pt x="94456" y="194469"/>
                </a:cubicBezTo>
                <a:lnTo>
                  <a:pt x="116681" y="194469"/>
                </a:lnTo>
                <a:lnTo>
                  <a:pt x="116681" y="216694"/>
                </a:lnTo>
                <a:cubicBezTo>
                  <a:pt x="116681" y="225931"/>
                  <a:pt x="124113" y="233363"/>
                  <a:pt x="133350" y="233363"/>
                </a:cubicBezTo>
                <a:cubicBezTo>
                  <a:pt x="142587" y="233363"/>
                  <a:pt x="150019" y="225931"/>
                  <a:pt x="150019" y="216694"/>
                </a:cubicBezTo>
                <a:lnTo>
                  <a:pt x="150019" y="194469"/>
                </a:lnTo>
                <a:lnTo>
                  <a:pt x="172244" y="194469"/>
                </a:lnTo>
                <a:cubicBezTo>
                  <a:pt x="181481" y="194469"/>
                  <a:pt x="188913" y="187037"/>
                  <a:pt x="188913" y="177800"/>
                </a:cubicBezTo>
                <a:cubicBezTo>
                  <a:pt x="188913" y="168563"/>
                  <a:pt x="181481" y="161131"/>
                  <a:pt x="172244" y="161131"/>
                </a:cubicBezTo>
                <a:lnTo>
                  <a:pt x="150019" y="161131"/>
                </a:lnTo>
                <a:lnTo>
                  <a:pt x="150019" y="138906"/>
                </a:lnTo>
                <a:cubicBezTo>
                  <a:pt x="150019" y="129669"/>
                  <a:pt x="142587" y="122238"/>
                  <a:pt x="133350" y="122238"/>
                </a:cubicBezTo>
                <a:close/>
                <a:moveTo>
                  <a:pt x="300038" y="188913"/>
                </a:moveTo>
                <a:cubicBezTo>
                  <a:pt x="287771" y="188913"/>
                  <a:pt x="277813" y="198871"/>
                  <a:pt x="277813" y="211138"/>
                </a:cubicBezTo>
                <a:cubicBezTo>
                  <a:pt x="277813" y="223404"/>
                  <a:pt x="287771" y="233363"/>
                  <a:pt x="300038" y="233363"/>
                </a:cubicBezTo>
                <a:cubicBezTo>
                  <a:pt x="312304" y="233363"/>
                  <a:pt x="322263" y="223404"/>
                  <a:pt x="322263" y="211138"/>
                </a:cubicBezTo>
                <a:cubicBezTo>
                  <a:pt x="322263" y="198871"/>
                  <a:pt x="312304" y="188913"/>
                  <a:pt x="300038" y="188913"/>
                </a:cubicBezTo>
                <a:close/>
                <a:moveTo>
                  <a:pt x="344488" y="122238"/>
                </a:moveTo>
                <a:cubicBezTo>
                  <a:pt x="332221" y="122238"/>
                  <a:pt x="322263" y="132196"/>
                  <a:pt x="322263" y="144463"/>
                </a:cubicBezTo>
                <a:cubicBezTo>
                  <a:pt x="322263" y="156729"/>
                  <a:pt x="332221" y="166688"/>
                  <a:pt x="344488" y="166688"/>
                </a:cubicBezTo>
                <a:cubicBezTo>
                  <a:pt x="356754" y="166688"/>
                  <a:pt x="366712" y="156729"/>
                  <a:pt x="366712" y="144463"/>
                </a:cubicBezTo>
                <a:cubicBezTo>
                  <a:pt x="366712" y="132196"/>
                  <a:pt x="356754" y="122238"/>
                  <a:pt x="344488" y="122238"/>
                </a:cubicBezTo>
                <a:close/>
              </a:path>
            </a:pathLst>
          </a:custGeom>
          <a:solidFill>
            <a:srgbClr val="FF6B35"/>
          </a:solidFill>
          <a:ln/>
        </p:spPr>
      </p:sp>
      <p:sp>
        <p:nvSpPr>
          <p:cNvPr id="33" name="Text 31"/>
          <p:cNvSpPr/>
          <p:nvPr/>
        </p:nvSpPr>
        <p:spPr>
          <a:xfrm>
            <a:off x="11531600" y="4254500"/>
            <a:ext cx="3683000" cy="3556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Input Handling</a:t>
            </a:r>
            <a:endParaRPr lang="en-US" sz="1600" dirty="0"/>
          </a:p>
        </p:txBody>
      </p:sp>
      <p:sp>
        <p:nvSpPr>
          <p:cNvPr id="34" name="Text 32"/>
          <p:cNvSpPr/>
          <p:nvPr/>
        </p:nvSpPr>
        <p:spPr>
          <a:xfrm>
            <a:off x="11049000" y="4737100"/>
            <a:ext cx="4191000" cy="12065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Processes player input from keyboards, mice, controllers, and touchscreens. Bridges user actions to game responses.</a:t>
            </a:r>
            <a:endParaRPr lang="en-US" sz="1600" dirty="0"/>
          </a:p>
        </p:txBody>
      </p:sp>
      <p:sp>
        <p:nvSpPr>
          <p:cNvPr id="35" name="Shape 33"/>
          <p:cNvSpPr/>
          <p:nvPr/>
        </p:nvSpPr>
        <p:spPr>
          <a:xfrm>
            <a:off x="762000" y="6477000"/>
            <a:ext cx="14732000" cy="1651000"/>
          </a:xfrm>
          <a:prstGeom prst="rect">
            <a:avLst/>
          </a:prstGeom>
          <a:solidFill>
            <a:srgbClr val="1A1D23"/>
          </a:solidFill>
          <a:ln/>
        </p:spPr>
      </p:sp>
      <p:sp>
        <p:nvSpPr>
          <p:cNvPr id="36" name="Shape 34"/>
          <p:cNvSpPr/>
          <p:nvPr/>
        </p:nvSpPr>
        <p:spPr>
          <a:xfrm>
            <a:off x="1066800" y="6794500"/>
            <a:ext cx="304800" cy="304800"/>
          </a:xfrm>
          <a:custGeom>
            <a:avLst/>
            <a:gdLst/>
            <a:ahLst/>
            <a:cxnLst/>
            <a:rect l="l" t="t" r="r" b="b"/>
            <a:pathLst>
              <a:path w="304800" h="304800">
                <a:moveTo>
                  <a:pt x="152400" y="304800"/>
                </a:moveTo>
                <a:cubicBezTo>
                  <a:pt x="236512" y="304800"/>
                  <a:pt x="304800" y="236512"/>
                  <a:pt x="304800" y="152400"/>
                </a:cubicBezTo>
                <a:cubicBezTo>
                  <a:pt x="304800" y="68288"/>
                  <a:pt x="236512" y="0"/>
                  <a:pt x="152400" y="0"/>
                </a:cubicBezTo>
                <a:cubicBezTo>
                  <a:pt x="68288" y="0"/>
                  <a:pt x="0" y="68288"/>
                  <a:pt x="0" y="152400"/>
                </a:cubicBezTo>
                <a:cubicBezTo>
                  <a:pt x="0" y="236512"/>
                  <a:pt x="68288" y="304800"/>
                  <a:pt x="152400" y="304800"/>
                </a:cubicBezTo>
                <a:close/>
                <a:moveTo>
                  <a:pt x="133350" y="95250"/>
                </a:moveTo>
                <a:cubicBezTo>
                  <a:pt x="133350" y="84736"/>
                  <a:pt x="141886" y="76200"/>
                  <a:pt x="152400" y="76200"/>
                </a:cubicBezTo>
                <a:cubicBezTo>
                  <a:pt x="162914" y="76200"/>
                  <a:pt x="171450" y="84736"/>
                  <a:pt x="171450" y="95250"/>
                </a:cubicBezTo>
                <a:cubicBezTo>
                  <a:pt x="171450" y="105764"/>
                  <a:pt x="162914" y="114300"/>
                  <a:pt x="152400" y="114300"/>
                </a:cubicBezTo>
                <a:cubicBezTo>
                  <a:pt x="141886" y="114300"/>
                  <a:pt x="133350" y="105764"/>
                  <a:pt x="133350" y="95250"/>
                </a:cubicBezTo>
                <a:close/>
                <a:moveTo>
                  <a:pt x="128588" y="133350"/>
                </a:moveTo>
                <a:lnTo>
                  <a:pt x="157163" y="133350"/>
                </a:lnTo>
                <a:cubicBezTo>
                  <a:pt x="165080" y="133350"/>
                  <a:pt x="171450" y="139720"/>
                  <a:pt x="171450" y="147638"/>
                </a:cubicBezTo>
                <a:lnTo>
                  <a:pt x="171450" y="200025"/>
                </a:lnTo>
                <a:lnTo>
                  <a:pt x="176212" y="200025"/>
                </a:lnTo>
                <a:cubicBezTo>
                  <a:pt x="184130" y="200025"/>
                  <a:pt x="190500" y="206395"/>
                  <a:pt x="190500" y="214313"/>
                </a:cubicBezTo>
                <a:cubicBezTo>
                  <a:pt x="190500" y="222230"/>
                  <a:pt x="184130" y="228600"/>
                  <a:pt x="176212" y="228600"/>
                </a:cubicBezTo>
                <a:lnTo>
                  <a:pt x="128588" y="228600"/>
                </a:lnTo>
                <a:cubicBezTo>
                  <a:pt x="120670" y="228600"/>
                  <a:pt x="114300" y="222230"/>
                  <a:pt x="114300" y="214313"/>
                </a:cubicBezTo>
                <a:cubicBezTo>
                  <a:pt x="114300" y="206395"/>
                  <a:pt x="120670" y="200025"/>
                  <a:pt x="128588" y="200025"/>
                </a:cubicBezTo>
                <a:lnTo>
                  <a:pt x="142875" y="200025"/>
                </a:lnTo>
                <a:lnTo>
                  <a:pt x="142875" y="161925"/>
                </a:lnTo>
                <a:lnTo>
                  <a:pt x="128588" y="161925"/>
                </a:lnTo>
                <a:cubicBezTo>
                  <a:pt x="120670" y="161925"/>
                  <a:pt x="114300" y="155555"/>
                  <a:pt x="114300" y="147638"/>
                </a:cubicBezTo>
                <a:cubicBezTo>
                  <a:pt x="114300" y="139720"/>
                  <a:pt x="120670" y="133350"/>
                  <a:pt x="128588" y="133350"/>
                </a:cubicBezTo>
                <a:close/>
              </a:path>
            </a:pathLst>
          </a:custGeom>
          <a:solidFill>
            <a:srgbClr val="FF6B35"/>
          </a:solidFill>
          <a:ln/>
        </p:spPr>
      </p:sp>
      <p:sp>
        <p:nvSpPr>
          <p:cNvPr id="37" name="Text 35"/>
          <p:cNvSpPr/>
          <p:nvPr/>
        </p:nvSpPr>
        <p:spPr>
          <a:xfrm>
            <a:off x="1524000" y="6667500"/>
            <a:ext cx="13716000" cy="1270000"/>
          </a:xfrm>
          <a:prstGeom prst="rect">
            <a:avLst/>
          </a:prstGeom>
          <a:noFill/>
          <a:ln/>
        </p:spPr>
        <p:txBody>
          <a:bodyPr wrap="square" lIns="0" tIns="0" rIns="0" bIns="0" rtlCol="0" anchor="ctr"/>
          <a:lstStyle/>
          <a:p>
            <a:pP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These six systems work together to form the foundation of any game engine. Unity integrates all of these components into a single, cohesive environment — which is why understanding each system's role helps you become a more effective game developer.</a:t>
            </a:r>
            <a:endParaRPr lang="en-US" sz="1600" dirty="0"/>
          </a:p>
        </p:txBody>
      </p:sp>
      <p:sp>
        <p:nvSpPr>
          <p:cNvPr id="38" name="Shape 36"/>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Popular Game Engines at a Glance</a:t>
            </a:r>
            <a:endParaRPr lang="en-US" sz="2800" dirty="0"/>
          </a:p>
        </p:txBody>
      </p:sp>
      <p:sp>
        <p:nvSpPr>
          <p:cNvPr id="4" name="Shape 2"/>
          <p:cNvSpPr/>
          <p:nvPr/>
        </p:nvSpPr>
        <p:spPr>
          <a:xfrm>
            <a:off x="762000" y="1206500"/>
            <a:ext cx="762000" cy="50800"/>
          </a:xfrm>
          <a:prstGeom prst="rect">
            <a:avLst/>
          </a:prstGeom>
          <a:solidFill>
            <a:srgbClr val="FF6B35"/>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62000" y="1524000"/>
          <a:ext cx="14732000" cy="4318000"/>
        </p:xfrm>
        <a:graphic>
          <a:graphicData uri="http://schemas.openxmlformats.org/drawingml/2006/table">
            <a:tbl>
              <a:tblPr/>
              <a:tblGrid>
                <a:gridCol w="2651760"/>
                <a:gridCol w="3241040"/>
                <a:gridCol w="3241040"/>
                <a:gridCol w="5598160"/>
              </a:tblGrid>
              <a:tr h="689858">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Engine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1A1D23"/>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Primary Language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1A1D23"/>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Best For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1A1D23"/>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Key Strengths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1A1D23"/>
                    </a:solidFill>
                  </a:tcPr>
                </a:tc>
              </a:tr>
              <a:tr h="907036">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Unity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C#</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2D/3D, Mobile, Indie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Cross-platform, large Asset Store, ~48% market share, beginner-friendly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r>
              <a:tr h="907036">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Unreal Engine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C++, Blueprints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AAA, PC/Console, VR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Photorealistic graphics, Nanite/Lumen, free until $1M revenue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r>
              <a:tr h="907036">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Godot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GDScript, C#, C++</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2D, Indie, Open Source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Lightweight, completely free (MIT license), growing community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r>
              <a:tr h="907036">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GameMaker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GML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2D Games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Drag-and-drop + code, excellent for 2D, low learning curve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r>
            </a:tbl>
          </a:graphicData>
        </a:graphic>
      </p:graphicFrame>
      <p:sp>
        <p:nvSpPr>
          <p:cNvPr id="6" name="Shape 3"/>
          <p:cNvSpPr/>
          <p:nvPr/>
        </p:nvSpPr>
        <p:spPr>
          <a:xfrm>
            <a:off x="762000" y="6159500"/>
            <a:ext cx="14732000" cy="2032000"/>
          </a:xfrm>
          <a:prstGeom prst="rect">
            <a:avLst/>
          </a:prstGeom>
          <a:solidFill>
            <a:srgbClr val="FFFFFF"/>
          </a:solidFill>
          <a:ln w="12700">
            <a:solidFill>
              <a:srgbClr val="E8EAED"/>
            </a:solidFill>
            <a:prstDash val="solid"/>
          </a:ln>
        </p:spPr>
      </p:sp>
      <p:sp>
        <p:nvSpPr>
          <p:cNvPr id="7" name="Shape 4"/>
          <p:cNvSpPr/>
          <p:nvPr/>
        </p:nvSpPr>
        <p:spPr>
          <a:xfrm>
            <a:off x="762000" y="6159500"/>
            <a:ext cx="50800" cy="2032000"/>
          </a:xfrm>
          <a:prstGeom prst="rect">
            <a:avLst/>
          </a:prstGeom>
          <a:solidFill>
            <a:srgbClr val="FF6B35"/>
          </a:solidFill>
          <a:ln/>
        </p:spPr>
      </p:sp>
      <p:sp>
        <p:nvSpPr>
          <p:cNvPr id="8" name="Text 5"/>
          <p:cNvSpPr/>
          <p:nvPr/>
        </p:nvSpPr>
        <p:spPr>
          <a:xfrm>
            <a:off x="1066800" y="6286500"/>
            <a:ext cx="3810000" cy="355600"/>
          </a:xfrm>
          <a:prstGeom prst="rect">
            <a:avLst/>
          </a:prstGeom>
          <a:noFill/>
          <a:ln/>
        </p:spPr>
        <p:txBody>
          <a:bodyPr wrap="none" lIns="0" tIns="0" rIns="0" bIns="0" rtlCol="0" anchor="ctr"/>
          <a:lstStyle/>
          <a:p>
            <a:pPr>
              <a:lnSpc>
                <a:spcPct val="100000"/>
              </a:lnSpc>
            </a:pPr>
            <a:r>
              <a:rPr lang="en-US" sz="1600" spc="100" kern="0" dirty="0">
                <a:solidFill>
                  <a:srgbClr val="FF6B35"/>
                </a:solidFill>
                <a:latin typeface="Liter" pitchFamily="34" charset="0"/>
                <a:ea typeface="Liter" pitchFamily="34" charset="-122"/>
                <a:cs typeface="Liter" pitchFamily="34" charset="-120"/>
              </a:rPr>
              <a:t>MARKET INSIGHT</a:t>
            </a:r>
            <a:endParaRPr lang="en-US" sz="1600" dirty="0"/>
          </a:p>
        </p:txBody>
      </p:sp>
      <p:sp>
        <p:nvSpPr>
          <p:cNvPr id="9" name="Text 6"/>
          <p:cNvSpPr/>
          <p:nvPr/>
        </p:nvSpPr>
        <p:spPr>
          <a:xfrm>
            <a:off x="1066800" y="6731000"/>
            <a:ext cx="14097000" cy="1270000"/>
          </a:xfrm>
          <a:prstGeom prst="rect">
            <a:avLst/>
          </a:prstGeom>
          <a:noFill/>
          <a:ln/>
        </p:spPr>
        <p:txBody>
          <a:bodyPr wrap="square" lIns="0" tIns="0" rIns="0" bIns="0" rtlCol="0" anchor="t"/>
          <a:lstStyle/>
          <a:p>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Unity holds approximately </a:t>
            </a:r>
            <a:pPr>
              <a:lnSpc>
                <a:spcPct val="160000"/>
              </a:lnSpc>
            </a:pPr>
            <a:r>
              <a:rPr lang="en-US" sz="1600" b="1" dirty="0">
                <a:solidFill>
                  <a:srgbClr val="1E2328"/>
                </a:solidFill>
                <a:latin typeface="Quattrocento Sans" pitchFamily="34" charset="0"/>
                <a:ea typeface="Quattrocento Sans" pitchFamily="34" charset="-122"/>
                <a:cs typeface="Quattrocento Sans" pitchFamily="34" charset="-120"/>
              </a:rPr>
              <a:t>48% of the game engine market share</a:t>
            </a:r>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making it the most popular choice for indie developers and mobile game studios. Its cross-platform capabilities and extensive learning resources make it the ideal starting point for students entering game development.</a:t>
            </a:r>
            <a:endParaRPr lang="en-US" sz="1600" dirty="0"/>
          </a:p>
        </p:txBody>
      </p:sp>
      <p:sp>
        <p:nvSpPr>
          <p:cNvPr id="10" name="Shape 7"/>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Why Unity for This Course?</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87500"/>
            <a:ext cx="457200" cy="457200"/>
          </a:xfrm>
          <a:prstGeom prst="rect">
            <a:avLst/>
          </a:prstGeom>
          <a:solidFill>
            <a:srgbClr val="FF6B35"/>
          </a:solidFill>
          <a:ln/>
        </p:spPr>
      </p:sp>
      <p:sp>
        <p:nvSpPr>
          <p:cNvPr id="6" name="Text 4"/>
          <p:cNvSpPr/>
          <p:nvPr/>
        </p:nvSpPr>
        <p:spPr>
          <a:xfrm>
            <a:off x="762000" y="1587500"/>
            <a:ext cx="457200" cy="457200"/>
          </a:xfrm>
          <a:prstGeom prst="rect">
            <a:avLst/>
          </a:prstGeom>
          <a:noFill/>
          <a:ln/>
        </p:spPr>
        <p:txBody>
          <a:bodyPr wrap="none" lIns="0" tIns="0" rIns="0" bIns="0" rtlCol="0" anchor="ctr"/>
          <a:lstStyle/>
          <a:p>
            <a:pPr algn="ctr">
              <a:lnSpc>
                <a:spcPct val="100000"/>
              </a:lnSpc>
            </a:pPr>
            <a:r>
              <a:rPr lang="en-US" sz="1800" dirty="0">
                <a:solidFill>
                  <a:srgbClr val="FFFFFF"/>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397000" y="1587500"/>
            <a:ext cx="5080000" cy="3810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Cross-Platform Support</a:t>
            </a:r>
            <a:endParaRPr lang="en-US" sz="1600" dirty="0"/>
          </a:p>
        </p:txBody>
      </p:sp>
      <p:sp>
        <p:nvSpPr>
          <p:cNvPr id="8" name="Text 6"/>
          <p:cNvSpPr/>
          <p:nvPr/>
        </p:nvSpPr>
        <p:spPr>
          <a:xfrm>
            <a:off x="1397000" y="2006600"/>
            <a:ext cx="6223000" cy="6350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Build for PC, Mac, mobile, web, and consoles from a single project.</a:t>
            </a:r>
            <a:endParaRPr lang="en-US" sz="1600" dirty="0"/>
          </a:p>
        </p:txBody>
      </p:sp>
      <p:sp>
        <p:nvSpPr>
          <p:cNvPr id="9" name="Shape 7"/>
          <p:cNvSpPr/>
          <p:nvPr/>
        </p:nvSpPr>
        <p:spPr>
          <a:xfrm>
            <a:off x="762000" y="2857500"/>
            <a:ext cx="457200" cy="457200"/>
          </a:xfrm>
          <a:prstGeom prst="rect">
            <a:avLst/>
          </a:prstGeom>
          <a:solidFill>
            <a:srgbClr val="FF6B35"/>
          </a:solidFill>
          <a:ln/>
        </p:spPr>
      </p:sp>
      <p:sp>
        <p:nvSpPr>
          <p:cNvPr id="10" name="Text 8"/>
          <p:cNvSpPr/>
          <p:nvPr/>
        </p:nvSpPr>
        <p:spPr>
          <a:xfrm>
            <a:off x="762000" y="2857500"/>
            <a:ext cx="457200" cy="457200"/>
          </a:xfrm>
          <a:prstGeom prst="rect">
            <a:avLst/>
          </a:prstGeom>
          <a:noFill/>
          <a:ln/>
        </p:spPr>
        <p:txBody>
          <a:bodyPr wrap="none" lIns="0" tIns="0" rIns="0" bIns="0" rtlCol="0" anchor="ctr"/>
          <a:lstStyle/>
          <a:p>
            <a:pPr algn="ctr">
              <a:lnSpc>
                <a:spcPct val="100000"/>
              </a:lnSpc>
            </a:pPr>
            <a:r>
              <a:rPr lang="en-US" sz="1800" dirty="0">
                <a:solidFill>
                  <a:srgbClr val="FFFFFF"/>
                </a:solidFill>
                <a:latin typeface="Liter" pitchFamily="34" charset="0"/>
                <a:ea typeface="Liter" pitchFamily="34" charset="-122"/>
                <a:cs typeface="Liter" pitchFamily="34" charset="-120"/>
              </a:rPr>
              <a:t>2</a:t>
            </a:r>
            <a:endParaRPr lang="en-US" sz="1600" dirty="0"/>
          </a:p>
        </p:txBody>
      </p:sp>
      <p:sp>
        <p:nvSpPr>
          <p:cNvPr id="11" name="Text 9"/>
          <p:cNvSpPr/>
          <p:nvPr/>
        </p:nvSpPr>
        <p:spPr>
          <a:xfrm>
            <a:off x="1397000" y="2857500"/>
            <a:ext cx="5080000" cy="3810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Large Learning Community</a:t>
            </a:r>
            <a:endParaRPr lang="en-US" sz="1600" dirty="0"/>
          </a:p>
        </p:txBody>
      </p:sp>
      <p:sp>
        <p:nvSpPr>
          <p:cNvPr id="12" name="Text 10"/>
          <p:cNvSpPr/>
          <p:nvPr/>
        </p:nvSpPr>
        <p:spPr>
          <a:xfrm>
            <a:off x="1397000" y="3276600"/>
            <a:ext cx="6223000" cy="6350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Extensive documentation, tutorials, forums, and community support.</a:t>
            </a:r>
            <a:endParaRPr lang="en-US" sz="1600" dirty="0"/>
          </a:p>
        </p:txBody>
      </p:sp>
      <p:sp>
        <p:nvSpPr>
          <p:cNvPr id="13" name="Shape 11"/>
          <p:cNvSpPr/>
          <p:nvPr/>
        </p:nvSpPr>
        <p:spPr>
          <a:xfrm>
            <a:off x="762000" y="4127500"/>
            <a:ext cx="457200" cy="457200"/>
          </a:xfrm>
          <a:prstGeom prst="rect">
            <a:avLst/>
          </a:prstGeom>
          <a:solidFill>
            <a:srgbClr val="FF6B35"/>
          </a:solidFill>
          <a:ln/>
        </p:spPr>
      </p:sp>
      <p:sp>
        <p:nvSpPr>
          <p:cNvPr id="14" name="Text 12"/>
          <p:cNvSpPr/>
          <p:nvPr/>
        </p:nvSpPr>
        <p:spPr>
          <a:xfrm>
            <a:off x="762000" y="4127500"/>
            <a:ext cx="457200" cy="457200"/>
          </a:xfrm>
          <a:prstGeom prst="rect">
            <a:avLst/>
          </a:prstGeom>
          <a:noFill/>
          <a:ln/>
        </p:spPr>
        <p:txBody>
          <a:bodyPr wrap="none" lIns="0" tIns="0" rIns="0" bIns="0" rtlCol="0" anchor="ctr"/>
          <a:lstStyle/>
          <a:p>
            <a:pPr algn="ctr">
              <a:lnSpc>
                <a:spcPct val="100000"/>
              </a:lnSpc>
            </a:pPr>
            <a:r>
              <a:rPr lang="en-US" sz="1800" dirty="0">
                <a:solidFill>
                  <a:srgbClr val="FFFFFF"/>
                </a:solidFill>
                <a:latin typeface="Liter" pitchFamily="34" charset="0"/>
                <a:ea typeface="Liter" pitchFamily="34" charset="-122"/>
                <a:cs typeface="Liter" pitchFamily="34" charset="-120"/>
              </a:rPr>
              <a:t>3</a:t>
            </a:r>
            <a:endParaRPr lang="en-US" sz="1600" dirty="0"/>
          </a:p>
        </p:txBody>
      </p:sp>
      <p:sp>
        <p:nvSpPr>
          <p:cNvPr id="15" name="Text 13"/>
          <p:cNvSpPr/>
          <p:nvPr/>
        </p:nvSpPr>
        <p:spPr>
          <a:xfrm>
            <a:off x="1397000" y="4127500"/>
            <a:ext cx="5080000" cy="3810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Visual Editor + Code</a:t>
            </a:r>
            <a:endParaRPr lang="en-US" sz="1600" dirty="0"/>
          </a:p>
        </p:txBody>
      </p:sp>
      <p:sp>
        <p:nvSpPr>
          <p:cNvPr id="16" name="Text 14"/>
          <p:cNvSpPr/>
          <p:nvPr/>
        </p:nvSpPr>
        <p:spPr>
          <a:xfrm>
            <a:off x="1397000" y="4546600"/>
            <a:ext cx="6223000" cy="6350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Balance between drag-and-drop workflows and C# scripting.</a:t>
            </a:r>
            <a:endParaRPr lang="en-US" sz="1600" dirty="0"/>
          </a:p>
        </p:txBody>
      </p:sp>
      <p:sp>
        <p:nvSpPr>
          <p:cNvPr id="17" name="Shape 15"/>
          <p:cNvSpPr/>
          <p:nvPr/>
        </p:nvSpPr>
        <p:spPr>
          <a:xfrm>
            <a:off x="8382000" y="1587500"/>
            <a:ext cx="457200" cy="457200"/>
          </a:xfrm>
          <a:prstGeom prst="rect">
            <a:avLst/>
          </a:prstGeom>
          <a:solidFill>
            <a:srgbClr val="FF6B35"/>
          </a:solidFill>
          <a:ln/>
        </p:spPr>
      </p:sp>
      <p:sp>
        <p:nvSpPr>
          <p:cNvPr id="18" name="Text 16"/>
          <p:cNvSpPr/>
          <p:nvPr/>
        </p:nvSpPr>
        <p:spPr>
          <a:xfrm>
            <a:off x="8382000" y="1587500"/>
            <a:ext cx="457200" cy="457200"/>
          </a:xfrm>
          <a:prstGeom prst="rect">
            <a:avLst/>
          </a:prstGeom>
          <a:noFill/>
          <a:ln/>
        </p:spPr>
        <p:txBody>
          <a:bodyPr wrap="none" lIns="0" tIns="0" rIns="0" bIns="0" rtlCol="0" anchor="ctr"/>
          <a:lstStyle/>
          <a:p>
            <a:pPr algn="ctr">
              <a:lnSpc>
                <a:spcPct val="100000"/>
              </a:lnSpc>
            </a:pPr>
            <a:r>
              <a:rPr lang="en-US" sz="1800" dirty="0">
                <a:solidFill>
                  <a:srgbClr val="FFFFFF"/>
                </a:solidFill>
                <a:latin typeface="Liter" pitchFamily="34" charset="0"/>
                <a:ea typeface="Liter" pitchFamily="34" charset="-122"/>
                <a:cs typeface="Liter" pitchFamily="34" charset="-120"/>
              </a:rPr>
              <a:t>4</a:t>
            </a:r>
            <a:endParaRPr lang="en-US" sz="1600" dirty="0"/>
          </a:p>
        </p:txBody>
      </p:sp>
      <p:sp>
        <p:nvSpPr>
          <p:cNvPr id="19" name="Text 17"/>
          <p:cNvSpPr/>
          <p:nvPr/>
        </p:nvSpPr>
        <p:spPr>
          <a:xfrm>
            <a:off x="9017000" y="1587500"/>
            <a:ext cx="5080000" cy="3810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Industry Standard</a:t>
            </a:r>
            <a:endParaRPr lang="en-US" sz="1600" dirty="0"/>
          </a:p>
        </p:txBody>
      </p:sp>
      <p:sp>
        <p:nvSpPr>
          <p:cNvPr id="20" name="Text 18"/>
          <p:cNvSpPr/>
          <p:nvPr/>
        </p:nvSpPr>
        <p:spPr>
          <a:xfrm>
            <a:off x="9017000" y="2006600"/>
            <a:ext cx="6223000" cy="6350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Used by 50%+ of mobile games and countless indie/AAA studios.</a:t>
            </a:r>
            <a:endParaRPr lang="en-US" sz="1600" dirty="0"/>
          </a:p>
        </p:txBody>
      </p:sp>
      <p:sp>
        <p:nvSpPr>
          <p:cNvPr id="21" name="Shape 19"/>
          <p:cNvSpPr/>
          <p:nvPr/>
        </p:nvSpPr>
        <p:spPr>
          <a:xfrm>
            <a:off x="8382000" y="2857500"/>
            <a:ext cx="457200" cy="457200"/>
          </a:xfrm>
          <a:prstGeom prst="rect">
            <a:avLst/>
          </a:prstGeom>
          <a:solidFill>
            <a:srgbClr val="FF6B35"/>
          </a:solidFill>
          <a:ln/>
        </p:spPr>
      </p:sp>
      <p:sp>
        <p:nvSpPr>
          <p:cNvPr id="22" name="Text 20"/>
          <p:cNvSpPr/>
          <p:nvPr/>
        </p:nvSpPr>
        <p:spPr>
          <a:xfrm>
            <a:off x="8382000" y="2857500"/>
            <a:ext cx="457200" cy="457200"/>
          </a:xfrm>
          <a:prstGeom prst="rect">
            <a:avLst/>
          </a:prstGeom>
          <a:noFill/>
          <a:ln/>
        </p:spPr>
        <p:txBody>
          <a:bodyPr wrap="none" lIns="0" tIns="0" rIns="0" bIns="0" rtlCol="0" anchor="ctr"/>
          <a:lstStyle/>
          <a:p>
            <a:pPr algn="ctr">
              <a:lnSpc>
                <a:spcPct val="100000"/>
              </a:lnSpc>
            </a:pPr>
            <a:r>
              <a:rPr lang="en-US" sz="1800" dirty="0">
                <a:solidFill>
                  <a:srgbClr val="FFFFFF"/>
                </a:solidFill>
                <a:latin typeface="Liter" pitchFamily="34" charset="0"/>
                <a:ea typeface="Liter" pitchFamily="34" charset="-122"/>
                <a:cs typeface="Liter" pitchFamily="34" charset="-120"/>
              </a:rPr>
              <a:t>5</a:t>
            </a:r>
            <a:endParaRPr lang="en-US" sz="1600" dirty="0"/>
          </a:p>
        </p:txBody>
      </p:sp>
      <p:sp>
        <p:nvSpPr>
          <p:cNvPr id="23" name="Text 21"/>
          <p:cNvSpPr/>
          <p:nvPr/>
        </p:nvSpPr>
        <p:spPr>
          <a:xfrm>
            <a:off x="9017000" y="2857500"/>
            <a:ext cx="5080000" cy="3810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Free Personal Tier</a:t>
            </a:r>
            <a:endParaRPr lang="en-US" sz="1600" dirty="0"/>
          </a:p>
        </p:txBody>
      </p:sp>
      <p:sp>
        <p:nvSpPr>
          <p:cNvPr id="24" name="Text 22"/>
          <p:cNvSpPr/>
          <p:nvPr/>
        </p:nvSpPr>
        <p:spPr>
          <a:xfrm>
            <a:off x="9017000" y="3276600"/>
            <a:ext cx="6223000" cy="6350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Fully functional for learning and small projects. No watermarks.</a:t>
            </a:r>
            <a:endParaRPr lang="en-US" sz="1600" dirty="0"/>
          </a:p>
        </p:txBody>
      </p:sp>
      <p:sp>
        <p:nvSpPr>
          <p:cNvPr id="25" name="Shape 23"/>
          <p:cNvSpPr/>
          <p:nvPr/>
        </p:nvSpPr>
        <p:spPr>
          <a:xfrm>
            <a:off x="8382000" y="4127500"/>
            <a:ext cx="457200" cy="457200"/>
          </a:xfrm>
          <a:prstGeom prst="rect">
            <a:avLst/>
          </a:prstGeom>
          <a:solidFill>
            <a:srgbClr val="FF6B35"/>
          </a:solidFill>
          <a:ln/>
        </p:spPr>
      </p:sp>
      <p:sp>
        <p:nvSpPr>
          <p:cNvPr id="26" name="Text 24"/>
          <p:cNvSpPr/>
          <p:nvPr/>
        </p:nvSpPr>
        <p:spPr>
          <a:xfrm>
            <a:off x="8382000" y="4127500"/>
            <a:ext cx="457200" cy="457200"/>
          </a:xfrm>
          <a:prstGeom prst="rect">
            <a:avLst/>
          </a:prstGeom>
          <a:noFill/>
          <a:ln/>
        </p:spPr>
        <p:txBody>
          <a:bodyPr wrap="none" lIns="0" tIns="0" rIns="0" bIns="0" rtlCol="0" anchor="ctr"/>
          <a:lstStyle/>
          <a:p>
            <a:pPr algn="ctr">
              <a:lnSpc>
                <a:spcPct val="100000"/>
              </a:lnSpc>
            </a:pPr>
            <a:r>
              <a:rPr lang="en-US" sz="1800" dirty="0">
                <a:solidFill>
                  <a:srgbClr val="FFFFFF"/>
                </a:solidFill>
                <a:latin typeface="Liter" pitchFamily="34" charset="0"/>
                <a:ea typeface="Liter" pitchFamily="34" charset="-122"/>
                <a:cs typeface="Liter" pitchFamily="34" charset="-120"/>
              </a:rPr>
              <a:t>6</a:t>
            </a:r>
            <a:endParaRPr lang="en-US" sz="1600" dirty="0"/>
          </a:p>
        </p:txBody>
      </p:sp>
      <p:sp>
        <p:nvSpPr>
          <p:cNvPr id="27" name="Text 25"/>
          <p:cNvSpPr/>
          <p:nvPr/>
        </p:nvSpPr>
        <p:spPr>
          <a:xfrm>
            <a:off x="9017000" y="4127500"/>
            <a:ext cx="5080000" cy="3810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Asset Store Ecosystem</a:t>
            </a:r>
            <a:endParaRPr lang="en-US" sz="1600" dirty="0"/>
          </a:p>
        </p:txBody>
      </p:sp>
      <p:sp>
        <p:nvSpPr>
          <p:cNvPr id="28" name="Text 26"/>
          <p:cNvSpPr/>
          <p:nvPr/>
        </p:nvSpPr>
        <p:spPr>
          <a:xfrm>
            <a:off x="9017000" y="4546600"/>
            <a:ext cx="6223000" cy="6350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Thousands of free and paid assets to accelerate development.</a:t>
            </a:r>
            <a:endParaRPr lang="en-US" sz="1600" dirty="0"/>
          </a:p>
        </p:txBody>
      </p:sp>
      <p:pic>
        <p:nvPicPr>
          <p:cNvPr id="29" name="Image 0" descr="https://kimi-img.moonshot.cn/pub/slides/okc/3rhuirp567422/mnt/agents/output/game-programming-week2/images/5_Unity_6_is_here_See_what_s_new.png">    </p:cNvPr>
          <p:cNvPicPr>
            <a:picLocks noChangeAspect="1"/>
          </p:cNvPicPr>
          <p:nvPr/>
        </p:nvPicPr>
        <p:blipFill>
          <a:blip r:embed="rId1"/>
          <a:srcRect l="0" r="0" t="10000" b="10000"/>
          <a:stretch/>
        </p:blipFill>
        <p:spPr>
          <a:xfrm>
            <a:off x="762000" y="5334000"/>
            <a:ext cx="14732000" cy="3175000"/>
          </a:xfrm>
          <a:prstGeom prst="rect">
            <a:avLst/>
          </a:prstGeom>
        </p:spPr>
      </p:pic>
      <p:sp>
        <p:nvSpPr>
          <p:cNvPr id="30" name="Shape 27"/>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Solar System Project — Overview</a:t>
            </a:r>
            <a:endParaRPr lang="en-US" sz="2800" dirty="0"/>
          </a:p>
        </p:txBody>
      </p:sp>
      <p:sp>
        <p:nvSpPr>
          <p:cNvPr id="4" name="Shape 2"/>
          <p:cNvSpPr/>
          <p:nvPr/>
        </p:nvSpPr>
        <p:spPr>
          <a:xfrm>
            <a:off x="762000" y="1206500"/>
            <a:ext cx="762000" cy="50800"/>
          </a:xfrm>
          <a:prstGeom prst="rect">
            <a:avLst/>
          </a:prstGeom>
          <a:solidFill>
            <a:srgbClr val="FF6B35"/>
          </a:solidFill>
          <a:ln/>
        </p:spPr>
      </p:sp>
      <p:pic>
        <p:nvPicPr>
          <p:cNvPr id="5" name="Image 0" descr="https://kimi-img.moonshot.cn/pub/slides/okc/3rhuirp567422/mnt/agents/output/game-programming-week2/images/7_Solar_System_Wallpaper_Images_Browse.png">    </p:cNvPr>
          <p:cNvPicPr>
            <a:picLocks noChangeAspect="1"/>
          </p:cNvPicPr>
          <p:nvPr/>
        </p:nvPicPr>
        <p:blipFill>
          <a:blip r:embed="rId1"/>
          <a:srcRect l="20703" r="20703" t="0" b="0"/>
          <a:stretch/>
        </p:blipFill>
        <p:spPr>
          <a:xfrm>
            <a:off x="762000" y="1524000"/>
            <a:ext cx="6350000" cy="4064000"/>
          </a:xfrm>
          <a:prstGeom prst="roundRect">
            <a:avLst>
              <a:gd name="adj" fmla="val 5000"/>
            </a:avLst>
          </a:prstGeom>
        </p:spPr>
      </p:pic>
      <p:sp>
        <p:nvSpPr>
          <p:cNvPr id="6" name="Shape 3"/>
          <p:cNvSpPr/>
          <p:nvPr/>
        </p:nvSpPr>
        <p:spPr>
          <a:xfrm>
            <a:off x="7493000" y="1524000"/>
            <a:ext cx="8001000" cy="1968500"/>
          </a:xfrm>
          <a:prstGeom prst="rect">
            <a:avLst/>
          </a:prstGeom>
          <a:solidFill>
            <a:srgbClr val="FFFFFF"/>
          </a:solidFill>
          <a:ln w="12700">
            <a:solidFill>
              <a:srgbClr val="E8EAED"/>
            </a:solidFill>
            <a:prstDash val="solid"/>
          </a:ln>
        </p:spPr>
      </p:sp>
      <p:sp>
        <p:nvSpPr>
          <p:cNvPr id="7" name="Shape 4"/>
          <p:cNvSpPr/>
          <p:nvPr/>
        </p:nvSpPr>
        <p:spPr>
          <a:xfrm>
            <a:off x="7493000" y="1524000"/>
            <a:ext cx="50800" cy="1968500"/>
          </a:xfrm>
          <a:prstGeom prst="rect">
            <a:avLst/>
          </a:prstGeom>
          <a:solidFill>
            <a:srgbClr val="FF6B35"/>
          </a:solidFill>
          <a:ln/>
        </p:spPr>
      </p:sp>
      <p:sp>
        <p:nvSpPr>
          <p:cNvPr id="8" name="Text 5"/>
          <p:cNvSpPr/>
          <p:nvPr/>
        </p:nvSpPr>
        <p:spPr>
          <a:xfrm>
            <a:off x="7747000" y="1651000"/>
            <a:ext cx="7493000" cy="330200"/>
          </a:xfrm>
          <a:prstGeom prst="rect">
            <a:avLst/>
          </a:prstGeom>
          <a:noFill/>
          <a:ln/>
        </p:spPr>
        <p:txBody>
          <a:bodyPr wrap="none" lIns="0" tIns="0" rIns="0" bIns="0" rtlCol="0" anchor="ctr"/>
          <a:lstStyle/>
          <a:p>
            <a:pPr>
              <a:lnSpc>
                <a:spcPct val="100000"/>
              </a:lnSpc>
            </a:pPr>
            <a:r>
              <a:rPr lang="en-US" sz="1600" spc="100" kern="0" dirty="0">
                <a:solidFill>
                  <a:srgbClr val="FF6B35"/>
                </a:solidFill>
                <a:latin typeface="Liter" pitchFamily="34" charset="0"/>
                <a:ea typeface="Liter" pitchFamily="34" charset="-122"/>
                <a:cs typeface="Liter" pitchFamily="34" charset="-120"/>
              </a:rPr>
              <a:t>PROJECT BRIEF</a:t>
            </a:r>
            <a:endParaRPr lang="en-US" sz="1600" dirty="0"/>
          </a:p>
        </p:txBody>
      </p:sp>
      <p:sp>
        <p:nvSpPr>
          <p:cNvPr id="9" name="Text 6"/>
          <p:cNvSpPr/>
          <p:nvPr/>
        </p:nvSpPr>
        <p:spPr>
          <a:xfrm>
            <a:off x="7747000" y="2032000"/>
            <a:ext cx="7493000" cy="1270000"/>
          </a:xfrm>
          <a:prstGeom prst="rect">
            <a:avLst/>
          </a:prstGeom>
          <a:noFill/>
          <a:ln/>
        </p:spPr>
        <p:txBody>
          <a:bodyPr wrap="square" lIns="0" tIns="0" rIns="0" bIns="0" rtlCol="0" anchor="t"/>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The </a:t>
            </a:r>
            <a:pPr>
              <a:lnSpc>
                <a:spcPct val="160000"/>
              </a:lnSpc>
            </a:pPr>
            <a:r>
              <a:rPr lang="en-US" sz="1500" b="1" dirty="0">
                <a:solidFill>
                  <a:srgbClr val="1E2328"/>
                </a:solidFill>
                <a:latin typeface="Quattrocento Sans" pitchFamily="34" charset="0"/>
                <a:ea typeface="Quattrocento Sans" pitchFamily="34" charset="-122"/>
                <a:cs typeface="Quattrocento Sans" pitchFamily="34" charset="-120"/>
              </a:rPr>
              <a:t>Solar System Project</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is your first hands-on assignment. You will build an </a:t>
            </a:r>
            <a:pPr>
              <a:lnSpc>
                <a:spcPct val="160000"/>
              </a:lnSpc>
            </a:pPr>
            <a:r>
              <a:rPr lang="en-US" sz="1500" b="1" dirty="0">
                <a:solidFill>
                  <a:srgbClr val="1E2328"/>
                </a:solidFill>
                <a:latin typeface="Quattrocento Sans" pitchFamily="34" charset="0"/>
                <a:ea typeface="Quattrocento Sans" pitchFamily="34" charset="-122"/>
                <a:cs typeface="Quattrocento Sans" pitchFamily="34" charset="-120"/>
              </a:rPr>
              <a:t>interactive 3D simulation</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of our solar system in Unity, applying concepts from both lectures.</a:t>
            </a:r>
            <a:endParaRPr lang="en-US" sz="1600" dirty="0"/>
          </a:p>
        </p:txBody>
      </p:sp>
      <p:sp>
        <p:nvSpPr>
          <p:cNvPr id="10" name="Shape 7"/>
          <p:cNvSpPr/>
          <p:nvPr/>
        </p:nvSpPr>
        <p:spPr>
          <a:xfrm>
            <a:off x="7493000" y="3746500"/>
            <a:ext cx="8001000" cy="2095500"/>
          </a:xfrm>
          <a:prstGeom prst="rect">
            <a:avLst/>
          </a:prstGeom>
          <a:solidFill>
            <a:srgbClr val="1A1D23"/>
          </a:solidFill>
          <a:ln/>
        </p:spPr>
      </p:sp>
      <p:sp>
        <p:nvSpPr>
          <p:cNvPr id="11" name="Text 8"/>
          <p:cNvSpPr/>
          <p:nvPr/>
        </p:nvSpPr>
        <p:spPr>
          <a:xfrm>
            <a:off x="7747000" y="3873500"/>
            <a:ext cx="7493000" cy="330200"/>
          </a:xfrm>
          <a:prstGeom prst="rect">
            <a:avLst/>
          </a:prstGeom>
          <a:noFill/>
          <a:ln/>
        </p:spPr>
        <p:txBody>
          <a:bodyPr wrap="none" lIns="0" tIns="0" rIns="0" bIns="0" rtlCol="0" anchor="ctr"/>
          <a:lstStyle/>
          <a:p>
            <a:pPr>
              <a:lnSpc>
                <a:spcPct val="100000"/>
              </a:lnSpc>
            </a:pPr>
            <a:r>
              <a:rPr lang="en-US" sz="1600" spc="100" kern="0" dirty="0">
                <a:solidFill>
                  <a:srgbClr val="FF6B35"/>
                </a:solidFill>
                <a:latin typeface="Liter" pitchFamily="34" charset="0"/>
                <a:ea typeface="Liter" pitchFamily="34" charset="-122"/>
                <a:cs typeface="Liter" pitchFamily="34" charset="-120"/>
              </a:rPr>
              <a:t>KEY FEATURES TO IMPLEMENT</a:t>
            </a:r>
            <a:endParaRPr lang="en-US" sz="1600" dirty="0"/>
          </a:p>
        </p:txBody>
      </p:sp>
      <p:sp>
        <p:nvSpPr>
          <p:cNvPr id="12" name="Text 9"/>
          <p:cNvSpPr/>
          <p:nvPr/>
        </p:nvSpPr>
        <p:spPr>
          <a:xfrm>
            <a:off x="7747000" y="4254500"/>
            <a:ext cx="7493000" cy="1524000"/>
          </a:xfrm>
          <a:prstGeom prst="rect">
            <a:avLst/>
          </a:prstGeom>
          <a:noFill/>
          <a:ln/>
        </p:spPr>
        <p:txBody>
          <a:bodyPr wrap="square" lIns="0" tIns="0" rIns="0" bIns="0" rtlCol="0" anchor="t"/>
          <a:lstStyle/>
          <a:p>
            <a:pPr>
              <a:lnSpc>
                <a:spcPct val="160000"/>
              </a:lnSpc>
            </a:pPr>
            <a:r>
              <a:rPr lang="en-US" sz="1200" dirty="0">
                <a:solidFill>
                  <a:srgbClr val="FF6B35"/>
                </a:solidFill>
                <a:latin typeface="Quattrocento Sans" pitchFamily="34" charset="0"/>
                <a:ea typeface="Quattrocento Sans" pitchFamily="34" charset="-122"/>
                <a:cs typeface="Quattrocento Sans" pitchFamily="34" charset="-120"/>
              </a:rPr>
              <a:t>■</a:t>
            </a:r>
            <a:pPr>
              <a:lnSpc>
                <a:spcPct val="160000"/>
              </a:lnSpc>
            </a:pPr>
            <a:r>
              <a:rPr lang="en-US" sz="1200" dirty="0">
                <a:solidFill>
                  <a:srgbClr val="FFFFFF"/>
                </a:solidFill>
                <a:latin typeface="Quattrocento Sans" pitchFamily="34" charset="0"/>
                <a:ea typeface="Quattrocento Sans" pitchFamily="34" charset="-122"/>
                <a:cs typeface="Quattrocento Sans" pitchFamily="34" charset="-120"/>
              </a:rPr>
              <a:t> Accurate planetary orbits and rotations around the Sun</a:t>
            </a:r>
            <a:endParaRPr lang="en-US" sz="1600" dirty="0"/>
          </a:p>
          <a:p>
            <a:pPr>
              <a:lnSpc>
                <a:spcPct val="160000"/>
              </a:lnSpc>
            </a:pPr>
            <a:r>
              <a:rPr lang="en-US" sz="1200" dirty="0">
                <a:solidFill>
                  <a:srgbClr val="FF6B35"/>
                </a:solidFill>
                <a:latin typeface="Quattrocento Sans" pitchFamily="34" charset="0"/>
                <a:ea typeface="Quattrocento Sans" pitchFamily="34" charset="-122"/>
                <a:cs typeface="Quattrocento Sans" pitchFamily="34" charset="-120"/>
              </a:rPr>
              <a:t>■</a:t>
            </a:r>
            <a:pPr>
              <a:lnSpc>
                <a:spcPct val="160000"/>
              </a:lnSpc>
            </a:pPr>
            <a:r>
              <a:rPr lang="en-US" sz="1200" dirty="0">
                <a:solidFill>
                  <a:srgbClr val="FFFFFF"/>
                </a:solidFill>
                <a:latin typeface="Quattrocento Sans" pitchFamily="34" charset="0"/>
                <a:ea typeface="Quattrocento Sans" pitchFamily="34" charset="-122"/>
                <a:cs typeface="Quattrocento Sans" pitchFamily="34" charset="-120"/>
              </a:rPr>
              <a:t> Scaled planetary sizes and distances</a:t>
            </a:r>
            <a:endParaRPr lang="en-US" sz="1600" dirty="0"/>
          </a:p>
          <a:p>
            <a:pPr>
              <a:lnSpc>
                <a:spcPct val="160000"/>
              </a:lnSpc>
            </a:pPr>
            <a:r>
              <a:rPr lang="en-US" sz="1200" dirty="0">
                <a:solidFill>
                  <a:srgbClr val="FF6B35"/>
                </a:solidFill>
                <a:latin typeface="Quattrocento Sans" pitchFamily="34" charset="0"/>
                <a:ea typeface="Quattrocento Sans" pitchFamily="34" charset="-122"/>
                <a:cs typeface="Quattrocento Sans" pitchFamily="34" charset="-120"/>
              </a:rPr>
              <a:t>■</a:t>
            </a:r>
            <a:pPr>
              <a:lnSpc>
                <a:spcPct val="160000"/>
              </a:lnSpc>
            </a:pPr>
            <a:r>
              <a:rPr lang="en-US" sz="1200" dirty="0">
                <a:solidFill>
                  <a:srgbClr val="FFFFFF"/>
                </a:solidFill>
                <a:latin typeface="Quattrocento Sans" pitchFamily="34" charset="0"/>
                <a:ea typeface="Quattrocento Sans" pitchFamily="34" charset="-122"/>
                <a:cs typeface="Quattrocento Sans" pitchFamily="34" charset="-120"/>
              </a:rPr>
              <a:t> Realistic textures for each planet</a:t>
            </a:r>
            <a:endParaRPr lang="en-US" sz="1600" dirty="0"/>
          </a:p>
          <a:p>
            <a:pPr>
              <a:lnSpc>
                <a:spcPct val="160000"/>
              </a:lnSpc>
            </a:pPr>
            <a:r>
              <a:rPr lang="en-US" sz="1200" dirty="0">
                <a:solidFill>
                  <a:srgbClr val="FF6B35"/>
                </a:solidFill>
                <a:latin typeface="Quattrocento Sans" pitchFamily="34" charset="0"/>
                <a:ea typeface="Quattrocento Sans" pitchFamily="34" charset="-122"/>
                <a:cs typeface="Quattrocento Sans" pitchFamily="34" charset="-120"/>
              </a:rPr>
              <a:t>■</a:t>
            </a:r>
            <a:pPr>
              <a:lnSpc>
                <a:spcPct val="160000"/>
              </a:lnSpc>
            </a:pPr>
            <a:r>
              <a:rPr lang="en-US" sz="1200" dirty="0">
                <a:solidFill>
                  <a:srgbClr val="FFFFFF"/>
                </a:solidFill>
                <a:latin typeface="Quattrocento Sans" pitchFamily="34" charset="0"/>
                <a:ea typeface="Quattrocento Sans" pitchFamily="34" charset="-122"/>
                <a:cs typeface="Quattrocento Sans" pitchFamily="34" charset="-120"/>
              </a:rPr>
              <a:t> Interactive camera controls to explore the system</a:t>
            </a:r>
            <a:endParaRPr lang="en-US" sz="1600" dirty="0"/>
          </a:p>
          <a:p>
            <a:pPr>
              <a:lnSpc>
                <a:spcPct val="160000"/>
              </a:lnSpc>
            </a:pPr>
            <a:r>
              <a:rPr lang="en-US" sz="1200" dirty="0">
                <a:solidFill>
                  <a:srgbClr val="FF6B35"/>
                </a:solidFill>
                <a:latin typeface="Quattrocento Sans" pitchFamily="34" charset="0"/>
                <a:ea typeface="Quattrocento Sans" pitchFamily="34" charset="-122"/>
                <a:cs typeface="Quattrocento Sans" pitchFamily="34" charset="-120"/>
              </a:rPr>
              <a:t>■</a:t>
            </a:r>
            <a:pPr>
              <a:lnSpc>
                <a:spcPct val="160000"/>
              </a:lnSpc>
            </a:pPr>
            <a:r>
              <a:rPr lang="en-US" sz="1200" dirty="0">
                <a:solidFill>
                  <a:srgbClr val="FFFFFF"/>
                </a:solidFill>
                <a:latin typeface="Quattrocento Sans" pitchFamily="34" charset="0"/>
                <a:ea typeface="Quattrocento Sans" pitchFamily="34" charset="-122"/>
                <a:cs typeface="Quattrocento Sans" pitchFamily="34" charset="-120"/>
              </a:rPr>
              <a:t> Animated planetary motion using C# scripts</a:t>
            </a:r>
            <a:endParaRPr lang="en-US" sz="1600" dirty="0"/>
          </a:p>
        </p:txBody>
      </p:sp>
      <p:sp>
        <p:nvSpPr>
          <p:cNvPr id="13" name="Shape 10"/>
          <p:cNvSpPr/>
          <p:nvPr/>
        </p:nvSpPr>
        <p:spPr>
          <a:xfrm>
            <a:off x="762000" y="5905500"/>
            <a:ext cx="14732000" cy="2540000"/>
          </a:xfrm>
          <a:prstGeom prst="rect">
            <a:avLst/>
          </a:prstGeom>
          <a:solidFill>
            <a:srgbClr val="FFFFFF"/>
          </a:solidFill>
          <a:ln w="12700">
            <a:solidFill>
              <a:srgbClr val="E8EAED"/>
            </a:solidFill>
            <a:prstDash val="solid"/>
          </a:ln>
        </p:spPr>
      </p:sp>
      <p:sp>
        <p:nvSpPr>
          <p:cNvPr id="14" name="Text 11"/>
          <p:cNvSpPr/>
          <p:nvPr/>
        </p:nvSpPr>
        <p:spPr>
          <a:xfrm>
            <a:off x="1066800" y="6070600"/>
            <a:ext cx="6350000" cy="355600"/>
          </a:xfrm>
          <a:prstGeom prst="rect">
            <a:avLst/>
          </a:prstGeom>
          <a:noFill/>
          <a:ln/>
        </p:spPr>
        <p:txBody>
          <a:bodyPr wrap="none" lIns="0" tIns="0" rIns="0" bIns="0" rtlCol="0" anchor="ctr"/>
          <a:lstStyle/>
          <a:p>
            <a:pPr>
              <a:lnSpc>
                <a:spcPct val="100000"/>
              </a:lnSpc>
            </a:pPr>
            <a:r>
              <a:rPr lang="en-US" sz="1600" spc="100" kern="0" dirty="0">
                <a:solidFill>
                  <a:srgbClr val="FF6B35"/>
                </a:solidFill>
                <a:latin typeface="Liter" pitchFamily="34" charset="0"/>
                <a:ea typeface="Liter" pitchFamily="34" charset="-122"/>
                <a:cs typeface="Liter" pitchFamily="34" charset="-120"/>
              </a:rPr>
              <a:t>SKILLS YOU WILL DEVELOP</a:t>
            </a:r>
            <a:endParaRPr lang="en-US" sz="1600" dirty="0"/>
          </a:p>
        </p:txBody>
      </p:sp>
      <p:sp>
        <p:nvSpPr>
          <p:cNvPr id="15" name="Text 12"/>
          <p:cNvSpPr/>
          <p:nvPr/>
        </p:nvSpPr>
        <p:spPr>
          <a:xfrm>
            <a:off x="1066800" y="6502400"/>
            <a:ext cx="4445000" cy="17780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Navigate the Unity Editor</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Create 3D GameObjects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Apply materials &amp; textures</a:t>
            </a:r>
            <a:endParaRPr lang="en-US" sz="1600" dirty="0"/>
          </a:p>
        </p:txBody>
      </p:sp>
      <p:sp>
        <p:nvSpPr>
          <p:cNvPr id="16" name="Text 13"/>
          <p:cNvSpPr/>
          <p:nvPr/>
        </p:nvSpPr>
        <p:spPr>
          <a:xfrm>
            <a:off x="5842000" y="6502400"/>
            <a:ext cx="4445000" cy="17780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Configure lighting &amp; cameras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Write C# control scripts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Understand component architecture</a:t>
            </a:r>
            <a:endParaRPr lang="en-US" sz="1600" dirty="0"/>
          </a:p>
        </p:txBody>
      </p:sp>
      <p:sp>
        <p:nvSpPr>
          <p:cNvPr id="17" name="Text 14"/>
          <p:cNvSpPr/>
          <p:nvPr/>
        </p:nvSpPr>
        <p:spPr>
          <a:xfrm>
            <a:off x="10668000" y="6502400"/>
            <a:ext cx="4445000" cy="17780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Use Hierarchy &amp; Inspector</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Import external assets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Organize project files</a:t>
            </a:r>
            <a:endParaRPr lang="en-US" sz="1600" dirty="0"/>
          </a:p>
        </p:txBody>
      </p:sp>
      <p:sp>
        <p:nvSpPr>
          <p:cNvPr id="18" name="Shape 15"/>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Project Goals &amp; Learning Outcomes</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Text 3"/>
          <p:cNvSpPr/>
          <p:nvPr/>
        </p:nvSpPr>
        <p:spPr>
          <a:xfrm>
            <a:off x="762000" y="1460500"/>
            <a:ext cx="14732000" cy="3810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By completing the Solar System project, you will master the following Unity fundamentals:</a:t>
            </a:r>
            <a:endParaRPr lang="en-US" sz="1800" dirty="0"/>
          </a:p>
        </p:txBody>
      </p:sp>
      <p:sp>
        <p:nvSpPr>
          <p:cNvPr id="6" name="Shape 4"/>
          <p:cNvSpPr/>
          <p:nvPr/>
        </p:nvSpPr>
        <p:spPr>
          <a:xfrm>
            <a:off x="762000" y="2032000"/>
            <a:ext cx="7175500" cy="1397000"/>
          </a:xfrm>
          <a:prstGeom prst="rect">
            <a:avLst/>
          </a:prstGeom>
          <a:solidFill>
            <a:srgbClr val="FFFFFF"/>
          </a:solidFill>
          <a:ln w="12700">
            <a:solidFill>
              <a:srgbClr val="E8EAED"/>
            </a:solidFill>
            <a:prstDash val="solid"/>
          </a:ln>
        </p:spPr>
      </p:sp>
      <p:sp>
        <p:nvSpPr>
          <p:cNvPr id="7" name="Text 5"/>
          <p:cNvSpPr/>
          <p:nvPr/>
        </p:nvSpPr>
        <p:spPr>
          <a:xfrm>
            <a:off x="914400" y="2159000"/>
            <a:ext cx="711200" cy="508000"/>
          </a:xfrm>
          <a:prstGeom prst="rect">
            <a:avLst/>
          </a:prstGeom>
          <a:noFill/>
          <a:ln/>
        </p:spPr>
        <p:txBody>
          <a:bodyPr wrap="none" lIns="0" tIns="0" rIns="0" bIns="0" rtlCol="0" anchor="ctr"/>
          <a:lstStyle/>
          <a:p>
            <a:pPr algn="ctr">
              <a:lnSpc>
                <a:spcPct val="100000"/>
              </a:lnSpc>
            </a:pPr>
            <a:r>
              <a:rPr lang="en-US" sz="2800" dirty="0">
                <a:solidFill>
                  <a:srgbClr val="FF6B35"/>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1651000" y="2159000"/>
            <a:ext cx="6032500" cy="330200"/>
          </a:xfrm>
          <a:prstGeom prst="rect">
            <a:avLst/>
          </a:prstGeom>
          <a:noFill/>
          <a:ln/>
        </p:spPr>
        <p:txBody>
          <a:bodyPr wrap="none" lIns="0" tIns="0" rIns="0" bIns="0" rtlCol="0" anchor="ctr"/>
          <a:lstStyle/>
          <a:p>
            <a:pPr>
              <a:lnSpc>
                <a:spcPct val="100000"/>
              </a:lnSpc>
            </a:pPr>
            <a:r>
              <a:rPr lang="en-US" sz="1700" dirty="0">
                <a:solidFill>
                  <a:srgbClr val="1A1D23"/>
                </a:solidFill>
                <a:latin typeface="Liter" pitchFamily="34" charset="0"/>
                <a:ea typeface="Liter" pitchFamily="34" charset="-122"/>
                <a:cs typeface="Liter" pitchFamily="34" charset="-120"/>
              </a:rPr>
              <a:t>Navigate the Unity Editor</a:t>
            </a:r>
            <a:endParaRPr lang="en-US" sz="1600" dirty="0"/>
          </a:p>
        </p:txBody>
      </p:sp>
      <p:sp>
        <p:nvSpPr>
          <p:cNvPr id="9" name="Text 7"/>
          <p:cNvSpPr/>
          <p:nvPr/>
        </p:nvSpPr>
        <p:spPr>
          <a:xfrm>
            <a:off x="1651000" y="2540000"/>
            <a:ext cx="6032500" cy="698500"/>
          </a:xfrm>
          <a:prstGeom prst="rect">
            <a:avLst/>
          </a:prstGeom>
          <a:noFill/>
          <a:ln/>
        </p:spPr>
        <p:txBody>
          <a:bodyPr wrap="square" lIns="0" tIns="0" rIns="0" bIns="0" rtlCol="0" anchor="t"/>
          <a:lstStyle/>
          <a:p>
            <a:pP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Confidently move between windows, use shortcuts, and customize your workspace.</a:t>
            </a:r>
            <a:endParaRPr lang="en-US" sz="1600" dirty="0"/>
          </a:p>
        </p:txBody>
      </p:sp>
      <p:sp>
        <p:nvSpPr>
          <p:cNvPr id="10" name="Shape 8"/>
          <p:cNvSpPr/>
          <p:nvPr/>
        </p:nvSpPr>
        <p:spPr>
          <a:xfrm>
            <a:off x="8318500" y="2032000"/>
            <a:ext cx="7175500" cy="1397000"/>
          </a:xfrm>
          <a:prstGeom prst="rect">
            <a:avLst/>
          </a:prstGeom>
          <a:solidFill>
            <a:srgbClr val="FFFFFF"/>
          </a:solidFill>
          <a:ln w="12700">
            <a:solidFill>
              <a:srgbClr val="E8EAED"/>
            </a:solidFill>
            <a:prstDash val="solid"/>
          </a:ln>
        </p:spPr>
      </p:sp>
      <p:sp>
        <p:nvSpPr>
          <p:cNvPr id="11" name="Text 9"/>
          <p:cNvSpPr/>
          <p:nvPr/>
        </p:nvSpPr>
        <p:spPr>
          <a:xfrm>
            <a:off x="8470900" y="2159000"/>
            <a:ext cx="711200" cy="508000"/>
          </a:xfrm>
          <a:prstGeom prst="rect">
            <a:avLst/>
          </a:prstGeom>
          <a:noFill/>
          <a:ln/>
        </p:spPr>
        <p:txBody>
          <a:bodyPr wrap="none" lIns="0" tIns="0" rIns="0" bIns="0" rtlCol="0" anchor="ctr"/>
          <a:lstStyle/>
          <a:p>
            <a:pPr algn="ctr">
              <a:lnSpc>
                <a:spcPct val="100000"/>
              </a:lnSpc>
            </a:pPr>
            <a:r>
              <a:rPr lang="en-US" sz="2800" dirty="0">
                <a:solidFill>
                  <a:srgbClr val="FF6B35"/>
                </a:solidFill>
                <a:latin typeface="Liter" pitchFamily="34" charset="0"/>
                <a:ea typeface="Liter" pitchFamily="34" charset="-122"/>
                <a:cs typeface="Liter" pitchFamily="34" charset="-120"/>
              </a:rPr>
              <a:t>02</a:t>
            </a:r>
            <a:endParaRPr lang="en-US" sz="1600" dirty="0"/>
          </a:p>
        </p:txBody>
      </p:sp>
      <p:sp>
        <p:nvSpPr>
          <p:cNvPr id="12" name="Text 10"/>
          <p:cNvSpPr/>
          <p:nvPr/>
        </p:nvSpPr>
        <p:spPr>
          <a:xfrm>
            <a:off x="9207500" y="2159000"/>
            <a:ext cx="6032500" cy="330200"/>
          </a:xfrm>
          <a:prstGeom prst="rect">
            <a:avLst/>
          </a:prstGeom>
          <a:noFill/>
          <a:ln/>
        </p:spPr>
        <p:txBody>
          <a:bodyPr wrap="none" lIns="0" tIns="0" rIns="0" bIns="0" rtlCol="0" anchor="ctr"/>
          <a:lstStyle/>
          <a:p>
            <a:pPr>
              <a:lnSpc>
                <a:spcPct val="100000"/>
              </a:lnSpc>
            </a:pPr>
            <a:r>
              <a:rPr lang="en-US" sz="1700" dirty="0">
                <a:solidFill>
                  <a:srgbClr val="1A1D23"/>
                </a:solidFill>
                <a:latin typeface="Liter" pitchFamily="34" charset="0"/>
                <a:ea typeface="Liter" pitchFamily="34" charset="-122"/>
                <a:cs typeface="Liter" pitchFamily="34" charset="-120"/>
              </a:rPr>
              <a:t>Create and Manage 3D GameObjects</a:t>
            </a:r>
            <a:endParaRPr lang="en-US" sz="1600" dirty="0"/>
          </a:p>
        </p:txBody>
      </p:sp>
      <p:sp>
        <p:nvSpPr>
          <p:cNvPr id="13" name="Text 11"/>
          <p:cNvSpPr/>
          <p:nvPr/>
        </p:nvSpPr>
        <p:spPr>
          <a:xfrm>
            <a:off x="9207500" y="2540000"/>
            <a:ext cx="6032500" cy="698500"/>
          </a:xfrm>
          <a:prstGeom prst="rect">
            <a:avLst/>
          </a:prstGeom>
          <a:noFill/>
          <a:ln/>
        </p:spPr>
        <p:txBody>
          <a:bodyPr wrap="square" lIns="0" tIns="0" rIns="0" bIns="0" rtlCol="0" anchor="t"/>
          <a:lstStyle/>
          <a:p>
            <a:pP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Add, position, rotate, and scale objects in a 3D scene.</a:t>
            </a:r>
            <a:endParaRPr lang="en-US" sz="1600" dirty="0"/>
          </a:p>
        </p:txBody>
      </p:sp>
      <p:sp>
        <p:nvSpPr>
          <p:cNvPr id="14" name="Shape 12"/>
          <p:cNvSpPr/>
          <p:nvPr/>
        </p:nvSpPr>
        <p:spPr>
          <a:xfrm>
            <a:off x="762000" y="3683000"/>
            <a:ext cx="7175500" cy="1397000"/>
          </a:xfrm>
          <a:prstGeom prst="rect">
            <a:avLst/>
          </a:prstGeom>
          <a:solidFill>
            <a:srgbClr val="FFFFFF"/>
          </a:solidFill>
          <a:ln w="12700">
            <a:solidFill>
              <a:srgbClr val="E8EAED"/>
            </a:solidFill>
            <a:prstDash val="solid"/>
          </a:ln>
        </p:spPr>
      </p:sp>
      <p:sp>
        <p:nvSpPr>
          <p:cNvPr id="15" name="Text 13"/>
          <p:cNvSpPr/>
          <p:nvPr/>
        </p:nvSpPr>
        <p:spPr>
          <a:xfrm>
            <a:off x="914400" y="3810000"/>
            <a:ext cx="711200" cy="508000"/>
          </a:xfrm>
          <a:prstGeom prst="rect">
            <a:avLst/>
          </a:prstGeom>
          <a:noFill/>
          <a:ln/>
        </p:spPr>
        <p:txBody>
          <a:bodyPr wrap="none" lIns="0" tIns="0" rIns="0" bIns="0" rtlCol="0" anchor="ctr"/>
          <a:lstStyle/>
          <a:p>
            <a:pPr algn="ctr">
              <a:lnSpc>
                <a:spcPct val="100000"/>
              </a:lnSpc>
            </a:pPr>
            <a:r>
              <a:rPr lang="en-US" sz="2800" dirty="0">
                <a:solidFill>
                  <a:srgbClr val="FF6B35"/>
                </a:solidFill>
                <a:latin typeface="Liter" pitchFamily="34" charset="0"/>
                <a:ea typeface="Liter" pitchFamily="34" charset="-122"/>
                <a:cs typeface="Liter" pitchFamily="34" charset="-120"/>
              </a:rPr>
              <a:t>03</a:t>
            </a:r>
            <a:endParaRPr lang="en-US" sz="1600" dirty="0"/>
          </a:p>
        </p:txBody>
      </p:sp>
      <p:sp>
        <p:nvSpPr>
          <p:cNvPr id="16" name="Text 14"/>
          <p:cNvSpPr/>
          <p:nvPr/>
        </p:nvSpPr>
        <p:spPr>
          <a:xfrm>
            <a:off x="1651000" y="3810000"/>
            <a:ext cx="6032500" cy="330200"/>
          </a:xfrm>
          <a:prstGeom prst="rect">
            <a:avLst/>
          </a:prstGeom>
          <a:noFill/>
          <a:ln/>
        </p:spPr>
        <p:txBody>
          <a:bodyPr wrap="none" lIns="0" tIns="0" rIns="0" bIns="0" rtlCol="0" anchor="ctr"/>
          <a:lstStyle/>
          <a:p>
            <a:pPr>
              <a:lnSpc>
                <a:spcPct val="100000"/>
              </a:lnSpc>
            </a:pPr>
            <a:r>
              <a:rPr lang="en-US" sz="1700" dirty="0">
                <a:solidFill>
                  <a:srgbClr val="1A1D23"/>
                </a:solidFill>
                <a:latin typeface="Liter" pitchFamily="34" charset="0"/>
                <a:ea typeface="Liter" pitchFamily="34" charset="-122"/>
                <a:cs typeface="Liter" pitchFamily="34" charset="-120"/>
              </a:rPr>
              <a:t>Apply Materials and Textures</a:t>
            </a:r>
            <a:endParaRPr lang="en-US" sz="1600" dirty="0"/>
          </a:p>
        </p:txBody>
      </p:sp>
      <p:sp>
        <p:nvSpPr>
          <p:cNvPr id="17" name="Text 15"/>
          <p:cNvSpPr/>
          <p:nvPr/>
        </p:nvSpPr>
        <p:spPr>
          <a:xfrm>
            <a:off x="1651000" y="4191000"/>
            <a:ext cx="6032500" cy="698500"/>
          </a:xfrm>
          <a:prstGeom prst="rect">
            <a:avLst/>
          </a:prstGeom>
          <a:noFill/>
          <a:ln/>
        </p:spPr>
        <p:txBody>
          <a:bodyPr wrap="square" lIns="0" tIns="0" rIns="0" bIns="0" rtlCol="0" anchor="t"/>
          <a:lstStyle/>
          <a:p>
            <a:pP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Make 3D objects look realistic with surface properties and image textures.</a:t>
            </a:r>
            <a:endParaRPr lang="en-US" sz="1600" dirty="0"/>
          </a:p>
        </p:txBody>
      </p:sp>
      <p:sp>
        <p:nvSpPr>
          <p:cNvPr id="18" name="Shape 16"/>
          <p:cNvSpPr/>
          <p:nvPr/>
        </p:nvSpPr>
        <p:spPr>
          <a:xfrm>
            <a:off x="8318500" y="3683000"/>
            <a:ext cx="7175500" cy="1397000"/>
          </a:xfrm>
          <a:prstGeom prst="rect">
            <a:avLst/>
          </a:prstGeom>
          <a:solidFill>
            <a:srgbClr val="FFFFFF"/>
          </a:solidFill>
          <a:ln w="12700">
            <a:solidFill>
              <a:srgbClr val="E8EAED"/>
            </a:solidFill>
            <a:prstDash val="solid"/>
          </a:ln>
        </p:spPr>
      </p:sp>
      <p:sp>
        <p:nvSpPr>
          <p:cNvPr id="19" name="Text 17"/>
          <p:cNvSpPr/>
          <p:nvPr/>
        </p:nvSpPr>
        <p:spPr>
          <a:xfrm>
            <a:off x="8470900" y="3810000"/>
            <a:ext cx="711200" cy="508000"/>
          </a:xfrm>
          <a:prstGeom prst="rect">
            <a:avLst/>
          </a:prstGeom>
          <a:noFill/>
          <a:ln/>
        </p:spPr>
        <p:txBody>
          <a:bodyPr wrap="none" lIns="0" tIns="0" rIns="0" bIns="0" rtlCol="0" anchor="ctr"/>
          <a:lstStyle/>
          <a:p>
            <a:pPr algn="ctr">
              <a:lnSpc>
                <a:spcPct val="100000"/>
              </a:lnSpc>
            </a:pPr>
            <a:r>
              <a:rPr lang="en-US" sz="2800" dirty="0">
                <a:solidFill>
                  <a:srgbClr val="FF6B35"/>
                </a:solidFill>
                <a:latin typeface="Liter" pitchFamily="34" charset="0"/>
                <a:ea typeface="Liter" pitchFamily="34" charset="-122"/>
                <a:cs typeface="Liter" pitchFamily="34" charset="-120"/>
              </a:rPr>
              <a:t>04</a:t>
            </a:r>
            <a:endParaRPr lang="en-US" sz="1600" dirty="0"/>
          </a:p>
        </p:txBody>
      </p:sp>
      <p:sp>
        <p:nvSpPr>
          <p:cNvPr id="20" name="Text 18"/>
          <p:cNvSpPr/>
          <p:nvPr/>
        </p:nvSpPr>
        <p:spPr>
          <a:xfrm>
            <a:off x="9207500" y="3810000"/>
            <a:ext cx="6032500" cy="330200"/>
          </a:xfrm>
          <a:prstGeom prst="rect">
            <a:avLst/>
          </a:prstGeom>
          <a:noFill/>
          <a:ln/>
        </p:spPr>
        <p:txBody>
          <a:bodyPr wrap="none" lIns="0" tIns="0" rIns="0" bIns="0" rtlCol="0" anchor="ctr"/>
          <a:lstStyle/>
          <a:p>
            <a:pPr>
              <a:lnSpc>
                <a:spcPct val="100000"/>
              </a:lnSpc>
            </a:pPr>
            <a:r>
              <a:rPr lang="en-US" sz="1700" dirty="0">
                <a:solidFill>
                  <a:srgbClr val="1A1D23"/>
                </a:solidFill>
                <a:latin typeface="Liter" pitchFamily="34" charset="0"/>
                <a:ea typeface="Liter" pitchFamily="34" charset="-122"/>
                <a:cs typeface="Liter" pitchFamily="34" charset="-120"/>
              </a:rPr>
              <a:t>Configure Lighting and Camera</a:t>
            </a:r>
            <a:endParaRPr lang="en-US" sz="1600" dirty="0"/>
          </a:p>
        </p:txBody>
      </p:sp>
      <p:sp>
        <p:nvSpPr>
          <p:cNvPr id="21" name="Text 19"/>
          <p:cNvSpPr/>
          <p:nvPr/>
        </p:nvSpPr>
        <p:spPr>
          <a:xfrm>
            <a:off x="9207500" y="4191000"/>
            <a:ext cx="6032500" cy="698500"/>
          </a:xfrm>
          <a:prstGeom prst="rect">
            <a:avLst/>
          </a:prstGeom>
          <a:noFill/>
          <a:ln/>
        </p:spPr>
        <p:txBody>
          <a:bodyPr wrap="square" lIns="0" tIns="0" rIns="0" bIns="0" rtlCol="0" anchor="t"/>
          <a:lstStyle/>
          <a:p>
            <a:pP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Set up directional lights, ambient lighting, and camera perspectives.</a:t>
            </a:r>
            <a:endParaRPr lang="en-US" sz="1600" dirty="0"/>
          </a:p>
        </p:txBody>
      </p:sp>
      <p:sp>
        <p:nvSpPr>
          <p:cNvPr id="22" name="Shape 20"/>
          <p:cNvSpPr/>
          <p:nvPr/>
        </p:nvSpPr>
        <p:spPr>
          <a:xfrm>
            <a:off x="762000" y="5334000"/>
            <a:ext cx="7175500" cy="1397000"/>
          </a:xfrm>
          <a:prstGeom prst="rect">
            <a:avLst/>
          </a:prstGeom>
          <a:solidFill>
            <a:srgbClr val="FFFFFF"/>
          </a:solidFill>
          <a:ln w="12700">
            <a:solidFill>
              <a:srgbClr val="E8EAED"/>
            </a:solidFill>
            <a:prstDash val="solid"/>
          </a:ln>
        </p:spPr>
      </p:sp>
      <p:sp>
        <p:nvSpPr>
          <p:cNvPr id="23" name="Text 21"/>
          <p:cNvSpPr/>
          <p:nvPr/>
        </p:nvSpPr>
        <p:spPr>
          <a:xfrm>
            <a:off x="914400" y="5461000"/>
            <a:ext cx="711200" cy="508000"/>
          </a:xfrm>
          <a:prstGeom prst="rect">
            <a:avLst/>
          </a:prstGeom>
          <a:noFill/>
          <a:ln/>
        </p:spPr>
        <p:txBody>
          <a:bodyPr wrap="none" lIns="0" tIns="0" rIns="0" bIns="0" rtlCol="0" anchor="ctr"/>
          <a:lstStyle/>
          <a:p>
            <a:pPr algn="ctr">
              <a:lnSpc>
                <a:spcPct val="100000"/>
              </a:lnSpc>
            </a:pPr>
            <a:r>
              <a:rPr lang="en-US" sz="2800" dirty="0">
                <a:solidFill>
                  <a:srgbClr val="FF6B35"/>
                </a:solidFill>
                <a:latin typeface="Liter" pitchFamily="34" charset="0"/>
                <a:ea typeface="Liter" pitchFamily="34" charset="-122"/>
                <a:cs typeface="Liter" pitchFamily="34" charset="-120"/>
              </a:rPr>
              <a:t>05</a:t>
            </a:r>
            <a:endParaRPr lang="en-US" sz="1600" dirty="0"/>
          </a:p>
        </p:txBody>
      </p:sp>
      <p:sp>
        <p:nvSpPr>
          <p:cNvPr id="24" name="Text 22"/>
          <p:cNvSpPr/>
          <p:nvPr/>
        </p:nvSpPr>
        <p:spPr>
          <a:xfrm>
            <a:off x="1651000" y="5461000"/>
            <a:ext cx="6032500" cy="330200"/>
          </a:xfrm>
          <a:prstGeom prst="rect">
            <a:avLst/>
          </a:prstGeom>
          <a:noFill/>
          <a:ln/>
        </p:spPr>
        <p:txBody>
          <a:bodyPr wrap="none" lIns="0" tIns="0" rIns="0" bIns="0" rtlCol="0" anchor="ctr"/>
          <a:lstStyle/>
          <a:p>
            <a:pPr>
              <a:lnSpc>
                <a:spcPct val="100000"/>
              </a:lnSpc>
            </a:pPr>
            <a:r>
              <a:rPr lang="en-US" sz="1700" dirty="0">
                <a:solidFill>
                  <a:srgbClr val="1A1D23"/>
                </a:solidFill>
                <a:latin typeface="Liter" pitchFamily="34" charset="0"/>
                <a:ea typeface="Liter" pitchFamily="34" charset="-122"/>
                <a:cs typeface="Liter" pitchFamily="34" charset="-120"/>
              </a:rPr>
              <a:t>Write C# Scripts</a:t>
            </a:r>
            <a:endParaRPr lang="en-US" sz="1600" dirty="0"/>
          </a:p>
        </p:txBody>
      </p:sp>
      <p:sp>
        <p:nvSpPr>
          <p:cNvPr id="25" name="Text 23"/>
          <p:cNvSpPr/>
          <p:nvPr/>
        </p:nvSpPr>
        <p:spPr>
          <a:xfrm>
            <a:off x="1651000" y="5842000"/>
            <a:ext cx="6032500" cy="698500"/>
          </a:xfrm>
          <a:prstGeom prst="rect">
            <a:avLst/>
          </a:prstGeom>
          <a:noFill/>
          <a:ln/>
        </p:spPr>
        <p:txBody>
          <a:bodyPr wrap="square" lIns="0" tIns="0" rIns="0" bIns="0" rtlCol="0" anchor="t"/>
          <a:lstStyle/>
          <a:p>
            <a:pP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Program object behavior including orbital motion and rotation speed.</a:t>
            </a:r>
            <a:endParaRPr lang="en-US" sz="1600" dirty="0"/>
          </a:p>
        </p:txBody>
      </p:sp>
      <p:sp>
        <p:nvSpPr>
          <p:cNvPr id="26" name="Shape 24"/>
          <p:cNvSpPr/>
          <p:nvPr/>
        </p:nvSpPr>
        <p:spPr>
          <a:xfrm>
            <a:off x="8318500" y="5334000"/>
            <a:ext cx="7175500" cy="1397000"/>
          </a:xfrm>
          <a:prstGeom prst="rect">
            <a:avLst/>
          </a:prstGeom>
          <a:solidFill>
            <a:srgbClr val="FFFFFF"/>
          </a:solidFill>
          <a:ln w="12700">
            <a:solidFill>
              <a:srgbClr val="E8EAED"/>
            </a:solidFill>
            <a:prstDash val="solid"/>
          </a:ln>
        </p:spPr>
      </p:sp>
      <p:sp>
        <p:nvSpPr>
          <p:cNvPr id="27" name="Text 25"/>
          <p:cNvSpPr/>
          <p:nvPr/>
        </p:nvSpPr>
        <p:spPr>
          <a:xfrm>
            <a:off x="8470900" y="5461000"/>
            <a:ext cx="711200" cy="508000"/>
          </a:xfrm>
          <a:prstGeom prst="rect">
            <a:avLst/>
          </a:prstGeom>
          <a:noFill/>
          <a:ln/>
        </p:spPr>
        <p:txBody>
          <a:bodyPr wrap="none" lIns="0" tIns="0" rIns="0" bIns="0" rtlCol="0" anchor="ctr"/>
          <a:lstStyle/>
          <a:p>
            <a:pPr algn="ctr">
              <a:lnSpc>
                <a:spcPct val="100000"/>
              </a:lnSpc>
            </a:pPr>
            <a:r>
              <a:rPr lang="en-US" sz="2800" dirty="0">
                <a:solidFill>
                  <a:srgbClr val="FF6B35"/>
                </a:solidFill>
                <a:latin typeface="Liter" pitchFamily="34" charset="0"/>
                <a:ea typeface="Liter" pitchFamily="34" charset="-122"/>
                <a:cs typeface="Liter" pitchFamily="34" charset="-120"/>
              </a:rPr>
              <a:t>06</a:t>
            </a:r>
            <a:endParaRPr lang="en-US" sz="1600" dirty="0"/>
          </a:p>
        </p:txBody>
      </p:sp>
      <p:sp>
        <p:nvSpPr>
          <p:cNvPr id="28" name="Text 26"/>
          <p:cNvSpPr/>
          <p:nvPr/>
        </p:nvSpPr>
        <p:spPr>
          <a:xfrm>
            <a:off x="9207500" y="5461000"/>
            <a:ext cx="6032500" cy="330200"/>
          </a:xfrm>
          <a:prstGeom prst="rect">
            <a:avLst/>
          </a:prstGeom>
          <a:noFill/>
          <a:ln/>
        </p:spPr>
        <p:txBody>
          <a:bodyPr wrap="none" lIns="0" tIns="0" rIns="0" bIns="0" rtlCol="0" anchor="ctr"/>
          <a:lstStyle/>
          <a:p>
            <a:pPr>
              <a:lnSpc>
                <a:spcPct val="100000"/>
              </a:lnSpc>
            </a:pPr>
            <a:r>
              <a:rPr lang="en-US" sz="1700" dirty="0">
                <a:solidFill>
                  <a:srgbClr val="1A1D23"/>
                </a:solidFill>
                <a:latin typeface="Liter" pitchFamily="34" charset="0"/>
                <a:ea typeface="Liter" pitchFamily="34" charset="-122"/>
                <a:cs typeface="Liter" pitchFamily="34" charset="-120"/>
              </a:rPr>
              <a:t>Understand Component Architecture</a:t>
            </a:r>
            <a:endParaRPr lang="en-US" sz="1600" dirty="0"/>
          </a:p>
        </p:txBody>
      </p:sp>
      <p:sp>
        <p:nvSpPr>
          <p:cNvPr id="29" name="Text 27"/>
          <p:cNvSpPr/>
          <p:nvPr/>
        </p:nvSpPr>
        <p:spPr>
          <a:xfrm>
            <a:off x="9207500" y="5842000"/>
            <a:ext cx="6032500" cy="698500"/>
          </a:xfrm>
          <a:prstGeom prst="rect">
            <a:avLst/>
          </a:prstGeom>
          <a:noFill/>
          <a:ln/>
        </p:spPr>
        <p:txBody>
          <a:bodyPr wrap="square" lIns="0" tIns="0" rIns="0" bIns="0" rtlCol="0" anchor="t"/>
          <a:lstStyle/>
          <a:p>
            <a:pPr>
              <a:lnSpc>
                <a:spcPct val="150000"/>
              </a:lnSpc>
            </a:pPr>
            <a:r>
              <a:rPr lang="en-US" sz="1400" dirty="0">
                <a:solidFill>
                  <a:srgbClr val="6B7280"/>
                </a:solidFill>
                <a:latin typeface="Quattrocento Sans" pitchFamily="34" charset="0"/>
                <a:ea typeface="Quattrocento Sans" pitchFamily="34" charset="-122"/>
                <a:cs typeface="Quattrocento Sans" pitchFamily="34" charset="-120"/>
              </a:rPr>
              <a:t>Learn how GameObjects use Components for flexible, modular design.</a:t>
            </a:r>
            <a:endParaRPr lang="en-US" sz="1600" dirty="0"/>
          </a:p>
        </p:txBody>
      </p:sp>
      <p:sp>
        <p:nvSpPr>
          <p:cNvPr id="30" name="Shape 28"/>
          <p:cNvSpPr/>
          <p:nvPr/>
        </p:nvSpPr>
        <p:spPr>
          <a:xfrm>
            <a:off x="762000" y="7048500"/>
            <a:ext cx="14732000" cy="1270000"/>
          </a:xfrm>
          <a:prstGeom prst="rect">
            <a:avLst/>
          </a:prstGeom>
          <a:solidFill>
            <a:srgbClr val="1A1D23"/>
          </a:solidFill>
          <a:ln/>
        </p:spPr>
      </p:sp>
      <p:sp>
        <p:nvSpPr>
          <p:cNvPr id="31" name="Shape 29"/>
          <p:cNvSpPr/>
          <p:nvPr/>
        </p:nvSpPr>
        <p:spPr>
          <a:xfrm>
            <a:off x="1047750" y="7366000"/>
            <a:ext cx="342900" cy="304800"/>
          </a:xfrm>
          <a:custGeom>
            <a:avLst/>
            <a:gdLst/>
            <a:ahLst/>
            <a:cxnLst/>
            <a:rect l="l" t="t" r="r" b="b"/>
            <a:pathLst>
              <a:path w="342900" h="304800">
                <a:moveTo>
                  <a:pt x="184249" y="-11251"/>
                </a:moveTo>
                <a:cubicBezTo>
                  <a:pt x="181808" y="-16014"/>
                  <a:pt x="176867" y="-19050"/>
                  <a:pt x="171510" y="-19050"/>
                </a:cubicBezTo>
                <a:cubicBezTo>
                  <a:pt x="166152" y="-19050"/>
                  <a:pt x="161211" y="-16014"/>
                  <a:pt x="158770" y="-11251"/>
                </a:cubicBezTo>
                <a:lnTo>
                  <a:pt x="114955" y="74593"/>
                </a:lnTo>
                <a:lnTo>
                  <a:pt x="19764" y="89714"/>
                </a:lnTo>
                <a:cubicBezTo>
                  <a:pt x="14466" y="90547"/>
                  <a:pt x="10061" y="94298"/>
                  <a:pt x="8394" y="99417"/>
                </a:cubicBezTo>
                <a:cubicBezTo>
                  <a:pt x="6727" y="104537"/>
                  <a:pt x="8096" y="110133"/>
                  <a:pt x="11847" y="113943"/>
                </a:cubicBezTo>
                <a:lnTo>
                  <a:pt x="79950" y="182106"/>
                </a:lnTo>
                <a:lnTo>
                  <a:pt x="64949" y="277297"/>
                </a:lnTo>
                <a:cubicBezTo>
                  <a:pt x="64115" y="282595"/>
                  <a:pt x="66318" y="287953"/>
                  <a:pt x="70664" y="291108"/>
                </a:cubicBezTo>
                <a:cubicBezTo>
                  <a:pt x="75009" y="294263"/>
                  <a:pt x="80724" y="294739"/>
                  <a:pt x="85546" y="292298"/>
                </a:cubicBezTo>
                <a:lnTo>
                  <a:pt x="171510" y="248603"/>
                </a:lnTo>
                <a:lnTo>
                  <a:pt x="257413" y="292298"/>
                </a:lnTo>
                <a:cubicBezTo>
                  <a:pt x="262176" y="294739"/>
                  <a:pt x="267950" y="294263"/>
                  <a:pt x="272296" y="291108"/>
                </a:cubicBezTo>
                <a:cubicBezTo>
                  <a:pt x="276642" y="287953"/>
                  <a:pt x="278844" y="282654"/>
                  <a:pt x="278011" y="277297"/>
                </a:cubicBezTo>
                <a:lnTo>
                  <a:pt x="262950" y="182106"/>
                </a:lnTo>
                <a:lnTo>
                  <a:pt x="331053" y="113943"/>
                </a:lnTo>
                <a:cubicBezTo>
                  <a:pt x="334863" y="110133"/>
                  <a:pt x="336173" y="104537"/>
                  <a:pt x="334506" y="99417"/>
                </a:cubicBezTo>
                <a:cubicBezTo>
                  <a:pt x="332839" y="94298"/>
                  <a:pt x="328493" y="90547"/>
                  <a:pt x="323136" y="89714"/>
                </a:cubicBezTo>
                <a:lnTo>
                  <a:pt x="228005" y="74593"/>
                </a:lnTo>
                <a:lnTo>
                  <a:pt x="184249" y="-11251"/>
                </a:lnTo>
                <a:close/>
              </a:path>
            </a:pathLst>
          </a:custGeom>
          <a:solidFill>
            <a:srgbClr val="FF6B35"/>
          </a:solidFill>
          <a:ln/>
        </p:spPr>
      </p:sp>
      <p:sp>
        <p:nvSpPr>
          <p:cNvPr id="32" name="Text 30"/>
          <p:cNvSpPr/>
          <p:nvPr/>
        </p:nvSpPr>
        <p:spPr>
          <a:xfrm>
            <a:off x="1524000" y="7239000"/>
            <a:ext cx="13716000" cy="889000"/>
          </a:xfrm>
          <a:prstGeom prst="rect">
            <a:avLst/>
          </a:prstGeom>
          <a:noFill/>
          <a:ln/>
        </p:spPr>
        <p:txBody>
          <a:bodyPr wrap="square" lIns="0" tIns="0" rIns="0" bIns="0" rtlCol="0" anchor="ctr"/>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Success Tip:</a:t>
            </a:r>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Each learning outcome maps directly to a skill needed for the Solar System project. Keep this page as a checklist — tick off each skill as you master it throughout the course.</a:t>
            </a:r>
            <a:endParaRPr lang="en-US" sz="1600" dirty="0"/>
          </a:p>
        </p:txBody>
      </p:sp>
      <p:sp>
        <p:nvSpPr>
          <p:cNvPr id="33" name="Shape 31"/>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143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Downloading Unity Hub — Step 1</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87500"/>
            <a:ext cx="508000" cy="508000"/>
          </a:xfrm>
          <a:prstGeom prst="ellipse">
            <a:avLst/>
          </a:prstGeom>
          <a:solidFill>
            <a:srgbClr val="FF6B35"/>
          </a:solidFill>
          <a:ln/>
        </p:spPr>
      </p:sp>
      <p:sp>
        <p:nvSpPr>
          <p:cNvPr id="6" name="Text 4"/>
          <p:cNvSpPr/>
          <p:nvPr/>
        </p:nvSpPr>
        <p:spPr>
          <a:xfrm>
            <a:off x="762000" y="1587500"/>
            <a:ext cx="508000" cy="508000"/>
          </a:xfrm>
          <a:prstGeom prst="rect">
            <a:avLst/>
          </a:prstGeom>
          <a:noFill/>
          <a:ln/>
        </p:spPr>
        <p:txBody>
          <a:bodyPr wrap="none" lIns="0" tIns="0" rIns="0" bIns="0" rtlCol="0" anchor="ctr"/>
          <a:lstStyle/>
          <a:p>
            <a:pPr algn="ctr">
              <a:lnSpc>
                <a:spcPct val="100000"/>
              </a:lnSpc>
            </a:pPr>
            <a:r>
              <a:rPr lang="en-US" sz="2000" dirty="0">
                <a:solidFill>
                  <a:srgbClr val="FFFFFF"/>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460500" y="1587500"/>
            <a:ext cx="6350000" cy="381000"/>
          </a:xfrm>
          <a:prstGeom prst="rect">
            <a:avLst/>
          </a:prstGeom>
          <a:noFill/>
          <a:ln/>
        </p:spPr>
        <p:txBody>
          <a:bodyPr wrap="none" lIns="0" tIns="0" rIns="0" bIns="0" rtlCol="0" anchor="ctr"/>
          <a:lstStyle/>
          <a:p>
            <a:pPr>
              <a:lnSpc>
                <a:spcPct val="100000"/>
              </a:lnSpc>
            </a:pPr>
            <a:r>
              <a:rPr lang="en-US" sz="2000" dirty="0">
                <a:solidFill>
                  <a:srgbClr val="1A1D23"/>
                </a:solidFill>
                <a:latin typeface="Liter" pitchFamily="34" charset="0"/>
                <a:ea typeface="Liter" pitchFamily="34" charset="-122"/>
                <a:cs typeface="Liter" pitchFamily="34" charset="-120"/>
              </a:rPr>
              <a:t>Visit the Official Unity Website</a:t>
            </a:r>
            <a:endParaRPr lang="en-US" sz="1600" dirty="0"/>
          </a:p>
        </p:txBody>
      </p:sp>
      <p:sp>
        <p:nvSpPr>
          <p:cNvPr id="8" name="Text 6"/>
          <p:cNvSpPr/>
          <p:nvPr/>
        </p:nvSpPr>
        <p:spPr>
          <a:xfrm>
            <a:off x="1460500" y="2032000"/>
            <a:ext cx="6350000" cy="698500"/>
          </a:xfrm>
          <a:prstGeom prst="rect">
            <a:avLst/>
          </a:prstGeom>
          <a:noFill/>
          <a:ln/>
        </p:spPr>
        <p:txBody>
          <a:bodyPr wrap="square" lIns="0" tIns="0" rIns="0" bIns="0" rtlCol="0" anchor="t"/>
          <a:lstStyle/>
          <a:p>
            <a:pPr>
              <a:lnSpc>
                <a:spcPct val="150000"/>
              </a:lnSpc>
            </a:pPr>
            <a:r>
              <a:rPr lang="en-US" sz="1600" dirty="0">
                <a:solidFill>
                  <a:srgbClr val="1E2328"/>
                </a:solidFill>
                <a:latin typeface="Quattrocento Sans" pitchFamily="34" charset="0"/>
                <a:ea typeface="Quattrocento Sans" pitchFamily="34" charset="-122"/>
                <a:cs typeface="Quattrocento Sans" pitchFamily="34" charset="-120"/>
              </a:rPr>
              <a:t>Open your browser and navigate to </a:t>
            </a:r>
            <a:pPr>
              <a:lnSpc>
                <a:spcPct val="150000"/>
              </a:lnSpc>
            </a:pPr>
            <a:r>
              <a:rPr lang="en-US" sz="1600" u="sng" dirty="0">
                <a:solidFill>
                  <a:srgbClr val="1E2328"/>
                </a:solidFill>
                <a:latin typeface="Quattrocento Sans" pitchFamily="34" charset="0"/>
                <a:ea typeface="Quattrocento Sans" pitchFamily="34" charset="-122"/>
                <a:cs typeface="Quattrocento Sans" pitchFamily="34" charset="-120"/>
                <a:hlinkClick r:id="rId1" tooltip="" action="ppaction://hlinkfile">
                  <a:extLst>
                    <a:ext uri="{A12FA001-AC4F-418D-AE19-62706E023703}">
                      <ahyp:hlinkClr xmlns:ahyp="http://schemas.microsoft.com/office/drawing/2018/hyperlinkcolor" val="tx"/>
                    </a:ext>
                  </a:extLst>
                </a:hlinkClick>
              </a:rPr>
              <a:t>unity.com/download</a:t>
            </a:r>
            <a:endParaRPr lang="en-US" sz="1600" dirty="0"/>
          </a:p>
        </p:txBody>
      </p:sp>
      <p:sp>
        <p:nvSpPr>
          <p:cNvPr id="9" name="Shape 7"/>
          <p:cNvSpPr/>
          <p:nvPr/>
        </p:nvSpPr>
        <p:spPr>
          <a:xfrm>
            <a:off x="762000" y="2921000"/>
            <a:ext cx="508000" cy="508000"/>
          </a:xfrm>
          <a:prstGeom prst="ellipse">
            <a:avLst/>
          </a:prstGeom>
          <a:solidFill>
            <a:srgbClr val="FF6B35"/>
          </a:solidFill>
          <a:ln/>
        </p:spPr>
      </p:sp>
      <p:sp>
        <p:nvSpPr>
          <p:cNvPr id="10" name="Text 8"/>
          <p:cNvSpPr/>
          <p:nvPr/>
        </p:nvSpPr>
        <p:spPr>
          <a:xfrm>
            <a:off x="762000" y="2921000"/>
            <a:ext cx="508000" cy="508000"/>
          </a:xfrm>
          <a:prstGeom prst="rect">
            <a:avLst/>
          </a:prstGeom>
          <a:noFill/>
          <a:ln/>
        </p:spPr>
        <p:txBody>
          <a:bodyPr wrap="none" lIns="0" tIns="0" rIns="0" bIns="0" rtlCol="0" anchor="ctr"/>
          <a:lstStyle/>
          <a:p>
            <a:pPr algn="ctr">
              <a:lnSpc>
                <a:spcPct val="100000"/>
              </a:lnSpc>
            </a:pPr>
            <a:r>
              <a:rPr lang="en-US" sz="2000" dirty="0">
                <a:solidFill>
                  <a:srgbClr val="FFFFFF"/>
                </a:solidFill>
                <a:latin typeface="Liter" pitchFamily="34" charset="0"/>
                <a:ea typeface="Liter" pitchFamily="34" charset="-122"/>
                <a:cs typeface="Liter" pitchFamily="34" charset="-120"/>
              </a:rPr>
              <a:t>2</a:t>
            </a:r>
            <a:endParaRPr lang="en-US" sz="1600" dirty="0"/>
          </a:p>
        </p:txBody>
      </p:sp>
      <p:sp>
        <p:nvSpPr>
          <p:cNvPr id="11" name="Text 9"/>
          <p:cNvSpPr/>
          <p:nvPr/>
        </p:nvSpPr>
        <p:spPr>
          <a:xfrm>
            <a:off x="1460500" y="2921000"/>
            <a:ext cx="6350000" cy="381000"/>
          </a:xfrm>
          <a:prstGeom prst="rect">
            <a:avLst/>
          </a:prstGeom>
          <a:noFill/>
          <a:ln/>
        </p:spPr>
        <p:txBody>
          <a:bodyPr wrap="none" lIns="0" tIns="0" rIns="0" bIns="0" rtlCol="0" anchor="ctr"/>
          <a:lstStyle/>
          <a:p>
            <a:pPr>
              <a:lnSpc>
                <a:spcPct val="100000"/>
              </a:lnSpc>
            </a:pPr>
            <a:r>
              <a:rPr lang="en-US" sz="2000" dirty="0">
                <a:solidFill>
                  <a:srgbClr val="1A1D23"/>
                </a:solidFill>
                <a:latin typeface="Liter" pitchFamily="34" charset="0"/>
                <a:ea typeface="Liter" pitchFamily="34" charset="-122"/>
                <a:cs typeface="Liter" pitchFamily="34" charset="-120"/>
              </a:rPr>
              <a:t>Download Unity Hub</a:t>
            </a:r>
            <a:endParaRPr lang="en-US" sz="1600" dirty="0"/>
          </a:p>
        </p:txBody>
      </p:sp>
      <p:sp>
        <p:nvSpPr>
          <p:cNvPr id="12" name="Text 10"/>
          <p:cNvSpPr/>
          <p:nvPr/>
        </p:nvSpPr>
        <p:spPr>
          <a:xfrm>
            <a:off x="1460500" y="3365500"/>
            <a:ext cx="6350000" cy="762000"/>
          </a:xfrm>
          <a:prstGeom prst="rect">
            <a:avLst/>
          </a:prstGeom>
          <a:noFill/>
          <a:ln/>
        </p:spPr>
        <p:txBody>
          <a:bodyPr wrap="square" lIns="0" tIns="0" rIns="0" bIns="0" rtlCol="0" anchor="t"/>
          <a:lstStyle/>
          <a:p>
            <a:pPr>
              <a:lnSpc>
                <a:spcPct val="150000"/>
              </a:lnSpc>
            </a:pPr>
            <a:r>
              <a:rPr lang="en-US" sz="1600" dirty="0">
                <a:solidFill>
                  <a:srgbClr val="1E2328"/>
                </a:solidFill>
                <a:latin typeface="Quattrocento Sans" pitchFamily="34" charset="0"/>
                <a:ea typeface="Quattrocento Sans" pitchFamily="34" charset="-122"/>
                <a:cs typeface="Quattrocento Sans" pitchFamily="34" charset="-120"/>
              </a:rPr>
              <a:t>Click "Download Unity Hub" for your OS (Windows/Mac/Linux). The installer is ~52MB.</a:t>
            </a:r>
            <a:endParaRPr lang="en-US" sz="1600" dirty="0"/>
          </a:p>
        </p:txBody>
      </p:sp>
      <p:sp>
        <p:nvSpPr>
          <p:cNvPr id="13" name="Shape 11"/>
          <p:cNvSpPr/>
          <p:nvPr/>
        </p:nvSpPr>
        <p:spPr>
          <a:xfrm>
            <a:off x="762000" y="4318000"/>
            <a:ext cx="7366000" cy="1651000"/>
          </a:xfrm>
          <a:prstGeom prst="rect">
            <a:avLst/>
          </a:prstGeom>
          <a:solidFill>
            <a:srgbClr val="FFFFFF"/>
          </a:solidFill>
          <a:ln w="12700">
            <a:solidFill>
              <a:srgbClr val="E8EAED"/>
            </a:solidFill>
            <a:prstDash val="solid"/>
          </a:ln>
        </p:spPr>
      </p:sp>
      <p:sp>
        <p:nvSpPr>
          <p:cNvPr id="14" name="Shape 12"/>
          <p:cNvSpPr/>
          <p:nvPr/>
        </p:nvSpPr>
        <p:spPr>
          <a:xfrm>
            <a:off x="762000" y="4318000"/>
            <a:ext cx="50800" cy="1651000"/>
          </a:xfrm>
          <a:prstGeom prst="rect">
            <a:avLst/>
          </a:prstGeom>
          <a:solidFill>
            <a:srgbClr val="FF6B35"/>
          </a:solidFill>
          <a:ln/>
        </p:spPr>
      </p:sp>
      <p:sp>
        <p:nvSpPr>
          <p:cNvPr id="15" name="Shape 13"/>
          <p:cNvSpPr/>
          <p:nvPr/>
        </p:nvSpPr>
        <p:spPr>
          <a:xfrm>
            <a:off x="1016000" y="4470400"/>
            <a:ext cx="279400" cy="279400"/>
          </a:xfrm>
          <a:custGeom>
            <a:avLst/>
            <a:gdLst/>
            <a:ahLst/>
            <a:cxnLst/>
            <a:rect l="l" t="t" r="r" b="b"/>
            <a:pathLst>
              <a:path w="279400" h="279400">
                <a:moveTo>
                  <a:pt x="139700" y="279400"/>
                </a:moveTo>
                <a:cubicBezTo>
                  <a:pt x="216803" y="279400"/>
                  <a:pt x="279400" y="216803"/>
                  <a:pt x="279400" y="139700"/>
                </a:cubicBezTo>
                <a:cubicBezTo>
                  <a:pt x="279400" y="62597"/>
                  <a:pt x="216803" y="0"/>
                  <a:pt x="139700" y="0"/>
                </a:cubicBezTo>
                <a:cubicBezTo>
                  <a:pt x="62597" y="0"/>
                  <a:pt x="0" y="62597"/>
                  <a:pt x="0" y="139700"/>
                </a:cubicBezTo>
                <a:cubicBezTo>
                  <a:pt x="0" y="216803"/>
                  <a:pt x="62597" y="279400"/>
                  <a:pt x="139700" y="279400"/>
                </a:cubicBezTo>
                <a:close/>
                <a:moveTo>
                  <a:pt x="122238" y="87313"/>
                </a:moveTo>
                <a:cubicBezTo>
                  <a:pt x="122238" y="77675"/>
                  <a:pt x="130062" y="69850"/>
                  <a:pt x="139700" y="69850"/>
                </a:cubicBezTo>
                <a:cubicBezTo>
                  <a:pt x="149338" y="69850"/>
                  <a:pt x="157163" y="77675"/>
                  <a:pt x="157163" y="87313"/>
                </a:cubicBezTo>
                <a:cubicBezTo>
                  <a:pt x="157163" y="96950"/>
                  <a:pt x="149338" y="104775"/>
                  <a:pt x="139700" y="104775"/>
                </a:cubicBezTo>
                <a:cubicBezTo>
                  <a:pt x="130062" y="104775"/>
                  <a:pt x="122238" y="96950"/>
                  <a:pt x="122238" y="87313"/>
                </a:cubicBezTo>
                <a:close/>
                <a:moveTo>
                  <a:pt x="117872" y="122238"/>
                </a:moveTo>
                <a:lnTo>
                  <a:pt x="144066" y="122238"/>
                </a:lnTo>
                <a:cubicBezTo>
                  <a:pt x="151323" y="122238"/>
                  <a:pt x="157163" y="128077"/>
                  <a:pt x="157163" y="135334"/>
                </a:cubicBezTo>
                <a:lnTo>
                  <a:pt x="157163" y="183356"/>
                </a:lnTo>
                <a:lnTo>
                  <a:pt x="161528" y="183356"/>
                </a:lnTo>
                <a:cubicBezTo>
                  <a:pt x="168786" y="183356"/>
                  <a:pt x="174625" y="189195"/>
                  <a:pt x="174625" y="196453"/>
                </a:cubicBezTo>
                <a:cubicBezTo>
                  <a:pt x="174625" y="203711"/>
                  <a:pt x="168786" y="209550"/>
                  <a:pt x="161528" y="209550"/>
                </a:cubicBezTo>
                <a:lnTo>
                  <a:pt x="117872" y="209550"/>
                </a:lnTo>
                <a:cubicBezTo>
                  <a:pt x="110614" y="209550"/>
                  <a:pt x="104775" y="203711"/>
                  <a:pt x="104775" y="196453"/>
                </a:cubicBezTo>
                <a:cubicBezTo>
                  <a:pt x="104775" y="189195"/>
                  <a:pt x="110614" y="183356"/>
                  <a:pt x="117872" y="183356"/>
                </a:cubicBezTo>
                <a:lnTo>
                  <a:pt x="130969" y="183356"/>
                </a:lnTo>
                <a:lnTo>
                  <a:pt x="130969" y="148431"/>
                </a:lnTo>
                <a:lnTo>
                  <a:pt x="117872" y="148431"/>
                </a:lnTo>
                <a:cubicBezTo>
                  <a:pt x="110614" y="148431"/>
                  <a:pt x="104775" y="142592"/>
                  <a:pt x="104775" y="135334"/>
                </a:cubicBezTo>
                <a:cubicBezTo>
                  <a:pt x="104775" y="128077"/>
                  <a:pt x="110614" y="122238"/>
                  <a:pt x="117872" y="122238"/>
                </a:cubicBezTo>
                <a:close/>
              </a:path>
            </a:pathLst>
          </a:custGeom>
          <a:solidFill>
            <a:srgbClr val="FF6B35"/>
          </a:solidFill>
          <a:ln/>
        </p:spPr>
      </p:sp>
      <p:sp>
        <p:nvSpPr>
          <p:cNvPr id="16" name="Text 14"/>
          <p:cNvSpPr/>
          <p:nvPr/>
        </p:nvSpPr>
        <p:spPr>
          <a:xfrm>
            <a:off x="1397000" y="4445000"/>
            <a:ext cx="3810000" cy="3302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WHAT IS UNITY HUB?</a:t>
            </a:r>
            <a:endParaRPr lang="en-US" sz="1600" dirty="0"/>
          </a:p>
        </p:txBody>
      </p:sp>
      <p:sp>
        <p:nvSpPr>
          <p:cNvPr id="17" name="Text 15"/>
          <p:cNvSpPr/>
          <p:nvPr/>
        </p:nvSpPr>
        <p:spPr>
          <a:xfrm>
            <a:off x="1016000" y="4851400"/>
            <a:ext cx="6858000" cy="9525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Unity Hub is a lightweight launcher that manages your Unity Editor installations, projects, and licenses — all in one central place.</a:t>
            </a:r>
            <a:endParaRPr lang="en-US" sz="1600" dirty="0"/>
          </a:p>
        </p:txBody>
      </p:sp>
      <p:sp>
        <p:nvSpPr>
          <p:cNvPr id="18" name="Shape 16"/>
          <p:cNvSpPr/>
          <p:nvPr/>
        </p:nvSpPr>
        <p:spPr>
          <a:xfrm>
            <a:off x="762000" y="6286500"/>
            <a:ext cx="7366000" cy="2413000"/>
          </a:xfrm>
          <a:prstGeom prst="rect">
            <a:avLst/>
          </a:prstGeom>
          <a:solidFill>
            <a:srgbClr val="1A1D23"/>
          </a:solidFill>
          <a:ln/>
        </p:spPr>
      </p:sp>
      <p:sp>
        <p:nvSpPr>
          <p:cNvPr id="19" name="Text 17"/>
          <p:cNvSpPr/>
          <p:nvPr/>
        </p:nvSpPr>
        <p:spPr>
          <a:xfrm>
            <a:off x="1016000" y="6413500"/>
            <a:ext cx="3810000" cy="3302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SYSTEM REQUIREMENTS</a:t>
            </a:r>
            <a:endParaRPr lang="en-US" sz="1600" dirty="0"/>
          </a:p>
        </p:txBody>
      </p:sp>
      <p:sp>
        <p:nvSpPr>
          <p:cNvPr id="20" name="Text 18"/>
          <p:cNvSpPr/>
          <p:nvPr/>
        </p:nvSpPr>
        <p:spPr>
          <a:xfrm>
            <a:off x="1016000" y="6794500"/>
            <a:ext cx="6858000" cy="1841500"/>
          </a:xfrm>
          <a:prstGeom prst="rect">
            <a:avLst/>
          </a:prstGeom>
          <a:noFill/>
          <a:ln/>
        </p:spPr>
        <p:txBody>
          <a:bodyPr wrap="square" lIns="0" tIns="0" rIns="0" bIns="0" rtlCol="0" anchor="t"/>
          <a:lstStyle/>
          <a:p>
            <a:pPr>
              <a:lnSpc>
                <a:spcPct val="160000"/>
              </a:lnSpc>
            </a:pPr>
            <a:r>
              <a:rPr lang="en-US" sz="1400" b="1" dirty="0">
                <a:solidFill>
                  <a:srgbClr val="FFFFFF"/>
                </a:solidFill>
                <a:latin typeface="Quattrocento Sans" pitchFamily="34" charset="0"/>
                <a:ea typeface="Quattrocento Sans" pitchFamily="34" charset="-122"/>
                <a:cs typeface="Quattrocento Sans" pitchFamily="34" charset="-120"/>
              </a:rPr>
              <a:t>OS:</a:t>
            </a:r>
            <a:pP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 Windows 10/11, macOS 10.13+, Ubuntu 18.04+</a:t>
            </a:r>
            <a:endParaRPr lang="en-US" sz="1600" dirty="0"/>
          </a:p>
          <a:p>
            <a:pPr>
              <a:lnSpc>
                <a:spcPct val="160000"/>
              </a:lnSpc>
            </a:pPr>
            <a:r>
              <a:rPr lang="en-US" sz="1400" b="1" dirty="0">
                <a:solidFill>
                  <a:srgbClr val="FFFFFF"/>
                </a:solidFill>
                <a:latin typeface="Quattrocento Sans" pitchFamily="34" charset="0"/>
                <a:ea typeface="Quattrocento Sans" pitchFamily="34" charset="-122"/>
                <a:cs typeface="Quattrocento Sans" pitchFamily="34" charset="-120"/>
              </a:rPr>
              <a:t>CPU:</a:t>
            </a:r>
            <a:pP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 SSE2 instruction set support</a:t>
            </a:r>
            <a:endParaRPr lang="en-US" sz="1600" dirty="0"/>
          </a:p>
          <a:p>
            <a:pPr>
              <a:lnSpc>
                <a:spcPct val="160000"/>
              </a:lnSpc>
            </a:pPr>
            <a:r>
              <a:rPr lang="en-US" sz="1400" b="1" dirty="0">
                <a:solidFill>
                  <a:srgbClr val="FFFFFF"/>
                </a:solidFill>
                <a:latin typeface="Quattrocento Sans" pitchFamily="34" charset="0"/>
                <a:ea typeface="Quattrocento Sans" pitchFamily="34" charset="-122"/>
                <a:cs typeface="Quattrocento Sans" pitchFamily="34" charset="-120"/>
              </a:rPr>
              <a:t>RAM:</a:t>
            </a:r>
            <a:pP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 8 GB minimum (16 GB recommended)</a:t>
            </a:r>
            <a:endParaRPr lang="en-US" sz="1600" dirty="0"/>
          </a:p>
          <a:p>
            <a:pPr>
              <a:lnSpc>
                <a:spcPct val="160000"/>
              </a:lnSpc>
            </a:pPr>
            <a:r>
              <a:rPr lang="en-US" sz="1400" b="1" dirty="0">
                <a:solidFill>
                  <a:srgbClr val="FFFFFF"/>
                </a:solidFill>
                <a:latin typeface="Quattrocento Sans" pitchFamily="34" charset="0"/>
                <a:ea typeface="Quattrocento Sans" pitchFamily="34" charset="-122"/>
                <a:cs typeface="Quattrocento Sans" pitchFamily="34" charset="-120"/>
              </a:rPr>
              <a:t>GPU:</a:t>
            </a:r>
            <a:pP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 DX10/DX11/DX12 capable</a:t>
            </a:r>
            <a:endParaRPr lang="en-US" sz="1600" dirty="0"/>
          </a:p>
          <a:p>
            <a:pPr>
              <a:lnSpc>
                <a:spcPct val="160000"/>
              </a:lnSpc>
            </a:pPr>
            <a:r>
              <a:rPr lang="en-US" sz="1400" b="1" dirty="0">
                <a:solidFill>
                  <a:srgbClr val="FFFFFF"/>
                </a:solidFill>
                <a:latin typeface="Quattrocento Sans" pitchFamily="34" charset="0"/>
                <a:ea typeface="Quattrocento Sans" pitchFamily="34" charset="-122"/>
                <a:cs typeface="Quattrocento Sans" pitchFamily="34" charset="-120"/>
              </a:rPr>
              <a:t>Storage:</a:t>
            </a:r>
            <a:pP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 5 GB for Hub + Editor</a:t>
            </a:r>
            <a:endParaRPr lang="en-US" sz="1600" dirty="0"/>
          </a:p>
        </p:txBody>
      </p:sp>
      <p:pic>
        <p:nvPicPr>
          <p:cNvPr id="21" name="Image 0" descr="https://kimi-img.moonshot.cn/pub/slides/okc/3rhuirp567422/mnt/agents/output/game-programming-week2/images/7_Get_started_with_the_Unity_Hub_Unity.png">    </p:cNvPr>
          <p:cNvPicPr>
            <a:picLocks noChangeAspect="1"/>
          </p:cNvPicPr>
          <p:nvPr/>
        </p:nvPicPr>
        <p:blipFill>
          <a:blip r:embed="rId2"/>
          <a:srcRect l="15977" r="15977" t="0" b="0"/>
          <a:stretch/>
        </p:blipFill>
        <p:spPr>
          <a:xfrm>
            <a:off x="8636000" y="1587500"/>
            <a:ext cx="6858000" cy="6731000"/>
          </a:xfrm>
          <a:prstGeom prst="roundRect">
            <a:avLst>
              <a:gd name="adj" fmla="val 5000"/>
            </a:avLst>
          </a:prstGeom>
        </p:spPr>
      </p:pic>
      <p:sp>
        <p:nvSpPr>
          <p:cNvPr id="22" name="Shape 19"/>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Installing Unity Hub — Step 2</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457200" cy="457200"/>
          </a:xfrm>
          <a:prstGeom prst="rect">
            <a:avLst/>
          </a:prstGeom>
          <a:solidFill>
            <a:srgbClr val="FF6B35"/>
          </a:solidFill>
          <a:ln/>
        </p:spPr>
      </p:sp>
      <p:sp>
        <p:nvSpPr>
          <p:cNvPr id="6" name="Text 4"/>
          <p:cNvSpPr/>
          <p:nvPr/>
        </p:nvSpPr>
        <p:spPr>
          <a:xfrm>
            <a:off x="762000" y="1524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397000" y="1524000"/>
            <a:ext cx="6350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Locate the downloaded installer in your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Downloads</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folder</a:t>
            </a:r>
            <a:endParaRPr lang="en-US" sz="1600" dirty="0"/>
          </a:p>
        </p:txBody>
      </p:sp>
      <p:sp>
        <p:nvSpPr>
          <p:cNvPr id="8" name="Shape 6"/>
          <p:cNvSpPr/>
          <p:nvPr/>
        </p:nvSpPr>
        <p:spPr>
          <a:xfrm>
            <a:off x="762000" y="2159000"/>
            <a:ext cx="457200" cy="457200"/>
          </a:xfrm>
          <a:prstGeom prst="rect">
            <a:avLst/>
          </a:prstGeom>
          <a:solidFill>
            <a:srgbClr val="FF6B35"/>
          </a:solidFill>
          <a:ln/>
        </p:spPr>
      </p:sp>
      <p:sp>
        <p:nvSpPr>
          <p:cNvPr id="9" name="Text 7"/>
          <p:cNvSpPr/>
          <p:nvPr/>
        </p:nvSpPr>
        <p:spPr>
          <a:xfrm>
            <a:off x="762000" y="2159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Liter" pitchFamily="34" charset="0"/>
                <a:ea typeface="Liter" pitchFamily="34" charset="-122"/>
                <a:cs typeface="Liter" pitchFamily="34" charset="-120"/>
              </a:rPr>
              <a:t>2</a:t>
            </a:r>
            <a:endParaRPr lang="en-US" sz="1600" dirty="0"/>
          </a:p>
        </p:txBody>
      </p:sp>
      <p:sp>
        <p:nvSpPr>
          <p:cNvPr id="10" name="Text 8"/>
          <p:cNvSpPr/>
          <p:nvPr/>
        </p:nvSpPr>
        <p:spPr>
          <a:xfrm>
            <a:off x="1397000" y="2159000"/>
            <a:ext cx="6350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Run the installer and accept the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License Agreement</a:t>
            </a:r>
            <a:endParaRPr lang="en-US" sz="1600" dirty="0"/>
          </a:p>
        </p:txBody>
      </p:sp>
      <p:sp>
        <p:nvSpPr>
          <p:cNvPr id="11" name="Shape 9"/>
          <p:cNvSpPr/>
          <p:nvPr/>
        </p:nvSpPr>
        <p:spPr>
          <a:xfrm>
            <a:off x="762000" y="2794000"/>
            <a:ext cx="457200" cy="457200"/>
          </a:xfrm>
          <a:prstGeom prst="rect">
            <a:avLst/>
          </a:prstGeom>
          <a:solidFill>
            <a:srgbClr val="FF6B35"/>
          </a:solidFill>
          <a:ln/>
        </p:spPr>
      </p:sp>
      <p:sp>
        <p:nvSpPr>
          <p:cNvPr id="12" name="Text 10"/>
          <p:cNvSpPr/>
          <p:nvPr/>
        </p:nvSpPr>
        <p:spPr>
          <a:xfrm>
            <a:off x="762000" y="2794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Liter" pitchFamily="34" charset="0"/>
                <a:ea typeface="Liter" pitchFamily="34" charset="-122"/>
                <a:cs typeface="Liter" pitchFamily="34" charset="-120"/>
              </a:rPr>
              <a:t>3</a:t>
            </a:r>
            <a:endParaRPr lang="en-US" sz="1600" dirty="0"/>
          </a:p>
        </p:txBody>
      </p:sp>
      <p:sp>
        <p:nvSpPr>
          <p:cNvPr id="13" name="Text 11"/>
          <p:cNvSpPr/>
          <p:nvPr/>
        </p:nvSpPr>
        <p:spPr>
          <a:xfrm>
            <a:off x="1397000" y="2794000"/>
            <a:ext cx="6350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Choose an installation location with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sufficient disk space</a:t>
            </a:r>
            <a:endParaRPr lang="en-US" sz="1600" dirty="0"/>
          </a:p>
        </p:txBody>
      </p:sp>
      <p:sp>
        <p:nvSpPr>
          <p:cNvPr id="14" name="Shape 12"/>
          <p:cNvSpPr/>
          <p:nvPr/>
        </p:nvSpPr>
        <p:spPr>
          <a:xfrm>
            <a:off x="762000" y="3429000"/>
            <a:ext cx="457200" cy="457200"/>
          </a:xfrm>
          <a:prstGeom prst="rect">
            <a:avLst/>
          </a:prstGeom>
          <a:solidFill>
            <a:srgbClr val="FF6B35"/>
          </a:solidFill>
          <a:ln/>
        </p:spPr>
      </p:sp>
      <p:sp>
        <p:nvSpPr>
          <p:cNvPr id="15" name="Text 13"/>
          <p:cNvSpPr/>
          <p:nvPr/>
        </p:nvSpPr>
        <p:spPr>
          <a:xfrm>
            <a:off x="762000" y="3429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Liter" pitchFamily="34" charset="0"/>
                <a:ea typeface="Liter" pitchFamily="34" charset="-122"/>
                <a:cs typeface="Liter" pitchFamily="34" charset="-120"/>
              </a:rPr>
              <a:t>4</a:t>
            </a:r>
            <a:endParaRPr lang="en-US" sz="1600" dirty="0"/>
          </a:p>
        </p:txBody>
      </p:sp>
      <p:sp>
        <p:nvSpPr>
          <p:cNvPr id="16" name="Text 14"/>
          <p:cNvSpPr/>
          <p:nvPr/>
        </p:nvSpPr>
        <p:spPr>
          <a:xfrm>
            <a:off x="1397000" y="3429000"/>
            <a:ext cx="6350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Complete the installation and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launch Unity Hub</a:t>
            </a:r>
            <a:endParaRPr lang="en-US" sz="1600" dirty="0"/>
          </a:p>
        </p:txBody>
      </p:sp>
      <p:sp>
        <p:nvSpPr>
          <p:cNvPr id="17" name="Shape 15"/>
          <p:cNvSpPr/>
          <p:nvPr/>
        </p:nvSpPr>
        <p:spPr>
          <a:xfrm>
            <a:off x="762000" y="4064000"/>
            <a:ext cx="457200" cy="457200"/>
          </a:xfrm>
          <a:prstGeom prst="rect">
            <a:avLst/>
          </a:prstGeom>
          <a:solidFill>
            <a:srgbClr val="FF6B35"/>
          </a:solidFill>
          <a:ln/>
        </p:spPr>
      </p:sp>
      <p:sp>
        <p:nvSpPr>
          <p:cNvPr id="18" name="Text 16"/>
          <p:cNvSpPr/>
          <p:nvPr/>
        </p:nvSpPr>
        <p:spPr>
          <a:xfrm>
            <a:off x="762000" y="4064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Liter" pitchFamily="34" charset="0"/>
                <a:ea typeface="Liter" pitchFamily="34" charset="-122"/>
                <a:cs typeface="Liter" pitchFamily="34" charset="-120"/>
              </a:rPr>
              <a:t>5</a:t>
            </a:r>
            <a:endParaRPr lang="en-US" sz="1600" dirty="0"/>
          </a:p>
        </p:txBody>
      </p:sp>
      <p:sp>
        <p:nvSpPr>
          <p:cNvPr id="19" name="Text 17"/>
          <p:cNvSpPr/>
          <p:nvPr/>
        </p:nvSpPr>
        <p:spPr>
          <a:xfrm>
            <a:off x="1397000" y="4064000"/>
            <a:ext cx="6350000" cy="457200"/>
          </a:xfrm>
          <a:prstGeom prst="rect">
            <a:avLst/>
          </a:prstGeom>
          <a:noFill/>
          <a:ln/>
        </p:spPr>
        <p:txBody>
          <a:bodyPr wrap="square" lIns="0" tIns="0" rIns="0" bIns="0" rtlCol="0" anchor="ctr"/>
          <a:lstStyle/>
          <a:p>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Create or sign in</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with your Unity ID account</a:t>
            </a:r>
            <a:endParaRPr lang="en-US" sz="1600" dirty="0"/>
          </a:p>
        </p:txBody>
      </p:sp>
      <p:sp>
        <p:nvSpPr>
          <p:cNvPr id="20" name="Shape 18"/>
          <p:cNvSpPr/>
          <p:nvPr/>
        </p:nvSpPr>
        <p:spPr>
          <a:xfrm>
            <a:off x="762000" y="4699000"/>
            <a:ext cx="457200" cy="457200"/>
          </a:xfrm>
          <a:prstGeom prst="rect">
            <a:avLst/>
          </a:prstGeom>
          <a:solidFill>
            <a:srgbClr val="FF6B35"/>
          </a:solidFill>
          <a:ln/>
        </p:spPr>
      </p:sp>
      <p:sp>
        <p:nvSpPr>
          <p:cNvPr id="21" name="Text 19"/>
          <p:cNvSpPr/>
          <p:nvPr/>
        </p:nvSpPr>
        <p:spPr>
          <a:xfrm>
            <a:off x="762000" y="4699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Liter" pitchFamily="34" charset="0"/>
                <a:ea typeface="Liter" pitchFamily="34" charset="-122"/>
                <a:cs typeface="Liter" pitchFamily="34" charset="-120"/>
              </a:rPr>
              <a:t>6</a:t>
            </a:r>
            <a:endParaRPr lang="en-US" sz="1600" dirty="0"/>
          </a:p>
        </p:txBody>
      </p:sp>
      <p:sp>
        <p:nvSpPr>
          <p:cNvPr id="22" name="Text 20"/>
          <p:cNvSpPr/>
          <p:nvPr/>
        </p:nvSpPr>
        <p:spPr>
          <a:xfrm>
            <a:off x="1397000" y="4699000"/>
            <a:ext cx="6350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Select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Unity Personal</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(free) license tier</a:t>
            </a:r>
            <a:endParaRPr lang="en-US" sz="1600" dirty="0"/>
          </a:p>
        </p:txBody>
      </p:sp>
      <p:sp>
        <p:nvSpPr>
          <p:cNvPr id="23" name="Shape 21"/>
          <p:cNvSpPr/>
          <p:nvPr/>
        </p:nvSpPr>
        <p:spPr>
          <a:xfrm>
            <a:off x="762000" y="5461000"/>
            <a:ext cx="7366000" cy="1524000"/>
          </a:xfrm>
          <a:prstGeom prst="rect">
            <a:avLst/>
          </a:prstGeom>
          <a:solidFill>
            <a:srgbClr val="1A1D23"/>
          </a:solidFill>
          <a:ln/>
        </p:spPr>
      </p:sp>
      <p:sp>
        <p:nvSpPr>
          <p:cNvPr id="24" name="Shape 22"/>
          <p:cNvSpPr/>
          <p:nvPr/>
        </p:nvSpPr>
        <p:spPr>
          <a:xfrm>
            <a:off x="1016000" y="5651500"/>
            <a:ext cx="279400" cy="279400"/>
          </a:xfrm>
          <a:custGeom>
            <a:avLst/>
            <a:gdLst/>
            <a:ahLst/>
            <a:cxnLst/>
            <a:rect l="l" t="t" r="r" b="b"/>
            <a:pathLst>
              <a:path w="279400" h="279400">
                <a:moveTo>
                  <a:pt x="139700" y="279400"/>
                </a:moveTo>
                <a:cubicBezTo>
                  <a:pt x="216803" y="279400"/>
                  <a:pt x="279400" y="216803"/>
                  <a:pt x="279400" y="139700"/>
                </a:cubicBezTo>
                <a:cubicBezTo>
                  <a:pt x="279400" y="62597"/>
                  <a:pt x="216803" y="0"/>
                  <a:pt x="139700" y="0"/>
                </a:cubicBezTo>
                <a:cubicBezTo>
                  <a:pt x="62597" y="0"/>
                  <a:pt x="0" y="62597"/>
                  <a:pt x="0" y="139700"/>
                </a:cubicBezTo>
                <a:cubicBezTo>
                  <a:pt x="0" y="216803"/>
                  <a:pt x="62597" y="279400"/>
                  <a:pt x="139700" y="279400"/>
                </a:cubicBezTo>
                <a:close/>
                <a:moveTo>
                  <a:pt x="122238" y="87313"/>
                </a:moveTo>
                <a:cubicBezTo>
                  <a:pt x="122238" y="77675"/>
                  <a:pt x="130062" y="69850"/>
                  <a:pt x="139700" y="69850"/>
                </a:cubicBezTo>
                <a:cubicBezTo>
                  <a:pt x="149338" y="69850"/>
                  <a:pt x="157163" y="77675"/>
                  <a:pt x="157163" y="87313"/>
                </a:cubicBezTo>
                <a:cubicBezTo>
                  <a:pt x="157163" y="96950"/>
                  <a:pt x="149338" y="104775"/>
                  <a:pt x="139700" y="104775"/>
                </a:cubicBezTo>
                <a:cubicBezTo>
                  <a:pt x="130062" y="104775"/>
                  <a:pt x="122238" y="96950"/>
                  <a:pt x="122238" y="87313"/>
                </a:cubicBezTo>
                <a:close/>
                <a:moveTo>
                  <a:pt x="117872" y="122238"/>
                </a:moveTo>
                <a:lnTo>
                  <a:pt x="144066" y="122238"/>
                </a:lnTo>
                <a:cubicBezTo>
                  <a:pt x="151323" y="122238"/>
                  <a:pt x="157163" y="128077"/>
                  <a:pt x="157163" y="135334"/>
                </a:cubicBezTo>
                <a:lnTo>
                  <a:pt x="157163" y="183356"/>
                </a:lnTo>
                <a:lnTo>
                  <a:pt x="161528" y="183356"/>
                </a:lnTo>
                <a:cubicBezTo>
                  <a:pt x="168786" y="183356"/>
                  <a:pt x="174625" y="189195"/>
                  <a:pt x="174625" y="196453"/>
                </a:cubicBezTo>
                <a:cubicBezTo>
                  <a:pt x="174625" y="203711"/>
                  <a:pt x="168786" y="209550"/>
                  <a:pt x="161528" y="209550"/>
                </a:cubicBezTo>
                <a:lnTo>
                  <a:pt x="117872" y="209550"/>
                </a:lnTo>
                <a:cubicBezTo>
                  <a:pt x="110614" y="209550"/>
                  <a:pt x="104775" y="203711"/>
                  <a:pt x="104775" y="196453"/>
                </a:cubicBezTo>
                <a:cubicBezTo>
                  <a:pt x="104775" y="189195"/>
                  <a:pt x="110614" y="183356"/>
                  <a:pt x="117872" y="183356"/>
                </a:cubicBezTo>
                <a:lnTo>
                  <a:pt x="130969" y="183356"/>
                </a:lnTo>
                <a:lnTo>
                  <a:pt x="130969" y="148431"/>
                </a:lnTo>
                <a:lnTo>
                  <a:pt x="117872" y="148431"/>
                </a:lnTo>
                <a:cubicBezTo>
                  <a:pt x="110614" y="148431"/>
                  <a:pt x="104775" y="142592"/>
                  <a:pt x="104775" y="135334"/>
                </a:cubicBezTo>
                <a:cubicBezTo>
                  <a:pt x="104775" y="128077"/>
                  <a:pt x="110614" y="122238"/>
                  <a:pt x="117872" y="122238"/>
                </a:cubicBezTo>
                <a:close/>
              </a:path>
            </a:pathLst>
          </a:custGeom>
          <a:solidFill>
            <a:srgbClr val="FF6B35"/>
          </a:solidFill>
          <a:ln/>
        </p:spPr>
      </p:sp>
      <p:sp>
        <p:nvSpPr>
          <p:cNvPr id="25" name="Text 23"/>
          <p:cNvSpPr/>
          <p:nvPr/>
        </p:nvSpPr>
        <p:spPr>
          <a:xfrm>
            <a:off x="1397000" y="5626100"/>
            <a:ext cx="3810000" cy="3302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UNITY PERSONAL LICENSE</a:t>
            </a:r>
            <a:endParaRPr lang="en-US" sz="1600" dirty="0"/>
          </a:p>
        </p:txBody>
      </p:sp>
      <p:sp>
        <p:nvSpPr>
          <p:cNvPr id="26" name="Text 24"/>
          <p:cNvSpPr/>
          <p:nvPr/>
        </p:nvSpPr>
        <p:spPr>
          <a:xfrm>
            <a:off x="1016000" y="6032500"/>
            <a:ext cx="6858000" cy="825500"/>
          </a:xfrm>
          <a:prstGeom prst="rect">
            <a:avLst/>
          </a:prstGeom>
          <a:noFill/>
          <a:ln/>
        </p:spPr>
        <p:txBody>
          <a:bodyPr wrap="square" lIns="0" tIns="0" rIns="0" bIns="0" rtlCol="0" anchor="t"/>
          <a:lstStyle/>
          <a:p>
            <a:pP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Free for individuals and small teams with revenue/funding under $200K in the past 12 months. Includes all core features with no watermarks.</a:t>
            </a:r>
            <a:endParaRPr lang="en-US" sz="1600" dirty="0"/>
          </a:p>
        </p:txBody>
      </p:sp>
      <p:sp>
        <p:nvSpPr>
          <p:cNvPr id="27" name="Shape 25"/>
          <p:cNvSpPr/>
          <p:nvPr/>
        </p:nvSpPr>
        <p:spPr>
          <a:xfrm>
            <a:off x="8636000" y="1524000"/>
            <a:ext cx="6858000" cy="5461000"/>
          </a:xfrm>
          <a:prstGeom prst="rect">
            <a:avLst/>
          </a:prstGeom>
          <a:solidFill>
            <a:srgbClr val="FFFFFF"/>
          </a:solidFill>
          <a:ln w="12700">
            <a:solidFill>
              <a:srgbClr val="E8EAED"/>
            </a:solidFill>
            <a:prstDash val="solid"/>
          </a:ln>
        </p:spPr>
      </p:sp>
      <p:sp>
        <p:nvSpPr>
          <p:cNvPr id="28" name="Text 26"/>
          <p:cNvSpPr/>
          <p:nvPr/>
        </p:nvSpPr>
        <p:spPr>
          <a:xfrm>
            <a:off x="8890000" y="1714500"/>
            <a:ext cx="6350000" cy="355600"/>
          </a:xfrm>
          <a:prstGeom prst="rect">
            <a:avLst/>
          </a:prstGeom>
          <a:noFill/>
          <a:ln/>
        </p:spPr>
        <p:txBody>
          <a:bodyPr wrap="none" lIns="0" tIns="0" rIns="0" bIns="0" rtlCol="0" anchor="ctr"/>
          <a:lstStyle/>
          <a:p>
            <a:pPr>
              <a:lnSpc>
                <a:spcPct val="100000"/>
              </a:lnSpc>
            </a:pPr>
            <a:r>
              <a:rPr lang="en-US" sz="1600" spc="100" kern="0" dirty="0">
                <a:solidFill>
                  <a:srgbClr val="FF6B35"/>
                </a:solidFill>
                <a:latin typeface="Liter" pitchFamily="34" charset="0"/>
                <a:ea typeface="Liter" pitchFamily="34" charset="-122"/>
                <a:cs typeface="Liter" pitchFamily="34" charset="-120"/>
              </a:rPr>
              <a:t>UNITY ID BENEFITS</a:t>
            </a:r>
            <a:endParaRPr lang="en-US" sz="1600" dirty="0"/>
          </a:p>
        </p:txBody>
      </p:sp>
      <p:sp>
        <p:nvSpPr>
          <p:cNvPr id="29" name="Text 27"/>
          <p:cNvSpPr/>
          <p:nvPr/>
        </p:nvSpPr>
        <p:spPr>
          <a:xfrm>
            <a:off x="8890000" y="2184400"/>
            <a:ext cx="6350000" cy="45720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Access to Unity Editor and Hub</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Unity Asset Store browsing</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Community forums support</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Learning platform access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Cloud build services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Analytics dashboard</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Multiplayer hosting tools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Organization management</a:t>
            </a:r>
            <a:endParaRPr lang="en-US" sz="1600" dirty="0"/>
          </a:p>
        </p:txBody>
      </p:sp>
      <p:sp>
        <p:nvSpPr>
          <p:cNvPr id="30" name="Shape 28"/>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143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Installing the Unity Editor — Step 3</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498600"/>
            <a:ext cx="406400" cy="406400"/>
          </a:xfrm>
          <a:prstGeom prst="rect">
            <a:avLst/>
          </a:prstGeom>
          <a:solidFill>
            <a:srgbClr val="FF6B35"/>
          </a:solidFill>
          <a:ln/>
        </p:spPr>
      </p:sp>
      <p:sp>
        <p:nvSpPr>
          <p:cNvPr id="6" name="Text 4"/>
          <p:cNvSpPr/>
          <p:nvPr/>
        </p:nvSpPr>
        <p:spPr>
          <a:xfrm>
            <a:off x="762000" y="14986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320800" y="14986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In Unity Hub, go to the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"Installs"</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tab</a:t>
            </a:r>
            <a:endParaRPr lang="en-US" sz="1600" dirty="0"/>
          </a:p>
        </p:txBody>
      </p:sp>
      <p:sp>
        <p:nvSpPr>
          <p:cNvPr id="8" name="Shape 6"/>
          <p:cNvSpPr/>
          <p:nvPr/>
        </p:nvSpPr>
        <p:spPr>
          <a:xfrm>
            <a:off x="762000" y="2057400"/>
            <a:ext cx="406400" cy="406400"/>
          </a:xfrm>
          <a:prstGeom prst="rect">
            <a:avLst/>
          </a:prstGeom>
          <a:solidFill>
            <a:srgbClr val="FF6B35"/>
          </a:solidFill>
          <a:ln/>
        </p:spPr>
      </p:sp>
      <p:sp>
        <p:nvSpPr>
          <p:cNvPr id="9" name="Text 7"/>
          <p:cNvSpPr/>
          <p:nvPr/>
        </p:nvSpPr>
        <p:spPr>
          <a:xfrm>
            <a:off x="762000" y="20574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2</a:t>
            </a:r>
            <a:endParaRPr lang="en-US" sz="1600" dirty="0"/>
          </a:p>
        </p:txBody>
      </p:sp>
      <p:sp>
        <p:nvSpPr>
          <p:cNvPr id="10" name="Text 8"/>
          <p:cNvSpPr/>
          <p:nvPr/>
        </p:nvSpPr>
        <p:spPr>
          <a:xfrm>
            <a:off x="1320800" y="20574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Click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"Install Editor"</a:t>
            </a:r>
            <a:endParaRPr lang="en-US" sz="1600" dirty="0"/>
          </a:p>
        </p:txBody>
      </p:sp>
      <p:sp>
        <p:nvSpPr>
          <p:cNvPr id="11" name="Shape 9"/>
          <p:cNvSpPr/>
          <p:nvPr/>
        </p:nvSpPr>
        <p:spPr>
          <a:xfrm>
            <a:off x="762000" y="2616200"/>
            <a:ext cx="406400" cy="406400"/>
          </a:xfrm>
          <a:prstGeom prst="rect">
            <a:avLst/>
          </a:prstGeom>
          <a:solidFill>
            <a:srgbClr val="FF6B35"/>
          </a:solidFill>
          <a:ln/>
        </p:spPr>
      </p:sp>
      <p:sp>
        <p:nvSpPr>
          <p:cNvPr id="12" name="Text 10"/>
          <p:cNvSpPr/>
          <p:nvPr/>
        </p:nvSpPr>
        <p:spPr>
          <a:xfrm>
            <a:off x="762000" y="26162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3</a:t>
            </a:r>
            <a:endParaRPr lang="en-US" sz="1600" dirty="0"/>
          </a:p>
        </p:txBody>
      </p:sp>
      <p:sp>
        <p:nvSpPr>
          <p:cNvPr id="13" name="Text 11"/>
          <p:cNvSpPr/>
          <p:nvPr/>
        </p:nvSpPr>
        <p:spPr>
          <a:xfrm>
            <a:off x="1320800" y="26162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Choose the recommended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LTS version</a:t>
            </a:r>
            <a:endParaRPr lang="en-US" sz="1600" dirty="0"/>
          </a:p>
        </p:txBody>
      </p:sp>
      <p:sp>
        <p:nvSpPr>
          <p:cNvPr id="14" name="Shape 12"/>
          <p:cNvSpPr/>
          <p:nvPr/>
        </p:nvSpPr>
        <p:spPr>
          <a:xfrm>
            <a:off x="762000" y="3175000"/>
            <a:ext cx="406400" cy="406400"/>
          </a:xfrm>
          <a:prstGeom prst="rect">
            <a:avLst/>
          </a:prstGeom>
          <a:solidFill>
            <a:srgbClr val="FF6B35"/>
          </a:solidFill>
          <a:ln/>
        </p:spPr>
      </p:sp>
      <p:sp>
        <p:nvSpPr>
          <p:cNvPr id="15" name="Text 13"/>
          <p:cNvSpPr/>
          <p:nvPr/>
        </p:nvSpPr>
        <p:spPr>
          <a:xfrm>
            <a:off x="762000" y="31750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4</a:t>
            </a:r>
            <a:endParaRPr lang="en-US" sz="1600" dirty="0"/>
          </a:p>
        </p:txBody>
      </p:sp>
      <p:sp>
        <p:nvSpPr>
          <p:cNvPr id="16" name="Text 14"/>
          <p:cNvSpPr/>
          <p:nvPr/>
        </p:nvSpPr>
        <p:spPr>
          <a:xfrm>
            <a:off x="1320800" y="31750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Click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"Next"</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to proceed to module selection</a:t>
            </a:r>
            <a:endParaRPr lang="en-US" sz="1600" dirty="0"/>
          </a:p>
        </p:txBody>
      </p:sp>
      <p:sp>
        <p:nvSpPr>
          <p:cNvPr id="17" name="Shape 15"/>
          <p:cNvSpPr/>
          <p:nvPr/>
        </p:nvSpPr>
        <p:spPr>
          <a:xfrm>
            <a:off x="762000" y="3733800"/>
            <a:ext cx="406400" cy="406400"/>
          </a:xfrm>
          <a:prstGeom prst="rect">
            <a:avLst/>
          </a:prstGeom>
          <a:solidFill>
            <a:srgbClr val="FF6B35"/>
          </a:solidFill>
          <a:ln/>
        </p:spPr>
      </p:sp>
      <p:sp>
        <p:nvSpPr>
          <p:cNvPr id="18" name="Text 16"/>
          <p:cNvSpPr/>
          <p:nvPr/>
        </p:nvSpPr>
        <p:spPr>
          <a:xfrm>
            <a:off x="762000" y="37338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5</a:t>
            </a:r>
            <a:endParaRPr lang="en-US" sz="1600" dirty="0"/>
          </a:p>
        </p:txBody>
      </p:sp>
      <p:sp>
        <p:nvSpPr>
          <p:cNvPr id="19" name="Text 17"/>
          <p:cNvSpPr/>
          <p:nvPr/>
        </p:nvSpPr>
        <p:spPr>
          <a:xfrm>
            <a:off x="1320800" y="37338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Select your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platform build support</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(Windows/Mac)</a:t>
            </a:r>
            <a:endParaRPr lang="en-US" sz="1600" dirty="0"/>
          </a:p>
        </p:txBody>
      </p:sp>
      <p:sp>
        <p:nvSpPr>
          <p:cNvPr id="20" name="Shape 18"/>
          <p:cNvSpPr/>
          <p:nvPr/>
        </p:nvSpPr>
        <p:spPr>
          <a:xfrm>
            <a:off x="762000" y="4292600"/>
            <a:ext cx="406400" cy="406400"/>
          </a:xfrm>
          <a:prstGeom prst="rect">
            <a:avLst/>
          </a:prstGeom>
          <a:solidFill>
            <a:srgbClr val="FF6B35"/>
          </a:solidFill>
          <a:ln/>
        </p:spPr>
      </p:sp>
      <p:sp>
        <p:nvSpPr>
          <p:cNvPr id="21" name="Text 19"/>
          <p:cNvSpPr/>
          <p:nvPr/>
        </p:nvSpPr>
        <p:spPr>
          <a:xfrm>
            <a:off x="762000" y="42926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6</a:t>
            </a:r>
            <a:endParaRPr lang="en-US" sz="1600" dirty="0"/>
          </a:p>
        </p:txBody>
      </p:sp>
      <p:sp>
        <p:nvSpPr>
          <p:cNvPr id="22" name="Text 20"/>
          <p:cNvSpPr/>
          <p:nvPr/>
        </p:nvSpPr>
        <p:spPr>
          <a:xfrm>
            <a:off x="1320800" y="42926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Optionally add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Visual Studio Community</a:t>
            </a:r>
            <a:endParaRPr lang="en-US" sz="1600" dirty="0"/>
          </a:p>
        </p:txBody>
      </p:sp>
      <p:sp>
        <p:nvSpPr>
          <p:cNvPr id="23" name="Shape 21"/>
          <p:cNvSpPr/>
          <p:nvPr/>
        </p:nvSpPr>
        <p:spPr>
          <a:xfrm>
            <a:off x="762000" y="4851400"/>
            <a:ext cx="406400" cy="406400"/>
          </a:xfrm>
          <a:prstGeom prst="rect">
            <a:avLst/>
          </a:prstGeom>
          <a:solidFill>
            <a:srgbClr val="FF6B35"/>
          </a:solidFill>
          <a:ln/>
        </p:spPr>
      </p:sp>
      <p:sp>
        <p:nvSpPr>
          <p:cNvPr id="24" name="Text 22"/>
          <p:cNvSpPr/>
          <p:nvPr/>
        </p:nvSpPr>
        <p:spPr>
          <a:xfrm>
            <a:off x="762000" y="48514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7</a:t>
            </a:r>
            <a:endParaRPr lang="en-US" sz="1600" dirty="0"/>
          </a:p>
        </p:txBody>
      </p:sp>
      <p:sp>
        <p:nvSpPr>
          <p:cNvPr id="25" name="Text 23"/>
          <p:cNvSpPr/>
          <p:nvPr/>
        </p:nvSpPr>
        <p:spPr>
          <a:xfrm>
            <a:off x="1320800" y="48514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Click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"Install"</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and wait (20-40 minutes)</a:t>
            </a:r>
            <a:endParaRPr lang="en-US" sz="1600" dirty="0"/>
          </a:p>
        </p:txBody>
      </p:sp>
      <p:sp>
        <p:nvSpPr>
          <p:cNvPr id="26" name="Shape 24"/>
          <p:cNvSpPr/>
          <p:nvPr/>
        </p:nvSpPr>
        <p:spPr>
          <a:xfrm>
            <a:off x="762000" y="5524500"/>
            <a:ext cx="7366000" cy="1460500"/>
          </a:xfrm>
          <a:prstGeom prst="rect">
            <a:avLst/>
          </a:prstGeom>
          <a:solidFill>
            <a:srgbClr val="1A1D23"/>
          </a:solidFill>
          <a:ln/>
        </p:spPr>
      </p:sp>
      <p:sp>
        <p:nvSpPr>
          <p:cNvPr id="27" name="Shape 25"/>
          <p:cNvSpPr/>
          <p:nvPr/>
        </p:nvSpPr>
        <p:spPr>
          <a:xfrm>
            <a:off x="1016000" y="5715000"/>
            <a:ext cx="279400" cy="279400"/>
          </a:xfrm>
          <a:custGeom>
            <a:avLst/>
            <a:gdLst/>
            <a:ahLst/>
            <a:cxnLst/>
            <a:rect l="l" t="t" r="r" b="b"/>
            <a:pathLst>
              <a:path w="279400" h="279400">
                <a:moveTo>
                  <a:pt x="139700" y="0"/>
                </a:moveTo>
                <a:cubicBezTo>
                  <a:pt x="142210" y="0"/>
                  <a:pt x="144720" y="546"/>
                  <a:pt x="147012" y="1583"/>
                </a:cubicBezTo>
                <a:lnTo>
                  <a:pt x="249823" y="45184"/>
                </a:lnTo>
                <a:cubicBezTo>
                  <a:pt x="261828" y="50259"/>
                  <a:pt x="270778" y="62101"/>
                  <a:pt x="270723" y="76398"/>
                </a:cubicBezTo>
                <a:cubicBezTo>
                  <a:pt x="270450" y="130532"/>
                  <a:pt x="248186" y="229577"/>
                  <a:pt x="154161" y="274598"/>
                </a:cubicBezTo>
                <a:cubicBezTo>
                  <a:pt x="145048" y="278963"/>
                  <a:pt x="134461" y="278963"/>
                  <a:pt x="125348" y="274598"/>
                </a:cubicBezTo>
                <a:cubicBezTo>
                  <a:pt x="31269" y="229577"/>
                  <a:pt x="9059" y="130532"/>
                  <a:pt x="8786" y="76398"/>
                </a:cubicBezTo>
                <a:cubicBezTo>
                  <a:pt x="8731" y="62101"/>
                  <a:pt x="17681" y="50259"/>
                  <a:pt x="29686" y="45184"/>
                </a:cubicBezTo>
                <a:lnTo>
                  <a:pt x="132442" y="1583"/>
                </a:lnTo>
                <a:cubicBezTo>
                  <a:pt x="134734" y="546"/>
                  <a:pt x="137190" y="0"/>
                  <a:pt x="139700" y="0"/>
                </a:cubicBezTo>
                <a:close/>
                <a:moveTo>
                  <a:pt x="139700" y="36453"/>
                </a:moveTo>
                <a:lnTo>
                  <a:pt x="139700" y="242783"/>
                </a:lnTo>
                <a:cubicBezTo>
                  <a:pt x="215007" y="206330"/>
                  <a:pt x="235253" y="125566"/>
                  <a:pt x="235744" y="77217"/>
                </a:cubicBezTo>
                <a:lnTo>
                  <a:pt x="139700" y="36508"/>
                </a:lnTo>
                <a:lnTo>
                  <a:pt x="139700" y="36508"/>
                </a:lnTo>
                <a:close/>
              </a:path>
            </a:pathLst>
          </a:custGeom>
          <a:solidFill>
            <a:srgbClr val="FF6B35"/>
          </a:solidFill>
          <a:ln/>
        </p:spPr>
      </p:sp>
      <p:sp>
        <p:nvSpPr>
          <p:cNvPr id="28" name="Text 26"/>
          <p:cNvSpPr/>
          <p:nvPr/>
        </p:nvSpPr>
        <p:spPr>
          <a:xfrm>
            <a:off x="1397000" y="5689600"/>
            <a:ext cx="3810000" cy="3302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WHY LTS VERSION?</a:t>
            </a:r>
            <a:endParaRPr lang="en-US" sz="1600" dirty="0"/>
          </a:p>
        </p:txBody>
      </p:sp>
      <p:sp>
        <p:nvSpPr>
          <p:cNvPr id="29" name="Text 27"/>
          <p:cNvSpPr/>
          <p:nvPr/>
        </p:nvSpPr>
        <p:spPr>
          <a:xfrm>
            <a:off x="1016000" y="6096000"/>
            <a:ext cx="6858000" cy="762000"/>
          </a:xfrm>
          <a:prstGeom prst="rect">
            <a:avLst/>
          </a:prstGeom>
          <a:noFill/>
          <a:ln/>
        </p:spPr>
        <p:txBody>
          <a:bodyPr wrap="square" lIns="0" tIns="0" rIns="0" bIns="0" rtlCol="0" anchor="t"/>
          <a:lstStyle/>
          <a:p>
            <a:pP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LTS = Long-Term Support. Most stable version with 2+ years of bug fixes. Recommended for learning and production.</a:t>
            </a:r>
            <a:endParaRPr lang="en-US" sz="1600" dirty="0"/>
          </a:p>
        </p:txBody>
      </p:sp>
      <p:pic>
        <p:nvPicPr>
          <p:cNvPr id="30" name="Image 0" descr="https://kimi-img.moonshot.cn/pub/slides/okc/3rhuirp567422/mnt/agents/output/game-programming-week2/images/3_Projects_window_reference_Unity_Hub.png">    </p:cNvPr>
          <p:cNvPicPr>
            <a:picLocks noChangeAspect="1"/>
          </p:cNvPicPr>
          <p:nvPr/>
        </p:nvPicPr>
        <p:blipFill>
          <a:blip r:embed="rId1"/>
          <a:srcRect l="15353" r="15353" t="0" b="0"/>
          <a:stretch/>
        </p:blipFill>
        <p:spPr>
          <a:xfrm>
            <a:off x="8636000" y="1498600"/>
            <a:ext cx="6858000" cy="5486400"/>
          </a:xfrm>
          <a:prstGeom prst="roundRect">
            <a:avLst>
              <a:gd name="adj" fmla="val 5000"/>
            </a:avLst>
          </a:prstGeom>
        </p:spPr>
      </p:pic>
      <p:sp>
        <p:nvSpPr>
          <p:cNvPr id="31" name="Shape 28"/>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Lecture 3 — Key Takeaways</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1651000" cy="381000"/>
          </a:xfrm>
          <a:prstGeom prst="rect">
            <a:avLst/>
          </a:prstGeom>
          <a:solidFill>
            <a:srgbClr val="FF6B35"/>
          </a:solidFill>
          <a:ln/>
        </p:spPr>
      </p:sp>
      <p:sp>
        <p:nvSpPr>
          <p:cNvPr id="6" name="Text 4"/>
          <p:cNvSpPr/>
          <p:nvPr/>
        </p:nvSpPr>
        <p:spPr>
          <a:xfrm>
            <a:off x="762000" y="1524000"/>
            <a:ext cx="1651000" cy="381000"/>
          </a:xfrm>
          <a:prstGeom prst="rect">
            <a:avLst/>
          </a:prstGeom>
          <a:noFill/>
          <a:ln/>
        </p:spPr>
        <p:txBody>
          <a:bodyPr wrap="none" lIns="0" tIns="0" rIns="0" bIns="0" rtlCol="0" anchor="ctr"/>
          <a:lstStyle/>
          <a:p>
            <a:pPr algn="ctr">
              <a:lnSpc>
                <a:spcPct val="100000"/>
              </a:lnSpc>
            </a:pPr>
            <a:r>
              <a:rPr lang="en-US" sz="1200" spc="200" kern="0" dirty="0">
                <a:solidFill>
                  <a:srgbClr val="FFFFFF"/>
                </a:solidFill>
                <a:latin typeface="Liter" pitchFamily="34" charset="0"/>
                <a:ea typeface="Liter" pitchFamily="34" charset="-122"/>
                <a:cs typeface="Liter" pitchFamily="34" charset="-120"/>
              </a:rPr>
              <a:t>LECTURE 3</a:t>
            </a:r>
            <a:endParaRPr lang="en-US" sz="1600" dirty="0"/>
          </a:p>
        </p:txBody>
      </p:sp>
      <p:sp>
        <p:nvSpPr>
          <p:cNvPr id="7" name="Shape 5"/>
          <p:cNvSpPr/>
          <p:nvPr/>
        </p:nvSpPr>
        <p:spPr>
          <a:xfrm>
            <a:off x="781050" y="2222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FF6B35"/>
          </a:solidFill>
          <a:ln/>
        </p:spPr>
      </p:sp>
      <p:sp>
        <p:nvSpPr>
          <p:cNvPr id="8" name="Text 6"/>
          <p:cNvSpPr/>
          <p:nvPr/>
        </p:nvSpPr>
        <p:spPr>
          <a:xfrm>
            <a:off x="1219200" y="2159000"/>
            <a:ext cx="14224000" cy="635000"/>
          </a:xfrm>
          <a:prstGeom prst="rect">
            <a:avLst/>
          </a:prstGeom>
          <a:noFill/>
          <a:ln/>
        </p:spPr>
        <p:txBody>
          <a:bodyPr wrap="square" lIns="0" tIns="0" rIns="0" bIns="0" rtlCol="0" anchor="ctr"/>
          <a:lstStyle/>
          <a:p>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A </a:t>
            </a:r>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game engine</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provides rendering, physics, audio, scripting, and asset management systems</a:t>
            </a:r>
            <a:endParaRPr lang="en-US" sz="1800" dirty="0"/>
          </a:p>
        </p:txBody>
      </p:sp>
      <p:sp>
        <p:nvSpPr>
          <p:cNvPr id="9" name="Shape 7"/>
          <p:cNvSpPr/>
          <p:nvPr/>
        </p:nvSpPr>
        <p:spPr>
          <a:xfrm>
            <a:off x="781050" y="2984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FF6B35"/>
          </a:solidFill>
          <a:ln/>
        </p:spPr>
      </p:sp>
      <p:sp>
        <p:nvSpPr>
          <p:cNvPr id="10" name="Text 8"/>
          <p:cNvSpPr/>
          <p:nvPr/>
        </p:nvSpPr>
        <p:spPr>
          <a:xfrm>
            <a:off x="1219200" y="2921000"/>
            <a:ext cx="14224000" cy="635000"/>
          </a:xfrm>
          <a:prstGeom prst="rect">
            <a:avLst/>
          </a:prstGeom>
          <a:noFill/>
          <a:ln/>
        </p:spPr>
        <p:txBody>
          <a:bodyPr wrap="square" lIns="0" tIns="0" rIns="0" bIns="0" rtlCol="0" anchor="ctr"/>
          <a:lstStyle/>
          <a:p>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Unity</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is a cross-platform industry-standard engine ideal for learning game development</a:t>
            </a:r>
            <a:endParaRPr lang="en-US" sz="1800" dirty="0"/>
          </a:p>
        </p:txBody>
      </p:sp>
      <p:sp>
        <p:nvSpPr>
          <p:cNvPr id="11" name="Shape 9"/>
          <p:cNvSpPr/>
          <p:nvPr/>
        </p:nvSpPr>
        <p:spPr>
          <a:xfrm>
            <a:off x="781050" y="3746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FF6B35"/>
          </a:solidFill>
          <a:ln/>
        </p:spPr>
      </p:sp>
      <p:sp>
        <p:nvSpPr>
          <p:cNvPr id="12" name="Text 10"/>
          <p:cNvSpPr/>
          <p:nvPr/>
        </p:nvSpPr>
        <p:spPr>
          <a:xfrm>
            <a:off x="1219200" y="3683000"/>
            <a:ext cx="14224000" cy="635000"/>
          </a:xfrm>
          <a:prstGeom prst="rect">
            <a:avLst/>
          </a:prstGeom>
          <a:noFill/>
          <a:ln/>
        </p:spPr>
        <p:txBody>
          <a:bodyPr wrap="square" lIns="0" tIns="0" rIns="0" bIns="0" rtlCol="0" anchor="ctr"/>
          <a:lstStyle/>
          <a:p>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The </a:t>
            </a:r>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Solar System Project</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will be your first 3D simulation in Unity</a:t>
            </a:r>
            <a:endParaRPr lang="en-US" sz="1800" dirty="0"/>
          </a:p>
        </p:txBody>
      </p:sp>
      <p:sp>
        <p:nvSpPr>
          <p:cNvPr id="13" name="Shape 11"/>
          <p:cNvSpPr/>
          <p:nvPr/>
        </p:nvSpPr>
        <p:spPr>
          <a:xfrm>
            <a:off x="781050" y="4508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FF6B35"/>
          </a:solidFill>
          <a:ln/>
        </p:spPr>
      </p:sp>
      <p:sp>
        <p:nvSpPr>
          <p:cNvPr id="14" name="Text 12"/>
          <p:cNvSpPr/>
          <p:nvPr/>
        </p:nvSpPr>
        <p:spPr>
          <a:xfrm>
            <a:off x="1219200" y="4445000"/>
            <a:ext cx="14224000" cy="635000"/>
          </a:xfrm>
          <a:prstGeom prst="rect">
            <a:avLst/>
          </a:prstGeom>
          <a:noFill/>
          <a:ln/>
        </p:spPr>
        <p:txBody>
          <a:bodyPr wrap="square" lIns="0" tIns="0" rIns="0" bIns="0" rtlCol="0" anchor="ctr"/>
          <a:lstStyle/>
          <a:p>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Unity Hub</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manages your Editor installations, projects, and licenses centrally</a:t>
            </a:r>
            <a:endParaRPr lang="en-US" sz="1800" dirty="0"/>
          </a:p>
        </p:txBody>
      </p:sp>
      <p:sp>
        <p:nvSpPr>
          <p:cNvPr id="15" name="Shape 13"/>
          <p:cNvSpPr/>
          <p:nvPr/>
        </p:nvSpPr>
        <p:spPr>
          <a:xfrm>
            <a:off x="781050" y="5270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FF6B35"/>
          </a:solidFill>
          <a:ln/>
        </p:spPr>
      </p:sp>
      <p:sp>
        <p:nvSpPr>
          <p:cNvPr id="16" name="Text 14"/>
          <p:cNvSpPr/>
          <p:nvPr/>
        </p:nvSpPr>
        <p:spPr>
          <a:xfrm>
            <a:off x="1219200" y="5207000"/>
            <a:ext cx="14224000" cy="635000"/>
          </a:xfrm>
          <a:prstGeom prst="rect">
            <a:avLst/>
          </a:prstGeom>
          <a:noFill/>
          <a:ln/>
        </p:spPr>
        <p:txBody>
          <a:bodyPr wrap="square" lIns="0" tIns="0" rIns="0" bIns="0" rtlCol="0" anchor="ctr"/>
          <a:lstStyle/>
          <a:p>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Install the latest </a:t>
            </a:r>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LTS version</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with your platform's build support for stability</a:t>
            </a:r>
            <a:endParaRPr lang="en-US" sz="1800" dirty="0"/>
          </a:p>
        </p:txBody>
      </p:sp>
      <p:sp>
        <p:nvSpPr>
          <p:cNvPr id="17" name="Shape 15"/>
          <p:cNvSpPr/>
          <p:nvPr/>
        </p:nvSpPr>
        <p:spPr>
          <a:xfrm>
            <a:off x="762000" y="6096000"/>
            <a:ext cx="14732000" cy="0"/>
          </a:xfrm>
          <a:prstGeom prst="straightConnector1">
            <a:avLst/>
          </a:prstGeom>
          <a:noFill/>
          <a:ln w="12700">
            <a:solidFill>
              <a:srgbClr val="E8EAED"/>
            </a:solidFill>
            <a:prstDash val="sysDot"/>
            <a:headEnd type="none"/>
            <a:tailEnd type="none"/>
          </a:ln>
        </p:spPr>
      </p:sp>
      <p:sp>
        <p:nvSpPr>
          <p:cNvPr id="18" name="Shape 16"/>
          <p:cNvSpPr/>
          <p:nvPr/>
        </p:nvSpPr>
        <p:spPr>
          <a:xfrm>
            <a:off x="762000" y="6413500"/>
            <a:ext cx="14732000" cy="1778000"/>
          </a:xfrm>
          <a:prstGeom prst="rect">
            <a:avLst/>
          </a:prstGeom>
          <a:solidFill>
            <a:srgbClr val="1A1D23"/>
          </a:solidFill>
          <a:ln/>
        </p:spPr>
      </p:sp>
      <p:sp>
        <p:nvSpPr>
          <p:cNvPr id="19" name="Shape 17"/>
          <p:cNvSpPr/>
          <p:nvPr/>
        </p:nvSpPr>
        <p:spPr>
          <a:xfrm>
            <a:off x="1066800" y="6858000"/>
            <a:ext cx="355600" cy="355600"/>
          </a:xfrm>
          <a:custGeom>
            <a:avLst/>
            <a:gdLst/>
            <a:ahLst/>
            <a:cxnLst/>
            <a:rect l="l" t="t" r="r" b="b"/>
            <a:pathLst>
              <a:path w="355600" h="355600">
                <a:moveTo>
                  <a:pt x="349071" y="193496"/>
                </a:moveTo>
                <a:cubicBezTo>
                  <a:pt x="357753" y="184815"/>
                  <a:pt x="357753" y="170716"/>
                  <a:pt x="349071" y="162034"/>
                </a:cubicBezTo>
                <a:lnTo>
                  <a:pt x="237946" y="50909"/>
                </a:lnTo>
                <a:cubicBezTo>
                  <a:pt x="229265" y="42228"/>
                  <a:pt x="215166" y="42228"/>
                  <a:pt x="206484" y="50909"/>
                </a:cubicBezTo>
                <a:cubicBezTo>
                  <a:pt x="197803" y="59591"/>
                  <a:pt x="197803" y="73690"/>
                  <a:pt x="206484" y="82371"/>
                </a:cubicBezTo>
                <a:lnTo>
                  <a:pt x="279688" y="155575"/>
                </a:lnTo>
                <a:lnTo>
                  <a:pt x="22225" y="155575"/>
                </a:lnTo>
                <a:cubicBezTo>
                  <a:pt x="9932" y="155575"/>
                  <a:pt x="0" y="165507"/>
                  <a:pt x="0" y="177800"/>
                </a:cubicBezTo>
                <a:cubicBezTo>
                  <a:pt x="0" y="190093"/>
                  <a:pt x="9932" y="200025"/>
                  <a:pt x="22225" y="200025"/>
                </a:cubicBezTo>
                <a:lnTo>
                  <a:pt x="279688" y="200025"/>
                </a:lnTo>
                <a:lnTo>
                  <a:pt x="206484" y="273229"/>
                </a:lnTo>
                <a:cubicBezTo>
                  <a:pt x="197802" y="281910"/>
                  <a:pt x="197802" y="296009"/>
                  <a:pt x="206484" y="304691"/>
                </a:cubicBezTo>
                <a:cubicBezTo>
                  <a:pt x="215166" y="313373"/>
                  <a:pt x="229265" y="313373"/>
                  <a:pt x="237946" y="304691"/>
                </a:cubicBezTo>
                <a:lnTo>
                  <a:pt x="349071" y="193566"/>
                </a:lnTo>
                <a:close/>
              </a:path>
            </a:pathLst>
          </a:custGeom>
          <a:solidFill>
            <a:srgbClr val="FF6B35"/>
          </a:solidFill>
          <a:ln/>
        </p:spPr>
      </p:sp>
      <p:sp>
        <p:nvSpPr>
          <p:cNvPr id="20" name="Text 18"/>
          <p:cNvSpPr/>
          <p:nvPr/>
        </p:nvSpPr>
        <p:spPr>
          <a:xfrm>
            <a:off x="1574800" y="6604000"/>
            <a:ext cx="2540000" cy="304800"/>
          </a:xfrm>
          <a:prstGeom prst="rect">
            <a:avLst/>
          </a:prstGeom>
          <a:noFill/>
          <a:ln/>
        </p:spPr>
        <p:txBody>
          <a:bodyPr wrap="none" lIns="0" tIns="0" rIns="0" bIns="0" rtlCol="0" anchor="ctr"/>
          <a:lstStyle/>
          <a:p>
            <a:pPr>
              <a:lnSpc>
                <a:spcPct val="100000"/>
              </a:lnSpc>
            </a:pPr>
            <a:r>
              <a:rPr lang="en-US" sz="1300" spc="200" kern="0" dirty="0">
                <a:solidFill>
                  <a:srgbClr val="FF6B35"/>
                </a:solidFill>
                <a:latin typeface="Liter" pitchFamily="34" charset="0"/>
                <a:ea typeface="Liter" pitchFamily="34" charset="-122"/>
                <a:cs typeface="Liter" pitchFamily="34" charset="-120"/>
              </a:rPr>
              <a:t>COMING UP</a:t>
            </a:r>
            <a:endParaRPr lang="en-US" sz="1600" dirty="0"/>
          </a:p>
        </p:txBody>
      </p:sp>
      <p:sp>
        <p:nvSpPr>
          <p:cNvPr id="21" name="Text 19"/>
          <p:cNvSpPr/>
          <p:nvPr/>
        </p:nvSpPr>
        <p:spPr>
          <a:xfrm>
            <a:off x="1574800" y="6985000"/>
            <a:ext cx="13589000" cy="1016000"/>
          </a:xfrm>
          <a:prstGeom prst="rect">
            <a:avLst/>
          </a:prstGeom>
          <a:noFill/>
          <a:ln/>
        </p:spPr>
        <p:txBody>
          <a:bodyPr wrap="square" lIns="0" tIns="0" rIns="0" bIns="0" rtlCol="0" anchor="t"/>
          <a:lstStyle/>
          <a:p>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Lecture 4</a:t>
            </a:r>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 — We will launch Unity, create your first project, import assets, and explore the Unity Editor interface in detail.</a:t>
            </a:r>
            <a:endParaRPr lang="en-US" sz="1600" dirty="0"/>
          </a:p>
        </p:txBody>
      </p:sp>
      <p:sp>
        <p:nvSpPr>
          <p:cNvPr id="22" name="Shape 20"/>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ttps://kimi-img.moonshot.cn/pub/slides/okc/3rhuirp567422/mnt/agents/output/game-programming-week2/images/5_Space_Universe_Stars_Nebula_Galaxy.png">    </p:cNvPr>
          <p:cNvPicPr>
            <a:picLocks noChangeAspect="1"/>
          </p:cNvPicPr>
          <p:nvPr/>
        </p:nvPicPr>
        <p:blipFill>
          <a:blip r:embed="rId1"/>
          <a:srcRect l="0" r="0"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A1D23">
                  <a:alpha val="94000"/>
                </a:srgbClr>
              </a:gs>
              <a:gs pos="50000">
                <a:srgbClr val="1A1D23">
                  <a:alpha val="82000"/>
                </a:srgbClr>
              </a:gs>
              <a:gs pos="100000">
                <a:srgbClr val="1A1D23">
                  <a:alpha val="63000"/>
                </a:srgbClr>
              </a:gs>
            </a:gsLst>
            <a:lin ang="0" scaled="1"/>
          </a:gradFill>
          <a:ln w="12700">
            <a:solidFill>
              <a:srgbClr val="333333"/>
            </a:solidFill>
            <a:prstDash val="solid"/>
          </a:ln>
        </p:spPr>
      </p:sp>
      <p:sp>
        <p:nvSpPr>
          <p:cNvPr id="4" name="Text 1"/>
          <p:cNvSpPr/>
          <p:nvPr/>
        </p:nvSpPr>
        <p:spPr>
          <a:xfrm>
            <a:off x="762000" y="1524000"/>
            <a:ext cx="5080000" cy="2032000"/>
          </a:xfrm>
          <a:prstGeom prst="rect">
            <a:avLst/>
          </a:prstGeom>
          <a:noFill/>
          <a:ln/>
        </p:spPr>
        <p:txBody>
          <a:bodyPr wrap="none" lIns="0" tIns="0" rIns="0" bIns="0" rtlCol="0" anchor="ctr"/>
          <a:lstStyle/>
          <a:p>
            <a:pPr>
              <a:lnSpc>
                <a:spcPct val="100000"/>
              </a:lnSpc>
            </a:pPr>
            <a:r>
              <a:rPr lang="en-US" sz="12000" spc="400" kern="0" dirty="0">
                <a:solidFill>
                  <a:srgbClr val="FFFFFF">
                    <a:alpha val="8235"/>
                  </a:srgbClr>
                </a:solidFill>
                <a:latin typeface="Liter" pitchFamily="34" charset="0"/>
                <a:ea typeface="Liter" pitchFamily="34" charset="-122"/>
                <a:cs typeface="Liter" pitchFamily="34" charset="-120"/>
              </a:rPr>
              <a:t>02</a:t>
            </a:r>
            <a:endParaRPr lang="en-US" sz="12000" dirty="0"/>
          </a:p>
        </p:txBody>
      </p:sp>
      <p:sp>
        <p:nvSpPr>
          <p:cNvPr id="5" name="Shape 2"/>
          <p:cNvSpPr/>
          <p:nvPr/>
        </p:nvSpPr>
        <p:spPr>
          <a:xfrm>
            <a:off x="762000" y="3810000"/>
            <a:ext cx="1016000" cy="50800"/>
          </a:xfrm>
          <a:prstGeom prst="rect">
            <a:avLst/>
          </a:prstGeom>
          <a:solidFill>
            <a:srgbClr val="FF6B35"/>
          </a:solidFill>
          <a:ln/>
        </p:spPr>
      </p:sp>
      <p:sp>
        <p:nvSpPr>
          <p:cNvPr id="6" name="Text 3"/>
          <p:cNvSpPr/>
          <p:nvPr/>
        </p:nvSpPr>
        <p:spPr>
          <a:xfrm>
            <a:off x="762000" y="4064000"/>
            <a:ext cx="2540000" cy="279400"/>
          </a:xfrm>
          <a:prstGeom prst="rect">
            <a:avLst/>
          </a:prstGeom>
          <a:noFill/>
          <a:ln/>
        </p:spPr>
        <p:txBody>
          <a:bodyPr wrap="none" lIns="0" tIns="0" rIns="0" bIns="0" rtlCol="0" anchor="ctr"/>
          <a:lstStyle/>
          <a:p>
            <a:pPr>
              <a:lnSpc>
                <a:spcPct val="100000"/>
              </a:lnSpc>
            </a:pPr>
            <a:r>
              <a:rPr lang="en-US" sz="1300" spc="200" kern="0" dirty="0">
                <a:solidFill>
                  <a:srgbClr val="FF6B35"/>
                </a:solidFill>
                <a:latin typeface="Liter" pitchFamily="34" charset="0"/>
                <a:ea typeface="Liter" pitchFamily="34" charset="-122"/>
                <a:cs typeface="Liter" pitchFamily="34" charset="-120"/>
              </a:rPr>
              <a:t>LECTURE 4</a:t>
            </a:r>
            <a:endParaRPr lang="en-US" sz="1300" dirty="0"/>
          </a:p>
        </p:txBody>
      </p:sp>
      <p:sp>
        <p:nvSpPr>
          <p:cNvPr id="7" name="Text 4"/>
          <p:cNvSpPr/>
          <p:nvPr/>
        </p:nvSpPr>
        <p:spPr>
          <a:xfrm>
            <a:off x="762000" y="4508500"/>
            <a:ext cx="8890000" cy="635000"/>
          </a:xfrm>
          <a:prstGeom prst="rect">
            <a:avLst/>
          </a:prstGeom>
          <a:noFill/>
          <a:ln/>
        </p:spPr>
        <p:txBody>
          <a:bodyPr wrap="none" lIns="0" tIns="0" rIns="0" bIns="0" rtlCol="0" anchor="ctr"/>
          <a:lstStyle/>
          <a:p>
            <a:pPr>
              <a:lnSpc>
                <a:spcPct val="100000"/>
              </a:lnSpc>
            </a:pPr>
            <a:r>
              <a:rPr lang="en-US" sz="3600" spc="100" kern="0" dirty="0">
                <a:solidFill>
                  <a:srgbClr val="FFFFFF"/>
                </a:solidFill>
                <a:latin typeface="Liter" pitchFamily="34" charset="0"/>
                <a:ea typeface="Liter" pitchFamily="34" charset="-122"/>
                <a:cs typeface="Liter" pitchFamily="34" charset="-120"/>
              </a:rPr>
              <a:t>Unity Project &amp; Editor</a:t>
            </a:r>
            <a:endParaRPr lang="en-US" sz="4000" dirty="0"/>
          </a:p>
        </p:txBody>
      </p:sp>
      <p:sp>
        <p:nvSpPr>
          <p:cNvPr id="8" name="Text 5"/>
          <p:cNvSpPr/>
          <p:nvPr/>
        </p:nvSpPr>
        <p:spPr>
          <a:xfrm>
            <a:off x="762000" y="5270500"/>
            <a:ext cx="8890000" cy="381000"/>
          </a:xfrm>
          <a:prstGeom prst="rect">
            <a:avLst/>
          </a:prstGeom>
          <a:noFill/>
          <a:ln/>
        </p:spPr>
        <p:txBody>
          <a:bodyPr wrap="none" lIns="0" tIns="0" rIns="0" bIns="0" rtlCol="0" anchor="ctr"/>
          <a:lstStyle/>
          <a:p>
            <a:pPr>
              <a:lnSpc>
                <a:spcPct val="150000"/>
              </a:lnSpc>
            </a:pPr>
            <a:r>
              <a:rPr lang="en-US" sz="2000" dirty="0">
                <a:solidFill>
                  <a:srgbClr val="A0A5AD"/>
                </a:solidFill>
                <a:latin typeface="QuattrocentoSans" pitchFamily="34" charset="0"/>
                <a:ea typeface="QuattrocentoSans" pitchFamily="34" charset="-122"/>
                <a:cs typeface="QuattrocentoSans" pitchFamily="34" charset="-120"/>
              </a:rPr>
              <a:t>Project Setup, Asset Import &amp; Editor Interface</a:t>
            </a:r>
            <a:endParaRPr lang="en-US" sz="2000" dirty="0"/>
          </a:p>
        </p:txBody>
      </p:sp>
      <p:pic>
        <p:nvPicPr>
          <p:cNvPr id="9" name="Image 1" descr="https://kimi-img.moonshot.cn/pub/slides/okc/3rhuirp567422/mnt/agents/output/game-programming-week2/images/1_Unity_game_engine_Other_Logopedia.png">    </p:cNvPr>
          <p:cNvPicPr>
            <a:picLocks noChangeAspect="1"/>
          </p:cNvPicPr>
          <p:nvPr/>
        </p:nvPicPr>
        <p:blipFill>
          <a:blip r:embed="rId2"/>
          <a:srcRect l="-199" r="-199" t="0" b="0"/>
          <a:stretch/>
        </p:blipFill>
        <p:spPr>
          <a:xfrm>
            <a:off x="13970000" y="7366000"/>
            <a:ext cx="1524000" cy="1524000"/>
          </a:xfrm>
          <a:prstGeom prst="rect">
            <a:avLst/>
          </a:prstGeom>
        </p:spPr>
      </p:pic>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Launching Unity for the First Time</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457200" cy="457200"/>
          </a:xfrm>
          <a:prstGeom prst="rect">
            <a:avLst/>
          </a:prstGeom>
          <a:solidFill>
            <a:srgbClr val="FF6B35"/>
          </a:solidFill>
          <a:ln/>
        </p:spPr>
      </p:sp>
      <p:sp>
        <p:nvSpPr>
          <p:cNvPr id="6" name="Text 4"/>
          <p:cNvSpPr/>
          <p:nvPr/>
        </p:nvSpPr>
        <p:spPr>
          <a:xfrm>
            <a:off x="762000" y="1524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397000" y="1524000"/>
            <a:ext cx="6350000" cy="457200"/>
          </a:xfrm>
          <a:prstGeom prst="rect">
            <a:avLst/>
          </a:prstGeom>
          <a:noFill/>
          <a:ln/>
        </p:spPr>
        <p:txBody>
          <a:bodyPr wrap="square" lIns="0" tIns="0" rIns="0" bIns="0" rtlCol="0" anchor="ctr"/>
          <a:lstStyle/>
          <a:p>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Open Unity Hub</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from your desktop or Start menu</a:t>
            </a:r>
            <a:endParaRPr lang="en-US" sz="1600" dirty="0"/>
          </a:p>
        </p:txBody>
      </p:sp>
      <p:sp>
        <p:nvSpPr>
          <p:cNvPr id="8" name="Shape 6"/>
          <p:cNvSpPr/>
          <p:nvPr/>
        </p:nvSpPr>
        <p:spPr>
          <a:xfrm>
            <a:off x="762000" y="2159000"/>
            <a:ext cx="457200" cy="457200"/>
          </a:xfrm>
          <a:prstGeom prst="rect">
            <a:avLst/>
          </a:prstGeom>
          <a:solidFill>
            <a:srgbClr val="FF6B35"/>
          </a:solidFill>
          <a:ln/>
        </p:spPr>
      </p:sp>
      <p:sp>
        <p:nvSpPr>
          <p:cNvPr id="9" name="Text 7"/>
          <p:cNvSpPr/>
          <p:nvPr/>
        </p:nvSpPr>
        <p:spPr>
          <a:xfrm>
            <a:off x="762000" y="2159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Liter" pitchFamily="34" charset="0"/>
                <a:ea typeface="Liter" pitchFamily="34" charset="-122"/>
                <a:cs typeface="Liter" pitchFamily="34" charset="-120"/>
              </a:rPr>
              <a:t>2</a:t>
            </a:r>
            <a:endParaRPr lang="en-US" sz="1600" dirty="0"/>
          </a:p>
        </p:txBody>
      </p:sp>
      <p:sp>
        <p:nvSpPr>
          <p:cNvPr id="10" name="Text 8"/>
          <p:cNvSpPr/>
          <p:nvPr/>
        </p:nvSpPr>
        <p:spPr>
          <a:xfrm>
            <a:off x="1397000" y="2159000"/>
            <a:ext cx="6350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Go to the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"Projects"</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tab — your project management center</a:t>
            </a:r>
            <a:endParaRPr lang="en-US" sz="1600" dirty="0"/>
          </a:p>
        </p:txBody>
      </p:sp>
      <p:sp>
        <p:nvSpPr>
          <p:cNvPr id="11" name="Shape 9"/>
          <p:cNvSpPr/>
          <p:nvPr/>
        </p:nvSpPr>
        <p:spPr>
          <a:xfrm>
            <a:off x="762000" y="2794000"/>
            <a:ext cx="457200" cy="457200"/>
          </a:xfrm>
          <a:prstGeom prst="rect">
            <a:avLst/>
          </a:prstGeom>
          <a:solidFill>
            <a:srgbClr val="FF6B35"/>
          </a:solidFill>
          <a:ln/>
        </p:spPr>
      </p:sp>
      <p:sp>
        <p:nvSpPr>
          <p:cNvPr id="12" name="Text 10"/>
          <p:cNvSpPr/>
          <p:nvPr/>
        </p:nvSpPr>
        <p:spPr>
          <a:xfrm>
            <a:off x="762000" y="2794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Liter" pitchFamily="34" charset="0"/>
                <a:ea typeface="Liter" pitchFamily="34" charset="-122"/>
                <a:cs typeface="Liter" pitchFamily="34" charset="-120"/>
              </a:rPr>
              <a:t>3</a:t>
            </a:r>
            <a:endParaRPr lang="en-US" sz="1600" dirty="0"/>
          </a:p>
        </p:txBody>
      </p:sp>
      <p:sp>
        <p:nvSpPr>
          <p:cNvPr id="13" name="Text 11"/>
          <p:cNvSpPr/>
          <p:nvPr/>
        </p:nvSpPr>
        <p:spPr>
          <a:xfrm>
            <a:off x="1397000" y="2794000"/>
            <a:ext cx="6350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All existing projects appear here with name, date, and version</a:t>
            </a:r>
            <a:endParaRPr lang="en-US" sz="1600" dirty="0"/>
          </a:p>
        </p:txBody>
      </p:sp>
      <p:sp>
        <p:nvSpPr>
          <p:cNvPr id="14" name="Shape 12"/>
          <p:cNvSpPr/>
          <p:nvPr/>
        </p:nvSpPr>
        <p:spPr>
          <a:xfrm>
            <a:off x="762000" y="3429000"/>
            <a:ext cx="457200" cy="457200"/>
          </a:xfrm>
          <a:prstGeom prst="rect">
            <a:avLst/>
          </a:prstGeom>
          <a:solidFill>
            <a:srgbClr val="FF6B35"/>
          </a:solidFill>
          <a:ln/>
        </p:spPr>
      </p:sp>
      <p:sp>
        <p:nvSpPr>
          <p:cNvPr id="15" name="Text 13"/>
          <p:cNvSpPr/>
          <p:nvPr/>
        </p:nvSpPr>
        <p:spPr>
          <a:xfrm>
            <a:off x="762000" y="3429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Liter" pitchFamily="34" charset="0"/>
                <a:ea typeface="Liter" pitchFamily="34" charset="-122"/>
                <a:cs typeface="Liter" pitchFamily="34" charset="-120"/>
              </a:rPr>
              <a:t>4</a:t>
            </a:r>
            <a:endParaRPr lang="en-US" sz="1600" dirty="0"/>
          </a:p>
        </p:txBody>
      </p:sp>
      <p:sp>
        <p:nvSpPr>
          <p:cNvPr id="16" name="Text 14"/>
          <p:cNvSpPr/>
          <p:nvPr/>
        </p:nvSpPr>
        <p:spPr>
          <a:xfrm>
            <a:off x="1397000" y="3429000"/>
            <a:ext cx="6350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First launch may take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a few minutes</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to initialize — this is normal</a:t>
            </a:r>
            <a:endParaRPr lang="en-US" sz="1600" dirty="0"/>
          </a:p>
        </p:txBody>
      </p:sp>
      <p:sp>
        <p:nvSpPr>
          <p:cNvPr id="17" name="Shape 15"/>
          <p:cNvSpPr/>
          <p:nvPr/>
        </p:nvSpPr>
        <p:spPr>
          <a:xfrm>
            <a:off x="762000" y="4191000"/>
            <a:ext cx="7366000" cy="1524000"/>
          </a:xfrm>
          <a:prstGeom prst="rect">
            <a:avLst/>
          </a:prstGeom>
          <a:solidFill>
            <a:srgbClr val="1A1D23"/>
          </a:solidFill>
          <a:ln/>
        </p:spPr>
      </p:sp>
      <p:sp>
        <p:nvSpPr>
          <p:cNvPr id="18" name="Shape 16"/>
          <p:cNvSpPr/>
          <p:nvPr/>
        </p:nvSpPr>
        <p:spPr>
          <a:xfrm>
            <a:off x="1050925" y="4381500"/>
            <a:ext cx="209550" cy="279400"/>
          </a:xfrm>
          <a:custGeom>
            <a:avLst/>
            <a:gdLst/>
            <a:ahLst/>
            <a:cxnLst/>
            <a:rect l="l" t="t" r="r" b="b"/>
            <a:pathLst>
              <a:path w="209550" h="279400">
                <a:moveTo>
                  <a:pt x="159836" y="209550"/>
                </a:moveTo>
                <a:cubicBezTo>
                  <a:pt x="163820" y="197381"/>
                  <a:pt x="171787" y="186358"/>
                  <a:pt x="180791" y="176862"/>
                </a:cubicBezTo>
                <a:cubicBezTo>
                  <a:pt x="198636" y="158090"/>
                  <a:pt x="209550" y="132715"/>
                  <a:pt x="209550" y="104775"/>
                </a:cubicBezTo>
                <a:cubicBezTo>
                  <a:pt x="209550" y="46930"/>
                  <a:pt x="162620" y="0"/>
                  <a:pt x="104775" y="0"/>
                </a:cubicBezTo>
                <a:cubicBezTo>
                  <a:pt x="46930" y="0"/>
                  <a:pt x="0" y="46930"/>
                  <a:pt x="0" y="104775"/>
                </a:cubicBezTo>
                <a:cubicBezTo>
                  <a:pt x="0" y="132715"/>
                  <a:pt x="10914" y="158090"/>
                  <a:pt x="28759" y="176862"/>
                </a:cubicBezTo>
                <a:cubicBezTo>
                  <a:pt x="37763" y="186358"/>
                  <a:pt x="45784" y="197381"/>
                  <a:pt x="49714" y="209550"/>
                </a:cubicBezTo>
                <a:lnTo>
                  <a:pt x="159782" y="209550"/>
                </a:lnTo>
                <a:close/>
                <a:moveTo>
                  <a:pt x="157163" y="235744"/>
                </a:moveTo>
                <a:lnTo>
                  <a:pt x="52388" y="235744"/>
                </a:lnTo>
                <a:lnTo>
                  <a:pt x="52388" y="244475"/>
                </a:lnTo>
                <a:cubicBezTo>
                  <a:pt x="52388" y="268595"/>
                  <a:pt x="71924" y="288131"/>
                  <a:pt x="96044" y="288131"/>
                </a:cubicBezTo>
                <a:lnTo>
                  <a:pt x="113506" y="288131"/>
                </a:lnTo>
                <a:cubicBezTo>
                  <a:pt x="137626" y="288131"/>
                  <a:pt x="157163" y="268595"/>
                  <a:pt x="157163" y="244475"/>
                </a:cubicBezTo>
                <a:lnTo>
                  <a:pt x="157163" y="235744"/>
                </a:lnTo>
                <a:close/>
                <a:moveTo>
                  <a:pt x="100409" y="61119"/>
                </a:moveTo>
                <a:cubicBezTo>
                  <a:pt x="78690" y="61119"/>
                  <a:pt x="61119" y="78690"/>
                  <a:pt x="61119" y="100409"/>
                </a:cubicBezTo>
                <a:cubicBezTo>
                  <a:pt x="61119" y="107667"/>
                  <a:pt x="55280" y="113506"/>
                  <a:pt x="48022" y="113506"/>
                </a:cubicBezTo>
                <a:cubicBezTo>
                  <a:pt x="40764" y="113506"/>
                  <a:pt x="34925" y="107667"/>
                  <a:pt x="34925" y="100409"/>
                </a:cubicBezTo>
                <a:cubicBezTo>
                  <a:pt x="34925" y="64229"/>
                  <a:pt x="64229" y="34925"/>
                  <a:pt x="100409" y="34925"/>
                </a:cubicBezTo>
                <a:cubicBezTo>
                  <a:pt x="107667" y="34925"/>
                  <a:pt x="113506" y="40764"/>
                  <a:pt x="113506" y="48022"/>
                </a:cubicBezTo>
                <a:cubicBezTo>
                  <a:pt x="113506" y="55280"/>
                  <a:pt x="107667" y="61119"/>
                  <a:pt x="100409" y="61119"/>
                </a:cubicBezTo>
                <a:close/>
              </a:path>
            </a:pathLst>
          </a:custGeom>
          <a:solidFill>
            <a:srgbClr val="FF6B35"/>
          </a:solidFill>
          <a:ln/>
        </p:spPr>
      </p:sp>
      <p:sp>
        <p:nvSpPr>
          <p:cNvPr id="19" name="Text 17"/>
          <p:cNvSpPr/>
          <p:nvPr/>
        </p:nvSpPr>
        <p:spPr>
          <a:xfrm>
            <a:off x="1397000" y="4356100"/>
            <a:ext cx="3810000" cy="3302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PRO TIP</a:t>
            </a:r>
            <a:endParaRPr lang="en-US" sz="1600" dirty="0"/>
          </a:p>
        </p:txBody>
      </p:sp>
      <p:sp>
        <p:nvSpPr>
          <p:cNvPr id="20" name="Text 18"/>
          <p:cNvSpPr/>
          <p:nvPr/>
        </p:nvSpPr>
        <p:spPr>
          <a:xfrm>
            <a:off x="1016000" y="4762500"/>
            <a:ext cx="6858000" cy="825500"/>
          </a:xfrm>
          <a:prstGeom prst="rect">
            <a:avLst/>
          </a:prstGeom>
          <a:noFill/>
          <a:ln/>
        </p:spPr>
        <p:txBody>
          <a:bodyPr wrap="square" lIns="0" tIns="0" rIns="0" bIns="0" rtlCol="0" anchor="t"/>
          <a:lstStyle/>
          <a:p>
            <a:pP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Reset to the default layout anytime via </a:t>
            </a:r>
            <a:pPr>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Window &gt; Layouts &gt; Default</a:t>
            </a:r>
            <a:pP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 This is useful if you accidentally rearrange windows.</a:t>
            </a:r>
            <a:endParaRPr lang="en-US" sz="1600" dirty="0"/>
          </a:p>
        </p:txBody>
      </p:sp>
      <p:sp>
        <p:nvSpPr>
          <p:cNvPr id="21" name="Shape 19"/>
          <p:cNvSpPr/>
          <p:nvPr/>
        </p:nvSpPr>
        <p:spPr>
          <a:xfrm>
            <a:off x="762000" y="6032500"/>
            <a:ext cx="7366000" cy="2540000"/>
          </a:xfrm>
          <a:prstGeom prst="rect">
            <a:avLst/>
          </a:prstGeom>
          <a:solidFill>
            <a:srgbClr val="FFFFFF"/>
          </a:solidFill>
          <a:ln w="12700">
            <a:solidFill>
              <a:srgbClr val="E8EAED"/>
            </a:solidFill>
            <a:prstDash val="solid"/>
          </a:ln>
        </p:spPr>
      </p:sp>
      <p:sp>
        <p:nvSpPr>
          <p:cNvPr id="22" name="Text 20"/>
          <p:cNvSpPr/>
          <p:nvPr/>
        </p:nvSpPr>
        <p:spPr>
          <a:xfrm>
            <a:off x="1016000" y="6197600"/>
            <a:ext cx="6350000" cy="3302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DEFAULT LAYOUT WINDOWS</a:t>
            </a:r>
            <a:endParaRPr lang="en-US" sz="1600" dirty="0"/>
          </a:p>
        </p:txBody>
      </p:sp>
      <p:sp>
        <p:nvSpPr>
          <p:cNvPr id="23" name="Text 21"/>
          <p:cNvSpPr/>
          <p:nvPr/>
        </p:nvSpPr>
        <p:spPr>
          <a:xfrm>
            <a:off x="1016000" y="6604000"/>
            <a:ext cx="6858000" cy="1905000"/>
          </a:xfrm>
          <a:prstGeom prst="rect">
            <a:avLst/>
          </a:prstGeom>
          <a:noFill/>
          <a:ln/>
        </p:spPr>
        <p:txBody>
          <a:bodyPr wrap="square" lIns="0" tIns="0" rIns="0" bIns="0" rtlCol="0" anchor="t"/>
          <a:lstStyle/>
          <a:p>
            <a:pPr>
              <a:lnSpc>
                <a:spcPct val="17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Scene View</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interactive 3D workspace (center)</a:t>
            </a:r>
            <a:endParaRPr lang="en-US" sz="1600" dirty="0"/>
          </a:p>
          <a:p>
            <a:pPr>
              <a:lnSpc>
                <a:spcPct val="17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Game View</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player preview (tabbed with Scene)</a:t>
            </a:r>
            <a:endParaRPr lang="en-US" sz="1600" dirty="0"/>
          </a:p>
          <a:p>
            <a:pPr>
              <a:lnSpc>
                <a:spcPct val="17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Hierarchy</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scene object list (left)</a:t>
            </a:r>
            <a:endParaRPr lang="en-US" sz="1600" dirty="0"/>
          </a:p>
          <a:p>
            <a:pPr>
              <a:lnSpc>
                <a:spcPct val="17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Project</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asset file explorer (bottom)</a:t>
            </a:r>
            <a:endParaRPr lang="en-US" sz="1600" dirty="0"/>
          </a:p>
          <a:p>
            <a:pPr>
              <a:lnSpc>
                <a:spcPct val="17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Inspector</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object properties (right)</a:t>
            </a:r>
            <a:endParaRPr lang="en-US" sz="1600" dirty="0"/>
          </a:p>
        </p:txBody>
      </p:sp>
      <p:pic>
        <p:nvPicPr>
          <p:cNvPr id="24" name="Image 0" descr="https://kimi-img.moonshot.cn/pub/slides/okc/3rhuirp567422/mnt/agents/output/game-programming-week2/images/3_When_will_we_see_a_modern_Unity_Unity.png">    </p:cNvPr>
          <p:cNvPicPr>
            <a:picLocks noChangeAspect="1"/>
          </p:cNvPicPr>
          <p:nvPr/>
        </p:nvPicPr>
        <p:blipFill>
          <a:blip r:embed="rId1"/>
          <a:srcRect l="21612" r="21612" t="0" b="0"/>
          <a:stretch/>
        </p:blipFill>
        <p:spPr>
          <a:xfrm>
            <a:off x="8636000" y="1524000"/>
            <a:ext cx="6858000" cy="6794500"/>
          </a:xfrm>
          <a:prstGeom prst="roundRect">
            <a:avLst>
              <a:gd name="adj" fmla="val 5000"/>
            </a:avLst>
          </a:prstGeom>
        </p:spPr>
      </p:pic>
      <p:sp>
        <p:nvSpPr>
          <p:cNvPr id="25" name="Shape 22"/>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Creating a New Unity Project</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498600"/>
            <a:ext cx="406400" cy="406400"/>
          </a:xfrm>
          <a:prstGeom prst="rect">
            <a:avLst/>
          </a:prstGeom>
          <a:solidFill>
            <a:srgbClr val="FF6B35"/>
          </a:solidFill>
          <a:ln/>
        </p:spPr>
      </p:sp>
      <p:sp>
        <p:nvSpPr>
          <p:cNvPr id="6" name="Text 4"/>
          <p:cNvSpPr/>
          <p:nvPr/>
        </p:nvSpPr>
        <p:spPr>
          <a:xfrm>
            <a:off x="762000" y="14986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320800" y="14986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In Unity Hub, click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"New Project"</a:t>
            </a:r>
            <a:endParaRPr lang="en-US" sz="1600" dirty="0"/>
          </a:p>
        </p:txBody>
      </p:sp>
      <p:sp>
        <p:nvSpPr>
          <p:cNvPr id="8" name="Shape 6"/>
          <p:cNvSpPr/>
          <p:nvPr/>
        </p:nvSpPr>
        <p:spPr>
          <a:xfrm>
            <a:off x="762000" y="2057400"/>
            <a:ext cx="406400" cy="406400"/>
          </a:xfrm>
          <a:prstGeom prst="rect">
            <a:avLst/>
          </a:prstGeom>
          <a:solidFill>
            <a:srgbClr val="FF6B35"/>
          </a:solidFill>
          <a:ln/>
        </p:spPr>
      </p:sp>
      <p:sp>
        <p:nvSpPr>
          <p:cNvPr id="9" name="Text 7"/>
          <p:cNvSpPr/>
          <p:nvPr/>
        </p:nvSpPr>
        <p:spPr>
          <a:xfrm>
            <a:off x="762000" y="20574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2</a:t>
            </a:r>
            <a:endParaRPr lang="en-US" sz="1600" dirty="0"/>
          </a:p>
        </p:txBody>
      </p:sp>
      <p:sp>
        <p:nvSpPr>
          <p:cNvPr id="10" name="Text 8"/>
          <p:cNvSpPr/>
          <p:nvPr/>
        </p:nvSpPr>
        <p:spPr>
          <a:xfrm>
            <a:off x="1320800" y="20574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Select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"3D (Built-in Render Pipeline)"</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template</a:t>
            </a:r>
            <a:endParaRPr lang="en-US" sz="1600" dirty="0"/>
          </a:p>
        </p:txBody>
      </p:sp>
      <p:sp>
        <p:nvSpPr>
          <p:cNvPr id="11" name="Shape 9"/>
          <p:cNvSpPr/>
          <p:nvPr/>
        </p:nvSpPr>
        <p:spPr>
          <a:xfrm>
            <a:off x="762000" y="2616200"/>
            <a:ext cx="406400" cy="406400"/>
          </a:xfrm>
          <a:prstGeom prst="rect">
            <a:avLst/>
          </a:prstGeom>
          <a:solidFill>
            <a:srgbClr val="FF6B35"/>
          </a:solidFill>
          <a:ln/>
        </p:spPr>
      </p:sp>
      <p:sp>
        <p:nvSpPr>
          <p:cNvPr id="12" name="Text 10"/>
          <p:cNvSpPr/>
          <p:nvPr/>
        </p:nvSpPr>
        <p:spPr>
          <a:xfrm>
            <a:off x="762000" y="26162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3</a:t>
            </a:r>
            <a:endParaRPr lang="en-US" sz="1600" dirty="0"/>
          </a:p>
        </p:txBody>
      </p:sp>
      <p:sp>
        <p:nvSpPr>
          <p:cNvPr id="13" name="Text 11"/>
          <p:cNvSpPr/>
          <p:nvPr/>
        </p:nvSpPr>
        <p:spPr>
          <a:xfrm>
            <a:off x="1320800" y="26162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Enter a project name: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"SolarSystem"</a:t>
            </a:r>
            <a:endParaRPr lang="en-US" sz="1600" dirty="0"/>
          </a:p>
        </p:txBody>
      </p:sp>
      <p:sp>
        <p:nvSpPr>
          <p:cNvPr id="14" name="Shape 12"/>
          <p:cNvSpPr/>
          <p:nvPr/>
        </p:nvSpPr>
        <p:spPr>
          <a:xfrm>
            <a:off x="762000" y="3175000"/>
            <a:ext cx="406400" cy="406400"/>
          </a:xfrm>
          <a:prstGeom prst="rect">
            <a:avLst/>
          </a:prstGeom>
          <a:solidFill>
            <a:srgbClr val="FF6B35"/>
          </a:solidFill>
          <a:ln/>
        </p:spPr>
      </p:sp>
      <p:sp>
        <p:nvSpPr>
          <p:cNvPr id="15" name="Text 13"/>
          <p:cNvSpPr/>
          <p:nvPr/>
        </p:nvSpPr>
        <p:spPr>
          <a:xfrm>
            <a:off x="762000" y="31750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4</a:t>
            </a:r>
            <a:endParaRPr lang="en-US" sz="1600" dirty="0"/>
          </a:p>
        </p:txBody>
      </p:sp>
      <p:sp>
        <p:nvSpPr>
          <p:cNvPr id="16" name="Text 14"/>
          <p:cNvSpPr/>
          <p:nvPr/>
        </p:nvSpPr>
        <p:spPr>
          <a:xfrm>
            <a:off x="1320800" y="31750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Choose a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save location</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on your computer</a:t>
            </a:r>
            <a:endParaRPr lang="en-US" sz="1600" dirty="0"/>
          </a:p>
        </p:txBody>
      </p:sp>
      <p:sp>
        <p:nvSpPr>
          <p:cNvPr id="17" name="Shape 15"/>
          <p:cNvSpPr/>
          <p:nvPr/>
        </p:nvSpPr>
        <p:spPr>
          <a:xfrm>
            <a:off x="762000" y="3733800"/>
            <a:ext cx="406400" cy="406400"/>
          </a:xfrm>
          <a:prstGeom prst="rect">
            <a:avLst/>
          </a:prstGeom>
          <a:solidFill>
            <a:srgbClr val="FF6B35"/>
          </a:solidFill>
          <a:ln/>
        </p:spPr>
      </p:sp>
      <p:sp>
        <p:nvSpPr>
          <p:cNvPr id="18" name="Text 16"/>
          <p:cNvSpPr/>
          <p:nvPr/>
        </p:nvSpPr>
        <p:spPr>
          <a:xfrm>
            <a:off x="762000" y="37338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5</a:t>
            </a:r>
            <a:endParaRPr lang="en-US" sz="1600" dirty="0"/>
          </a:p>
        </p:txBody>
      </p:sp>
      <p:sp>
        <p:nvSpPr>
          <p:cNvPr id="19" name="Text 17"/>
          <p:cNvSpPr/>
          <p:nvPr/>
        </p:nvSpPr>
        <p:spPr>
          <a:xfrm>
            <a:off x="1320800" y="37338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Click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"Create project"</a:t>
            </a:r>
            <a:endParaRPr lang="en-US" sz="1600" dirty="0"/>
          </a:p>
        </p:txBody>
      </p:sp>
      <p:sp>
        <p:nvSpPr>
          <p:cNvPr id="20" name="Shape 18"/>
          <p:cNvSpPr/>
          <p:nvPr/>
        </p:nvSpPr>
        <p:spPr>
          <a:xfrm>
            <a:off x="762000" y="4292600"/>
            <a:ext cx="406400" cy="406400"/>
          </a:xfrm>
          <a:prstGeom prst="rect">
            <a:avLst/>
          </a:prstGeom>
          <a:solidFill>
            <a:srgbClr val="FF6B35"/>
          </a:solidFill>
          <a:ln/>
        </p:spPr>
      </p:sp>
      <p:sp>
        <p:nvSpPr>
          <p:cNvPr id="21" name="Text 19"/>
          <p:cNvSpPr/>
          <p:nvPr/>
        </p:nvSpPr>
        <p:spPr>
          <a:xfrm>
            <a:off x="762000" y="42926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6</a:t>
            </a:r>
            <a:endParaRPr lang="en-US" sz="1600" dirty="0"/>
          </a:p>
        </p:txBody>
      </p:sp>
      <p:sp>
        <p:nvSpPr>
          <p:cNvPr id="22" name="Text 20"/>
          <p:cNvSpPr/>
          <p:nvPr/>
        </p:nvSpPr>
        <p:spPr>
          <a:xfrm>
            <a:off x="1320800" y="4292600"/>
            <a:ext cx="6604000" cy="4064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Unity sets up the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folder structure</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and opens the Editor</a:t>
            </a:r>
            <a:endParaRPr lang="en-US" sz="1600" dirty="0"/>
          </a:p>
        </p:txBody>
      </p:sp>
      <p:sp>
        <p:nvSpPr>
          <p:cNvPr id="23" name="Shape 21"/>
          <p:cNvSpPr/>
          <p:nvPr/>
        </p:nvSpPr>
        <p:spPr>
          <a:xfrm>
            <a:off x="762000" y="5016500"/>
            <a:ext cx="7366000" cy="3302000"/>
          </a:xfrm>
          <a:prstGeom prst="rect">
            <a:avLst/>
          </a:prstGeom>
          <a:solidFill>
            <a:srgbClr val="1A1D23"/>
          </a:solidFill>
          <a:ln/>
        </p:spPr>
      </p:sp>
      <p:sp>
        <p:nvSpPr>
          <p:cNvPr id="24" name="Text 22"/>
          <p:cNvSpPr/>
          <p:nvPr/>
        </p:nvSpPr>
        <p:spPr>
          <a:xfrm>
            <a:off x="1016000" y="5181600"/>
            <a:ext cx="6350000" cy="3302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DEFAULT PROJECT FOLDERS</a:t>
            </a:r>
            <a:endParaRPr lang="en-US" sz="1600" dirty="0"/>
          </a:p>
        </p:txBody>
      </p:sp>
      <p:sp>
        <p:nvSpPr>
          <p:cNvPr id="25" name="Text 23"/>
          <p:cNvSpPr/>
          <p:nvPr/>
        </p:nvSpPr>
        <p:spPr>
          <a:xfrm>
            <a:off x="1016000" y="5588000"/>
            <a:ext cx="6858000" cy="25400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Assets/</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 all your game files live here</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Packages/</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 dependencies and plugins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ProjectSettings/</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 configuration files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Library/</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 auto-generated cache (don't edit)</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Logs/</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 editor log files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Temp/</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 temporary files (don't edit)</a:t>
            </a:r>
            <a:endParaRPr lang="en-US" sz="1600" dirty="0"/>
          </a:p>
        </p:txBody>
      </p:sp>
      <p:pic>
        <p:nvPicPr>
          <p:cNvPr id="26" name="Image 0" descr="https://kimi-img.moonshot.cn/pub/slides/okc/3rhuirp567422/mnt/agents/output/game-programming-week2/images/6_Unity_Game_Engine_2025_Ultimate_Features.png">    </p:cNvPr>
          <p:cNvPicPr>
            <a:picLocks noChangeAspect="1"/>
          </p:cNvPicPr>
          <p:nvPr/>
        </p:nvPicPr>
        <p:blipFill>
          <a:blip r:embed="rId1"/>
          <a:srcRect l="24860" r="24860" t="0" b="0"/>
          <a:stretch/>
        </p:blipFill>
        <p:spPr>
          <a:xfrm>
            <a:off x="8636000" y="1498600"/>
            <a:ext cx="6858000" cy="6819900"/>
          </a:xfrm>
          <a:prstGeom prst="roundRect">
            <a:avLst>
              <a:gd name="adj" fmla="val 5000"/>
            </a:avLst>
          </a:prstGeom>
        </p:spPr>
      </p:pic>
      <p:sp>
        <p:nvSpPr>
          <p:cNvPr id="27" name="Shape 24"/>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Understanding Project Templates</a:t>
            </a:r>
            <a:endParaRPr lang="en-US" sz="2800" dirty="0"/>
          </a:p>
        </p:txBody>
      </p:sp>
      <p:sp>
        <p:nvSpPr>
          <p:cNvPr id="4" name="Shape 2"/>
          <p:cNvSpPr/>
          <p:nvPr/>
        </p:nvSpPr>
        <p:spPr>
          <a:xfrm>
            <a:off x="762000" y="1206500"/>
            <a:ext cx="762000" cy="50800"/>
          </a:xfrm>
          <a:prstGeom prst="rect">
            <a:avLst/>
          </a:prstGeom>
          <a:solidFill>
            <a:srgbClr val="FF6B35"/>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62000" y="1524000"/>
          <a:ext cx="14732000" cy="3937000"/>
        </p:xfrm>
        <a:graphic>
          <a:graphicData uri="http://schemas.openxmlformats.org/drawingml/2006/table">
            <a:tbl>
              <a:tblPr/>
              <a:tblGrid>
                <a:gridCol w="3241040"/>
                <a:gridCol w="4419600"/>
                <a:gridCol w="7071360"/>
              </a:tblGrid>
              <a:tr h="635000">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Template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1A1D23"/>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Best For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1A1D23"/>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Description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1A1D23"/>
                    </a:solidFill>
                  </a:tcPr>
                </a:tc>
              </a:tr>
              <a:tr h="660400">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3D (Built-in)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Learning, general 3D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Standard 3D using Unity's legacy renderer — our course choice for straightforward learning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r>
              <a:tr h="660400">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3D (URP)</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Performance, multi-platform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Universal Render Pipeline — optimized graphics that work well across all platforms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r>
              <a:tr h="660400">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3D (HDRP)</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AAA, PC/Console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High Definition Render Pipeline — photorealistic graphics for high-end hardware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r>
              <a:tr h="660400">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2D (Built-in)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2D games, sprites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2D games using sprites, tilemaps, and 2D physics — ideal for platformers and puzzlers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5F6F8"/>
                    </a:solidFill>
                  </a:tcPr>
                </a:tc>
              </a:tr>
              <a:tr h="660400">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2D (URP)</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2D with modern rendering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c>
                  <a:txBody>
                    <a:bodyPr/>
                    <a:lstStyle/>
                    <a:p>
                      <a:pPr algn="l"/>
                      <a:r>
                        <a:rPr lang="en-US" sz="1600" u="none" dirty="0">
                          <a:solidFill>
                            <a:srgbClr val="1E2328"/>
                          </a:solidFill>
                          <a:latin typeface="QuattrocentoSans" pitchFamily="34" charset="0"/>
                          <a:ea typeface="QuattrocentoSans" pitchFamily="34" charset="-122"/>
                          <a:cs typeface="QuattrocentoSans" pitchFamily="34" charset="-120"/>
                        </a:rPr>
                        <a:t>2D projects with the Universal Render Pipeline for better performance and effects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8EAED"/>
                      </a:solidFill>
                      <a:prstDash val="solid"/>
                      <a:round/>
                      <a:headEnd type="none" w="med" len="med"/>
                      <a:tailEnd type="none" w="med" len="med"/>
                    </a:lnL>
                    <a:lnR w="12700" cap="flat" cmpd="sng" algn="ctr">
                      <a:solidFill>
                        <a:srgbClr val="E8EAED"/>
                      </a:solidFill>
                      <a:prstDash val="solid"/>
                      <a:round/>
                      <a:headEnd type="none" w="med" len="med"/>
                      <a:tailEnd type="none" w="med" len="med"/>
                    </a:lnR>
                    <a:lnT w="12700" cap="flat" cmpd="sng" algn="ctr">
                      <a:solidFill>
                        <a:srgbClr val="E8EAED"/>
                      </a:solidFill>
                      <a:prstDash val="solid"/>
                      <a:round/>
                      <a:headEnd type="none" w="med" len="med"/>
                      <a:tailEnd type="none" w="med" len="med"/>
                    </a:lnT>
                    <a:lnB w="12700" cap="flat" cmpd="sng" algn="ctr">
                      <a:solidFill>
                        <a:srgbClr val="E8EAED"/>
                      </a:solidFill>
                      <a:prstDash val="solid"/>
                      <a:round/>
                      <a:headEnd type="none" w="med" len="med"/>
                      <a:tailEnd type="none" w="med" len="med"/>
                    </a:lnB>
                    <a:solidFill>
                      <a:srgbClr val="FFFFFF"/>
                    </a:solidFill>
                  </a:tcPr>
                </a:tc>
              </a:tr>
            </a:tbl>
          </a:graphicData>
        </a:graphic>
      </p:graphicFrame>
      <p:sp>
        <p:nvSpPr>
          <p:cNvPr id="6" name="Shape 3"/>
          <p:cNvSpPr/>
          <p:nvPr/>
        </p:nvSpPr>
        <p:spPr>
          <a:xfrm>
            <a:off x="762000" y="5778500"/>
            <a:ext cx="14732000" cy="2540000"/>
          </a:xfrm>
          <a:prstGeom prst="rect">
            <a:avLst/>
          </a:prstGeom>
          <a:solidFill>
            <a:srgbClr val="1A1D23"/>
          </a:solidFill>
          <a:ln/>
        </p:spPr>
      </p:sp>
      <p:sp>
        <p:nvSpPr>
          <p:cNvPr id="7" name="Shape 4"/>
          <p:cNvSpPr/>
          <p:nvPr/>
        </p:nvSpPr>
        <p:spPr>
          <a:xfrm>
            <a:off x="1044575" y="6032500"/>
            <a:ext cx="400050" cy="355600"/>
          </a:xfrm>
          <a:custGeom>
            <a:avLst/>
            <a:gdLst/>
            <a:ahLst/>
            <a:cxnLst/>
            <a:rect l="l" t="t" r="r" b="b"/>
            <a:pathLst>
              <a:path w="400050" h="355600">
                <a:moveTo>
                  <a:pt x="214957" y="-13127"/>
                </a:moveTo>
                <a:cubicBezTo>
                  <a:pt x="212110" y="-18683"/>
                  <a:pt x="206345" y="-22225"/>
                  <a:pt x="200094" y="-22225"/>
                </a:cubicBezTo>
                <a:cubicBezTo>
                  <a:pt x="193844" y="-22225"/>
                  <a:pt x="188079" y="-18683"/>
                  <a:pt x="185231" y="-13127"/>
                </a:cubicBezTo>
                <a:lnTo>
                  <a:pt x="134114" y="87025"/>
                </a:lnTo>
                <a:lnTo>
                  <a:pt x="23058" y="104666"/>
                </a:lnTo>
                <a:cubicBezTo>
                  <a:pt x="16877" y="105638"/>
                  <a:pt x="11738" y="110014"/>
                  <a:pt x="9793" y="115987"/>
                </a:cubicBezTo>
                <a:cubicBezTo>
                  <a:pt x="7848" y="121960"/>
                  <a:pt x="9446" y="128488"/>
                  <a:pt x="13821" y="132933"/>
                </a:cubicBezTo>
                <a:lnTo>
                  <a:pt x="93276" y="212457"/>
                </a:lnTo>
                <a:lnTo>
                  <a:pt x="75773" y="323513"/>
                </a:lnTo>
                <a:cubicBezTo>
                  <a:pt x="74801" y="329694"/>
                  <a:pt x="77371" y="335945"/>
                  <a:pt x="82441" y="339626"/>
                </a:cubicBezTo>
                <a:cubicBezTo>
                  <a:pt x="87511" y="343307"/>
                  <a:pt x="94178" y="343862"/>
                  <a:pt x="99804" y="341015"/>
                </a:cubicBezTo>
                <a:lnTo>
                  <a:pt x="200094" y="290036"/>
                </a:lnTo>
                <a:lnTo>
                  <a:pt x="300315" y="341015"/>
                </a:lnTo>
                <a:cubicBezTo>
                  <a:pt x="305872" y="343862"/>
                  <a:pt x="312609" y="343307"/>
                  <a:pt x="317679" y="339626"/>
                </a:cubicBezTo>
                <a:cubicBezTo>
                  <a:pt x="322749" y="335945"/>
                  <a:pt x="325318" y="329763"/>
                  <a:pt x="324346" y="323513"/>
                </a:cubicBezTo>
                <a:lnTo>
                  <a:pt x="306774" y="212457"/>
                </a:lnTo>
                <a:lnTo>
                  <a:pt x="386229" y="132933"/>
                </a:lnTo>
                <a:cubicBezTo>
                  <a:pt x="390674" y="128488"/>
                  <a:pt x="392202" y="121960"/>
                  <a:pt x="390257" y="115987"/>
                </a:cubicBezTo>
                <a:cubicBezTo>
                  <a:pt x="388312" y="110014"/>
                  <a:pt x="383242" y="105638"/>
                  <a:pt x="376992" y="104666"/>
                </a:cubicBezTo>
                <a:lnTo>
                  <a:pt x="266005" y="87025"/>
                </a:lnTo>
                <a:lnTo>
                  <a:pt x="214957" y="-13127"/>
                </a:lnTo>
                <a:close/>
              </a:path>
            </a:pathLst>
          </a:custGeom>
          <a:solidFill>
            <a:srgbClr val="FF6B35"/>
          </a:solidFill>
          <a:ln/>
        </p:spPr>
      </p:sp>
      <p:sp>
        <p:nvSpPr>
          <p:cNvPr id="8" name="Text 5"/>
          <p:cNvSpPr/>
          <p:nvPr/>
        </p:nvSpPr>
        <p:spPr>
          <a:xfrm>
            <a:off x="1549400" y="6032500"/>
            <a:ext cx="3810000" cy="3556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OUR COURSE CHOICE</a:t>
            </a:r>
            <a:endParaRPr lang="en-US" sz="1600" dirty="0"/>
          </a:p>
        </p:txBody>
      </p:sp>
      <p:sp>
        <p:nvSpPr>
          <p:cNvPr id="9" name="Text 6"/>
          <p:cNvSpPr/>
          <p:nvPr/>
        </p:nvSpPr>
        <p:spPr>
          <a:xfrm>
            <a:off x="1066800" y="6540500"/>
            <a:ext cx="7620000" cy="406400"/>
          </a:xfrm>
          <a:prstGeom prst="rect">
            <a:avLst/>
          </a:prstGeom>
          <a:noFill/>
          <a:ln/>
        </p:spPr>
        <p:txBody>
          <a:bodyPr wrap="none" lIns="0" tIns="0" rIns="0" bIns="0" rtlCol="0" anchor="ctr"/>
          <a:lstStyle/>
          <a:p>
            <a:pPr>
              <a:lnSpc>
                <a:spcPct val="100000"/>
              </a:lnSpc>
            </a:pPr>
            <a:r>
              <a:rPr lang="en-US" sz="2200" dirty="0">
                <a:solidFill>
                  <a:srgbClr val="FFFFFF"/>
                </a:solidFill>
                <a:latin typeface="Liter" pitchFamily="34" charset="0"/>
                <a:ea typeface="Liter" pitchFamily="34" charset="-122"/>
                <a:cs typeface="Liter" pitchFamily="34" charset="-120"/>
              </a:rPr>
              <a:t>3D (Built-in Render Pipeline)</a:t>
            </a:r>
            <a:endParaRPr lang="en-US" sz="1600" dirty="0"/>
          </a:p>
        </p:txBody>
      </p:sp>
      <p:sp>
        <p:nvSpPr>
          <p:cNvPr id="10" name="Text 7"/>
          <p:cNvSpPr/>
          <p:nvPr/>
        </p:nvSpPr>
        <p:spPr>
          <a:xfrm>
            <a:off x="1066800" y="6985000"/>
            <a:ext cx="14097000" cy="1270000"/>
          </a:xfrm>
          <a:prstGeom prst="rect">
            <a:avLst/>
          </a:prstGeom>
          <a:noFill/>
          <a:ln/>
        </p:spPr>
        <p:txBody>
          <a:bodyPr wrap="square" lIns="0" tIns="0" rIns="0" bIns="0" rtlCol="0" anchor="t"/>
          <a:lstStyle/>
          <a:p>
            <a:pPr>
              <a:lnSpc>
                <a:spcPct val="160000"/>
              </a:lnSpc>
            </a:pPr>
            <a:r>
              <a:rPr lang="en-US" sz="1600" dirty="0">
                <a:solidFill>
                  <a:srgbClr val="A0A5AD"/>
                </a:solidFill>
                <a:latin typeface="Quattrocento Sans" pitchFamily="34" charset="0"/>
                <a:ea typeface="Quattrocento Sans" pitchFamily="34" charset="-122"/>
                <a:cs typeface="Quattrocento Sans" pitchFamily="34" charset="-120"/>
              </a:rPr>
              <a:t>We use the </a:t>
            </a:r>
            <a:pPr>
              <a:lnSpc>
                <a:spcPct val="160000"/>
              </a:lnSpc>
            </a:pPr>
            <a:r>
              <a:rPr lang="en-US" sz="1600" b="1" dirty="0">
                <a:solidFill>
                  <a:srgbClr val="A0A5AD"/>
                </a:solidFill>
                <a:latin typeface="Quattrocento Sans" pitchFamily="34" charset="0"/>
                <a:ea typeface="Quattrocento Sans" pitchFamily="34" charset="-122"/>
                <a:cs typeface="Quattrocento Sans" pitchFamily="34" charset="-120"/>
              </a:rPr>
              <a:t>3D Built-in</a:t>
            </a:r>
            <a:pPr>
              <a:lnSpc>
                <a:spcPct val="160000"/>
              </a:lnSpc>
            </a:pPr>
            <a:r>
              <a:rPr lang="en-US" sz="1600" dirty="0">
                <a:solidFill>
                  <a:srgbClr val="A0A5AD"/>
                </a:solidFill>
                <a:latin typeface="Quattrocento Sans" pitchFamily="34" charset="0"/>
                <a:ea typeface="Quattrocento Sans" pitchFamily="34" charset="-122"/>
                <a:cs typeface="Quattrocento Sans" pitchFamily="34" charset="-120"/>
              </a:rPr>
              <a:t> template because it provides the most straightforward learning experience. It has the simplest setup, widest compatibility with tutorials, and teaches core 3D concepts without the complexity of custom render pipelines. Once you master the basics, transitioning to URP or HDRP is easy.</a:t>
            </a:r>
            <a:endParaRPr lang="en-US" sz="1600" dirty="0"/>
          </a:p>
        </p:txBody>
      </p:sp>
      <p:sp>
        <p:nvSpPr>
          <p:cNvPr id="11" name="Shape 8"/>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Downloading Project Assets</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Text 3"/>
          <p:cNvSpPr/>
          <p:nvPr/>
        </p:nvSpPr>
        <p:spPr>
          <a:xfrm>
            <a:off x="762000" y="1460500"/>
            <a:ext cx="14732000" cy="3810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For the Solar System project, you will need planetary textures and visual assets. Here are the main sources:</a:t>
            </a:r>
            <a:endParaRPr lang="en-US" sz="1800" dirty="0"/>
          </a:p>
        </p:txBody>
      </p:sp>
      <p:sp>
        <p:nvSpPr>
          <p:cNvPr id="6" name="Shape 4"/>
          <p:cNvSpPr/>
          <p:nvPr/>
        </p:nvSpPr>
        <p:spPr>
          <a:xfrm>
            <a:off x="762000" y="2095500"/>
            <a:ext cx="7175500" cy="1524000"/>
          </a:xfrm>
          <a:prstGeom prst="rect">
            <a:avLst/>
          </a:prstGeom>
          <a:solidFill>
            <a:srgbClr val="FFFFFF"/>
          </a:solidFill>
          <a:ln w="12700">
            <a:solidFill>
              <a:srgbClr val="E8EAED"/>
            </a:solidFill>
            <a:prstDash val="solid"/>
          </a:ln>
        </p:spPr>
      </p:sp>
      <p:sp>
        <p:nvSpPr>
          <p:cNvPr id="7" name="Shape 5"/>
          <p:cNvSpPr/>
          <p:nvPr/>
        </p:nvSpPr>
        <p:spPr>
          <a:xfrm>
            <a:off x="762000" y="2095500"/>
            <a:ext cx="50800" cy="1524000"/>
          </a:xfrm>
          <a:prstGeom prst="rect">
            <a:avLst/>
          </a:prstGeom>
          <a:solidFill>
            <a:srgbClr val="FF6B35"/>
          </a:solidFill>
          <a:ln/>
        </p:spPr>
      </p:sp>
      <p:sp>
        <p:nvSpPr>
          <p:cNvPr id="8" name="Shape 6"/>
          <p:cNvSpPr/>
          <p:nvPr/>
        </p:nvSpPr>
        <p:spPr>
          <a:xfrm>
            <a:off x="1016000" y="2260600"/>
            <a:ext cx="304800" cy="304800"/>
          </a:xfrm>
          <a:custGeom>
            <a:avLst/>
            <a:gdLst/>
            <a:ahLst/>
            <a:cxnLst/>
            <a:rect l="l" t="t" r="r" b="b"/>
            <a:pathLst>
              <a:path w="304800" h="304800">
                <a:moveTo>
                  <a:pt x="18276" y="43041"/>
                </a:moveTo>
                <a:cubicBezTo>
                  <a:pt x="22384" y="28813"/>
                  <a:pt x="35421" y="19050"/>
                  <a:pt x="50244" y="19050"/>
                </a:cubicBezTo>
                <a:lnTo>
                  <a:pt x="255032" y="19050"/>
                </a:lnTo>
                <a:cubicBezTo>
                  <a:pt x="269855" y="19050"/>
                  <a:pt x="282892" y="28813"/>
                  <a:pt x="287060" y="43041"/>
                </a:cubicBezTo>
                <a:lnTo>
                  <a:pt x="300990" y="90785"/>
                </a:lnTo>
                <a:cubicBezTo>
                  <a:pt x="308610" y="116800"/>
                  <a:pt x="289024" y="142875"/>
                  <a:pt x="261937" y="142875"/>
                </a:cubicBezTo>
                <a:cubicBezTo>
                  <a:pt x="246281" y="142875"/>
                  <a:pt x="232529" y="134005"/>
                  <a:pt x="225743" y="120789"/>
                </a:cubicBezTo>
                <a:cubicBezTo>
                  <a:pt x="218837" y="133826"/>
                  <a:pt x="205145" y="142875"/>
                  <a:pt x="189190" y="142875"/>
                </a:cubicBezTo>
                <a:cubicBezTo>
                  <a:pt x="173355" y="142875"/>
                  <a:pt x="159603" y="133945"/>
                  <a:pt x="152698" y="120848"/>
                </a:cubicBezTo>
                <a:cubicBezTo>
                  <a:pt x="145792" y="133945"/>
                  <a:pt x="132040" y="142875"/>
                  <a:pt x="116205" y="142875"/>
                </a:cubicBezTo>
                <a:cubicBezTo>
                  <a:pt x="100251" y="142875"/>
                  <a:pt x="86558" y="133886"/>
                  <a:pt x="79653" y="120789"/>
                </a:cubicBezTo>
                <a:cubicBezTo>
                  <a:pt x="72866" y="133945"/>
                  <a:pt x="59115" y="142875"/>
                  <a:pt x="43458" y="142875"/>
                </a:cubicBezTo>
                <a:cubicBezTo>
                  <a:pt x="16312" y="142875"/>
                  <a:pt x="-3215" y="116860"/>
                  <a:pt x="4405" y="90785"/>
                </a:cubicBezTo>
                <a:lnTo>
                  <a:pt x="18276" y="43041"/>
                </a:lnTo>
                <a:close/>
                <a:moveTo>
                  <a:pt x="57388" y="209550"/>
                </a:moveTo>
                <a:lnTo>
                  <a:pt x="247888" y="209550"/>
                </a:lnTo>
                <a:lnTo>
                  <a:pt x="247888" y="170021"/>
                </a:lnTo>
                <a:cubicBezTo>
                  <a:pt x="252413" y="170974"/>
                  <a:pt x="257115" y="171450"/>
                  <a:pt x="261878" y="171450"/>
                </a:cubicBezTo>
                <a:cubicBezTo>
                  <a:pt x="270391" y="171450"/>
                  <a:pt x="278547" y="169902"/>
                  <a:pt x="285988" y="167164"/>
                </a:cubicBezTo>
                <a:lnTo>
                  <a:pt x="285988" y="257175"/>
                </a:lnTo>
                <a:cubicBezTo>
                  <a:pt x="285988" y="272951"/>
                  <a:pt x="273189" y="285750"/>
                  <a:pt x="257413" y="285750"/>
                </a:cubicBezTo>
                <a:lnTo>
                  <a:pt x="47863" y="285750"/>
                </a:lnTo>
                <a:cubicBezTo>
                  <a:pt x="32087" y="285750"/>
                  <a:pt x="19288" y="272951"/>
                  <a:pt x="19288" y="257175"/>
                </a:cubicBezTo>
                <a:lnTo>
                  <a:pt x="19288" y="167164"/>
                </a:lnTo>
                <a:cubicBezTo>
                  <a:pt x="26730" y="169902"/>
                  <a:pt x="34826" y="171450"/>
                  <a:pt x="43398" y="171450"/>
                </a:cubicBezTo>
                <a:cubicBezTo>
                  <a:pt x="48220" y="171450"/>
                  <a:pt x="52864" y="170974"/>
                  <a:pt x="57388" y="170021"/>
                </a:cubicBezTo>
                <a:lnTo>
                  <a:pt x="57388" y="209550"/>
                </a:lnTo>
                <a:close/>
              </a:path>
            </a:pathLst>
          </a:custGeom>
          <a:solidFill>
            <a:srgbClr val="FF6B35"/>
          </a:solidFill>
          <a:ln/>
        </p:spPr>
      </p:sp>
      <p:sp>
        <p:nvSpPr>
          <p:cNvPr id="9" name="Text 7"/>
          <p:cNvSpPr/>
          <p:nvPr/>
        </p:nvSpPr>
        <p:spPr>
          <a:xfrm>
            <a:off x="1447800" y="2235200"/>
            <a:ext cx="6223000" cy="330200"/>
          </a:xfrm>
          <a:prstGeom prst="rect">
            <a:avLst/>
          </a:prstGeom>
          <a:noFill/>
          <a:ln/>
        </p:spPr>
        <p:txBody>
          <a:bodyPr wrap="none" lIns="0" tIns="0" rIns="0" bIns="0" rtlCol="0" anchor="ctr"/>
          <a:lstStyle/>
          <a:p>
            <a:pPr>
              <a:lnSpc>
                <a:spcPct val="100000"/>
              </a:lnSpc>
            </a:pPr>
            <a:r>
              <a:rPr lang="en-US" sz="1700" dirty="0">
                <a:solidFill>
                  <a:srgbClr val="1A1D23"/>
                </a:solidFill>
                <a:latin typeface="Liter" pitchFamily="34" charset="0"/>
                <a:ea typeface="Liter" pitchFamily="34" charset="-122"/>
                <a:cs typeface="Liter" pitchFamily="34" charset="-120"/>
              </a:rPr>
              <a:t>Unity Asset Store</a:t>
            </a:r>
            <a:endParaRPr lang="en-US" sz="1600" dirty="0"/>
          </a:p>
        </p:txBody>
      </p:sp>
      <p:sp>
        <p:nvSpPr>
          <p:cNvPr id="10" name="Text 8"/>
          <p:cNvSpPr/>
          <p:nvPr/>
        </p:nvSpPr>
        <p:spPr>
          <a:xfrm>
            <a:off x="1016000" y="2667000"/>
            <a:ext cx="6667500" cy="762000"/>
          </a:xfrm>
          <a:prstGeom prst="rect">
            <a:avLst/>
          </a:prstGeom>
          <a:noFill/>
          <a:ln/>
        </p:spPr>
        <p:txBody>
          <a:bodyPr wrap="square" lIns="0" tIns="0" rIns="0" bIns="0" rtlCol="0" anchor="t"/>
          <a:lstStyle/>
          <a:p>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Built into Unity. Thousands of free and paid assets including space textures, planet models, and skyboxes.</a:t>
            </a:r>
            <a:endParaRPr lang="en-US" sz="1600" dirty="0"/>
          </a:p>
        </p:txBody>
      </p:sp>
      <p:sp>
        <p:nvSpPr>
          <p:cNvPr id="11" name="Shape 9"/>
          <p:cNvSpPr/>
          <p:nvPr/>
        </p:nvSpPr>
        <p:spPr>
          <a:xfrm>
            <a:off x="8318500" y="2095500"/>
            <a:ext cx="7175500" cy="1524000"/>
          </a:xfrm>
          <a:prstGeom prst="rect">
            <a:avLst/>
          </a:prstGeom>
          <a:solidFill>
            <a:srgbClr val="FFFFFF"/>
          </a:solidFill>
          <a:ln w="12700">
            <a:solidFill>
              <a:srgbClr val="E8EAED"/>
            </a:solidFill>
            <a:prstDash val="solid"/>
          </a:ln>
        </p:spPr>
      </p:sp>
      <p:sp>
        <p:nvSpPr>
          <p:cNvPr id="12" name="Shape 10"/>
          <p:cNvSpPr/>
          <p:nvPr/>
        </p:nvSpPr>
        <p:spPr>
          <a:xfrm>
            <a:off x="8318500" y="2095500"/>
            <a:ext cx="50800" cy="1524000"/>
          </a:xfrm>
          <a:prstGeom prst="rect">
            <a:avLst/>
          </a:prstGeom>
          <a:solidFill>
            <a:srgbClr val="FF6B35"/>
          </a:solidFill>
          <a:ln/>
        </p:spPr>
      </p:sp>
      <p:sp>
        <p:nvSpPr>
          <p:cNvPr id="13" name="Shape 11"/>
          <p:cNvSpPr/>
          <p:nvPr/>
        </p:nvSpPr>
        <p:spPr>
          <a:xfrm>
            <a:off x="8572500" y="2260600"/>
            <a:ext cx="304800" cy="304800"/>
          </a:xfrm>
          <a:custGeom>
            <a:avLst/>
            <a:gdLst/>
            <a:ahLst/>
            <a:cxnLst/>
            <a:rect l="l" t="t" r="r" b="b"/>
            <a:pathLst>
              <a:path w="304800" h="304800">
                <a:moveTo>
                  <a:pt x="76200" y="190500"/>
                </a:moveTo>
                <a:lnTo>
                  <a:pt x="14585" y="190500"/>
                </a:lnTo>
                <a:cubicBezTo>
                  <a:pt x="-238" y="190500"/>
                  <a:pt x="-9346" y="174367"/>
                  <a:pt x="-1726" y="161627"/>
                </a:cubicBezTo>
                <a:lnTo>
                  <a:pt x="29766" y="109121"/>
                </a:lnTo>
                <a:cubicBezTo>
                  <a:pt x="34945" y="100489"/>
                  <a:pt x="44232" y="95250"/>
                  <a:pt x="54293" y="95250"/>
                </a:cubicBezTo>
                <a:lnTo>
                  <a:pt x="110847" y="95250"/>
                </a:lnTo>
                <a:cubicBezTo>
                  <a:pt x="156150" y="18514"/>
                  <a:pt x="223718" y="14645"/>
                  <a:pt x="268903" y="21253"/>
                </a:cubicBezTo>
                <a:cubicBezTo>
                  <a:pt x="276523" y="22384"/>
                  <a:pt x="282476" y="28337"/>
                  <a:pt x="283547" y="35897"/>
                </a:cubicBezTo>
                <a:cubicBezTo>
                  <a:pt x="290155" y="81082"/>
                  <a:pt x="286286" y="148650"/>
                  <a:pt x="209550" y="193953"/>
                </a:cubicBezTo>
                <a:lnTo>
                  <a:pt x="209550" y="250508"/>
                </a:lnTo>
                <a:cubicBezTo>
                  <a:pt x="209550" y="260568"/>
                  <a:pt x="204311" y="269855"/>
                  <a:pt x="195679" y="275034"/>
                </a:cubicBezTo>
                <a:lnTo>
                  <a:pt x="143173" y="306526"/>
                </a:lnTo>
                <a:cubicBezTo>
                  <a:pt x="130493" y="314146"/>
                  <a:pt x="114300" y="304979"/>
                  <a:pt x="114300" y="290215"/>
                </a:cubicBezTo>
                <a:lnTo>
                  <a:pt x="114300" y="228600"/>
                </a:lnTo>
                <a:cubicBezTo>
                  <a:pt x="114300" y="207585"/>
                  <a:pt x="97215" y="190500"/>
                  <a:pt x="76200" y="190500"/>
                </a:cubicBezTo>
                <a:lnTo>
                  <a:pt x="76140" y="190500"/>
                </a:lnTo>
                <a:close/>
                <a:moveTo>
                  <a:pt x="238125" y="95250"/>
                </a:moveTo>
                <a:cubicBezTo>
                  <a:pt x="238125" y="79479"/>
                  <a:pt x="225321" y="66675"/>
                  <a:pt x="209550" y="66675"/>
                </a:cubicBezTo>
                <a:cubicBezTo>
                  <a:pt x="193779" y="66675"/>
                  <a:pt x="180975" y="79479"/>
                  <a:pt x="180975" y="95250"/>
                </a:cubicBezTo>
                <a:cubicBezTo>
                  <a:pt x="180975" y="111021"/>
                  <a:pt x="193779" y="123825"/>
                  <a:pt x="209550" y="123825"/>
                </a:cubicBezTo>
                <a:cubicBezTo>
                  <a:pt x="225321" y="123825"/>
                  <a:pt x="238125" y="111021"/>
                  <a:pt x="238125" y="95250"/>
                </a:cubicBezTo>
                <a:close/>
              </a:path>
            </a:pathLst>
          </a:custGeom>
          <a:solidFill>
            <a:srgbClr val="FF6B35"/>
          </a:solidFill>
          <a:ln/>
        </p:spPr>
      </p:sp>
      <p:sp>
        <p:nvSpPr>
          <p:cNvPr id="14" name="Text 12"/>
          <p:cNvSpPr/>
          <p:nvPr/>
        </p:nvSpPr>
        <p:spPr>
          <a:xfrm>
            <a:off x="9004300" y="2235200"/>
            <a:ext cx="6223000" cy="330200"/>
          </a:xfrm>
          <a:prstGeom prst="rect">
            <a:avLst/>
          </a:prstGeom>
          <a:noFill/>
          <a:ln/>
        </p:spPr>
        <p:txBody>
          <a:bodyPr wrap="none" lIns="0" tIns="0" rIns="0" bIns="0" rtlCol="0" anchor="ctr"/>
          <a:lstStyle/>
          <a:p>
            <a:pPr>
              <a:lnSpc>
                <a:spcPct val="100000"/>
              </a:lnSpc>
            </a:pPr>
            <a:r>
              <a:rPr lang="en-US" sz="1700" dirty="0">
                <a:solidFill>
                  <a:srgbClr val="1A1D23"/>
                </a:solidFill>
                <a:latin typeface="Liter" pitchFamily="34" charset="0"/>
                <a:ea typeface="Liter" pitchFamily="34" charset="-122"/>
                <a:cs typeface="Liter" pitchFamily="34" charset="-120"/>
              </a:rPr>
              <a:t>NASA 3D Resources</a:t>
            </a:r>
            <a:endParaRPr lang="en-US" sz="1600" dirty="0"/>
          </a:p>
        </p:txBody>
      </p:sp>
      <p:sp>
        <p:nvSpPr>
          <p:cNvPr id="15" name="Text 13"/>
          <p:cNvSpPr/>
          <p:nvPr/>
        </p:nvSpPr>
        <p:spPr>
          <a:xfrm>
            <a:off x="8572500" y="2667000"/>
            <a:ext cx="6667500" cy="762000"/>
          </a:xfrm>
          <a:prstGeom prst="rect">
            <a:avLst/>
          </a:prstGeom>
          <a:noFill/>
          <a:ln/>
        </p:spPr>
        <p:txBody>
          <a:bodyPr wrap="square" lIns="0" tIns="0" rIns="0" bIns="0" rtlCol="0" anchor="t"/>
          <a:lstStyle/>
          <a:p>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Publicly available space textures and 3D models from NASA. Visit </a:t>
            </a:r>
            <a:pPr>
              <a:lnSpc>
                <a:spcPct val="150000"/>
              </a:lnSpc>
            </a:pPr>
            <a:r>
              <a:rPr lang="en-US" sz="1400" u="sng" dirty="0">
                <a:solidFill>
                  <a:srgbClr val="1E2328"/>
                </a:solidFill>
                <a:latin typeface="Quattrocento Sans" pitchFamily="34" charset="0"/>
                <a:ea typeface="Quattrocento Sans" pitchFamily="34" charset="-122"/>
                <a:cs typeface="Quattrocento Sans" pitchFamily="34" charset="-120"/>
                <a:hlinkClick r:id="rId1" tooltip="" action="ppaction://hlinkfile">
                  <a:extLst>
                    <a:ext uri="{A12FA001-AC4F-418D-AE19-62706E023703}">
                      <ahyp:hlinkClr xmlns:ahyp="http://schemas.microsoft.com/office/drawing/2018/hyperlinkcolor" val="tx"/>
                    </a:ext>
                  </a:extLst>
                </a:hlinkClick>
              </a:rPr>
              <a:t>nasa3d.arc.nasa.gov</a:t>
            </a:r>
            <a:endParaRPr lang="en-US" sz="1600" dirty="0"/>
          </a:p>
        </p:txBody>
      </p:sp>
      <p:sp>
        <p:nvSpPr>
          <p:cNvPr id="16" name="Shape 14"/>
          <p:cNvSpPr/>
          <p:nvPr/>
        </p:nvSpPr>
        <p:spPr>
          <a:xfrm>
            <a:off x="762000" y="3937000"/>
            <a:ext cx="7175500" cy="1524000"/>
          </a:xfrm>
          <a:prstGeom prst="rect">
            <a:avLst/>
          </a:prstGeom>
          <a:solidFill>
            <a:srgbClr val="FFFFFF"/>
          </a:solidFill>
          <a:ln w="12700">
            <a:solidFill>
              <a:srgbClr val="E8EAED"/>
            </a:solidFill>
            <a:prstDash val="solid"/>
          </a:ln>
        </p:spPr>
      </p:sp>
      <p:sp>
        <p:nvSpPr>
          <p:cNvPr id="17" name="Shape 15"/>
          <p:cNvSpPr/>
          <p:nvPr/>
        </p:nvSpPr>
        <p:spPr>
          <a:xfrm>
            <a:off x="762000" y="3937000"/>
            <a:ext cx="50800" cy="1524000"/>
          </a:xfrm>
          <a:prstGeom prst="rect">
            <a:avLst/>
          </a:prstGeom>
          <a:solidFill>
            <a:srgbClr val="FF6B35"/>
          </a:solidFill>
          <a:ln/>
        </p:spPr>
      </p:sp>
      <p:sp>
        <p:nvSpPr>
          <p:cNvPr id="18" name="Shape 16"/>
          <p:cNvSpPr/>
          <p:nvPr/>
        </p:nvSpPr>
        <p:spPr>
          <a:xfrm>
            <a:off x="1016000" y="4102100"/>
            <a:ext cx="304800" cy="304800"/>
          </a:xfrm>
          <a:custGeom>
            <a:avLst/>
            <a:gdLst/>
            <a:ahLst/>
            <a:cxnLst/>
            <a:rect l="l" t="t" r="r" b="b"/>
            <a:pathLst>
              <a:path w="304800" h="304800">
                <a:moveTo>
                  <a:pt x="191393" y="40957"/>
                </a:moveTo>
                <a:cubicBezTo>
                  <a:pt x="195917" y="33278"/>
                  <a:pt x="204133" y="28575"/>
                  <a:pt x="213003" y="28575"/>
                </a:cubicBezTo>
                <a:lnTo>
                  <a:pt x="214313" y="28575"/>
                </a:lnTo>
                <a:cubicBezTo>
                  <a:pt x="227469" y="28575"/>
                  <a:pt x="238125" y="39231"/>
                  <a:pt x="238125" y="52388"/>
                </a:cubicBezTo>
                <a:cubicBezTo>
                  <a:pt x="238125" y="65544"/>
                  <a:pt x="227469" y="76200"/>
                  <a:pt x="214313" y="76200"/>
                </a:cubicBezTo>
                <a:lnTo>
                  <a:pt x="170676" y="76200"/>
                </a:lnTo>
                <a:lnTo>
                  <a:pt x="191393" y="40957"/>
                </a:lnTo>
                <a:close/>
                <a:moveTo>
                  <a:pt x="113407" y="40957"/>
                </a:moveTo>
                <a:lnTo>
                  <a:pt x="134124" y="76200"/>
                </a:lnTo>
                <a:lnTo>
                  <a:pt x="90488" y="76200"/>
                </a:lnTo>
                <a:cubicBezTo>
                  <a:pt x="77331" y="76200"/>
                  <a:pt x="66675" y="65544"/>
                  <a:pt x="66675" y="52388"/>
                </a:cubicBezTo>
                <a:cubicBezTo>
                  <a:pt x="66675" y="39231"/>
                  <a:pt x="77331" y="28575"/>
                  <a:pt x="90488" y="28575"/>
                </a:cubicBezTo>
                <a:lnTo>
                  <a:pt x="91797" y="28575"/>
                </a:lnTo>
                <a:cubicBezTo>
                  <a:pt x="100667" y="28575"/>
                  <a:pt x="108942" y="33278"/>
                  <a:pt x="113407" y="40957"/>
                </a:cubicBezTo>
                <a:close/>
                <a:moveTo>
                  <a:pt x="166747" y="26491"/>
                </a:moveTo>
                <a:lnTo>
                  <a:pt x="152400" y="50899"/>
                </a:lnTo>
                <a:lnTo>
                  <a:pt x="138053" y="26491"/>
                </a:lnTo>
                <a:cubicBezTo>
                  <a:pt x="128409" y="10061"/>
                  <a:pt x="110788" y="0"/>
                  <a:pt x="91797" y="0"/>
                </a:cubicBezTo>
                <a:lnTo>
                  <a:pt x="90488" y="0"/>
                </a:lnTo>
                <a:cubicBezTo>
                  <a:pt x="61555" y="0"/>
                  <a:pt x="38100" y="23455"/>
                  <a:pt x="38100" y="52388"/>
                </a:cubicBezTo>
                <a:cubicBezTo>
                  <a:pt x="38100" y="60960"/>
                  <a:pt x="40184" y="69056"/>
                  <a:pt x="43815" y="76200"/>
                </a:cubicBezTo>
                <a:lnTo>
                  <a:pt x="19050" y="76200"/>
                </a:lnTo>
                <a:cubicBezTo>
                  <a:pt x="8513" y="76200"/>
                  <a:pt x="0" y="84713"/>
                  <a:pt x="0" y="95250"/>
                </a:cubicBezTo>
                <a:lnTo>
                  <a:pt x="0" y="114300"/>
                </a:lnTo>
                <a:cubicBezTo>
                  <a:pt x="0" y="124837"/>
                  <a:pt x="8513" y="133350"/>
                  <a:pt x="19050" y="133350"/>
                </a:cubicBezTo>
                <a:lnTo>
                  <a:pt x="285750" y="133350"/>
                </a:lnTo>
                <a:cubicBezTo>
                  <a:pt x="296287" y="133350"/>
                  <a:pt x="304800" y="124837"/>
                  <a:pt x="304800" y="114300"/>
                </a:cubicBezTo>
                <a:lnTo>
                  <a:pt x="304800" y="95250"/>
                </a:lnTo>
                <a:cubicBezTo>
                  <a:pt x="304800" y="84713"/>
                  <a:pt x="296287" y="76200"/>
                  <a:pt x="285750" y="76200"/>
                </a:cubicBezTo>
                <a:lnTo>
                  <a:pt x="260985" y="76200"/>
                </a:lnTo>
                <a:cubicBezTo>
                  <a:pt x="264616" y="69056"/>
                  <a:pt x="266700" y="60960"/>
                  <a:pt x="266700" y="52388"/>
                </a:cubicBezTo>
                <a:cubicBezTo>
                  <a:pt x="266700" y="23455"/>
                  <a:pt x="243245" y="0"/>
                  <a:pt x="214313" y="0"/>
                </a:cubicBezTo>
                <a:lnTo>
                  <a:pt x="213003" y="0"/>
                </a:lnTo>
                <a:cubicBezTo>
                  <a:pt x="194012" y="0"/>
                  <a:pt x="176391" y="10061"/>
                  <a:pt x="166747" y="26432"/>
                </a:cubicBezTo>
                <a:close/>
                <a:moveTo>
                  <a:pt x="285750" y="161925"/>
                </a:moveTo>
                <a:lnTo>
                  <a:pt x="166688" y="161925"/>
                </a:lnTo>
                <a:lnTo>
                  <a:pt x="166688" y="285750"/>
                </a:lnTo>
                <a:lnTo>
                  <a:pt x="247650" y="285750"/>
                </a:lnTo>
                <a:cubicBezTo>
                  <a:pt x="268665" y="285750"/>
                  <a:pt x="285750" y="268665"/>
                  <a:pt x="285750" y="247650"/>
                </a:cubicBezTo>
                <a:lnTo>
                  <a:pt x="285750" y="161925"/>
                </a:lnTo>
                <a:close/>
                <a:moveTo>
                  <a:pt x="138113" y="161925"/>
                </a:moveTo>
                <a:lnTo>
                  <a:pt x="19050" y="161925"/>
                </a:lnTo>
                <a:lnTo>
                  <a:pt x="19050" y="247650"/>
                </a:lnTo>
                <a:cubicBezTo>
                  <a:pt x="19050" y="268665"/>
                  <a:pt x="36135" y="285750"/>
                  <a:pt x="57150" y="285750"/>
                </a:cubicBezTo>
                <a:lnTo>
                  <a:pt x="138113" y="285750"/>
                </a:lnTo>
                <a:lnTo>
                  <a:pt x="138113" y="161925"/>
                </a:lnTo>
                <a:close/>
              </a:path>
            </a:pathLst>
          </a:custGeom>
          <a:solidFill>
            <a:srgbClr val="FF6B35"/>
          </a:solidFill>
          <a:ln/>
        </p:spPr>
      </p:sp>
      <p:sp>
        <p:nvSpPr>
          <p:cNvPr id="19" name="Text 17"/>
          <p:cNvSpPr/>
          <p:nvPr/>
        </p:nvSpPr>
        <p:spPr>
          <a:xfrm>
            <a:off x="1447800" y="4076700"/>
            <a:ext cx="6223000" cy="330200"/>
          </a:xfrm>
          <a:prstGeom prst="rect">
            <a:avLst/>
          </a:prstGeom>
          <a:noFill/>
          <a:ln/>
        </p:spPr>
        <p:txBody>
          <a:bodyPr wrap="none" lIns="0" tIns="0" rIns="0" bIns="0" rtlCol="0" anchor="ctr"/>
          <a:lstStyle/>
          <a:p>
            <a:pPr>
              <a:lnSpc>
                <a:spcPct val="100000"/>
              </a:lnSpc>
            </a:pPr>
            <a:r>
              <a:rPr lang="en-US" sz="1700" dirty="0">
                <a:solidFill>
                  <a:srgbClr val="1A1D23"/>
                </a:solidFill>
                <a:latin typeface="Liter" pitchFamily="34" charset="0"/>
                <a:ea typeface="Liter" pitchFamily="34" charset="-122"/>
                <a:cs typeface="Liter" pitchFamily="34" charset="-120"/>
              </a:rPr>
              <a:t>Kenney.nl</a:t>
            </a:r>
            <a:endParaRPr lang="en-US" sz="1600" dirty="0"/>
          </a:p>
        </p:txBody>
      </p:sp>
      <p:sp>
        <p:nvSpPr>
          <p:cNvPr id="20" name="Text 18"/>
          <p:cNvSpPr/>
          <p:nvPr/>
        </p:nvSpPr>
        <p:spPr>
          <a:xfrm>
            <a:off x="1016000" y="4508500"/>
            <a:ext cx="6667500" cy="762000"/>
          </a:xfrm>
          <a:prstGeom prst="rect">
            <a:avLst/>
          </a:prstGeom>
          <a:noFill/>
          <a:ln/>
        </p:spPr>
        <p:txBody>
          <a:bodyPr wrap="square" lIns="0" tIns="0" rIns="0" bIns="0" rtlCol="0" anchor="t"/>
          <a:lstStyle/>
          <a:p>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Free game assets including space-themed collections. CC0 license — use without attribution.</a:t>
            </a:r>
            <a:endParaRPr lang="en-US" sz="1600" dirty="0"/>
          </a:p>
        </p:txBody>
      </p:sp>
      <p:sp>
        <p:nvSpPr>
          <p:cNvPr id="21" name="Shape 19"/>
          <p:cNvSpPr/>
          <p:nvPr/>
        </p:nvSpPr>
        <p:spPr>
          <a:xfrm>
            <a:off x="8318500" y="3937000"/>
            <a:ext cx="7175500" cy="1524000"/>
          </a:xfrm>
          <a:prstGeom prst="rect">
            <a:avLst/>
          </a:prstGeom>
          <a:solidFill>
            <a:srgbClr val="FFFFFF"/>
          </a:solidFill>
          <a:ln w="12700">
            <a:solidFill>
              <a:srgbClr val="E8EAED"/>
            </a:solidFill>
            <a:prstDash val="solid"/>
          </a:ln>
        </p:spPr>
      </p:sp>
      <p:sp>
        <p:nvSpPr>
          <p:cNvPr id="22" name="Shape 20"/>
          <p:cNvSpPr/>
          <p:nvPr/>
        </p:nvSpPr>
        <p:spPr>
          <a:xfrm>
            <a:off x="8318500" y="3937000"/>
            <a:ext cx="50800" cy="1524000"/>
          </a:xfrm>
          <a:prstGeom prst="rect">
            <a:avLst/>
          </a:prstGeom>
          <a:solidFill>
            <a:srgbClr val="FF6B35"/>
          </a:solidFill>
          <a:ln/>
        </p:spPr>
      </p:sp>
      <p:sp>
        <p:nvSpPr>
          <p:cNvPr id="23" name="Shape 21"/>
          <p:cNvSpPr/>
          <p:nvPr/>
        </p:nvSpPr>
        <p:spPr>
          <a:xfrm>
            <a:off x="8572500" y="41021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FF6B35"/>
          </a:solidFill>
          <a:ln/>
        </p:spPr>
      </p:sp>
      <p:sp>
        <p:nvSpPr>
          <p:cNvPr id="24" name="Text 22"/>
          <p:cNvSpPr/>
          <p:nvPr/>
        </p:nvSpPr>
        <p:spPr>
          <a:xfrm>
            <a:off x="9004300" y="4076700"/>
            <a:ext cx="6223000" cy="330200"/>
          </a:xfrm>
          <a:prstGeom prst="rect">
            <a:avLst/>
          </a:prstGeom>
          <a:noFill/>
          <a:ln/>
        </p:spPr>
        <p:txBody>
          <a:bodyPr wrap="none" lIns="0" tIns="0" rIns="0" bIns="0" rtlCol="0" anchor="ctr"/>
          <a:lstStyle/>
          <a:p>
            <a:pPr>
              <a:lnSpc>
                <a:spcPct val="100000"/>
              </a:lnSpc>
            </a:pPr>
            <a:r>
              <a:rPr lang="en-US" sz="1700" dirty="0">
                <a:solidFill>
                  <a:srgbClr val="1A1D23"/>
                </a:solidFill>
                <a:latin typeface="Liter" pitchFamily="34" charset="0"/>
                <a:ea typeface="Liter" pitchFamily="34" charset="-122"/>
                <a:cs typeface="Liter" pitchFamily="34" charset="-120"/>
              </a:rPr>
              <a:t>OpenGameArt.org</a:t>
            </a:r>
            <a:endParaRPr lang="en-US" sz="1600" dirty="0"/>
          </a:p>
        </p:txBody>
      </p:sp>
      <p:sp>
        <p:nvSpPr>
          <p:cNvPr id="25" name="Text 23"/>
          <p:cNvSpPr/>
          <p:nvPr/>
        </p:nvSpPr>
        <p:spPr>
          <a:xfrm>
            <a:off x="8572500" y="4508500"/>
            <a:ext cx="6667500" cy="762000"/>
          </a:xfrm>
          <a:prstGeom prst="rect">
            <a:avLst/>
          </a:prstGeom>
          <a:noFill/>
          <a:ln/>
        </p:spPr>
        <p:txBody>
          <a:bodyPr wrap="square" lIns="0" tIns="0" rIns="0" bIns="0" rtlCol="0" anchor="t"/>
          <a:lstStyle/>
          <a:p>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Community-contributed free game assets. Various licenses — check before using in projects.</a:t>
            </a:r>
            <a:endParaRPr lang="en-US" sz="1600" dirty="0"/>
          </a:p>
        </p:txBody>
      </p:sp>
      <p:sp>
        <p:nvSpPr>
          <p:cNvPr id="26" name="Shape 24"/>
          <p:cNvSpPr/>
          <p:nvPr/>
        </p:nvSpPr>
        <p:spPr>
          <a:xfrm>
            <a:off x="762000" y="5842000"/>
            <a:ext cx="14732000" cy="2540000"/>
          </a:xfrm>
          <a:prstGeom prst="rect">
            <a:avLst/>
          </a:prstGeom>
          <a:solidFill>
            <a:srgbClr val="1A1D23"/>
          </a:solidFill>
          <a:ln/>
        </p:spPr>
      </p:sp>
      <p:sp>
        <p:nvSpPr>
          <p:cNvPr id="27" name="Shape 25"/>
          <p:cNvSpPr/>
          <p:nvPr/>
        </p:nvSpPr>
        <p:spPr>
          <a:xfrm>
            <a:off x="1022350" y="6096000"/>
            <a:ext cx="444500" cy="355600"/>
          </a:xfrm>
          <a:custGeom>
            <a:avLst/>
            <a:gdLst/>
            <a:ahLst/>
            <a:cxnLst/>
            <a:rect l="l" t="t" r="r" b="b"/>
            <a:pathLst>
              <a:path w="444500" h="355600">
                <a:moveTo>
                  <a:pt x="88900" y="66675"/>
                </a:moveTo>
                <a:cubicBezTo>
                  <a:pt x="88900" y="42158"/>
                  <a:pt x="108833" y="22225"/>
                  <a:pt x="133350" y="22225"/>
                </a:cubicBezTo>
                <a:lnTo>
                  <a:pt x="377825" y="22225"/>
                </a:lnTo>
                <a:cubicBezTo>
                  <a:pt x="402342" y="22225"/>
                  <a:pt x="422275" y="42158"/>
                  <a:pt x="422275" y="66675"/>
                </a:cubicBezTo>
                <a:lnTo>
                  <a:pt x="422275" y="233363"/>
                </a:lnTo>
                <a:lnTo>
                  <a:pt x="355600" y="233363"/>
                </a:lnTo>
                <a:lnTo>
                  <a:pt x="355600" y="222250"/>
                </a:lnTo>
                <a:cubicBezTo>
                  <a:pt x="355600" y="209957"/>
                  <a:pt x="345668" y="200025"/>
                  <a:pt x="333375" y="200025"/>
                </a:cubicBezTo>
                <a:lnTo>
                  <a:pt x="288925" y="200025"/>
                </a:lnTo>
                <a:cubicBezTo>
                  <a:pt x="276632" y="200025"/>
                  <a:pt x="266700" y="209957"/>
                  <a:pt x="266700" y="222250"/>
                </a:cubicBezTo>
                <a:lnTo>
                  <a:pt x="266700" y="233363"/>
                </a:lnTo>
                <a:lnTo>
                  <a:pt x="177036" y="233363"/>
                </a:lnTo>
                <a:cubicBezTo>
                  <a:pt x="184606" y="220305"/>
                  <a:pt x="188913" y="205095"/>
                  <a:pt x="188913" y="188913"/>
                </a:cubicBezTo>
                <a:cubicBezTo>
                  <a:pt x="188913" y="139809"/>
                  <a:pt x="149116" y="100013"/>
                  <a:pt x="100013" y="100013"/>
                </a:cubicBezTo>
                <a:cubicBezTo>
                  <a:pt x="96262" y="100013"/>
                  <a:pt x="92512" y="100221"/>
                  <a:pt x="88900" y="100707"/>
                </a:cubicBezTo>
                <a:lnTo>
                  <a:pt x="88900" y="66675"/>
                </a:lnTo>
                <a:close/>
                <a:moveTo>
                  <a:pt x="231279" y="311150"/>
                </a:moveTo>
                <a:cubicBezTo>
                  <a:pt x="227737" y="294342"/>
                  <a:pt x="219958" y="279132"/>
                  <a:pt x="208984" y="266700"/>
                </a:cubicBezTo>
                <a:lnTo>
                  <a:pt x="422275" y="266700"/>
                </a:lnTo>
                <a:cubicBezTo>
                  <a:pt x="422275" y="291217"/>
                  <a:pt x="402342" y="311150"/>
                  <a:pt x="377825" y="311150"/>
                </a:cubicBezTo>
                <a:lnTo>
                  <a:pt x="231279" y="311150"/>
                </a:lnTo>
                <a:close/>
                <a:moveTo>
                  <a:pt x="44450" y="188913"/>
                </a:moveTo>
                <a:cubicBezTo>
                  <a:pt x="44450" y="158247"/>
                  <a:pt x="69347" y="133350"/>
                  <a:pt x="100012" y="133350"/>
                </a:cubicBezTo>
                <a:cubicBezTo>
                  <a:pt x="130678" y="133350"/>
                  <a:pt x="155575" y="158247"/>
                  <a:pt x="155575" y="188913"/>
                </a:cubicBezTo>
                <a:cubicBezTo>
                  <a:pt x="155575" y="219578"/>
                  <a:pt x="130678" y="244475"/>
                  <a:pt x="100013" y="244475"/>
                </a:cubicBezTo>
                <a:cubicBezTo>
                  <a:pt x="69347" y="244475"/>
                  <a:pt x="44450" y="219578"/>
                  <a:pt x="44450" y="188913"/>
                </a:cubicBezTo>
                <a:close/>
                <a:moveTo>
                  <a:pt x="0" y="333375"/>
                </a:moveTo>
                <a:cubicBezTo>
                  <a:pt x="0" y="296565"/>
                  <a:pt x="29865" y="266700"/>
                  <a:pt x="66675" y="266700"/>
                </a:cubicBezTo>
                <a:lnTo>
                  <a:pt x="133350" y="266700"/>
                </a:lnTo>
                <a:cubicBezTo>
                  <a:pt x="170160" y="266700"/>
                  <a:pt x="200025" y="296565"/>
                  <a:pt x="200025" y="333375"/>
                </a:cubicBezTo>
                <a:cubicBezTo>
                  <a:pt x="200025" y="345668"/>
                  <a:pt x="190093" y="355600"/>
                  <a:pt x="177800" y="355600"/>
                </a:cubicBezTo>
                <a:lnTo>
                  <a:pt x="22225" y="355600"/>
                </a:lnTo>
                <a:cubicBezTo>
                  <a:pt x="9932" y="355600"/>
                  <a:pt x="0" y="345668"/>
                  <a:pt x="0" y="333375"/>
                </a:cubicBezTo>
                <a:close/>
              </a:path>
            </a:pathLst>
          </a:custGeom>
          <a:solidFill>
            <a:srgbClr val="FF6B35"/>
          </a:solidFill>
          <a:ln/>
        </p:spPr>
      </p:sp>
      <p:sp>
        <p:nvSpPr>
          <p:cNvPr id="28" name="Text 26"/>
          <p:cNvSpPr/>
          <p:nvPr/>
        </p:nvSpPr>
        <p:spPr>
          <a:xfrm>
            <a:off x="1549400" y="6096000"/>
            <a:ext cx="3810000" cy="3556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INSTRUCTOR NOTE</a:t>
            </a:r>
            <a:endParaRPr lang="en-US" sz="1600" dirty="0"/>
          </a:p>
        </p:txBody>
      </p:sp>
      <p:sp>
        <p:nvSpPr>
          <p:cNvPr id="29" name="Text 27"/>
          <p:cNvSpPr/>
          <p:nvPr/>
        </p:nvSpPr>
        <p:spPr>
          <a:xfrm>
            <a:off x="1066800" y="6604000"/>
            <a:ext cx="14097000" cy="1524000"/>
          </a:xfrm>
          <a:prstGeom prst="rect">
            <a:avLst/>
          </a:prstGeom>
          <a:noFill/>
          <a:ln/>
        </p:spPr>
        <p:txBody>
          <a:bodyPr wrap="square" lIns="0" tIns="0" rIns="0" bIns="0" rtlCol="0" anchor="t"/>
          <a:lstStyle/>
          <a:p>
            <a:pP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For this course, </a:t>
            </a:r>
            <a:pPr>
              <a:lnSpc>
                <a:spcPct val="160000"/>
              </a:lnSpc>
            </a:pPr>
            <a:r>
              <a:rPr lang="en-US" sz="1600" b="1" dirty="0">
                <a:solidFill>
                  <a:srgbClr val="FFFFFF"/>
                </a:solidFill>
                <a:latin typeface="Quattrocento Sans" pitchFamily="34" charset="0"/>
                <a:ea typeface="Quattrocento Sans" pitchFamily="34" charset="-122"/>
                <a:cs typeface="Quattrocento Sans" pitchFamily="34" charset="-120"/>
              </a:rPr>
              <a:t>project assets will be provided by the instructor</a:t>
            </a:r>
            <a:pP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 Download the asset package from the course website and save it to a location you can easily find.</a:t>
            </a:r>
            <a:endParaRPr lang="en-US" sz="1600" dirty="0"/>
          </a:p>
          <a:p>
            <a:pPr>
              <a:lnSpc>
                <a:spcPct val="160000"/>
              </a:lnSpc>
              <a:spcBef>
                <a:spcPts val="800"/>
              </a:spcBef>
            </a:pPr>
            <a:r>
              <a:rPr lang="en-US" sz="1600" dirty="0">
                <a:solidFill>
                  <a:srgbClr val="FFFFFF"/>
                </a:solidFill>
                <a:latin typeface="Quattrocento Sans" pitchFamily="34" charset="0"/>
                <a:ea typeface="Quattrocento Sans" pitchFamily="34" charset="-122"/>
                <a:cs typeface="Quattrocento Sans" pitchFamily="34" charset="-120"/>
              </a:rPr>
              <a:t>The package will include planetary textures, skybox materials, and any additional assets needed for the Solar System simulation.</a:t>
            </a:r>
            <a:endParaRPr lang="en-US" sz="1600" dirty="0"/>
          </a:p>
        </p:txBody>
      </p:sp>
      <p:sp>
        <p:nvSpPr>
          <p:cNvPr id="30" name="Shape 28"/>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Importing Assets into Unity</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4699000" cy="2667000"/>
          </a:xfrm>
          <a:prstGeom prst="rect">
            <a:avLst/>
          </a:prstGeom>
          <a:solidFill>
            <a:srgbClr val="FFFFFF"/>
          </a:solidFill>
          <a:ln w="12700">
            <a:solidFill>
              <a:srgbClr val="E8EAED"/>
            </a:solidFill>
            <a:prstDash val="solid"/>
          </a:ln>
        </p:spPr>
      </p:sp>
      <p:sp>
        <p:nvSpPr>
          <p:cNvPr id="6" name="Shape 4"/>
          <p:cNvSpPr/>
          <p:nvPr/>
        </p:nvSpPr>
        <p:spPr>
          <a:xfrm>
            <a:off x="762000" y="1524000"/>
            <a:ext cx="1524000" cy="355600"/>
          </a:xfrm>
          <a:prstGeom prst="rect">
            <a:avLst/>
          </a:prstGeom>
          <a:solidFill>
            <a:srgbClr val="FF6B35"/>
          </a:solidFill>
          <a:ln/>
        </p:spPr>
      </p:sp>
      <p:sp>
        <p:nvSpPr>
          <p:cNvPr id="7" name="Text 5"/>
          <p:cNvSpPr/>
          <p:nvPr/>
        </p:nvSpPr>
        <p:spPr>
          <a:xfrm>
            <a:off x="762000" y="1524000"/>
            <a:ext cx="1524000" cy="355600"/>
          </a:xfrm>
          <a:prstGeom prst="rect">
            <a:avLst/>
          </a:prstGeom>
          <a:noFill/>
          <a:ln/>
        </p:spPr>
        <p:txBody>
          <a:bodyPr wrap="none" lIns="0" tIns="0" rIns="0" bIns="0" rtlCol="0" anchor="ctr"/>
          <a:lstStyle/>
          <a:p>
            <a:pPr algn="ctr">
              <a:lnSpc>
                <a:spcPct val="100000"/>
              </a:lnSpc>
            </a:pPr>
            <a:r>
              <a:rPr lang="en-US" sz="1200" spc="100" kern="0" dirty="0">
                <a:solidFill>
                  <a:srgbClr val="FFFFFF"/>
                </a:solidFill>
                <a:latin typeface="Liter" pitchFamily="34" charset="0"/>
                <a:ea typeface="Liter" pitchFamily="34" charset="-122"/>
                <a:cs typeface="Liter" pitchFamily="34" charset="-120"/>
              </a:rPr>
              <a:t>METHOD 1</a:t>
            </a:r>
            <a:endParaRPr lang="en-US" sz="1600" dirty="0"/>
          </a:p>
        </p:txBody>
      </p:sp>
      <p:sp>
        <p:nvSpPr>
          <p:cNvPr id="8" name="Text 6"/>
          <p:cNvSpPr/>
          <p:nvPr/>
        </p:nvSpPr>
        <p:spPr>
          <a:xfrm>
            <a:off x="1016000" y="2032000"/>
            <a:ext cx="4191000" cy="3302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Drag and Drop</a:t>
            </a:r>
            <a:endParaRPr lang="en-US" sz="1600" dirty="0"/>
          </a:p>
        </p:txBody>
      </p:sp>
      <p:sp>
        <p:nvSpPr>
          <p:cNvPr id="9" name="Text 7"/>
          <p:cNvSpPr/>
          <p:nvPr/>
        </p:nvSpPr>
        <p:spPr>
          <a:xfrm>
            <a:off x="1016000" y="2438400"/>
            <a:ext cx="4191000" cy="1524000"/>
          </a:xfrm>
          <a:prstGeom prst="rect">
            <a:avLst/>
          </a:prstGeom>
          <a:noFill/>
          <a:ln/>
        </p:spPr>
        <p:txBody>
          <a:bodyPr wrap="square" lIns="0" tIns="0" rIns="0" bIns="0" rtlCol="0" anchor="t"/>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Simply drag files from your file explorer directly into the Project window. Unity automatically copies them to the Assets folder and imports them.</a:t>
            </a:r>
            <a:endParaRPr lang="en-US" sz="1600" dirty="0"/>
          </a:p>
        </p:txBody>
      </p:sp>
      <p:sp>
        <p:nvSpPr>
          <p:cNvPr id="10" name="Shape 8"/>
          <p:cNvSpPr/>
          <p:nvPr/>
        </p:nvSpPr>
        <p:spPr>
          <a:xfrm>
            <a:off x="5778500" y="1524000"/>
            <a:ext cx="4699000" cy="2667000"/>
          </a:xfrm>
          <a:prstGeom prst="rect">
            <a:avLst/>
          </a:prstGeom>
          <a:solidFill>
            <a:srgbClr val="FFFFFF"/>
          </a:solidFill>
          <a:ln w="12700">
            <a:solidFill>
              <a:srgbClr val="E8EAED"/>
            </a:solidFill>
            <a:prstDash val="solid"/>
          </a:ln>
        </p:spPr>
      </p:sp>
      <p:sp>
        <p:nvSpPr>
          <p:cNvPr id="11" name="Shape 9"/>
          <p:cNvSpPr/>
          <p:nvPr/>
        </p:nvSpPr>
        <p:spPr>
          <a:xfrm>
            <a:off x="5778500" y="1524000"/>
            <a:ext cx="1524000" cy="355600"/>
          </a:xfrm>
          <a:prstGeom prst="rect">
            <a:avLst/>
          </a:prstGeom>
          <a:solidFill>
            <a:srgbClr val="FF6B35"/>
          </a:solidFill>
          <a:ln/>
        </p:spPr>
      </p:sp>
      <p:sp>
        <p:nvSpPr>
          <p:cNvPr id="12" name="Text 10"/>
          <p:cNvSpPr/>
          <p:nvPr/>
        </p:nvSpPr>
        <p:spPr>
          <a:xfrm>
            <a:off x="5778500" y="1524000"/>
            <a:ext cx="1524000" cy="355600"/>
          </a:xfrm>
          <a:prstGeom prst="rect">
            <a:avLst/>
          </a:prstGeom>
          <a:noFill/>
          <a:ln/>
        </p:spPr>
        <p:txBody>
          <a:bodyPr wrap="none" lIns="0" tIns="0" rIns="0" bIns="0" rtlCol="0" anchor="ctr"/>
          <a:lstStyle/>
          <a:p>
            <a:pPr algn="ctr">
              <a:lnSpc>
                <a:spcPct val="100000"/>
              </a:lnSpc>
            </a:pPr>
            <a:r>
              <a:rPr lang="en-US" sz="1200" spc="100" kern="0" dirty="0">
                <a:solidFill>
                  <a:srgbClr val="FFFFFF"/>
                </a:solidFill>
                <a:latin typeface="Liter" pitchFamily="34" charset="0"/>
                <a:ea typeface="Liter" pitchFamily="34" charset="-122"/>
                <a:cs typeface="Liter" pitchFamily="34" charset="-120"/>
              </a:rPr>
              <a:t>METHOD 2</a:t>
            </a:r>
            <a:endParaRPr lang="en-US" sz="1600" dirty="0"/>
          </a:p>
        </p:txBody>
      </p:sp>
      <p:sp>
        <p:nvSpPr>
          <p:cNvPr id="13" name="Text 11"/>
          <p:cNvSpPr/>
          <p:nvPr/>
        </p:nvSpPr>
        <p:spPr>
          <a:xfrm>
            <a:off x="6032500" y="2032000"/>
            <a:ext cx="4191000" cy="3302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Copy to Assets Folder</a:t>
            </a:r>
            <a:endParaRPr lang="en-US" sz="1600" dirty="0"/>
          </a:p>
        </p:txBody>
      </p:sp>
      <p:sp>
        <p:nvSpPr>
          <p:cNvPr id="14" name="Text 12"/>
          <p:cNvSpPr/>
          <p:nvPr/>
        </p:nvSpPr>
        <p:spPr>
          <a:xfrm>
            <a:off x="6032500" y="2438400"/>
            <a:ext cx="4191000" cy="1524000"/>
          </a:xfrm>
          <a:prstGeom prst="rect">
            <a:avLst/>
          </a:prstGeom>
          <a:noFill/>
          <a:ln/>
        </p:spPr>
        <p:txBody>
          <a:bodyPr wrap="square" lIns="0" tIns="0" rIns="0" bIns="0" rtlCol="0" anchor="t"/>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Place files directly in the project's Assets folder on your computer. Unity detects new files and imports them automatically.</a:t>
            </a:r>
            <a:endParaRPr lang="en-US" sz="1600" dirty="0"/>
          </a:p>
        </p:txBody>
      </p:sp>
      <p:sp>
        <p:nvSpPr>
          <p:cNvPr id="15" name="Shape 13"/>
          <p:cNvSpPr/>
          <p:nvPr/>
        </p:nvSpPr>
        <p:spPr>
          <a:xfrm>
            <a:off x="10795000" y="1524000"/>
            <a:ext cx="4699000" cy="2667000"/>
          </a:xfrm>
          <a:prstGeom prst="rect">
            <a:avLst/>
          </a:prstGeom>
          <a:solidFill>
            <a:srgbClr val="FFFFFF"/>
          </a:solidFill>
          <a:ln w="12700">
            <a:solidFill>
              <a:srgbClr val="E8EAED"/>
            </a:solidFill>
            <a:prstDash val="solid"/>
          </a:ln>
        </p:spPr>
      </p:sp>
      <p:sp>
        <p:nvSpPr>
          <p:cNvPr id="16" name="Shape 14"/>
          <p:cNvSpPr/>
          <p:nvPr/>
        </p:nvSpPr>
        <p:spPr>
          <a:xfrm>
            <a:off x="10795000" y="1524000"/>
            <a:ext cx="1524000" cy="355600"/>
          </a:xfrm>
          <a:prstGeom prst="rect">
            <a:avLst/>
          </a:prstGeom>
          <a:solidFill>
            <a:srgbClr val="FF6B35"/>
          </a:solidFill>
          <a:ln/>
        </p:spPr>
      </p:sp>
      <p:sp>
        <p:nvSpPr>
          <p:cNvPr id="17" name="Text 15"/>
          <p:cNvSpPr/>
          <p:nvPr/>
        </p:nvSpPr>
        <p:spPr>
          <a:xfrm>
            <a:off x="10795000" y="1524000"/>
            <a:ext cx="1524000" cy="355600"/>
          </a:xfrm>
          <a:prstGeom prst="rect">
            <a:avLst/>
          </a:prstGeom>
          <a:noFill/>
          <a:ln/>
        </p:spPr>
        <p:txBody>
          <a:bodyPr wrap="none" lIns="0" tIns="0" rIns="0" bIns="0" rtlCol="0" anchor="ctr"/>
          <a:lstStyle/>
          <a:p>
            <a:pPr algn="ctr">
              <a:lnSpc>
                <a:spcPct val="100000"/>
              </a:lnSpc>
            </a:pPr>
            <a:r>
              <a:rPr lang="en-US" sz="1200" spc="100" kern="0" dirty="0">
                <a:solidFill>
                  <a:srgbClr val="FFFFFF"/>
                </a:solidFill>
                <a:latin typeface="Liter" pitchFamily="34" charset="0"/>
                <a:ea typeface="Liter" pitchFamily="34" charset="-122"/>
                <a:cs typeface="Liter" pitchFamily="34" charset="-120"/>
              </a:rPr>
              <a:t>METHOD 3</a:t>
            </a:r>
            <a:endParaRPr lang="en-US" sz="1600" dirty="0"/>
          </a:p>
        </p:txBody>
      </p:sp>
      <p:sp>
        <p:nvSpPr>
          <p:cNvPr id="18" name="Text 16"/>
          <p:cNvSpPr/>
          <p:nvPr/>
        </p:nvSpPr>
        <p:spPr>
          <a:xfrm>
            <a:off x="11049000" y="2032000"/>
            <a:ext cx="4191000" cy="3302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Import Package</a:t>
            </a:r>
            <a:endParaRPr lang="en-US" sz="1600" dirty="0"/>
          </a:p>
        </p:txBody>
      </p:sp>
      <p:sp>
        <p:nvSpPr>
          <p:cNvPr id="19" name="Text 17"/>
          <p:cNvSpPr/>
          <p:nvPr/>
        </p:nvSpPr>
        <p:spPr>
          <a:xfrm>
            <a:off x="11049000" y="2438400"/>
            <a:ext cx="4191000" cy="1524000"/>
          </a:xfrm>
          <a:prstGeom prst="rect">
            <a:avLst/>
          </a:prstGeom>
          <a:noFill/>
          <a:ln/>
        </p:spPr>
        <p:txBody>
          <a:bodyPr wrap="square" lIns="0" tIns="0" rIns="0" bIns="0" rtlCol="0" anchor="t"/>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Double-click .unitypackage files, or use </a:t>
            </a:r>
            <a:pPr>
              <a:lnSpc>
                <a:spcPct val="160000"/>
              </a:lnSpc>
            </a:pPr>
            <a:r>
              <a:rPr lang="en-US" sz="1500" b="1" dirty="0">
                <a:solidFill>
                  <a:srgbClr val="1E2328"/>
                </a:solidFill>
                <a:latin typeface="Quattrocento Sans" pitchFamily="34" charset="0"/>
                <a:ea typeface="Quattrocento Sans" pitchFamily="34" charset="-122"/>
                <a:cs typeface="Quattrocento Sans" pitchFamily="34" charset="-120"/>
              </a:rPr>
              <a:t>Assets &gt; Import Package &gt; Custom Package</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to import bundled assets.</a:t>
            </a:r>
            <a:endParaRPr lang="en-US" sz="1600" dirty="0"/>
          </a:p>
        </p:txBody>
      </p:sp>
      <p:sp>
        <p:nvSpPr>
          <p:cNvPr id="20" name="Shape 18"/>
          <p:cNvSpPr/>
          <p:nvPr/>
        </p:nvSpPr>
        <p:spPr>
          <a:xfrm>
            <a:off x="762000" y="4508500"/>
            <a:ext cx="14732000" cy="3810000"/>
          </a:xfrm>
          <a:prstGeom prst="rect">
            <a:avLst/>
          </a:prstGeom>
          <a:solidFill>
            <a:srgbClr val="1A1D23"/>
          </a:solidFill>
          <a:ln/>
        </p:spPr>
      </p:sp>
      <p:sp>
        <p:nvSpPr>
          <p:cNvPr id="21" name="Text 19"/>
          <p:cNvSpPr/>
          <p:nvPr/>
        </p:nvSpPr>
        <p:spPr>
          <a:xfrm>
            <a:off x="1066800" y="4699000"/>
            <a:ext cx="6350000" cy="3556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SUPPORTED FILE FORMATS</a:t>
            </a:r>
            <a:endParaRPr lang="en-US" sz="1600" dirty="0"/>
          </a:p>
        </p:txBody>
      </p:sp>
      <p:sp>
        <p:nvSpPr>
          <p:cNvPr id="22" name="Text 20"/>
          <p:cNvSpPr/>
          <p:nvPr/>
        </p:nvSpPr>
        <p:spPr>
          <a:xfrm>
            <a:off x="1066800" y="5181600"/>
            <a:ext cx="3175000" cy="304800"/>
          </a:xfrm>
          <a:prstGeom prst="rect">
            <a:avLst/>
          </a:prstGeom>
          <a:noFill/>
          <a:ln/>
        </p:spPr>
        <p:txBody>
          <a:bodyPr wrap="none" lIns="0" tIns="0" rIns="0" bIns="0" rtlCol="0" anchor="ctr"/>
          <a:lstStyle/>
          <a:p>
            <a:pPr>
              <a:lnSpc>
                <a:spcPct val="100000"/>
              </a:lnSpc>
            </a:pPr>
            <a:r>
              <a:rPr lang="en-US" sz="1500" dirty="0">
                <a:solidFill>
                  <a:srgbClr val="FFFFFF"/>
                </a:solidFill>
                <a:latin typeface="Liter" pitchFamily="34" charset="0"/>
                <a:ea typeface="Liter" pitchFamily="34" charset="-122"/>
                <a:cs typeface="Liter" pitchFamily="34" charset="-120"/>
              </a:rPr>
              <a:t>3D Models</a:t>
            </a:r>
            <a:endParaRPr lang="en-US" sz="1600" dirty="0"/>
          </a:p>
        </p:txBody>
      </p:sp>
      <p:sp>
        <p:nvSpPr>
          <p:cNvPr id="23" name="Text 21"/>
          <p:cNvSpPr/>
          <p:nvPr/>
        </p:nvSpPr>
        <p:spPr>
          <a:xfrm>
            <a:off x="1066800" y="5537200"/>
            <a:ext cx="3175000" cy="1016000"/>
          </a:xfrm>
          <a:prstGeom prst="rect">
            <a:avLst/>
          </a:prstGeom>
          <a:noFill/>
          <a:ln/>
        </p:spPr>
        <p:txBody>
          <a:bodyPr wrap="square" lIns="0" tIns="0" rIns="0" bIns="0" rtlCol="0" anchor="t"/>
          <a:lstStyle/>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FBX, OBJ, 3DS, DAE</a:t>
            </a:r>
            <a:endParaRPr lang="en-US" sz="1600" dirty="0"/>
          </a:p>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BLEND (Blender)</a:t>
            </a:r>
            <a:endParaRPr lang="en-US" sz="1600" dirty="0"/>
          </a:p>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MAX, MAYA (via FBX)</a:t>
            </a:r>
            <a:endParaRPr lang="en-US" sz="1600" dirty="0"/>
          </a:p>
        </p:txBody>
      </p:sp>
      <p:sp>
        <p:nvSpPr>
          <p:cNvPr id="24" name="Text 22"/>
          <p:cNvSpPr/>
          <p:nvPr/>
        </p:nvSpPr>
        <p:spPr>
          <a:xfrm>
            <a:off x="4699000" y="5181600"/>
            <a:ext cx="3175000" cy="304800"/>
          </a:xfrm>
          <a:prstGeom prst="rect">
            <a:avLst/>
          </a:prstGeom>
          <a:noFill/>
          <a:ln/>
        </p:spPr>
        <p:txBody>
          <a:bodyPr wrap="none" lIns="0" tIns="0" rIns="0" bIns="0" rtlCol="0" anchor="ctr"/>
          <a:lstStyle/>
          <a:p>
            <a:pPr>
              <a:lnSpc>
                <a:spcPct val="100000"/>
              </a:lnSpc>
            </a:pPr>
            <a:r>
              <a:rPr lang="en-US" sz="1500" dirty="0">
                <a:solidFill>
                  <a:srgbClr val="FFFFFF"/>
                </a:solidFill>
                <a:latin typeface="Liter" pitchFamily="34" charset="0"/>
                <a:ea typeface="Liter" pitchFamily="34" charset="-122"/>
                <a:cs typeface="Liter" pitchFamily="34" charset="-120"/>
              </a:rPr>
              <a:t>Textures &amp; Images</a:t>
            </a:r>
            <a:endParaRPr lang="en-US" sz="1600" dirty="0"/>
          </a:p>
        </p:txBody>
      </p:sp>
      <p:sp>
        <p:nvSpPr>
          <p:cNvPr id="25" name="Text 23"/>
          <p:cNvSpPr/>
          <p:nvPr/>
        </p:nvSpPr>
        <p:spPr>
          <a:xfrm>
            <a:off x="4699000" y="5537200"/>
            <a:ext cx="3175000" cy="1016000"/>
          </a:xfrm>
          <a:prstGeom prst="rect">
            <a:avLst/>
          </a:prstGeom>
          <a:noFill/>
          <a:ln/>
        </p:spPr>
        <p:txBody>
          <a:bodyPr wrap="square" lIns="0" tIns="0" rIns="0" bIns="0" rtlCol="0" anchor="t"/>
          <a:lstStyle/>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PNG, JPG, TIFF, PSD</a:t>
            </a:r>
            <a:endParaRPr lang="en-US" sz="1600" dirty="0"/>
          </a:p>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TGA, BMP, GIF</a:t>
            </a:r>
            <a:endParaRPr lang="en-US" sz="1600" dirty="0"/>
          </a:p>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HDR, EXR (skyboxes)</a:t>
            </a:r>
            <a:endParaRPr lang="en-US" sz="1600" dirty="0"/>
          </a:p>
        </p:txBody>
      </p:sp>
      <p:sp>
        <p:nvSpPr>
          <p:cNvPr id="26" name="Text 24"/>
          <p:cNvSpPr/>
          <p:nvPr/>
        </p:nvSpPr>
        <p:spPr>
          <a:xfrm>
            <a:off x="8331200" y="5181600"/>
            <a:ext cx="3175000" cy="304800"/>
          </a:xfrm>
          <a:prstGeom prst="rect">
            <a:avLst/>
          </a:prstGeom>
          <a:noFill/>
          <a:ln/>
        </p:spPr>
        <p:txBody>
          <a:bodyPr wrap="none" lIns="0" tIns="0" rIns="0" bIns="0" rtlCol="0" anchor="ctr"/>
          <a:lstStyle/>
          <a:p>
            <a:pPr>
              <a:lnSpc>
                <a:spcPct val="100000"/>
              </a:lnSpc>
            </a:pPr>
            <a:r>
              <a:rPr lang="en-US" sz="1500" dirty="0">
                <a:solidFill>
                  <a:srgbClr val="FFFFFF"/>
                </a:solidFill>
                <a:latin typeface="Liter" pitchFamily="34" charset="0"/>
                <a:ea typeface="Liter" pitchFamily="34" charset="-122"/>
                <a:cs typeface="Liter" pitchFamily="34" charset="-120"/>
              </a:rPr>
              <a:t>Audio</a:t>
            </a:r>
            <a:endParaRPr lang="en-US" sz="1600" dirty="0"/>
          </a:p>
        </p:txBody>
      </p:sp>
      <p:sp>
        <p:nvSpPr>
          <p:cNvPr id="27" name="Text 25"/>
          <p:cNvSpPr/>
          <p:nvPr/>
        </p:nvSpPr>
        <p:spPr>
          <a:xfrm>
            <a:off x="8331200" y="5537200"/>
            <a:ext cx="3175000" cy="1016000"/>
          </a:xfrm>
          <a:prstGeom prst="rect">
            <a:avLst/>
          </a:prstGeom>
          <a:noFill/>
          <a:ln/>
        </p:spPr>
        <p:txBody>
          <a:bodyPr wrap="square" lIns="0" tIns="0" rIns="0" bIns="0" rtlCol="0" anchor="t"/>
          <a:lstStyle/>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WAV, MP3, OGG</a:t>
            </a:r>
            <a:endParaRPr lang="en-US" sz="1600" dirty="0"/>
          </a:p>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AIF, MOD, IT, S3M</a:t>
            </a:r>
            <a:endParaRPr lang="en-US" sz="1600" dirty="0"/>
          </a:p>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XM (tracker formats)</a:t>
            </a:r>
            <a:endParaRPr lang="en-US" sz="1600" dirty="0"/>
          </a:p>
        </p:txBody>
      </p:sp>
      <p:sp>
        <p:nvSpPr>
          <p:cNvPr id="28" name="Text 26"/>
          <p:cNvSpPr/>
          <p:nvPr/>
        </p:nvSpPr>
        <p:spPr>
          <a:xfrm>
            <a:off x="11963400" y="5181600"/>
            <a:ext cx="3175000" cy="304800"/>
          </a:xfrm>
          <a:prstGeom prst="rect">
            <a:avLst/>
          </a:prstGeom>
          <a:noFill/>
          <a:ln/>
        </p:spPr>
        <p:txBody>
          <a:bodyPr wrap="none" lIns="0" tIns="0" rIns="0" bIns="0" rtlCol="0" anchor="ctr"/>
          <a:lstStyle/>
          <a:p>
            <a:pPr>
              <a:lnSpc>
                <a:spcPct val="100000"/>
              </a:lnSpc>
            </a:pPr>
            <a:r>
              <a:rPr lang="en-US" sz="1500" dirty="0">
                <a:solidFill>
                  <a:srgbClr val="FFFFFF"/>
                </a:solidFill>
                <a:latin typeface="Liter" pitchFamily="34" charset="0"/>
                <a:ea typeface="Liter" pitchFamily="34" charset="-122"/>
                <a:cs typeface="Liter" pitchFamily="34" charset="-120"/>
              </a:rPr>
              <a:t>Other</a:t>
            </a:r>
            <a:endParaRPr lang="en-US" sz="1600" dirty="0"/>
          </a:p>
        </p:txBody>
      </p:sp>
      <p:sp>
        <p:nvSpPr>
          <p:cNvPr id="29" name="Text 27"/>
          <p:cNvSpPr/>
          <p:nvPr/>
        </p:nvSpPr>
        <p:spPr>
          <a:xfrm>
            <a:off x="11963400" y="5537200"/>
            <a:ext cx="3175000" cy="1016000"/>
          </a:xfrm>
          <a:prstGeom prst="rect">
            <a:avLst/>
          </a:prstGeom>
          <a:noFill/>
          <a:ln/>
        </p:spPr>
        <p:txBody>
          <a:bodyPr wrap="square" lIns="0" tIns="0" rIns="0" bIns="0" rtlCol="0" anchor="t"/>
          <a:lstStyle/>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C# Scripts (.cs)</a:t>
            </a:r>
            <a:endParaRPr lang="en-US" sz="1600" dirty="0"/>
          </a:p>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Shaders (.shader)</a:t>
            </a:r>
            <a:endParaRPr lang="en-US" sz="1600" dirty="0"/>
          </a:p>
          <a:p>
            <a:pPr>
              <a:lnSpc>
                <a:spcPct val="160000"/>
              </a:lnSpc>
            </a:pPr>
            <a:r>
              <a:rPr lang="en-US" sz="1400" dirty="0">
                <a:solidFill>
                  <a:srgbClr val="A0A5AD"/>
                </a:solidFill>
                <a:latin typeface="Quattrocento Sans" pitchFamily="34" charset="0"/>
                <a:ea typeface="Quattrocento Sans" pitchFamily="34" charset="-122"/>
                <a:cs typeface="Quattrocento Sans" pitchFamily="34" charset="-120"/>
              </a:rPr>
              <a:t>Animations (.anim)</a:t>
            </a:r>
            <a:endParaRPr lang="en-US" sz="1600" dirty="0"/>
          </a:p>
        </p:txBody>
      </p:sp>
      <p:sp>
        <p:nvSpPr>
          <p:cNvPr id="30" name="Text 28"/>
          <p:cNvSpPr/>
          <p:nvPr/>
        </p:nvSpPr>
        <p:spPr>
          <a:xfrm>
            <a:off x="1066800" y="6731000"/>
            <a:ext cx="14097000" cy="635000"/>
          </a:xfrm>
          <a:prstGeom prst="rect">
            <a:avLst/>
          </a:prstGeom>
          <a:noFill/>
          <a:ln/>
        </p:spPr>
        <p:txBody>
          <a:bodyPr wrap="square" lIns="0" tIns="0" rIns="0" bIns="0" rtlCol="0" anchor="ctr"/>
          <a:lstStyle/>
          <a:p>
            <a:pPr>
              <a:lnSpc>
                <a:spcPct val="150000"/>
              </a:lnSpc>
            </a:pPr>
            <a:r>
              <a:rPr lang="en-US" sz="1400" dirty="0">
                <a:solidFill>
                  <a:srgbClr val="A0A5AD"/>
                </a:solidFill>
                <a:latin typeface="Quattrocento Sans" pitchFamily="34" charset="0"/>
                <a:ea typeface="Quattrocento Sans" pitchFamily="34" charset="-122"/>
                <a:cs typeface="Quattrocento Sans" pitchFamily="34" charset="-120"/>
              </a:rPr>
              <a:t>Each asset type has configurable </a:t>
            </a:r>
            <a:pPr>
              <a:lnSpc>
                <a:spcPct val="150000"/>
              </a:lnSpc>
            </a:pPr>
            <a:r>
              <a:rPr lang="en-US" sz="1400" b="1" dirty="0">
                <a:solidFill>
                  <a:srgbClr val="A0A5AD"/>
                </a:solidFill>
                <a:latin typeface="Quattrocento Sans" pitchFamily="34" charset="0"/>
                <a:ea typeface="Quattrocento Sans" pitchFamily="34" charset="-122"/>
                <a:cs typeface="Quattrocento Sans" pitchFamily="34" charset="-120"/>
              </a:rPr>
              <a:t>import settings</a:t>
            </a:r>
            <a:pPr>
              <a:lnSpc>
                <a:spcPct val="150000"/>
              </a:lnSpc>
            </a:pPr>
            <a:r>
              <a:rPr lang="en-US" sz="1400" dirty="0">
                <a:solidFill>
                  <a:srgbClr val="A0A5AD"/>
                </a:solidFill>
                <a:latin typeface="Quattrocento Sans" pitchFamily="34" charset="0"/>
                <a:ea typeface="Quattrocento Sans" pitchFamily="34" charset="-122"/>
                <a:cs typeface="Quattrocento Sans" pitchFamily="34" charset="-120"/>
              </a:rPr>
              <a:t> in the Inspector. Select any asset in the Project window to view and adjust its import parameters.</a:t>
            </a:r>
            <a:endParaRPr lang="en-US" sz="1600" dirty="0"/>
          </a:p>
        </p:txBody>
      </p:sp>
      <p:sp>
        <p:nvSpPr>
          <p:cNvPr id="31" name="Shape 29"/>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Asset Organization Best Practices</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Text 3"/>
          <p:cNvSpPr/>
          <p:nvPr/>
        </p:nvSpPr>
        <p:spPr>
          <a:xfrm>
            <a:off x="762000" y="1460500"/>
            <a:ext cx="14732000" cy="3810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Proper organization prevents chaos as your project grows. Create this folder structure inside </a:t>
            </a:r>
            <a:pPr>
              <a:lnSpc>
                <a:spcPct val="160000"/>
              </a:lnSpc>
            </a:pPr>
            <a:r>
              <a:rPr lang="en-US" sz="1600" b="1" dirty="0">
                <a:solidFill>
                  <a:srgbClr val="1E2328"/>
                </a:solidFill>
                <a:latin typeface="QuattrocentoSans" pitchFamily="34" charset="0"/>
                <a:ea typeface="QuattrocentoSans" pitchFamily="34" charset="-122"/>
                <a:cs typeface="QuattrocentoSans" pitchFamily="34" charset="-120"/>
              </a:rPr>
              <a:t>Assets/</a:t>
            </a:r>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a:t>
            </a:r>
            <a:endParaRPr lang="en-US" sz="1800" dirty="0"/>
          </a:p>
        </p:txBody>
      </p:sp>
      <p:sp>
        <p:nvSpPr>
          <p:cNvPr id="6" name="Shape 4"/>
          <p:cNvSpPr/>
          <p:nvPr/>
        </p:nvSpPr>
        <p:spPr>
          <a:xfrm>
            <a:off x="1016000" y="2159000"/>
            <a:ext cx="279400" cy="279400"/>
          </a:xfrm>
          <a:custGeom>
            <a:avLst/>
            <a:gdLst/>
            <a:ahLst/>
            <a:cxnLst/>
            <a:rect l="l" t="t" r="r" b="b"/>
            <a:pathLst>
              <a:path w="279400" h="279400">
                <a:moveTo>
                  <a:pt x="34925" y="244475"/>
                </a:moveTo>
                <a:lnTo>
                  <a:pt x="244475" y="244475"/>
                </a:lnTo>
                <a:cubicBezTo>
                  <a:pt x="263738" y="244475"/>
                  <a:pt x="279400" y="228813"/>
                  <a:pt x="279400" y="209550"/>
                </a:cubicBezTo>
                <a:lnTo>
                  <a:pt x="279400" y="78581"/>
                </a:lnTo>
                <a:cubicBezTo>
                  <a:pt x="279400" y="59318"/>
                  <a:pt x="263738" y="43656"/>
                  <a:pt x="244475" y="43656"/>
                </a:cubicBezTo>
                <a:lnTo>
                  <a:pt x="163002" y="43656"/>
                </a:lnTo>
                <a:cubicBezTo>
                  <a:pt x="159236" y="43656"/>
                  <a:pt x="155525" y="42456"/>
                  <a:pt x="152524" y="40164"/>
                </a:cubicBezTo>
                <a:lnTo>
                  <a:pt x="131569" y="24448"/>
                </a:lnTo>
                <a:cubicBezTo>
                  <a:pt x="125512" y="19918"/>
                  <a:pt x="118145" y="17463"/>
                  <a:pt x="110614" y="17463"/>
                </a:cubicBezTo>
                <a:lnTo>
                  <a:pt x="34925" y="17463"/>
                </a:lnTo>
                <a:cubicBezTo>
                  <a:pt x="15662" y="17463"/>
                  <a:pt x="0" y="33124"/>
                  <a:pt x="0" y="52388"/>
                </a:cubicBezTo>
                <a:lnTo>
                  <a:pt x="0" y="209550"/>
                </a:lnTo>
                <a:cubicBezTo>
                  <a:pt x="0" y="228813"/>
                  <a:pt x="15662" y="244475"/>
                  <a:pt x="34925" y="244475"/>
                </a:cubicBezTo>
                <a:close/>
              </a:path>
            </a:pathLst>
          </a:custGeom>
          <a:solidFill>
            <a:srgbClr val="FF6B35"/>
          </a:solidFill>
          <a:ln/>
        </p:spPr>
      </p:sp>
      <p:sp>
        <p:nvSpPr>
          <p:cNvPr id="7" name="Text 5"/>
          <p:cNvSpPr/>
          <p:nvPr/>
        </p:nvSpPr>
        <p:spPr>
          <a:xfrm>
            <a:off x="1422400" y="2133600"/>
            <a:ext cx="2540000" cy="3302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Materials/</a:t>
            </a:r>
            <a:endParaRPr lang="en-US" sz="1600" dirty="0"/>
          </a:p>
        </p:txBody>
      </p:sp>
      <p:sp>
        <p:nvSpPr>
          <p:cNvPr id="8" name="Text 6"/>
          <p:cNvSpPr/>
          <p:nvPr/>
        </p:nvSpPr>
        <p:spPr>
          <a:xfrm>
            <a:off x="1422400" y="2489200"/>
            <a:ext cx="5842000" cy="279400"/>
          </a:xfrm>
          <a:prstGeom prst="rect">
            <a:avLst/>
          </a:prstGeom>
          <a:noFill/>
          <a:ln/>
        </p:spPr>
        <p:txBody>
          <a:bodyPr wrap="squar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Shaders, material files, and surface properties</a:t>
            </a:r>
            <a:endParaRPr lang="en-US" sz="1600" dirty="0"/>
          </a:p>
        </p:txBody>
      </p:sp>
      <p:sp>
        <p:nvSpPr>
          <p:cNvPr id="9" name="Shape 7"/>
          <p:cNvSpPr/>
          <p:nvPr/>
        </p:nvSpPr>
        <p:spPr>
          <a:xfrm>
            <a:off x="1016000" y="2921000"/>
            <a:ext cx="279400" cy="279400"/>
          </a:xfrm>
          <a:custGeom>
            <a:avLst/>
            <a:gdLst/>
            <a:ahLst/>
            <a:cxnLst/>
            <a:rect l="l" t="t" r="r" b="b"/>
            <a:pathLst>
              <a:path w="279400" h="279400">
                <a:moveTo>
                  <a:pt x="34925" y="244475"/>
                </a:moveTo>
                <a:lnTo>
                  <a:pt x="244475" y="244475"/>
                </a:lnTo>
                <a:cubicBezTo>
                  <a:pt x="263738" y="244475"/>
                  <a:pt x="279400" y="228813"/>
                  <a:pt x="279400" y="209550"/>
                </a:cubicBezTo>
                <a:lnTo>
                  <a:pt x="279400" y="78581"/>
                </a:lnTo>
                <a:cubicBezTo>
                  <a:pt x="279400" y="59318"/>
                  <a:pt x="263738" y="43656"/>
                  <a:pt x="244475" y="43656"/>
                </a:cubicBezTo>
                <a:lnTo>
                  <a:pt x="163002" y="43656"/>
                </a:lnTo>
                <a:cubicBezTo>
                  <a:pt x="159236" y="43656"/>
                  <a:pt x="155525" y="42456"/>
                  <a:pt x="152524" y="40164"/>
                </a:cubicBezTo>
                <a:lnTo>
                  <a:pt x="131569" y="24448"/>
                </a:lnTo>
                <a:cubicBezTo>
                  <a:pt x="125512" y="19918"/>
                  <a:pt x="118145" y="17463"/>
                  <a:pt x="110614" y="17463"/>
                </a:cubicBezTo>
                <a:lnTo>
                  <a:pt x="34925" y="17463"/>
                </a:lnTo>
                <a:cubicBezTo>
                  <a:pt x="15662" y="17463"/>
                  <a:pt x="0" y="33124"/>
                  <a:pt x="0" y="52388"/>
                </a:cubicBezTo>
                <a:lnTo>
                  <a:pt x="0" y="209550"/>
                </a:lnTo>
                <a:cubicBezTo>
                  <a:pt x="0" y="228813"/>
                  <a:pt x="15662" y="244475"/>
                  <a:pt x="34925" y="244475"/>
                </a:cubicBezTo>
                <a:close/>
              </a:path>
            </a:pathLst>
          </a:custGeom>
          <a:solidFill>
            <a:srgbClr val="FF6B35"/>
          </a:solidFill>
          <a:ln/>
        </p:spPr>
      </p:sp>
      <p:sp>
        <p:nvSpPr>
          <p:cNvPr id="10" name="Text 8"/>
          <p:cNvSpPr/>
          <p:nvPr/>
        </p:nvSpPr>
        <p:spPr>
          <a:xfrm>
            <a:off x="1422400" y="2895600"/>
            <a:ext cx="2540000" cy="3302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Models/</a:t>
            </a:r>
            <a:endParaRPr lang="en-US" sz="1600" dirty="0"/>
          </a:p>
        </p:txBody>
      </p:sp>
      <p:sp>
        <p:nvSpPr>
          <p:cNvPr id="11" name="Text 9"/>
          <p:cNvSpPr/>
          <p:nvPr/>
        </p:nvSpPr>
        <p:spPr>
          <a:xfrm>
            <a:off x="1422400" y="3251200"/>
            <a:ext cx="5842000" cy="279400"/>
          </a:xfrm>
          <a:prstGeom prst="rect">
            <a:avLst/>
          </a:prstGeom>
          <a:noFill/>
          <a:ln/>
        </p:spPr>
        <p:txBody>
          <a:bodyPr wrap="squar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3D models, meshes, and imported geometry</a:t>
            </a:r>
            <a:endParaRPr lang="en-US" sz="1600" dirty="0"/>
          </a:p>
        </p:txBody>
      </p:sp>
      <p:sp>
        <p:nvSpPr>
          <p:cNvPr id="12" name="Shape 10"/>
          <p:cNvSpPr/>
          <p:nvPr/>
        </p:nvSpPr>
        <p:spPr>
          <a:xfrm>
            <a:off x="1016000" y="3683000"/>
            <a:ext cx="279400" cy="279400"/>
          </a:xfrm>
          <a:custGeom>
            <a:avLst/>
            <a:gdLst/>
            <a:ahLst/>
            <a:cxnLst/>
            <a:rect l="l" t="t" r="r" b="b"/>
            <a:pathLst>
              <a:path w="279400" h="279400">
                <a:moveTo>
                  <a:pt x="34925" y="244475"/>
                </a:moveTo>
                <a:lnTo>
                  <a:pt x="244475" y="244475"/>
                </a:lnTo>
                <a:cubicBezTo>
                  <a:pt x="263738" y="244475"/>
                  <a:pt x="279400" y="228813"/>
                  <a:pt x="279400" y="209550"/>
                </a:cubicBezTo>
                <a:lnTo>
                  <a:pt x="279400" y="78581"/>
                </a:lnTo>
                <a:cubicBezTo>
                  <a:pt x="279400" y="59318"/>
                  <a:pt x="263738" y="43656"/>
                  <a:pt x="244475" y="43656"/>
                </a:cubicBezTo>
                <a:lnTo>
                  <a:pt x="163002" y="43656"/>
                </a:lnTo>
                <a:cubicBezTo>
                  <a:pt x="159236" y="43656"/>
                  <a:pt x="155525" y="42456"/>
                  <a:pt x="152524" y="40164"/>
                </a:cubicBezTo>
                <a:lnTo>
                  <a:pt x="131569" y="24448"/>
                </a:lnTo>
                <a:cubicBezTo>
                  <a:pt x="125512" y="19918"/>
                  <a:pt x="118145" y="17463"/>
                  <a:pt x="110614" y="17463"/>
                </a:cubicBezTo>
                <a:lnTo>
                  <a:pt x="34925" y="17463"/>
                </a:lnTo>
                <a:cubicBezTo>
                  <a:pt x="15662" y="17463"/>
                  <a:pt x="0" y="33124"/>
                  <a:pt x="0" y="52388"/>
                </a:cubicBezTo>
                <a:lnTo>
                  <a:pt x="0" y="209550"/>
                </a:lnTo>
                <a:cubicBezTo>
                  <a:pt x="0" y="228813"/>
                  <a:pt x="15662" y="244475"/>
                  <a:pt x="34925" y="244475"/>
                </a:cubicBezTo>
                <a:close/>
              </a:path>
            </a:pathLst>
          </a:custGeom>
          <a:solidFill>
            <a:srgbClr val="FF6B35"/>
          </a:solidFill>
          <a:ln/>
        </p:spPr>
      </p:sp>
      <p:sp>
        <p:nvSpPr>
          <p:cNvPr id="13" name="Text 11"/>
          <p:cNvSpPr/>
          <p:nvPr/>
        </p:nvSpPr>
        <p:spPr>
          <a:xfrm>
            <a:off x="1422400" y="3657600"/>
            <a:ext cx="2540000" cy="3302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Prefabs/</a:t>
            </a:r>
            <a:endParaRPr lang="en-US" sz="1600" dirty="0"/>
          </a:p>
        </p:txBody>
      </p:sp>
      <p:sp>
        <p:nvSpPr>
          <p:cNvPr id="14" name="Text 12"/>
          <p:cNvSpPr/>
          <p:nvPr/>
        </p:nvSpPr>
        <p:spPr>
          <a:xfrm>
            <a:off x="1422400" y="4013200"/>
            <a:ext cx="5842000" cy="279400"/>
          </a:xfrm>
          <a:prstGeom prst="rect">
            <a:avLst/>
          </a:prstGeom>
          <a:noFill/>
          <a:ln/>
        </p:spPr>
        <p:txBody>
          <a:bodyPr wrap="squar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Reusable object templates and pre-configured assets</a:t>
            </a:r>
            <a:endParaRPr lang="en-US" sz="1600" dirty="0"/>
          </a:p>
        </p:txBody>
      </p:sp>
      <p:sp>
        <p:nvSpPr>
          <p:cNvPr id="15" name="Shape 13"/>
          <p:cNvSpPr/>
          <p:nvPr/>
        </p:nvSpPr>
        <p:spPr>
          <a:xfrm>
            <a:off x="1016000" y="4445000"/>
            <a:ext cx="279400" cy="279400"/>
          </a:xfrm>
          <a:custGeom>
            <a:avLst/>
            <a:gdLst/>
            <a:ahLst/>
            <a:cxnLst/>
            <a:rect l="l" t="t" r="r" b="b"/>
            <a:pathLst>
              <a:path w="279400" h="279400">
                <a:moveTo>
                  <a:pt x="34925" y="244475"/>
                </a:moveTo>
                <a:lnTo>
                  <a:pt x="244475" y="244475"/>
                </a:lnTo>
                <a:cubicBezTo>
                  <a:pt x="263738" y="244475"/>
                  <a:pt x="279400" y="228813"/>
                  <a:pt x="279400" y="209550"/>
                </a:cubicBezTo>
                <a:lnTo>
                  <a:pt x="279400" y="78581"/>
                </a:lnTo>
                <a:cubicBezTo>
                  <a:pt x="279400" y="59318"/>
                  <a:pt x="263738" y="43656"/>
                  <a:pt x="244475" y="43656"/>
                </a:cubicBezTo>
                <a:lnTo>
                  <a:pt x="163002" y="43656"/>
                </a:lnTo>
                <a:cubicBezTo>
                  <a:pt x="159236" y="43656"/>
                  <a:pt x="155525" y="42456"/>
                  <a:pt x="152524" y="40164"/>
                </a:cubicBezTo>
                <a:lnTo>
                  <a:pt x="131569" y="24448"/>
                </a:lnTo>
                <a:cubicBezTo>
                  <a:pt x="125512" y="19918"/>
                  <a:pt x="118145" y="17463"/>
                  <a:pt x="110614" y="17463"/>
                </a:cubicBezTo>
                <a:lnTo>
                  <a:pt x="34925" y="17463"/>
                </a:lnTo>
                <a:cubicBezTo>
                  <a:pt x="15662" y="17463"/>
                  <a:pt x="0" y="33124"/>
                  <a:pt x="0" y="52388"/>
                </a:cubicBezTo>
                <a:lnTo>
                  <a:pt x="0" y="209550"/>
                </a:lnTo>
                <a:cubicBezTo>
                  <a:pt x="0" y="228813"/>
                  <a:pt x="15662" y="244475"/>
                  <a:pt x="34925" y="244475"/>
                </a:cubicBezTo>
                <a:close/>
              </a:path>
            </a:pathLst>
          </a:custGeom>
          <a:solidFill>
            <a:srgbClr val="FF6B35"/>
          </a:solidFill>
          <a:ln/>
        </p:spPr>
      </p:sp>
      <p:sp>
        <p:nvSpPr>
          <p:cNvPr id="16" name="Text 14"/>
          <p:cNvSpPr/>
          <p:nvPr/>
        </p:nvSpPr>
        <p:spPr>
          <a:xfrm>
            <a:off x="1422400" y="4419600"/>
            <a:ext cx="2540000" cy="3302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Scenes/</a:t>
            </a:r>
            <a:endParaRPr lang="en-US" sz="1600" dirty="0"/>
          </a:p>
        </p:txBody>
      </p:sp>
      <p:sp>
        <p:nvSpPr>
          <p:cNvPr id="17" name="Text 15"/>
          <p:cNvSpPr/>
          <p:nvPr/>
        </p:nvSpPr>
        <p:spPr>
          <a:xfrm>
            <a:off x="1422400" y="4775200"/>
            <a:ext cx="5842000" cy="279400"/>
          </a:xfrm>
          <a:prstGeom prst="rect">
            <a:avLst/>
          </a:prstGeom>
          <a:noFill/>
          <a:ln/>
        </p:spPr>
        <p:txBody>
          <a:bodyPr wrap="squar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Saved scene files (.unity)</a:t>
            </a:r>
            <a:endParaRPr lang="en-US" sz="1600" dirty="0"/>
          </a:p>
        </p:txBody>
      </p:sp>
      <p:sp>
        <p:nvSpPr>
          <p:cNvPr id="18" name="Shape 16"/>
          <p:cNvSpPr/>
          <p:nvPr/>
        </p:nvSpPr>
        <p:spPr>
          <a:xfrm>
            <a:off x="8382000" y="2159000"/>
            <a:ext cx="279400" cy="279400"/>
          </a:xfrm>
          <a:custGeom>
            <a:avLst/>
            <a:gdLst/>
            <a:ahLst/>
            <a:cxnLst/>
            <a:rect l="l" t="t" r="r" b="b"/>
            <a:pathLst>
              <a:path w="279400" h="279400">
                <a:moveTo>
                  <a:pt x="34925" y="244475"/>
                </a:moveTo>
                <a:lnTo>
                  <a:pt x="244475" y="244475"/>
                </a:lnTo>
                <a:cubicBezTo>
                  <a:pt x="263738" y="244475"/>
                  <a:pt x="279400" y="228813"/>
                  <a:pt x="279400" y="209550"/>
                </a:cubicBezTo>
                <a:lnTo>
                  <a:pt x="279400" y="78581"/>
                </a:lnTo>
                <a:cubicBezTo>
                  <a:pt x="279400" y="59318"/>
                  <a:pt x="263738" y="43656"/>
                  <a:pt x="244475" y="43656"/>
                </a:cubicBezTo>
                <a:lnTo>
                  <a:pt x="163002" y="43656"/>
                </a:lnTo>
                <a:cubicBezTo>
                  <a:pt x="159236" y="43656"/>
                  <a:pt x="155525" y="42456"/>
                  <a:pt x="152524" y="40164"/>
                </a:cubicBezTo>
                <a:lnTo>
                  <a:pt x="131569" y="24448"/>
                </a:lnTo>
                <a:cubicBezTo>
                  <a:pt x="125512" y="19918"/>
                  <a:pt x="118145" y="17463"/>
                  <a:pt x="110614" y="17463"/>
                </a:cubicBezTo>
                <a:lnTo>
                  <a:pt x="34925" y="17463"/>
                </a:lnTo>
                <a:cubicBezTo>
                  <a:pt x="15662" y="17463"/>
                  <a:pt x="0" y="33124"/>
                  <a:pt x="0" y="52388"/>
                </a:cubicBezTo>
                <a:lnTo>
                  <a:pt x="0" y="209550"/>
                </a:lnTo>
                <a:cubicBezTo>
                  <a:pt x="0" y="228813"/>
                  <a:pt x="15662" y="244475"/>
                  <a:pt x="34925" y="244475"/>
                </a:cubicBezTo>
                <a:close/>
              </a:path>
            </a:pathLst>
          </a:custGeom>
          <a:solidFill>
            <a:srgbClr val="FF6B35"/>
          </a:solidFill>
          <a:ln/>
        </p:spPr>
      </p:sp>
      <p:sp>
        <p:nvSpPr>
          <p:cNvPr id="19" name="Text 17"/>
          <p:cNvSpPr/>
          <p:nvPr/>
        </p:nvSpPr>
        <p:spPr>
          <a:xfrm>
            <a:off x="8788400" y="2133600"/>
            <a:ext cx="2540000" cy="3302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Scripts/</a:t>
            </a:r>
            <a:endParaRPr lang="en-US" sz="1600" dirty="0"/>
          </a:p>
        </p:txBody>
      </p:sp>
      <p:sp>
        <p:nvSpPr>
          <p:cNvPr id="20" name="Text 18"/>
          <p:cNvSpPr/>
          <p:nvPr/>
        </p:nvSpPr>
        <p:spPr>
          <a:xfrm>
            <a:off x="8788400" y="2489200"/>
            <a:ext cx="5842000" cy="279400"/>
          </a:xfrm>
          <a:prstGeom prst="rect">
            <a:avLst/>
          </a:prstGeom>
          <a:noFill/>
          <a:ln/>
        </p:spPr>
        <p:txBody>
          <a:bodyPr wrap="squar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C# script files and code</a:t>
            </a:r>
            <a:endParaRPr lang="en-US" sz="1600" dirty="0"/>
          </a:p>
        </p:txBody>
      </p:sp>
      <p:sp>
        <p:nvSpPr>
          <p:cNvPr id="21" name="Shape 19"/>
          <p:cNvSpPr/>
          <p:nvPr/>
        </p:nvSpPr>
        <p:spPr>
          <a:xfrm>
            <a:off x="8382000" y="2921000"/>
            <a:ext cx="279400" cy="279400"/>
          </a:xfrm>
          <a:custGeom>
            <a:avLst/>
            <a:gdLst/>
            <a:ahLst/>
            <a:cxnLst/>
            <a:rect l="l" t="t" r="r" b="b"/>
            <a:pathLst>
              <a:path w="279400" h="279400">
                <a:moveTo>
                  <a:pt x="34925" y="244475"/>
                </a:moveTo>
                <a:lnTo>
                  <a:pt x="244475" y="244475"/>
                </a:lnTo>
                <a:cubicBezTo>
                  <a:pt x="263738" y="244475"/>
                  <a:pt x="279400" y="228813"/>
                  <a:pt x="279400" y="209550"/>
                </a:cubicBezTo>
                <a:lnTo>
                  <a:pt x="279400" y="78581"/>
                </a:lnTo>
                <a:cubicBezTo>
                  <a:pt x="279400" y="59318"/>
                  <a:pt x="263738" y="43656"/>
                  <a:pt x="244475" y="43656"/>
                </a:cubicBezTo>
                <a:lnTo>
                  <a:pt x="163002" y="43656"/>
                </a:lnTo>
                <a:cubicBezTo>
                  <a:pt x="159236" y="43656"/>
                  <a:pt x="155525" y="42456"/>
                  <a:pt x="152524" y="40164"/>
                </a:cubicBezTo>
                <a:lnTo>
                  <a:pt x="131569" y="24448"/>
                </a:lnTo>
                <a:cubicBezTo>
                  <a:pt x="125512" y="19918"/>
                  <a:pt x="118145" y="17463"/>
                  <a:pt x="110614" y="17463"/>
                </a:cubicBezTo>
                <a:lnTo>
                  <a:pt x="34925" y="17463"/>
                </a:lnTo>
                <a:cubicBezTo>
                  <a:pt x="15662" y="17463"/>
                  <a:pt x="0" y="33124"/>
                  <a:pt x="0" y="52388"/>
                </a:cubicBezTo>
                <a:lnTo>
                  <a:pt x="0" y="209550"/>
                </a:lnTo>
                <a:cubicBezTo>
                  <a:pt x="0" y="228813"/>
                  <a:pt x="15662" y="244475"/>
                  <a:pt x="34925" y="244475"/>
                </a:cubicBezTo>
                <a:close/>
              </a:path>
            </a:pathLst>
          </a:custGeom>
          <a:solidFill>
            <a:srgbClr val="FF6B35"/>
          </a:solidFill>
          <a:ln/>
        </p:spPr>
      </p:sp>
      <p:sp>
        <p:nvSpPr>
          <p:cNvPr id="22" name="Text 20"/>
          <p:cNvSpPr/>
          <p:nvPr/>
        </p:nvSpPr>
        <p:spPr>
          <a:xfrm>
            <a:off x="8788400" y="2895600"/>
            <a:ext cx="2540000" cy="3302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Textures/</a:t>
            </a:r>
            <a:endParaRPr lang="en-US" sz="1600" dirty="0"/>
          </a:p>
        </p:txBody>
      </p:sp>
      <p:sp>
        <p:nvSpPr>
          <p:cNvPr id="23" name="Text 21"/>
          <p:cNvSpPr/>
          <p:nvPr/>
        </p:nvSpPr>
        <p:spPr>
          <a:xfrm>
            <a:off x="8788400" y="3251200"/>
            <a:ext cx="5842000" cy="279400"/>
          </a:xfrm>
          <a:prstGeom prst="rect">
            <a:avLst/>
          </a:prstGeom>
          <a:noFill/>
          <a:ln/>
        </p:spPr>
        <p:txBody>
          <a:bodyPr wrap="squar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Image files, textures, and skyboxes</a:t>
            </a:r>
            <a:endParaRPr lang="en-US" sz="1600" dirty="0"/>
          </a:p>
        </p:txBody>
      </p:sp>
      <p:sp>
        <p:nvSpPr>
          <p:cNvPr id="24" name="Shape 22"/>
          <p:cNvSpPr/>
          <p:nvPr/>
        </p:nvSpPr>
        <p:spPr>
          <a:xfrm>
            <a:off x="8382000" y="3683000"/>
            <a:ext cx="279400" cy="279400"/>
          </a:xfrm>
          <a:custGeom>
            <a:avLst/>
            <a:gdLst/>
            <a:ahLst/>
            <a:cxnLst/>
            <a:rect l="l" t="t" r="r" b="b"/>
            <a:pathLst>
              <a:path w="279400" h="279400">
                <a:moveTo>
                  <a:pt x="34925" y="244475"/>
                </a:moveTo>
                <a:lnTo>
                  <a:pt x="244475" y="244475"/>
                </a:lnTo>
                <a:cubicBezTo>
                  <a:pt x="263738" y="244475"/>
                  <a:pt x="279400" y="228813"/>
                  <a:pt x="279400" y="209550"/>
                </a:cubicBezTo>
                <a:lnTo>
                  <a:pt x="279400" y="78581"/>
                </a:lnTo>
                <a:cubicBezTo>
                  <a:pt x="279400" y="59318"/>
                  <a:pt x="263738" y="43656"/>
                  <a:pt x="244475" y="43656"/>
                </a:cubicBezTo>
                <a:lnTo>
                  <a:pt x="163002" y="43656"/>
                </a:lnTo>
                <a:cubicBezTo>
                  <a:pt x="159236" y="43656"/>
                  <a:pt x="155525" y="42456"/>
                  <a:pt x="152524" y="40164"/>
                </a:cubicBezTo>
                <a:lnTo>
                  <a:pt x="131569" y="24448"/>
                </a:lnTo>
                <a:cubicBezTo>
                  <a:pt x="125512" y="19918"/>
                  <a:pt x="118145" y="17463"/>
                  <a:pt x="110614" y="17463"/>
                </a:cubicBezTo>
                <a:lnTo>
                  <a:pt x="34925" y="17463"/>
                </a:lnTo>
                <a:cubicBezTo>
                  <a:pt x="15662" y="17463"/>
                  <a:pt x="0" y="33124"/>
                  <a:pt x="0" y="52388"/>
                </a:cubicBezTo>
                <a:lnTo>
                  <a:pt x="0" y="209550"/>
                </a:lnTo>
                <a:cubicBezTo>
                  <a:pt x="0" y="228813"/>
                  <a:pt x="15662" y="244475"/>
                  <a:pt x="34925" y="244475"/>
                </a:cubicBezTo>
                <a:close/>
              </a:path>
            </a:pathLst>
          </a:custGeom>
          <a:solidFill>
            <a:srgbClr val="FF6B35"/>
          </a:solidFill>
          <a:ln/>
        </p:spPr>
      </p:sp>
      <p:sp>
        <p:nvSpPr>
          <p:cNvPr id="25" name="Text 23"/>
          <p:cNvSpPr/>
          <p:nvPr/>
        </p:nvSpPr>
        <p:spPr>
          <a:xfrm>
            <a:off x="8788400" y="3657600"/>
            <a:ext cx="2540000" cy="3302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Audio/</a:t>
            </a:r>
            <a:endParaRPr lang="en-US" sz="1600" dirty="0"/>
          </a:p>
        </p:txBody>
      </p:sp>
      <p:sp>
        <p:nvSpPr>
          <p:cNvPr id="26" name="Text 24"/>
          <p:cNvSpPr/>
          <p:nvPr/>
        </p:nvSpPr>
        <p:spPr>
          <a:xfrm>
            <a:off x="8788400" y="4013200"/>
            <a:ext cx="5842000" cy="279400"/>
          </a:xfrm>
          <a:prstGeom prst="rect">
            <a:avLst/>
          </a:prstGeom>
          <a:noFill/>
          <a:ln/>
        </p:spPr>
        <p:txBody>
          <a:bodyPr wrap="squar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Sound effects, music, and audio clips</a:t>
            </a:r>
            <a:endParaRPr lang="en-US" sz="1600" dirty="0"/>
          </a:p>
        </p:txBody>
      </p:sp>
      <p:sp>
        <p:nvSpPr>
          <p:cNvPr id="27" name="Shape 25"/>
          <p:cNvSpPr/>
          <p:nvPr/>
        </p:nvSpPr>
        <p:spPr>
          <a:xfrm>
            <a:off x="762000" y="5334000"/>
            <a:ext cx="14732000" cy="3048000"/>
          </a:xfrm>
          <a:prstGeom prst="rect">
            <a:avLst/>
          </a:prstGeom>
          <a:solidFill>
            <a:srgbClr val="1A1D23"/>
          </a:solidFill>
          <a:ln/>
        </p:spPr>
      </p:sp>
      <p:sp>
        <p:nvSpPr>
          <p:cNvPr id="28" name="Shape 26"/>
          <p:cNvSpPr/>
          <p:nvPr/>
        </p:nvSpPr>
        <p:spPr>
          <a:xfrm>
            <a:off x="1066800" y="5588000"/>
            <a:ext cx="304800" cy="304800"/>
          </a:xfrm>
          <a:custGeom>
            <a:avLst/>
            <a:gdLst/>
            <a:ahLst/>
            <a:cxnLst/>
            <a:rect l="l" t="t" r="r" b="b"/>
            <a:pathLst>
              <a:path w="304800" h="304800">
                <a:moveTo>
                  <a:pt x="19348" y="57150"/>
                </a:moveTo>
                <a:lnTo>
                  <a:pt x="19348" y="146149"/>
                </a:lnTo>
                <a:cubicBezTo>
                  <a:pt x="19348" y="156270"/>
                  <a:pt x="23336" y="165973"/>
                  <a:pt x="30480" y="173117"/>
                </a:cubicBezTo>
                <a:lnTo>
                  <a:pt x="144780" y="287417"/>
                </a:lnTo>
                <a:cubicBezTo>
                  <a:pt x="159663" y="302300"/>
                  <a:pt x="183773" y="302300"/>
                  <a:pt x="198656" y="287417"/>
                </a:cubicBezTo>
                <a:lnTo>
                  <a:pt x="287655" y="198418"/>
                </a:lnTo>
                <a:cubicBezTo>
                  <a:pt x="302538" y="183535"/>
                  <a:pt x="302538" y="159425"/>
                  <a:pt x="287655" y="144542"/>
                </a:cubicBezTo>
                <a:lnTo>
                  <a:pt x="173355" y="30242"/>
                </a:lnTo>
                <a:cubicBezTo>
                  <a:pt x="166211" y="23039"/>
                  <a:pt x="156567" y="19050"/>
                  <a:pt x="146447" y="19050"/>
                </a:cubicBezTo>
                <a:lnTo>
                  <a:pt x="57448" y="19050"/>
                </a:lnTo>
                <a:cubicBezTo>
                  <a:pt x="36433" y="19050"/>
                  <a:pt x="19348" y="36135"/>
                  <a:pt x="19348" y="57150"/>
                </a:cubicBezTo>
                <a:close/>
                <a:moveTo>
                  <a:pt x="86023" y="66675"/>
                </a:moveTo>
                <a:cubicBezTo>
                  <a:pt x="96537" y="66675"/>
                  <a:pt x="105073" y="75211"/>
                  <a:pt x="105073" y="85725"/>
                </a:cubicBezTo>
                <a:cubicBezTo>
                  <a:pt x="105073" y="96239"/>
                  <a:pt x="96537" y="104775"/>
                  <a:pt x="86023" y="104775"/>
                </a:cubicBezTo>
                <a:cubicBezTo>
                  <a:pt x="75509" y="104775"/>
                  <a:pt x="66973" y="96239"/>
                  <a:pt x="66973" y="85725"/>
                </a:cubicBezTo>
                <a:cubicBezTo>
                  <a:pt x="66973" y="75211"/>
                  <a:pt x="75509" y="66675"/>
                  <a:pt x="86023" y="66675"/>
                </a:cubicBezTo>
                <a:close/>
              </a:path>
            </a:pathLst>
          </a:custGeom>
          <a:solidFill>
            <a:srgbClr val="FF6B35"/>
          </a:solidFill>
          <a:ln/>
        </p:spPr>
      </p:sp>
      <p:sp>
        <p:nvSpPr>
          <p:cNvPr id="29" name="Text 27"/>
          <p:cNvSpPr/>
          <p:nvPr/>
        </p:nvSpPr>
        <p:spPr>
          <a:xfrm>
            <a:off x="1498600" y="5588000"/>
            <a:ext cx="3810000" cy="3048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NAMING CONVENTIONS</a:t>
            </a:r>
            <a:endParaRPr lang="en-US" sz="1600" dirty="0"/>
          </a:p>
        </p:txBody>
      </p:sp>
      <p:sp>
        <p:nvSpPr>
          <p:cNvPr id="30" name="Text 28"/>
          <p:cNvSpPr/>
          <p:nvPr/>
        </p:nvSpPr>
        <p:spPr>
          <a:xfrm>
            <a:off x="1066800" y="6070600"/>
            <a:ext cx="6858000" cy="20955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Use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descriptive names</a:t>
            </a:r>
            <a:endParaRPr lang="en-US" sz="1600" dirty="0"/>
          </a:p>
          <a:p>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PlayerController.cs (not script1.cs)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Use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PascalCase</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for scripts</a:t>
            </a:r>
            <a:endParaRPr lang="en-US" sz="1600" dirty="0"/>
          </a:p>
          <a:p>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PlanetRotation.cs, SunMaterial.mat</a:t>
            </a:r>
            <a:endParaRPr lang="en-US" sz="1600" dirty="0"/>
          </a:p>
        </p:txBody>
      </p:sp>
      <p:sp>
        <p:nvSpPr>
          <p:cNvPr id="31" name="Text 29"/>
          <p:cNvSpPr/>
          <p:nvPr/>
        </p:nvSpPr>
        <p:spPr>
          <a:xfrm>
            <a:off x="8382000" y="6070600"/>
            <a:ext cx="6858000" cy="20955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Avoid spaces</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in filenames</a:t>
            </a:r>
            <a:endParaRPr lang="en-US" sz="1600" dirty="0"/>
          </a:p>
          <a:p>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Use underscores or camelCase instead</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Keep a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consistent structure</a:t>
            </a:r>
            <a:endParaRPr lang="en-US" sz="1600" dirty="0"/>
          </a:p>
          <a:p>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From day one — don't postpone organization</a:t>
            </a:r>
            <a:endParaRPr lang="en-US" sz="1600" dirty="0"/>
          </a:p>
        </p:txBody>
      </p:sp>
      <p:sp>
        <p:nvSpPr>
          <p:cNvPr id="32" name="Shape 30"/>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143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Unity Editor Interface — The Big Picture</a:t>
            </a:r>
            <a:endParaRPr lang="en-US" sz="2800" dirty="0"/>
          </a:p>
        </p:txBody>
      </p:sp>
      <p:sp>
        <p:nvSpPr>
          <p:cNvPr id="4" name="Shape 2"/>
          <p:cNvSpPr/>
          <p:nvPr/>
        </p:nvSpPr>
        <p:spPr>
          <a:xfrm>
            <a:off x="762000" y="1206500"/>
            <a:ext cx="762000" cy="50800"/>
          </a:xfrm>
          <a:prstGeom prst="rect">
            <a:avLst/>
          </a:prstGeom>
          <a:solidFill>
            <a:srgbClr val="FF6B35"/>
          </a:solidFill>
          <a:ln/>
        </p:spPr>
      </p:sp>
      <p:pic>
        <p:nvPicPr>
          <p:cNvPr id="5" name="Image 0" descr="https://kimi-img.moonshot.cn/pub/slides/okc/3rhuirp567422/mnt/agents/output/game-programming-week2/images/3_When_will_we_see_a_modern_Unity_Unity.png">    </p:cNvPr>
          <p:cNvPicPr>
            <a:picLocks noChangeAspect="1"/>
          </p:cNvPicPr>
          <p:nvPr/>
        </p:nvPicPr>
        <p:blipFill>
          <a:blip r:embed="rId1"/>
          <a:srcRect l="0" r="0" t="617" b="617"/>
          <a:stretch/>
        </p:blipFill>
        <p:spPr>
          <a:xfrm>
            <a:off x="762000" y="1524000"/>
            <a:ext cx="9144000" cy="5080000"/>
          </a:xfrm>
          <a:prstGeom prst="roundRect">
            <a:avLst>
              <a:gd name="adj" fmla="val 5000"/>
            </a:avLst>
          </a:prstGeom>
        </p:spPr>
      </p:pic>
      <p:sp>
        <p:nvSpPr>
          <p:cNvPr id="6" name="Shape 3"/>
          <p:cNvSpPr/>
          <p:nvPr/>
        </p:nvSpPr>
        <p:spPr>
          <a:xfrm>
            <a:off x="2921000" y="1714500"/>
            <a:ext cx="1270000" cy="304800"/>
          </a:xfrm>
          <a:prstGeom prst="rect">
            <a:avLst/>
          </a:prstGeom>
          <a:solidFill>
            <a:srgbClr val="FF6B35"/>
          </a:solidFill>
          <a:ln/>
        </p:spPr>
      </p:sp>
      <p:sp>
        <p:nvSpPr>
          <p:cNvPr id="7" name="Text 4"/>
          <p:cNvSpPr/>
          <p:nvPr/>
        </p:nvSpPr>
        <p:spPr>
          <a:xfrm>
            <a:off x="2921000" y="1714500"/>
            <a:ext cx="1270000" cy="304800"/>
          </a:xfrm>
          <a:prstGeom prst="rect">
            <a:avLst/>
          </a:prstGeom>
          <a:noFill/>
          <a:ln/>
        </p:spPr>
        <p:txBody>
          <a:bodyPr wrap="none" lIns="0" tIns="0" rIns="0" bIns="0" rtlCol="0" anchor="ctr"/>
          <a:lstStyle/>
          <a:p>
            <a:pPr algn="ctr">
              <a:lnSpc>
                <a:spcPct val="100000"/>
              </a:lnSpc>
            </a:pPr>
            <a:r>
              <a:rPr lang="en-US" sz="1100" spc="100" kern="0" dirty="0">
                <a:solidFill>
                  <a:srgbClr val="FFFFFF"/>
                </a:solidFill>
                <a:latin typeface="Liter" pitchFamily="34" charset="0"/>
                <a:ea typeface="Liter" pitchFamily="34" charset="-122"/>
                <a:cs typeface="Liter" pitchFamily="34" charset="-120"/>
              </a:rPr>
              <a:t>SCENE VIEW</a:t>
            </a:r>
            <a:endParaRPr lang="en-US" sz="1600" dirty="0"/>
          </a:p>
        </p:txBody>
      </p:sp>
      <p:sp>
        <p:nvSpPr>
          <p:cNvPr id="8" name="Shape 5"/>
          <p:cNvSpPr/>
          <p:nvPr/>
        </p:nvSpPr>
        <p:spPr>
          <a:xfrm>
            <a:off x="5461000" y="1714500"/>
            <a:ext cx="1270000" cy="304800"/>
          </a:xfrm>
          <a:prstGeom prst="rect">
            <a:avLst/>
          </a:prstGeom>
          <a:solidFill>
            <a:srgbClr val="1A1D23"/>
          </a:solidFill>
          <a:ln/>
        </p:spPr>
      </p:sp>
      <p:sp>
        <p:nvSpPr>
          <p:cNvPr id="9" name="Text 6"/>
          <p:cNvSpPr/>
          <p:nvPr/>
        </p:nvSpPr>
        <p:spPr>
          <a:xfrm>
            <a:off x="5461000" y="1714500"/>
            <a:ext cx="1270000" cy="304800"/>
          </a:xfrm>
          <a:prstGeom prst="rect">
            <a:avLst/>
          </a:prstGeom>
          <a:noFill/>
          <a:ln/>
        </p:spPr>
        <p:txBody>
          <a:bodyPr wrap="none" lIns="0" tIns="0" rIns="0" bIns="0" rtlCol="0" anchor="ctr"/>
          <a:lstStyle/>
          <a:p>
            <a:pPr algn="ctr">
              <a:lnSpc>
                <a:spcPct val="100000"/>
              </a:lnSpc>
            </a:pPr>
            <a:r>
              <a:rPr lang="en-US" sz="1100" spc="100" kern="0" dirty="0">
                <a:solidFill>
                  <a:srgbClr val="FFFFFF"/>
                </a:solidFill>
                <a:latin typeface="Liter" pitchFamily="34" charset="0"/>
                <a:ea typeface="Liter" pitchFamily="34" charset="-122"/>
                <a:cs typeface="Liter" pitchFamily="34" charset="-120"/>
              </a:rPr>
              <a:t>GAME VIEW</a:t>
            </a:r>
            <a:endParaRPr lang="en-US" sz="1600" dirty="0"/>
          </a:p>
        </p:txBody>
      </p:sp>
      <p:sp>
        <p:nvSpPr>
          <p:cNvPr id="10" name="Shape 7"/>
          <p:cNvSpPr/>
          <p:nvPr/>
        </p:nvSpPr>
        <p:spPr>
          <a:xfrm>
            <a:off x="889000" y="3175000"/>
            <a:ext cx="1270000" cy="304800"/>
          </a:xfrm>
          <a:prstGeom prst="rect">
            <a:avLst/>
          </a:prstGeom>
          <a:solidFill>
            <a:srgbClr val="FF6B35"/>
          </a:solidFill>
          <a:ln/>
        </p:spPr>
      </p:sp>
      <p:sp>
        <p:nvSpPr>
          <p:cNvPr id="11" name="Text 8"/>
          <p:cNvSpPr/>
          <p:nvPr/>
        </p:nvSpPr>
        <p:spPr>
          <a:xfrm>
            <a:off x="889000" y="3175000"/>
            <a:ext cx="1270000" cy="304800"/>
          </a:xfrm>
          <a:prstGeom prst="rect">
            <a:avLst/>
          </a:prstGeom>
          <a:noFill/>
          <a:ln/>
        </p:spPr>
        <p:txBody>
          <a:bodyPr wrap="none" lIns="0" tIns="0" rIns="0" bIns="0" rtlCol="0" anchor="ctr"/>
          <a:lstStyle/>
          <a:p>
            <a:pPr algn="ctr">
              <a:lnSpc>
                <a:spcPct val="100000"/>
              </a:lnSpc>
            </a:pPr>
            <a:r>
              <a:rPr lang="en-US" sz="1100" spc="100" kern="0" dirty="0">
                <a:solidFill>
                  <a:srgbClr val="FFFFFF"/>
                </a:solidFill>
                <a:latin typeface="Liter" pitchFamily="34" charset="0"/>
                <a:ea typeface="Liter" pitchFamily="34" charset="-122"/>
                <a:cs typeface="Liter" pitchFamily="34" charset="-120"/>
              </a:rPr>
              <a:t>HIERARCHY</a:t>
            </a:r>
            <a:endParaRPr lang="en-US" sz="1600" dirty="0"/>
          </a:p>
        </p:txBody>
      </p:sp>
      <p:sp>
        <p:nvSpPr>
          <p:cNvPr id="12" name="Shape 9"/>
          <p:cNvSpPr/>
          <p:nvPr/>
        </p:nvSpPr>
        <p:spPr>
          <a:xfrm>
            <a:off x="8064500" y="3175000"/>
            <a:ext cx="1270000" cy="304800"/>
          </a:xfrm>
          <a:prstGeom prst="rect">
            <a:avLst/>
          </a:prstGeom>
          <a:solidFill>
            <a:srgbClr val="FF6B35"/>
          </a:solidFill>
          <a:ln/>
        </p:spPr>
      </p:sp>
      <p:sp>
        <p:nvSpPr>
          <p:cNvPr id="13" name="Text 10"/>
          <p:cNvSpPr/>
          <p:nvPr/>
        </p:nvSpPr>
        <p:spPr>
          <a:xfrm>
            <a:off x="8064500" y="3175000"/>
            <a:ext cx="1270000" cy="304800"/>
          </a:xfrm>
          <a:prstGeom prst="rect">
            <a:avLst/>
          </a:prstGeom>
          <a:noFill/>
          <a:ln/>
        </p:spPr>
        <p:txBody>
          <a:bodyPr wrap="none" lIns="0" tIns="0" rIns="0" bIns="0" rtlCol="0" anchor="ctr"/>
          <a:lstStyle/>
          <a:p>
            <a:pPr algn="ctr">
              <a:lnSpc>
                <a:spcPct val="100000"/>
              </a:lnSpc>
            </a:pPr>
            <a:r>
              <a:rPr lang="en-US" sz="1100" spc="100" kern="0" dirty="0">
                <a:solidFill>
                  <a:srgbClr val="FFFFFF"/>
                </a:solidFill>
                <a:latin typeface="Liter" pitchFamily="34" charset="0"/>
                <a:ea typeface="Liter" pitchFamily="34" charset="-122"/>
                <a:cs typeface="Liter" pitchFamily="34" charset="-120"/>
              </a:rPr>
              <a:t>INSPECTOR</a:t>
            </a:r>
            <a:endParaRPr lang="en-US" sz="1600" dirty="0"/>
          </a:p>
        </p:txBody>
      </p:sp>
      <p:sp>
        <p:nvSpPr>
          <p:cNvPr id="14" name="Shape 11"/>
          <p:cNvSpPr/>
          <p:nvPr/>
        </p:nvSpPr>
        <p:spPr>
          <a:xfrm>
            <a:off x="3048000" y="5969000"/>
            <a:ext cx="1270000" cy="304800"/>
          </a:xfrm>
          <a:prstGeom prst="rect">
            <a:avLst/>
          </a:prstGeom>
          <a:solidFill>
            <a:srgbClr val="FF6B35"/>
          </a:solidFill>
          <a:ln/>
        </p:spPr>
      </p:sp>
      <p:sp>
        <p:nvSpPr>
          <p:cNvPr id="15" name="Text 12"/>
          <p:cNvSpPr/>
          <p:nvPr/>
        </p:nvSpPr>
        <p:spPr>
          <a:xfrm>
            <a:off x="3048000" y="5969000"/>
            <a:ext cx="1270000" cy="304800"/>
          </a:xfrm>
          <a:prstGeom prst="rect">
            <a:avLst/>
          </a:prstGeom>
          <a:noFill/>
          <a:ln/>
        </p:spPr>
        <p:txBody>
          <a:bodyPr wrap="none" lIns="0" tIns="0" rIns="0" bIns="0" rtlCol="0" anchor="ctr"/>
          <a:lstStyle/>
          <a:p>
            <a:pPr algn="ctr">
              <a:lnSpc>
                <a:spcPct val="100000"/>
              </a:lnSpc>
            </a:pPr>
            <a:r>
              <a:rPr lang="en-US" sz="1100" spc="100" kern="0" dirty="0">
                <a:solidFill>
                  <a:srgbClr val="FFFFFF"/>
                </a:solidFill>
                <a:latin typeface="Liter" pitchFamily="34" charset="0"/>
                <a:ea typeface="Liter" pitchFamily="34" charset="-122"/>
                <a:cs typeface="Liter" pitchFamily="34" charset="-120"/>
              </a:rPr>
              <a:t>PROJECT</a:t>
            </a:r>
            <a:endParaRPr lang="en-US" sz="1600" dirty="0"/>
          </a:p>
        </p:txBody>
      </p:sp>
      <p:sp>
        <p:nvSpPr>
          <p:cNvPr id="16" name="Shape 13"/>
          <p:cNvSpPr/>
          <p:nvPr/>
        </p:nvSpPr>
        <p:spPr>
          <a:xfrm>
            <a:off x="10287000" y="1524000"/>
            <a:ext cx="5207000" cy="914400"/>
          </a:xfrm>
          <a:prstGeom prst="rect">
            <a:avLst/>
          </a:prstGeom>
          <a:solidFill>
            <a:srgbClr val="FFFFFF"/>
          </a:solidFill>
          <a:ln w="12700">
            <a:solidFill>
              <a:srgbClr val="E8EAED"/>
            </a:solidFill>
            <a:prstDash val="solid"/>
          </a:ln>
        </p:spPr>
      </p:sp>
      <p:sp>
        <p:nvSpPr>
          <p:cNvPr id="17" name="Text 14"/>
          <p:cNvSpPr/>
          <p:nvPr/>
        </p:nvSpPr>
        <p:spPr>
          <a:xfrm>
            <a:off x="10439400" y="1625600"/>
            <a:ext cx="457200" cy="457200"/>
          </a:xfrm>
          <a:prstGeom prst="rect">
            <a:avLst/>
          </a:prstGeom>
          <a:noFill/>
          <a:ln/>
        </p:spPr>
        <p:txBody>
          <a:bodyPr wrap="none" lIns="0" tIns="0" rIns="0" bIns="0" rtlCol="0" anchor="ctr"/>
          <a:lstStyle/>
          <a:p>
            <a:pPr algn="ctr">
              <a:lnSpc>
                <a:spcPct val="100000"/>
              </a:lnSpc>
            </a:pPr>
            <a:r>
              <a:rPr lang="en-US" sz="2000" dirty="0">
                <a:solidFill>
                  <a:srgbClr val="FF6B35"/>
                </a:solidFill>
                <a:latin typeface="Liter" pitchFamily="34" charset="0"/>
                <a:ea typeface="Liter" pitchFamily="34" charset="-122"/>
                <a:cs typeface="Liter" pitchFamily="34" charset="-120"/>
              </a:rPr>
              <a:t>1</a:t>
            </a:r>
            <a:endParaRPr lang="en-US" sz="1600" dirty="0"/>
          </a:p>
        </p:txBody>
      </p:sp>
      <p:sp>
        <p:nvSpPr>
          <p:cNvPr id="18" name="Text 15"/>
          <p:cNvSpPr/>
          <p:nvPr/>
        </p:nvSpPr>
        <p:spPr>
          <a:xfrm>
            <a:off x="10972800" y="1625600"/>
            <a:ext cx="4318000" cy="3048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Scene View</a:t>
            </a:r>
            <a:endParaRPr lang="en-US" sz="1600" dirty="0"/>
          </a:p>
        </p:txBody>
      </p:sp>
      <p:sp>
        <p:nvSpPr>
          <p:cNvPr id="19" name="Text 16"/>
          <p:cNvSpPr/>
          <p:nvPr/>
        </p:nvSpPr>
        <p:spPr>
          <a:xfrm>
            <a:off x="10972800" y="1968500"/>
            <a:ext cx="4318000" cy="355600"/>
          </a:xfrm>
          <a:prstGeom prst="rect">
            <a:avLst/>
          </a:prstGeom>
          <a:noFill/>
          <a:ln/>
        </p:spPr>
        <p:txBody>
          <a:bodyPr wrap="square" lIns="0" tIns="0" rIns="0" bIns="0" rtlCol="0" anchor="ctr"/>
          <a:lstStyle/>
          <a:p>
            <a:pPr>
              <a:lnSpc>
                <a:spcPct val="100000"/>
              </a:lnSpc>
            </a:pPr>
            <a:r>
              <a:rPr lang="en-US" sz="1300" dirty="0">
                <a:solidFill>
                  <a:srgbClr val="6B7280"/>
                </a:solidFill>
                <a:latin typeface="Quattrocento Sans" pitchFamily="34" charset="0"/>
                <a:ea typeface="Quattrocento Sans" pitchFamily="34" charset="-122"/>
                <a:cs typeface="Quattrocento Sans" pitchFamily="34" charset="-120"/>
              </a:rPr>
              <a:t>Your interactive 3D workspace for building</a:t>
            </a:r>
            <a:endParaRPr lang="en-US" sz="1600" dirty="0"/>
          </a:p>
        </p:txBody>
      </p:sp>
      <p:sp>
        <p:nvSpPr>
          <p:cNvPr id="20" name="Shape 17"/>
          <p:cNvSpPr/>
          <p:nvPr/>
        </p:nvSpPr>
        <p:spPr>
          <a:xfrm>
            <a:off x="10287000" y="2616200"/>
            <a:ext cx="5207000" cy="914400"/>
          </a:xfrm>
          <a:prstGeom prst="rect">
            <a:avLst/>
          </a:prstGeom>
          <a:solidFill>
            <a:srgbClr val="FFFFFF"/>
          </a:solidFill>
          <a:ln w="12700">
            <a:solidFill>
              <a:srgbClr val="E8EAED"/>
            </a:solidFill>
            <a:prstDash val="solid"/>
          </a:ln>
        </p:spPr>
      </p:sp>
      <p:sp>
        <p:nvSpPr>
          <p:cNvPr id="21" name="Text 18"/>
          <p:cNvSpPr/>
          <p:nvPr/>
        </p:nvSpPr>
        <p:spPr>
          <a:xfrm>
            <a:off x="10439400" y="2717800"/>
            <a:ext cx="457200" cy="457200"/>
          </a:xfrm>
          <a:prstGeom prst="rect">
            <a:avLst/>
          </a:prstGeom>
          <a:noFill/>
          <a:ln/>
        </p:spPr>
        <p:txBody>
          <a:bodyPr wrap="none" lIns="0" tIns="0" rIns="0" bIns="0" rtlCol="0" anchor="ctr"/>
          <a:lstStyle/>
          <a:p>
            <a:pPr algn="ctr">
              <a:lnSpc>
                <a:spcPct val="100000"/>
              </a:lnSpc>
            </a:pPr>
            <a:r>
              <a:rPr lang="en-US" sz="2000" dirty="0">
                <a:solidFill>
                  <a:srgbClr val="FF6B35"/>
                </a:solidFill>
                <a:latin typeface="Liter" pitchFamily="34" charset="0"/>
                <a:ea typeface="Liter" pitchFamily="34" charset="-122"/>
                <a:cs typeface="Liter" pitchFamily="34" charset="-120"/>
              </a:rPr>
              <a:t>2</a:t>
            </a:r>
            <a:endParaRPr lang="en-US" sz="1600" dirty="0"/>
          </a:p>
        </p:txBody>
      </p:sp>
      <p:sp>
        <p:nvSpPr>
          <p:cNvPr id="22" name="Text 19"/>
          <p:cNvSpPr/>
          <p:nvPr/>
        </p:nvSpPr>
        <p:spPr>
          <a:xfrm>
            <a:off x="10972800" y="2717800"/>
            <a:ext cx="4318000" cy="3048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Game View</a:t>
            </a:r>
            <a:endParaRPr lang="en-US" sz="1600" dirty="0"/>
          </a:p>
        </p:txBody>
      </p:sp>
      <p:sp>
        <p:nvSpPr>
          <p:cNvPr id="23" name="Text 20"/>
          <p:cNvSpPr/>
          <p:nvPr/>
        </p:nvSpPr>
        <p:spPr>
          <a:xfrm>
            <a:off x="10972800" y="3060700"/>
            <a:ext cx="4318000" cy="355600"/>
          </a:xfrm>
          <a:prstGeom prst="rect">
            <a:avLst/>
          </a:prstGeom>
          <a:noFill/>
          <a:ln/>
        </p:spPr>
        <p:txBody>
          <a:bodyPr wrap="square" lIns="0" tIns="0" rIns="0" bIns="0" rtlCol="0" anchor="ctr"/>
          <a:lstStyle/>
          <a:p>
            <a:pPr>
              <a:lnSpc>
                <a:spcPct val="100000"/>
              </a:lnSpc>
            </a:pPr>
            <a:r>
              <a:rPr lang="en-US" sz="1300" dirty="0">
                <a:solidFill>
                  <a:srgbClr val="6B7280"/>
                </a:solidFill>
                <a:latin typeface="Quattrocento Sans" pitchFamily="34" charset="0"/>
                <a:ea typeface="Quattrocento Sans" pitchFamily="34" charset="-122"/>
                <a:cs typeface="Quattrocento Sans" pitchFamily="34" charset="-120"/>
              </a:rPr>
              <a:t>Preview of how your game will look played</a:t>
            </a:r>
            <a:endParaRPr lang="en-US" sz="1600" dirty="0"/>
          </a:p>
        </p:txBody>
      </p:sp>
      <p:sp>
        <p:nvSpPr>
          <p:cNvPr id="24" name="Shape 21"/>
          <p:cNvSpPr/>
          <p:nvPr/>
        </p:nvSpPr>
        <p:spPr>
          <a:xfrm>
            <a:off x="10287000" y="3708400"/>
            <a:ext cx="5207000" cy="914400"/>
          </a:xfrm>
          <a:prstGeom prst="rect">
            <a:avLst/>
          </a:prstGeom>
          <a:solidFill>
            <a:srgbClr val="FFFFFF"/>
          </a:solidFill>
          <a:ln w="12700">
            <a:solidFill>
              <a:srgbClr val="E8EAED"/>
            </a:solidFill>
            <a:prstDash val="solid"/>
          </a:ln>
        </p:spPr>
      </p:sp>
      <p:sp>
        <p:nvSpPr>
          <p:cNvPr id="25" name="Text 22"/>
          <p:cNvSpPr/>
          <p:nvPr/>
        </p:nvSpPr>
        <p:spPr>
          <a:xfrm>
            <a:off x="10439400" y="3810000"/>
            <a:ext cx="457200" cy="457200"/>
          </a:xfrm>
          <a:prstGeom prst="rect">
            <a:avLst/>
          </a:prstGeom>
          <a:noFill/>
          <a:ln/>
        </p:spPr>
        <p:txBody>
          <a:bodyPr wrap="none" lIns="0" tIns="0" rIns="0" bIns="0" rtlCol="0" anchor="ctr"/>
          <a:lstStyle/>
          <a:p>
            <a:pPr algn="ctr">
              <a:lnSpc>
                <a:spcPct val="100000"/>
              </a:lnSpc>
            </a:pPr>
            <a:r>
              <a:rPr lang="en-US" sz="2000" dirty="0">
                <a:solidFill>
                  <a:srgbClr val="FF6B35"/>
                </a:solidFill>
                <a:latin typeface="Liter" pitchFamily="34" charset="0"/>
                <a:ea typeface="Liter" pitchFamily="34" charset="-122"/>
                <a:cs typeface="Liter" pitchFamily="34" charset="-120"/>
              </a:rPr>
              <a:t>3</a:t>
            </a:r>
            <a:endParaRPr lang="en-US" sz="1600" dirty="0"/>
          </a:p>
        </p:txBody>
      </p:sp>
      <p:sp>
        <p:nvSpPr>
          <p:cNvPr id="26" name="Text 23"/>
          <p:cNvSpPr/>
          <p:nvPr/>
        </p:nvSpPr>
        <p:spPr>
          <a:xfrm>
            <a:off x="10972800" y="3810000"/>
            <a:ext cx="4318000" cy="3048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Hierarchy Window</a:t>
            </a:r>
            <a:endParaRPr lang="en-US" sz="1600" dirty="0"/>
          </a:p>
        </p:txBody>
      </p:sp>
      <p:sp>
        <p:nvSpPr>
          <p:cNvPr id="27" name="Text 24"/>
          <p:cNvSpPr/>
          <p:nvPr/>
        </p:nvSpPr>
        <p:spPr>
          <a:xfrm>
            <a:off x="10972800" y="4152900"/>
            <a:ext cx="4318000" cy="355600"/>
          </a:xfrm>
          <a:prstGeom prst="rect">
            <a:avLst/>
          </a:prstGeom>
          <a:noFill/>
          <a:ln/>
        </p:spPr>
        <p:txBody>
          <a:bodyPr wrap="square" lIns="0" tIns="0" rIns="0" bIns="0" rtlCol="0" anchor="ctr"/>
          <a:lstStyle/>
          <a:p>
            <a:pPr>
              <a:lnSpc>
                <a:spcPct val="100000"/>
              </a:lnSpc>
            </a:pPr>
            <a:r>
              <a:rPr lang="en-US" sz="1300" dirty="0">
                <a:solidFill>
                  <a:srgbClr val="6B7280"/>
                </a:solidFill>
                <a:latin typeface="Quattrocento Sans" pitchFamily="34" charset="0"/>
                <a:ea typeface="Quattrocento Sans" pitchFamily="34" charset="-122"/>
                <a:cs typeface="Quattrocento Sans" pitchFamily="34" charset="-120"/>
              </a:rPr>
              <a:t>Lists all GameObjects in the current scene</a:t>
            </a:r>
            <a:endParaRPr lang="en-US" sz="1600" dirty="0"/>
          </a:p>
        </p:txBody>
      </p:sp>
      <p:sp>
        <p:nvSpPr>
          <p:cNvPr id="28" name="Shape 25"/>
          <p:cNvSpPr/>
          <p:nvPr/>
        </p:nvSpPr>
        <p:spPr>
          <a:xfrm>
            <a:off x="10287000" y="4800600"/>
            <a:ext cx="5207000" cy="914400"/>
          </a:xfrm>
          <a:prstGeom prst="rect">
            <a:avLst/>
          </a:prstGeom>
          <a:solidFill>
            <a:srgbClr val="FFFFFF"/>
          </a:solidFill>
          <a:ln w="12700">
            <a:solidFill>
              <a:srgbClr val="E8EAED"/>
            </a:solidFill>
            <a:prstDash val="solid"/>
          </a:ln>
        </p:spPr>
      </p:sp>
      <p:sp>
        <p:nvSpPr>
          <p:cNvPr id="29" name="Text 26"/>
          <p:cNvSpPr/>
          <p:nvPr/>
        </p:nvSpPr>
        <p:spPr>
          <a:xfrm>
            <a:off x="10439400" y="4902200"/>
            <a:ext cx="457200" cy="457200"/>
          </a:xfrm>
          <a:prstGeom prst="rect">
            <a:avLst/>
          </a:prstGeom>
          <a:noFill/>
          <a:ln/>
        </p:spPr>
        <p:txBody>
          <a:bodyPr wrap="none" lIns="0" tIns="0" rIns="0" bIns="0" rtlCol="0" anchor="ctr"/>
          <a:lstStyle/>
          <a:p>
            <a:pPr algn="ctr">
              <a:lnSpc>
                <a:spcPct val="100000"/>
              </a:lnSpc>
            </a:pPr>
            <a:r>
              <a:rPr lang="en-US" sz="2000" dirty="0">
                <a:solidFill>
                  <a:srgbClr val="FF6B35"/>
                </a:solidFill>
                <a:latin typeface="Liter" pitchFamily="34" charset="0"/>
                <a:ea typeface="Liter" pitchFamily="34" charset="-122"/>
                <a:cs typeface="Liter" pitchFamily="34" charset="-120"/>
              </a:rPr>
              <a:t>4</a:t>
            </a:r>
            <a:endParaRPr lang="en-US" sz="1600" dirty="0"/>
          </a:p>
        </p:txBody>
      </p:sp>
      <p:sp>
        <p:nvSpPr>
          <p:cNvPr id="30" name="Text 27"/>
          <p:cNvSpPr/>
          <p:nvPr/>
        </p:nvSpPr>
        <p:spPr>
          <a:xfrm>
            <a:off x="10972800" y="4902200"/>
            <a:ext cx="4318000" cy="3048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Project Window</a:t>
            </a:r>
            <a:endParaRPr lang="en-US" sz="1600" dirty="0"/>
          </a:p>
        </p:txBody>
      </p:sp>
      <p:sp>
        <p:nvSpPr>
          <p:cNvPr id="31" name="Text 28"/>
          <p:cNvSpPr/>
          <p:nvPr/>
        </p:nvSpPr>
        <p:spPr>
          <a:xfrm>
            <a:off x="10972800" y="5245100"/>
            <a:ext cx="4318000" cy="355600"/>
          </a:xfrm>
          <a:prstGeom prst="rect">
            <a:avLst/>
          </a:prstGeom>
          <a:noFill/>
          <a:ln/>
        </p:spPr>
        <p:txBody>
          <a:bodyPr wrap="square" lIns="0" tIns="0" rIns="0" bIns="0" rtlCol="0" anchor="ctr"/>
          <a:lstStyle/>
          <a:p>
            <a:pPr>
              <a:lnSpc>
                <a:spcPct val="100000"/>
              </a:lnSpc>
            </a:pPr>
            <a:r>
              <a:rPr lang="en-US" sz="1300" dirty="0">
                <a:solidFill>
                  <a:srgbClr val="6B7280"/>
                </a:solidFill>
                <a:latin typeface="Quattrocento Sans" pitchFamily="34" charset="0"/>
                <a:ea typeface="Quattrocento Sans" pitchFamily="34" charset="-122"/>
                <a:cs typeface="Quattrocento Sans" pitchFamily="34" charset="-120"/>
              </a:rPr>
              <a:t>File explorer for all assets in your project</a:t>
            </a:r>
            <a:endParaRPr lang="en-US" sz="1600" dirty="0"/>
          </a:p>
        </p:txBody>
      </p:sp>
      <p:sp>
        <p:nvSpPr>
          <p:cNvPr id="32" name="Shape 29"/>
          <p:cNvSpPr/>
          <p:nvPr/>
        </p:nvSpPr>
        <p:spPr>
          <a:xfrm>
            <a:off x="10287000" y="5892800"/>
            <a:ext cx="5207000" cy="914400"/>
          </a:xfrm>
          <a:prstGeom prst="rect">
            <a:avLst/>
          </a:prstGeom>
          <a:solidFill>
            <a:srgbClr val="FFFFFF"/>
          </a:solidFill>
          <a:ln w="12700">
            <a:solidFill>
              <a:srgbClr val="E8EAED"/>
            </a:solidFill>
            <a:prstDash val="solid"/>
          </a:ln>
        </p:spPr>
      </p:sp>
      <p:sp>
        <p:nvSpPr>
          <p:cNvPr id="33" name="Text 30"/>
          <p:cNvSpPr/>
          <p:nvPr/>
        </p:nvSpPr>
        <p:spPr>
          <a:xfrm>
            <a:off x="10439400" y="5994400"/>
            <a:ext cx="457200" cy="457200"/>
          </a:xfrm>
          <a:prstGeom prst="rect">
            <a:avLst/>
          </a:prstGeom>
          <a:noFill/>
          <a:ln/>
        </p:spPr>
        <p:txBody>
          <a:bodyPr wrap="none" lIns="0" tIns="0" rIns="0" bIns="0" rtlCol="0" anchor="ctr"/>
          <a:lstStyle/>
          <a:p>
            <a:pPr algn="ctr">
              <a:lnSpc>
                <a:spcPct val="100000"/>
              </a:lnSpc>
            </a:pPr>
            <a:r>
              <a:rPr lang="en-US" sz="2000" dirty="0">
                <a:solidFill>
                  <a:srgbClr val="FF6B35"/>
                </a:solidFill>
                <a:latin typeface="Liter" pitchFamily="34" charset="0"/>
                <a:ea typeface="Liter" pitchFamily="34" charset="-122"/>
                <a:cs typeface="Liter" pitchFamily="34" charset="-120"/>
              </a:rPr>
              <a:t>5</a:t>
            </a:r>
            <a:endParaRPr lang="en-US" sz="1600" dirty="0"/>
          </a:p>
        </p:txBody>
      </p:sp>
      <p:sp>
        <p:nvSpPr>
          <p:cNvPr id="34" name="Text 31"/>
          <p:cNvSpPr/>
          <p:nvPr/>
        </p:nvSpPr>
        <p:spPr>
          <a:xfrm>
            <a:off x="10972800" y="5994400"/>
            <a:ext cx="4318000" cy="3048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Inspector Window</a:t>
            </a:r>
            <a:endParaRPr lang="en-US" sz="1600" dirty="0"/>
          </a:p>
        </p:txBody>
      </p:sp>
      <p:sp>
        <p:nvSpPr>
          <p:cNvPr id="35" name="Text 32"/>
          <p:cNvSpPr/>
          <p:nvPr/>
        </p:nvSpPr>
        <p:spPr>
          <a:xfrm>
            <a:off x="10972800" y="6337300"/>
            <a:ext cx="4318000" cy="355600"/>
          </a:xfrm>
          <a:prstGeom prst="rect">
            <a:avLst/>
          </a:prstGeom>
          <a:noFill/>
          <a:ln/>
        </p:spPr>
        <p:txBody>
          <a:bodyPr wrap="square" lIns="0" tIns="0" rIns="0" bIns="0" rtlCol="0" anchor="ctr"/>
          <a:lstStyle/>
          <a:p>
            <a:pPr>
              <a:lnSpc>
                <a:spcPct val="100000"/>
              </a:lnSpc>
            </a:pPr>
            <a:r>
              <a:rPr lang="en-US" sz="1300" dirty="0">
                <a:solidFill>
                  <a:srgbClr val="6B7280"/>
                </a:solidFill>
                <a:latin typeface="Quattrocento Sans" pitchFamily="34" charset="0"/>
                <a:ea typeface="Quattrocento Sans" pitchFamily="34" charset="-122"/>
                <a:cs typeface="Quattrocento Sans" pitchFamily="34" charset="-120"/>
              </a:rPr>
              <a:t>Displays and edits properties of selections</a:t>
            </a:r>
            <a:endParaRPr lang="en-US" sz="1600" dirty="0"/>
          </a:p>
        </p:txBody>
      </p:sp>
      <p:sp>
        <p:nvSpPr>
          <p:cNvPr id="36" name="Shape 33"/>
          <p:cNvSpPr/>
          <p:nvPr/>
        </p:nvSpPr>
        <p:spPr>
          <a:xfrm>
            <a:off x="762000" y="6921500"/>
            <a:ext cx="14732000" cy="1524000"/>
          </a:xfrm>
          <a:prstGeom prst="rect">
            <a:avLst/>
          </a:prstGeom>
          <a:solidFill>
            <a:srgbClr val="1A1D23"/>
          </a:solidFill>
          <a:ln/>
        </p:spPr>
      </p:sp>
      <p:sp>
        <p:nvSpPr>
          <p:cNvPr id="37" name="Text 34"/>
          <p:cNvSpPr/>
          <p:nvPr/>
        </p:nvSpPr>
        <p:spPr>
          <a:xfrm>
            <a:off x="1066800" y="7112000"/>
            <a:ext cx="14097000" cy="1143000"/>
          </a:xfrm>
          <a:prstGeom prst="rect">
            <a:avLst/>
          </a:prstGeom>
          <a:noFill/>
          <a:ln/>
        </p:spPr>
        <p:txBody>
          <a:bodyPr wrap="square" lIns="0" tIns="0" rIns="0" bIns="0" rtlCol="0" anchor="ctr"/>
          <a:lstStyle/>
          <a:p>
            <a:pP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These five windows work together to give you </a:t>
            </a:r>
            <a:pPr>
              <a:lnSpc>
                <a:spcPct val="160000"/>
              </a:lnSpc>
            </a:pPr>
            <a:r>
              <a:rPr lang="en-US" sz="1600" b="1" dirty="0">
                <a:solidFill>
                  <a:srgbClr val="FFFFFF"/>
                </a:solidFill>
                <a:latin typeface="Quattrocento Sans" pitchFamily="34" charset="0"/>
                <a:ea typeface="Quattrocento Sans" pitchFamily="34" charset="-122"/>
                <a:cs typeface="Quattrocento Sans" pitchFamily="34" charset="-120"/>
              </a:rPr>
              <a:t>complete control</a:t>
            </a:r>
            <a:pP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 over your project. The Scene View and Game View occupy the center, the Hierarchy and Inspector flank the sides, and the Project window sits at the bottom. Mastering their interactions is key to efficient Unity workflow.</a:t>
            </a:r>
            <a:endParaRPr lang="en-US" sz="1600" dirty="0"/>
          </a:p>
        </p:txBody>
      </p:sp>
      <p:sp>
        <p:nvSpPr>
          <p:cNvPr id="38" name="Shape 35"/>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Scene View &amp; Game View</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7175500" cy="3556000"/>
          </a:xfrm>
          <a:prstGeom prst="rect">
            <a:avLst/>
          </a:prstGeom>
          <a:solidFill>
            <a:srgbClr val="FFFFFF"/>
          </a:solidFill>
          <a:ln w="12700">
            <a:solidFill>
              <a:srgbClr val="E8EAED"/>
            </a:solidFill>
            <a:prstDash val="solid"/>
          </a:ln>
        </p:spPr>
      </p:sp>
      <p:sp>
        <p:nvSpPr>
          <p:cNvPr id="6" name="Shape 4"/>
          <p:cNvSpPr/>
          <p:nvPr/>
        </p:nvSpPr>
        <p:spPr>
          <a:xfrm>
            <a:off x="762000" y="1524000"/>
            <a:ext cx="7175500" cy="63500"/>
          </a:xfrm>
          <a:prstGeom prst="rect">
            <a:avLst/>
          </a:prstGeom>
          <a:solidFill>
            <a:srgbClr val="FF6B35"/>
          </a:solidFill>
          <a:ln/>
        </p:spPr>
      </p:sp>
      <p:sp>
        <p:nvSpPr>
          <p:cNvPr id="7" name="Shape 5"/>
          <p:cNvSpPr/>
          <p:nvPr/>
        </p:nvSpPr>
        <p:spPr>
          <a:xfrm>
            <a:off x="1016000" y="1778000"/>
            <a:ext cx="304800" cy="304800"/>
          </a:xfrm>
          <a:custGeom>
            <a:avLst/>
            <a:gdLst/>
            <a:ahLst/>
            <a:cxnLst/>
            <a:rect l="l" t="t" r="r" b="b"/>
            <a:pathLst>
              <a:path w="304800" h="304800">
                <a:moveTo>
                  <a:pt x="133529" y="-1488"/>
                </a:moveTo>
                <a:cubicBezTo>
                  <a:pt x="145316" y="-8275"/>
                  <a:pt x="159841" y="-8275"/>
                  <a:pt x="171629" y="-1488"/>
                </a:cubicBezTo>
                <a:lnTo>
                  <a:pt x="276344" y="58936"/>
                </a:lnTo>
                <a:cubicBezTo>
                  <a:pt x="288131" y="65723"/>
                  <a:pt x="295394" y="78343"/>
                  <a:pt x="295394" y="91916"/>
                </a:cubicBezTo>
                <a:lnTo>
                  <a:pt x="295394" y="212765"/>
                </a:lnTo>
                <a:cubicBezTo>
                  <a:pt x="295394" y="226397"/>
                  <a:pt x="288131" y="238958"/>
                  <a:pt x="276344" y="245745"/>
                </a:cubicBezTo>
                <a:lnTo>
                  <a:pt x="171629" y="306288"/>
                </a:lnTo>
                <a:cubicBezTo>
                  <a:pt x="159841" y="313075"/>
                  <a:pt x="145316" y="313075"/>
                  <a:pt x="133529" y="306288"/>
                </a:cubicBezTo>
                <a:lnTo>
                  <a:pt x="28873" y="245864"/>
                </a:lnTo>
                <a:cubicBezTo>
                  <a:pt x="17085" y="239078"/>
                  <a:pt x="9823" y="226457"/>
                  <a:pt x="9823" y="212884"/>
                </a:cubicBezTo>
                <a:lnTo>
                  <a:pt x="9823" y="92035"/>
                </a:lnTo>
                <a:cubicBezTo>
                  <a:pt x="9823" y="78403"/>
                  <a:pt x="17085" y="65842"/>
                  <a:pt x="28873" y="59055"/>
                </a:cubicBezTo>
                <a:lnTo>
                  <a:pt x="133529" y="-1488"/>
                </a:lnTo>
                <a:close/>
                <a:moveTo>
                  <a:pt x="257235" y="212824"/>
                </a:moveTo>
                <a:lnTo>
                  <a:pt x="257235" y="113943"/>
                </a:lnTo>
                <a:lnTo>
                  <a:pt x="171629" y="163354"/>
                </a:lnTo>
                <a:lnTo>
                  <a:pt x="171629" y="262235"/>
                </a:lnTo>
                <a:lnTo>
                  <a:pt x="257235" y="212824"/>
                </a:lnTo>
                <a:close/>
              </a:path>
            </a:pathLst>
          </a:custGeom>
          <a:solidFill>
            <a:srgbClr val="FF6B35"/>
          </a:solidFill>
          <a:ln/>
        </p:spPr>
      </p:sp>
      <p:sp>
        <p:nvSpPr>
          <p:cNvPr id="8" name="Text 6"/>
          <p:cNvSpPr/>
          <p:nvPr/>
        </p:nvSpPr>
        <p:spPr>
          <a:xfrm>
            <a:off x="1447800" y="1778000"/>
            <a:ext cx="3810000" cy="330200"/>
          </a:xfrm>
          <a:prstGeom prst="rect">
            <a:avLst/>
          </a:prstGeom>
          <a:noFill/>
          <a:ln/>
        </p:spPr>
        <p:txBody>
          <a:bodyPr wrap="none" lIns="0" tIns="0" rIns="0" bIns="0" rtlCol="0" anchor="ctr"/>
          <a:lstStyle/>
          <a:p>
            <a:pPr>
              <a:lnSpc>
                <a:spcPct val="100000"/>
              </a:lnSpc>
            </a:pPr>
            <a:r>
              <a:rPr lang="en-US" sz="2000" dirty="0">
                <a:solidFill>
                  <a:srgbClr val="1A1D23"/>
                </a:solidFill>
                <a:latin typeface="Liter" pitchFamily="34" charset="0"/>
                <a:ea typeface="Liter" pitchFamily="34" charset="-122"/>
                <a:cs typeface="Liter" pitchFamily="34" charset="-120"/>
              </a:rPr>
              <a:t>Scene View</a:t>
            </a:r>
            <a:endParaRPr lang="en-US" sz="1600" dirty="0"/>
          </a:p>
        </p:txBody>
      </p:sp>
      <p:sp>
        <p:nvSpPr>
          <p:cNvPr id="9" name="Text 7"/>
          <p:cNvSpPr/>
          <p:nvPr/>
        </p:nvSpPr>
        <p:spPr>
          <a:xfrm>
            <a:off x="1016000" y="2222500"/>
            <a:ext cx="6667500" cy="5080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The main interactive 3D viewport where you build and edit your game world.</a:t>
            </a:r>
            <a:endParaRPr lang="en-US" sz="1600" dirty="0"/>
          </a:p>
        </p:txBody>
      </p:sp>
      <p:sp>
        <p:nvSpPr>
          <p:cNvPr id="10" name="Text 8"/>
          <p:cNvSpPr/>
          <p:nvPr/>
        </p:nvSpPr>
        <p:spPr>
          <a:xfrm>
            <a:off x="1016000" y="2857500"/>
            <a:ext cx="2540000" cy="279400"/>
          </a:xfrm>
          <a:prstGeom prst="rect">
            <a:avLst/>
          </a:prstGeom>
          <a:noFill/>
          <a:ln/>
        </p:spPr>
        <p:txBody>
          <a:bodyPr wrap="none" lIns="0" tIns="0" rIns="0" bIns="0" rtlCol="0" anchor="ctr"/>
          <a:lstStyle/>
          <a:p>
            <a:pPr>
              <a:lnSpc>
                <a:spcPct val="100000"/>
              </a:lnSpc>
            </a:pPr>
            <a:r>
              <a:rPr lang="en-US" sz="1300" spc="100" kern="0" dirty="0">
                <a:solidFill>
                  <a:srgbClr val="FF6B35"/>
                </a:solidFill>
                <a:latin typeface="Liter" pitchFamily="34" charset="0"/>
                <a:ea typeface="Liter" pitchFamily="34" charset="-122"/>
                <a:cs typeface="Liter" pitchFamily="34" charset="-120"/>
              </a:rPr>
              <a:t>NAVIGATION</a:t>
            </a:r>
            <a:endParaRPr lang="en-US" sz="1600" dirty="0"/>
          </a:p>
        </p:txBody>
      </p:sp>
      <p:sp>
        <p:nvSpPr>
          <p:cNvPr id="11" name="Text 9"/>
          <p:cNvSpPr/>
          <p:nvPr/>
        </p:nvSpPr>
        <p:spPr>
          <a:xfrm>
            <a:off x="1016000" y="3175000"/>
            <a:ext cx="6667500" cy="1714500"/>
          </a:xfrm>
          <a:prstGeom prst="rect">
            <a:avLst/>
          </a:prstGeom>
          <a:noFill/>
          <a:ln/>
        </p:spPr>
        <p:txBody>
          <a:bodyPr wrap="square" lIns="0" tIns="0" rIns="0" bIns="0" rtlCol="0" anchor="t"/>
          <a:lstStyle/>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Alt + Left Click</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Orbit around the scene</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Right Click</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Fly mode (WASD + mouse)</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Scroll Wheel</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Zoom in and out</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F key</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Frame selected object</a:t>
            </a:r>
            <a:endParaRPr lang="en-US" sz="1600" dirty="0"/>
          </a:p>
        </p:txBody>
      </p:sp>
      <p:sp>
        <p:nvSpPr>
          <p:cNvPr id="12" name="Shape 10"/>
          <p:cNvSpPr/>
          <p:nvPr/>
        </p:nvSpPr>
        <p:spPr>
          <a:xfrm>
            <a:off x="8318500" y="1524000"/>
            <a:ext cx="7175500" cy="3556000"/>
          </a:xfrm>
          <a:prstGeom prst="rect">
            <a:avLst/>
          </a:prstGeom>
          <a:solidFill>
            <a:srgbClr val="FFFFFF"/>
          </a:solidFill>
          <a:ln w="12700">
            <a:solidFill>
              <a:srgbClr val="E8EAED"/>
            </a:solidFill>
            <a:prstDash val="solid"/>
          </a:ln>
        </p:spPr>
      </p:sp>
      <p:sp>
        <p:nvSpPr>
          <p:cNvPr id="13" name="Shape 11"/>
          <p:cNvSpPr/>
          <p:nvPr/>
        </p:nvSpPr>
        <p:spPr>
          <a:xfrm>
            <a:off x="8318500" y="1524000"/>
            <a:ext cx="7175500" cy="63500"/>
          </a:xfrm>
          <a:prstGeom prst="rect">
            <a:avLst/>
          </a:prstGeom>
          <a:solidFill>
            <a:srgbClr val="1A1D23"/>
          </a:solidFill>
          <a:ln/>
        </p:spPr>
      </p:sp>
      <p:sp>
        <p:nvSpPr>
          <p:cNvPr id="14" name="Shape 12"/>
          <p:cNvSpPr/>
          <p:nvPr/>
        </p:nvSpPr>
        <p:spPr>
          <a:xfrm>
            <a:off x="8534400" y="1778000"/>
            <a:ext cx="381000" cy="304800"/>
          </a:xfrm>
          <a:custGeom>
            <a:avLst/>
            <a:gdLst/>
            <a:ahLst/>
            <a:cxnLst/>
            <a:rect l="l" t="t" r="r" b="b"/>
            <a:pathLst>
              <a:path w="381000" h="304800">
                <a:moveTo>
                  <a:pt x="266700" y="38100"/>
                </a:moveTo>
                <a:cubicBezTo>
                  <a:pt x="329803" y="38100"/>
                  <a:pt x="381000" y="89297"/>
                  <a:pt x="381000" y="152400"/>
                </a:cubicBezTo>
                <a:cubicBezTo>
                  <a:pt x="381000" y="215503"/>
                  <a:pt x="329803" y="266700"/>
                  <a:pt x="266700" y="266700"/>
                </a:cubicBezTo>
                <a:lnTo>
                  <a:pt x="114300" y="266700"/>
                </a:lnTo>
                <a:cubicBezTo>
                  <a:pt x="51197" y="266700"/>
                  <a:pt x="0" y="215503"/>
                  <a:pt x="0" y="152400"/>
                </a:cubicBezTo>
                <a:cubicBezTo>
                  <a:pt x="0" y="89297"/>
                  <a:pt x="51197" y="38100"/>
                  <a:pt x="114300" y="38100"/>
                </a:cubicBezTo>
                <a:lnTo>
                  <a:pt x="266700" y="38100"/>
                </a:lnTo>
                <a:close/>
                <a:moveTo>
                  <a:pt x="114300" y="104775"/>
                </a:moveTo>
                <a:cubicBezTo>
                  <a:pt x="106382" y="104775"/>
                  <a:pt x="100013" y="111145"/>
                  <a:pt x="100013" y="119062"/>
                </a:cubicBezTo>
                <a:lnTo>
                  <a:pt x="100013" y="138113"/>
                </a:lnTo>
                <a:lnTo>
                  <a:pt x="80962" y="138113"/>
                </a:lnTo>
                <a:cubicBezTo>
                  <a:pt x="73045" y="138113"/>
                  <a:pt x="66675" y="144482"/>
                  <a:pt x="66675" y="152400"/>
                </a:cubicBezTo>
                <a:cubicBezTo>
                  <a:pt x="66675" y="160318"/>
                  <a:pt x="73045" y="166688"/>
                  <a:pt x="80962" y="166688"/>
                </a:cubicBezTo>
                <a:lnTo>
                  <a:pt x="100013" y="166688"/>
                </a:lnTo>
                <a:lnTo>
                  <a:pt x="100013" y="185738"/>
                </a:lnTo>
                <a:cubicBezTo>
                  <a:pt x="100013" y="193655"/>
                  <a:pt x="106382" y="200025"/>
                  <a:pt x="114300" y="200025"/>
                </a:cubicBezTo>
                <a:cubicBezTo>
                  <a:pt x="122218" y="200025"/>
                  <a:pt x="128588" y="193655"/>
                  <a:pt x="128588" y="185738"/>
                </a:cubicBezTo>
                <a:lnTo>
                  <a:pt x="128588" y="166688"/>
                </a:lnTo>
                <a:lnTo>
                  <a:pt x="147638" y="166688"/>
                </a:lnTo>
                <a:cubicBezTo>
                  <a:pt x="155555" y="166688"/>
                  <a:pt x="161925" y="160318"/>
                  <a:pt x="161925" y="152400"/>
                </a:cubicBezTo>
                <a:cubicBezTo>
                  <a:pt x="161925" y="144482"/>
                  <a:pt x="155555" y="138113"/>
                  <a:pt x="147638" y="138113"/>
                </a:cubicBezTo>
                <a:lnTo>
                  <a:pt x="128588" y="138113"/>
                </a:lnTo>
                <a:lnTo>
                  <a:pt x="128588" y="119062"/>
                </a:lnTo>
                <a:cubicBezTo>
                  <a:pt x="128588" y="111145"/>
                  <a:pt x="122218" y="104775"/>
                  <a:pt x="114300" y="104775"/>
                </a:cubicBezTo>
                <a:close/>
                <a:moveTo>
                  <a:pt x="257175" y="161925"/>
                </a:moveTo>
                <a:cubicBezTo>
                  <a:pt x="246661" y="161925"/>
                  <a:pt x="238125" y="170461"/>
                  <a:pt x="238125" y="180975"/>
                </a:cubicBezTo>
                <a:cubicBezTo>
                  <a:pt x="238125" y="191489"/>
                  <a:pt x="246661" y="200025"/>
                  <a:pt x="257175" y="200025"/>
                </a:cubicBezTo>
                <a:cubicBezTo>
                  <a:pt x="267689" y="200025"/>
                  <a:pt x="276225" y="191489"/>
                  <a:pt x="276225" y="180975"/>
                </a:cubicBezTo>
                <a:cubicBezTo>
                  <a:pt x="276225" y="170461"/>
                  <a:pt x="267689" y="161925"/>
                  <a:pt x="257175" y="161925"/>
                </a:cubicBezTo>
                <a:close/>
                <a:moveTo>
                  <a:pt x="295275" y="104775"/>
                </a:moveTo>
                <a:cubicBezTo>
                  <a:pt x="284761" y="104775"/>
                  <a:pt x="276225" y="113311"/>
                  <a:pt x="276225" y="123825"/>
                </a:cubicBezTo>
                <a:cubicBezTo>
                  <a:pt x="276225" y="134339"/>
                  <a:pt x="284761" y="142875"/>
                  <a:pt x="295275" y="142875"/>
                </a:cubicBezTo>
                <a:cubicBezTo>
                  <a:pt x="305789" y="142875"/>
                  <a:pt x="314325" y="134339"/>
                  <a:pt x="314325" y="123825"/>
                </a:cubicBezTo>
                <a:cubicBezTo>
                  <a:pt x="314325" y="113311"/>
                  <a:pt x="305789" y="104775"/>
                  <a:pt x="295275" y="104775"/>
                </a:cubicBezTo>
                <a:close/>
              </a:path>
            </a:pathLst>
          </a:custGeom>
          <a:solidFill>
            <a:srgbClr val="1A1D23"/>
          </a:solidFill>
          <a:ln/>
        </p:spPr>
      </p:sp>
      <p:sp>
        <p:nvSpPr>
          <p:cNvPr id="15" name="Text 13"/>
          <p:cNvSpPr/>
          <p:nvPr/>
        </p:nvSpPr>
        <p:spPr>
          <a:xfrm>
            <a:off x="9004300" y="1778000"/>
            <a:ext cx="3810000" cy="330200"/>
          </a:xfrm>
          <a:prstGeom prst="rect">
            <a:avLst/>
          </a:prstGeom>
          <a:noFill/>
          <a:ln/>
        </p:spPr>
        <p:txBody>
          <a:bodyPr wrap="none" lIns="0" tIns="0" rIns="0" bIns="0" rtlCol="0" anchor="ctr"/>
          <a:lstStyle/>
          <a:p>
            <a:pPr>
              <a:lnSpc>
                <a:spcPct val="100000"/>
              </a:lnSpc>
            </a:pPr>
            <a:r>
              <a:rPr lang="en-US" sz="2000" dirty="0">
                <a:solidFill>
                  <a:srgbClr val="1A1D23"/>
                </a:solidFill>
                <a:latin typeface="Liter" pitchFamily="34" charset="0"/>
                <a:ea typeface="Liter" pitchFamily="34" charset="-122"/>
                <a:cs typeface="Liter" pitchFamily="34" charset="-120"/>
              </a:rPr>
              <a:t>Game View</a:t>
            </a:r>
            <a:endParaRPr lang="en-US" sz="1600" dirty="0"/>
          </a:p>
        </p:txBody>
      </p:sp>
      <p:sp>
        <p:nvSpPr>
          <p:cNvPr id="16" name="Text 14"/>
          <p:cNvSpPr/>
          <p:nvPr/>
        </p:nvSpPr>
        <p:spPr>
          <a:xfrm>
            <a:off x="8572500" y="2222500"/>
            <a:ext cx="6667500" cy="508000"/>
          </a:xfrm>
          <a:prstGeom prst="rect">
            <a:avLst/>
          </a:prstGeom>
          <a:noFill/>
          <a:ln/>
        </p:spPr>
        <p:txBody>
          <a:bodyPr wrap="square" lIns="0" tIns="0" rIns="0" bIns="0" rtlCol="0" anchor="t"/>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Shows exactly what the player will see when the game runs.</a:t>
            </a:r>
            <a:endParaRPr lang="en-US" sz="1600" dirty="0"/>
          </a:p>
        </p:txBody>
      </p:sp>
      <p:sp>
        <p:nvSpPr>
          <p:cNvPr id="17" name="Text 15"/>
          <p:cNvSpPr/>
          <p:nvPr/>
        </p:nvSpPr>
        <p:spPr>
          <a:xfrm>
            <a:off x="8572500" y="2857500"/>
            <a:ext cx="2540000" cy="279400"/>
          </a:xfrm>
          <a:prstGeom prst="rect">
            <a:avLst/>
          </a:prstGeom>
          <a:noFill/>
          <a:ln/>
        </p:spPr>
        <p:txBody>
          <a:bodyPr wrap="none" lIns="0" tIns="0" rIns="0" bIns="0" rtlCol="0" anchor="ctr"/>
          <a:lstStyle/>
          <a:p>
            <a:pPr>
              <a:lnSpc>
                <a:spcPct val="100000"/>
              </a:lnSpc>
            </a:pPr>
            <a:r>
              <a:rPr lang="en-US" sz="1300" spc="100" kern="0" dirty="0">
                <a:solidFill>
                  <a:srgbClr val="1A1D23"/>
                </a:solidFill>
                <a:latin typeface="Liter" pitchFamily="34" charset="0"/>
                <a:ea typeface="Liter" pitchFamily="34" charset="-122"/>
                <a:cs typeface="Liter" pitchFamily="34" charset="-120"/>
              </a:rPr>
              <a:t>CONTROLS</a:t>
            </a:r>
            <a:endParaRPr lang="en-US" sz="1600" dirty="0"/>
          </a:p>
        </p:txBody>
      </p:sp>
      <p:sp>
        <p:nvSpPr>
          <p:cNvPr id="18" name="Text 16"/>
          <p:cNvSpPr/>
          <p:nvPr/>
        </p:nvSpPr>
        <p:spPr>
          <a:xfrm>
            <a:off x="8572500" y="3175000"/>
            <a:ext cx="6667500" cy="1714500"/>
          </a:xfrm>
          <a:prstGeom prst="rect">
            <a:avLst/>
          </a:prstGeom>
          <a:noFill/>
          <a:ln/>
        </p:spPr>
        <p:txBody>
          <a:bodyPr wrap="square" lIns="0" tIns="0" rIns="0" bIns="0" rtlCol="0" anchor="t"/>
          <a:lstStyle/>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Play button (▶)</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Start game preview</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Pause (⏸)</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Freeze gameplay</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Step (⏭)</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Advance frame by frame</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Aspect ratio</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Simulate screen sizes</a:t>
            </a:r>
            <a:endParaRPr lang="en-US" sz="1600" dirty="0"/>
          </a:p>
        </p:txBody>
      </p:sp>
      <p:sp>
        <p:nvSpPr>
          <p:cNvPr id="19" name="Shape 17"/>
          <p:cNvSpPr/>
          <p:nvPr/>
        </p:nvSpPr>
        <p:spPr>
          <a:xfrm>
            <a:off x="762000" y="5397500"/>
            <a:ext cx="14732000" cy="1016000"/>
          </a:xfrm>
          <a:prstGeom prst="rect">
            <a:avLst/>
          </a:prstGeom>
          <a:solidFill>
            <a:srgbClr val="FFF3E8"/>
          </a:solidFill>
          <a:ln w="12700">
            <a:solidFill>
              <a:srgbClr val="FF6B35">
                <a:alpha val="25098"/>
              </a:srgbClr>
            </a:solidFill>
            <a:prstDash val="solid"/>
          </a:ln>
        </p:spPr>
      </p:sp>
      <p:sp>
        <p:nvSpPr>
          <p:cNvPr id="20" name="Shape 18"/>
          <p:cNvSpPr/>
          <p:nvPr/>
        </p:nvSpPr>
        <p:spPr>
          <a:xfrm>
            <a:off x="1016000" y="56515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FF6B35"/>
          </a:solidFill>
          <a:ln/>
        </p:spPr>
      </p:sp>
      <p:sp>
        <p:nvSpPr>
          <p:cNvPr id="21" name="Text 19"/>
          <p:cNvSpPr/>
          <p:nvPr/>
        </p:nvSpPr>
        <p:spPr>
          <a:xfrm>
            <a:off x="1447800" y="5588000"/>
            <a:ext cx="2540000" cy="304800"/>
          </a:xfrm>
          <a:prstGeom prst="rect">
            <a:avLst/>
          </a:prstGeom>
          <a:noFill/>
          <a:ln/>
        </p:spPr>
        <p:txBody>
          <a:bodyPr wrap="none" lIns="0" tIns="0" rIns="0" bIns="0" rtlCol="0" anchor="ctr"/>
          <a:lstStyle/>
          <a:p>
            <a:pPr>
              <a:lnSpc>
                <a:spcPct val="100000"/>
              </a:lnSpc>
            </a:pPr>
            <a:r>
              <a:rPr lang="en-US" sz="1400" dirty="0">
                <a:solidFill>
                  <a:srgbClr val="FF6B35"/>
                </a:solidFill>
                <a:latin typeface="Liter" pitchFamily="34" charset="0"/>
                <a:ea typeface="Liter" pitchFamily="34" charset="-122"/>
                <a:cs typeface="Liter" pitchFamily="34" charset="-120"/>
              </a:rPr>
              <a:t>IMPORTANT</a:t>
            </a:r>
            <a:endParaRPr lang="en-US" sz="1600" dirty="0"/>
          </a:p>
        </p:txBody>
      </p:sp>
      <p:sp>
        <p:nvSpPr>
          <p:cNvPr id="22" name="Text 20"/>
          <p:cNvSpPr/>
          <p:nvPr/>
        </p:nvSpPr>
        <p:spPr>
          <a:xfrm>
            <a:off x="1447800" y="5918200"/>
            <a:ext cx="13716000" cy="355600"/>
          </a:xfrm>
          <a:prstGeom prst="rect">
            <a:avLst/>
          </a:prstGeom>
          <a:noFill/>
          <a:ln/>
        </p:spPr>
        <p:txBody>
          <a:bodyPr wrap="square" lIns="0" tIns="0" rIns="0" bIns="0" rtlCol="0" anchor="ctr"/>
          <a:lstStyle/>
          <a:p>
            <a:pPr>
              <a:lnSpc>
                <a:spcPct val="100000"/>
              </a:lnSpc>
            </a:pPr>
            <a:r>
              <a:rPr lang="en-US" sz="1400" dirty="0">
                <a:solidFill>
                  <a:srgbClr val="1E2328"/>
                </a:solidFill>
                <a:latin typeface="Quattrocento Sans" pitchFamily="34" charset="0"/>
                <a:ea typeface="Quattrocento Sans" pitchFamily="34" charset="-122"/>
                <a:cs typeface="Quattrocento Sans" pitchFamily="34" charset="-120"/>
              </a:rPr>
              <a:t>Changes made in </a:t>
            </a:r>
            <a:pPr>
              <a:lnSpc>
                <a:spcPct val="100000"/>
              </a:lnSpc>
            </a:pPr>
            <a:r>
              <a:rPr lang="en-US" sz="1400" b="1" dirty="0">
                <a:solidFill>
                  <a:srgbClr val="1E2328"/>
                </a:solidFill>
                <a:latin typeface="Quattrocento Sans" pitchFamily="34" charset="0"/>
                <a:ea typeface="Quattrocento Sans" pitchFamily="34" charset="-122"/>
                <a:cs typeface="Quattrocento Sans" pitchFamily="34" charset="-120"/>
              </a:rPr>
              <a:t>Play mode are not saved</a:t>
            </a:r>
            <a:pPr>
              <a:lnSpc>
                <a:spcPct val="100000"/>
              </a:lnSpc>
            </a:pPr>
            <a:r>
              <a:rPr lang="en-US" sz="1400" dirty="0">
                <a:solidFill>
                  <a:srgbClr val="1E2328"/>
                </a:solidFill>
                <a:latin typeface="Quattrocento Sans" pitchFamily="34" charset="0"/>
                <a:ea typeface="Quattrocento Sans" pitchFamily="34" charset="-122"/>
                <a:cs typeface="Quattrocento Sans" pitchFamily="34" charset="-120"/>
              </a:rPr>
              <a:t>! If you edit objects while playing, those changes will be lost when you exit Play mode.</a:t>
            </a:r>
            <a:endParaRPr lang="en-US" sz="1600" dirty="0"/>
          </a:p>
        </p:txBody>
      </p:sp>
      <p:sp>
        <p:nvSpPr>
          <p:cNvPr id="23" name="Shape 21"/>
          <p:cNvSpPr/>
          <p:nvPr/>
        </p:nvSpPr>
        <p:spPr>
          <a:xfrm>
            <a:off x="762000" y="6731000"/>
            <a:ext cx="14732000" cy="1778000"/>
          </a:xfrm>
          <a:prstGeom prst="rect">
            <a:avLst/>
          </a:prstGeom>
          <a:solidFill>
            <a:srgbClr val="1A1D23"/>
          </a:solidFill>
          <a:ln/>
        </p:spPr>
      </p:sp>
      <p:sp>
        <p:nvSpPr>
          <p:cNvPr id="24" name="Text 22"/>
          <p:cNvSpPr/>
          <p:nvPr/>
        </p:nvSpPr>
        <p:spPr>
          <a:xfrm>
            <a:off x="1066800" y="6896100"/>
            <a:ext cx="3810000" cy="3048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TRANSFORM TOOLS</a:t>
            </a:r>
            <a:endParaRPr lang="en-US" sz="1600" dirty="0"/>
          </a:p>
        </p:txBody>
      </p:sp>
      <p:sp>
        <p:nvSpPr>
          <p:cNvPr id="25" name="Text 23"/>
          <p:cNvSpPr/>
          <p:nvPr/>
        </p:nvSpPr>
        <p:spPr>
          <a:xfrm>
            <a:off x="1066800" y="7277100"/>
            <a:ext cx="14097000" cy="1079500"/>
          </a:xfrm>
          <a:prstGeom prst="rect">
            <a:avLst/>
          </a:prstGeom>
          <a:noFill/>
          <a:ln/>
        </p:spPr>
        <p:txBody>
          <a:bodyPr wrap="square" lIns="0" tIns="0" rIns="0" bIns="0" rtlCol="0" anchor="t"/>
          <a:lstStyle/>
          <a:p>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Q</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Hand (pan view) |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W</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Move (translate) |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E</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Rotate |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R</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Scale |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Rect Transform |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Y</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Transform</a:t>
            </a:r>
            <a:endParaRPr lang="en-US" sz="1600" dirty="0"/>
          </a:p>
          <a:p>
            <a:pPr>
              <a:lnSpc>
                <a:spcPct val="170000"/>
              </a:lnSpc>
              <a:spcBef>
                <a:spcPts val="400"/>
              </a:spcBef>
            </a:pPr>
            <a:r>
              <a:rPr lang="en-US" sz="1500" dirty="0">
                <a:solidFill>
                  <a:srgbClr val="A0A5AD"/>
                </a:solidFill>
                <a:latin typeface="Quattrocento Sans" pitchFamily="34" charset="0"/>
                <a:ea typeface="Quattrocento Sans" pitchFamily="34" charset="-122"/>
                <a:cs typeface="Quattrocento Sans" pitchFamily="34" charset="-120"/>
              </a:rPr>
              <a:t>These are the most frequently used shortcuts in Unity. Memorize Q, W, E, R for instant productivity.</a:t>
            </a:r>
            <a:endParaRPr lang="en-US" sz="1600" dirty="0"/>
          </a:p>
        </p:txBody>
      </p:sp>
      <p:sp>
        <p:nvSpPr>
          <p:cNvPr id="26" name="Shape 24"/>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Hierarchy Window</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7366000" cy="6731000"/>
          </a:xfrm>
          <a:prstGeom prst="rect">
            <a:avLst/>
          </a:prstGeom>
          <a:solidFill>
            <a:srgbClr val="FFFFFF"/>
          </a:solidFill>
          <a:ln w="12700">
            <a:solidFill>
              <a:srgbClr val="E8EAED"/>
            </a:solidFill>
            <a:prstDash val="solid"/>
          </a:ln>
        </p:spPr>
      </p:sp>
      <p:sp>
        <p:nvSpPr>
          <p:cNvPr id="6" name="Text 4"/>
          <p:cNvSpPr/>
          <p:nvPr/>
        </p:nvSpPr>
        <p:spPr>
          <a:xfrm>
            <a:off x="1016000" y="1714500"/>
            <a:ext cx="5080000" cy="3556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What Is the Hierarchy?</a:t>
            </a:r>
            <a:endParaRPr lang="en-US" sz="1600" dirty="0"/>
          </a:p>
        </p:txBody>
      </p:sp>
      <p:sp>
        <p:nvSpPr>
          <p:cNvPr id="7" name="Text 5"/>
          <p:cNvSpPr/>
          <p:nvPr/>
        </p:nvSpPr>
        <p:spPr>
          <a:xfrm>
            <a:off x="1016000" y="2184400"/>
            <a:ext cx="6858000" cy="1270000"/>
          </a:xfrm>
          <a:prstGeom prst="rect">
            <a:avLst/>
          </a:prstGeom>
          <a:noFill/>
          <a:ln/>
        </p:spPr>
        <p:txBody>
          <a:bodyPr wrap="square" lIns="0" tIns="0" rIns="0" bIns="0" rtlCol="0" anchor="t"/>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The Hierarchy window lists </a:t>
            </a:r>
            <a:pPr>
              <a:lnSpc>
                <a:spcPct val="160000"/>
              </a:lnSpc>
            </a:pPr>
            <a:r>
              <a:rPr lang="en-US" sz="1500" b="1" dirty="0">
                <a:solidFill>
                  <a:srgbClr val="1E2328"/>
                </a:solidFill>
                <a:latin typeface="Quattrocento Sans" pitchFamily="34" charset="0"/>
                <a:ea typeface="Quattrocento Sans" pitchFamily="34" charset="-122"/>
                <a:cs typeface="Quattrocento Sans" pitchFamily="34" charset="-120"/>
              </a:rPr>
              <a:t>every GameObject</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in the current active scene. GameObjects are the fundamental building blocks — cameras, lights, 3D models, UI elements, and more.</a:t>
            </a:r>
            <a:endParaRPr lang="en-US" sz="1600" dirty="0"/>
          </a:p>
        </p:txBody>
      </p:sp>
      <p:sp>
        <p:nvSpPr>
          <p:cNvPr id="8" name="Text 6"/>
          <p:cNvSpPr/>
          <p:nvPr/>
        </p:nvSpPr>
        <p:spPr>
          <a:xfrm>
            <a:off x="1016000" y="3619500"/>
            <a:ext cx="3810000" cy="3048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KEY FEATURES</a:t>
            </a:r>
            <a:endParaRPr lang="en-US" sz="1600" dirty="0"/>
          </a:p>
        </p:txBody>
      </p:sp>
      <p:sp>
        <p:nvSpPr>
          <p:cNvPr id="9" name="Text 7"/>
          <p:cNvSpPr/>
          <p:nvPr/>
        </p:nvSpPr>
        <p:spPr>
          <a:xfrm>
            <a:off x="1016000" y="4000500"/>
            <a:ext cx="6858000" cy="25400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Parent-child relationships</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moving a parent moves all children</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Search bar</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quickly find objects by name</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Right-click menu</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create new GameObjects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Visibility toggle</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eye icon to show/hide</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Selectability toggle</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hand icon to lock</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Drag to reorder</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rearrange objects anytime</a:t>
            </a:r>
            <a:endParaRPr lang="en-US" sz="1600" dirty="0"/>
          </a:p>
        </p:txBody>
      </p:sp>
      <p:sp>
        <p:nvSpPr>
          <p:cNvPr id="10" name="Shape 8"/>
          <p:cNvSpPr/>
          <p:nvPr/>
        </p:nvSpPr>
        <p:spPr>
          <a:xfrm>
            <a:off x="1016000" y="6731000"/>
            <a:ext cx="6858000" cy="1270000"/>
          </a:xfrm>
          <a:prstGeom prst="rect">
            <a:avLst/>
          </a:prstGeom>
          <a:solidFill>
            <a:srgbClr val="1A1D23"/>
          </a:solidFill>
          <a:ln/>
        </p:spPr>
      </p:sp>
      <p:sp>
        <p:nvSpPr>
          <p:cNvPr id="11" name="Text 9"/>
          <p:cNvSpPr/>
          <p:nvPr/>
        </p:nvSpPr>
        <p:spPr>
          <a:xfrm>
            <a:off x="1270000" y="6921500"/>
            <a:ext cx="6350000" cy="889000"/>
          </a:xfrm>
          <a:prstGeom prst="rect">
            <a:avLst/>
          </a:prstGeom>
          <a:noFill/>
          <a:ln/>
        </p:spPr>
        <p:txBody>
          <a:bodyPr wrap="square" lIns="0" tIns="0" rIns="0" bIns="0" rtlCol="0" anchor="ctr"/>
          <a:lstStyle/>
          <a:p>
            <a:pPr>
              <a:lnSpc>
                <a:spcPct val="15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 </a:t>
            </a:r>
            <a:pPr>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Tip:</a:t>
            </a:r>
            <a:pP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 Use empty GameObjects as "folders" to group related objects. For the Solar System, create a "Planets" parent object.</a:t>
            </a:r>
            <a:endParaRPr lang="en-US" sz="1600" dirty="0"/>
          </a:p>
        </p:txBody>
      </p:sp>
      <p:sp>
        <p:nvSpPr>
          <p:cNvPr id="12" name="Shape 10"/>
          <p:cNvSpPr/>
          <p:nvPr/>
        </p:nvSpPr>
        <p:spPr>
          <a:xfrm>
            <a:off x="8636000" y="1524000"/>
            <a:ext cx="6858000" cy="6731000"/>
          </a:xfrm>
          <a:prstGeom prst="rect">
            <a:avLst/>
          </a:prstGeom>
          <a:solidFill>
            <a:srgbClr val="1A1D23"/>
          </a:solidFill>
          <a:ln/>
        </p:spPr>
      </p:sp>
      <p:sp>
        <p:nvSpPr>
          <p:cNvPr id="13" name="Text 11"/>
          <p:cNvSpPr/>
          <p:nvPr/>
        </p:nvSpPr>
        <p:spPr>
          <a:xfrm>
            <a:off x="8890000" y="1714500"/>
            <a:ext cx="5080000" cy="355600"/>
          </a:xfrm>
          <a:prstGeom prst="rect">
            <a:avLst/>
          </a:prstGeom>
          <a:noFill/>
          <a:ln/>
        </p:spPr>
        <p:txBody>
          <a:bodyPr wrap="none" lIns="0" tIns="0" rIns="0" bIns="0" rtlCol="0" anchor="ctr"/>
          <a:lstStyle/>
          <a:p>
            <a:pPr>
              <a:lnSpc>
                <a:spcPct val="100000"/>
              </a:lnSpc>
            </a:pPr>
            <a:r>
              <a:rPr lang="en-US" sz="1600" spc="100" kern="0" dirty="0">
                <a:solidFill>
                  <a:srgbClr val="FF6B35"/>
                </a:solidFill>
                <a:latin typeface="Liter" pitchFamily="34" charset="0"/>
                <a:ea typeface="Liter" pitchFamily="34" charset="-122"/>
                <a:cs typeface="Liter" pitchFamily="34" charset="-120"/>
              </a:rPr>
              <a:t>EXAMPLE HIERARCHY</a:t>
            </a:r>
            <a:endParaRPr lang="en-US" sz="1600" dirty="0"/>
          </a:p>
        </p:txBody>
      </p:sp>
      <p:sp>
        <p:nvSpPr>
          <p:cNvPr id="14" name="Text 12"/>
          <p:cNvSpPr/>
          <p:nvPr/>
        </p:nvSpPr>
        <p:spPr>
          <a:xfrm>
            <a:off x="8890000" y="2222500"/>
            <a:ext cx="6350000" cy="5778500"/>
          </a:xfrm>
          <a:prstGeom prst="rect">
            <a:avLst/>
          </a:prstGeom>
          <a:noFill/>
          <a:ln/>
        </p:spPr>
        <p:txBody>
          <a:bodyPr wrap="square" lIns="0" tIns="0" rIns="0" bIns="0" rtlCol="0" anchor="t"/>
          <a:lstStyle/>
          <a:p>
            <a:pPr>
              <a:lnSpc>
                <a:spcPct val="18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a:t>
            </a:r>
            <a:pPr>
              <a:lnSpc>
                <a:spcPct val="180000"/>
              </a:lnSpc>
            </a:pPr>
            <a:r>
              <a:rPr lang="en-US" sz="1400" b="1" dirty="0">
                <a:solidFill>
                  <a:srgbClr val="FFFFFF"/>
                </a:solidFill>
                <a:latin typeface="Quattrocento Sans" pitchFamily="34" charset="0"/>
                <a:ea typeface="Quattrocento Sans" pitchFamily="34" charset="-122"/>
                <a:cs typeface="Quattrocento Sans" pitchFamily="34" charset="-120"/>
              </a:rPr>
              <a:t>SolarSystem</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a:t>
            </a:r>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(scene root)</a:t>
            </a:r>
            <a:endParaRPr lang="en-US" sz="1600" dirty="0"/>
          </a:p>
          <a:p>
            <a:pPr>
              <a:lnSpc>
                <a:spcPct val="18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a:t>
            </a:r>
            <a:pPr>
              <a:lnSpc>
                <a:spcPct val="180000"/>
              </a:lnSpc>
            </a:pPr>
            <a:r>
              <a:rPr lang="en-US" sz="1400" b="1" dirty="0">
                <a:solidFill>
                  <a:srgbClr val="FFFFFF"/>
                </a:solidFill>
                <a:latin typeface="Quattrocento Sans" pitchFamily="34" charset="0"/>
                <a:ea typeface="Quattrocento Sans" pitchFamily="34" charset="-122"/>
                <a:cs typeface="Quattrocento Sans" pitchFamily="34" charset="-120"/>
              </a:rPr>
              <a:t>Sun</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a:t>
            </a:r>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(parent)</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SunMesh</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SunLight</a:t>
            </a:r>
            <a:endParaRPr lang="en-US" sz="1600" dirty="0"/>
          </a:p>
          <a:p>
            <a:pPr>
              <a:lnSpc>
                <a:spcPct val="18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a:t>
            </a:r>
            <a:pPr>
              <a:lnSpc>
                <a:spcPct val="180000"/>
              </a:lnSpc>
            </a:pPr>
            <a:r>
              <a:rPr lang="en-US" sz="1400" b="1" dirty="0">
                <a:solidFill>
                  <a:srgbClr val="FFFFFF"/>
                </a:solidFill>
                <a:latin typeface="Quattrocento Sans" pitchFamily="34" charset="0"/>
                <a:ea typeface="Quattrocento Sans" pitchFamily="34" charset="-122"/>
                <a:cs typeface="Quattrocento Sans" pitchFamily="34" charset="-120"/>
              </a:rPr>
              <a:t>Planets</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a:t>
            </a:r>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(parent)</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Mercury</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Venus</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Earth</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Mars</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Jupiter</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Saturn</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Uranus</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Neptune</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MainCamera</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DirectionalLight</a:t>
            </a:r>
            <a:endParaRPr lang="en-US" sz="1600" dirty="0"/>
          </a:p>
        </p:txBody>
      </p:sp>
      <p:sp>
        <p:nvSpPr>
          <p:cNvPr id="15" name="Shape 13"/>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Project Window</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7366000" cy="6731000"/>
          </a:xfrm>
          <a:prstGeom prst="rect">
            <a:avLst/>
          </a:prstGeom>
          <a:solidFill>
            <a:srgbClr val="FFFFFF"/>
          </a:solidFill>
          <a:ln w="12700">
            <a:solidFill>
              <a:srgbClr val="E8EAED"/>
            </a:solidFill>
            <a:prstDash val="solid"/>
          </a:ln>
        </p:spPr>
      </p:sp>
      <p:sp>
        <p:nvSpPr>
          <p:cNvPr id="6" name="Text 4"/>
          <p:cNvSpPr/>
          <p:nvPr/>
        </p:nvSpPr>
        <p:spPr>
          <a:xfrm>
            <a:off x="1016000" y="1714500"/>
            <a:ext cx="5080000" cy="355600"/>
          </a:xfrm>
          <a:prstGeom prst="rect">
            <a:avLst/>
          </a:prstGeom>
          <a:noFill/>
          <a:ln/>
        </p:spPr>
        <p:txBody>
          <a:bodyPr wrap="none" lIns="0" tIns="0" rIns="0" bIns="0" rtlCol="0" anchor="ctr"/>
          <a:lstStyle/>
          <a:p>
            <a:pPr>
              <a:lnSpc>
                <a:spcPct val="100000"/>
              </a:lnSpc>
            </a:pPr>
            <a:r>
              <a:rPr lang="en-US" sz="1800" dirty="0">
                <a:solidFill>
                  <a:srgbClr val="1A1D23"/>
                </a:solidFill>
                <a:latin typeface="Liter" pitchFamily="34" charset="0"/>
                <a:ea typeface="Liter" pitchFamily="34" charset="-122"/>
                <a:cs typeface="Liter" pitchFamily="34" charset="-120"/>
              </a:rPr>
              <a:t>What Is the Project Window?</a:t>
            </a:r>
            <a:endParaRPr lang="en-US" sz="1600" dirty="0"/>
          </a:p>
        </p:txBody>
      </p:sp>
      <p:sp>
        <p:nvSpPr>
          <p:cNvPr id="7" name="Text 5"/>
          <p:cNvSpPr/>
          <p:nvPr/>
        </p:nvSpPr>
        <p:spPr>
          <a:xfrm>
            <a:off x="1016000" y="2184400"/>
            <a:ext cx="6858000" cy="1016000"/>
          </a:xfrm>
          <a:prstGeom prst="rect">
            <a:avLst/>
          </a:prstGeom>
          <a:noFill/>
          <a:ln/>
        </p:spPr>
        <p:txBody>
          <a:bodyPr wrap="square" lIns="0" tIns="0" rIns="0" bIns="0" rtlCol="0" anchor="t"/>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The Project window is your </a:t>
            </a:r>
            <a:pPr>
              <a:lnSpc>
                <a:spcPct val="160000"/>
              </a:lnSpc>
            </a:pPr>
            <a:r>
              <a:rPr lang="en-US" sz="1500" b="1" dirty="0">
                <a:solidFill>
                  <a:srgbClr val="1E2328"/>
                </a:solidFill>
                <a:latin typeface="Quattrocento Sans" pitchFamily="34" charset="0"/>
                <a:ea typeface="Quattrocento Sans" pitchFamily="34" charset="-122"/>
                <a:cs typeface="Quattrocento Sans" pitchFamily="34" charset="-120"/>
              </a:rPr>
              <a:t>asset file explorer</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It displays the contents of your project's Assets folder, organized in a folder structure you create.</a:t>
            </a:r>
            <a:endParaRPr lang="en-US" sz="1600" dirty="0"/>
          </a:p>
        </p:txBody>
      </p:sp>
      <p:sp>
        <p:nvSpPr>
          <p:cNvPr id="8" name="Text 6"/>
          <p:cNvSpPr/>
          <p:nvPr/>
        </p:nvSpPr>
        <p:spPr>
          <a:xfrm>
            <a:off x="1016000" y="3365500"/>
            <a:ext cx="3810000" cy="3048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KEY FEATURES</a:t>
            </a:r>
            <a:endParaRPr lang="en-US" sz="1600" dirty="0"/>
          </a:p>
        </p:txBody>
      </p:sp>
      <p:sp>
        <p:nvSpPr>
          <p:cNvPr id="9" name="Text 7"/>
          <p:cNvSpPr/>
          <p:nvPr/>
        </p:nvSpPr>
        <p:spPr>
          <a:xfrm>
            <a:off x="1016000" y="3746500"/>
            <a:ext cx="6858000" cy="25400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Two-pane layout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folders (left), contents (right)</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Favorites</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quick access to common folders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Search &amp; filter</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by name, type, or label</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Drag to scene</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drag assets into Scene/Hierarchy</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Create assets</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right-click to create new files</a:t>
            </a:r>
            <a:endParaRPr lang="en-US" sz="1600" dirty="0"/>
          </a:p>
        </p:txBody>
      </p:sp>
      <p:sp>
        <p:nvSpPr>
          <p:cNvPr id="10" name="Shape 8"/>
          <p:cNvSpPr/>
          <p:nvPr/>
        </p:nvSpPr>
        <p:spPr>
          <a:xfrm>
            <a:off x="1016000" y="6477000"/>
            <a:ext cx="6858000" cy="1524000"/>
          </a:xfrm>
          <a:prstGeom prst="rect">
            <a:avLst/>
          </a:prstGeom>
          <a:solidFill>
            <a:srgbClr val="1A1D23"/>
          </a:solidFill>
          <a:ln/>
        </p:spPr>
      </p:sp>
      <p:sp>
        <p:nvSpPr>
          <p:cNvPr id="11" name="Text 9"/>
          <p:cNvSpPr/>
          <p:nvPr/>
        </p:nvSpPr>
        <p:spPr>
          <a:xfrm>
            <a:off x="1270000" y="6667500"/>
            <a:ext cx="6350000" cy="1143000"/>
          </a:xfrm>
          <a:prstGeom prst="rect">
            <a:avLst/>
          </a:prstGeom>
          <a:noFill/>
          <a:ln/>
        </p:spPr>
        <p:txBody>
          <a:bodyPr wrap="square" lIns="0" tIns="0" rIns="0" bIns="0" rtlCol="0" anchor="ctr"/>
          <a:lstStyle/>
          <a:p>
            <a:pPr>
              <a:lnSpc>
                <a:spcPct val="16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 </a:t>
            </a:r>
            <a:pPr>
              <a:lnSpc>
                <a:spcPct val="160000"/>
              </a:lnSpc>
            </a:pPr>
            <a:r>
              <a:rPr lang="en-US" sz="1400" b="1" dirty="0">
                <a:solidFill>
                  <a:srgbClr val="FFFFFF"/>
                </a:solidFill>
                <a:latin typeface="Quattrocento Sans" pitchFamily="34" charset="0"/>
                <a:ea typeface="Quattrocento Sans" pitchFamily="34" charset="-122"/>
                <a:cs typeface="Quattrocento Sans" pitchFamily="34" charset="-120"/>
              </a:rPr>
              <a:t>Key distinction:</a:t>
            </a:r>
            <a:pP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 The Project window contains </a:t>
            </a:r>
            <a:pPr>
              <a:lnSpc>
                <a:spcPct val="160000"/>
              </a:lnSpc>
            </a:pPr>
            <a:r>
              <a:rPr lang="en-US" sz="1400" b="1" dirty="0">
                <a:solidFill>
                  <a:srgbClr val="FFFFFF"/>
                </a:solidFill>
                <a:latin typeface="Quattrocento Sans" pitchFamily="34" charset="0"/>
                <a:ea typeface="Quattrocento Sans" pitchFamily="34" charset="-122"/>
                <a:cs typeface="Quattrocento Sans" pitchFamily="34" charset="-120"/>
              </a:rPr>
              <a:t>ALL</a:t>
            </a:r>
            <a:pP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 assets available to your project. The Hierarchy only shows objects </a:t>
            </a:r>
            <a:pPr>
              <a:lnSpc>
                <a:spcPct val="160000"/>
              </a:lnSpc>
            </a:pPr>
            <a:r>
              <a:rPr lang="en-US" sz="1400" b="1" dirty="0">
                <a:solidFill>
                  <a:srgbClr val="FFFFFF"/>
                </a:solidFill>
                <a:latin typeface="Quattrocento Sans" pitchFamily="34" charset="0"/>
                <a:ea typeface="Quattrocento Sans" pitchFamily="34" charset="-122"/>
                <a:cs typeface="Quattrocento Sans" pitchFamily="34" charset="-120"/>
              </a:rPr>
              <a:t>currently in the active scene</a:t>
            </a:r>
            <a:pP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a:t>
            </a:r>
            <a:endParaRPr lang="en-US" sz="1600" dirty="0"/>
          </a:p>
        </p:txBody>
      </p:sp>
      <p:sp>
        <p:nvSpPr>
          <p:cNvPr id="12" name="Shape 10"/>
          <p:cNvSpPr/>
          <p:nvPr/>
        </p:nvSpPr>
        <p:spPr>
          <a:xfrm>
            <a:off x="8636000" y="1524000"/>
            <a:ext cx="6858000" cy="6731000"/>
          </a:xfrm>
          <a:prstGeom prst="rect">
            <a:avLst/>
          </a:prstGeom>
          <a:solidFill>
            <a:srgbClr val="1A1D23"/>
          </a:solidFill>
          <a:ln/>
        </p:spPr>
      </p:sp>
      <p:sp>
        <p:nvSpPr>
          <p:cNvPr id="13" name="Text 11"/>
          <p:cNvSpPr/>
          <p:nvPr/>
        </p:nvSpPr>
        <p:spPr>
          <a:xfrm>
            <a:off x="8890000" y="1714500"/>
            <a:ext cx="5080000" cy="355600"/>
          </a:xfrm>
          <a:prstGeom prst="rect">
            <a:avLst/>
          </a:prstGeom>
          <a:noFill/>
          <a:ln/>
        </p:spPr>
        <p:txBody>
          <a:bodyPr wrap="none" lIns="0" tIns="0" rIns="0" bIns="0" rtlCol="0" anchor="ctr"/>
          <a:lstStyle/>
          <a:p>
            <a:pPr>
              <a:lnSpc>
                <a:spcPct val="100000"/>
              </a:lnSpc>
            </a:pPr>
            <a:r>
              <a:rPr lang="en-US" sz="1600" spc="100" kern="0" dirty="0">
                <a:solidFill>
                  <a:srgbClr val="FF6B35"/>
                </a:solidFill>
                <a:latin typeface="Liter" pitchFamily="34" charset="0"/>
                <a:ea typeface="Liter" pitchFamily="34" charset="-122"/>
                <a:cs typeface="Liter" pitchFamily="34" charset="-120"/>
              </a:rPr>
              <a:t>EXAMPLE PROJECT STRUCTURE</a:t>
            </a:r>
            <a:endParaRPr lang="en-US" sz="1600" dirty="0"/>
          </a:p>
        </p:txBody>
      </p:sp>
      <p:sp>
        <p:nvSpPr>
          <p:cNvPr id="14" name="Text 12"/>
          <p:cNvSpPr/>
          <p:nvPr/>
        </p:nvSpPr>
        <p:spPr>
          <a:xfrm>
            <a:off x="8890000" y="2222500"/>
            <a:ext cx="6350000" cy="5778500"/>
          </a:xfrm>
          <a:prstGeom prst="rect">
            <a:avLst/>
          </a:prstGeom>
          <a:noFill/>
          <a:ln/>
        </p:spPr>
        <p:txBody>
          <a:bodyPr wrap="square" lIns="0" tIns="0" rIns="0" bIns="0" rtlCol="0" anchor="t"/>
          <a:lstStyle/>
          <a:p>
            <a:pPr>
              <a:lnSpc>
                <a:spcPct val="18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a:t>
            </a:r>
            <a:pPr>
              <a:lnSpc>
                <a:spcPct val="180000"/>
              </a:lnSpc>
            </a:pPr>
            <a:r>
              <a:rPr lang="en-US" sz="1400" b="1" dirty="0">
                <a:solidFill>
                  <a:srgbClr val="FFFFFF"/>
                </a:solidFill>
                <a:latin typeface="Quattrocento Sans" pitchFamily="34" charset="0"/>
                <a:ea typeface="Quattrocento Sans" pitchFamily="34" charset="-122"/>
                <a:cs typeface="Quattrocento Sans" pitchFamily="34" charset="-120"/>
              </a:rPr>
              <a:t>Assets</a:t>
            </a:r>
            <a:endParaRPr lang="en-US" sz="1600" dirty="0"/>
          </a:p>
          <a:p>
            <a:pPr>
              <a:lnSpc>
                <a:spcPct val="18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Materials</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SunMaterial.mat</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EarthMaterial.mat</a:t>
            </a:r>
            <a:endParaRPr lang="en-US" sz="1600" dirty="0"/>
          </a:p>
          <a:p>
            <a:pPr>
              <a:lnSpc>
                <a:spcPct val="18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Scripts</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PlanetRotation.cs</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CameraController.cs</a:t>
            </a:r>
            <a:endParaRPr lang="en-US" sz="1600" dirty="0"/>
          </a:p>
          <a:p>
            <a:pPr>
              <a:lnSpc>
                <a:spcPct val="18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Textures</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sun_texture.jpg</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earth_texture.jpg</a:t>
            </a:r>
            <a:endParaRPr lang="en-US" sz="1600" dirty="0"/>
          </a:p>
          <a:p>
            <a:pPr>
              <a:lnSpc>
                <a:spcPct val="18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Scenes</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SolarSystem.unity</a:t>
            </a:r>
            <a:endParaRPr lang="en-US" sz="1600" dirty="0"/>
          </a:p>
          <a:p>
            <a:pPr>
              <a:lnSpc>
                <a:spcPct val="180000"/>
              </a:lnSpc>
            </a:pPr>
            <a:r>
              <a:rPr lang="en-US" sz="14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Prefabs</a:t>
            </a:r>
            <a:endParaRPr lang="en-US" sz="1600" dirty="0"/>
          </a:p>
          <a:p>
            <a:pPr>
              <a:lnSpc>
                <a:spcPct val="180000"/>
              </a:lnSpc>
            </a:pPr>
            <a:r>
              <a:rPr lang="en-US" sz="1400" dirty="0">
                <a:solidFill>
                  <a:srgbClr val="6B728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FFFFFF"/>
                </a:solidFill>
                <a:latin typeface="Quattrocento Sans" pitchFamily="34" charset="0"/>
                <a:ea typeface="Quattrocento Sans" pitchFamily="34" charset="-122"/>
                <a:cs typeface="Quattrocento Sans" pitchFamily="34" charset="-120"/>
              </a:rPr>
              <a:t> PlanetPrefab.prefab</a:t>
            </a:r>
            <a:endParaRPr lang="en-US" sz="1600" dirty="0"/>
          </a:p>
        </p:txBody>
      </p:sp>
      <p:sp>
        <p:nvSpPr>
          <p:cNvPr id="15" name="Shape 13"/>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Inspector Window</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14732000" cy="1016000"/>
          </a:xfrm>
          <a:prstGeom prst="rect">
            <a:avLst/>
          </a:prstGeom>
          <a:solidFill>
            <a:srgbClr val="FFFFFF"/>
          </a:solidFill>
          <a:ln w="12700">
            <a:solidFill>
              <a:srgbClr val="E8EAED"/>
            </a:solidFill>
            <a:prstDash val="solid"/>
          </a:ln>
        </p:spPr>
      </p:sp>
      <p:sp>
        <p:nvSpPr>
          <p:cNvPr id="6" name="Shape 4"/>
          <p:cNvSpPr/>
          <p:nvPr/>
        </p:nvSpPr>
        <p:spPr>
          <a:xfrm>
            <a:off x="762000" y="1524000"/>
            <a:ext cx="50800" cy="1016000"/>
          </a:xfrm>
          <a:prstGeom prst="rect">
            <a:avLst/>
          </a:prstGeom>
          <a:solidFill>
            <a:srgbClr val="FF6B35"/>
          </a:solidFill>
          <a:ln/>
        </p:spPr>
      </p:sp>
      <p:sp>
        <p:nvSpPr>
          <p:cNvPr id="7" name="Text 5"/>
          <p:cNvSpPr/>
          <p:nvPr/>
        </p:nvSpPr>
        <p:spPr>
          <a:xfrm>
            <a:off x="1066800" y="1651000"/>
            <a:ext cx="14097000" cy="7620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The Inspector shows detailed information about whatever you have selected. It is context-sensitive — the contents change based on your selection.</a:t>
            </a:r>
            <a:endParaRPr lang="en-US" sz="1800" dirty="0"/>
          </a:p>
        </p:txBody>
      </p:sp>
      <p:sp>
        <p:nvSpPr>
          <p:cNvPr id="8" name="Shape 6"/>
          <p:cNvSpPr/>
          <p:nvPr/>
        </p:nvSpPr>
        <p:spPr>
          <a:xfrm>
            <a:off x="762000" y="2794000"/>
            <a:ext cx="7175500" cy="3302000"/>
          </a:xfrm>
          <a:prstGeom prst="rect">
            <a:avLst/>
          </a:prstGeom>
          <a:solidFill>
            <a:srgbClr val="FFFFFF"/>
          </a:solidFill>
          <a:ln w="12700">
            <a:solidFill>
              <a:srgbClr val="E8EAED"/>
            </a:solidFill>
            <a:prstDash val="solid"/>
          </a:ln>
        </p:spPr>
      </p:sp>
      <p:sp>
        <p:nvSpPr>
          <p:cNvPr id="9" name="Shape 7"/>
          <p:cNvSpPr/>
          <p:nvPr/>
        </p:nvSpPr>
        <p:spPr>
          <a:xfrm>
            <a:off x="762000" y="2794000"/>
            <a:ext cx="7175500" cy="63500"/>
          </a:xfrm>
          <a:prstGeom prst="rect">
            <a:avLst/>
          </a:prstGeom>
          <a:solidFill>
            <a:srgbClr val="FF6B35"/>
          </a:solidFill>
          <a:ln/>
        </p:spPr>
      </p:sp>
      <p:sp>
        <p:nvSpPr>
          <p:cNvPr id="10" name="Shape 8"/>
          <p:cNvSpPr/>
          <p:nvPr/>
        </p:nvSpPr>
        <p:spPr>
          <a:xfrm>
            <a:off x="1016000" y="3048000"/>
            <a:ext cx="279400" cy="279400"/>
          </a:xfrm>
          <a:custGeom>
            <a:avLst/>
            <a:gdLst/>
            <a:ahLst/>
            <a:cxnLst/>
            <a:rect l="l" t="t" r="r" b="b"/>
            <a:pathLst>
              <a:path w="279400" h="279400">
                <a:moveTo>
                  <a:pt x="122401" y="-1364"/>
                </a:moveTo>
                <a:cubicBezTo>
                  <a:pt x="133206" y="-7585"/>
                  <a:pt x="146521" y="-7585"/>
                  <a:pt x="157326" y="-1364"/>
                </a:cubicBezTo>
                <a:lnTo>
                  <a:pt x="253315" y="54025"/>
                </a:lnTo>
                <a:cubicBezTo>
                  <a:pt x="264120" y="60246"/>
                  <a:pt x="270778" y="71815"/>
                  <a:pt x="270778" y="84257"/>
                </a:cubicBezTo>
                <a:lnTo>
                  <a:pt x="270778" y="195034"/>
                </a:lnTo>
                <a:cubicBezTo>
                  <a:pt x="270778" y="207531"/>
                  <a:pt x="264120" y="219045"/>
                  <a:pt x="253315" y="225266"/>
                </a:cubicBezTo>
                <a:lnTo>
                  <a:pt x="157326" y="280764"/>
                </a:lnTo>
                <a:cubicBezTo>
                  <a:pt x="146521" y="286985"/>
                  <a:pt x="133206" y="286985"/>
                  <a:pt x="122401" y="280764"/>
                </a:cubicBezTo>
                <a:lnTo>
                  <a:pt x="26467" y="225375"/>
                </a:lnTo>
                <a:cubicBezTo>
                  <a:pt x="15662" y="219154"/>
                  <a:pt x="9004" y="207585"/>
                  <a:pt x="9004" y="195143"/>
                </a:cubicBezTo>
                <a:lnTo>
                  <a:pt x="9004" y="84366"/>
                </a:lnTo>
                <a:cubicBezTo>
                  <a:pt x="9004" y="71869"/>
                  <a:pt x="15662" y="60355"/>
                  <a:pt x="26467" y="54134"/>
                </a:cubicBezTo>
                <a:lnTo>
                  <a:pt x="122401" y="-1364"/>
                </a:lnTo>
                <a:close/>
                <a:moveTo>
                  <a:pt x="235798" y="195089"/>
                </a:moveTo>
                <a:lnTo>
                  <a:pt x="235798" y="104448"/>
                </a:lnTo>
                <a:lnTo>
                  <a:pt x="157326" y="149741"/>
                </a:lnTo>
                <a:lnTo>
                  <a:pt x="157326" y="240382"/>
                </a:lnTo>
                <a:lnTo>
                  <a:pt x="235798" y="195089"/>
                </a:lnTo>
                <a:close/>
              </a:path>
            </a:pathLst>
          </a:custGeom>
          <a:solidFill>
            <a:srgbClr val="FF6B35"/>
          </a:solidFill>
          <a:ln/>
        </p:spPr>
      </p:sp>
      <p:sp>
        <p:nvSpPr>
          <p:cNvPr id="11" name="Text 9"/>
          <p:cNvSpPr/>
          <p:nvPr/>
        </p:nvSpPr>
        <p:spPr>
          <a:xfrm>
            <a:off x="1397000" y="3048000"/>
            <a:ext cx="5080000" cy="3048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When a GameObject is selected</a:t>
            </a:r>
            <a:endParaRPr lang="en-US" sz="1600" dirty="0"/>
          </a:p>
        </p:txBody>
      </p:sp>
      <p:sp>
        <p:nvSpPr>
          <p:cNvPr id="12" name="Text 10"/>
          <p:cNvSpPr/>
          <p:nvPr/>
        </p:nvSpPr>
        <p:spPr>
          <a:xfrm>
            <a:off x="1016000" y="3492500"/>
            <a:ext cx="6667500" cy="24130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Shows all attached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Components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Transform</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Position, Rotation, Scale</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Mesh Renderer</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3D model display</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Collider</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physics collision shape</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Scripts</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 C# behavior components</a:t>
            </a:r>
            <a:endParaRPr lang="en-US" sz="1600" dirty="0"/>
          </a:p>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Add/Remove/Reorder components</a:t>
            </a:r>
            <a:endParaRPr lang="en-US" sz="1600" dirty="0"/>
          </a:p>
        </p:txBody>
      </p:sp>
      <p:sp>
        <p:nvSpPr>
          <p:cNvPr id="13" name="Shape 11"/>
          <p:cNvSpPr/>
          <p:nvPr/>
        </p:nvSpPr>
        <p:spPr>
          <a:xfrm>
            <a:off x="8318500" y="2794000"/>
            <a:ext cx="7175500" cy="3302000"/>
          </a:xfrm>
          <a:prstGeom prst="rect">
            <a:avLst/>
          </a:prstGeom>
          <a:solidFill>
            <a:srgbClr val="FFFFFF"/>
          </a:solidFill>
          <a:ln w="12700">
            <a:solidFill>
              <a:srgbClr val="E8EAED"/>
            </a:solidFill>
            <a:prstDash val="solid"/>
          </a:ln>
        </p:spPr>
      </p:sp>
      <p:sp>
        <p:nvSpPr>
          <p:cNvPr id="14" name="Shape 12"/>
          <p:cNvSpPr/>
          <p:nvPr/>
        </p:nvSpPr>
        <p:spPr>
          <a:xfrm>
            <a:off x="8318500" y="2794000"/>
            <a:ext cx="7175500" cy="63500"/>
          </a:xfrm>
          <a:prstGeom prst="rect">
            <a:avLst/>
          </a:prstGeom>
          <a:solidFill>
            <a:srgbClr val="1A1D23"/>
          </a:solidFill>
          <a:ln/>
        </p:spPr>
      </p:sp>
      <p:sp>
        <p:nvSpPr>
          <p:cNvPr id="15" name="Shape 13"/>
          <p:cNvSpPr/>
          <p:nvPr/>
        </p:nvSpPr>
        <p:spPr>
          <a:xfrm>
            <a:off x="8607425" y="3048000"/>
            <a:ext cx="209550" cy="279400"/>
          </a:xfrm>
          <a:custGeom>
            <a:avLst/>
            <a:gdLst/>
            <a:ahLst/>
            <a:cxnLst/>
            <a:rect l="l" t="t" r="r" b="b"/>
            <a:pathLst>
              <a:path w="209550" h="279400">
                <a:moveTo>
                  <a:pt x="34925" y="0"/>
                </a:moveTo>
                <a:cubicBezTo>
                  <a:pt x="15662" y="0"/>
                  <a:pt x="0" y="15662"/>
                  <a:pt x="0" y="34925"/>
                </a:cubicBezTo>
                <a:lnTo>
                  <a:pt x="0" y="244475"/>
                </a:lnTo>
                <a:cubicBezTo>
                  <a:pt x="0" y="263738"/>
                  <a:pt x="15662" y="279400"/>
                  <a:pt x="34925" y="279400"/>
                </a:cubicBezTo>
                <a:lnTo>
                  <a:pt x="174625" y="279400"/>
                </a:lnTo>
                <a:cubicBezTo>
                  <a:pt x="193888" y="279400"/>
                  <a:pt x="209550" y="263738"/>
                  <a:pt x="209550" y="244475"/>
                </a:cubicBezTo>
                <a:lnTo>
                  <a:pt x="209550" y="93042"/>
                </a:lnTo>
                <a:cubicBezTo>
                  <a:pt x="209550" y="83765"/>
                  <a:pt x="205894" y="74870"/>
                  <a:pt x="199345" y="68322"/>
                </a:cubicBezTo>
                <a:lnTo>
                  <a:pt x="141173" y="10205"/>
                </a:lnTo>
                <a:cubicBezTo>
                  <a:pt x="134625" y="3656"/>
                  <a:pt x="125785" y="0"/>
                  <a:pt x="116508" y="0"/>
                </a:cubicBezTo>
                <a:lnTo>
                  <a:pt x="34925" y="0"/>
                </a:lnTo>
                <a:close/>
                <a:moveTo>
                  <a:pt x="177626" y="96044"/>
                </a:moveTo>
                <a:lnTo>
                  <a:pt x="126603" y="96044"/>
                </a:lnTo>
                <a:cubicBezTo>
                  <a:pt x="119345" y="96044"/>
                  <a:pt x="113506" y="90205"/>
                  <a:pt x="113506" y="82947"/>
                </a:cubicBezTo>
                <a:lnTo>
                  <a:pt x="113506" y="31924"/>
                </a:lnTo>
                <a:lnTo>
                  <a:pt x="177626" y="96044"/>
                </a:lnTo>
                <a:close/>
              </a:path>
            </a:pathLst>
          </a:custGeom>
          <a:solidFill>
            <a:srgbClr val="1A1D23"/>
          </a:solidFill>
          <a:ln/>
        </p:spPr>
      </p:sp>
      <p:sp>
        <p:nvSpPr>
          <p:cNvPr id="16" name="Text 14"/>
          <p:cNvSpPr/>
          <p:nvPr/>
        </p:nvSpPr>
        <p:spPr>
          <a:xfrm>
            <a:off x="8953500" y="3048000"/>
            <a:ext cx="5080000" cy="3048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When an asset is selected</a:t>
            </a:r>
            <a:endParaRPr lang="en-US" sz="1600" dirty="0"/>
          </a:p>
        </p:txBody>
      </p:sp>
      <p:sp>
        <p:nvSpPr>
          <p:cNvPr id="17" name="Text 15"/>
          <p:cNvSpPr/>
          <p:nvPr/>
        </p:nvSpPr>
        <p:spPr>
          <a:xfrm>
            <a:off x="8572500" y="3492500"/>
            <a:ext cx="6667500" cy="2413000"/>
          </a:xfrm>
          <a:prstGeom prst="rect">
            <a:avLst/>
          </a:prstGeom>
          <a:noFill/>
          <a:ln/>
        </p:spPr>
        <p:txBody>
          <a:bodyPr wrap="square" lIns="0" tIns="0" rIns="0" bIns="0" rtlCol="0" anchor="t"/>
          <a:lstStyle/>
          <a:p>
            <a:pPr>
              <a:lnSpc>
                <a:spcPct val="170000"/>
              </a:lnSpc>
            </a:pPr>
            <a:r>
              <a:rPr lang="en-US" sz="1500" dirty="0">
                <a:solidFill>
                  <a:srgbClr val="1A1D23"/>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Shows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import settings</a:t>
            </a:r>
            <a:endParaRPr lang="en-US" sz="1600" dirty="0"/>
          </a:p>
          <a:p>
            <a:pPr>
              <a:lnSpc>
                <a:spcPct val="170000"/>
              </a:lnSpc>
            </a:pPr>
            <a:r>
              <a:rPr lang="en-US" sz="1500" dirty="0">
                <a:solidFill>
                  <a:srgbClr val="1A1D23"/>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Preview of the asset</a:t>
            </a:r>
            <a:endParaRPr lang="en-US" sz="1600" dirty="0"/>
          </a:p>
          <a:p>
            <a:pPr>
              <a:lnSpc>
                <a:spcPct val="170000"/>
              </a:lnSpc>
            </a:pPr>
            <a:r>
              <a:rPr lang="en-US" sz="1500" dirty="0">
                <a:solidFill>
                  <a:srgbClr val="1A1D23"/>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File path and type info</a:t>
            </a:r>
            <a:endParaRPr lang="en-US" sz="1600" dirty="0"/>
          </a:p>
          <a:p>
            <a:pPr>
              <a:lnSpc>
                <a:spcPct val="170000"/>
              </a:lnSpc>
            </a:pPr>
            <a:r>
              <a:rPr lang="en-US" sz="1500" dirty="0">
                <a:solidFill>
                  <a:srgbClr val="1A1D23"/>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Format-specific options</a:t>
            </a:r>
            <a:endParaRPr lang="en-US" sz="1600" dirty="0"/>
          </a:p>
          <a:p>
            <a:pPr>
              <a:lnSpc>
                <a:spcPct val="170000"/>
              </a:lnSpc>
            </a:pPr>
            <a:r>
              <a:rPr lang="en-US" sz="1500" dirty="0">
                <a:solidFill>
                  <a:srgbClr val="1A1D23"/>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E2328"/>
                </a:solidFill>
                <a:latin typeface="Quattrocento Sans" pitchFamily="34" charset="0"/>
                <a:ea typeface="Quattrocento Sans" pitchFamily="34" charset="-122"/>
                <a:cs typeface="Quattrocento Sans" pitchFamily="34" charset="-120"/>
              </a:rPr>
              <a:t>Debug mode</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reveals internal values</a:t>
            </a:r>
            <a:endParaRPr lang="en-US" sz="1600" dirty="0"/>
          </a:p>
          <a:p>
            <a:pPr>
              <a:lnSpc>
                <a:spcPct val="170000"/>
              </a:lnSpc>
            </a:pPr>
            <a:r>
              <a:rPr lang="en-US" sz="1500" dirty="0">
                <a:solidFill>
                  <a:srgbClr val="1A1D23"/>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E2328"/>
                </a:solidFill>
                <a:latin typeface="Quattrocento Sans" pitchFamily="34" charset="0"/>
                <a:ea typeface="Quattrocento Sans" pitchFamily="34" charset="-122"/>
                <a:cs typeface="Quattrocento Sans" pitchFamily="34" charset="-120"/>
              </a:rPr>
              <a:t> Edit values in real-time</a:t>
            </a:r>
            <a:endParaRPr lang="en-US" sz="1600" dirty="0"/>
          </a:p>
        </p:txBody>
      </p:sp>
      <p:sp>
        <p:nvSpPr>
          <p:cNvPr id="18" name="Shape 16"/>
          <p:cNvSpPr/>
          <p:nvPr/>
        </p:nvSpPr>
        <p:spPr>
          <a:xfrm>
            <a:off x="762000" y="6413500"/>
            <a:ext cx="14732000" cy="2095500"/>
          </a:xfrm>
          <a:prstGeom prst="rect">
            <a:avLst/>
          </a:prstGeom>
          <a:solidFill>
            <a:srgbClr val="1A1D23"/>
          </a:solidFill>
          <a:ln/>
        </p:spPr>
      </p:sp>
      <p:sp>
        <p:nvSpPr>
          <p:cNvPr id="19" name="Shape 17"/>
          <p:cNvSpPr/>
          <p:nvPr/>
        </p:nvSpPr>
        <p:spPr>
          <a:xfrm>
            <a:off x="1066800" y="6604000"/>
            <a:ext cx="304800" cy="304800"/>
          </a:xfrm>
          <a:custGeom>
            <a:avLst/>
            <a:gdLst/>
            <a:ahLst/>
            <a:cxnLst/>
            <a:rect l="l" t="t" r="r" b="b"/>
            <a:pathLst>
              <a:path w="304800" h="304800">
                <a:moveTo>
                  <a:pt x="165854" y="5596"/>
                </a:moveTo>
                <a:cubicBezTo>
                  <a:pt x="158413" y="-1845"/>
                  <a:pt x="146328" y="-1845"/>
                  <a:pt x="138886" y="5596"/>
                </a:cubicBezTo>
                <a:lnTo>
                  <a:pt x="100786" y="43696"/>
                </a:lnTo>
                <a:cubicBezTo>
                  <a:pt x="93345" y="51137"/>
                  <a:pt x="93345" y="63222"/>
                  <a:pt x="100786" y="70664"/>
                </a:cubicBezTo>
                <a:cubicBezTo>
                  <a:pt x="108228" y="78105"/>
                  <a:pt x="120313" y="78105"/>
                  <a:pt x="127754" y="70664"/>
                </a:cubicBezTo>
                <a:lnTo>
                  <a:pt x="133350" y="65068"/>
                </a:lnTo>
                <a:lnTo>
                  <a:pt x="133350" y="133350"/>
                </a:lnTo>
                <a:lnTo>
                  <a:pt x="65068" y="133350"/>
                </a:lnTo>
                <a:lnTo>
                  <a:pt x="70664" y="127754"/>
                </a:lnTo>
                <a:cubicBezTo>
                  <a:pt x="78105" y="120313"/>
                  <a:pt x="78105" y="108228"/>
                  <a:pt x="70664" y="100786"/>
                </a:cubicBezTo>
                <a:cubicBezTo>
                  <a:pt x="63222" y="93345"/>
                  <a:pt x="51137" y="93345"/>
                  <a:pt x="43696" y="100786"/>
                </a:cubicBezTo>
                <a:lnTo>
                  <a:pt x="5596" y="138886"/>
                </a:lnTo>
                <a:cubicBezTo>
                  <a:pt x="-1845" y="146328"/>
                  <a:pt x="-1845" y="158413"/>
                  <a:pt x="5596" y="165854"/>
                </a:cubicBezTo>
                <a:lnTo>
                  <a:pt x="43696" y="203954"/>
                </a:lnTo>
                <a:cubicBezTo>
                  <a:pt x="51137" y="211395"/>
                  <a:pt x="63222" y="211395"/>
                  <a:pt x="70664" y="203954"/>
                </a:cubicBezTo>
                <a:cubicBezTo>
                  <a:pt x="78105" y="196513"/>
                  <a:pt x="78105" y="184428"/>
                  <a:pt x="70664" y="176986"/>
                </a:cubicBezTo>
                <a:lnTo>
                  <a:pt x="65068" y="171390"/>
                </a:lnTo>
                <a:lnTo>
                  <a:pt x="133350" y="171390"/>
                </a:lnTo>
                <a:lnTo>
                  <a:pt x="133350" y="239673"/>
                </a:lnTo>
                <a:lnTo>
                  <a:pt x="127754" y="234077"/>
                </a:lnTo>
                <a:cubicBezTo>
                  <a:pt x="120313" y="226635"/>
                  <a:pt x="108228" y="226635"/>
                  <a:pt x="100786" y="234077"/>
                </a:cubicBezTo>
                <a:cubicBezTo>
                  <a:pt x="93345" y="241518"/>
                  <a:pt x="93345" y="253603"/>
                  <a:pt x="100786" y="261045"/>
                </a:cubicBezTo>
                <a:lnTo>
                  <a:pt x="138886" y="299145"/>
                </a:lnTo>
                <a:cubicBezTo>
                  <a:pt x="146328" y="306586"/>
                  <a:pt x="158413" y="306586"/>
                  <a:pt x="165854" y="299145"/>
                </a:cubicBezTo>
                <a:lnTo>
                  <a:pt x="203954" y="261045"/>
                </a:lnTo>
                <a:cubicBezTo>
                  <a:pt x="211395" y="253603"/>
                  <a:pt x="211395" y="241518"/>
                  <a:pt x="203954" y="234077"/>
                </a:cubicBezTo>
                <a:cubicBezTo>
                  <a:pt x="196513" y="226635"/>
                  <a:pt x="184428" y="226635"/>
                  <a:pt x="176986" y="234077"/>
                </a:cubicBezTo>
                <a:lnTo>
                  <a:pt x="171390" y="239673"/>
                </a:lnTo>
                <a:lnTo>
                  <a:pt x="171390" y="171390"/>
                </a:lnTo>
                <a:lnTo>
                  <a:pt x="239673" y="171390"/>
                </a:lnTo>
                <a:lnTo>
                  <a:pt x="234077" y="176986"/>
                </a:lnTo>
                <a:cubicBezTo>
                  <a:pt x="226635" y="184428"/>
                  <a:pt x="226635" y="196513"/>
                  <a:pt x="234077" y="203954"/>
                </a:cubicBezTo>
                <a:cubicBezTo>
                  <a:pt x="241518" y="211395"/>
                  <a:pt x="253603" y="211395"/>
                  <a:pt x="261045" y="203954"/>
                </a:cubicBezTo>
                <a:lnTo>
                  <a:pt x="299145" y="165854"/>
                </a:lnTo>
                <a:cubicBezTo>
                  <a:pt x="306586" y="158413"/>
                  <a:pt x="306586" y="146328"/>
                  <a:pt x="299145" y="138886"/>
                </a:cubicBezTo>
                <a:lnTo>
                  <a:pt x="261045" y="100786"/>
                </a:lnTo>
                <a:cubicBezTo>
                  <a:pt x="253603" y="93345"/>
                  <a:pt x="241518" y="93345"/>
                  <a:pt x="234077" y="100786"/>
                </a:cubicBezTo>
                <a:cubicBezTo>
                  <a:pt x="226635" y="108228"/>
                  <a:pt x="226635" y="120313"/>
                  <a:pt x="234077" y="127754"/>
                </a:cubicBezTo>
                <a:lnTo>
                  <a:pt x="239673" y="133350"/>
                </a:lnTo>
                <a:lnTo>
                  <a:pt x="171390" y="133350"/>
                </a:lnTo>
                <a:lnTo>
                  <a:pt x="171390" y="65068"/>
                </a:lnTo>
                <a:lnTo>
                  <a:pt x="176986" y="70664"/>
                </a:lnTo>
                <a:cubicBezTo>
                  <a:pt x="184428" y="78105"/>
                  <a:pt x="196513" y="78105"/>
                  <a:pt x="203954" y="70664"/>
                </a:cubicBezTo>
                <a:cubicBezTo>
                  <a:pt x="211395" y="63222"/>
                  <a:pt x="211395" y="51137"/>
                  <a:pt x="203954" y="43696"/>
                </a:cubicBezTo>
                <a:lnTo>
                  <a:pt x="165854" y="5596"/>
                </a:lnTo>
                <a:close/>
              </a:path>
            </a:pathLst>
          </a:custGeom>
          <a:solidFill>
            <a:srgbClr val="FF6B35"/>
          </a:solidFill>
          <a:ln/>
        </p:spPr>
      </p:sp>
      <p:sp>
        <p:nvSpPr>
          <p:cNvPr id="20" name="Text 18"/>
          <p:cNvSpPr/>
          <p:nvPr/>
        </p:nvSpPr>
        <p:spPr>
          <a:xfrm>
            <a:off x="1498600" y="6604000"/>
            <a:ext cx="3810000" cy="3048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THE TRANSFORM COMPONENT</a:t>
            </a:r>
            <a:endParaRPr lang="en-US" sz="1600" dirty="0"/>
          </a:p>
        </p:txBody>
      </p:sp>
      <p:sp>
        <p:nvSpPr>
          <p:cNvPr id="21" name="Text 19"/>
          <p:cNvSpPr/>
          <p:nvPr/>
        </p:nvSpPr>
        <p:spPr>
          <a:xfrm>
            <a:off x="1066800" y="7048500"/>
            <a:ext cx="14097000" cy="1270000"/>
          </a:xfrm>
          <a:prstGeom prst="rect">
            <a:avLst/>
          </a:prstGeom>
          <a:noFill/>
          <a:ln/>
        </p:spPr>
        <p:txBody>
          <a:bodyPr wrap="square" lIns="0" tIns="0" rIns="0" bIns="0" rtlCol="0" anchor="t"/>
          <a:lstStyle/>
          <a:p>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Every GameObject has a </a:t>
            </a:r>
            <a:pPr>
              <a:lnSpc>
                <a:spcPct val="160000"/>
              </a:lnSpc>
            </a:pPr>
            <a:r>
              <a:rPr lang="en-US" sz="1500" b="1" dirty="0">
                <a:solidFill>
                  <a:srgbClr val="FFFFFF"/>
                </a:solidFill>
                <a:latin typeface="Quattrocento Sans" pitchFamily="34" charset="0"/>
                <a:ea typeface="Quattrocento Sans" pitchFamily="34" charset="-122"/>
                <a:cs typeface="Quattrocento Sans" pitchFamily="34" charset="-120"/>
              </a:rPr>
              <a:t>Transform</a:t>
            </a:r>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component. It is the most frequently edited component in Unity:</a:t>
            </a:r>
            <a:endParaRPr lang="en-US" sz="1600" dirty="0"/>
          </a:p>
          <a:p>
            <a:pPr>
              <a:lnSpc>
                <a:spcPct val="160000"/>
              </a:lnSpc>
              <a:spcBef>
                <a:spcPts val="400"/>
              </a:spcBef>
            </a:pPr>
            <a:r>
              <a:rPr lang="en-US" sz="1500" b="1" dirty="0">
                <a:solidFill>
                  <a:srgbClr val="FFFFFF"/>
                </a:solidFill>
                <a:latin typeface="Quattrocento Sans" pitchFamily="34" charset="0"/>
                <a:ea typeface="Quattrocento Sans" pitchFamily="34" charset="-122"/>
                <a:cs typeface="Quattrocento Sans" pitchFamily="34" charset="-120"/>
              </a:rPr>
              <a:t>Position (X, Y, Z)</a:t>
            </a:r>
            <a:pPr>
              <a:lnSpc>
                <a:spcPct val="160000"/>
              </a:lnSpc>
              <a:spcBef>
                <a:spcPts val="400"/>
              </a:spcBef>
            </a:pPr>
            <a:r>
              <a:rPr lang="en-US" sz="1500" dirty="0">
                <a:solidFill>
                  <a:srgbClr val="FFFFFF"/>
                </a:solidFill>
                <a:latin typeface="Quattrocento Sans" pitchFamily="34" charset="0"/>
                <a:ea typeface="Quattrocento Sans" pitchFamily="34" charset="-122"/>
                <a:cs typeface="Quattrocento Sans" pitchFamily="34" charset="-120"/>
              </a:rPr>
              <a:t> — location in 3D space | </a:t>
            </a:r>
            <a:pPr>
              <a:lnSpc>
                <a:spcPct val="160000"/>
              </a:lnSpc>
              <a:spcBef>
                <a:spcPts val="400"/>
              </a:spcBef>
            </a:pPr>
            <a:r>
              <a:rPr lang="en-US" sz="1500" b="1" dirty="0">
                <a:solidFill>
                  <a:srgbClr val="FFFFFF"/>
                </a:solidFill>
                <a:latin typeface="Quattrocento Sans" pitchFamily="34" charset="0"/>
                <a:ea typeface="Quattrocento Sans" pitchFamily="34" charset="-122"/>
                <a:cs typeface="Quattrocento Sans" pitchFamily="34" charset="-120"/>
              </a:rPr>
              <a:t>Rotation (X, Y, Z)</a:t>
            </a:r>
            <a:pPr>
              <a:lnSpc>
                <a:spcPct val="160000"/>
              </a:lnSpc>
              <a:spcBef>
                <a:spcPts val="400"/>
              </a:spcBef>
            </a:pPr>
            <a:r>
              <a:rPr lang="en-US" sz="1500" dirty="0">
                <a:solidFill>
                  <a:srgbClr val="FFFFFF"/>
                </a:solidFill>
                <a:latin typeface="Quattrocento Sans" pitchFamily="34" charset="0"/>
                <a:ea typeface="Quattrocento Sans" pitchFamily="34" charset="-122"/>
                <a:cs typeface="Quattrocento Sans" pitchFamily="34" charset="-120"/>
              </a:rPr>
              <a:t> — orientation in degrees | </a:t>
            </a:r>
            <a:pPr>
              <a:lnSpc>
                <a:spcPct val="160000"/>
              </a:lnSpc>
              <a:spcBef>
                <a:spcPts val="400"/>
              </a:spcBef>
            </a:pPr>
            <a:r>
              <a:rPr lang="en-US" sz="1500" b="1" dirty="0">
                <a:solidFill>
                  <a:srgbClr val="FFFFFF"/>
                </a:solidFill>
                <a:latin typeface="Quattrocento Sans" pitchFamily="34" charset="0"/>
                <a:ea typeface="Quattrocento Sans" pitchFamily="34" charset="-122"/>
                <a:cs typeface="Quattrocento Sans" pitchFamily="34" charset="-120"/>
              </a:rPr>
              <a:t>Scale (X, Y, Z)</a:t>
            </a:r>
            <a:pPr>
              <a:lnSpc>
                <a:spcPct val="160000"/>
              </a:lnSpc>
              <a:spcBef>
                <a:spcPts val="400"/>
              </a:spcBef>
            </a:pPr>
            <a:r>
              <a:rPr lang="en-US" sz="1500" dirty="0">
                <a:solidFill>
                  <a:srgbClr val="FFFFFF"/>
                </a:solidFill>
                <a:latin typeface="Quattrocento Sans" pitchFamily="34" charset="0"/>
                <a:ea typeface="Quattrocento Sans" pitchFamily="34" charset="-122"/>
                <a:cs typeface="Quattrocento Sans" pitchFamily="34" charset="-120"/>
              </a:rPr>
              <a:t> — size multiplier</a:t>
            </a:r>
            <a:endParaRPr lang="en-US" sz="1600" dirty="0"/>
          </a:p>
        </p:txBody>
      </p:sp>
      <p:sp>
        <p:nvSpPr>
          <p:cNvPr id="22" name="Shape 20"/>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Toolbar &amp; Editor Controls</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4699000" cy="3048000"/>
          </a:xfrm>
          <a:prstGeom prst="rect">
            <a:avLst/>
          </a:prstGeom>
          <a:solidFill>
            <a:srgbClr val="FFFFFF"/>
          </a:solidFill>
          <a:ln w="12700">
            <a:solidFill>
              <a:srgbClr val="E8EAED"/>
            </a:solidFill>
            <a:prstDash val="solid"/>
          </a:ln>
        </p:spPr>
      </p:sp>
      <p:sp>
        <p:nvSpPr>
          <p:cNvPr id="6" name="Shape 4"/>
          <p:cNvSpPr/>
          <p:nvPr/>
        </p:nvSpPr>
        <p:spPr>
          <a:xfrm>
            <a:off x="762000" y="1524000"/>
            <a:ext cx="4699000" cy="63500"/>
          </a:xfrm>
          <a:prstGeom prst="rect">
            <a:avLst/>
          </a:prstGeom>
          <a:solidFill>
            <a:srgbClr val="FF6B35"/>
          </a:solidFill>
          <a:ln/>
        </p:spPr>
      </p:sp>
      <p:sp>
        <p:nvSpPr>
          <p:cNvPr id="7" name="Shape 5"/>
          <p:cNvSpPr/>
          <p:nvPr/>
        </p:nvSpPr>
        <p:spPr>
          <a:xfrm>
            <a:off x="1016000" y="1778000"/>
            <a:ext cx="279400" cy="279400"/>
          </a:xfrm>
          <a:custGeom>
            <a:avLst/>
            <a:gdLst/>
            <a:ahLst/>
            <a:cxnLst/>
            <a:rect l="l" t="t" r="r" b="b"/>
            <a:pathLst>
              <a:path w="279400" h="279400">
                <a:moveTo>
                  <a:pt x="152033" y="5130"/>
                </a:moveTo>
                <a:cubicBezTo>
                  <a:pt x="145212" y="-1692"/>
                  <a:pt x="134134" y="-1692"/>
                  <a:pt x="127313" y="5130"/>
                </a:cubicBezTo>
                <a:lnTo>
                  <a:pt x="92388" y="40055"/>
                </a:lnTo>
                <a:cubicBezTo>
                  <a:pt x="85566" y="46876"/>
                  <a:pt x="85566" y="57954"/>
                  <a:pt x="92388" y="64775"/>
                </a:cubicBezTo>
                <a:cubicBezTo>
                  <a:pt x="99209" y="71596"/>
                  <a:pt x="110287" y="71596"/>
                  <a:pt x="117108" y="64775"/>
                </a:cubicBezTo>
                <a:lnTo>
                  <a:pt x="122238" y="59645"/>
                </a:lnTo>
                <a:lnTo>
                  <a:pt x="122238" y="122238"/>
                </a:lnTo>
                <a:lnTo>
                  <a:pt x="59645" y="122238"/>
                </a:lnTo>
                <a:lnTo>
                  <a:pt x="64775" y="117108"/>
                </a:lnTo>
                <a:cubicBezTo>
                  <a:pt x="71596" y="110287"/>
                  <a:pt x="71596" y="99209"/>
                  <a:pt x="64775" y="92388"/>
                </a:cubicBezTo>
                <a:cubicBezTo>
                  <a:pt x="57954" y="85566"/>
                  <a:pt x="46876" y="85566"/>
                  <a:pt x="40055" y="92388"/>
                </a:cubicBezTo>
                <a:lnTo>
                  <a:pt x="5130" y="127313"/>
                </a:lnTo>
                <a:cubicBezTo>
                  <a:pt x="-1692" y="134134"/>
                  <a:pt x="-1692" y="145212"/>
                  <a:pt x="5130" y="152033"/>
                </a:cubicBezTo>
                <a:lnTo>
                  <a:pt x="40055" y="186958"/>
                </a:lnTo>
                <a:cubicBezTo>
                  <a:pt x="46876" y="193779"/>
                  <a:pt x="57954" y="193779"/>
                  <a:pt x="64775" y="186958"/>
                </a:cubicBezTo>
                <a:cubicBezTo>
                  <a:pt x="71596" y="180137"/>
                  <a:pt x="71596" y="169059"/>
                  <a:pt x="64775" y="162238"/>
                </a:cubicBezTo>
                <a:lnTo>
                  <a:pt x="59645" y="157108"/>
                </a:lnTo>
                <a:lnTo>
                  <a:pt x="122238" y="157108"/>
                </a:lnTo>
                <a:lnTo>
                  <a:pt x="122238" y="219700"/>
                </a:lnTo>
                <a:lnTo>
                  <a:pt x="117108" y="214570"/>
                </a:lnTo>
                <a:cubicBezTo>
                  <a:pt x="110287" y="207749"/>
                  <a:pt x="99209" y="207749"/>
                  <a:pt x="92388" y="214570"/>
                </a:cubicBezTo>
                <a:cubicBezTo>
                  <a:pt x="85566" y="221392"/>
                  <a:pt x="85566" y="232470"/>
                  <a:pt x="92388" y="239291"/>
                </a:cubicBezTo>
                <a:lnTo>
                  <a:pt x="127313" y="274216"/>
                </a:lnTo>
                <a:cubicBezTo>
                  <a:pt x="134134" y="281037"/>
                  <a:pt x="145212" y="281037"/>
                  <a:pt x="152033" y="274216"/>
                </a:cubicBezTo>
                <a:lnTo>
                  <a:pt x="186958" y="239291"/>
                </a:lnTo>
                <a:cubicBezTo>
                  <a:pt x="193779" y="232470"/>
                  <a:pt x="193779" y="221392"/>
                  <a:pt x="186958" y="214570"/>
                </a:cubicBezTo>
                <a:cubicBezTo>
                  <a:pt x="180137" y="207749"/>
                  <a:pt x="169059" y="207749"/>
                  <a:pt x="162238" y="214570"/>
                </a:cubicBezTo>
                <a:lnTo>
                  <a:pt x="157108" y="219700"/>
                </a:lnTo>
                <a:lnTo>
                  <a:pt x="157108" y="157108"/>
                </a:lnTo>
                <a:lnTo>
                  <a:pt x="219700" y="157108"/>
                </a:lnTo>
                <a:lnTo>
                  <a:pt x="214570" y="162238"/>
                </a:lnTo>
                <a:cubicBezTo>
                  <a:pt x="207749" y="169059"/>
                  <a:pt x="207749" y="180137"/>
                  <a:pt x="214570" y="186958"/>
                </a:cubicBezTo>
                <a:cubicBezTo>
                  <a:pt x="221392" y="193779"/>
                  <a:pt x="232470" y="193779"/>
                  <a:pt x="239291" y="186958"/>
                </a:cubicBezTo>
                <a:lnTo>
                  <a:pt x="274216" y="152033"/>
                </a:lnTo>
                <a:cubicBezTo>
                  <a:pt x="281037" y="145212"/>
                  <a:pt x="281037" y="134134"/>
                  <a:pt x="274216" y="127313"/>
                </a:cubicBezTo>
                <a:lnTo>
                  <a:pt x="239291" y="92388"/>
                </a:lnTo>
                <a:cubicBezTo>
                  <a:pt x="232470" y="85566"/>
                  <a:pt x="221392" y="85566"/>
                  <a:pt x="214570" y="92388"/>
                </a:cubicBezTo>
                <a:cubicBezTo>
                  <a:pt x="207749" y="99209"/>
                  <a:pt x="207749" y="110287"/>
                  <a:pt x="214570" y="117108"/>
                </a:cubicBezTo>
                <a:lnTo>
                  <a:pt x="219700" y="122238"/>
                </a:lnTo>
                <a:lnTo>
                  <a:pt x="157108" y="122238"/>
                </a:lnTo>
                <a:lnTo>
                  <a:pt x="157108" y="59645"/>
                </a:lnTo>
                <a:lnTo>
                  <a:pt x="162238" y="64775"/>
                </a:lnTo>
                <a:cubicBezTo>
                  <a:pt x="169059" y="71596"/>
                  <a:pt x="180137" y="71596"/>
                  <a:pt x="186958" y="64775"/>
                </a:cubicBezTo>
                <a:cubicBezTo>
                  <a:pt x="193779" y="57954"/>
                  <a:pt x="193779" y="46876"/>
                  <a:pt x="186958" y="40055"/>
                </a:cubicBezTo>
                <a:lnTo>
                  <a:pt x="152033" y="5130"/>
                </a:lnTo>
                <a:close/>
              </a:path>
            </a:pathLst>
          </a:custGeom>
          <a:solidFill>
            <a:srgbClr val="FF6B35"/>
          </a:solidFill>
          <a:ln/>
        </p:spPr>
      </p:sp>
      <p:sp>
        <p:nvSpPr>
          <p:cNvPr id="8" name="Text 6"/>
          <p:cNvSpPr/>
          <p:nvPr/>
        </p:nvSpPr>
        <p:spPr>
          <a:xfrm>
            <a:off x="1397000" y="1778000"/>
            <a:ext cx="3810000" cy="3048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Transform Tools</a:t>
            </a:r>
            <a:endParaRPr lang="en-US" sz="1600" dirty="0"/>
          </a:p>
        </p:txBody>
      </p:sp>
      <p:sp>
        <p:nvSpPr>
          <p:cNvPr id="9" name="Text 7"/>
          <p:cNvSpPr/>
          <p:nvPr/>
        </p:nvSpPr>
        <p:spPr>
          <a:xfrm>
            <a:off x="1016000" y="2222500"/>
            <a:ext cx="4191000" cy="2159000"/>
          </a:xfrm>
          <a:prstGeom prst="rect">
            <a:avLst/>
          </a:prstGeom>
          <a:noFill/>
          <a:ln/>
        </p:spPr>
        <p:txBody>
          <a:bodyPr wrap="square" lIns="0" tIns="0" rIns="0" bIns="0" rtlCol="0" anchor="t"/>
          <a:lstStyle/>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Q</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Hand Tool (pan view)</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W</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Move Tool (translate)</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E</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Rotate Tool</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R</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Scale Tool</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T</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Rect Transform</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Y</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Transform Tool</a:t>
            </a:r>
            <a:endParaRPr lang="en-US" sz="1600" dirty="0"/>
          </a:p>
        </p:txBody>
      </p:sp>
      <p:sp>
        <p:nvSpPr>
          <p:cNvPr id="10" name="Shape 8"/>
          <p:cNvSpPr/>
          <p:nvPr/>
        </p:nvSpPr>
        <p:spPr>
          <a:xfrm>
            <a:off x="5778500" y="1524000"/>
            <a:ext cx="4699000" cy="3048000"/>
          </a:xfrm>
          <a:prstGeom prst="rect">
            <a:avLst/>
          </a:prstGeom>
          <a:solidFill>
            <a:srgbClr val="FFFFFF"/>
          </a:solidFill>
          <a:ln w="12700">
            <a:solidFill>
              <a:srgbClr val="E8EAED"/>
            </a:solidFill>
            <a:prstDash val="solid"/>
          </a:ln>
        </p:spPr>
      </p:sp>
      <p:sp>
        <p:nvSpPr>
          <p:cNvPr id="11" name="Shape 9"/>
          <p:cNvSpPr/>
          <p:nvPr/>
        </p:nvSpPr>
        <p:spPr>
          <a:xfrm>
            <a:off x="5778500" y="1524000"/>
            <a:ext cx="4699000" cy="63500"/>
          </a:xfrm>
          <a:prstGeom prst="rect">
            <a:avLst/>
          </a:prstGeom>
          <a:solidFill>
            <a:srgbClr val="FF6B35"/>
          </a:solidFill>
          <a:ln/>
        </p:spPr>
      </p:sp>
      <p:sp>
        <p:nvSpPr>
          <p:cNvPr id="12" name="Shape 10"/>
          <p:cNvSpPr/>
          <p:nvPr/>
        </p:nvSpPr>
        <p:spPr>
          <a:xfrm>
            <a:off x="6015038" y="1778000"/>
            <a:ext cx="314325" cy="279400"/>
          </a:xfrm>
          <a:custGeom>
            <a:avLst/>
            <a:gdLst/>
            <a:ahLst/>
            <a:cxnLst/>
            <a:rect l="l" t="t" r="r" b="b"/>
            <a:pathLst>
              <a:path w="314325" h="279400">
                <a:moveTo>
                  <a:pt x="157163" y="-8731"/>
                </a:moveTo>
                <a:cubicBezTo>
                  <a:pt x="166821" y="-8731"/>
                  <a:pt x="174625" y="-928"/>
                  <a:pt x="174625" y="8731"/>
                </a:cubicBezTo>
                <a:lnTo>
                  <a:pt x="174625" y="18718"/>
                </a:lnTo>
                <a:cubicBezTo>
                  <a:pt x="228158" y="26357"/>
                  <a:pt x="270505" y="68704"/>
                  <a:pt x="278145" y="122238"/>
                </a:cubicBezTo>
                <a:lnTo>
                  <a:pt x="288131" y="122238"/>
                </a:lnTo>
                <a:cubicBezTo>
                  <a:pt x="297790" y="122238"/>
                  <a:pt x="305594" y="130041"/>
                  <a:pt x="305594" y="139700"/>
                </a:cubicBezTo>
                <a:cubicBezTo>
                  <a:pt x="305594" y="149359"/>
                  <a:pt x="297790" y="157163"/>
                  <a:pt x="288131" y="157163"/>
                </a:cubicBezTo>
                <a:lnTo>
                  <a:pt x="278145" y="157163"/>
                </a:lnTo>
                <a:cubicBezTo>
                  <a:pt x="270505" y="210696"/>
                  <a:pt x="228158" y="253043"/>
                  <a:pt x="174625" y="260682"/>
                </a:cubicBezTo>
                <a:lnTo>
                  <a:pt x="174625" y="270669"/>
                </a:lnTo>
                <a:cubicBezTo>
                  <a:pt x="174625" y="280328"/>
                  <a:pt x="166821" y="288131"/>
                  <a:pt x="157163" y="288131"/>
                </a:cubicBezTo>
                <a:cubicBezTo>
                  <a:pt x="147504" y="288131"/>
                  <a:pt x="139700" y="280328"/>
                  <a:pt x="139700" y="270669"/>
                </a:cubicBezTo>
                <a:lnTo>
                  <a:pt x="139700" y="260682"/>
                </a:lnTo>
                <a:cubicBezTo>
                  <a:pt x="86167" y="253043"/>
                  <a:pt x="43820" y="210696"/>
                  <a:pt x="36180" y="157163"/>
                </a:cubicBezTo>
                <a:lnTo>
                  <a:pt x="26194" y="157163"/>
                </a:lnTo>
                <a:cubicBezTo>
                  <a:pt x="16535" y="157163"/>
                  <a:pt x="8731" y="149359"/>
                  <a:pt x="8731" y="139700"/>
                </a:cubicBezTo>
                <a:cubicBezTo>
                  <a:pt x="8731" y="130041"/>
                  <a:pt x="16535" y="122238"/>
                  <a:pt x="26194" y="122238"/>
                </a:cubicBezTo>
                <a:lnTo>
                  <a:pt x="36180" y="122238"/>
                </a:lnTo>
                <a:cubicBezTo>
                  <a:pt x="43820" y="68704"/>
                  <a:pt x="86167" y="26357"/>
                  <a:pt x="139700" y="18718"/>
                </a:cubicBezTo>
                <a:lnTo>
                  <a:pt x="139700" y="8731"/>
                </a:lnTo>
                <a:cubicBezTo>
                  <a:pt x="139700" y="-928"/>
                  <a:pt x="147504" y="-8731"/>
                  <a:pt x="157163" y="-8731"/>
                </a:cubicBezTo>
                <a:close/>
                <a:moveTo>
                  <a:pt x="71596" y="157163"/>
                </a:moveTo>
                <a:cubicBezTo>
                  <a:pt x="78527" y="191378"/>
                  <a:pt x="105484" y="218336"/>
                  <a:pt x="139700" y="225266"/>
                </a:cubicBezTo>
                <a:lnTo>
                  <a:pt x="139700" y="218281"/>
                </a:lnTo>
                <a:cubicBezTo>
                  <a:pt x="139700" y="208622"/>
                  <a:pt x="147504" y="200819"/>
                  <a:pt x="157163" y="200819"/>
                </a:cubicBezTo>
                <a:cubicBezTo>
                  <a:pt x="166821" y="200819"/>
                  <a:pt x="174625" y="208622"/>
                  <a:pt x="174625" y="218281"/>
                </a:cubicBezTo>
                <a:lnTo>
                  <a:pt x="174625" y="225266"/>
                </a:lnTo>
                <a:cubicBezTo>
                  <a:pt x="208841" y="218336"/>
                  <a:pt x="235798" y="191378"/>
                  <a:pt x="242729" y="157163"/>
                </a:cubicBezTo>
                <a:lnTo>
                  <a:pt x="235744" y="157163"/>
                </a:lnTo>
                <a:cubicBezTo>
                  <a:pt x="226085" y="157163"/>
                  <a:pt x="218281" y="149359"/>
                  <a:pt x="218281" y="139700"/>
                </a:cubicBezTo>
                <a:cubicBezTo>
                  <a:pt x="218281" y="130041"/>
                  <a:pt x="226085" y="122238"/>
                  <a:pt x="235744" y="122238"/>
                </a:cubicBezTo>
                <a:lnTo>
                  <a:pt x="242729" y="122238"/>
                </a:lnTo>
                <a:cubicBezTo>
                  <a:pt x="235798" y="88022"/>
                  <a:pt x="208841" y="61064"/>
                  <a:pt x="174625" y="54134"/>
                </a:cubicBezTo>
                <a:lnTo>
                  <a:pt x="174625" y="61119"/>
                </a:lnTo>
                <a:cubicBezTo>
                  <a:pt x="174625" y="70778"/>
                  <a:pt x="166821" y="78581"/>
                  <a:pt x="157163" y="78581"/>
                </a:cubicBezTo>
                <a:cubicBezTo>
                  <a:pt x="147504" y="78581"/>
                  <a:pt x="139700" y="70778"/>
                  <a:pt x="139700" y="61119"/>
                </a:cubicBezTo>
                <a:lnTo>
                  <a:pt x="139700" y="54134"/>
                </a:lnTo>
                <a:cubicBezTo>
                  <a:pt x="105484" y="61064"/>
                  <a:pt x="78527" y="88022"/>
                  <a:pt x="71596" y="122238"/>
                </a:cubicBezTo>
                <a:lnTo>
                  <a:pt x="78581" y="122238"/>
                </a:lnTo>
                <a:cubicBezTo>
                  <a:pt x="88240" y="122238"/>
                  <a:pt x="96044" y="130041"/>
                  <a:pt x="96044" y="139700"/>
                </a:cubicBezTo>
                <a:cubicBezTo>
                  <a:pt x="96044" y="149359"/>
                  <a:pt x="88240" y="157163"/>
                  <a:pt x="78581" y="157163"/>
                </a:cubicBezTo>
                <a:lnTo>
                  <a:pt x="71596" y="157163"/>
                </a:lnTo>
                <a:close/>
                <a:moveTo>
                  <a:pt x="157163" y="113506"/>
                </a:moveTo>
                <a:cubicBezTo>
                  <a:pt x="171619" y="113506"/>
                  <a:pt x="183356" y="125243"/>
                  <a:pt x="183356" y="139700"/>
                </a:cubicBezTo>
                <a:cubicBezTo>
                  <a:pt x="183356" y="154157"/>
                  <a:pt x="171619" y="165894"/>
                  <a:pt x="157163" y="165894"/>
                </a:cubicBezTo>
                <a:cubicBezTo>
                  <a:pt x="142706" y="165894"/>
                  <a:pt x="130969" y="154157"/>
                  <a:pt x="130969" y="139700"/>
                </a:cubicBezTo>
                <a:cubicBezTo>
                  <a:pt x="130969" y="125243"/>
                  <a:pt x="142706" y="113506"/>
                  <a:pt x="157163" y="113506"/>
                </a:cubicBezTo>
                <a:close/>
              </a:path>
            </a:pathLst>
          </a:custGeom>
          <a:solidFill>
            <a:srgbClr val="FF6B35"/>
          </a:solidFill>
          <a:ln/>
        </p:spPr>
      </p:sp>
      <p:sp>
        <p:nvSpPr>
          <p:cNvPr id="13" name="Text 11"/>
          <p:cNvSpPr/>
          <p:nvPr/>
        </p:nvSpPr>
        <p:spPr>
          <a:xfrm>
            <a:off x="6413500" y="1778000"/>
            <a:ext cx="3810000" cy="3048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Transform Gizmos</a:t>
            </a:r>
            <a:endParaRPr lang="en-US" sz="1600" dirty="0"/>
          </a:p>
        </p:txBody>
      </p:sp>
      <p:sp>
        <p:nvSpPr>
          <p:cNvPr id="14" name="Text 12"/>
          <p:cNvSpPr/>
          <p:nvPr/>
        </p:nvSpPr>
        <p:spPr>
          <a:xfrm>
            <a:off x="6032500" y="2222500"/>
            <a:ext cx="4191000" cy="2159000"/>
          </a:xfrm>
          <a:prstGeom prst="rect">
            <a:avLst/>
          </a:prstGeom>
          <a:noFill/>
          <a:ln/>
        </p:spPr>
        <p:txBody>
          <a:bodyPr wrap="square" lIns="0" tIns="0" rIns="0" bIns="0" rtlCol="0" anchor="t"/>
          <a:lstStyle/>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Pivot / Center</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toggle reference point</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Local / Global</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coordinate space</a:t>
            </a:r>
            <a:endParaRPr lang="en-US" sz="1600" dirty="0"/>
          </a:p>
          <a:p>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Local = object's own axes</a:t>
            </a:r>
            <a:endParaRPr lang="en-US" sz="1600" dirty="0"/>
          </a:p>
          <a:p>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Global = world axes (fixed)</a:t>
            </a:r>
            <a:endParaRPr lang="en-US" sz="1600" dirty="0"/>
          </a:p>
        </p:txBody>
      </p:sp>
      <p:sp>
        <p:nvSpPr>
          <p:cNvPr id="15" name="Shape 13"/>
          <p:cNvSpPr/>
          <p:nvPr/>
        </p:nvSpPr>
        <p:spPr>
          <a:xfrm>
            <a:off x="10795000" y="1524000"/>
            <a:ext cx="4699000" cy="3048000"/>
          </a:xfrm>
          <a:prstGeom prst="rect">
            <a:avLst/>
          </a:prstGeom>
          <a:solidFill>
            <a:srgbClr val="FFFFFF"/>
          </a:solidFill>
          <a:ln w="12700">
            <a:solidFill>
              <a:srgbClr val="E8EAED"/>
            </a:solidFill>
            <a:prstDash val="solid"/>
          </a:ln>
        </p:spPr>
      </p:sp>
      <p:sp>
        <p:nvSpPr>
          <p:cNvPr id="16" name="Shape 14"/>
          <p:cNvSpPr/>
          <p:nvPr/>
        </p:nvSpPr>
        <p:spPr>
          <a:xfrm>
            <a:off x="10795000" y="1524000"/>
            <a:ext cx="4699000" cy="63500"/>
          </a:xfrm>
          <a:prstGeom prst="rect">
            <a:avLst/>
          </a:prstGeom>
          <a:solidFill>
            <a:srgbClr val="FF6B35"/>
          </a:solidFill>
          <a:ln/>
        </p:spPr>
      </p:sp>
      <p:sp>
        <p:nvSpPr>
          <p:cNvPr id="17" name="Shape 15"/>
          <p:cNvSpPr/>
          <p:nvPr/>
        </p:nvSpPr>
        <p:spPr>
          <a:xfrm>
            <a:off x="11066463" y="1778000"/>
            <a:ext cx="244475" cy="279400"/>
          </a:xfrm>
          <a:custGeom>
            <a:avLst/>
            <a:gdLst/>
            <a:ahLst/>
            <a:cxnLst/>
            <a:rect l="l" t="t" r="r" b="b"/>
            <a:pathLst>
              <a:path w="244475" h="279400">
                <a:moveTo>
                  <a:pt x="49768" y="20136"/>
                </a:moveTo>
                <a:cubicBezTo>
                  <a:pt x="43001" y="16426"/>
                  <a:pt x="34816" y="16589"/>
                  <a:pt x="28158" y="20518"/>
                </a:cubicBezTo>
                <a:cubicBezTo>
                  <a:pt x="21501" y="24448"/>
                  <a:pt x="17463" y="31596"/>
                  <a:pt x="17463" y="39291"/>
                </a:cubicBezTo>
                <a:lnTo>
                  <a:pt x="17463" y="240109"/>
                </a:lnTo>
                <a:cubicBezTo>
                  <a:pt x="17463" y="247804"/>
                  <a:pt x="21555" y="254953"/>
                  <a:pt x="28158" y="258882"/>
                </a:cubicBezTo>
                <a:cubicBezTo>
                  <a:pt x="34761" y="262811"/>
                  <a:pt x="43001" y="262974"/>
                  <a:pt x="49768" y="259264"/>
                </a:cubicBezTo>
                <a:lnTo>
                  <a:pt x="233124" y="158854"/>
                </a:lnTo>
                <a:cubicBezTo>
                  <a:pt x="240109" y="155034"/>
                  <a:pt x="244475" y="147667"/>
                  <a:pt x="244475" y="139700"/>
                </a:cubicBezTo>
                <a:cubicBezTo>
                  <a:pt x="244475" y="131733"/>
                  <a:pt x="240109" y="124366"/>
                  <a:pt x="233124" y="120546"/>
                </a:cubicBezTo>
                <a:lnTo>
                  <a:pt x="49768" y="20136"/>
                </a:lnTo>
                <a:close/>
              </a:path>
            </a:pathLst>
          </a:custGeom>
          <a:solidFill>
            <a:srgbClr val="FF6B35"/>
          </a:solidFill>
          <a:ln/>
        </p:spPr>
      </p:sp>
      <p:sp>
        <p:nvSpPr>
          <p:cNvPr id="18" name="Text 16"/>
          <p:cNvSpPr/>
          <p:nvPr/>
        </p:nvSpPr>
        <p:spPr>
          <a:xfrm>
            <a:off x="11430000" y="1778000"/>
            <a:ext cx="3810000" cy="304800"/>
          </a:xfrm>
          <a:prstGeom prst="rect">
            <a:avLst/>
          </a:prstGeom>
          <a:noFill/>
          <a:ln/>
        </p:spPr>
        <p:txBody>
          <a:bodyPr wrap="none" lIns="0" tIns="0" rIns="0" bIns="0" rtlCol="0" anchor="ctr"/>
          <a:lstStyle/>
          <a:p>
            <a:pPr>
              <a:lnSpc>
                <a:spcPct val="100000"/>
              </a:lnSpc>
            </a:pPr>
            <a:r>
              <a:rPr lang="en-US" sz="1600" dirty="0">
                <a:solidFill>
                  <a:srgbClr val="1A1D23"/>
                </a:solidFill>
                <a:latin typeface="Liter" pitchFamily="34" charset="0"/>
                <a:ea typeface="Liter" pitchFamily="34" charset="-122"/>
                <a:cs typeface="Liter" pitchFamily="34" charset="-120"/>
              </a:rPr>
              <a:t>Play Controls</a:t>
            </a:r>
            <a:endParaRPr lang="en-US" sz="1600" dirty="0"/>
          </a:p>
        </p:txBody>
      </p:sp>
      <p:sp>
        <p:nvSpPr>
          <p:cNvPr id="19" name="Text 17"/>
          <p:cNvSpPr/>
          <p:nvPr/>
        </p:nvSpPr>
        <p:spPr>
          <a:xfrm>
            <a:off x="11049000" y="2222500"/>
            <a:ext cx="4191000" cy="2159000"/>
          </a:xfrm>
          <a:prstGeom prst="rect">
            <a:avLst/>
          </a:prstGeom>
          <a:noFill/>
          <a:ln/>
        </p:spPr>
        <p:txBody>
          <a:bodyPr wrap="square" lIns="0" tIns="0" rIns="0" bIns="0" rtlCol="0" anchor="t"/>
          <a:lstStyle/>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 Play</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start game preview</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 Pause</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freeze gameplay</a:t>
            </a:r>
            <a:endParaRPr lang="en-US" sz="1600" dirty="0"/>
          </a:p>
          <a:p>
            <a:pPr>
              <a:lnSpc>
                <a:spcPct val="170000"/>
              </a:lnSpc>
            </a:pPr>
            <a:r>
              <a:rPr lang="en-US" sz="1400" b="1" dirty="0">
                <a:solidFill>
                  <a:srgbClr val="1E2328"/>
                </a:solidFill>
                <a:latin typeface="Quattrocento Sans" pitchFamily="34" charset="0"/>
                <a:ea typeface="Quattrocento Sans" pitchFamily="34" charset="-122"/>
                <a:cs typeface="Quattrocento Sans" pitchFamily="34" charset="-120"/>
              </a:rPr>
              <a:t>⏭ Step</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 advance one frame</a:t>
            </a:r>
            <a:endParaRPr lang="en-US" sz="1600" dirty="0"/>
          </a:p>
          <a:p>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Center of the toolbar</a:t>
            </a:r>
            <a:endParaRPr lang="en-US" sz="1600" dirty="0"/>
          </a:p>
        </p:txBody>
      </p:sp>
      <p:sp>
        <p:nvSpPr>
          <p:cNvPr id="20" name="Shape 18"/>
          <p:cNvSpPr/>
          <p:nvPr/>
        </p:nvSpPr>
        <p:spPr>
          <a:xfrm>
            <a:off x="762000" y="4889500"/>
            <a:ext cx="14732000" cy="3556000"/>
          </a:xfrm>
          <a:prstGeom prst="rect">
            <a:avLst/>
          </a:prstGeom>
          <a:solidFill>
            <a:srgbClr val="1A1D23"/>
          </a:solidFill>
          <a:ln/>
        </p:spPr>
      </p:sp>
      <p:sp>
        <p:nvSpPr>
          <p:cNvPr id="21" name="Shape 19"/>
          <p:cNvSpPr/>
          <p:nvPr/>
        </p:nvSpPr>
        <p:spPr>
          <a:xfrm>
            <a:off x="1047750" y="5080000"/>
            <a:ext cx="342900" cy="304800"/>
          </a:xfrm>
          <a:custGeom>
            <a:avLst/>
            <a:gdLst/>
            <a:ahLst/>
            <a:cxnLst/>
            <a:rect l="l" t="t" r="r" b="b"/>
            <a:pathLst>
              <a:path w="342900" h="304800">
                <a:moveTo>
                  <a:pt x="38100" y="38100"/>
                </a:moveTo>
                <a:cubicBezTo>
                  <a:pt x="17085" y="38100"/>
                  <a:pt x="0" y="55185"/>
                  <a:pt x="0" y="76200"/>
                </a:cubicBezTo>
                <a:lnTo>
                  <a:pt x="0" y="228600"/>
                </a:lnTo>
                <a:cubicBezTo>
                  <a:pt x="0" y="249615"/>
                  <a:pt x="17085" y="266700"/>
                  <a:pt x="38100" y="266700"/>
                </a:cubicBezTo>
                <a:lnTo>
                  <a:pt x="304800" y="266700"/>
                </a:lnTo>
                <a:cubicBezTo>
                  <a:pt x="325815" y="266700"/>
                  <a:pt x="342900" y="249615"/>
                  <a:pt x="342900" y="228600"/>
                </a:cubicBezTo>
                <a:lnTo>
                  <a:pt x="342900" y="76200"/>
                </a:lnTo>
                <a:cubicBezTo>
                  <a:pt x="342900" y="55185"/>
                  <a:pt x="325815" y="38100"/>
                  <a:pt x="304800" y="38100"/>
                </a:cubicBezTo>
                <a:lnTo>
                  <a:pt x="38100" y="38100"/>
                </a:lnTo>
                <a:close/>
                <a:moveTo>
                  <a:pt x="47625" y="76200"/>
                </a:moveTo>
                <a:lnTo>
                  <a:pt x="66675" y="76200"/>
                </a:lnTo>
                <a:cubicBezTo>
                  <a:pt x="71914" y="76200"/>
                  <a:pt x="76200" y="80486"/>
                  <a:pt x="76200" y="85725"/>
                </a:cubicBezTo>
                <a:lnTo>
                  <a:pt x="76200" y="104775"/>
                </a:lnTo>
                <a:cubicBezTo>
                  <a:pt x="76200" y="110014"/>
                  <a:pt x="71914" y="114300"/>
                  <a:pt x="66675" y="114300"/>
                </a:cubicBezTo>
                <a:lnTo>
                  <a:pt x="47625" y="114300"/>
                </a:lnTo>
                <a:cubicBezTo>
                  <a:pt x="42386" y="114300"/>
                  <a:pt x="38100" y="110014"/>
                  <a:pt x="38100" y="104775"/>
                </a:cubicBezTo>
                <a:lnTo>
                  <a:pt x="38100" y="85725"/>
                </a:lnTo>
                <a:cubicBezTo>
                  <a:pt x="38100" y="80486"/>
                  <a:pt x="42386" y="76200"/>
                  <a:pt x="47625" y="76200"/>
                </a:cubicBezTo>
                <a:close/>
                <a:moveTo>
                  <a:pt x="38100" y="142875"/>
                </a:moveTo>
                <a:cubicBezTo>
                  <a:pt x="38100" y="137636"/>
                  <a:pt x="42386" y="133350"/>
                  <a:pt x="47625" y="133350"/>
                </a:cubicBezTo>
                <a:lnTo>
                  <a:pt x="66675" y="133350"/>
                </a:lnTo>
                <a:cubicBezTo>
                  <a:pt x="71914" y="133350"/>
                  <a:pt x="76200" y="137636"/>
                  <a:pt x="76200" y="142875"/>
                </a:cubicBezTo>
                <a:lnTo>
                  <a:pt x="76200" y="161925"/>
                </a:lnTo>
                <a:cubicBezTo>
                  <a:pt x="76200" y="167164"/>
                  <a:pt x="71914" y="171450"/>
                  <a:pt x="66675" y="171450"/>
                </a:cubicBezTo>
                <a:lnTo>
                  <a:pt x="47625" y="171450"/>
                </a:lnTo>
                <a:cubicBezTo>
                  <a:pt x="42386" y="171450"/>
                  <a:pt x="38100" y="167164"/>
                  <a:pt x="38100" y="161925"/>
                </a:cubicBezTo>
                <a:lnTo>
                  <a:pt x="38100" y="142875"/>
                </a:lnTo>
                <a:close/>
                <a:moveTo>
                  <a:pt x="104775" y="76200"/>
                </a:moveTo>
                <a:lnTo>
                  <a:pt x="123825" y="76200"/>
                </a:lnTo>
                <a:cubicBezTo>
                  <a:pt x="129064" y="76200"/>
                  <a:pt x="133350" y="80486"/>
                  <a:pt x="133350" y="85725"/>
                </a:cubicBezTo>
                <a:lnTo>
                  <a:pt x="133350" y="104775"/>
                </a:lnTo>
                <a:cubicBezTo>
                  <a:pt x="133350" y="110014"/>
                  <a:pt x="129064" y="114300"/>
                  <a:pt x="123825" y="114300"/>
                </a:cubicBezTo>
                <a:lnTo>
                  <a:pt x="104775" y="114300"/>
                </a:lnTo>
                <a:cubicBezTo>
                  <a:pt x="99536" y="114300"/>
                  <a:pt x="95250" y="110014"/>
                  <a:pt x="95250" y="104775"/>
                </a:cubicBezTo>
                <a:lnTo>
                  <a:pt x="95250" y="85725"/>
                </a:lnTo>
                <a:cubicBezTo>
                  <a:pt x="95250" y="80486"/>
                  <a:pt x="99536" y="76200"/>
                  <a:pt x="104775" y="76200"/>
                </a:cubicBezTo>
                <a:close/>
                <a:moveTo>
                  <a:pt x="95250" y="142875"/>
                </a:moveTo>
                <a:cubicBezTo>
                  <a:pt x="95250" y="137636"/>
                  <a:pt x="99536" y="133350"/>
                  <a:pt x="104775" y="133350"/>
                </a:cubicBezTo>
                <a:lnTo>
                  <a:pt x="123825" y="133350"/>
                </a:lnTo>
                <a:cubicBezTo>
                  <a:pt x="129064" y="133350"/>
                  <a:pt x="133350" y="137636"/>
                  <a:pt x="133350" y="142875"/>
                </a:cubicBezTo>
                <a:lnTo>
                  <a:pt x="133350" y="161925"/>
                </a:lnTo>
                <a:cubicBezTo>
                  <a:pt x="133350" y="167164"/>
                  <a:pt x="129064" y="171450"/>
                  <a:pt x="123825" y="171450"/>
                </a:cubicBezTo>
                <a:lnTo>
                  <a:pt x="104775" y="171450"/>
                </a:lnTo>
                <a:cubicBezTo>
                  <a:pt x="99536" y="171450"/>
                  <a:pt x="95250" y="167164"/>
                  <a:pt x="95250" y="161925"/>
                </a:cubicBezTo>
                <a:lnTo>
                  <a:pt x="95250" y="142875"/>
                </a:lnTo>
                <a:close/>
                <a:moveTo>
                  <a:pt x="104775" y="190500"/>
                </a:moveTo>
                <a:lnTo>
                  <a:pt x="238125" y="190500"/>
                </a:lnTo>
                <a:cubicBezTo>
                  <a:pt x="243364" y="190500"/>
                  <a:pt x="247650" y="194786"/>
                  <a:pt x="247650" y="200025"/>
                </a:cubicBezTo>
                <a:lnTo>
                  <a:pt x="247650" y="219075"/>
                </a:lnTo>
                <a:cubicBezTo>
                  <a:pt x="247650" y="224314"/>
                  <a:pt x="243364" y="228600"/>
                  <a:pt x="238125" y="228600"/>
                </a:cubicBezTo>
                <a:lnTo>
                  <a:pt x="104775" y="228600"/>
                </a:lnTo>
                <a:cubicBezTo>
                  <a:pt x="99536" y="228600"/>
                  <a:pt x="95250" y="224314"/>
                  <a:pt x="95250" y="219075"/>
                </a:cubicBezTo>
                <a:lnTo>
                  <a:pt x="95250" y="200025"/>
                </a:lnTo>
                <a:cubicBezTo>
                  <a:pt x="95250" y="194786"/>
                  <a:pt x="99536" y="190500"/>
                  <a:pt x="104775" y="190500"/>
                </a:cubicBezTo>
                <a:close/>
                <a:moveTo>
                  <a:pt x="152400" y="85725"/>
                </a:moveTo>
                <a:cubicBezTo>
                  <a:pt x="152400" y="80486"/>
                  <a:pt x="156686" y="76200"/>
                  <a:pt x="161925" y="76200"/>
                </a:cubicBezTo>
                <a:lnTo>
                  <a:pt x="180975" y="76200"/>
                </a:lnTo>
                <a:cubicBezTo>
                  <a:pt x="186214" y="76200"/>
                  <a:pt x="190500" y="80486"/>
                  <a:pt x="190500" y="85725"/>
                </a:cubicBezTo>
                <a:lnTo>
                  <a:pt x="190500" y="104775"/>
                </a:lnTo>
                <a:cubicBezTo>
                  <a:pt x="190500" y="110014"/>
                  <a:pt x="186214" y="114300"/>
                  <a:pt x="180975" y="114300"/>
                </a:cubicBezTo>
                <a:lnTo>
                  <a:pt x="161925" y="114300"/>
                </a:lnTo>
                <a:cubicBezTo>
                  <a:pt x="156686" y="114300"/>
                  <a:pt x="152400" y="110014"/>
                  <a:pt x="152400" y="104775"/>
                </a:cubicBezTo>
                <a:lnTo>
                  <a:pt x="152400" y="85725"/>
                </a:lnTo>
                <a:close/>
                <a:moveTo>
                  <a:pt x="161925" y="133350"/>
                </a:moveTo>
                <a:lnTo>
                  <a:pt x="180975" y="133350"/>
                </a:lnTo>
                <a:cubicBezTo>
                  <a:pt x="186214" y="133350"/>
                  <a:pt x="190500" y="137636"/>
                  <a:pt x="190500" y="142875"/>
                </a:cubicBezTo>
                <a:lnTo>
                  <a:pt x="190500" y="161925"/>
                </a:lnTo>
                <a:cubicBezTo>
                  <a:pt x="190500" y="167164"/>
                  <a:pt x="186214" y="171450"/>
                  <a:pt x="180975" y="171450"/>
                </a:cubicBezTo>
                <a:lnTo>
                  <a:pt x="161925" y="171450"/>
                </a:lnTo>
                <a:cubicBezTo>
                  <a:pt x="156686" y="171450"/>
                  <a:pt x="152400" y="167164"/>
                  <a:pt x="152400" y="161925"/>
                </a:cubicBezTo>
                <a:lnTo>
                  <a:pt x="152400" y="142875"/>
                </a:lnTo>
                <a:cubicBezTo>
                  <a:pt x="152400" y="137636"/>
                  <a:pt x="156686" y="133350"/>
                  <a:pt x="161925" y="133350"/>
                </a:cubicBezTo>
                <a:close/>
                <a:moveTo>
                  <a:pt x="209550" y="85725"/>
                </a:moveTo>
                <a:cubicBezTo>
                  <a:pt x="209550" y="80486"/>
                  <a:pt x="213836" y="76200"/>
                  <a:pt x="219075" y="76200"/>
                </a:cubicBezTo>
                <a:lnTo>
                  <a:pt x="238125" y="76200"/>
                </a:lnTo>
                <a:cubicBezTo>
                  <a:pt x="243364" y="76200"/>
                  <a:pt x="247650" y="80486"/>
                  <a:pt x="247650" y="85725"/>
                </a:cubicBezTo>
                <a:lnTo>
                  <a:pt x="247650" y="104775"/>
                </a:lnTo>
                <a:cubicBezTo>
                  <a:pt x="247650" y="110014"/>
                  <a:pt x="243364" y="114300"/>
                  <a:pt x="238125" y="114300"/>
                </a:cubicBezTo>
                <a:lnTo>
                  <a:pt x="219075" y="114300"/>
                </a:lnTo>
                <a:cubicBezTo>
                  <a:pt x="213836" y="114300"/>
                  <a:pt x="209550" y="110014"/>
                  <a:pt x="209550" y="104775"/>
                </a:cubicBezTo>
                <a:lnTo>
                  <a:pt x="209550" y="85725"/>
                </a:lnTo>
                <a:close/>
                <a:moveTo>
                  <a:pt x="219075" y="133350"/>
                </a:moveTo>
                <a:lnTo>
                  <a:pt x="238125" y="133350"/>
                </a:lnTo>
                <a:cubicBezTo>
                  <a:pt x="243364" y="133350"/>
                  <a:pt x="247650" y="137636"/>
                  <a:pt x="247650" y="142875"/>
                </a:cubicBezTo>
                <a:lnTo>
                  <a:pt x="247650" y="161925"/>
                </a:lnTo>
                <a:cubicBezTo>
                  <a:pt x="247650" y="167164"/>
                  <a:pt x="243364" y="171450"/>
                  <a:pt x="238125" y="171450"/>
                </a:cubicBezTo>
                <a:lnTo>
                  <a:pt x="219075" y="171450"/>
                </a:lnTo>
                <a:cubicBezTo>
                  <a:pt x="213836" y="171450"/>
                  <a:pt x="209550" y="167164"/>
                  <a:pt x="209550" y="161925"/>
                </a:cubicBezTo>
                <a:lnTo>
                  <a:pt x="209550" y="142875"/>
                </a:lnTo>
                <a:cubicBezTo>
                  <a:pt x="209550" y="137636"/>
                  <a:pt x="213836" y="133350"/>
                  <a:pt x="219075" y="133350"/>
                </a:cubicBezTo>
                <a:close/>
                <a:moveTo>
                  <a:pt x="266700" y="85725"/>
                </a:moveTo>
                <a:cubicBezTo>
                  <a:pt x="266700" y="80486"/>
                  <a:pt x="270986" y="76200"/>
                  <a:pt x="276225" y="76200"/>
                </a:cubicBezTo>
                <a:lnTo>
                  <a:pt x="295275" y="76200"/>
                </a:lnTo>
                <a:cubicBezTo>
                  <a:pt x="300514" y="76200"/>
                  <a:pt x="304800" y="80486"/>
                  <a:pt x="304800" y="85725"/>
                </a:cubicBezTo>
                <a:lnTo>
                  <a:pt x="304800" y="104775"/>
                </a:lnTo>
                <a:cubicBezTo>
                  <a:pt x="304800" y="110014"/>
                  <a:pt x="300514" y="114300"/>
                  <a:pt x="295275" y="114300"/>
                </a:cubicBezTo>
                <a:lnTo>
                  <a:pt x="276225" y="114300"/>
                </a:lnTo>
                <a:cubicBezTo>
                  <a:pt x="270986" y="114300"/>
                  <a:pt x="266700" y="110014"/>
                  <a:pt x="266700" y="104775"/>
                </a:cubicBezTo>
                <a:lnTo>
                  <a:pt x="266700" y="85725"/>
                </a:lnTo>
                <a:close/>
                <a:moveTo>
                  <a:pt x="276225" y="133350"/>
                </a:moveTo>
                <a:lnTo>
                  <a:pt x="295275" y="133350"/>
                </a:lnTo>
                <a:cubicBezTo>
                  <a:pt x="300514" y="133350"/>
                  <a:pt x="304800" y="137636"/>
                  <a:pt x="304800" y="142875"/>
                </a:cubicBezTo>
                <a:lnTo>
                  <a:pt x="304800" y="161925"/>
                </a:lnTo>
                <a:cubicBezTo>
                  <a:pt x="304800" y="167164"/>
                  <a:pt x="300514" y="171450"/>
                  <a:pt x="295275" y="171450"/>
                </a:cubicBezTo>
                <a:lnTo>
                  <a:pt x="276225" y="171450"/>
                </a:lnTo>
                <a:cubicBezTo>
                  <a:pt x="270986" y="171450"/>
                  <a:pt x="266700" y="167164"/>
                  <a:pt x="266700" y="161925"/>
                </a:cubicBezTo>
                <a:lnTo>
                  <a:pt x="266700" y="142875"/>
                </a:lnTo>
                <a:cubicBezTo>
                  <a:pt x="266700" y="137636"/>
                  <a:pt x="270986" y="133350"/>
                  <a:pt x="276225" y="133350"/>
                </a:cubicBezTo>
                <a:close/>
              </a:path>
            </a:pathLst>
          </a:custGeom>
          <a:solidFill>
            <a:srgbClr val="FF6B35"/>
          </a:solidFill>
          <a:ln/>
        </p:spPr>
      </p:sp>
      <p:sp>
        <p:nvSpPr>
          <p:cNvPr id="22" name="Text 20"/>
          <p:cNvSpPr/>
          <p:nvPr/>
        </p:nvSpPr>
        <p:spPr>
          <a:xfrm>
            <a:off x="1498600" y="5080000"/>
            <a:ext cx="5080000" cy="3048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ESSENTIAL KEYBOARD SHORTCUTS</a:t>
            </a:r>
            <a:endParaRPr lang="en-US" sz="1600" dirty="0"/>
          </a:p>
        </p:txBody>
      </p:sp>
      <p:sp>
        <p:nvSpPr>
          <p:cNvPr id="23" name="Text 21"/>
          <p:cNvSpPr/>
          <p:nvPr/>
        </p:nvSpPr>
        <p:spPr>
          <a:xfrm>
            <a:off x="1066800" y="5588000"/>
            <a:ext cx="4445000" cy="2667000"/>
          </a:xfrm>
          <a:prstGeom prst="rect">
            <a:avLst/>
          </a:prstGeom>
          <a:noFill/>
          <a:ln/>
        </p:spPr>
        <p:txBody>
          <a:bodyPr wrap="square" lIns="0" tIns="0" rIns="0" bIns="0" rtlCol="0" anchor="t"/>
          <a:lstStyle/>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Ctrl + S</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Save scene</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Ctrl + Z</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Undo</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Ctrl + Shift + Z</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Redo</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Ctrl + D</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Duplicate</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Ctrl + N</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New scene</a:t>
            </a:r>
            <a:endParaRPr lang="en-US" sz="1600" dirty="0"/>
          </a:p>
        </p:txBody>
      </p:sp>
      <p:sp>
        <p:nvSpPr>
          <p:cNvPr id="24" name="Text 22"/>
          <p:cNvSpPr/>
          <p:nvPr/>
        </p:nvSpPr>
        <p:spPr>
          <a:xfrm>
            <a:off x="5969000" y="5588000"/>
            <a:ext cx="4445000" cy="2667000"/>
          </a:xfrm>
          <a:prstGeom prst="rect">
            <a:avLst/>
          </a:prstGeom>
          <a:noFill/>
          <a:ln/>
        </p:spPr>
        <p:txBody>
          <a:bodyPr wrap="square" lIns="0" tIns="0" rIns="0" bIns="0" rtlCol="0" anchor="t"/>
          <a:lstStyle/>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F</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Frame selected object</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Q W E R</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Transform tools</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Space</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Maximize window</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Ctrl + P</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Play/Stop</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Ctrl + 1/2/3</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Layout presets</a:t>
            </a:r>
            <a:endParaRPr lang="en-US" sz="1600" dirty="0"/>
          </a:p>
        </p:txBody>
      </p:sp>
      <p:sp>
        <p:nvSpPr>
          <p:cNvPr id="25" name="Text 23"/>
          <p:cNvSpPr/>
          <p:nvPr/>
        </p:nvSpPr>
        <p:spPr>
          <a:xfrm>
            <a:off x="10871200" y="5588000"/>
            <a:ext cx="4445000" cy="2667000"/>
          </a:xfrm>
          <a:prstGeom prst="rect">
            <a:avLst/>
          </a:prstGeom>
          <a:noFill/>
          <a:ln/>
        </p:spPr>
        <p:txBody>
          <a:bodyPr wrap="square" lIns="0" tIns="0" rIns="0" bIns="0" rtlCol="0" anchor="t"/>
          <a:lstStyle/>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Delete</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Remove selected</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Ctrl + G</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Group objects</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Shift + Space</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Toggle maximize</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Alt + Click</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Orbit camera</a:t>
            </a:r>
            <a:endParaRPr lang="en-US" sz="1600" dirty="0"/>
          </a:p>
          <a:p>
            <a:pPr>
              <a:lnSpc>
                <a:spcPct val="180000"/>
              </a:lnSpc>
            </a:pPr>
            <a:r>
              <a:rPr lang="en-US" sz="1500" b="1" dirty="0">
                <a:solidFill>
                  <a:srgbClr val="FFFFFF"/>
                </a:solidFill>
                <a:latin typeface="Quattrocento Sans" pitchFamily="34" charset="0"/>
                <a:ea typeface="Quattrocento Sans" pitchFamily="34" charset="-122"/>
                <a:cs typeface="Quattrocento Sans" pitchFamily="34" charset="-120"/>
              </a:rPr>
              <a:t>Ctrl + Shift + N</a:t>
            </a:r>
            <a:pPr>
              <a:lnSpc>
                <a:spcPct val="180000"/>
              </a:lnSpc>
            </a:pPr>
            <a:r>
              <a:rPr lang="en-US" sz="1500" dirty="0">
                <a:solidFill>
                  <a:srgbClr val="FFFFFF"/>
                </a:solidFill>
                <a:latin typeface="Quattrocento Sans" pitchFamily="34" charset="0"/>
                <a:ea typeface="Quattrocento Sans" pitchFamily="34" charset="-122"/>
                <a:cs typeface="Quattrocento Sans" pitchFamily="34" charset="-120"/>
              </a:rPr>
              <a:t> — New empty GO</a:t>
            </a:r>
            <a:endParaRPr lang="en-US" sz="1600" dirty="0"/>
          </a:p>
        </p:txBody>
      </p:sp>
      <p:sp>
        <p:nvSpPr>
          <p:cNvPr id="26" name="Shape 24"/>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Customizing Your Editor Layout</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Text 3"/>
          <p:cNvSpPr/>
          <p:nvPr/>
        </p:nvSpPr>
        <p:spPr>
          <a:xfrm>
            <a:off x="762000" y="1460500"/>
            <a:ext cx="14732000" cy="3810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Unity's flexible layout system adapts to your workflow. Customize it to match your personal preferences:</a:t>
            </a:r>
            <a:endParaRPr lang="en-US" sz="1800" dirty="0"/>
          </a:p>
        </p:txBody>
      </p:sp>
      <p:sp>
        <p:nvSpPr>
          <p:cNvPr id="6" name="Shape 4"/>
          <p:cNvSpPr/>
          <p:nvPr/>
        </p:nvSpPr>
        <p:spPr>
          <a:xfrm>
            <a:off x="762000" y="2095500"/>
            <a:ext cx="7175500" cy="3810000"/>
          </a:xfrm>
          <a:prstGeom prst="rect">
            <a:avLst/>
          </a:prstGeom>
          <a:solidFill>
            <a:srgbClr val="FFFFFF"/>
          </a:solidFill>
          <a:ln w="12700">
            <a:solidFill>
              <a:srgbClr val="E8EAED"/>
            </a:solidFill>
            <a:prstDash val="solid"/>
          </a:ln>
        </p:spPr>
      </p:sp>
      <p:sp>
        <p:nvSpPr>
          <p:cNvPr id="7" name="Shape 5"/>
          <p:cNvSpPr/>
          <p:nvPr/>
        </p:nvSpPr>
        <p:spPr>
          <a:xfrm>
            <a:off x="762000" y="2095500"/>
            <a:ext cx="7175500" cy="63500"/>
          </a:xfrm>
          <a:prstGeom prst="rect">
            <a:avLst/>
          </a:prstGeom>
          <a:solidFill>
            <a:srgbClr val="FF6B35"/>
          </a:solidFill>
          <a:ln/>
        </p:spPr>
      </p:sp>
      <p:sp>
        <p:nvSpPr>
          <p:cNvPr id="8" name="Text 6"/>
          <p:cNvSpPr/>
          <p:nvPr/>
        </p:nvSpPr>
        <p:spPr>
          <a:xfrm>
            <a:off x="1016000" y="2311400"/>
            <a:ext cx="5080000" cy="330200"/>
          </a:xfrm>
          <a:prstGeom prst="rect">
            <a:avLst/>
          </a:prstGeom>
          <a:noFill/>
          <a:ln/>
        </p:spPr>
        <p:txBody>
          <a:bodyPr wrap="none" lIns="0" tIns="0" rIns="0" bIns="0" rtlCol="0" anchor="ctr"/>
          <a:lstStyle/>
          <a:p>
            <a:pPr>
              <a:lnSpc>
                <a:spcPct val="100000"/>
              </a:lnSpc>
            </a:pPr>
            <a:r>
              <a:rPr lang="en-US" sz="1600" spc="100" kern="0" dirty="0">
                <a:solidFill>
                  <a:srgbClr val="FF6B35"/>
                </a:solidFill>
                <a:latin typeface="Liter" pitchFamily="34" charset="0"/>
                <a:ea typeface="Liter" pitchFamily="34" charset="-122"/>
                <a:cs typeface="Liter" pitchFamily="34" charset="-120"/>
              </a:rPr>
              <a:t>HOW TO CUSTOMIZE</a:t>
            </a:r>
            <a:endParaRPr lang="en-US" sz="1600" dirty="0"/>
          </a:p>
        </p:txBody>
      </p:sp>
      <p:sp>
        <p:nvSpPr>
          <p:cNvPr id="9" name="Text 7"/>
          <p:cNvSpPr/>
          <p:nvPr/>
        </p:nvSpPr>
        <p:spPr>
          <a:xfrm>
            <a:off x="1016000" y="2768600"/>
            <a:ext cx="6667500" cy="2921000"/>
          </a:xfrm>
          <a:prstGeom prst="rect">
            <a:avLst/>
          </a:prstGeom>
          <a:noFill/>
          <a:ln/>
        </p:spPr>
        <p:txBody>
          <a:bodyPr wrap="square" lIns="0" tIns="0" rIns="0" bIns="0" rtlCol="0" anchor="t"/>
          <a:lstStyle/>
          <a:p>
            <a:pPr>
              <a:lnSpc>
                <a:spcPct val="18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80000"/>
              </a:lnSpc>
            </a:pPr>
            <a:r>
              <a:rPr lang="en-US" sz="1500" b="1" dirty="0">
                <a:solidFill>
                  <a:srgbClr val="1E2328"/>
                </a:solidFill>
                <a:latin typeface="Quattrocento Sans" pitchFamily="34" charset="0"/>
                <a:ea typeface="Quattrocento Sans" pitchFamily="34" charset="-122"/>
                <a:cs typeface="Quattrocento Sans" pitchFamily="34" charset="-120"/>
              </a:rPr>
              <a:t>Drag any window tab</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to dock in a new position</a:t>
            </a:r>
            <a:endParaRPr lang="en-US" sz="1600" dirty="0"/>
          </a:p>
          <a:p>
            <a:pPr>
              <a:lnSpc>
                <a:spcPct val="18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80000"/>
              </a:lnSpc>
            </a:pPr>
            <a:r>
              <a:rPr lang="en-US" sz="1500" b="1" dirty="0">
                <a:solidFill>
                  <a:srgbClr val="1E2328"/>
                </a:solidFill>
                <a:latin typeface="Quattrocento Sans" pitchFamily="34" charset="0"/>
                <a:ea typeface="Quattrocento Sans" pitchFamily="34" charset="-122"/>
                <a:cs typeface="Quattrocento Sans" pitchFamily="34" charset="-120"/>
              </a:rPr>
              <a:t>Create floating windows</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by dragging outside the dock</a:t>
            </a:r>
            <a:endParaRPr lang="en-US" sz="1600" dirty="0"/>
          </a:p>
          <a:p>
            <a:pPr>
              <a:lnSpc>
                <a:spcPct val="18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80000"/>
              </a:lnSpc>
            </a:pPr>
            <a:r>
              <a:rPr lang="en-US" sz="1500" b="1" dirty="0">
                <a:solidFill>
                  <a:srgbClr val="1E2328"/>
                </a:solidFill>
                <a:latin typeface="Quattrocento Sans" pitchFamily="34" charset="0"/>
                <a:ea typeface="Quattrocento Sans" pitchFamily="34" charset="-122"/>
                <a:cs typeface="Quattrocento Sans" pitchFamily="34" charset="-120"/>
              </a:rPr>
              <a:t>Save layouts</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via Layout &gt; Save Layout</a:t>
            </a:r>
            <a:endParaRPr lang="en-US" sz="1600" dirty="0"/>
          </a:p>
          <a:p>
            <a:pPr>
              <a:lnSpc>
                <a:spcPct val="18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80000"/>
              </a:lnSpc>
            </a:pPr>
            <a:r>
              <a:rPr lang="en-US" sz="1500" b="1" dirty="0">
                <a:solidFill>
                  <a:srgbClr val="1E2328"/>
                </a:solidFill>
                <a:latin typeface="Quattrocento Sans" pitchFamily="34" charset="0"/>
                <a:ea typeface="Quattrocento Sans" pitchFamily="34" charset="-122"/>
                <a:cs typeface="Quattrocento Sans" pitchFamily="34" charset="-120"/>
              </a:rPr>
              <a:t>Switch layouts</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from the Layout dropdown</a:t>
            </a:r>
            <a:endParaRPr lang="en-US" sz="1600" dirty="0"/>
          </a:p>
          <a:p>
            <a:pPr>
              <a:lnSpc>
                <a:spcPct val="18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80000"/>
              </a:lnSpc>
            </a:pPr>
            <a:r>
              <a:rPr lang="en-US" sz="1500" b="1" dirty="0">
                <a:solidFill>
                  <a:srgbClr val="1E2328"/>
                </a:solidFill>
                <a:latin typeface="Quattrocento Sans" pitchFamily="34" charset="0"/>
                <a:ea typeface="Quattrocento Sans" pitchFamily="34" charset="-122"/>
                <a:cs typeface="Quattrocento Sans" pitchFamily="34" charset="-120"/>
              </a:rPr>
              <a:t>Reset to default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via Window &gt; Layouts &gt; Default</a:t>
            </a:r>
            <a:endParaRPr lang="en-US" sz="1600" dirty="0"/>
          </a:p>
        </p:txBody>
      </p:sp>
      <p:sp>
        <p:nvSpPr>
          <p:cNvPr id="10" name="Shape 8"/>
          <p:cNvSpPr/>
          <p:nvPr/>
        </p:nvSpPr>
        <p:spPr>
          <a:xfrm>
            <a:off x="8318500" y="2095500"/>
            <a:ext cx="7175500" cy="3810000"/>
          </a:xfrm>
          <a:prstGeom prst="rect">
            <a:avLst/>
          </a:prstGeom>
          <a:solidFill>
            <a:srgbClr val="FFFFFF"/>
          </a:solidFill>
          <a:ln w="12700">
            <a:solidFill>
              <a:srgbClr val="E8EAED"/>
            </a:solidFill>
            <a:prstDash val="solid"/>
          </a:ln>
        </p:spPr>
      </p:sp>
      <p:sp>
        <p:nvSpPr>
          <p:cNvPr id="11" name="Shape 9"/>
          <p:cNvSpPr/>
          <p:nvPr/>
        </p:nvSpPr>
        <p:spPr>
          <a:xfrm>
            <a:off x="8318500" y="2095500"/>
            <a:ext cx="7175500" cy="63500"/>
          </a:xfrm>
          <a:prstGeom prst="rect">
            <a:avLst/>
          </a:prstGeom>
          <a:solidFill>
            <a:srgbClr val="1A1D23"/>
          </a:solidFill>
          <a:ln/>
        </p:spPr>
      </p:sp>
      <p:sp>
        <p:nvSpPr>
          <p:cNvPr id="12" name="Text 10"/>
          <p:cNvSpPr/>
          <p:nvPr/>
        </p:nvSpPr>
        <p:spPr>
          <a:xfrm>
            <a:off x="8572500" y="2311400"/>
            <a:ext cx="5080000" cy="330200"/>
          </a:xfrm>
          <a:prstGeom prst="rect">
            <a:avLst/>
          </a:prstGeom>
          <a:noFill/>
          <a:ln/>
        </p:spPr>
        <p:txBody>
          <a:bodyPr wrap="none" lIns="0" tIns="0" rIns="0" bIns="0" rtlCol="0" anchor="ctr"/>
          <a:lstStyle/>
          <a:p>
            <a:pPr>
              <a:lnSpc>
                <a:spcPct val="100000"/>
              </a:lnSpc>
            </a:pPr>
            <a:r>
              <a:rPr lang="en-US" sz="1600" spc="100" kern="0" dirty="0">
                <a:solidFill>
                  <a:srgbClr val="1A1D23"/>
                </a:solidFill>
                <a:latin typeface="Liter" pitchFamily="34" charset="0"/>
                <a:ea typeface="Liter" pitchFamily="34" charset="-122"/>
                <a:cs typeface="Liter" pitchFamily="34" charset="-120"/>
              </a:rPr>
              <a:t>BUILT-IN LAYOUTS</a:t>
            </a:r>
            <a:endParaRPr lang="en-US" sz="1600" dirty="0"/>
          </a:p>
        </p:txBody>
      </p:sp>
      <p:sp>
        <p:nvSpPr>
          <p:cNvPr id="13" name="Text 11"/>
          <p:cNvSpPr/>
          <p:nvPr/>
        </p:nvSpPr>
        <p:spPr>
          <a:xfrm>
            <a:off x="8572500" y="2768600"/>
            <a:ext cx="6667500" cy="2921000"/>
          </a:xfrm>
          <a:prstGeom prst="rect">
            <a:avLst/>
          </a:prstGeom>
          <a:noFill/>
          <a:ln/>
        </p:spPr>
        <p:txBody>
          <a:bodyPr wrap="square" lIns="0" tIns="0" rIns="0" bIns="0" rtlCol="0" anchor="t"/>
          <a:lstStyle/>
          <a:p>
            <a:pPr>
              <a:lnSpc>
                <a:spcPct val="180000"/>
              </a:lnSpc>
            </a:pPr>
            <a:r>
              <a:rPr lang="en-US" sz="1500" dirty="0">
                <a:solidFill>
                  <a:srgbClr val="1A1D23"/>
                </a:solidFill>
                <a:latin typeface="Quattrocento Sans" pitchFamily="34" charset="0"/>
                <a:ea typeface="Quattrocento Sans" pitchFamily="34" charset="-122"/>
                <a:cs typeface="Quattrocento Sans" pitchFamily="34" charset="-120"/>
              </a:rPr>
              <a: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80000"/>
              </a:lnSpc>
            </a:pPr>
            <a:r>
              <a:rPr lang="en-US" sz="1500" b="1" dirty="0">
                <a:solidFill>
                  <a:srgbClr val="1E2328"/>
                </a:solidFill>
                <a:latin typeface="Quattrocento Sans" pitchFamily="34" charset="0"/>
                <a:ea typeface="Quattrocento Sans" pitchFamily="34" charset="-122"/>
                <a:cs typeface="Quattrocento Sans" pitchFamily="34" charset="-120"/>
              </a:rPr>
              <a:t>Default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 balanced, recommended for beginners</a:t>
            </a:r>
            <a:endParaRPr lang="en-US" sz="1600" dirty="0"/>
          </a:p>
          <a:p>
            <a:pPr>
              <a:lnSpc>
                <a:spcPct val="180000"/>
              </a:lnSpc>
            </a:pPr>
            <a:r>
              <a:rPr lang="en-US" sz="1500" dirty="0">
                <a:solidFill>
                  <a:srgbClr val="1A1D23"/>
                </a:solidFill>
                <a:latin typeface="Quattrocento Sans" pitchFamily="34" charset="0"/>
                <a:ea typeface="Quattrocento Sans" pitchFamily="34" charset="-122"/>
                <a:cs typeface="Quattrocento Sans" pitchFamily="34" charset="-120"/>
              </a:rPr>
              <a: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80000"/>
              </a:lnSpc>
            </a:pPr>
            <a:r>
              <a:rPr lang="en-US" sz="1500" b="1" dirty="0">
                <a:solidFill>
                  <a:srgbClr val="1E2328"/>
                </a:solidFill>
                <a:latin typeface="Quattrocento Sans" pitchFamily="34" charset="0"/>
                <a:ea typeface="Quattrocento Sans" pitchFamily="34" charset="-122"/>
                <a:cs typeface="Quattrocento Sans" pitchFamily="34" charset="-120"/>
              </a:rPr>
              <a:t>2 by 3</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 more vertical space for Scene view</a:t>
            </a:r>
            <a:endParaRPr lang="en-US" sz="1600" dirty="0"/>
          </a:p>
          <a:p>
            <a:pPr>
              <a:lnSpc>
                <a:spcPct val="180000"/>
              </a:lnSpc>
            </a:pPr>
            <a:r>
              <a:rPr lang="en-US" sz="1500" dirty="0">
                <a:solidFill>
                  <a:srgbClr val="1A1D23"/>
                </a:solidFill>
                <a:latin typeface="Quattrocento Sans" pitchFamily="34" charset="0"/>
                <a:ea typeface="Quattrocento Sans" pitchFamily="34" charset="-122"/>
                <a:cs typeface="Quattrocento Sans" pitchFamily="34" charset="-120"/>
              </a:rPr>
              <a: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80000"/>
              </a:lnSpc>
            </a:pPr>
            <a:r>
              <a:rPr lang="en-US" sz="1500" b="1" dirty="0">
                <a:solidFill>
                  <a:srgbClr val="1E2328"/>
                </a:solidFill>
                <a:latin typeface="Quattrocento Sans" pitchFamily="34" charset="0"/>
                <a:ea typeface="Quattrocento Sans" pitchFamily="34" charset="-122"/>
                <a:cs typeface="Quattrocento Sans" pitchFamily="34" charset="-120"/>
              </a:rPr>
              <a:t>4 Split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 four simultaneous views</a:t>
            </a:r>
            <a:endParaRPr lang="en-US" sz="1600" dirty="0"/>
          </a:p>
          <a:p>
            <a:pPr>
              <a:lnSpc>
                <a:spcPct val="180000"/>
              </a:lnSpc>
            </a:pPr>
            <a:r>
              <a:rPr lang="en-US" sz="1500" dirty="0">
                <a:solidFill>
                  <a:srgbClr val="1A1D23"/>
                </a:solidFill>
                <a:latin typeface="Quattrocento Sans" pitchFamily="34" charset="0"/>
                <a:ea typeface="Quattrocento Sans" pitchFamily="34" charset="-122"/>
                <a:cs typeface="Quattrocento Sans" pitchFamily="34" charset="-120"/>
              </a:rPr>
              <a: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80000"/>
              </a:lnSpc>
            </a:pPr>
            <a:r>
              <a:rPr lang="en-US" sz="1500" b="1" dirty="0">
                <a:solidFill>
                  <a:srgbClr val="1E2328"/>
                </a:solidFill>
                <a:latin typeface="Quattrocento Sans" pitchFamily="34" charset="0"/>
                <a:ea typeface="Quattrocento Sans" pitchFamily="34" charset="-122"/>
                <a:cs typeface="Quattrocento Sans" pitchFamily="34" charset="-120"/>
              </a:rPr>
              <a:t>Default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 good general-purpose layout</a:t>
            </a:r>
            <a:endParaRPr lang="en-US" sz="1600" dirty="0"/>
          </a:p>
          <a:p>
            <a:pPr>
              <a:lnSpc>
                <a:spcPct val="180000"/>
              </a:lnSpc>
            </a:pPr>
            <a:r>
              <a:rPr lang="en-US" sz="1500" dirty="0">
                <a:solidFill>
                  <a:srgbClr val="1A1D23"/>
                </a:solidFill>
                <a:latin typeface="Quattrocento Sans" pitchFamily="34" charset="0"/>
                <a:ea typeface="Quattrocento Sans" pitchFamily="34" charset="-122"/>
                <a:cs typeface="Quattrocento Sans" pitchFamily="34" charset="-120"/>
              </a:rPr>
              <a:t>■</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80000"/>
              </a:lnSpc>
            </a:pPr>
            <a:r>
              <a:rPr lang="en-US" sz="1500" b="1" dirty="0">
                <a:solidFill>
                  <a:srgbClr val="1E2328"/>
                </a:solidFill>
                <a:latin typeface="Quattrocento Sans" pitchFamily="34" charset="0"/>
                <a:ea typeface="Quattrocento Sans" pitchFamily="34" charset="-122"/>
                <a:cs typeface="Quattrocento Sans" pitchFamily="34" charset="-120"/>
              </a:rPr>
              <a:t>Tall</a:t>
            </a:r>
            <a:pPr>
              <a:lnSpc>
                <a:spcPct val="180000"/>
              </a:lnSpc>
            </a:pPr>
            <a:r>
              <a:rPr lang="en-US" sz="1500" dirty="0">
                <a:solidFill>
                  <a:srgbClr val="1E2328"/>
                </a:solidFill>
                <a:latin typeface="Quattrocento Sans" pitchFamily="34" charset="0"/>
                <a:ea typeface="Quattrocento Sans" pitchFamily="34" charset="-122"/>
                <a:cs typeface="Quattrocento Sans" pitchFamily="34" charset="-120"/>
              </a:rPr>
              <a:t> — maximizes vertical screen use</a:t>
            </a:r>
            <a:endParaRPr lang="en-US" sz="1600" dirty="0"/>
          </a:p>
        </p:txBody>
      </p:sp>
      <p:sp>
        <p:nvSpPr>
          <p:cNvPr id="14" name="Shape 12"/>
          <p:cNvSpPr/>
          <p:nvPr/>
        </p:nvSpPr>
        <p:spPr>
          <a:xfrm>
            <a:off x="762000" y="6223000"/>
            <a:ext cx="14732000" cy="2222500"/>
          </a:xfrm>
          <a:prstGeom prst="rect">
            <a:avLst/>
          </a:prstGeom>
          <a:solidFill>
            <a:srgbClr val="1A1D23"/>
          </a:solidFill>
          <a:ln/>
        </p:spPr>
      </p:sp>
      <p:sp>
        <p:nvSpPr>
          <p:cNvPr id="15" name="Shape 13"/>
          <p:cNvSpPr/>
          <p:nvPr/>
        </p:nvSpPr>
        <p:spPr>
          <a:xfrm>
            <a:off x="1104900" y="6451600"/>
            <a:ext cx="228600" cy="304800"/>
          </a:xfrm>
          <a:custGeom>
            <a:avLst/>
            <a:gdLst/>
            <a:ahLst/>
            <a:cxnLst/>
            <a:rect l="l" t="t" r="r" b="b"/>
            <a:pathLst>
              <a:path w="228600" h="304800">
                <a:moveTo>
                  <a:pt x="174367" y="228600"/>
                </a:moveTo>
                <a:cubicBezTo>
                  <a:pt x="178713" y="215325"/>
                  <a:pt x="187404" y="203299"/>
                  <a:pt x="197227" y="192941"/>
                </a:cubicBezTo>
                <a:cubicBezTo>
                  <a:pt x="216694" y="172462"/>
                  <a:pt x="228600" y="144780"/>
                  <a:pt x="228600" y="114300"/>
                </a:cubicBezTo>
                <a:cubicBezTo>
                  <a:pt x="228600" y="51197"/>
                  <a:pt x="177403" y="0"/>
                  <a:pt x="114300" y="0"/>
                </a:cubicBezTo>
                <a:cubicBezTo>
                  <a:pt x="51197" y="0"/>
                  <a:pt x="0" y="51197"/>
                  <a:pt x="0" y="114300"/>
                </a:cubicBezTo>
                <a:cubicBezTo>
                  <a:pt x="0" y="144780"/>
                  <a:pt x="11906" y="172462"/>
                  <a:pt x="31373" y="192941"/>
                </a:cubicBezTo>
                <a:cubicBezTo>
                  <a:pt x="41196" y="203299"/>
                  <a:pt x="49947" y="215325"/>
                  <a:pt x="54233" y="228600"/>
                </a:cubicBezTo>
                <a:lnTo>
                  <a:pt x="174308" y="228600"/>
                </a:lnTo>
                <a:close/>
                <a:moveTo>
                  <a:pt x="171450" y="257175"/>
                </a:moveTo>
                <a:lnTo>
                  <a:pt x="57150" y="257175"/>
                </a:lnTo>
                <a:lnTo>
                  <a:pt x="57150" y="266700"/>
                </a:lnTo>
                <a:cubicBezTo>
                  <a:pt x="57150" y="293013"/>
                  <a:pt x="78462" y="314325"/>
                  <a:pt x="104775" y="314325"/>
                </a:cubicBezTo>
                <a:lnTo>
                  <a:pt x="123825" y="314325"/>
                </a:lnTo>
                <a:cubicBezTo>
                  <a:pt x="150138" y="314325"/>
                  <a:pt x="171450" y="293013"/>
                  <a:pt x="171450" y="266700"/>
                </a:cubicBezTo>
                <a:lnTo>
                  <a:pt x="171450" y="257175"/>
                </a:lnTo>
                <a:close/>
                <a:moveTo>
                  <a:pt x="109537" y="66675"/>
                </a:moveTo>
                <a:cubicBezTo>
                  <a:pt x="85844" y="66675"/>
                  <a:pt x="66675" y="85844"/>
                  <a:pt x="66675" y="109537"/>
                </a:cubicBezTo>
                <a:cubicBezTo>
                  <a:pt x="66675" y="117455"/>
                  <a:pt x="60305" y="123825"/>
                  <a:pt x="52388" y="123825"/>
                </a:cubicBezTo>
                <a:cubicBezTo>
                  <a:pt x="44470" y="123825"/>
                  <a:pt x="38100" y="117455"/>
                  <a:pt x="38100" y="109537"/>
                </a:cubicBezTo>
                <a:cubicBezTo>
                  <a:pt x="38100" y="70068"/>
                  <a:pt x="70068" y="38100"/>
                  <a:pt x="109537" y="38100"/>
                </a:cubicBezTo>
                <a:cubicBezTo>
                  <a:pt x="117455" y="38100"/>
                  <a:pt x="123825" y="44470"/>
                  <a:pt x="123825" y="52388"/>
                </a:cubicBezTo>
                <a:cubicBezTo>
                  <a:pt x="123825" y="60305"/>
                  <a:pt x="117455" y="66675"/>
                  <a:pt x="109537" y="66675"/>
                </a:cubicBezTo>
                <a:close/>
              </a:path>
            </a:pathLst>
          </a:custGeom>
          <a:solidFill>
            <a:srgbClr val="FF6B35"/>
          </a:solidFill>
          <a:ln/>
        </p:spPr>
      </p:sp>
      <p:sp>
        <p:nvSpPr>
          <p:cNvPr id="16" name="Text 14"/>
          <p:cNvSpPr/>
          <p:nvPr/>
        </p:nvSpPr>
        <p:spPr>
          <a:xfrm>
            <a:off x="1498600" y="6451600"/>
            <a:ext cx="3810000" cy="304800"/>
          </a:xfrm>
          <a:prstGeom prst="rect">
            <a:avLst/>
          </a:prstGeom>
          <a:noFill/>
          <a:ln/>
        </p:spPr>
        <p:txBody>
          <a:bodyPr wrap="none" lIns="0" tIns="0" rIns="0" bIns="0" rtlCol="0" anchor="ctr"/>
          <a:lstStyle/>
          <a:p>
            <a:pPr>
              <a:lnSpc>
                <a:spcPct val="100000"/>
              </a:lnSpc>
            </a:pPr>
            <a:r>
              <a:rPr lang="en-US" sz="1400" spc="100" kern="0" dirty="0">
                <a:solidFill>
                  <a:srgbClr val="FF6B35"/>
                </a:solidFill>
                <a:latin typeface="Liter" pitchFamily="34" charset="0"/>
                <a:ea typeface="Liter" pitchFamily="34" charset="-122"/>
                <a:cs typeface="Liter" pitchFamily="34" charset="-120"/>
              </a:rPr>
              <a:t>PRODUCTIVITY TIPS</a:t>
            </a:r>
            <a:endParaRPr lang="en-US" sz="1600" dirty="0"/>
          </a:p>
        </p:txBody>
      </p:sp>
      <p:sp>
        <p:nvSpPr>
          <p:cNvPr id="17" name="Text 15"/>
          <p:cNvSpPr/>
          <p:nvPr/>
        </p:nvSpPr>
        <p:spPr>
          <a:xfrm>
            <a:off x="1066800" y="6921500"/>
            <a:ext cx="6858000" cy="12700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Use a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dual-monitor setup</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Drag the Game view to a second screen for real-time preview while editing in the Scene view.</a:t>
            </a:r>
            <a:endParaRPr lang="en-US" sz="1600" dirty="0"/>
          </a:p>
        </p:txBody>
      </p:sp>
      <p:sp>
        <p:nvSpPr>
          <p:cNvPr id="18" name="Text 16"/>
          <p:cNvSpPr/>
          <p:nvPr/>
        </p:nvSpPr>
        <p:spPr>
          <a:xfrm>
            <a:off x="8382000" y="6921500"/>
            <a:ext cx="6858000" cy="1270000"/>
          </a:xfrm>
          <a:prstGeom prst="rect">
            <a:avLst/>
          </a:prstGeom>
          <a:noFill/>
          <a:ln/>
        </p:spPr>
        <p:txBody>
          <a:bodyPr wrap="square" lIns="0" tIns="0" rIns="0" bIns="0" rtlCol="0" anchor="t"/>
          <a:lstStyle/>
          <a:p>
            <a:pPr>
              <a:lnSpc>
                <a:spcPct val="170000"/>
              </a:lnSpc>
            </a:pPr>
            <a:r>
              <a:rPr lang="en-US" sz="1500" dirty="0">
                <a:solidFill>
                  <a:srgbClr val="FF6B35"/>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FFFFFF"/>
                </a:solidFill>
                <a:latin typeface="Quattrocento Sans" pitchFamily="34" charset="0"/>
                <a:ea typeface="Quattrocento Sans" pitchFamily="34" charset="-122"/>
                <a:cs typeface="Quattrocento Sans" pitchFamily="34" charset="-120"/>
              </a:rPr>
              <a:t>Collapse windows</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you don't frequently use to maximize workspace. You can always reopen them from the Window menu.</a:t>
            </a:r>
            <a:endParaRPr lang="en-US" sz="1600" dirty="0"/>
          </a:p>
        </p:txBody>
      </p:sp>
      <p:sp>
        <p:nvSpPr>
          <p:cNvPr id="19" name="Shape 17"/>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13970000" y="381000"/>
            <a:ext cx="1524000" cy="254000"/>
          </a:xfrm>
          <a:prstGeom prst="rect">
            <a:avLst/>
          </a:prstGeom>
          <a:noFill/>
          <a:ln/>
        </p:spPr>
        <p:txBody>
          <a:bodyPr wrap="none" lIns="0" tIns="0" rIns="0" bIns="0" rtlCol="0" anchor="ctr"/>
          <a:lstStyle/>
          <a:p>
            <a:pPr algn="r">
              <a:lnSpc>
                <a:spcPct val="100000"/>
              </a:lnSpc>
            </a:pPr>
            <a:r>
              <a:rPr lang="en-US" sz="1300" spc="200" kern="0" dirty="0">
                <a:solidFill>
                  <a:srgbClr val="6B7280"/>
                </a:solidFill>
                <a:latin typeface="Liter" pitchFamily="34" charset="0"/>
                <a:ea typeface="Liter" pitchFamily="34" charset="-122"/>
                <a:cs typeface="Liter" pitchFamily="34" charset="-120"/>
              </a:rPr>
              <a:t>WEEK 2</a:t>
            </a:r>
            <a:endParaRPr lang="en-US" sz="1300" dirty="0"/>
          </a:p>
        </p:txBody>
      </p:sp>
      <p:sp>
        <p:nvSpPr>
          <p:cNvPr id="3" name="Text 1"/>
          <p:cNvSpPr/>
          <p:nvPr/>
        </p:nvSpPr>
        <p:spPr>
          <a:xfrm>
            <a:off x="762000" y="635000"/>
            <a:ext cx="10160000" cy="508000"/>
          </a:xfrm>
          <a:prstGeom prst="rect">
            <a:avLst/>
          </a:prstGeom>
          <a:noFill/>
          <a:ln/>
        </p:spPr>
        <p:txBody>
          <a:bodyPr wrap="none" lIns="0" tIns="0" rIns="0" bIns="0" rtlCol="0" anchor="ctr"/>
          <a:lstStyle/>
          <a:p>
            <a:pPr>
              <a:lnSpc>
                <a:spcPct val="100000"/>
              </a:lnSpc>
            </a:pPr>
            <a:r>
              <a:rPr lang="en-US" sz="2800" dirty="0">
                <a:solidFill>
                  <a:srgbClr val="1A1D23"/>
                </a:solidFill>
                <a:latin typeface="Liter" pitchFamily="34" charset="0"/>
                <a:ea typeface="Liter" pitchFamily="34" charset="-122"/>
                <a:cs typeface="Liter" pitchFamily="34" charset="-120"/>
              </a:rPr>
              <a:t>Lecture 4 — Key Takeaways</a:t>
            </a:r>
            <a:endParaRPr lang="en-US" sz="2800" dirty="0"/>
          </a:p>
        </p:txBody>
      </p:sp>
      <p:sp>
        <p:nvSpPr>
          <p:cNvPr id="4" name="Shape 2"/>
          <p:cNvSpPr/>
          <p:nvPr/>
        </p:nvSpPr>
        <p:spPr>
          <a:xfrm>
            <a:off x="762000" y="1206500"/>
            <a:ext cx="762000" cy="50800"/>
          </a:xfrm>
          <a:prstGeom prst="rect">
            <a:avLst/>
          </a:prstGeom>
          <a:solidFill>
            <a:srgbClr val="FF6B35"/>
          </a:solidFill>
          <a:ln/>
        </p:spPr>
      </p:sp>
      <p:sp>
        <p:nvSpPr>
          <p:cNvPr id="5" name="Shape 3"/>
          <p:cNvSpPr/>
          <p:nvPr/>
        </p:nvSpPr>
        <p:spPr>
          <a:xfrm>
            <a:off x="762000" y="1524000"/>
            <a:ext cx="1651000" cy="381000"/>
          </a:xfrm>
          <a:prstGeom prst="rect">
            <a:avLst/>
          </a:prstGeom>
          <a:solidFill>
            <a:srgbClr val="FF6B35"/>
          </a:solidFill>
          <a:ln/>
        </p:spPr>
      </p:sp>
      <p:sp>
        <p:nvSpPr>
          <p:cNvPr id="6" name="Text 4"/>
          <p:cNvSpPr/>
          <p:nvPr/>
        </p:nvSpPr>
        <p:spPr>
          <a:xfrm>
            <a:off x="762000" y="1524000"/>
            <a:ext cx="1651000" cy="381000"/>
          </a:xfrm>
          <a:prstGeom prst="rect">
            <a:avLst/>
          </a:prstGeom>
          <a:noFill/>
          <a:ln/>
        </p:spPr>
        <p:txBody>
          <a:bodyPr wrap="none" lIns="0" tIns="0" rIns="0" bIns="0" rtlCol="0" anchor="ctr"/>
          <a:lstStyle/>
          <a:p>
            <a:pPr algn="ctr">
              <a:lnSpc>
                <a:spcPct val="100000"/>
              </a:lnSpc>
            </a:pPr>
            <a:r>
              <a:rPr lang="en-US" sz="1200" spc="200" kern="0" dirty="0">
                <a:solidFill>
                  <a:srgbClr val="FFFFFF"/>
                </a:solidFill>
                <a:latin typeface="Liter" pitchFamily="34" charset="0"/>
                <a:ea typeface="Liter" pitchFamily="34" charset="-122"/>
                <a:cs typeface="Liter" pitchFamily="34" charset="-120"/>
              </a:rPr>
              <a:t>LECTURE 4</a:t>
            </a:r>
            <a:endParaRPr lang="en-US" sz="1600" dirty="0"/>
          </a:p>
        </p:txBody>
      </p:sp>
      <p:sp>
        <p:nvSpPr>
          <p:cNvPr id="7" name="Shape 5"/>
          <p:cNvSpPr/>
          <p:nvPr/>
        </p:nvSpPr>
        <p:spPr>
          <a:xfrm>
            <a:off x="781050" y="2222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FF6B35"/>
          </a:solidFill>
          <a:ln/>
        </p:spPr>
      </p:sp>
      <p:sp>
        <p:nvSpPr>
          <p:cNvPr id="8" name="Text 6"/>
          <p:cNvSpPr/>
          <p:nvPr/>
        </p:nvSpPr>
        <p:spPr>
          <a:xfrm>
            <a:off x="1219200" y="2159000"/>
            <a:ext cx="14224000" cy="635000"/>
          </a:xfrm>
          <a:prstGeom prst="rect">
            <a:avLst/>
          </a:prstGeom>
          <a:noFill/>
          <a:ln/>
        </p:spPr>
        <p:txBody>
          <a:bodyPr wrap="square" lIns="0" tIns="0" rIns="0" bIns="0" rtlCol="0" anchor="ctr"/>
          <a:lstStyle/>
          <a:p>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Create new projects via Unity Hub using the </a:t>
            </a:r>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3D Built-in template</a:t>
            </a:r>
            <a:endParaRPr lang="en-US" sz="1800" dirty="0"/>
          </a:p>
        </p:txBody>
      </p:sp>
      <p:sp>
        <p:nvSpPr>
          <p:cNvPr id="9" name="Shape 7"/>
          <p:cNvSpPr/>
          <p:nvPr/>
        </p:nvSpPr>
        <p:spPr>
          <a:xfrm>
            <a:off x="781050" y="2984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FF6B35"/>
          </a:solidFill>
          <a:ln/>
        </p:spPr>
      </p:sp>
      <p:sp>
        <p:nvSpPr>
          <p:cNvPr id="10" name="Text 8"/>
          <p:cNvSpPr/>
          <p:nvPr/>
        </p:nvSpPr>
        <p:spPr>
          <a:xfrm>
            <a:off x="1219200" y="2921000"/>
            <a:ext cx="14224000" cy="635000"/>
          </a:xfrm>
          <a:prstGeom prst="rect">
            <a:avLst/>
          </a:prstGeom>
          <a:noFill/>
          <a:ln/>
        </p:spPr>
        <p:txBody>
          <a:bodyPr wrap="square" lIns="0" tIns="0" rIns="0" bIns="0" rtlCol="0" anchor="ctr"/>
          <a:lstStyle/>
          <a:p>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Import assets by </a:t>
            </a:r>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drag-and-drop</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copying to Assets folder, or importing packages</a:t>
            </a:r>
            <a:endParaRPr lang="en-US" sz="1800" dirty="0"/>
          </a:p>
        </p:txBody>
      </p:sp>
      <p:sp>
        <p:nvSpPr>
          <p:cNvPr id="11" name="Shape 9"/>
          <p:cNvSpPr/>
          <p:nvPr/>
        </p:nvSpPr>
        <p:spPr>
          <a:xfrm>
            <a:off x="781050" y="3746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FF6B35"/>
          </a:solidFill>
          <a:ln/>
        </p:spPr>
      </p:sp>
      <p:sp>
        <p:nvSpPr>
          <p:cNvPr id="12" name="Text 10"/>
          <p:cNvSpPr/>
          <p:nvPr/>
        </p:nvSpPr>
        <p:spPr>
          <a:xfrm>
            <a:off x="1219200" y="3683000"/>
            <a:ext cx="14224000" cy="635000"/>
          </a:xfrm>
          <a:prstGeom prst="rect">
            <a:avLst/>
          </a:prstGeom>
          <a:noFill/>
          <a:ln/>
        </p:spPr>
        <p:txBody>
          <a:bodyPr wrap="square" lIns="0" tIns="0" rIns="0" bIns="0" rtlCol="0" anchor="ctr"/>
          <a:lstStyle/>
          <a:p>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Organize assets with a </a:t>
            </a:r>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clear folder structure</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from the start of your project</a:t>
            </a:r>
            <a:endParaRPr lang="en-US" sz="1800" dirty="0"/>
          </a:p>
        </p:txBody>
      </p:sp>
      <p:sp>
        <p:nvSpPr>
          <p:cNvPr id="13" name="Shape 11"/>
          <p:cNvSpPr/>
          <p:nvPr/>
        </p:nvSpPr>
        <p:spPr>
          <a:xfrm>
            <a:off x="781050" y="4508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FF6B35"/>
          </a:solidFill>
          <a:ln/>
        </p:spPr>
      </p:sp>
      <p:sp>
        <p:nvSpPr>
          <p:cNvPr id="14" name="Text 12"/>
          <p:cNvSpPr/>
          <p:nvPr/>
        </p:nvSpPr>
        <p:spPr>
          <a:xfrm>
            <a:off x="1219200" y="4445000"/>
            <a:ext cx="14224000" cy="635000"/>
          </a:xfrm>
          <a:prstGeom prst="rect">
            <a:avLst/>
          </a:prstGeom>
          <a:noFill/>
          <a:ln/>
        </p:spPr>
        <p:txBody>
          <a:bodyPr wrap="square" lIns="0" tIns="0" rIns="0" bIns="0" rtlCol="0" anchor="ctr"/>
          <a:lstStyle/>
          <a:p>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Scene View</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is your 3D workspace, </a:t>
            </a:r>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Game View</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is your player preview</a:t>
            </a:r>
            <a:endParaRPr lang="en-US" sz="1800" dirty="0"/>
          </a:p>
        </p:txBody>
      </p:sp>
      <p:sp>
        <p:nvSpPr>
          <p:cNvPr id="15" name="Shape 13"/>
          <p:cNvSpPr/>
          <p:nvPr/>
        </p:nvSpPr>
        <p:spPr>
          <a:xfrm>
            <a:off x="781050" y="5270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FF6B35"/>
          </a:solidFill>
          <a:ln/>
        </p:spPr>
      </p:sp>
      <p:sp>
        <p:nvSpPr>
          <p:cNvPr id="16" name="Text 14"/>
          <p:cNvSpPr/>
          <p:nvPr/>
        </p:nvSpPr>
        <p:spPr>
          <a:xfrm>
            <a:off x="1219200" y="5207000"/>
            <a:ext cx="14224000" cy="635000"/>
          </a:xfrm>
          <a:prstGeom prst="rect">
            <a:avLst/>
          </a:prstGeom>
          <a:noFill/>
          <a:ln/>
        </p:spPr>
        <p:txBody>
          <a:bodyPr wrap="square" lIns="0" tIns="0" rIns="0" bIns="0" rtlCol="0" anchor="ctr"/>
          <a:lstStyle/>
          <a:p>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Hierarchy</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shows scene objects, </a:t>
            </a:r>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Project</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shows all available assets</a:t>
            </a:r>
            <a:endParaRPr lang="en-US" sz="1800" dirty="0"/>
          </a:p>
        </p:txBody>
      </p:sp>
      <p:sp>
        <p:nvSpPr>
          <p:cNvPr id="17" name="Shape 15"/>
          <p:cNvSpPr/>
          <p:nvPr/>
        </p:nvSpPr>
        <p:spPr>
          <a:xfrm>
            <a:off x="781050" y="6032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FF6B35"/>
          </a:solidFill>
          <a:ln/>
        </p:spPr>
      </p:sp>
      <p:sp>
        <p:nvSpPr>
          <p:cNvPr id="18" name="Text 16"/>
          <p:cNvSpPr/>
          <p:nvPr/>
        </p:nvSpPr>
        <p:spPr>
          <a:xfrm>
            <a:off x="1219200" y="5969000"/>
            <a:ext cx="14224000" cy="635000"/>
          </a:xfrm>
          <a:prstGeom prst="rect">
            <a:avLst/>
          </a:prstGeom>
          <a:noFill/>
          <a:ln/>
        </p:spPr>
        <p:txBody>
          <a:bodyPr wrap="square" lIns="0" tIns="0" rIns="0" bIns="0" rtlCol="0" anchor="ctr"/>
          <a:lstStyle/>
          <a:p>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Inspector</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edits properties of selected objects and assets</a:t>
            </a:r>
            <a:endParaRPr lang="en-US" sz="1800" dirty="0"/>
          </a:p>
        </p:txBody>
      </p:sp>
      <p:sp>
        <p:nvSpPr>
          <p:cNvPr id="19" name="Shape 17"/>
          <p:cNvSpPr/>
          <p:nvPr/>
        </p:nvSpPr>
        <p:spPr>
          <a:xfrm>
            <a:off x="762000" y="6858000"/>
            <a:ext cx="14732000" cy="0"/>
          </a:xfrm>
          <a:prstGeom prst="straightConnector1">
            <a:avLst/>
          </a:prstGeom>
          <a:noFill/>
          <a:ln w="12700">
            <a:solidFill>
              <a:srgbClr val="E8EAED"/>
            </a:solidFill>
            <a:prstDash val="sysDot"/>
            <a:headEnd type="none"/>
            <a:tailEnd type="none"/>
          </a:ln>
        </p:spPr>
      </p:sp>
      <p:sp>
        <p:nvSpPr>
          <p:cNvPr id="20" name="Shape 18"/>
          <p:cNvSpPr/>
          <p:nvPr/>
        </p:nvSpPr>
        <p:spPr>
          <a:xfrm>
            <a:off x="762000" y="7112000"/>
            <a:ext cx="14732000" cy="1270000"/>
          </a:xfrm>
          <a:prstGeom prst="rect">
            <a:avLst/>
          </a:prstGeom>
          <a:solidFill>
            <a:srgbClr val="1A1D23"/>
          </a:solidFill>
          <a:ln/>
        </p:spPr>
      </p:sp>
      <p:sp>
        <p:nvSpPr>
          <p:cNvPr id="21" name="Shape 19"/>
          <p:cNvSpPr/>
          <p:nvPr/>
        </p:nvSpPr>
        <p:spPr>
          <a:xfrm>
            <a:off x="1066800" y="7429500"/>
            <a:ext cx="355600" cy="355600"/>
          </a:xfrm>
          <a:custGeom>
            <a:avLst/>
            <a:gdLst/>
            <a:ahLst/>
            <a:cxnLst/>
            <a:rect l="l" t="t" r="r" b="b"/>
            <a:pathLst>
              <a:path w="355600" h="355600">
                <a:moveTo>
                  <a:pt x="88900" y="222250"/>
                </a:moveTo>
                <a:lnTo>
                  <a:pt x="17016" y="222250"/>
                </a:lnTo>
                <a:cubicBezTo>
                  <a:pt x="-278" y="222250"/>
                  <a:pt x="-10904" y="203428"/>
                  <a:pt x="-2014" y="188565"/>
                </a:cubicBezTo>
                <a:lnTo>
                  <a:pt x="34727" y="127308"/>
                </a:lnTo>
                <a:cubicBezTo>
                  <a:pt x="40769" y="117237"/>
                  <a:pt x="51604" y="111125"/>
                  <a:pt x="63341" y="111125"/>
                </a:cubicBezTo>
                <a:lnTo>
                  <a:pt x="129322" y="111125"/>
                </a:lnTo>
                <a:cubicBezTo>
                  <a:pt x="182176" y="21600"/>
                  <a:pt x="261005" y="17085"/>
                  <a:pt x="313720" y="24795"/>
                </a:cubicBezTo>
                <a:cubicBezTo>
                  <a:pt x="322610" y="26114"/>
                  <a:pt x="329555" y="33060"/>
                  <a:pt x="330805" y="41880"/>
                </a:cubicBezTo>
                <a:cubicBezTo>
                  <a:pt x="338515" y="94595"/>
                  <a:pt x="334000" y="173424"/>
                  <a:pt x="244475" y="226278"/>
                </a:cubicBezTo>
                <a:lnTo>
                  <a:pt x="244475" y="292259"/>
                </a:lnTo>
                <a:cubicBezTo>
                  <a:pt x="244475" y="303996"/>
                  <a:pt x="238363" y="314831"/>
                  <a:pt x="228292" y="320873"/>
                </a:cubicBezTo>
                <a:lnTo>
                  <a:pt x="167035" y="357614"/>
                </a:lnTo>
                <a:cubicBezTo>
                  <a:pt x="152241" y="366504"/>
                  <a:pt x="133350" y="355808"/>
                  <a:pt x="133350" y="338584"/>
                </a:cubicBezTo>
                <a:lnTo>
                  <a:pt x="133350" y="266700"/>
                </a:lnTo>
                <a:cubicBezTo>
                  <a:pt x="133350" y="242183"/>
                  <a:pt x="113417" y="222250"/>
                  <a:pt x="88900" y="222250"/>
                </a:cubicBezTo>
                <a:lnTo>
                  <a:pt x="88831" y="222250"/>
                </a:lnTo>
                <a:close/>
                <a:moveTo>
                  <a:pt x="277813" y="111125"/>
                </a:moveTo>
                <a:cubicBezTo>
                  <a:pt x="277813" y="92726"/>
                  <a:pt x="262874" y="77788"/>
                  <a:pt x="244475" y="77788"/>
                </a:cubicBezTo>
                <a:cubicBezTo>
                  <a:pt x="226076" y="77788"/>
                  <a:pt x="211138" y="92726"/>
                  <a:pt x="211138" y="111125"/>
                </a:cubicBezTo>
                <a:cubicBezTo>
                  <a:pt x="211138" y="129524"/>
                  <a:pt x="226076" y="144463"/>
                  <a:pt x="244475" y="144463"/>
                </a:cubicBezTo>
                <a:cubicBezTo>
                  <a:pt x="262874" y="144463"/>
                  <a:pt x="277813" y="129524"/>
                  <a:pt x="277813" y="111125"/>
                </a:cubicBezTo>
                <a:close/>
              </a:path>
            </a:pathLst>
          </a:custGeom>
          <a:solidFill>
            <a:srgbClr val="FF6B35"/>
          </a:solidFill>
          <a:ln/>
        </p:spPr>
      </p:sp>
      <p:sp>
        <p:nvSpPr>
          <p:cNvPr id="22" name="Text 20"/>
          <p:cNvSpPr/>
          <p:nvPr/>
        </p:nvSpPr>
        <p:spPr>
          <a:xfrm>
            <a:off x="1574800" y="7302500"/>
            <a:ext cx="2540000" cy="304800"/>
          </a:xfrm>
          <a:prstGeom prst="rect">
            <a:avLst/>
          </a:prstGeom>
          <a:noFill/>
          <a:ln/>
        </p:spPr>
        <p:txBody>
          <a:bodyPr wrap="none" lIns="0" tIns="0" rIns="0" bIns="0" rtlCol="0" anchor="ctr"/>
          <a:lstStyle/>
          <a:p>
            <a:pPr>
              <a:lnSpc>
                <a:spcPct val="100000"/>
              </a:lnSpc>
            </a:pPr>
            <a:r>
              <a:rPr lang="en-US" sz="1300" spc="200" kern="0" dirty="0">
                <a:solidFill>
                  <a:srgbClr val="FF6B35"/>
                </a:solidFill>
                <a:latin typeface="Liter" pitchFamily="34" charset="0"/>
                <a:ea typeface="Liter" pitchFamily="34" charset="-122"/>
                <a:cs typeface="Liter" pitchFamily="34" charset="-120"/>
              </a:rPr>
              <a:t>YOU ARE READY</a:t>
            </a:r>
            <a:endParaRPr lang="en-US" sz="1600" dirty="0"/>
          </a:p>
        </p:txBody>
      </p:sp>
      <p:sp>
        <p:nvSpPr>
          <p:cNvPr id="23" name="Text 21"/>
          <p:cNvSpPr/>
          <p:nvPr/>
        </p:nvSpPr>
        <p:spPr>
          <a:xfrm>
            <a:off x="1574800" y="7683500"/>
            <a:ext cx="13589000" cy="508000"/>
          </a:xfrm>
          <a:prstGeom prst="rect">
            <a:avLst/>
          </a:prstGeom>
          <a:noFill/>
          <a:ln/>
        </p:spPr>
        <p:txBody>
          <a:bodyPr wrap="square" lIns="0" tIns="0" rIns="0" bIns="0" rtlCol="0" anchor="ctr"/>
          <a:lstStyle/>
          <a:p>
            <a:pPr>
              <a:lnSpc>
                <a:spcPct val="100000"/>
              </a:lnSpc>
            </a:pPr>
            <a:r>
              <a:rPr lang="en-US" sz="1800" dirty="0">
                <a:solidFill>
                  <a:srgbClr val="FFFFFF"/>
                </a:solidFill>
                <a:latin typeface="Quattrocento Sans" pitchFamily="34" charset="0"/>
                <a:ea typeface="Quattrocento Sans" pitchFamily="34" charset="-122"/>
                <a:cs typeface="Quattrocento Sans" pitchFamily="34" charset="-120"/>
              </a:rPr>
              <a:t>You now have Unity installed and understand the Editor. Time to start building!</a:t>
            </a:r>
            <a:endParaRPr lang="en-US" sz="1600" dirty="0"/>
          </a:p>
        </p:txBody>
      </p:sp>
      <p:sp>
        <p:nvSpPr>
          <p:cNvPr id="24" name="Shape 22"/>
          <p:cNvSpPr/>
          <p:nvPr/>
        </p:nvSpPr>
        <p:spPr>
          <a:xfrm>
            <a:off x="0" y="9105900"/>
            <a:ext cx="16256000" cy="38100"/>
          </a:xfrm>
          <a:prstGeom prst="rect">
            <a:avLst/>
          </a:prstGeom>
          <a:solidFill>
            <a:srgbClr val="FF6B35"/>
          </a:solidFill>
          <a:ln/>
        </p:spPr>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https://kimi-img.moonshot.cn/pub/slides/okc/3rhuirp567422/mnt/agents/output/game-programming-week2/images/2_Deep_Space_Nebula_Background_Images.png">    </p:cNvPr>
          <p:cNvPicPr>
            <a:picLocks noChangeAspect="1"/>
          </p:cNvPicPr>
          <p:nvPr/>
        </p:nvPicPr>
        <p:blipFill>
          <a:blip r:embed="rId1"/>
          <a:srcRect l="0" r="0" t="862" b="862"/>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A1D23">
                  <a:alpha val="75000"/>
                </a:srgbClr>
              </a:gs>
              <a:gs pos="100000">
                <a:srgbClr val="1A1D23">
                  <a:alpha val="94000"/>
                </a:srgbClr>
              </a:gs>
            </a:gsLst>
            <a:path path="circle"/>
          </a:gradFill>
          <a:ln w="12700">
            <a:solidFill>
              <a:srgbClr val="333333"/>
            </a:solidFill>
            <a:prstDash val="solid"/>
          </a:ln>
        </p:spPr>
      </p:sp>
      <p:sp>
        <p:nvSpPr>
          <p:cNvPr id="4" name="Shape 1"/>
          <p:cNvSpPr/>
          <p:nvPr/>
        </p:nvSpPr>
        <p:spPr>
          <a:xfrm>
            <a:off x="6858000" y="2540000"/>
            <a:ext cx="2540000" cy="38100"/>
          </a:xfrm>
          <a:prstGeom prst="rect">
            <a:avLst/>
          </a:prstGeom>
          <a:solidFill>
            <a:srgbClr val="FF6B35"/>
          </a:solidFill>
          <a:ln/>
        </p:spPr>
      </p:sp>
      <p:sp>
        <p:nvSpPr>
          <p:cNvPr id="5" name="Text 2"/>
          <p:cNvSpPr/>
          <p:nvPr/>
        </p:nvSpPr>
        <p:spPr>
          <a:xfrm>
            <a:off x="4318000" y="2794000"/>
            <a:ext cx="7620000" cy="279400"/>
          </a:xfrm>
          <a:prstGeom prst="rect">
            <a:avLst/>
          </a:prstGeom>
          <a:noFill/>
          <a:ln/>
        </p:spPr>
        <p:txBody>
          <a:bodyPr wrap="none" lIns="0" tIns="0" rIns="0" bIns="0" rtlCol="0" anchor="ctr"/>
          <a:lstStyle/>
          <a:p>
            <a:pPr algn="ctr">
              <a:lnSpc>
                <a:spcPct val="100000"/>
              </a:lnSpc>
            </a:pPr>
            <a:r>
              <a:rPr lang="en-US" sz="1300" spc="200" kern="0" dirty="0">
                <a:solidFill>
                  <a:srgbClr val="FF6B35"/>
                </a:solidFill>
                <a:latin typeface="Liter" pitchFamily="34" charset="0"/>
                <a:ea typeface="Liter" pitchFamily="34" charset="-122"/>
                <a:cs typeface="Liter" pitchFamily="34" charset="-120"/>
              </a:rPr>
              <a:t>GAME PROGRAMMING — WEEK 2</a:t>
            </a:r>
            <a:endParaRPr lang="en-US" sz="1300" dirty="0"/>
          </a:p>
        </p:txBody>
      </p:sp>
      <p:sp>
        <p:nvSpPr>
          <p:cNvPr id="6" name="Text 3"/>
          <p:cNvSpPr/>
          <p:nvPr/>
        </p:nvSpPr>
        <p:spPr>
          <a:xfrm>
            <a:off x="2413000" y="3238500"/>
            <a:ext cx="11430000" cy="762000"/>
          </a:xfrm>
          <a:prstGeom prst="rect">
            <a:avLst/>
          </a:prstGeom>
          <a:noFill/>
          <a:ln/>
        </p:spPr>
        <p:txBody>
          <a:bodyPr wrap="none" lIns="0" tIns="0" rIns="0" bIns="0" rtlCol="0" anchor="ctr"/>
          <a:lstStyle/>
          <a:p>
            <a:pPr algn="ctr">
              <a:lnSpc>
                <a:spcPct val="100000"/>
              </a:lnSpc>
            </a:pPr>
            <a:r>
              <a:rPr lang="en-US" sz="4400" spc="300" kern="0" dirty="0">
                <a:solidFill>
                  <a:srgbClr val="FFFFFF"/>
                </a:solidFill>
                <a:latin typeface="Liter" pitchFamily="34" charset="0"/>
                <a:ea typeface="Liter" pitchFamily="34" charset="-122"/>
                <a:cs typeface="Liter" pitchFamily="34" charset="-120"/>
              </a:rPr>
              <a:t>Ready to Build Your Solar System</a:t>
            </a:r>
            <a:endParaRPr lang="en-US" sz="4000" dirty="0"/>
          </a:p>
        </p:txBody>
      </p:sp>
      <p:sp>
        <p:nvSpPr>
          <p:cNvPr id="7" name="Text 4"/>
          <p:cNvSpPr/>
          <p:nvPr/>
        </p:nvSpPr>
        <p:spPr>
          <a:xfrm>
            <a:off x="3048000" y="4191000"/>
            <a:ext cx="10160000" cy="889000"/>
          </a:xfrm>
          <a:prstGeom prst="rect">
            <a:avLst/>
          </a:prstGeom>
          <a:noFill/>
          <a:ln/>
        </p:spPr>
        <p:txBody>
          <a:bodyPr wrap="square" lIns="0" tIns="0" rIns="0" bIns="0" rtlCol="0" anchor="ctr"/>
          <a:lstStyle/>
          <a:p>
            <a:pPr algn="ctr">
              <a:lnSpc>
                <a:spcPct val="150000"/>
              </a:lnSpc>
            </a:pPr>
            <a:r>
              <a:rPr lang="en-US" sz="2000" dirty="0">
                <a:solidFill>
                  <a:srgbClr val="A0A5AD"/>
                </a:solidFill>
                <a:latin typeface="QuattrocentoSans" pitchFamily="34" charset="0"/>
                <a:ea typeface="QuattrocentoSans" pitchFamily="34" charset="-122"/>
                <a:cs typeface="QuattrocentoSans" pitchFamily="34" charset="-120"/>
              </a:rPr>
              <a:t>You now have Unity installed and understand the Editor.</a:t>
            </a:r>
            <a:endParaRPr lang="en-US" sz="2000" dirty="0"/>
          </a:p>
          <a:p>
            <a:pPr algn="ctr">
              <a:lnSpc>
                <a:spcPct val="150000"/>
              </a:lnSpc>
            </a:pPr>
            <a:r>
              <a:rPr lang="en-US" sz="2000" dirty="0">
                <a:solidFill>
                  <a:srgbClr val="A0A5AD"/>
                </a:solidFill>
                <a:latin typeface="QuattrocentoSans" pitchFamily="34" charset="0"/>
                <a:ea typeface="QuattrocentoSans" pitchFamily="34" charset="-122"/>
                <a:cs typeface="QuattrocentoSans" pitchFamily="34" charset="-120"/>
              </a:rPr>
              <a:t>Next week: building planets, orbits, and C# scripting.</a:t>
            </a:r>
            <a:endParaRPr lang="en-US" sz="2000" dirty="0"/>
          </a:p>
        </p:txBody>
      </p:sp>
      <p:sp>
        <p:nvSpPr>
          <p:cNvPr id="8" name="Shape 5"/>
          <p:cNvSpPr/>
          <p:nvPr/>
        </p:nvSpPr>
        <p:spPr>
          <a:xfrm>
            <a:off x="6858000" y="5334000"/>
            <a:ext cx="2540000" cy="38100"/>
          </a:xfrm>
          <a:prstGeom prst="rect">
            <a:avLst/>
          </a:prstGeom>
          <a:solidFill>
            <a:srgbClr val="FF6B35"/>
          </a:solidFill>
          <a:ln/>
        </p:spPr>
      </p:sp>
      <p:sp>
        <p:nvSpPr>
          <p:cNvPr id="9" name="Text 6"/>
          <p:cNvSpPr/>
          <p:nvPr/>
        </p:nvSpPr>
        <p:spPr>
          <a:xfrm>
            <a:off x="4318000" y="5715000"/>
            <a:ext cx="7620000" cy="1016000"/>
          </a:xfrm>
          <a:prstGeom prst="rect">
            <a:avLst/>
          </a:prstGeom>
          <a:noFill/>
          <a:ln/>
        </p:spPr>
        <p:txBody>
          <a:bodyPr wrap="square" lIns="0" tIns="0" rIns="0" bIns="0" rtlCol="0" anchor="ctr"/>
          <a:lstStyle/>
          <a:p>
            <a:pPr algn="ctr">
              <a:lnSpc>
                <a:spcPct val="160000"/>
              </a:lnSpc>
            </a:pPr>
            <a:r>
              <a:rPr lang="en-US" sz="1600" dirty="0">
                <a:solidFill>
                  <a:srgbClr val="A0A5AD"/>
                </a:solidFill>
                <a:latin typeface="Quattrocento Sans" pitchFamily="34" charset="0"/>
                <a:ea typeface="Quattrocento Sans" pitchFamily="34" charset="-122"/>
                <a:cs typeface="Quattrocento Sans" pitchFamily="34" charset="-120"/>
              </a:rPr>
              <a:t>Week 3 Preview: 3D GameObjects, Materials &amp; Lighting</a:t>
            </a:r>
            <a:endParaRPr lang="en-US" sz="1600" dirty="0"/>
          </a:p>
          <a:p>
            <a:pPr algn="ctr">
              <a:lnSpc>
                <a:spcPct val="160000"/>
              </a:lnSpc>
            </a:pPr>
            <a:r>
              <a:rPr lang="en-US" sz="1600" dirty="0">
                <a:solidFill>
                  <a:srgbClr val="A0A5AD"/>
                </a:solidFill>
                <a:latin typeface="Quattrocento Sans" pitchFamily="34" charset="0"/>
                <a:ea typeface="Quattrocento Sans" pitchFamily="34" charset="-122"/>
                <a:cs typeface="Quattrocento Sans" pitchFamily="34" charset="-120"/>
              </a:rPr>
              <a:t>Keep exploring and see you next class!</a:t>
            </a:r>
            <a:endParaRPr lang="en-US" sz="1600" dirty="0"/>
          </a:p>
        </p:txBody>
      </p:sp>
      <p:pic>
        <p:nvPicPr>
          <p:cNvPr id="10" name="Image 1" descr="https://kimi-img.moonshot.cn/pub/slides/okc/3rhuirp567422/mnt/agents/output/game-programming-week2/images/1_Unity_game_engine_Other_Logopedia.png">    </p:cNvPr>
          <p:cNvPicPr>
            <a:picLocks noChangeAspect="1"/>
          </p:cNvPicPr>
          <p:nvPr/>
        </p:nvPicPr>
        <p:blipFill>
          <a:blip r:embed="rId2"/>
          <a:srcRect l="-199" r="-199" t="0" b="0"/>
          <a:stretch/>
        </p:blipFill>
        <p:spPr>
          <a:xfrm>
            <a:off x="7493000" y="7112000"/>
            <a:ext cx="1270000" cy="1270000"/>
          </a:xfrm>
          <a:prstGeom prst="rect">
            <a:avLst/>
          </a:prstGeom>
        </p:spPr>
      </p:pic>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Programming - Week 2</dc:title>
  <dc:subject>Game Programming - Week 2</dc:subject>
  <dc:creator>Kimi</dc:creator>
  <cp:lastModifiedBy>Kimi</cp:lastModifiedBy>
  <cp:revision>1</cp:revision>
  <dcterms:created xsi:type="dcterms:W3CDTF">2026-05-24T16:23:04Z</dcterms:created>
  <dcterms:modified xsi:type="dcterms:W3CDTF">2026-05-24T16:23:04Z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{"Label":"Game Programming - Week 2","ContentProducer":"001191110108MACG2KBH8F10000","ProduceID":"19e5ac28-3c02-8f4c-8000-0000fbb58d86","ReservedCode1":"","ContentPropagator":"001191110108MACG2KBH8F20000","PropagateID":"19e5ac28-3c02-8f4c-8000-0000fbb58d86","ReservedCode2":""}</vt:lpwstr>
  </property>
</Properties>
</file>