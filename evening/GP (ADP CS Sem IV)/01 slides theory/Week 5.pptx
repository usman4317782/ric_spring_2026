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  <p:embeddedFontLst>
    <p:embeddedFont>
      <p:font typeface="Liter" charset="-122" pitchFamily="34"/>
      <p:regular r:id="rId33"/>
    </p:embeddedFont>
    <p:embeddedFont>
      <p:font typeface="Quattrocento Sans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6uomrwob6ige/mnt/agents/output/game-programming-week5/images/3_Unity_6_pulled_in_China_and_repla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332">
                  <a:alpha val="90000"/>
                </a:srgbClr>
              </a:gs>
              <a:gs pos="50000">
                <a:srgbClr val="1A2332">
                  <a:alpha val="80000"/>
                </a:srgbClr>
              </a:gs>
              <a:gs pos="100000">
                <a:srgbClr val="1A2332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COURSE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746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413000" y="4699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 Setup: Input, Visual, Control,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&amp; Combat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969000"/>
            <a:ext cx="2540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223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9 &amp; 10 | Unity New Input System &amp; Player Combat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184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Input System &amp; Player Setup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78000" y="2641600"/>
            <a:ext cx="6350000" cy="12700"/>
          </a:xfrm>
          <a:prstGeom prst="rect">
            <a:avLst/>
          </a:prstGeom>
          <a:solidFill>
            <a:srgbClr val="5A6B7D">
              <a:alpha val="37647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7940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Why the New Input System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Installing &amp; Configuring the Input System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Input Actions, Maps &amp; Bindings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Creating Input Action Assets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Wiring Input to Code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Player Visual, Movement &amp; Jump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Health, Damage &amp; UI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334000"/>
            <a:ext cx="14732000" cy="12700"/>
          </a:xfrm>
          <a:prstGeom prst="rect">
            <a:avLst/>
          </a:prstGeom>
          <a:solidFill>
            <a:srgbClr val="5A6B7D">
              <a:alpha val="2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571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5740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Combat &amp; Fighting System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78000" y="6197600"/>
            <a:ext cx="6350000" cy="12700"/>
          </a:xfrm>
          <a:prstGeom prst="rect">
            <a:avLst/>
          </a:prstGeom>
          <a:solidFill>
            <a:srgbClr val="5A6B7D">
              <a:alpha val="37647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63500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Combat System Overview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Attack Animation &amp; Hitbox Setup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Melee Attack &amp; Combo System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Ranged Projectile Attacks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Combat State Machine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Knockback &amp; Hit Effects</a:t>
            </a:r>
            <a:endParaRPr lang="en-US" sz="1600" dirty="0"/>
          </a:p>
        </p:txBody>
      </p:sp>
      <p:pic>
        <p:nvPicPr>
          <p:cNvPr id="14" name="Image 0" descr="https://kimi-img.moonshot.cn/pub/slides/okc/q6uomrwob6ige/mnt/agents/output/game-programming-week5/images/5_Game_Console_Setup_Controller_Stock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22741" r="22741" t="0" b="0"/>
          <a:stretch/>
        </p:blipFill>
        <p:spPr>
          <a:xfrm>
            <a:off x="9144000" y="1778000"/>
            <a:ext cx="6350000" cy="6350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860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Input System &amp; Player Setup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up the core player systems — from input handling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visual, movement, health, and damage</a:t>
            </a:r>
            <a:endParaRPr lang="en-US" sz="1600" dirty="0"/>
          </a:p>
        </p:txBody>
      </p:sp>
      <p:pic>
        <p:nvPicPr>
          <p:cNvPr id="6" name="Image 0" descr="https://kimi-img.moonshot.cn/pub/slides/okc/q6uomrwob6ige/mnt/agents/output/game-programming-week5/images/1_18_929_Control_Game_Keyboard_Royalty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24573" r="24573" t="0" b="0"/>
          <a:stretch/>
        </p:blipFill>
        <p:spPr>
          <a:xfrm>
            <a:off x="11176000" y="1524000"/>
            <a:ext cx="4318000" cy="6096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New Input System?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 INPUT MANAGER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034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19304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Polling-based: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Input.GetKey()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Input.GetAxis()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Rigid and hard to rebind at runtime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Single device focus, no local multiplayer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logic mixed with game code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built-in deadzone or sensitivity control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INPUT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803400"/>
            <a:ext cx="7366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82000" y="19304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Event-driven architecture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devices: keyboard, gamepad, touch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Runtime control rebinding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Built-in local multiplayer support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Deadzones, sensitivity, processors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 separation of input and game logic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69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84225" y="5283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232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Action-based architecture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separate what the player does from how they do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7550" y="61722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6121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Multi-device support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keyboard, mouse, gamepad, touch all in one system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7550" y="70612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0" y="7010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multiplayer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multiple players with different controllers, natively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528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5232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processing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deadzones, sensitivity scaling, inversion built-in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59775" y="6172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6121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Cleaner code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input handling decoupled from game logic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Installing &amp; Configuring the Input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22400"/>
            <a:ext cx="406400" cy="4064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22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0800" y="14224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Window &gt; Package Manager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switch to Unity Registry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006600"/>
            <a:ext cx="406400" cy="4064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00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800" y="2006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"Input System"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package and click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Install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590800"/>
            <a:ext cx="406400" cy="4064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590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0800" y="25908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prompts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restart the editor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click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175000"/>
            <a:ext cx="406400" cy="4064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175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0800" y="31750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Edit &gt; Project Settings &gt; Player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&gt; Active Input Handling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3759200"/>
            <a:ext cx="406400" cy="4064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759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0800" y="37592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Actions Asset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right-click &gt; Create &gt; Input Actions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4572000"/>
            <a:ext cx="7366000" cy="1841500"/>
          </a:xfrm>
          <a:prstGeom prst="roundRect">
            <a:avLst>
              <a:gd name="adj" fmla="val 6000"/>
            </a:avLst>
          </a:prstGeom>
          <a:solidFill>
            <a:srgbClr val="E8EC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69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0165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Unity Editor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2019.1+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.NET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4.x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runtime (Project Settings &gt; Player &gt; Other Settings)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Game controller driver installed (for gamepad testing)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477000"/>
            <a:ext cx="7366000" cy="1016000"/>
          </a:xfrm>
          <a:prstGeom prst="roundRect">
            <a:avLst>
              <a:gd name="adj" fmla="val 6000"/>
            </a:avLst>
          </a:prstGeom>
          <a:solidFill>
            <a:srgbClr val="E8603A">
              <a:alpha val="823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4100" y="673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" y="6604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Active Input Handling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"Both"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keep old Input Manager working during migration.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36000" y="1422400"/>
            <a:ext cx="6858000" cy="622300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0" y="154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SETTINGS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0" y="1981200"/>
            <a:ext cx="6350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After install, create settings: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 &gt; Project Settings 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 Package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Click "Create settings asset"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Saved as: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InputSystem.inputsettings.asset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Key settings: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Mode: Dynamic Update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Compensate Direction: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Enabled (for stick input)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Verify device connection: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 &gt; Analysis 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Debugger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Actions, Action Maps &amp; Bindings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57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1400" y="1600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1549400" y="16002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Describes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player does.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Jump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Attack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Move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Interact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88000" y="1397000"/>
            <a:ext cx="457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16600" y="1600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406400" y="355600"/>
                </a:lnTo>
                <a:cubicBezTo>
                  <a:pt x="434419" y="355600"/>
                  <a:pt x="457200" y="332819"/>
                  <a:pt x="457200" y="304800"/>
                </a:cubicBezTo>
                <a:lnTo>
                  <a:pt x="457200" y="101600"/>
                </a:lnTo>
                <a:cubicBezTo>
                  <a:pt x="457200" y="73581"/>
                  <a:pt x="434419" y="50800"/>
                  <a:pt x="406400" y="50800"/>
                </a:cubicBezTo>
                <a:lnTo>
                  <a:pt x="50800" y="50800"/>
                </a:lnTo>
                <a:close/>
                <a:moveTo>
                  <a:pt x="63500" y="101600"/>
                </a:moveTo>
                <a:lnTo>
                  <a:pt x="88900" y="101600"/>
                </a:lnTo>
                <a:cubicBezTo>
                  <a:pt x="95885" y="101600"/>
                  <a:pt x="101600" y="107315"/>
                  <a:pt x="101600" y="114300"/>
                </a:cubicBezTo>
                <a:lnTo>
                  <a:pt x="101600" y="139700"/>
                </a:lnTo>
                <a:cubicBezTo>
                  <a:pt x="101600" y="14668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46685"/>
                  <a:pt x="50800" y="139700"/>
                </a:cubicBezTo>
                <a:lnTo>
                  <a:pt x="50800" y="114300"/>
                </a:lnTo>
                <a:cubicBezTo>
                  <a:pt x="50800" y="107315"/>
                  <a:pt x="56515" y="101600"/>
                  <a:pt x="63500" y="101600"/>
                </a:cubicBezTo>
                <a:close/>
                <a:moveTo>
                  <a:pt x="50800" y="190500"/>
                </a:moveTo>
                <a:cubicBezTo>
                  <a:pt x="50800" y="183515"/>
                  <a:pt x="56515" y="177800"/>
                  <a:pt x="63500" y="177800"/>
                </a:cubicBezTo>
                <a:lnTo>
                  <a:pt x="88900" y="177800"/>
                </a:lnTo>
                <a:cubicBezTo>
                  <a:pt x="95885" y="177800"/>
                  <a:pt x="101600" y="183515"/>
                  <a:pt x="101600" y="190500"/>
                </a:cubicBezTo>
                <a:lnTo>
                  <a:pt x="101600" y="215900"/>
                </a:lnTo>
                <a:cubicBezTo>
                  <a:pt x="101600" y="222885"/>
                  <a:pt x="95885" y="228600"/>
                  <a:pt x="88900" y="228600"/>
                </a:cubicBezTo>
                <a:lnTo>
                  <a:pt x="63500" y="228600"/>
                </a:lnTo>
                <a:cubicBezTo>
                  <a:pt x="56515" y="228600"/>
                  <a:pt x="50800" y="222885"/>
                  <a:pt x="50800" y="215900"/>
                </a:cubicBezTo>
                <a:lnTo>
                  <a:pt x="50800" y="190500"/>
                </a:lnTo>
                <a:close/>
                <a:moveTo>
                  <a:pt x="139700" y="101600"/>
                </a:moveTo>
                <a:lnTo>
                  <a:pt x="165100" y="101600"/>
                </a:lnTo>
                <a:cubicBezTo>
                  <a:pt x="172085" y="101600"/>
                  <a:pt x="177800" y="107315"/>
                  <a:pt x="177800" y="114300"/>
                </a:cubicBezTo>
                <a:lnTo>
                  <a:pt x="177800" y="139700"/>
                </a:lnTo>
                <a:cubicBezTo>
                  <a:pt x="177800" y="146685"/>
                  <a:pt x="172085" y="152400"/>
                  <a:pt x="165100" y="152400"/>
                </a:cubicBezTo>
                <a:lnTo>
                  <a:pt x="139700" y="152400"/>
                </a:lnTo>
                <a:cubicBezTo>
                  <a:pt x="132715" y="152400"/>
                  <a:pt x="127000" y="146685"/>
                  <a:pt x="127000" y="139700"/>
                </a:cubicBezTo>
                <a:lnTo>
                  <a:pt x="127000" y="114300"/>
                </a:lnTo>
                <a:cubicBezTo>
                  <a:pt x="127000" y="107315"/>
                  <a:pt x="132715" y="101600"/>
                  <a:pt x="139700" y="101600"/>
                </a:cubicBezTo>
                <a:close/>
                <a:moveTo>
                  <a:pt x="127000" y="190500"/>
                </a:moveTo>
                <a:cubicBezTo>
                  <a:pt x="127000" y="183515"/>
                  <a:pt x="132715" y="177800"/>
                  <a:pt x="139700" y="177800"/>
                </a:cubicBezTo>
                <a:lnTo>
                  <a:pt x="165100" y="177800"/>
                </a:lnTo>
                <a:cubicBezTo>
                  <a:pt x="172085" y="177800"/>
                  <a:pt x="177800" y="183515"/>
                  <a:pt x="177800" y="190500"/>
                </a:cubicBezTo>
                <a:lnTo>
                  <a:pt x="177800" y="215900"/>
                </a:lnTo>
                <a:cubicBezTo>
                  <a:pt x="177800" y="222885"/>
                  <a:pt x="172085" y="228600"/>
                  <a:pt x="165100" y="228600"/>
                </a:cubicBezTo>
                <a:lnTo>
                  <a:pt x="139700" y="228600"/>
                </a:lnTo>
                <a:cubicBezTo>
                  <a:pt x="132715" y="228600"/>
                  <a:pt x="127000" y="222885"/>
                  <a:pt x="127000" y="215900"/>
                </a:cubicBezTo>
                <a:lnTo>
                  <a:pt x="127000" y="190500"/>
                </a:lnTo>
                <a:close/>
                <a:moveTo>
                  <a:pt x="139700" y="254000"/>
                </a:moveTo>
                <a:lnTo>
                  <a:pt x="317500" y="254000"/>
                </a:lnTo>
                <a:cubicBezTo>
                  <a:pt x="324485" y="254000"/>
                  <a:pt x="330200" y="259715"/>
                  <a:pt x="330200" y="266700"/>
                </a:cubicBezTo>
                <a:lnTo>
                  <a:pt x="330200" y="292100"/>
                </a:lnTo>
                <a:cubicBezTo>
                  <a:pt x="330200" y="299085"/>
                  <a:pt x="324485" y="304800"/>
                  <a:pt x="317500" y="304800"/>
                </a:cubicBezTo>
                <a:lnTo>
                  <a:pt x="139700" y="304800"/>
                </a:lnTo>
                <a:cubicBezTo>
                  <a:pt x="132715" y="304800"/>
                  <a:pt x="127000" y="299085"/>
                  <a:pt x="127000" y="292100"/>
                </a:cubicBezTo>
                <a:lnTo>
                  <a:pt x="127000" y="266700"/>
                </a:lnTo>
                <a:cubicBezTo>
                  <a:pt x="127000" y="259715"/>
                  <a:pt x="132715" y="254000"/>
                  <a:pt x="139700" y="254000"/>
                </a:cubicBezTo>
                <a:close/>
                <a:moveTo>
                  <a:pt x="203200" y="114300"/>
                </a:moveTo>
                <a:cubicBezTo>
                  <a:pt x="203200" y="107315"/>
                  <a:pt x="208915" y="101600"/>
                  <a:pt x="215900" y="101600"/>
                </a:cubicBezTo>
                <a:lnTo>
                  <a:pt x="241300" y="101600"/>
                </a:lnTo>
                <a:cubicBezTo>
                  <a:pt x="248285" y="101600"/>
                  <a:pt x="254000" y="107315"/>
                  <a:pt x="254000" y="114300"/>
                </a:cubicBezTo>
                <a:lnTo>
                  <a:pt x="254000" y="139700"/>
                </a:lnTo>
                <a:cubicBezTo>
                  <a:pt x="254000" y="146685"/>
                  <a:pt x="248285" y="152400"/>
                  <a:pt x="241300" y="152400"/>
                </a:cubicBezTo>
                <a:lnTo>
                  <a:pt x="215900" y="152400"/>
                </a:lnTo>
                <a:cubicBezTo>
                  <a:pt x="208915" y="152400"/>
                  <a:pt x="203200" y="146685"/>
                  <a:pt x="203200" y="139700"/>
                </a:cubicBezTo>
                <a:lnTo>
                  <a:pt x="203200" y="114300"/>
                </a:lnTo>
                <a:close/>
                <a:moveTo>
                  <a:pt x="215900" y="177800"/>
                </a:moveTo>
                <a:lnTo>
                  <a:pt x="241300" y="177800"/>
                </a:lnTo>
                <a:cubicBezTo>
                  <a:pt x="248285" y="177800"/>
                  <a:pt x="254000" y="183515"/>
                  <a:pt x="254000" y="190500"/>
                </a:cubicBezTo>
                <a:lnTo>
                  <a:pt x="254000" y="215900"/>
                </a:lnTo>
                <a:cubicBezTo>
                  <a:pt x="254000" y="222885"/>
                  <a:pt x="248285" y="228600"/>
                  <a:pt x="241300" y="228600"/>
                </a:cubicBezTo>
                <a:lnTo>
                  <a:pt x="215900" y="228600"/>
                </a:lnTo>
                <a:cubicBezTo>
                  <a:pt x="208915" y="228600"/>
                  <a:pt x="203200" y="222885"/>
                  <a:pt x="203200" y="215900"/>
                </a:cubicBezTo>
                <a:lnTo>
                  <a:pt x="203200" y="190500"/>
                </a:lnTo>
                <a:cubicBezTo>
                  <a:pt x="203200" y="183515"/>
                  <a:pt x="208915" y="177800"/>
                  <a:pt x="215900" y="177800"/>
                </a:cubicBezTo>
                <a:close/>
                <a:moveTo>
                  <a:pt x="279400" y="114300"/>
                </a:moveTo>
                <a:cubicBezTo>
                  <a:pt x="279400" y="107315"/>
                  <a:pt x="285115" y="101600"/>
                  <a:pt x="292100" y="101600"/>
                </a:cubicBezTo>
                <a:lnTo>
                  <a:pt x="317500" y="101600"/>
                </a:lnTo>
                <a:cubicBezTo>
                  <a:pt x="324485" y="101600"/>
                  <a:pt x="330200" y="107315"/>
                  <a:pt x="330200" y="114300"/>
                </a:cubicBezTo>
                <a:lnTo>
                  <a:pt x="330200" y="139700"/>
                </a:lnTo>
                <a:cubicBezTo>
                  <a:pt x="330200" y="146685"/>
                  <a:pt x="324485" y="152400"/>
                  <a:pt x="317500" y="152400"/>
                </a:cubicBezTo>
                <a:lnTo>
                  <a:pt x="292100" y="152400"/>
                </a:lnTo>
                <a:cubicBezTo>
                  <a:pt x="285115" y="152400"/>
                  <a:pt x="279400" y="146685"/>
                  <a:pt x="279400" y="139700"/>
                </a:cubicBezTo>
                <a:lnTo>
                  <a:pt x="279400" y="114300"/>
                </a:lnTo>
                <a:close/>
                <a:moveTo>
                  <a:pt x="292100" y="177800"/>
                </a:moveTo>
                <a:lnTo>
                  <a:pt x="317500" y="177800"/>
                </a:lnTo>
                <a:cubicBezTo>
                  <a:pt x="324485" y="177800"/>
                  <a:pt x="330200" y="183515"/>
                  <a:pt x="330200" y="190500"/>
                </a:cubicBezTo>
                <a:lnTo>
                  <a:pt x="330200" y="215900"/>
                </a:lnTo>
                <a:cubicBezTo>
                  <a:pt x="330200" y="222885"/>
                  <a:pt x="324485" y="228600"/>
                  <a:pt x="317500" y="228600"/>
                </a:cubicBezTo>
                <a:lnTo>
                  <a:pt x="292100" y="228600"/>
                </a:lnTo>
                <a:cubicBezTo>
                  <a:pt x="285115" y="228600"/>
                  <a:pt x="279400" y="222885"/>
                  <a:pt x="279400" y="215900"/>
                </a:cubicBezTo>
                <a:lnTo>
                  <a:pt x="279400" y="190500"/>
                </a:lnTo>
                <a:cubicBezTo>
                  <a:pt x="279400" y="183515"/>
                  <a:pt x="285115" y="177800"/>
                  <a:pt x="292100" y="177800"/>
                </a:cubicBezTo>
                <a:close/>
                <a:moveTo>
                  <a:pt x="355600" y="114300"/>
                </a:moveTo>
                <a:cubicBezTo>
                  <a:pt x="355600" y="107315"/>
                  <a:pt x="361315" y="101600"/>
                  <a:pt x="368300" y="101600"/>
                </a:cubicBezTo>
                <a:lnTo>
                  <a:pt x="393700" y="101600"/>
                </a:lnTo>
                <a:cubicBezTo>
                  <a:pt x="400685" y="101600"/>
                  <a:pt x="406400" y="107315"/>
                  <a:pt x="406400" y="114300"/>
                </a:cubicBezTo>
                <a:lnTo>
                  <a:pt x="406400" y="139700"/>
                </a:lnTo>
                <a:cubicBezTo>
                  <a:pt x="406400" y="14668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46685"/>
                  <a:pt x="355600" y="139700"/>
                </a:cubicBezTo>
                <a:lnTo>
                  <a:pt x="355600" y="114300"/>
                </a:lnTo>
                <a:close/>
                <a:moveTo>
                  <a:pt x="368300" y="177800"/>
                </a:moveTo>
                <a:lnTo>
                  <a:pt x="393700" y="177800"/>
                </a:lnTo>
                <a:cubicBezTo>
                  <a:pt x="400685" y="177800"/>
                  <a:pt x="406400" y="183515"/>
                  <a:pt x="406400" y="190500"/>
                </a:cubicBezTo>
                <a:lnTo>
                  <a:pt x="406400" y="215900"/>
                </a:lnTo>
                <a:cubicBezTo>
                  <a:pt x="406400" y="222885"/>
                  <a:pt x="400685" y="228600"/>
                  <a:pt x="393700" y="228600"/>
                </a:cubicBezTo>
                <a:lnTo>
                  <a:pt x="368300" y="228600"/>
                </a:lnTo>
                <a:cubicBezTo>
                  <a:pt x="361315" y="228600"/>
                  <a:pt x="355600" y="222885"/>
                  <a:pt x="355600" y="215900"/>
                </a:cubicBezTo>
                <a:lnTo>
                  <a:pt x="355600" y="190500"/>
                </a:lnTo>
                <a:cubicBezTo>
                  <a:pt x="355600" y="183515"/>
                  <a:pt x="361315" y="177800"/>
                  <a:pt x="368300" y="177800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375400" y="16002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2000" y="2159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triggers the action.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Space key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Left Stick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Left Mouse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Gamepad South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14000" y="1397000"/>
            <a:ext cx="50800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68000" y="160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38100"/>
                </a:moveTo>
                <a:cubicBezTo>
                  <a:pt x="406400" y="29289"/>
                  <a:pt x="401876" y="21114"/>
                  <a:pt x="394335" y="16510"/>
                </a:cubicBezTo>
                <a:cubicBezTo>
                  <a:pt x="386794" y="11906"/>
                  <a:pt x="377508" y="11430"/>
                  <a:pt x="369649" y="15399"/>
                </a:cubicBezTo>
                <a:lnTo>
                  <a:pt x="277416" y="61516"/>
                </a:lnTo>
                <a:lnTo>
                  <a:pt x="135017" y="13970"/>
                </a:lnTo>
                <a:cubicBezTo>
                  <a:pt x="128588" y="11827"/>
                  <a:pt x="121682" y="12303"/>
                  <a:pt x="115649" y="15319"/>
                </a:cubicBezTo>
                <a:lnTo>
                  <a:pt x="14049" y="66119"/>
                </a:lnTo>
                <a:cubicBezTo>
                  <a:pt x="5398" y="70485"/>
                  <a:pt x="0" y="79296"/>
                  <a:pt x="0" y="88900"/>
                </a:cubicBezTo>
                <a:lnTo>
                  <a:pt x="0" y="368300"/>
                </a:lnTo>
                <a:cubicBezTo>
                  <a:pt x="0" y="377111"/>
                  <a:pt x="4524" y="385286"/>
                  <a:pt x="12065" y="389890"/>
                </a:cubicBezTo>
                <a:cubicBezTo>
                  <a:pt x="19606" y="394494"/>
                  <a:pt x="28893" y="394970"/>
                  <a:pt x="36751" y="391001"/>
                </a:cubicBezTo>
                <a:lnTo>
                  <a:pt x="128905" y="344884"/>
                </a:lnTo>
                <a:lnTo>
                  <a:pt x="271304" y="392351"/>
                </a:lnTo>
                <a:cubicBezTo>
                  <a:pt x="277733" y="394494"/>
                  <a:pt x="284639" y="394017"/>
                  <a:pt x="290671" y="391001"/>
                </a:cubicBezTo>
                <a:lnTo>
                  <a:pt x="392271" y="340201"/>
                </a:lnTo>
                <a:cubicBezTo>
                  <a:pt x="400844" y="335915"/>
                  <a:pt x="406321" y="327104"/>
                  <a:pt x="406321" y="317500"/>
                </a:cubicBezTo>
                <a:lnTo>
                  <a:pt x="406321" y="38100"/>
                </a:lnTo>
                <a:close/>
                <a:moveTo>
                  <a:pt x="152400" y="299164"/>
                </a:moveTo>
                <a:lnTo>
                  <a:pt x="152400" y="73342"/>
                </a:lnTo>
                <a:lnTo>
                  <a:pt x="254000" y="107236"/>
                </a:lnTo>
                <a:lnTo>
                  <a:pt x="254000" y="333058"/>
                </a:lnTo>
                <a:lnTo>
                  <a:pt x="152400" y="299164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1400" y="16002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2159000"/>
            <a:ext cx="457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Groups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actions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together.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"Gameplay" map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"UI" map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"Menu" map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Switch contexts by enabling/disabling maps.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 Flow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70000" y="55880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558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6000" y="58674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318000" y="55880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21" name="Text 19"/>
          <p:cNvSpPr/>
          <p:nvPr/>
        </p:nvSpPr>
        <p:spPr>
          <a:xfrm>
            <a:off x="4318000" y="558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04000" y="58674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366000" y="55880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24" name="Text 22"/>
          <p:cNvSpPr/>
          <p:nvPr/>
        </p:nvSpPr>
        <p:spPr>
          <a:xfrm>
            <a:off x="7366000" y="558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Binding(s)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52000" y="58674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414000" y="55880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27" name="Text 25"/>
          <p:cNvSpPr/>
          <p:nvPr/>
        </p:nvSpPr>
        <p:spPr>
          <a:xfrm>
            <a:off x="10414000" y="5588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Device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Action can have multiple Bindings (e.g., Jump = Space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Gamepad South Button). Action Maps let you switch contexts — disable "Gameplay" and enable "UI" when opening a menu. Bindings support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WASD as 2D Vector)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Modifiers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(Hold, Press, Tap).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Your First Input Action Asset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Double-click the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.inputactions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file to open the editor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1209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an Action Map named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"Gameplay"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5273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Actions with correct types: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09900"/>
          <a:ext cx="7366000" cy="2159000"/>
        </p:xfrm>
        <a:graphic>
          <a:graphicData uri="http://schemas.openxmlformats.org/drawingml/2006/table">
            <a:tbl>
              <a:tblPr/>
              <a:tblGrid>
                <a:gridCol w="2062480"/>
                <a:gridCol w="2062480"/>
                <a:gridCol w="3241040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Vector2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Attack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3340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Configure Bindings for each action: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5816600"/>
            <a:ext cx="7366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16000" y="5943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 2D Vector: Up=W, Down=S, Left=A, Right=D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 Left Stick (Gamepad)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Jump: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Space key + Gamepad buttonSouth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Attack: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Left Mouse + Gamepad buttonWest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"Generate C# Class" in the Inspector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36000" y="1333500"/>
            <a:ext cx="6858000" cy="711200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/>
        </p:spPr>
      </p:sp>
      <p:sp>
        <p:nvSpPr>
          <p:cNvPr id="13" name="Text 10"/>
          <p:cNvSpPr/>
          <p:nvPr/>
        </p:nvSpPr>
        <p:spPr>
          <a:xfrm>
            <a:off x="8890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CLASS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90000" y="1841500"/>
            <a:ext cx="6350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Auto-generated from .inputactions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Enable "Generate C# Class"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GameplayInput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InputAction Move;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InputAction Jump;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InputAction Attack;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in your script: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actions.Gameplay.Move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actions.Gameplay.Jump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pattern: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 actions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GameplayInput();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actions.Gameplay.Enable();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Read value: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Vector2 move = actions.Gameplay.Move.ReadValue&lt;Vector2&gt;();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Wiring Input to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1: PLAYERINPUT COMPONENT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399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1866900"/>
            <a:ext cx="66040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PlayerInput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component to player GameObject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Assign the Input Action Asset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Behavior to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"Send Messages"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"Invoke Unity Events"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4: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Implement callback methods: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OnMove(InputValue value)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OnJump()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OnAttack()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Beginner-friendly, minimal code required.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501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2: MANUAL SCRIPTING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397500"/>
            <a:ext cx="7112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16000" y="54229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1: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Instantiate the generated input class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2: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Call 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.Enable()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Start()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Step 3: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Subscribe to action events: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actions.Gameplay.Move.performed += OnMove;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actions.Gameplay.Jump.performed += OnJump;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control, better for complex projects.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1333500"/>
            <a:ext cx="7112000" cy="666750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1460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 — MANUAL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1841500"/>
            <a:ext cx="6604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PlayerController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GameplayInput actions;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Vector2 moveInput;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Awake()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 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GameplayInput();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OnEnable()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actions.Gameplay.Enable();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actions.Gameplay.Move.performed +=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ctx =&gt; moveInput = ctx.ReadValue&lt;Vector2&gt;();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actions.Gameplay.Move.canceled +=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ctx =&gt; moveInput = Vector2.zero;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OnDisable()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actions.Gameplay.Disable();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128000"/>
            <a:ext cx="7112000" cy="444500"/>
          </a:xfrm>
          <a:prstGeom prst="roundRect">
            <a:avLst>
              <a:gd name="adj" fmla="val 6000"/>
            </a:avLst>
          </a:prstGeom>
          <a:solidFill>
            <a:srgbClr val="E8603A">
              <a:alpha val="8235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8128000"/>
            <a:ext cx="660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6.1+: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 names must match action names (Move, Jump — not OnMove)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Visual Setup — Sprites &amp; Animation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1400" y="1600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101600" y="88900"/>
                </a:moveTo>
                <a:cubicBezTo>
                  <a:pt x="122628" y="88900"/>
                  <a:pt x="139700" y="105972"/>
                  <a:pt x="139700" y="127000"/>
                </a:cubicBezTo>
                <a:cubicBezTo>
                  <a:pt x="139700" y="148028"/>
                  <a:pt x="122628" y="165100"/>
                  <a:pt x="101600" y="165100"/>
                </a:cubicBezTo>
                <a:cubicBezTo>
                  <a:pt x="80572" y="165100"/>
                  <a:pt x="63500" y="148028"/>
                  <a:pt x="63500" y="127000"/>
                </a:cubicBezTo>
                <a:cubicBezTo>
                  <a:pt x="63500" y="105972"/>
                  <a:pt x="80572" y="88900"/>
                  <a:pt x="101600" y="88900"/>
                </a:cubicBezTo>
                <a:close/>
                <a:moveTo>
                  <a:pt x="215900" y="177800"/>
                </a:moveTo>
                <a:cubicBezTo>
                  <a:pt x="222567" y="177800"/>
                  <a:pt x="228679" y="181293"/>
                  <a:pt x="232172" y="186928"/>
                </a:cubicBezTo>
                <a:lnTo>
                  <a:pt x="302022" y="301228"/>
                </a:lnTo>
                <a:cubicBezTo>
                  <a:pt x="305594" y="307102"/>
                  <a:pt x="305753" y="314484"/>
                  <a:pt x="302419" y="320516"/>
                </a:cubicBezTo>
                <a:cubicBezTo>
                  <a:pt x="299085" y="326549"/>
                  <a:pt x="292656" y="330200"/>
                  <a:pt x="285750" y="330200"/>
                </a:cubicBezTo>
                <a:lnTo>
                  <a:pt x="69850" y="330200"/>
                </a:lnTo>
                <a:cubicBezTo>
                  <a:pt x="62786" y="330200"/>
                  <a:pt x="56198" y="326231"/>
                  <a:pt x="52943" y="319961"/>
                </a:cubicBezTo>
                <a:cubicBezTo>
                  <a:pt x="49689" y="313690"/>
                  <a:pt x="50165" y="306070"/>
                  <a:pt x="54213" y="300276"/>
                </a:cubicBezTo>
                <a:lnTo>
                  <a:pt x="98663" y="236776"/>
                </a:lnTo>
                <a:cubicBezTo>
                  <a:pt x="102235" y="231696"/>
                  <a:pt x="108029" y="228679"/>
                  <a:pt x="114300" y="228679"/>
                </a:cubicBezTo>
                <a:cubicBezTo>
                  <a:pt x="120571" y="228679"/>
                  <a:pt x="126365" y="231696"/>
                  <a:pt x="129937" y="236776"/>
                </a:cubicBezTo>
                <a:lnTo>
                  <a:pt x="150892" y="266779"/>
                </a:lnTo>
                <a:lnTo>
                  <a:pt x="199628" y="187008"/>
                </a:lnTo>
                <a:cubicBezTo>
                  <a:pt x="203121" y="181372"/>
                  <a:pt x="209233" y="177879"/>
                  <a:pt x="215900" y="177879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1549400" y="16002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 Renderer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4191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Displays the 2D character sprite.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Sprite field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Sorting Layer controls render order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Order in Layer for fine control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Flip X for direction changes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1397000"/>
            <a:ext cx="4699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94400" y="1600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76200"/>
                </a:move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76200"/>
                </a:lnTo>
                <a:close/>
                <a:moveTo>
                  <a:pt x="38100" y="292100"/>
                </a:moveTo>
                <a:lnTo>
                  <a:pt x="38100" y="317500"/>
                </a:lnTo>
                <a:cubicBezTo>
                  <a:pt x="38100" y="324485"/>
                  <a:pt x="43815" y="330200"/>
                  <a:pt x="50800" y="330200"/>
                </a:cubicBezTo>
                <a:lnTo>
                  <a:pt x="76200" y="330200"/>
                </a:lnTo>
                <a:cubicBezTo>
                  <a:pt x="83185" y="330200"/>
                  <a:pt x="88900" y="324485"/>
                  <a:pt x="88900" y="317500"/>
                </a:cubicBezTo>
                <a:lnTo>
                  <a:pt x="88900" y="292100"/>
                </a:lnTo>
                <a:cubicBezTo>
                  <a:pt x="88900" y="285115"/>
                  <a:pt x="83185" y="279400"/>
                  <a:pt x="76200" y="279400"/>
                </a:cubicBezTo>
                <a:lnTo>
                  <a:pt x="50800" y="279400"/>
                </a:lnTo>
                <a:cubicBezTo>
                  <a:pt x="43815" y="279400"/>
                  <a:pt x="38100" y="285115"/>
                  <a:pt x="38100" y="292100"/>
                </a:cubicBezTo>
                <a:close/>
                <a:moveTo>
                  <a:pt x="279400" y="279400"/>
                </a:moveTo>
                <a:cubicBezTo>
                  <a:pt x="272415" y="279400"/>
                  <a:pt x="266700" y="285115"/>
                  <a:pt x="266700" y="2921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lnTo>
                  <a:pt x="304800" y="330200"/>
                </a:lnTo>
                <a:cubicBezTo>
                  <a:pt x="311785" y="330200"/>
                  <a:pt x="317500" y="324485"/>
                  <a:pt x="317500" y="317500"/>
                </a:cubicBezTo>
                <a:lnTo>
                  <a:pt x="317500" y="292100"/>
                </a:lnTo>
                <a:cubicBezTo>
                  <a:pt x="317500" y="285115"/>
                  <a:pt x="311785" y="279400"/>
                  <a:pt x="304800" y="279400"/>
                </a:cubicBezTo>
                <a:lnTo>
                  <a:pt x="279400" y="279400"/>
                </a:lnTo>
                <a:close/>
                <a:moveTo>
                  <a:pt x="38100" y="190500"/>
                </a:moveTo>
                <a:lnTo>
                  <a:pt x="38100" y="215900"/>
                </a:lnTo>
                <a:cubicBezTo>
                  <a:pt x="38100" y="222885"/>
                  <a:pt x="43815" y="228600"/>
                  <a:pt x="50800" y="228600"/>
                </a:cubicBezTo>
                <a:lnTo>
                  <a:pt x="76200" y="228600"/>
                </a:lnTo>
                <a:cubicBezTo>
                  <a:pt x="83185" y="228600"/>
                  <a:pt x="88900" y="222885"/>
                  <a:pt x="88900" y="215900"/>
                </a:cubicBezTo>
                <a:lnTo>
                  <a:pt x="88900" y="190500"/>
                </a:lnTo>
                <a:cubicBezTo>
                  <a:pt x="88900" y="183515"/>
                  <a:pt x="83185" y="177800"/>
                  <a:pt x="76200" y="177800"/>
                </a:cubicBezTo>
                <a:lnTo>
                  <a:pt x="50800" y="177800"/>
                </a:lnTo>
                <a:cubicBezTo>
                  <a:pt x="43815" y="177800"/>
                  <a:pt x="38100" y="183515"/>
                  <a:pt x="38100" y="190500"/>
                </a:cubicBezTo>
                <a:close/>
                <a:moveTo>
                  <a:pt x="279400" y="177800"/>
                </a:moveTo>
                <a:cubicBezTo>
                  <a:pt x="272415" y="177800"/>
                  <a:pt x="266700" y="183515"/>
                  <a:pt x="266700" y="190500"/>
                </a:cubicBezTo>
                <a:lnTo>
                  <a:pt x="266700" y="215900"/>
                </a:lnTo>
                <a:cubicBezTo>
                  <a:pt x="266700" y="222885"/>
                  <a:pt x="272415" y="228600"/>
                  <a:pt x="279400" y="228600"/>
                </a:cubicBezTo>
                <a:lnTo>
                  <a:pt x="304800" y="228600"/>
                </a:lnTo>
                <a:cubicBezTo>
                  <a:pt x="311785" y="228600"/>
                  <a:pt x="317500" y="222885"/>
                  <a:pt x="317500" y="215900"/>
                </a:cubicBezTo>
                <a:lnTo>
                  <a:pt x="317500" y="190500"/>
                </a:lnTo>
                <a:cubicBezTo>
                  <a:pt x="317500" y="183515"/>
                  <a:pt x="311785" y="177800"/>
                  <a:pt x="304800" y="177800"/>
                </a:cubicBezTo>
                <a:lnTo>
                  <a:pt x="279400" y="177800"/>
                </a:lnTo>
                <a:close/>
                <a:moveTo>
                  <a:pt x="38100" y="88900"/>
                </a:moveTo>
                <a:lnTo>
                  <a:pt x="38100" y="114300"/>
                </a:lnTo>
                <a:cubicBezTo>
                  <a:pt x="38100" y="121285"/>
                  <a:pt x="43815" y="127000"/>
                  <a:pt x="50800" y="127000"/>
                </a:cubicBezTo>
                <a:lnTo>
                  <a:pt x="76200" y="127000"/>
                </a:lnTo>
                <a:cubicBezTo>
                  <a:pt x="83185" y="127000"/>
                  <a:pt x="88900" y="121285"/>
                  <a:pt x="88900" y="114300"/>
                </a:cubicBezTo>
                <a:lnTo>
                  <a:pt x="88900" y="88900"/>
                </a:lnTo>
                <a:cubicBezTo>
                  <a:pt x="88900" y="81915"/>
                  <a:pt x="83185" y="76200"/>
                  <a:pt x="76200" y="76200"/>
                </a:cubicBezTo>
                <a:lnTo>
                  <a:pt x="50800" y="76200"/>
                </a:lnTo>
                <a:cubicBezTo>
                  <a:pt x="43815" y="76200"/>
                  <a:pt x="38100" y="81915"/>
                  <a:pt x="38100" y="88900"/>
                </a:cubicBezTo>
                <a:close/>
                <a:moveTo>
                  <a:pt x="279400" y="76200"/>
                </a:moveTo>
                <a:cubicBezTo>
                  <a:pt x="272415" y="76200"/>
                  <a:pt x="266700" y="81915"/>
                  <a:pt x="266700" y="88900"/>
                </a:cubicBezTo>
                <a:lnTo>
                  <a:pt x="266700" y="114300"/>
                </a:lnTo>
                <a:cubicBezTo>
                  <a:pt x="266700" y="121285"/>
                  <a:pt x="272415" y="127000"/>
                  <a:pt x="279400" y="127000"/>
                </a:cubicBezTo>
                <a:lnTo>
                  <a:pt x="304800" y="127000"/>
                </a:lnTo>
                <a:cubicBezTo>
                  <a:pt x="311785" y="127000"/>
                  <a:pt x="317500" y="121285"/>
                  <a:pt x="317500" y="114300"/>
                </a:cubicBezTo>
                <a:lnTo>
                  <a:pt x="317500" y="88900"/>
                </a:lnTo>
                <a:cubicBezTo>
                  <a:pt x="317500" y="81915"/>
                  <a:pt x="311785" y="76200"/>
                  <a:pt x="304800" y="76200"/>
                </a:cubicBezTo>
                <a:lnTo>
                  <a:pt x="279400" y="76200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502400" y="16002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159000"/>
            <a:ext cx="4191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Controls animation states.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States: Idle, Walk, Attack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Parameters: isWalking bool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Transitions with conditions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Animation Events for timing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397000"/>
            <a:ext cx="4826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160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27000"/>
                </a:moveTo>
                <a:cubicBezTo>
                  <a:pt x="245256" y="127000"/>
                  <a:pt x="279400" y="161144"/>
                  <a:pt x="279400" y="203200"/>
                </a:cubicBezTo>
                <a:cubicBezTo>
                  <a:pt x="279400" y="245256"/>
                  <a:pt x="245256" y="279400"/>
                  <a:pt x="203200" y="279400"/>
                </a:cubicBezTo>
                <a:cubicBezTo>
                  <a:pt x="161144" y="279400"/>
                  <a:pt x="127000" y="245256"/>
                  <a:pt x="127000" y="203200"/>
                </a:cubicBezTo>
                <a:cubicBezTo>
                  <a:pt x="127000" y="161144"/>
                  <a:pt x="161144" y="127000"/>
                  <a:pt x="203200" y="127000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5400" y="16002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Rigidbody2D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159000"/>
            <a:ext cx="4318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physics-based movement.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Body Type: Dynamic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Freeze Rotation (Z) = true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Gravity Scale: 3-5 for platformer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Interpolation: Interpolate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Setup Workflow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53086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308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 Sprites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6000" y="5613400"/>
            <a:ext cx="508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064000" y="53086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4064000" y="5308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Slice Sprite Sheet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5613400"/>
            <a:ext cx="508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366000" y="53086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66000" y="5308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Animation Clips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0" y="5613400"/>
            <a:ext cx="508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668000" y="5308600"/>
            <a:ext cx="2794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0" y="5308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Animator Controller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462000" y="5613400"/>
            <a:ext cx="508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970000" y="53086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30" name="Text 28"/>
          <p:cNvSpPr/>
          <p:nvPr/>
        </p:nvSpPr>
        <p:spPr>
          <a:xfrm>
            <a:off x="13970000" y="53086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</a:t>
            </a:r>
            <a:endParaRPr lang="en-US" sz="1600" dirty="0"/>
          </a:p>
        </p:txBody>
      </p:sp>
      <p:pic>
        <p:nvPicPr>
          <p:cNvPr id="31" name="Image 0" descr="https://kimi-img.moonshot.cn/pub/slides/okc/q6uomrwob6ige/mnt/agents/output/game-programming-week5/images/4_2D_Game_Street_Bandits_Character.png">    </p:cNvPr>
          <p:cNvPicPr>
            <a:picLocks noChangeAspect="1"/>
          </p:cNvPicPr>
          <p:nvPr/>
        </p:nvPicPr>
        <p:blipFill>
          <a:blip r:embed="rId1"/>
          <a:srcRect l="0" r="0" t="10000" b="10000"/>
          <a:stretch/>
        </p:blipFill>
        <p:spPr>
          <a:xfrm>
            <a:off x="762000" y="6286500"/>
            <a:ext cx="14732000" cy="2032000"/>
          </a:xfrm>
          <a:prstGeom prst="roundRect">
            <a:avLst>
              <a:gd name="adj" fmla="val 6000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Controller — Movement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Read input from the Input System (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Vector2 moveInput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Apply movement using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FixedUpdate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rb.velocity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rb.MovePosition()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Flip sprite via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transform.localScale.x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handle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physics in FixedUpdate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Update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3556000"/>
            <a:ext cx="7112000" cy="762000"/>
          </a:xfrm>
          <a:prstGeom prst="roundRect">
            <a:avLst>
              <a:gd name="adj" fmla="val 6000"/>
            </a:avLst>
          </a:prstGeom>
          <a:solidFill>
            <a:srgbClr val="E8603A">
              <a:alpha val="823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358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7" name="Text 5"/>
          <p:cNvSpPr/>
          <p:nvPr/>
        </p:nvSpPr>
        <p:spPr>
          <a:xfrm>
            <a:off x="1422400" y="3556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FixedUpdate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physics consistency.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445000"/>
            <a:ext cx="14732000" cy="3937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57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MOVEMENT 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953000"/>
            <a:ext cx="14224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PlayerController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speed = 5f;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Rigidbody2D rb; Vector2 moveInput;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facingRight 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Awake() =&gt; rb = GetComponent&lt;Rigidbody2D&gt;();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OnMove(InputValue v) =&gt; moveInput = v.Get&lt;Vector2&gt;();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FixedUpdate()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rb.velocity 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Vector2(moveInput.x * speed, rb.velocity.y);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(moveInput.x &gt; 0 &amp;&amp; !facingRight) Flip();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(moveInput.x &lt; 0 &amp;&amp; facingRight) Flip();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Flip() { facingRight = !facingRight; transform.localScale *=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Vector2(-1, 1);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Controller — Jump &amp; Ground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JUMP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jumpForce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variable (e.g., 8f)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Ground check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Physics2D.OverlapCircle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LayerMask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filter "Ground" layer only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Ground check origin at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player's feet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61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CHECK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0386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empty child GameObject at feet: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GroundCheck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"Ground"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Layer (Edit &gt; Project Settings &gt; Tags &amp; Layers)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Assign Ground layer to all ground tilemaps/platforms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checkRadius (e.g., 0.2f) in inspector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905500"/>
            <a:ext cx="6858000" cy="635000"/>
          </a:xfrm>
          <a:prstGeom prst="roundRect">
            <a:avLst>
              <a:gd name="adj" fmla="val 6000"/>
            </a:avLst>
          </a:prstGeom>
          <a:solidFill>
            <a:srgbClr val="E8603A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5905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Tip: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a small checkRadius to avoid false positives from walls.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0" y="1333500"/>
            <a:ext cx="7366000" cy="7112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JUMP &amp; GROUND 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1841500"/>
            <a:ext cx="6858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PlayerController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jumpForce = 8f;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Transform groundCheck;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checkRadius = 0.2f;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LayerMask groundLayer;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isGrounded;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Update() =&gt; isGrounded = Physics2D.OverlapCircle(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groundCheck.position, checkRadius, groundLayer);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OnJump()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(isGrounded)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rb.velocity 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Vector2(rb.velocity.x, jumpForce);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Visualize in Scene view: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OnDrawGizmos()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Gizmos.color = Color.yellow;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Gizmos.DrawWireSphere(groundCheck.position, checkRadius);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modular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script — reusable for player, enemies, and any entity.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7112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6000" y="269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Component Fields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3098800"/>
            <a:ext cx="6604000" cy="12700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512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maxHealth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configurable max value (e.g., 5)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currentHealth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tracks runtime health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ChangeHealth(int amount)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method for damage/healing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Mathf.Clamp(0, maxHealth)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OnHealthChanged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C# Action event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and systems subscribe for updates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Die()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called when health reaches 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COMMUNICATION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98000" y="19050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0" y="1905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Component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667000"/>
            <a:ext cx="0" cy="63500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11049000" y="279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OnHealthChanged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98000" y="33020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9398000" y="3302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Bar UI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0" y="2286000"/>
            <a:ext cx="1397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382000" y="19050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905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 Source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0" y="2667000"/>
            <a:ext cx="0" cy="63500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8382000" y="279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ChangeHealth(-dmg)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4699000"/>
            <a:ext cx="3048000" cy="7620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4699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Hit Effects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4064000"/>
            <a:ext cx="0" cy="635000"/>
          </a:xfrm>
          <a:prstGeom prst="straightConnector1">
            <a:avLst/>
          </a:prstGeom>
          <a:noFill/>
          <a:ln w="25400">
            <a:solidFill>
              <a:srgbClr val="5A6B7D"/>
            </a:solidFill>
            <a:prstDash val="sysDot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382000" y="5969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E8ECF0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60706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 Tip: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ScriptableObjects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health data to enable designer-friendly tuning without modifying code.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System — Code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9144000" cy="70485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HEALTH.CS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41500"/>
            <a:ext cx="8636000" cy="641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UnityEngine;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Health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maxHealth = 5;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currentHealth;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event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 OnHealthChanged;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event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 OnDeath;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Start() { currentHealth = maxHealth; OnHealthChanged?.Invoke();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ChangeHealth(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amount)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currentHealth = Mathf.Clamp(currentHealth + amount, 0, maxHealth);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OnHealthChanged?.Invoke();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(currentHealth &lt;= 0) Die();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GetCurrentHealth() =&gt; currentHealth;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GetMaxHealth() =&gt; maxHealth;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Die() { OnDeath?.Invoke();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death logic */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287000" y="1333500"/>
            <a:ext cx="5207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41000" y="149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PATTERNS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41000" y="1930400"/>
            <a:ext cx="4699000" cy="62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Deal Damage: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health.ChangeHealth(-1);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health.ChangeHealth(+2);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Subscribe to events: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health.OnHealthChanged +=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UpdateHealthBar;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health.OnDeath += HandleDeath;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Update Handler: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UpdateHealthBar()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healthBar.value = 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health.GetCurrentHealth()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 health.GetMaxHealth();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Loose coupling via events —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 knows nothing about UI.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 System — Taking &amp; Dealing Damage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154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Trigger-Based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0066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OnTriggerEnter2D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hitbox overlap.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Attack hitbox = trigger Collider2D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Enemy hurtbox = trigger Collider2D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physical collision response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 melee and projectile attacks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397000"/>
            <a:ext cx="7366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549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Collision-Based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006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OnCollisionEnter2D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physical impact.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Requires non-trigger colliders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Unity handles physics response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Good for environmental hazards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ContactPoint2D for impact details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 Flow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16000" y="5334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33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DamageDealer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56000" y="56388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318000" y="5334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5" name="Text 13"/>
          <p:cNvSpPr/>
          <p:nvPr/>
        </p:nvSpPr>
        <p:spPr>
          <a:xfrm>
            <a:off x="4318000" y="533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Overlap / Collision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56388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620000" y="5334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0" y="533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Component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5638800"/>
            <a:ext cx="762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922000" y="5334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533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Damage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8EC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502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Invincibility Frames (i-frames)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858000"/>
            <a:ext cx="1422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taking damage, the player becomes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temporarily invulnerable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prevent instant death from rapid hits. Implementation: set a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isInvincible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flag on damage taken, start a coroutine with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yield return new WaitForSeconds(invincibilityDuration)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then clear the flag. Visual feedback: flash the sprite or tint it semi-transparent during i-frames.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UI — Visual Feedback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600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55563"/>
                </a:moveTo>
                <a:cubicBezTo>
                  <a:pt x="133350" y="37157"/>
                  <a:pt x="148282" y="22225"/>
                  <a:pt x="166688" y="22225"/>
                </a:cubicBezTo>
                <a:lnTo>
                  <a:pt x="188913" y="22225"/>
                </a:lnTo>
                <a:cubicBezTo>
                  <a:pt x="207318" y="22225"/>
                  <a:pt x="222250" y="37157"/>
                  <a:pt x="222250" y="55563"/>
                </a:cubicBezTo>
                <a:lnTo>
                  <a:pt x="222250" y="300038"/>
                </a:lnTo>
                <a:cubicBezTo>
                  <a:pt x="222250" y="318443"/>
                  <a:pt x="207318" y="333375"/>
                  <a:pt x="18891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55563"/>
                </a:lnTo>
                <a:close/>
                <a:moveTo>
                  <a:pt x="0" y="188913"/>
                </a:moveTo>
                <a:cubicBezTo>
                  <a:pt x="0" y="170507"/>
                  <a:pt x="14932" y="155575"/>
                  <a:pt x="33337" y="155575"/>
                </a:cubicBezTo>
                <a:lnTo>
                  <a:pt x="55563" y="155575"/>
                </a:lnTo>
                <a:cubicBezTo>
                  <a:pt x="73968" y="155575"/>
                  <a:pt x="88900" y="170507"/>
                  <a:pt x="88900" y="188913"/>
                </a:cubicBezTo>
                <a:lnTo>
                  <a:pt x="88900" y="300038"/>
                </a:lnTo>
                <a:cubicBezTo>
                  <a:pt x="88900" y="318443"/>
                  <a:pt x="73968" y="333375"/>
                  <a:pt x="55563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188913"/>
                </a:lnTo>
                <a:close/>
                <a:moveTo>
                  <a:pt x="300038" y="66675"/>
                </a:moveTo>
                <a:lnTo>
                  <a:pt x="322263" y="66675"/>
                </a:lnTo>
                <a:cubicBezTo>
                  <a:pt x="340668" y="66675"/>
                  <a:pt x="355600" y="81607"/>
                  <a:pt x="355600" y="10001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300038" y="333375"/>
                </a:lnTo>
                <a:cubicBezTo>
                  <a:pt x="281632" y="333375"/>
                  <a:pt x="266700" y="318443"/>
                  <a:pt x="266700" y="300038"/>
                </a:cubicBezTo>
                <a:lnTo>
                  <a:pt x="266700" y="100013"/>
                </a:lnTo>
                <a:cubicBezTo>
                  <a:pt x="266700" y="81607"/>
                  <a:pt x="281632" y="66675"/>
                  <a:pt x="300038" y="66675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5748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Bar (Slider)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828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UI </a:t>
            </a:r>
            <a:pPr>
              <a:lnSpc>
                <a:spcPct val="165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Slider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component.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Background = empty health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Fill = current health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 via OnHealthChanged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healthBar.value =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(float)current / max;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1397000"/>
            <a:ext cx="4699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69000" y="1600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15748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Heart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0828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Instantiate heart icon prefabs.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heart per health unit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Enable/disable based on HP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Full, half, empty states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Classic retro-style approach.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Great for pixel art games.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397000"/>
            <a:ext cx="4826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99775" y="1600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04600" y="15748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 Flash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082800"/>
            <a:ext cx="431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Brief visual feedback on hit.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Tint screen red briefly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Flash sprite white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coroutine for timing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sprite.color = Color.red;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yield return Wait(0.1f);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sprite.color = Color.white;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270500"/>
            <a:ext cx="14732000" cy="32385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39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BAR UPDATE 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778500"/>
            <a:ext cx="1422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HealthBar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Slider slider;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Health playerHealth;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Start() =&gt; playerHealth.OnHealthChanged += UpdateBar;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OnDestroy() =&gt; playerHealth.OnHealthChanged -= UpdateBar;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UpdateBar() =&gt; slider.value = 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)playerHealth.GetCurrentHealth() / playerHealth.GetMaxHealth();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860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762000" cy="508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Combat &amp; Fighting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attacks, combos, projectiles, and combat mechanics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engaging player-vs-enemy gameplay</a:t>
            </a:r>
            <a:endParaRPr lang="en-US" sz="1600" dirty="0"/>
          </a:p>
        </p:txBody>
      </p:sp>
      <p:pic>
        <p:nvPicPr>
          <p:cNvPr id="6" name="Image 0" descr="https://kimi-img.moonshot.cn/pub/slides/okc/q6uomrwob6ige/mnt/agents/output/game-programming-week5/images/8_Animation_sprite_sheet_fighting_animation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32292" r="32292" t="0" b="0"/>
          <a:stretch/>
        </p:blipFill>
        <p:spPr>
          <a:xfrm>
            <a:off x="11176000" y="1524000"/>
            <a:ext cx="4318000" cy="6096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Combat System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core components every fighting system needs: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3429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20066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20066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 attack button press via Input System.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 cooldown and state before triggering.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45000" y="1841500"/>
            <a:ext cx="3429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9000" y="20066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70500" y="20066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Hitbox Mgmt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254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Enable/disable colliders during attack animations via Animation Events.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 only for damage frames.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841500"/>
            <a:ext cx="3429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82000" y="20066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53500" y="20066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Damage Apply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540000"/>
            <a:ext cx="29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Deal damage when hitboxes connect with hurtboxes.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 Health.ChangeHealth() on targets.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11000" y="1841500"/>
            <a:ext cx="3683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065000" y="2006600"/>
            <a:ext cx="5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36500" y="2006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2540000"/>
            <a:ext cx="317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Track combat states: idle, attacking, recovering.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 attack spamming. Coordinate with Animator.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Architecture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70000" y="5588000"/>
            <a:ext cx="2794000" cy="6985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5588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PlayerController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64000" y="5918200"/>
            <a:ext cx="635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3302000" y="5588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99000" y="5588000"/>
            <a:ext cx="2794000" cy="6985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27" name="Text 25"/>
          <p:cNvSpPr/>
          <p:nvPr/>
        </p:nvSpPr>
        <p:spPr>
          <a:xfrm>
            <a:off x="4699000" y="5588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Fighter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3000" y="5918200"/>
            <a:ext cx="635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128000" y="5588000"/>
            <a:ext cx="2794000" cy="6985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30" name="Text 28"/>
          <p:cNvSpPr/>
          <p:nvPr/>
        </p:nvSpPr>
        <p:spPr>
          <a:xfrm>
            <a:off x="8128000" y="5588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Weapon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22000" y="5918200"/>
            <a:ext cx="635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1557000" y="5588000"/>
            <a:ext cx="2794000" cy="6985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33" name="Text 31"/>
          <p:cNvSpPr/>
          <p:nvPr/>
        </p:nvSpPr>
        <p:spPr>
          <a:xfrm>
            <a:off x="11557000" y="5588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604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component has a single responsibility. Fighter handles combat logic, Weapon defines attack properties, Health manages vitality.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Animation &amp; Hitbox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attack animation clips (Attack1, Attack2) in Animation window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1844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 Events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exact damage frames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5908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child GameObjects as hitbox positions (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AttackPoint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2997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 hitbox via Animation Event, disable at animation 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619500"/>
            <a:ext cx="7112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6000" y="3771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Weapon Script Config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1656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attackDamage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damage per hit (int)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attackRange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radius of hit detection (float)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attackCooldown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time between attacks (float)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layerMask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which layers are valid targets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Hitbox active window: typically 2-4 frames only.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1333500"/>
            <a:ext cx="7112000" cy="7112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460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EVENT SETUP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1841500"/>
            <a:ext cx="6604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Select clip, 2. Add Event, 3. Function: PerformAttack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Fighter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Transform attackPoint;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attackRange = 0.5f;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attackDamage = 1;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LayerMask enemyLayer;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Called by Animation Event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PerformAttack()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Collider2D[] hits = Physics2D.OverlapCircleAll(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attackPoint.position, attackRange, enemyLayer);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foreach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(var hit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hits)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hit.GetComponent&lt;Health&gt;()?.ChangeHealth(-attackDamage);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OnDrawGizmos()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Gizmos.color = Color.red;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Gizmos.DrawWireSphere(attackPoint.position, attackRange);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Melee Attack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Input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30500" y="2070100"/>
            <a:ext cx="381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1115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31115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Ready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0" y="2070100"/>
            <a:ext cx="381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4610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610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 Animation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29500" y="2070100"/>
            <a:ext cx="381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8105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8105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Hits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79000" y="2070100"/>
            <a:ext cx="381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1600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Damage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128500" y="2070100"/>
            <a:ext cx="381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509500" y="1803400"/>
            <a:ext cx="1968500" cy="558800"/>
          </a:xfrm>
          <a:prstGeom prst="roundRect">
            <a:avLst>
              <a:gd name="adj" fmla="val 10000"/>
            </a:avLst>
          </a:prstGeom>
          <a:solidFill>
            <a:srgbClr val="5A6B7D"/>
          </a:solidFill>
          <a:ln/>
        </p:spPr>
      </p:sp>
      <p:sp>
        <p:nvSpPr>
          <p:cNvPr id="21" name="Text 19"/>
          <p:cNvSpPr/>
          <p:nvPr/>
        </p:nvSpPr>
        <p:spPr>
          <a:xfrm>
            <a:off x="12509500" y="1803400"/>
            <a:ext cx="19685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Reset State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2730500"/>
            <a:ext cx="14732000" cy="5588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285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MELEE ATTACK 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238500"/>
            <a:ext cx="1422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Fighter : MonoBehaviour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Animator animator;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attackCooldown = 0.5f;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nextAttackTime;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isAttacking;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OnAttack()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(Time.time &gt;= nextAttackTime &amp;&amp; !isAttacking)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isAttacking =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animator.SetTrigger(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"Attack"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nextAttackTime = Time.time + attackCooldown;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Animation Event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PerformAttack()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 hits = Physics2D.OverlapCircleAll(attackPoint.position, attackRange, enemyLayer);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foreach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(var h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hits) h.GetComponent&lt;Health&gt;()?.ChangeHealth(-attackDamage);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EndAttack() =&gt; isAttacking =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700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 multiple attacks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increased damage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gameplay depth.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032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Window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window after each attack where the next input registers as a combo continuation.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Typical duration: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0.3 - 0.5 seconds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Managed by coroutine or timer.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1841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690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9116" y="486"/>
                </a:moveTo>
                <a:cubicBezTo>
                  <a:pt x="161131" y="3056"/>
                  <a:pt x="168771" y="14863"/>
                  <a:pt x="166201" y="26878"/>
                </a:cubicBezTo>
                <a:lnTo>
                  <a:pt x="152936" y="88900"/>
                </a:lnTo>
                <a:lnTo>
                  <a:pt x="240794" y="88900"/>
                </a:lnTo>
                <a:lnTo>
                  <a:pt x="256074" y="17572"/>
                </a:lnTo>
                <a:cubicBezTo>
                  <a:pt x="258643" y="5556"/>
                  <a:pt x="270450" y="-2084"/>
                  <a:pt x="282466" y="486"/>
                </a:cubicBezTo>
                <a:cubicBezTo>
                  <a:pt x="294481" y="3056"/>
                  <a:pt x="302121" y="14863"/>
                  <a:pt x="299551" y="26878"/>
                </a:cubicBezTo>
                <a:lnTo>
                  <a:pt x="286286" y="88900"/>
                </a:lnTo>
                <a:lnTo>
                  <a:pt x="333375" y="88900"/>
                </a:lnTo>
                <a:cubicBezTo>
                  <a:pt x="345668" y="88900"/>
                  <a:pt x="355600" y="98832"/>
                  <a:pt x="355600" y="111125"/>
                </a:cubicBezTo>
                <a:cubicBezTo>
                  <a:pt x="355600" y="123418"/>
                  <a:pt x="345668" y="133350"/>
                  <a:pt x="333375" y="133350"/>
                </a:cubicBezTo>
                <a:lnTo>
                  <a:pt x="276701" y="133350"/>
                </a:lnTo>
                <a:lnTo>
                  <a:pt x="257671" y="222250"/>
                </a:lnTo>
                <a:lnTo>
                  <a:pt x="304760" y="222250"/>
                </a:lnTo>
                <a:cubicBezTo>
                  <a:pt x="317054" y="222250"/>
                  <a:pt x="326985" y="232182"/>
                  <a:pt x="326985" y="244475"/>
                </a:cubicBezTo>
                <a:cubicBezTo>
                  <a:pt x="326985" y="256768"/>
                  <a:pt x="317054" y="266700"/>
                  <a:pt x="304760" y="266700"/>
                </a:cubicBezTo>
                <a:lnTo>
                  <a:pt x="248087" y="266700"/>
                </a:lnTo>
                <a:lnTo>
                  <a:pt x="232807" y="338028"/>
                </a:lnTo>
                <a:cubicBezTo>
                  <a:pt x="230237" y="350044"/>
                  <a:pt x="218430" y="357684"/>
                  <a:pt x="206415" y="355114"/>
                </a:cubicBezTo>
                <a:cubicBezTo>
                  <a:pt x="194399" y="352544"/>
                  <a:pt x="186759" y="340737"/>
                  <a:pt x="189329" y="328722"/>
                </a:cubicBezTo>
                <a:lnTo>
                  <a:pt x="202595" y="266700"/>
                </a:lnTo>
                <a:lnTo>
                  <a:pt x="114737" y="266700"/>
                </a:lnTo>
                <a:lnTo>
                  <a:pt x="99457" y="338028"/>
                </a:lnTo>
                <a:cubicBezTo>
                  <a:pt x="96887" y="350044"/>
                  <a:pt x="85080" y="357684"/>
                  <a:pt x="73065" y="355114"/>
                </a:cubicBezTo>
                <a:cubicBezTo>
                  <a:pt x="61049" y="352544"/>
                  <a:pt x="53409" y="340737"/>
                  <a:pt x="55979" y="328722"/>
                </a:cubicBezTo>
                <a:lnTo>
                  <a:pt x="69314" y="266700"/>
                </a:lnTo>
                <a:lnTo>
                  <a:pt x="22225" y="266700"/>
                </a:lnTo>
                <a:cubicBezTo>
                  <a:pt x="9932" y="266700"/>
                  <a:pt x="0" y="256768"/>
                  <a:pt x="0" y="244475"/>
                </a:cubicBezTo>
                <a:cubicBezTo>
                  <a:pt x="0" y="232182"/>
                  <a:pt x="9932" y="222250"/>
                  <a:pt x="22225" y="222250"/>
                </a:cubicBezTo>
                <a:lnTo>
                  <a:pt x="78899" y="222250"/>
                </a:lnTo>
                <a:lnTo>
                  <a:pt x="97929" y="133350"/>
                </a:lnTo>
                <a:lnTo>
                  <a:pt x="50840" y="133350"/>
                </a:lnTo>
                <a:cubicBezTo>
                  <a:pt x="38546" y="133350"/>
                  <a:pt x="28615" y="123418"/>
                  <a:pt x="28615" y="111125"/>
                </a:cubicBezTo>
                <a:cubicBezTo>
                  <a:pt x="28615" y="98832"/>
                  <a:pt x="38546" y="88900"/>
                  <a:pt x="50840" y="88900"/>
                </a:cubicBezTo>
                <a:lnTo>
                  <a:pt x="107513" y="88900"/>
                </a:lnTo>
                <a:lnTo>
                  <a:pt x="122793" y="17572"/>
                </a:lnTo>
                <a:cubicBezTo>
                  <a:pt x="125293" y="5556"/>
                  <a:pt x="137100" y="-2084"/>
                  <a:pt x="149116" y="486"/>
                </a:cubicBezTo>
                <a:close/>
                <a:moveTo>
                  <a:pt x="143351" y="133350"/>
                </a:moveTo>
                <a:lnTo>
                  <a:pt x="124321" y="222250"/>
                </a:lnTo>
                <a:lnTo>
                  <a:pt x="212179" y="222250"/>
                </a:lnTo>
                <a:lnTo>
                  <a:pt x="231209" y="133350"/>
                </a:lnTo>
                <a:lnTo>
                  <a:pt x="143351" y="133350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032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Counter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540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Tracks current combo stage: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0 = idle (no combo)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 = first hit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2 = second hit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3 = final hit (reset)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1841500"/>
            <a:ext cx="4826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205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669" y="133350"/>
                </a:moveTo>
                <a:lnTo>
                  <a:pt x="116681" y="133350"/>
                </a:lnTo>
                <a:cubicBezTo>
                  <a:pt x="123418" y="133350"/>
                  <a:pt x="129530" y="129322"/>
                  <a:pt x="132100" y="123071"/>
                </a:cubicBezTo>
                <a:cubicBezTo>
                  <a:pt x="134670" y="116820"/>
                  <a:pt x="133281" y="109666"/>
                  <a:pt x="128488" y="104874"/>
                </a:cubicBezTo>
                <a:lnTo>
                  <a:pt x="96054" y="72440"/>
                </a:lnTo>
                <a:cubicBezTo>
                  <a:pt x="148352" y="31740"/>
                  <a:pt x="224056" y="35421"/>
                  <a:pt x="272117" y="83483"/>
                </a:cubicBezTo>
                <a:cubicBezTo>
                  <a:pt x="324207" y="135572"/>
                  <a:pt x="324207" y="219958"/>
                  <a:pt x="272117" y="272048"/>
                </a:cubicBezTo>
                <a:cubicBezTo>
                  <a:pt x="220028" y="324138"/>
                  <a:pt x="135642" y="324138"/>
                  <a:pt x="83552" y="272048"/>
                </a:cubicBezTo>
                <a:cubicBezTo>
                  <a:pt x="76468" y="264964"/>
                  <a:pt x="70356" y="257254"/>
                  <a:pt x="65216" y="249128"/>
                </a:cubicBezTo>
                <a:cubicBezTo>
                  <a:pt x="58618" y="238780"/>
                  <a:pt x="44867" y="235724"/>
                  <a:pt x="34518" y="242322"/>
                </a:cubicBezTo>
                <a:cubicBezTo>
                  <a:pt x="24170" y="248920"/>
                  <a:pt x="21114" y="262672"/>
                  <a:pt x="27712" y="273020"/>
                </a:cubicBezTo>
                <a:cubicBezTo>
                  <a:pt x="34518" y="283855"/>
                  <a:pt x="42644" y="294134"/>
                  <a:pt x="52090" y="303510"/>
                </a:cubicBezTo>
                <a:cubicBezTo>
                  <a:pt x="121543" y="372963"/>
                  <a:pt x="234057" y="372963"/>
                  <a:pt x="303510" y="303510"/>
                </a:cubicBezTo>
                <a:cubicBezTo>
                  <a:pt x="372963" y="234057"/>
                  <a:pt x="372963" y="121543"/>
                  <a:pt x="303510" y="52090"/>
                </a:cubicBezTo>
                <a:cubicBezTo>
                  <a:pt x="238085" y="-13404"/>
                  <a:pt x="134253" y="-17155"/>
                  <a:pt x="64383" y="40838"/>
                </a:cubicBezTo>
                <a:lnTo>
                  <a:pt x="28476" y="4862"/>
                </a:lnTo>
                <a:cubicBezTo>
                  <a:pt x="23684" y="139"/>
                  <a:pt x="16530" y="-1320"/>
                  <a:pt x="10279" y="1250"/>
                </a:cubicBezTo>
                <a:cubicBezTo>
                  <a:pt x="4028" y="3820"/>
                  <a:pt x="0" y="9932"/>
                  <a:pt x="0" y="16669"/>
                </a:cubicBezTo>
                <a:lnTo>
                  <a:pt x="0" y="116681"/>
                </a:lnTo>
                <a:cubicBezTo>
                  <a:pt x="0" y="125919"/>
                  <a:pt x="7431" y="133350"/>
                  <a:pt x="16669" y="133350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2032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Reset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540000"/>
            <a:ext cx="431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no attack input within the combo window, reset to stage 0.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reset after the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combo attack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completes.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attackClips[]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array for stages.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Timing Diagram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70000" y="5842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584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1 (10 dmg)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048000" y="6032500"/>
            <a:ext cx="1524000" cy="254000"/>
          </a:xfrm>
          <a:prstGeom prst="rect">
            <a:avLst/>
          </a:prstGeom>
          <a:solidFill>
            <a:srgbClr val="E8603A">
              <a:alpha val="2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842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584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2 (15 dmg)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0" y="6032500"/>
            <a:ext cx="1524000" cy="254000"/>
          </a:xfrm>
          <a:prstGeom prst="rect">
            <a:avLst/>
          </a:prstGeom>
          <a:solidFill>
            <a:srgbClr val="E8603A">
              <a:alpha val="2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874000" y="5842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000" y="5842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3 (25 dmg)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52000" y="6032500"/>
            <a:ext cx="2540000" cy="254000"/>
          </a:xfrm>
          <a:prstGeom prst="rect">
            <a:avLst/>
          </a:prstGeom>
          <a:solidFill>
            <a:srgbClr val="5A6B7D">
              <a:alpha val="18824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52000" y="603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Reset to idle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" y="67310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Attack execution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Combo window (input window)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Idle state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70000" y="71755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combo damage: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+ 15 + 25 = 50 damage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(vs. 30 for 3 separate hits)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System — Code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9144000" cy="70485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60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 SYSTEM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41500"/>
            <a:ext cx="8636000" cy="641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ComboFighter : MonoBehaviour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Animator animator;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attackCooldown = 0.3f;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comboWindow = 0.5f;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comboDamages = {10, 15, 25};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comboIndex;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nextAttackTime, comboResetTime;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isAttacking;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OnAttack()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(Time.time &lt; nextAttackTime || isAttacking)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Continue combo or start new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comboIndex = (Time.time &lt;= comboResetTime) ?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(comboIndex + 1) % comboDamages.Length : 0;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animator.SetTrigger($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"Attack{comboIndex + 1}"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nextAttackTime = Time.time + attackCooldown;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comboResetTime = Time.time + comboWindow;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isAttacking =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Animation Event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PerformAttack()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dmg = comboDamages[comboIndex];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detect &amp; apply */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EndAttack() =&gt; isAttacking = 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287000" y="1333500"/>
            <a:ext cx="5207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41000" y="149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LOGIC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41000" y="1930400"/>
            <a:ext cx="4699000" cy="628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 timing: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Time.time &gt;= nextAttackTime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Ensures cooldown is respected.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Check combo: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Time.time &lt;= comboResetTime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 window = continue combo.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Outside window = reset to hit 1.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Cycle index: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 comboDamages.Length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Wraps back after final hit.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Trigger animation: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SetTrigger($"Attack{N}")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stage has unique clip.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Varying damage: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comboDamages[comboIndex]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Later hits deal more damage.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Ranged Attack — Projectiles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3775" y="1600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91122" y="200025"/>
                </a:moveTo>
                <a:cubicBezTo>
                  <a:pt x="99943" y="243572"/>
                  <a:pt x="134253" y="277882"/>
                  <a:pt x="177800" y="286703"/>
                </a:cubicBezTo>
                <a:lnTo>
                  <a:pt x="177800" y="277813"/>
                </a:lnTo>
                <a:cubicBezTo>
                  <a:pt x="177800" y="265519"/>
                  <a:pt x="187732" y="255587"/>
                  <a:pt x="200025" y="255587"/>
                </a:cubicBezTo>
                <a:cubicBezTo>
                  <a:pt x="212318" y="255587"/>
                  <a:pt x="222250" y="265519"/>
                  <a:pt x="222250" y="277813"/>
                </a:cubicBezTo>
                <a:lnTo>
                  <a:pt x="222250" y="286703"/>
                </a:lnTo>
                <a:cubicBezTo>
                  <a:pt x="265797" y="277882"/>
                  <a:pt x="300107" y="243572"/>
                  <a:pt x="308928" y="200025"/>
                </a:cubicBezTo>
                <a:lnTo>
                  <a:pt x="300038" y="200025"/>
                </a:lnTo>
                <a:cubicBezTo>
                  <a:pt x="287744" y="200025"/>
                  <a:pt x="277813" y="190093"/>
                  <a:pt x="277813" y="177800"/>
                </a:cubicBezTo>
                <a:cubicBezTo>
                  <a:pt x="277813" y="165507"/>
                  <a:pt x="287744" y="155575"/>
                  <a:pt x="300038" y="155575"/>
                </a:cubicBezTo>
                <a:lnTo>
                  <a:pt x="308928" y="155575"/>
                </a:lnTo>
                <a:cubicBezTo>
                  <a:pt x="300107" y="112028"/>
                  <a:pt x="265797" y="77718"/>
                  <a:pt x="222250" y="68898"/>
                </a:cubicBezTo>
                <a:lnTo>
                  <a:pt x="222250" y="77788"/>
                </a:lnTo>
                <a:cubicBezTo>
                  <a:pt x="222250" y="90081"/>
                  <a:pt x="212318" y="100013"/>
                  <a:pt x="200025" y="100013"/>
                </a:cubicBezTo>
                <a:cubicBezTo>
                  <a:pt x="187732" y="100013"/>
                  <a:pt x="177800" y="90081"/>
                  <a:pt x="177800" y="77788"/>
                </a:cubicBezTo>
                <a:lnTo>
                  <a:pt x="177800" y="68898"/>
                </a:lnTo>
                <a:cubicBezTo>
                  <a:pt x="134253" y="77718"/>
                  <a:pt x="99943" y="112028"/>
                  <a:pt x="91122" y="155575"/>
                </a:cubicBezTo>
                <a:lnTo>
                  <a:pt x="100013" y="155575"/>
                </a:lnTo>
                <a:cubicBezTo>
                  <a:pt x="112306" y="155575"/>
                  <a:pt x="122238" y="165507"/>
                  <a:pt x="122238" y="177800"/>
                </a:cubicBezTo>
                <a:cubicBezTo>
                  <a:pt x="122238" y="190093"/>
                  <a:pt x="112306" y="200025"/>
                  <a:pt x="100013" y="200025"/>
                </a:cubicBezTo>
                <a:lnTo>
                  <a:pt x="91122" y="200025"/>
                </a:lnTo>
                <a:close/>
                <a:moveTo>
                  <a:pt x="200025" y="144463"/>
                </a:moveTo>
                <a:cubicBezTo>
                  <a:pt x="218424" y="144463"/>
                  <a:pt x="233363" y="159401"/>
                  <a:pt x="233363" y="177800"/>
                </a:cubicBezTo>
                <a:cubicBezTo>
                  <a:pt x="233363" y="196199"/>
                  <a:pt x="218424" y="211138"/>
                  <a:pt x="200025" y="211138"/>
                </a:cubicBezTo>
                <a:cubicBezTo>
                  <a:pt x="181626" y="211138"/>
                  <a:pt x="166688" y="196199"/>
                  <a:pt x="166688" y="177800"/>
                </a:cubicBezTo>
                <a:cubicBezTo>
                  <a:pt x="166688" y="159401"/>
                  <a:pt x="181626" y="144463"/>
                  <a:pt x="200025" y="144463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5748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Projectile Prefab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828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Prefab components: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SpriteRenderer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Rigidbody2D (Dynamic)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Trigger Collider2D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Projectile script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3970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3775" y="1600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0" name="Text 8"/>
          <p:cNvSpPr/>
          <p:nvPr/>
        </p:nvSpPr>
        <p:spPr>
          <a:xfrm>
            <a:off x="5308600" y="15748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Projectile 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20828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Movement (velocity)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Lifetime (Destroy)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Damage on trigger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Impact effects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1397000"/>
            <a:ext cx="3556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13775" y="1600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88900" y="177800"/>
                </a:moveTo>
                <a:cubicBezTo>
                  <a:pt x="88900" y="239132"/>
                  <a:pt x="138693" y="288925"/>
                  <a:pt x="200025" y="288925"/>
                </a:cubicBezTo>
                <a:cubicBezTo>
                  <a:pt x="261357" y="288925"/>
                  <a:pt x="311150" y="239132"/>
                  <a:pt x="311150" y="177800"/>
                </a:cubicBezTo>
                <a:cubicBezTo>
                  <a:pt x="311150" y="116468"/>
                  <a:pt x="261357" y="66675"/>
                  <a:pt x="200025" y="66675"/>
                </a:cubicBezTo>
                <a:cubicBezTo>
                  <a:pt x="138693" y="66675"/>
                  <a:pt x="88900" y="116468"/>
                  <a:pt x="88900" y="177800"/>
                </a:cubicBezTo>
                <a:close/>
                <a:moveTo>
                  <a:pt x="200025" y="111125"/>
                </a:moveTo>
                <a:cubicBezTo>
                  <a:pt x="236824" y="111125"/>
                  <a:pt x="266700" y="141001"/>
                  <a:pt x="266700" y="177800"/>
                </a:cubicBezTo>
                <a:cubicBezTo>
                  <a:pt x="266700" y="214599"/>
                  <a:pt x="236824" y="244475"/>
                  <a:pt x="200025" y="244475"/>
                </a:cubicBezTo>
                <a:cubicBezTo>
                  <a:pt x="163226" y="244475"/>
                  <a:pt x="133350" y="214599"/>
                  <a:pt x="133350" y="177800"/>
                </a:cubicBezTo>
                <a:cubicBezTo>
                  <a:pt x="133350" y="141001"/>
                  <a:pt x="163226" y="111125"/>
                  <a:pt x="200025" y="111125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9118600" y="15748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 Point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20828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Empty GameObject child: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Positioned at weapon/hand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Direction from player facing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Instantiate point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92000" y="1397000"/>
            <a:ext cx="330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401550" y="16002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928600" y="15748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Shooting Script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6000" y="2082800"/>
            <a:ext cx="279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 shoot input: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Instantiate prefab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direction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Apply velocity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5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5000"/>
              </a:lnSpc>
            </a:pPr>
            <a:r>
              <a:rPr lang="en-US" sz="15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Own layer mask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4635500"/>
            <a:ext cx="14732000" cy="3683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762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PROJECTILE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143500"/>
            <a:ext cx="1422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Projectile : MonoBehaviour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speed = 10f, lifetime = 3f;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SerializeField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damage = 1;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Rigidbody2D rb;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Start() { rb = GetComponent&lt;Rigidbody2D&gt;(); Destroy(gameObject, lifetime);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Launch(Vector2 dir) =&gt; rb.velocity = dir * speed;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OnTriggerEnter2D(Collider2D o) { o.GetComponent&lt;Health&gt;()?.ChangeHealth(-damage); Destroy(gameObject);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Shooter: Instantiate(prefab, spawnPos, rot).GetComponent&lt;Projectile&gt;().Launch(dir);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Combat State Machine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STATES &amp; TRANSITIONS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905000"/>
            <a:ext cx="1778000" cy="6985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05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94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2857500" y="19685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0" y="1905000"/>
            <a:ext cx="1778000" cy="698500"/>
          </a:xfrm>
          <a:prstGeom prst="roundRect">
            <a:avLst>
              <a:gd name="adj" fmla="val 10000"/>
            </a:avLst>
          </a:prstGeom>
          <a:solidFill>
            <a:srgbClr val="E8603A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1905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5651500" y="19685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4000" y="1905000"/>
            <a:ext cx="1778000" cy="6985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604000" y="1905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H="1">
            <a:off x="2794000" y="2603500"/>
            <a:ext cx="5080000" cy="635000"/>
          </a:xfrm>
          <a:prstGeom prst="straightConnector1">
            <a:avLst/>
          </a:prstGeom>
          <a:noFill/>
          <a:ln w="25400">
            <a:solidFill>
              <a:srgbClr val="5A6B7D"/>
            </a:solidFill>
            <a:prstDash val="sysDot"/>
            <a:headEnd type="arrow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318000" y="28575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damage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3302000"/>
            <a:ext cx="1778000" cy="6985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30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94000" y="3619500"/>
            <a:ext cx="3810000" cy="0"/>
          </a:xfrm>
          <a:prstGeom prst="straightConnector1">
            <a:avLst/>
          </a:prstGeom>
          <a:noFill/>
          <a:ln w="25400">
            <a:solidFill>
              <a:srgbClr val="E8603A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3556000" y="36830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i-frames 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4000" y="3302000"/>
            <a:ext cx="1778000" cy="69850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6604000" y="330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88000" y="3302000"/>
            <a:ext cx="1016000" cy="0"/>
          </a:xfrm>
          <a:prstGeom prst="straightConnector1">
            <a:avLst/>
          </a:prstGeom>
          <a:noFill/>
          <a:ln w="25400">
            <a:solidFill>
              <a:srgbClr val="C0392B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5588000" y="3048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health=0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26000" y="3810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381500"/>
            <a:ext cx="14732000" cy="4445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4508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 CODE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4889500"/>
            <a:ext cx="1422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enum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 { Idle, Attacking, Hurt, Dead }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currentState = State.Idle;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Update()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(currentState)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State.Idle: HandleMovement(); HandleInput();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State.Attacking: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locked */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State.Hurt: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i-frames */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State.Dead: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5A6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disabled */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TakeDamage(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dmg, Vector2 src)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(currentState == State.Hurt || currentState == State.Dead)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health.ChangeHealth(-dmg);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(health.GetCurrentHealth() &lt;= 0) currentState = State.Dead;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currentState = State.Hurt; StartCoroutine(HurtRecovery()); }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8646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Knockback &amp; Hit Effects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KNOCKBACK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taking damage, apply force </a:t>
            </a:r>
            <a:pPr>
              <a:lnSpc>
                <a:spcPct val="165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opposite to the damage source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Use 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Rigidbody2D.AddForce()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ForceMode2D.Impulse</a:t>
            </a:r>
            <a:pPr>
              <a:lnSpc>
                <a:spcPct val="165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instant knockback.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14732000" cy="39370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4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KNOCKBACK &amp; HURT STATE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29000"/>
            <a:ext cx="1422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TakeDamage(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dmg, Vector2 src)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health.ChangeHealth(-dmg);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Vector2 dir = ((Vector2)transform.position - src).normalized;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rb.AddForce(dir * knockbackForce, ForceMode2D.Impulse);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StartCoroutine(HurtState());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IEnumerator HurtState()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currentState = State.Hurt;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spriteRenderer.color = Color.red;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WaitForSeconds(0.1f);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spriteRenderer.color = Color.white;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return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WaitForSeconds(iFrameDuration);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currentState = State.Idle;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711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EFFECTS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75184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Hit particles: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Instantiate blood spark / hit flash at collision point using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Instantiate(hitEffectPrefab, hitPoint, Quaternion.identity)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6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 shake: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Brief camera offset on heavy hits for game feel (juice)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Summary &amp;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41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4600" y="1803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Input System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flexible, device-agnostic input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349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349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4600" y="2311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concerns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Input, Visual, Controller, Health, Combat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857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857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4600" y="2819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events (C# Actions)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loose coupling between systems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365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4600" y="3327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handle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physics in FixedUpdate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1841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1841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4600" y="1803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 systems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reusable components with ScriptableObjects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2349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2349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4600" y="2311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Combat requires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animation-hitbox-state coordination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2857500"/>
            <a:ext cx="355600" cy="355600"/>
          </a:xfrm>
          <a:prstGeom prst="ellipse">
            <a:avLst/>
          </a:prstGeom>
          <a:solidFill>
            <a:srgbClr val="E8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2857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4600" y="2819400"/>
            <a:ext cx="647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 Events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sync gameplay with animation timing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406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508500"/>
            <a:ext cx="147320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16000" y="4699000"/>
            <a:ext cx="1422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Mixing input handling with game logic — keep them separate with the Input System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Forgetting to check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isGrounded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jumping — leads to air-jumping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 implementing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i-frames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player dies instantly to rapid damage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Hard-coding damage values — use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ScriptableObjects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serialized fields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Hitbox always enabled — only activate during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 damage frames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state machine — actions overlap and conflict (move while attacking)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Physics in Update instead of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FixedUpdate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inconsistent movement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6B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524000"/>
            <a:ext cx="2540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7780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E860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LAB ASSIGNMENT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22225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Your Player Character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E8603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3365500"/>
            <a:ext cx="1143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Input System for movement (WASD/Arrows + gamepad support)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Jump with ground check (no air-jumping)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Health system with UI display (slider or hearts)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Melee attack with at least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2-hit combo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Damage from enemies with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i-frames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800" b="1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Knockback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B0B8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hit with visual feedback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83000" y="6858000"/>
            <a:ext cx="8890000" cy="1016000"/>
          </a:xfrm>
          <a:prstGeom prst="roundRect">
            <a:avLst>
              <a:gd name="adj" fmla="val 8000"/>
            </a:avLst>
          </a:prstGeom>
          <a:solidFill>
            <a:srgbClr val="E8603A">
              <a:alpha val="12549"/>
            </a:srgbClr>
          </a:solidFill>
          <a:ln w="12700">
            <a:solidFill>
              <a:srgbClr val="E86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0975" y="7137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E8603A"/>
          </a:solidFill>
          <a:ln/>
        </p:spPr>
      </p:sp>
      <p:sp>
        <p:nvSpPr>
          <p:cNvPr id="9" name="Text 7"/>
          <p:cNvSpPr/>
          <p:nvPr/>
        </p:nvSpPr>
        <p:spPr>
          <a:xfrm>
            <a:off x="4521200" y="6959600"/>
            <a:ext cx="774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6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Bonus: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ranged projectile attack and a death/respawn system for extra credit.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5A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luck and have fun building! | Game Programming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— Week 5</dc:title>
  <dc:subject>Game Programming — Week 5</dc:subject>
  <dc:creator>Kimi</dc:creator>
  <cp:lastModifiedBy>Kimi</cp:lastModifiedBy>
  <cp:revision>1</cp:revision>
  <dcterms:created xsi:type="dcterms:W3CDTF">2026-05-24T17:27:20Z</dcterms:created>
  <dcterms:modified xsi:type="dcterms:W3CDTF">2026-05-24T17:27:20Z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{"Label":"Game Programming — Week 5","ContentProducer":"001191110108MACG2KBH8F10000","ProduceID":"19e5b062-2322-8eb8-8000-0000f29917a1","ReservedCode1":"","ContentPropagator":"001191110108MACG2KBH8F20000","PropagateID":"19e5b062-2322-8eb8-8000-0000f29917a1","ReservedCode2":""}</vt:lpwstr>
  </property>
</Properties>
</file>