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Quattrocento Sans" charset="-122" pitchFamily="34"/>
      <p:regular r:id="rId35"/>
    </p:embeddedFont>
    <p:embeddedFont>
      <p:font typeface="Oranienbaum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 ($)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D34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Year 0</c:v>
                  </c:pt>
                  <c:pt idx="1">
                    <c:v>Year 1</c:v>
                  </c:pt>
                  <c:pt idx="2">
                    <c:v>Year 2</c:v>
                  </c:pt>
                  <c:pt idx="3">
                    <c:v>Year 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</c:v>
                </c:pt>
                <c:pt idx="1">
                  <c:v>1080</c:v>
                </c:pt>
                <c:pt idx="2">
                  <c:v>1166</c:v>
                </c:pt>
                <c:pt idx="3">
                  <c:v>1260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D34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796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4e0dc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796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Future Value ($)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D34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Annual</c:v>
                  </c:pt>
                  <c:pt idx="1">
                    <c:v>Quarterly</c:v>
                  </c:pt>
                  <c:pt idx="2">
                    <c:v>Monthly</c:v>
                  </c:pt>
                  <c:pt idx="3">
                    <c:v>Daily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11000</c:v>
                </c:pt>
                <c:pt idx="1">
                  <c:v>11038</c:v>
                </c:pt>
                <c:pt idx="2">
                  <c:v>11047</c:v>
                </c:pt>
                <c:pt idx="3">
                  <c:v>11052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D34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796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100"/>
          <c:min val="10950"/>
        </c:scaling>
        <c:delete val="0"/>
        <c:axPos val="l"/>
        <c:majorGridlines>
          <c:spPr>
            <a:ln w="12700" cap="flat">
              <a:solidFill>
                <a:srgbClr val="d4e0dc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796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nvestopedia.com/terms/t/timevalueofmoney.as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home.ubalt.edu/ntsbarsh/business-stat/otherapplets/CompoundCal.ht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vestopedia.com/terms/t/timevalueofmoney.asp" TargetMode="External"/><Relationship Id="rId1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analystprep.com/cfa-level-1-exam/quantitative-methods/annuity-formulas-example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nvestopedia.com/terms/e/effectiveinterest.as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raduatetutor.com/corporate-finance-tutoring/annual-percentage-rate-apr-vs-effective-annual-rate-ear-formulas-differences-application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nvestopedia.com/terms/e/effectiveinterest.as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raduatetutor.com/corporate-finance-tutoring/annual-percentage-rate-apr-vs-effective-annual-rate-ear-formulas-differences-application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analystprep.com/cfa-level-1-exam/quantitative-methods/annuity-formulas-example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gohdckv4tqt6/mnt/agents/output/tvm_presentation/images/6_Vintage_pocket_watch_on_dark_background.png">    </p:cNvPr>
          <p:cNvPicPr>
            <a:picLocks noChangeAspect="1"/>
          </p:cNvPicPr>
          <p:nvPr/>
        </p:nvPicPr>
        <p:blipFill>
          <a:blip r:embed="rId1"/>
          <a:srcRect l="1540" r="154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94000"/>
                </a:srgbClr>
              </a:gs>
              <a:gs pos="55000">
                <a:srgbClr val="1B4332">
                  <a:alpha val="80000"/>
                </a:srgbClr>
              </a:gs>
              <a:gs pos="100000">
                <a:srgbClr val="1B4332">
                  <a:alpha val="25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16000" y="2794000"/>
            <a:ext cx="1016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2"/>
          <p:cNvSpPr/>
          <p:nvPr/>
        </p:nvSpPr>
        <p:spPr>
          <a:xfrm>
            <a:off x="1016000" y="3048000"/>
            <a:ext cx="889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5200" spc="400" kern="0" dirty="0">
                <a:solidFill>
                  <a:srgbClr val="F5F1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TIME VALUE</a:t>
            </a:r>
            <a:endParaRPr lang="en-US" sz="5200" dirty="0"/>
          </a:p>
          <a:p>
            <a:pPr>
              <a:lnSpc>
                <a:spcPct val="120000"/>
              </a:lnSpc>
            </a:pPr>
            <a:r>
              <a:rPr lang="en-US" sz="5200" spc="400" kern="0" dirty="0">
                <a:solidFill>
                  <a:srgbClr val="F5F1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OF MONEY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1016000" y="5016500"/>
            <a:ext cx="1524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270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F5F1EB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5-6 | Financial Mathematics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16000" y="5905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5F1EB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Compound Interest | Annuities | Interest Rates | Perpetuities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C9A227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600" kern="0" dirty="0">
                <a:solidFill>
                  <a:srgbClr val="52796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10795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Course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841500"/>
            <a:ext cx="14732000" cy="25400"/>
          </a:xfrm>
          <a:prstGeom prst="rect">
            <a:avLst/>
          </a:prstGeom>
          <a:solidFill>
            <a:srgbClr val="D4E0DC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159000"/>
            <a:ext cx="7048500" cy="2921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159000"/>
            <a:ext cx="50800" cy="2921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23495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66800" y="3111500"/>
            <a:ext cx="647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Compound Interest, Future &amp; Present Value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3581400"/>
            <a:ext cx="647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Foundations of TVM, compounding, discounting, and the effect of compounding frequency on investment returns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66800" y="4508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ubicBezTo>
                  <a:pt x="0" y="68288"/>
                  <a:pt x="68288" y="0"/>
                  <a:pt x="152400" y="0"/>
                </a:cubicBezTo>
                <a:close/>
                <a:moveTo>
                  <a:pt x="138113" y="71438"/>
                </a:moveTo>
                <a:lnTo>
                  <a:pt x="138113" y="152400"/>
                </a:lnTo>
                <a:cubicBezTo>
                  <a:pt x="138113" y="157163"/>
                  <a:pt x="140494" y="161627"/>
                  <a:pt x="144482" y="164306"/>
                </a:cubicBezTo>
                <a:lnTo>
                  <a:pt x="201632" y="202406"/>
                </a:lnTo>
                <a:cubicBezTo>
                  <a:pt x="208181" y="206812"/>
                  <a:pt x="217051" y="205026"/>
                  <a:pt x="221456" y="198418"/>
                </a:cubicBezTo>
                <a:cubicBezTo>
                  <a:pt x="225862" y="191810"/>
                  <a:pt x="224076" y="182999"/>
                  <a:pt x="217468" y="178594"/>
                </a:cubicBezTo>
                <a:lnTo>
                  <a:pt x="166688" y="144780"/>
                </a:lnTo>
                <a:lnTo>
                  <a:pt x="166688" y="71438"/>
                </a:lnTo>
                <a:cubicBezTo>
                  <a:pt x="166688" y="63520"/>
                  <a:pt x="160318" y="57150"/>
                  <a:pt x="152400" y="57150"/>
                </a:cubicBezTo>
                <a:cubicBezTo>
                  <a:pt x="144482" y="57150"/>
                  <a:pt x="138113" y="63520"/>
                  <a:pt x="138113" y="71438"/>
                </a:cubicBezTo>
                <a:close/>
              </a:path>
            </a:pathLst>
          </a:custGeom>
          <a:solidFill>
            <a:srgbClr val="52796F"/>
          </a:solidFill>
          <a:ln/>
        </p:spPr>
      </p:sp>
      <p:sp>
        <p:nvSpPr>
          <p:cNvPr id="11" name="Shape 9"/>
          <p:cNvSpPr/>
          <p:nvPr/>
        </p:nvSpPr>
        <p:spPr>
          <a:xfrm>
            <a:off x="8445500" y="2159000"/>
            <a:ext cx="7048500" cy="2921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445500" y="2159000"/>
            <a:ext cx="50800" cy="2921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8750300" y="23495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750300" y="3111500"/>
            <a:ext cx="647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Annuities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50300" y="3581400"/>
            <a:ext cx="647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Ordinary annuities, annuity due, future value and present value calculations with worked examples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769350" y="4508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76200" y="0"/>
                </a:moveTo>
                <a:cubicBezTo>
                  <a:pt x="86737" y="0"/>
                  <a:pt x="95250" y="8513"/>
                  <a:pt x="95250" y="19050"/>
                </a:cubicBezTo>
                <a:lnTo>
                  <a:pt x="95250" y="38100"/>
                </a:lnTo>
                <a:lnTo>
                  <a:pt x="171450" y="38100"/>
                </a:lnTo>
                <a:lnTo>
                  <a:pt x="171450" y="19050"/>
                </a:lnTo>
                <a:cubicBezTo>
                  <a:pt x="171450" y="8513"/>
                  <a:pt x="179963" y="0"/>
                  <a:pt x="190500" y="0"/>
                </a:cubicBezTo>
                <a:cubicBezTo>
                  <a:pt x="201037" y="0"/>
                  <a:pt x="209550" y="8513"/>
                  <a:pt x="209550" y="19050"/>
                </a:cubicBezTo>
                <a:lnTo>
                  <a:pt x="209550" y="38100"/>
                </a:lnTo>
                <a:lnTo>
                  <a:pt x="228600" y="38100"/>
                </a:lnTo>
                <a:cubicBezTo>
                  <a:pt x="249615" y="38100"/>
                  <a:pt x="266700" y="55185"/>
                  <a:pt x="266700" y="76200"/>
                </a:cubicBezTo>
                <a:lnTo>
                  <a:pt x="266700" y="247650"/>
                </a:lnTo>
                <a:cubicBezTo>
                  <a:pt x="266700" y="268665"/>
                  <a:pt x="249615" y="285750"/>
                  <a:pt x="228600" y="285750"/>
                </a:cubicBezTo>
                <a:lnTo>
                  <a:pt x="38100" y="285750"/>
                </a:lnTo>
                <a:cubicBezTo>
                  <a:pt x="17085" y="285750"/>
                  <a:pt x="0" y="268665"/>
                  <a:pt x="0" y="247650"/>
                </a:cubicBezTo>
                <a:lnTo>
                  <a:pt x="0" y="76200"/>
                </a:lnTo>
                <a:cubicBezTo>
                  <a:pt x="0" y="55185"/>
                  <a:pt x="17085" y="38100"/>
                  <a:pt x="38100" y="38100"/>
                </a:cubicBezTo>
                <a:lnTo>
                  <a:pt x="57150" y="38100"/>
                </a:lnTo>
                <a:lnTo>
                  <a:pt x="57150" y="19050"/>
                </a:lnTo>
                <a:cubicBezTo>
                  <a:pt x="57150" y="8513"/>
                  <a:pt x="65663" y="0"/>
                  <a:pt x="76200" y="0"/>
                </a:cubicBezTo>
                <a:close/>
                <a:moveTo>
                  <a:pt x="183594" y="136148"/>
                </a:moveTo>
                <a:cubicBezTo>
                  <a:pt x="187762" y="129480"/>
                  <a:pt x="185738" y="120670"/>
                  <a:pt x="179070" y="116443"/>
                </a:cubicBezTo>
                <a:cubicBezTo>
                  <a:pt x="172402" y="112216"/>
                  <a:pt x="163592" y="114300"/>
                  <a:pt x="159365" y="120967"/>
                </a:cubicBezTo>
                <a:lnTo>
                  <a:pt x="122813" y="179487"/>
                </a:lnTo>
                <a:lnTo>
                  <a:pt x="106740" y="158055"/>
                </a:lnTo>
                <a:cubicBezTo>
                  <a:pt x="101977" y="151745"/>
                  <a:pt x="93047" y="150435"/>
                  <a:pt x="86737" y="155198"/>
                </a:cubicBezTo>
                <a:cubicBezTo>
                  <a:pt x="80427" y="159960"/>
                  <a:pt x="79117" y="168890"/>
                  <a:pt x="83880" y="175200"/>
                </a:cubicBezTo>
                <a:lnTo>
                  <a:pt x="112455" y="213300"/>
                </a:lnTo>
                <a:cubicBezTo>
                  <a:pt x="115252" y="217051"/>
                  <a:pt x="119777" y="219194"/>
                  <a:pt x="124480" y="219015"/>
                </a:cubicBezTo>
                <a:cubicBezTo>
                  <a:pt x="129183" y="218837"/>
                  <a:pt x="133469" y="216337"/>
                  <a:pt x="135969" y="212288"/>
                </a:cubicBezTo>
                <a:lnTo>
                  <a:pt x="183594" y="136088"/>
                </a:lnTo>
                <a:close/>
              </a:path>
            </a:pathLst>
          </a:custGeom>
          <a:solidFill>
            <a:srgbClr val="52796F"/>
          </a:solidFill>
          <a:ln/>
        </p:spPr>
      </p:sp>
      <p:sp>
        <p:nvSpPr>
          <p:cNvPr id="17" name="Shape 15"/>
          <p:cNvSpPr/>
          <p:nvPr/>
        </p:nvSpPr>
        <p:spPr>
          <a:xfrm>
            <a:off x="762000" y="5461000"/>
            <a:ext cx="7048500" cy="2921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18" name="Shape 16"/>
          <p:cNvSpPr/>
          <p:nvPr/>
        </p:nvSpPr>
        <p:spPr>
          <a:xfrm>
            <a:off x="762000" y="5461000"/>
            <a:ext cx="50800" cy="2921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1066800" y="56515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1066800" y="6413500"/>
            <a:ext cx="647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Making Interest Rates Comparable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66800" y="6883400"/>
            <a:ext cx="647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APR vs EAR, effective annual rate calculations, and comparing investments with different compounding periods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28700" y="78105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28600" y="19050"/>
                </a:moveTo>
                <a:lnTo>
                  <a:pt x="304800" y="19050"/>
                </a:lnTo>
                <a:cubicBezTo>
                  <a:pt x="315337" y="19050"/>
                  <a:pt x="323850" y="27563"/>
                  <a:pt x="323850" y="38100"/>
                </a:cubicBezTo>
                <a:cubicBezTo>
                  <a:pt x="323850" y="48637"/>
                  <a:pt x="315337" y="57150"/>
                  <a:pt x="304800" y="57150"/>
                </a:cubicBezTo>
                <a:lnTo>
                  <a:pt x="237173" y="57150"/>
                </a:lnTo>
                <a:cubicBezTo>
                  <a:pt x="234077" y="72509"/>
                  <a:pt x="223540" y="85189"/>
                  <a:pt x="209550" y="91261"/>
                </a:cubicBezTo>
                <a:lnTo>
                  <a:pt x="209550" y="266700"/>
                </a:lnTo>
                <a:lnTo>
                  <a:pt x="304800" y="266700"/>
                </a:lnTo>
                <a:cubicBezTo>
                  <a:pt x="315337" y="266700"/>
                  <a:pt x="323850" y="275213"/>
                  <a:pt x="323850" y="285750"/>
                </a:cubicBezTo>
                <a:cubicBezTo>
                  <a:pt x="323850" y="296287"/>
                  <a:pt x="315337" y="304800"/>
                  <a:pt x="304800" y="304800"/>
                </a:cubicBezTo>
                <a:lnTo>
                  <a:pt x="76200" y="304800"/>
                </a:lnTo>
                <a:cubicBezTo>
                  <a:pt x="65663" y="304800"/>
                  <a:pt x="57150" y="296287"/>
                  <a:pt x="57150" y="285750"/>
                </a:cubicBezTo>
                <a:cubicBezTo>
                  <a:pt x="57150" y="275213"/>
                  <a:pt x="65663" y="266700"/>
                  <a:pt x="76200" y="266700"/>
                </a:cubicBezTo>
                <a:lnTo>
                  <a:pt x="171450" y="266700"/>
                </a:lnTo>
                <a:lnTo>
                  <a:pt x="171450" y="91261"/>
                </a:lnTo>
                <a:cubicBezTo>
                  <a:pt x="157460" y="85130"/>
                  <a:pt x="146923" y="72450"/>
                  <a:pt x="143828" y="57150"/>
                </a:cubicBezTo>
                <a:lnTo>
                  <a:pt x="76200" y="57150"/>
                </a:lnTo>
                <a:cubicBezTo>
                  <a:pt x="65663" y="57150"/>
                  <a:pt x="57150" y="48637"/>
                  <a:pt x="57150" y="38100"/>
                </a:cubicBezTo>
                <a:cubicBezTo>
                  <a:pt x="57150" y="27563"/>
                  <a:pt x="65663" y="19050"/>
                  <a:pt x="76200" y="19050"/>
                </a:cubicBezTo>
                <a:lnTo>
                  <a:pt x="152400" y="19050"/>
                </a:lnTo>
                <a:cubicBezTo>
                  <a:pt x="161092" y="7501"/>
                  <a:pt x="174903" y="0"/>
                  <a:pt x="190500" y="0"/>
                </a:cubicBezTo>
                <a:cubicBezTo>
                  <a:pt x="206097" y="0"/>
                  <a:pt x="219908" y="7501"/>
                  <a:pt x="228600" y="19050"/>
                </a:cubicBezTo>
                <a:close/>
                <a:moveTo>
                  <a:pt x="261699" y="190500"/>
                </a:moveTo>
                <a:lnTo>
                  <a:pt x="347901" y="190500"/>
                </a:lnTo>
                <a:lnTo>
                  <a:pt x="304800" y="116562"/>
                </a:lnTo>
                <a:lnTo>
                  <a:pt x="261699" y="190500"/>
                </a:lnTo>
                <a:close/>
                <a:moveTo>
                  <a:pt x="304800" y="247650"/>
                </a:moveTo>
                <a:cubicBezTo>
                  <a:pt x="267355" y="247650"/>
                  <a:pt x="236220" y="227409"/>
                  <a:pt x="229791" y="200680"/>
                </a:cubicBezTo>
                <a:cubicBezTo>
                  <a:pt x="228243" y="194131"/>
                  <a:pt x="230386" y="187404"/>
                  <a:pt x="233779" y="181570"/>
                </a:cubicBezTo>
                <a:lnTo>
                  <a:pt x="290453" y="84415"/>
                </a:lnTo>
                <a:cubicBezTo>
                  <a:pt x="293430" y="79296"/>
                  <a:pt x="298906" y="76200"/>
                  <a:pt x="304800" y="76200"/>
                </a:cubicBezTo>
                <a:cubicBezTo>
                  <a:pt x="310694" y="76200"/>
                  <a:pt x="316170" y="79355"/>
                  <a:pt x="319147" y="84415"/>
                </a:cubicBezTo>
                <a:lnTo>
                  <a:pt x="375821" y="181570"/>
                </a:lnTo>
                <a:cubicBezTo>
                  <a:pt x="379214" y="187404"/>
                  <a:pt x="381357" y="194131"/>
                  <a:pt x="379809" y="200680"/>
                </a:cubicBezTo>
                <a:cubicBezTo>
                  <a:pt x="373380" y="227350"/>
                  <a:pt x="342245" y="247650"/>
                  <a:pt x="304800" y="247650"/>
                </a:cubicBezTo>
                <a:close/>
                <a:moveTo>
                  <a:pt x="75486" y="116562"/>
                </a:moveTo>
                <a:lnTo>
                  <a:pt x="32385" y="190500"/>
                </a:lnTo>
                <a:lnTo>
                  <a:pt x="118646" y="190500"/>
                </a:lnTo>
                <a:lnTo>
                  <a:pt x="75486" y="116562"/>
                </a:lnTo>
                <a:close/>
                <a:moveTo>
                  <a:pt x="536" y="200680"/>
                </a:moveTo>
                <a:cubicBezTo>
                  <a:pt x="-1012" y="194131"/>
                  <a:pt x="1131" y="187404"/>
                  <a:pt x="4524" y="181570"/>
                </a:cubicBezTo>
                <a:lnTo>
                  <a:pt x="61198" y="84415"/>
                </a:lnTo>
                <a:cubicBezTo>
                  <a:pt x="64175" y="79296"/>
                  <a:pt x="69652" y="76200"/>
                  <a:pt x="75545" y="76200"/>
                </a:cubicBezTo>
                <a:cubicBezTo>
                  <a:pt x="81439" y="76200"/>
                  <a:pt x="86916" y="79355"/>
                  <a:pt x="89892" y="84415"/>
                </a:cubicBezTo>
                <a:lnTo>
                  <a:pt x="146566" y="181570"/>
                </a:lnTo>
                <a:cubicBezTo>
                  <a:pt x="149959" y="187404"/>
                  <a:pt x="152102" y="194131"/>
                  <a:pt x="150555" y="200680"/>
                </a:cubicBezTo>
                <a:cubicBezTo>
                  <a:pt x="144125" y="227350"/>
                  <a:pt x="112990" y="247650"/>
                  <a:pt x="75545" y="247650"/>
                </a:cubicBezTo>
                <a:cubicBezTo>
                  <a:pt x="38100" y="247650"/>
                  <a:pt x="6965" y="227409"/>
                  <a:pt x="536" y="200680"/>
                </a:cubicBezTo>
                <a:close/>
              </a:path>
            </a:pathLst>
          </a:custGeom>
          <a:solidFill>
            <a:srgbClr val="52796F"/>
          </a:solidFill>
          <a:ln/>
        </p:spPr>
      </p:sp>
      <p:sp>
        <p:nvSpPr>
          <p:cNvPr id="23" name="Shape 21"/>
          <p:cNvSpPr/>
          <p:nvPr/>
        </p:nvSpPr>
        <p:spPr>
          <a:xfrm>
            <a:off x="8445500" y="5461000"/>
            <a:ext cx="7048500" cy="2921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24" name="Shape 22"/>
          <p:cNvSpPr/>
          <p:nvPr/>
        </p:nvSpPr>
        <p:spPr>
          <a:xfrm>
            <a:off x="8445500" y="5461000"/>
            <a:ext cx="50800" cy="2921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8750300" y="56515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4800" dirty="0"/>
          </a:p>
        </p:txBody>
      </p:sp>
      <p:sp>
        <p:nvSpPr>
          <p:cNvPr id="26" name="Text 24"/>
          <p:cNvSpPr/>
          <p:nvPr/>
        </p:nvSpPr>
        <p:spPr>
          <a:xfrm>
            <a:off x="8750300" y="6413500"/>
            <a:ext cx="647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Uneven Streams &amp; Perpetuities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750300" y="6883400"/>
            <a:ext cx="647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Present value of irregular cash flows and infinite perpetuity valuation with practical applications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712200" y="78105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0" y="152400"/>
                </a:moveTo>
                <a:cubicBezTo>
                  <a:pt x="0" y="99774"/>
                  <a:pt x="42624" y="57150"/>
                  <a:pt x="95250" y="57150"/>
                </a:cubicBezTo>
                <a:cubicBezTo>
                  <a:pt x="125254" y="57150"/>
                  <a:pt x="153472" y="71259"/>
                  <a:pt x="171450" y="95250"/>
                </a:cubicBezTo>
                <a:lnTo>
                  <a:pt x="190500" y="120670"/>
                </a:lnTo>
                <a:lnTo>
                  <a:pt x="209550" y="95250"/>
                </a:lnTo>
                <a:cubicBezTo>
                  <a:pt x="227528" y="71259"/>
                  <a:pt x="255746" y="57150"/>
                  <a:pt x="285750" y="57150"/>
                </a:cubicBezTo>
                <a:cubicBezTo>
                  <a:pt x="338376" y="57150"/>
                  <a:pt x="381000" y="99774"/>
                  <a:pt x="381000" y="152400"/>
                </a:cubicBezTo>
                <a:cubicBezTo>
                  <a:pt x="381000" y="205026"/>
                  <a:pt x="338376" y="247650"/>
                  <a:pt x="285750" y="247650"/>
                </a:cubicBezTo>
                <a:cubicBezTo>
                  <a:pt x="255746" y="247650"/>
                  <a:pt x="227528" y="233541"/>
                  <a:pt x="209550" y="209550"/>
                </a:cubicBezTo>
                <a:lnTo>
                  <a:pt x="190500" y="184130"/>
                </a:lnTo>
                <a:lnTo>
                  <a:pt x="171450" y="209550"/>
                </a:lnTo>
                <a:cubicBezTo>
                  <a:pt x="153472" y="233541"/>
                  <a:pt x="125254" y="247650"/>
                  <a:pt x="95250" y="247650"/>
                </a:cubicBezTo>
                <a:cubicBezTo>
                  <a:pt x="42624" y="247650"/>
                  <a:pt x="0" y="205026"/>
                  <a:pt x="0" y="152400"/>
                </a:cubicBezTo>
                <a:close/>
                <a:moveTo>
                  <a:pt x="166688" y="152400"/>
                </a:moveTo>
                <a:lnTo>
                  <a:pt x="140970" y="118110"/>
                </a:lnTo>
                <a:cubicBezTo>
                  <a:pt x="130195" y="103703"/>
                  <a:pt x="113228" y="95250"/>
                  <a:pt x="95250" y="95250"/>
                </a:cubicBezTo>
                <a:cubicBezTo>
                  <a:pt x="63698" y="95250"/>
                  <a:pt x="38100" y="120848"/>
                  <a:pt x="38100" y="152400"/>
                </a:cubicBezTo>
                <a:cubicBezTo>
                  <a:pt x="38100" y="183952"/>
                  <a:pt x="63698" y="209550"/>
                  <a:pt x="95250" y="209550"/>
                </a:cubicBezTo>
                <a:cubicBezTo>
                  <a:pt x="113228" y="209550"/>
                  <a:pt x="130195" y="201097"/>
                  <a:pt x="140970" y="186690"/>
                </a:cubicBezTo>
                <a:lnTo>
                  <a:pt x="166688" y="152400"/>
                </a:lnTo>
                <a:close/>
                <a:moveTo>
                  <a:pt x="214313" y="152400"/>
                </a:moveTo>
                <a:lnTo>
                  <a:pt x="240030" y="186690"/>
                </a:lnTo>
                <a:cubicBezTo>
                  <a:pt x="250805" y="201097"/>
                  <a:pt x="267772" y="209550"/>
                  <a:pt x="285750" y="209550"/>
                </a:cubicBezTo>
                <a:cubicBezTo>
                  <a:pt x="317302" y="209550"/>
                  <a:pt x="342900" y="183952"/>
                  <a:pt x="342900" y="152400"/>
                </a:cubicBezTo>
                <a:cubicBezTo>
                  <a:pt x="342900" y="120848"/>
                  <a:pt x="317302" y="95250"/>
                  <a:pt x="285750" y="95250"/>
                </a:cubicBezTo>
                <a:cubicBezTo>
                  <a:pt x="267772" y="95250"/>
                  <a:pt x="250805" y="103703"/>
                  <a:pt x="240030" y="118110"/>
                </a:cubicBezTo>
                <a:lnTo>
                  <a:pt x="214313" y="152400"/>
                </a:lnTo>
                <a:close/>
              </a:path>
            </a:pathLst>
          </a:custGeom>
          <a:solidFill>
            <a:srgbClr val="52796F"/>
          </a:solidFill>
          <a:ln/>
        </p:spPr>
      </p:sp>
      <p:sp>
        <p:nvSpPr>
          <p:cNvPr id="29" name="Shape 27"/>
          <p:cNvSpPr/>
          <p:nvPr/>
        </p:nvSpPr>
        <p:spPr>
          <a:xfrm>
            <a:off x="13970000" y="8763000"/>
            <a:ext cx="1524000" cy="254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30" name="Text 28"/>
          <p:cNvSpPr/>
          <p:nvPr/>
        </p:nvSpPr>
        <p:spPr>
          <a:xfrm>
            <a:off x="13970000" y="87884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gohdckv4tqt6/mnt/agents/output/tvm_presentation/images/1_Antique_Gold_Pocket_Watch_Intricate.png">    </p:cNvPr>
          <p:cNvPicPr>
            <a:picLocks noChangeAspect="1"/>
          </p:cNvPicPr>
          <p:nvPr/>
        </p:nvPicPr>
        <p:blipFill>
          <a:blip r:embed="rId1"/>
          <a:srcRect l="25941" r="25941" t="0" b="0"/>
          <a:stretch/>
        </p:blipFill>
        <p:spPr>
          <a:xfrm>
            <a:off x="0" y="0"/>
            <a:ext cx="6604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26000" y="0"/>
            <a:ext cx="2032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0"/>
                </a:srgbClr>
              </a:gs>
              <a:gs pos="100000">
                <a:srgbClr val="1B4332"/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112000" y="1524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FFFFFF">
                    <a:alpha val="10196"/>
                  </a:srgbClr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366000" y="3810000"/>
            <a:ext cx="762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3"/>
          <p:cNvSpPr/>
          <p:nvPr/>
        </p:nvSpPr>
        <p:spPr>
          <a:xfrm>
            <a:off x="7366000" y="4064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400" kern="0" dirty="0">
                <a:solidFill>
                  <a:srgbClr val="F5F1EB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ONE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66000" y="4508500"/>
            <a:ext cx="812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4000" spc="200" kern="0" dirty="0">
                <a:solidFill>
                  <a:srgbClr val="F5F1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Compound Interest,</a:t>
            </a:r>
            <a:endParaRPr lang="en-US" sz="4000" dirty="0"/>
          </a:p>
          <a:p>
            <a:pPr>
              <a:lnSpc>
                <a:spcPct val="130000"/>
              </a:lnSpc>
            </a:pPr>
            <a:r>
              <a:rPr lang="en-US" sz="4000" spc="200" kern="0" dirty="0">
                <a:solidFill>
                  <a:srgbClr val="F5F1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Future &amp; Present Value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66000" y="6096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F5F1EB">
                    <a:alpha val="66667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the foundation of financial mathematics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C9A227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Why Money Has Time Value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25400"/>
          </a:xfrm>
          <a:prstGeom prst="rect">
            <a:avLst/>
          </a:prstGeom>
          <a:solidFill>
            <a:srgbClr val="D4E0D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 dollar today is worth more than a dollar tomorrow.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095500"/>
            <a:ext cx="50800" cy="1397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095500"/>
            <a:ext cx="711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Opportunity to Earn Interest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Money received today can be invested to generate returns. $100 at 5% becomes $105 in one year.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3683000"/>
            <a:ext cx="50800" cy="1397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683000"/>
            <a:ext cx="711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Inflation Erodes Purchasing Power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Prices rise over time. $100 today buys more than $100 will in the future.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5270500"/>
            <a:ext cx="50800" cy="1270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52705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Uncertainty of Future Payments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People are risk-averse. A guaranteed dollar today beats a promised dollar tomorrow.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636000" y="1397000"/>
            <a:ext cx="6858000" cy="4318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12" name="Text 10"/>
          <p:cNvSpPr/>
          <p:nvPr/>
        </p:nvSpPr>
        <p:spPr>
          <a:xfrm>
            <a:off x="8890000" y="1587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Time Value in Action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0" y="2540000"/>
            <a:ext cx="5842000" cy="254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33000" y="2463800"/>
            <a:ext cx="177800" cy="1778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13843000" y="2463800"/>
            <a:ext cx="177800" cy="177800"/>
          </a:xfrm>
          <a:prstGeom prst="ellipse">
            <a:avLst/>
          </a:prstGeom>
          <a:solidFill>
            <a:srgbClr val="52796F"/>
          </a:solidFill>
          <a:ln/>
        </p:spPr>
      </p:sp>
      <p:sp>
        <p:nvSpPr>
          <p:cNvPr id="16" name="Text 14"/>
          <p:cNvSpPr/>
          <p:nvPr/>
        </p:nvSpPr>
        <p:spPr>
          <a:xfrm>
            <a:off x="9271000" y="2794000"/>
            <a:ext cx="177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Today (t=0)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$100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081000" y="2794000"/>
            <a:ext cx="177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Year (t=1)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$100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414000" y="3683000"/>
            <a:ext cx="3048000" cy="5080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4445000"/>
            <a:ext cx="584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Invested at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5%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interest: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22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$100 today = $105 in one year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6731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30000"/>
              </a:lnSpc>
            </a:pPr>
            <a:r>
              <a:rPr lang="en-US" sz="1200" u="sng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Investopedia - Time Value of Money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3970000" y="8763000"/>
            <a:ext cx="1524000" cy="254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22" name="Text 20"/>
          <p:cNvSpPr/>
          <p:nvPr/>
        </p:nvSpPr>
        <p:spPr>
          <a:xfrm>
            <a:off x="13970000" y="87884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Power of Compounding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25400"/>
          </a:xfrm>
          <a:prstGeom prst="rect">
            <a:avLst/>
          </a:prstGeom>
          <a:solidFill>
            <a:srgbClr val="D4E0D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71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300" kern="0" dirty="0">
                <a:solidFill>
                  <a:srgbClr val="52796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651000"/>
            <a:ext cx="711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Compound Interest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interest earned on both the principal </a:t>
            </a:r>
            <a:pPr>
              <a:lnSpc>
                <a:spcPct val="160000"/>
              </a:lnSpc>
            </a:pPr>
            <a:r>
              <a:rPr lang="en-US" sz="1800" i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accumulated interest. Contrast with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Simple Interest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(interest on principal only).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3149600"/>
            <a:ext cx="7112000" cy="889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251200"/>
            <a:ext cx="660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FV = PV x (1 + i)</a:t>
            </a:r>
            <a:pPr algn="ctr">
              <a:lnSpc>
                <a:spcPct val="140000"/>
              </a:lnSpc>
            </a:pPr>
            <a:r>
              <a:rPr lang="en-US" sz="2200" baseline="300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62000" y="4127500"/>
            <a:ext cx="711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FV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Future Value |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PV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Present Value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Interest rate per period |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Number of periods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term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(1 + i)</a:t>
            </a:r>
            <a:pPr>
              <a:lnSpc>
                <a:spcPct val="150000"/>
              </a:lnSpc>
            </a:pPr>
            <a:r>
              <a:rPr lang="en-US" sz="1500" b="1" baseline="300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the Future Value Interest Factor (FVIF)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533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300" kern="0" dirty="0">
                <a:solidFill>
                  <a:srgbClr val="52796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 RULES OF TIME TRAVEL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5778500"/>
            <a:ext cx="50800" cy="698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965200" y="5778500"/>
            <a:ext cx="685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Rule 1: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Only values at the same point in time can be compared.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6604000"/>
            <a:ext cx="50800" cy="825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965200" y="6604000"/>
            <a:ext cx="685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Rule 2: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move cash flow forward →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Compound it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FV = PV x (1 + i)</a:t>
            </a:r>
            <a:pPr>
              <a:lnSpc>
                <a:spcPct val="160000"/>
              </a:lnSpc>
            </a:pPr>
            <a:r>
              <a:rPr lang="en-US" sz="1400" baseline="300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7556500"/>
            <a:ext cx="50800" cy="825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" y="7556500"/>
            <a:ext cx="685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Rule 3: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move cash flow backward →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Discount it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PV = FV / (1 + i)</a:t>
            </a:r>
            <a:pPr>
              <a:lnSpc>
                <a:spcPct val="160000"/>
              </a:lnSpc>
            </a:pPr>
            <a:r>
              <a:rPr lang="en-US" sz="1400" baseline="300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82000" y="1397000"/>
            <a:ext cx="7112000" cy="6604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0" y="1587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200" kern="0" dirty="0">
                <a:solidFill>
                  <a:srgbClr val="F5F1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COMPOUNDING VISUALIZED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017000" y="2222500"/>
            <a:ext cx="5842000" cy="25400"/>
          </a:xfrm>
          <a:prstGeom prst="rect">
            <a:avLst/>
          </a:prstGeom>
          <a:solidFill>
            <a:srgbClr val="F5F1EB">
              <a:alpha val="25098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763000" y="2476500"/>
            <a:ext cx="698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$600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652000" y="3810000"/>
            <a:ext cx="698500" cy="1524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Shape 19"/>
          <p:cNvSpPr/>
          <p:nvPr/>
        </p:nvSpPr>
        <p:spPr>
          <a:xfrm>
            <a:off x="10604500" y="3302000"/>
            <a:ext cx="698500" cy="2032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Shape 20"/>
          <p:cNvSpPr/>
          <p:nvPr/>
        </p:nvSpPr>
        <p:spPr>
          <a:xfrm>
            <a:off x="11557000" y="2730500"/>
            <a:ext cx="698500" cy="260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3" name="Shape 21"/>
          <p:cNvSpPr/>
          <p:nvPr/>
        </p:nvSpPr>
        <p:spPr>
          <a:xfrm>
            <a:off x="12509500" y="2095500"/>
            <a:ext cx="698500" cy="3238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4" name="Shape 22"/>
          <p:cNvSpPr/>
          <p:nvPr/>
        </p:nvSpPr>
        <p:spPr>
          <a:xfrm>
            <a:off x="13462000" y="2032000"/>
            <a:ext cx="698500" cy="3302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5" name="Shape 23"/>
          <p:cNvSpPr/>
          <p:nvPr/>
        </p:nvSpPr>
        <p:spPr>
          <a:xfrm>
            <a:off x="9652000" y="5334000"/>
            <a:ext cx="4508500" cy="25400"/>
          </a:xfrm>
          <a:prstGeom prst="rect">
            <a:avLst/>
          </a:prstGeom>
          <a:solidFill>
            <a:srgbClr val="F5F1EB">
              <a:alpha val="37647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652000" y="5461000"/>
            <a:ext cx="4508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5F1EB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 1 Year 2 Year 3 Year 4 Year 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763000" y="59690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5F1EB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$500 invested at 5% annual interest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FV</a:t>
            </a:r>
            <a:pPr algn="ctr">
              <a:lnSpc>
                <a:spcPct val="150000"/>
              </a:lnSpc>
            </a:pPr>
            <a:r>
              <a:rPr lang="en-US" sz="1800" b="1" baseline="-400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$638.14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763000" y="6858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5F1EB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bar represents total value at year end.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5F1EB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increasing height shows compounding at work.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3970000" y="8763000"/>
            <a:ext cx="1524000" cy="254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30" name="Text 28"/>
          <p:cNvSpPr/>
          <p:nvPr/>
        </p:nvSpPr>
        <p:spPr>
          <a:xfrm>
            <a:off x="13970000" y="87884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Future Value Formula &amp; Concept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25400"/>
          </a:xfrm>
          <a:prstGeom prst="rect">
            <a:avLst/>
          </a:prstGeom>
          <a:solidFill>
            <a:srgbClr val="D4E0D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What will my investment be worth in the future?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006600"/>
            <a:ext cx="7620000" cy="1016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006600"/>
            <a:ext cx="7620000" cy="50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184400"/>
            <a:ext cx="711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FV = PV x (1 + i)</a:t>
            </a:r>
            <a:pPr algn="ctr">
              <a:lnSpc>
                <a:spcPct val="140000"/>
              </a:lnSpc>
            </a:pPr>
            <a:r>
              <a:rPr lang="en-US" sz="2400" baseline="300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62000" y="3238500"/>
            <a:ext cx="7620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FV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Future Value — what the investment will grow to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PV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Present Value — the initial investment amount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Interest rate per compounding period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Total number of compounding periods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5334000"/>
            <a:ext cx="762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term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(1 + i)</a:t>
            </a:r>
            <a:pPr>
              <a:lnSpc>
                <a:spcPct val="150000"/>
              </a:lnSpc>
            </a:pPr>
            <a:r>
              <a:rPr lang="en-US" sz="1600" b="1" baseline="300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called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FVIF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(Future Value Interest Factor). It represents the multiplier effect of compounding.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6223000"/>
            <a:ext cx="7620000" cy="2159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6350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WORKED EXAMPLE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67056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invest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$1,000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8%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annual interest for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years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FV = $1,000 x (1.08)</a:t>
            </a:r>
            <a:pPr>
              <a:lnSpc>
                <a:spcPct val="160000"/>
              </a:lnSpc>
            </a:pPr>
            <a:r>
              <a:rPr lang="en-US" sz="1600" baseline="300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FV = $1,000 x 1.2597 =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$1,259.71</a:t>
            </a:r>
            <a:endParaRPr lang="en-US" sz="16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8890000" y="1397000"/>
          <a:ext cx="6604000" cy="431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8890000" y="59055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Notice how each year's growth is larger than the previous — this is the compounding effect. The interest earns interest.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3970000" y="8763000"/>
            <a:ext cx="1524000" cy="254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16" name="Text 13"/>
          <p:cNvSpPr/>
          <p:nvPr/>
        </p:nvSpPr>
        <p:spPr>
          <a:xfrm>
            <a:off x="13970000" y="87884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Future Value — Numerical Examples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25400"/>
          </a:xfrm>
          <a:prstGeom prst="rect">
            <a:avLst/>
          </a:prstGeom>
          <a:solidFill>
            <a:srgbClr val="D4E0DC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4699000" cy="3429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4699000" cy="50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15748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200" kern="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PROBLEM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" y="1905000"/>
            <a:ext cx="42545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deposit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$5,000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a savings account earning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6%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annual interest. What is the balance after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years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?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FV = $5,000 x (1.06)</a:t>
            </a:r>
            <a:pPr>
              <a:lnSpc>
                <a:spcPct val="150000"/>
              </a:lnSpc>
            </a:pPr>
            <a:r>
              <a:rPr lang="en-US" sz="1500" baseline="3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FV = $5,000 x 1.3382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FV = $6,691.13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78500" y="1397000"/>
            <a:ext cx="4699000" cy="3429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9" name="Shape 7"/>
          <p:cNvSpPr/>
          <p:nvPr/>
        </p:nvSpPr>
        <p:spPr>
          <a:xfrm>
            <a:off x="5778500" y="1397000"/>
            <a:ext cx="4699000" cy="50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6007100" y="15748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200" kern="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PROBLEM 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07100" y="1905000"/>
            <a:ext cx="42545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$10,000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invested at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10%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compounded annually for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year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FV = $10,000 x (1.10)</a:t>
            </a:r>
            <a:pPr>
              <a:lnSpc>
                <a:spcPct val="150000"/>
              </a:lnSpc>
            </a:pPr>
            <a:r>
              <a:rPr lang="en-US" sz="1500" baseline="3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FV = $10,000 x 1.10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FV = $11,000.00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795000" y="1397000"/>
            <a:ext cx="4699000" cy="3429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795000" y="1397000"/>
            <a:ext cx="4699000" cy="50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11023600" y="15748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200" kern="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PROBLEM 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23600" y="1905000"/>
            <a:ext cx="42545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$500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5%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years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vs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years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FV</a:t>
            </a:r>
            <a:pPr>
              <a:lnSpc>
                <a:spcPct val="150000"/>
              </a:lnSpc>
            </a:pPr>
            <a:r>
              <a:rPr lang="en-US" sz="1500" baseline="-4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$500 x (1.05)</a:t>
            </a:r>
            <a:pPr>
              <a:lnSpc>
                <a:spcPct val="150000"/>
              </a:lnSpc>
            </a:pPr>
            <a:r>
              <a:rPr lang="en-US" sz="1500" baseline="3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$551.25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FV</a:t>
            </a:r>
            <a:pPr>
              <a:lnSpc>
                <a:spcPct val="150000"/>
              </a:lnSpc>
            </a:pPr>
            <a:r>
              <a:rPr lang="en-US" sz="1500" baseline="-4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$500 x (1.05)</a:t>
            </a:r>
            <a:pPr>
              <a:lnSpc>
                <a:spcPct val="150000"/>
              </a:lnSpc>
            </a:pPr>
            <a:r>
              <a:rPr lang="en-US" sz="1500" baseline="3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$638.14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matters: +$86.89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143500"/>
            <a:ext cx="14732000" cy="1270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3950" y="5461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1587500" y="5334000"/>
            <a:ext cx="1358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longer the investment horizon and the higher the interest rate, the more powerful compounding becomes. Even small differences in rate or time lead to significantly different outcomes.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6667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General Formula: </a:t>
            </a:r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FV = PV x (1 + i)</a:t>
            </a:r>
            <a:pPr algn="ctr">
              <a:lnSpc>
                <a:spcPct val="160000"/>
              </a:lnSpc>
            </a:pPr>
            <a:r>
              <a:rPr lang="en-US" sz="1600" b="1" baseline="300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| Always ensure </a:t>
            </a:r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the same time period.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2000" y="7493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30000"/>
              </a:lnSpc>
            </a:pPr>
            <a:r>
              <a:rPr lang="en-US" sz="1200" u="sng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University of Baltimore - Compound Interest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3970000" y="8763000"/>
            <a:ext cx="1524000" cy="254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22" name="Text 20"/>
          <p:cNvSpPr/>
          <p:nvPr/>
        </p:nvSpPr>
        <p:spPr>
          <a:xfrm>
            <a:off x="13970000" y="87884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Present Value Formula &amp; Concept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25400"/>
          </a:xfrm>
          <a:prstGeom prst="rect">
            <a:avLst/>
          </a:prstGeom>
          <a:solidFill>
            <a:srgbClr val="D4E0D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What is a future amount worth today?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006600"/>
            <a:ext cx="7620000" cy="1016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006600"/>
            <a:ext cx="7620000" cy="50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184400"/>
            <a:ext cx="711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PV = FV / (1 + i)</a:t>
            </a:r>
            <a:pPr algn="ctr">
              <a:lnSpc>
                <a:spcPct val="140000"/>
              </a:lnSpc>
            </a:pPr>
            <a:r>
              <a:rPr lang="en-US" sz="2400" baseline="300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62000" y="3238500"/>
            <a:ext cx="762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PV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Present Value — today's worth of a future sum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FV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Future Value — the amount to be received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Discount rate per period |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Number of periods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4889500"/>
            <a:ext cx="762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Discounting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the reverse of compounding. The term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1/(1+i)</a:t>
            </a:r>
            <a:pPr>
              <a:lnSpc>
                <a:spcPct val="150000"/>
              </a:lnSpc>
            </a:pPr>
            <a:r>
              <a:rPr lang="en-US" sz="1600" b="1" baseline="300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the PVIF (Present Value Interest Factor).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5778500"/>
            <a:ext cx="7620000" cy="2413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5905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WORKED EXAMPLE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6261100"/>
            <a:ext cx="711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the PV of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$5,000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received one year from today at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7%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?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PV = $5,000 / (1.07)</a:t>
            </a:r>
            <a:pPr>
              <a:lnSpc>
                <a:spcPct val="160000"/>
              </a:lnSpc>
            </a:pPr>
            <a:r>
              <a:rPr lang="en-US" sz="1600" baseline="300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PV = $5,000 / 1.07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PV =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$4,672.90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0" y="1397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200" kern="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DISCOUNTING PROCESS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0" y="1968500"/>
            <a:ext cx="6350000" cy="25400"/>
          </a:xfrm>
          <a:prstGeom prst="rect">
            <a:avLst/>
          </a:prstGeom>
          <a:solidFill>
            <a:srgbClr val="D4E0DC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76000" y="2540000"/>
            <a:ext cx="2286000" cy="7620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16" name="Text 14"/>
          <p:cNvSpPr/>
          <p:nvPr/>
        </p:nvSpPr>
        <p:spPr>
          <a:xfrm>
            <a:off x="11176000" y="2540000"/>
            <a:ext cx="228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$5,000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Value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255500" y="3429000"/>
            <a:ext cx="0" cy="63500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18" name="Text 16"/>
          <p:cNvSpPr/>
          <p:nvPr/>
        </p:nvSpPr>
        <p:spPr>
          <a:xfrm>
            <a:off x="12573000" y="3556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Discount at 7%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176000" y="4254500"/>
            <a:ext cx="2286000" cy="762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11176000" y="4254500"/>
            <a:ext cx="228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$4,672.90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 Value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0" y="5461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higher the discount rate, the lower the present value. A dollar promised far in the future is worth less today than one promised soon.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970000" y="8763000"/>
            <a:ext cx="1524000" cy="254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23" name="Text 21"/>
          <p:cNvSpPr/>
          <p:nvPr/>
        </p:nvSpPr>
        <p:spPr>
          <a:xfrm>
            <a:off x="13970000" y="87884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Present Value — Numerical Examples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25400"/>
          </a:xfrm>
          <a:prstGeom prst="rect">
            <a:avLst/>
          </a:prstGeom>
          <a:solidFill>
            <a:srgbClr val="D4E0DC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14732000" cy="19685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50800" cy="1968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14986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200" kern="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PROBLEM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" y="1803400"/>
            <a:ext cx="1422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the PV of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$10,000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be received in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years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10%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discount rate?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PV = $10,000 / (1.10)</a:t>
            </a:r>
            <a:pPr>
              <a:lnSpc>
                <a:spcPct val="150000"/>
              </a:lnSpc>
            </a:pPr>
            <a:r>
              <a:rPr lang="en-US" sz="1600" baseline="3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$10,000 / 1.4641 =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$6,830.13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Insight: $10,000 in 4 years is worth only $6,830 today at 10% discount rate.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619500"/>
            <a:ext cx="14732000" cy="19685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3619500"/>
            <a:ext cx="50800" cy="1968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37211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200" kern="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PROBLEM 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0600" y="4025900"/>
            <a:ext cx="1422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are offered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$225,000 in Year 4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$50,000 per year for 4 years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Discount rate =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10%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Which is better?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 1: PV = $225,000 / (1.10)</a:t>
            </a:r>
            <a:pPr>
              <a:lnSpc>
                <a:spcPct val="150000"/>
              </a:lnSpc>
            </a:pPr>
            <a:r>
              <a:rPr lang="en-US" sz="1600" baseline="3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$153,615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Option 2: PV = $50,000/1.10 + $50,000/1.10</a:t>
            </a:r>
            <a:pPr>
              <a:lnSpc>
                <a:spcPct val="150000"/>
              </a:lnSpc>
            </a:pPr>
            <a:r>
              <a:rPr lang="en-US" sz="1600" baseline="3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$50,000/1.10</a:t>
            </a:r>
            <a:pPr>
              <a:lnSpc>
                <a:spcPct val="150000"/>
              </a:lnSpc>
            </a:pPr>
            <a:r>
              <a:rPr lang="en-US" sz="1600" baseline="3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$50,000/1.10</a:t>
            </a:r>
            <a:pPr>
              <a:lnSpc>
                <a:spcPct val="150000"/>
              </a:lnSpc>
            </a:pPr>
            <a:r>
              <a:rPr lang="en-US" sz="1600" baseline="3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$158,493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 2 wins by $4,878 — the annuity spread provides more value!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842000"/>
            <a:ext cx="14732000" cy="19685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5842000"/>
            <a:ext cx="50800" cy="1968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59436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200" kern="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PROBLEM 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90600" y="6248400"/>
            <a:ext cx="1422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 PV of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$20,000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received in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years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8.5%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compounded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PV = $20,000 / (1 + 0.085/12)</a:t>
            </a:r>
            <a:pPr>
              <a:lnSpc>
                <a:spcPct val="150000"/>
              </a:lnSpc>
            </a:pPr>
            <a:r>
              <a:rPr lang="en-US" sz="1600" baseline="3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48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$20,000 / 1.4056 =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$14,222.00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 compounding requires adjusting both rate (i = 0.085/12) and periods (n = 12 x 4 = 48).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970000" y="8763000"/>
            <a:ext cx="1524000" cy="254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17" name="Text 15"/>
          <p:cNvSpPr/>
          <p:nvPr/>
        </p:nvSpPr>
        <p:spPr>
          <a:xfrm>
            <a:off x="13970000" y="87884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Effect of Compounding Frequency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25400"/>
          </a:xfrm>
          <a:prstGeom prst="rect">
            <a:avLst/>
          </a:prstGeom>
          <a:solidFill>
            <a:srgbClr val="D4E0DC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14732000" cy="762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498600"/>
            <a:ext cx="1422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FV = PV x (1 + i/n)</a:t>
            </a:r>
            <a:pPr algn="ctr">
              <a:lnSpc>
                <a:spcPct val="140000"/>
              </a:lnSpc>
            </a:pPr>
            <a:r>
              <a:rPr lang="en-US" sz="2200" baseline="300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 x t</a:t>
            </a:r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where n = compounding periods per year, t = years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2413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Example: $10,000 at 10% for 1 Year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857500"/>
          <a:ext cx="7874000" cy="2794000"/>
        </p:xfrm>
        <a:graphic>
          <a:graphicData uri="http://schemas.openxmlformats.org/drawingml/2006/table">
            <a:tbl>
              <a:tblPr/>
              <a:tblGrid>
                <a:gridCol w="2755900"/>
                <a:gridCol w="1968500"/>
                <a:gridCol w="1574800"/>
                <a:gridCol w="1574800"/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Compounding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 (periods/yr)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FV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Interest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Annual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$11,000.00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$1,000.00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Quarterly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$11,038.13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$1,038.13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Monthly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$11,047.13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$1,047.13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Daily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365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9A22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$11,051.56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9A22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$1,051.56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62000" y="5905500"/>
            <a:ext cx="787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More frequent compounding yields higher returns, but the incremental benefit </a:t>
            </a:r>
            <a:pPr>
              <a:lnSpc>
                <a:spcPct val="150000"/>
              </a:lnSpc>
            </a:pPr>
            <a:r>
              <a:rPr lang="en-US" sz="1600" i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decreases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as frequency increases. The jump from annual to quarterly (+$38) is larger than quarterly to daily (+$13).</a:t>
            </a:r>
            <a:endParaRPr lang="en-US" sz="18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9144000" y="2413000"/>
          <a:ext cx="6350000" cy="431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/>
          <p:nvPr/>
        </p:nvSpPr>
        <p:spPr>
          <a:xfrm>
            <a:off x="762000" y="7239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30000"/>
              </a:lnSpc>
            </a:pPr>
            <a:r>
              <a:rPr lang="en-US" sz="1200" u="sng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2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Investopedia - Time Value of Money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3970000" y="8763000"/>
            <a:ext cx="1524000" cy="254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12" name="Text 8"/>
          <p:cNvSpPr/>
          <p:nvPr/>
        </p:nvSpPr>
        <p:spPr>
          <a:xfrm>
            <a:off x="13970000" y="87884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gohdckv4tqt6/mnt/agents/output/tvm_presentation/images/5_Dark_Green_Forest_Images_Browse_1.png">    </p:cNvPr>
          <p:cNvPicPr>
            <a:picLocks noChangeAspect="1"/>
          </p:cNvPicPr>
          <p:nvPr/>
        </p:nvPicPr>
        <p:blipFill>
          <a:blip r:embed="rId1"/>
          <a:srcRect l="31944" r="31944" t="0" b="0"/>
          <a:stretch/>
        </p:blipFill>
        <p:spPr>
          <a:xfrm>
            <a:off x="0" y="0"/>
            <a:ext cx="6604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26000" y="0"/>
            <a:ext cx="2032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0"/>
                </a:srgbClr>
              </a:gs>
              <a:gs pos="100000">
                <a:srgbClr val="1B4332"/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112000" y="1524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FFFFFF">
                    <a:alpha val="10196"/>
                  </a:srgbClr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366000" y="3810000"/>
            <a:ext cx="762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3"/>
          <p:cNvSpPr/>
          <p:nvPr/>
        </p:nvSpPr>
        <p:spPr>
          <a:xfrm>
            <a:off x="7366000" y="4064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400" kern="0" dirty="0">
                <a:solidFill>
                  <a:srgbClr val="F5F1EB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TWO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66000" y="4508500"/>
            <a:ext cx="812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4000" spc="200" kern="0" dirty="0">
                <a:solidFill>
                  <a:srgbClr val="F5F1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Annuities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66000" y="546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F5F1EB">
                    <a:alpha val="66667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Valuing streams of equal periodic cash flows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C9A227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Introduction to Annuities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25400"/>
          </a:xfrm>
          <a:prstGeom prst="rect">
            <a:avLst/>
          </a:prstGeom>
          <a:solidFill>
            <a:srgbClr val="D4E0D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Annuity = a series of equal periodic payments over a specified time period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4699000" cy="3048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032000"/>
            <a:ext cx="4699000" cy="508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7" name="Shape 5"/>
          <p:cNvSpPr/>
          <p:nvPr/>
        </p:nvSpPr>
        <p:spPr>
          <a:xfrm>
            <a:off x="1038225" y="2286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88900" y="0"/>
                </a:moveTo>
                <a:cubicBezTo>
                  <a:pt x="76607" y="0"/>
                  <a:pt x="66675" y="9932"/>
                  <a:pt x="66675" y="22225"/>
                </a:cubicBezTo>
                <a:lnTo>
                  <a:pt x="66675" y="44450"/>
                </a:lnTo>
                <a:lnTo>
                  <a:pt x="44450" y="44450"/>
                </a:lnTo>
                <a:cubicBezTo>
                  <a:pt x="19933" y="44450"/>
                  <a:pt x="0" y="64383"/>
                  <a:pt x="0" y="88900"/>
                </a:cubicBezTo>
                <a:lnTo>
                  <a:pt x="0" y="122238"/>
                </a:lnTo>
                <a:lnTo>
                  <a:pt x="311150" y="122238"/>
                </a:lnTo>
                <a:lnTo>
                  <a:pt x="311150" y="88900"/>
                </a:lnTo>
                <a:cubicBezTo>
                  <a:pt x="311150" y="64383"/>
                  <a:pt x="291217" y="44450"/>
                  <a:pt x="266700" y="44450"/>
                </a:cubicBezTo>
                <a:lnTo>
                  <a:pt x="244475" y="44450"/>
                </a:lnTo>
                <a:lnTo>
                  <a:pt x="244475" y="22225"/>
                </a:lnTo>
                <a:cubicBezTo>
                  <a:pt x="244475" y="9932"/>
                  <a:pt x="234543" y="0"/>
                  <a:pt x="222250" y="0"/>
                </a:cubicBezTo>
                <a:cubicBezTo>
                  <a:pt x="209957" y="0"/>
                  <a:pt x="200025" y="9932"/>
                  <a:pt x="200025" y="22225"/>
                </a:cubicBezTo>
                <a:lnTo>
                  <a:pt x="200025" y="44450"/>
                </a:lnTo>
                <a:lnTo>
                  <a:pt x="111125" y="44450"/>
                </a:lnTo>
                <a:lnTo>
                  <a:pt x="111125" y="22225"/>
                </a:lnTo>
                <a:cubicBezTo>
                  <a:pt x="111125" y="9932"/>
                  <a:pt x="101193" y="0"/>
                  <a:pt x="88900" y="0"/>
                </a:cubicBezTo>
                <a:close/>
                <a:moveTo>
                  <a:pt x="0" y="155575"/>
                </a:move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155575"/>
                </a:lnTo>
                <a:lnTo>
                  <a:pt x="0" y="155575"/>
                </a:lnTo>
                <a:close/>
              </a:path>
            </a:pathLst>
          </a:cu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2286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Ordinary Annuity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768600"/>
            <a:ext cx="4191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Payments at the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each period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Mortgage payments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Bond coupon payments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 loan payments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2032000"/>
            <a:ext cx="4699000" cy="3048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11" name="Shape 9"/>
          <p:cNvSpPr/>
          <p:nvPr/>
        </p:nvSpPr>
        <p:spPr>
          <a:xfrm>
            <a:off x="5778500" y="2032000"/>
            <a:ext cx="4699000" cy="50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Shape 10"/>
          <p:cNvSpPr/>
          <p:nvPr/>
        </p:nvSpPr>
        <p:spPr>
          <a:xfrm>
            <a:off x="6054725" y="2286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88900" y="0"/>
                </a:moveTo>
                <a:cubicBezTo>
                  <a:pt x="101193" y="0"/>
                  <a:pt x="111125" y="9932"/>
                  <a:pt x="111125" y="22225"/>
                </a:cubicBezTo>
                <a:lnTo>
                  <a:pt x="111125" y="44450"/>
                </a:lnTo>
                <a:lnTo>
                  <a:pt x="200025" y="44450"/>
                </a:lnTo>
                <a:lnTo>
                  <a:pt x="200025" y="22225"/>
                </a:lnTo>
                <a:cubicBezTo>
                  <a:pt x="200025" y="9932"/>
                  <a:pt x="209957" y="0"/>
                  <a:pt x="222250" y="0"/>
                </a:cubicBezTo>
                <a:cubicBezTo>
                  <a:pt x="234543" y="0"/>
                  <a:pt x="244475" y="9932"/>
                  <a:pt x="244475" y="22225"/>
                </a:cubicBezTo>
                <a:lnTo>
                  <a:pt x="244475" y="44450"/>
                </a:lnTo>
                <a:lnTo>
                  <a:pt x="266700" y="44450"/>
                </a:lnTo>
                <a:cubicBezTo>
                  <a:pt x="291217" y="44450"/>
                  <a:pt x="311150" y="64383"/>
                  <a:pt x="311150" y="88900"/>
                </a:cubicBezTo>
                <a:lnTo>
                  <a:pt x="311150" y="288925"/>
                </a:lnTo>
                <a:cubicBezTo>
                  <a:pt x="311150" y="313442"/>
                  <a:pt x="291217" y="333375"/>
                  <a:pt x="266700" y="333375"/>
                </a:cubicBezTo>
                <a:lnTo>
                  <a:pt x="44450" y="333375"/>
                </a:lnTo>
                <a:cubicBezTo>
                  <a:pt x="19933" y="333375"/>
                  <a:pt x="0" y="313442"/>
                  <a:pt x="0" y="288925"/>
                </a:cubicBezTo>
                <a:lnTo>
                  <a:pt x="0" y="88900"/>
                </a:lnTo>
                <a:cubicBezTo>
                  <a:pt x="0" y="64383"/>
                  <a:pt x="19933" y="44450"/>
                  <a:pt x="44450" y="44450"/>
                </a:cubicBezTo>
                <a:lnTo>
                  <a:pt x="66675" y="44450"/>
                </a:lnTo>
                <a:lnTo>
                  <a:pt x="66675" y="22225"/>
                </a:lnTo>
                <a:cubicBezTo>
                  <a:pt x="66675" y="9932"/>
                  <a:pt x="76607" y="0"/>
                  <a:pt x="88900" y="0"/>
                </a:cubicBezTo>
                <a:close/>
                <a:moveTo>
                  <a:pt x="214193" y="158839"/>
                </a:moveTo>
                <a:cubicBezTo>
                  <a:pt x="219055" y="151061"/>
                  <a:pt x="216694" y="140781"/>
                  <a:pt x="208915" y="135850"/>
                </a:cubicBezTo>
                <a:cubicBezTo>
                  <a:pt x="201136" y="130919"/>
                  <a:pt x="190857" y="133350"/>
                  <a:pt x="185926" y="141129"/>
                </a:cubicBezTo>
                <a:lnTo>
                  <a:pt x="143282" y="209401"/>
                </a:lnTo>
                <a:lnTo>
                  <a:pt x="124529" y="184398"/>
                </a:lnTo>
                <a:cubicBezTo>
                  <a:pt x="118973" y="177036"/>
                  <a:pt x="108555" y="175508"/>
                  <a:pt x="101193" y="181064"/>
                </a:cubicBezTo>
                <a:cubicBezTo>
                  <a:pt x="93831" y="186621"/>
                  <a:pt x="92303" y="197039"/>
                  <a:pt x="97859" y="204401"/>
                </a:cubicBezTo>
                <a:lnTo>
                  <a:pt x="131197" y="248851"/>
                </a:lnTo>
                <a:cubicBezTo>
                  <a:pt x="134461" y="253226"/>
                  <a:pt x="139740" y="255726"/>
                  <a:pt x="145226" y="255518"/>
                </a:cubicBezTo>
                <a:cubicBezTo>
                  <a:pt x="150713" y="255310"/>
                  <a:pt x="155714" y="252393"/>
                  <a:pt x="158631" y="247670"/>
                </a:cubicBezTo>
                <a:lnTo>
                  <a:pt x="214193" y="158770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6515100" y="2286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Annuity Due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2500" y="2768600"/>
            <a:ext cx="4191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Payments at the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BEGINNING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each period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Rent payments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Insurance premiums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Lease payments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5000" y="2032000"/>
            <a:ext cx="4699000" cy="3048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95000" y="2032000"/>
            <a:ext cx="4699000" cy="50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04550" y="2286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0" y="177800"/>
                </a:moveTo>
                <a:cubicBezTo>
                  <a:pt x="0" y="116403"/>
                  <a:pt x="49728" y="66675"/>
                  <a:pt x="111125" y="66675"/>
                </a:cubicBezTo>
                <a:cubicBezTo>
                  <a:pt x="146129" y="66675"/>
                  <a:pt x="179050" y="83135"/>
                  <a:pt x="200025" y="111125"/>
                </a:cubicBezTo>
                <a:lnTo>
                  <a:pt x="222250" y="140781"/>
                </a:lnTo>
                <a:lnTo>
                  <a:pt x="244475" y="111125"/>
                </a:lnTo>
                <a:cubicBezTo>
                  <a:pt x="265450" y="83135"/>
                  <a:pt x="298371" y="66675"/>
                  <a:pt x="333375" y="66675"/>
                </a:cubicBezTo>
                <a:cubicBezTo>
                  <a:pt x="394772" y="66675"/>
                  <a:pt x="444500" y="116403"/>
                  <a:pt x="444500" y="177800"/>
                </a:cubicBezTo>
                <a:cubicBezTo>
                  <a:pt x="444500" y="239197"/>
                  <a:pt x="394772" y="288925"/>
                  <a:pt x="333375" y="288925"/>
                </a:cubicBezTo>
                <a:cubicBezTo>
                  <a:pt x="298371" y="288925"/>
                  <a:pt x="265450" y="272465"/>
                  <a:pt x="244475" y="244475"/>
                </a:cubicBezTo>
                <a:lnTo>
                  <a:pt x="222250" y="214819"/>
                </a:lnTo>
                <a:lnTo>
                  <a:pt x="200025" y="244475"/>
                </a:lnTo>
                <a:cubicBezTo>
                  <a:pt x="179050" y="272465"/>
                  <a:pt x="146129" y="288925"/>
                  <a:pt x="111125" y="288925"/>
                </a:cubicBezTo>
                <a:cubicBezTo>
                  <a:pt x="49728" y="288925"/>
                  <a:pt x="0" y="239197"/>
                  <a:pt x="0" y="177800"/>
                </a:cubicBezTo>
                <a:close/>
                <a:moveTo>
                  <a:pt x="194469" y="177800"/>
                </a:moveTo>
                <a:lnTo>
                  <a:pt x="164465" y="137795"/>
                </a:lnTo>
                <a:cubicBezTo>
                  <a:pt x="151894" y="120987"/>
                  <a:pt x="132100" y="111125"/>
                  <a:pt x="111125" y="111125"/>
                </a:cubicBezTo>
                <a:cubicBezTo>
                  <a:pt x="74315" y="111125"/>
                  <a:pt x="44450" y="140990"/>
                  <a:pt x="44450" y="177800"/>
                </a:cubicBezTo>
                <a:cubicBezTo>
                  <a:pt x="44450" y="214610"/>
                  <a:pt x="74315" y="244475"/>
                  <a:pt x="111125" y="244475"/>
                </a:cubicBezTo>
                <a:cubicBezTo>
                  <a:pt x="132100" y="244475"/>
                  <a:pt x="151894" y="234613"/>
                  <a:pt x="164465" y="217805"/>
                </a:cubicBezTo>
                <a:lnTo>
                  <a:pt x="194469" y="177800"/>
                </a:lnTo>
                <a:close/>
                <a:moveTo>
                  <a:pt x="250031" y="177800"/>
                </a:moveTo>
                <a:lnTo>
                  <a:pt x="280035" y="217805"/>
                </a:lnTo>
                <a:cubicBezTo>
                  <a:pt x="292606" y="234613"/>
                  <a:pt x="312400" y="244475"/>
                  <a:pt x="333375" y="244475"/>
                </a:cubicBezTo>
                <a:cubicBezTo>
                  <a:pt x="370185" y="244475"/>
                  <a:pt x="400050" y="214610"/>
                  <a:pt x="400050" y="177800"/>
                </a:cubicBezTo>
                <a:cubicBezTo>
                  <a:pt x="400050" y="140990"/>
                  <a:pt x="370185" y="111125"/>
                  <a:pt x="333375" y="111125"/>
                </a:cubicBezTo>
                <a:cubicBezTo>
                  <a:pt x="312400" y="111125"/>
                  <a:pt x="292606" y="120987"/>
                  <a:pt x="280035" y="137795"/>
                </a:cubicBezTo>
                <a:lnTo>
                  <a:pt x="250031" y="177800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11531600" y="2286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5F1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Perpetuity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49000" y="2768600"/>
            <a:ext cx="4191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INFINITE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series of equal payments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F5F1EB">
                    <a:alpha val="667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Preferred stock dividends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Consols (perpetual bonds)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Terminal value in DCF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397500"/>
            <a:ext cx="14732000" cy="9525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21" name="Shape 19"/>
          <p:cNvSpPr/>
          <p:nvPr/>
        </p:nvSpPr>
        <p:spPr>
          <a:xfrm>
            <a:off x="1016000" y="5626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0025" y="209550"/>
                </a:moveTo>
                <a:cubicBezTo>
                  <a:pt x="257889" y="209550"/>
                  <a:pt x="304800" y="162639"/>
                  <a:pt x="304800" y="104775"/>
                </a:cubicBezTo>
                <a:cubicBezTo>
                  <a:pt x="304800" y="46911"/>
                  <a:pt x="257889" y="0"/>
                  <a:pt x="200025" y="0"/>
                </a:cubicBezTo>
                <a:cubicBezTo>
                  <a:pt x="142161" y="0"/>
                  <a:pt x="95250" y="46911"/>
                  <a:pt x="95250" y="104775"/>
                </a:cubicBezTo>
                <a:cubicBezTo>
                  <a:pt x="95250" y="115907"/>
                  <a:pt x="96976" y="126683"/>
                  <a:pt x="100191" y="136743"/>
                </a:cubicBezTo>
                <a:lnTo>
                  <a:pt x="4167" y="232767"/>
                </a:lnTo>
                <a:cubicBezTo>
                  <a:pt x="1488" y="235446"/>
                  <a:pt x="0" y="239078"/>
                  <a:pt x="0" y="242888"/>
                </a:cubicBezTo>
                <a:lnTo>
                  <a:pt x="0" y="290513"/>
                </a:lnTo>
                <a:cubicBezTo>
                  <a:pt x="0" y="298430"/>
                  <a:pt x="6370" y="304800"/>
                  <a:pt x="14288" y="304800"/>
                </a:cubicBezTo>
                <a:lnTo>
                  <a:pt x="61912" y="304800"/>
                </a:lnTo>
                <a:cubicBezTo>
                  <a:pt x="69830" y="304800"/>
                  <a:pt x="76200" y="298430"/>
                  <a:pt x="76200" y="290513"/>
                </a:cubicBezTo>
                <a:lnTo>
                  <a:pt x="76200" y="266700"/>
                </a:lnTo>
                <a:lnTo>
                  <a:pt x="100013" y="266700"/>
                </a:lnTo>
                <a:cubicBezTo>
                  <a:pt x="107930" y="266700"/>
                  <a:pt x="114300" y="260330"/>
                  <a:pt x="114300" y="252413"/>
                </a:cubicBezTo>
                <a:lnTo>
                  <a:pt x="114300" y="228600"/>
                </a:lnTo>
                <a:lnTo>
                  <a:pt x="138113" y="228600"/>
                </a:lnTo>
                <a:cubicBezTo>
                  <a:pt x="141923" y="228600"/>
                  <a:pt x="145554" y="227112"/>
                  <a:pt x="148233" y="224433"/>
                </a:cubicBezTo>
                <a:lnTo>
                  <a:pt x="168057" y="204609"/>
                </a:lnTo>
                <a:cubicBezTo>
                  <a:pt x="178117" y="207824"/>
                  <a:pt x="188893" y="209550"/>
                  <a:pt x="200025" y="209550"/>
                </a:cubicBezTo>
                <a:close/>
                <a:moveTo>
                  <a:pt x="223838" y="57150"/>
                </a:moveTo>
                <a:cubicBezTo>
                  <a:pt x="236980" y="57150"/>
                  <a:pt x="247650" y="67820"/>
                  <a:pt x="247650" y="80962"/>
                </a:cubicBezTo>
                <a:cubicBezTo>
                  <a:pt x="247650" y="94105"/>
                  <a:pt x="236980" y="104775"/>
                  <a:pt x="223838" y="104775"/>
                </a:cubicBezTo>
                <a:cubicBezTo>
                  <a:pt x="210695" y="104775"/>
                  <a:pt x="200025" y="94105"/>
                  <a:pt x="200025" y="80962"/>
                </a:cubicBezTo>
                <a:cubicBezTo>
                  <a:pt x="200025" y="67820"/>
                  <a:pt x="210695" y="57150"/>
                  <a:pt x="223838" y="5715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1473200" y="5461000"/>
            <a:ext cx="1371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Distinction: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timing of cash flows changes the valuation. Annuity Due values are always higher than Ordinary Annuity values because each payment gets one extra period of compounding or discounting.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62000" y="660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300" kern="0" dirty="0">
                <a:solidFill>
                  <a:srgbClr val="52796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CASH FLOW TIMING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70485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Ordinary: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0 ——— $PMT ——— $PMT ——— $PMT ——— $PMT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t=0 t=1 t=2 t=3 t=4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82000" y="70485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Due: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$PMT ——— $PMT ——— $PMT ——— $PMT ——— 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t=0 t=1 t=2 t=3 t=4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7937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30000"/>
              </a:lnSpc>
            </a:pPr>
            <a:r>
              <a:rPr lang="en-US" sz="1200" u="sng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AnalystPrep - Annuity Formulas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3970000" y="8763000"/>
            <a:ext cx="1524000" cy="254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28" name="Text 26"/>
          <p:cNvSpPr/>
          <p:nvPr/>
        </p:nvSpPr>
        <p:spPr>
          <a:xfrm>
            <a:off x="13970000" y="87884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Ordinary Annuity — Future Value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25400"/>
          </a:xfrm>
          <a:prstGeom prst="rect">
            <a:avLst/>
          </a:prstGeom>
          <a:solidFill>
            <a:srgbClr val="D4E0DC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22400"/>
            <a:ext cx="7620000" cy="9525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22400"/>
            <a:ext cx="7620000" cy="50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587500"/>
            <a:ext cx="711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FV = PMT x [(1 + i)</a:t>
            </a:r>
            <a:pPr algn="ctr">
              <a:lnSpc>
                <a:spcPct val="140000"/>
              </a:lnSpc>
            </a:pPr>
            <a:r>
              <a:rPr lang="en-US" sz="2200" baseline="300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</a:t>
            </a:r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- 1] / 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25146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factor [(1+i)</a:t>
            </a:r>
            <a:pPr>
              <a:lnSpc>
                <a:spcPct val="160000"/>
              </a:lnSpc>
            </a:pPr>
            <a:r>
              <a:rPr lang="en-US" sz="1500" baseline="300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- 1]/i is the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FVIFA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(Future Value Interest Factor of an Annuity)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3111500"/>
            <a:ext cx="7620000" cy="2540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238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WORKED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594100"/>
            <a:ext cx="711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Deposit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$1,000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each year for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years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6%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FV = $1,000 x [(1.06)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baseline="300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- 1] / 0.06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FV = $1,000 x [1.3382 - 1] / 0.06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FV = $1,000 x 5.6371 =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$5,637.09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0" y="14224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200" kern="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YEAR-BY-YEAR BREAKDOWN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0" y="1841500"/>
            <a:ext cx="6350000" cy="25400"/>
          </a:xfrm>
          <a:prstGeom prst="rect">
            <a:avLst/>
          </a:prstGeom>
          <a:solidFill>
            <a:srgbClr val="D4E0DC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0" y="2032000"/>
          <a:ext cx="6350000" cy="3619500"/>
        </p:xfrm>
        <a:graphic>
          <a:graphicData uri="http://schemas.openxmlformats.org/drawingml/2006/table">
            <a:tbl>
              <a:tblPr/>
              <a:tblGrid>
                <a:gridCol w="1270000"/>
                <a:gridCol w="1587500"/>
                <a:gridCol w="1587500"/>
                <a:gridCol w="1905000"/>
              </a:tblGrid>
              <a:tr h="605352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Year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Deposit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Interest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Balance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60535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$1,000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$1,000.00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60535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$1,000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$60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$2,060.00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</a:tr>
              <a:tr h="60535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$1,000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$123.60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$3,183.60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60535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$1,000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$191.02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$4,374.62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</a:tr>
              <a:tr h="59274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$1,000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$262.48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9A22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$5,637.09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9144000" y="5842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Notice how interest grows each year as it compounds on the accumulated balance.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3970000" y="8763000"/>
            <a:ext cx="1524000" cy="254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16" name="Text 13"/>
          <p:cNvSpPr/>
          <p:nvPr/>
        </p:nvSpPr>
        <p:spPr>
          <a:xfrm>
            <a:off x="13970000" y="87884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Ordinary Annuity — Present Value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25400"/>
          </a:xfrm>
          <a:prstGeom prst="rect">
            <a:avLst/>
          </a:prstGeom>
          <a:solidFill>
            <a:srgbClr val="D4E0DC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22400"/>
            <a:ext cx="7620000" cy="9525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22400"/>
            <a:ext cx="7620000" cy="50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587500"/>
            <a:ext cx="711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PV = PMT x [1 - (1 + i)</a:t>
            </a:r>
            <a:pPr algn="ctr">
              <a:lnSpc>
                <a:spcPct val="140000"/>
              </a:lnSpc>
            </a:pPr>
            <a:r>
              <a:rPr lang="en-US" sz="2200" baseline="300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-n</a:t>
            </a:r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] / 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25146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factor [1 - (1+i)</a:t>
            </a:r>
            <a:pPr>
              <a:lnSpc>
                <a:spcPct val="160000"/>
              </a:lnSpc>
            </a:pPr>
            <a:r>
              <a:rPr lang="en-US" sz="1500" baseline="300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-n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]/i is the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PVIFA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(Present Value Interest Factor of an Annuity)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3111500"/>
            <a:ext cx="7620000" cy="2540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238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WORKED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594100"/>
            <a:ext cx="711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the PV of receiving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$2,000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each year for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years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8%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?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PV = $2,000 x [1 - (1.08)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baseline="300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-4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] / 0.08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PV = $2,000 x [1 - 0.7350] / 0.08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PV = $2,000 x 3.3121 =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$6,624.26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0" y="14224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200" kern="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0" y="1841500"/>
            <a:ext cx="6350000" cy="25400"/>
          </a:xfrm>
          <a:prstGeom prst="rect">
            <a:avLst/>
          </a:prstGeom>
          <a:solidFill>
            <a:srgbClr val="D4E0DC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0" y="2133600"/>
            <a:ext cx="50800" cy="825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9372600" y="21336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Bond Valuation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PV of coupon payments + PV of face value = bond price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0" y="3149600"/>
            <a:ext cx="50800" cy="825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9372600" y="31496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Loan Amortization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Determining equal periodic loan payments from principal amount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0" y="4165600"/>
            <a:ext cx="50800" cy="1143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9372600" y="4165600"/>
            <a:ext cx="609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Pension Valuation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PV of expected retirement benefit payments for funding calculations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0" y="5435600"/>
            <a:ext cx="50800" cy="1143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9372600" y="5435600"/>
            <a:ext cx="609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Mortgage Calculations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Determining monthly payments based on loan amount and interest rate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3970000" y="8763000"/>
            <a:ext cx="1524000" cy="254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22" name="Text 20"/>
          <p:cNvSpPr/>
          <p:nvPr/>
        </p:nvSpPr>
        <p:spPr>
          <a:xfrm>
            <a:off x="13970000" y="87884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Annuity Due — FV &amp; PV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25400"/>
          </a:xfrm>
          <a:prstGeom prst="rect">
            <a:avLst/>
          </a:prstGeom>
          <a:solidFill>
            <a:srgbClr val="D4E0D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71600"/>
            <a:ext cx="147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Annuity Due: payments at the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BEGINNING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each period. Each cash flow gets one extra period of compounding/discounting.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930400"/>
            <a:ext cx="7112000" cy="3048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930400"/>
            <a:ext cx="7112000" cy="50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1082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FUTURE VALUE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0600" y="2463800"/>
            <a:ext cx="660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FV (Due) = FV (Ordinary) x (1 + i)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90600" y="3022600"/>
            <a:ext cx="660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$1,000 at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beginning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each year for 5 years at 6%.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FV (Ordinary) = $5,637.09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FV (Due) = $5,637.09 x 1.06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$5,975.32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1930400"/>
            <a:ext cx="7112000" cy="3048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11" name="Shape 9"/>
          <p:cNvSpPr/>
          <p:nvPr/>
        </p:nvSpPr>
        <p:spPr>
          <a:xfrm>
            <a:off x="8382000" y="1930400"/>
            <a:ext cx="7112000" cy="50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2" name="Text 10"/>
          <p:cNvSpPr/>
          <p:nvPr/>
        </p:nvSpPr>
        <p:spPr>
          <a:xfrm>
            <a:off x="8610600" y="21082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PRESENT VALUE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10600" y="2463800"/>
            <a:ext cx="660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PV (Due) = PV (Ordinary) x (1 + i)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10600" y="3022600"/>
            <a:ext cx="660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$2,000 at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beginning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each year for 4 years at 8%.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PV (Ordinary) = $6,624.26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PV (Due) = $6,624.26 x 1.08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$7,154.20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270500"/>
            <a:ext cx="14732000" cy="1206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5397500"/>
            <a:ext cx="1422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Relationship: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FV</a:t>
            </a:r>
            <a:pPr algn="ctr">
              <a:lnSpc>
                <a:spcPct val="160000"/>
              </a:lnSpc>
            </a:pPr>
            <a:r>
              <a:rPr lang="en-US" sz="1600" baseline="-400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Due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FV</a:t>
            </a:r>
            <a:pPr algn="ctr">
              <a:lnSpc>
                <a:spcPct val="160000"/>
              </a:lnSpc>
            </a:pPr>
            <a:r>
              <a:rPr lang="en-US" sz="1600" baseline="-400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x (1+i) | PV</a:t>
            </a:r>
            <a:pPr algn="ctr">
              <a:lnSpc>
                <a:spcPct val="160000"/>
              </a:lnSpc>
            </a:pPr>
            <a:r>
              <a:rPr lang="en-US" sz="1600" baseline="-400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Due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PV</a:t>
            </a:r>
            <a:pPr algn="ctr">
              <a:lnSpc>
                <a:spcPct val="160000"/>
              </a:lnSpc>
            </a:pPr>
            <a:r>
              <a:rPr lang="en-US" sz="1600" baseline="-400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x (1+i)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Simply multiply the ordinary annuity result by (1+i) to convert to annuity due.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6731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300" kern="0" dirty="0">
                <a:solidFill>
                  <a:srgbClr val="52796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WHEN TO USE WHICH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7175500"/>
          <a:ext cx="14732000" cy="1143000"/>
        </p:xfrm>
        <a:graphic>
          <a:graphicData uri="http://schemas.openxmlformats.org/drawingml/2006/table">
            <a:tbl>
              <a:tblPr/>
              <a:tblGrid>
                <a:gridCol w="3683000"/>
                <a:gridCol w="5524500"/>
                <a:gridCol w="55245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 For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Ordinary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End-of-period payments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Bonds, loans, mortgages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Annuity Due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Beginning-of-period payments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Rent, leases, insurance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13970000" y="8763000"/>
            <a:ext cx="1524000" cy="254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20" name="Text 17"/>
          <p:cNvSpPr/>
          <p:nvPr/>
        </p:nvSpPr>
        <p:spPr>
          <a:xfrm>
            <a:off x="13970000" y="87884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Annuities — Numerical Examples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25400"/>
          </a:xfrm>
          <a:prstGeom prst="rect">
            <a:avLst/>
          </a:prstGeom>
          <a:solidFill>
            <a:srgbClr val="D4E0DC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14732000" cy="18415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50800" cy="1841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14986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200" kern="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PROBLEM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" y="18034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Calculate the FV of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$500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deposited at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each year for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years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7%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FV = $500 x [(1.07)</a:t>
            </a:r>
            <a:pPr>
              <a:lnSpc>
                <a:spcPct val="150000"/>
              </a:lnSpc>
            </a:pPr>
            <a:r>
              <a:rPr lang="en-US" sz="1600" baseline="3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- 1] / 0.07 = $500 x 13.8164 =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$6,908.21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Ordinary annuity — payments at end of period, using FVIFA factor.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492500"/>
            <a:ext cx="14732000" cy="18415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3492500"/>
            <a:ext cx="50800" cy="1841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35941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200" kern="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PROBLEM 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0600" y="38989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Calculate the PV of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$3,000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received at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each year for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years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9%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PV = $3,000 x [1 - (1.09)</a:t>
            </a:r>
            <a:pPr>
              <a:lnSpc>
                <a:spcPct val="150000"/>
              </a:lnSpc>
            </a:pPr>
            <a:r>
              <a:rPr lang="en-US" sz="1600" baseline="3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-6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] / 0.09 = $3,000 x 4.4859 =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$13,457.80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Ordinary annuity — using PVIFA factor for present value calculation.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588000"/>
            <a:ext cx="14732000" cy="1841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5588000"/>
            <a:ext cx="50800" cy="1841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5689600"/>
            <a:ext cx="355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PROBLEM 3 — SOLVING FOR PMT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90600" y="60325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retirement account needs to reach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$500,000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 years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How much must be saved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annually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8%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?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$500,000 = PMT x [(1.08)</a:t>
            </a:r>
            <a:pPr>
              <a:lnSpc>
                <a:spcPct val="150000"/>
              </a:lnSpc>
            </a:pPr>
            <a:r>
              <a:rPr lang="en-US" sz="1600" baseline="300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- 1] / 0.08 = PMT x 73.1059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PMT = $500,000 / 73.1059 =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$6,839.40 per year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970000" y="8763000"/>
            <a:ext cx="1524000" cy="254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17" name="Text 15"/>
          <p:cNvSpPr/>
          <p:nvPr/>
        </p:nvSpPr>
        <p:spPr>
          <a:xfrm>
            <a:off x="13970000" y="87884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Annuities — Comparison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25400"/>
          </a:xfrm>
          <a:prstGeom prst="rect">
            <a:avLst/>
          </a:prstGeom>
          <a:solidFill>
            <a:srgbClr val="D4E0DC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3302000"/>
        </p:xfrm>
        <a:graphic>
          <a:graphicData uri="http://schemas.openxmlformats.org/drawingml/2006/table">
            <a:tbl>
              <a:tblPr/>
              <a:tblGrid>
                <a:gridCol w="3241040"/>
                <a:gridCol w="5745480"/>
                <a:gridCol w="5745480"/>
              </a:tblGrid>
              <a:tr h="529328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Ordinary Annuity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Annuity Due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69316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Payment Timing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End of each period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9A22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Beginning of each period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69316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FV Formula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PMT x [(1+i)n - 1] / 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FVOrd x (1+i)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</a:tr>
              <a:tr h="69316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PV Formula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PMT x [1 - (1+i)-n] / 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PVOrd x (1+i)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69316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Value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Lower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9A22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Higher by factor of (1+i)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5080000"/>
            <a:ext cx="14732000" cy="1524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5207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300" kern="0" dirty="0">
                <a:solidFill>
                  <a:srgbClr val="52796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COMPLETE FORMULA REFERENCE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5588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FV Ordinary: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PMT x [(1+i)</a:t>
            </a:r>
            <a:pPr>
              <a:lnSpc>
                <a:spcPct val="170000"/>
              </a:lnSpc>
            </a:pPr>
            <a:r>
              <a:rPr lang="en-US" sz="1500" baseline="3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- 1] / i |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PV Ordinary: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PMT x [1 - (1+i)</a:t>
            </a:r>
            <a:pPr>
              <a:lnSpc>
                <a:spcPct val="170000"/>
              </a:lnSpc>
            </a:pPr>
            <a:r>
              <a:rPr lang="en-US" sz="1500" baseline="3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-n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] / 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FV Due: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FV</a:t>
            </a:r>
            <a:pPr>
              <a:lnSpc>
                <a:spcPct val="170000"/>
              </a:lnSpc>
            </a:pPr>
            <a:r>
              <a:rPr lang="en-US" sz="1500" baseline="-4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x (1+i) |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PV Due: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PV</a:t>
            </a:r>
            <a:pPr>
              <a:lnSpc>
                <a:spcPct val="170000"/>
              </a:lnSpc>
            </a:pPr>
            <a:r>
              <a:rPr lang="en-US" sz="1500" baseline="-4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x (1+i)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6858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300" kern="0" dirty="0">
                <a:solidFill>
                  <a:srgbClr val="52796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VISUAL COMPARISON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2000" y="7302500"/>
            <a:ext cx="711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Ordinary: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0 —— $PMT —— $PMT —— $PMT —— $PMT (payments at t=1,2,3,4)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82000" y="7302500"/>
            <a:ext cx="711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Annuity Due: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$PMT —— $PMT —— $PMT —— $PMT —— 0 (payments at t=0,1,2,3)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2000" y="79375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5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Remember: Annuity Due always has a </a:t>
            </a:r>
            <a:pPr algn="ctr">
              <a:lnSpc>
                <a:spcPct val="16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higher value</a:t>
            </a:r>
            <a:pPr algn="ctr">
              <a:lnSpc>
                <a:spcPct val="160000"/>
              </a:lnSpc>
            </a:pPr>
            <a:r>
              <a:rPr lang="en-US" sz="15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because payments occur earlier and earn more interest.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3970000" y="8763000"/>
            <a:ext cx="1524000" cy="254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13" name="Text 10"/>
          <p:cNvSpPr/>
          <p:nvPr/>
        </p:nvSpPr>
        <p:spPr>
          <a:xfrm>
            <a:off x="13970000" y="87884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gohdckv4tqt6/mnt/agents/output/tvm_presentation/images/4_London_financial_district_skyline.png">    </p:cNvPr>
          <p:cNvPicPr>
            <a:picLocks noChangeAspect="1"/>
          </p:cNvPicPr>
          <p:nvPr/>
        </p:nvPicPr>
        <p:blipFill>
          <a:blip r:embed="rId1"/>
          <a:srcRect l="28599" r="28599" t="0" b="0"/>
          <a:stretch/>
        </p:blipFill>
        <p:spPr>
          <a:xfrm>
            <a:off x="0" y="0"/>
            <a:ext cx="6604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26000" y="0"/>
            <a:ext cx="2032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0"/>
                </a:srgbClr>
              </a:gs>
              <a:gs pos="100000">
                <a:srgbClr val="1B4332"/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112000" y="1524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FFFFFF">
                    <a:alpha val="10196"/>
                  </a:srgbClr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366000" y="3810000"/>
            <a:ext cx="762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3"/>
          <p:cNvSpPr/>
          <p:nvPr/>
        </p:nvSpPr>
        <p:spPr>
          <a:xfrm>
            <a:off x="7366000" y="4064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400" kern="0" dirty="0">
                <a:solidFill>
                  <a:srgbClr val="F5F1EB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THREE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66000" y="4508500"/>
            <a:ext cx="812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4000" spc="200" kern="0" dirty="0">
                <a:solidFill>
                  <a:srgbClr val="F5F1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Making Interest Rates</a:t>
            </a:r>
            <a:endParaRPr lang="en-US" sz="4000" dirty="0"/>
          </a:p>
          <a:p>
            <a:pPr>
              <a:lnSpc>
                <a:spcPct val="130000"/>
              </a:lnSpc>
            </a:pPr>
            <a:r>
              <a:rPr lang="en-US" sz="4000" spc="200" kern="0" dirty="0">
                <a:solidFill>
                  <a:srgbClr val="F5F1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Comparable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66000" y="6096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F5F1EB">
                    <a:alpha val="66667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APR, EAR, and the true cost of borrowing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C9A227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APR vs EAR — What's the Difference?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25400"/>
          </a:xfrm>
          <a:prstGeom prst="rect">
            <a:avLst/>
          </a:prstGeom>
          <a:solidFill>
            <a:srgbClr val="D4E0DC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22400"/>
            <a:ext cx="7048500" cy="3556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22400"/>
            <a:ext cx="7048500" cy="508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165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572" y="66675"/>
                </a:moveTo>
                <a:lnTo>
                  <a:pt x="22572" y="170507"/>
                </a:lnTo>
                <a:cubicBezTo>
                  <a:pt x="22572" y="182314"/>
                  <a:pt x="27226" y="193635"/>
                  <a:pt x="35560" y="201970"/>
                </a:cubicBezTo>
                <a:lnTo>
                  <a:pt x="168910" y="335320"/>
                </a:lnTo>
                <a:cubicBezTo>
                  <a:pt x="186273" y="352683"/>
                  <a:pt x="214402" y="352683"/>
                  <a:pt x="231765" y="335320"/>
                </a:cubicBezTo>
                <a:lnTo>
                  <a:pt x="335598" y="231487"/>
                </a:lnTo>
                <a:cubicBezTo>
                  <a:pt x="352961" y="214124"/>
                  <a:pt x="352961" y="185995"/>
                  <a:pt x="335598" y="168632"/>
                </a:cubicBezTo>
                <a:lnTo>
                  <a:pt x="202248" y="35282"/>
                </a:lnTo>
                <a:cubicBezTo>
                  <a:pt x="193913" y="26878"/>
                  <a:pt x="182662" y="22225"/>
                  <a:pt x="170855" y="22225"/>
                </a:cubicBezTo>
                <a:lnTo>
                  <a:pt x="67022" y="22225"/>
                </a:lnTo>
                <a:cubicBezTo>
                  <a:pt x="42505" y="22225"/>
                  <a:pt x="22572" y="42158"/>
                  <a:pt x="22572" y="66675"/>
                </a:cubicBezTo>
                <a:close/>
                <a:moveTo>
                  <a:pt x="100360" y="77788"/>
                </a:moveTo>
                <a:cubicBezTo>
                  <a:pt x="112626" y="77788"/>
                  <a:pt x="122585" y="87746"/>
                  <a:pt x="122585" y="100013"/>
                </a:cubicBezTo>
                <a:cubicBezTo>
                  <a:pt x="122585" y="112279"/>
                  <a:pt x="112626" y="122238"/>
                  <a:pt x="100360" y="122238"/>
                </a:cubicBezTo>
                <a:cubicBezTo>
                  <a:pt x="88093" y="122238"/>
                  <a:pt x="78135" y="112279"/>
                  <a:pt x="78135" y="100013"/>
                </a:cubicBezTo>
                <a:cubicBezTo>
                  <a:pt x="78135" y="87746"/>
                  <a:pt x="88093" y="77788"/>
                  <a:pt x="100360" y="77788"/>
                </a:cubicBezTo>
                <a:close/>
              </a:path>
            </a:pathLst>
          </a:custGeom>
          <a:solidFill>
            <a:srgbClr val="52796F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165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2796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APR — Stated Rate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159000"/>
            <a:ext cx="65405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Percentage Rate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the nominal or quoted interest rate.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Does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account for compounding within the year.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Also called: nominal rate, quoted rate, stated rate.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by banks to advertise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loans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(looks lower, attracts borrowers).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45500" y="1422400"/>
            <a:ext cx="7048500" cy="3556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0" name="Shape 8"/>
          <p:cNvSpPr/>
          <p:nvPr/>
        </p:nvSpPr>
        <p:spPr>
          <a:xfrm>
            <a:off x="8445500" y="1422400"/>
            <a:ext cx="7048500" cy="50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Shape 9"/>
          <p:cNvSpPr/>
          <p:nvPr/>
        </p:nvSpPr>
        <p:spPr>
          <a:xfrm>
            <a:off x="8699500" y="165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9182100" y="165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5F1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EAR — True Rate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99500" y="2159000"/>
            <a:ext cx="65405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Effective Annual Rate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the actual annual interest rate.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ACCOUNTS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compounding effects within the year.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5F1EB">
                    <a:alpha val="667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Also called: effective rate, annual equivalent rate (AER), APY.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5F1EB">
                    <a:alpha val="667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by banks to advertise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5F1EB">
                    <a:alpha val="667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savings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5F1EB">
                    <a:alpha val="667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(looks higher, attracts depositors).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308600"/>
            <a:ext cx="14732000" cy="889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5524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1473200" y="5334000"/>
            <a:ext cx="1371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EAR is always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&gt;= APR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(when compounding &gt; 1x/year). They are equal only when compounding is annual. Always compare investments using EAR, not APR.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6477000"/>
            <a:ext cx="14732000" cy="1651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660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200" kern="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0600" y="69215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credit card advertises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18% APR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compounded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What is the true cost?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 = (1 + 0.18/12)</a:t>
            </a:r>
            <a:pPr>
              <a:lnSpc>
                <a:spcPct val="160000"/>
              </a:lnSpc>
            </a:pPr>
            <a:r>
              <a:rPr lang="en-US" sz="1600" baseline="3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- 1 = (1.015)</a:t>
            </a:r>
            <a:pPr>
              <a:lnSpc>
                <a:spcPct val="160000"/>
              </a:lnSpc>
            </a:pPr>
            <a:r>
              <a:rPr lang="en-US" sz="1600" baseline="3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- 1 =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19.56%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nearly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1.6 percentage points higher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than the advertised rate!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8318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30000"/>
              </a:lnSpc>
            </a:pPr>
            <a:r>
              <a:rPr lang="en-US" sz="1200" u="sng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Investopedia - Effective Annual Interest Rate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3970000" y="8763000"/>
            <a:ext cx="1524000" cy="254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22" name="Text 20"/>
          <p:cNvSpPr/>
          <p:nvPr/>
        </p:nvSpPr>
        <p:spPr>
          <a:xfrm>
            <a:off x="13970000" y="87884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EAR Formula &amp; Calculations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25400"/>
          </a:xfrm>
          <a:prstGeom prst="rect">
            <a:avLst/>
          </a:prstGeom>
          <a:solidFill>
            <a:srgbClr val="D4E0DC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22400"/>
            <a:ext cx="14732000" cy="889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22400"/>
            <a:ext cx="14732000" cy="50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549400"/>
            <a:ext cx="142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EAR = (1 + APR/m)</a:t>
            </a:r>
            <a:pPr algn="ctr">
              <a:lnSpc>
                <a:spcPct val="140000"/>
              </a:lnSpc>
            </a:pPr>
            <a:r>
              <a:rPr lang="en-US" sz="2400" baseline="300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</a:t>
            </a:r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- 1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2476500"/>
            <a:ext cx="147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Reverse: APR = m x [(1 + EAR)</a:t>
            </a:r>
            <a:pPr algn="ctr">
              <a:lnSpc>
                <a:spcPct val="100000"/>
              </a:lnSpc>
            </a:pPr>
            <a:r>
              <a:rPr lang="en-US" sz="1600" baseline="300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1/m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- 1] | where m = compounding periods per year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073400"/>
            <a:ext cx="4699000" cy="24765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3073400"/>
            <a:ext cx="4699000" cy="50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32512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200" kern="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EXAMPLE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0600" y="3581400"/>
            <a:ext cx="4254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12% APR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compounded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semi-annually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(m=2)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 = (1 + 0.12/2)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baseline="3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- 1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 = (1.06)</a:t>
            </a:r>
            <a:pPr>
              <a:lnSpc>
                <a:spcPct val="150000"/>
              </a:lnSpc>
            </a:pPr>
            <a:r>
              <a:rPr lang="en-US" sz="1500" baseline="3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- 1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 = 1.1236 - 1 =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12.36%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78500" y="3073400"/>
            <a:ext cx="4699000" cy="24765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5778500" y="3073400"/>
            <a:ext cx="4699000" cy="50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6007100" y="32512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200" kern="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EXAMPLE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07100" y="3581400"/>
            <a:ext cx="4254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12% APR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compounded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quarterly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(m=4)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 = (1 + 0.12/4)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baseline="3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- 1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 = (1.03)</a:t>
            </a:r>
            <a:pPr>
              <a:lnSpc>
                <a:spcPct val="150000"/>
              </a:lnSpc>
            </a:pPr>
            <a:r>
              <a:rPr lang="en-US" sz="1500" baseline="3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- 1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 = 1.1255 - 1 =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12.55%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95000" y="3073400"/>
            <a:ext cx="4699000" cy="2476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95000" y="3073400"/>
            <a:ext cx="4699000" cy="50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11023600" y="32512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200" kern="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EXAMPLE 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23600" y="3581400"/>
            <a:ext cx="4254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12% APR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compounded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(m=12)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 = (1 + 0.12/12)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baseline="300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- 1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 = (1.01)</a:t>
            </a:r>
            <a:pPr>
              <a:lnSpc>
                <a:spcPct val="150000"/>
              </a:lnSpc>
            </a:pPr>
            <a:r>
              <a:rPr lang="en-US" sz="1500" baseline="300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- 1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 = 1.1268 - 1 =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12.68%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842000"/>
            <a:ext cx="14732000" cy="1016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5969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Observation: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Same 12% APR yields different EARs: 12.36% (semi) &lt; 12.55% (quarterly) &lt; 12.68% (monthly). More frequent compounding = higher effective rate.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2000" y="7112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300" kern="0" dirty="0">
                <a:solidFill>
                  <a:srgbClr val="52796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COMPARISON TABLE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7493000"/>
          <a:ext cx="8890000" cy="952500"/>
        </p:xfrm>
        <a:graphic>
          <a:graphicData uri="http://schemas.openxmlformats.org/drawingml/2006/table">
            <a:tbl>
              <a:tblPr/>
              <a:tblGrid>
                <a:gridCol w="2667000"/>
                <a:gridCol w="2044700"/>
                <a:gridCol w="2044700"/>
                <a:gridCol w="2133600"/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Compounding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EAR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Monthly vs Semi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 vs 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12% vs 12%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9A22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12.68% vs 12.36%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762000" y="8509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30000"/>
              </a:lnSpc>
            </a:pPr>
            <a:r>
              <a:rPr lang="en-US" sz="1200" u="sng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Graduate Tutor - APR vs EAR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3970000" y="8763000"/>
            <a:ext cx="1524000" cy="254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26" name="Text 23"/>
          <p:cNvSpPr/>
          <p:nvPr/>
        </p:nvSpPr>
        <p:spPr>
          <a:xfrm>
            <a:off x="13970000" y="87884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Comparing Investments Using EAR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25400"/>
          </a:xfrm>
          <a:prstGeom prst="rect">
            <a:avLst/>
          </a:prstGeom>
          <a:solidFill>
            <a:srgbClr val="D4E0DC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22400"/>
            <a:ext cx="14732000" cy="1270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14986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200" kern="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0600" y="18034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Investment A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pays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10%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compounded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Investment B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pays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10.1%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compounded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semi-annually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Which is better?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Investing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$5,000,000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what is the difference in annual return?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921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200" kern="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SOLUTION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276600"/>
            <a:ext cx="7048500" cy="2540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3276600"/>
            <a:ext cx="50800" cy="25400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3403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52796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Investment 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0600" y="3810000"/>
            <a:ext cx="660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10% compounded monthly (m=12)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 = (1 + 0.10/12)</a:t>
            </a:r>
            <a:pPr>
              <a:lnSpc>
                <a:spcPct val="150000"/>
              </a:lnSpc>
            </a:pPr>
            <a:r>
              <a:rPr lang="en-US" sz="1600" baseline="3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- 1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 =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10.47%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return: $5M x 10.47% =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$523,500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45500" y="3276600"/>
            <a:ext cx="7048500" cy="2540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445500" y="3276600"/>
            <a:ext cx="50800" cy="2540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8674100" y="3403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Investment 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74100" y="3810000"/>
            <a:ext cx="660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10.1% compounded semi-annually (m=2)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 = (1 + 0.101/2)</a:t>
            </a:r>
            <a:pPr>
              <a:lnSpc>
                <a:spcPct val="150000"/>
              </a:lnSpc>
            </a:pPr>
            <a:r>
              <a:rPr lang="en-US" sz="1600" baseline="3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- 1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 =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10.36%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return: $5M x 10.36% =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$518,000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6096000"/>
            <a:ext cx="14732000" cy="1460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6159500"/>
            <a:ext cx="1422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7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Investment A wins!</a:t>
            </a:r>
            <a:pPr algn="ctr">
              <a:lnSpc>
                <a:spcPct val="160000"/>
              </a:lnSpc>
            </a:pPr>
            <a:r>
              <a:rPr lang="en-US" sz="17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Despite the lower stated rate (10% vs 10.1%),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7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frequent compounding delivers a higher effective return.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Difference: $5,500 per year</a:t>
            </a:r>
            <a:pPr algn="ctr">
              <a:lnSpc>
                <a:spcPct val="160000"/>
              </a:lnSpc>
            </a:pPr>
            <a:r>
              <a:rPr lang="en-US" sz="17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choosing B would be an expensive mistake.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76200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Lesson: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Always compare investments using </a:t>
            </a:r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EAR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not the stated APR. The compounding frequency can reverse the apparent winner.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62000" y="8255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30000"/>
              </a:lnSpc>
            </a:pPr>
            <a:r>
              <a:rPr lang="en-US" sz="1200" u="sng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Investopedia - Effective Annual Interest Rate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3970000" y="8763000"/>
            <a:ext cx="1524000" cy="254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21" name="Text 19"/>
          <p:cNvSpPr/>
          <p:nvPr/>
        </p:nvSpPr>
        <p:spPr>
          <a:xfrm>
            <a:off x="13970000" y="87884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Interest Rate Comparison — Examples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25400"/>
          </a:xfrm>
          <a:prstGeom prst="rect">
            <a:avLst/>
          </a:prstGeom>
          <a:solidFill>
            <a:srgbClr val="D4E0DC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7048500" cy="1651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50800" cy="1651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14986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200" kern="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PROBLEM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" y="17780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 EAR for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9.8%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compounded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 = (1 + 0.098/12)</a:t>
            </a:r>
            <a:pPr>
              <a:lnSpc>
                <a:spcPct val="150000"/>
              </a:lnSpc>
            </a:pPr>
            <a:r>
              <a:rPr lang="en-US" sz="1500" baseline="3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- 1 =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10.25%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effective rate is 0.45% higher than the stated rate.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45500" y="1397000"/>
            <a:ext cx="7048500" cy="1651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9" name="Shape 7"/>
          <p:cNvSpPr/>
          <p:nvPr/>
        </p:nvSpPr>
        <p:spPr>
          <a:xfrm>
            <a:off x="8445500" y="1397000"/>
            <a:ext cx="50800" cy="1651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8674100" y="14986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200" kern="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PROBLEM 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74100" y="17780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CD offers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8%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compounded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quarterly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What is the effective rate?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 = (1 + 0.08/4)</a:t>
            </a:r>
            <a:pPr>
              <a:lnSpc>
                <a:spcPct val="150000"/>
              </a:lnSpc>
            </a:pPr>
            <a:r>
              <a:rPr lang="en-US" sz="1500" baseline="3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- 1 =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8.24%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Quarterly compounding adds 0.24% to the return.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3365500"/>
            <a:ext cx="7048500" cy="1651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3365500"/>
            <a:ext cx="50800" cy="1651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34671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200" kern="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PROBLEM 3 — REVERSE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90600" y="37465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Given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 of 12%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find APR with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compounding.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 = 12 x [(1.12)</a:t>
            </a:r>
            <a:pPr>
              <a:lnSpc>
                <a:spcPct val="150000"/>
              </a:lnSpc>
            </a:pPr>
            <a:r>
              <a:rPr lang="en-US" sz="1500" baseline="300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1/12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- 1] =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11.39%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5F1EB">
                    <a:alpha val="667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stated rate is lower than the effective rate.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445500" y="3365500"/>
            <a:ext cx="7048500" cy="1651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7" name="Shape 15"/>
          <p:cNvSpPr/>
          <p:nvPr/>
        </p:nvSpPr>
        <p:spPr>
          <a:xfrm>
            <a:off x="8445500" y="3365500"/>
            <a:ext cx="50800" cy="1651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8674100" y="34671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200" kern="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PROBLEM 4 — CREDIT CARD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74100" y="37465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Credit card at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24% APR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compounded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 = (1 + 0.24/12)</a:t>
            </a:r>
            <a:pPr>
              <a:lnSpc>
                <a:spcPct val="150000"/>
              </a:lnSpc>
            </a:pPr>
            <a:r>
              <a:rPr lang="en-US" sz="1500" baseline="300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- 1 =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26.82%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5F1EB">
                    <a:alpha val="667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true cost is 2.82% higher than advertised!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334000"/>
            <a:ext cx="14732000" cy="1270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5435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FORMULAS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0600" y="57785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 = (1 + APR/m)</a:t>
            </a:r>
            <a:pPr algn="ctr">
              <a:lnSpc>
                <a:spcPct val="160000"/>
              </a:lnSpc>
            </a:pPr>
            <a:r>
              <a:rPr lang="en-US" sz="1600" b="1" baseline="300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- 1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</a:t>
            </a:r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 = m x [(1 + EAR)</a:t>
            </a:r>
            <a:pPr algn="ctr">
              <a:lnSpc>
                <a:spcPct val="160000"/>
              </a:lnSpc>
            </a:pPr>
            <a:r>
              <a:rPr lang="en-US" sz="1600" b="1" baseline="300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1/m</a:t>
            </a:r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- 1]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921500"/>
          <a:ext cx="14732000" cy="1270000"/>
        </p:xfrm>
        <a:graphic>
          <a:graphicData uri="http://schemas.openxmlformats.org/drawingml/2006/table">
            <a:tbl>
              <a:tblPr/>
              <a:tblGrid>
                <a:gridCol w="3683000"/>
                <a:gridCol w="3683000"/>
                <a:gridCol w="3683000"/>
                <a:gridCol w="3683000"/>
              </a:tblGrid>
              <a:tr h="440099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Scenario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Compounding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EAR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149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Savings (CD)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9.8%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Monthly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9A22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10.25%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4149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Credit Card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24%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Monthly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9A22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26.82%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762000" y="8318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30000"/>
              </a:lnSpc>
            </a:pPr>
            <a:r>
              <a:rPr lang="en-US" sz="1200" u="sng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Graduate Tutor - APR vs EAR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3970000" y="8763000"/>
            <a:ext cx="1524000" cy="254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26" name="Text 23"/>
          <p:cNvSpPr/>
          <p:nvPr/>
        </p:nvSpPr>
        <p:spPr>
          <a:xfrm>
            <a:off x="13970000" y="87884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gohdckv4tqt6/mnt/agents/output/tvm_presentation/images/7_236_827_Dark_Jungle_Background_Royalty.png">    </p:cNvPr>
          <p:cNvPicPr>
            <a:picLocks noChangeAspect="1"/>
          </p:cNvPicPr>
          <p:nvPr/>
        </p:nvPicPr>
        <p:blipFill>
          <a:blip r:embed="rId1"/>
          <a:srcRect l="29657" r="29657" t="0" b="0"/>
          <a:stretch/>
        </p:blipFill>
        <p:spPr>
          <a:xfrm>
            <a:off x="0" y="0"/>
            <a:ext cx="6604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26000" y="0"/>
            <a:ext cx="2032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0"/>
                </a:srgbClr>
              </a:gs>
              <a:gs pos="100000">
                <a:srgbClr val="1B4332"/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112000" y="1524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FFFFFF">
                    <a:alpha val="10196"/>
                  </a:srgbClr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366000" y="3810000"/>
            <a:ext cx="762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3"/>
          <p:cNvSpPr/>
          <p:nvPr/>
        </p:nvSpPr>
        <p:spPr>
          <a:xfrm>
            <a:off x="7366000" y="4064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400" kern="0" dirty="0">
                <a:solidFill>
                  <a:srgbClr val="F5F1EB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FOUR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66000" y="4508500"/>
            <a:ext cx="812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4000" spc="200" kern="0" dirty="0">
                <a:solidFill>
                  <a:srgbClr val="F5F1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Uneven Streams &amp;</a:t>
            </a:r>
            <a:endParaRPr lang="en-US" sz="4000" dirty="0"/>
          </a:p>
          <a:p>
            <a:pPr>
              <a:lnSpc>
                <a:spcPct val="130000"/>
              </a:lnSpc>
            </a:pPr>
            <a:r>
              <a:rPr lang="en-US" sz="4000" spc="200" kern="0" dirty="0">
                <a:solidFill>
                  <a:srgbClr val="F5F1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Perpetuities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66000" y="6096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F5F1EB">
                    <a:alpha val="66667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Valuing irregular and infinite cash flow patterns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C9A227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Present Value of Uneven Cash Flows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25400"/>
          </a:xfrm>
          <a:prstGeom prst="rect">
            <a:avLst/>
          </a:prstGeom>
          <a:solidFill>
            <a:srgbClr val="D4E0D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Uneven cash flow = series of unequal periodic payments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968500"/>
            <a:ext cx="762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Unlike annuities where payments are equal, each cash flow in an uneven stream must be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discounted individually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find the total present value. No shortcut formula exists.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3429000"/>
            <a:ext cx="7620000" cy="1143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3429000"/>
            <a:ext cx="7620000" cy="50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581400"/>
            <a:ext cx="711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PV = CF</a:t>
            </a:r>
            <a:pPr algn="ctr">
              <a:lnSpc>
                <a:spcPct val="160000"/>
              </a:lnSpc>
            </a:pPr>
            <a:r>
              <a:rPr lang="en-US" sz="1800" baseline="-400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/(1+i)</a:t>
            </a:r>
            <a:pPr algn="ctr">
              <a:lnSpc>
                <a:spcPct val="160000"/>
              </a:lnSpc>
            </a:pPr>
            <a:r>
              <a:rPr lang="en-US" sz="1800" baseline="300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+ CF</a:t>
            </a:r>
            <a:pPr algn="ctr">
              <a:lnSpc>
                <a:spcPct val="160000"/>
              </a:lnSpc>
            </a:pPr>
            <a:r>
              <a:rPr lang="en-US" sz="1800" baseline="-400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/(1+i)</a:t>
            </a:r>
            <a:pPr algn="ctr">
              <a:lnSpc>
                <a:spcPct val="160000"/>
              </a:lnSpc>
            </a:pPr>
            <a:r>
              <a:rPr lang="en-US" sz="1800" baseline="300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+ ... + CF</a:t>
            </a:r>
            <a:pPr algn="ctr">
              <a:lnSpc>
                <a:spcPct val="160000"/>
              </a:lnSpc>
            </a:pPr>
            <a:r>
              <a:rPr lang="en-US" sz="1800" baseline="-400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/(1+i)</a:t>
            </a:r>
            <a:pPr algn="ctr">
              <a:lnSpc>
                <a:spcPct val="160000"/>
              </a:lnSpc>
            </a:pPr>
            <a:r>
              <a:rPr lang="en-US" sz="1800" baseline="300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4635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 formula: </a:t>
            </a:r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PV = Sum of [CF</a:t>
            </a:r>
            <a:pPr algn="ctr">
              <a:lnSpc>
                <a:spcPct val="100000"/>
              </a:lnSpc>
            </a:pPr>
            <a:r>
              <a:rPr lang="en-US" sz="1600" b="1" baseline="-400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</a:t>
            </a:r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 (1+i)</a:t>
            </a:r>
            <a:pPr algn="ctr">
              <a:lnSpc>
                <a:spcPct val="100000"/>
              </a:lnSpc>
            </a:pPr>
            <a:r>
              <a:rPr lang="en-US" sz="1600" b="1" baseline="300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</a:t>
            </a:r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]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t = 1 to 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5143500"/>
            <a:ext cx="7620000" cy="952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" name="Shape 9"/>
          <p:cNvSpPr/>
          <p:nvPr/>
        </p:nvSpPr>
        <p:spPr>
          <a:xfrm>
            <a:off x="1054100" y="53594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1473200" y="5232400"/>
            <a:ext cx="673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 the foundation of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NPV (Net Present Value)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analysis used in capital budgeting to evaluate investment projects.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0" y="1397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200" kern="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DISCOUNTING EACH CASH FLOW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0" y="1841500"/>
            <a:ext cx="6350000" cy="25400"/>
          </a:xfrm>
          <a:prstGeom prst="rect">
            <a:avLst/>
          </a:prstGeom>
          <a:solidFill>
            <a:srgbClr val="D4E0D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0" y="2095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stream at 10% discount rate: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0" y="2603500"/>
          <a:ext cx="6350000" cy="2540000"/>
        </p:xfrm>
        <a:graphic>
          <a:graphicData uri="http://schemas.openxmlformats.org/drawingml/2006/table">
            <a:tbl>
              <a:tblPr/>
              <a:tblGrid>
                <a:gridCol w="1270000"/>
                <a:gridCol w="1587500"/>
                <a:gridCol w="1905000"/>
                <a:gridCol w="15875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Year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Cash Flow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Discount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PV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$100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 1.10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$90.91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$200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 1.10²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$165.29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$300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 1.10³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$225.39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$400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 1.10⁴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$273.21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9144000" y="5334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PV = </a:t>
            </a:r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$754.80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(for first 4 years)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3970000" y="8763000"/>
            <a:ext cx="1524000" cy="254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19" name="Text 16"/>
          <p:cNvSpPr/>
          <p:nvPr/>
        </p:nvSpPr>
        <p:spPr>
          <a:xfrm>
            <a:off x="13970000" y="87884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PV of Uneven Stream — Full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25400"/>
          </a:xfrm>
          <a:prstGeom prst="rect">
            <a:avLst/>
          </a:prstGeom>
          <a:solidFill>
            <a:srgbClr val="D4E0DC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22400"/>
            <a:ext cx="14732000" cy="8255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1524000"/>
            <a:ext cx="1422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investment pays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$100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(Yr1),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$200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(Yr2),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$300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(Yr3),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$400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(Yr4),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$500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(Yr5). Discount rate =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10%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Find the PV.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540000"/>
          <a:ext cx="8890000" cy="3937000"/>
        </p:xfrm>
        <a:graphic>
          <a:graphicData uri="http://schemas.openxmlformats.org/drawingml/2006/table">
            <a:tbl>
              <a:tblPr/>
              <a:tblGrid>
                <a:gridCol w="1333500"/>
                <a:gridCol w="1955800"/>
                <a:gridCol w="2489200"/>
                <a:gridCol w="1511300"/>
                <a:gridCol w="1600200"/>
              </a:tblGrid>
              <a:tr h="549646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Year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Cash Flow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Calculation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Factor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PV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$100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$100 / 1.10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0.9091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$90.91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$200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$200 / 1.10²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0.8264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$165.29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</a:tr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$300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$300 / 1.10³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0.7513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$225.39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$400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$400 / 1.10⁴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0.6830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$273.21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</a:tr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$500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$500 / 1.10⁵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0.6209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$310.46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57521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Total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$1,500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&lt;p&gt;&lt;span&gt;&lt;/span&gt;&lt;/p&gt;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&lt;p&gt;&lt;span&gt;&lt;/span&gt;&lt;/p&gt;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9A22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$1,065.26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0160000" y="2540000"/>
            <a:ext cx="5334000" cy="3937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5"/>
          <p:cNvSpPr/>
          <p:nvPr/>
        </p:nvSpPr>
        <p:spPr>
          <a:xfrm>
            <a:off x="10414000" y="2730500"/>
            <a:ext cx="482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spc="300" kern="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STEP-BY-STEP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414000" y="3175000"/>
            <a:ext cx="4826000" cy="311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List all cash flows by year.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Calculate discount factor for each year: 1/(1.10)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aseline="300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Multiply each CF by its discount factor.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4: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Sum all present values.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PV = $1,065.26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2000" y="6794500"/>
            <a:ext cx="14732000" cy="1016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11" name="Shape 8"/>
          <p:cNvSpPr/>
          <p:nvPr/>
        </p:nvSpPr>
        <p:spPr>
          <a:xfrm>
            <a:off x="1054100" y="70485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2" name="Text 9"/>
          <p:cNvSpPr/>
          <p:nvPr/>
        </p:nvSpPr>
        <p:spPr>
          <a:xfrm>
            <a:off x="1473200" y="69215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Total cash flows sum to $1,500, but the PV is only $1,065.26. The difference ($434.74) represents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time value of money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future dollars are worth less than today's dollars.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3970000" y="8763000"/>
            <a:ext cx="1524000" cy="254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14" name="Text 11"/>
          <p:cNvSpPr/>
          <p:nvPr/>
        </p:nvSpPr>
        <p:spPr>
          <a:xfrm>
            <a:off x="13970000" y="87884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Perpetuities — Concept &amp; Formula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25400"/>
          </a:xfrm>
          <a:prstGeom prst="rect">
            <a:avLst/>
          </a:prstGeom>
          <a:solidFill>
            <a:srgbClr val="D4E0D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Perpetuity = infinite series of equal cash flows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006600"/>
            <a:ext cx="7620000" cy="1016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006600"/>
            <a:ext cx="7620000" cy="50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133600"/>
            <a:ext cx="7112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6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PV = C / 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62000" y="3175000"/>
            <a:ext cx="762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constant cash flow per period |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discount rate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Remarkably simple — no exponents, no n. Just divide.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4038600"/>
            <a:ext cx="7620000" cy="952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41275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200" kern="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GROWING PERPETUITY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4445000"/>
            <a:ext cx="711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PV = C</a:t>
            </a:r>
            <a:pPr algn="ctr">
              <a:lnSpc>
                <a:spcPct val="100000"/>
              </a:lnSpc>
            </a:pPr>
            <a:r>
              <a:rPr lang="en-US" sz="2000" baseline="-400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 (r - g)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5016500"/>
            <a:ext cx="711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A9E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g = constant growth rate (gordon growth model)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5524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300" kern="0" dirty="0">
                <a:solidFill>
                  <a:srgbClr val="52796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APPLICATIONS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994400"/>
            <a:ext cx="50800" cy="825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" y="5994400"/>
            <a:ext cx="711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Preferred Stock Valuation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Constant dividend preferred stocks are valued as perpetuities.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6921500"/>
            <a:ext cx="50800" cy="825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965200" y="6921500"/>
            <a:ext cx="711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Terminal Value in DCF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Company valuation beyond the forecast period uses perpetuity.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7848600"/>
            <a:ext cx="50800" cy="825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965200" y="7848600"/>
            <a:ext cx="711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Consols (Perpetual Bonds)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British government bonds with no maturity date.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0" y="1397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200" kern="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WHY THE FORMULA WORKS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144000" y="1841500"/>
            <a:ext cx="6350000" cy="25400"/>
          </a:xfrm>
          <a:prstGeom prst="rect">
            <a:avLst/>
          </a:prstGeom>
          <a:solidFill>
            <a:srgbClr val="D4E0DC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0" y="2095500"/>
            <a:ext cx="635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perpetuity is an ordinary annuity where n approaches infinity: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PV = C x [1 - (1+r)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aseline="300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-n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] / r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 n → infinity, (1+r)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baseline="300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-n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→ 0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So: PV = C x [1 - 0] / r = 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 / r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588750" y="495300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0" y="381000"/>
                </a:moveTo>
                <a:cubicBezTo>
                  <a:pt x="0" y="249436"/>
                  <a:pt x="106561" y="142875"/>
                  <a:pt x="238125" y="142875"/>
                </a:cubicBezTo>
                <a:cubicBezTo>
                  <a:pt x="313134" y="142875"/>
                  <a:pt x="383679" y="178147"/>
                  <a:pt x="428625" y="238125"/>
                </a:cubicBezTo>
                <a:lnTo>
                  <a:pt x="476250" y="301675"/>
                </a:lnTo>
                <a:lnTo>
                  <a:pt x="523875" y="238125"/>
                </a:lnTo>
                <a:cubicBezTo>
                  <a:pt x="568821" y="178147"/>
                  <a:pt x="639366" y="142875"/>
                  <a:pt x="714375" y="142875"/>
                </a:cubicBezTo>
                <a:cubicBezTo>
                  <a:pt x="845939" y="142875"/>
                  <a:pt x="952500" y="249436"/>
                  <a:pt x="952500" y="381000"/>
                </a:cubicBezTo>
                <a:cubicBezTo>
                  <a:pt x="952500" y="512564"/>
                  <a:pt x="845939" y="619125"/>
                  <a:pt x="714375" y="619125"/>
                </a:cubicBezTo>
                <a:cubicBezTo>
                  <a:pt x="639366" y="619125"/>
                  <a:pt x="568821" y="583853"/>
                  <a:pt x="523875" y="523875"/>
                </a:cubicBezTo>
                <a:lnTo>
                  <a:pt x="476250" y="460325"/>
                </a:lnTo>
                <a:lnTo>
                  <a:pt x="428625" y="523875"/>
                </a:lnTo>
                <a:cubicBezTo>
                  <a:pt x="383679" y="583853"/>
                  <a:pt x="313134" y="619125"/>
                  <a:pt x="238125" y="619125"/>
                </a:cubicBezTo>
                <a:cubicBezTo>
                  <a:pt x="106561" y="619125"/>
                  <a:pt x="0" y="512564"/>
                  <a:pt x="0" y="381000"/>
                </a:cubicBezTo>
                <a:close/>
                <a:moveTo>
                  <a:pt x="416719" y="381000"/>
                </a:moveTo>
                <a:lnTo>
                  <a:pt x="352425" y="295275"/>
                </a:lnTo>
                <a:cubicBezTo>
                  <a:pt x="325487" y="259259"/>
                  <a:pt x="283071" y="238125"/>
                  <a:pt x="238125" y="238125"/>
                </a:cubicBezTo>
                <a:cubicBezTo>
                  <a:pt x="159246" y="238125"/>
                  <a:pt x="95250" y="302121"/>
                  <a:pt x="95250" y="381000"/>
                </a:cubicBezTo>
                <a:cubicBezTo>
                  <a:pt x="95250" y="459879"/>
                  <a:pt x="159246" y="523875"/>
                  <a:pt x="238125" y="523875"/>
                </a:cubicBezTo>
                <a:cubicBezTo>
                  <a:pt x="283071" y="523875"/>
                  <a:pt x="325487" y="502741"/>
                  <a:pt x="352425" y="466725"/>
                </a:cubicBezTo>
                <a:lnTo>
                  <a:pt x="416719" y="381000"/>
                </a:lnTo>
                <a:close/>
                <a:moveTo>
                  <a:pt x="535781" y="381000"/>
                </a:moveTo>
                <a:lnTo>
                  <a:pt x="600075" y="466725"/>
                </a:lnTo>
                <a:cubicBezTo>
                  <a:pt x="627013" y="502741"/>
                  <a:pt x="669429" y="523875"/>
                  <a:pt x="714375" y="523875"/>
                </a:cubicBezTo>
                <a:cubicBezTo>
                  <a:pt x="793254" y="523875"/>
                  <a:pt x="857250" y="459879"/>
                  <a:pt x="857250" y="381000"/>
                </a:cubicBezTo>
                <a:cubicBezTo>
                  <a:pt x="857250" y="302121"/>
                  <a:pt x="793254" y="238125"/>
                  <a:pt x="714375" y="238125"/>
                </a:cubicBezTo>
                <a:cubicBezTo>
                  <a:pt x="669429" y="238125"/>
                  <a:pt x="627013" y="259259"/>
                  <a:pt x="600075" y="295275"/>
                </a:cubicBezTo>
                <a:lnTo>
                  <a:pt x="535781" y="381000"/>
                </a:lnTo>
                <a:close/>
              </a:path>
            </a:pathLst>
          </a:custGeom>
          <a:solidFill>
            <a:srgbClr val="52796F">
              <a:alpha val="18824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0" y="5969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formula's simplicity makes it one of the most elegant in finance. It is the foundation of the </a:t>
            </a:r>
            <a:pPr algn="ctr">
              <a:lnSpc>
                <a:spcPct val="150000"/>
              </a:lnSpc>
            </a:pPr>
            <a:r>
              <a:rPr lang="en-US" sz="15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Gordon Growth Model</a:t>
            </a:r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stock valuation.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3970000" y="8763000"/>
            <a:ext cx="1524000" cy="254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26" name="Text 24"/>
          <p:cNvSpPr/>
          <p:nvPr/>
        </p:nvSpPr>
        <p:spPr>
          <a:xfrm>
            <a:off x="13970000" y="87884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Perpetuities — Numerical Examples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25400"/>
          </a:xfrm>
          <a:prstGeom prst="rect">
            <a:avLst/>
          </a:prstGeom>
          <a:solidFill>
            <a:srgbClr val="D4E0DC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22400"/>
            <a:ext cx="14732000" cy="1651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22400"/>
            <a:ext cx="50800" cy="1651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15240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200" kern="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PROBLEM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" y="1816100"/>
            <a:ext cx="142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stock pays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constant dividend of $8/year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required rate of return is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25%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What is the value of the stock?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PV = C / r = $8 / 0.25 =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$32.00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perpetuity — constant cash flow divided by discount rate.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327400"/>
            <a:ext cx="14732000" cy="19685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3327400"/>
            <a:ext cx="50800" cy="1968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3429000"/>
            <a:ext cx="317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200" kern="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PROBLEM 2 — DELAYED PERPETUITY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0600" y="3746500"/>
            <a:ext cx="1422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stock pays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$10 dividend starting at the beginning of Year 6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(t=6). Required return =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20%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What is the PV today?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Find PV at t=5 (one period before first payment): PV</a:t>
            </a:r>
            <a:pPr>
              <a:lnSpc>
                <a:spcPct val="150000"/>
              </a:lnSpc>
            </a:pPr>
            <a:r>
              <a:rPr lang="en-US" sz="1600" baseline="-4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$10 / 0.20 =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Discount back to t=0: PV</a:t>
            </a:r>
            <a:pPr>
              <a:lnSpc>
                <a:spcPct val="150000"/>
              </a:lnSpc>
            </a:pPr>
            <a:r>
              <a:rPr lang="en-US" sz="1600" baseline="-4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$50 / (1.20)</a:t>
            </a:r>
            <a:pPr>
              <a:lnSpc>
                <a:spcPct val="150000"/>
              </a:lnSpc>
            </a:pPr>
            <a:r>
              <a:rPr lang="en-US" sz="1600" baseline="300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$20.10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549900"/>
            <a:ext cx="14732000" cy="1968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5549900"/>
            <a:ext cx="50800" cy="1968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56515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200" kern="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PROBLEM 3 — GROWING PERPETUITY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90600" y="5969000"/>
            <a:ext cx="1422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stock pays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 dividend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growing at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3% per year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forever. Required return =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10%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What is the stock value?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Gordon Growth Model: PV = C</a:t>
            </a:r>
            <a:pPr>
              <a:lnSpc>
                <a:spcPct val="150000"/>
              </a:lnSpc>
            </a:pPr>
            <a:r>
              <a:rPr lang="en-US" sz="1600" baseline="-400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 (r - g) = $5 / (0.10 - 0.03)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PV = $5 / 0.07 =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$71.43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77470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Formula Reference: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Simple: PV = C/r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| 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Growing: PV = C</a:t>
            </a:r>
            <a:pPr algn="ctr">
              <a:lnSpc>
                <a:spcPct val="160000"/>
              </a:lnSpc>
            </a:pPr>
            <a:r>
              <a:rPr lang="en-US" sz="1600" baseline="-400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/(r-g)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| 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Delayed: Find PV at t-1, then discount to t=0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2000" y="8382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30000"/>
              </a:lnSpc>
            </a:pPr>
            <a:r>
              <a:rPr lang="en-US" sz="1200" u="sng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AnalystPrep - Annuity Formulas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970000" y="8763000"/>
            <a:ext cx="1524000" cy="254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19" name="Text 17"/>
          <p:cNvSpPr/>
          <p:nvPr/>
        </p:nvSpPr>
        <p:spPr>
          <a:xfrm>
            <a:off x="13970000" y="87884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508000"/>
            <a:ext cx="2540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762000"/>
            <a:ext cx="1270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spc="400" kern="0" dirty="0">
                <a:solidFill>
                  <a:srgbClr val="F5F1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588000" y="1524000"/>
            <a:ext cx="5080000" cy="25400"/>
          </a:xfrm>
          <a:prstGeom prst="rect">
            <a:avLst/>
          </a:prstGeom>
          <a:solidFill>
            <a:srgbClr val="F5F1EB">
              <a:alpha val="25098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1968500"/>
            <a:ext cx="6858000" cy="1524000"/>
          </a:xfrm>
          <a:prstGeom prst="rect">
            <a:avLst/>
          </a:prstGeom>
          <a:solidFill>
            <a:srgbClr val="1B4332">
              <a:alpha val="50196"/>
            </a:srgbClr>
          </a:solidFill>
          <a:ln w="12700">
            <a:solidFill>
              <a:srgbClr val="52796F">
                <a:alpha val="37647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6500" y="2095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05000" y="209550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Money today is worth more than money tomorrow.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compounding (FV) and discounting (PV) to compare values across time.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0" y="1968500"/>
            <a:ext cx="6858000" cy="1524000"/>
          </a:xfrm>
          <a:prstGeom prst="rect">
            <a:avLst/>
          </a:prstGeom>
          <a:solidFill>
            <a:srgbClr val="1B4332">
              <a:alpha val="50196"/>
            </a:srgbClr>
          </a:solidFill>
          <a:ln w="12700">
            <a:solidFill>
              <a:srgbClr val="52796F">
                <a:alpha val="37647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72500" y="2095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271000" y="209550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Annuities simplify valuing equal periodic cash flows.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 the difference between ordinary annuity and annuity due.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16000" y="3810000"/>
            <a:ext cx="6858000" cy="1524000"/>
          </a:xfrm>
          <a:prstGeom prst="rect">
            <a:avLst/>
          </a:prstGeom>
          <a:solidFill>
            <a:srgbClr val="1B4332">
              <a:alpha val="50196"/>
            </a:srgbClr>
          </a:solidFill>
          <a:ln w="12700">
            <a:solidFill>
              <a:srgbClr val="52796F">
                <a:alpha val="37647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6500" y="3937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05000" y="393700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use EAR to compare interest rates.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compounding periods make APR comparisons misleading.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0" y="3810000"/>
            <a:ext cx="6858000" cy="1524000"/>
          </a:xfrm>
          <a:prstGeom prst="rect">
            <a:avLst/>
          </a:prstGeom>
          <a:solidFill>
            <a:srgbClr val="1B4332">
              <a:alpha val="50196"/>
            </a:srgbClr>
          </a:solidFill>
          <a:ln w="12700">
            <a:solidFill>
              <a:srgbClr val="52796F">
                <a:alpha val="37647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72500" y="3937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C9A22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71000" y="393700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Perpetuities value infinite streams.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foundation of stock valuation models like the Gordon Growth Model.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778000" y="5715000"/>
            <a:ext cx="12700000" cy="889000"/>
          </a:xfrm>
          <a:prstGeom prst="rect">
            <a:avLst/>
          </a:prstGeom>
          <a:solidFill>
            <a:srgbClr val="1B4332">
              <a:alpha val="37647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032000" y="5816600"/>
            <a:ext cx="1219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FV = PV(1+i)</a:t>
            </a:r>
            <a:pPr algn="ctr">
              <a:lnSpc>
                <a:spcPct val="160000"/>
              </a:lnSpc>
            </a:pPr>
            <a:r>
              <a:rPr lang="en-US" sz="1500" b="1" baseline="300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pPr algn="ctr">
              <a:lnSpc>
                <a:spcPct val="160000"/>
              </a:lnSpc>
            </a:pPr>
            <a:r>
              <a:rPr lang="en-US" sz="1500" dirty="0">
                <a:solidFill>
                  <a:srgbClr val="F5F1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</a:t>
            </a:r>
            <a:pPr algn="ctr">
              <a:lnSpc>
                <a:spcPct val="16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PV = FV/(1+i)</a:t>
            </a:r>
            <a:pPr algn="ctr">
              <a:lnSpc>
                <a:spcPct val="160000"/>
              </a:lnSpc>
            </a:pPr>
            <a:r>
              <a:rPr lang="en-US" sz="1500" b="1" baseline="300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pPr algn="ctr">
              <a:lnSpc>
                <a:spcPct val="160000"/>
              </a:lnSpc>
            </a:pPr>
            <a:r>
              <a:rPr lang="en-US" sz="1500" dirty="0">
                <a:solidFill>
                  <a:srgbClr val="F5F1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</a:t>
            </a:r>
            <a:pPr algn="ctr">
              <a:lnSpc>
                <a:spcPct val="16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 = (1+APR/m)</a:t>
            </a:r>
            <a:pPr algn="ctr">
              <a:lnSpc>
                <a:spcPct val="160000"/>
              </a:lnSpc>
            </a:pPr>
            <a:r>
              <a:rPr lang="en-US" sz="1500" b="1" baseline="300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pPr algn="ctr">
              <a:lnSpc>
                <a:spcPct val="16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-1</a:t>
            </a:r>
            <a:pPr algn="ctr">
              <a:lnSpc>
                <a:spcPct val="160000"/>
              </a:lnSpc>
            </a:pPr>
            <a:r>
              <a:rPr lang="en-US" sz="1500" dirty="0">
                <a:solidFill>
                  <a:srgbClr val="F5F1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</a:t>
            </a:r>
            <a:pPr algn="ctr">
              <a:lnSpc>
                <a:spcPct val="16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PV</a:t>
            </a:r>
            <a:pPr algn="ctr">
              <a:lnSpc>
                <a:spcPct val="160000"/>
              </a:lnSpc>
            </a:pPr>
            <a:r>
              <a:rPr lang="en-US" sz="1500" b="1" baseline="-400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perp</a:t>
            </a:r>
            <a:pPr algn="ctr">
              <a:lnSpc>
                <a:spcPct val="16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C/r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048000" y="704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spc="200" kern="0" dirty="0">
                <a:solidFill>
                  <a:srgbClr val="F5F1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Master these tools to make informed financial decisions.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4318000" y="7874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5F1EB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Time Value of Money | Week 5-6 | Financial Mathematics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Time Value of Money - Week 5-6</dc:title>
  <dc:subject>The Time Value of Money - Week 5-6</dc:subject>
  <dc:creator>Kimi</dc:creator>
  <cp:lastModifiedBy>Kimi</cp:lastModifiedBy>
  <cp:revision>1</cp:revision>
  <dcterms:created xsi:type="dcterms:W3CDTF">2026-05-22T04:42:37Z</dcterms:created>
  <dcterms:modified xsi:type="dcterms:W3CDTF">2026-05-22T04:42:37Z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{"Label":"The Time Value of Money - Week 5-6","ContentProducer":"001191110108MACG2KBH8F10000","ProduceID":"19e4df4a-36d2-831b-8000-000009f29fb5","ReservedCode1":"","ContentPropagator":"001191110108MACG2KBH8F20000","PropagateID":"19e4df4a-36d2-831b-8000-000009f29fb5","ReservedCode2":""}</vt:lpwstr>
  </property>
</Properties>
</file>