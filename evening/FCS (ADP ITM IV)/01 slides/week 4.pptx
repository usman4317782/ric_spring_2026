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5.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6.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6256000" cy="9144000"/>
  <p:notesSz cx="9144000" cy="16256000"/>
  <p:embeddedFontLst>
    <p:embeddedFont>
      <p:font typeface="Quattrocento Sans" charset="-122" pitchFamily="34"/>
      <p:regular r:id="rId37"/>
    </p:embeddedFont>
    <p:embeddedFont>
      <p:font typeface="Oranienbaum" charset="-122" pitchFamily="34"/>
      <p:regular r:id="rId3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font" Target="fonts/font1.fntdata"/><Relationship Id="rId38" Type="http://schemas.openxmlformats.org/officeDocument/2006/relationships/font" Target="fonts/font2.fntdata"/></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 Index</c:v>
                </c:pt>
              </c:strCache>
            </c:strRef>
          </c:tx>
          <c:spPr>
            <a:solidFill>
              <a:srgbClr val="1B4332"/>
            </a:solidFill>
            <a:ln w="25400" cap="flat">
              <a:solidFill>
                <a:srgbClr val="1B43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B4332"/>
              </a:solidFill>
              <a:ln w="9525" cap="flat">
                <a:solidFill>
                  <a:srgbClr val="1B4332"/>
                </a:solidFill>
                <a:prstDash val="solid"/>
                <a:round/>
              </a:ln>
              <a:effectLst/>
            </c:spPr>
          </c:marker>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100</c:v>
                </c:pt>
                <c:pt idx="1">
                  <c:v>108</c:v>
                </c:pt>
                <c:pt idx="2">
                  <c:v>125</c:v>
                </c:pt>
                <c:pt idx="3">
                  <c:v>142</c:v>
                </c:pt>
                <c:pt idx="4">
                  <c:v>165</c:v>
                </c:pt>
                <c:pt idx="5">
                  <c:v>188</c:v>
                </c:pt>
                <c:pt idx="6">
                  <c:v>210</c:v>
                </c:pt>
              </c:numCache>
            </c:numRef>
          </c:val>
          <c:smooth val="1"/>
        </c:ser>
        <c:ser>
          <c:idx val="1"/>
          <c:order val="1"/>
          <c:tx>
            <c:strRef>
              <c:f>Sheet1!$C$1</c:f>
              <c:strCache>
                <c:ptCount val="1"/>
                <c:pt idx="0">
                  <c:v>Net Income Index</c:v>
                </c:pt>
              </c:strCache>
            </c:strRef>
          </c:tx>
          <c:spPr>
            <a:solidFill>
              <a:srgbClr val="B8860B"/>
            </a:solidFill>
            <a:ln w="25400" cap="flat">
              <a:solidFill>
                <a:srgbClr val="B886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8860B"/>
              </a:solidFill>
              <a:ln w="9525" cap="flat">
                <a:solidFill>
                  <a:srgbClr val="B8860B"/>
                </a:solidFill>
                <a:prstDash val="solid"/>
                <a:round/>
              </a:ln>
              <a:effectLst/>
            </c:spPr>
          </c:marker>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Sheet1!$C$2:$C$8</c:f>
              <c:numCache>
                <c:formatCode>General</c:formatCode>
                <c:ptCount val="7"/>
                <c:pt idx="0">
                  <c:v>100</c:v>
                </c:pt>
                <c:pt idx="1">
                  <c:v>95</c:v>
                </c:pt>
                <c:pt idx="2">
                  <c:v>118</c:v>
                </c:pt>
                <c:pt idx="3">
                  <c:v>135</c:v>
                </c:pt>
                <c:pt idx="4">
                  <c:v>158</c:v>
                </c:pt>
                <c:pt idx="5">
                  <c:v>172</c:v>
                </c:pt>
                <c:pt idx="6">
                  <c:v>195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4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Gross Margin</c:v>
                </c:pt>
              </c:strCache>
            </c:strRef>
          </c:tx>
          <c:spPr>
            <a:solidFill>
              <a:srgbClr val="1B4332"/>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Company A</c:v>
                  </c:pt>
                  <c:pt idx="1">
                    <c:v>Company B</c:v>
                  </c:pt>
                  <c:pt idx="2">
                    <c:v>Industry</c:v>
                  </c:pt>
                </c:lvl>
              </c:multiLvlStrCache>
            </c:multiLvlStrRef>
          </c:cat>
          <c:val>
            <c:numRef>
              <c:f>Sheet1!$B$2:$B$4</c:f>
              <c:numCache>
                <c:formatCode>General</c:formatCode>
                <c:ptCount val="3"/>
                <c:pt idx="0">
                  <c:v>42</c:v>
                </c:pt>
                <c:pt idx="1">
                  <c:v>35</c:v>
                </c:pt>
                <c:pt idx="2">
                  <c:v>38</c:v>
                </c:pt>
              </c:numCache>
            </c:numRef>
          </c:val>
        </c:ser>
        <c:ser>
          <c:idx val="1"/>
          <c:order val="1"/>
          <c:tx>
            <c:strRef>
              <c:f>Sheet1!$C$1</c:f>
              <c:strCache>
                <c:ptCount val="1"/>
                <c:pt idx="0">
                  <c:v>Operating Margin</c:v>
                </c:pt>
              </c:strCache>
            </c:strRef>
          </c:tx>
          <c:spPr>
            <a:solidFill>
              <a:srgbClr val="52796F"/>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Company A</c:v>
                  </c:pt>
                  <c:pt idx="1">
                    <c:v>Company B</c:v>
                  </c:pt>
                  <c:pt idx="2">
                    <c:v>Industry</c:v>
                  </c:pt>
                </c:lvl>
              </c:multiLvlStrCache>
            </c:multiLvlStrRef>
          </c:cat>
          <c:val>
            <c:numRef>
              <c:f>Sheet1!$C$2:$C$4</c:f>
              <c:numCache>
                <c:formatCode>General</c:formatCode>
                <c:ptCount val="3"/>
                <c:pt idx="0">
                  <c:v>22</c:v>
                </c:pt>
                <c:pt idx="1">
                  <c:v>18</c:v>
                </c:pt>
                <c:pt idx="2">
                  <c:v>20</c:v>
                </c:pt>
              </c:numCache>
            </c:numRef>
          </c:val>
        </c:ser>
        <c:ser>
          <c:idx val="2"/>
          <c:order val="2"/>
          <c:tx>
            <c:strRef>
              <c:f>Sheet1!$D$1</c:f>
              <c:strCache>
                <c:ptCount val="1"/>
                <c:pt idx="0">
                  <c:v>Net Margin</c:v>
                </c:pt>
              </c:strCache>
            </c:strRef>
          </c:tx>
          <c:spPr>
            <a:solidFill>
              <a:srgbClr val="B8860B"/>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Company A</c:v>
                  </c:pt>
                  <c:pt idx="1">
                    <c:v>Company B</c:v>
                  </c:pt>
                  <c:pt idx="2">
                    <c:v>Industry</c:v>
                  </c:pt>
                </c:lvl>
              </c:multiLvlStrCache>
            </c:multiLvlStrRef>
          </c:cat>
          <c:val>
            <c:numRef>
              <c:f>Sheet1!$D$2:$D$4</c:f>
              <c:numCache>
                <c:formatCode>General</c:formatCode>
                <c:ptCount val="3"/>
                <c:pt idx="0">
                  <c:v>15</c:v>
                </c:pt>
                <c:pt idx="1">
                  <c:v>10</c:v>
                </c:pt>
                <c:pt idx="2">
                  <c:v>12</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4de"/>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Conservative</c:v>
                </c:pt>
              </c:strCache>
            </c:strRef>
          </c:tx>
          <c:spPr>
            <a:solidFill>
              <a:srgbClr val="1B433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D/E Ratio</c:v>
                  </c:pt>
                  <c:pt idx="1">
                    <c:v>Int. Coverage</c:v>
                  </c:pt>
                </c:lvl>
              </c:multiLvlStrCache>
            </c:multiLvlStrRef>
          </c:cat>
          <c:val>
            <c:numRef>
              <c:f>Sheet1!$B$2:$B$3</c:f>
              <c:numCache>
                <c:formatCode>General</c:formatCode>
                <c:ptCount val="2"/>
                <c:pt idx="0">
                  <c:v>0.3</c:v>
                </c:pt>
                <c:pt idx="1">
                  <c:v>8</c:v>
                </c:pt>
              </c:numCache>
            </c:numRef>
          </c:val>
        </c:ser>
        <c:ser>
          <c:idx val="1"/>
          <c:order val="1"/>
          <c:tx>
            <c:strRef>
              <c:f>Sheet1!$C$1</c:f>
              <c:strCache>
                <c:ptCount val="1"/>
                <c:pt idx="0">
                  <c:v>Moderate</c:v>
                </c:pt>
              </c:strCache>
            </c:strRef>
          </c:tx>
          <c:spPr>
            <a:solidFill>
              <a:srgbClr val="52796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D/E Ratio</c:v>
                  </c:pt>
                  <c:pt idx="1">
                    <c:v>Int. Coverage</c:v>
                  </c:pt>
                </c:lvl>
              </c:multiLvlStrCache>
            </c:multiLvlStrRef>
          </c:cat>
          <c:val>
            <c:numRef>
              <c:f>Sheet1!$C$2:$C$3</c:f>
              <c:numCache>
                <c:formatCode>General</c:formatCode>
                <c:ptCount val="2"/>
                <c:pt idx="0">
                  <c:v>0.7</c:v>
                </c:pt>
                <c:pt idx="1">
                  <c:v>4</c:v>
                </c:pt>
              </c:numCache>
            </c:numRef>
          </c:val>
        </c:ser>
        <c:ser>
          <c:idx val="2"/>
          <c:order val="2"/>
          <c:tx>
            <c:strRef>
              <c:f>Sheet1!$D$1</c:f>
              <c:strCache>
                <c:ptCount val="1"/>
                <c:pt idx="0">
                  <c:v>Aggressive</c:v>
                </c:pt>
              </c:strCache>
            </c:strRef>
          </c:tx>
          <c:spPr>
            <a:solidFill>
              <a:srgbClr val="B8860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D/E Ratio</c:v>
                  </c:pt>
                  <c:pt idx="1">
                    <c:v>Int. Coverage</c:v>
                  </c:pt>
                </c:lvl>
              </c:multiLvlStrCache>
            </c:multiLvlStrRef>
          </c:cat>
          <c:val>
            <c:numRef>
              <c:f>Sheet1!$D$2:$D$3</c:f>
              <c:numCache>
                <c:formatCode>General</c:formatCode>
                <c:ptCount val="2"/>
                <c:pt idx="0">
                  <c:v>1.5</c:v>
                </c:pt>
                <c:pt idx="1">
                  <c:v>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0E6F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Our Company</c:v>
                </c:pt>
              </c:strCache>
            </c:strRef>
          </c:tx>
          <c:spPr>
            <a:solidFill>
              <a:srgbClr val="1B4332"/>
            </a:solidFill>
            <a:ln w="25400" cap="flat">
              <a:solidFill>
                <a:srgbClr val="1B43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B4332"/>
              </a:solidFill>
              <a:ln w="9525" cap="flat">
                <a:solidFill>
                  <a:srgbClr val="1B4332"/>
                </a:solidFill>
                <a:prstDash val="solid"/>
                <a:round/>
              </a:ln>
              <a:effectLst/>
            </c:spPr>
          </c:marker>
          <c:cat>
            <c:multiLvlStrRef>
              <c:f>Sheet1!$A$2:$A$6</c:f>
              <c:multiLvlStrCache>
                <c:ptCount val="5"/>
                <c:lvl>
                  <c:pt idx="0">
                    <c:v>2020</c:v>
                  </c:pt>
                  <c:pt idx="1">
                    <c:v>2021</c:v>
                  </c:pt>
                  <c:pt idx="2">
                    <c:v>2022</c:v>
                  </c:pt>
                  <c:pt idx="3">
                    <c:v>2023</c:v>
                  </c:pt>
                  <c:pt idx="4">
                    <c:v>2024</c:v>
                  </c:pt>
                </c:lvl>
              </c:multiLvlStrCache>
            </c:multiLvlStrRef>
          </c:cat>
          <c:val>
            <c:numRef>
              <c:f>Sheet1!$B$2:$B$6</c:f>
              <c:numCache>
                <c:formatCode>General</c:formatCode>
                <c:ptCount val="5"/>
                <c:pt idx="0">
                  <c:v>18</c:v>
                </c:pt>
                <c:pt idx="1">
                  <c:v>17</c:v>
                </c:pt>
                <c:pt idx="2">
                  <c:v>15</c:v>
                </c:pt>
                <c:pt idx="3">
                  <c:v>13</c:v>
                </c:pt>
                <c:pt idx="4">
                  <c:v>11</c:v>
                </c:pt>
              </c:numCache>
            </c:numRef>
          </c:val>
          <c:smooth val="1"/>
        </c:ser>
        <c:ser>
          <c:idx val="1"/>
          <c:order val="1"/>
          <c:tx>
            <c:strRef>
              <c:f>Sheet1!$C$1</c:f>
              <c:strCache>
                <c:ptCount val="1"/>
                <c:pt idx="0">
                  <c:v>Industry Avg</c:v>
                </c:pt>
              </c:strCache>
            </c:strRef>
          </c:tx>
          <c:spPr>
            <a:solidFill>
              <a:srgbClr val="52796F"/>
            </a:solidFill>
            <a:ln w="25400" cap="flat">
              <a:solidFill>
                <a:srgbClr val="52796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52796F"/>
              </a:solidFill>
              <a:ln w="9525" cap="flat">
                <a:solidFill>
                  <a:srgbClr val="52796F"/>
                </a:solidFill>
                <a:prstDash val="solid"/>
                <a:round/>
              </a:ln>
              <a:effectLst/>
            </c:spPr>
          </c:marker>
          <c:cat>
            <c:multiLvlStrRef>
              <c:f>Sheet1!$A$2:$A$6</c:f>
              <c:multiLvlStrCache>
                <c:ptCount val="5"/>
                <c:lvl>
                  <c:pt idx="0">
                    <c:v>2020</c:v>
                  </c:pt>
                  <c:pt idx="1">
                    <c:v>2021</c:v>
                  </c:pt>
                  <c:pt idx="2">
                    <c:v>2022</c:v>
                  </c:pt>
                  <c:pt idx="3">
                    <c:v>2023</c:v>
                  </c:pt>
                  <c:pt idx="4">
                    <c:v>2024</c:v>
                  </c:pt>
                </c:lvl>
              </c:multiLvlStrCache>
            </c:multiLvlStrRef>
          </c:cat>
          <c:val>
            <c:numRef>
              <c:f>Sheet1!$C$2:$C$6</c:f>
              <c:numCache>
                <c:formatCode>General</c:formatCode>
                <c:ptCount val="5"/>
                <c:pt idx="0">
                  <c:v>15</c:v>
                </c:pt>
                <c:pt idx="1">
                  <c:v>15.5</c:v>
                </c:pt>
                <c:pt idx="2">
                  <c:v>15</c:v>
                </c:pt>
                <c:pt idx="3">
                  <c:v>14.5</c:v>
                </c:pt>
                <c:pt idx="4">
                  <c:v>14</c:v>
                </c:pt>
              </c:numCache>
            </c:numRef>
          </c:val>
          <c:smooth val="1"/>
        </c:ser>
        <c:ser>
          <c:idx val="2"/>
          <c:order val="2"/>
          <c:tx>
            <c:strRef>
              <c:f>Sheet1!$D$1</c:f>
              <c:strCache>
                <c:ptCount val="1"/>
                <c:pt idx="0">
                  <c:v>Top Competitor</c:v>
                </c:pt>
              </c:strCache>
            </c:strRef>
          </c:tx>
          <c:spPr>
            <a:solidFill>
              <a:srgbClr val="B8860B"/>
            </a:solidFill>
            <a:ln w="25400" cap="flat">
              <a:solidFill>
                <a:srgbClr val="B886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8860B"/>
              </a:solidFill>
              <a:ln w="9525" cap="flat">
                <a:solidFill>
                  <a:srgbClr val="B8860B"/>
                </a:solidFill>
                <a:prstDash val="solid"/>
                <a:round/>
              </a:ln>
              <a:effectLst/>
            </c:spPr>
          </c:marker>
          <c:cat>
            <c:multiLvlStrRef>
              <c:f>Sheet1!$A$2:$A$6</c:f>
              <c:multiLvlStrCache>
                <c:ptCount val="5"/>
                <c:lvl>
                  <c:pt idx="0">
                    <c:v>2020</c:v>
                  </c:pt>
                  <c:pt idx="1">
                    <c:v>2021</c:v>
                  </c:pt>
                  <c:pt idx="2">
                    <c:v>2022</c:v>
                  </c:pt>
                  <c:pt idx="3">
                    <c:v>2023</c:v>
                  </c:pt>
                  <c:pt idx="4">
                    <c:v>2024</c:v>
                  </c:pt>
                </c:lvl>
              </c:multiLvlStrCache>
            </c:multiLvlStrRef>
          </c:cat>
          <c:val>
            <c:numRef>
              <c:f>Sheet1!$D$2:$D$6</c:f>
              <c:numCache>
                <c:formatCode>General</c:formatCode>
                <c:ptCount val="5"/>
                <c:pt idx="0">
                  <c:v>16</c:v>
                </c:pt>
                <c:pt idx="1">
                  <c:v>15</c:v>
                </c:pt>
                <c:pt idx="2">
                  <c:v>17</c:v>
                </c:pt>
                <c:pt idx="3">
                  <c:v>17</c:v>
                </c:pt>
                <c:pt idx="4">
                  <c:v>18</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4de"/>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ROE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Retailer A</c:v>
                </c:pt>
              </c:strCache>
            </c:strRef>
          </c:tx>
          <c:spPr>
            <a:solidFill>
              <a:srgbClr val="1B4332"/>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Gross Margin</c:v>
                  </c:pt>
                  <c:pt idx="1">
                    <c:v>ROE</c:v>
                  </c:pt>
                  <c:pt idx="2">
                    <c:v>Inv. Turnover</c:v>
                  </c:pt>
                </c:lvl>
              </c:multiLvlStrCache>
            </c:multiLvlStrRef>
          </c:cat>
          <c:val>
            <c:numRef>
              <c:f>Sheet1!$B$2:$B$4</c:f>
              <c:numCache>
                <c:formatCode>General</c:formatCode>
                <c:ptCount val="3"/>
                <c:pt idx="0">
                  <c:v>35</c:v>
                </c:pt>
                <c:pt idx="1">
                  <c:v>18</c:v>
                </c:pt>
                <c:pt idx="2">
                  <c:v>6.2</c:v>
                </c:pt>
              </c:numCache>
            </c:numRef>
          </c:val>
        </c:ser>
        <c:ser>
          <c:idx val="1"/>
          <c:order val="1"/>
          <c:tx>
            <c:strRef>
              <c:f>Sheet1!$C$1</c:f>
              <c:strCache>
                <c:ptCount val="1"/>
                <c:pt idx="0">
                  <c:v>Retailer B</c:v>
                </c:pt>
              </c:strCache>
            </c:strRef>
          </c:tx>
          <c:spPr>
            <a:solidFill>
              <a:srgbClr val="84A98C"/>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Gross Margin</c:v>
                  </c:pt>
                  <c:pt idx="1">
                    <c:v>ROE</c:v>
                  </c:pt>
                  <c:pt idx="2">
                    <c:v>Inv. Turnover</c:v>
                  </c:pt>
                </c:lvl>
              </c:multiLvlStrCache>
            </c:multiLvlStrRef>
          </c:cat>
          <c:val>
            <c:numRef>
              <c:f>Sheet1!$C$2:$C$4</c:f>
              <c:numCache>
                <c:formatCode>General</c:formatCode>
                <c:ptCount val="3"/>
                <c:pt idx="0">
                  <c:v>28</c:v>
                </c:pt>
                <c:pt idx="1">
                  <c:v>14</c:v>
                </c:pt>
                <c:pt idx="2">
                  <c:v>4.8</c:v>
                </c:pt>
              </c:numCache>
            </c:numRef>
          </c:val>
        </c:ser>
        <c:ser>
          <c:idx val="2"/>
          <c:order val="2"/>
          <c:tx>
            <c:strRef>
              <c:f>Sheet1!$D$1</c:f>
              <c:strCache>
                <c:ptCount val="1"/>
                <c:pt idx="0">
                  <c:v>Industry</c:v>
                </c:pt>
              </c:strCache>
            </c:strRef>
          </c:tx>
          <c:spPr>
            <a:solidFill>
              <a:srgbClr val="B8860B"/>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Gross Margin</c:v>
                  </c:pt>
                  <c:pt idx="1">
                    <c:v>ROE</c:v>
                  </c:pt>
                  <c:pt idx="2">
                    <c:v>Inv. Turnover</c:v>
                  </c:pt>
                </c:lvl>
              </c:multiLvlStrCache>
            </c:multiLvlStrRef>
          </c:cat>
          <c:val>
            <c:numRef>
              <c:f>Sheet1!$D$2:$D$4</c:f>
              <c:numCache>
                <c:formatCode>General</c:formatCode>
                <c:ptCount val="3"/>
                <c:pt idx="0">
                  <c:v>32</c:v>
                </c:pt>
                <c:pt idx="1">
                  <c:v>15</c:v>
                </c:pt>
                <c:pt idx="2">
                  <c:v>5.5</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4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Reported Current Ratio</c:v>
                </c:pt>
              </c:strCache>
            </c:strRef>
          </c:tx>
          <c:spPr>
            <a:solidFill>
              <a:srgbClr val="1B4332"/>
            </a:solidFill>
            <a:ln w="25400" cap="flat">
              <a:solidFill>
                <a:srgbClr val="1B43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B4332"/>
              </a:solidFill>
              <a:ln w="9525" cap="flat">
                <a:solidFill>
                  <a:srgbClr val="1B4332"/>
                </a:solidFill>
                <a:prstDash val="solid"/>
                <a:round/>
              </a:ln>
              <a:effectLst/>
            </c:spPr>
          </c:marker>
          <c:cat>
            <c:multiLvlStrRef>
              <c:f>Sheet1!$A$2:$A$7</c:f>
              <c:multiLvlStrCache>
                <c:ptCount val="6"/>
                <c:lvl>
                  <c:pt idx="0">
                    <c:v>Q1</c:v>
                  </c:pt>
                  <c:pt idx="1">
                    <c:v>Q2</c:v>
                  </c:pt>
                  <c:pt idx="2">
                    <c:v>Q3</c:v>
                  </c:pt>
                  <c:pt idx="3">
                    <c:v>Q4</c:v>
                  </c:pt>
                  <c:pt idx="4">
                    <c:v>Q1</c:v>
                  </c:pt>
                  <c:pt idx="5">
                    <c:v>Q2</c:v>
                  </c:pt>
                </c:lvl>
              </c:multiLvlStrCache>
            </c:multiLvlStrRef>
          </c:cat>
          <c:val>
            <c:numRef>
              <c:f>Sheet1!$B$2:$B$7</c:f>
              <c:numCache>
                <c:formatCode>General</c:formatCode>
                <c:ptCount val="6"/>
                <c:pt idx="0">
                  <c:v>2.1</c:v>
                </c:pt>
                <c:pt idx="1">
                  <c:v>2</c:v>
                </c:pt>
                <c:pt idx="2">
                  <c:v>1.9</c:v>
                </c:pt>
                <c:pt idx="3">
                  <c:v>2.8</c:v>
                </c:pt>
                <c:pt idx="4">
                  <c:v>2.2</c:v>
                </c:pt>
                <c:pt idx="5">
                  <c:v>2.1</c:v>
                </c:pt>
              </c:numCache>
            </c:numRef>
          </c:val>
          <c:smooth val="1"/>
        </c:ser>
        <c:ser>
          <c:idx val="1"/>
          <c:order val="1"/>
          <c:tx>
            <c:strRef>
              <c:f>Sheet1!$C$1</c:f>
              <c:strCache>
                <c:ptCount val="1"/>
                <c:pt idx="0">
                  <c:v>Average-Adjusted</c:v>
                </c:pt>
              </c:strCache>
            </c:strRef>
          </c:tx>
          <c:spPr>
            <a:solidFill>
              <a:srgbClr val="B8860B"/>
            </a:solidFill>
            <a:ln w="25400" cap="flat">
              <a:solidFill>
                <a:srgbClr val="B886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8860B"/>
              </a:solidFill>
              <a:ln w="9525" cap="flat">
                <a:solidFill>
                  <a:srgbClr val="B8860B"/>
                </a:solidFill>
                <a:prstDash val="solid"/>
                <a:round/>
              </a:ln>
              <a:effectLst/>
            </c:spPr>
          </c:marker>
          <c:cat>
            <c:multiLvlStrRef>
              <c:f>Sheet1!$A$2:$A$7</c:f>
              <c:multiLvlStrCache>
                <c:ptCount val="6"/>
                <c:lvl>
                  <c:pt idx="0">
                    <c:v>Q1</c:v>
                  </c:pt>
                  <c:pt idx="1">
                    <c:v>Q2</c:v>
                  </c:pt>
                  <c:pt idx="2">
                    <c:v>Q3</c:v>
                  </c:pt>
                  <c:pt idx="3">
                    <c:v>Q4</c:v>
                  </c:pt>
                  <c:pt idx="4">
                    <c:v>Q1</c:v>
                  </c:pt>
                  <c:pt idx="5">
                    <c:v>Q2</c:v>
                  </c:pt>
                </c:lvl>
              </c:multiLvlStrCache>
            </c:multiLvlStrRef>
          </c:cat>
          <c:val>
            <c:numRef>
              <c:f>Sheet1!$C$2:$C$7</c:f>
              <c:numCache>
                <c:formatCode>General</c:formatCode>
                <c:ptCount val="6"/>
                <c:pt idx="0">
                  <c:v>1.8</c:v>
                </c:pt>
                <c:pt idx="1">
                  <c:v>1.9</c:v>
                </c:pt>
                <c:pt idx="2">
                  <c:v>1.9</c:v>
                </c:pt>
                <c:pt idx="3">
                  <c:v>1.7</c:v>
                </c:pt>
                <c:pt idx="4">
                  <c:v>1.8</c:v>
                </c:pt>
                <c:pt idx="5">
                  <c:v>1.9</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4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golimelight.com/blog/financial-analysis-ratios"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dash.hrecos.org/brief/208/6AD/2xFtas/RatioAnalysisProblemsAndSolutions"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www.golimelight.com/blog/financial-analysis-ratios"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investopedia.com/terms/d/dupontanalysis.asp"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thethinksters.com/mastering-dupont-analysis-for-investment-banking-interviews-how-to-break-down-roe/"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fugd5lfhhzhog/mnt/agents/output/financial-performance/images/4_Black_Pen_on_Financial_Documents.png">    </p:cNvPr>
          <p:cNvPicPr>
            <a:picLocks noChangeAspect="1"/>
          </p:cNvPicPr>
          <p:nvPr/>
        </p:nvPicPr>
        <p:blipFill>
          <a:blip r:embed="rId1"/>
          <a:srcRect l="0" r="0" t="7786" b="7786"/>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A1A2E">
                  <a:alpha val="90000"/>
                </a:srgbClr>
              </a:gs>
              <a:gs pos="55000">
                <a:srgbClr val="1A1A2E">
                  <a:alpha val="80000"/>
                </a:srgbClr>
              </a:gs>
              <a:gs pos="100000">
                <a:srgbClr val="1A1A2E">
                  <a:alpha val="20000"/>
                </a:srgbClr>
              </a:gs>
            </a:gsLst>
            <a:lin ang="0" scaled="1"/>
          </a:gradFill>
          <a:ln w="12700">
            <a:solidFill>
              <a:srgbClr val="333333"/>
            </a:solidFill>
            <a:prstDash val="solid"/>
          </a:ln>
        </p:spPr>
      </p:sp>
      <p:sp>
        <p:nvSpPr>
          <p:cNvPr id="4" name="Text 1"/>
          <p:cNvSpPr/>
          <p:nvPr/>
        </p:nvSpPr>
        <p:spPr>
          <a:xfrm>
            <a:off x="1016000" y="2286000"/>
            <a:ext cx="3810000" cy="279400"/>
          </a:xfrm>
          <a:prstGeom prst="rect">
            <a:avLst/>
          </a:prstGeom>
          <a:noFill/>
          <a:ln/>
        </p:spPr>
        <p:txBody>
          <a:bodyPr wrap="none" lIns="0" tIns="0" rIns="0" bIns="0" rtlCol="0" anchor="ctr"/>
          <a:lstStyle/>
          <a:p>
            <a:pPr>
              <a:lnSpc>
                <a:spcPct val="100000"/>
              </a:lnSpc>
            </a:pPr>
            <a:r>
              <a:rPr lang="en-US" sz="1300" spc="400" kern="0" dirty="0">
                <a:solidFill>
                  <a:srgbClr val="B8860B"/>
                </a:solidFill>
                <a:latin typeface="Quattrocento Sans" pitchFamily="34" charset="0"/>
                <a:ea typeface="Quattrocento Sans" pitchFamily="34" charset="-122"/>
                <a:cs typeface="Quattrocento Sans" pitchFamily="34" charset="-120"/>
              </a:rPr>
              <a:t>FINANCIAL ANALYSIS</a:t>
            </a:r>
            <a:endParaRPr lang="en-US" sz="1600" dirty="0"/>
          </a:p>
        </p:txBody>
      </p:sp>
      <p:sp>
        <p:nvSpPr>
          <p:cNvPr id="5" name="Text 2"/>
          <p:cNvSpPr/>
          <p:nvPr/>
        </p:nvSpPr>
        <p:spPr>
          <a:xfrm>
            <a:off x="1016000" y="2730500"/>
            <a:ext cx="8890000" cy="1651000"/>
          </a:xfrm>
          <a:prstGeom prst="rect">
            <a:avLst/>
          </a:prstGeom>
          <a:noFill/>
          <a:ln/>
        </p:spPr>
        <p:txBody>
          <a:bodyPr wrap="square" lIns="0" tIns="0" rIns="0" bIns="0" rtlCol="0" anchor="ctr"/>
          <a:lstStyle/>
          <a:p>
            <a:pPr>
              <a:lnSpc>
                <a:spcPct val="120000"/>
              </a:lnSpc>
            </a:pPr>
            <a:r>
              <a:rPr lang="en-US" sz="4800" spc="200" kern="0" dirty="0">
                <a:solidFill>
                  <a:srgbClr val="FFFFFF"/>
                </a:solidFill>
                <a:latin typeface="Oranienbaum" pitchFamily="34" charset="0"/>
                <a:ea typeface="Oranienbaum" pitchFamily="34" charset="-122"/>
                <a:cs typeface="Oranienbaum" pitchFamily="34" charset="-120"/>
              </a:rPr>
              <a:t>EVALUATING A FIRM'S</a:t>
            </a:r>
            <a:endParaRPr lang="en-US" sz="4800" dirty="0"/>
          </a:p>
          <a:p>
            <a:pPr>
              <a:lnSpc>
                <a:spcPct val="120000"/>
              </a:lnSpc>
            </a:pPr>
            <a:r>
              <a:rPr lang="en-US" sz="4800" spc="200" kern="0" dirty="0">
                <a:solidFill>
                  <a:srgbClr val="FFFFFF"/>
                </a:solidFill>
                <a:latin typeface="Oranienbaum" pitchFamily="34" charset="0"/>
                <a:ea typeface="Oranienbaum" pitchFamily="34" charset="-122"/>
                <a:cs typeface="Oranienbaum" pitchFamily="34" charset="-120"/>
              </a:rPr>
              <a:t>FINANCIAL PERFORMANCE</a:t>
            </a:r>
            <a:endParaRPr lang="en-US" sz="4800" dirty="0"/>
          </a:p>
        </p:txBody>
      </p:sp>
      <p:sp>
        <p:nvSpPr>
          <p:cNvPr id="6" name="Shape 3"/>
          <p:cNvSpPr/>
          <p:nvPr/>
        </p:nvSpPr>
        <p:spPr>
          <a:xfrm>
            <a:off x="1016000" y="4572000"/>
            <a:ext cx="1016000" cy="38100"/>
          </a:xfrm>
          <a:prstGeom prst="rect">
            <a:avLst/>
          </a:prstGeom>
          <a:solidFill>
            <a:srgbClr val="B8860B"/>
          </a:solidFill>
          <a:ln/>
        </p:spPr>
      </p:sp>
      <p:sp>
        <p:nvSpPr>
          <p:cNvPr id="7" name="Text 4"/>
          <p:cNvSpPr/>
          <p:nvPr/>
        </p:nvSpPr>
        <p:spPr>
          <a:xfrm>
            <a:off x="1016000" y="4826000"/>
            <a:ext cx="7620000" cy="889000"/>
          </a:xfrm>
          <a:prstGeom prst="rect">
            <a:avLst/>
          </a:prstGeom>
          <a:noFill/>
          <a:ln/>
        </p:spPr>
        <p:txBody>
          <a:bodyPr wrap="square" lIns="0" tIns="0" rIns="0" bIns="0" rtlCol="0" anchor="ctr"/>
          <a:lstStyle/>
          <a:p>
            <a:pPr>
              <a:lnSpc>
                <a:spcPct val="150000"/>
              </a:lnSpc>
            </a:pPr>
            <a:r>
              <a:rPr lang="en-US" sz="1800" dirty="0">
                <a:solidFill>
                  <a:srgbClr val="FFFFFF">
                    <a:alpha val="80000"/>
                  </a:srgbClr>
                </a:solidFill>
                <a:latin typeface="QuattrocentoSans" pitchFamily="34" charset="0"/>
                <a:ea typeface="QuattrocentoSans" pitchFamily="34" charset="-122"/>
                <a:cs typeface="QuattrocentoSans" pitchFamily="34" charset="-120"/>
              </a:rPr>
              <a:t>Understanding Financial Analysis, Key Relationships,</a:t>
            </a:r>
            <a:endParaRPr lang="en-US" sz="2000" dirty="0"/>
          </a:p>
          <a:p>
            <a:pPr>
              <a:lnSpc>
                <a:spcPct val="150000"/>
              </a:lnSpc>
            </a:pPr>
            <a:r>
              <a:rPr lang="en-US" sz="1800" dirty="0">
                <a:solidFill>
                  <a:srgbClr val="FFFFFF">
                    <a:alpha val="80000"/>
                  </a:srgbClr>
                </a:solidFill>
                <a:latin typeface="QuattrocentoSans" pitchFamily="34" charset="0"/>
                <a:ea typeface="QuattrocentoSans" pitchFamily="34" charset="-122"/>
                <a:cs typeface="QuattrocentoSans" pitchFamily="34" charset="-120"/>
              </a:rPr>
              <a:t>and Analytical Limitations</a:t>
            </a:r>
            <a:endParaRPr lang="en-US" sz="2000" dirty="0"/>
          </a:p>
        </p:txBody>
      </p:sp>
      <p:sp>
        <p:nvSpPr>
          <p:cNvPr id="8" name="Text 5"/>
          <p:cNvSpPr/>
          <p:nvPr/>
        </p:nvSpPr>
        <p:spPr>
          <a:xfrm>
            <a:off x="1016000" y="8128000"/>
            <a:ext cx="2540000" cy="279400"/>
          </a:xfrm>
          <a:prstGeom prst="rect">
            <a:avLst/>
          </a:prstGeom>
          <a:noFill/>
          <a:ln/>
        </p:spPr>
        <p:txBody>
          <a:bodyPr wrap="none" lIns="0" tIns="0" rIns="0" bIns="0" rtlCol="0" anchor="ctr"/>
          <a:lstStyle/>
          <a:p>
            <a:pPr>
              <a:lnSpc>
                <a:spcPct val="100000"/>
              </a:lnSpc>
            </a:pPr>
            <a:r>
              <a:rPr lang="en-US" sz="1300" dirty="0">
                <a:solidFill>
                  <a:srgbClr val="FFFFFF">
                    <a:alpha val="50196"/>
                  </a:srgbClr>
                </a:solidFill>
                <a:latin typeface="Quattrocento Sans" pitchFamily="34" charset="0"/>
                <a:ea typeface="Quattrocento Sans" pitchFamily="34" charset="-122"/>
                <a:cs typeface="Quattrocento Sans" pitchFamily="34" charset="-120"/>
              </a:rPr>
              <a:t>May 2026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698500"/>
            <a:ext cx="5080000" cy="279400"/>
          </a:xfrm>
          <a:prstGeom prst="rect">
            <a:avLst/>
          </a:prstGeom>
          <a:noFill/>
          <a:ln/>
        </p:spPr>
        <p:txBody>
          <a:bodyPr wrap="none" lIns="0" tIns="0" rIns="0" bIns="0" rtlCol="0" anchor="ctr"/>
          <a:lstStyle/>
          <a:p>
            <a:pPr>
              <a:lnSpc>
                <a:spcPct val="100000"/>
              </a:lnSpc>
            </a:pPr>
            <a:r>
              <a:rPr lang="en-US" sz="1300" spc="400" kern="0" dirty="0">
                <a:solidFill>
                  <a:srgbClr val="B8860B"/>
                </a:solidFill>
                <a:latin typeface="Quattrocento Sans" pitchFamily="34" charset="0"/>
                <a:ea typeface="Quattrocento Sans" pitchFamily="34" charset="-122"/>
                <a:cs typeface="Quattrocento Sans" pitchFamily="34" charset="-120"/>
              </a:rPr>
              <a:t>TABLE OF CONTENTS</a:t>
            </a:r>
            <a:endParaRPr lang="en-US" sz="1600" dirty="0"/>
          </a:p>
        </p:txBody>
      </p:sp>
      <p:sp>
        <p:nvSpPr>
          <p:cNvPr id="3" name="Text 1"/>
          <p:cNvSpPr/>
          <p:nvPr/>
        </p:nvSpPr>
        <p:spPr>
          <a:xfrm>
            <a:off x="762000" y="1143000"/>
            <a:ext cx="6350000" cy="698500"/>
          </a:xfrm>
          <a:prstGeom prst="rect">
            <a:avLst/>
          </a:prstGeom>
          <a:noFill/>
          <a:ln/>
        </p:spPr>
        <p:txBody>
          <a:bodyPr wrap="none" lIns="0" tIns="0" rIns="0" bIns="0" rtlCol="0" anchor="ctr"/>
          <a:lstStyle/>
          <a:p>
            <a:pPr>
              <a:lnSpc>
                <a:spcPct val="100000"/>
              </a:lnSpc>
            </a:pPr>
            <a:r>
              <a:rPr lang="en-US" sz="4200" dirty="0">
                <a:solidFill>
                  <a:srgbClr val="1B4332"/>
                </a:solidFill>
                <a:latin typeface="Oranienbaum" pitchFamily="34" charset="0"/>
                <a:ea typeface="Oranienbaum" pitchFamily="34" charset="-122"/>
                <a:cs typeface="Oranienbaum" pitchFamily="34" charset="-120"/>
              </a:rPr>
              <a:t>Contents</a:t>
            </a:r>
            <a:endParaRPr lang="en-US" sz="1600" dirty="0"/>
          </a:p>
        </p:txBody>
      </p:sp>
      <p:sp>
        <p:nvSpPr>
          <p:cNvPr id="4" name="Shape 2"/>
          <p:cNvSpPr/>
          <p:nvPr/>
        </p:nvSpPr>
        <p:spPr>
          <a:xfrm>
            <a:off x="762000" y="1968500"/>
            <a:ext cx="14732000" cy="12700"/>
          </a:xfrm>
          <a:prstGeom prst="rect">
            <a:avLst/>
          </a:prstGeom>
          <a:solidFill>
            <a:srgbClr val="D1CFC9"/>
          </a:solidFill>
          <a:ln/>
        </p:spPr>
      </p:sp>
      <p:sp>
        <p:nvSpPr>
          <p:cNvPr id="5" name="Text 3"/>
          <p:cNvSpPr/>
          <p:nvPr/>
        </p:nvSpPr>
        <p:spPr>
          <a:xfrm>
            <a:off x="762000" y="2476500"/>
            <a:ext cx="1016000" cy="698500"/>
          </a:xfrm>
          <a:prstGeom prst="rect">
            <a:avLst/>
          </a:prstGeom>
          <a:noFill/>
          <a:ln/>
        </p:spPr>
        <p:txBody>
          <a:bodyPr wrap="none" lIns="0" tIns="0" rIns="0" bIns="0" rtlCol="0" anchor="ctr"/>
          <a:lstStyle/>
          <a:p>
            <a:pPr>
              <a:lnSpc>
                <a:spcPct val="100000"/>
              </a:lnSpc>
            </a:pPr>
            <a:r>
              <a:rPr lang="en-US" sz="4400" dirty="0">
                <a:solidFill>
                  <a:srgbClr val="B8860B"/>
                </a:solidFill>
                <a:latin typeface="Oranienbaum" pitchFamily="34" charset="0"/>
                <a:ea typeface="Oranienbaum" pitchFamily="34" charset="-122"/>
                <a:cs typeface="Oranienbaum" pitchFamily="34" charset="-120"/>
              </a:rPr>
              <a:t>01</a:t>
            </a:r>
            <a:endParaRPr lang="en-US" sz="1600" dirty="0"/>
          </a:p>
        </p:txBody>
      </p:sp>
      <p:sp>
        <p:nvSpPr>
          <p:cNvPr id="6" name="Text 4"/>
          <p:cNvSpPr/>
          <p:nvPr/>
        </p:nvSpPr>
        <p:spPr>
          <a:xfrm>
            <a:off x="1905000" y="2514600"/>
            <a:ext cx="6350000" cy="381000"/>
          </a:xfrm>
          <a:prstGeom prst="rect">
            <a:avLst/>
          </a:prstGeom>
          <a:noFill/>
          <a:ln/>
        </p:spPr>
        <p:txBody>
          <a:bodyPr wrap="none" lIns="0" tIns="0" rIns="0" bIns="0" rtlCol="0" anchor="ctr"/>
          <a:lstStyle/>
          <a:p>
            <a:pPr>
              <a:lnSpc>
                <a:spcPct val="100000"/>
              </a:lnSpc>
            </a:pPr>
            <a:r>
              <a:rPr lang="en-US" sz="2200" dirty="0">
                <a:solidFill>
                  <a:srgbClr val="1A1A2E"/>
                </a:solidFill>
                <a:latin typeface="Oranienbaum" pitchFamily="34" charset="0"/>
                <a:ea typeface="Oranienbaum" pitchFamily="34" charset="-122"/>
                <a:cs typeface="Oranienbaum" pitchFamily="34" charset="-120"/>
              </a:rPr>
              <a:t>The Purpose of Financial Analysis</a:t>
            </a:r>
            <a:endParaRPr lang="en-US" sz="1600" dirty="0"/>
          </a:p>
        </p:txBody>
      </p:sp>
      <p:sp>
        <p:nvSpPr>
          <p:cNvPr id="7" name="Text 5"/>
          <p:cNvSpPr/>
          <p:nvPr/>
        </p:nvSpPr>
        <p:spPr>
          <a:xfrm>
            <a:off x="1905000" y="2921000"/>
            <a:ext cx="6350000" cy="279400"/>
          </a:xfrm>
          <a:prstGeom prst="rect">
            <a:avLst/>
          </a:prstGeom>
          <a:noFill/>
          <a:ln/>
        </p:spPr>
        <p:txBody>
          <a:bodyPr wrap="none" lIns="0" tIns="0" rIns="0" bIns="0" rtlCol="0" anchor="ctr"/>
          <a:lstStyle/>
          <a:p>
            <a:pPr>
              <a:lnSpc>
                <a:spcPct val="100000"/>
              </a:lnSpc>
            </a:pPr>
            <a:r>
              <a:rPr lang="en-US" sz="1400" dirty="0">
                <a:solidFill>
                  <a:srgbClr val="6B7280"/>
                </a:solidFill>
                <a:latin typeface="Quattrocento Sans" pitchFamily="34" charset="0"/>
                <a:ea typeface="Quattrocento Sans" pitchFamily="34" charset="-122"/>
                <a:cs typeface="Quattrocento Sans" pitchFamily="34" charset="-120"/>
              </a:rPr>
              <a:t>Why financial analysis matters and who uses it</a:t>
            </a:r>
            <a:endParaRPr lang="en-US" sz="1600" dirty="0"/>
          </a:p>
        </p:txBody>
      </p:sp>
      <p:sp>
        <p:nvSpPr>
          <p:cNvPr id="8" name="Shape 6"/>
          <p:cNvSpPr/>
          <p:nvPr/>
        </p:nvSpPr>
        <p:spPr>
          <a:xfrm>
            <a:off x="762000" y="3556000"/>
            <a:ext cx="14732000" cy="12700"/>
          </a:xfrm>
          <a:prstGeom prst="rect">
            <a:avLst/>
          </a:prstGeom>
          <a:solidFill>
            <a:srgbClr val="D1CFC9"/>
          </a:solidFill>
          <a:ln/>
        </p:spPr>
      </p:sp>
      <p:sp>
        <p:nvSpPr>
          <p:cNvPr id="9" name="Text 7"/>
          <p:cNvSpPr/>
          <p:nvPr/>
        </p:nvSpPr>
        <p:spPr>
          <a:xfrm>
            <a:off x="762000" y="4064000"/>
            <a:ext cx="1016000" cy="698500"/>
          </a:xfrm>
          <a:prstGeom prst="rect">
            <a:avLst/>
          </a:prstGeom>
          <a:noFill/>
          <a:ln/>
        </p:spPr>
        <p:txBody>
          <a:bodyPr wrap="none" lIns="0" tIns="0" rIns="0" bIns="0" rtlCol="0" anchor="ctr"/>
          <a:lstStyle/>
          <a:p>
            <a:pPr>
              <a:lnSpc>
                <a:spcPct val="100000"/>
              </a:lnSpc>
            </a:pPr>
            <a:r>
              <a:rPr lang="en-US" sz="4400" dirty="0">
                <a:solidFill>
                  <a:srgbClr val="B8860B"/>
                </a:solidFill>
                <a:latin typeface="Oranienbaum" pitchFamily="34" charset="0"/>
                <a:ea typeface="Oranienbaum" pitchFamily="34" charset="-122"/>
                <a:cs typeface="Oranienbaum" pitchFamily="34" charset="-120"/>
              </a:rPr>
              <a:t>02</a:t>
            </a:r>
            <a:endParaRPr lang="en-US" sz="1600" dirty="0"/>
          </a:p>
        </p:txBody>
      </p:sp>
      <p:sp>
        <p:nvSpPr>
          <p:cNvPr id="10" name="Text 8"/>
          <p:cNvSpPr/>
          <p:nvPr/>
        </p:nvSpPr>
        <p:spPr>
          <a:xfrm>
            <a:off x="1905000" y="4102100"/>
            <a:ext cx="6985000" cy="381000"/>
          </a:xfrm>
          <a:prstGeom prst="rect">
            <a:avLst/>
          </a:prstGeom>
          <a:noFill/>
          <a:ln/>
        </p:spPr>
        <p:txBody>
          <a:bodyPr wrap="none" lIns="0" tIns="0" rIns="0" bIns="0" rtlCol="0" anchor="ctr"/>
          <a:lstStyle/>
          <a:p>
            <a:pPr>
              <a:lnSpc>
                <a:spcPct val="100000"/>
              </a:lnSpc>
            </a:pPr>
            <a:r>
              <a:rPr lang="en-US" sz="2200" dirty="0">
                <a:solidFill>
                  <a:srgbClr val="1A1A2E"/>
                </a:solidFill>
                <a:latin typeface="Oranienbaum" pitchFamily="34" charset="0"/>
                <a:ea typeface="Oranienbaum" pitchFamily="34" charset="-122"/>
                <a:cs typeface="Oranienbaum" pitchFamily="34" charset="-120"/>
              </a:rPr>
              <a:t>Measuring Key Financial Relationships</a:t>
            </a:r>
            <a:endParaRPr lang="en-US" sz="1600" dirty="0"/>
          </a:p>
        </p:txBody>
      </p:sp>
      <p:sp>
        <p:nvSpPr>
          <p:cNvPr id="11" name="Text 9"/>
          <p:cNvSpPr/>
          <p:nvPr/>
        </p:nvSpPr>
        <p:spPr>
          <a:xfrm>
            <a:off x="1905000" y="4508500"/>
            <a:ext cx="6350000" cy="279400"/>
          </a:xfrm>
          <a:prstGeom prst="rect">
            <a:avLst/>
          </a:prstGeom>
          <a:noFill/>
          <a:ln/>
        </p:spPr>
        <p:txBody>
          <a:bodyPr wrap="none" lIns="0" tIns="0" rIns="0" bIns="0" rtlCol="0" anchor="ctr"/>
          <a:lstStyle/>
          <a:p>
            <a:pPr>
              <a:lnSpc>
                <a:spcPct val="100000"/>
              </a:lnSpc>
            </a:pPr>
            <a:r>
              <a:rPr lang="en-US" sz="1400" dirty="0">
                <a:solidFill>
                  <a:srgbClr val="6B7280"/>
                </a:solidFill>
                <a:latin typeface="Quattrocento Sans" pitchFamily="34" charset="0"/>
                <a:ea typeface="Quattrocento Sans" pitchFamily="34" charset="-122"/>
                <a:cs typeface="Quattrocento Sans" pitchFamily="34" charset="-120"/>
              </a:rPr>
              <a:t>The five categories of financial ratios and their applications</a:t>
            </a:r>
            <a:endParaRPr lang="en-US" sz="1600" dirty="0"/>
          </a:p>
        </p:txBody>
      </p:sp>
      <p:sp>
        <p:nvSpPr>
          <p:cNvPr id="12" name="Shape 10"/>
          <p:cNvSpPr/>
          <p:nvPr/>
        </p:nvSpPr>
        <p:spPr>
          <a:xfrm>
            <a:off x="762000" y="5143500"/>
            <a:ext cx="14732000" cy="12700"/>
          </a:xfrm>
          <a:prstGeom prst="rect">
            <a:avLst/>
          </a:prstGeom>
          <a:solidFill>
            <a:srgbClr val="D1CFC9"/>
          </a:solidFill>
          <a:ln/>
        </p:spPr>
      </p:sp>
      <p:sp>
        <p:nvSpPr>
          <p:cNvPr id="13" name="Text 11"/>
          <p:cNvSpPr/>
          <p:nvPr/>
        </p:nvSpPr>
        <p:spPr>
          <a:xfrm>
            <a:off x="762000" y="5651500"/>
            <a:ext cx="1016000" cy="698500"/>
          </a:xfrm>
          <a:prstGeom prst="rect">
            <a:avLst/>
          </a:prstGeom>
          <a:noFill/>
          <a:ln/>
        </p:spPr>
        <p:txBody>
          <a:bodyPr wrap="none" lIns="0" tIns="0" rIns="0" bIns="0" rtlCol="0" anchor="ctr"/>
          <a:lstStyle/>
          <a:p>
            <a:pPr>
              <a:lnSpc>
                <a:spcPct val="100000"/>
              </a:lnSpc>
            </a:pPr>
            <a:r>
              <a:rPr lang="en-US" sz="4400" dirty="0">
                <a:solidFill>
                  <a:srgbClr val="B8860B"/>
                </a:solidFill>
                <a:latin typeface="Oranienbaum" pitchFamily="34" charset="0"/>
                <a:ea typeface="Oranienbaum" pitchFamily="34" charset="-122"/>
                <a:cs typeface="Oranienbaum" pitchFamily="34" charset="-120"/>
              </a:rPr>
              <a:t>03</a:t>
            </a:r>
            <a:endParaRPr lang="en-US" sz="1600" dirty="0"/>
          </a:p>
        </p:txBody>
      </p:sp>
      <p:sp>
        <p:nvSpPr>
          <p:cNvPr id="14" name="Text 12"/>
          <p:cNvSpPr/>
          <p:nvPr/>
        </p:nvSpPr>
        <p:spPr>
          <a:xfrm>
            <a:off x="1905000" y="5689600"/>
            <a:ext cx="7620000" cy="381000"/>
          </a:xfrm>
          <a:prstGeom prst="rect">
            <a:avLst/>
          </a:prstGeom>
          <a:noFill/>
          <a:ln/>
        </p:spPr>
        <p:txBody>
          <a:bodyPr wrap="none" lIns="0" tIns="0" rIns="0" bIns="0" rtlCol="0" anchor="ctr"/>
          <a:lstStyle/>
          <a:p>
            <a:pPr>
              <a:lnSpc>
                <a:spcPct val="100000"/>
              </a:lnSpc>
            </a:pPr>
            <a:r>
              <a:rPr lang="en-US" sz="2200" dirty="0">
                <a:solidFill>
                  <a:srgbClr val="1A1A2E"/>
                </a:solidFill>
                <a:latin typeface="Oranienbaum" pitchFamily="34" charset="0"/>
                <a:ea typeface="Oranienbaum" pitchFamily="34" charset="-122"/>
                <a:cs typeface="Oranienbaum" pitchFamily="34" charset="-120"/>
              </a:rPr>
              <a:t>The Limitations of Financial Ratio Analysis</a:t>
            </a:r>
            <a:endParaRPr lang="en-US" sz="1600" dirty="0"/>
          </a:p>
        </p:txBody>
      </p:sp>
      <p:sp>
        <p:nvSpPr>
          <p:cNvPr id="15" name="Text 13"/>
          <p:cNvSpPr/>
          <p:nvPr/>
        </p:nvSpPr>
        <p:spPr>
          <a:xfrm>
            <a:off x="1905000" y="6096000"/>
            <a:ext cx="6350000" cy="279400"/>
          </a:xfrm>
          <a:prstGeom prst="rect">
            <a:avLst/>
          </a:prstGeom>
          <a:noFill/>
          <a:ln/>
        </p:spPr>
        <p:txBody>
          <a:bodyPr wrap="none" lIns="0" tIns="0" rIns="0" bIns="0" rtlCol="0" anchor="ctr"/>
          <a:lstStyle/>
          <a:p>
            <a:pPr>
              <a:lnSpc>
                <a:spcPct val="100000"/>
              </a:lnSpc>
            </a:pPr>
            <a:r>
              <a:rPr lang="en-US" sz="1400" dirty="0">
                <a:solidFill>
                  <a:srgbClr val="6B7280"/>
                </a:solidFill>
                <a:latin typeface="Quattrocento Sans" pitchFamily="34" charset="0"/>
                <a:ea typeface="Quattrocento Sans" pitchFamily="34" charset="-122"/>
                <a:cs typeface="Quattrocento Sans" pitchFamily="34" charset="-120"/>
              </a:rPr>
              <a:t>Understanding the boundaries and pitfalls of ratio-based evaluation</a:t>
            </a:r>
            <a:endParaRPr lang="en-US" sz="1600" dirty="0"/>
          </a:p>
        </p:txBody>
      </p:sp>
      <p:sp>
        <p:nvSpPr>
          <p:cNvPr id="16" name="Shape 14"/>
          <p:cNvSpPr/>
          <p:nvPr/>
        </p:nvSpPr>
        <p:spPr>
          <a:xfrm>
            <a:off x="762000" y="6731000"/>
            <a:ext cx="14732000" cy="12700"/>
          </a:xfrm>
          <a:prstGeom prst="rect">
            <a:avLst/>
          </a:prstGeom>
          <a:solidFill>
            <a:srgbClr val="D1CFC9"/>
          </a:solidFill>
          <a:ln/>
        </p:spPr>
      </p:sp>
      <p:sp>
        <p:nvSpPr>
          <p:cNvPr id="17" name="Text 15"/>
          <p:cNvSpPr/>
          <p:nvPr/>
        </p:nvSpPr>
        <p:spPr>
          <a:xfrm>
            <a:off x="14986000" y="8763000"/>
            <a:ext cx="508000" cy="254000"/>
          </a:xfrm>
          <a:prstGeom prst="rect">
            <a:avLst/>
          </a:prstGeom>
          <a:noFill/>
          <a:ln/>
        </p:spPr>
        <p:txBody>
          <a:bodyPr wrap="none" lIns="0" tIns="0" rIns="0" bIns="0" rtlCol="0" anchor="ctr"/>
          <a:lstStyle/>
          <a:p>
            <a:pPr algn="r">
              <a:lnSpc>
                <a:spcPct val="100000"/>
              </a:lnSpc>
            </a:pPr>
            <a:r>
              <a:rPr lang="en-US" sz="1200" dirty="0">
                <a:solidFill>
                  <a:srgbClr val="6B7280"/>
                </a:solidFill>
                <a:latin typeface="Quattrocento Sans" pitchFamily="34" charset="0"/>
                <a:ea typeface="Quattrocento Sans" pitchFamily="34" charset="-122"/>
                <a:cs typeface="Quattrocento Sans" pitchFamily="34" charset="-120"/>
              </a:rPr>
              <a:t>2</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ttps://kimi-img.moonshot.cn/pub/slides/okc/fugd5lfhhzhog/mnt/agents/output/financial-performance/images/8_Trader_Analyzing_Financial_Data_in.png">    </p:cNvPr>
          <p:cNvPicPr>
            <a:picLocks noChangeAspect="1"/>
          </p:cNvPicPr>
          <p:nvPr/>
        </p:nvPicPr>
        <p:blipFill>
          <a:blip r:embed="rId1"/>
          <a:srcRect l="0" r="0"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A1A2E">
                  <a:alpha val="90000"/>
                </a:srgbClr>
              </a:gs>
              <a:gs pos="50000">
                <a:srgbClr val="1A1A2E">
                  <a:alpha val="80000"/>
                </a:srgbClr>
              </a:gs>
              <a:gs pos="100000">
                <a:srgbClr val="1A1A2E">
                  <a:alpha val="40000"/>
                </a:srgbClr>
              </a:gs>
            </a:gsLst>
            <a:lin ang="0" scaled="1"/>
          </a:gradFill>
          <a:ln w="12700">
            <a:solidFill>
              <a:srgbClr val="333333"/>
            </a:solidFill>
            <a:prstDash val="solid"/>
          </a:ln>
        </p:spPr>
      </p:sp>
      <p:sp>
        <p:nvSpPr>
          <p:cNvPr id="4" name="Text 1"/>
          <p:cNvSpPr/>
          <p:nvPr/>
        </p:nvSpPr>
        <p:spPr>
          <a:xfrm>
            <a:off x="1016000" y="2032000"/>
            <a:ext cx="3810000" cy="1778000"/>
          </a:xfrm>
          <a:prstGeom prst="rect">
            <a:avLst/>
          </a:prstGeom>
          <a:noFill/>
          <a:ln/>
        </p:spPr>
        <p:txBody>
          <a:bodyPr wrap="none" lIns="0" tIns="0" rIns="0" bIns="0" rtlCol="0" anchor="ctr"/>
          <a:lstStyle/>
          <a:p>
            <a:pPr>
              <a:lnSpc>
                <a:spcPct val="100000"/>
              </a:lnSpc>
            </a:pPr>
            <a:r>
              <a:rPr lang="en-US" sz="12000" dirty="0">
                <a:solidFill>
                  <a:srgbClr val="FFFFFF">
                    <a:alpha val="8235"/>
                  </a:srgbClr>
                </a:solidFill>
                <a:latin typeface="Oranienbaum" pitchFamily="34" charset="0"/>
                <a:ea typeface="Oranienbaum" pitchFamily="34" charset="-122"/>
                <a:cs typeface="Oranienbaum" pitchFamily="34" charset="-120"/>
              </a:rPr>
              <a:t>01</a:t>
            </a:r>
            <a:endParaRPr lang="en-US" sz="1600" dirty="0"/>
          </a:p>
        </p:txBody>
      </p:sp>
      <p:sp>
        <p:nvSpPr>
          <p:cNvPr id="5" name="Text 2"/>
          <p:cNvSpPr/>
          <p:nvPr/>
        </p:nvSpPr>
        <p:spPr>
          <a:xfrm>
            <a:off x="1016000" y="3810000"/>
            <a:ext cx="3810000" cy="279400"/>
          </a:xfrm>
          <a:prstGeom prst="rect">
            <a:avLst/>
          </a:prstGeom>
          <a:noFill/>
          <a:ln/>
        </p:spPr>
        <p:txBody>
          <a:bodyPr wrap="none" lIns="0" tIns="0" rIns="0" bIns="0" rtlCol="0" anchor="ctr"/>
          <a:lstStyle/>
          <a:p>
            <a:pPr>
              <a:lnSpc>
                <a:spcPct val="100000"/>
              </a:lnSpc>
            </a:pPr>
            <a:r>
              <a:rPr lang="en-US" sz="1300" spc="400" kern="0" dirty="0">
                <a:solidFill>
                  <a:srgbClr val="B8860B"/>
                </a:solidFill>
                <a:latin typeface="Quattrocento Sans" pitchFamily="34" charset="0"/>
                <a:ea typeface="Quattrocento Sans" pitchFamily="34" charset="-122"/>
                <a:cs typeface="Quattrocento Sans" pitchFamily="34" charset="-120"/>
              </a:rPr>
              <a:t>CHAPTER ONE</a:t>
            </a:r>
            <a:endParaRPr lang="en-US" sz="1600" dirty="0"/>
          </a:p>
        </p:txBody>
      </p:sp>
      <p:sp>
        <p:nvSpPr>
          <p:cNvPr id="6" name="Text 3"/>
          <p:cNvSpPr/>
          <p:nvPr/>
        </p:nvSpPr>
        <p:spPr>
          <a:xfrm>
            <a:off x="1016000" y="4254500"/>
            <a:ext cx="8890000" cy="698500"/>
          </a:xfrm>
          <a:prstGeom prst="rect">
            <a:avLst/>
          </a:prstGeom>
          <a:noFill/>
          <a:ln/>
        </p:spPr>
        <p:txBody>
          <a:bodyPr wrap="none" lIns="0" tIns="0" rIns="0" bIns="0" rtlCol="0" anchor="ctr"/>
          <a:lstStyle/>
          <a:p>
            <a:pPr>
              <a:lnSpc>
                <a:spcPct val="100000"/>
              </a:lnSpc>
            </a:pPr>
            <a:r>
              <a:rPr lang="en-US" sz="4000" spc="100" kern="0" dirty="0">
                <a:solidFill>
                  <a:srgbClr val="FFFFFF"/>
                </a:solidFill>
                <a:latin typeface="Oranienbaum" pitchFamily="34" charset="0"/>
                <a:ea typeface="Oranienbaum" pitchFamily="34" charset="-122"/>
                <a:cs typeface="Oranienbaum" pitchFamily="34" charset="-120"/>
              </a:rPr>
              <a:t>The Purpose of Financial Analysis</a:t>
            </a:r>
            <a:endParaRPr lang="en-US" sz="4000" dirty="0"/>
          </a:p>
        </p:txBody>
      </p:sp>
      <p:sp>
        <p:nvSpPr>
          <p:cNvPr id="7" name="Shape 4"/>
          <p:cNvSpPr/>
          <p:nvPr/>
        </p:nvSpPr>
        <p:spPr>
          <a:xfrm>
            <a:off x="1016000" y="5143500"/>
            <a:ext cx="1016000" cy="38100"/>
          </a:xfrm>
          <a:prstGeom prst="rect">
            <a:avLst/>
          </a:prstGeom>
          <a:solidFill>
            <a:srgbClr val="B8860B"/>
          </a:solidFill>
          <a:ln/>
        </p:spPr>
      </p:sp>
      <p:sp>
        <p:nvSpPr>
          <p:cNvPr id="8" name="Text 5"/>
          <p:cNvSpPr/>
          <p:nvPr/>
        </p:nvSpPr>
        <p:spPr>
          <a:xfrm>
            <a:off x="1016000" y="5397500"/>
            <a:ext cx="7620000" cy="381000"/>
          </a:xfrm>
          <a:prstGeom prst="rect">
            <a:avLst/>
          </a:prstGeom>
          <a:noFill/>
          <a:ln/>
        </p:spPr>
        <p:txBody>
          <a:bodyPr wrap="none" lIns="0" tIns="0" rIns="0" bIns="0" rtlCol="0" anchor="ctr"/>
          <a:lstStyle/>
          <a:p>
            <a:pPr>
              <a:lnSpc>
                <a:spcPct val="140000"/>
              </a:lnSpc>
            </a:pPr>
            <a:r>
              <a:rPr lang="en-US" sz="1800" dirty="0">
                <a:solidFill>
                  <a:srgbClr val="FFFFFF">
                    <a:alpha val="66667"/>
                  </a:srgbClr>
                </a:solidFill>
                <a:latin typeface="QuattrocentoSans" pitchFamily="34" charset="0"/>
                <a:ea typeface="QuattrocentoSans" pitchFamily="34" charset="-122"/>
                <a:cs typeface="QuattrocentoSans" pitchFamily="34" charset="-120"/>
              </a:rPr>
              <a:t>Why financial analysis matters and who uses it</a:t>
            </a:r>
            <a:endParaRPr lang="en-US" sz="20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4732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Financial analysis transforms raw data into actionable business intelligence</a:t>
            </a:r>
            <a:endParaRPr lang="en-US" sz="2800" dirty="0"/>
          </a:p>
        </p:txBody>
      </p:sp>
      <p:sp>
        <p:nvSpPr>
          <p:cNvPr id="3" name="Shape 1"/>
          <p:cNvSpPr/>
          <p:nvPr/>
        </p:nvSpPr>
        <p:spPr>
          <a:xfrm>
            <a:off x="762000" y="1168400"/>
            <a:ext cx="14732000" cy="12700"/>
          </a:xfrm>
          <a:prstGeom prst="rect">
            <a:avLst/>
          </a:prstGeom>
          <a:solidFill>
            <a:srgbClr val="D1CFC9"/>
          </a:solidFill>
          <a:ln/>
        </p:spPr>
      </p:sp>
      <p:sp>
        <p:nvSpPr>
          <p:cNvPr id="4" name="Text 2"/>
          <p:cNvSpPr/>
          <p:nvPr/>
        </p:nvSpPr>
        <p:spPr>
          <a:xfrm>
            <a:off x="762000" y="1371600"/>
            <a:ext cx="14732000" cy="914400"/>
          </a:xfrm>
          <a:prstGeom prst="rect">
            <a:avLst/>
          </a:prstGeom>
          <a:noFill/>
          <a:ln/>
        </p:spPr>
        <p:txBody>
          <a:bodyPr wrap="square" lIns="0" tIns="0" rIns="0" bIns="0" rtlCol="0" anchor="ctr"/>
          <a:lstStyle/>
          <a:p>
            <a:pPr>
              <a:lnSpc>
                <a:spcPct val="150000"/>
              </a:lnSpc>
            </a:pPr>
            <a:r>
              <a:rPr lang="en-US" sz="1600" b="1" dirty="0">
                <a:solidFill>
                  <a:srgbClr val="1A1A2E"/>
                </a:solidFill>
                <a:latin typeface="QuattrocentoSans" pitchFamily="34" charset="0"/>
                <a:ea typeface="QuattrocentoSans" pitchFamily="34" charset="-122"/>
                <a:cs typeface="QuattrocentoSans" pitchFamily="34" charset="-120"/>
              </a:rPr>
              <a:t>Financial analysis</a:t>
            </a:r>
            <a:pPr>
              <a:lnSpc>
                <a:spcPct val="150000"/>
              </a:lnSpc>
            </a:pPr>
            <a:r>
              <a:rPr lang="en-US" sz="1600" dirty="0">
                <a:solidFill>
                  <a:srgbClr val="1A1A2E"/>
                </a:solidFill>
                <a:latin typeface="QuattrocentoSans" pitchFamily="34" charset="0"/>
                <a:ea typeface="QuattrocentoSans" pitchFamily="34" charset="-122"/>
                <a:cs typeface="QuattrocentoSans" pitchFamily="34" charset="-120"/>
              </a:rPr>
              <a:t> is the process of examining financial statements to evaluate performance, assess financial health, and support decision-making. It converts voluminous statement data into comparable, digestible metrics that enable evidence-based evaluation.</a:t>
            </a:r>
            <a:endParaRPr lang="en-US" sz="1800" dirty="0"/>
          </a:p>
        </p:txBody>
      </p:sp>
      <p:sp>
        <p:nvSpPr>
          <p:cNvPr id="5" name="Shape 3"/>
          <p:cNvSpPr/>
          <p:nvPr/>
        </p:nvSpPr>
        <p:spPr>
          <a:xfrm>
            <a:off x="762000" y="2476500"/>
            <a:ext cx="50800" cy="2540000"/>
          </a:xfrm>
          <a:prstGeom prst="rect">
            <a:avLst/>
          </a:prstGeom>
          <a:solidFill>
            <a:srgbClr val="1B4332"/>
          </a:solidFill>
          <a:ln/>
        </p:spPr>
      </p:sp>
      <p:sp>
        <p:nvSpPr>
          <p:cNvPr id="6" name="Text 4"/>
          <p:cNvSpPr/>
          <p:nvPr/>
        </p:nvSpPr>
        <p:spPr>
          <a:xfrm>
            <a:off x="1016000" y="2476500"/>
            <a:ext cx="381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Key Objectives</a:t>
            </a:r>
            <a:endParaRPr lang="en-US" sz="1600" dirty="0"/>
          </a:p>
        </p:txBody>
      </p:sp>
      <p:sp>
        <p:nvSpPr>
          <p:cNvPr id="7" name="Text 5"/>
          <p:cNvSpPr/>
          <p:nvPr/>
        </p:nvSpPr>
        <p:spPr>
          <a:xfrm>
            <a:off x="1016000" y="2857500"/>
            <a:ext cx="6604000" cy="2159000"/>
          </a:xfrm>
          <a:prstGeom prst="rect">
            <a:avLst/>
          </a:prstGeom>
          <a:noFill/>
          <a:ln/>
        </p:spPr>
        <p:txBody>
          <a:bodyPr wrap="square" lIns="0" tIns="0" rIns="0" bIns="0" rtlCol="0" anchor="ctr"/>
          <a:lstStyle/>
          <a:p>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1.</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Evaluate profitability and operational efficiency</a:t>
            </a:r>
            <a:endParaRPr lang="en-US" sz="1800" dirty="0"/>
          </a:p>
          <a:p>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2.</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Assess liquidity and solvency position</a:t>
            </a:r>
            <a:endParaRPr lang="en-US" sz="1800" dirty="0"/>
          </a:p>
          <a:p>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3.</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Support strategic planning and forecasting</a:t>
            </a:r>
            <a:endParaRPr lang="en-US" sz="1800" dirty="0"/>
          </a:p>
          <a:p>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4.</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Enable benchmarking against peers and industry standards</a:t>
            </a:r>
            <a:endParaRPr lang="en-US" sz="1800" dirty="0"/>
          </a:p>
        </p:txBody>
      </p:sp>
      <p:sp>
        <p:nvSpPr>
          <p:cNvPr id="8" name="Text 6"/>
          <p:cNvSpPr/>
          <p:nvPr/>
        </p:nvSpPr>
        <p:spPr>
          <a:xfrm>
            <a:off x="8382000" y="2476500"/>
            <a:ext cx="381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Why It Matters</a:t>
            </a:r>
            <a:endParaRPr lang="en-US" sz="1600" dirty="0"/>
          </a:p>
        </p:txBody>
      </p:sp>
      <p:sp>
        <p:nvSpPr>
          <p:cNvPr id="9" name="Text 7"/>
          <p:cNvSpPr/>
          <p:nvPr/>
        </p:nvSpPr>
        <p:spPr>
          <a:xfrm>
            <a:off x="8382000" y="2857500"/>
            <a:ext cx="7112000" cy="21590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Financial ratios provide meaningful insight only when analyzed together, not in isolation. Research indicates approximately </a:t>
            </a:r>
            <a:pPr>
              <a:lnSpc>
                <a:spcPct val="155000"/>
              </a:lnSpc>
            </a:pPr>
            <a:r>
              <a:rPr lang="en-US" sz="1500" b="1" dirty="0">
                <a:solidFill>
                  <a:srgbClr val="B8860B"/>
                </a:solidFill>
                <a:latin typeface="QuattrocentoSans" pitchFamily="34" charset="0"/>
                <a:ea typeface="QuattrocentoSans" pitchFamily="34" charset="-122"/>
                <a:cs typeface="QuattrocentoSans" pitchFamily="34" charset="-120"/>
              </a:rPr>
              <a:t>94%</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of business spreadsheets contain critical errors, making structured financial analysis essential for reliable decision-making.</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2000" y="5270500"/>
          <a:ext cx="14732000" cy="2921000"/>
        </p:xfrm>
        <a:graphic>
          <a:graphicData uri="http://schemas.openxmlformats.org/drawingml/2006/table">
            <a:tbl>
              <a:tblPr/>
              <a:tblGrid>
                <a:gridCol w="3241040"/>
                <a:gridCol w="4124960"/>
                <a:gridCol w="3683000"/>
                <a:gridCol w="3683000"/>
              </a:tblGrid>
              <a:tr h="522974">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Objective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Focus Area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Key Tools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Primary Users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59950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Profitability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Earnings performance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Margin ratios, ROE, ROA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Investors, management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9950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Liquidity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Short-term solvency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Current, quick ratios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Creditors, CFOs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59950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Efficiency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Resource utilization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Turnover ratios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Operations, FP&amp;A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9950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Solvency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Long-term stability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Leverage, coverage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Lenders, analysts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bl>
          </a:graphicData>
        </a:graphic>
      </p:graphicFrame>
      <p:sp>
        <p:nvSpPr>
          <p:cNvPr id="11" name="Text 8"/>
          <p:cNvSpPr/>
          <p:nvPr/>
        </p:nvSpPr>
        <p:spPr>
          <a:xfrm>
            <a:off x="762000" y="8293100"/>
            <a:ext cx="7620000" cy="279400"/>
          </a:xfrm>
          <a:prstGeom prst="rect">
            <a:avLst/>
          </a:prstGeom>
          <a:noFill/>
          <a:ln/>
        </p:spPr>
        <p:txBody>
          <a:bodyPr wrap="square" lIns="0" tIns="0" rIns="0" bIns="0" rtlCol="0" anchor="ctr"/>
          <a:lstStyle/>
          <a:p>
            <a:pP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Source: </a:t>
            </a:r>
            <a:pPr>
              <a:lnSpc>
                <a:spcPct val="140000"/>
              </a:lnSpc>
            </a:pPr>
            <a:r>
              <a:rPr lang="en-US" sz="1200" u="sng" dirty="0">
                <a:solidFill>
                  <a:srgbClr val="6B7280"/>
                </a:solidFill>
                <a:latin typeface="QuattrocentoSans" pitchFamily="34" charset="0"/>
                <a:ea typeface="QuattrocentoSans" pitchFamily="34" charset="-122"/>
                <a:cs typeface="QuattrocentoSans" pitchFamily="34" charset="-120"/>
                <a:hlinkClick r:id="rId1" tooltip="" action="ppaction://hlinkfile">
                  <a:extLst>
                    <a:ext uri="{A12FA001-AC4F-418D-AE19-62706E023703}">
                      <ahyp:hlinkClr xmlns:ahyp="http://schemas.microsoft.com/office/drawing/2018/hyperlinkcolor" val="tx"/>
                    </a:ext>
                  </a:extLst>
                </a:hlinkClick>
              </a:rPr>
              <a:t>Limelight Financial Analysis Guide, 2026</a:t>
            </a:r>
            <a:endParaRPr lang="en-US" sz="1200" dirty="0"/>
          </a:p>
        </p:txBody>
      </p:sp>
      <p:sp>
        <p:nvSpPr>
          <p:cNvPr id="12" name="Text 9"/>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4</a:t>
            </a:r>
            <a:endParaRPr lang="en-US" sz="12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Financial analysis serves distinct purposes for internal and external stakeholders</a:t>
            </a:r>
            <a:endParaRPr lang="en-US" sz="2800" dirty="0"/>
          </a:p>
        </p:txBody>
      </p:sp>
      <p:sp>
        <p:nvSpPr>
          <p:cNvPr id="3" name="Shape 1"/>
          <p:cNvSpPr/>
          <p:nvPr/>
        </p:nvSpPr>
        <p:spPr>
          <a:xfrm>
            <a:off x="762000" y="1168400"/>
            <a:ext cx="14732000" cy="12700"/>
          </a:xfrm>
          <a:prstGeom prst="rect">
            <a:avLst/>
          </a:prstGeom>
          <a:solidFill>
            <a:srgbClr val="D1CFC9"/>
          </a:solidFill>
          <a:ln/>
        </p:spPr>
      </p:sp>
      <p:sp>
        <p:nvSpPr>
          <p:cNvPr id="4" name="Text 2"/>
          <p:cNvSpPr/>
          <p:nvPr/>
        </p:nvSpPr>
        <p:spPr>
          <a:xfrm>
            <a:off x="762000" y="1397000"/>
            <a:ext cx="254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Internal Users</a:t>
            </a:r>
            <a:endParaRPr lang="en-US" sz="1600" dirty="0"/>
          </a:p>
        </p:txBody>
      </p:sp>
      <p:sp>
        <p:nvSpPr>
          <p:cNvPr id="5" name="Text 3"/>
          <p:cNvSpPr/>
          <p:nvPr/>
        </p:nvSpPr>
        <p:spPr>
          <a:xfrm>
            <a:off x="762000" y="1752600"/>
            <a:ext cx="3810000" cy="279400"/>
          </a:xfrm>
          <a:prstGeom prst="rect">
            <a:avLst/>
          </a:prstGeom>
          <a:noFill/>
          <a:ln/>
        </p:spPr>
        <p:txBody>
          <a:bodyPr wrap="none" lIns="0" tIns="0" rIns="0" bIns="0" rtlCol="0" anchor="ctr"/>
          <a:lstStyle/>
          <a:p>
            <a:pPr>
              <a:lnSpc>
                <a:spcPct val="100000"/>
              </a:lnSpc>
            </a:pPr>
            <a:r>
              <a:rPr lang="en-US" sz="1400" dirty="0">
                <a:solidFill>
                  <a:srgbClr val="6B7280"/>
                </a:solidFill>
                <a:latin typeface="Quattrocento Sans" pitchFamily="34" charset="0"/>
                <a:ea typeface="Quattrocento Sans" pitchFamily="34" charset="-122"/>
                <a:cs typeface="Quattrocento Sans" pitchFamily="34" charset="-120"/>
              </a:rPr>
              <a:t>Management &amp; Operations</a:t>
            </a:r>
            <a:endParaRPr lang="en-US" sz="1600" dirty="0"/>
          </a:p>
        </p:txBody>
      </p:sp>
      <p:sp>
        <p:nvSpPr>
          <p:cNvPr id="6" name="Shape 4"/>
          <p:cNvSpPr/>
          <p:nvPr/>
        </p:nvSpPr>
        <p:spPr>
          <a:xfrm>
            <a:off x="762000" y="2159000"/>
            <a:ext cx="6858000" cy="38100"/>
          </a:xfrm>
          <a:prstGeom prst="rect">
            <a:avLst/>
          </a:prstGeom>
          <a:solidFill>
            <a:srgbClr val="1B4332"/>
          </a:solidFill>
          <a:ln/>
        </p:spPr>
      </p:sp>
      <p:sp>
        <p:nvSpPr>
          <p:cNvPr id="7" name="Text 5"/>
          <p:cNvSpPr/>
          <p:nvPr/>
        </p:nvSpPr>
        <p:spPr>
          <a:xfrm>
            <a:off x="762000" y="2349500"/>
            <a:ext cx="6858000" cy="3556000"/>
          </a:xfrm>
          <a:prstGeom prst="rect">
            <a:avLst/>
          </a:prstGeom>
          <a:noFill/>
          <a:ln/>
        </p:spPr>
        <p:txBody>
          <a:bodyPr wrap="square" lIns="0" tIns="0" rIns="0" bIns="0" rtlCol="0" anchor="ctr"/>
          <a:lstStyle/>
          <a:p>
            <a:pPr>
              <a:lnSpc>
                <a:spcPct val="160000"/>
              </a:lnSpc>
            </a:pPr>
            <a:r>
              <a:rPr lang="en-US" sz="1500" dirty="0">
                <a:solidFill>
                  <a:srgbClr val="1A1A2E"/>
                </a:solidFill>
                <a:latin typeface="QuattrocentoSans" pitchFamily="34" charset="0"/>
                <a:ea typeface="QuattrocentoSans" pitchFamily="34" charset="-122"/>
                <a:cs typeface="QuattrocentoSans" pitchFamily="34" charset="-120"/>
              </a:rPr>
              <a:t>Management uses financial analysis for </a:t>
            </a:r>
            <a:pPr>
              <a:lnSpc>
                <a:spcPct val="160000"/>
              </a:lnSpc>
            </a:pPr>
            <a:r>
              <a:rPr lang="en-US" sz="1500" b="1" dirty="0">
                <a:solidFill>
                  <a:srgbClr val="1A1A2E"/>
                </a:solidFill>
                <a:latin typeface="QuattrocentoSans" pitchFamily="34" charset="0"/>
                <a:ea typeface="QuattrocentoSans" pitchFamily="34" charset="-122"/>
                <a:cs typeface="QuattrocentoSans" pitchFamily="34" charset="-120"/>
              </a:rPr>
              <a:t>operational control</a:t>
            </a:r>
            <a:pPr>
              <a:lnSpc>
                <a:spcPct val="160000"/>
              </a:lnSpc>
            </a:pPr>
            <a:r>
              <a:rPr lang="en-US" sz="1500" dirty="0">
                <a:solidFill>
                  <a:srgbClr val="1A1A2E"/>
                </a:solidFill>
                <a:latin typeface="QuattrocentoSans" pitchFamily="34" charset="0"/>
                <a:ea typeface="QuattrocentoSans" pitchFamily="34" charset="-122"/>
                <a:cs typeface="QuattrocentoSans" pitchFamily="34" charset="-120"/>
              </a:rPr>
              <a:t>, performance evaluation, budget planning, and resource allocation.</a:t>
            </a:r>
            <a:endParaRPr lang="en-US" sz="1800" dirty="0"/>
          </a:p>
          <a:p>
            <a:pPr>
              <a:lnSpc>
                <a:spcPct val="160000"/>
              </a:lnSpc>
              <a:spcBef>
                <a:spcPts val="800"/>
              </a:spcBef>
            </a:pPr>
            <a:r>
              <a:rPr lang="en-US" sz="1500" dirty="0">
                <a:solidFill>
                  <a:srgbClr val="1A1A2E"/>
                </a:solidFill>
                <a:latin typeface="QuattrocentoSans" pitchFamily="34" charset="0"/>
                <a:ea typeface="QuattrocentoSans" pitchFamily="34" charset="-122"/>
                <a:cs typeface="QuattrocentoSans" pitchFamily="34" charset="-120"/>
              </a:rPr>
              <a:t>Focus areas include:</a:t>
            </a:r>
            <a:endParaRPr lang="en-US" sz="1800" dirty="0"/>
          </a:p>
          <a:p>
            <a:pPr>
              <a:lnSpc>
                <a:spcPct val="160000"/>
              </a:lnSpc>
            </a:pPr>
            <a:r>
              <a:rPr lang="en-US" sz="1500" dirty="0">
                <a:solidFill>
                  <a:srgbClr val="1A1A2E"/>
                </a:solidFill>
                <a:latin typeface="QuattrocentoSans" pitchFamily="34" charset="0"/>
                <a:ea typeface="QuattrocentoSans" pitchFamily="34" charset="-122"/>
                <a:cs typeface="QuattrocentoSans" pitchFamily="34" charset="-120"/>
              </a:rPr>
              <a:t>• Forward-looking metrics and trend analysis</a:t>
            </a:r>
            <a:endParaRPr lang="en-US" sz="1800" dirty="0"/>
          </a:p>
          <a:p>
            <a:pPr>
              <a:lnSpc>
                <a:spcPct val="160000"/>
              </a:lnSpc>
            </a:pPr>
            <a:r>
              <a:rPr lang="en-US" sz="1500" dirty="0">
                <a:solidFill>
                  <a:srgbClr val="1A1A2E"/>
                </a:solidFill>
                <a:latin typeface="QuattrocentoSans" pitchFamily="34" charset="0"/>
                <a:ea typeface="QuattrocentoSans" pitchFamily="34" charset="-122"/>
                <a:cs typeface="QuattrocentoSans" pitchFamily="34" charset="-120"/>
              </a:rPr>
              <a:t>• Cost structure optimization</a:t>
            </a:r>
            <a:endParaRPr lang="en-US" sz="1800" dirty="0"/>
          </a:p>
          <a:p>
            <a:pPr>
              <a:lnSpc>
                <a:spcPct val="160000"/>
              </a:lnSpc>
            </a:pPr>
            <a:r>
              <a:rPr lang="en-US" sz="1500" dirty="0">
                <a:solidFill>
                  <a:srgbClr val="1A1A2E"/>
                </a:solidFill>
                <a:latin typeface="QuattrocentoSans" pitchFamily="34" charset="0"/>
                <a:ea typeface="QuattrocentoSans" pitchFamily="34" charset="-122"/>
                <a:cs typeface="QuattrocentoSans" pitchFamily="34" charset="-120"/>
              </a:rPr>
              <a:t>• Capital budgeting decisions</a:t>
            </a:r>
            <a:endParaRPr lang="en-US" sz="1800" dirty="0"/>
          </a:p>
          <a:p>
            <a:pPr>
              <a:lnSpc>
                <a:spcPct val="160000"/>
              </a:lnSpc>
            </a:pPr>
            <a:r>
              <a:rPr lang="en-US" sz="1500" dirty="0">
                <a:solidFill>
                  <a:srgbClr val="1A1A2E"/>
                </a:solidFill>
                <a:latin typeface="QuattrocentoSans" pitchFamily="34" charset="0"/>
                <a:ea typeface="QuattrocentoSans" pitchFamily="34" charset="-122"/>
                <a:cs typeface="QuattrocentoSans" pitchFamily="34" charset="-120"/>
              </a:rPr>
              <a:t>• Divisional performance comparison</a:t>
            </a:r>
            <a:endParaRPr lang="en-US" sz="1800" dirty="0"/>
          </a:p>
          <a:p>
            <a:pPr>
              <a:lnSpc>
                <a:spcPct val="160000"/>
              </a:lnSpc>
            </a:pPr>
            <a:r>
              <a:rPr lang="en-US" sz="1500" dirty="0">
                <a:solidFill>
                  <a:srgbClr val="1A1A2E"/>
                </a:solidFill>
                <a:latin typeface="QuattrocentoSans" pitchFamily="34" charset="0"/>
                <a:ea typeface="QuattrocentoSans" pitchFamily="34" charset="-122"/>
                <a:cs typeface="QuattrocentoSans" pitchFamily="34" charset="-120"/>
              </a:rPr>
              <a:t>• Strategic planning and forecasting</a:t>
            </a:r>
            <a:endParaRPr lang="en-US" sz="1800" dirty="0"/>
          </a:p>
        </p:txBody>
      </p:sp>
      <p:sp>
        <p:nvSpPr>
          <p:cNvPr id="8" name="Text 6"/>
          <p:cNvSpPr/>
          <p:nvPr/>
        </p:nvSpPr>
        <p:spPr>
          <a:xfrm>
            <a:off x="8382000" y="1397000"/>
            <a:ext cx="254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External Users</a:t>
            </a:r>
            <a:endParaRPr lang="en-US" sz="1600" dirty="0"/>
          </a:p>
        </p:txBody>
      </p:sp>
      <p:sp>
        <p:nvSpPr>
          <p:cNvPr id="9" name="Text 7"/>
          <p:cNvSpPr/>
          <p:nvPr/>
        </p:nvSpPr>
        <p:spPr>
          <a:xfrm>
            <a:off x="8382000" y="1752600"/>
            <a:ext cx="3810000" cy="279400"/>
          </a:xfrm>
          <a:prstGeom prst="rect">
            <a:avLst/>
          </a:prstGeom>
          <a:noFill/>
          <a:ln/>
        </p:spPr>
        <p:txBody>
          <a:bodyPr wrap="none" lIns="0" tIns="0" rIns="0" bIns="0" rtlCol="0" anchor="ctr"/>
          <a:lstStyle/>
          <a:p>
            <a:pPr>
              <a:lnSpc>
                <a:spcPct val="100000"/>
              </a:lnSpc>
            </a:pPr>
            <a:r>
              <a:rPr lang="en-US" sz="1400" dirty="0">
                <a:solidFill>
                  <a:srgbClr val="6B7280"/>
                </a:solidFill>
                <a:latin typeface="Quattrocento Sans" pitchFamily="34" charset="0"/>
                <a:ea typeface="Quattrocento Sans" pitchFamily="34" charset="-122"/>
                <a:cs typeface="Quattrocento Sans" pitchFamily="34" charset="-120"/>
              </a:rPr>
              <a:t>Investors, Creditors, Analysts</a:t>
            </a:r>
            <a:endParaRPr lang="en-US" sz="1600" dirty="0"/>
          </a:p>
        </p:txBody>
      </p:sp>
      <p:sp>
        <p:nvSpPr>
          <p:cNvPr id="10" name="Shape 8"/>
          <p:cNvSpPr/>
          <p:nvPr/>
        </p:nvSpPr>
        <p:spPr>
          <a:xfrm>
            <a:off x="8382000" y="2159000"/>
            <a:ext cx="7112000" cy="38100"/>
          </a:xfrm>
          <a:prstGeom prst="rect">
            <a:avLst/>
          </a:prstGeom>
          <a:solidFill>
            <a:srgbClr val="B8860B"/>
          </a:solidFill>
          <a:ln/>
        </p:spPr>
      </p:sp>
      <p:sp>
        <p:nvSpPr>
          <p:cNvPr id="11" name="Text 9"/>
          <p:cNvSpPr/>
          <p:nvPr/>
        </p:nvSpPr>
        <p:spPr>
          <a:xfrm>
            <a:off x="8382000" y="2349500"/>
            <a:ext cx="7112000" cy="3556000"/>
          </a:xfrm>
          <a:prstGeom prst="rect">
            <a:avLst/>
          </a:prstGeom>
          <a:noFill/>
          <a:ln/>
        </p:spPr>
        <p:txBody>
          <a:bodyPr wrap="square" lIns="0" tIns="0" rIns="0" bIns="0" rtlCol="0" anchor="ctr"/>
          <a:lstStyle/>
          <a:p>
            <a:pPr>
              <a:lnSpc>
                <a:spcPct val="160000"/>
              </a:lnSpc>
            </a:pPr>
            <a:r>
              <a:rPr lang="en-US" sz="1500" b="1" dirty="0">
                <a:solidFill>
                  <a:srgbClr val="1A1A2E"/>
                </a:solidFill>
                <a:latin typeface="QuattrocentoSans" pitchFamily="34" charset="0"/>
                <a:ea typeface="QuattrocentoSans" pitchFamily="34" charset="-122"/>
                <a:cs typeface="QuattrocentoSans" pitchFamily="34" charset="-120"/>
              </a:rPr>
              <a:t>Investors</a:t>
            </a:r>
            <a:pPr>
              <a:lnSpc>
                <a:spcPct val="160000"/>
              </a:lnSpc>
            </a:pPr>
            <a:r>
              <a:rPr lang="en-US" sz="1500" dirty="0">
                <a:solidFill>
                  <a:srgbClr val="1A1A2E"/>
                </a:solidFill>
                <a:latin typeface="QuattrocentoSans" pitchFamily="34" charset="0"/>
                <a:ea typeface="QuattrocentoSans" pitchFamily="34" charset="-122"/>
                <a:cs typeface="QuattrocentoSans" pitchFamily="34" charset="-120"/>
              </a:rPr>
              <a:t> assess return potential and risk through profitability and market value ratios.</a:t>
            </a:r>
            <a:endParaRPr lang="en-US" sz="1800" dirty="0"/>
          </a:p>
          <a:p>
            <a:pPr>
              <a:lnSpc>
                <a:spcPct val="160000"/>
              </a:lnSpc>
              <a:spcBef>
                <a:spcPts val="800"/>
              </a:spcBef>
            </a:pPr>
            <a:r>
              <a:rPr lang="en-US" sz="1500" b="1" dirty="0">
                <a:solidFill>
                  <a:srgbClr val="1A1A2E"/>
                </a:solidFill>
                <a:latin typeface="QuattrocentoSans" pitchFamily="34" charset="0"/>
                <a:ea typeface="QuattrocentoSans" pitchFamily="34" charset="-122"/>
                <a:cs typeface="QuattrocentoSans" pitchFamily="34" charset="-120"/>
              </a:rPr>
              <a:t>Creditors</a:t>
            </a:r>
            <a:pPr>
              <a:lnSpc>
                <a:spcPct val="160000"/>
              </a:lnSpc>
              <a:spcBef>
                <a:spcPts val="800"/>
              </a:spcBef>
            </a:pPr>
            <a:r>
              <a:rPr lang="en-US" sz="1500" dirty="0">
                <a:solidFill>
                  <a:srgbClr val="1A1A2E"/>
                </a:solidFill>
                <a:latin typeface="QuattrocentoSans" pitchFamily="34" charset="0"/>
                <a:ea typeface="QuattrocentoSans" pitchFamily="34" charset="-122"/>
                <a:cs typeface="QuattrocentoSans" pitchFamily="34" charset="-120"/>
              </a:rPr>
              <a:t> evaluate debt repayment capacity using liquidity and coverage ratios.</a:t>
            </a:r>
            <a:endParaRPr lang="en-US" sz="1800" dirty="0"/>
          </a:p>
          <a:p>
            <a:pPr>
              <a:lnSpc>
                <a:spcPct val="160000"/>
              </a:lnSpc>
              <a:spcBef>
                <a:spcPts val="800"/>
              </a:spcBef>
            </a:pPr>
            <a:r>
              <a:rPr lang="en-US" sz="1500" b="1" dirty="0">
                <a:solidFill>
                  <a:srgbClr val="1A1A2E"/>
                </a:solidFill>
                <a:latin typeface="QuattrocentoSans" pitchFamily="34" charset="0"/>
                <a:ea typeface="QuattrocentoSans" pitchFamily="34" charset="-122"/>
                <a:cs typeface="QuattrocentoSans" pitchFamily="34" charset="-120"/>
              </a:rPr>
              <a:t>Regulators</a:t>
            </a:r>
            <a:pPr>
              <a:lnSpc>
                <a:spcPct val="160000"/>
              </a:lnSpc>
              <a:spcBef>
                <a:spcPts val="800"/>
              </a:spcBef>
            </a:pPr>
            <a:r>
              <a:rPr lang="en-US" sz="1500" dirty="0">
                <a:solidFill>
                  <a:srgbClr val="1A1A2E"/>
                </a:solidFill>
                <a:latin typeface="QuattrocentoSans" pitchFamily="34" charset="0"/>
                <a:ea typeface="QuattrocentoSans" pitchFamily="34" charset="-122"/>
                <a:cs typeface="QuattrocentoSans" pitchFamily="34" charset="-120"/>
              </a:rPr>
              <a:t> ensure compliance and financial stability.</a:t>
            </a:r>
            <a:endParaRPr lang="en-US" sz="1800" dirty="0"/>
          </a:p>
          <a:p>
            <a:pPr>
              <a:lnSpc>
                <a:spcPct val="160000"/>
              </a:lnSpc>
              <a:spcBef>
                <a:spcPts val="800"/>
              </a:spcBef>
            </a:pPr>
            <a:r>
              <a:rPr lang="en-US" sz="1500" b="1" dirty="0">
                <a:solidFill>
                  <a:srgbClr val="1A1A2E"/>
                </a:solidFill>
                <a:latin typeface="QuattrocentoSans" pitchFamily="34" charset="0"/>
                <a:ea typeface="QuattrocentoSans" pitchFamily="34" charset="-122"/>
                <a:cs typeface="QuattrocentoSans" pitchFamily="34" charset="-120"/>
              </a:rPr>
              <a:t>Analysts</a:t>
            </a:r>
            <a:pPr>
              <a:lnSpc>
                <a:spcPct val="160000"/>
              </a:lnSpc>
              <a:spcBef>
                <a:spcPts val="800"/>
              </a:spcBef>
            </a:pPr>
            <a:r>
              <a:rPr lang="en-US" sz="1500" dirty="0">
                <a:solidFill>
                  <a:srgbClr val="1A1A2E"/>
                </a:solidFill>
                <a:latin typeface="QuattrocentoSans" pitchFamily="34" charset="0"/>
                <a:ea typeface="QuattrocentoSans" pitchFamily="34" charset="-122"/>
                <a:cs typeface="QuattrocentoSans" pitchFamily="34" charset="-120"/>
              </a:rPr>
              <a:t> combine multiple ratios for investment recommendations.</a:t>
            </a:r>
            <a:endParaRPr lang="en-US" sz="1800" dirty="0"/>
          </a:p>
        </p:txBody>
      </p:sp>
      <p:sp>
        <p:nvSpPr>
          <p:cNvPr id="12" name="Shape 10"/>
          <p:cNvSpPr/>
          <p:nvPr/>
        </p:nvSpPr>
        <p:spPr>
          <a:xfrm>
            <a:off x="762000" y="6223000"/>
            <a:ext cx="50800" cy="1651000"/>
          </a:xfrm>
          <a:prstGeom prst="rect">
            <a:avLst/>
          </a:prstGeom>
          <a:solidFill>
            <a:srgbClr val="B8860B"/>
          </a:solidFill>
          <a:ln/>
        </p:spPr>
      </p:sp>
      <p:sp>
        <p:nvSpPr>
          <p:cNvPr id="13" name="Text 11"/>
          <p:cNvSpPr/>
          <p:nvPr/>
        </p:nvSpPr>
        <p:spPr>
          <a:xfrm>
            <a:off x="1016000" y="6223000"/>
            <a:ext cx="13970000" cy="16510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Key Insight:</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The same financial statements yield different insights depending on the user's perspective and objectives. An investor analyzing ROE seeks growth potential, while a creditor examining the current ratio prioritizes repayment safety. Effective financial analysis requires understanding </a:t>
            </a:r>
            <a:pPr>
              <a:lnSpc>
                <a:spcPct val="155000"/>
              </a:lnSpc>
            </a:pPr>
            <a:r>
              <a:rPr lang="en-US" sz="1500" i="1" dirty="0">
                <a:solidFill>
                  <a:srgbClr val="1A1A2E"/>
                </a:solidFill>
                <a:latin typeface="QuattrocentoSans" pitchFamily="34" charset="0"/>
                <a:ea typeface="QuattrocentoSans" pitchFamily="34" charset="-122"/>
                <a:cs typeface="QuattrocentoSans" pitchFamily="34" charset="-120"/>
              </a:rPr>
              <a:t>who</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is asking </a:t>
            </a:r>
            <a:pPr>
              <a:lnSpc>
                <a:spcPct val="155000"/>
              </a:lnSpc>
            </a:pPr>
            <a:r>
              <a:rPr lang="en-US" sz="1500" i="1" dirty="0">
                <a:solidFill>
                  <a:srgbClr val="1A1A2E"/>
                </a:solidFill>
                <a:latin typeface="QuattrocentoSans" pitchFamily="34" charset="0"/>
                <a:ea typeface="QuattrocentoSans" pitchFamily="34" charset="-122"/>
                <a:cs typeface="QuattrocentoSans" pitchFamily="34" charset="-120"/>
              </a:rPr>
              <a:t>what</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question — and selecting the appropriate tools to answer it.</a:t>
            </a:r>
            <a:endParaRPr lang="en-US" sz="1800" dirty="0"/>
          </a:p>
        </p:txBody>
      </p:sp>
      <p:sp>
        <p:nvSpPr>
          <p:cNvPr id="14" name="Text 12"/>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5</a:t>
            </a:r>
            <a:endParaRPr lang="en-US" sz="12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Three core financial statements provide the foundation for all analysis</a:t>
            </a:r>
            <a:endParaRPr lang="en-US" sz="2800" dirty="0"/>
          </a:p>
        </p:txBody>
      </p:sp>
      <p:sp>
        <p:nvSpPr>
          <p:cNvPr id="3" name="Shape 1"/>
          <p:cNvSpPr/>
          <p:nvPr/>
        </p:nvSpPr>
        <p:spPr>
          <a:xfrm>
            <a:off x="762000" y="1168400"/>
            <a:ext cx="14732000" cy="12700"/>
          </a:xfrm>
          <a:prstGeom prst="rect">
            <a:avLst/>
          </a:prstGeom>
          <a:solidFill>
            <a:srgbClr val="D1CFC9"/>
          </a:solidFill>
          <a:ln/>
        </p:spPr>
      </p:sp>
      <p:sp>
        <p:nvSpPr>
          <p:cNvPr id="4" name="Shape 2"/>
          <p:cNvSpPr/>
          <p:nvPr/>
        </p:nvSpPr>
        <p:spPr>
          <a:xfrm>
            <a:off x="762000" y="1371600"/>
            <a:ext cx="4572000" cy="457200"/>
          </a:xfrm>
          <a:prstGeom prst="rect">
            <a:avLst/>
          </a:prstGeom>
          <a:solidFill>
            <a:srgbClr val="1B4332"/>
          </a:solidFill>
          <a:ln/>
        </p:spPr>
      </p:sp>
      <p:sp>
        <p:nvSpPr>
          <p:cNvPr id="5" name="Text 3"/>
          <p:cNvSpPr/>
          <p:nvPr/>
        </p:nvSpPr>
        <p:spPr>
          <a:xfrm>
            <a:off x="762000" y="1371600"/>
            <a:ext cx="45720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Oranienbaum" pitchFamily="34" charset="0"/>
                <a:ea typeface="Oranienbaum" pitchFamily="34" charset="-122"/>
                <a:cs typeface="Oranienbaum" pitchFamily="34" charset="-120"/>
              </a:rPr>
              <a:t>Balance Sheet</a:t>
            </a:r>
            <a:endParaRPr lang="en-US" sz="1600" dirty="0"/>
          </a:p>
        </p:txBody>
      </p:sp>
      <p:sp>
        <p:nvSpPr>
          <p:cNvPr id="6" name="Text 4"/>
          <p:cNvSpPr/>
          <p:nvPr/>
        </p:nvSpPr>
        <p:spPr>
          <a:xfrm>
            <a:off x="762000" y="1968500"/>
            <a:ext cx="4572000" cy="28575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Provides a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snapshot</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of assets, liabilities, and equity at a point in time.</a:t>
            </a:r>
            <a:endParaRPr lang="en-US" sz="1800" dirty="0"/>
          </a:p>
          <a:p>
            <a:pPr>
              <a:lnSpc>
                <a:spcPct val="155000"/>
              </a:lnSpc>
              <a:spcBef>
                <a:spcPts val="800"/>
              </a:spcBef>
            </a:pPr>
            <a:r>
              <a:rPr lang="en-US" sz="1500" b="1" dirty="0">
                <a:solidFill>
                  <a:srgbClr val="1A1A2E"/>
                </a:solidFill>
                <a:latin typeface="QuattrocentoSans" pitchFamily="34" charset="0"/>
                <a:ea typeface="QuattrocentoSans" pitchFamily="34" charset="-122"/>
                <a:cs typeface="QuattrocentoSans" pitchFamily="34" charset="-120"/>
              </a:rPr>
              <a:t>Key uses: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Liquidity ratio calculations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Leverage and solvency analysis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Asset composition evaluation</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Capital structure assessment</a:t>
            </a:r>
            <a:endParaRPr lang="en-US" sz="1800" dirty="0"/>
          </a:p>
        </p:txBody>
      </p:sp>
      <p:sp>
        <p:nvSpPr>
          <p:cNvPr id="7" name="Shape 5"/>
          <p:cNvSpPr/>
          <p:nvPr/>
        </p:nvSpPr>
        <p:spPr>
          <a:xfrm>
            <a:off x="5588000" y="1371600"/>
            <a:ext cx="4572000" cy="457200"/>
          </a:xfrm>
          <a:prstGeom prst="rect">
            <a:avLst/>
          </a:prstGeom>
          <a:solidFill>
            <a:srgbClr val="1B4332"/>
          </a:solidFill>
          <a:ln/>
        </p:spPr>
      </p:sp>
      <p:sp>
        <p:nvSpPr>
          <p:cNvPr id="8" name="Text 6"/>
          <p:cNvSpPr/>
          <p:nvPr/>
        </p:nvSpPr>
        <p:spPr>
          <a:xfrm>
            <a:off x="5588000" y="1371600"/>
            <a:ext cx="45720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Oranienbaum" pitchFamily="34" charset="0"/>
                <a:ea typeface="Oranienbaum" pitchFamily="34" charset="-122"/>
                <a:cs typeface="Oranienbaum" pitchFamily="34" charset="-120"/>
              </a:rPr>
              <a:t>Income Statement</a:t>
            </a:r>
            <a:endParaRPr lang="en-US" sz="1600" dirty="0"/>
          </a:p>
        </p:txBody>
      </p:sp>
      <p:sp>
        <p:nvSpPr>
          <p:cNvPr id="9" name="Text 7"/>
          <p:cNvSpPr/>
          <p:nvPr/>
        </p:nvSpPr>
        <p:spPr>
          <a:xfrm>
            <a:off x="5588000" y="1968500"/>
            <a:ext cx="4572000" cy="28575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Reports revenue, costs, and profits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over a period</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of time.</a:t>
            </a:r>
            <a:endParaRPr lang="en-US" sz="1800" dirty="0"/>
          </a:p>
          <a:p>
            <a:pPr>
              <a:lnSpc>
                <a:spcPct val="155000"/>
              </a:lnSpc>
              <a:spcBef>
                <a:spcPts val="800"/>
              </a:spcBef>
            </a:pPr>
            <a:r>
              <a:rPr lang="en-US" sz="1500" b="1" dirty="0">
                <a:solidFill>
                  <a:srgbClr val="1A1A2E"/>
                </a:solidFill>
                <a:latin typeface="QuattrocentoSans" pitchFamily="34" charset="0"/>
                <a:ea typeface="QuattrocentoSans" pitchFamily="34" charset="-122"/>
                <a:cs typeface="QuattrocentoSans" pitchFamily="34" charset="-120"/>
              </a:rPr>
              <a:t>Key uses: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Profitability ratio calculations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Margin analysis (gross, operating, net)</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Revenue trend evaluation</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Cost structure assessment</a:t>
            </a:r>
            <a:endParaRPr lang="en-US" sz="1800" dirty="0"/>
          </a:p>
        </p:txBody>
      </p:sp>
      <p:sp>
        <p:nvSpPr>
          <p:cNvPr id="10" name="Shape 8"/>
          <p:cNvSpPr/>
          <p:nvPr/>
        </p:nvSpPr>
        <p:spPr>
          <a:xfrm>
            <a:off x="10414000" y="1371600"/>
            <a:ext cx="5080000" cy="457200"/>
          </a:xfrm>
          <a:prstGeom prst="rect">
            <a:avLst/>
          </a:prstGeom>
          <a:solidFill>
            <a:srgbClr val="1B4332"/>
          </a:solidFill>
          <a:ln/>
        </p:spPr>
      </p:sp>
      <p:sp>
        <p:nvSpPr>
          <p:cNvPr id="11" name="Text 9"/>
          <p:cNvSpPr/>
          <p:nvPr/>
        </p:nvSpPr>
        <p:spPr>
          <a:xfrm>
            <a:off x="10414000" y="1371600"/>
            <a:ext cx="50800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Oranienbaum" pitchFamily="34" charset="0"/>
                <a:ea typeface="Oranienbaum" pitchFamily="34" charset="-122"/>
                <a:cs typeface="Oranienbaum" pitchFamily="34" charset="-120"/>
              </a:rPr>
              <a:t>Cash Flow Statement</a:t>
            </a:r>
            <a:endParaRPr lang="en-US" sz="1600" dirty="0"/>
          </a:p>
        </p:txBody>
      </p:sp>
      <p:sp>
        <p:nvSpPr>
          <p:cNvPr id="12" name="Text 10"/>
          <p:cNvSpPr/>
          <p:nvPr/>
        </p:nvSpPr>
        <p:spPr>
          <a:xfrm>
            <a:off x="10414000" y="1968500"/>
            <a:ext cx="5080000" cy="28575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Tracks actual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cash movements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through operating, investing, and financing activities.</a:t>
            </a:r>
            <a:endParaRPr lang="en-US" sz="1800" dirty="0"/>
          </a:p>
          <a:p>
            <a:pPr>
              <a:lnSpc>
                <a:spcPct val="155000"/>
              </a:lnSpc>
              <a:spcBef>
                <a:spcPts val="800"/>
              </a:spcBef>
            </a:pPr>
            <a:r>
              <a:rPr lang="en-US" sz="1500" b="1" dirty="0">
                <a:solidFill>
                  <a:srgbClr val="1A1A2E"/>
                </a:solidFill>
                <a:latin typeface="QuattrocentoSans" pitchFamily="34" charset="0"/>
                <a:ea typeface="QuattrocentoSans" pitchFamily="34" charset="-122"/>
                <a:cs typeface="QuattrocentoSans" pitchFamily="34" charset="-120"/>
              </a:rPr>
              <a:t>Key uses: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True liquidity assessment</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Debt coverage from cash flows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Operating cash flow quality</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Free cash flow analysis</a:t>
            </a:r>
            <a:endParaRPr lang="en-US" sz="1800" dirty="0"/>
          </a:p>
        </p:txBody>
      </p:sp>
      <p:sp>
        <p:nvSpPr>
          <p:cNvPr id="13" name="Shape 11"/>
          <p:cNvSpPr/>
          <p:nvPr/>
        </p:nvSpPr>
        <p:spPr>
          <a:xfrm>
            <a:off x="762000" y="5080000"/>
            <a:ext cx="14732000" cy="12700"/>
          </a:xfrm>
          <a:prstGeom prst="rect">
            <a:avLst/>
          </a:prstGeom>
          <a:solidFill>
            <a:srgbClr val="D1CFC9"/>
          </a:solidFill>
          <a:ln/>
        </p:spPr>
      </p:sp>
      <p:sp>
        <p:nvSpPr>
          <p:cNvPr id="14" name="Shape 12"/>
          <p:cNvSpPr/>
          <p:nvPr/>
        </p:nvSpPr>
        <p:spPr>
          <a:xfrm>
            <a:off x="762000" y="5334000"/>
            <a:ext cx="50800" cy="2667000"/>
          </a:xfrm>
          <a:prstGeom prst="rect">
            <a:avLst/>
          </a:prstGeom>
          <a:solidFill>
            <a:srgbClr val="B8860B"/>
          </a:solidFill>
          <a:ln/>
        </p:spPr>
      </p:sp>
      <p:sp>
        <p:nvSpPr>
          <p:cNvPr id="15" name="Text 13"/>
          <p:cNvSpPr/>
          <p:nvPr/>
        </p:nvSpPr>
        <p:spPr>
          <a:xfrm>
            <a:off x="1016000" y="5334000"/>
            <a:ext cx="508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Complementary Perspectives</a:t>
            </a:r>
            <a:endParaRPr lang="en-US" sz="1600" dirty="0"/>
          </a:p>
        </p:txBody>
      </p:sp>
      <p:sp>
        <p:nvSpPr>
          <p:cNvPr id="16" name="Text 14"/>
          <p:cNvSpPr/>
          <p:nvPr/>
        </p:nvSpPr>
        <p:spPr>
          <a:xfrm>
            <a:off x="1016000" y="5740400"/>
            <a:ext cx="14224000" cy="22606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Together, these three statements offer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complementary but distinct</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perspectives on firm performance:</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The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Balance Sheet</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shows </a:t>
            </a:r>
            <a:pPr>
              <a:lnSpc>
                <a:spcPct val="155000"/>
              </a:lnSpc>
              <a:spcBef>
                <a:spcPts val="600"/>
              </a:spcBef>
            </a:pPr>
            <a:r>
              <a:rPr lang="en-US" sz="1500" i="1" dirty="0">
                <a:solidFill>
                  <a:srgbClr val="1A1A2E"/>
                </a:solidFill>
                <a:latin typeface="QuattrocentoSans" pitchFamily="34" charset="0"/>
                <a:ea typeface="QuattrocentoSans" pitchFamily="34" charset="-122"/>
                <a:cs typeface="QuattrocentoSans" pitchFamily="34" charset="-120"/>
              </a:rPr>
              <a:t>position</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 what the company owns and owes at a given moment</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The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Income Statement</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shows </a:t>
            </a:r>
            <a:pPr>
              <a:lnSpc>
                <a:spcPct val="155000"/>
              </a:lnSpc>
            </a:pPr>
            <a:r>
              <a:rPr lang="en-US" sz="1500" i="1" dirty="0">
                <a:solidFill>
                  <a:srgbClr val="1A1A2E"/>
                </a:solidFill>
                <a:latin typeface="QuattrocentoSans" pitchFamily="34" charset="0"/>
                <a:ea typeface="QuattrocentoSans" pitchFamily="34" charset="-122"/>
                <a:cs typeface="QuattrocentoSans" pitchFamily="34" charset="-120"/>
              </a:rPr>
              <a:t>performance</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 how profitably operations were conducted over time</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The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Cash Flow Statement</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shows </a:t>
            </a:r>
            <a:pPr>
              <a:lnSpc>
                <a:spcPct val="155000"/>
              </a:lnSpc>
            </a:pPr>
            <a:r>
              <a:rPr lang="en-US" sz="1500" i="1" dirty="0">
                <a:solidFill>
                  <a:srgbClr val="1A1A2E"/>
                </a:solidFill>
                <a:latin typeface="QuattrocentoSans" pitchFamily="34" charset="0"/>
                <a:ea typeface="QuattrocentoSans" pitchFamily="34" charset="-122"/>
                <a:cs typeface="QuattrocentoSans" pitchFamily="34" charset="-120"/>
              </a:rPr>
              <a:t>cash reality</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 the actual movement of cash, which may differ significantly from reported earnings</a:t>
            </a:r>
            <a:endParaRPr lang="en-US" sz="1800" dirty="0"/>
          </a:p>
          <a:p>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Effective analysis requires cross-referencing all three statements</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rather than relying on any single source. A company can show strong net income while experiencing cash shortages — or vice versa.</a:t>
            </a:r>
            <a:endParaRPr lang="en-US" sz="1800" dirty="0"/>
          </a:p>
        </p:txBody>
      </p:sp>
      <p:sp>
        <p:nvSpPr>
          <p:cNvPr id="17" name="Text 15"/>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6</a:t>
            </a:r>
            <a:endParaRPr lang="en-US" sz="12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A structured framework ensures comprehensive and consistent analysis</a:t>
            </a:r>
            <a:endParaRPr lang="en-US" sz="2800" dirty="0"/>
          </a:p>
        </p:txBody>
      </p:sp>
      <p:sp>
        <p:nvSpPr>
          <p:cNvPr id="3" name="Shape 1"/>
          <p:cNvSpPr/>
          <p:nvPr/>
        </p:nvSpPr>
        <p:spPr>
          <a:xfrm>
            <a:off x="762000" y="1168400"/>
            <a:ext cx="14732000" cy="12700"/>
          </a:xfrm>
          <a:prstGeom prst="rect">
            <a:avLst/>
          </a:prstGeom>
          <a:solidFill>
            <a:srgbClr val="D1CFC9"/>
          </a:solidFill>
          <a:ln/>
        </p:spPr>
      </p:sp>
      <p:sp>
        <p:nvSpPr>
          <p:cNvPr id="4" name="Shape 2"/>
          <p:cNvSpPr/>
          <p:nvPr/>
        </p:nvSpPr>
        <p:spPr>
          <a:xfrm>
            <a:off x="762000" y="1422400"/>
            <a:ext cx="457200" cy="457200"/>
          </a:xfrm>
          <a:prstGeom prst="ellipse">
            <a:avLst/>
          </a:prstGeom>
          <a:solidFill>
            <a:srgbClr val="1B4332"/>
          </a:solidFill>
          <a:ln/>
        </p:spPr>
      </p:sp>
      <p:sp>
        <p:nvSpPr>
          <p:cNvPr id="5" name="Text 3"/>
          <p:cNvSpPr/>
          <p:nvPr/>
        </p:nvSpPr>
        <p:spPr>
          <a:xfrm>
            <a:off x="762000" y="14224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Oranienbaum" pitchFamily="34" charset="0"/>
                <a:ea typeface="Oranienbaum" pitchFamily="34" charset="-122"/>
                <a:cs typeface="Oranienbaum" pitchFamily="34" charset="-120"/>
              </a:rPr>
              <a:t>1</a:t>
            </a:r>
            <a:endParaRPr lang="en-US" sz="1600" dirty="0"/>
          </a:p>
        </p:txBody>
      </p:sp>
      <p:sp>
        <p:nvSpPr>
          <p:cNvPr id="6" name="Text 4"/>
          <p:cNvSpPr/>
          <p:nvPr/>
        </p:nvSpPr>
        <p:spPr>
          <a:xfrm>
            <a:off x="1371600" y="1422400"/>
            <a:ext cx="3175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Define Objectives</a:t>
            </a:r>
            <a:endParaRPr lang="en-US" sz="1600" dirty="0"/>
          </a:p>
        </p:txBody>
      </p:sp>
      <p:sp>
        <p:nvSpPr>
          <p:cNvPr id="7" name="Text 5"/>
          <p:cNvSpPr/>
          <p:nvPr/>
        </p:nvSpPr>
        <p:spPr>
          <a:xfrm>
            <a:off x="1371600" y="1778000"/>
            <a:ext cx="6096000" cy="609600"/>
          </a:xfrm>
          <a:prstGeom prst="rect">
            <a:avLst/>
          </a:prstGeom>
          <a:noFill/>
          <a:ln/>
        </p:spPr>
        <p:txBody>
          <a:bodyPr wrap="square" lIns="0" tIns="0" rIns="0" bIns="0" rtlCol="0" anchor="ctr"/>
          <a:lstStyle/>
          <a:p>
            <a:pPr>
              <a:lnSpc>
                <a:spcPct val="150000"/>
              </a:lnSpc>
            </a:pPr>
            <a:r>
              <a:rPr lang="en-US" sz="1400" dirty="0">
                <a:solidFill>
                  <a:srgbClr val="1A1A2E"/>
                </a:solidFill>
                <a:latin typeface="QuattrocentoSans" pitchFamily="34" charset="0"/>
                <a:ea typeface="QuattrocentoSans" pitchFamily="34" charset="-122"/>
                <a:cs typeface="QuattrocentoSans" pitchFamily="34" charset="-120"/>
              </a:rPr>
              <a:t>Clarify the purpose and specific questions to answer through analysis.</a:t>
            </a:r>
            <a:endParaRPr lang="en-US" sz="1800" dirty="0"/>
          </a:p>
        </p:txBody>
      </p:sp>
      <p:sp>
        <p:nvSpPr>
          <p:cNvPr id="8" name="Shape 6"/>
          <p:cNvSpPr/>
          <p:nvPr/>
        </p:nvSpPr>
        <p:spPr>
          <a:xfrm>
            <a:off x="762000" y="2540000"/>
            <a:ext cx="457200" cy="457200"/>
          </a:xfrm>
          <a:prstGeom prst="ellipse">
            <a:avLst/>
          </a:prstGeom>
          <a:solidFill>
            <a:srgbClr val="1B4332"/>
          </a:solidFill>
          <a:ln/>
        </p:spPr>
      </p:sp>
      <p:sp>
        <p:nvSpPr>
          <p:cNvPr id="9" name="Text 7"/>
          <p:cNvSpPr/>
          <p:nvPr/>
        </p:nvSpPr>
        <p:spPr>
          <a:xfrm>
            <a:off x="762000" y="25400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Oranienbaum" pitchFamily="34" charset="0"/>
                <a:ea typeface="Oranienbaum" pitchFamily="34" charset="-122"/>
                <a:cs typeface="Oranienbaum" pitchFamily="34" charset="-120"/>
              </a:rPr>
              <a:t>2</a:t>
            </a:r>
            <a:endParaRPr lang="en-US" sz="1600" dirty="0"/>
          </a:p>
        </p:txBody>
      </p:sp>
      <p:sp>
        <p:nvSpPr>
          <p:cNvPr id="10" name="Text 8"/>
          <p:cNvSpPr/>
          <p:nvPr/>
        </p:nvSpPr>
        <p:spPr>
          <a:xfrm>
            <a:off x="1371600" y="2540000"/>
            <a:ext cx="3175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Gather Data</a:t>
            </a:r>
            <a:endParaRPr lang="en-US" sz="1600" dirty="0"/>
          </a:p>
        </p:txBody>
      </p:sp>
      <p:sp>
        <p:nvSpPr>
          <p:cNvPr id="11" name="Text 9"/>
          <p:cNvSpPr/>
          <p:nvPr/>
        </p:nvSpPr>
        <p:spPr>
          <a:xfrm>
            <a:off x="1371600" y="2895600"/>
            <a:ext cx="6096000" cy="609600"/>
          </a:xfrm>
          <a:prstGeom prst="rect">
            <a:avLst/>
          </a:prstGeom>
          <a:noFill/>
          <a:ln/>
        </p:spPr>
        <p:txBody>
          <a:bodyPr wrap="square" lIns="0" tIns="0" rIns="0" bIns="0" rtlCol="0" anchor="ctr"/>
          <a:lstStyle/>
          <a:p>
            <a:pPr>
              <a:lnSpc>
                <a:spcPct val="150000"/>
              </a:lnSpc>
            </a:pPr>
            <a:r>
              <a:rPr lang="en-US" sz="1400" dirty="0">
                <a:solidFill>
                  <a:srgbClr val="1A1A2E"/>
                </a:solidFill>
                <a:latin typeface="QuattrocentoSans" pitchFamily="34" charset="0"/>
                <a:ea typeface="QuattrocentoSans" pitchFamily="34" charset="-122"/>
                <a:cs typeface="QuattrocentoSans" pitchFamily="34" charset="-120"/>
              </a:rPr>
              <a:t>Collect financial statements, industry data, and macroeconomic indicators.</a:t>
            </a:r>
            <a:endParaRPr lang="en-US" sz="1800" dirty="0"/>
          </a:p>
        </p:txBody>
      </p:sp>
      <p:sp>
        <p:nvSpPr>
          <p:cNvPr id="12" name="Shape 10"/>
          <p:cNvSpPr/>
          <p:nvPr/>
        </p:nvSpPr>
        <p:spPr>
          <a:xfrm>
            <a:off x="762000" y="3657600"/>
            <a:ext cx="457200" cy="457200"/>
          </a:xfrm>
          <a:prstGeom prst="ellipse">
            <a:avLst/>
          </a:prstGeom>
          <a:solidFill>
            <a:srgbClr val="1B4332"/>
          </a:solidFill>
          <a:ln/>
        </p:spPr>
      </p:sp>
      <p:sp>
        <p:nvSpPr>
          <p:cNvPr id="13" name="Text 11"/>
          <p:cNvSpPr/>
          <p:nvPr/>
        </p:nvSpPr>
        <p:spPr>
          <a:xfrm>
            <a:off x="762000" y="36576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Oranienbaum" pitchFamily="34" charset="0"/>
                <a:ea typeface="Oranienbaum" pitchFamily="34" charset="-122"/>
                <a:cs typeface="Oranienbaum" pitchFamily="34" charset="-120"/>
              </a:rPr>
              <a:t>3</a:t>
            </a:r>
            <a:endParaRPr lang="en-US" sz="1600" dirty="0"/>
          </a:p>
        </p:txBody>
      </p:sp>
      <p:sp>
        <p:nvSpPr>
          <p:cNvPr id="14" name="Text 12"/>
          <p:cNvSpPr/>
          <p:nvPr/>
        </p:nvSpPr>
        <p:spPr>
          <a:xfrm>
            <a:off x="1371600" y="3657600"/>
            <a:ext cx="3175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Select Methods</a:t>
            </a:r>
            <a:endParaRPr lang="en-US" sz="1600" dirty="0"/>
          </a:p>
        </p:txBody>
      </p:sp>
      <p:sp>
        <p:nvSpPr>
          <p:cNvPr id="15" name="Text 13"/>
          <p:cNvSpPr/>
          <p:nvPr/>
        </p:nvSpPr>
        <p:spPr>
          <a:xfrm>
            <a:off x="1371600" y="4013200"/>
            <a:ext cx="6096000" cy="685800"/>
          </a:xfrm>
          <a:prstGeom prst="rect">
            <a:avLst/>
          </a:prstGeom>
          <a:noFill/>
          <a:ln/>
        </p:spPr>
        <p:txBody>
          <a:bodyPr wrap="square" lIns="0" tIns="0" rIns="0" bIns="0" rtlCol="0" anchor="ctr"/>
          <a:lstStyle/>
          <a:p>
            <a:pPr>
              <a:lnSpc>
                <a:spcPct val="150000"/>
              </a:lnSpc>
            </a:pPr>
            <a:r>
              <a:rPr lang="en-US" sz="1400" dirty="0">
                <a:solidFill>
                  <a:srgbClr val="1A1A2E"/>
                </a:solidFill>
                <a:latin typeface="QuattrocentoSans" pitchFamily="34" charset="0"/>
                <a:ea typeface="QuattrocentoSans" pitchFamily="34" charset="-122"/>
                <a:cs typeface="QuattrocentoSans" pitchFamily="34" charset="-120"/>
              </a:rPr>
              <a:t>Choose appropriate tools — ratio analysis, trend analysis, common-size analysis.</a:t>
            </a:r>
            <a:endParaRPr lang="en-US" sz="1800" dirty="0"/>
          </a:p>
        </p:txBody>
      </p:sp>
      <p:sp>
        <p:nvSpPr>
          <p:cNvPr id="16" name="Shape 14"/>
          <p:cNvSpPr/>
          <p:nvPr/>
        </p:nvSpPr>
        <p:spPr>
          <a:xfrm>
            <a:off x="8382000" y="1422400"/>
            <a:ext cx="457200" cy="457200"/>
          </a:xfrm>
          <a:prstGeom prst="ellipse">
            <a:avLst/>
          </a:prstGeom>
          <a:solidFill>
            <a:srgbClr val="1B4332"/>
          </a:solidFill>
          <a:ln/>
        </p:spPr>
      </p:sp>
      <p:sp>
        <p:nvSpPr>
          <p:cNvPr id="17" name="Text 15"/>
          <p:cNvSpPr/>
          <p:nvPr/>
        </p:nvSpPr>
        <p:spPr>
          <a:xfrm>
            <a:off x="8382000" y="14224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Oranienbaum" pitchFamily="34" charset="0"/>
                <a:ea typeface="Oranienbaum" pitchFamily="34" charset="-122"/>
                <a:cs typeface="Oranienbaum" pitchFamily="34" charset="-120"/>
              </a:rPr>
              <a:t>4</a:t>
            </a:r>
            <a:endParaRPr lang="en-US" sz="1600" dirty="0"/>
          </a:p>
        </p:txBody>
      </p:sp>
      <p:sp>
        <p:nvSpPr>
          <p:cNvPr id="18" name="Text 16"/>
          <p:cNvSpPr/>
          <p:nvPr/>
        </p:nvSpPr>
        <p:spPr>
          <a:xfrm>
            <a:off x="8991600" y="1422400"/>
            <a:ext cx="381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Calculate and Compare</a:t>
            </a:r>
            <a:endParaRPr lang="en-US" sz="1600" dirty="0"/>
          </a:p>
        </p:txBody>
      </p:sp>
      <p:sp>
        <p:nvSpPr>
          <p:cNvPr id="19" name="Text 17"/>
          <p:cNvSpPr/>
          <p:nvPr/>
        </p:nvSpPr>
        <p:spPr>
          <a:xfrm>
            <a:off x="8991600" y="1778000"/>
            <a:ext cx="6350000" cy="609600"/>
          </a:xfrm>
          <a:prstGeom prst="rect">
            <a:avLst/>
          </a:prstGeom>
          <a:noFill/>
          <a:ln/>
        </p:spPr>
        <p:txBody>
          <a:bodyPr wrap="square" lIns="0" tIns="0" rIns="0" bIns="0" rtlCol="0" anchor="ctr"/>
          <a:lstStyle/>
          <a:p>
            <a:pPr>
              <a:lnSpc>
                <a:spcPct val="150000"/>
              </a:lnSpc>
            </a:pPr>
            <a:r>
              <a:rPr lang="en-US" sz="1400" dirty="0">
                <a:solidFill>
                  <a:srgbClr val="1A1A2E"/>
                </a:solidFill>
                <a:latin typeface="QuattrocentoSans" pitchFamily="34" charset="0"/>
                <a:ea typeface="QuattrocentoSans" pitchFamily="34" charset="-122"/>
                <a:cs typeface="QuattrocentoSans" pitchFamily="34" charset="-120"/>
              </a:rPr>
              <a:t>Compute ratios and benchmark against peers, industry averages, and history.</a:t>
            </a:r>
            <a:endParaRPr lang="en-US" sz="1800" dirty="0"/>
          </a:p>
        </p:txBody>
      </p:sp>
      <p:sp>
        <p:nvSpPr>
          <p:cNvPr id="20" name="Shape 18"/>
          <p:cNvSpPr/>
          <p:nvPr/>
        </p:nvSpPr>
        <p:spPr>
          <a:xfrm>
            <a:off x="8382000" y="2540000"/>
            <a:ext cx="457200" cy="457200"/>
          </a:xfrm>
          <a:prstGeom prst="ellipse">
            <a:avLst/>
          </a:prstGeom>
          <a:solidFill>
            <a:srgbClr val="1B4332"/>
          </a:solidFill>
          <a:ln/>
        </p:spPr>
      </p:sp>
      <p:sp>
        <p:nvSpPr>
          <p:cNvPr id="21" name="Text 19"/>
          <p:cNvSpPr/>
          <p:nvPr/>
        </p:nvSpPr>
        <p:spPr>
          <a:xfrm>
            <a:off x="8382000" y="25400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Oranienbaum" pitchFamily="34" charset="0"/>
                <a:ea typeface="Oranienbaum" pitchFamily="34" charset="-122"/>
                <a:cs typeface="Oranienbaum" pitchFamily="34" charset="-120"/>
              </a:rPr>
              <a:t>5</a:t>
            </a:r>
            <a:endParaRPr lang="en-US" sz="1600" dirty="0"/>
          </a:p>
        </p:txBody>
      </p:sp>
      <p:sp>
        <p:nvSpPr>
          <p:cNvPr id="22" name="Text 20"/>
          <p:cNvSpPr/>
          <p:nvPr/>
        </p:nvSpPr>
        <p:spPr>
          <a:xfrm>
            <a:off x="8991600" y="2540000"/>
            <a:ext cx="381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Interpret Results</a:t>
            </a:r>
            <a:endParaRPr lang="en-US" sz="1600" dirty="0"/>
          </a:p>
        </p:txBody>
      </p:sp>
      <p:sp>
        <p:nvSpPr>
          <p:cNvPr id="23" name="Text 21"/>
          <p:cNvSpPr/>
          <p:nvPr/>
        </p:nvSpPr>
        <p:spPr>
          <a:xfrm>
            <a:off x="8991600" y="2895600"/>
            <a:ext cx="6350000" cy="609600"/>
          </a:xfrm>
          <a:prstGeom prst="rect">
            <a:avLst/>
          </a:prstGeom>
          <a:noFill/>
          <a:ln/>
        </p:spPr>
        <p:txBody>
          <a:bodyPr wrap="square" lIns="0" tIns="0" rIns="0" bIns="0" rtlCol="0" anchor="ctr"/>
          <a:lstStyle/>
          <a:p>
            <a:pPr>
              <a:lnSpc>
                <a:spcPct val="150000"/>
              </a:lnSpc>
            </a:pPr>
            <a:r>
              <a:rPr lang="en-US" sz="1400" dirty="0">
                <a:solidFill>
                  <a:srgbClr val="1A1A2E"/>
                </a:solidFill>
                <a:latin typeface="QuattrocentoSans" pitchFamily="34" charset="0"/>
                <a:ea typeface="QuattrocentoSans" pitchFamily="34" charset="-122"/>
                <a:cs typeface="QuattrocentoSans" pitchFamily="34" charset="-120"/>
              </a:rPr>
              <a:t>Draw conclusions about strengths, weaknesses, and areas of concern.</a:t>
            </a:r>
            <a:endParaRPr lang="en-US" sz="1800" dirty="0"/>
          </a:p>
        </p:txBody>
      </p:sp>
      <p:sp>
        <p:nvSpPr>
          <p:cNvPr id="24" name="Shape 22"/>
          <p:cNvSpPr/>
          <p:nvPr/>
        </p:nvSpPr>
        <p:spPr>
          <a:xfrm>
            <a:off x="8382000" y="3657600"/>
            <a:ext cx="457200" cy="457200"/>
          </a:xfrm>
          <a:prstGeom prst="ellipse">
            <a:avLst/>
          </a:prstGeom>
          <a:solidFill>
            <a:srgbClr val="1B4332"/>
          </a:solidFill>
          <a:ln/>
        </p:spPr>
      </p:sp>
      <p:sp>
        <p:nvSpPr>
          <p:cNvPr id="25" name="Text 23"/>
          <p:cNvSpPr/>
          <p:nvPr/>
        </p:nvSpPr>
        <p:spPr>
          <a:xfrm>
            <a:off x="8382000" y="3657600"/>
            <a:ext cx="457200" cy="457200"/>
          </a:xfrm>
          <a:prstGeom prst="rect">
            <a:avLst/>
          </a:prstGeom>
          <a:noFill/>
          <a:ln/>
        </p:spPr>
        <p:txBody>
          <a:bodyPr wrap="none" lIns="0" tIns="0" rIns="0" bIns="0" rtlCol="0" anchor="ctr"/>
          <a:lstStyle/>
          <a:p>
            <a:pPr algn="ctr">
              <a:lnSpc>
                <a:spcPct val="100000"/>
              </a:lnSpc>
            </a:pPr>
            <a:r>
              <a:rPr lang="en-US" sz="1600" dirty="0">
                <a:solidFill>
                  <a:srgbClr val="FFFFFF"/>
                </a:solidFill>
                <a:latin typeface="Oranienbaum" pitchFamily="34" charset="0"/>
                <a:ea typeface="Oranienbaum" pitchFamily="34" charset="-122"/>
                <a:cs typeface="Oranienbaum" pitchFamily="34" charset="-120"/>
              </a:rPr>
              <a:t>6</a:t>
            </a:r>
            <a:endParaRPr lang="en-US" sz="1600" dirty="0"/>
          </a:p>
        </p:txBody>
      </p:sp>
      <p:sp>
        <p:nvSpPr>
          <p:cNvPr id="26" name="Text 24"/>
          <p:cNvSpPr/>
          <p:nvPr/>
        </p:nvSpPr>
        <p:spPr>
          <a:xfrm>
            <a:off x="8991600" y="3657600"/>
            <a:ext cx="381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Formulate Recommendations</a:t>
            </a:r>
            <a:endParaRPr lang="en-US" sz="1600" dirty="0"/>
          </a:p>
        </p:txBody>
      </p:sp>
      <p:sp>
        <p:nvSpPr>
          <p:cNvPr id="27" name="Text 25"/>
          <p:cNvSpPr/>
          <p:nvPr/>
        </p:nvSpPr>
        <p:spPr>
          <a:xfrm>
            <a:off x="8991600" y="4013200"/>
            <a:ext cx="6350000" cy="609600"/>
          </a:xfrm>
          <a:prstGeom prst="rect">
            <a:avLst/>
          </a:prstGeom>
          <a:noFill/>
          <a:ln/>
        </p:spPr>
        <p:txBody>
          <a:bodyPr wrap="square" lIns="0" tIns="0" rIns="0" bIns="0" rtlCol="0" anchor="ctr"/>
          <a:lstStyle/>
          <a:p>
            <a:pPr>
              <a:lnSpc>
                <a:spcPct val="150000"/>
              </a:lnSpc>
            </a:pPr>
            <a:r>
              <a:rPr lang="en-US" sz="1400" dirty="0">
                <a:solidFill>
                  <a:srgbClr val="1A1A2E"/>
                </a:solidFill>
                <a:latin typeface="QuattrocentoSans" pitchFamily="34" charset="0"/>
                <a:ea typeface="QuattrocentoSans" pitchFamily="34" charset="-122"/>
                <a:cs typeface="QuattrocentoSans" pitchFamily="34" charset="-120"/>
              </a:rPr>
              <a:t>Translate findings into actionable insights and strategic recommendations.</a:t>
            </a:r>
            <a:endParaRPr lang="en-US" sz="1800" dirty="0"/>
          </a:p>
        </p:txBody>
      </p:sp>
      <p:sp>
        <p:nvSpPr>
          <p:cNvPr id="28" name="Shape 26"/>
          <p:cNvSpPr/>
          <p:nvPr/>
        </p:nvSpPr>
        <p:spPr>
          <a:xfrm>
            <a:off x="762000" y="4889500"/>
            <a:ext cx="14732000" cy="12700"/>
          </a:xfrm>
          <a:prstGeom prst="rect">
            <a:avLst/>
          </a:prstGeom>
          <a:solidFill>
            <a:srgbClr val="D1CFC9"/>
          </a:solidFill>
          <a:ln/>
        </p:spPr>
      </p:sp>
      <p:sp>
        <p:nvSpPr>
          <p:cNvPr id="29" name="Text 27"/>
          <p:cNvSpPr/>
          <p:nvPr/>
        </p:nvSpPr>
        <p:spPr>
          <a:xfrm>
            <a:off x="762000" y="5080000"/>
            <a:ext cx="508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Framework Application</a:t>
            </a:r>
            <a:endParaRPr lang="en-US" sz="1600" dirty="0"/>
          </a:p>
        </p:txBody>
      </p:sp>
      <p:sp>
        <p:nvSpPr>
          <p:cNvPr id="30" name="Text 28"/>
          <p:cNvSpPr/>
          <p:nvPr/>
        </p:nvSpPr>
        <p:spPr>
          <a:xfrm>
            <a:off x="762000" y="5486400"/>
            <a:ext cx="14732000" cy="2540000"/>
          </a:xfrm>
          <a:prstGeom prst="rect">
            <a:avLst/>
          </a:prstGeom>
          <a:noFill/>
          <a:ln/>
        </p:spPr>
        <p:txBody>
          <a:bodyPr wrap="square" lIns="0" tIns="0" rIns="0" bIns="0" rtlCol="0" anchor="ctr"/>
          <a:lstStyle/>
          <a:p>
            <a:pPr>
              <a:lnSpc>
                <a:spcPct val="160000"/>
              </a:lnSpc>
            </a:pPr>
            <a:r>
              <a:rPr lang="en-US" sz="1500" dirty="0">
                <a:solidFill>
                  <a:srgbClr val="1A1A2E"/>
                </a:solidFill>
                <a:latin typeface="QuattrocentoSans" pitchFamily="34" charset="0"/>
                <a:ea typeface="QuattrocentoSans" pitchFamily="34" charset="-122"/>
                <a:cs typeface="QuattrocentoSans" pitchFamily="34" charset="-120"/>
              </a:rPr>
              <a:t>This six-step framework applies across industries and company sizes, though specific ratios and benchmarks vary significantly. For example:</a:t>
            </a:r>
            <a:endParaRPr lang="en-US" sz="1800" dirty="0"/>
          </a:p>
          <a:p>
            <a:pPr>
              <a:lnSpc>
                <a:spcPct val="160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A </a:t>
            </a:r>
            <a:pPr>
              <a:lnSpc>
                <a:spcPct val="160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community bank</a:t>
            </a:r>
            <a:pPr>
              <a:lnSpc>
                <a:spcPct val="160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analyst would prioritize capital adequacy ratios, net interest margin, and loan loss reserves</a:t>
            </a:r>
            <a:endParaRPr lang="en-US" sz="1800" dirty="0"/>
          </a:p>
          <a:p>
            <a:pPr>
              <a:lnSpc>
                <a:spcPct val="160000"/>
              </a:lnSpc>
            </a:pPr>
            <a:r>
              <a:rPr lang="en-US" sz="1500" dirty="0">
                <a:solidFill>
                  <a:srgbClr val="1A1A2E"/>
                </a:solidFill>
                <a:latin typeface="QuattrocentoSans" pitchFamily="34" charset="0"/>
                <a:ea typeface="QuattrocentoSans" pitchFamily="34" charset="-122"/>
                <a:cs typeface="QuattrocentoSans" pitchFamily="34" charset="-120"/>
              </a:rPr>
              <a:t>• A </a:t>
            </a:r>
            <a:pPr>
              <a:lnSpc>
                <a:spcPct val="160000"/>
              </a:lnSpc>
            </a:pPr>
            <a:r>
              <a:rPr lang="en-US" sz="1500" b="1" dirty="0">
                <a:solidFill>
                  <a:srgbClr val="1A1A2E"/>
                </a:solidFill>
                <a:latin typeface="QuattrocentoSans" pitchFamily="34" charset="0"/>
                <a:ea typeface="QuattrocentoSans" pitchFamily="34" charset="-122"/>
                <a:cs typeface="QuattrocentoSans" pitchFamily="34" charset="-120"/>
              </a:rPr>
              <a:t>technology startup</a:t>
            </a:r>
            <a:pPr>
              <a:lnSpc>
                <a:spcPct val="160000"/>
              </a:lnSpc>
            </a:pPr>
            <a:r>
              <a:rPr lang="en-US" sz="1500" dirty="0">
                <a:solidFill>
                  <a:srgbClr val="1A1A2E"/>
                </a:solidFill>
                <a:latin typeface="QuattrocentoSans" pitchFamily="34" charset="0"/>
                <a:ea typeface="QuattrocentoSans" pitchFamily="34" charset="-122"/>
                <a:cs typeface="QuattrocentoSans" pitchFamily="34" charset="-120"/>
              </a:rPr>
              <a:t> evaluator would focus on burn rate, runway, customer acquisition cost, and revenue growth</a:t>
            </a:r>
            <a:endParaRPr lang="en-US" sz="1800" dirty="0"/>
          </a:p>
          <a:p>
            <a:pPr>
              <a:lnSpc>
                <a:spcPct val="160000"/>
              </a:lnSpc>
            </a:pPr>
            <a:r>
              <a:rPr lang="en-US" sz="1500" dirty="0">
                <a:solidFill>
                  <a:srgbClr val="1A1A2E"/>
                </a:solidFill>
                <a:latin typeface="QuattrocentoSans" pitchFamily="34" charset="0"/>
                <a:ea typeface="QuattrocentoSans" pitchFamily="34" charset="-122"/>
                <a:cs typeface="QuattrocentoSans" pitchFamily="34" charset="-120"/>
              </a:rPr>
              <a:t>• A </a:t>
            </a:r>
            <a:pPr>
              <a:lnSpc>
                <a:spcPct val="160000"/>
              </a:lnSpc>
            </a:pPr>
            <a:r>
              <a:rPr lang="en-US" sz="1500" b="1" dirty="0">
                <a:solidFill>
                  <a:srgbClr val="1A1A2E"/>
                </a:solidFill>
                <a:latin typeface="QuattrocentoSans" pitchFamily="34" charset="0"/>
                <a:ea typeface="QuattrocentoSans" pitchFamily="34" charset="-122"/>
                <a:cs typeface="QuattrocentoSans" pitchFamily="34" charset="-120"/>
              </a:rPr>
              <a:t>manufacturing firm</a:t>
            </a:r>
            <a:pPr>
              <a:lnSpc>
                <a:spcPct val="160000"/>
              </a:lnSpc>
            </a:pPr>
            <a:r>
              <a:rPr lang="en-US" sz="1500" dirty="0">
                <a:solidFill>
                  <a:srgbClr val="1A1A2E"/>
                </a:solidFill>
                <a:latin typeface="QuattrocentoSans" pitchFamily="34" charset="0"/>
                <a:ea typeface="QuattrocentoSans" pitchFamily="34" charset="-122"/>
                <a:cs typeface="QuattrocentoSans" pitchFamily="34" charset="-120"/>
              </a:rPr>
              <a:t> assessment would emphasize inventory turnover, fixed asset utilization, and operating leverage</a:t>
            </a:r>
            <a:endParaRPr lang="en-US" sz="1800" dirty="0"/>
          </a:p>
          <a:p>
            <a:pPr>
              <a:lnSpc>
                <a:spcPct val="160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The framework's flexibility is its strength — the structure remains constant while the specific tools adapt to context.</a:t>
            </a:r>
            <a:endParaRPr lang="en-US" sz="1800" dirty="0"/>
          </a:p>
        </p:txBody>
      </p:sp>
      <p:sp>
        <p:nvSpPr>
          <p:cNvPr id="31" name="Text 29"/>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7</a:t>
            </a:r>
            <a:endParaRPr lang="en-US" sz="12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Trend and common-size analysis reveal patterns invisible in absolute numbers</a:t>
            </a:r>
            <a:endParaRPr lang="en-US" sz="2800" dirty="0"/>
          </a:p>
        </p:txBody>
      </p:sp>
      <p:sp>
        <p:nvSpPr>
          <p:cNvPr id="3" name="Shape 1"/>
          <p:cNvSpPr/>
          <p:nvPr/>
        </p:nvSpPr>
        <p:spPr>
          <a:xfrm>
            <a:off x="762000" y="1168400"/>
            <a:ext cx="14732000" cy="12700"/>
          </a:xfrm>
          <a:prstGeom prst="rect">
            <a:avLst/>
          </a:prstGeom>
          <a:solidFill>
            <a:srgbClr val="D1CFC9"/>
          </a:solidFill>
          <a:ln/>
        </p:spPr>
      </p:sp>
      <p:sp>
        <p:nvSpPr>
          <p:cNvPr id="4" name="Text 2"/>
          <p:cNvSpPr/>
          <p:nvPr/>
        </p:nvSpPr>
        <p:spPr>
          <a:xfrm>
            <a:off x="762000" y="1371600"/>
            <a:ext cx="381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Trend Analysis</a:t>
            </a:r>
            <a:endParaRPr lang="en-US" sz="1600" dirty="0"/>
          </a:p>
        </p:txBody>
      </p:sp>
      <p:sp>
        <p:nvSpPr>
          <p:cNvPr id="5" name="Shape 3"/>
          <p:cNvSpPr/>
          <p:nvPr/>
        </p:nvSpPr>
        <p:spPr>
          <a:xfrm>
            <a:off x="762000" y="1752600"/>
            <a:ext cx="6858000" cy="25400"/>
          </a:xfrm>
          <a:prstGeom prst="rect">
            <a:avLst/>
          </a:prstGeom>
          <a:solidFill>
            <a:srgbClr val="1B4332"/>
          </a:solidFill>
          <a:ln/>
        </p:spPr>
      </p:sp>
      <p:sp>
        <p:nvSpPr>
          <p:cNvPr id="6" name="Text 4"/>
          <p:cNvSpPr/>
          <p:nvPr/>
        </p:nvSpPr>
        <p:spPr>
          <a:xfrm>
            <a:off x="762000" y="1905000"/>
            <a:ext cx="6858000" cy="33020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Compares financial data across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multiple periods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to identify patterns, growth rates, and directional changes.</a:t>
            </a:r>
            <a:endParaRPr lang="en-US" sz="1800" dirty="0"/>
          </a:p>
          <a:p>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Horizontal analysis</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calculates percentage changes year-over-year, highlighting improvement or deterioration in specific line items.</a:t>
            </a:r>
            <a:endParaRPr lang="en-US" sz="1800" dirty="0"/>
          </a:p>
          <a:p>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Index analysis</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sets a base year equal to 100 and expresses subsequent years as index numbers, making long-term trends immediately visible.</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Essential for forecasting and detecting early warning signals before they become critical.</a:t>
            </a:r>
            <a:endParaRPr lang="en-US" sz="1800" dirty="0"/>
          </a:p>
        </p:txBody>
      </p:sp>
      <p:sp>
        <p:nvSpPr>
          <p:cNvPr id="7" name="Text 5"/>
          <p:cNvSpPr/>
          <p:nvPr/>
        </p:nvSpPr>
        <p:spPr>
          <a:xfrm>
            <a:off x="8382000" y="1371600"/>
            <a:ext cx="5080000" cy="330200"/>
          </a:xfrm>
          <a:prstGeom prst="rect">
            <a:avLst/>
          </a:prstGeom>
          <a:noFill/>
          <a:ln/>
        </p:spPr>
        <p:txBody>
          <a:bodyPr wrap="none" lIns="0" tIns="0" rIns="0" bIns="0" rtlCol="0" anchor="ctr"/>
          <a:lstStyle/>
          <a:p>
            <a:pPr>
              <a:lnSpc>
                <a:spcPct val="100000"/>
              </a:lnSpc>
            </a:pPr>
            <a:r>
              <a:rPr lang="en-US" sz="1600" dirty="0">
                <a:solidFill>
                  <a:srgbClr val="B8860B"/>
                </a:solidFill>
                <a:latin typeface="Oranienbaum" pitchFamily="34" charset="0"/>
                <a:ea typeface="Oranienbaum" pitchFamily="34" charset="-122"/>
                <a:cs typeface="Oranienbaum" pitchFamily="34" charset="-120"/>
              </a:rPr>
              <a:t>Common-Size Analysis</a:t>
            </a:r>
            <a:endParaRPr lang="en-US" sz="1600" dirty="0"/>
          </a:p>
        </p:txBody>
      </p:sp>
      <p:sp>
        <p:nvSpPr>
          <p:cNvPr id="8" name="Shape 6"/>
          <p:cNvSpPr/>
          <p:nvPr/>
        </p:nvSpPr>
        <p:spPr>
          <a:xfrm>
            <a:off x="8382000" y="1752600"/>
            <a:ext cx="7112000" cy="25400"/>
          </a:xfrm>
          <a:prstGeom prst="rect">
            <a:avLst/>
          </a:prstGeom>
          <a:solidFill>
            <a:srgbClr val="B8860B"/>
          </a:solidFill>
          <a:ln/>
        </p:spPr>
      </p:sp>
      <p:sp>
        <p:nvSpPr>
          <p:cNvPr id="9" name="Text 7"/>
          <p:cNvSpPr/>
          <p:nvPr/>
        </p:nvSpPr>
        <p:spPr>
          <a:xfrm>
            <a:off x="8382000" y="1905000"/>
            <a:ext cx="7112000" cy="33020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Expresses each financial statement item as a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percentage of a base figure</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Balance sheet:</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Each item / Total Assets × 100</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Income statement:</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Each item / Revenue × 100</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Enables comparison across companies of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different sizes</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and identifies structural changes in cost composition or asset allocation over time.</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Reveals whether a company's cost structure is becoming more or less efficient relative to revenue.</a:t>
            </a:r>
            <a:endParaRPr lang="en-US" sz="1800" dirty="0"/>
          </a:p>
        </p:txBody>
      </p:sp>
      <p:sp>
        <p:nvSpPr>
          <p:cNvPr id="10" name="Shape 8"/>
          <p:cNvSpPr/>
          <p:nvPr/>
        </p:nvSpPr>
        <p:spPr>
          <a:xfrm>
            <a:off x="762000" y="5461000"/>
            <a:ext cx="14732000" cy="12700"/>
          </a:xfrm>
          <a:prstGeom prst="rect">
            <a:avLst/>
          </a:prstGeom>
          <a:solidFill>
            <a:srgbClr val="D1CFC9"/>
          </a:solidFill>
          <a:ln/>
        </p:spPr>
      </p:sp>
      <p:graphicFrame>
        <p:nvGraphicFramePr>
          <p:cNvPr id="11" name="Chart 0" descr=""/>
          <p:cNvGraphicFramePr/>
          <p:nvPr/>
        </p:nvGraphicFramePr>
        <p:xfrm>
          <a:off x="762000" y="5651500"/>
          <a:ext cx="7112000" cy="254000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8382000" y="5651500"/>
            <a:ext cx="7112000" cy="2984500"/>
          </a:xfrm>
          <a:prstGeom prst="rect">
            <a:avLst/>
          </a:prstGeom>
          <a:noFill/>
          <a:ln/>
        </p:spPr>
        <p:txBody>
          <a:bodyPr wrap="square" lIns="0" tIns="0" rIns="0" bIns="0" rtlCol="0" anchor="ctr"/>
          <a:lstStyle/>
          <a:p>
            <a:pPr>
              <a:lnSpc>
                <a:spcPct val="155000"/>
              </a:lnSpc>
            </a:pPr>
            <a:r>
              <a:rPr lang="en-US" sz="1400" b="1" dirty="0">
                <a:solidFill>
                  <a:srgbClr val="1B4332"/>
                </a:solidFill>
                <a:latin typeface="QuattrocentoSans" pitchFamily="34" charset="0"/>
                <a:ea typeface="QuattrocentoSans" pitchFamily="34" charset="-122"/>
                <a:cs typeface="QuattrocentoSans" pitchFamily="34" charset="-120"/>
              </a:rPr>
              <a:t>Example: Indexed Trend Analysis</a:t>
            </a:r>
            <a:endParaRPr lang="en-US" sz="1800" dirty="0"/>
          </a:p>
          <a:p>
            <a:pPr>
              <a:lnSpc>
                <a:spcPct val="155000"/>
              </a:lnSpc>
              <a:spcBef>
                <a:spcPts val="600"/>
              </a:spcBef>
            </a:pPr>
            <a:r>
              <a:rPr lang="en-US" sz="1400" dirty="0">
                <a:solidFill>
                  <a:srgbClr val="1A1A2E"/>
                </a:solidFill>
                <a:latin typeface="QuattrocentoSans" pitchFamily="34" charset="0"/>
                <a:ea typeface="QuattrocentoSans" pitchFamily="34" charset="-122"/>
                <a:cs typeface="QuattrocentoSans" pitchFamily="34" charset="-120"/>
              </a:rPr>
              <a:t>The chart shows a hypothetical company's revenue and net income indexed to 2019 = 100. Both metrics trend upward, but net income lagged revenue in 2020 (likely due to pandemic costs) before recovering.</a:t>
            </a:r>
            <a:endParaRPr lang="en-US" sz="1800" dirty="0"/>
          </a:p>
          <a:p>
            <a:pPr>
              <a:lnSpc>
                <a:spcPct val="155000"/>
              </a:lnSpc>
              <a:spcBef>
                <a:spcPts val="600"/>
              </a:spcBef>
            </a:pPr>
            <a:r>
              <a:rPr lang="en-US" sz="1400" dirty="0">
                <a:solidFill>
                  <a:srgbClr val="1A1A2E"/>
                </a:solidFill>
                <a:latin typeface="QuattrocentoSans" pitchFamily="34" charset="0"/>
                <a:ea typeface="QuattrocentoSans" pitchFamily="34" charset="-122"/>
                <a:cs typeface="QuattrocentoSans" pitchFamily="34" charset="-120"/>
              </a:rPr>
              <a:t>By 2025, revenue grew 110% while net income grew 95% — a narrowing margin that warrants investigation into rising costs or pricing pressure.</a:t>
            </a:r>
            <a:endParaRPr lang="en-US" sz="1800" dirty="0"/>
          </a:p>
          <a:p>
            <a:pPr>
              <a:lnSpc>
                <a:spcPct val="155000"/>
              </a:lnSpc>
              <a:spcBef>
                <a:spcPts val="600"/>
              </a:spcBef>
            </a:pPr>
            <a:r>
              <a:rPr lang="en-US" sz="1400" dirty="0">
                <a:solidFill>
                  <a:srgbClr val="1A1A2E"/>
                </a:solidFill>
                <a:latin typeface="QuattrocentoSans" pitchFamily="34" charset="0"/>
                <a:ea typeface="QuattrocentoSans" pitchFamily="34" charset="-122"/>
                <a:cs typeface="QuattrocentoSans" pitchFamily="34" charset="-120"/>
              </a:rPr>
              <a:t>This type of analysis transforms absolute figures into relative metrics, making cross-company and cross-period comparisons meaningful.</a:t>
            </a:r>
            <a:endParaRPr lang="en-US" sz="1800" dirty="0"/>
          </a:p>
        </p:txBody>
      </p:sp>
      <p:sp>
        <p:nvSpPr>
          <p:cNvPr id="13" name="Text 10"/>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8</a:t>
            </a:r>
            <a:endParaRPr lang="en-US" sz="12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Benchmarking transforms isolated ratios into meaningful performance insights</a:t>
            </a:r>
            <a:endParaRPr lang="en-US" sz="2800" dirty="0"/>
          </a:p>
        </p:txBody>
      </p:sp>
      <p:sp>
        <p:nvSpPr>
          <p:cNvPr id="3" name="Shape 1"/>
          <p:cNvSpPr/>
          <p:nvPr/>
        </p:nvSpPr>
        <p:spPr>
          <a:xfrm>
            <a:off x="762000" y="1168400"/>
            <a:ext cx="14732000" cy="12700"/>
          </a:xfrm>
          <a:prstGeom prst="rect">
            <a:avLst/>
          </a:prstGeom>
          <a:solidFill>
            <a:srgbClr val="D1CFC9"/>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62000" y="1371600"/>
          <a:ext cx="14732000" cy="2476500"/>
        </p:xfrm>
        <a:graphic>
          <a:graphicData uri="http://schemas.openxmlformats.org/drawingml/2006/table">
            <a:tbl>
              <a:tblPr/>
              <a:tblGrid>
                <a:gridCol w="3241040"/>
                <a:gridCol w="5892800"/>
                <a:gridCol w="5598160"/>
              </a:tblGrid>
              <a:tr h="492773">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Benchmarking Type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Description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Best Used For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669666">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Historical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Compare current ratios against the company's own past performance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Identifying trends and directional changes over time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669666">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Industry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Compare against sector averages and peer groups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Assessing competitive position and relative performance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644395">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Target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Compare against strategic goals and management targets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Tracking progress toward organizational objectives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bl>
          </a:graphicData>
        </a:graphic>
      </p:graphicFrame>
      <p:sp>
        <p:nvSpPr>
          <p:cNvPr id="5" name="Text 2"/>
          <p:cNvSpPr/>
          <p:nvPr/>
        </p:nvSpPr>
        <p:spPr>
          <a:xfrm>
            <a:off x="762000" y="4127500"/>
            <a:ext cx="635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Key Considerations for Effective Benchmarking</a:t>
            </a:r>
            <a:endParaRPr lang="en-US" sz="1600" dirty="0"/>
          </a:p>
        </p:txBody>
      </p:sp>
      <p:sp>
        <p:nvSpPr>
          <p:cNvPr id="6" name="Shape 3"/>
          <p:cNvSpPr/>
          <p:nvPr/>
        </p:nvSpPr>
        <p:spPr>
          <a:xfrm>
            <a:off x="762000" y="4508500"/>
            <a:ext cx="14732000" cy="25400"/>
          </a:xfrm>
          <a:prstGeom prst="rect">
            <a:avLst/>
          </a:prstGeom>
          <a:solidFill>
            <a:srgbClr val="D1CFC9"/>
          </a:solidFill>
          <a:ln/>
        </p:spPr>
      </p:sp>
      <p:sp>
        <p:nvSpPr>
          <p:cNvPr id="7" name="Text 4"/>
          <p:cNvSpPr/>
          <p:nvPr/>
        </p:nvSpPr>
        <p:spPr>
          <a:xfrm>
            <a:off x="762000" y="4699000"/>
            <a:ext cx="4572000" cy="33655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Accounting Consistency</a:t>
            </a:r>
            <a:endParaRPr lang="en-US" sz="1800" dirty="0"/>
          </a:p>
          <a:p>
            <a:pPr>
              <a:lnSpc>
                <a:spcPct val="155000"/>
              </a:lnSpc>
              <a:spcBef>
                <a:spcPts val="400"/>
              </a:spcBef>
            </a:pPr>
            <a:r>
              <a:rPr lang="en-US" sz="1500" dirty="0">
                <a:solidFill>
                  <a:srgbClr val="1A1A2E"/>
                </a:solidFill>
                <a:latin typeface="QuattrocentoSans" pitchFamily="34" charset="0"/>
                <a:ea typeface="QuattrocentoSans" pitchFamily="34" charset="-122"/>
                <a:cs typeface="QuattrocentoSans" pitchFamily="34" charset="-120"/>
              </a:rPr>
              <a:t>Ensure consistent accounting policies across comparators. Different inventory methods (FIFO vs. LIFO), depreciation approaches, or revenue recognition standards can distort ratio comparisons significantly.</a:t>
            </a:r>
            <a:endParaRPr lang="en-US" sz="1800" dirty="0"/>
          </a:p>
        </p:txBody>
      </p:sp>
      <p:sp>
        <p:nvSpPr>
          <p:cNvPr id="8" name="Text 5"/>
          <p:cNvSpPr/>
          <p:nvPr/>
        </p:nvSpPr>
        <p:spPr>
          <a:xfrm>
            <a:off x="5588000" y="4699000"/>
            <a:ext cx="4572000" cy="33655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Size and Life-Cycle Adjustments</a:t>
            </a:r>
            <a:endParaRPr lang="en-US" sz="1800" dirty="0"/>
          </a:p>
          <a:p>
            <a:pPr>
              <a:lnSpc>
                <a:spcPct val="155000"/>
              </a:lnSpc>
              <a:spcBef>
                <a:spcPts val="400"/>
              </a:spcBef>
            </a:pPr>
            <a:r>
              <a:rPr lang="en-US" sz="1500" dirty="0">
                <a:solidFill>
                  <a:srgbClr val="1A1A2E"/>
                </a:solidFill>
                <a:latin typeface="QuattrocentoSans" pitchFamily="34" charset="0"/>
                <a:ea typeface="QuattrocentoSans" pitchFamily="34" charset="-122"/>
                <a:cs typeface="QuattrocentoSans" pitchFamily="34" charset="-120"/>
              </a:rPr>
              <a:t>Adjust for company size and maturity stage. Startups typically show different ratio profiles than mature enterprises. Normalization techniques may be required for meaningful comparison.</a:t>
            </a:r>
            <a:endParaRPr lang="en-US" sz="1800" dirty="0"/>
          </a:p>
        </p:txBody>
      </p:sp>
      <p:sp>
        <p:nvSpPr>
          <p:cNvPr id="9" name="Text 6"/>
          <p:cNvSpPr/>
          <p:nvPr/>
        </p:nvSpPr>
        <p:spPr>
          <a:xfrm>
            <a:off x="10414000" y="4699000"/>
            <a:ext cx="5080000" cy="33655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Industry-Specific Norms</a:t>
            </a:r>
            <a:endParaRPr lang="en-US" sz="1800" dirty="0"/>
          </a:p>
          <a:p>
            <a:pPr>
              <a:lnSpc>
                <a:spcPct val="155000"/>
              </a:lnSpc>
              <a:spcBef>
                <a:spcPts val="400"/>
              </a:spcBef>
            </a:pPr>
            <a:r>
              <a:rPr lang="en-US" sz="1500" dirty="0">
                <a:solidFill>
                  <a:srgbClr val="1A1A2E"/>
                </a:solidFill>
                <a:latin typeface="QuattrocentoSans" pitchFamily="34" charset="0"/>
                <a:ea typeface="QuattrocentoSans" pitchFamily="34" charset="-122"/>
                <a:cs typeface="QuattrocentoSans" pitchFamily="34" charset="-120"/>
              </a:rPr>
              <a:t>Different industries have fundamentally different ratio profiles. A current ratio of 3.0 may be excellent for a utility but signal inventory inefficiency for a retailer. Always research industry-specific benchmarks.</a:t>
            </a:r>
            <a:endParaRPr lang="en-US" sz="1800" dirty="0"/>
          </a:p>
        </p:txBody>
      </p:sp>
      <p:sp>
        <p:nvSpPr>
          <p:cNvPr id="10" name="Text 7"/>
          <p:cNvSpPr/>
          <p:nvPr/>
        </p:nvSpPr>
        <p:spPr>
          <a:xfrm>
            <a:off x="762000" y="8293100"/>
            <a:ext cx="8890000" cy="279400"/>
          </a:xfrm>
          <a:prstGeom prst="rect">
            <a:avLst/>
          </a:prstGeom>
          <a:noFill/>
          <a:ln/>
        </p:spPr>
        <p:txBody>
          <a:bodyPr wrap="square" lIns="0" tIns="0" rIns="0" bIns="0" rtlCol="0" anchor="ctr"/>
          <a:lstStyle/>
          <a:p>
            <a:pP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Source: </a:t>
            </a:r>
            <a:pPr>
              <a:lnSpc>
                <a:spcPct val="140000"/>
              </a:lnSpc>
            </a:pPr>
            <a:r>
              <a:rPr lang="en-US" sz="1200" u="sng" dirty="0">
                <a:solidFill>
                  <a:srgbClr val="6B7280"/>
                </a:solidFill>
                <a:latin typeface="QuattrocentoSans" pitchFamily="34" charset="0"/>
                <a:ea typeface="QuattrocentoSans" pitchFamily="34" charset="-122"/>
                <a:cs typeface="QuattrocentoSans" pitchFamily="34" charset="-120"/>
                <a:hlinkClick r:id="rId1" tooltip="" action="ppaction://hlinkfile">
                  <a:extLst>
                    <a:ext uri="{A12FA001-AC4F-418D-AE19-62706E023703}">
                      <ahyp:hlinkClr xmlns:ahyp="http://schemas.microsoft.com/office/drawing/2018/hyperlinkcolor" val="tx"/>
                    </a:ext>
                  </a:extLst>
                </a:hlinkClick>
              </a:rPr>
              <a:t>Ratio Analysis Problems and Solutions, 2026</a:t>
            </a:r>
            <a:endParaRPr lang="en-US" sz="1200" dirty="0"/>
          </a:p>
        </p:txBody>
      </p:sp>
      <p:sp>
        <p:nvSpPr>
          <p:cNvPr id="11" name="Text 8"/>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9</a:t>
            </a:r>
            <a:endParaRPr lang="en-US" sz="12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Financial analysis directly supports critical business decisions across the enterprise</a:t>
            </a:r>
            <a:endParaRPr lang="en-US" sz="2800" dirty="0"/>
          </a:p>
        </p:txBody>
      </p:sp>
      <p:sp>
        <p:nvSpPr>
          <p:cNvPr id="3" name="Shape 1"/>
          <p:cNvSpPr/>
          <p:nvPr/>
        </p:nvSpPr>
        <p:spPr>
          <a:xfrm>
            <a:off x="762000" y="1168400"/>
            <a:ext cx="14732000" cy="12700"/>
          </a:xfrm>
          <a:prstGeom prst="rect">
            <a:avLst/>
          </a:prstGeom>
          <a:solidFill>
            <a:srgbClr val="D1CFC9"/>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62000" y="1371600"/>
          <a:ext cx="14732000" cy="4318000"/>
        </p:xfrm>
        <a:graphic>
          <a:graphicData uri="http://schemas.openxmlformats.org/drawingml/2006/table">
            <a:tbl>
              <a:tblPr/>
              <a:tblGrid>
                <a:gridCol w="2946400"/>
                <a:gridCol w="5156200"/>
                <a:gridCol w="6629400"/>
              </a:tblGrid>
              <a:tr h="562107">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Decision Area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Analytical Approach</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Key Ratios and Tools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625982">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Investment Decisions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Evaluate capital projects, acquisitions, and portfolio choices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NPV, IRR, ROIC, payback period, risk-adjusted returns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625982">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Financing Decisions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Determine optimal capital structure and debt capacity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Debt-to-equity, interest coverage, WACC, cost of capital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625982">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Dividend Policy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Assess sustainable payout capacity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Dividend payout ratio, retention ratio, free cash flow, EPS growth</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625982">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Operational Improvements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Identify inefficiencies and cost reduction opportunities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Operating margin, inventory turnover, asset turnover, cost ratios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625982">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Credit Decisions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Assess default risk and set loan terms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Current ratio, quick ratio, DSCR, cash flow coverage, credit scores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625982">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Valuation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Estimate company value for equity research and M&amp;A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P/E, EV/EBITDA, P/B, DCF multiples, comparable company analysis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bl>
          </a:graphicData>
        </a:graphic>
      </p:graphicFrame>
      <p:sp>
        <p:nvSpPr>
          <p:cNvPr id="5" name="Shape 2"/>
          <p:cNvSpPr/>
          <p:nvPr/>
        </p:nvSpPr>
        <p:spPr>
          <a:xfrm>
            <a:off x="762000" y="5969000"/>
            <a:ext cx="50800" cy="2032000"/>
          </a:xfrm>
          <a:prstGeom prst="rect">
            <a:avLst/>
          </a:prstGeom>
          <a:solidFill>
            <a:srgbClr val="B8860B"/>
          </a:solidFill>
          <a:ln/>
        </p:spPr>
      </p:sp>
      <p:sp>
        <p:nvSpPr>
          <p:cNvPr id="6" name="Text 3"/>
          <p:cNvSpPr/>
          <p:nvPr/>
        </p:nvSpPr>
        <p:spPr>
          <a:xfrm>
            <a:off x="1016000" y="5969000"/>
            <a:ext cx="14224000" cy="20320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Cross-Functional Impact</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Financial analysis is not confined to the finance department. Marketing uses customer acquisition cost and lifetime value ratios. Operations relies on efficiency and capacity utilization metrics. HR examines revenue per employee and compensation ratios. Treasury monitors liquidity and foreign exchange exposure.</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Each application requires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selecting the most relevant ratios</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and interpreting them in the specific decision context. The same current ratio of 2.0 signals safety to a creditor but may suggest excess cash to an investor seeking higher returns.</a:t>
            </a:r>
            <a:endParaRPr lang="en-US" sz="1800" dirty="0"/>
          </a:p>
        </p:txBody>
      </p:sp>
      <p:sp>
        <p:nvSpPr>
          <p:cNvPr id="7" name="Text 4"/>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10</a:t>
            </a:r>
            <a:endParaRPr lang="en-US" sz="12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ttps://kimi-img.moonshot.cn/pub/slides/okc/fugd5lfhhzhog/mnt/agents/output/financial-performance/images/9_4_188_937_Graph_Royalty_Free_Images.png">    </p:cNvPr>
          <p:cNvPicPr>
            <a:picLocks noChangeAspect="1"/>
          </p:cNvPicPr>
          <p:nvPr/>
        </p:nvPicPr>
        <p:blipFill>
          <a:blip r:embed="rId1"/>
          <a:srcRect l="0" r="0" t="3594" b="3594"/>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A1A2E">
                  <a:alpha val="90000"/>
                </a:srgbClr>
              </a:gs>
              <a:gs pos="50000">
                <a:srgbClr val="1A1A2E">
                  <a:alpha val="80000"/>
                </a:srgbClr>
              </a:gs>
              <a:gs pos="100000">
                <a:srgbClr val="1A1A2E">
                  <a:alpha val="40000"/>
                </a:srgbClr>
              </a:gs>
            </a:gsLst>
            <a:lin ang="0" scaled="1"/>
          </a:gradFill>
          <a:ln w="12700">
            <a:solidFill>
              <a:srgbClr val="333333"/>
            </a:solidFill>
            <a:prstDash val="solid"/>
          </a:ln>
        </p:spPr>
      </p:sp>
      <p:sp>
        <p:nvSpPr>
          <p:cNvPr id="4" name="Text 1"/>
          <p:cNvSpPr/>
          <p:nvPr/>
        </p:nvSpPr>
        <p:spPr>
          <a:xfrm>
            <a:off x="1016000" y="2032000"/>
            <a:ext cx="3810000" cy="1778000"/>
          </a:xfrm>
          <a:prstGeom prst="rect">
            <a:avLst/>
          </a:prstGeom>
          <a:noFill/>
          <a:ln/>
        </p:spPr>
        <p:txBody>
          <a:bodyPr wrap="none" lIns="0" tIns="0" rIns="0" bIns="0" rtlCol="0" anchor="ctr"/>
          <a:lstStyle/>
          <a:p>
            <a:pPr>
              <a:lnSpc>
                <a:spcPct val="100000"/>
              </a:lnSpc>
            </a:pPr>
            <a:r>
              <a:rPr lang="en-US" sz="12000" dirty="0">
                <a:solidFill>
                  <a:srgbClr val="FFFFFF">
                    <a:alpha val="8235"/>
                  </a:srgbClr>
                </a:solidFill>
                <a:latin typeface="Oranienbaum" pitchFamily="34" charset="0"/>
                <a:ea typeface="Oranienbaum" pitchFamily="34" charset="-122"/>
                <a:cs typeface="Oranienbaum" pitchFamily="34" charset="-120"/>
              </a:rPr>
              <a:t>02</a:t>
            </a:r>
            <a:endParaRPr lang="en-US" sz="1600" dirty="0"/>
          </a:p>
        </p:txBody>
      </p:sp>
      <p:sp>
        <p:nvSpPr>
          <p:cNvPr id="5" name="Text 2"/>
          <p:cNvSpPr/>
          <p:nvPr/>
        </p:nvSpPr>
        <p:spPr>
          <a:xfrm>
            <a:off x="1016000" y="3810000"/>
            <a:ext cx="3810000" cy="279400"/>
          </a:xfrm>
          <a:prstGeom prst="rect">
            <a:avLst/>
          </a:prstGeom>
          <a:noFill/>
          <a:ln/>
        </p:spPr>
        <p:txBody>
          <a:bodyPr wrap="none" lIns="0" tIns="0" rIns="0" bIns="0" rtlCol="0" anchor="ctr"/>
          <a:lstStyle/>
          <a:p>
            <a:pPr>
              <a:lnSpc>
                <a:spcPct val="100000"/>
              </a:lnSpc>
            </a:pPr>
            <a:r>
              <a:rPr lang="en-US" sz="1300" spc="400" kern="0" dirty="0">
                <a:solidFill>
                  <a:srgbClr val="B8860B"/>
                </a:solidFill>
                <a:latin typeface="Quattrocento Sans" pitchFamily="34" charset="0"/>
                <a:ea typeface="Quattrocento Sans" pitchFamily="34" charset="-122"/>
                <a:cs typeface="Quattrocento Sans" pitchFamily="34" charset="-120"/>
              </a:rPr>
              <a:t>CHAPTER TWO</a:t>
            </a:r>
            <a:endParaRPr lang="en-US" sz="1600" dirty="0"/>
          </a:p>
        </p:txBody>
      </p:sp>
      <p:sp>
        <p:nvSpPr>
          <p:cNvPr id="6" name="Text 3"/>
          <p:cNvSpPr/>
          <p:nvPr/>
        </p:nvSpPr>
        <p:spPr>
          <a:xfrm>
            <a:off x="1016000" y="4254500"/>
            <a:ext cx="9525000" cy="698500"/>
          </a:xfrm>
          <a:prstGeom prst="rect">
            <a:avLst/>
          </a:prstGeom>
          <a:noFill/>
          <a:ln/>
        </p:spPr>
        <p:txBody>
          <a:bodyPr wrap="none" lIns="0" tIns="0" rIns="0" bIns="0" rtlCol="0" anchor="ctr"/>
          <a:lstStyle/>
          <a:p>
            <a:pPr>
              <a:lnSpc>
                <a:spcPct val="100000"/>
              </a:lnSpc>
            </a:pPr>
            <a:r>
              <a:rPr lang="en-US" sz="4000" spc="100" kern="0" dirty="0">
                <a:solidFill>
                  <a:srgbClr val="FFFFFF"/>
                </a:solidFill>
                <a:latin typeface="Oranienbaum" pitchFamily="34" charset="0"/>
                <a:ea typeface="Oranienbaum" pitchFamily="34" charset="-122"/>
                <a:cs typeface="Oranienbaum" pitchFamily="34" charset="-120"/>
              </a:rPr>
              <a:t>Measuring Key Financial Relationships</a:t>
            </a:r>
            <a:endParaRPr lang="en-US" sz="4000" dirty="0"/>
          </a:p>
        </p:txBody>
      </p:sp>
      <p:sp>
        <p:nvSpPr>
          <p:cNvPr id="7" name="Shape 4"/>
          <p:cNvSpPr/>
          <p:nvPr/>
        </p:nvSpPr>
        <p:spPr>
          <a:xfrm>
            <a:off x="1016000" y="5143500"/>
            <a:ext cx="1016000" cy="38100"/>
          </a:xfrm>
          <a:prstGeom prst="rect">
            <a:avLst/>
          </a:prstGeom>
          <a:solidFill>
            <a:srgbClr val="B8860B"/>
          </a:solidFill>
          <a:ln/>
        </p:spPr>
      </p:sp>
      <p:sp>
        <p:nvSpPr>
          <p:cNvPr id="8" name="Text 5"/>
          <p:cNvSpPr/>
          <p:nvPr/>
        </p:nvSpPr>
        <p:spPr>
          <a:xfrm>
            <a:off x="1016000" y="5397500"/>
            <a:ext cx="7620000" cy="381000"/>
          </a:xfrm>
          <a:prstGeom prst="rect">
            <a:avLst/>
          </a:prstGeom>
          <a:noFill/>
          <a:ln/>
        </p:spPr>
        <p:txBody>
          <a:bodyPr wrap="none" lIns="0" tIns="0" rIns="0" bIns="0" rtlCol="0" anchor="ctr"/>
          <a:lstStyle/>
          <a:p>
            <a:pPr>
              <a:lnSpc>
                <a:spcPct val="140000"/>
              </a:lnSpc>
            </a:pPr>
            <a:r>
              <a:rPr lang="en-US" sz="1800" dirty="0">
                <a:solidFill>
                  <a:srgbClr val="FFFFFF">
                    <a:alpha val="66667"/>
                  </a:srgbClr>
                </a:solidFill>
                <a:latin typeface="QuattrocentoSans" pitchFamily="34" charset="0"/>
                <a:ea typeface="QuattrocentoSans" pitchFamily="34" charset="-122"/>
                <a:cs typeface="QuattrocentoSans" pitchFamily="34" charset="-120"/>
              </a:rPr>
              <a:t>The five categories of financial ratios and their applications</a:t>
            </a:r>
            <a:endParaRPr lang="en-US" sz="20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Five ratio categories provide a comprehensive view of financial health</a:t>
            </a:r>
            <a:endParaRPr lang="en-US" sz="2800" dirty="0"/>
          </a:p>
        </p:txBody>
      </p:sp>
      <p:sp>
        <p:nvSpPr>
          <p:cNvPr id="3" name="Shape 1"/>
          <p:cNvSpPr/>
          <p:nvPr/>
        </p:nvSpPr>
        <p:spPr>
          <a:xfrm>
            <a:off x="762000" y="1168400"/>
            <a:ext cx="14732000" cy="12700"/>
          </a:xfrm>
          <a:prstGeom prst="rect">
            <a:avLst/>
          </a:prstGeom>
          <a:solidFill>
            <a:srgbClr val="D1CFC9"/>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62000" y="1371600"/>
          <a:ext cx="14732000" cy="3302000"/>
        </p:xfrm>
        <a:graphic>
          <a:graphicData uri="http://schemas.openxmlformats.org/drawingml/2006/table">
            <a:tbl>
              <a:tblPr/>
              <a:tblGrid>
                <a:gridCol w="2357120"/>
                <a:gridCol w="4419600"/>
                <a:gridCol w="4124960"/>
                <a:gridCol w="3830320"/>
              </a:tblGrid>
              <a:tr h="497212">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Category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Question Answered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Key Ratios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Primary Users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560958">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Liquidity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Can the firm meet short-term obligations?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Current ratio, quick ratio, cash ratio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CFOs, FP&amp;A teams, creditors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60958">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Profitability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How well does the firm generate earnings?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Gross margin, ROA, ROE, net margin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Executives, investors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560958">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Efficiency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How effectively are resources utilized?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Asset turnover, inventory turnover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FP&amp;A, operations leaders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60958">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Leverage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What is the firm's debt position and risk?</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Debt-to-equity, interest coverage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Lenders, finance leaders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560958">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Market Value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How does the market value the firm?</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P/E ratio, EPS, dividend yield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Investors, analysts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bl>
          </a:graphicData>
        </a:graphic>
      </p:graphicFrame>
      <p:sp>
        <p:nvSpPr>
          <p:cNvPr id="5" name="Shape 2"/>
          <p:cNvSpPr/>
          <p:nvPr/>
        </p:nvSpPr>
        <p:spPr>
          <a:xfrm>
            <a:off x="762000" y="4953000"/>
            <a:ext cx="50800" cy="3048000"/>
          </a:xfrm>
          <a:prstGeom prst="rect">
            <a:avLst/>
          </a:prstGeom>
          <a:solidFill>
            <a:srgbClr val="B8860B"/>
          </a:solidFill>
          <a:ln/>
        </p:spPr>
      </p:sp>
      <p:sp>
        <p:nvSpPr>
          <p:cNvPr id="6" name="Text 3"/>
          <p:cNvSpPr/>
          <p:nvPr/>
        </p:nvSpPr>
        <p:spPr>
          <a:xfrm>
            <a:off x="1016000" y="4953000"/>
            <a:ext cx="508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Integrated Analysis Principle</a:t>
            </a:r>
            <a:endParaRPr lang="en-US" sz="1600" dirty="0"/>
          </a:p>
        </p:txBody>
      </p:sp>
      <p:sp>
        <p:nvSpPr>
          <p:cNvPr id="7" name="Text 4"/>
          <p:cNvSpPr/>
          <p:nvPr/>
        </p:nvSpPr>
        <p:spPr>
          <a:xfrm>
            <a:off x="1016000" y="5334000"/>
            <a:ext cx="14224000" cy="26670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Effective analysis requires evaluating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all five categories together</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 no single ratio or category tells the complete story. At a high level:</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Liquidity ratios</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focus on short-term stability and the ability to meet near-term obligations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Profitability ratios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explain earnings performance and how much profit is generated from sales, assets, and equity</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Efficiency ratios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show how well the business converts assets into revenue and manages working capital</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Leverage ratios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analyze the balance between debt and equity and the ability to service long-term obligations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Market value ratios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connect financial performance to stock price and shareholder returns</a:t>
            </a:r>
            <a:endParaRPr lang="en-US" sz="1800" dirty="0"/>
          </a:p>
        </p:txBody>
      </p:sp>
      <p:sp>
        <p:nvSpPr>
          <p:cNvPr id="8" name="Text 5"/>
          <p:cNvSpPr/>
          <p:nvPr/>
        </p:nvSpPr>
        <p:spPr>
          <a:xfrm>
            <a:off x="762000" y="8293100"/>
            <a:ext cx="7620000" cy="279400"/>
          </a:xfrm>
          <a:prstGeom prst="rect">
            <a:avLst/>
          </a:prstGeom>
          <a:noFill/>
          <a:ln/>
        </p:spPr>
        <p:txBody>
          <a:bodyPr wrap="square" lIns="0" tIns="0" rIns="0" bIns="0" rtlCol="0" anchor="ctr"/>
          <a:lstStyle/>
          <a:p>
            <a:pP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Source: </a:t>
            </a:r>
            <a:pPr>
              <a:lnSpc>
                <a:spcPct val="140000"/>
              </a:lnSpc>
            </a:pPr>
            <a:r>
              <a:rPr lang="en-US" sz="1200" u="sng" dirty="0">
                <a:solidFill>
                  <a:srgbClr val="6B7280"/>
                </a:solidFill>
                <a:latin typeface="QuattrocentoSans" pitchFamily="34" charset="0"/>
                <a:ea typeface="QuattrocentoSans" pitchFamily="34" charset="-122"/>
                <a:cs typeface="QuattrocentoSans" pitchFamily="34" charset="-120"/>
                <a:hlinkClick r:id="rId1" tooltip="" action="ppaction://hlinkfile">
                  <a:extLst>
                    <a:ext uri="{A12FA001-AC4F-418D-AE19-62706E023703}">
                      <ahyp:hlinkClr xmlns:ahyp="http://schemas.microsoft.com/office/drawing/2018/hyperlinkcolor" val="tx"/>
                    </a:ext>
                  </a:extLst>
                </a:hlinkClick>
              </a:rPr>
              <a:t>Limelight Financial Analysis Guide, 2026</a:t>
            </a:r>
            <a:endParaRPr lang="en-US" sz="1200" dirty="0"/>
          </a:p>
        </p:txBody>
      </p:sp>
      <p:sp>
        <p:nvSpPr>
          <p:cNvPr id="9" name="Text 6"/>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12</a:t>
            </a:r>
            <a:endParaRPr lang="en-US" sz="12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Liquidity ratios measure the ability to meet short-term obligations</a:t>
            </a:r>
            <a:endParaRPr lang="en-US" sz="2800" dirty="0"/>
          </a:p>
        </p:txBody>
      </p:sp>
      <p:sp>
        <p:nvSpPr>
          <p:cNvPr id="3" name="Shape 1"/>
          <p:cNvSpPr/>
          <p:nvPr/>
        </p:nvSpPr>
        <p:spPr>
          <a:xfrm>
            <a:off x="762000" y="1168400"/>
            <a:ext cx="14732000" cy="12700"/>
          </a:xfrm>
          <a:prstGeom prst="rect">
            <a:avLst/>
          </a:prstGeom>
          <a:solidFill>
            <a:srgbClr val="D1CFC9"/>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62000" y="1371600"/>
          <a:ext cx="14732000" cy="3302000"/>
        </p:xfrm>
        <a:graphic>
          <a:graphicData uri="http://schemas.openxmlformats.org/drawingml/2006/table">
            <a:tbl>
              <a:tblPr/>
              <a:tblGrid>
                <a:gridCol w="2946400"/>
                <a:gridCol w="5156200"/>
                <a:gridCol w="3683000"/>
                <a:gridCol w="2946400"/>
              </a:tblGrid>
              <a:tr h="497212">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Ratio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Formula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What It Measures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Typical Range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70119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Current Ratio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Current Assets / Current Liabilities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Overall short-term solvency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1.5 – 2.0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70119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Quick Ratio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(Current Assets − Inv.) / Curr. Liab.</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Stricter liquidity test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1.0 – 1.5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70119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Cash Ratio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Cash / Current Liabilities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Immediate payment ability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0.2 – 0.5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70119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Working Capital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Current Assets − Curr. Liab.</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Liquid resources available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&gt; 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bl>
          </a:graphicData>
        </a:graphic>
      </p:graphicFrame>
      <p:sp>
        <p:nvSpPr>
          <p:cNvPr id="5" name="Text 2"/>
          <p:cNvSpPr/>
          <p:nvPr/>
        </p:nvSpPr>
        <p:spPr>
          <a:xfrm>
            <a:off x="762000" y="4953000"/>
            <a:ext cx="508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Interpretation Guidelines</a:t>
            </a:r>
            <a:endParaRPr lang="en-US" sz="1600" dirty="0"/>
          </a:p>
        </p:txBody>
      </p:sp>
      <p:sp>
        <p:nvSpPr>
          <p:cNvPr id="6" name="Shape 3"/>
          <p:cNvSpPr/>
          <p:nvPr/>
        </p:nvSpPr>
        <p:spPr>
          <a:xfrm>
            <a:off x="762000" y="5334000"/>
            <a:ext cx="14732000" cy="25400"/>
          </a:xfrm>
          <a:prstGeom prst="rect">
            <a:avLst/>
          </a:prstGeom>
          <a:solidFill>
            <a:srgbClr val="D1CFC9"/>
          </a:solidFill>
          <a:ln/>
        </p:spPr>
      </p:sp>
      <p:sp>
        <p:nvSpPr>
          <p:cNvPr id="7" name="Text 4"/>
          <p:cNvSpPr/>
          <p:nvPr/>
        </p:nvSpPr>
        <p:spPr>
          <a:xfrm>
            <a:off x="762000" y="5524500"/>
            <a:ext cx="6858000" cy="24765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Higher values indicate stronger short-term health</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but excessively high ratios may signal inefficient resource use. A current ratio above 3.0 could mean too much idle cash or unproductive inventory.</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The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quick ratio</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is especially important for businesses with slow-moving or obsolete inventory, as it excludes inventory from the liquidity calculation.</a:t>
            </a:r>
            <a:endParaRPr lang="en-US" sz="1800" dirty="0"/>
          </a:p>
        </p:txBody>
      </p:sp>
      <p:sp>
        <p:nvSpPr>
          <p:cNvPr id="8" name="Text 5"/>
          <p:cNvSpPr/>
          <p:nvPr/>
        </p:nvSpPr>
        <p:spPr>
          <a:xfrm>
            <a:off x="8382000" y="5524500"/>
            <a:ext cx="7112000" cy="24765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Industry context is critical.</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Retailers typically operate with lower current ratios than manufacturers due to faster inventory turnover. Service firms may show very high quick ratios due to minimal inventory.</a:t>
            </a:r>
            <a:endParaRPr lang="en-US" sz="1800" dirty="0"/>
          </a:p>
          <a:p>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Trend analysis</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matters more than absolute values — a declining current ratio from 2.5 to 1.8 over three years signals deterioration even if 1.8 appears acceptable in isolation.</a:t>
            </a:r>
            <a:endParaRPr lang="en-US" sz="1800" dirty="0"/>
          </a:p>
        </p:txBody>
      </p:sp>
      <p:sp>
        <p:nvSpPr>
          <p:cNvPr id="9" name="Text 6"/>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13</a:t>
            </a:r>
            <a:endParaRPr lang="en-US" sz="12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Profitability ratios reveal how effectively a firm generates returns</a:t>
            </a:r>
            <a:endParaRPr lang="en-US" sz="2800" dirty="0"/>
          </a:p>
        </p:txBody>
      </p:sp>
      <p:sp>
        <p:nvSpPr>
          <p:cNvPr id="3" name="Shape 1"/>
          <p:cNvSpPr/>
          <p:nvPr/>
        </p:nvSpPr>
        <p:spPr>
          <a:xfrm>
            <a:off x="762000" y="1168400"/>
            <a:ext cx="14732000" cy="12700"/>
          </a:xfrm>
          <a:prstGeom prst="rect">
            <a:avLst/>
          </a:prstGeom>
          <a:solidFill>
            <a:srgbClr val="D1CFC9"/>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62000" y="1371600"/>
          <a:ext cx="14732000" cy="3556000"/>
        </p:xfrm>
        <a:graphic>
          <a:graphicData uri="http://schemas.openxmlformats.org/drawingml/2006/table">
            <a:tbl>
              <a:tblPr/>
              <a:tblGrid>
                <a:gridCol w="3241040"/>
                <a:gridCol w="5156200"/>
                <a:gridCol w="6334760"/>
              </a:tblGrid>
              <a:tr h="453957">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Ratio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Formula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What It Measures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51700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Gross Profit Margin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Gross Profit / Revenue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Production and pricing efficiency; core business profitability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1700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Operating Margin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Operating Income / Revenue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Core operations profitability; cost control effectiveness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51700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Net Profit Margin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Net Income / Revenue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Bottom-line profitability; revenue conversion to profit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1700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Return on Assets (ROA)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Net Income / Total Assets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Asset productivity; profit per dollar of assets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51700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Return on Equity (ROE)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Net Income / Shareholders' Equity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Ultimate shareholder return; equity capital deployment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17007">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Return on Capital Employed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EBIT / Capital Employed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Returns on total capital including debt financing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bl>
          </a:graphicData>
        </a:graphic>
      </p:graphicFrame>
      <p:graphicFrame>
        <p:nvGraphicFramePr>
          <p:cNvPr id="5" name="Chart 0" descr=""/>
          <p:cNvGraphicFramePr/>
          <p:nvPr/>
        </p:nvGraphicFramePr>
        <p:xfrm>
          <a:off x="762000" y="5207000"/>
          <a:ext cx="6858000" cy="27940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p:nvPr/>
        </p:nvSpPr>
        <p:spPr>
          <a:xfrm>
            <a:off x="8382000" y="5207000"/>
            <a:ext cx="7112000" cy="27940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Margin Comparison Example</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Company A outperforms the industry across all margin levels, suggesting strong pricing power and cost discipline. The 20-point spread between gross and operating margins indicates manageable overhead.</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Company B trails in all categories — the narrow 8-point gross-to-net spread suggests limited pricing power and/or high overhead costs requiring operational restructuring.</a:t>
            </a:r>
            <a:endParaRPr lang="en-US" sz="1800" dirty="0"/>
          </a:p>
        </p:txBody>
      </p:sp>
      <p:sp>
        <p:nvSpPr>
          <p:cNvPr id="7" name="Text 3"/>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14</a:t>
            </a:r>
            <a:endParaRPr lang="en-US" sz="12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Efficiency ratios assess how well assets and resources generate revenue</a:t>
            </a:r>
            <a:endParaRPr lang="en-US" sz="2800" dirty="0"/>
          </a:p>
        </p:txBody>
      </p:sp>
      <p:sp>
        <p:nvSpPr>
          <p:cNvPr id="3" name="Shape 1"/>
          <p:cNvSpPr/>
          <p:nvPr/>
        </p:nvSpPr>
        <p:spPr>
          <a:xfrm>
            <a:off x="762000" y="1168400"/>
            <a:ext cx="14732000" cy="12700"/>
          </a:xfrm>
          <a:prstGeom prst="rect">
            <a:avLst/>
          </a:prstGeom>
          <a:solidFill>
            <a:srgbClr val="D1CFC9"/>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62000" y="1371600"/>
          <a:ext cx="14732000" cy="3937000"/>
        </p:xfrm>
        <a:graphic>
          <a:graphicData uri="http://schemas.openxmlformats.org/drawingml/2006/table">
            <a:tbl>
              <a:tblPr/>
              <a:tblGrid>
                <a:gridCol w="3535680"/>
                <a:gridCol w="5156200"/>
                <a:gridCol w="6040120"/>
              </a:tblGrid>
              <a:tr h="436020">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Ratio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Formula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What It Measures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50014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Asset Turnover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Revenue / Total Assets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How efficiently total assets generate sales revenue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0014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Inventory Turnover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COGS / Average Inventory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How quickly inventory is sold and replaced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50014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Days Sales in Inventory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365 / Inventory Turnover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Average days inventory sits before being sold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0014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Receivables Turnover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Revenue / Avg. Accts. Receivable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How quickly customers pay their bills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50014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Days Sales Outstanding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365 / Receivables Turnover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Average collection period in days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0014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Payables Turnover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COGS / Avg. Accts. Payable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How quickly the firm pays suppliers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50014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Cash Conversion Cycle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DSO + DII − DPO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Time from cash outlay to cash recovery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bl>
          </a:graphicData>
        </a:graphic>
      </p:graphicFrame>
      <p:sp>
        <p:nvSpPr>
          <p:cNvPr id="5" name="Shape 2"/>
          <p:cNvSpPr/>
          <p:nvPr/>
        </p:nvSpPr>
        <p:spPr>
          <a:xfrm>
            <a:off x="762000" y="5588000"/>
            <a:ext cx="50800" cy="2413000"/>
          </a:xfrm>
          <a:prstGeom prst="rect">
            <a:avLst/>
          </a:prstGeom>
          <a:solidFill>
            <a:srgbClr val="B8860B"/>
          </a:solidFill>
          <a:ln/>
        </p:spPr>
      </p:sp>
      <p:sp>
        <p:nvSpPr>
          <p:cNvPr id="6" name="Text 3"/>
          <p:cNvSpPr/>
          <p:nvPr/>
        </p:nvSpPr>
        <p:spPr>
          <a:xfrm>
            <a:off x="1016000" y="5588000"/>
            <a:ext cx="14224000" cy="24130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The Cash Conversion Cycle (CCC)</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is one of the most important integrated efficiency metrics. It measures the net time between cash outflows (paying suppliers) and cash inflows (collecting from customers), accounting for inventory holding time.</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A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shorter CCC</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indicates better working capital management. Companies like Dell and Amazon achieved competitive advantage through negative CCC — collecting from customers before paying suppliers. Conversely, a lengthening CCC signals deteriorating working capital efficiency and potential cash flow problems.</a:t>
            </a:r>
            <a:endParaRPr lang="en-US" sz="1800" dirty="0"/>
          </a:p>
        </p:txBody>
      </p:sp>
      <p:sp>
        <p:nvSpPr>
          <p:cNvPr id="7" name="Text 4"/>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15</a:t>
            </a:r>
            <a:endParaRPr lang="en-US" sz="12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Leverage ratios evaluate long-term solvency and financial risk exposure</a:t>
            </a:r>
            <a:endParaRPr lang="en-US" sz="2800" dirty="0"/>
          </a:p>
        </p:txBody>
      </p:sp>
      <p:sp>
        <p:nvSpPr>
          <p:cNvPr id="3" name="Shape 1"/>
          <p:cNvSpPr/>
          <p:nvPr/>
        </p:nvSpPr>
        <p:spPr>
          <a:xfrm>
            <a:off x="762000" y="1168400"/>
            <a:ext cx="14732000" cy="12700"/>
          </a:xfrm>
          <a:prstGeom prst="rect">
            <a:avLst/>
          </a:prstGeom>
          <a:solidFill>
            <a:srgbClr val="D1CFC9"/>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62000" y="1371600"/>
          <a:ext cx="14732000" cy="3111500"/>
        </p:xfrm>
        <a:graphic>
          <a:graphicData uri="http://schemas.openxmlformats.org/drawingml/2006/table">
            <a:tbl>
              <a:tblPr/>
              <a:tblGrid>
                <a:gridCol w="3535680"/>
                <a:gridCol w="5156200"/>
                <a:gridCol w="6040120"/>
              </a:tblGrid>
              <a:tr h="444500">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Ratio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Formula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What It Measures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44450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Debt-to-Equity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Total Debt / Shareholders' Equity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Relative proportion of debt vs. equity financing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44450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Debt-to-Assets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Total Debt / Total Assets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Percentage of assets financed by debt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44450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Equity Multiplier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Total Assets / Equity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Degree of leverage; key DuPont component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44450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Interest Coverage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EBIT / Interest Expense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Ability to service debt from operating earnings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44450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Debt Service Coverage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Operating Income / Total Debt Service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Capacity to meet all debt payments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44450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Fixed Charge Coverage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(EBIT + Fixed Chg.) / (Fixed Chg. + Int.)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Broader measure incl. lease obligations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bl>
          </a:graphicData>
        </a:graphic>
      </p:graphicFrame>
      <p:graphicFrame>
        <p:nvGraphicFramePr>
          <p:cNvPr id="5" name="Chart 0" descr=""/>
          <p:cNvGraphicFramePr/>
          <p:nvPr/>
        </p:nvGraphicFramePr>
        <p:xfrm>
          <a:off x="762000" y="5207000"/>
          <a:ext cx="6858000" cy="27940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p:nvPr/>
        </p:nvSpPr>
        <p:spPr>
          <a:xfrm>
            <a:off x="8382000" y="5207000"/>
            <a:ext cx="7112000" cy="27940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Risk Spectrum Analysis</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The chart illustrates typical leverage profiles across risk strategies. Conservative firms maintain D/E below 0.5 with interest coverage above 5x. Aggressive firms may carry D/E above 1.0 with coverage near 2x.</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An interest coverage ratio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below 1.5</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signals potential financial distress — the company generates insufficient operating profit to cover interest obligations comfortably.</a:t>
            </a:r>
            <a:endParaRPr lang="en-US" sz="1800" dirty="0"/>
          </a:p>
        </p:txBody>
      </p:sp>
      <p:sp>
        <p:nvSpPr>
          <p:cNvPr id="7" name="Text 3"/>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16</a:t>
            </a:r>
            <a:endParaRPr lang="en-US" sz="12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Market value ratios connect financial performance to shareholder returns</a:t>
            </a:r>
            <a:endParaRPr lang="en-US" sz="2800" dirty="0"/>
          </a:p>
        </p:txBody>
      </p:sp>
      <p:sp>
        <p:nvSpPr>
          <p:cNvPr id="3" name="Shape 1"/>
          <p:cNvSpPr/>
          <p:nvPr/>
        </p:nvSpPr>
        <p:spPr>
          <a:xfrm>
            <a:off x="762000" y="1168400"/>
            <a:ext cx="14732000" cy="12700"/>
          </a:xfrm>
          <a:prstGeom prst="rect">
            <a:avLst/>
          </a:prstGeom>
          <a:solidFill>
            <a:srgbClr val="D1CFC9"/>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62000" y="1371600"/>
          <a:ext cx="14732000" cy="2832100"/>
        </p:xfrm>
        <a:graphic>
          <a:graphicData uri="http://schemas.openxmlformats.org/drawingml/2006/table">
            <a:tbl>
              <a:tblPr/>
              <a:tblGrid>
                <a:gridCol w="3241040"/>
                <a:gridCol w="5156200"/>
                <a:gridCol w="6334760"/>
              </a:tblGrid>
              <a:tr h="429872">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Ratio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Formula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What It Measures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480446">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Earnings Per Share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(Net Income − Pref. Div.) / Wtd. Avg. Shares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Profitability per share; most widely cited metric</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480446">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Price-to-Earnings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Share Price / EPS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Price per dollar of earnings; growth expectations vs. overvaluation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480446">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Price-to-Book</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Market Price / Book Value per Share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Market valuation vs. accounting value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480446">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Dividend Yield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Annual Dividend / Share Price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Cash return relative to share price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480446">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Dividend Payout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Dividends / Net Income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Proportion of earnings distributed vs. retained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bl>
          </a:graphicData>
        </a:graphic>
      </p:graphicFrame>
      <p:sp>
        <p:nvSpPr>
          <p:cNvPr id="5" name="Shape 2"/>
          <p:cNvSpPr/>
          <p:nvPr/>
        </p:nvSpPr>
        <p:spPr>
          <a:xfrm>
            <a:off x="762000" y="4953000"/>
            <a:ext cx="50800" cy="3048000"/>
          </a:xfrm>
          <a:prstGeom prst="rect">
            <a:avLst/>
          </a:prstGeom>
          <a:solidFill>
            <a:srgbClr val="B8860B"/>
          </a:solidFill>
          <a:ln/>
        </p:spPr>
      </p:sp>
      <p:sp>
        <p:nvSpPr>
          <p:cNvPr id="6" name="Text 3"/>
          <p:cNvSpPr/>
          <p:nvPr/>
        </p:nvSpPr>
        <p:spPr>
          <a:xfrm>
            <a:off x="1016000" y="4953000"/>
            <a:ext cx="635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Valuation Context</a:t>
            </a:r>
            <a:endParaRPr lang="en-US" sz="1600" dirty="0"/>
          </a:p>
        </p:txBody>
      </p:sp>
      <p:sp>
        <p:nvSpPr>
          <p:cNvPr id="7" name="Text 4"/>
          <p:cNvSpPr/>
          <p:nvPr/>
        </p:nvSpPr>
        <p:spPr>
          <a:xfrm>
            <a:off x="1016000" y="5334000"/>
            <a:ext cx="14224000" cy="28575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Market value ratios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bridge accounting metrics and market valuations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helping investors assess whether a stock is fairly priced. These ratios are primarily applicable to publicly traded companies.</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A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high P/E ratio</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may indicate strong growth expectations (investors pay a premium for future earnings) or potential overvaluation. Comparing P/E to industry peers and historical averages provides context.</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The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P/B ratio</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is particularly useful for asset-heavy industries (banking, insurance, real estate) where book value approximates liquidation value. A P/B below 1.0 may signal undervaluation — or fundamental business problems.</a:t>
            </a:r>
            <a:endParaRPr lang="en-US" sz="1800" dirty="0"/>
          </a:p>
          <a:p>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Dividend yield</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appeals to income-focused investors, but an unusually high yield may indicate a declining stock price rather than generous distributions.</a:t>
            </a:r>
            <a:endParaRPr lang="en-US" sz="1800" dirty="0"/>
          </a:p>
        </p:txBody>
      </p:sp>
      <p:sp>
        <p:nvSpPr>
          <p:cNvPr id="8" name="Text 5"/>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17</a:t>
            </a:r>
            <a:endParaRPr lang="en-US" sz="12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The DuPont framework decomposes ROE into three performance drivers</a:t>
            </a:r>
            <a:endParaRPr lang="en-US" sz="2800" dirty="0"/>
          </a:p>
        </p:txBody>
      </p:sp>
      <p:sp>
        <p:nvSpPr>
          <p:cNvPr id="3" name="Shape 1"/>
          <p:cNvSpPr/>
          <p:nvPr/>
        </p:nvSpPr>
        <p:spPr>
          <a:xfrm>
            <a:off x="762000" y="1168400"/>
            <a:ext cx="14732000" cy="12700"/>
          </a:xfrm>
          <a:prstGeom prst="rect">
            <a:avLst/>
          </a:prstGeom>
          <a:solidFill>
            <a:srgbClr val="D1CFC9"/>
          </a:solidFill>
          <a:ln/>
        </p:spPr>
      </p:sp>
      <p:sp>
        <p:nvSpPr>
          <p:cNvPr id="4" name="Shape 2"/>
          <p:cNvSpPr/>
          <p:nvPr/>
        </p:nvSpPr>
        <p:spPr>
          <a:xfrm>
            <a:off x="762000" y="1397000"/>
            <a:ext cx="14732000" cy="889000"/>
          </a:xfrm>
          <a:prstGeom prst="rect">
            <a:avLst/>
          </a:prstGeom>
          <a:solidFill>
            <a:srgbClr val="1B4332"/>
          </a:solidFill>
          <a:ln/>
        </p:spPr>
      </p:sp>
      <p:sp>
        <p:nvSpPr>
          <p:cNvPr id="5" name="Text 3"/>
          <p:cNvSpPr/>
          <p:nvPr/>
        </p:nvSpPr>
        <p:spPr>
          <a:xfrm>
            <a:off x="762000" y="1397000"/>
            <a:ext cx="14732000" cy="889000"/>
          </a:xfrm>
          <a:prstGeom prst="rect">
            <a:avLst/>
          </a:prstGeom>
          <a:noFill/>
          <a:ln/>
        </p:spPr>
        <p:txBody>
          <a:bodyPr wrap="none" lIns="0" tIns="0" rIns="0" bIns="0" rtlCol="0" anchor="ctr"/>
          <a:lstStyle/>
          <a:p>
            <a:pPr algn="ctr">
              <a:lnSpc>
                <a:spcPct val="100000"/>
              </a:lnSpc>
            </a:pPr>
            <a:r>
              <a:rPr lang="en-US" sz="2200" dirty="0">
                <a:solidFill>
                  <a:srgbClr val="FFFFFF"/>
                </a:solidFill>
                <a:latin typeface="Oranienbaum" pitchFamily="34" charset="0"/>
                <a:ea typeface="Oranienbaum" pitchFamily="34" charset="-122"/>
                <a:cs typeface="Oranienbaum" pitchFamily="34" charset="-120"/>
              </a:rPr>
              <a:t>ROE = Net Profit Margin × Asset Turnover × Equity Multiplier</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62000" y="2540000"/>
          <a:ext cx="14732000" cy="2222500"/>
        </p:xfrm>
        <a:graphic>
          <a:graphicData uri="http://schemas.openxmlformats.org/drawingml/2006/table">
            <a:tbl>
              <a:tblPr/>
              <a:tblGrid>
                <a:gridCol w="3241040"/>
                <a:gridCol w="4419600"/>
                <a:gridCol w="7071360"/>
              </a:tblGrid>
              <a:tr h="498147">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Component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Formula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What It Measures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574784">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Net Profit Margin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Net Income / Revenue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Operating efficiency — pricing power and cost control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74784">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Asset Turnover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Revenue / Total Assets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Asset use efficiency — how well assets generate sales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574784">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Equity Multiplier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Total Assets / Equity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Financial leverage — degree of debt financing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bl>
          </a:graphicData>
        </a:graphic>
      </p:graphicFrame>
      <p:sp>
        <p:nvSpPr>
          <p:cNvPr id="7" name="Shape 4"/>
          <p:cNvSpPr/>
          <p:nvPr/>
        </p:nvSpPr>
        <p:spPr>
          <a:xfrm>
            <a:off x="762000" y="5016500"/>
            <a:ext cx="50800" cy="2984500"/>
          </a:xfrm>
          <a:prstGeom prst="rect">
            <a:avLst/>
          </a:prstGeom>
          <a:solidFill>
            <a:srgbClr val="B8860B"/>
          </a:solidFill>
          <a:ln/>
        </p:spPr>
      </p:sp>
      <p:sp>
        <p:nvSpPr>
          <p:cNvPr id="8" name="Text 5"/>
          <p:cNvSpPr/>
          <p:nvPr/>
        </p:nvSpPr>
        <p:spPr>
          <a:xfrm>
            <a:off x="1016000" y="5016500"/>
            <a:ext cx="508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Why DuPont Analysis Matters</a:t>
            </a:r>
            <a:endParaRPr lang="en-US" sz="1600" dirty="0"/>
          </a:p>
        </p:txBody>
      </p:sp>
      <p:sp>
        <p:nvSpPr>
          <p:cNvPr id="9" name="Text 6"/>
          <p:cNvSpPr/>
          <p:nvPr/>
        </p:nvSpPr>
        <p:spPr>
          <a:xfrm>
            <a:off x="1016000" y="5397500"/>
            <a:ext cx="14224000" cy="26035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Two companies with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identical ROE</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can have very different risk profiles. One may achieve returns through operational excellence (high margin, high turnover) while another relies on excessive leverage (high equity multiplier), which increases financial risk.</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Developed in 1919 by Donaldson Brown at DuPont de Nemours, this framework remains essential for equity research and corporate finance. It allows analysts to pinpoint whether ROE changes stem from operational performance, asset management, or capital structure decisions.</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The decomposition also enables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peer comparison at the driver level</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If Company A has higher ROE than Company B, DuPont analysis reveals whether the advantage comes from better margins, more efficient asset use, or simply more debt.</a:t>
            </a:r>
            <a:endParaRPr lang="en-US" sz="1800" dirty="0"/>
          </a:p>
        </p:txBody>
      </p:sp>
      <p:sp>
        <p:nvSpPr>
          <p:cNvPr id="10" name="Text 7"/>
          <p:cNvSpPr/>
          <p:nvPr/>
        </p:nvSpPr>
        <p:spPr>
          <a:xfrm>
            <a:off x="762000" y="8293100"/>
            <a:ext cx="7620000" cy="279400"/>
          </a:xfrm>
          <a:prstGeom prst="rect">
            <a:avLst/>
          </a:prstGeom>
          <a:noFill/>
          <a:ln/>
        </p:spPr>
        <p:txBody>
          <a:bodyPr wrap="square" lIns="0" tIns="0" rIns="0" bIns="0" rtlCol="0" anchor="ctr"/>
          <a:lstStyle/>
          <a:p>
            <a:pP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Source: </a:t>
            </a:r>
            <a:pPr>
              <a:lnSpc>
                <a:spcPct val="140000"/>
              </a:lnSpc>
            </a:pPr>
            <a:r>
              <a:rPr lang="en-US" sz="1200" u="sng" dirty="0">
                <a:solidFill>
                  <a:srgbClr val="6B7280"/>
                </a:solidFill>
                <a:latin typeface="QuattrocentoSans" pitchFamily="34" charset="0"/>
                <a:ea typeface="QuattrocentoSans" pitchFamily="34" charset="-122"/>
                <a:cs typeface="QuattrocentoSans" pitchFamily="34" charset="-120"/>
                <a:hlinkClick r:id="rId1" tooltip="" action="ppaction://hlinkfile">
                  <a:extLst>
                    <a:ext uri="{A12FA001-AC4F-418D-AE19-62706E023703}">
                      <ahyp:hlinkClr xmlns:ahyp="http://schemas.microsoft.com/office/drawing/2018/hyperlinkcolor" val="tx"/>
                    </a:ext>
                  </a:extLst>
                </a:hlinkClick>
              </a:rPr>
              <a:t>Investopedia, DuPont Analysis, 2025</a:t>
            </a:r>
            <a:endParaRPr lang="en-US" sz="1200" dirty="0"/>
          </a:p>
        </p:txBody>
      </p:sp>
      <p:sp>
        <p:nvSpPr>
          <p:cNvPr id="11" name="Text 8"/>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18</a:t>
            </a:r>
            <a:endParaRPr lang="en-US" sz="12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DuPont analysis enables precise diagnosis of performance strengths and weaknesses</a:t>
            </a:r>
            <a:endParaRPr lang="en-US" sz="2800" dirty="0"/>
          </a:p>
        </p:txBody>
      </p:sp>
      <p:sp>
        <p:nvSpPr>
          <p:cNvPr id="3" name="Shape 1"/>
          <p:cNvSpPr/>
          <p:nvPr/>
        </p:nvSpPr>
        <p:spPr>
          <a:xfrm>
            <a:off x="762000" y="1168400"/>
            <a:ext cx="14732000" cy="12700"/>
          </a:xfrm>
          <a:prstGeom prst="rect">
            <a:avLst/>
          </a:prstGeom>
          <a:solidFill>
            <a:srgbClr val="D1CFC9"/>
          </a:solidFill>
          <a:ln/>
        </p:spPr>
      </p:sp>
      <p:sp>
        <p:nvSpPr>
          <p:cNvPr id="4" name="Text 2"/>
          <p:cNvSpPr/>
          <p:nvPr/>
        </p:nvSpPr>
        <p:spPr>
          <a:xfrm>
            <a:off x="762000" y="1371600"/>
            <a:ext cx="635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Practical Application: Company A (ROE = 15%)</a:t>
            </a:r>
            <a:endParaRPr lang="en-US" sz="1600" dirty="0"/>
          </a:p>
        </p:txBody>
      </p:sp>
      <p:sp>
        <p:nvSpPr>
          <p:cNvPr id="5" name="Shape 3"/>
          <p:cNvSpPr/>
          <p:nvPr/>
        </p:nvSpPr>
        <p:spPr>
          <a:xfrm>
            <a:off x="762000" y="1752600"/>
            <a:ext cx="14732000" cy="25400"/>
          </a:xfrm>
          <a:prstGeom prst="rect">
            <a:avLst/>
          </a:prstGeom>
          <a:solidFill>
            <a:srgbClr val="D1CFC9"/>
          </a:solidFill>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62000" y="1930400"/>
          <a:ext cx="14732000" cy="1524000"/>
        </p:xfrm>
        <a:graphic>
          <a:graphicData uri="http://schemas.openxmlformats.org/drawingml/2006/table">
            <a:tbl>
              <a:tblPr/>
              <a:tblGrid>
                <a:gridCol w="3683000"/>
                <a:gridCol w="3683000"/>
                <a:gridCol w="3683000"/>
                <a:gridCol w="3683000"/>
              </a:tblGrid>
              <a:tr h="533400">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Net Profit Margin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Asset Turnover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Equity Multiplier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ROE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990600">
                <a:tc>
                  <a:txBody>
                    <a:bodyPr/>
                    <a:lstStyle/>
                    <a:p>
                      <a:pPr algn="l"/>
                      <a:r>
                        <a:rPr lang="en-US" sz="1400" u="none" dirty="0">
                          <a:solidFill>
                            <a:srgbClr val="B8860B"/>
                          </a:solidFill>
                          <a:latin typeface="QuattrocentoSans" pitchFamily="34" charset="0"/>
                          <a:ea typeface="QuattrocentoSans" pitchFamily="34" charset="-122"/>
                          <a:cs typeface="QuattrocentoSans" pitchFamily="34" charset="-120"/>
                        </a:rPr>
                        <a:t>10%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B8860B"/>
                          </a:solidFill>
                          <a:latin typeface="QuattrocentoSans" pitchFamily="34" charset="0"/>
                          <a:ea typeface="QuattrocentoSans" pitchFamily="34" charset="-122"/>
                          <a:cs typeface="QuattrocentoSans" pitchFamily="34" charset="-120"/>
                        </a:rPr>
                        <a:t>0.8x</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B8860B"/>
                          </a:solidFill>
                          <a:latin typeface="QuattrocentoSans" pitchFamily="34" charset="0"/>
                          <a:ea typeface="QuattrocentoSans" pitchFamily="34" charset="-122"/>
                          <a:cs typeface="QuattrocentoSans" pitchFamily="34" charset="-120"/>
                        </a:rPr>
                        <a:t>1.875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B4332"/>
                          </a:solidFill>
                          <a:latin typeface="QuattrocentoSans" pitchFamily="34" charset="0"/>
                          <a:ea typeface="QuattrocentoSans" pitchFamily="34" charset="-122"/>
                          <a:cs typeface="QuattrocentoSans" pitchFamily="34" charset="-120"/>
                        </a:rPr>
                        <a:t>15.0%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bl>
          </a:graphicData>
        </a:graphic>
      </p:graphicFrame>
      <p:sp>
        <p:nvSpPr>
          <p:cNvPr id="7" name="Text 4"/>
          <p:cNvSpPr/>
          <p:nvPr/>
        </p:nvSpPr>
        <p:spPr>
          <a:xfrm>
            <a:off x="762000" y="3619500"/>
            <a:ext cx="14732000" cy="355600"/>
          </a:xfrm>
          <a:prstGeom prst="rect">
            <a:avLst/>
          </a:prstGeom>
          <a:noFill/>
          <a:ln/>
        </p:spPr>
        <p:txBody>
          <a:bodyPr wrap="none" lIns="0" tIns="0" rIns="0" bIns="0" rtlCol="0" anchor="ctr"/>
          <a:lstStyle/>
          <a:p>
            <a:pPr algn="ctr">
              <a:lnSpc>
                <a:spcPct val="100000"/>
              </a:lnSpc>
            </a:pPr>
            <a:r>
              <a:rPr lang="en-US" sz="1600" dirty="0">
                <a:solidFill>
                  <a:srgbClr val="6B7280"/>
                </a:solidFill>
                <a:latin typeface="Quattrocento Sans" pitchFamily="34" charset="0"/>
                <a:ea typeface="Quattrocento Sans" pitchFamily="34" charset="-122"/>
                <a:cs typeface="Quattrocento Sans" pitchFamily="34" charset="-120"/>
              </a:rPr>
              <a:t>Verification: 10% × 0.8 × 1.875 = 15.0%</a:t>
            </a:r>
            <a:endParaRPr lang="en-US" sz="1600" dirty="0"/>
          </a:p>
        </p:txBody>
      </p:sp>
      <p:sp>
        <p:nvSpPr>
          <p:cNvPr id="8" name="Text 5"/>
          <p:cNvSpPr/>
          <p:nvPr/>
        </p:nvSpPr>
        <p:spPr>
          <a:xfrm>
            <a:off x="762000" y="4191000"/>
            <a:ext cx="508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Component Interpretation</a:t>
            </a:r>
            <a:endParaRPr lang="en-US" sz="1600" dirty="0"/>
          </a:p>
        </p:txBody>
      </p:sp>
      <p:sp>
        <p:nvSpPr>
          <p:cNvPr id="9" name="Shape 6"/>
          <p:cNvSpPr/>
          <p:nvPr/>
        </p:nvSpPr>
        <p:spPr>
          <a:xfrm>
            <a:off x="762000" y="4572000"/>
            <a:ext cx="14732000" cy="25400"/>
          </a:xfrm>
          <a:prstGeom prst="rect">
            <a:avLst/>
          </a:prstGeom>
          <a:solidFill>
            <a:srgbClr val="D1CFC9"/>
          </a:solidFill>
          <a:ln/>
        </p:spPr>
      </p:sp>
      <p:sp>
        <p:nvSpPr>
          <p:cNvPr id="10" name="Text 7"/>
          <p:cNvSpPr/>
          <p:nvPr/>
        </p:nvSpPr>
        <p:spPr>
          <a:xfrm>
            <a:off x="762000" y="4762500"/>
            <a:ext cx="4572000" cy="22860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10% Net Profit Margin</a:t>
            </a:r>
            <a:endParaRPr lang="en-US" sz="1800" dirty="0"/>
          </a:p>
          <a:p>
            <a:pPr>
              <a:lnSpc>
                <a:spcPct val="155000"/>
              </a:lnSpc>
              <a:spcBef>
                <a:spcPts val="400"/>
              </a:spcBef>
            </a:pPr>
            <a:r>
              <a:rPr lang="en-US" sz="1500" dirty="0">
                <a:solidFill>
                  <a:srgbClr val="1A1A2E"/>
                </a:solidFill>
                <a:latin typeface="QuattrocentoSans" pitchFamily="34" charset="0"/>
                <a:ea typeface="QuattrocentoSans" pitchFamily="34" charset="-122"/>
                <a:cs typeface="QuattrocentoSans" pitchFamily="34" charset="-120"/>
              </a:rPr>
              <a:t>Company A keeps $0.10 of profit from every dollar of revenue — showing healthy profitability from core operations with reasonable cost control.</a:t>
            </a:r>
            <a:endParaRPr lang="en-US" sz="1800" dirty="0"/>
          </a:p>
        </p:txBody>
      </p:sp>
      <p:sp>
        <p:nvSpPr>
          <p:cNvPr id="11" name="Text 8"/>
          <p:cNvSpPr/>
          <p:nvPr/>
        </p:nvSpPr>
        <p:spPr>
          <a:xfrm>
            <a:off x="5588000" y="4762500"/>
            <a:ext cx="4572000" cy="22860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0.8x Asset Turnover</a:t>
            </a:r>
            <a:endParaRPr lang="en-US" sz="1800" dirty="0"/>
          </a:p>
          <a:p>
            <a:pPr>
              <a:lnSpc>
                <a:spcPct val="155000"/>
              </a:lnSpc>
              <a:spcBef>
                <a:spcPts val="400"/>
              </a:spcBef>
            </a:pPr>
            <a:r>
              <a:rPr lang="en-US" sz="1500" dirty="0">
                <a:solidFill>
                  <a:srgbClr val="1A1A2E"/>
                </a:solidFill>
                <a:latin typeface="QuattrocentoSans" pitchFamily="34" charset="0"/>
                <a:ea typeface="QuattrocentoSans" pitchFamily="34" charset="-122"/>
                <a:cs typeface="QuattrocentoSans" pitchFamily="34" charset="-120"/>
              </a:rPr>
              <a:t>The company generates $0.80 in revenue for every $1 of assets — fairly efficient, but with room for improvement in asset utilization.</a:t>
            </a:r>
            <a:endParaRPr lang="en-US" sz="1800" dirty="0"/>
          </a:p>
        </p:txBody>
      </p:sp>
      <p:sp>
        <p:nvSpPr>
          <p:cNvPr id="12" name="Text 9"/>
          <p:cNvSpPr/>
          <p:nvPr/>
        </p:nvSpPr>
        <p:spPr>
          <a:xfrm>
            <a:off x="10414000" y="4762500"/>
            <a:ext cx="5080000" cy="22860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1.875 Equity Multiplier</a:t>
            </a:r>
            <a:endParaRPr lang="en-US" sz="1800" dirty="0"/>
          </a:p>
          <a:p>
            <a:pPr>
              <a:lnSpc>
                <a:spcPct val="155000"/>
              </a:lnSpc>
              <a:spcBef>
                <a:spcPts val="400"/>
              </a:spcBef>
            </a:pPr>
            <a:r>
              <a:rPr lang="en-US" sz="1500" dirty="0">
                <a:solidFill>
                  <a:srgbClr val="1A1A2E"/>
                </a:solidFill>
                <a:latin typeface="QuattrocentoSans" pitchFamily="34" charset="0"/>
                <a:ea typeface="QuattrocentoSans" pitchFamily="34" charset="-122"/>
                <a:cs typeface="QuattrocentoSans" pitchFamily="34" charset="-120"/>
              </a:rPr>
              <a:t>Moderate leverage — the company uses some debt, but not excessively. ROE is driven more by operational performance than financial risk.</a:t>
            </a:r>
            <a:endParaRPr lang="en-US" sz="1800" dirty="0"/>
          </a:p>
        </p:txBody>
      </p:sp>
      <p:sp>
        <p:nvSpPr>
          <p:cNvPr id="13" name="Text 10"/>
          <p:cNvSpPr/>
          <p:nvPr/>
        </p:nvSpPr>
        <p:spPr>
          <a:xfrm>
            <a:off x="762000" y="7239000"/>
            <a:ext cx="14732000" cy="825500"/>
          </a:xfrm>
          <a:prstGeom prst="rect">
            <a:avLst/>
          </a:prstGeom>
          <a:noFill/>
          <a:ln/>
        </p:spPr>
        <p:txBody>
          <a:bodyPr wrap="square" lIns="0" tIns="0" rIns="0" bIns="0" rtlCol="0" anchor="ctr"/>
          <a:lstStyle/>
          <a:p>
            <a:pPr>
              <a:lnSpc>
                <a:spcPct val="150000"/>
              </a:lnSpc>
            </a:pPr>
            <a:r>
              <a:rPr lang="en-US" sz="1500" b="1" dirty="0">
                <a:solidFill>
                  <a:srgbClr val="1A1A2E"/>
                </a:solidFill>
                <a:latin typeface="QuattrocentoSans" pitchFamily="34" charset="0"/>
                <a:ea typeface="QuattrocentoSans" pitchFamily="34" charset="-122"/>
                <a:cs typeface="QuattrocentoSans" pitchFamily="34" charset="-120"/>
              </a:rPr>
              <a:t>Conclusion:</a:t>
            </a:r>
            <a:pPr>
              <a:lnSpc>
                <a:spcPct val="150000"/>
              </a:lnSpc>
            </a:pPr>
            <a:r>
              <a:rPr lang="en-US" sz="1500" dirty="0">
                <a:solidFill>
                  <a:srgbClr val="1A1A2E"/>
                </a:solidFill>
                <a:latin typeface="QuattrocentoSans" pitchFamily="34" charset="0"/>
                <a:ea typeface="QuattrocentoSans" pitchFamily="34" charset="-122"/>
                <a:cs typeface="QuattrocentoSans" pitchFamily="34" charset="-120"/>
              </a:rPr>
              <a:t> This suggests balanced performance. If profitability drops, ROE falls even if efficiency and leverage stay constant. If asset turnover improves, ROE can rise even with the same margin. If leverage increases, ROE may grow — but so does financial risk.</a:t>
            </a:r>
            <a:endParaRPr lang="en-US" sz="1800" dirty="0"/>
          </a:p>
        </p:txBody>
      </p:sp>
      <p:sp>
        <p:nvSpPr>
          <p:cNvPr id="14" name="Text 11"/>
          <p:cNvSpPr/>
          <p:nvPr/>
        </p:nvSpPr>
        <p:spPr>
          <a:xfrm>
            <a:off x="762000" y="8293100"/>
            <a:ext cx="8890000" cy="279400"/>
          </a:xfrm>
          <a:prstGeom prst="rect">
            <a:avLst/>
          </a:prstGeom>
          <a:noFill/>
          <a:ln/>
        </p:spPr>
        <p:txBody>
          <a:bodyPr wrap="square" lIns="0" tIns="0" rIns="0" bIns="0" rtlCol="0" anchor="ctr"/>
          <a:lstStyle/>
          <a:p>
            <a:pP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Source: </a:t>
            </a:r>
            <a:pPr>
              <a:lnSpc>
                <a:spcPct val="140000"/>
              </a:lnSpc>
            </a:pPr>
            <a:r>
              <a:rPr lang="en-US" sz="1200" u="sng" dirty="0">
                <a:solidFill>
                  <a:srgbClr val="6B7280"/>
                </a:solidFill>
                <a:latin typeface="QuattrocentoSans" pitchFamily="34" charset="0"/>
                <a:ea typeface="QuattrocentoSans" pitchFamily="34" charset="-122"/>
                <a:cs typeface="QuattrocentoSans" pitchFamily="34" charset="-120"/>
                <a:hlinkClick r:id="rId1" tooltip="" action="ppaction://hlinkfile">
                  <a:extLst>
                    <a:ext uri="{A12FA001-AC4F-418D-AE19-62706E023703}">
                      <ahyp:hlinkClr xmlns:ahyp="http://schemas.microsoft.com/office/drawing/2018/hyperlinkcolor" val="tx"/>
                    </a:ext>
                  </a:extLst>
                </a:hlinkClick>
              </a:rPr>
              <a:t>Thinksters, DuPont Analysis Guide, 2025</a:t>
            </a:r>
            <a:endParaRPr lang="en-US" sz="1200" dirty="0"/>
          </a:p>
        </p:txBody>
      </p:sp>
      <p:sp>
        <p:nvSpPr>
          <p:cNvPr id="15" name="Text 12"/>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19</a:t>
            </a:r>
            <a:endParaRPr lang="en-US" sz="12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Ratio selection should align with analytical objectives and stakeholder perspective</a:t>
            </a:r>
            <a:endParaRPr lang="en-US" sz="2800" dirty="0"/>
          </a:p>
        </p:txBody>
      </p:sp>
      <p:sp>
        <p:nvSpPr>
          <p:cNvPr id="3" name="Shape 1"/>
          <p:cNvSpPr/>
          <p:nvPr/>
        </p:nvSpPr>
        <p:spPr>
          <a:xfrm>
            <a:off x="762000" y="1168400"/>
            <a:ext cx="14732000" cy="12700"/>
          </a:xfrm>
          <a:prstGeom prst="rect">
            <a:avLst/>
          </a:prstGeom>
          <a:solidFill>
            <a:srgbClr val="D1CFC9"/>
          </a:solidFill>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62000" y="1371600"/>
          <a:ext cx="14732000" cy="3937000"/>
        </p:xfrm>
        <a:graphic>
          <a:graphicData uri="http://schemas.openxmlformats.org/drawingml/2006/table">
            <a:tbl>
              <a:tblPr/>
              <a:tblGrid>
                <a:gridCol w="2651760"/>
                <a:gridCol w="5892800"/>
                <a:gridCol w="6187440"/>
              </a:tblGrid>
              <a:tr h="544344">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Stakeholder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Priority Ratios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Primary Concern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848164">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Creditors / Lenders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Current ratio, quick ratio, interest coverage, debt service coverage, cash flow ratios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Ability to meet debt obligations on time and in full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848164">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Equity Investors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ROE, ROA, EPS, P/E ratio, dividend yield, growth metrics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Return potential, capital appreciation, and valuation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848164">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Management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Operating margin, asset turnover, inventory turnover, receivables collection, efficiency ratios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Operational performance and resource optimization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848164">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Analysts / Regulators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Comprehensive ratio sets across all categories, trend analysis, peer comparisons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Overall financial health, compliance, and risk assessment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bl>
          </a:graphicData>
        </a:graphic>
      </p:graphicFrame>
      <p:sp>
        <p:nvSpPr>
          <p:cNvPr id="5" name="Shape 2"/>
          <p:cNvSpPr/>
          <p:nvPr/>
        </p:nvSpPr>
        <p:spPr>
          <a:xfrm>
            <a:off x="762000" y="5588000"/>
            <a:ext cx="50800" cy="2413000"/>
          </a:xfrm>
          <a:prstGeom prst="rect">
            <a:avLst/>
          </a:prstGeom>
          <a:solidFill>
            <a:srgbClr val="B8860B"/>
          </a:solidFill>
          <a:ln/>
        </p:spPr>
      </p:sp>
      <p:sp>
        <p:nvSpPr>
          <p:cNvPr id="6" name="Text 3"/>
          <p:cNvSpPr/>
          <p:nvPr/>
        </p:nvSpPr>
        <p:spPr>
          <a:xfrm>
            <a:off x="1016000" y="5588000"/>
            <a:ext cx="635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The Right Ratio for the Right Question</a:t>
            </a:r>
            <a:endParaRPr lang="en-US" sz="1600" dirty="0"/>
          </a:p>
        </p:txBody>
      </p:sp>
      <p:sp>
        <p:nvSpPr>
          <p:cNvPr id="7" name="Text 4"/>
          <p:cNvSpPr/>
          <p:nvPr/>
        </p:nvSpPr>
        <p:spPr>
          <a:xfrm>
            <a:off x="1016000" y="5969000"/>
            <a:ext cx="14224000" cy="20320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Selecting the appropriate ratios for the specific decision context is as important as calculating them correctly. A lender evaluating a loan application should not focus on P/E ratios; an equity investor should not rely solely on current ratio.</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Effective financial analysts develop a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stakeholder-aware toolkit</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 knowing which ratios matter to whom, and why. This perspective-driven approach ensures that analysis produces relevant, actionable insights rather than generic numerical summaries.</a:t>
            </a:r>
            <a:endParaRPr lang="en-US" sz="1800" dirty="0"/>
          </a:p>
        </p:txBody>
      </p:sp>
      <p:sp>
        <p:nvSpPr>
          <p:cNvPr id="8" name="Text 5"/>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20</a:t>
            </a:r>
            <a:endParaRPr lang="en-US" sz="12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Interpreting ratios requires context — there are no universal "good" or "bad" values</a:t>
            </a:r>
            <a:endParaRPr lang="en-US" sz="2800" dirty="0"/>
          </a:p>
        </p:txBody>
      </p:sp>
      <p:sp>
        <p:nvSpPr>
          <p:cNvPr id="3" name="Shape 1"/>
          <p:cNvSpPr/>
          <p:nvPr/>
        </p:nvSpPr>
        <p:spPr>
          <a:xfrm>
            <a:off x="762000" y="1168400"/>
            <a:ext cx="14732000" cy="12700"/>
          </a:xfrm>
          <a:prstGeom prst="rect">
            <a:avLst/>
          </a:prstGeom>
          <a:solidFill>
            <a:srgbClr val="D1CFC9"/>
          </a:solidFill>
          <a:ln/>
        </p:spPr>
      </p:sp>
      <p:sp>
        <p:nvSpPr>
          <p:cNvPr id="4" name="Text 2"/>
          <p:cNvSpPr/>
          <p:nvPr/>
        </p:nvSpPr>
        <p:spPr>
          <a:xfrm>
            <a:off x="762000" y="1371600"/>
            <a:ext cx="6858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Industry Context Matters</a:t>
            </a:r>
            <a:endParaRPr lang="en-US" sz="1600" dirty="0"/>
          </a:p>
        </p:txBody>
      </p:sp>
      <p:sp>
        <p:nvSpPr>
          <p:cNvPr id="5" name="Shape 3"/>
          <p:cNvSpPr/>
          <p:nvPr/>
        </p:nvSpPr>
        <p:spPr>
          <a:xfrm>
            <a:off x="762000" y="1752600"/>
            <a:ext cx="6858000" cy="25400"/>
          </a:xfrm>
          <a:prstGeom prst="rect">
            <a:avLst/>
          </a:prstGeom>
          <a:solidFill>
            <a:srgbClr val="1B4332"/>
          </a:solidFill>
          <a:ln/>
        </p:spPr>
      </p:sp>
      <p:sp>
        <p:nvSpPr>
          <p:cNvPr id="6" name="Text 4"/>
          <p:cNvSpPr/>
          <p:nvPr/>
        </p:nvSpPr>
        <p:spPr>
          <a:xfrm>
            <a:off x="762000" y="1879600"/>
            <a:ext cx="6858000" cy="2095500"/>
          </a:xfrm>
          <a:prstGeom prst="rect">
            <a:avLst/>
          </a:prstGeom>
          <a:noFill/>
          <a:ln/>
        </p:spPr>
        <p:txBody>
          <a:bodyPr wrap="square" lIns="0" tIns="0" rIns="0" bIns="0" rtlCol="0" anchor="ctr"/>
          <a:lstStyle/>
          <a:p>
            <a:pPr>
              <a:lnSpc>
                <a:spcPct val="155000"/>
              </a:lnSpc>
            </a:pPr>
            <a:r>
              <a:rPr lang="en-US" sz="1400" dirty="0">
                <a:solidFill>
                  <a:srgbClr val="1A1A2E"/>
                </a:solidFill>
                <a:latin typeface="QuattrocentoSans" pitchFamily="34" charset="0"/>
                <a:ea typeface="QuattrocentoSans" pitchFamily="34" charset="-122"/>
                <a:cs typeface="QuattrocentoSans" pitchFamily="34" charset="-120"/>
              </a:rPr>
              <a:t>A current ratio of 3.0 may be excellent for a utility but excessive for a retailer. Industry norms vary dramatically due to different business models, capital requirements, and operating cycles.</a:t>
            </a:r>
            <a:endParaRPr lang="en-US" sz="1800" dirty="0"/>
          </a:p>
          <a:p>
            <a:pPr>
              <a:lnSpc>
                <a:spcPct val="155000"/>
              </a:lnSpc>
              <a:spcBef>
                <a:spcPts val="600"/>
              </a:spcBef>
            </a:pPr>
            <a:r>
              <a:rPr lang="en-US" sz="1400" dirty="0">
                <a:solidFill>
                  <a:srgbClr val="1A1A2E"/>
                </a:solidFill>
                <a:latin typeface="QuattrocentoSans" pitchFamily="34" charset="0"/>
                <a:ea typeface="QuattrocentoSans" pitchFamily="34" charset="-122"/>
                <a:cs typeface="QuattrocentoSans" pitchFamily="34" charset="-120"/>
              </a:rPr>
              <a:t>Software companies typically show high margins and low asset turnover. Retailers show low margins but high turnover. Capital-intensive manufacturers carry higher leverage.</a:t>
            </a:r>
            <a:endParaRPr lang="en-US" sz="1800" dirty="0"/>
          </a:p>
        </p:txBody>
      </p:sp>
      <p:sp>
        <p:nvSpPr>
          <p:cNvPr id="7" name="Text 5"/>
          <p:cNvSpPr/>
          <p:nvPr/>
        </p:nvSpPr>
        <p:spPr>
          <a:xfrm>
            <a:off x="8382000" y="1371600"/>
            <a:ext cx="7112000" cy="330200"/>
          </a:xfrm>
          <a:prstGeom prst="rect">
            <a:avLst/>
          </a:prstGeom>
          <a:noFill/>
          <a:ln/>
        </p:spPr>
        <p:txBody>
          <a:bodyPr wrap="none" lIns="0" tIns="0" rIns="0" bIns="0" rtlCol="0" anchor="ctr"/>
          <a:lstStyle/>
          <a:p>
            <a:pPr>
              <a:lnSpc>
                <a:spcPct val="100000"/>
              </a:lnSpc>
            </a:pPr>
            <a:r>
              <a:rPr lang="en-US" sz="1600" dirty="0">
                <a:solidFill>
                  <a:srgbClr val="B8860B"/>
                </a:solidFill>
                <a:latin typeface="Oranienbaum" pitchFamily="34" charset="0"/>
                <a:ea typeface="Oranienbaum" pitchFamily="34" charset="-122"/>
                <a:cs typeface="Oranienbaum" pitchFamily="34" charset="-120"/>
              </a:rPr>
              <a:t>Trend and Cross-Sectional Analysis</a:t>
            </a:r>
            <a:endParaRPr lang="en-US" sz="1600" dirty="0"/>
          </a:p>
        </p:txBody>
      </p:sp>
      <p:sp>
        <p:nvSpPr>
          <p:cNvPr id="8" name="Shape 6"/>
          <p:cNvSpPr/>
          <p:nvPr/>
        </p:nvSpPr>
        <p:spPr>
          <a:xfrm>
            <a:off x="8382000" y="1752600"/>
            <a:ext cx="7112000" cy="25400"/>
          </a:xfrm>
          <a:prstGeom prst="rect">
            <a:avLst/>
          </a:prstGeom>
          <a:solidFill>
            <a:srgbClr val="B8860B"/>
          </a:solidFill>
          <a:ln/>
        </p:spPr>
      </p:sp>
      <p:sp>
        <p:nvSpPr>
          <p:cNvPr id="9" name="Text 7"/>
          <p:cNvSpPr/>
          <p:nvPr/>
        </p:nvSpPr>
        <p:spPr>
          <a:xfrm>
            <a:off x="8382000" y="1879600"/>
            <a:ext cx="7112000" cy="1905000"/>
          </a:xfrm>
          <a:prstGeom prst="rect">
            <a:avLst/>
          </a:prstGeom>
          <a:noFill/>
          <a:ln/>
        </p:spPr>
        <p:txBody>
          <a:bodyPr wrap="square" lIns="0" tIns="0" rIns="0" bIns="0" rtlCol="0" anchor="ctr"/>
          <a:lstStyle/>
          <a:p>
            <a:pPr>
              <a:lnSpc>
                <a:spcPct val="155000"/>
              </a:lnSpc>
            </a:pPr>
            <a:r>
              <a:rPr lang="en-US" sz="1400" dirty="0">
                <a:solidFill>
                  <a:srgbClr val="1A1A2E"/>
                </a:solidFill>
                <a:latin typeface="QuattrocentoSans" pitchFamily="34" charset="0"/>
                <a:ea typeface="QuattrocentoSans" pitchFamily="34" charset="-122"/>
                <a:cs typeface="QuattrocentoSans" pitchFamily="34" charset="-120"/>
              </a:rPr>
              <a:t>A declining ROE over three periods signals concern even if the absolute value appears acceptable. </a:t>
            </a:r>
            <a:pPr>
              <a:lnSpc>
                <a:spcPct val="155000"/>
              </a:lnSpc>
            </a:pPr>
            <a:r>
              <a:rPr lang="en-US" sz="1400" b="1" dirty="0">
                <a:solidFill>
                  <a:srgbClr val="1A1A2E"/>
                </a:solidFill>
                <a:latin typeface="QuattrocentoSans" pitchFamily="34" charset="0"/>
                <a:ea typeface="QuattrocentoSans" pitchFamily="34" charset="-122"/>
                <a:cs typeface="QuattrocentoSans" pitchFamily="34" charset="-120"/>
              </a:rPr>
              <a:t>Directional changes</a:t>
            </a:r>
            <a:pPr>
              <a:lnSpc>
                <a:spcPct val="155000"/>
              </a:lnSpc>
            </a:pPr>
            <a:r>
              <a:rPr lang="en-US" sz="1400" dirty="0">
                <a:solidFill>
                  <a:srgbClr val="1A1A2E"/>
                </a:solidFill>
                <a:latin typeface="QuattrocentoSans" pitchFamily="34" charset="0"/>
                <a:ea typeface="QuattrocentoSans" pitchFamily="34" charset="-122"/>
                <a:cs typeface="QuattrocentoSans" pitchFamily="34" charset="-120"/>
              </a:rPr>
              <a:t> often matter more than single-period values.</a:t>
            </a:r>
            <a:endParaRPr lang="en-US" sz="1800" dirty="0"/>
          </a:p>
          <a:p>
            <a:pPr>
              <a:lnSpc>
                <a:spcPct val="155000"/>
              </a:lnSpc>
              <a:spcBef>
                <a:spcPts val="600"/>
              </a:spcBef>
            </a:pPr>
            <a:r>
              <a:rPr lang="en-US" sz="1400" dirty="0">
                <a:solidFill>
                  <a:srgbClr val="1A1A2E"/>
                </a:solidFill>
                <a:latin typeface="QuattrocentoSans" pitchFamily="34" charset="0"/>
                <a:ea typeface="QuattrocentoSans" pitchFamily="34" charset="-122"/>
                <a:cs typeface="QuattrocentoSans" pitchFamily="34" charset="-120"/>
              </a:rPr>
              <a:t>Comparing against direct competitors and industry medians provides the most relevant benchmark. Broad sector averages may mask important segment differences.</a:t>
            </a:r>
            <a:endParaRPr lang="en-US" sz="1800" dirty="0"/>
          </a:p>
        </p:txBody>
      </p:sp>
      <p:sp>
        <p:nvSpPr>
          <p:cNvPr id="10" name="Shape 8"/>
          <p:cNvSpPr/>
          <p:nvPr/>
        </p:nvSpPr>
        <p:spPr>
          <a:xfrm>
            <a:off x="762000" y="4000500"/>
            <a:ext cx="14732000" cy="12700"/>
          </a:xfrm>
          <a:prstGeom prst="rect">
            <a:avLst/>
          </a:prstGeom>
          <a:solidFill>
            <a:srgbClr val="D1CFC9"/>
          </a:solidFill>
          <a:ln/>
        </p:spPr>
      </p:sp>
      <p:graphicFrame>
        <p:nvGraphicFramePr>
          <p:cNvPr id="11" name="Chart 0" descr=""/>
          <p:cNvGraphicFramePr/>
          <p:nvPr/>
        </p:nvGraphicFramePr>
        <p:xfrm>
          <a:off x="762000" y="4191000"/>
          <a:ext cx="7112000" cy="393700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8382000" y="4191000"/>
            <a:ext cx="7112000" cy="4064000"/>
          </a:xfrm>
          <a:prstGeom prst="rect">
            <a:avLst/>
          </a:prstGeom>
          <a:noFill/>
          <a:ln/>
        </p:spPr>
        <p:txBody>
          <a:bodyPr wrap="square" lIns="0" tIns="0" rIns="0" bIns="0" rtlCol="0" anchor="ctr"/>
          <a:lstStyle/>
          <a:p>
            <a:pPr>
              <a:lnSpc>
                <a:spcPct val="155000"/>
              </a:lnSpc>
            </a:pPr>
            <a:r>
              <a:rPr lang="en-US" sz="1400" b="1" dirty="0">
                <a:solidFill>
                  <a:srgbClr val="1B4332"/>
                </a:solidFill>
                <a:latin typeface="QuattrocentoSans" pitchFamily="34" charset="0"/>
                <a:ea typeface="QuattrocentoSans" pitchFamily="34" charset="-122"/>
                <a:cs typeface="QuattrocentoSans" pitchFamily="34" charset="-120"/>
              </a:rPr>
              <a:t>Ratio Interdependencies</a:t>
            </a:r>
            <a:endParaRPr lang="en-US" sz="1800" dirty="0"/>
          </a:p>
          <a:p>
            <a:pPr>
              <a:lnSpc>
                <a:spcPct val="155000"/>
              </a:lnSpc>
              <a:spcBef>
                <a:spcPts val="400"/>
              </a:spcBef>
            </a:pPr>
            <a:r>
              <a:rPr lang="en-US" sz="1400" dirty="0">
                <a:solidFill>
                  <a:srgbClr val="1A1A2E"/>
                </a:solidFill>
                <a:latin typeface="QuattrocentoSans" pitchFamily="34" charset="0"/>
                <a:ea typeface="QuattrocentoSans" pitchFamily="34" charset="-122"/>
                <a:cs typeface="QuattrocentoSans" pitchFamily="34" charset="-120"/>
              </a:rPr>
              <a:t>Ratios within and across categories are interconnected. Improving inventory turnover may reduce the current ratio — trade-offs must be evaluated holistically.</a:t>
            </a:r>
            <a:endParaRPr lang="en-US" sz="1800" dirty="0"/>
          </a:p>
          <a:p>
            <a:pPr>
              <a:lnSpc>
                <a:spcPct val="155000"/>
              </a:lnSpc>
              <a:spcBef>
                <a:spcPts val="800"/>
              </a:spcBef>
            </a:pPr>
            <a:r>
              <a:rPr lang="en-US" sz="1400" b="1" dirty="0">
                <a:solidFill>
                  <a:srgbClr val="1B4332"/>
                </a:solidFill>
                <a:latin typeface="QuattrocentoSans" pitchFamily="34" charset="0"/>
                <a:ea typeface="QuattrocentoSans" pitchFamily="34" charset="-122"/>
                <a:cs typeface="QuattrocentoSans" pitchFamily="34" charset="-120"/>
              </a:rPr>
              <a:t>Qualitative Factors</a:t>
            </a:r>
            <a:endParaRPr lang="en-US" sz="1800" dirty="0"/>
          </a:p>
          <a:p>
            <a:pPr>
              <a:lnSpc>
                <a:spcPct val="155000"/>
              </a:lnSpc>
              <a:spcBef>
                <a:spcPts val="400"/>
              </a:spcBef>
            </a:pPr>
            <a:r>
              <a:rPr lang="en-US" sz="1400" dirty="0">
                <a:solidFill>
                  <a:srgbClr val="1A1A2E"/>
                </a:solidFill>
                <a:latin typeface="QuattrocentoSans" pitchFamily="34" charset="0"/>
                <a:ea typeface="QuattrocentoSans" pitchFamily="34" charset="-122"/>
                <a:cs typeface="QuattrocentoSans" pitchFamily="34" charset="-120"/>
              </a:rPr>
              <a:t>Management quality, competitive positioning, and macroeconomic conditions influence ratio interpretation. A strong current ratio loses meaning if the CEO is departing and key contracts are expiring.</a:t>
            </a:r>
            <a:endParaRPr lang="en-US" sz="1800" dirty="0"/>
          </a:p>
          <a:p>
            <a:pPr>
              <a:lnSpc>
                <a:spcPct val="155000"/>
              </a:lnSpc>
              <a:spcBef>
                <a:spcPts val="800"/>
              </a:spcBef>
            </a:pPr>
            <a:r>
              <a:rPr lang="en-US" sz="1400" b="1" dirty="0">
                <a:solidFill>
                  <a:srgbClr val="1B4332"/>
                </a:solidFill>
                <a:latin typeface="QuattrocentoSans" pitchFamily="34" charset="0"/>
                <a:ea typeface="QuattrocentoSans" pitchFamily="34" charset="-122"/>
                <a:cs typeface="QuattrocentoSans" pitchFamily="34" charset="-120"/>
              </a:rPr>
              <a:t>Chart Insight: ROE Trend Analysis</a:t>
            </a:r>
            <a:endParaRPr lang="en-US" sz="1800" dirty="0"/>
          </a:p>
          <a:p>
            <a:pPr>
              <a:lnSpc>
                <a:spcPct val="155000"/>
              </a:lnSpc>
              <a:spcBef>
                <a:spcPts val="400"/>
              </a:spcBef>
            </a:pPr>
            <a:r>
              <a:rPr lang="en-US" sz="1400" dirty="0">
                <a:solidFill>
                  <a:srgbClr val="1A1A2E"/>
                </a:solidFill>
                <a:latin typeface="QuattrocentoSans" pitchFamily="34" charset="0"/>
                <a:ea typeface="QuattrocentoSans" pitchFamily="34" charset="-122"/>
                <a:cs typeface="QuattrocentoSans" pitchFamily="34" charset="-120"/>
              </a:rPr>
              <a:t>Our Company's ROE declined from 18% to 11% over five years while the industry held steady and a top competitor improved. This divergence signals company-specific problems requiring immediate investigation — not industry-wide headwinds.</a:t>
            </a:r>
            <a:endParaRPr lang="en-US" sz="1800" dirty="0"/>
          </a:p>
        </p:txBody>
      </p:sp>
      <p:sp>
        <p:nvSpPr>
          <p:cNvPr id="13" name="Text 10"/>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21</a:t>
            </a:r>
            <a:endParaRPr lang="en-US" sz="12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A systematic approach to ratio analysis ensures comprehensive evaluation</a:t>
            </a:r>
            <a:endParaRPr lang="en-US" sz="2800" dirty="0"/>
          </a:p>
        </p:txBody>
      </p:sp>
      <p:sp>
        <p:nvSpPr>
          <p:cNvPr id="3" name="Shape 1"/>
          <p:cNvSpPr/>
          <p:nvPr/>
        </p:nvSpPr>
        <p:spPr>
          <a:xfrm>
            <a:off x="762000" y="1168400"/>
            <a:ext cx="14732000" cy="12700"/>
          </a:xfrm>
          <a:prstGeom prst="rect">
            <a:avLst/>
          </a:prstGeom>
          <a:solidFill>
            <a:srgbClr val="D1CFC9"/>
          </a:solidFill>
          <a:ln/>
        </p:spPr>
      </p:sp>
      <p:sp>
        <p:nvSpPr>
          <p:cNvPr id="4" name="Shape 2"/>
          <p:cNvSpPr/>
          <p:nvPr/>
        </p:nvSpPr>
        <p:spPr>
          <a:xfrm>
            <a:off x="762000" y="1422400"/>
            <a:ext cx="406400" cy="406400"/>
          </a:xfrm>
          <a:prstGeom prst="ellipse">
            <a:avLst/>
          </a:prstGeom>
          <a:solidFill>
            <a:srgbClr val="1B4332"/>
          </a:solidFill>
          <a:ln/>
        </p:spPr>
      </p:sp>
      <p:sp>
        <p:nvSpPr>
          <p:cNvPr id="5" name="Text 3"/>
          <p:cNvSpPr/>
          <p:nvPr/>
        </p:nvSpPr>
        <p:spPr>
          <a:xfrm>
            <a:off x="762000" y="14224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Oranienbaum" pitchFamily="34" charset="0"/>
                <a:ea typeface="Oranienbaum" pitchFamily="34" charset="-122"/>
                <a:cs typeface="Oranienbaum" pitchFamily="34" charset="-120"/>
              </a:rPr>
              <a:t>1</a:t>
            </a:r>
            <a:endParaRPr lang="en-US" sz="1600" dirty="0"/>
          </a:p>
        </p:txBody>
      </p:sp>
      <p:sp>
        <p:nvSpPr>
          <p:cNvPr id="6" name="Text 4"/>
          <p:cNvSpPr/>
          <p:nvPr/>
        </p:nvSpPr>
        <p:spPr>
          <a:xfrm>
            <a:off x="1295400" y="1422400"/>
            <a:ext cx="3175000" cy="304800"/>
          </a:xfrm>
          <a:prstGeom prst="rect">
            <a:avLst/>
          </a:prstGeom>
          <a:noFill/>
          <a:ln/>
        </p:spPr>
        <p:txBody>
          <a:bodyPr wrap="none" lIns="0" tIns="0" rIns="0" bIns="0" rtlCol="0" anchor="ctr"/>
          <a:lstStyle/>
          <a:p>
            <a:pPr>
              <a:lnSpc>
                <a:spcPct val="100000"/>
              </a:lnSpc>
            </a:pPr>
            <a:r>
              <a:rPr lang="en-US" sz="1500" dirty="0">
                <a:solidFill>
                  <a:srgbClr val="1B4332"/>
                </a:solidFill>
                <a:latin typeface="Oranienbaum" pitchFamily="34" charset="0"/>
                <a:ea typeface="Oranienbaum" pitchFamily="34" charset="-122"/>
                <a:cs typeface="Oranienbaum" pitchFamily="34" charset="-120"/>
              </a:rPr>
              <a:t>Calculate Core Ratios</a:t>
            </a:r>
            <a:endParaRPr lang="en-US" sz="1600" dirty="0"/>
          </a:p>
        </p:txBody>
      </p:sp>
      <p:sp>
        <p:nvSpPr>
          <p:cNvPr id="7" name="Text 5"/>
          <p:cNvSpPr/>
          <p:nvPr/>
        </p:nvSpPr>
        <p:spPr>
          <a:xfrm>
            <a:off x="1295400" y="1752600"/>
            <a:ext cx="5842000" cy="533400"/>
          </a:xfrm>
          <a:prstGeom prst="rect">
            <a:avLst/>
          </a:prstGeom>
          <a:noFill/>
          <a:ln/>
        </p:spPr>
        <p:txBody>
          <a:bodyPr wrap="square" lIns="0" tIns="0" rIns="0" bIns="0" rtlCol="0" anchor="ctr"/>
          <a:lstStyle/>
          <a:p>
            <a:pPr>
              <a:lnSpc>
                <a:spcPct val="150000"/>
              </a:lnSpc>
            </a:pPr>
            <a:r>
              <a:rPr lang="en-US" sz="1400" dirty="0">
                <a:solidFill>
                  <a:srgbClr val="1A1A2E"/>
                </a:solidFill>
                <a:latin typeface="QuattrocentoSans" pitchFamily="34" charset="0"/>
                <a:ea typeface="QuattrocentoSans" pitchFamily="34" charset="-122"/>
                <a:cs typeface="QuattrocentoSans" pitchFamily="34" charset="-120"/>
              </a:rPr>
              <a:t>Compute ratios across all five categories for the target company.</a:t>
            </a:r>
            <a:endParaRPr lang="en-US" sz="1800" dirty="0"/>
          </a:p>
        </p:txBody>
      </p:sp>
      <p:sp>
        <p:nvSpPr>
          <p:cNvPr id="8" name="Shape 6"/>
          <p:cNvSpPr/>
          <p:nvPr/>
        </p:nvSpPr>
        <p:spPr>
          <a:xfrm>
            <a:off x="8382000" y="1422400"/>
            <a:ext cx="406400" cy="406400"/>
          </a:xfrm>
          <a:prstGeom prst="ellipse">
            <a:avLst/>
          </a:prstGeom>
          <a:solidFill>
            <a:srgbClr val="1B4332"/>
          </a:solidFill>
          <a:ln/>
        </p:spPr>
      </p:sp>
      <p:sp>
        <p:nvSpPr>
          <p:cNvPr id="9" name="Text 7"/>
          <p:cNvSpPr/>
          <p:nvPr/>
        </p:nvSpPr>
        <p:spPr>
          <a:xfrm>
            <a:off x="8382000" y="14224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Oranienbaum" pitchFamily="34" charset="0"/>
                <a:ea typeface="Oranienbaum" pitchFamily="34" charset="-122"/>
                <a:cs typeface="Oranienbaum" pitchFamily="34" charset="-120"/>
              </a:rPr>
              <a:t>2</a:t>
            </a:r>
            <a:endParaRPr lang="en-US" sz="1600" dirty="0"/>
          </a:p>
        </p:txBody>
      </p:sp>
      <p:sp>
        <p:nvSpPr>
          <p:cNvPr id="10" name="Text 8"/>
          <p:cNvSpPr/>
          <p:nvPr/>
        </p:nvSpPr>
        <p:spPr>
          <a:xfrm>
            <a:off x="8915400" y="1422400"/>
            <a:ext cx="3175000" cy="304800"/>
          </a:xfrm>
          <a:prstGeom prst="rect">
            <a:avLst/>
          </a:prstGeom>
          <a:noFill/>
          <a:ln/>
        </p:spPr>
        <p:txBody>
          <a:bodyPr wrap="none" lIns="0" tIns="0" rIns="0" bIns="0" rtlCol="0" anchor="ctr"/>
          <a:lstStyle/>
          <a:p>
            <a:pPr>
              <a:lnSpc>
                <a:spcPct val="100000"/>
              </a:lnSpc>
            </a:pPr>
            <a:r>
              <a:rPr lang="en-US" sz="1500" dirty="0">
                <a:solidFill>
                  <a:srgbClr val="1B4332"/>
                </a:solidFill>
                <a:latin typeface="Oranienbaum" pitchFamily="34" charset="0"/>
                <a:ea typeface="Oranienbaum" pitchFamily="34" charset="-122"/>
                <a:cs typeface="Oranienbaum" pitchFamily="34" charset="-120"/>
              </a:rPr>
              <a:t>Establish Benchmarks</a:t>
            </a:r>
            <a:endParaRPr lang="en-US" sz="1600" dirty="0"/>
          </a:p>
        </p:txBody>
      </p:sp>
      <p:sp>
        <p:nvSpPr>
          <p:cNvPr id="11" name="Text 9"/>
          <p:cNvSpPr/>
          <p:nvPr/>
        </p:nvSpPr>
        <p:spPr>
          <a:xfrm>
            <a:off x="8915400" y="1752600"/>
            <a:ext cx="6477000" cy="533400"/>
          </a:xfrm>
          <a:prstGeom prst="rect">
            <a:avLst/>
          </a:prstGeom>
          <a:noFill/>
          <a:ln/>
        </p:spPr>
        <p:txBody>
          <a:bodyPr wrap="square" lIns="0" tIns="0" rIns="0" bIns="0" rtlCol="0" anchor="ctr"/>
          <a:lstStyle/>
          <a:p>
            <a:pPr>
              <a:lnSpc>
                <a:spcPct val="150000"/>
              </a:lnSpc>
            </a:pPr>
            <a:r>
              <a:rPr lang="en-US" sz="1400" dirty="0">
                <a:solidFill>
                  <a:srgbClr val="1A1A2E"/>
                </a:solidFill>
                <a:latin typeface="QuattrocentoSans" pitchFamily="34" charset="0"/>
                <a:ea typeface="QuattrocentoSans" pitchFamily="34" charset="-122"/>
                <a:cs typeface="QuattrocentoSans" pitchFamily="34" charset="-120"/>
              </a:rPr>
              <a:t>Use historical data, industry averages, and peer comparisons.</a:t>
            </a:r>
            <a:endParaRPr lang="en-US" sz="1800" dirty="0"/>
          </a:p>
        </p:txBody>
      </p:sp>
      <p:sp>
        <p:nvSpPr>
          <p:cNvPr id="12" name="Shape 10"/>
          <p:cNvSpPr/>
          <p:nvPr/>
        </p:nvSpPr>
        <p:spPr>
          <a:xfrm>
            <a:off x="762000" y="2476500"/>
            <a:ext cx="406400" cy="406400"/>
          </a:xfrm>
          <a:prstGeom prst="ellipse">
            <a:avLst/>
          </a:prstGeom>
          <a:solidFill>
            <a:srgbClr val="1B4332"/>
          </a:solidFill>
          <a:ln/>
        </p:spPr>
      </p:sp>
      <p:sp>
        <p:nvSpPr>
          <p:cNvPr id="13" name="Text 11"/>
          <p:cNvSpPr/>
          <p:nvPr/>
        </p:nvSpPr>
        <p:spPr>
          <a:xfrm>
            <a:off x="762000" y="24765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Oranienbaum" pitchFamily="34" charset="0"/>
                <a:ea typeface="Oranienbaum" pitchFamily="34" charset="-122"/>
                <a:cs typeface="Oranienbaum" pitchFamily="34" charset="-120"/>
              </a:rPr>
              <a:t>3</a:t>
            </a:r>
            <a:endParaRPr lang="en-US" sz="1600" dirty="0"/>
          </a:p>
        </p:txBody>
      </p:sp>
      <p:sp>
        <p:nvSpPr>
          <p:cNvPr id="14" name="Text 12"/>
          <p:cNvSpPr/>
          <p:nvPr/>
        </p:nvSpPr>
        <p:spPr>
          <a:xfrm>
            <a:off x="1295400" y="2476500"/>
            <a:ext cx="3175000" cy="304800"/>
          </a:xfrm>
          <a:prstGeom prst="rect">
            <a:avLst/>
          </a:prstGeom>
          <a:noFill/>
          <a:ln/>
        </p:spPr>
        <p:txBody>
          <a:bodyPr wrap="none" lIns="0" tIns="0" rIns="0" bIns="0" rtlCol="0" anchor="ctr"/>
          <a:lstStyle/>
          <a:p>
            <a:pPr>
              <a:lnSpc>
                <a:spcPct val="100000"/>
              </a:lnSpc>
            </a:pPr>
            <a:r>
              <a:rPr lang="en-US" sz="1500" dirty="0">
                <a:solidFill>
                  <a:srgbClr val="1B4332"/>
                </a:solidFill>
                <a:latin typeface="Oranienbaum" pitchFamily="34" charset="0"/>
                <a:ea typeface="Oranienbaum" pitchFamily="34" charset="-122"/>
                <a:cs typeface="Oranienbaum" pitchFamily="34" charset="-120"/>
              </a:rPr>
              <a:t>Identify Deviations</a:t>
            </a:r>
            <a:endParaRPr lang="en-US" sz="1600" dirty="0"/>
          </a:p>
        </p:txBody>
      </p:sp>
      <p:sp>
        <p:nvSpPr>
          <p:cNvPr id="15" name="Text 13"/>
          <p:cNvSpPr/>
          <p:nvPr/>
        </p:nvSpPr>
        <p:spPr>
          <a:xfrm>
            <a:off x="1295400" y="2806700"/>
            <a:ext cx="5842000" cy="533400"/>
          </a:xfrm>
          <a:prstGeom prst="rect">
            <a:avLst/>
          </a:prstGeom>
          <a:noFill/>
          <a:ln/>
        </p:spPr>
        <p:txBody>
          <a:bodyPr wrap="square" lIns="0" tIns="0" rIns="0" bIns="0" rtlCol="0" anchor="ctr"/>
          <a:lstStyle/>
          <a:p>
            <a:pPr>
              <a:lnSpc>
                <a:spcPct val="150000"/>
              </a:lnSpc>
            </a:pPr>
            <a:r>
              <a:rPr lang="en-US" sz="1400" dirty="0">
                <a:solidFill>
                  <a:srgbClr val="1A1A2E"/>
                </a:solidFill>
                <a:latin typeface="QuattrocentoSans" pitchFamily="34" charset="0"/>
                <a:ea typeface="QuattrocentoSans" pitchFamily="34" charset="-122"/>
                <a:cs typeface="QuattrocentoSans" pitchFamily="34" charset="-120"/>
              </a:rPr>
              <a:t>Flag ratios significantly above or below benchmarks for investigation.</a:t>
            </a:r>
            <a:endParaRPr lang="en-US" sz="1800" dirty="0"/>
          </a:p>
        </p:txBody>
      </p:sp>
      <p:sp>
        <p:nvSpPr>
          <p:cNvPr id="16" name="Shape 14"/>
          <p:cNvSpPr/>
          <p:nvPr/>
        </p:nvSpPr>
        <p:spPr>
          <a:xfrm>
            <a:off x="8382000" y="2476500"/>
            <a:ext cx="406400" cy="406400"/>
          </a:xfrm>
          <a:prstGeom prst="ellipse">
            <a:avLst/>
          </a:prstGeom>
          <a:solidFill>
            <a:srgbClr val="1B4332"/>
          </a:solidFill>
          <a:ln/>
        </p:spPr>
      </p:sp>
      <p:sp>
        <p:nvSpPr>
          <p:cNvPr id="17" name="Text 15"/>
          <p:cNvSpPr/>
          <p:nvPr/>
        </p:nvSpPr>
        <p:spPr>
          <a:xfrm>
            <a:off x="8382000" y="24765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Oranienbaum" pitchFamily="34" charset="0"/>
                <a:ea typeface="Oranienbaum" pitchFamily="34" charset="-122"/>
                <a:cs typeface="Oranienbaum" pitchFamily="34" charset="-120"/>
              </a:rPr>
              <a:t>4</a:t>
            </a:r>
            <a:endParaRPr lang="en-US" sz="1600" dirty="0"/>
          </a:p>
        </p:txBody>
      </p:sp>
      <p:sp>
        <p:nvSpPr>
          <p:cNvPr id="18" name="Text 16"/>
          <p:cNvSpPr/>
          <p:nvPr/>
        </p:nvSpPr>
        <p:spPr>
          <a:xfrm>
            <a:off x="8915400" y="2476500"/>
            <a:ext cx="3810000" cy="304800"/>
          </a:xfrm>
          <a:prstGeom prst="rect">
            <a:avLst/>
          </a:prstGeom>
          <a:noFill/>
          <a:ln/>
        </p:spPr>
        <p:txBody>
          <a:bodyPr wrap="none" lIns="0" tIns="0" rIns="0" bIns="0" rtlCol="0" anchor="ctr"/>
          <a:lstStyle/>
          <a:p>
            <a:pPr>
              <a:lnSpc>
                <a:spcPct val="100000"/>
              </a:lnSpc>
            </a:pPr>
            <a:r>
              <a:rPr lang="en-US" sz="1500" dirty="0">
                <a:solidFill>
                  <a:srgbClr val="1B4332"/>
                </a:solidFill>
                <a:latin typeface="Oranienbaum" pitchFamily="34" charset="0"/>
                <a:ea typeface="Oranienbaum" pitchFamily="34" charset="-122"/>
                <a:cs typeface="Oranienbaum" pitchFamily="34" charset="-120"/>
              </a:rPr>
              <a:t>Analyze Relationships</a:t>
            </a:r>
            <a:endParaRPr lang="en-US" sz="1600" dirty="0"/>
          </a:p>
        </p:txBody>
      </p:sp>
      <p:sp>
        <p:nvSpPr>
          <p:cNvPr id="19" name="Text 17"/>
          <p:cNvSpPr/>
          <p:nvPr/>
        </p:nvSpPr>
        <p:spPr>
          <a:xfrm>
            <a:off x="8915400" y="2806700"/>
            <a:ext cx="6477000" cy="533400"/>
          </a:xfrm>
          <a:prstGeom prst="rect">
            <a:avLst/>
          </a:prstGeom>
          <a:noFill/>
          <a:ln/>
        </p:spPr>
        <p:txBody>
          <a:bodyPr wrap="square" lIns="0" tIns="0" rIns="0" bIns="0" rtlCol="0" anchor="ctr"/>
          <a:lstStyle/>
          <a:p>
            <a:pPr>
              <a:lnSpc>
                <a:spcPct val="150000"/>
              </a:lnSpc>
            </a:pPr>
            <a:r>
              <a:rPr lang="en-US" sz="1400" dirty="0">
                <a:solidFill>
                  <a:srgbClr val="1A1A2E"/>
                </a:solidFill>
                <a:latin typeface="QuattrocentoSans" pitchFamily="34" charset="0"/>
                <a:ea typeface="QuattrocentoSans" pitchFamily="34" charset="-122"/>
                <a:cs typeface="QuattrocentoSans" pitchFamily="34" charset="-120"/>
              </a:rPr>
              <a:t>Examine how ratios interact (e.g., does high leverage explain high ROE?).</a:t>
            </a:r>
            <a:endParaRPr lang="en-US" sz="1800" dirty="0"/>
          </a:p>
        </p:txBody>
      </p:sp>
      <p:sp>
        <p:nvSpPr>
          <p:cNvPr id="20" name="Shape 18"/>
          <p:cNvSpPr/>
          <p:nvPr/>
        </p:nvSpPr>
        <p:spPr>
          <a:xfrm>
            <a:off x="762000" y="3530600"/>
            <a:ext cx="406400" cy="406400"/>
          </a:xfrm>
          <a:prstGeom prst="ellipse">
            <a:avLst/>
          </a:prstGeom>
          <a:solidFill>
            <a:srgbClr val="1B4332"/>
          </a:solidFill>
          <a:ln/>
        </p:spPr>
      </p:sp>
      <p:sp>
        <p:nvSpPr>
          <p:cNvPr id="21" name="Text 19"/>
          <p:cNvSpPr/>
          <p:nvPr/>
        </p:nvSpPr>
        <p:spPr>
          <a:xfrm>
            <a:off x="762000" y="35306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Oranienbaum" pitchFamily="34" charset="0"/>
                <a:ea typeface="Oranienbaum" pitchFamily="34" charset="-122"/>
                <a:cs typeface="Oranienbaum" pitchFamily="34" charset="-120"/>
              </a:rPr>
              <a:t>5</a:t>
            </a:r>
            <a:endParaRPr lang="en-US" sz="1600" dirty="0"/>
          </a:p>
        </p:txBody>
      </p:sp>
      <p:sp>
        <p:nvSpPr>
          <p:cNvPr id="22" name="Text 20"/>
          <p:cNvSpPr/>
          <p:nvPr/>
        </p:nvSpPr>
        <p:spPr>
          <a:xfrm>
            <a:off x="1295400" y="3530600"/>
            <a:ext cx="3810000" cy="304800"/>
          </a:xfrm>
          <a:prstGeom prst="rect">
            <a:avLst/>
          </a:prstGeom>
          <a:noFill/>
          <a:ln/>
        </p:spPr>
        <p:txBody>
          <a:bodyPr wrap="none" lIns="0" tIns="0" rIns="0" bIns="0" rtlCol="0" anchor="ctr"/>
          <a:lstStyle/>
          <a:p>
            <a:pPr>
              <a:lnSpc>
                <a:spcPct val="100000"/>
              </a:lnSpc>
            </a:pPr>
            <a:r>
              <a:rPr lang="en-US" sz="1500" dirty="0">
                <a:solidFill>
                  <a:srgbClr val="1B4332"/>
                </a:solidFill>
                <a:latin typeface="Oranienbaum" pitchFamily="34" charset="0"/>
                <a:ea typeface="Oranienbaum" pitchFamily="34" charset="-122"/>
                <a:cs typeface="Oranienbaum" pitchFamily="34" charset="-120"/>
              </a:rPr>
              <a:t>Investigate Root Causes</a:t>
            </a:r>
            <a:endParaRPr lang="en-US" sz="1600" dirty="0"/>
          </a:p>
        </p:txBody>
      </p:sp>
      <p:sp>
        <p:nvSpPr>
          <p:cNvPr id="23" name="Text 21"/>
          <p:cNvSpPr/>
          <p:nvPr/>
        </p:nvSpPr>
        <p:spPr>
          <a:xfrm>
            <a:off x="1295400" y="3860800"/>
            <a:ext cx="5842000" cy="533400"/>
          </a:xfrm>
          <a:prstGeom prst="rect">
            <a:avLst/>
          </a:prstGeom>
          <a:noFill/>
          <a:ln/>
        </p:spPr>
        <p:txBody>
          <a:bodyPr wrap="square" lIns="0" tIns="0" rIns="0" bIns="0" rtlCol="0" anchor="ctr"/>
          <a:lstStyle/>
          <a:p>
            <a:pPr>
              <a:lnSpc>
                <a:spcPct val="150000"/>
              </a:lnSpc>
            </a:pPr>
            <a:r>
              <a:rPr lang="en-US" sz="1400" dirty="0">
                <a:solidFill>
                  <a:srgbClr val="1A1A2E"/>
                </a:solidFill>
                <a:latin typeface="QuattrocentoSans" pitchFamily="34" charset="0"/>
                <a:ea typeface="QuattrocentoSans" pitchFamily="34" charset="-122"/>
                <a:cs typeface="QuattrocentoSans" pitchFamily="34" charset="-120"/>
              </a:rPr>
              <a:t>Drill into financial statements to understand what drives ratio values.</a:t>
            </a:r>
            <a:endParaRPr lang="en-US" sz="1800" dirty="0"/>
          </a:p>
        </p:txBody>
      </p:sp>
      <p:sp>
        <p:nvSpPr>
          <p:cNvPr id="24" name="Shape 22"/>
          <p:cNvSpPr/>
          <p:nvPr/>
        </p:nvSpPr>
        <p:spPr>
          <a:xfrm>
            <a:off x="8382000" y="3530600"/>
            <a:ext cx="406400" cy="406400"/>
          </a:xfrm>
          <a:prstGeom prst="ellipse">
            <a:avLst/>
          </a:prstGeom>
          <a:solidFill>
            <a:srgbClr val="1B4332"/>
          </a:solidFill>
          <a:ln/>
        </p:spPr>
      </p:sp>
      <p:sp>
        <p:nvSpPr>
          <p:cNvPr id="25" name="Text 23"/>
          <p:cNvSpPr/>
          <p:nvPr/>
        </p:nvSpPr>
        <p:spPr>
          <a:xfrm>
            <a:off x="8382000" y="3530600"/>
            <a:ext cx="406400" cy="4064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Oranienbaum" pitchFamily="34" charset="0"/>
                <a:ea typeface="Oranienbaum" pitchFamily="34" charset="-122"/>
                <a:cs typeface="Oranienbaum" pitchFamily="34" charset="-120"/>
              </a:rPr>
              <a:t>6</a:t>
            </a:r>
            <a:endParaRPr lang="en-US" sz="1600" dirty="0"/>
          </a:p>
        </p:txBody>
      </p:sp>
      <p:sp>
        <p:nvSpPr>
          <p:cNvPr id="26" name="Text 24"/>
          <p:cNvSpPr/>
          <p:nvPr/>
        </p:nvSpPr>
        <p:spPr>
          <a:xfrm>
            <a:off x="8915400" y="3530600"/>
            <a:ext cx="3810000" cy="304800"/>
          </a:xfrm>
          <a:prstGeom prst="rect">
            <a:avLst/>
          </a:prstGeom>
          <a:noFill/>
          <a:ln/>
        </p:spPr>
        <p:txBody>
          <a:bodyPr wrap="none" lIns="0" tIns="0" rIns="0" bIns="0" rtlCol="0" anchor="ctr"/>
          <a:lstStyle/>
          <a:p>
            <a:pPr>
              <a:lnSpc>
                <a:spcPct val="100000"/>
              </a:lnSpc>
            </a:pPr>
            <a:r>
              <a:rPr lang="en-US" sz="1500" dirty="0">
                <a:solidFill>
                  <a:srgbClr val="1B4332"/>
                </a:solidFill>
                <a:latin typeface="Oranienbaum" pitchFamily="34" charset="0"/>
                <a:ea typeface="Oranienbaum" pitchFamily="34" charset="-122"/>
                <a:cs typeface="Oranienbaum" pitchFamily="34" charset="-120"/>
              </a:rPr>
              <a:t>Synthesize Conclusions</a:t>
            </a:r>
            <a:endParaRPr lang="en-US" sz="1600" dirty="0"/>
          </a:p>
        </p:txBody>
      </p:sp>
      <p:sp>
        <p:nvSpPr>
          <p:cNvPr id="27" name="Text 25"/>
          <p:cNvSpPr/>
          <p:nvPr/>
        </p:nvSpPr>
        <p:spPr>
          <a:xfrm>
            <a:off x="8915400" y="3860800"/>
            <a:ext cx="6477000" cy="533400"/>
          </a:xfrm>
          <a:prstGeom prst="rect">
            <a:avLst/>
          </a:prstGeom>
          <a:noFill/>
          <a:ln/>
        </p:spPr>
        <p:txBody>
          <a:bodyPr wrap="square" lIns="0" tIns="0" rIns="0" bIns="0" rtlCol="0" anchor="ctr"/>
          <a:lstStyle/>
          <a:p>
            <a:pPr>
              <a:lnSpc>
                <a:spcPct val="150000"/>
              </a:lnSpc>
            </a:pPr>
            <a:r>
              <a:rPr lang="en-US" sz="1400" dirty="0">
                <a:solidFill>
                  <a:srgbClr val="1A1A2E"/>
                </a:solidFill>
                <a:latin typeface="QuattrocentoSans" pitchFamily="34" charset="0"/>
                <a:ea typeface="QuattrocentoSans" pitchFamily="34" charset="-122"/>
                <a:cs typeface="QuattrocentoSans" pitchFamily="34" charset="-120"/>
              </a:rPr>
              <a:t>Combine quantitative findings with qualitative assessment for recommendations.</a:t>
            </a:r>
            <a:endParaRPr lang="en-US" sz="1800" dirty="0"/>
          </a:p>
        </p:txBody>
      </p:sp>
      <p:sp>
        <p:nvSpPr>
          <p:cNvPr id="28" name="Shape 26"/>
          <p:cNvSpPr/>
          <p:nvPr/>
        </p:nvSpPr>
        <p:spPr>
          <a:xfrm>
            <a:off x="762000" y="4699000"/>
            <a:ext cx="14732000" cy="12700"/>
          </a:xfrm>
          <a:prstGeom prst="rect">
            <a:avLst/>
          </a:prstGeom>
          <a:solidFill>
            <a:srgbClr val="D1CFC9"/>
          </a:solidFill>
          <a:ln/>
        </p:spPr>
      </p:sp>
      <p:sp>
        <p:nvSpPr>
          <p:cNvPr id="29" name="Text 27"/>
          <p:cNvSpPr/>
          <p:nvPr/>
        </p:nvSpPr>
        <p:spPr>
          <a:xfrm>
            <a:off x="762000" y="4889500"/>
            <a:ext cx="635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Why Structure Matters</a:t>
            </a:r>
            <a:endParaRPr lang="en-US" sz="1600" dirty="0"/>
          </a:p>
        </p:txBody>
      </p:sp>
      <p:sp>
        <p:nvSpPr>
          <p:cNvPr id="30" name="Text 28"/>
          <p:cNvSpPr/>
          <p:nvPr/>
        </p:nvSpPr>
        <p:spPr>
          <a:xfrm>
            <a:off x="762000" y="5270500"/>
            <a:ext cx="14732000" cy="28575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This structured process prevents superficial analysis and ensures conclusions are supported by evidence across multiple dimensions of performance. Common pitfalls of unstructured analysis include:</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Cherry-picking ratios</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 selecting only favorable metrics while ignoring warning signs in other categories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Benchmark mismatch</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 comparing a growth-stage tech company against mature industrial benchmarks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Ignoring trends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 focusing on a single period's ratios without examining the trajectory</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Overlooking interdependencies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 failing to recognize how changes in one area affect ratios in another</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A disciplined six-step approach transforms ratio analysis from a mechanical calculation exercise into a sophisticated diagnostic tool for financial evaluation.</a:t>
            </a:r>
            <a:endParaRPr lang="en-US" sz="1800" dirty="0"/>
          </a:p>
        </p:txBody>
      </p:sp>
      <p:sp>
        <p:nvSpPr>
          <p:cNvPr id="31" name="Text 29"/>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22</a:t>
            </a:r>
            <a:endParaRPr lang="en-US" sz="12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Practical case: Applying ratio analysis to compare two retail competitors</a:t>
            </a:r>
            <a:endParaRPr lang="en-US" sz="2800" dirty="0"/>
          </a:p>
        </p:txBody>
      </p:sp>
      <p:sp>
        <p:nvSpPr>
          <p:cNvPr id="3" name="Shape 1"/>
          <p:cNvSpPr/>
          <p:nvPr/>
        </p:nvSpPr>
        <p:spPr>
          <a:xfrm>
            <a:off x="762000" y="1168400"/>
            <a:ext cx="14732000" cy="12700"/>
          </a:xfrm>
          <a:prstGeom prst="rect">
            <a:avLst/>
          </a:prstGeom>
          <a:solidFill>
            <a:srgbClr val="D1CFC9"/>
          </a:solidFill>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62000" y="1371600"/>
          <a:ext cx="14732000" cy="2921000"/>
        </p:xfrm>
        <a:graphic>
          <a:graphicData uri="http://schemas.openxmlformats.org/drawingml/2006/table">
            <a:tbl>
              <a:tblPr/>
              <a:tblGrid>
                <a:gridCol w="4124960"/>
                <a:gridCol w="3535680"/>
                <a:gridCol w="3535680"/>
                <a:gridCol w="3535680"/>
              </a:tblGrid>
              <a:tr h="465849">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Ratio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Retailer 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Retailer B</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Industry Avg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49103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Current Ratio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1.8</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2.4</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2.0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49103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Gross Margin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B4332"/>
                          </a:solidFill>
                          <a:latin typeface="QuattrocentoSans" pitchFamily="34" charset="0"/>
                          <a:ea typeface="QuattrocentoSans" pitchFamily="34" charset="-122"/>
                          <a:cs typeface="QuattrocentoSans" pitchFamily="34" charset="-120"/>
                        </a:rPr>
                        <a:t>35%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28%</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32%</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49103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Inventory Turnover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B4332"/>
                          </a:solidFill>
                          <a:latin typeface="QuattrocentoSans" pitchFamily="34" charset="0"/>
                          <a:ea typeface="QuattrocentoSans" pitchFamily="34" charset="-122"/>
                          <a:cs typeface="QuattrocentoSans" pitchFamily="34" charset="-120"/>
                        </a:rPr>
                        <a:t>6.2x</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4.8x</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5.5x</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49103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Return on Equity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B4332"/>
                          </a:solidFill>
                          <a:latin typeface="QuattrocentoSans" pitchFamily="34" charset="0"/>
                          <a:ea typeface="QuattrocentoSans" pitchFamily="34" charset="-122"/>
                          <a:cs typeface="QuattrocentoSans" pitchFamily="34" charset="-120"/>
                        </a:rPr>
                        <a:t>18%</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14%</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15%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491030">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Debt-to-Equity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B4332"/>
                          </a:solidFill>
                          <a:latin typeface="QuattrocentoSans" pitchFamily="34" charset="0"/>
                          <a:ea typeface="QuattrocentoSans" pitchFamily="34" charset="-122"/>
                          <a:cs typeface="QuattrocentoSans" pitchFamily="34" charset="-120"/>
                        </a:rPr>
                        <a:t>0.6</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0.9</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0.7</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762000" y="4546600"/>
          <a:ext cx="6858000" cy="34290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p:nvPr/>
        </p:nvSpPr>
        <p:spPr>
          <a:xfrm>
            <a:off x="8382000" y="4546600"/>
            <a:ext cx="7112000" cy="3429000"/>
          </a:xfrm>
          <a:prstGeom prst="rect">
            <a:avLst/>
          </a:prstGeom>
          <a:noFill/>
          <a:ln/>
        </p:spPr>
        <p:txBody>
          <a:bodyPr wrap="square" lIns="0" tIns="0" rIns="0" bIns="0" rtlCol="0" anchor="ctr"/>
          <a:lstStyle/>
          <a:p>
            <a:pPr>
              <a:lnSpc>
                <a:spcPct val="155000"/>
              </a:lnSpc>
            </a:pPr>
            <a:r>
              <a:rPr lang="en-US" sz="1400" b="1" dirty="0">
                <a:solidFill>
                  <a:srgbClr val="1B4332"/>
                </a:solidFill>
                <a:latin typeface="QuattrocentoSans" pitchFamily="34" charset="0"/>
                <a:ea typeface="QuattrocentoSans" pitchFamily="34" charset="-122"/>
                <a:cs typeface="QuattrocentoSans" pitchFamily="34" charset="-120"/>
              </a:rPr>
              <a:t>Comparative Analysis</a:t>
            </a:r>
            <a:endParaRPr lang="en-US" sz="1800" dirty="0"/>
          </a:p>
          <a:p>
            <a:pPr>
              <a:lnSpc>
                <a:spcPct val="155000"/>
              </a:lnSpc>
              <a:spcBef>
                <a:spcPts val="600"/>
              </a:spcBef>
            </a:pPr>
            <a:r>
              <a:rPr lang="en-US" sz="1400" b="1" dirty="0">
                <a:solidFill>
                  <a:srgbClr val="1A1A2E"/>
                </a:solidFill>
                <a:latin typeface="QuattrocentoSans" pitchFamily="34" charset="0"/>
                <a:ea typeface="QuattrocentoSans" pitchFamily="34" charset="-122"/>
                <a:cs typeface="QuattrocentoSans" pitchFamily="34" charset="-120"/>
              </a:rPr>
              <a:t>Retailer A</a:t>
            </a:r>
            <a:pPr>
              <a:lnSpc>
                <a:spcPct val="155000"/>
              </a:lnSpc>
              <a:spcBef>
                <a:spcPts val="600"/>
              </a:spcBef>
            </a:pPr>
            <a:r>
              <a:rPr lang="en-US" sz="1400" dirty="0">
                <a:solidFill>
                  <a:srgbClr val="1A1A2E"/>
                </a:solidFill>
                <a:latin typeface="QuattrocentoSans" pitchFamily="34" charset="0"/>
                <a:ea typeface="QuattrocentoSans" pitchFamily="34" charset="-122"/>
                <a:cs typeface="QuattrocentoSans" pitchFamily="34" charset="-120"/>
              </a:rPr>
              <a:t> shows superior profitability (higher margin and ROE) with better inventory management and lower leverage. It outperforms the industry on all metrics except liquidity.</a:t>
            </a:r>
            <a:endParaRPr lang="en-US" sz="1800" dirty="0"/>
          </a:p>
          <a:p>
            <a:pPr>
              <a:lnSpc>
                <a:spcPct val="155000"/>
              </a:lnSpc>
              <a:spcBef>
                <a:spcPts val="600"/>
              </a:spcBef>
            </a:pPr>
            <a:r>
              <a:rPr lang="en-US" sz="1400" b="1" dirty="0">
                <a:solidFill>
                  <a:srgbClr val="1A1A2E"/>
                </a:solidFill>
                <a:latin typeface="QuattrocentoSans" pitchFamily="34" charset="0"/>
                <a:ea typeface="QuattrocentoSans" pitchFamily="34" charset="-122"/>
                <a:cs typeface="QuattrocentoSans" pitchFamily="34" charset="-120"/>
              </a:rPr>
              <a:t>Retailer B</a:t>
            </a:r>
            <a:pPr>
              <a:lnSpc>
                <a:spcPct val="155000"/>
              </a:lnSpc>
              <a:spcBef>
                <a:spcPts val="600"/>
              </a:spcBef>
            </a:pPr>
            <a:r>
              <a:rPr lang="en-US" sz="1400" dirty="0">
                <a:solidFill>
                  <a:srgbClr val="1A1A2E"/>
                </a:solidFill>
                <a:latin typeface="QuattrocentoSans" pitchFamily="34" charset="0"/>
                <a:ea typeface="QuattrocentoSans" pitchFamily="34" charset="-122"/>
                <a:cs typeface="QuattrocentoSans" pitchFamily="34" charset="-120"/>
              </a:rPr>
              <a:t> has stronger liquidity (2.4 current ratio) but may carry excess inventory (4.8x vs. 5.5x industry turnover) and relies more on debt (0.9 D/E).</a:t>
            </a:r>
            <a:endParaRPr lang="en-US" sz="1800" dirty="0"/>
          </a:p>
          <a:p>
            <a:pPr>
              <a:lnSpc>
                <a:spcPct val="155000"/>
              </a:lnSpc>
              <a:spcBef>
                <a:spcPts val="600"/>
              </a:spcBef>
            </a:pPr>
            <a:r>
              <a:rPr lang="en-US" sz="1400" b="1" dirty="0">
                <a:solidFill>
                  <a:srgbClr val="1A1A2E"/>
                </a:solidFill>
                <a:latin typeface="QuattrocentoSans" pitchFamily="34" charset="0"/>
                <a:ea typeface="QuattrocentoSans" pitchFamily="34" charset="-122"/>
                <a:cs typeface="QuattrocentoSans" pitchFamily="34" charset="-120"/>
              </a:rPr>
              <a:t>Trade-off insight:</a:t>
            </a:r>
            <a:pPr>
              <a:lnSpc>
                <a:spcPct val="155000"/>
              </a:lnSpc>
              <a:spcBef>
                <a:spcPts val="600"/>
              </a:spcBef>
            </a:pPr>
            <a:r>
              <a:rPr lang="en-US" sz="1400" dirty="0">
                <a:solidFill>
                  <a:srgbClr val="1A1A2E"/>
                </a:solidFill>
                <a:latin typeface="QuattrocentoSans" pitchFamily="34" charset="0"/>
                <a:ea typeface="QuattrocentoSans" pitchFamily="34" charset="-122"/>
                <a:cs typeface="QuattrocentoSans" pitchFamily="34" charset="-120"/>
              </a:rPr>
              <a:t> Retailer A appears more efficient overall, though Retailer B's higher liquidity provides a larger safety cushion. The analysis reveals that no firm dominates across all dimensions — effective evaluation requires weighting ratios by strategic priority.</a:t>
            </a:r>
            <a:endParaRPr lang="en-US" sz="1800" dirty="0"/>
          </a:p>
        </p:txBody>
      </p:sp>
      <p:sp>
        <p:nvSpPr>
          <p:cNvPr id="7" name="Text 3"/>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23</a:t>
            </a:r>
            <a:endParaRPr lang="en-US" sz="12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https://kimi-img.moonshot.cn/pub/slides/okc/fugd5lfhhzhog/mnt/agents/output/financial-performance/images/4_400_Magnifying_Glass_Scrutiny_Finance.png">    </p:cNvPr>
          <p:cNvPicPr>
            <a:picLocks noChangeAspect="1"/>
          </p:cNvPicPr>
          <p:nvPr/>
        </p:nvPicPr>
        <p:blipFill>
          <a:blip r:embed="rId1"/>
          <a:srcRect l="0" r="0" t="7812" b="7812"/>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A1A2E">
                  <a:alpha val="90000"/>
                </a:srgbClr>
              </a:gs>
              <a:gs pos="50000">
                <a:srgbClr val="1A1A2E">
                  <a:alpha val="80000"/>
                </a:srgbClr>
              </a:gs>
              <a:gs pos="100000">
                <a:srgbClr val="1A1A2E">
                  <a:alpha val="40000"/>
                </a:srgbClr>
              </a:gs>
            </a:gsLst>
            <a:lin ang="0" scaled="1"/>
          </a:gradFill>
          <a:ln w="12700">
            <a:solidFill>
              <a:srgbClr val="333333"/>
            </a:solidFill>
            <a:prstDash val="solid"/>
          </a:ln>
        </p:spPr>
      </p:sp>
      <p:sp>
        <p:nvSpPr>
          <p:cNvPr id="4" name="Text 1"/>
          <p:cNvSpPr/>
          <p:nvPr/>
        </p:nvSpPr>
        <p:spPr>
          <a:xfrm>
            <a:off x="1016000" y="2032000"/>
            <a:ext cx="3810000" cy="1778000"/>
          </a:xfrm>
          <a:prstGeom prst="rect">
            <a:avLst/>
          </a:prstGeom>
          <a:noFill/>
          <a:ln/>
        </p:spPr>
        <p:txBody>
          <a:bodyPr wrap="none" lIns="0" tIns="0" rIns="0" bIns="0" rtlCol="0" anchor="ctr"/>
          <a:lstStyle/>
          <a:p>
            <a:pPr>
              <a:lnSpc>
                <a:spcPct val="100000"/>
              </a:lnSpc>
            </a:pPr>
            <a:r>
              <a:rPr lang="en-US" sz="12000" dirty="0">
                <a:solidFill>
                  <a:srgbClr val="FFFFFF">
                    <a:alpha val="8235"/>
                  </a:srgbClr>
                </a:solidFill>
                <a:latin typeface="Oranienbaum" pitchFamily="34" charset="0"/>
                <a:ea typeface="Oranienbaum" pitchFamily="34" charset="-122"/>
                <a:cs typeface="Oranienbaum" pitchFamily="34" charset="-120"/>
              </a:rPr>
              <a:t>03</a:t>
            </a:r>
            <a:endParaRPr lang="en-US" sz="1600" dirty="0"/>
          </a:p>
        </p:txBody>
      </p:sp>
      <p:sp>
        <p:nvSpPr>
          <p:cNvPr id="5" name="Text 2"/>
          <p:cNvSpPr/>
          <p:nvPr/>
        </p:nvSpPr>
        <p:spPr>
          <a:xfrm>
            <a:off x="1016000" y="3810000"/>
            <a:ext cx="3810000" cy="279400"/>
          </a:xfrm>
          <a:prstGeom prst="rect">
            <a:avLst/>
          </a:prstGeom>
          <a:noFill/>
          <a:ln/>
        </p:spPr>
        <p:txBody>
          <a:bodyPr wrap="none" lIns="0" tIns="0" rIns="0" bIns="0" rtlCol="0" anchor="ctr"/>
          <a:lstStyle/>
          <a:p>
            <a:pPr>
              <a:lnSpc>
                <a:spcPct val="100000"/>
              </a:lnSpc>
            </a:pPr>
            <a:r>
              <a:rPr lang="en-US" sz="1300" spc="400" kern="0" dirty="0">
                <a:solidFill>
                  <a:srgbClr val="B8860B"/>
                </a:solidFill>
                <a:latin typeface="Quattrocento Sans" pitchFamily="34" charset="0"/>
                <a:ea typeface="Quattrocento Sans" pitchFamily="34" charset="-122"/>
                <a:cs typeface="Quattrocento Sans" pitchFamily="34" charset="-120"/>
              </a:rPr>
              <a:t>CHAPTER THREE</a:t>
            </a:r>
            <a:endParaRPr lang="en-US" sz="1600" dirty="0"/>
          </a:p>
        </p:txBody>
      </p:sp>
      <p:sp>
        <p:nvSpPr>
          <p:cNvPr id="6" name="Text 3"/>
          <p:cNvSpPr/>
          <p:nvPr/>
        </p:nvSpPr>
        <p:spPr>
          <a:xfrm>
            <a:off x="1016000" y="4254500"/>
            <a:ext cx="10160000" cy="698500"/>
          </a:xfrm>
          <a:prstGeom prst="rect">
            <a:avLst/>
          </a:prstGeom>
          <a:noFill/>
          <a:ln/>
        </p:spPr>
        <p:txBody>
          <a:bodyPr wrap="none" lIns="0" tIns="0" rIns="0" bIns="0" rtlCol="0" anchor="ctr"/>
          <a:lstStyle/>
          <a:p>
            <a:pPr>
              <a:lnSpc>
                <a:spcPct val="100000"/>
              </a:lnSpc>
            </a:pPr>
            <a:r>
              <a:rPr lang="en-US" sz="4000" spc="100" kern="0" dirty="0">
                <a:solidFill>
                  <a:srgbClr val="FFFFFF"/>
                </a:solidFill>
                <a:latin typeface="Oranienbaum" pitchFamily="34" charset="0"/>
                <a:ea typeface="Oranienbaum" pitchFamily="34" charset="-122"/>
                <a:cs typeface="Oranienbaum" pitchFamily="34" charset="-120"/>
              </a:rPr>
              <a:t>The Limitations of Financial Ratio Analysis</a:t>
            </a:r>
            <a:endParaRPr lang="en-US" sz="4000" dirty="0"/>
          </a:p>
        </p:txBody>
      </p:sp>
      <p:sp>
        <p:nvSpPr>
          <p:cNvPr id="7" name="Shape 4"/>
          <p:cNvSpPr/>
          <p:nvPr/>
        </p:nvSpPr>
        <p:spPr>
          <a:xfrm>
            <a:off x="1016000" y="5143500"/>
            <a:ext cx="1016000" cy="38100"/>
          </a:xfrm>
          <a:prstGeom prst="rect">
            <a:avLst/>
          </a:prstGeom>
          <a:solidFill>
            <a:srgbClr val="B8860B"/>
          </a:solidFill>
          <a:ln/>
        </p:spPr>
      </p:sp>
      <p:sp>
        <p:nvSpPr>
          <p:cNvPr id="8" name="Text 5"/>
          <p:cNvSpPr/>
          <p:nvPr/>
        </p:nvSpPr>
        <p:spPr>
          <a:xfrm>
            <a:off x="1016000" y="5397500"/>
            <a:ext cx="7620000" cy="381000"/>
          </a:xfrm>
          <a:prstGeom prst="rect">
            <a:avLst/>
          </a:prstGeom>
          <a:noFill/>
          <a:ln/>
        </p:spPr>
        <p:txBody>
          <a:bodyPr wrap="none" lIns="0" tIns="0" rIns="0" bIns="0" rtlCol="0" anchor="ctr"/>
          <a:lstStyle/>
          <a:p>
            <a:pPr>
              <a:lnSpc>
                <a:spcPct val="140000"/>
              </a:lnSpc>
            </a:pPr>
            <a:r>
              <a:rPr lang="en-US" sz="1800" dirty="0">
                <a:solidFill>
                  <a:srgbClr val="FFFFFF">
                    <a:alpha val="66667"/>
                  </a:srgbClr>
                </a:solidFill>
                <a:latin typeface="QuattrocentoSans" pitchFamily="34" charset="0"/>
                <a:ea typeface="QuattrocentoSans" pitchFamily="34" charset="-122"/>
                <a:cs typeface="QuattrocentoSans" pitchFamily="34" charset="-120"/>
              </a:rPr>
              <a:t>Understanding the boundaries and pitfalls of ratio-based evaluation</a:t>
            </a:r>
            <a:endParaRPr lang="en-US" sz="20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Accounting method differences can distort ratio comparisons across firms</a:t>
            </a:r>
            <a:endParaRPr lang="en-US" sz="2800" dirty="0"/>
          </a:p>
        </p:txBody>
      </p:sp>
      <p:sp>
        <p:nvSpPr>
          <p:cNvPr id="3" name="Shape 1"/>
          <p:cNvSpPr/>
          <p:nvPr/>
        </p:nvSpPr>
        <p:spPr>
          <a:xfrm>
            <a:off x="762000" y="1168400"/>
            <a:ext cx="14732000" cy="12700"/>
          </a:xfrm>
          <a:prstGeom prst="rect">
            <a:avLst/>
          </a:prstGeom>
          <a:solidFill>
            <a:srgbClr val="D1CFC9"/>
          </a:solidFill>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62000" y="1371600"/>
          <a:ext cx="14732000" cy="3048000"/>
        </p:xfrm>
        <a:graphic>
          <a:graphicData uri="http://schemas.openxmlformats.org/drawingml/2006/table">
            <a:tbl>
              <a:tblPr/>
              <a:tblGrid>
                <a:gridCol w="3535680"/>
                <a:gridCol w="5598160"/>
                <a:gridCol w="5598160"/>
              </a:tblGrid>
              <a:tr h="455303">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Accounting Issue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Impact on Ratios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Affected Ratios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518539">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Inventory Valuation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FIFO, LIFO, and weighted average produce different COGS and inventory values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Current ratio, quick ratio, inventory turnover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18539">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Depreciation Policies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Straight-line vs. accelerated methods impact asset values and net income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ROA, asset turnover, fixed asset ratios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518539">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Revenue Recognition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GAAP vs. IFRS and policy differences affect when revenue is recorded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All profitability ratios, turnover ratios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18539">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Lease Accounting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Operating vs. finance lease classification affects debt and assets differently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D/E ratio, asset turnover, ROA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518539">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Goodwill Treatment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Impairment rules and amortization policies vary across standards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ROA, asset turnover, P/B ratio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bl>
          </a:graphicData>
        </a:graphic>
      </p:graphicFrame>
      <p:sp>
        <p:nvSpPr>
          <p:cNvPr id="5" name="Shape 2"/>
          <p:cNvSpPr/>
          <p:nvPr/>
        </p:nvSpPr>
        <p:spPr>
          <a:xfrm>
            <a:off x="762000" y="5207000"/>
            <a:ext cx="50800" cy="2730500"/>
          </a:xfrm>
          <a:prstGeom prst="rect">
            <a:avLst/>
          </a:prstGeom>
          <a:solidFill>
            <a:srgbClr val="B8860B"/>
          </a:solidFill>
          <a:ln/>
        </p:spPr>
      </p:sp>
      <p:sp>
        <p:nvSpPr>
          <p:cNvPr id="6" name="Text 3"/>
          <p:cNvSpPr/>
          <p:nvPr/>
        </p:nvSpPr>
        <p:spPr>
          <a:xfrm>
            <a:off x="1016000" y="5207000"/>
            <a:ext cx="635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Implications for Analysts</a:t>
            </a:r>
            <a:endParaRPr lang="en-US" sz="1600" dirty="0"/>
          </a:p>
        </p:txBody>
      </p:sp>
      <p:sp>
        <p:nvSpPr>
          <p:cNvPr id="7" name="Text 4"/>
          <p:cNvSpPr/>
          <p:nvPr/>
        </p:nvSpPr>
        <p:spPr>
          <a:xfrm>
            <a:off x="1016000" y="5588000"/>
            <a:ext cx="14224000" cy="23495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These accounting variability issues mean that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direct ratio comparisons between companies using different accounting methods can be misleading</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 company using LIFO inventory valuation will typically report lower current ratios and higher inventory turnover than an identical company using FIFO — not because of operational differences, but purely due to accounting choice.</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Professional analysts must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adjust financial statements to a common basis</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before meaningful cross-company comparison is possible. This requires reading footnotes, understanding accounting policy choices, and making appropriate restatements. Failure to do so produces comparisons of accounting methods rather than of actual business performance.</a:t>
            </a:r>
            <a:endParaRPr lang="en-US" sz="1800" dirty="0"/>
          </a:p>
        </p:txBody>
      </p:sp>
      <p:sp>
        <p:nvSpPr>
          <p:cNvPr id="8" name="Text 5"/>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25</a:t>
            </a:r>
            <a:endParaRPr lang="en-US" sz="12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Inflation, seasonality, and window dressing undermine ratio reliability</a:t>
            </a:r>
            <a:endParaRPr lang="en-US" sz="2800" dirty="0"/>
          </a:p>
        </p:txBody>
      </p:sp>
      <p:sp>
        <p:nvSpPr>
          <p:cNvPr id="3" name="Shape 1"/>
          <p:cNvSpPr/>
          <p:nvPr/>
        </p:nvSpPr>
        <p:spPr>
          <a:xfrm>
            <a:off x="762000" y="1168400"/>
            <a:ext cx="14732000" cy="12700"/>
          </a:xfrm>
          <a:prstGeom prst="rect">
            <a:avLst/>
          </a:prstGeom>
          <a:solidFill>
            <a:srgbClr val="D1CFC9"/>
          </a:solidFill>
          <a:ln/>
        </p:spPr>
      </p:sp>
      <p:sp>
        <p:nvSpPr>
          <p:cNvPr id="4" name="Text 2"/>
          <p:cNvSpPr/>
          <p:nvPr/>
        </p:nvSpPr>
        <p:spPr>
          <a:xfrm>
            <a:off x="762000" y="1371600"/>
            <a:ext cx="4572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Inflation Effects</a:t>
            </a:r>
            <a:endParaRPr lang="en-US" sz="1600" dirty="0"/>
          </a:p>
        </p:txBody>
      </p:sp>
      <p:sp>
        <p:nvSpPr>
          <p:cNvPr id="5" name="Shape 3"/>
          <p:cNvSpPr/>
          <p:nvPr/>
        </p:nvSpPr>
        <p:spPr>
          <a:xfrm>
            <a:off x="762000" y="1752600"/>
            <a:ext cx="4572000" cy="25400"/>
          </a:xfrm>
          <a:prstGeom prst="rect">
            <a:avLst/>
          </a:prstGeom>
          <a:solidFill>
            <a:srgbClr val="1B4332"/>
          </a:solidFill>
          <a:ln/>
        </p:spPr>
      </p:sp>
      <p:sp>
        <p:nvSpPr>
          <p:cNvPr id="6" name="Text 4"/>
          <p:cNvSpPr/>
          <p:nvPr/>
        </p:nvSpPr>
        <p:spPr>
          <a:xfrm>
            <a:off x="762000" y="1879600"/>
            <a:ext cx="4572000" cy="3048000"/>
          </a:xfrm>
          <a:prstGeom prst="rect">
            <a:avLst/>
          </a:prstGeom>
          <a:noFill/>
          <a:ln/>
        </p:spPr>
        <p:txBody>
          <a:bodyPr wrap="square" lIns="0" tIns="0" rIns="0" bIns="0" rtlCol="0" anchor="ctr"/>
          <a:lstStyle/>
          <a:p>
            <a:pPr>
              <a:lnSpc>
                <a:spcPct val="155000"/>
              </a:lnSpc>
            </a:pPr>
            <a:r>
              <a:rPr lang="en-US" sz="1300" dirty="0">
                <a:solidFill>
                  <a:srgbClr val="1A1A2E"/>
                </a:solidFill>
                <a:latin typeface="QuattrocentoSans" pitchFamily="34" charset="0"/>
                <a:ea typeface="QuattrocentoSans" pitchFamily="34" charset="-122"/>
                <a:cs typeface="QuattrocentoSans" pitchFamily="34" charset="-120"/>
              </a:rPr>
              <a:t>Historical cost accounting records assets at original purchase prices, causing </a:t>
            </a:r>
            <a:pPr>
              <a:lnSpc>
                <a:spcPct val="155000"/>
              </a:lnSpc>
            </a:pPr>
            <a:r>
              <a:rPr lang="en-US" sz="1300" b="1" dirty="0">
                <a:solidFill>
                  <a:srgbClr val="1A1A2E"/>
                </a:solidFill>
                <a:latin typeface="QuattrocentoSans" pitchFamily="34" charset="0"/>
                <a:ea typeface="QuattrocentoSans" pitchFamily="34" charset="-122"/>
                <a:cs typeface="QuattrocentoSans" pitchFamily="34" charset="-120"/>
              </a:rPr>
              <a:t>understated asset values</a:t>
            </a:r>
            <a:pPr>
              <a:lnSpc>
                <a:spcPct val="155000"/>
              </a:lnSpc>
            </a:pPr>
            <a:r>
              <a:rPr lang="en-US" sz="1300" dirty="0">
                <a:solidFill>
                  <a:srgbClr val="1A1A2E"/>
                </a:solidFill>
                <a:latin typeface="QuattrocentoSans" pitchFamily="34" charset="0"/>
                <a:ea typeface="QuattrocentoSans" pitchFamily="34" charset="-122"/>
                <a:cs typeface="QuattrocentoSans" pitchFamily="34" charset="-120"/>
              </a:rPr>
              <a:t> in inflationary periods.</a:t>
            </a:r>
            <a:endParaRPr lang="en-US" sz="1800" dirty="0"/>
          </a:p>
          <a:p>
            <a:pPr>
              <a:lnSpc>
                <a:spcPct val="155000"/>
              </a:lnSpc>
              <a:spcBef>
                <a:spcPts val="600"/>
              </a:spcBef>
            </a:pPr>
            <a:r>
              <a:rPr lang="en-US" sz="1300" dirty="0">
                <a:solidFill>
                  <a:srgbClr val="1A1A2E"/>
                </a:solidFill>
                <a:latin typeface="QuattrocentoSans" pitchFamily="34" charset="0"/>
                <a:ea typeface="QuattrocentoSans" pitchFamily="34" charset="-122"/>
                <a:cs typeface="QuattrocentoSans" pitchFamily="34" charset="-120"/>
              </a:rPr>
              <a:t>This artificially inflates ROA and asset turnover while distorting depreciation and inventory valuations. Real dollar adjustments may be necessary for accurate long-term comparisons.</a:t>
            </a:r>
            <a:endParaRPr lang="en-US" sz="1800" dirty="0"/>
          </a:p>
          <a:p>
            <a:pPr>
              <a:lnSpc>
                <a:spcPct val="155000"/>
              </a:lnSpc>
              <a:spcBef>
                <a:spcPts val="600"/>
              </a:spcBef>
            </a:pPr>
            <a:r>
              <a:rPr lang="en-US" sz="1300" dirty="0">
                <a:solidFill>
                  <a:srgbClr val="1A1A2E"/>
                </a:solidFill>
                <a:latin typeface="QuattrocentoSans" pitchFamily="34" charset="0"/>
                <a:ea typeface="QuattrocentoSans" pitchFamily="34" charset="-122"/>
                <a:cs typeface="QuattrocentoSans" pitchFamily="34" charset="-120"/>
              </a:rPr>
              <a:t>Companies with large fixed asset bases are particularly affected.</a:t>
            </a:r>
            <a:endParaRPr lang="en-US" sz="1800" dirty="0"/>
          </a:p>
        </p:txBody>
      </p:sp>
      <p:sp>
        <p:nvSpPr>
          <p:cNvPr id="7" name="Text 5"/>
          <p:cNvSpPr/>
          <p:nvPr/>
        </p:nvSpPr>
        <p:spPr>
          <a:xfrm>
            <a:off x="5842000" y="1371600"/>
            <a:ext cx="4572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Seasonal Factors</a:t>
            </a:r>
            <a:endParaRPr lang="en-US" sz="1600" dirty="0"/>
          </a:p>
        </p:txBody>
      </p:sp>
      <p:sp>
        <p:nvSpPr>
          <p:cNvPr id="8" name="Shape 6"/>
          <p:cNvSpPr/>
          <p:nvPr/>
        </p:nvSpPr>
        <p:spPr>
          <a:xfrm>
            <a:off x="5842000" y="1752600"/>
            <a:ext cx="4572000" cy="25400"/>
          </a:xfrm>
          <a:prstGeom prst="rect">
            <a:avLst/>
          </a:prstGeom>
          <a:solidFill>
            <a:srgbClr val="1B4332"/>
          </a:solidFill>
          <a:ln/>
        </p:spPr>
      </p:sp>
      <p:sp>
        <p:nvSpPr>
          <p:cNvPr id="9" name="Text 7"/>
          <p:cNvSpPr/>
          <p:nvPr/>
        </p:nvSpPr>
        <p:spPr>
          <a:xfrm>
            <a:off x="5842000" y="1879600"/>
            <a:ext cx="4572000" cy="2997200"/>
          </a:xfrm>
          <a:prstGeom prst="rect">
            <a:avLst/>
          </a:prstGeom>
          <a:noFill/>
          <a:ln/>
        </p:spPr>
        <p:txBody>
          <a:bodyPr wrap="square" lIns="0" tIns="0" rIns="0" bIns="0" rtlCol="0" anchor="ctr"/>
          <a:lstStyle/>
          <a:p>
            <a:pPr>
              <a:lnSpc>
                <a:spcPct val="155000"/>
              </a:lnSpc>
            </a:pPr>
            <a:r>
              <a:rPr lang="en-US" sz="1400" dirty="0">
                <a:solidFill>
                  <a:srgbClr val="1A1A2E"/>
                </a:solidFill>
                <a:latin typeface="QuattrocentoSans" pitchFamily="34" charset="0"/>
                <a:ea typeface="QuattrocentoSans" pitchFamily="34" charset="-122"/>
                <a:cs typeface="QuattrocentoSans" pitchFamily="34" charset="-120"/>
              </a:rPr>
              <a:t>Companies with seasonal patterns (retail, agriculture, tourism) show </a:t>
            </a:r>
            <a:pPr>
              <a:lnSpc>
                <a:spcPct val="155000"/>
              </a:lnSpc>
            </a:pPr>
            <a:r>
              <a:rPr lang="en-US" sz="1400" b="1" dirty="0">
                <a:solidFill>
                  <a:srgbClr val="1A1A2E"/>
                </a:solidFill>
                <a:latin typeface="QuattrocentoSans" pitchFamily="34" charset="0"/>
                <a:ea typeface="QuattrocentoSans" pitchFamily="34" charset="-122"/>
                <a:cs typeface="QuattrocentoSans" pitchFamily="34" charset="-120"/>
              </a:rPr>
              <a:t>dramatically different ratios</a:t>
            </a:r>
            <a:pPr>
              <a:lnSpc>
                <a:spcPct val="155000"/>
              </a:lnSpc>
            </a:pPr>
            <a:r>
              <a:rPr lang="en-US" sz="1400" dirty="0">
                <a:solidFill>
                  <a:srgbClr val="1A1A2E"/>
                </a:solidFill>
                <a:latin typeface="QuattrocentoSans" pitchFamily="34" charset="0"/>
                <a:ea typeface="QuattrocentoSans" pitchFamily="34" charset="-122"/>
                <a:cs typeface="QuattrocentoSans" pitchFamily="34" charset="-120"/>
              </a:rPr>
              <a:t> depending on fiscal period.</a:t>
            </a:r>
            <a:endParaRPr lang="en-US" sz="1800" dirty="0"/>
          </a:p>
          <a:p>
            <a:pPr>
              <a:lnSpc>
                <a:spcPct val="155000"/>
              </a:lnSpc>
              <a:spcBef>
                <a:spcPts val="600"/>
              </a:spcBef>
            </a:pPr>
            <a:r>
              <a:rPr lang="en-US" sz="1400" dirty="0">
                <a:solidFill>
                  <a:srgbClr val="1A1A2E"/>
                </a:solidFill>
                <a:latin typeface="QuattrocentoSans" pitchFamily="34" charset="0"/>
                <a:ea typeface="QuattrocentoSans" pitchFamily="34" charset="-122"/>
                <a:cs typeface="QuattrocentoSans" pitchFamily="34" charset="-120"/>
              </a:rPr>
              <a:t>A retailer measured after holiday season shows strong liquidity; the same retailer in July may appear distressed.</a:t>
            </a:r>
            <a:endParaRPr lang="en-US" sz="1800" dirty="0"/>
          </a:p>
          <a:p>
            <a:pPr>
              <a:lnSpc>
                <a:spcPct val="155000"/>
              </a:lnSpc>
              <a:spcBef>
                <a:spcPts val="600"/>
              </a:spcBef>
            </a:pPr>
            <a:r>
              <a:rPr lang="en-US" sz="1400" dirty="0">
                <a:solidFill>
                  <a:srgbClr val="1A1A2E"/>
                </a:solidFill>
                <a:latin typeface="QuattrocentoSans" pitchFamily="34" charset="0"/>
                <a:ea typeface="QuattrocentoSans" pitchFamily="34" charset="-122"/>
                <a:cs typeface="QuattrocentoSans" pitchFamily="34" charset="-120"/>
              </a:rPr>
              <a:t>Using average balances rather than year-end snapshots helps mitigate this distortion.</a:t>
            </a:r>
            <a:endParaRPr lang="en-US" sz="1800" dirty="0"/>
          </a:p>
        </p:txBody>
      </p:sp>
      <p:sp>
        <p:nvSpPr>
          <p:cNvPr id="10" name="Text 8"/>
          <p:cNvSpPr/>
          <p:nvPr/>
        </p:nvSpPr>
        <p:spPr>
          <a:xfrm>
            <a:off x="10922000" y="1371600"/>
            <a:ext cx="4572000" cy="330200"/>
          </a:xfrm>
          <a:prstGeom prst="rect">
            <a:avLst/>
          </a:prstGeom>
          <a:noFill/>
          <a:ln/>
        </p:spPr>
        <p:txBody>
          <a:bodyPr wrap="none" lIns="0" tIns="0" rIns="0" bIns="0" rtlCol="0" anchor="ctr"/>
          <a:lstStyle/>
          <a:p>
            <a:pPr>
              <a:lnSpc>
                <a:spcPct val="100000"/>
              </a:lnSpc>
            </a:pPr>
            <a:r>
              <a:rPr lang="en-US" sz="1600" dirty="0">
                <a:solidFill>
                  <a:srgbClr val="B8860B"/>
                </a:solidFill>
                <a:latin typeface="Oranienbaum" pitchFamily="34" charset="0"/>
                <a:ea typeface="Oranienbaum" pitchFamily="34" charset="-122"/>
                <a:cs typeface="Oranienbaum" pitchFamily="34" charset="-120"/>
              </a:rPr>
              <a:t>Window Dressing</a:t>
            </a:r>
            <a:endParaRPr lang="en-US" sz="1600" dirty="0"/>
          </a:p>
        </p:txBody>
      </p:sp>
      <p:sp>
        <p:nvSpPr>
          <p:cNvPr id="11" name="Shape 9"/>
          <p:cNvSpPr/>
          <p:nvPr/>
        </p:nvSpPr>
        <p:spPr>
          <a:xfrm>
            <a:off x="10922000" y="1752600"/>
            <a:ext cx="4572000" cy="25400"/>
          </a:xfrm>
          <a:prstGeom prst="rect">
            <a:avLst/>
          </a:prstGeom>
          <a:solidFill>
            <a:srgbClr val="B8860B"/>
          </a:solidFill>
          <a:ln/>
        </p:spPr>
      </p:sp>
      <p:sp>
        <p:nvSpPr>
          <p:cNvPr id="12" name="Text 10"/>
          <p:cNvSpPr/>
          <p:nvPr/>
        </p:nvSpPr>
        <p:spPr>
          <a:xfrm>
            <a:off x="10922000" y="1879600"/>
            <a:ext cx="4572000" cy="2997200"/>
          </a:xfrm>
          <a:prstGeom prst="rect">
            <a:avLst/>
          </a:prstGeom>
          <a:noFill/>
          <a:ln/>
        </p:spPr>
        <p:txBody>
          <a:bodyPr wrap="square" lIns="0" tIns="0" rIns="0" bIns="0" rtlCol="0" anchor="ctr"/>
          <a:lstStyle/>
          <a:p>
            <a:pPr>
              <a:lnSpc>
                <a:spcPct val="155000"/>
              </a:lnSpc>
            </a:pPr>
            <a:r>
              <a:rPr lang="en-US" sz="1400" dirty="0">
                <a:solidFill>
                  <a:srgbClr val="1A1A2E"/>
                </a:solidFill>
                <a:latin typeface="QuattrocentoSans" pitchFamily="34" charset="0"/>
                <a:ea typeface="QuattrocentoSans" pitchFamily="34" charset="-122"/>
                <a:cs typeface="QuattrocentoSans" pitchFamily="34" charset="-120"/>
              </a:rPr>
              <a:t>Management may </a:t>
            </a:r>
            <a:pPr>
              <a:lnSpc>
                <a:spcPct val="155000"/>
              </a:lnSpc>
            </a:pPr>
            <a:r>
              <a:rPr lang="en-US" sz="1400" b="1" dirty="0">
                <a:solidFill>
                  <a:srgbClr val="1A1A2E"/>
                </a:solidFill>
                <a:latin typeface="QuattrocentoSans" pitchFamily="34" charset="0"/>
                <a:ea typeface="QuattrocentoSans" pitchFamily="34" charset="-122"/>
                <a:cs typeface="QuattrocentoSans" pitchFamily="34" charset="-120"/>
              </a:rPr>
              <a:t>temporarily manipulate</a:t>
            </a:r>
            <a:pPr>
              <a:lnSpc>
                <a:spcPct val="155000"/>
              </a:lnSpc>
            </a:pPr>
            <a:r>
              <a:rPr lang="en-US" sz="1400" dirty="0">
                <a:solidFill>
                  <a:srgbClr val="1A1A2E"/>
                </a:solidFill>
                <a:latin typeface="QuattrocentoSans" pitchFamily="34" charset="0"/>
                <a:ea typeface="QuattrocentoSans" pitchFamily="34" charset="-122"/>
                <a:cs typeface="QuattrocentoSans" pitchFamily="34" charset="-120"/>
              </a:rPr>
              <a:t> balance sheet items at period-end to present favorable ratios.</a:t>
            </a:r>
            <a:endParaRPr lang="en-US" sz="1800" dirty="0"/>
          </a:p>
          <a:p>
            <a:pPr>
              <a:lnSpc>
                <a:spcPct val="155000"/>
              </a:lnSpc>
              <a:spcBef>
                <a:spcPts val="600"/>
              </a:spcBef>
            </a:pPr>
            <a:r>
              <a:rPr lang="en-US" sz="1400" dirty="0">
                <a:solidFill>
                  <a:srgbClr val="1A1A2E"/>
                </a:solidFill>
                <a:latin typeface="QuattrocentoSans" pitchFamily="34" charset="0"/>
                <a:ea typeface="QuattrocentoSans" pitchFamily="34" charset="-122"/>
                <a:cs typeface="QuattrocentoSans" pitchFamily="34" charset="-120"/>
              </a:rPr>
              <a:t>Tactics include accelerating collections, deferring purchases, or engaging in short-term transactions that reverse after period close.</a:t>
            </a:r>
            <a:endParaRPr lang="en-US" sz="1800" dirty="0"/>
          </a:p>
          <a:p>
            <a:pPr>
              <a:lnSpc>
                <a:spcPct val="155000"/>
              </a:lnSpc>
              <a:spcBef>
                <a:spcPts val="600"/>
              </a:spcBef>
            </a:pPr>
            <a:r>
              <a:rPr lang="en-US" sz="1400" dirty="0">
                <a:solidFill>
                  <a:srgbClr val="1A1A2E"/>
                </a:solidFill>
                <a:latin typeface="QuattrocentoSans" pitchFamily="34" charset="0"/>
                <a:ea typeface="QuattrocentoSans" pitchFamily="34" charset="-122"/>
                <a:cs typeface="QuattrocentoSans" pitchFamily="34" charset="-120"/>
              </a:rPr>
              <a:t>Analysts should examine quarterly trends and footnotes to detect such practices.</a:t>
            </a:r>
            <a:endParaRPr lang="en-US" sz="1800" dirty="0"/>
          </a:p>
        </p:txBody>
      </p:sp>
      <p:sp>
        <p:nvSpPr>
          <p:cNvPr id="13" name="Shape 11"/>
          <p:cNvSpPr/>
          <p:nvPr/>
        </p:nvSpPr>
        <p:spPr>
          <a:xfrm>
            <a:off x="762000" y="4953000"/>
            <a:ext cx="14732000" cy="12700"/>
          </a:xfrm>
          <a:prstGeom prst="rect">
            <a:avLst/>
          </a:prstGeom>
          <a:solidFill>
            <a:srgbClr val="D1CFC9"/>
          </a:solidFill>
          <a:ln/>
        </p:spPr>
      </p:sp>
      <p:graphicFrame>
        <p:nvGraphicFramePr>
          <p:cNvPr id="14" name="Chart 0" descr=""/>
          <p:cNvGraphicFramePr/>
          <p:nvPr/>
        </p:nvGraphicFramePr>
        <p:xfrm>
          <a:off x="762000" y="5143500"/>
          <a:ext cx="6858000" cy="30480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p:nvPr/>
        </p:nvSpPr>
        <p:spPr>
          <a:xfrm>
            <a:off x="8382000" y="5143500"/>
            <a:ext cx="7112000" cy="3048000"/>
          </a:xfrm>
          <a:prstGeom prst="rect">
            <a:avLst/>
          </a:prstGeom>
          <a:noFill/>
          <a:ln/>
        </p:spPr>
        <p:txBody>
          <a:bodyPr wrap="square" lIns="0" tIns="0" rIns="0" bIns="0" rtlCol="0" anchor="ctr"/>
          <a:lstStyle/>
          <a:p>
            <a:pPr>
              <a:lnSpc>
                <a:spcPct val="155000"/>
              </a:lnSpc>
            </a:pPr>
            <a:r>
              <a:rPr lang="en-US" sz="1500" b="1" dirty="0">
                <a:solidFill>
                  <a:srgbClr val="1B4332"/>
                </a:solidFill>
                <a:latin typeface="QuattrocentoSans" pitchFamily="34" charset="0"/>
                <a:ea typeface="QuattrocentoSans" pitchFamily="34" charset="-122"/>
                <a:cs typeface="QuattrocentoSans" pitchFamily="34" charset="-120"/>
              </a:rPr>
              <a:t>Detecting Window Dressing</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The chart shows a hypothetical company's current ratio: reported year-end figures vs. quarterly average-adjusted values.</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The Q4 spike in reported current ratio (2.8) is not reflected in the average-adjusted line (1.7), suggesting temporary year-end manipulation — perhaps accelerated receivables collection or deferred payables.</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This pattern warrants investigation into footnotes for large transactions near period-end that reversed shortly after.</a:t>
            </a:r>
            <a:endParaRPr lang="en-US" sz="1800" dirty="0"/>
          </a:p>
        </p:txBody>
      </p:sp>
      <p:sp>
        <p:nvSpPr>
          <p:cNvPr id="16" name="Text 13"/>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26</a:t>
            </a:r>
            <a:endParaRPr lang="en-US" sz="12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Benchmarking challenges and qualitative gaps limit ratio analysis effectiveness</a:t>
            </a:r>
            <a:endParaRPr lang="en-US" sz="2800" dirty="0"/>
          </a:p>
        </p:txBody>
      </p:sp>
      <p:sp>
        <p:nvSpPr>
          <p:cNvPr id="3" name="Shape 1"/>
          <p:cNvSpPr/>
          <p:nvPr/>
        </p:nvSpPr>
        <p:spPr>
          <a:xfrm>
            <a:off x="762000" y="1168400"/>
            <a:ext cx="14732000" cy="12700"/>
          </a:xfrm>
          <a:prstGeom prst="rect">
            <a:avLst/>
          </a:prstGeom>
          <a:solidFill>
            <a:srgbClr val="D1CFC9"/>
          </a:solidFill>
          <a:ln/>
        </p:spPr>
      </p:sp>
      <p:sp>
        <p:nvSpPr>
          <p:cNvPr id="4" name="Text 2"/>
          <p:cNvSpPr/>
          <p:nvPr/>
        </p:nvSpPr>
        <p:spPr>
          <a:xfrm>
            <a:off x="762000" y="1371600"/>
            <a:ext cx="6858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Benchmarking Difficulties</a:t>
            </a:r>
            <a:endParaRPr lang="en-US" sz="1600" dirty="0"/>
          </a:p>
        </p:txBody>
      </p:sp>
      <p:sp>
        <p:nvSpPr>
          <p:cNvPr id="5" name="Shape 3"/>
          <p:cNvSpPr/>
          <p:nvPr/>
        </p:nvSpPr>
        <p:spPr>
          <a:xfrm>
            <a:off x="762000" y="1752600"/>
            <a:ext cx="6858000" cy="25400"/>
          </a:xfrm>
          <a:prstGeom prst="rect">
            <a:avLst/>
          </a:prstGeom>
          <a:solidFill>
            <a:srgbClr val="1B4332"/>
          </a:solidFill>
          <a:ln/>
        </p:spPr>
      </p:sp>
      <p:sp>
        <p:nvSpPr>
          <p:cNvPr id="6" name="Text 4"/>
          <p:cNvSpPr/>
          <p:nvPr/>
        </p:nvSpPr>
        <p:spPr>
          <a:xfrm>
            <a:off x="762000" y="1879600"/>
            <a:ext cx="6858000" cy="26670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Finding truly comparable companies is increasingly challenging due to:</a:t>
            </a:r>
            <a:endParaRPr lang="en-US" sz="1800" dirty="0"/>
          </a:p>
          <a:p>
            <a:pPr>
              <a:lnSpc>
                <a:spcPct val="155000"/>
              </a:lnSpc>
              <a:spcBef>
                <a:spcPts val="400"/>
              </a:spcBef>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spcBef>
                <a:spcPts val="400"/>
              </a:spcBef>
            </a:pPr>
            <a:r>
              <a:rPr lang="en-US" sz="1500" b="1" dirty="0">
                <a:solidFill>
                  <a:srgbClr val="1A1A2E"/>
                </a:solidFill>
                <a:latin typeface="QuattrocentoSans" pitchFamily="34" charset="0"/>
                <a:ea typeface="QuattrocentoSans" pitchFamily="34" charset="-122"/>
                <a:cs typeface="QuattrocentoSans" pitchFamily="34" charset="-120"/>
              </a:rPr>
              <a:t>Diversified operations</a:t>
            </a:r>
            <a:pPr>
              <a:lnSpc>
                <a:spcPct val="155000"/>
              </a:lnSpc>
              <a:spcBef>
                <a:spcPts val="400"/>
              </a:spcBef>
            </a:pPr>
            <a:r>
              <a:rPr lang="en-US" sz="1500" dirty="0">
                <a:solidFill>
                  <a:srgbClr val="1A1A2E"/>
                </a:solidFill>
                <a:latin typeface="QuattrocentoSans" pitchFamily="34" charset="0"/>
                <a:ea typeface="QuattrocentoSans" pitchFamily="34" charset="-122"/>
                <a:cs typeface="QuattrocentoSans" pitchFamily="34" charset="-120"/>
              </a:rPr>
              <a:t> and conglomerate structures spanning multiple sectors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Emerging industries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lacking established benchmarks or peer groups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Global comparisons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facing currency translation and regulatory differences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Unique business models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(platform companies, SaaS) defying traditional ratio frameworks</a:t>
            </a:r>
            <a:endParaRPr lang="en-US" sz="1800" dirty="0"/>
          </a:p>
        </p:txBody>
      </p:sp>
      <p:sp>
        <p:nvSpPr>
          <p:cNvPr id="7" name="Text 5"/>
          <p:cNvSpPr/>
          <p:nvPr/>
        </p:nvSpPr>
        <p:spPr>
          <a:xfrm>
            <a:off x="8382000" y="1371600"/>
            <a:ext cx="7112000" cy="330200"/>
          </a:xfrm>
          <a:prstGeom prst="rect">
            <a:avLst/>
          </a:prstGeom>
          <a:noFill/>
          <a:ln/>
        </p:spPr>
        <p:txBody>
          <a:bodyPr wrap="none" lIns="0" tIns="0" rIns="0" bIns="0" rtlCol="0" anchor="ctr"/>
          <a:lstStyle/>
          <a:p>
            <a:pPr>
              <a:lnSpc>
                <a:spcPct val="100000"/>
              </a:lnSpc>
            </a:pPr>
            <a:r>
              <a:rPr lang="en-US" sz="1600" dirty="0">
                <a:solidFill>
                  <a:srgbClr val="B8860B"/>
                </a:solidFill>
                <a:latin typeface="Oranienbaum" pitchFamily="34" charset="0"/>
                <a:ea typeface="Oranienbaum" pitchFamily="34" charset="-122"/>
                <a:cs typeface="Oranienbaum" pitchFamily="34" charset="-120"/>
              </a:rPr>
              <a:t>Overreliance on Quantitative Measures</a:t>
            </a:r>
            <a:endParaRPr lang="en-US" sz="1600" dirty="0"/>
          </a:p>
        </p:txBody>
      </p:sp>
      <p:sp>
        <p:nvSpPr>
          <p:cNvPr id="8" name="Shape 6"/>
          <p:cNvSpPr/>
          <p:nvPr/>
        </p:nvSpPr>
        <p:spPr>
          <a:xfrm>
            <a:off x="8382000" y="1752600"/>
            <a:ext cx="7112000" cy="25400"/>
          </a:xfrm>
          <a:prstGeom prst="rect">
            <a:avLst/>
          </a:prstGeom>
          <a:solidFill>
            <a:srgbClr val="B8860B"/>
          </a:solidFill>
          <a:ln/>
        </p:spPr>
      </p:sp>
      <p:sp>
        <p:nvSpPr>
          <p:cNvPr id="9" name="Text 7"/>
          <p:cNvSpPr/>
          <p:nvPr/>
        </p:nvSpPr>
        <p:spPr>
          <a:xfrm>
            <a:off x="8382000" y="1879600"/>
            <a:ext cx="7112000" cy="26670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Financial ratios emphasize numerical data but overlook critical qualitative factors:</a:t>
            </a:r>
            <a:endParaRPr lang="en-US" sz="1800" dirty="0"/>
          </a:p>
          <a:p>
            <a:pPr>
              <a:lnSpc>
                <a:spcPct val="155000"/>
              </a:lnSpc>
              <a:spcBef>
                <a:spcPts val="400"/>
              </a:spcBef>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spcBef>
                <a:spcPts val="400"/>
              </a:spcBef>
            </a:pPr>
            <a:r>
              <a:rPr lang="en-US" sz="1500" b="1" dirty="0">
                <a:solidFill>
                  <a:srgbClr val="1A1A2E"/>
                </a:solidFill>
                <a:latin typeface="QuattrocentoSans" pitchFamily="34" charset="0"/>
                <a:ea typeface="QuattrocentoSans" pitchFamily="34" charset="-122"/>
                <a:cs typeface="QuattrocentoSans" pitchFamily="34" charset="-120"/>
              </a:rPr>
              <a:t>Management quality</a:t>
            </a:r>
            <a:pPr>
              <a:lnSpc>
                <a:spcPct val="155000"/>
              </a:lnSpc>
              <a:spcBef>
                <a:spcPts val="400"/>
              </a:spcBef>
            </a:pPr>
            <a:r>
              <a:rPr lang="en-US" sz="1500" dirty="0">
                <a:solidFill>
                  <a:srgbClr val="1A1A2E"/>
                </a:solidFill>
                <a:latin typeface="QuattrocentoSans" pitchFamily="34" charset="0"/>
                <a:ea typeface="QuattrocentoSans" pitchFamily="34" charset="-122"/>
                <a:cs typeface="QuattrocentoSans" pitchFamily="34" charset="-120"/>
              </a:rPr>
              <a:t> and depth of leadership team</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Corporate governance</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standards and board independence</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Brand strength</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and customer loyalty</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Competitive positioning</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and moat sustainability</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Technological capabilities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and innovation pipeline</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Regulatory environment</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risks and compliance posture</a:t>
            </a:r>
            <a:endParaRPr lang="en-US" sz="1800" dirty="0"/>
          </a:p>
        </p:txBody>
      </p:sp>
      <p:sp>
        <p:nvSpPr>
          <p:cNvPr id="10" name="Shape 8"/>
          <p:cNvSpPr/>
          <p:nvPr/>
        </p:nvSpPr>
        <p:spPr>
          <a:xfrm>
            <a:off x="762000" y="4826000"/>
            <a:ext cx="14732000" cy="12700"/>
          </a:xfrm>
          <a:prstGeom prst="rect">
            <a:avLst/>
          </a:prstGeom>
          <a:solidFill>
            <a:srgbClr val="D1CFC9"/>
          </a:solidFill>
          <a:ln/>
        </p:spPr>
      </p:sp>
      <p:sp>
        <p:nvSpPr>
          <p:cNvPr id="11" name="Shape 9"/>
          <p:cNvSpPr/>
          <p:nvPr/>
        </p:nvSpPr>
        <p:spPr>
          <a:xfrm>
            <a:off x="762000" y="5016500"/>
            <a:ext cx="50800" cy="2921000"/>
          </a:xfrm>
          <a:prstGeom prst="rect">
            <a:avLst/>
          </a:prstGeom>
          <a:solidFill>
            <a:srgbClr val="1B4332"/>
          </a:solidFill>
          <a:ln/>
        </p:spPr>
      </p:sp>
      <p:sp>
        <p:nvSpPr>
          <p:cNvPr id="12" name="Text 10"/>
          <p:cNvSpPr/>
          <p:nvPr/>
        </p:nvSpPr>
        <p:spPr>
          <a:xfrm>
            <a:off x="1016000" y="5016500"/>
            <a:ext cx="635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Additional Limitations</a:t>
            </a:r>
            <a:endParaRPr lang="en-US" sz="1600" dirty="0"/>
          </a:p>
        </p:txBody>
      </p:sp>
      <p:sp>
        <p:nvSpPr>
          <p:cNvPr id="13" name="Text 11"/>
          <p:cNvSpPr/>
          <p:nvPr/>
        </p:nvSpPr>
        <p:spPr>
          <a:xfrm>
            <a:off x="1016000" y="5397500"/>
            <a:ext cx="14224000" cy="2540000"/>
          </a:xfrm>
          <a:prstGeom prst="rect">
            <a:avLst/>
          </a:prstGeom>
          <a:noFill/>
          <a:ln/>
        </p:spPr>
        <p:txBody>
          <a:bodyPr wrap="square" lIns="0" tIns="0" rIns="0" bIns="0" rtlCol="0" anchor="ctr"/>
          <a:lstStyle/>
          <a:p>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Short-term orientation:</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Ratios primarily reflect historical performance and may not capture emerging trends, strategic transformations, or future risks. Static snapshots can miss the trajectory of change. A company investing heavily in R&amp;D may show depressed current profitability ratios while building future competitive advantage.</a:t>
            </a:r>
            <a:endParaRPr lang="en-US" sz="1800" dirty="0"/>
          </a:p>
          <a:p>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Single-ratio danger:</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Relying on one ratio can give a skewed picture. A company with an excellent current ratio of 3.5 might simultaneously have declining sales, rising debt, and eroding market share — all invisible if only liquidity is examined. Comprehensive analysis requires evaluating multiple ratios together with qualitative context to form a complete assessment.</a:t>
            </a:r>
            <a:endParaRPr lang="en-US" sz="1800" dirty="0"/>
          </a:p>
        </p:txBody>
      </p:sp>
      <p:sp>
        <p:nvSpPr>
          <p:cNvPr id="14" name="Text 12"/>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27</a:t>
            </a:r>
            <a:endParaRPr lang="en-US" sz="12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Best practices help overcome the inherent limitations of ratio analysis</a:t>
            </a:r>
            <a:endParaRPr lang="en-US" sz="2800" dirty="0"/>
          </a:p>
        </p:txBody>
      </p:sp>
      <p:sp>
        <p:nvSpPr>
          <p:cNvPr id="3" name="Shape 1"/>
          <p:cNvSpPr/>
          <p:nvPr/>
        </p:nvSpPr>
        <p:spPr>
          <a:xfrm>
            <a:off x="762000" y="1168400"/>
            <a:ext cx="14732000" cy="12700"/>
          </a:xfrm>
          <a:prstGeom prst="rect">
            <a:avLst/>
          </a:prstGeom>
          <a:solidFill>
            <a:srgbClr val="D1CFC9"/>
          </a:solidFill>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62000" y="1371600"/>
          <a:ext cx="14732000" cy="3657600"/>
        </p:xfrm>
        <a:graphic>
          <a:graphicData uri="http://schemas.openxmlformats.org/drawingml/2006/table">
            <a:tbl>
              <a:tblPr/>
              <a:tblGrid>
                <a:gridCol w="3241040"/>
                <a:gridCol w="5892800"/>
                <a:gridCol w="5598160"/>
              </a:tblGrid>
              <a:tr h="511552">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Best Practice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Description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Expected Outcome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1B4332"/>
                    </a:solidFill>
                  </a:tcPr>
                </a:tc>
              </a:tr>
              <a:tr h="524341">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Standardize Data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Adjust financial statements to common accounting bases before comparison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Improved cross-company comparability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24341">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Use Multiple Periods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Analyze trends over 3–5 years rather than single-period snapshots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Identification of patterns and anomalies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524341">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Comprehensive Ratio Sets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Evaluate liquidity, profitability, efficiency, and solvency together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Holistic view preventing skewed conclusions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24341">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Qualitative Analysis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Supplement ratios with management, competitive, and market assessment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Contextualized, nuanced evaluation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r h="524341">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Macroeconomic Context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Consider inflation, interest rates, economic cycles, industry factors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Environmentally adjusted interpretation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FFFFF"/>
                    </a:solidFill>
                  </a:tcPr>
                </a:tc>
              </a:tr>
              <a:tr h="524341">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Verify Data Integrity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Review footnotes, auditor opinions, and MD&amp;A for off-balance-sheet items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c>
                  <a:txBody>
                    <a:bodyPr/>
                    <a:lstStyle/>
                    <a:p>
                      <a:pPr algn="l"/>
                      <a:r>
                        <a:rPr lang="en-US" sz="1400" u="none" dirty="0">
                          <a:solidFill>
                            <a:srgbClr val="1A1A2E"/>
                          </a:solidFill>
                          <a:latin typeface="QuattrocentoSans" pitchFamily="34" charset="0"/>
                          <a:ea typeface="QuattrocentoSans" pitchFamily="34" charset="-122"/>
                          <a:cs typeface="QuattrocentoSans" pitchFamily="34" charset="-120"/>
                        </a:rPr>
                        <a:t>Detection of non-recurring distortions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D1CFC9"/>
                      </a:solidFill>
                      <a:prstDash val="solid"/>
                      <a:round/>
                      <a:headEnd type="none" w="med" len="med"/>
                      <a:tailEnd type="none" w="med" len="med"/>
                    </a:lnL>
                    <a:lnR w="12700" cap="flat" cmpd="sng" algn="ctr">
                      <a:solidFill>
                        <a:srgbClr val="D1CFC9"/>
                      </a:solidFill>
                      <a:prstDash val="solid"/>
                      <a:round/>
                      <a:headEnd type="none" w="med" len="med"/>
                      <a:tailEnd type="none" w="med" len="med"/>
                    </a:lnR>
                    <a:lnT w="12700" cap="flat" cmpd="sng" algn="ctr">
                      <a:solidFill>
                        <a:srgbClr val="D1CFC9"/>
                      </a:solidFill>
                      <a:prstDash val="solid"/>
                      <a:round/>
                      <a:headEnd type="none" w="med" len="med"/>
                      <a:tailEnd type="none" w="med" len="med"/>
                    </a:lnT>
                    <a:lnB w="12700" cap="flat" cmpd="sng" algn="ctr">
                      <a:solidFill>
                        <a:srgbClr val="D1CFC9"/>
                      </a:solidFill>
                      <a:prstDash val="solid"/>
                      <a:round/>
                      <a:headEnd type="none" w="med" len="med"/>
                      <a:tailEnd type="none" w="med" len="med"/>
                    </a:lnB>
                    <a:solidFill>
                      <a:srgbClr val="F0EDE7"/>
                    </a:solidFill>
                  </a:tcPr>
                </a:tc>
              </a:tr>
            </a:tbl>
          </a:graphicData>
        </a:graphic>
      </p:graphicFrame>
      <p:sp>
        <p:nvSpPr>
          <p:cNvPr id="5" name="Shape 2"/>
          <p:cNvSpPr/>
          <p:nvPr/>
        </p:nvSpPr>
        <p:spPr>
          <a:xfrm>
            <a:off x="762000" y="5842000"/>
            <a:ext cx="50800" cy="2095500"/>
          </a:xfrm>
          <a:prstGeom prst="rect">
            <a:avLst/>
          </a:prstGeom>
          <a:solidFill>
            <a:srgbClr val="B8860B"/>
          </a:solidFill>
          <a:ln/>
        </p:spPr>
      </p:sp>
      <p:sp>
        <p:nvSpPr>
          <p:cNvPr id="6" name="Text 3"/>
          <p:cNvSpPr/>
          <p:nvPr/>
        </p:nvSpPr>
        <p:spPr>
          <a:xfrm>
            <a:off x="1016000" y="5842000"/>
            <a:ext cx="6350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Transforming Analysis from Mechanical to Sophisticated</a:t>
            </a:r>
            <a:endParaRPr lang="en-US" sz="1600" dirty="0"/>
          </a:p>
        </p:txBody>
      </p:sp>
      <p:sp>
        <p:nvSpPr>
          <p:cNvPr id="7" name="Text 4"/>
          <p:cNvSpPr/>
          <p:nvPr/>
        </p:nvSpPr>
        <p:spPr>
          <a:xfrm>
            <a:off x="1016000" y="6223000"/>
            <a:ext cx="14224000" cy="20320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These practices transform ratio analysis from a mechanical exercise into a sophisticated evaluative tool. The most effective analysts combine rigorous quantitative analysis with qualitative judgment, maintain awareness of methodological limitations, and apply ratios as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one component of a comprehensive evaluation framework</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rather than a standalone verdict.</a:t>
            </a:r>
            <a:endParaRPr lang="en-US" sz="1800" dirty="0"/>
          </a:p>
          <a:p>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No single practice alone overcomes all limitations — the key is </a:t>
            </a:r>
            <a:pPr>
              <a:lnSpc>
                <a:spcPct val="155000"/>
              </a:lnSpc>
              <a:spcBef>
                <a:spcPts val="600"/>
              </a:spcBef>
            </a:pPr>
            <a:r>
              <a:rPr lang="en-US" sz="1500" b="1" dirty="0">
                <a:solidFill>
                  <a:srgbClr val="1A1A2E"/>
                </a:solidFill>
                <a:latin typeface="QuattrocentoSans" pitchFamily="34" charset="0"/>
                <a:ea typeface="QuattrocentoSans" pitchFamily="34" charset="-122"/>
                <a:cs typeface="QuattrocentoSans" pitchFamily="34" charset="-120"/>
              </a:rPr>
              <a:t>systematic application of multiple safeguards</a:t>
            </a:r>
            <a:pPr>
              <a:lnSpc>
                <a:spcPct val="155000"/>
              </a:lnSpc>
              <a:spcBef>
                <a:spcPts val="600"/>
              </a:spcBef>
            </a:pPr>
            <a:r>
              <a:rPr lang="en-US" sz="1500" dirty="0">
                <a:solidFill>
                  <a:srgbClr val="1A1A2E"/>
                </a:solidFill>
                <a:latin typeface="QuattrocentoSans" pitchFamily="34" charset="0"/>
                <a:ea typeface="QuattrocentoSans" pitchFamily="34" charset="-122"/>
                <a:cs typeface="QuattrocentoSans" pitchFamily="34" charset="-120"/>
              </a:rPr>
              <a:t> together, tailored to the specific analytical context and decision at hand.</a:t>
            </a:r>
            <a:endParaRPr lang="en-US" sz="1800" dirty="0"/>
          </a:p>
        </p:txBody>
      </p:sp>
      <p:sp>
        <p:nvSpPr>
          <p:cNvPr id="8" name="Text 5"/>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28</a:t>
            </a:r>
            <a:endParaRPr lang="en-US" sz="12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762000" y="571500"/>
            <a:ext cx="13970000" cy="533400"/>
          </a:xfrm>
          <a:prstGeom prst="rect">
            <a:avLst/>
          </a:prstGeom>
          <a:noFill/>
          <a:ln/>
        </p:spPr>
        <p:txBody>
          <a:bodyPr wrap="none" lIns="0" tIns="0" rIns="0" bIns="0" rtlCol="0" anchor="ctr"/>
          <a:lstStyle/>
          <a:p>
            <a:pPr>
              <a:lnSpc>
                <a:spcPct val="130000"/>
              </a:lnSpc>
            </a:pPr>
            <a:r>
              <a:rPr lang="en-US" sz="2400" dirty="0">
                <a:solidFill>
                  <a:srgbClr val="1A1A2E"/>
                </a:solidFill>
                <a:latin typeface="Oranienbaum" pitchFamily="34" charset="0"/>
                <a:ea typeface="Oranienbaum" pitchFamily="34" charset="-122"/>
                <a:cs typeface="Oranienbaum" pitchFamily="34" charset="-120"/>
              </a:rPr>
              <a:t>Financial ratio analysis remains indispensable when applied with judgment and awareness</a:t>
            </a:r>
            <a:endParaRPr lang="en-US" sz="2800" dirty="0"/>
          </a:p>
        </p:txBody>
      </p:sp>
      <p:sp>
        <p:nvSpPr>
          <p:cNvPr id="3" name="Shape 1"/>
          <p:cNvSpPr/>
          <p:nvPr/>
        </p:nvSpPr>
        <p:spPr>
          <a:xfrm>
            <a:off x="762000" y="1168400"/>
            <a:ext cx="14732000" cy="12700"/>
          </a:xfrm>
          <a:prstGeom prst="rect">
            <a:avLst/>
          </a:prstGeom>
          <a:solidFill>
            <a:srgbClr val="D1CFC9"/>
          </a:solidFill>
          <a:ln/>
        </p:spPr>
      </p:sp>
      <p:sp>
        <p:nvSpPr>
          <p:cNvPr id="4" name="Text 2"/>
          <p:cNvSpPr/>
          <p:nvPr/>
        </p:nvSpPr>
        <p:spPr>
          <a:xfrm>
            <a:off x="762000" y="1371600"/>
            <a:ext cx="6858000" cy="330200"/>
          </a:xfrm>
          <a:prstGeom prst="rect">
            <a:avLst/>
          </a:prstGeom>
          <a:noFill/>
          <a:ln/>
        </p:spPr>
        <p:txBody>
          <a:bodyPr wrap="none" lIns="0" tIns="0" rIns="0" bIns="0" rtlCol="0" anchor="ctr"/>
          <a:lstStyle/>
          <a:p>
            <a:pPr>
              <a:lnSpc>
                <a:spcPct val="100000"/>
              </a:lnSpc>
            </a:pPr>
            <a:r>
              <a:rPr lang="en-US" sz="1600" dirty="0">
                <a:solidFill>
                  <a:srgbClr val="1B4332"/>
                </a:solidFill>
                <a:latin typeface="Oranienbaum" pitchFamily="34" charset="0"/>
                <a:ea typeface="Oranienbaum" pitchFamily="34" charset="-122"/>
                <a:cs typeface="Oranienbaum" pitchFamily="34" charset="-120"/>
              </a:rPr>
              <a:t>Strengths</a:t>
            </a:r>
            <a:endParaRPr lang="en-US" sz="1600" dirty="0"/>
          </a:p>
        </p:txBody>
      </p:sp>
      <p:sp>
        <p:nvSpPr>
          <p:cNvPr id="5" name="Shape 3"/>
          <p:cNvSpPr/>
          <p:nvPr/>
        </p:nvSpPr>
        <p:spPr>
          <a:xfrm>
            <a:off x="762000" y="1752600"/>
            <a:ext cx="6858000" cy="25400"/>
          </a:xfrm>
          <a:prstGeom prst="rect">
            <a:avLst/>
          </a:prstGeom>
          <a:solidFill>
            <a:srgbClr val="1B4332"/>
          </a:solidFill>
          <a:ln/>
        </p:spPr>
      </p:sp>
      <p:sp>
        <p:nvSpPr>
          <p:cNvPr id="6" name="Text 4"/>
          <p:cNvSpPr/>
          <p:nvPr/>
        </p:nvSpPr>
        <p:spPr>
          <a:xfrm>
            <a:off x="762000" y="1879600"/>
            <a:ext cx="6858000" cy="26670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Standardizes complex data</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for meaningful comparison across companies and time periods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Identifies trends and anomalies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that absolute figures obscure</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Supports evidence-based decision-making</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with quantitative foundations</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Enables benchmarking</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against peers, industry averages, and historical performance</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Provides a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structured framework</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for comprehensive evaluation</a:t>
            </a:r>
            <a:endParaRPr lang="en-US" sz="1800" dirty="0"/>
          </a:p>
        </p:txBody>
      </p:sp>
      <p:sp>
        <p:nvSpPr>
          <p:cNvPr id="7" name="Text 5"/>
          <p:cNvSpPr/>
          <p:nvPr/>
        </p:nvSpPr>
        <p:spPr>
          <a:xfrm>
            <a:off x="8382000" y="1371600"/>
            <a:ext cx="7112000" cy="330200"/>
          </a:xfrm>
          <a:prstGeom prst="rect">
            <a:avLst/>
          </a:prstGeom>
          <a:noFill/>
          <a:ln/>
        </p:spPr>
        <p:txBody>
          <a:bodyPr wrap="none" lIns="0" tIns="0" rIns="0" bIns="0" rtlCol="0" anchor="ctr"/>
          <a:lstStyle/>
          <a:p>
            <a:pPr>
              <a:lnSpc>
                <a:spcPct val="100000"/>
              </a:lnSpc>
            </a:pPr>
            <a:r>
              <a:rPr lang="en-US" sz="1600" dirty="0">
                <a:solidFill>
                  <a:srgbClr val="B8860B"/>
                </a:solidFill>
                <a:latin typeface="Oranienbaum" pitchFamily="34" charset="0"/>
                <a:ea typeface="Oranienbaum" pitchFamily="34" charset="-122"/>
                <a:cs typeface="Oranienbaum" pitchFamily="34" charset="-120"/>
              </a:rPr>
              <a:t>Limitations</a:t>
            </a:r>
            <a:endParaRPr lang="en-US" sz="1600" dirty="0"/>
          </a:p>
        </p:txBody>
      </p:sp>
      <p:sp>
        <p:nvSpPr>
          <p:cNvPr id="8" name="Shape 6"/>
          <p:cNvSpPr/>
          <p:nvPr/>
        </p:nvSpPr>
        <p:spPr>
          <a:xfrm>
            <a:off x="8382000" y="1752600"/>
            <a:ext cx="7112000" cy="25400"/>
          </a:xfrm>
          <a:prstGeom prst="rect">
            <a:avLst/>
          </a:prstGeom>
          <a:solidFill>
            <a:srgbClr val="B8860B"/>
          </a:solidFill>
          <a:ln/>
        </p:spPr>
      </p:sp>
      <p:sp>
        <p:nvSpPr>
          <p:cNvPr id="9" name="Text 7"/>
          <p:cNvSpPr/>
          <p:nvPr/>
        </p:nvSpPr>
        <p:spPr>
          <a:xfrm>
            <a:off x="8382000" y="1879600"/>
            <a:ext cx="7112000" cy="2667000"/>
          </a:xfrm>
          <a:prstGeom prst="rect">
            <a:avLst/>
          </a:prstGeom>
          <a:noFill/>
          <a:ln/>
        </p:spPr>
        <p:txBody>
          <a:bodyPr wrap="square" lIns="0" tIns="0" rIns="0" bIns="0" rtlCol="0" anchor="ctr"/>
          <a:lstStyle/>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Vulnerable to accounting differences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inflation effects, and manipulation</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Cannot capture qualitative factors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like management quality or brand strength</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Requires appropriate benchmarks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that may not always exist</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Offers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historical rather than predictive</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insight</a:t>
            </a:r>
            <a:endParaRPr lang="en-US" sz="1800" dirty="0"/>
          </a:p>
          <a:p>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a:t>
            </a:r>
            <a:pPr>
              <a:lnSpc>
                <a:spcPct val="155000"/>
              </a:lnSpc>
            </a:pPr>
            <a:r>
              <a:rPr lang="en-US" sz="1500" b="1" dirty="0">
                <a:solidFill>
                  <a:srgbClr val="1A1A2E"/>
                </a:solidFill>
                <a:latin typeface="QuattrocentoSans" pitchFamily="34" charset="0"/>
                <a:ea typeface="QuattrocentoSans" pitchFamily="34" charset="-122"/>
                <a:cs typeface="QuattrocentoSans" pitchFamily="34" charset="-120"/>
              </a:rPr>
              <a:t>Single-ratio analysis</a:t>
            </a:r>
            <a:pPr>
              <a:lnSpc>
                <a:spcPct val="155000"/>
              </a:lnSpc>
            </a:pPr>
            <a:r>
              <a:rPr lang="en-US" sz="1500" dirty="0">
                <a:solidFill>
                  <a:srgbClr val="1A1A2E"/>
                </a:solidFill>
                <a:latin typeface="QuattrocentoSans" pitchFamily="34" charset="0"/>
                <a:ea typeface="QuattrocentoSans" pitchFamily="34" charset="-122"/>
                <a:cs typeface="QuattrocentoSans" pitchFamily="34" charset="-120"/>
              </a:rPr>
              <a:t> can produce misleading conclusions</a:t>
            </a:r>
            <a:endParaRPr lang="en-US" sz="1800" dirty="0"/>
          </a:p>
        </p:txBody>
      </p:sp>
      <p:sp>
        <p:nvSpPr>
          <p:cNvPr id="10" name="Shape 8"/>
          <p:cNvSpPr/>
          <p:nvPr/>
        </p:nvSpPr>
        <p:spPr>
          <a:xfrm>
            <a:off x="762000" y="4826000"/>
            <a:ext cx="14732000" cy="12700"/>
          </a:xfrm>
          <a:prstGeom prst="rect">
            <a:avLst/>
          </a:prstGeom>
          <a:solidFill>
            <a:srgbClr val="D1CFC9"/>
          </a:solidFill>
          <a:ln/>
        </p:spPr>
      </p:sp>
      <p:sp>
        <p:nvSpPr>
          <p:cNvPr id="11" name="Shape 9"/>
          <p:cNvSpPr/>
          <p:nvPr/>
        </p:nvSpPr>
        <p:spPr>
          <a:xfrm>
            <a:off x="762000" y="5080000"/>
            <a:ext cx="14732000" cy="2921000"/>
          </a:xfrm>
          <a:prstGeom prst="rect">
            <a:avLst/>
          </a:prstGeom>
          <a:solidFill>
            <a:srgbClr val="1B4332"/>
          </a:solidFill>
          <a:ln/>
        </p:spPr>
      </p:sp>
      <p:sp>
        <p:nvSpPr>
          <p:cNvPr id="12" name="Text 10"/>
          <p:cNvSpPr/>
          <p:nvPr/>
        </p:nvSpPr>
        <p:spPr>
          <a:xfrm>
            <a:off x="1016000" y="5207000"/>
            <a:ext cx="5080000" cy="330200"/>
          </a:xfrm>
          <a:prstGeom prst="rect">
            <a:avLst/>
          </a:prstGeom>
          <a:noFill/>
          <a:ln/>
        </p:spPr>
        <p:txBody>
          <a:bodyPr wrap="none" lIns="0" tIns="0" rIns="0" bIns="0" rtlCol="0" anchor="ctr"/>
          <a:lstStyle/>
          <a:p>
            <a:pPr>
              <a:lnSpc>
                <a:spcPct val="100000"/>
              </a:lnSpc>
            </a:pPr>
            <a:r>
              <a:rPr lang="en-US" sz="1600" dirty="0">
                <a:solidFill>
                  <a:srgbClr val="B8860B"/>
                </a:solidFill>
                <a:latin typeface="Oranienbaum" pitchFamily="34" charset="0"/>
                <a:ea typeface="Oranienbaum" pitchFamily="34" charset="-122"/>
                <a:cs typeface="Oranienbaum" pitchFamily="34" charset="-120"/>
              </a:rPr>
              <a:t>The Path Forward</a:t>
            </a:r>
            <a:endParaRPr lang="en-US" sz="1600" dirty="0"/>
          </a:p>
        </p:txBody>
      </p:sp>
      <p:sp>
        <p:nvSpPr>
          <p:cNvPr id="13" name="Text 11"/>
          <p:cNvSpPr/>
          <p:nvPr/>
        </p:nvSpPr>
        <p:spPr>
          <a:xfrm>
            <a:off x="1016000" y="5613400"/>
            <a:ext cx="14224000" cy="2260600"/>
          </a:xfrm>
          <a:prstGeom prst="rect">
            <a:avLst/>
          </a:prstGeom>
          <a:noFill/>
          <a:ln/>
        </p:spPr>
        <p:txBody>
          <a:bodyPr wrap="square" lIns="0" tIns="0" rIns="0" bIns="0" rtlCol="0" anchor="ctr"/>
          <a:lstStyle/>
          <a:p>
            <a:pPr>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Financial ratio analysis is a powerful but imperfect tool. Its value depends entirely on how thoughtfully it is applied.</a:t>
            </a:r>
            <a:endParaRPr lang="en-US" sz="1600" dirty="0"/>
          </a:p>
          <a:p>
            <a:pPr>
              <a:lnSpc>
                <a:spcPct val="160000"/>
              </a:lnSpc>
              <a:spcBef>
                <a:spcPts val="600"/>
              </a:spcBef>
            </a:pPr>
            <a:r>
              <a:rPr lang="en-US" sz="1600" dirty="0">
                <a:solidFill>
                  <a:srgbClr val="FFFFFF"/>
                </a:solidFill>
                <a:latin typeface="Quattrocento Sans" pitchFamily="34" charset="0"/>
                <a:ea typeface="Quattrocento Sans" pitchFamily="34" charset="-122"/>
                <a:cs typeface="Quattrocento Sans" pitchFamily="34" charset="-120"/>
              </a:rPr>
              <a:t>The most effective analysts combine rigorous quantitative analysis with qualitative judgment, maintain awareness of methodological limitations, and apply ratios as </a:t>
            </a:r>
            <a:pPr>
              <a:lnSpc>
                <a:spcPct val="160000"/>
              </a:lnSpc>
              <a:spcBef>
                <a:spcPts val="600"/>
              </a:spcBef>
            </a:pPr>
            <a:r>
              <a:rPr lang="en-US" sz="1600" b="1" dirty="0">
                <a:solidFill>
                  <a:srgbClr val="FFFFFF"/>
                </a:solidFill>
                <a:latin typeface="Quattrocento Sans" pitchFamily="34" charset="0"/>
                <a:ea typeface="Quattrocento Sans" pitchFamily="34" charset="-122"/>
                <a:cs typeface="Quattrocento Sans" pitchFamily="34" charset="-120"/>
              </a:rPr>
              <a:t>one component of a comprehensive evaluation framework</a:t>
            </a:r>
            <a:pPr>
              <a:lnSpc>
                <a:spcPct val="160000"/>
              </a:lnSpc>
              <a:spcBef>
                <a:spcPts val="600"/>
              </a:spcBef>
            </a:pPr>
            <a:r>
              <a:rPr lang="en-US" sz="1600" dirty="0">
                <a:solidFill>
                  <a:srgbClr val="FFFFFF"/>
                </a:solidFill>
                <a:latin typeface="Quattrocento Sans" pitchFamily="34" charset="0"/>
                <a:ea typeface="Quattrocento Sans" pitchFamily="34" charset="-122"/>
                <a:cs typeface="Quattrocento Sans" pitchFamily="34" charset="-120"/>
              </a:rPr>
              <a:t> rather than a standalone verdict.</a:t>
            </a:r>
            <a:endParaRPr lang="en-US" sz="1600" dirty="0"/>
          </a:p>
          <a:p>
            <a:pPr>
              <a:lnSpc>
                <a:spcPct val="160000"/>
              </a:lnSpc>
              <a:spcBef>
                <a:spcPts val="600"/>
              </a:spcBef>
            </a:pPr>
            <a:r>
              <a:rPr lang="en-US" sz="1600" dirty="0">
                <a:solidFill>
                  <a:srgbClr val="FFFFFF"/>
                </a:solidFill>
                <a:latin typeface="Quattrocento Sans" pitchFamily="34" charset="0"/>
                <a:ea typeface="Quattrocento Sans" pitchFamily="34" charset="-122"/>
                <a:cs typeface="Quattrocento Sans" pitchFamily="34" charset="-120"/>
              </a:rPr>
              <a:t>The goal is not to eliminate ratio analysis — but to elevate it through disciplined application, contextual awareness, and integration with broader evaluative methods.</a:t>
            </a:r>
            <a:endParaRPr lang="en-US" sz="1600" dirty="0"/>
          </a:p>
        </p:txBody>
      </p:sp>
      <p:sp>
        <p:nvSpPr>
          <p:cNvPr id="14" name="Text 12"/>
          <p:cNvSpPr/>
          <p:nvPr/>
        </p:nvSpPr>
        <p:spPr>
          <a:xfrm>
            <a:off x="14986000" y="8763000"/>
            <a:ext cx="508000" cy="254000"/>
          </a:xfrm>
          <a:prstGeom prst="rect">
            <a:avLst/>
          </a:prstGeom>
          <a:noFill/>
          <a:ln/>
        </p:spPr>
        <p:txBody>
          <a:bodyPr wrap="none" lIns="0" tIns="0" rIns="0" bIns="0" rtlCol="0" anchor="ctr"/>
          <a:lstStyle/>
          <a:p>
            <a:pPr algn="r">
              <a:lnSpc>
                <a:spcPct val="140000"/>
              </a:lnSpc>
            </a:pPr>
            <a:r>
              <a:rPr lang="en-US" sz="1200" dirty="0">
                <a:solidFill>
                  <a:srgbClr val="6B7280"/>
                </a:solidFill>
                <a:latin typeface="QuattrocentoSans" pitchFamily="34" charset="0"/>
                <a:ea typeface="QuattrocentoSans" pitchFamily="34" charset="-122"/>
                <a:cs typeface="QuattrocentoSans" pitchFamily="34" charset="-120"/>
              </a:rPr>
              <a:t>29</a:t>
            </a:r>
            <a:endParaRPr lang="en-US" sz="1200" dirty="0"/>
          </a:p>
        </p:txBody>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https://kimi-img.moonshot.cn/pub/slides/okc/fugd5lfhhzhog/mnt/agents/output/financial-performance/images/3_Abstract_Network_Connection_Structure.png">    </p:cNvPr>
          <p:cNvPicPr>
            <a:picLocks noChangeAspect="1"/>
          </p:cNvPicPr>
          <p:nvPr/>
        </p:nvPicPr>
        <p:blipFill>
          <a:blip r:embed="rId1"/>
          <a:srcRect l="111" r="111"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1A1A2E">
                  <a:alpha val="90000"/>
                </a:srgbClr>
              </a:gs>
              <a:gs pos="50000">
                <a:srgbClr val="1A1A2E">
                  <a:alpha val="80000"/>
                </a:srgbClr>
              </a:gs>
              <a:gs pos="100000">
                <a:srgbClr val="1A1A2E">
                  <a:alpha val="60000"/>
                </a:srgbClr>
              </a:gs>
            </a:gsLst>
            <a:lin ang="5400000" scaled="1"/>
          </a:gradFill>
          <a:ln w="12700">
            <a:solidFill>
              <a:srgbClr val="333333"/>
            </a:solidFill>
            <a:prstDash val="solid"/>
          </a:ln>
        </p:spPr>
      </p:sp>
      <p:sp>
        <p:nvSpPr>
          <p:cNvPr id="4" name="Text 1"/>
          <p:cNvSpPr/>
          <p:nvPr/>
        </p:nvSpPr>
        <p:spPr>
          <a:xfrm>
            <a:off x="1016000" y="2540000"/>
            <a:ext cx="3810000" cy="279400"/>
          </a:xfrm>
          <a:prstGeom prst="rect">
            <a:avLst/>
          </a:prstGeom>
          <a:noFill/>
          <a:ln/>
        </p:spPr>
        <p:txBody>
          <a:bodyPr wrap="none" lIns="0" tIns="0" rIns="0" bIns="0" rtlCol="0" anchor="ctr"/>
          <a:lstStyle/>
          <a:p>
            <a:pPr>
              <a:lnSpc>
                <a:spcPct val="100000"/>
              </a:lnSpc>
            </a:pPr>
            <a:r>
              <a:rPr lang="en-US" sz="1300" spc="400" kern="0" dirty="0">
                <a:solidFill>
                  <a:srgbClr val="B8860B"/>
                </a:solidFill>
                <a:latin typeface="Quattrocento Sans" pitchFamily="34" charset="0"/>
                <a:ea typeface="Quattrocento Sans" pitchFamily="34" charset="-122"/>
                <a:cs typeface="Quattrocento Sans" pitchFamily="34" charset="-120"/>
              </a:rPr>
              <a:t>KEY TAKEAWAYS</a:t>
            </a:r>
            <a:endParaRPr lang="en-US" sz="1600" dirty="0"/>
          </a:p>
        </p:txBody>
      </p:sp>
      <p:sp>
        <p:nvSpPr>
          <p:cNvPr id="5" name="Shape 2"/>
          <p:cNvSpPr/>
          <p:nvPr/>
        </p:nvSpPr>
        <p:spPr>
          <a:xfrm>
            <a:off x="1016000" y="2984500"/>
            <a:ext cx="1016000" cy="38100"/>
          </a:xfrm>
          <a:prstGeom prst="rect">
            <a:avLst/>
          </a:prstGeom>
          <a:solidFill>
            <a:srgbClr val="B8860B"/>
          </a:solidFill>
          <a:ln/>
        </p:spPr>
      </p:sp>
      <p:sp>
        <p:nvSpPr>
          <p:cNvPr id="6" name="Text 3"/>
          <p:cNvSpPr/>
          <p:nvPr/>
        </p:nvSpPr>
        <p:spPr>
          <a:xfrm>
            <a:off x="1016000" y="3302000"/>
            <a:ext cx="8890000" cy="508000"/>
          </a:xfrm>
          <a:prstGeom prst="rect">
            <a:avLst/>
          </a:prstGeom>
          <a:noFill/>
          <a:ln/>
        </p:spPr>
        <p:txBody>
          <a:bodyPr wrap="none" lIns="0" tIns="0" rIns="0" bIns="0" rtlCol="0" anchor="ctr"/>
          <a:lstStyle/>
          <a:p>
            <a:pPr>
              <a:lnSpc>
                <a:spcPct val="130000"/>
              </a:lnSpc>
            </a:pPr>
            <a:r>
              <a:rPr lang="en-US" sz="2800" dirty="0">
                <a:solidFill>
                  <a:srgbClr val="FFFFFF"/>
                </a:solidFill>
                <a:latin typeface="Oranienbaum" pitchFamily="34" charset="0"/>
                <a:ea typeface="Oranienbaum" pitchFamily="34" charset="-122"/>
                <a:cs typeface="Oranienbaum" pitchFamily="34" charset="-120"/>
              </a:rPr>
              <a:t>Financial analysis transforms data into decisions.</a:t>
            </a:r>
            <a:endParaRPr lang="en-US" sz="1600" dirty="0"/>
          </a:p>
        </p:txBody>
      </p:sp>
      <p:sp>
        <p:nvSpPr>
          <p:cNvPr id="7" name="Text 4"/>
          <p:cNvSpPr/>
          <p:nvPr/>
        </p:nvSpPr>
        <p:spPr>
          <a:xfrm>
            <a:off x="1016000" y="3937000"/>
            <a:ext cx="8890000" cy="508000"/>
          </a:xfrm>
          <a:prstGeom prst="rect">
            <a:avLst/>
          </a:prstGeom>
          <a:noFill/>
          <a:ln/>
        </p:spPr>
        <p:txBody>
          <a:bodyPr wrap="none" lIns="0" tIns="0" rIns="0" bIns="0" rtlCol="0" anchor="ctr"/>
          <a:lstStyle/>
          <a:p>
            <a:pPr>
              <a:lnSpc>
                <a:spcPct val="130000"/>
              </a:lnSpc>
            </a:pPr>
            <a:r>
              <a:rPr lang="en-US" sz="2800" dirty="0">
                <a:solidFill>
                  <a:srgbClr val="FFFFFF"/>
                </a:solidFill>
                <a:latin typeface="Oranienbaum" pitchFamily="34" charset="0"/>
                <a:ea typeface="Oranienbaum" pitchFamily="34" charset="-122"/>
                <a:cs typeface="Oranienbaum" pitchFamily="34" charset="-120"/>
              </a:rPr>
              <a:t>Ratios reveal relationships, but context reveals meaning.</a:t>
            </a:r>
            <a:endParaRPr lang="en-US" sz="1600" dirty="0"/>
          </a:p>
        </p:txBody>
      </p:sp>
      <p:sp>
        <p:nvSpPr>
          <p:cNvPr id="8" name="Text 5"/>
          <p:cNvSpPr/>
          <p:nvPr/>
        </p:nvSpPr>
        <p:spPr>
          <a:xfrm>
            <a:off x="1016000" y="4572000"/>
            <a:ext cx="10160000" cy="508000"/>
          </a:xfrm>
          <a:prstGeom prst="rect">
            <a:avLst/>
          </a:prstGeom>
          <a:noFill/>
          <a:ln/>
        </p:spPr>
        <p:txBody>
          <a:bodyPr wrap="none" lIns="0" tIns="0" rIns="0" bIns="0" rtlCol="0" anchor="ctr"/>
          <a:lstStyle/>
          <a:p>
            <a:pPr>
              <a:lnSpc>
                <a:spcPct val="130000"/>
              </a:lnSpc>
            </a:pPr>
            <a:r>
              <a:rPr lang="en-US" sz="2800" dirty="0">
                <a:solidFill>
                  <a:srgbClr val="B8860B"/>
                </a:solidFill>
                <a:latin typeface="Oranienbaum" pitchFamily="34" charset="0"/>
                <a:ea typeface="Oranienbaum" pitchFamily="34" charset="-122"/>
                <a:cs typeface="Oranienbaum" pitchFamily="34" charset="-120"/>
              </a:rPr>
              <a:t>The art of analysis lies not in calculation — but in interpretation.</a:t>
            </a:r>
            <a:endParaRPr lang="en-US" sz="1600" dirty="0"/>
          </a:p>
        </p:txBody>
      </p:sp>
      <p:sp>
        <p:nvSpPr>
          <p:cNvPr id="9" name="Text 6"/>
          <p:cNvSpPr/>
          <p:nvPr/>
        </p:nvSpPr>
        <p:spPr>
          <a:xfrm>
            <a:off x="1016000" y="5461000"/>
            <a:ext cx="8890000" cy="1524000"/>
          </a:xfrm>
          <a:prstGeom prst="rect">
            <a:avLst/>
          </a:prstGeom>
          <a:noFill/>
          <a:ln/>
        </p:spPr>
        <p:txBody>
          <a:bodyPr wrap="square" lIns="0" tIns="0" rIns="0" bIns="0" rtlCol="0" anchor="ctr"/>
          <a:lstStyle/>
          <a:p>
            <a:pPr>
              <a:lnSpc>
                <a:spcPct val="160000"/>
              </a:lnSpc>
            </a:pPr>
            <a:r>
              <a:rPr lang="en-US" sz="1600" dirty="0">
                <a:solidFill>
                  <a:srgbClr val="FFFFFF">
                    <a:alpha val="66667"/>
                  </a:srgbClr>
                </a:solidFill>
                <a:latin typeface="Quattrocento Sans" pitchFamily="34" charset="0"/>
                <a:ea typeface="Quattrocento Sans" pitchFamily="34" charset="-122"/>
                <a:cs typeface="Quattrocento Sans" pitchFamily="34" charset="-120"/>
              </a:rPr>
              <a:t>This presentation covered the purpose of financial analysis, the five categories of key financial ratios (liquidity, profitability, efficiency, leverage, and market value), the DuPont decomposition framework, and the critical limitations analysts must navigate.</a:t>
            </a:r>
            <a:endParaRPr lang="en-US" sz="1600" dirty="0"/>
          </a:p>
        </p:txBody>
      </p:sp>
      <p:sp>
        <p:nvSpPr>
          <p:cNvPr id="10" name="Text 7"/>
          <p:cNvSpPr/>
          <p:nvPr/>
        </p:nvSpPr>
        <p:spPr>
          <a:xfrm>
            <a:off x="1016000" y="7366000"/>
            <a:ext cx="5080000" cy="381000"/>
          </a:xfrm>
          <a:prstGeom prst="rect">
            <a:avLst/>
          </a:prstGeom>
          <a:noFill/>
          <a:ln/>
        </p:spPr>
        <p:txBody>
          <a:bodyPr wrap="none" lIns="0" tIns="0" rIns="0" bIns="0" rtlCol="0" anchor="ctr"/>
          <a:lstStyle/>
          <a:p>
            <a:pPr>
              <a:lnSpc>
                <a:spcPct val="100000"/>
              </a:lnSpc>
            </a:pPr>
            <a:r>
              <a:rPr lang="en-US" sz="1800" dirty="0">
                <a:solidFill>
                  <a:srgbClr val="FFFFFF"/>
                </a:solidFill>
                <a:latin typeface="Oranienbaum" pitchFamily="34" charset="0"/>
                <a:ea typeface="Oranienbaum" pitchFamily="34" charset="-122"/>
                <a:cs typeface="Oranienbaum" pitchFamily="34" charset="-120"/>
              </a:rPr>
              <a:t>Thank you</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a Firm's Financial Performance</dc:title>
  <dc:subject>Evaluating a Firm's Financial Performance</dc:subject>
  <dc:creator>Kimi</dc:creator>
  <cp:lastModifiedBy>Kimi</cp:lastModifiedBy>
  <cp:revision>1</cp:revision>
  <dcterms:created xsi:type="dcterms:W3CDTF">2026-05-22T04:10:31Z</dcterms:created>
  <dcterms:modified xsi:type="dcterms:W3CDTF">2026-05-22T04:10:31Z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{"Label":"Evaluating a Firm's Financial Performance","ContentProducer":"001191110108MACG2KBH8F10000","ProduceID":"19e4a4d9-0cc2-8d63-8000-000092afda56","ReservedCode1":"","ContentPropagator":"001191110108MACG2KBH8F20000","PropagateID":"19e4a4d9-0cc2-8d63-8000-000092afda56","ReservedCode2":""}</vt:lpwstr>
  </property>
</Properties>
</file>