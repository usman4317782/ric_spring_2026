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Quattrocento Sans" charset="-122" pitchFamily="34"/>
      <p:regular r:id="rId37"/>
    </p:embeddedFont>
    <p:embeddedFont>
      <p:font typeface="Unna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Return (%)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Small-Company Stocks</c:v>
                  </c:pt>
                  <c:pt idx="1">
                    <c:v>Large-Company Stocks</c:v>
                  </c:pt>
                  <c:pt idx="2">
                    <c:v>LT Corporate Bonds</c:v>
                  </c:pt>
                  <c:pt idx="3">
                    <c:v>LT Government Bonds</c:v>
                  </c:pt>
                  <c:pt idx="4">
                    <c:v>US Treasury Bills</c:v>
                  </c:pt>
                  <c:pt idx="5">
                    <c:v>Inflation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0.0</c:formatCode>
                <c:ptCount val="6"/>
                <c:pt idx="0">
                  <c:v>11.7</c:v>
                </c:pt>
                <c:pt idx="1">
                  <c:v>10.1</c:v>
                </c:pt>
                <c:pt idx="2">
                  <c:v>6.4</c:v>
                </c:pt>
                <c:pt idx="3">
                  <c:v>5.8</c:v>
                </c:pt>
                <c:pt idx="4">
                  <c:v>3.3</c:v>
                </c:pt>
                <c:pt idx="5">
                  <c:v>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f0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Risk (%)</c:v>
                </c:pt>
              </c:strCache>
            </c:strRef>
          </c:tx>
          <c:spPr>
            <a:solidFill>
              <a:srgbClr val="1B4332"/>
            </a:solidFill>
            <a:ln w="25400" cap="flat">
              <a:solidFill>
                <a:srgbClr val="1B43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30</c:v>
                  </c:pt>
                  <c:pt idx="6">
                    <c:v>50</c:v>
                  </c:pt>
                  <c:pt idx="7">
                    <c:v>100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28</c:v>
                </c:pt>
                <c:pt idx="2">
                  <c:v>22</c:v>
                </c:pt>
                <c:pt idx="3">
                  <c:v>20</c:v>
                </c:pt>
                <c:pt idx="4">
                  <c:v>19</c:v>
                </c:pt>
                <c:pt idx="5">
                  <c:v>18.5</c:v>
                </c:pt>
                <c:pt idx="6">
                  <c:v>18.2</c:v>
                </c:pt>
                <c:pt idx="7">
                  <c:v>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Number of Stocks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e8f0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Portfolio Risk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Required Return (%)</c:v>
                </c:pt>
              </c:strCache>
            </c:strRef>
          </c:tx>
          <c:spPr>
            <a:solidFill>
              <a:srgbClr val="1B4332"/>
            </a:solidFill>
            <a:ln w="25400" cap="flat">
              <a:solidFill>
                <a:srgbClr val="1B43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0.5</c:v>
                  </c:pt>
                  <c:pt idx="2">
                    <c:v>1</c:v>
                  </c:pt>
                  <c:pt idx="3">
                    <c:v>1.5</c:v>
                  </c:pt>
                  <c:pt idx="4">
                    <c:v>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9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Beta (Systematic Risk)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e8f0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Required Return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b57y3psrzhre/mnt/agents/output/risk_return/images/10_Green_Stock_Market_Graph_Showing.png">    </p:cNvPr>
          <p:cNvPicPr>
            <a:picLocks noChangeAspect="1"/>
          </p:cNvPicPr>
          <p:nvPr/>
        </p:nvPicPr>
        <p:blipFill>
          <a:blip r:embed="rId1"/>
          <a:srcRect l="0" r="0" t="12687" b="1268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0"/>
                </a:srgbClr>
              </a:gs>
              <a:gs pos="35000">
                <a:srgbClr val="1B4332">
                  <a:alpha val="50000"/>
                </a:srgbClr>
              </a:gs>
              <a:gs pos="100000">
                <a:srgbClr val="1B4332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921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Meaning and Measurement of</a:t>
            </a:r>
            <a:endParaRPr lang="en-US" sz="4000" dirty="0"/>
          </a:p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Risk and Return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858000" y="4699000"/>
            <a:ext cx="2540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3"/>
          <p:cNvSpPr/>
          <p:nvPr/>
        </p:nvSpPr>
        <p:spPr>
          <a:xfrm>
            <a:off x="4318000" y="4953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C9A22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7-8 | Investment Principles &amp; Portfolio Theory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762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23114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Expected Return Defined and Measured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2692400"/>
            <a:ext cx="584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Probability-weighted outcomes and portfolio returns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175000"/>
            <a:ext cx="6858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42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78000" y="34544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Risk Defined and Measured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3835400"/>
            <a:ext cx="584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Variance, standard deviation, and coefficient of variation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318000"/>
            <a:ext cx="6858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57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78000" y="45974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Rates of Return: The Investor's Experience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8000" y="4978400"/>
            <a:ext cx="584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HPR, historical data, and arithmetic vs. geometric means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461000"/>
            <a:ext cx="6858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5715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78000" y="57404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Risk and Diversification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8000" y="6121400"/>
            <a:ext cx="584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vs. unsystematic risk and portfolio effects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604000"/>
            <a:ext cx="6858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685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78000" y="68834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Investor's Required Rate of Return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78000" y="7264400"/>
            <a:ext cx="584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CAPM, beta, and the Security Market Line</a:t>
            </a:r>
            <a:endParaRPr lang="en-US" sz="1600" dirty="0"/>
          </a:p>
        </p:txBody>
      </p:sp>
      <p:pic>
        <p:nvPicPr>
          <p:cNvPr id="24" name="Image 0" descr="https://kimi-img.moonshot.cn/pub/slides/okc/nb57y3psrzhre/mnt/agents/output/risk_return/images/8_391_346_Green_Financial_Background.png">    </p:cNvPr>
          <p:cNvPicPr>
            <a:picLocks noChangeAspect="1"/>
          </p:cNvPicPr>
          <p:nvPr/>
        </p:nvPicPr>
        <p:blipFill>
          <a:blip r:embed="rId1"/>
          <a:srcRect l="19933" r="19933" t="0" b="0"/>
          <a:stretch/>
        </p:blipFill>
        <p:spPr>
          <a:xfrm>
            <a:off x="8636000" y="1016000"/>
            <a:ext cx="6858000" cy="71120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636000" y="1016000"/>
            <a:ext cx="6858000" cy="7112000"/>
          </a:xfrm>
          <a:prstGeom prst="rect">
            <a:avLst/>
          </a:prstGeom>
          <a:gradFill rotWithShape="1" flip="none">
            <a:gsLst>
              <a:gs pos="0">
                <a:srgbClr val="F5F1EB"/>
              </a:gs>
              <a:gs pos="30000">
                <a:srgbClr val="F5F1EB">
                  <a:alpha val="0"/>
                </a:srgbClr>
              </a:gs>
              <a:gs pos="100000">
                <a:srgbClr val="F5F1EB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6" name="Shape 23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b57y3psrzhre/mnt/agents/output/risk_return/images/8_391_346_Green_Financial_Background.png">    </p:cNvPr>
          <p:cNvPicPr>
            <a:picLocks noChangeAspect="1"/>
          </p:cNvPicPr>
          <p:nvPr/>
        </p:nvPicPr>
        <p:blipFill>
          <a:blip r:embed="rId1"/>
          <a:srcRect l="0" r="0" t="4900" b="49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4000"/>
                </a:srgbClr>
              </a:gs>
              <a:gs pos="60000">
                <a:srgbClr val="1B4332">
                  <a:alpha val="82000"/>
                </a:srgbClr>
              </a:gs>
              <a:gs pos="100000">
                <a:srgbClr val="1B4332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C9A227">
                    <a:alpha val="25098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683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Expected Return Defined and Measured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016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how investors quantify the anticipated payoff from investments using probability-weighted outcomes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What is Expected Return?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78000"/>
            <a:ext cx="812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Expected return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anticipated profit or loss an investor can predict for a specific investment based on possible outcomes and their probabilities.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is calculated as a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probability-weighted average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all possible returns — not a simple average, and not a guaranteed outcome.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4064000"/>
            <a:ext cx="8128000" cy="1016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4064000"/>
            <a:ext cx="50800" cy="1016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127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4196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E(R)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P</a:t>
            </a:r>
            <a:pPr>
              <a:lnSpc>
                <a:spcPct val="150000"/>
              </a:lnSpc>
            </a:pPr>
            <a:r>
              <a:rPr lang="en-US" sz="1800" baseline="-400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× R</a:t>
            </a:r>
            <a:pPr>
              <a:lnSpc>
                <a:spcPct val="150000"/>
              </a:lnSpc>
            </a:pPr>
            <a:r>
              <a:rPr lang="en-US" sz="1800" baseline="-400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+ P</a:t>
            </a:r>
            <a:pPr>
              <a:lnSpc>
                <a:spcPct val="150000"/>
              </a:lnSpc>
            </a:pPr>
            <a:r>
              <a:rPr lang="en-US" sz="1800" baseline="-400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× R</a:t>
            </a:r>
            <a:pPr>
              <a:lnSpc>
                <a:spcPct val="150000"/>
              </a:lnSpc>
            </a:pPr>
            <a:r>
              <a:rPr lang="en-US" sz="1800" baseline="-400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+ ... + P</a:t>
            </a:r>
            <a:pPr>
              <a:lnSpc>
                <a:spcPct val="150000"/>
              </a:lnSpc>
            </a:pPr>
            <a:r>
              <a:rPr lang="en-US" sz="1800" baseline="-400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× R</a:t>
            </a:r>
            <a:pPr>
              <a:lnSpc>
                <a:spcPct val="150000"/>
              </a:lnSpc>
            </a:pPr>
            <a:r>
              <a:rPr lang="en-US" sz="1800" baseline="-400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Σ (P</a:t>
            </a:r>
            <a:pPr>
              <a:lnSpc>
                <a:spcPct val="150000"/>
              </a:lnSpc>
            </a:pPr>
            <a:r>
              <a:rPr lang="en-US" sz="1800" baseline="-400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× R</a:t>
            </a:r>
            <a:pPr>
              <a:lnSpc>
                <a:spcPct val="150000"/>
              </a:lnSpc>
            </a:pPr>
            <a:r>
              <a:rPr lang="en-US" sz="1800" baseline="-400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5334000"/>
            <a:ext cx="8128000" cy="1651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5435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740400"/>
            <a:ext cx="762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stock has a 60% chance of gaining 10% and a 40% chance of losing 5%.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(0.60 × 10%) + (0.40 × −5%) = 6% − 2%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78000"/>
            <a:ext cx="6096000" cy="5207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5" name="Text 13"/>
          <p:cNvSpPr/>
          <p:nvPr/>
        </p:nvSpPr>
        <p:spPr>
          <a:xfrm>
            <a:off x="9779000" y="2032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79000" y="24765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9817100" y="2768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10210800" y="2730500"/>
            <a:ext cx="5029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return is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forecast — actual returns can differ significantly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79000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10210800" y="3581400"/>
            <a:ext cx="5029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investments can have the same E(R) but very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risk profiles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779000" y="4470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10210800" y="4432300"/>
            <a:ext cx="5029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return is only as good as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assumptions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behind it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40900" y="53213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10210800" y="5283200"/>
            <a:ext cx="5029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 of all probabilities must equal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1.0 (100%)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6" name="Text 24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Calculating Expected Return: Step-by-Step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415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4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1841500"/>
            <a:ext cx="622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all possible return outcomes and their probabilities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4765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476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97000" y="2476500"/>
            <a:ext cx="622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Multiply each return by its corresponding probability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1115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311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97000" y="3111500"/>
            <a:ext cx="622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 all the products to obtain the expected return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3873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Numerical Example: Three Economic Scenarios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381500"/>
          <a:ext cx="7112000" cy="2032000"/>
        </p:xfrm>
        <a:graphic>
          <a:graphicData uri="http://schemas.openxmlformats.org/drawingml/2006/table">
            <a:tbl>
              <a:tblPr/>
              <a:tblGrid>
                <a:gridCol w="2489200"/>
                <a:gridCol w="2133600"/>
                <a:gridCol w="24892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State of Economy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Probability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Recession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20% (0.20)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Normal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60% (0.60)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+10%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20% (0.20)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+20%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62000" y="6667500"/>
            <a:ext cx="7112000" cy="1270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8" name="Shape 15"/>
          <p:cNvSpPr/>
          <p:nvPr/>
        </p:nvSpPr>
        <p:spPr>
          <a:xfrm>
            <a:off x="762000" y="6667500"/>
            <a:ext cx="50800" cy="1270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6"/>
          <p:cNvSpPr/>
          <p:nvPr/>
        </p:nvSpPr>
        <p:spPr>
          <a:xfrm>
            <a:off x="1016000" y="67945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(0.20 × −5%) + (0.60 × 10%) + (0.20 × 20%)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−1% + 6% + 4% = </a:t>
            </a:r>
            <a:pPr>
              <a:lnSpc>
                <a:spcPct val="150000"/>
              </a:lnSpc>
            </a:pPr>
            <a:r>
              <a:rPr lang="en-US" sz="2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82000" y="1841500"/>
            <a:ext cx="7112000" cy="6096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1" name="Text 18"/>
          <p:cNvSpPr/>
          <p:nvPr/>
        </p:nvSpPr>
        <p:spPr>
          <a:xfrm>
            <a:off x="8763000" y="2095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Portfolio Expected Return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763000" y="25400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0"/>
          <p:cNvSpPr/>
          <p:nvPr/>
        </p:nvSpPr>
        <p:spPr>
          <a:xfrm>
            <a:off x="8763000" y="27686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 portfolio, expected return is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average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each asset's expected return by its allocation weight.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763000" y="4445000"/>
            <a:ext cx="6350000" cy="762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9017000" y="4546600"/>
            <a:ext cx="584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</a:t>
            </a:r>
            <a:pPr algn="ctr">
              <a:lnSpc>
                <a:spcPct val="140000"/>
              </a:lnSpc>
            </a:pPr>
            <a:r>
              <a:rPr lang="en-US" sz="16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w</a:t>
            </a:r>
            <a:pPr algn="ctr">
              <a:lnSpc>
                <a:spcPct val="140000"/>
              </a:lnSpc>
            </a:pPr>
            <a:r>
              <a:rPr lang="en-US" sz="16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·E(R</a:t>
            </a:r>
            <a:pPr algn="ctr">
              <a:lnSpc>
                <a:spcPct val="140000"/>
              </a:lnSpc>
            </a:pPr>
            <a:r>
              <a:rPr lang="en-US" sz="16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+ w</a:t>
            </a:r>
            <a:pPr algn="ctr">
              <a:lnSpc>
                <a:spcPct val="140000"/>
              </a:lnSpc>
            </a:pPr>
            <a:r>
              <a:rPr lang="en-US" sz="16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·E(R</a:t>
            </a:r>
            <a:pPr algn="ctr">
              <a:lnSpc>
                <a:spcPct val="140000"/>
              </a:lnSpc>
            </a:pPr>
            <a:r>
              <a:rPr lang="en-US" sz="16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+ ... + w</a:t>
            </a:r>
            <a:pPr algn="ctr">
              <a:lnSpc>
                <a:spcPct val="140000"/>
              </a:lnSpc>
            </a:pPr>
            <a:r>
              <a:rPr lang="en-US" sz="16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·E(R</a:t>
            </a:r>
            <a:pPr algn="ctr">
              <a:lnSpc>
                <a:spcPct val="140000"/>
              </a:lnSpc>
            </a:pPr>
            <a:r>
              <a:rPr lang="en-US" sz="16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763000" y="5461000"/>
            <a:ext cx="635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portfolio with 60% Stock A (E(R)=12%) and 40% Stock B (E(R)=8%).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baseline="-40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0.60 × 12% + 0.40 × 8%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</a:t>
            </a:r>
            <a:pPr>
              <a:lnSpc>
                <a:spcPct val="160000"/>
              </a:lnSpc>
            </a:pPr>
            <a:r>
              <a:rPr lang="en-US" sz="1500" b="1" baseline="-40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7.2% + 3.2% =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10.4%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8" name="Text 25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Portfolio Expected Return: A Worked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78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Scenario: Portfolio Under Three Economic States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60600"/>
          <a:ext cx="7112000" cy="1778000"/>
        </p:xfrm>
        <a:graphic>
          <a:graphicData uri="http://schemas.openxmlformats.org/drawingml/2006/table">
            <a:tbl>
              <a:tblPr/>
              <a:tblGrid>
                <a:gridCol w="2489200"/>
                <a:gridCol w="2311400"/>
                <a:gridCol w="23114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Economy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Probability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Recession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−5%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Normal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+10%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+16%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4292600"/>
            <a:ext cx="7112000" cy="1143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9" name="Shape 6"/>
          <p:cNvSpPr/>
          <p:nvPr/>
        </p:nvSpPr>
        <p:spPr>
          <a:xfrm>
            <a:off x="762000" y="4292600"/>
            <a:ext cx="50800" cy="1143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4318000"/>
            <a:ext cx="6604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Calculation: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E(R) = (0.05 × −5%) + (0.80 × 10%) + (0.15 × 16%)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E(R) = −0.25% + 8% + 2.4% =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10.15%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5715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Learning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61214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expected return (10.15%) reflects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probability-weighted outcome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any single scenario's return. No single state produces exactly 10.15%.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1778000"/>
            <a:ext cx="7112000" cy="6223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4" name="Text 11"/>
          <p:cNvSpPr/>
          <p:nvPr/>
        </p:nvSpPr>
        <p:spPr>
          <a:xfrm>
            <a:off x="8763000" y="203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Limitations to Remember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763000" y="24765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8763000" y="2794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39700" y="74216"/>
                </a:moveTo>
                <a:cubicBezTo>
                  <a:pt x="146958" y="74216"/>
                  <a:pt x="152797" y="80055"/>
                  <a:pt x="152797" y="87313"/>
                </a:cubicBezTo>
                <a:lnTo>
                  <a:pt x="152797" y="148431"/>
                </a:lnTo>
                <a:cubicBezTo>
                  <a:pt x="152797" y="155689"/>
                  <a:pt x="146958" y="161528"/>
                  <a:pt x="139700" y="161528"/>
                </a:cubicBezTo>
                <a:cubicBezTo>
                  <a:pt x="132442" y="161528"/>
                  <a:pt x="126603" y="155689"/>
                  <a:pt x="126603" y="148431"/>
                </a:cubicBezTo>
                <a:lnTo>
                  <a:pt x="126603" y="87313"/>
                </a:lnTo>
                <a:cubicBezTo>
                  <a:pt x="126603" y="80055"/>
                  <a:pt x="132442" y="74216"/>
                  <a:pt x="139700" y="74216"/>
                </a:cubicBezTo>
                <a:close/>
                <a:moveTo>
                  <a:pt x="125130" y="192088"/>
                </a:moveTo>
                <a:cubicBezTo>
                  <a:pt x="124798" y="186679"/>
                  <a:pt x="127495" y="181534"/>
                  <a:pt x="132132" y="178729"/>
                </a:cubicBezTo>
                <a:cubicBezTo>
                  <a:pt x="136768" y="175925"/>
                  <a:pt x="142577" y="175925"/>
                  <a:pt x="147214" y="178729"/>
                </a:cubicBezTo>
                <a:cubicBezTo>
                  <a:pt x="151850" y="181534"/>
                  <a:pt x="154547" y="186679"/>
                  <a:pt x="154216" y="192087"/>
                </a:cubicBezTo>
                <a:cubicBezTo>
                  <a:pt x="154547" y="197496"/>
                  <a:pt x="151850" y="202641"/>
                  <a:pt x="147214" y="205446"/>
                </a:cubicBezTo>
                <a:cubicBezTo>
                  <a:pt x="142577" y="208250"/>
                  <a:pt x="136768" y="208250"/>
                  <a:pt x="132132" y="205446"/>
                </a:cubicBezTo>
                <a:cubicBezTo>
                  <a:pt x="127495" y="202641"/>
                  <a:pt x="124798" y="197496"/>
                  <a:pt x="125130" y="19208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7" name="Text 14"/>
          <p:cNvSpPr/>
          <p:nvPr/>
        </p:nvSpPr>
        <p:spPr>
          <a:xfrm>
            <a:off x="9169400" y="2768600"/>
            <a:ext cx="594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Depends on assumptions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Incorrect probabilities lead to misleading results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763000" y="3937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2210" y="0"/>
                  <a:pt x="144720" y="546"/>
                  <a:pt x="147012" y="1583"/>
                </a:cubicBezTo>
                <a:lnTo>
                  <a:pt x="249823" y="45184"/>
                </a:lnTo>
                <a:cubicBezTo>
                  <a:pt x="261828" y="50259"/>
                  <a:pt x="270778" y="62101"/>
                  <a:pt x="270723" y="76398"/>
                </a:cubicBezTo>
                <a:cubicBezTo>
                  <a:pt x="270450" y="130532"/>
                  <a:pt x="248186" y="229577"/>
                  <a:pt x="154161" y="274598"/>
                </a:cubicBezTo>
                <a:cubicBezTo>
                  <a:pt x="145048" y="278963"/>
                  <a:pt x="134461" y="278963"/>
                  <a:pt x="125348" y="274598"/>
                </a:cubicBezTo>
                <a:cubicBezTo>
                  <a:pt x="31269" y="229577"/>
                  <a:pt x="9059" y="130532"/>
                  <a:pt x="8786" y="76398"/>
                </a:cubicBezTo>
                <a:cubicBezTo>
                  <a:pt x="8731" y="62101"/>
                  <a:pt x="17681" y="50259"/>
                  <a:pt x="29686" y="45184"/>
                </a:cubicBezTo>
                <a:lnTo>
                  <a:pt x="132442" y="1583"/>
                </a:lnTo>
                <a:cubicBezTo>
                  <a:pt x="134734" y="546"/>
                  <a:pt x="137190" y="0"/>
                  <a:pt x="139700" y="0"/>
                </a:cubicBezTo>
                <a:close/>
                <a:moveTo>
                  <a:pt x="139700" y="36453"/>
                </a:moveTo>
                <a:lnTo>
                  <a:pt x="139700" y="242783"/>
                </a:lnTo>
                <a:cubicBezTo>
                  <a:pt x="215007" y="206330"/>
                  <a:pt x="235253" y="125566"/>
                  <a:pt x="235744" y="77217"/>
                </a:cubicBezTo>
                <a:lnTo>
                  <a:pt x="139700" y="36508"/>
                </a:lnTo>
                <a:lnTo>
                  <a:pt x="139700" y="36508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9" name="Text 16"/>
          <p:cNvSpPr/>
          <p:nvPr/>
        </p:nvSpPr>
        <p:spPr>
          <a:xfrm>
            <a:off x="9169400" y="3911600"/>
            <a:ext cx="594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NOT measure risk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investments can have same E(R) but very different risk profiles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763000" y="5080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7463" y="17463"/>
                </a:moveTo>
                <a:cubicBezTo>
                  <a:pt x="27121" y="17463"/>
                  <a:pt x="34925" y="25266"/>
                  <a:pt x="34925" y="34925"/>
                </a:cubicBezTo>
                <a:lnTo>
                  <a:pt x="34925" y="218281"/>
                </a:lnTo>
                <a:cubicBezTo>
                  <a:pt x="34925" y="223083"/>
                  <a:pt x="38854" y="227013"/>
                  <a:pt x="43656" y="227013"/>
                </a:cubicBezTo>
                <a:lnTo>
                  <a:pt x="261938" y="227013"/>
                </a:lnTo>
                <a:cubicBezTo>
                  <a:pt x="271596" y="227013"/>
                  <a:pt x="279400" y="234816"/>
                  <a:pt x="279400" y="244475"/>
                </a:cubicBezTo>
                <a:cubicBezTo>
                  <a:pt x="279400" y="254134"/>
                  <a:pt x="271596" y="261938"/>
                  <a:pt x="261938" y="261938"/>
                </a:cubicBezTo>
                <a:lnTo>
                  <a:pt x="43656" y="261938"/>
                </a:lnTo>
                <a:cubicBezTo>
                  <a:pt x="19536" y="261938"/>
                  <a:pt x="0" y="242401"/>
                  <a:pt x="0" y="218281"/>
                </a:cubicBezTo>
                <a:lnTo>
                  <a:pt x="0" y="34925"/>
                </a:lnTo>
                <a:cubicBezTo>
                  <a:pt x="0" y="25266"/>
                  <a:pt x="7804" y="17463"/>
                  <a:pt x="17463" y="17463"/>
                </a:cubicBezTo>
                <a:close/>
                <a:moveTo>
                  <a:pt x="69850" y="52388"/>
                </a:moveTo>
                <a:cubicBezTo>
                  <a:pt x="69850" y="42729"/>
                  <a:pt x="77654" y="34925"/>
                  <a:pt x="87313" y="34925"/>
                </a:cubicBezTo>
                <a:lnTo>
                  <a:pt x="192088" y="34925"/>
                </a:lnTo>
                <a:cubicBezTo>
                  <a:pt x="201746" y="34925"/>
                  <a:pt x="209550" y="42729"/>
                  <a:pt x="209550" y="52388"/>
                </a:cubicBezTo>
                <a:cubicBezTo>
                  <a:pt x="209550" y="62046"/>
                  <a:pt x="201746" y="69850"/>
                  <a:pt x="192088" y="69850"/>
                </a:cubicBezTo>
                <a:lnTo>
                  <a:pt x="87313" y="69850"/>
                </a:lnTo>
                <a:cubicBezTo>
                  <a:pt x="77654" y="69850"/>
                  <a:pt x="69850" y="62046"/>
                  <a:pt x="69850" y="52388"/>
                </a:cubicBezTo>
                <a:close/>
                <a:moveTo>
                  <a:pt x="87313" y="96044"/>
                </a:moveTo>
                <a:lnTo>
                  <a:pt x="157163" y="96044"/>
                </a:lnTo>
                <a:cubicBezTo>
                  <a:pt x="166821" y="96044"/>
                  <a:pt x="174625" y="103847"/>
                  <a:pt x="174625" y="113506"/>
                </a:cubicBezTo>
                <a:cubicBezTo>
                  <a:pt x="174625" y="123165"/>
                  <a:pt x="166821" y="130969"/>
                  <a:pt x="157163" y="130969"/>
                </a:cubicBezTo>
                <a:lnTo>
                  <a:pt x="87313" y="130969"/>
                </a:lnTo>
                <a:cubicBezTo>
                  <a:pt x="77654" y="130969"/>
                  <a:pt x="69850" y="123165"/>
                  <a:pt x="69850" y="113506"/>
                </a:cubicBezTo>
                <a:cubicBezTo>
                  <a:pt x="69850" y="103847"/>
                  <a:pt x="77654" y="96044"/>
                  <a:pt x="87313" y="96044"/>
                </a:cubicBezTo>
                <a:close/>
                <a:moveTo>
                  <a:pt x="87313" y="157163"/>
                </a:moveTo>
                <a:lnTo>
                  <a:pt x="227013" y="157163"/>
                </a:lnTo>
                <a:cubicBezTo>
                  <a:pt x="236671" y="157163"/>
                  <a:pt x="244475" y="164966"/>
                  <a:pt x="244475" y="174625"/>
                </a:cubicBezTo>
                <a:cubicBezTo>
                  <a:pt x="244475" y="184284"/>
                  <a:pt x="236671" y="192088"/>
                  <a:pt x="227013" y="192088"/>
                </a:cubicBezTo>
                <a:lnTo>
                  <a:pt x="87313" y="192088"/>
                </a:lnTo>
                <a:cubicBezTo>
                  <a:pt x="77654" y="192088"/>
                  <a:pt x="69850" y="184284"/>
                  <a:pt x="69850" y="174625"/>
                </a:cubicBezTo>
                <a:cubicBezTo>
                  <a:pt x="69850" y="164966"/>
                  <a:pt x="77654" y="157163"/>
                  <a:pt x="87313" y="15716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1" name="Text 18"/>
          <p:cNvSpPr/>
          <p:nvPr/>
        </p:nvSpPr>
        <p:spPr>
          <a:xfrm>
            <a:off x="9169400" y="5054600"/>
            <a:ext cx="594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a forecast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returns can differ significantly, especially in the short term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780463" y="6223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84884" y="-5402"/>
                </a:moveTo>
                <a:cubicBezTo>
                  <a:pt x="191378" y="-709"/>
                  <a:pt x="193779" y="7804"/>
                  <a:pt x="190832" y="15225"/>
                </a:cubicBezTo>
                <a:lnTo>
                  <a:pt x="148049" y="122238"/>
                </a:lnTo>
                <a:lnTo>
                  <a:pt x="227013" y="122238"/>
                </a:lnTo>
                <a:cubicBezTo>
                  <a:pt x="234379" y="122238"/>
                  <a:pt x="240928" y="126821"/>
                  <a:pt x="243438" y="133752"/>
                </a:cubicBezTo>
                <a:cubicBezTo>
                  <a:pt x="245948" y="140682"/>
                  <a:pt x="243820" y="148431"/>
                  <a:pt x="238199" y="153124"/>
                </a:cubicBezTo>
                <a:lnTo>
                  <a:pt x="81037" y="284093"/>
                </a:lnTo>
                <a:cubicBezTo>
                  <a:pt x="74870" y="289223"/>
                  <a:pt x="66085" y="289496"/>
                  <a:pt x="59591" y="284802"/>
                </a:cubicBezTo>
                <a:cubicBezTo>
                  <a:pt x="53097" y="280109"/>
                  <a:pt x="50696" y="271596"/>
                  <a:pt x="53643" y="264175"/>
                </a:cubicBezTo>
                <a:lnTo>
                  <a:pt x="96426" y="157163"/>
                </a:lnTo>
                <a:lnTo>
                  <a:pt x="17463" y="157163"/>
                </a:lnTo>
                <a:cubicBezTo>
                  <a:pt x="10096" y="157163"/>
                  <a:pt x="3547" y="152579"/>
                  <a:pt x="1037" y="145648"/>
                </a:cubicBezTo>
                <a:cubicBezTo>
                  <a:pt x="-1473" y="138718"/>
                  <a:pt x="655" y="130969"/>
                  <a:pt x="6276" y="126276"/>
                </a:cubicBezTo>
                <a:lnTo>
                  <a:pt x="163438" y="-4693"/>
                </a:lnTo>
                <a:cubicBezTo>
                  <a:pt x="169605" y="-9823"/>
                  <a:pt x="178390" y="-10096"/>
                  <a:pt x="184884" y="-5402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3" name="Text 20"/>
          <p:cNvSpPr/>
          <p:nvPr/>
        </p:nvSpPr>
        <p:spPr>
          <a:xfrm>
            <a:off x="9169400" y="6197600"/>
            <a:ext cx="594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Sensitive to rare events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Low-probability, high-impact outcomes can distort estimates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5" name="Text 22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Takeaways: Expected Return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41500"/>
            <a:ext cx="7048500" cy="1524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41500"/>
            <a:ext cx="50800" cy="1524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968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4384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return is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probability-weighted average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a simple arithmetic mean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1841500"/>
            <a:ext cx="7048500" cy="1524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1" name="Shape 9"/>
          <p:cNvSpPr/>
          <p:nvPr/>
        </p:nvSpPr>
        <p:spPr>
          <a:xfrm>
            <a:off x="8445500" y="1841500"/>
            <a:ext cx="50800" cy="1524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99500" y="1968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99500" y="24384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provides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number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compare different investments objectively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619500"/>
            <a:ext cx="7048500" cy="1524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3619500"/>
            <a:ext cx="50800" cy="1524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746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42164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ignores risk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must be paired with risk measures for decision-making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45500" y="3619500"/>
            <a:ext cx="7048500" cy="1524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45500" y="3619500"/>
            <a:ext cx="50800" cy="1524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8699500" y="3746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99500" y="42164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Portfolio E(R) is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sum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individual asset expected returns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461000"/>
            <a:ext cx="14732000" cy="1016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562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 RECAP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5867400"/>
            <a:ext cx="142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E(R)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Σ (P</a:t>
            </a:r>
            <a:pPr algn="ctr">
              <a:lnSpc>
                <a:spcPct val="100000"/>
              </a:lnSpc>
            </a:pPr>
            <a:r>
              <a:rPr lang="en-US" sz="20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R</a:t>
            </a:r>
            <a:pPr algn="ctr">
              <a:lnSpc>
                <a:spcPct val="100000"/>
              </a:lnSpc>
            </a:pPr>
            <a:r>
              <a:rPr lang="en-US" sz="20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| 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</a:t>
            </a:r>
            <a:pPr algn="ctr">
              <a:lnSpc>
                <a:spcPct val="100000"/>
              </a:lnSpc>
            </a:pPr>
            <a:r>
              <a:rPr lang="en-US" sz="20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Σ (w</a:t>
            </a:r>
            <a:pPr algn="ctr">
              <a:lnSpc>
                <a:spcPct val="100000"/>
              </a:lnSpc>
            </a:pPr>
            <a:r>
              <a:rPr lang="en-US" sz="20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E(R</a:t>
            </a:r>
            <a:pPr algn="ctr">
              <a:lnSpc>
                <a:spcPct val="100000"/>
              </a:lnSpc>
            </a:pPr>
            <a:r>
              <a:rPr lang="en-US" sz="20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794500"/>
            <a:ext cx="14732000" cy="1143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6794500"/>
            <a:ext cx="50800" cy="1143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8225" y="704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150019"/>
                </a:moveTo>
                <a:cubicBezTo>
                  <a:pt x="0" y="103971"/>
                  <a:pt x="37296" y="66675"/>
                  <a:pt x="83344" y="66675"/>
                </a:cubicBezTo>
                <a:lnTo>
                  <a:pt x="88900" y="66675"/>
                </a:lnTo>
                <a:cubicBezTo>
                  <a:pt x="101193" y="66675"/>
                  <a:pt x="111125" y="76607"/>
                  <a:pt x="111125" y="88900"/>
                </a:cubicBezTo>
                <a:cubicBezTo>
                  <a:pt x="111125" y="101193"/>
                  <a:pt x="101193" y="111125"/>
                  <a:pt x="88900" y="111125"/>
                </a:cubicBezTo>
                <a:lnTo>
                  <a:pt x="83344" y="111125"/>
                </a:lnTo>
                <a:cubicBezTo>
                  <a:pt x="61883" y="111125"/>
                  <a:pt x="44450" y="128558"/>
                  <a:pt x="44450" y="150019"/>
                </a:cubicBezTo>
                <a:lnTo>
                  <a:pt x="44450" y="155575"/>
                </a:lnTo>
                <a:lnTo>
                  <a:pt x="88900" y="155575"/>
                </a:lnTo>
                <a:cubicBezTo>
                  <a:pt x="113417" y="155575"/>
                  <a:pt x="133350" y="175508"/>
                  <a:pt x="133350" y="200025"/>
                </a:cubicBezTo>
                <a:lnTo>
                  <a:pt x="133350" y="244475"/>
                </a:lnTo>
                <a:cubicBezTo>
                  <a:pt x="133350" y="268992"/>
                  <a:pt x="113417" y="288925"/>
                  <a:pt x="88900" y="288925"/>
                </a:cubicBezTo>
                <a:lnTo>
                  <a:pt x="44450" y="288925"/>
                </a:lnTo>
                <a:cubicBezTo>
                  <a:pt x="19933" y="288925"/>
                  <a:pt x="0" y="268992"/>
                  <a:pt x="0" y="244475"/>
                </a:cubicBezTo>
                <a:lnTo>
                  <a:pt x="0" y="150019"/>
                </a:lnTo>
                <a:close/>
                <a:moveTo>
                  <a:pt x="177800" y="150019"/>
                </a:moveTo>
                <a:cubicBezTo>
                  <a:pt x="177800" y="103971"/>
                  <a:pt x="215096" y="66675"/>
                  <a:pt x="261144" y="66675"/>
                </a:cubicBezTo>
                <a:lnTo>
                  <a:pt x="266700" y="66675"/>
                </a:lnTo>
                <a:cubicBezTo>
                  <a:pt x="278993" y="66675"/>
                  <a:pt x="288925" y="76607"/>
                  <a:pt x="288925" y="88900"/>
                </a:cubicBezTo>
                <a:cubicBezTo>
                  <a:pt x="288925" y="101193"/>
                  <a:pt x="278993" y="111125"/>
                  <a:pt x="266700" y="111125"/>
                </a:cubicBezTo>
                <a:lnTo>
                  <a:pt x="261144" y="111125"/>
                </a:lnTo>
                <a:cubicBezTo>
                  <a:pt x="239683" y="111125"/>
                  <a:pt x="222250" y="128558"/>
                  <a:pt x="222250" y="150019"/>
                </a:cubicBezTo>
                <a:lnTo>
                  <a:pt x="222250" y="155575"/>
                </a:lnTo>
                <a:lnTo>
                  <a:pt x="266700" y="155575"/>
                </a:lnTo>
                <a:cubicBezTo>
                  <a:pt x="291217" y="155575"/>
                  <a:pt x="311150" y="175508"/>
                  <a:pt x="311150" y="200025"/>
                </a:cubicBezTo>
                <a:lnTo>
                  <a:pt x="311150" y="244475"/>
                </a:lnTo>
                <a:cubicBezTo>
                  <a:pt x="311150" y="268992"/>
                  <a:pt x="291217" y="288925"/>
                  <a:pt x="266700" y="288925"/>
                </a:cubicBezTo>
                <a:lnTo>
                  <a:pt x="222250" y="288925"/>
                </a:lnTo>
                <a:cubicBezTo>
                  <a:pt x="197733" y="288925"/>
                  <a:pt x="177800" y="268992"/>
                  <a:pt x="177800" y="244475"/>
                </a:cubicBezTo>
                <a:lnTo>
                  <a:pt x="177800" y="150019"/>
                </a:lnTo>
                <a:close/>
              </a:path>
            </a:pathLst>
          </a:custGeom>
          <a:solidFill>
            <a:srgbClr val="52796F"/>
          </a:solidFill>
          <a:ln/>
        </p:spPr>
      </p:sp>
      <p:sp>
        <p:nvSpPr>
          <p:cNvPr id="28" name="Text 26"/>
          <p:cNvSpPr/>
          <p:nvPr/>
        </p:nvSpPr>
        <p:spPr>
          <a:xfrm>
            <a:off x="1524000" y="69596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return tells you WHERE you might end up on average; it does NOT tell you HOW uncertain that destination is.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30" name="Text 28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b57y3psrzhre/mnt/agents/output/risk_return/images/2_2_721_Trading_Background_Dark_Green.png">    </p:cNvPr>
          <p:cNvPicPr>
            <a:picLocks noChangeAspect="1"/>
          </p:cNvPicPr>
          <p:nvPr/>
        </p:nvPicPr>
        <p:blipFill>
          <a:blip r:embed="rId1"/>
          <a:srcRect l="0" r="0" t="6507" b="650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4000"/>
                </a:srgbClr>
              </a:gs>
              <a:gs pos="60000">
                <a:srgbClr val="1B4332">
                  <a:alpha val="82000"/>
                </a:srgbClr>
              </a:gs>
              <a:gs pos="100000">
                <a:srgbClr val="1B4332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C9A227">
                    <a:alpha val="25098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683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Risk Defined and Measured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016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Quantifying uncertainty — how to measure the variability of returns around the expected outcome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Defining Risk in Finance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41500"/>
            <a:ext cx="14732000" cy="1016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05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possibility that actual returns will differ from expected returns.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finance: </a:t>
            </a:r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= Uncertainty = Variability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Types of Risk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6195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3873500"/>
            <a:ext cx="6858000" cy="1397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3873500"/>
            <a:ext cx="50800" cy="1397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403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529" y="-1488"/>
                </a:moveTo>
                <a:cubicBezTo>
                  <a:pt x="145316" y="-8275"/>
                  <a:pt x="159841" y="-8275"/>
                  <a:pt x="171629" y="-1488"/>
                </a:cubicBezTo>
                <a:lnTo>
                  <a:pt x="276344" y="58936"/>
                </a:lnTo>
                <a:cubicBezTo>
                  <a:pt x="288131" y="65723"/>
                  <a:pt x="295394" y="78343"/>
                  <a:pt x="295394" y="91916"/>
                </a:cubicBezTo>
                <a:lnTo>
                  <a:pt x="295394" y="212765"/>
                </a:lnTo>
                <a:cubicBezTo>
                  <a:pt x="295394" y="226397"/>
                  <a:pt x="288131" y="238958"/>
                  <a:pt x="276344" y="245745"/>
                </a:cubicBezTo>
                <a:lnTo>
                  <a:pt x="171629" y="306288"/>
                </a:lnTo>
                <a:cubicBezTo>
                  <a:pt x="159841" y="313075"/>
                  <a:pt x="145316" y="313075"/>
                  <a:pt x="133529" y="306288"/>
                </a:cubicBezTo>
                <a:lnTo>
                  <a:pt x="28873" y="245864"/>
                </a:lnTo>
                <a:cubicBezTo>
                  <a:pt x="17085" y="239078"/>
                  <a:pt x="9823" y="226457"/>
                  <a:pt x="9823" y="212884"/>
                </a:cubicBezTo>
                <a:lnTo>
                  <a:pt x="9823" y="92035"/>
                </a:lnTo>
                <a:cubicBezTo>
                  <a:pt x="9823" y="78403"/>
                  <a:pt x="17085" y="65842"/>
                  <a:pt x="28873" y="59055"/>
                </a:cubicBezTo>
                <a:lnTo>
                  <a:pt x="133529" y="-1488"/>
                </a:lnTo>
                <a:close/>
                <a:moveTo>
                  <a:pt x="257235" y="212824"/>
                </a:moveTo>
                <a:lnTo>
                  <a:pt x="257235" y="113943"/>
                </a:lnTo>
                <a:lnTo>
                  <a:pt x="171629" y="163354"/>
                </a:lnTo>
                <a:lnTo>
                  <a:pt x="171629" y="262235"/>
                </a:lnTo>
                <a:lnTo>
                  <a:pt x="257235" y="212824"/>
                </a:ln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1447800" y="4000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Stand-Alone Risk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4445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risk of holding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asset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isolation. Measured by the variability of that asset's returns alone.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524500"/>
            <a:ext cx="6858000" cy="1397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5524500"/>
            <a:ext cx="50800" cy="13970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568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" y="5651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Portfolio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096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risk of holding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collection of assets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Affected by diversification and correlation between assets.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3175000"/>
            <a:ext cx="7112000" cy="3746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8763000" y="3403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Risk-Return Tradeoff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763000" y="38481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8763000" y="4064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Investors are generally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risk-averse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they require higher expected returns to compensate for taking on more risk.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fundamental principle drives all investment decisions.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763000" y="5524500"/>
            <a:ext cx="6350000" cy="10795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017000" y="5651500"/>
            <a:ext cx="584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potential returns always come with higher risk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Measuring Risk: Variance and Standard Deviation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41500"/>
            <a:ext cx="7048500" cy="2540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41500"/>
            <a:ext cx="70485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057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Variance (σ²)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489200"/>
            <a:ext cx="654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the average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squared deviation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returns from the expected return.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276600"/>
            <a:ext cx="654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σ²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Σ [P</a:t>
            </a:r>
            <a:pPr algn="ctr">
              <a:lnSpc>
                <a:spcPct val="100000"/>
              </a:lnSpc>
            </a:pPr>
            <a:r>
              <a:rPr lang="en-US" sz="1600" baseline="-400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(R</a:t>
            </a:r>
            <a:pPr algn="ctr">
              <a:lnSpc>
                <a:spcPct val="100000"/>
              </a:lnSpc>
            </a:pPr>
            <a:r>
              <a:rPr lang="en-US" sz="1600" baseline="-400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E(R))²]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759200"/>
            <a:ext cx="6540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Units: percentage squared (%²) — difficult to interpret directly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45500" y="1841500"/>
            <a:ext cx="7048500" cy="2540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3" name="Shape 11"/>
          <p:cNvSpPr/>
          <p:nvPr/>
        </p:nvSpPr>
        <p:spPr>
          <a:xfrm>
            <a:off x="8445500" y="1841500"/>
            <a:ext cx="7048500" cy="50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8699500" y="2057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Standard Deviation (σ)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9500" y="2489200"/>
            <a:ext cx="654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square root of variance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measures dispersion in the same units as returns.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99500" y="3276600"/>
            <a:ext cx="654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√σ² = √[Σ P</a:t>
            </a:r>
            <a:pPr algn="ctr">
              <a:lnSpc>
                <a:spcPct val="100000"/>
              </a:lnSpc>
            </a:pPr>
            <a:r>
              <a:rPr lang="en-US" sz="1600" baseline="-400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(R</a:t>
            </a:r>
            <a:pPr algn="ctr">
              <a:lnSpc>
                <a:spcPct val="100000"/>
              </a:lnSpc>
            </a:pPr>
            <a:r>
              <a:rPr lang="en-US" sz="1600" baseline="-400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E(R))²]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99500" y="3759200"/>
            <a:ext cx="6540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Units: percentage (%) — directly interpretable as risk measure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699000"/>
            <a:ext cx="14732000" cy="1143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800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SQUARED DEVIATIONS?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143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Squaring ensures all deviations are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penalizes larger deviations more heavily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Taking the square root brings units back to percentage for easy interpretation.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615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Interpretation Guide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5786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6731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SD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Returns are more spread out →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Risk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SD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Returns are tightly clustered →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Risk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Stock A (SD = 15%) is less risky than Stock B (SD = 25%)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Numerical Example: Variance and Standard Deviation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the previous example where E(R) = 9%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184400"/>
          <a:ext cx="8890000" cy="2603500"/>
        </p:xfrm>
        <a:graphic>
          <a:graphicData uri="http://schemas.openxmlformats.org/drawingml/2006/table">
            <a:tbl>
              <a:tblPr/>
              <a:tblGrid>
                <a:gridCol w="1778000"/>
                <a:gridCol w="1422400"/>
                <a:gridCol w="1422400"/>
                <a:gridCol w="1422400"/>
                <a:gridCol w="1422400"/>
                <a:gridCol w="1422400"/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 − E(R)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(R − E(R))²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× (Deviation)²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Recession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0.20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−5%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−14%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39.2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Normal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+10%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+1%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0.20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+20%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+11%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24.2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700">
                <a:tc gridSpan="5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64.0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5080000"/>
            <a:ext cx="8890000" cy="1397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9" name="Shape 6"/>
          <p:cNvSpPr/>
          <p:nvPr/>
        </p:nvSpPr>
        <p:spPr>
          <a:xfrm>
            <a:off x="762000" y="5080000"/>
            <a:ext cx="50800" cy="1397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5143500"/>
            <a:ext cx="838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 — Variance: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σ² = 39.2 + 0.6 + 24.2 =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(% squared)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5 — Standard Deviation: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σ = √64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Returns typically deviate about 8% from the expected 9% return.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160000" y="1714500"/>
            <a:ext cx="5334000" cy="4762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0" y="19685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Step-by-Step Summary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477500" y="23876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10477500" y="26035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Calculate deviations: (R</a:t>
            </a:r>
            <a:pPr>
              <a:lnSpc>
                <a:spcPct val="150000"/>
              </a:lnSpc>
            </a:pPr>
            <a:r>
              <a:rPr lang="en-US" sz="14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E(R)) for each state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477500" y="33020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Square each deviation to eliminate negatives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477500" y="40005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Weight each squared deviation by its probability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477500" y="46990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Sum to get variance (σ²)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477500" y="53975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Take square root for standard deviation (σ)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0" name="Text 17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Coefficient of Variation: Risk per Unit of Return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03400"/>
            <a:ext cx="14732000" cy="889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03400"/>
            <a:ext cx="50800" cy="889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7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59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CV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Standard Deviation / Expected Return = σ / E(R)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9464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When to Use CV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365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CV when comparing investments with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expected returns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Standard deviation alone is insufficient for comparing a bond vs. a stock.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254500"/>
            <a:ext cx="6858000" cy="571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43180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lower the CV, the better the risk-return tradeoff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143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Comparison Example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588000"/>
          <a:ext cx="6858000" cy="1778000"/>
        </p:xfrm>
        <a:graphic>
          <a:graphicData uri="http://schemas.openxmlformats.org/drawingml/2006/table">
            <a:tbl>
              <a:tblPr/>
              <a:tblGrid>
                <a:gridCol w="1714500"/>
                <a:gridCol w="1714500"/>
                <a:gridCol w="1714500"/>
                <a:gridCol w="17145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SD (σ)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E(R)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CV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9A22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62000" y="755650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choice: Stock 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lowest CV means best risk-adjusted return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82000" y="2946400"/>
            <a:ext cx="7112000" cy="51816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8" name="Text 15"/>
          <p:cNvSpPr/>
          <p:nvPr/>
        </p:nvSpPr>
        <p:spPr>
          <a:xfrm>
            <a:off x="8699500" y="31750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699500" y="35941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7"/>
          <p:cNvSpPr/>
          <p:nvPr/>
        </p:nvSpPr>
        <p:spPr>
          <a:xfrm>
            <a:off x="8699500" y="38100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CV is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relative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measure — it normalizes risk by return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99500" y="45720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CV has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units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it's a pure ratio for comparison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699500" y="53340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risk-averse investor always prefers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CV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699500" y="6096000"/>
            <a:ext cx="647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CV is especially useful when E(R) differs significantly across investments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699500" y="71120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CV = 0.5 means 0.5 units of risk per 1 unit of return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6" name="Text 23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Risk Measures: A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05000"/>
          <a:ext cx="14732000" cy="3175000"/>
        </p:xfrm>
        <a:graphic>
          <a:graphicData uri="http://schemas.openxmlformats.org/drawingml/2006/table">
            <a:tbl>
              <a:tblPr/>
              <a:tblGrid>
                <a:gridCol w="2651760"/>
                <a:gridCol w="3977640"/>
                <a:gridCol w="2946400"/>
                <a:gridCol w="5156200"/>
              </a:tblGrid>
              <a:tr h="63247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Measure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What It Measures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Formula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Used For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86015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Variance (σ²)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 dispersion of returns around the mean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σ² = Σ[Pᵢ × (Rᵢ − E(R))²]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Intermediate calculation; building block for SD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015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Standard Deviation (σ)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Absolute risk in same units as returns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σ = √σ²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Comparing investments with similar expected returns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</a:tr>
              <a:tr h="82221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Coefficient of Variation (CV)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Relative risk per unit of expected return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CV = σ / E(R)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Comparing investments with different expected returns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546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Workflow Summary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58801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Shape 6"/>
          <p:cNvSpPr/>
          <p:nvPr/>
        </p:nvSpPr>
        <p:spPr>
          <a:xfrm>
            <a:off x="1524000" y="6286500"/>
            <a:ext cx="3048000" cy="762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7"/>
          <p:cNvSpPr/>
          <p:nvPr/>
        </p:nvSpPr>
        <p:spPr>
          <a:xfrm>
            <a:off x="1524000" y="62865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Variance (σ²)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99000" y="6540500"/>
            <a:ext cx="762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5651500" y="6286500"/>
            <a:ext cx="3048000" cy="7620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3" name="Text 10"/>
          <p:cNvSpPr/>
          <p:nvPr/>
        </p:nvSpPr>
        <p:spPr>
          <a:xfrm>
            <a:off x="5651500" y="62865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Deviation (σ)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826500" y="6540500"/>
            <a:ext cx="762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5" name="Shape 12"/>
          <p:cNvSpPr/>
          <p:nvPr/>
        </p:nvSpPr>
        <p:spPr>
          <a:xfrm>
            <a:off x="9779000" y="6286500"/>
            <a:ext cx="3048000" cy="762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3"/>
          <p:cNvSpPr/>
          <p:nvPr/>
        </p:nvSpPr>
        <p:spPr>
          <a:xfrm>
            <a:off x="9779000" y="62865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CV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2000" y="7429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variance, report standard deviation, and compare investments using coefficient of variation.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19" name="Text 16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b57y3psrzhre/mnt/agents/output/risk_return/images/6_Illuminated_Stock_Market_Graph_with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4000"/>
                </a:srgbClr>
              </a:gs>
              <a:gs pos="60000">
                <a:srgbClr val="1B4332">
                  <a:alpha val="82000"/>
                </a:srgbClr>
              </a:gs>
              <a:gs pos="100000">
                <a:srgbClr val="1B4332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C9A227">
                    <a:alpha val="25098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Rates of Return: The Investor's Experience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016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theory to reality — examining how investments actually perform over time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Holding Period Return (HPR)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41500"/>
            <a:ext cx="14732000" cy="1016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41500"/>
            <a:ext cx="50800" cy="1016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9304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2098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HPR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(Ending Value − Beginning Value + Income) / Beginning Value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175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Components of Return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683000"/>
            <a:ext cx="3238500" cy="1270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3683000"/>
            <a:ext cx="32385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0925" y="38862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17108" y="9495"/>
                </a:moveTo>
                <a:cubicBezTo>
                  <a:pt x="110287" y="2674"/>
                  <a:pt x="99209" y="2674"/>
                  <a:pt x="92388" y="9495"/>
                </a:cubicBezTo>
                <a:lnTo>
                  <a:pt x="5075" y="96808"/>
                </a:lnTo>
                <a:cubicBezTo>
                  <a:pt x="-1746" y="103629"/>
                  <a:pt x="-1746" y="114707"/>
                  <a:pt x="5075" y="121528"/>
                </a:cubicBezTo>
                <a:cubicBezTo>
                  <a:pt x="11896" y="128349"/>
                  <a:pt x="22974" y="128349"/>
                  <a:pt x="29795" y="121528"/>
                </a:cubicBezTo>
                <a:lnTo>
                  <a:pt x="87313" y="64011"/>
                </a:lnTo>
                <a:lnTo>
                  <a:pt x="87313" y="266303"/>
                </a:lnTo>
                <a:cubicBezTo>
                  <a:pt x="87313" y="275962"/>
                  <a:pt x="95116" y="283766"/>
                  <a:pt x="104775" y="283766"/>
                </a:cubicBezTo>
                <a:cubicBezTo>
                  <a:pt x="114434" y="283766"/>
                  <a:pt x="122238" y="275962"/>
                  <a:pt x="122238" y="266303"/>
                </a:cubicBezTo>
                <a:lnTo>
                  <a:pt x="122238" y="64011"/>
                </a:lnTo>
                <a:lnTo>
                  <a:pt x="179755" y="121528"/>
                </a:lnTo>
                <a:cubicBezTo>
                  <a:pt x="186576" y="128349"/>
                  <a:pt x="197654" y="128349"/>
                  <a:pt x="204475" y="121528"/>
                </a:cubicBezTo>
                <a:cubicBezTo>
                  <a:pt x="211296" y="114707"/>
                  <a:pt x="211296" y="103629"/>
                  <a:pt x="204475" y="96808"/>
                </a:cubicBezTo>
                <a:lnTo>
                  <a:pt x="117162" y="9495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1397000" y="3860800"/>
            <a:ext cx="2349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Capital Gain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4267200"/>
            <a:ext cx="2730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 in the asset's price over the holding period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1500" y="3683000"/>
            <a:ext cx="3238500" cy="1270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1500" y="3683000"/>
            <a:ext cx="3238500" cy="508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8" name="Shape 16"/>
          <p:cNvSpPr/>
          <p:nvPr/>
        </p:nvSpPr>
        <p:spPr>
          <a:xfrm>
            <a:off x="4670425" y="38862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92442" y="274270"/>
                </a:moveTo>
                <a:cubicBezTo>
                  <a:pt x="99263" y="281092"/>
                  <a:pt x="110341" y="281092"/>
                  <a:pt x="117162" y="274270"/>
                </a:cubicBezTo>
                <a:lnTo>
                  <a:pt x="204475" y="186958"/>
                </a:lnTo>
                <a:cubicBezTo>
                  <a:pt x="211296" y="180137"/>
                  <a:pt x="211296" y="169059"/>
                  <a:pt x="204475" y="162238"/>
                </a:cubicBezTo>
                <a:cubicBezTo>
                  <a:pt x="197654" y="155416"/>
                  <a:pt x="186576" y="155416"/>
                  <a:pt x="179755" y="162238"/>
                </a:cubicBezTo>
                <a:lnTo>
                  <a:pt x="122238" y="219755"/>
                </a:lnTo>
                <a:lnTo>
                  <a:pt x="122238" y="17463"/>
                </a:lnTo>
                <a:cubicBezTo>
                  <a:pt x="122238" y="7804"/>
                  <a:pt x="114434" y="0"/>
                  <a:pt x="104775" y="0"/>
                </a:cubicBezTo>
                <a:cubicBezTo>
                  <a:pt x="95116" y="0"/>
                  <a:pt x="87313" y="7804"/>
                  <a:pt x="87313" y="17463"/>
                </a:cubicBezTo>
                <a:lnTo>
                  <a:pt x="87313" y="219755"/>
                </a:lnTo>
                <a:lnTo>
                  <a:pt x="29795" y="162238"/>
                </a:lnTo>
                <a:cubicBezTo>
                  <a:pt x="22974" y="155416"/>
                  <a:pt x="11896" y="155416"/>
                  <a:pt x="5075" y="162238"/>
                </a:cubicBezTo>
                <a:cubicBezTo>
                  <a:pt x="-1746" y="169059"/>
                  <a:pt x="-1746" y="180137"/>
                  <a:pt x="5075" y="186958"/>
                </a:cubicBezTo>
                <a:lnTo>
                  <a:pt x="92388" y="274270"/>
                </a:lnTo>
                <a:close/>
              </a:path>
            </a:pathLst>
          </a:custGeom>
          <a:solidFill>
            <a:srgbClr val="52796F"/>
          </a:solidFill>
          <a:ln/>
        </p:spPr>
      </p:sp>
      <p:sp>
        <p:nvSpPr>
          <p:cNvPr id="19" name="Text 17"/>
          <p:cNvSpPr/>
          <p:nvPr/>
        </p:nvSpPr>
        <p:spPr>
          <a:xfrm>
            <a:off x="5016500" y="3860800"/>
            <a:ext cx="2349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Capital Loss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35500" y="4267200"/>
            <a:ext cx="2730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Decrease in the asset's price over the holding period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207000"/>
            <a:ext cx="6858000" cy="1270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207000"/>
            <a:ext cx="6858000" cy="50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000" y="5410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69850" y="52388"/>
                </a:moveTo>
                <a:lnTo>
                  <a:pt x="69850" y="43656"/>
                </a:lnTo>
                <a:cubicBezTo>
                  <a:pt x="69850" y="19536"/>
                  <a:pt x="116780" y="0"/>
                  <a:pt x="174625" y="0"/>
                </a:cubicBezTo>
                <a:cubicBezTo>
                  <a:pt x="232470" y="0"/>
                  <a:pt x="279400" y="19536"/>
                  <a:pt x="279400" y="43656"/>
                </a:cubicBezTo>
                <a:lnTo>
                  <a:pt x="279400" y="52388"/>
                </a:lnTo>
                <a:cubicBezTo>
                  <a:pt x="279400" y="69086"/>
                  <a:pt x="256862" y="83602"/>
                  <a:pt x="223738" y="90969"/>
                </a:cubicBezTo>
                <a:cubicBezTo>
                  <a:pt x="222429" y="89441"/>
                  <a:pt x="221064" y="87967"/>
                  <a:pt x="219700" y="86603"/>
                </a:cubicBezTo>
                <a:cubicBezTo>
                  <a:pt x="211242" y="78254"/>
                  <a:pt x="200328" y="71924"/>
                  <a:pt x="188922" y="67231"/>
                </a:cubicBezTo>
                <a:cubicBezTo>
                  <a:pt x="166057" y="57681"/>
                  <a:pt x="136262" y="52442"/>
                  <a:pt x="104775" y="52442"/>
                </a:cubicBezTo>
                <a:cubicBezTo>
                  <a:pt x="92824" y="52442"/>
                  <a:pt x="81146" y="53206"/>
                  <a:pt x="69959" y="54679"/>
                </a:cubicBezTo>
                <a:cubicBezTo>
                  <a:pt x="69850" y="53970"/>
                  <a:pt x="69850" y="53206"/>
                  <a:pt x="69850" y="52442"/>
                </a:cubicBezTo>
                <a:close/>
                <a:moveTo>
                  <a:pt x="235744" y="192633"/>
                </a:moveTo>
                <a:lnTo>
                  <a:pt x="235744" y="167422"/>
                </a:lnTo>
                <a:cubicBezTo>
                  <a:pt x="243984" y="165293"/>
                  <a:pt x="251733" y="162783"/>
                  <a:pt x="258772" y="159836"/>
                </a:cubicBezTo>
                <a:cubicBezTo>
                  <a:pt x="265976" y="156835"/>
                  <a:pt x="273015" y="153179"/>
                  <a:pt x="279400" y="148759"/>
                </a:cubicBezTo>
                <a:lnTo>
                  <a:pt x="279400" y="157163"/>
                </a:lnTo>
                <a:cubicBezTo>
                  <a:pt x="279400" y="171787"/>
                  <a:pt x="262210" y="184721"/>
                  <a:pt x="235744" y="192633"/>
                </a:cubicBezTo>
                <a:close/>
                <a:moveTo>
                  <a:pt x="235744" y="140246"/>
                </a:moveTo>
                <a:lnTo>
                  <a:pt x="235744" y="122238"/>
                </a:lnTo>
                <a:cubicBezTo>
                  <a:pt x="235744" y="119782"/>
                  <a:pt x="235525" y="117435"/>
                  <a:pt x="235198" y="115143"/>
                </a:cubicBezTo>
                <a:cubicBezTo>
                  <a:pt x="243656" y="113015"/>
                  <a:pt x="251569" y="110450"/>
                  <a:pt x="258772" y="107394"/>
                </a:cubicBezTo>
                <a:cubicBezTo>
                  <a:pt x="265976" y="104338"/>
                  <a:pt x="273015" y="100737"/>
                  <a:pt x="279400" y="96317"/>
                </a:cubicBezTo>
                <a:lnTo>
                  <a:pt x="279400" y="104720"/>
                </a:lnTo>
                <a:cubicBezTo>
                  <a:pt x="279400" y="119345"/>
                  <a:pt x="262210" y="132278"/>
                  <a:pt x="235744" y="140191"/>
                </a:cubicBezTo>
                <a:close/>
                <a:moveTo>
                  <a:pt x="0" y="130969"/>
                </a:moveTo>
                <a:lnTo>
                  <a:pt x="0" y="122238"/>
                </a:lnTo>
                <a:cubicBezTo>
                  <a:pt x="0" y="98117"/>
                  <a:pt x="46930" y="78581"/>
                  <a:pt x="104775" y="78581"/>
                </a:cubicBezTo>
                <a:cubicBezTo>
                  <a:pt x="162620" y="78581"/>
                  <a:pt x="209550" y="98117"/>
                  <a:pt x="209550" y="122238"/>
                </a:cubicBezTo>
                <a:lnTo>
                  <a:pt x="209550" y="130969"/>
                </a:lnTo>
                <a:cubicBezTo>
                  <a:pt x="209550" y="155089"/>
                  <a:pt x="162620" y="174625"/>
                  <a:pt x="104775" y="174625"/>
                </a:cubicBezTo>
                <a:cubicBezTo>
                  <a:pt x="46930" y="174625"/>
                  <a:pt x="0" y="155089"/>
                  <a:pt x="0" y="130969"/>
                </a:cubicBezTo>
                <a:close/>
                <a:moveTo>
                  <a:pt x="209550" y="183356"/>
                </a:moveTo>
                <a:cubicBezTo>
                  <a:pt x="209550" y="207476"/>
                  <a:pt x="162620" y="227013"/>
                  <a:pt x="104775" y="227013"/>
                </a:cubicBezTo>
                <a:cubicBezTo>
                  <a:pt x="46930" y="227013"/>
                  <a:pt x="0" y="207476"/>
                  <a:pt x="0" y="183356"/>
                </a:cubicBezTo>
                <a:lnTo>
                  <a:pt x="0" y="174952"/>
                </a:lnTo>
                <a:cubicBezTo>
                  <a:pt x="6330" y="179373"/>
                  <a:pt x="13370" y="182974"/>
                  <a:pt x="20628" y="186030"/>
                </a:cubicBezTo>
                <a:cubicBezTo>
                  <a:pt x="43493" y="195580"/>
                  <a:pt x="73288" y="200819"/>
                  <a:pt x="104775" y="200819"/>
                </a:cubicBezTo>
                <a:cubicBezTo>
                  <a:pt x="136262" y="200819"/>
                  <a:pt x="166057" y="195525"/>
                  <a:pt x="188922" y="186030"/>
                </a:cubicBezTo>
                <a:cubicBezTo>
                  <a:pt x="196126" y="183029"/>
                  <a:pt x="203165" y="179373"/>
                  <a:pt x="209550" y="174952"/>
                </a:cubicBezTo>
                <a:lnTo>
                  <a:pt x="209550" y="183356"/>
                </a:lnTo>
                <a:close/>
                <a:moveTo>
                  <a:pt x="209550" y="227340"/>
                </a:moveTo>
                <a:lnTo>
                  <a:pt x="209550" y="235744"/>
                </a:lnTo>
                <a:cubicBezTo>
                  <a:pt x="209550" y="259864"/>
                  <a:pt x="162620" y="279400"/>
                  <a:pt x="104775" y="279400"/>
                </a:cubicBezTo>
                <a:cubicBezTo>
                  <a:pt x="46930" y="279400"/>
                  <a:pt x="0" y="259864"/>
                  <a:pt x="0" y="235744"/>
                </a:cubicBezTo>
                <a:lnTo>
                  <a:pt x="0" y="227340"/>
                </a:lnTo>
                <a:cubicBezTo>
                  <a:pt x="6330" y="231760"/>
                  <a:pt x="13370" y="235362"/>
                  <a:pt x="20628" y="238418"/>
                </a:cubicBezTo>
                <a:cubicBezTo>
                  <a:pt x="43493" y="247968"/>
                  <a:pt x="73288" y="253206"/>
                  <a:pt x="104775" y="253206"/>
                </a:cubicBezTo>
                <a:cubicBezTo>
                  <a:pt x="136262" y="253206"/>
                  <a:pt x="166057" y="247913"/>
                  <a:pt x="188922" y="238418"/>
                </a:cubicBezTo>
                <a:cubicBezTo>
                  <a:pt x="196126" y="235416"/>
                  <a:pt x="203165" y="231760"/>
                  <a:pt x="209550" y="227340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24" name="Text 22"/>
          <p:cNvSpPr/>
          <p:nvPr/>
        </p:nvSpPr>
        <p:spPr>
          <a:xfrm>
            <a:off x="1397000" y="5384800"/>
            <a:ext cx="2349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57912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Dividends, interest payments, or other cash flows received during the period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3175000"/>
            <a:ext cx="7112000" cy="3302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8763000" y="3403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Worked Example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63000" y="38227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8763000" y="4038600"/>
            <a:ext cx="6350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 a stock for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receive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dividend, sell for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$115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Capital gain = $115 − $100 = $15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Income = $5 dividend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HPR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($15 + $5) / $100 =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6794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Annualizing Returns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7239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held for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years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Annualized HPR = (1 + 0.20)^(1/2) − 1 =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9.54%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 year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Annualizing allows fair comparison of investments held for different periods.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33" name="Text 31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Historical Returns: What the Data Shows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764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US market data (1926–2023, approximate averages)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62000" y="2095500"/>
          <a:ext cx="8636000" cy="444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9906000" y="2095500"/>
            <a:ext cx="5588000" cy="4445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6"/>
          <p:cNvSpPr/>
          <p:nvPr/>
        </p:nvSpPr>
        <p:spPr>
          <a:xfrm>
            <a:off x="10223500" y="22860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223500" y="27051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10223500" y="29210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Stocks outperform bonds over long periods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223500" y="36195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Higher returns come with higher volatility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223500" y="43180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Small stocks have highest returns but also highest risk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223500" y="50165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Equity risk premium ≈ 6-7% historically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223500" y="57150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T-bills barely beat inflation — real return ≈ 0.3%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risk-return relationship is clearly visible in historical data: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Assets with higher average returns also exhibit greater variability (risk) around those averages.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18" name="Text 15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Arithmetic vs. Geometric Mean Returns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41500"/>
            <a:ext cx="7048500" cy="24765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41500"/>
            <a:ext cx="70485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057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Arithmetic Mean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4892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average of annual returns. Best used for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estimating next year's expected return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(R₁ + R₂ + ... + Rₙ) / 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3632200"/>
            <a:ext cx="6540500" cy="444500"/>
          </a:xfrm>
          <a:prstGeom prst="rect">
            <a:avLst/>
          </a:prstGeom>
          <a:solidFill>
            <a:srgbClr val="C9A227">
              <a:alpha val="12549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83000"/>
            <a:ext cx="6286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for: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Forecasting, expected return estimates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45500" y="1841500"/>
            <a:ext cx="7048500" cy="24765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3" name="Shape 11"/>
          <p:cNvSpPr/>
          <p:nvPr/>
        </p:nvSpPr>
        <p:spPr>
          <a:xfrm>
            <a:off x="8445500" y="1841500"/>
            <a:ext cx="7048500" cy="50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8699500" y="2057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Geometric Mean (CAGR)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9500" y="24892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Compound annual growth rate — reflects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wealth accumulation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time.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[(1+R₁)(1+R₂)...(1+Rₙ)]^(1/n) − 1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99500" y="3632200"/>
            <a:ext cx="6540500" cy="444500"/>
          </a:xfrm>
          <a:prstGeom prst="rect">
            <a:avLst/>
          </a:prstGeom>
          <a:solidFill>
            <a:srgbClr val="1B4332">
              <a:alpha val="12549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826500" y="3683000"/>
            <a:ext cx="6286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for: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Reporting historical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635500"/>
            <a:ext cx="14732000" cy="698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7244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Difference:</a:t>
            </a:r>
            <a:pPr algn="ctr">
              <a:lnSpc>
                <a:spcPct val="100000"/>
              </a:lnSpc>
            </a:pPr>
            <a:r>
              <a:rPr lang="en-US" sz="17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Arithmetic Mean ≥ Geometric Mean. The greater the volatility, the larger the gap.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Illustrative Example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0071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6223000"/>
            <a:ext cx="762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Returns of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+50%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−50%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2 years: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Arithmetic mean = (50% + (−50%)) / 2 =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0%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Geometric mean = √(1.5 × 0.5) − 1 = √0.75 − 1 =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−13.4%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geometric mean reflects the actual wealth change.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0" y="5588000"/>
            <a:ext cx="6350000" cy="2286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24" name="Text 22"/>
          <p:cNvSpPr/>
          <p:nvPr/>
        </p:nvSpPr>
        <p:spPr>
          <a:xfrm>
            <a:off x="9398000" y="57785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Which to Use?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98000" y="6223000"/>
            <a:ext cx="584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Arithmetic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Estimating next year's expected return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Geometric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Reporting historical performance and actual wealth growth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b57y3psrzhre/mnt/agents/output/risk_return/images/4_Portfolio_Diversification_Strategies.png">    </p:cNvPr>
          <p:cNvPicPr>
            <a:picLocks noChangeAspect="1"/>
          </p:cNvPicPr>
          <p:nvPr/>
        </p:nvPicPr>
        <p:blipFill>
          <a:blip r:embed="rId1"/>
          <a:srcRect l="9583" r="958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4000"/>
                </a:srgbClr>
              </a:gs>
              <a:gs pos="60000">
                <a:srgbClr val="1B4332">
                  <a:alpha val="82000"/>
                </a:srgbClr>
              </a:gs>
              <a:gs pos="100000">
                <a:srgbClr val="1B4332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C9A227">
                    <a:alpha val="25098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683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Risk and Diversification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016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825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only free lunch in finance — how spreading investments reduces risk without sacrificing return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What is Diversification?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03400"/>
            <a:ext cx="14732000" cy="889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669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Diversification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strategy of spreading investments across different assets to reduce risk.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"Don't put all your eggs in one basket."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984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4036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581400"/>
            <a:ext cx="685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assets react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 same economic events. When some investments go down, others may go up or remain stable — offsetting losses.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762500"/>
            <a:ext cx="6858000" cy="762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4762500"/>
            <a:ext cx="50800" cy="762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4826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Diversification reduces risk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reducing expected return — the "only free lunch in finance."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778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Types of Diversification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61976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Shape 14"/>
          <p:cNvSpPr/>
          <p:nvPr/>
        </p:nvSpPr>
        <p:spPr>
          <a:xfrm>
            <a:off x="746125" y="64770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54198" y="119063"/>
                </a:moveTo>
                <a:lnTo>
                  <a:pt x="166886" y="119063"/>
                </a:lnTo>
                <a:cubicBezTo>
                  <a:pt x="158105" y="119063"/>
                  <a:pt x="151011" y="111968"/>
                  <a:pt x="151011" y="103188"/>
                </a:cubicBezTo>
                <a:lnTo>
                  <a:pt x="151011" y="15875"/>
                </a:lnTo>
                <a:cubicBezTo>
                  <a:pt x="151011" y="7094"/>
                  <a:pt x="158155" y="-99"/>
                  <a:pt x="166836" y="1042"/>
                </a:cubicBezTo>
                <a:cubicBezTo>
                  <a:pt x="219918" y="8086"/>
                  <a:pt x="261987" y="50155"/>
                  <a:pt x="269032" y="103237"/>
                </a:cubicBezTo>
                <a:cubicBezTo>
                  <a:pt x="270173" y="111919"/>
                  <a:pt x="262979" y="119063"/>
                  <a:pt x="254198" y="119063"/>
                </a:cubicBezTo>
                <a:close/>
                <a:moveTo>
                  <a:pt x="110430" y="18455"/>
                </a:moveTo>
                <a:cubicBezTo>
                  <a:pt x="119410" y="16570"/>
                  <a:pt x="127198" y="23912"/>
                  <a:pt x="127198" y="33089"/>
                </a:cubicBezTo>
                <a:lnTo>
                  <a:pt x="127198" y="130969"/>
                </a:lnTo>
                <a:cubicBezTo>
                  <a:pt x="127198" y="133747"/>
                  <a:pt x="128191" y="136426"/>
                  <a:pt x="129927" y="138559"/>
                </a:cubicBezTo>
                <a:lnTo>
                  <a:pt x="195461" y="217636"/>
                </a:lnTo>
                <a:cubicBezTo>
                  <a:pt x="201265" y="224631"/>
                  <a:pt x="200025" y="235198"/>
                  <a:pt x="192038" y="239514"/>
                </a:cubicBezTo>
                <a:cubicBezTo>
                  <a:pt x="175121" y="248741"/>
                  <a:pt x="155724" y="254000"/>
                  <a:pt x="135136" y="254000"/>
                </a:cubicBezTo>
                <a:cubicBezTo>
                  <a:pt x="69404" y="254000"/>
                  <a:pt x="16073" y="200670"/>
                  <a:pt x="16073" y="134938"/>
                </a:cubicBezTo>
                <a:cubicBezTo>
                  <a:pt x="16073" y="77639"/>
                  <a:pt x="56505" y="29815"/>
                  <a:pt x="110430" y="18455"/>
                </a:cubicBezTo>
                <a:close/>
                <a:moveTo>
                  <a:pt x="237034" y="142875"/>
                </a:moveTo>
                <a:lnTo>
                  <a:pt x="268784" y="142875"/>
                </a:lnTo>
                <a:cubicBezTo>
                  <a:pt x="277961" y="142875"/>
                  <a:pt x="285304" y="150664"/>
                  <a:pt x="283418" y="159643"/>
                </a:cubicBezTo>
                <a:cubicBezTo>
                  <a:pt x="278358" y="183654"/>
                  <a:pt x="266055" y="204986"/>
                  <a:pt x="248890" y="221258"/>
                </a:cubicBezTo>
                <a:cubicBezTo>
                  <a:pt x="242788" y="227062"/>
                  <a:pt x="233214" y="225822"/>
                  <a:pt x="227856" y="219323"/>
                </a:cubicBezTo>
                <a:lnTo>
                  <a:pt x="185986" y="168870"/>
                </a:lnTo>
                <a:cubicBezTo>
                  <a:pt x="177403" y="158502"/>
                  <a:pt x="184795" y="142875"/>
                  <a:pt x="198189" y="142875"/>
                </a:cubicBezTo>
                <a:lnTo>
                  <a:pt x="236984" y="142875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1117600" y="64516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 classes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(stocks, bonds, RE)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91000" y="6477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7094" y="15875"/>
                  <a:pt x="0" y="22969"/>
                  <a:pt x="0" y="31750"/>
                </a:cubicBezTo>
                <a:lnTo>
                  <a:pt x="0" y="214313"/>
                </a:lnTo>
                <a:cubicBezTo>
                  <a:pt x="0" y="227459"/>
                  <a:pt x="10666" y="238125"/>
                  <a:pt x="23812" y="238125"/>
                </a:cubicBezTo>
                <a:lnTo>
                  <a:pt x="230188" y="238125"/>
                </a:lnTo>
                <a:cubicBezTo>
                  <a:pt x="243334" y="238125"/>
                  <a:pt x="254000" y="227459"/>
                  <a:pt x="254000" y="214313"/>
                </a:cubicBezTo>
                <a:lnTo>
                  <a:pt x="254000" y="75505"/>
                </a:lnTo>
                <a:cubicBezTo>
                  <a:pt x="254000" y="66477"/>
                  <a:pt x="244376" y="60771"/>
                  <a:pt x="236438" y="65038"/>
                </a:cubicBezTo>
                <a:lnTo>
                  <a:pt x="158750" y="106859"/>
                </a:lnTo>
                <a:lnTo>
                  <a:pt x="158750" y="75505"/>
                </a:lnTo>
                <a:cubicBezTo>
                  <a:pt x="158750" y="66477"/>
                  <a:pt x="149126" y="60771"/>
                  <a:pt x="141188" y="65038"/>
                </a:cubicBezTo>
                <a:lnTo>
                  <a:pt x="63500" y="106859"/>
                </a:lnTo>
                <a:lnTo>
                  <a:pt x="63500" y="31750"/>
                </a:lnTo>
                <a:cubicBezTo>
                  <a:pt x="63500" y="22969"/>
                  <a:pt x="56406" y="15875"/>
                  <a:pt x="47625" y="15875"/>
                </a:cubicBezTo>
                <a:lnTo>
                  <a:pt x="15875" y="15875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4546600" y="64516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Industries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(tech, health, energy)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921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74575" y="138906"/>
                </a:moveTo>
                <a:lnTo>
                  <a:pt x="79871" y="138906"/>
                </a:lnTo>
                <a:cubicBezTo>
                  <a:pt x="81310" y="170904"/>
                  <a:pt x="88404" y="200372"/>
                  <a:pt x="98475" y="221952"/>
                </a:cubicBezTo>
                <a:cubicBezTo>
                  <a:pt x="104130" y="234107"/>
                  <a:pt x="110232" y="242689"/>
                  <a:pt x="115888" y="247948"/>
                </a:cubicBezTo>
                <a:cubicBezTo>
                  <a:pt x="121444" y="253157"/>
                  <a:pt x="125264" y="254000"/>
                  <a:pt x="127248" y="254000"/>
                </a:cubicBezTo>
                <a:cubicBezTo>
                  <a:pt x="129232" y="254000"/>
                  <a:pt x="133052" y="253157"/>
                  <a:pt x="138609" y="247948"/>
                </a:cubicBezTo>
                <a:cubicBezTo>
                  <a:pt x="144264" y="242689"/>
                  <a:pt x="150366" y="234057"/>
                  <a:pt x="156021" y="221952"/>
                </a:cubicBezTo>
                <a:cubicBezTo>
                  <a:pt x="166092" y="200372"/>
                  <a:pt x="173186" y="170904"/>
                  <a:pt x="174625" y="138906"/>
                </a:cubicBezTo>
                <a:close/>
                <a:moveTo>
                  <a:pt x="79821" y="115094"/>
                </a:moveTo>
                <a:lnTo>
                  <a:pt x="174526" y="115094"/>
                </a:lnTo>
                <a:cubicBezTo>
                  <a:pt x="173137" y="83096"/>
                  <a:pt x="166043" y="53628"/>
                  <a:pt x="155972" y="32048"/>
                </a:cubicBezTo>
                <a:cubicBezTo>
                  <a:pt x="150316" y="19943"/>
                  <a:pt x="144214" y="11311"/>
                  <a:pt x="138559" y="6052"/>
                </a:cubicBezTo>
                <a:cubicBezTo>
                  <a:pt x="133003" y="843"/>
                  <a:pt x="129183" y="0"/>
                  <a:pt x="127198" y="0"/>
                </a:cubicBezTo>
                <a:cubicBezTo>
                  <a:pt x="125214" y="0"/>
                  <a:pt x="121394" y="843"/>
                  <a:pt x="115838" y="6052"/>
                </a:cubicBezTo>
                <a:cubicBezTo>
                  <a:pt x="110182" y="11311"/>
                  <a:pt x="104080" y="19943"/>
                  <a:pt x="98425" y="32048"/>
                </a:cubicBezTo>
                <a:cubicBezTo>
                  <a:pt x="88354" y="53628"/>
                  <a:pt x="81260" y="83096"/>
                  <a:pt x="79821" y="115094"/>
                </a:cubicBezTo>
                <a:close/>
                <a:moveTo>
                  <a:pt x="56009" y="115094"/>
                </a:moveTo>
                <a:cubicBezTo>
                  <a:pt x="57745" y="72628"/>
                  <a:pt x="68709" y="33189"/>
                  <a:pt x="84733" y="7293"/>
                </a:cubicBezTo>
                <a:cubicBezTo>
                  <a:pt x="39043" y="23465"/>
                  <a:pt x="5407" y="65088"/>
                  <a:pt x="744" y="115094"/>
                </a:cubicBezTo>
                <a:lnTo>
                  <a:pt x="56009" y="115094"/>
                </a:lnTo>
                <a:close/>
                <a:moveTo>
                  <a:pt x="744" y="138906"/>
                </a:moveTo>
                <a:cubicBezTo>
                  <a:pt x="5407" y="188913"/>
                  <a:pt x="39043" y="230535"/>
                  <a:pt x="84733" y="246707"/>
                </a:cubicBezTo>
                <a:cubicBezTo>
                  <a:pt x="68709" y="220811"/>
                  <a:pt x="57745" y="181372"/>
                  <a:pt x="56009" y="138906"/>
                </a:cubicBezTo>
                <a:lnTo>
                  <a:pt x="744" y="138906"/>
                </a:lnTo>
                <a:close/>
                <a:moveTo>
                  <a:pt x="198388" y="138906"/>
                </a:moveTo>
                <a:cubicBezTo>
                  <a:pt x="196652" y="181372"/>
                  <a:pt x="185688" y="220811"/>
                  <a:pt x="169664" y="246707"/>
                </a:cubicBezTo>
                <a:cubicBezTo>
                  <a:pt x="215354" y="230485"/>
                  <a:pt x="248989" y="188913"/>
                  <a:pt x="253653" y="138906"/>
                </a:cubicBezTo>
                <a:lnTo>
                  <a:pt x="198388" y="138906"/>
                </a:lnTo>
                <a:close/>
                <a:moveTo>
                  <a:pt x="253653" y="115094"/>
                </a:moveTo>
                <a:cubicBezTo>
                  <a:pt x="248989" y="65088"/>
                  <a:pt x="215354" y="23465"/>
                  <a:pt x="169664" y="7293"/>
                </a:cubicBezTo>
                <a:cubicBezTo>
                  <a:pt x="185688" y="33189"/>
                  <a:pt x="196652" y="72628"/>
                  <a:pt x="198388" y="115094"/>
                </a:cubicBezTo>
                <a:lnTo>
                  <a:pt x="253653" y="11509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1117600" y="68961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Geographies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(US, intl, emerging)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22750" y="69215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1750" y="0"/>
                </a:moveTo>
                <a:cubicBezTo>
                  <a:pt x="14238" y="0"/>
                  <a:pt x="0" y="14238"/>
                  <a:pt x="0" y="317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58750" y="254000"/>
                </a:lnTo>
                <a:cubicBezTo>
                  <a:pt x="176262" y="254000"/>
                  <a:pt x="190500" y="239762"/>
                  <a:pt x="190500" y="222250"/>
                </a:cubicBezTo>
                <a:lnTo>
                  <a:pt x="190500" y="31750"/>
                </a:lnTo>
                <a:cubicBezTo>
                  <a:pt x="190500" y="14238"/>
                  <a:pt x="176262" y="0"/>
                  <a:pt x="158750" y="0"/>
                </a:cubicBezTo>
                <a:lnTo>
                  <a:pt x="31750" y="0"/>
                </a:lnTo>
                <a:close/>
                <a:moveTo>
                  <a:pt x="87313" y="174625"/>
                </a:moveTo>
                <a:lnTo>
                  <a:pt x="103188" y="174625"/>
                </a:lnTo>
                <a:cubicBezTo>
                  <a:pt x="111968" y="174625"/>
                  <a:pt x="119063" y="181719"/>
                  <a:pt x="119063" y="190500"/>
                </a:cubicBezTo>
                <a:lnTo>
                  <a:pt x="119063" y="230188"/>
                </a:lnTo>
                <a:lnTo>
                  <a:pt x="71438" y="230188"/>
                </a:lnTo>
                <a:lnTo>
                  <a:pt x="71438" y="190500"/>
                </a:lnTo>
                <a:cubicBezTo>
                  <a:pt x="71438" y="181719"/>
                  <a:pt x="78532" y="174625"/>
                  <a:pt x="87313" y="174625"/>
                </a:cubicBezTo>
                <a:close/>
                <a:moveTo>
                  <a:pt x="47625" y="55563"/>
                </a:moveTo>
                <a:cubicBezTo>
                  <a:pt x="47625" y="51197"/>
                  <a:pt x="51197" y="47625"/>
                  <a:pt x="55563" y="47625"/>
                </a:cubicBezTo>
                <a:lnTo>
                  <a:pt x="71438" y="47625"/>
                </a:lnTo>
                <a:cubicBezTo>
                  <a:pt x="75803" y="47625"/>
                  <a:pt x="79375" y="51197"/>
                  <a:pt x="79375" y="55563"/>
                </a:cubicBezTo>
                <a:lnTo>
                  <a:pt x="79375" y="71438"/>
                </a:lnTo>
                <a:cubicBezTo>
                  <a:pt x="79375" y="75803"/>
                  <a:pt x="75803" y="79375"/>
                  <a:pt x="71438" y="79375"/>
                </a:cubicBezTo>
                <a:lnTo>
                  <a:pt x="55563" y="79375"/>
                </a:lnTo>
                <a:cubicBezTo>
                  <a:pt x="51197" y="79375"/>
                  <a:pt x="47625" y="75803"/>
                  <a:pt x="47625" y="71438"/>
                </a:cubicBezTo>
                <a:lnTo>
                  <a:pt x="47625" y="55563"/>
                </a:lnTo>
                <a:close/>
                <a:moveTo>
                  <a:pt x="119063" y="47625"/>
                </a:moveTo>
                <a:lnTo>
                  <a:pt x="134938" y="47625"/>
                </a:lnTo>
                <a:cubicBezTo>
                  <a:pt x="139303" y="47625"/>
                  <a:pt x="142875" y="51197"/>
                  <a:pt x="142875" y="55563"/>
                </a:cubicBezTo>
                <a:lnTo>
                  <a:pt x="142875" y="71438"/>
                </a:lnTo>
                <a:cubicBezTo>
                  <a:pt x="142875" y="75803"/>
                  <a:pt x="139303" y="79375"/>
                  <a:pt x="134938" y="79375"/>
                </a:cubicBezTo>
                <a:lnTo>
                  <a:pt x="119063" y="79375"/>
                </a:lnTo>
                <a:cubicBezTo>
                  <a:pt x="114697" y="79375"/>
                  <a:pt x="111125" y="75803"/>
                  <a:pt x="111125" y="71438"/>
                </a:cubicBezTo>
                <a:lnTo>
                  <a:pt x="111125" y="55563"/>
                </a:lnTo>
                <a:cubicBezTo>
                  <a:pt x="111125" y="51197"/>
                  <a:pt x="114697" y="47625"/>
                  <a:pt x="119063" y="47625"/>
                </a:cubicBezTo>
                <a:close/>
                <a:moveTo>
                  <a:pt x="47625" y="119063"/>
                </a:moveTo>
                <a:cubicBezTo>
                  <a:pt x="47625" y="114697"/>
                  <a:pt x="51197" y="111125"/>
                  <a:pt x="55563" y="111125"/>
                </a:cubicBezTo>
                <a:lnTo>
                  <a:pt x="71438" y="111125"/>
                </a:lnTo>
                <a:cubicBezTo>
                  <a:pt x="75803" y="111125"/>
                  <a:pt x="79375" y="114697"/>
                  <a:pt x="79375" y="119063"/>
                </a:cubicBezTo>
                <a:lnTo>
                  <a:pt x="79375" y="134938"/>
                </a:lnTo>
                <a:cubicBezTo>
                  <a:pt x="79375" y="139303"/>
                  <a:pt x="75803" y="142875"/>
                  <a:pt x="71438" y="142875"/>
                </a:cubicBezTo>
                <a:lnTo>
                  <a:pt x="55563" y="142875"/>
                </a:lnTo>
                <a:cubicBezTo>
                  <a:pt x="51197" y="142875"/>
                  <a:pt x="47625" y="139303"/>
                  <a:pt x="47625" y="134938"/>
                </a:cubicBezTo>
                <a:lnTo>
                  <a:pt x="47625" y="119063"/>
                </a:lnTo>
                <a:close/>
                <a:moveTo>
                  <a:pt x="119063" y="111125"/>
                </a:moveTo>
                <a:lnTo>
                  <a:pt x="134938" y="111125"/>
                </a:lnTo>
                <a:cubicBezTo>
                  <a:pt x="139303" y="111125"/>
                  <a:pt x="142875" y="114697"/>
                  <a:pt x="142875" y="119063"/>
                </a:cubicBezTo>
                <a:lnTo>
                  <a:pt x="142875" y="134938"/>
                </a:lnTo>
                <a:cubicBezTo>
                  <a:pt x="142875" y="139303"/>
                  <a:pt x="139303" y="142875"/>
                  <a:pt x="134938" y="142875"/>
                </a:cubicBezTo>
                <a:lnTo>
                  <a:pt x="119063" y="142875"/>
                </a:lnTo>
                <a:cubicBezTo>
                  <a:pt x="114697" y="142875"/>
                  <a:pt x="111125" y="139303"/>
                  <a:pt x="111125" y="134938"/>
                </a:cubicBezTo>
                <a:lnTo>
                  <a:pt x="111125" y="119063"/>
                </a:lnTo>
                <a:cubicBezTo>
                  <a:pt x="111125" y="114697"/>
                  <a:pt x="114697" y="111125"/>
                  <a:pt x="119063" y="11112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4546600" y="68961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sizes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(large, mid, small)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2984500"/>
            <a:ext cx="7112000" cy="42545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25" name="Text 23"/>
          <p:cNvSpPr/>
          <p:nvPr/>
        </p:nvSpPr>
        <p:spPr>
          <a:xfrm>
            <a:off x="8699500" y="32004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Logic of Diversification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99500" y="36195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8699500" y="38354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 all assets move in the same direction at the same time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99500" y="45466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Negative returns in one asset can be offset by positive returns in another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99500" y="52578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Portfolio volatility decreases as more uncorrelated assets are added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99500" y="5969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Expected return remains the weighted average — it does not decrease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99500" y="66802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Lower risk, same return.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33" name="Text 31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Systematic vs. Unsystematic Risk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78000"/>
            <a:ext cx="14732000" cy="571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41500"/>
            <a:ext cx="1422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Risk = Systematic Risk + Unsystematic Risk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603500"/>
            <a:ext cx="7048500" cy="3937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603500"/>
            <a:ext cx="7048500" cy="6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285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8685" y="138698"/>
                </a:moveTo>
                <a:lnTo>
                  <a:pt x="60146" y="160159"/>
                </a:lnTo>
                <a:cubicBezTo>
                  <a:pt x="64314" y="164326"/>
                  <a:pt x="69939" y="166688"/>
                  <a:pt x="75843" y="166688"/>
                </a:cubicBezTo>
                <a:lnTo>
                  <a:pt x="90775" y="166688"/>
                </a:lnTo>
                <a:cubicBezTo>
                  <a:pt x="96679" y="166688"/>
                  <a:pt x="102304" y="169049"/>
                  <a:pt x="106472" y="173216"/>
                </a:cubicBezTo>
                <a:lnTo>
                  <a:pt x="126821" y="193566"/>
                </a:lnTo>
                <a:cubicBezTo>
                  <a:pt x="130989" y="197733"/>
                  <a:pt x="133350" y="203359"/>
                  <a:pt x="133350" y="209262"/>
                </a:cubicBezTo>
                <a:lnTo>
                  <a:pt x="133350" y="235307"/>
                </a:lnTo>
                <a:cubicBezTo>
                  <a:pt x="133350" y="241211"/>
                  <a:pt x="135711" y="246836"/>
                  <a:pt x="139879" y="251004"/>
                </a:cubicBezTo>
                <a:lnTo>
                  <a:pt x="149116" y="260241"/>
                </a:lnTo>
                <a:cubicBezTo>
                  <a:pt x="153283" y="264408"/>
                  <a:pt x="155644" y="270034"/>
                  <a:pt x="155644" y="275937"/>
                </a:cubicBezTo>
                <a:lnTo>
                  <a:pt x="155644" y="288925"/>
                </a:lnTo>
                <a:cubicBezTo>
                  <a:pt x="155644" y="301218"/>
                  <a:pt x="165576" y="311150"/>
                  <a:pt x="177869" y="311150"/>
                </a:cubicBezTo>
                <a:cubicBezTo>
                  <a:pt x="190163" y="311150"/>
                  <a:pt x="200094" y="301218"/>
                  <a:pt x="200094" y="288925"/>
                </a:cubicBezTo>
                <a:lnTo>
                  <a:pt x="200094" y="287050"/>
                </a:lnTo>
                <a:cubicBezTo>
                  <a:pt x="200094" y="281146"/>
                  <a:pt x="202456" y="275521"/>
                  <a:pt x="206623" y="271353"/>
                </a:cubicBezTo>
                <a:lnTo>
                  <a:pt x="238085" y="239891"/>
                </a:lnTo>
                <a:cubicBezTo>
                  <a:pt x="242253" y="235724"/>
                  <a:pt x="244614" y="230098"/>
                  <a:pt x="244614" y="224195"/>
                </a:cubicBezTo>
                <a:lnTo>
                  <a:pt x="244614" y="200094"/>
                </a:lnTo>
                <a:cubicBezTo>
                  <a:pt x="244614" y="187801"/>
                  <a:pt x="234682" y="177869"/>
                  <a:pt x="222389" y="177869"/>
                </a:cubicBezTo>
                <a:lnTo>
                  <a:pt x="164951" y="177869"/>
                </a:lnTo>
                <a:cubicBezTo>
                  <a:pt x="159048" y="177869"/>
                  <a:pt x="153422" y="175508"/>
                  <a:pt x="149255" y="171341"/>
                </a:cubicBezTo>
                <a:lnTo>
                  <a:pt x="138142" y="160228"/>
                </a:lnTo>
                <a:cubicBezTo>
                  <a:pt x="135225" y="157311"/>
                  <a:pt x="133558" y="153283"/>
                  <a:pt x="133558" y="149116"/>
                </a:cubicBezTo>
                <a:cubicBezTo>
                  <a:pt x="133558" y="140434"/>
                  <a:pt x="140573" y="133419"/>
                  <a:pt x="149255" y="133419"/>
                </a:cubicBezTo>
                <a:lnTo>
                  <a:pt x="173355" y="133419"/>
                </a:lnTo>
                <a:cubicBezTo>
                  <a:pt x="182037" y="133419"/>
                  <a:pt x="189051" y="126405"/>
                  <a:pt x="189051" y="117723"/>
                </a:cubicBezTo>
                <a:cubicBezTo>
                  <a:pt x="189051" y="113556"/>
                  <a:pt x="187385" y="109528"/>
                  <a:pt x="184468" y="106611"/>
                </a:cubicBezTo>
                <a:lnTo>
                  <a:pt x="170785" y="92928"/>
                </a:lnTo>
                <a:cubicBezTo>
                  <a:pt x="168077" y="90289"/>
                  <a:pt x="166688" y="86886"/>
                  <a:pt x="166688" y="83344"/>
                </a:cubicBezTo>
                <a:cubicBezTo>
                  <a:pt x="166688" y="79802"/>
                  <a:pt x="168077" y="76398"/>
                  <a:pt x="170646" y="73829"/>
                </a:cubicBezTo>
                <a:lnTo>
                  <a:pt x="182662" y="61813"/>
                </a:lnTo>
                <a:cubicBezTo>
                  <a:pt x="186690" y="57785"/>
                  <a:pt x="188982" y="52298"/>
                  <a:pt x="188982" y="46603"/>
                </a:cubicBezTo>
                <a:cubicBezTo>
                  <a:pt x="188982" y="41602"/>
                  <a:pt x="187315" y="37088"/>
                  <a:pt x="184537" y="33476"/>
                </a:cubicBezTo>
                <a:cubicBezTo>
                  <a:pt x="182314" y="33407"/>
                  <a:pt x="180092" y="33337"/>
                  <a:pt x="177869" y="33337"/>
                </a:cubicBezTo>
                <a:cubicBezTo>
                  <a:pt x="111611" y="33337"/>
                  <a:pt x="55840" y="77926"/>
                  <a:pt x="38755" y="138698"/>
                </a:cubicBezTo>
                <a:close/>
                <a:moveTo>
                  <a:pt x="322263" y="177800"/>
                </a:moveTo>
                <a:cubicBezTo>
                  <a:pt x="322263" y="153769"/>
                  <a:pt x="316428" y="131128"/>
                  <a:pt x="306010" y="111264"/>
                </a:cubicBezTo>
                <a:cubicBezTo>
                  <a:pt x="301565" y="111889"/>
                  <a:pt x="297190" y="113973"/>
                  <a:pt x="293578" y="117584"/>
                </a:cubicBezTo>
                <a:lnTo>
                  <a:pt x="284272" y="126891"/>
                </a:lnTo>
                <a:cubicBezTo>
                  <a:pt x="280104" y="131058"/>
                  <a:pt x="277743" y="136684"/>
                  <a:pt x="277743" y="142587"/>
                </a:cubicBezTo>
                <a:lnTo>
                  <a:pt x="277743" y="166688"/>
                </a:lnTo>
                <a:cubicBezTo>
                  <a:pt x="277743" y="178981"/>
                  <a:pt x="287675" y="188913"/>
                  <a:pt x="299968" y="188913"/>
                </a:cubicBezTo>
                <a:lnTo>
                  <a:pt x="316706" y="188913"/>
                </a:lnTo>
                <a:cubicBezTo>
                  <a:pt x="318443" y="188913"/>
                  <a:pt x="320179" y="188704"/>
                  <a:pt x="321776" y="188357"/>
                </a:cubicBezTo>
                <a:cubicBezTo>
                  <a:pt x="322054" y="184884"/>
                  <a:pt x="322124" y="181342"/>
                  <a:pt x="322124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498600" y="28321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Systematic Risk (Market Risk)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403600"/>
            <a:ext cx="65405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Affects: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investments in the market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Caused by: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Macro factors — interest rates, inflation, recessions, geopolitical events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Diversifiable?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cannot be eliminated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Compensated?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investors are rewarded for bearing systematic risk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Also called "non-diversifiable" or "market" risk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45500" y="2603500"/>
            <a:ext cx="7048500" cy="3937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4" name="Shape 12"/>
          <p:cNvSpPr/>
          <p:nvPr/>
        </p:nvSpPr>
        <p:spPr>
          <a:xfrm>
            <a:off x="8445500" y="2603500"/>
            <a:ext cx="7048500" cy="635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5" name="Shape 13"/>
          <p:cNvSpPr/>
          <p:nvPr/>
        </p:nvSpPr>
        <p:spPr>
          <a:xfrm>
            <a:off x="8743950" y="2857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44450" y="0"/>
                </a:moveTo>
                <a:cubicBezTo>
                  <a:pt x="19933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22250" y="355600"/>
                </a:lnTo>
                <a:cubicBezTo>
                  <a:pt x="246767" y="355600"/>
                  <a:pt x="266700" y="335667"/>
                  <a:pt x="266700" y="311150"/>
                </a:cubicBezTo>
                <a:lnTo>
                  <a:pt x="266700" y="44450"/>
                </a:lnTo>
                <a:cubicBezTo>
                  <a:pt x="266700" y="19933"/>
                  <a:pt x="246767" y="0"/>
                  <a:pt x="222250" y="0"/>
                </a:cubicBezTo>
                <a:lnTo>
                  <a:pt x="44450" y="0"/>
                </a:lnTo>
                <a:close/>
                <a:moveTo>
                  <a:pt x="122238" y="244475"/>
                </a:moveTo>
                <a:lnTo>
                  <a:pt x="144463" y="244475"/>
                </a:lnTo>
                <a:cubicBezTo>
                  <a:pt x="156756" y="244475"/>
                  <a:pt x="166688" y="254407"/>
                  <a:pt x="166688" y="266700"/>
                </a:cubicBezTo>
                <a:lnTo>
                  <a:pt x="166688" y="322263"/>
                </a:lnTo>
                <a:lnTo>
                  <a:pt x="100013" y="322263"/>
                </a:lnTo>
                <a:lnTo>
                  <a:pt x="100013" y="266700"/>
                </a:lnTo>
                <a:cubicBezTo>
                  <a:pt x="100013" y="254407"/>
                  <a:pt x="109944" y="244475"/>
                  <a:pt x="122238" y="244475"/>
                </a:cubicBezTo>
                <a:close/>
                <a:moveTo>
                  <a:pt x="66675" y="77788"/>
                </a:moveTo>
                <a:cubicBezTo>
                  <a:pt x="66675" y="71676"/>
                  <a:pt x="71676" y="66675"/>
                  <a:pt x="77788" y="66675"/>
                </a:cubicBezTo>
                <a:lnTo>
                  <a:pt x="100013" y="66675"/>
                </a:lnTo>
                <a:cubicBezTo>
                  <a:pt x="106124" y="66675"/>
                  <a:pt x="111125" y="71676"/>
                  <a:pt x="111125" y="77788"/>
                </a:cubicBezTo>
                <a:lnTo>
                  <a:pt x="111125" y="100013"/>
                </a:lnTo>
                <a:cubicBezTo>
                  <a:pt x="111125" y="106124"/>
                  <a:pt x="106124" y="111125"/>
                  <a:pt x="100013" y="111125"/>
                </a:cubicBezTo>
                <a:lnTo>
                  <a:pt x="77788" y="111125"/>
                </a:lnTo>
                <a:cubicBezTo>
                  <a:pt x="71676" y="111125"/>
                  <a:pt x="66675" y="106124"/>
                  <a:pt x="66675" y="100013"/>
                </a:cubicBezTo>
                <a:lnTo>
                  <a:pt x="66675" y="77788"/>
                </a:lnTo>
                <a:close/>
                <a:moveTo>
                  <a:pt x="166688" y="66675"/>
                </a:moveTo>
                <a:lnTo>
                  <a:pt x="188913" y="66675"/>
                </a:lnTo>
                <a:cubicBezTo>
                  <a:pt x="195024" y="66675"/>
                  <a:pt x="200025" y="71676"/>
                  <a:pt x="200025" y="77788"/>
                </a:cubicBezTo>
                <a:lnTo>
                  <a:pt x="200025" y="100013"/>
                </a:lnTo>
                <a:cubicBezTo>
                  <a:pt x="200025" y="106124"/>
                  <a:pt x="195024" y="111125"/>
                  <a:pt x="188913" y="111125"/>
                </a:cubicBezTo>
                <a:lnTo>
                  <a:pt x="166688" y="111125"/>
                </a:lnTo>
                <a:cubicBezTo>
                  <a:pt x="160576" y="111125"/>
                  <a:pt x="155575" y="106124"/>
                  <a:pt x="155575" y="100013"/>
                </a:cubicBezTo>
                <a:lnTo>
                  <a:pt x="155575" y="77788"/>
                </a:lnTo>
                <a:cubicBezTo>
                  <a:pt x="155575" y="71676"/>
                  <a:pt x="160576" y="66675"/>
                  <a:pt x="166688" y="66675"/>
                </a:cubicBezTo>
                <a:close/>
                <a:moveTo>
                  <a:pt x="66675" y="166688"/>
                </a:moveTo>
                <a:cubicBezTo>
                  <a:pt x="66675" y="160576"/>
                  <a:pt x="71676" y="155575"/>
                  <a:pt x="77788" y="155575"/>
                </a:cubicBezTo>
                <a:lnTo>
                  <a:pt x="100013" y="155575"/>
                </a:lnTo>
                <a:cubicBezTo>
                  <a:pt x="106124" y="155575"/>
                  <a:pt x="111125" y="160576"/>
                  <a:pt x="111125" y="166688"/>
                </a:cubicBezTo>
                <a:lnTo>
                  <a:pt x="111125" y="188913"/>
                </a:lnTo>
                <a:cubicBezTo>
                  <a:pt x="111125" y="195024"/>
                  <a:pt x="106124" y="200025"/>
                  <a:pt x="100013" y="200025"/>
                </a:cubicBezTo>
                <a:lnTo>
                  <a:pt x="77788" y="200025"/>
                </a:lnTo>
                <a:cubicBezTo>
                  <a:pt x="71676" y="200025"/>
                  <a:pt x="66675" y="195024"/>
                  <a:pt x="66675" y="188913"/>
                </a:cubicBezTo>
                <a:lnTo>
                  <a:pt x="66675" y="166688"/>
                </a:lnTo>
                <a:close/>
                <a:moveTo>
                  <a:pt x="166688" y="155575"/>
                </a:moveTo>
                <a:lnTo>
                  <a:pt x="188913" y="155575"/>
                </a:lnTo>
                <a:cubicBezTo>
                  <a:pt x="195024" y="155575"/>
                  <a:pt x="200025" y="160576"/>
                  <a:pt x="200025" y="166688"/>
                </a:cubicBezTo>
                <a:lnTo>
                  <a:pt x="200025" y="188913"/>
                </a:lnTo>
                <a:cubicBezTo>
                  <a:pt x="200025" y="195024"/>
                  <a:pt x="195024" y="200025"/>
                  <a:pt x="188913" y="200025"/>
                </a:cubicBezTo>
                <a:lnTo>
                  <a:pt x="166688" y="200025"/>
                </a:lnTo>
                <a:cubicBezTo>
                  <a:pt x="160576" y="200025"/>
                  <a:pt x="155575" y="195024"/>
                  <a:pt x="155575" y="188913"/>
                </a:cubicBezTo>
                <a:lnTo>
                  <a:pt x="155575" y="166688"/>
                </a:lnTo>
                <a:cubicBezTo>
                  <a:pt x="155575" y="160576"/>
                  <a:pt x="160576" y="155575"/>
                  <a:pt x="166688" y="155575"/>
                </a:cubicBezTo>
                <a:close/>
              </a:path>
            </a:pathLst>
          </a:custGeom>
          <a:solidFill>
            <a:srgbClr val="52796F"/>
          </a:solidFill>
          <a:ln/>
        </p:spPr>
      </p:sp>
      <p:sp>
        <p:nvSpPr>
          <p:cNvPr id="16" name="Text 14"/>
          <p:cNvSpPr/>
          <p:nvPr/>
        </p:nvSpPr>
        <p:spPr>
          <a:xfrm>
            <a:off x="9182100" y="28321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Unsystematic Risk (Firm-Specific)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99500" y="3403600"/>
            <a:ext cx="65405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Affects: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Individual companies or industries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Caused by: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Company factors — management, product failures, lawsuits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Diversifiable?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can be eliminated through diversification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Compensated?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extra reward for risk that can be diversified away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Also called "diversifiable" or "firm-specific" risk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985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Principle: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efficient markets, only systematic risk is priced and rewarded.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Investors should diversify away unsystematic risk — they are not compensated for bearing it.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Diversification Effect: How Many Stocks?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762000" y="1778000"/>
          <a:ext cx="812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9398000" y="1778000"/>
            <a:ext cx="6096000" cy="4572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9715500" y="20066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What Happens as You Add Stocks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715500" y="24257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9715500" y="26416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Unsystematic risk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decreases rapidly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first, then levels off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715500" y="33401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~20-30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well-chosen stocks, most unsystematic risk is gone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715500" y="40386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Systematic risk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remains constant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regardless of portfolio size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715500" y="47371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Portfolio SD approaches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n increases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715500" y="54356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Expected return stays the same — only risk decreases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6667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Implication: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concentrated portfolio (few stocks) carries high unsystematic risk that is not rewarded. A broadly diversified portfolio has mainly systematic risk, which is the only risk that earns a risk premium.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Investors should hold diversified portfolios because they are not compensated for taking unsystematic risk that can be eliminated.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17" name="Text 14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Correlation and Diversification Benefits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03400"/>
            <a:ext cx="14732000" cy="8255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03400"/>
            <a:ext cx="50800" cy="825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79600"/>
            <a:ext cx="1422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(ρ)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measures how two assets' returns move together. Range: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−1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(perfect negative) to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(perfect positive). Diversification benefit is greatest when correlation is LOW or NEGATIVE.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794000"/>
            <a:ext cx="4699000" cy="2540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2794000"/>
            <a:ext cx="4699000" cy="6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022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ρ = +1 (Perfect Positive)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4290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Assets move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perfectly together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diversification benefit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Portfolio risk = weighted average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Adding more assets doesn't help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8500" y="2794000"/>
            <a:ext cx="4699000" cy="2540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4" name="Shape 12"/>
          <p:cNvSpPr/>
          <p:nvPr/>
        </p:nvSpPr>
        <p:spPr>
          <a:xfrm>
            <a:off x="5778500" y="2794000"/>
            <a:ext cx="4699000" cy="6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032500" y="3022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ρ = 0 (No Correlation)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34290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Assets move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Significant diversification benefit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Portfolio risk &lt; weighted average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Substantial risk reduction possible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795000" y="2794000"/>
            <a:ext cx="4699000" cy="2540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0" y="2794000"/>
            <a:ext cx="4699000" cy="6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0" y="3022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ρ = −1 (Perfect Negative)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34290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Assets move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opposite each other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Maximum diversification benefit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Risk can potentially be eliminated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Theoretical ideal (rare in practice)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651500"/>
            <a:ext cx="14732000" cy="889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5715000"/>
            <a:ext cx="1422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Note: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stocks have positive correlation (0.5 to 0.8) because they all react to common market factors.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Diversification reduces risk but does not eliminate it — systematic risk always remains.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lower the correlation between assets, the greater the diversification benefit.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why combining stocks, bonds, real estate, and international assets is so powerful.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Portfolio Risk: The Formula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03400"/>
            <a:ext cx="14732000" cy="9525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03400"/>
            <a:ext cx="50800" cy="952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7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TWO-ASSET PORTFOLIO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59000"/>
            <a:ext cx="142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</a:t>
            </a:r>
            <a:pPr algn="ctr">
              <a:lnSpc>
                <a:spcPct val="100000"/>
              </a:lnSpc>
            </a:pPr>
            <a:r>
              <a:rPr lang="en-US" sz="1800" b="1" baseline="-400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√[w₁²σ₁² + w₂²σ₂² + 2w₁w₂σ₁σ₂ρ(1,2)]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857500"/>
            <a:ext cx="147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Where: w = weight, σ = standard deviation, ρ = correlation coefficient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302000"/>
            <a:ext cx="14732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3782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third term (correlation) determines the diversification benefit.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06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Numerical Example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4831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6736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Given: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Stock A (σ=15%, w=50%), Stock B (σ=20%, w=50%)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ρ = 0.3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842000"/>
            <a:ext cx="6858000" cy="1778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5842000"/>
            <a:ext cx="50800" cy="177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969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</a:t>
            </a:r>
            <a:pPr>
              <a:lnSpc>
                <a:spcPct val="160000"/>
              </a:lnSpc>
            </a:pPr>
            <a:r>
              <a:rPr lang="en-US" sz="1500" b="1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√[0.25×225 + 0.25×400 + 2×0.5×0.5×15×20×0.3]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</a:t>
            </a:r>
            <a:pPr>
              <a:lnSpc>
                <a:spcPct val="160000"/>
              </a:lnSpc>
            </a:pPr>
            <a:r>
              <a:rPr lang="en-US" sz="1500" b="1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√[56.25 + 100 + 45] = √201.25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</a:t>
            </a:r>
            <a:pPr>
              <a:lnSpc>
                <a:spcPct val="160000"/>
              </a:lnSpc>
            </a:pPr>
            <a:r>
              <a:rPr lang="en-US" sz="1500" b="1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14.2%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4064000"/>
            <a:ext cx="7112000" cy="3556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8699500" y="42926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99500" y="47117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8699500" y="4927600"/>
            <a:ext cx="6477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average risk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 diversification):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 × 15% + 0.5 × 20% =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17.5%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portfolio risk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(with diversification):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14.2%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reduced by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3.3 percentage points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for free!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4" name="Text 22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b57y3psrzhre/mnt/agents/output/risk_return/images/5_Financial_Market_Data_Analysis_Glowing.png">    </p:cNvPr>
          <p:cNvPicPr>
            <a:picLocks noChangeAspect="1"/>
          </p:cNvPicPr>
          <p:nvPr/>
        </p:nvPicPr>
        <p:blipFill>
          <a:blip r:embed="rId1"/>
          <a:srcRect l="0" r="0" t="982" b="98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4000"/>
                </a:srgbClr>
              </a:gs>
              <a:gs pos="60000">
                <a:srgbClr val="1B4332">
                  <a:alpha val="82000"/>
                </a:srgbClr>
              </a:gs>
              <a:gs pos="100000">
                <a:srgbClr val="1B4332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C9A227">
                    <a:alpha val="25098"/>
                  </a:srgbClr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683000"/>
            <a:ext cx="1016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Investor's Required Rate of Return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62000" y="4953000"/>
            <a:ext cx="1016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207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risk measurement to pricing — how markets determine the minimum return investors demand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Security Market Line (SML) Concept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52600"/>
            <a:ext cx="1473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Market Line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graphically shows the relationship between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risk (beta)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return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answers: </a:t>
            </a:r>
            <a:pPr>
              <a:lnSpc>
                <a:spcPct val="150000"/>
              </a:lnSpc>
            </a:pPr>
            <a:r>
              <a:rPr lang="en-US" sz="15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return should I require for a given level of systematic risk?"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67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Three Key Components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149600"/>
            <a:ext cx="4699000" cy="1397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3149600"/>
            <a:ext cx="4699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302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Risk-Free Rate (R</a:t>
            </a:r>
            <a:pPr>
              <a:lnSpc>
                <a:spcPct val="100000"/>
              </a:lnSpc>
            </a:pPr>
            <a:r>
              <a:rPr lang="en-US" sz="1600" b="1" baseline="-400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6576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on government securities (e.g., T-bills). The starting point of the SML — zero risk, baseline return.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3149600"/>
            <a:ext cx="4699000" cy="1397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3" name="Shape 11"/>
          <p:cNvSpPr/>
          <p:nvPr/>
        </p:nvSpPr>
        <p:spPr>
          <a:xfrm>
            <a:off x="5778500" y="3149600"/>
            <a:ext cx="4699000" cy="50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0" y="3302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Return (R</a:t>
            </a:r>
            <a:pPr>
              <a:lnSpc>
                <a:spcPct val="100000"/>
              </a:lnSpc>
            </a:pPr>
            <a:r>
              <a:rPr lang="en-US" sz="1600" b="1" baseline="-400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36576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return on the overall market portfolio (e.g., S&amp;P 500). Represents average systematic risk.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3149600"/>
            <a:ext cx="4699000" cy="1397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0" y="3149600"/>
            <a:ext cx="4699000" cy="508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3302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Beta (β)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3657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of systematic risk relative to the market. β = 1 means average risk; β &gt; 1 means above-average risk.</a:t>
            </a:r>
            <a:endParaRPr lang="en-US" sz="16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62000" y="4826000"/>
          <a:ext cx="7366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8636000" y="4826000"/>
            <a:ext cx="6858000" cy="304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19"/>
          <p:cNvSpPr/>
          <p:nvPr/>
        </p:nvSpPr>
        <p:spPr>
          <a:xfrm>
            <a:off x="8953500" y="5016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SML Characteristics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953500" y="54356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1"/>
          <p:cNvSpPr/>
          <p:nvPr/>
        </p:nvSpPr>
        <p:spPr>
          <a:xfrm>
            <a:off x="8953500" y="5651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Upward sloping: higher beta = higher required return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953500" y="6350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Y-intercept = risk-free rate (R</a:t>
            </a:r>
            <a:pPr>
              <a:lnSpc>
                <a:spcPct val="150000"/>
              </a:lnSpc>
            </a:pPr>
            <a:r>
              <a:rPr lang="en-US" sz="15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953500" y="7048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Slope = market risk premium (R</a:t>
            </a:r>
            <a:pPr>
              <a:lnSpc>
                <a:spcPct val="150000"/>
              </a:lnSpc>
            </a:pPr>
            <a:r>
              <a:rPr lang="en-US" sz="15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R</a:t>
            </a:r>
            <a:pPr>
              <a:lnSpc>
                <a:spcPct val="150000"/>
              </a:lnSpc>
            </a:pPr>
            <a:r>
              <a:rPr lang="en-US" sz="15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8" name="Text 25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CAPM: The Capital Asset Pricing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03400"/>
            <a:ext cx="14732000" cy="1079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0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CAPM FORMULA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</a:t>
            </a:r>
            <a:pPr algn="ctr">
              <a:lnSpc>
                <a:spcPct val="100000"/>
              </a:lnSpc>
            </a:pPr>
            <a:r>
              <a:rPr lang="en-US" sz="24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</a:t>
            </a:r>
            <a:pPr algn="ctr">
              <a:lnSpc>
                <a:spcPct val="100000"/>
              </a:lnSpc>
            </a:pPr>
            <a:r>
              <a:rPr lang="en-US" sz="24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β</a:t>
            </a:r>
            <a:pPr algn="ctr">
              <a:lnSpc>
                <a:spcPct val="100000"/>
              </a:lnSpc>
            </a:pPr>
            <a:r>
              <a:rPr lang="en-US" sz="24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(R</a:t>
            </a:r>
            <a:pPr algn="ctr">
              <a:lnSpc>
                <a:spcPct val="100000"/>
              </a:lnSpc>
            </a:pPr>
            <a:r>
              <a:rPr lang="en-US" sz="24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R</a:t>
            </a:r>
            <a:pPr algn="ctr">
              <a:lnSpc>
                <a:spcPct val="100000"/>
              </a:lnSpc>
            </a:pPr>
            <a:r>
              <a:rPr lang="en-US" sz="24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111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</a:t>
            </a:r>
            <a:pPr algn="ctr">
              <a:lnSpc>
                <a:spcPct val="100000"/>
              </a:lnSpc>
            </a:pPr>
            <a:r>
              <a:rPr lang="en-US" sz="1500" baseline="-400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= Expected/Required Return | R</a:t>
            </a:r>
            <a:pPr algn="ctr">
              <a:lnSpc>
                <a:spcPct val="100000"/>
              </a:lnSpc>
            </a:pPr>
            <a:r>
              <a:rPr lang="en-US" sz="1500" baseline="-400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Risk-Free Rate | β = Beta | (R</a:t>
            </a:r>
            <a:pPr algn="ctr">
              <a:lnSpc>
                <a:spcPct val="100000"/>
              </a:lnSpc>
            </a:pPr>
            <a:r>
              <a:rPr lang="en-US" sz="1500" baseline="-400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R</a:t>
            </a:r>
            <a:pPr algn="ctr">
              <a:lnSpc>
                <a:spcPct val="100000"/>
              </a:lnSpc>
            </a:pPr>
            <a:r>
              <a:rPr lang="en-US" sz="1500" baseline="-400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= Market Risk Premium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746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What CAPM Tells Us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1656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3815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risk (beta)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priced — not total risk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0546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Required return = risk-free rate + risk premium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7277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risk premium depends on beta and market premium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3746500"/>
            <a:ext cx="7112000" cy="2921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6" name="Text 14"/>
          <p:cNvSpPr/>
          <p:nvPr/>
        </p:nvSpPr>
        <p:spPr>
          <a:xfrm>
            <a:off x="8699500" y="39370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Assumptions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99500" y="43561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8699500" y="45466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Investors are rational and risk-averse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99500" y="49276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Markets are efficient and frictionless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99500" y="53086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All investors have identical expectations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99500" y="56896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taxes or transaction costs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99500" y="60706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All unsystematic risk is diversified away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6985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CAPM is the cornerstone of modern finance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 provides a consistent, quantitative link between risk and required return.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6" name="Text 24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CAPM Numerical Examples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803400"/>
            <a:ext cx="4699000" cy="2921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03400"/>
            <a:ext cx="4699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9812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3114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pPr>
              <a:lnSpc>
                <a:spcPct val="160000"/>
              </a:lnSpc>
            </a:pP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3%, β = 1.3, R</a:t>
            </a:r>
            <a:pPr>
              <a:lnSpc>
                <a:spcPct val="160000"/>
              </a:lnSpc>
            </a:pP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8%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MRP = 8% − 3% = 5%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E(R)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3% + 1.3 × 5%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3% + 6.5%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9.5%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803400"/>
            <a:ext cx="4699000" cy="2921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1" name="Shape 9"/>
          <p:cNvSpPr/>
          <p:nvPr/>
        </p:nvSpPr>
        <p:spPr>
          <a:xfrm>
            <a:off x="5778500" y="1803400"/>
            <a:ext cx="4699000" cy="50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0" y="19812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3114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pPr>
              <a:lnSpc>
                <a:spcPct val="160000"/>
              </a:lnSpc>
            </a:pP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4.5%, β = 1.35, R</a:t>
            </a:r>
            <a:pPr>
              <a:lnSpc>
                <a:spcPct val="160000"/>
              </a:lnSpc>
            </a:pP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11%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MRP = 11% − 4.5% = 6.5%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E(R)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4.5% + 1.35 × 6.5%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4.5% + 8.78%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13.28%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803400"/>
            <a:ext cx="4699000" cy="2921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0" y="1803400"/>
            <a:ext cx="4699000" cy="508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0" y="19812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3114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Comparing two stocks: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LM: β=1.2, E(R)=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13.4%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CR: β=0.9, E(R)=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10.31%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beta → higher required return, reflecting higher systematic risk.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5016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Step-by-Step CAPM Calculation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4356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57150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5715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46200" y="57150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the current risk-free rate (e.g., 10-year Treasury yield)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3500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6350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46200" y="63500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 the asset's beta (from financial data sources)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69850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6985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46200" y="69850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 the expected market return (historical average or forecast)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76200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7620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46200" y="76200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Plug into CAPM: E(R) = R</a:t>
            </a:r>
            <a:pPr>
              <a:lnSpc>
                <a:spcPct val="100000"/>
              </a:lnSpc>
            </a:pP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β × (R</a:t>
            </a:r>
            <a:pPr>
              <a:lnSpc>
                <a:spcPct val="100000"/>
              </a:lnSpc>
            </a:pP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R</a:t>
            </a:r>
            <a:pPr>
              <a:lnSpc>
                <a:spcPct val="100000"/>
              </a:lnSpc>
            </a:pPr>
            <a:r>
              <a:rPr lang="en-US" sz="1500" baseline="-40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82000" y="5016500"/>
            <a:ext cx="7112000" cy="30607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3" name="Text 31"/>
          <p:cNvSpPr/>
          <p:nvPr/>
        </p:nvSpPr>
        <p:spPr>
          <a:xfrm>
            <a:off x="8699500" y="52070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Decision Rule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99500" y="56261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/>
          <p:nvPr/>
        </p:nvSpPr>
        <p:spPr>
          <a:xfrm>
            <a:off x="8699500" y="5842000"/>
            <a:ext cx="647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Expected Return &gt; CAPM Required Return: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Investment is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attractive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(undervalued)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Expected Return &lt; CAPM Required Return: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Investment is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unattractive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(overvalued)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37" name="Text 35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Interpreting Beta Values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526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Beta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measures an asset's systematic risk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relative to the market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(market beta = 1.0).</a:t>
            </a:r>
            <a:endParaRPr lang="en-US" sz="1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86000"/>
          <a:ext cx="8890000" cy="3175000"/>
        </p:xfrm>
        <a:graphic>
          <a:graphicData uri="http://schemas.openxmlformats.org/drawingml/2006/table">
            <a:tbl>
              <a:tblPr/>
              <a:tblGrid>
                <a:gridCol w="1955800"/>
                <a:gridCol w="3378200"/>
                <a:gridCol w="3556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Beta Value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Interpretation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 Assets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β &lt; 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Moves opposite to market (rare)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Some gold stocks, inverse ETFs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β = 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correlation with market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Risk-free assets (T-bills)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 &lt; β &lt; 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Less volatile than market (defensive)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Utilities (β≈0.5-0.7), consumer staples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β = 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Moves with market (average risk)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S&amp;P 500 index, market portfolio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β &gt; 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 volatile than market (aggressive)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 (β≈1.2+), small-cap growth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57785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Using Beta in Practice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61976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63754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your portfolio beta =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1.5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the market goes up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Your portfolio should go up approximately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(1.5 × 10%)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market goes down 10%: your portfolio should go down approximately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160000" y="2286000"/>
            <a:ext cx="5334000" cy="3175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0" y="24765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Beta Quick Reference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477500" y="28956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10477500" y="31115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β = 0.5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Half as volatile as market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477500" y="35560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β = 1.0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Same as market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477500" y="40005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β = 1.5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50% more volatile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477500" y="44450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β = 2.0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Twice as volatile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477500" y="4953000"/>
            <a:ext cx="469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i="1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Beta is estimated from historical data using regression.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20" name="Text 17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914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SML, Fair Valuation, and Alpha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78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SML as a Valuation Tool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1971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438400"/>
            <a:ext cx="4699000" cy="1651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438400"/>
            <a:ext cx="4699000" cy="6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100" y="2667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27754" y="10358"/>
                </a:moveTo>
                <a:cubicBezTo>
                  <a:pt x="120313" y="2917"/>
                  <a:pt x="108228" y="2917"/>
                  <a:pt x="100786" y="10358"/>
                </a:cubicBezTo>
                <a:lnTo>
                  <a:pt x="5536" y="105608"/>
                </a:lnTo>
                <a:cubicBezTo>
                  <a:pt x="-1905" y="113050"/>
                  <a:pt x="-1905" y="125135"/>
                  <a:pt x="5536" y="132576"/>
                </a:cubicBezTo>
                <a:cubicBezTo>
                  <a:pt x="12978" y="140018"/>
                  <a:pt x="25063" y="140018"/>
                  <a:pt x="32504" y="132576"/>
                </a:cubicBezTo>
                <a:lnTo>
                  <a:pt x="95250" y="69830"/>
                </a:lnTo>
                <a:lnTo>
                  <a:pt x="95250" y="290513"/>
                </a:lnTo>
                <a:cubicBezTo>
                  <a:pt x="95250" y="301050"/>
                  <a:pt x="103763" y="309563"/>
                  <a:pt x="114300" y="309563"/>
                </a:cubicBezTo>
                <a:cubicBezTo>
                  <a:pt x="124837" y="309563"/>
                  <a:pt x="133350" y="301050"/>
                  <a:pt x="133350" y="290513"/>
                </a:cubicBezTo>
                <a:lnTo>
                  <a:pt x="133350" y="69830"/>
                </a:lnTo>
                <a:lnTo>
                  <a:pt x="196096" y="132576"/>
                </a:lnTo>
                <a:cubicBezTo>
                  <a:pt x="203537" y="140018"/>
                  <a:pt x="215622" y="140018"/>
                  <a:pt x="223064" y="132576"/>
                </a:cubicBezTo>
                <a:cubicBezTo>
                  <a:pt x="230505" y="125135"/>
                  <a:pt x="230505" y="113050"/>
                  <a:pt x="223064" y="105608"/>
                </a:cubicBezTo>
                <a:lnTo>
                  <a:pt x="127814" y="10358"/>
                </a:ln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" y="26416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Above the SML → BUY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0480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return &gt; CAPM required return. Stock is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undervalued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offering more return than justified by its risk.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8500" y="2438400"/>
            <a:ext cx="4699000" cy="1651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4" name="Shape 12"/>
          <p:cNvSpPr/>
          <p:nvPr/>
        </p:nvSpPr>
        <p:spPr>
          <a:xfrm>
            <a:off x="5778500" y="2438400"/>
            <a:ext cx="4699000" cy="6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1550" y="2667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9050" y="76200"/>
                </a:moveTo>
                <a:cubicBezTo>
                  <a:pt x="8513" y="76200"/>
                  <a:pt x="0" y="84713"/>
                  <a:pt x="0" y="95250"/>
                </a:cubicBezTo>
                <a:cubicBezTo>
                  <a:pt x="0" y="105787"/>
                  <a:pt x="8513" y="114300"/>
                  <a:pt x="19050" y="114300"/>
                </a:cubicBezTo>
                <a:lnTo>
                  <a:pt x="247650" y="114300"/>
                </a:lnTo>
                <a:cubicBezTo>
                  <a:pt x="258187" y="114300"/>
                  <a:pt x="266700" y="105787"/>
                  <a:pt x="266700" y="95250"/>
                </a:cubicBezTo>
                <a:cubicBezTo>
                  <a:pt x="266700" y="84713"/>
                  <a:pt x="258187" y="76200"/>
                  <a:pt x="247650" y="76200"/>
                </a:cubicBezTo>
                <a:lnTo>
                  <a:pt x="19050" y="76200"/>
                </a:lnTo>
                <a:close/>
                <a:moveTo>
                  <a:pt x="19050" y="190500"/>
                </a:moveTo>
                <a:cubicBezTo>
                  <a:pt x="8513" y="190500"/>
                  <a:pt x="0" y="199013"/>
                  <a:pt x="0" y="209550"/>
                </a:cubicBezTo>
                <a:cubicBezTo>
                  <a:pt x="0" y="220087"/>
                  <a:pt x="8513" y="228600"/>
                  <a:pt x="19050" y="228600"/>
                </a:cubicBezTo>
                <a:lnTo>
                  <a:pt x="247650" y="228600"/>
                </a:lnTo>
                <a:cubicBezTo>
                  <a:pt x="258187" y="228600"/>
                  <a:pt x="266700" y="220087"/>
                  <a:pt x="266700" y="209550"/>
                </a:cubicBezTo>
                <a:cubicBezTo>
                  <a:pt x="266700" y="199013"/>
                  <a:pt x="258187" y="190500"/>
                  <a:pt x="247650" y="190500"/>
                </a:cubicBezTo>
                <a:lnTo>
                  <a:pt x="19050" y="19050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300" y="26416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the SML → HOLD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30734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return = CAPM required return. Stock is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fairly valued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priced correctly for its risk level.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95000" y="2438400"/>
            <a:ext cx="4699000" cy="16510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95000" y="2438400"/>
            <a:ext cx="4699000" cy="6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87100" y="2667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480800" y="26416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Below the SML → SELL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0" y="30734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return &lt; CAPM required return. Stock is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overvalued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not compensating enough for its risk.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4419600"/>
            <a:ext cx="14732000" cy="889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4508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ALPHA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48006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α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Expected Return − CAPM Required Return | 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α = potential excess return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565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CAPM Applications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0706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Shape 26"/>
          <p:cNvSpPr/>
          <p:nvPr/>
        </p:nvSpPr>
        <p:spPr>
          <a:xfrm>
            <a:off x="744538" y="63500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57163" y="-8731"/>
                </a:moveTo>
                <a:cubicBezTo>
                  <a:pt x="166821" y="-8731"/>
                  <a:pt x="174625" y="-928"/>
                  <a:pt x="174625" y="8731"/>
                </a:cubicBezTo>
                <a:lnTo>
                  <a:pt x="174625" y="18718"/>
                </a:lnTo>
                <a:cubicBezTo>
                  <a:pt x="228158" y="26357"/>
                  <a:pt x="270505" y="68704"/>
                  <a:pt x="278145" y="122238"/>
                </a:cubicBezTo>
                <a:lnTo>
                  <a:pt x="288131" y="122238"/>
                </a:lnTo>
                <a:cubicBezTo>
                  <a:pt x="297790" y="122238"/>
                  <a:pt x="305594" y="130041"/>
                  <a:pt x="305594" y="139700"/>
                </a:cubicBezTo>
                <a:cubicBezTo>
                  <a:pt x="305594" y="149359"/>
                  <a:pt x="297790" y="157163"/>
                  <a:pt x="288131" y="157163"/>
                </a:cubicBezTo>
                <a:lnTo>
                  <a:pt x="278145" y="157163"/>
                </a:lnTo>
                <a:cubicBezTo>
                  <a:pt x="270505" y="210696"/>
                  <a:pt x="228158" y="253043"/>
                  <a:pt x="174625" y="260682"/>
                </a:cubicBezTo>
                <a:lnTo>
                  <a:pt x="174625" y="270669"/>
                </a:lnTo>
                <a:cubicBezTo>
                  <a:pt x="174625" y="280328"/>
                  <a:pt x="166821" y="288131"/>
                  <a:pt x="157163" y="288131"/>
                </a:cubicBezTo>
                <a:cubicBezTo>
                  <a:pt x="147504" y="288131"/>
                  <a:pt x="139700" y="280328"/>
                  <a:pt x="139700" y="270669"/>
                </a:cubicBezTo>
                <a:lnTo>
                  <a:pt x="139700" y="260682"/>
                </a:lnTo>
                <a:cubicBezTo>
                  <a:pt x="86167" y="253043"/>
                  <a:pt x="43820" y="210696"/>
                  <a:pt x="36180" y="157163"/>
                </a:cubicBezTo>
                <a:lnTo>
                  <a:pt x="26194" y="157163"/>
                </a:lnTo>
                <a:cubicBezTo>
                  <a:pt x="16535" y="157163"/>
                  <a:pt x="8731" y="149359"/>
                  <a:pt x="8731" y="139700"/>
                </a:cubicBezTo>
                <a:cubicBezTo>
                  <a:pt x="8731" y="130041"/>
                  <a:pt x="16535" y="122238"/>
                  <a:pt x="26194" y="122238"/>
                </a:cubicBezTo>
                <a:lnTo>
                  <a:pt x="36180" y="122238"/>
                </a:lnTo>
                <a:cubicBezTo>
                  <a:pt x="43820" y="68704"/>
                  <a:pt x="86167" y="26357"/>
                  <a:pt x="139700" y="18718"/>
                </a:cubicBezTo>
                <a:lnTo>
                  <a:pt x="139700" y="8731"/>
                </a:lnTo>
                <a:cubicBezTo>
                  <a:pt x="139700" y="-928"/>
                  <a:pt x="147504" y="-8731"/>
                  <a:pt x="157163" y="-8731"/>
                </a:cubicBezTo>
                <a:close/>
                <a:moveTo>
                  <a:pt x="71596" y="157163"/>
                </a:moveTo>
                <a:cubicBezTo>
                  <a:pt x="78527" y="191378"/>
                  <a:pt x="105484" y="218336"/>
                  <a:pt x="139700" y="225266"/>
                </a:cubicBezTo>
                <a:lnTo>
                  <a:pt x="139700" y="218281"/>
                </a:lnTo>
                <a:cubicBezTo>
                  <a:pt x="139700" y="208622"/>
                  <a:pt x="147504" y="200819"/>
                  <a:pt x="157163" y="200819"/>
                </a:cubicBezTo>
                <a:cubicBezTo>
                  <a:pt x="166821" y="200819"/>
                  <a:pt x="174625" y="208622"/>
                  <a:pt x="174625" y="218281"/>
                </a:cubicBezTo>
                <a:lnTo>
                  <a:pt x="174625" y="225266"/>
                </a:lnTo>
                <a:cubicBezTo>
                  <a:pt x="208841" y="218336"/>
                  <a:pt x="235798" y="191378"/>
                  <a:pt x="242729" y="157163"/>
                </a:cubicBezTo>
                <a:lnTo>
                  <a:pt x="235744" y="157163"/>
                </a:lnTo>
                <a:cubicBezTo>
                  <a:pt x="226085" y="157163"/>
                  <a:pt x="218281" y="149359"/>
                  <a:pt x="218281" y="139700"/>
                </a:cubicBezTo>
                <a:cubicBezTo>
                  <a:pt x="218281" y="130041"/>
                  <a:pt x="226085" y="122238"/>
                  <a:pt x="235744" y="122238"/>
                </a:cubicBezTo>
                <a:lnTo>
                  <a:pt x="242729" y="122238"/>
                </a:lnTo>
                <a:cubicBezTo>
                  <a:pt x="235798" y="88022"/>
                  <a:pt x="208841" y="61064"/>
                  <a:pt x="174625" y="54134"/>
                </a:cubicBezTo>
                <a:lnTo>
                  <a:pt x="174625" y="61119"/>
                </a:lnTo>
                <a:cubicBezTo>
                  <a:pt x="174625" y="70778"/>
                  <a:pt x="166821" y="78581"/>
                  <a:pt x="157163" y="78581"/>
                </a:cubicBezTo>
                <a:cubicBezTo>
                  <a:pt x="147504" y="78581"/>
                  <a:pt x="139700" y="70778"/>
                  <a:pt x="139700" y="61119"/>
                </a:cubicBezTo>
                <a:lnTo>
                  <a:pt x="139700" y="54134"/>
                </a:lnTo>
                <a:cubicBezTo>
                  <a:pt x="105484" y="61064"/>
                  <a:pt x="78527" y="88022"/>
                  <a:pt x="71596" y="122238"/>
                </a:cubicBezTo>
                <a:lnTo>
                  <a:pt x="78581" y="122238"/>
                </a:lnTo>
                <a:cubicBezTo>
                  <a:pt x="88240" y="122238"/>
                  <a:pt x="96044" y="130041"/>
                  <a:pt x="96044" y="139700"/>
                </a:cubicBezTo>
                <a:cubicBezTo>
                  <a:pt x="96044" y="149359"/>
                  <a:pt x="88240" y="157163"/>
                  <a:pt x="78581" y="157163"/>
                </a:cubicBezTo>
                <a:lnTo>
                  <a:pt x="71596" y="157163"/>
                </a:lnTo>
                <a:close/>
                <a:moveTo>
                  <a:pt x="157163" y="113506"/>
                </a:moveTo>
                <a:cubicBezTo>
                  <a:pt x="171619" y="113506"/>
                  <a:pt x="183356" y="125243"/>
                  <a:pt x="183356" y="139700"/>
                </a:cubicBezTo>
                <a:cubicBezTo>
                  <a:pt x="183356" y="154157"/>
                  <a:pt x="171619" y="165894"/>
                  <a:pt x="157163" y="165894"/>
                </a:cubicBezTo>
                <a:cubicBezTo>
                  <a:pt x="142706" y="165894"/>
                  <a:pt x="130969" y="154157"/>
                  <a:pt x="130969" y="139700"/>
                </a:cubicBezTo>
                <a:cubicBezTo>
                  <a:pt x="130969" y="125243"/>
                  <a:pt x="142706" y="113506"/>
                  <a:pt x="157163" y="11350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1168400" y="6324600"/>
            <a:ext cx="609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Setting hurdle rates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capital budgeting decisions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7075" y="6794500"/>
            <a:ext cx="349250" cy="279400"/>
          </a:xfrm>
          <a:custGeom>
            <a:avLst/>
            <a:gdLst/>
            <a:ahLst/>
            <a:cxnLst/>
            <a:rect l="l" t="t" r="r" b="b"/>
            <a:pathLst>
              <a:path w="349250" h="279400">
                <a:moveTo>
                  <a:pt x="209550" y="17463"/>
                </a:moveTo>
                <a:lnTo>
                  <a:pt x="279400" y="17463"/>
                </a:lnTo>
                <a:cubicBezTo>
                  <a:pt x="289059" y="17463"/>
                  <a:pt x="296863" y="25266"/>
                  <a:pt x="296863" y="34925"/>
                </a:cubicBezTo>
                <a:cubicBezTo>
                  <a:pt x="296863" y="44584"/>
                  <a:pt x="289059" y="52388"/>
                  <a:pt x="279400" y="52388"/>
                </a:cubicBezTo>
                <a:lnTo>
                  <a:pt x="217408" y="52388"/>
                </a:lnTo>
                <a:cubicBezTo>
                  <a:pt x="214570" y="66467"/>
                  <a:pt x="204912" y="78090"/>
                  <a:pt x="192088" y="83656"/>
                </a:cubicBezTo>
                <a:lnTo>
                  <a:pt x="192088" y="244475"/>
                </a:lnTo>
                <a:lnTo>
                  <a:pt x="279400" y="244475"/>
                </a:lnTo>
                <a:cubicBezTo>
                  <a:pt x="289059" y="244475"/>
                  <a:pt x="296863" y="252279"/>
                  <a:pt x="296863" y="261938"/>
                </a:cubicBezTo>
                <a:cubicBezTo>
                  <a:pt x="296863" y="271596"/>
                  <a:pt x="289059" y="279400"/>
                  <a:pt x="279400" y="279400"/>
                </a:cubicBezTo>
                <a:lnTo>
                  <a:pt x="69850" y="279400"/>
                </a:lnTo>
                <a:cubicBezTo>
                  <a:pt x="60191" y="279400"/>
                  <a:pt x="52388" y="271596"/>
                  <a:pt x="52388" y="261938"/>
                </a:cubicBezTo>
                <a:cubicBezTo>
                  <a:pt x="52388" y="252279"/>
                  <a:pt x="60191" y="244475"/>
                  <a:pt x="69850" y="244475"/>
                </a:cubicBezTo>
                <a:lnTo>
                  <a:pt x="157163" y="244475"/>
                </a:lnTo>
                <a:lnTo>
                  <a:pt x="157163" y="83656"/>
                </a:lnTo>
                <a:cubicBezTo>
                  <a:pt x="144338" y="78036"/>
                  <a:pt x="134680" y="66412"/>
                  <a:pt x="131842" y="52388"/>
                </a:cubicBezTo>
                <a:lnTo>
                  <a:pt x="69850" y="52388"/>
                </a:lnTo>
                <a:cubicBezTo>
                  <a:pt x="60191" y="52388"/>
                  <a:pt x="52388" y="44584"/>
                  <a:pt x="52388" y="34925"/>
                </a:cubicBezTo>
                <a:cubicBezTo>
                  <a:pt x="52388" y="25266"/>
                  <a:pt x="60191" y="17463"/>
                  <a:pt x="69850" y="17463"/>
                </a:cubicBezTo>
                <a:lnTo>
                  <a:pt x="139700" y="17463"/>
                </a:lnTo>
                <a:cubicBezTo>
                  <a:pt x="147667" y="6876"/>
                  <a:pt x="160328" y="0"/>
                  <a:pt x="174625" y="0"/>
                </a:cubicBezTo>
                <a:cubicBezTo>
                  <a:pt x="188922" y="0"/>
                  <a:pt x="201583" y="6876"/>
                  <a:pt x="209550" y="17463"/>
                </a:cubicBezTo>
                <a:close/>
                <a:moveTo>
                  <a:pt x="239891" y="174625"/>
                </a:moveTo>
                <a:lnTo>
                  <a:pt x="318909" y="174625"/>
                </a:lnTo>
                <a:lnTo>
                  <a:pt x="279400" y="106849"/>
                </a:lnTo>
                <a:lnTo>
                  <a:pt x="239891" y="174625"/>
                </a:lnTo>
                <a:close/>
                <a:moveTo>
                  <a:pt x="279400" y="227013"/>
                </a:moveTo>
                <a:cubicBezTo>
                  <a:pt x="245075" y="227013"/>
                  <a:pt x="216535" y="208459"/>
                  <a:pt x="210641" y="183957"/>
                </a:cubicBezTo>
                <a:cubicBezTo>
                  <a:pt x="209223" y="177954"/>
                  <a:pt x="211187" y="171787"/>
                  <a:pt x="214298" y="166439"/>
                </a:cubicBezTo>
                <a:lnTo>
                  <a:pt x="266249" y="77381"/>
                </a:lnTo>
                <a:cubicBezTo>
                  <a:pt x="268977" y="72688"/>
                  <a:pt x="273998" y="69850"/>
                  <a:pt x="279400" y="69850"/>
                </a:cubicBezTo>
                <a:cubicBezTo>
                  <a:pt x="284802" y="69850"/>
                  <a:pt x="289823" y="72742"/>
                  <a:pt x="292551" y="77381"/>
                </a:cubicBezTo>
                <a:lnTo>
                  <a:pt x="344502" y="166439"/>
                </a:lnTo>
                <a:cubicBezTo>
                  <a:pt x="347613" y="171787"/>
                  <a:pt x="349577" y="177954"/>
                  <a:pt x="348159" y="183957"/>
                </a:cubicBezTo>
                <a:cubicBezTo>
                  <a:pt x="342265" y="208404"/>
                  <a:pt x="313725" y="227013"/>
                  <a:pt x="279400" y="227013"/>
                </a:cubicBezTo>
                <a:close/>
                <a:moveTo>
                  <a:pt x="69195" y="106849"/>
                </a:moveTo>
                <a:lnTo>
                  <a:pt x="29686" y="174625"/>
                </a:lnTo>
                <a:lnTo>
                  <a:pt x="108759" y="174625"/>
                </a:lnTo>
                <a:lnTo>
                  <a:pt x="69195" y="106849"/>
                </a:lnTo>
                <a:close/>
                <a:moveTo>
                  <a:pt x="491" y="183957"/>
                </a:moveTo>
                <a:cubicBezTo>
                  <a:pt x="-928" y="177954"/>
                  <a:pt x="1037" y="171787"/>
                  <a:pt x="4147" y="166439"/>
                </a:cubicBezTo>
                <a:lnTo>
                  <a:pt x="56098" y="77381"/>
                </a:lnTo>
                <a:cubicBezTo>
                  <a:pt x="58827" y="72688"/>
                  <a:pt x="63847" y="69850"/>
                  <a:pt x="69250" y="69850"/>
                </a:cubicBezTo>
                <a:cubicBezTo>
                  <a:pt x="74652" y="69850"/>
                  <a:pt x="79673" y="72742"/>
                  <a:pt x="82401" y="77381"/>
                </a:cubicBezTo>
                <a:lnTo>
                  <a:pt x="134352" y="166439"/>
                </a:lnTo>
                <a:cubicBezTo>
                  <a:pt x="137463" y="171787"/>
                  <a:pt x="139427" y="177954"/>
                  <a:pt x="138008" y="183957"/>
                </a:cubicBezTo>
                <a:cubicBezTo>
                  <a:pt x="132115" y="208404"/>
                  <a:pt x="103574" y="227013"/>
                  <a:pt x="69250" y="227013"/>
                </a:cubicBezTo>
                <a:cubicBezTo>
                  <a:pt x="34925" y="227013"/>
                  <a:pt x="6385" y="208459"/>
                  <a:pt x="491" y="18395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1168400" y="6769100"/>
            <a:ext cx="609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Estimating cost of equity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WACC calculations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7239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7463" y="17463"/>
                </a:moveTo>
                <a:cubicBezTo>
                  <a:pt x="27121" y="17463"/>
                  <a:pt x="34925" y="25266"/>
                  <a:pt x="34925" y="34925"/>
                </a:cubicBezTo>
                <a:lnTo>
                  <a:pt x="34925" y="218281"/>
                </a:lnTo>
                <a:cubicBezTo>
                  <a:pt x="34925" y="223083"/>
                  <a:pt x="38854" y="227013"/>
                  <a:pt x="43656" y="227013"/>
                </a:cubicBezTo>
                <a:lnTo>
                  <a:pt x="261938" y="227013"/>
                </a:lnTo>
                <a:cubicBezTo>
                  <a:pt x="271596" y="227013"/>
                  <a:pt x="279400" y="234816"/>
                  <a:pt x="279400" y="244475"/>
                </a:cubicBezTo>
                <a:cubicBezTo>
                  <a:pt x="279400" y="254134"/>
                  <a:pt x="271596" y="261938"/>
                  <a:pt x="261938" y="261938"/>
                </a:cubicBezTo>
                <a:lnTo>
                  <a:pt x="43656" y="261938"/>
                </a:lnTo>
                <a:cubicBezTo>
                  <a:pt x="19536" y="261938"/>
                  <a:pt x="0" y="242401"/>
                  <a:pt x="0" y="218281"/>
                </a:cubicBezTo>
                <a:lnTo>
                  <a:pt x="0" y="34925"/>
                </a:lnTo>
                <a:cubicBezTo>
                  <a:pt x="0" y="25266"/>
                  <a:pt x="7804" y="17463"/>
                  <a:pt x="17463" y="17463"/>
                </a:cubicBezTo>
                <a:close/>
                <a:moveTo>
                  <a:pt x="69850" y="52388"/>
                </a:moveTo>
                <a:cubicBezTo>
                  <a:pt x="69850" y="42729"/>
                  <a:pt x="77654" y="34925"/>
                  <a:pt x="87313" y="34925"/>
                </a:cubicBezTo>
                <a:lnTo>
                  <a:pt x="192088" y="34925"/>
                </a:lnTo>
                <a:cubicBezTo>
                  <a:pt x="201746" y="34925"/>
                  <a:pt x="209550" y="42729"/>
                  <a:pt x="209550" y="52388"/>
                </a:cubicBezTo>
                <a:cubicBezTo>
                  <a:pt x="209550" y="62046"/>
                  <a:pt x="201746" y="69850"/>
                  <a:pt x="192088" y="69850"/>
                </a:cubicBezTo>
                <a:lnTo>
                  <a:pt x="87313" y="69850"/>
                </a:lnTo>
                <a:cubicBezTo>
                  <a:pt x="77654" y="69850"/>
                  <a:pt x="69850" y="62046"/>
                  <a:pt x="69850" y="52388"/>
                </a:cubicBezTo>
                <a:close/>
                <a:moveTo>
                  <a:pt x="87313" y="96044"/>
                </a:moveTo>
                <a:lnTo>
                  <a:pt x="157163" y="96044"/>
                </a:lnTo>
                <a:cubicBezTo>
                  <a:pt x="166821" y="96044"/>
                  <a:pt x="174625" y="103847"/>
                  <a:pt x="174625" y="113506"/>
                </a:cubicBezTo>
                <a:cubicBezTo>
                  <a:pt x="174625" y="123165"/>
                  <a:pt x="166821" y="130969"/>
                  <a:pt x="157163" y="130969"/>
                </a:cubicBezTo>
                <a:lnTo>
                  <a:pt x="87313" y="130969"/>
                </a:lnTo>
                <a:cubicBezTo>
                  <a:pt x="77654" y="130969"/>
                  <a:pt x="69850" y="123165"/>
                  <a:pt x="69850" y="113506"/>
                </a:cubicBezTo>
                <a:cubicBezTo>
                  <a:pt x="69850" y="103847"/>
                  <a:pt x="77654" y="96044"/>
                  <a:pt x="87313" y="96044"/>
                </a:cubicBezTo>
                <a:close/>
                <a:moveTo>
                  <a:pt x="87313" y="157163"/>
                </a:moveTo>
                <a:lnTo>
                  <a:pt x="227013" y="157163"/>
                </a:lnTo>
                <a:cubicBezTo>
                  <a:pt x="236671" y="157163"/>
                  <a:pt x="244475" y="164966"/>
                  <a:pt x="244475" y="174625"/>
                </a:cubicBezTo>
                <a:cubicBezTo>
                  <a:pt x="244475" y="184284"/>
                  <a:pt x="236671" y="192088"/>
                  <a:pt x="227013" y="192088"/>
                </a:cubicBezTo>
                <a:lnTo>
                  <a:pt x="87313" y="192088"/>
                </a:lnTo>
                <a:cubicBezTo>
                  <a:pt x="77654" y="192088"/>
                  <a:pt x="69850" y="184284"/>
                  <a:pt x="69850" y="174625"/>
                </a:cubicBezTo>
                <a:cubicBezTo>
                  <a:pt x="69850" y="164966"/>
                  <a:pt x="77654" y="157163"/>
                  <a:pt x="87313" y="15716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1168400" y="7213600"/>
            <a:ext cx="609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evaluation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portfolio managers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7683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27013" y="113506"/>
                </a:moveTo>
                <a:cubicBezTo>
                  <a:pt x="227013" y="138554"/>
                  <a:pt x="218882" y="161692"/>
                  <a:pt x="205184" y="180464"/>
                </a:cubicBezTo>
                <a:lnTo>
                  <a:pt x="274270" y="249605"/>
                </a:lnTo>
                <a:cubicBezTo>
                  <a:pt x="281092" y="256426"/>
                  <a:pt x="281092" y="267504"/>
                  <a:pt x="274270" y="274325"/>
                </a:cubicBezTo>
                <a:cubicBezTo>
                  <a:pt x="267449" y="281146"/>
                  <a:pt x="256371" y="281146"/>
                  <a:pt x="249550" y="274325"/>
                </a:cubicBezTo>
                <a:lnTo>
                  <a:pt x="180464" y="205184"/>
                </a:lnTo>
                <a:cubicBezTo>
                  <a:pt x="161692" y="218882"/>
                  <a:pt x="138554" y="227013"/>
                  <a:pt x="113506" y="227013"/>
                </a:cubicBezTo>
                <a:cubicBezTo>
                  <a:pt x="50805" y="227013"/>
                  <a:pt x="0" y="176208"/>
                  <a:pt x="0" y="113506"/>
                </a:cubicBezTo>
                <a:cubicBezTo>
                  <a:pt x="0" y="50805"/>
                  <a:pt x="50805" y="0"/>
                  <a:pt x="113506" y="0"/>
                </a:cubicBezTo>
                <a:cubicBezTo>
                  <a:pt x="176208" y="0"/>
                  <a:pt x="227013" y="50805"/>
                  <a:pt x="227013" y="113506"/>
                </a:cubicBezTo>
                <a:close/>
                <a:moveTo>
                  <a:pt x="115689" y="52388"/>
                </a:moveTo>
                <a:cubicBezTo>
                  <a:pt x="109686" y="52388"/>
                  <a:pt x="104775" y="57299"/>
                  <a:pt x="104775" y="63302"/>
                </a:cubicBezTo>
                <a:lnTo>
                  <a:pt x="104775" y="65484"/>
                </a:lnTo>
                <a:cubicBezTo>
                  <a:pt x="89059" y="65648"/>
                  <a:pt x="76398" y="78418"/>
                  <a:pt x="76398" y="94134"/>
                </a:cubicBezTo>
                <a:cubicBezTo>
                  <a:pt x="76398" y="108158"/>
                  <a:pt x="86494" y="120109"/>
                  <a:pt x="100355" y="122401"/>
                </a:cubicBezTo>
                <a:lnTo>
                  <a:pt x="123111" y="126221"/>
                </a:lnTo>
                <a:cubicBezTo>
                  <a:pt x="126385" y="126767"/>
                  <a:pt x="128786" y="129604"/>
                  <a:pt x="128786" y="132933"/>
                </a:cubicBezTo>
                <a:cubicBezTo>
                  <a:pt x="128786" y="136699"/>
                  <a:pt x="125730" y="139755"/>
                  <a:pt x="121965" y="139755"/>
                </a:cubicBezTo>
                <a:lnTo>
                  <a:pt x="91678" y="139700"/>
                </a:lnTo>
                <a:cubicBezTo>
                  <a:pt x="85675" y="139700"/>
                  <a:pt x="80764" y="144611"/>
                  <a:pt x="80764" y="150614"/>
                </a:cubicBezTo>
                <a:cubicBezTo>
                  <a:pt x="80764" y="156617"/>
                  <a:pt x="85675" y="161528"/>
                  <a:pt x="91678" y="161528"/>
                </a:cubicBezTo>
                <a:lnTo>
                  <a:pt x="104775" y="161528"/>
                </a:lnTo>
                <a:lnTo>
                  <a:pt x="104775" y="163711"/>
                </a:lnTo>
                <a:cubicBezTo>
                  <a:pt x="104775" y="169714"/>
                  <a:pt x="109686" y="174625"/>
                  <a:pt x="115689" y="174625"/>
                </a:cubicBezTo>
                <a:cubicBezTo>
                  <a:pt x="121692" y="174625"/>
                  <a:pt x="126603" y="169714"/>
                  <a:pt x="126603" y="163711"/>
                </a:cubicBezTo>
                <a:lnTo>
                  <a:pt x="126603" y="161146"/>
                </a:lnTo>
                <a:cubicBezTo>
                  <a:pt x="140246" y="158909"/>
                  <a:pt x="150614" y="147122"/>
                  <a:pt x="150614" y="132879"/>
                </a:cubicBezTo>
                <a:cubicBezTo>
                  <a:pt x="150614" y="118854"/>
                  <a:pt x="140519" y="106903"/>
                  <a:pt x="126658" y="104611"/>
                </a:cubicBezTo>
                <a:lnTo>
                  <a:pt x="103902" y="100791"/>
                </a:lnTo>
                <a:cubicBezTo>
                  <a:pt x="100628" y="100246"/>
                  <a:pt x="98227" y="97408"/>
                  <a:pt x="98227" y="94079"/>
                </a:cubicBezTo>
                <a:cubicBezTo>
                  <a:pt x="98227" y="90314"/>
                  <a:pt x="101283" y="87258"/>
                  <a:pt x="105048" y="87258"/>
                </a:cubicBezTo>
                <a:lnTo>
                  <a:pt x="130969" y="87258"/>
                </a:lnTo>
                <a:cubicBezTo>
                  <a:pt x="136971" y="87258"/>
                  <a:pt x="141883" y="82347"/>
                  <a:pt x="141883" y="76344"/>
                </a:cubicBezTo>
                <a:cubicBezTo>
                  <a:pt x="141883" y="70341"/>
                  <a:pt x="136971" y="65430"/>
                  <a:pt x="130969" y="65430"/>
                </a:cubicBezTo>
                <a:lnTo>
                  <a:pt x="126603" y="65430"/>
                </a:lnTo>
                <a:lnTo>
                  <a:pt x="126603" y="63247"/>
                </a:lnTo>
                <a:cubicBezTo>
                  <a:pt x="126603" y="57244"/>
                  <a:pt x="121692" y="52333"/>
                  <a:pt x="115689" y="5233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5" name="Text 33"/>
          <p:cNvSpPr/>
          <p:nvPr/>
        </p:nvSpPr>
        <p:spPr>
          <a:xfrm>
            <a:off x="1168400" y="7658100"/>
            <a:ext cx="609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Identifying mispriced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securities for alpha generation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82000" y="5651500"/>
            <a:ext cx="7112000" cy="233680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37" name="Text 35"/>
          <p:cNvSpPr/>
          <p:nvPr/>
        </p:nvSpPr>
        <p:spPr>
          <a:xfrm>
            <a:off x="8699500" y="58166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433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Alpha Interpretation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99500" y="6235700"/>
            <a:ext cx="508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8699500" y="64516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α &gt; 0: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Manager outperformed — generated excess return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99500" y="71501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α &lt; 0: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Manager underperformed — failed to earn required return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D4CFC7"/>
          </a:solidFill>
          <a:ln/>
        </p:spPr>
      </p:sp>
      <p:sp>
        <p:nvSpPr>
          <p:cNvPr id="42" name="Text 40"/>
          <p:cNvSpPr/>
          <p:nvPr/>
        </p:nvSpPr>
        <p:spPr>
          <a:xfrm>
            <a:off x="14732000" y="8445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b57y3psrzhre/mnt/agents/output/risk_return/images/3_391_346_Green_Financial_Background.png">    </p:cNvPr>
          <p:cNvPicPr>
            <a:picLocks noChangeAspect="1"/>
          </p:cNvPicPr>
          <p:nvPr/>
        </p:nvPicPr>
        <p:blipFill>
          <a:blip r:embed="rId1"/>
          <a:srcRect l="11709" r="11709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0"/>
                </a:srgbClr>
              </a:gs>
              <a:gs pos="30000">
                <a:srgbClr val="1B4332">
                  <a:alpha val="75000"/>
                </a:srgbClr>
              </a:gs>
              <a:gs pos="100000">
                <a:srgbClr val="1B4332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1270000"/>
            <a:ext cx="1270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"Risk and return are two sides of the same coin. Understanding how to measure both — and how diversification transforms risk — is the foundation of intelligent investing."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2603500"/>
            <a:ext cx="2540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3"/>
          <p:cNvSpPr/>
          <p:nvPr/>
        </p:nvSpPr>
        <p:spPr>
          <a:xfrm>
            <a:off x="5588000" y="2857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70000" y="3429000"/>
            <a:ext cx="4318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397000" y="3492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68500" y="35560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Return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probability-weighted average of possible outcomes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69000" y="3429000"/>
            <a:ext cx="4318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096000" y="3492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67500" y="35560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Standard Deviation and Coefficient of Variation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668000" y="3429000"/>
            <a:ext cx="4318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795000" y="3492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366500" y="35560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Diversification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eliminates unsystematic risk for free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619500" y="4762500"/>
            <a:ext cx="4318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746500" y="4826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318000" y="4889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CAPM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prices only systematic risk via beta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18500" y="4762500"/>
            <a:ext cx="4318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445500" y="4826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C9A22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017000" y="48895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Return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</a:t>
            </a:r>
            <a:pPr>
              <a:lnSpc>
                <a:spcPct val="150000"/>
              </a:lnSpc>
            </a:pPr>
            <a:r>
              <a:rPr lang="en-US" sz="14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β × Market Risk Premium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540000" y="6223000"/>
            <a:ext cx="11176000" cy="698500"/>
          </a:xfrm>
          <a:prstGeom prst="rect">
            <a:avLst/>
          </a:prstGeom>
          <a:solidFill>
            <a:srgbClr val="C9A227">
              <a:alpha val="18824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2794000" y="6324600"/>
            <a:ext cx="1066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E(R</a:t>
            </a:r>
            <a:pPr algn="ctr">
              <a:lnSpc>
                <a:spcPct val="100000"/>
              </a:lnSpc>
            </a:pPr>
            <a:r>
              <a:rPr lang="en-US" sz="2000" b="1" baseline="-40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</a:t>
            </a:r>
            <a:pPr algn="ctr">
              <a:lnSpc>
                <a:spcPct val="100000"/>
              </a:lnSpc>
            </a:pPr>
            <a:r>
              <a:rPr lang="en-US" sz="2000" baseline="-40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β</a:t>
            </a:r>
            <a:pPr algn="ctr">
              <a:lnSpc>
                <a:spcPct val="100000"/>
              </a:lnSpc>
            </a:pPr>
            <a:r>
              <a:rPr lang="en-US" sz="2000" baseline="-40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(R</a:t>
            </a:r>
            <a:pPr algn="ctr">
              <a:lnSpc>
                <a:spcPct val="100000"/>
              </a:lnSpc>
            </a:pPr>
            <a:r>
              <a:rPr lang="en-US" sz="2000" baseline="-40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R</a:t>
            </a:r>
            <a:pPr algn="ctr">
              <a:lnSpc>
                <a:spcPct val="100000"/>
              </a:lnSpc>
            </a:pPr>
            <a:r>
              <a:rPr lang="en-US" sz="2000" baseline="-40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318000" y="736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18000" y="8001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7-8 | INVESTMENT PRINCIPLES &amp; PORTFOLIO THEORY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Meaning and Measurement of Risk and Return</dc:title>
  <dc:subject>The Meaning and Measurement of Risk and Return</dc:subject>
  <dc:creator>Kimi</dc:creator>
  <cp:lastModifiedBy>Kimi</cp:lastModifiedBy>
  <cp:revision>1</cp:revision>
  <dcterms:created xsi:type="dcterms:W3CDTF">2026-05-22T04:43:33Z</dcterms:created>
  <dcterms:modified xsi:type="dcterms:W3CDTF">2026-05-22T04:43:33Z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Meaning and Measurement of Risk and Return","ContentProducer":"001191110108MACG2KBH8F10000","ProduceID":"19e4dfcd-a9d2-8576-8000-0000b3794cd7","ReservedCode1":"","ContentPropagator":"001191110108MACG2KBH8F20000","PropagateID":"19e4dfcd-a9d2-8576-8000-0000b3794cd7","ReservedCode2":""}</vt:lpwstr>
  </property>
</Properties>
</file>