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pic>
        <p:nvPicPr>
          <p:cNvPr id="4" name="Image 0" descr="https://kimi-img.moonshot.cn/pub/slides/okc/laefijdbbwore/mnt/agents/output/nlp-stages/images/4_NLP_Natural_language_processing_cogni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0" y="2032000"/>
            <a:ext cx="5334000" cy="4318000"/>
          </a:xfrm>
          <a:prstGeom prst="roundRect">
            <a:avLst>
              <a:gd name="adj" fmla="val 8000"/>
            </a:avLst>
          </a:prstGeom>
          <a:effectLst>
            <a:outerShdw sx="100000" sy="100000" kx="0" ky="0" algn="bl" rotWithShape="0" blurRad="203200" dist="76200" dir="5400000">
              <a:srgbClr val="000000">
                <a:alpha val="12549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016000" y="2540000"/>
            <a:ext cx="838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</a:t>
            </a:r>
            <a:endParaRPr lang="en-US" sz="6800" dirty="0"/>
          </a:p>
          <a:p>
            <a:pPr algn="l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I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1016000" y="4826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Stages of Linguistic Analysis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016000" y="5461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715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10 · Lectures 17 &amp; 18 · NLP Fundamentals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476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NLP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3492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L17: Surface-Level Processing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064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Phonetics · Graphetics · Lexical Analysis · Morphology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4000" y="482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4762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482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L18: Deep-Level Processing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334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Semantics · Pragmatics · Discourse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24000" y="609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6032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609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Applications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NLP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the foundations and levels of linguistic analysis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Natural Language Processing?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is a branch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and Linguistics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devoted to making computers understand human language.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Core Components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NLU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Natural Language Understanding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Natural Language Generation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Milestones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1950s — Alan Turing's foundational work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1960s — Chomsky's formal language theory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1990s+ — Probabilistic models &amp; ML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3175000" cy="254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250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3048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36000" y="3492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text through linguistic analysis at multiple levels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11000" y="2032000"/>
            <a:ext cx="3175000" cy="254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9540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44698" y="32266"/>
                </a:moveTo>
                <a:cubicBezTo>
                  <a:pt x="462558" y="11787"/>
                  <a:pt x="488394" y="0"/>
                  <a:pt x="515660" y="0"/>
                </a:cubicBezTo>
                <a:cubicBezTo>
                  <a:pt x="567571" y="0"/>
                  <a:pt x="609719" y="42148"/>
                  <a:pt x="609719" y="94059"/>
                </a:cubicBezTo>
                <a:cubicBezTo>
                  <a:pt x="609719" y="121206"/>
                  <a:pt x="597932" y="147161"/>
                  <a:pt x="577453" y="165021"/>
                </a:cubicBezTo>
                <a:lnTo>
                  <a:pt x="337780" y="373618"/>
                </a:lnTo>
                <a:lnTo>
                  <a:pt x="325041" y="360759"/>
                </a:lnTo>
                <a:lnTo>
                  <a:pt x="248841" y="284559"/>
                </a:lnTo>
                <a:lnTo>
                  <a:pt x="235982" y="271820"/>
                </a:lnTo>
                <a:lnTo>
                  <a:pt x="444698" y="32266"/>
                </a:lnTo>
                <a:close/>
                <a:moveTo>
                  <a:pt x="191810" y="308372"/>
                </a:moveTo>
                <a:cubicBezTo>
                  <a:pt x="192881" y="309563"/>
                  <a:pt x="223838" y="340519"/>
                  <a:pt x="284559" y="401241"/>
                </a:cubicBezTo>
                <a:lnTo>
                  <a:pt x="301109" y="417790"/>
                </a:lnTo>
                <a:lnTo>
                  <a:pt x="280749" y="506135"/>
                </a:lnTo>
                <a:cubicBezTo>
                  <a:pt x="276106" y="526494"/>
                  <a:pt x="260628" y="542687"/>
                  <a:pt x="240506" y="548283"/>
                </a:cubicBezTo>
                <a:lnTo>
                  <a:pt x="38338" y="604837"/>
                </a:lnTo>
                <a:lnTo>
                  <a:pt x="148233" y="494943"/>
                </a:lnTo>
                <a:cubicBezTo>
                  <a:pt x="149662" y="495062"/>
                  <a:pt x="150971" y="495181"/>
                  <a:pt x="152400" y="495181"/>
                </a:cubicBezTo>
                <a:cubicBezTo>
                  <a:pt x="173474" y="495181"/>
                  <a:pt x="190500" y="478155"/>
                  <a:pt x="190500" y="457081"/>
                </a:cubicBezTo>
                <a:cubicBezTo>
                  <a:pt x="190500" y="436007"/>
                  <a:pt x="173474" y="418981"/>
                  <a:pt x="152400" y="418981"/>
                </a:cubicBezTo>
                <a:cubicBezTo>
                  <a:pt x="131326" y="418981"/>
                  <a:pt x="114300" y="436007"/>
                  <a:pt x="114300" y="457081"/>
                </a:cubicBezTo>
                <a:cubicBezTo>
                  <a:pt x="114300" y="458510"/>
                  <a:pt x="114419" y="459938"/>
                  <a:pt x="114538" y="461248"/>
                </a:cubicBezTo>
                <a:lnTo>
                  <a:pt x="4643" y="571262"/>
                </a:lnTo>
                <a:lnTo>
                  <a:pt x="61317" y="369094"/>
                </a:lnTo>
                <a:cubicBezTo>
                  <a:pt x="66913" y="348972"/>
                  <a:pt x="83106" y="333494"/>
                  <a:pt x="103465" y="328851"/>
                </a:cubicBezTo>
                <a:lnTo>
                  <a:pt x="191810" y="30837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2065000" y="3048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065000" y="3492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Generating meaningful phrases, sentences, and paragraphs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4953000"/>
            <a:ext cx="6604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8763000" y="52070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"NLP caters to users who do not have enough time to learn new languages or get perfection in them."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Seven Levels of Linguistic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0800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5486400"/>
                <a:gridCol w="493776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Level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Focus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Tasks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Phonological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Pronunciation and speech sounds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Speech recognition, phoneme identification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Morphological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Word formation from morphemes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Stemming, lemmatization, POS tagging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Lexical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Words and their categories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Tokenization, lexicon lookup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Syntactic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Grammar and sentence structure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Parsing, grammar checking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 of words and sentences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WSD, NER, semantic roles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Discourse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Text structure across sentences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Anaphora resolution, coherence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Pragmatic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Context and real-world intent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Speech acts, figurative language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239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7302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Hierarchy from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surface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(sounds/writing) to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(meaning/context) processing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Speech to Meaning: The NLP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286000"/>
            <a:ext cx="1524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2860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667000" y="2286000"/>
            <a:ext cx="1524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0" y="2286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Phonetic/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Graphetic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91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Tokeni-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69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350000" y="2286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0" y="22860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Morpho-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47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128000" y="2286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8128000" y="22860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Lexical /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25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9906000" y="2286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22860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Syntactic /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303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684000" y="2286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23" name="Text 21"/>
          <p:cNvSpPr/>
          <p:nvPr/>
        </p:nvSpPr>
        <p:spPr>
          <a:xfrm>
            <a:off x="11684000" y="2476500"/>
            <a:ext cx="13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081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3462000" y="2286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26" name="Text 24"/>
          <p:cNvSpPr/>
          <p:nvPr/>
        </p:nvSpPr>
        <p:spPr>
          <a:xfrm>
            <a:off x="13462000" y="22860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Discourse /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Pragmatic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70000" y="342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Surface-Level Processing (L17)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Form of language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28000" y="342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Deep-Level Processing (L18)</a:t>
            </a:r>
            <a:pPr algn="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Meaning &amp; context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70000" y="406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30" name="Text 28"/>
          <p:cNvSpPr/>
          <p:nvPr/>
        </p:nvSpPr>
        <p:spPr>
          <a:xfrm>
            <a:off x="1270000" y="4318000"/>
            <a:ext cx="1371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Pipeline Works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Each stage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filters and enriches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representation, passing structured output to the next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Higher levels depend on lower levels — pragmatic analysis requires semantic understanding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Modern deep learning models implicitly learn representations across all these levels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Understanding these linguistic levels is essential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designing effective NLP systems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The pipeline is not strictly linear — higher levels can feed back to resolve ambiguities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41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L17: Surface-Level Processing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191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Phonetics · Graphetics · Lexical Analysis · Morphology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18000" y="4953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4953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Phonetics — The Study of Speech Sounds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Phonetics studies how speech sounds are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produced, transmitted, and perceived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It classifies acoustic signals into phones.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Branches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Articulatory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How sounds are produced by vocal organs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Acoustic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Physical properties of sound waves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Auditory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How sounds are perceived by the ear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NLP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Essential for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speech recognition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Converts spoken language into text (ASR)</a:t>
            </a:r>
            <a:endParaRPr lang="en-US" sz="1800" dirty="0"/>
          </a:p>
        </p:txBody>
      </p:sp>
      <p:pic>
        <p:nvPicPr>
          <p:cNvPr id="5" name="Image 0" descr="https://kimi-img.moonshot.cn/pub/slides/okc/laefijdbbwore/mnt/agents/output/nlp-stages/images/2_Automatic_Speech_Recognition_AS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905000"/>
            <a:ext cx="6096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890000" y="5461000"/>
            <a:ext cx="609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71000" y="56515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"loyal", the L-sounds at the beginning and end are different phones — "light L" and "dark L"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Phonology — Sound Patterns in Language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57213" y="8334"/>
                </a:moveTo>
                <a:cubicBezTo>
                  <a:pt x="566261" y="15597"/>
                  <a:pt x="571500" y="26551"/>
                  <a:pt x="571500" y="38100"/>
                </a:cubicBezTo>
                <a:lnTo>
                  <a:pt x="571500" y="400050"/>
                </a:lnTo>
                <a:cubicBezTo>
                  <a:pt x="571500" y="452676"/>
                  <a:pt x="520303" y="495300"/>
                  <a:pt x="457200" y="495300"/>
                </a:cubicBezTo>
                <a:cubicBezTo>
                  <a:pt x="394097" y="495300"/>
                  <a:pt x="342900" y="452676"/>
                  <a:pt x="342900" y="400050"/>
                </a:cubicBezTo>
                <a:cubicBezTo>
                  <a:pt x="342900" y="347424"/>
                  <a:pt x="394097" y="304800"/>
                  <a:pt x="457200" y="304800"/>
                </a:cubicBezTo>
                <a:cubicBezTo>
                  <a:pt x="470535" y="304800"/>
                  <a:pt x="483394" y="306705"/>
                  <a:pt x="495300" y="310277"/>
                </a:cubicBezTo>
                <a:lnTo>
                  <a:pt x="495300" y="171331"/>
                </a:lnTo>
                <a:lnTo>
                  <a:pt x="228600" y="230624"/>
                </a:lnTo>
                <a:lnTo>
                  <a:pt x="228600" y="476250"/>
                </a:lnTo>
                <a:cubicBezTo>
                  <a:pt x="228600" y="528876"/>
                  <a:pt x="177403" y="571500"/>
                  <a:pt x="114300" y="571500"/>
                </a:cubicBezTo>
                <a:cubicBezTo>
                  <a:pt x="51197" y="571500"/>
                  <a:pt x="0" y="528876"/>
                  <a:pt x="0" y="476250"/>
                </a:cubicBezTo>
                <a:cubicBezTo>
                  <a:pt x="0" y="423624"/>
                  <a:pt x="51197" y="381000"/>
                  <a:pt x="114300" y="381000"/>
                </a:cubicBezTo>
                <a:cubicBezTo>
                  <a:pt x="127635" y="381000"/>
                  <a:pt x="140494" y="382905"/>
                  <a:pt x="152400" y="386477"/>
                </a:cubicBezTo>
                <a:lnTo>
                  <a:pt x="152400" y="114300"/>
                </a:lnTo>
                <a:cubicBezTo>
                  <a:pt x="152400" y="96441"/>
                  <a:pt x="164783" y="80962"/>
                  <a:pt x="182285" y="77152"/>
                </a:cubicBezTo>
                <a:lnTo>
                  <a:pt x="525185" y="952"/>
                </a:lnTo>
                <a:cubicBezTo>
                  <a:pt x="536496" y="-1548"/>
                  <a:pt x="548283" y="1191"/>
                  <a:pt x="557332" y="845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Phonemes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smallest units of sound that can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distinguish meaning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 language.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/p/ and /b/ are separate phonemes in English — "pat" vs "bat"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47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114300"/>
                </a:moveTo>
                <a:cubicBezTo>
                  <a:pt x="76200" y="93226"/>
                  <a:pt x="93226" y="76200"/>
                  <a:pt x="114300" y="76200"/>
                </a:cubicBezTo>
                <a:lnTo>
                  <a:pt x="304800" y="76200"/>
                </a:lnTo>
                <a:cubicBezTo>
                  <a:pt x="325874" y="76200"/>
                  <a:pt x="342900" y="93226"/>
                  <a:pt x="342900" y="114300"/>
                </a:cubicBezTo>
                <a:lnTo>
                  <a:pt x="342900" y="457200"/>
                </a:lnTo>
                <a:lnTo>
                  <a:pt x="457200" y="457200"/>
                </a:lnTo>
                <a:lnTo>
                  <a:pt x="457200" y="304800"/>
                </a:lnTo>
                <a:cubicBezTo>
                  <a:pt x="457200" y="283726"/>
                  <a:pt x="474226" y="266700"/>
                  <a:pt x="4953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533400" y="342900"/>
                </a:lnTo>
                <a:lnTo>
                  <a:pt x="533400" y="495300"/>
                </a:lnTo>
                <a:cubicBezTo>
                  <a:pt x="533400" y="516374"/>
                  <a:pt x="516374" y="533400"/>
                  <a:pt x="495300" y="533400"/>
                </a:cubicBezTo>
                <a:lnTo>
                  <a:pt x="304800" y="533400"/>
                </a:lnTo>
                <a:cubicBezTo>
                  <a:pt x="283726" y="533400"/>
                  <a:pt x="266700" y="516374"/>
                  <a:pt x="266700" y="495300"/>
                </a:cubicBezTo>
                <a:lnTo>
                  <a:pt x="266700" y="152400"/>
                </a:lnTo>
                <a:lnTo>
                  <a:pt x="152400" y="152400"/>
                </a:lnTo>
                <a:lnTo>
                  <a:pt x="152400" y="304800"/>
                </a:lnTo>
                <a:cubicBezTo>
                  <a:pt x="152400" y="325874"/>
                  <a:pt x="135374" y="342900"/>
                  <a:pt x="114300" y="342900"/>
                </a:cubicBezTo>
                <a:lnTo>
                  <a:pt x="38100" y="342900"/>
                </a:lnTo>
                <a:cubicBezTo>
                  <a:pt x="17026" y="342900"/>
                  <a:pt x="0" y="325874"/>
                  <a:pt x="0" y="304800"/>
                </a:cubicBezTo>
                <a:cubicBezTo>
                  <a:pt x="0" y="283726"/>
                  <a:pt x="17026" y="266700"/>
                  <a:pt x="38100" y="266700"/>
                </a:cubicBezTo>
                <a:lnTo>
                  <a:pt x="76200" y="266700"/>
                </a:lnTo>
                <a:lnTo>
                  <a:pt x="76200" y="1143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Allophones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Variant pronunciations of the same phoneme that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change meaning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The "p" in "pin" (aspirated) vs "spin" (unaspirated)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446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9306" y="43220"/>
                </a:moveTo>
                <a:cubicBezTo>
                  <a:pt x="172283" y="52268"/>
                  <a:pt x="175379" y="70128"/>
                  <a:pt x="166330" y="82987"/>
                </a:cubicBezTo>
                <a:lnTo>
                  <a:pt x="99655" y="178237"/>
                </a:lnTo>
                <a:cubicBezTo>
                  <a:pt x="94774" y="185142"/>
                  <a:pt x="87154" y="189548"/>
                  <a:pt x="78700" y="190262"/>
                </a:cubicBezTo>
                <a:cubicBezTo>
                  <a:pt x="70247" y="190976"/>
                  <a:pt x="61912" y="188119"/>
                  <a:pt x="55959" y="182166"/>
                </a:cubicBezTo>
                <a:lnTo>
                  <a:pt x="8334" y="134541"/>
                </a:lnTo>
                <a:cubicBezTo>
                  <a:pt x="-2738" y="123349"/>
                  <a:pt x="-2738" y="105251"/>
                  <a:pt x="8334" y="94059"/>
                </a:cubicBezTo>
                <a:cubicBezTo>
                  <a:pt x="19407" y="82867"/>
                  <a:pt x="37624" y="82987"/>
                  <a:pt x="48816" y="94059"/>
                </a:cubicBezTo>
                <a:lnTo>
                  <a:pt x="72390" y="117634"/>
                </a:lnTo>
                <a:lnTo>
                  <a:pt x="119539" y="50244"/>
                </a:lnTo>
                <a:cubicBezTo>
                  <a:pt x="128588" y="37267"/>
                  <a:pt x="146447" y="34171"/>
                  <a:pt x="159306" y="43220"/>
                </a:cubicBezTo>
                <a:close/>
                <a:moveTo>
                  <a:pt x="159306" y="233720"/>
                </a:moveTo>
                <a:cubicBezTo>
                  <a:pt x="172283" y="242768"/>
                  <a:pt x="175379" y="260628"/>
                  <a:pt x="166330" y="273487"/>
                </a:cubicBezTo>
                <a:lnTo>
                  <a:pt x="99655" y="368737"/>
                </a:lnTo>
                <a:cubicBezTo>
                  <a:pt x="94774" y="375642"/>
                  <a:pt x="87154" y="380048"/>
                  <a:pt x="78700" y="380762"/>
                </a:cubicBezTo>
                <a:cubicBezTo>
                  <a:pt x="70247" y="381476"/>
                  <a:pt x="61912" y="378619"/>
                  <a:pt x="55959" y="372666"/>
                </a:cubicBezTo>
                <a:lnTo>
                  <a:pt x="8334" y="325041"/>
                </a:lnTo>
                <a:cubicBezTo>
                  <a:pt x="-2858" y="313849"/>
                  <a:pt x="-2858" y="295751"/>
                  <a:pt x="8334" y="284678"/>
                </a:cubicBezTo>
                <a:cubicBezTo>
                  <a:pt x="19526" y="273606"/>
                  <a:pt x="37624" y="273487"/>
                  <a:pt x="48697" y="284678"/>
                </a:cubicBezTo>
                <a:lnTo>
                  <a:pt x="72271" y="308253"/>
                </a:lnTo>
                <a:lnTo>
                  <a:pt x="119420" y="240863"/>
                </a:lnTo>
                <a:cubicBezTo>
                  <a:pt x="128468" y="227886"/>
                  <a:pt x="146328" y="224790"/>
                  <a:pt x="159187" y="233839"/>
                </a:cubicBezTo>
                <a:close/>
                <a:moveTo>
                  <a:pt x="266700" y="114300"/>
                </a:moveTo>
                <a:cubicBezTo>
                  <a:pt x="266700" y="93226"/>
                  <a:pt x="283726" y="76200"/>
                  <a:pt x="304800" y="76200"/>
                </a:cubicBezTo>
                <a:lnTo>
                  <a:pt x="571500" y="76200"/>
                </a:lnTo>
                <a:cubicBezTo>
                  <a:pt x="592574" y="76200"/>
                  <a:pt x="609600" y="93226"/>
                  <a:pt x="609600" y="114300"/>
                </a:cubicBezTo>
                <a:cubicBezTo>
                  <a:pt x="609600" y="135374"/>
                  <a:pt x="592574" y="152400"/>
                  <a:pt x="571500" y="152400"/>
                </a:cubicBezTo>
                <a:lnTo>
                  <a:pt x="304800" y="152400"/>
                </a:lnTo>
                <a:cubicBezTo>
                  <a:pt x="283726" y="152400"/>
                  <a:pt x="266700" y="135374"/>
                  <a:pt x="266700" y="114300"/>
                </a:cubicBezTo>
                <a:close/>
                <a:moveTo>
                  <a:pt x="266700" y="304800"/>
                </a:moveTo>
                <a:cubicBezTo>
                  <a:pt x="266700" y="283726"/>
                  <a:pt x="283726" y="266700"/>
                  <a:pt x="3048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304800" y="342900"/>
                </a:lnTo>
                <a:cubicBezTo>
                  <a:pt x="283726" y="342900"/>
                  <a:pt x="266700" y="325874"/>
                  <a:pt x="266700" y="304800"/>
                </a:cubicBezTo>
                <a:close/>
                <a:moveTo>
                  <a:pt x="190500" y="495300"/>
                </a:moveTo>
                <a:cubicBezTo>
                  <a:pt x="190500" y="474226"/>
                  <a:pt x="207526" y="457200"/>
                  <a:pt x="228600" y="457200"/>
                </a:cubicBez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28600" y="533400"/>
                </a:lnTo>
                <a:cubicBezTo>
                  <a:pt x="207526" y="533400"/>
                  <a:pt x="190500" y="516374"/>
                  <a:pt x="190500" y="495300"/>
                </a:cubicBezTo>
                <a:close/>
                <a:moveTo>
                  <a:pt x="76200" y="447675"/>
                </a:moveTo>
                <a:cubicBezTo>
                  <a:pt x="102485" y="447675"/>
                  <a:pt x="123825" y="469015"/>
                  <a:pt x="123825" y="495300"/>
                </a:cubicBezTo>
                <a:cubicBezTo>
                  <a:pt x="123825" y="521585"/>
                  <a:pt x="102485" y="542925"/>
                  <a:pt x="76200" y="542925"/>
                </a:cubicBezTo>
                <a:cubicBezTo>
                  <a:pt x="49915" y="542925"/>
                  <a:pt x="28575" y="521585"/>
                  <a:pt x="28575" y="495300"/>
                </a:cubicBezTo>
                <a:cubicBezTo>
                  <a:pt x="28575" y="469015"/>
                  <a:pt x="49915" y="447675"/>
                  <a:pt x="76200" y="447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Phonological Rules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Systematic sound patterns that govern how phonemes combine in a language.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These rules are essential for speech synthesis and recognition systems.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Graphetics and Graphemics — Written Language Units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873" y="50304"/>
                </a:moveTo>
                <a:cubicBezTo>
                  <a:pt x="277713" y="38993"/>
                  <a:pt x="266402" y="31750"/>
                  <a:pt x="254000" y="31750"/>
                </a:cubicBezTo>
                <a:cubicBezTo>
                  <a:pt x="241598" y="31750"/>
                  <a:pt x="230287" y="38993"/>
                  <a:pt x="225127" y="50304"/>
                </a:cubicBezTo>
                <a:lnTo>
                  <a:pt x="59035" y="412750"/>
                </a:lnTo>
                <a:lnTo>
                  <a:pt x="47625" y="412750"/>
                </a:lnTo>
                <a:cubicBezTo>
                  <a:pt x="30063" y="412750"/>
                  <a:pt x="15875" y="426938"/>
                  <a:pt x="15875" y="444500"/>
                </a:cubicBezTo>
                <a:cubicBezTo>
                  <a:pt x="15875" y="462062"/>
                  <a:pt x="30063" y="476250"/>
                  <a:pt x="47625" y="476250"/>
                </a:cubicBezTo>
                <a:lnTo>
                  <a:pt x="134938" y="476250"/>
                </a:lnTo>
                <a:cubicBezTo>
                  <a:pt x="152499" y="476250"/>
                  <a:pt x="166688" y="462062"/>
                  <a:pt x="166688" y="444500"/>
                </a:cubicBezTo>
                <a:cubicBezTo>
                  <a:pt x="166688" y="426938"/>
                  <a:pt x="152499" y="412750"/>
                  <a:pt x="134938" y="412750"/>
                </a:cubicBezTo>
                <a:lnTo>
                  <a:pt x="128885" y="412750"/>
                </a:lnTo>
                <a:lnTo>
                  <a:pt x="150713" y="365125"/>
                </a:lnTo>
                <a:lnTo>
                  <a:pt x="357386" y="365125"/>
                </a:lnTo>
                <a:lnTo>
                  <a:pt x="379214" y="412750"/>
                </a:lnTo>
                <a:lnTo>
                  <a:pt x="373162" y="412750"/>
                </a:lnTo>
                <a:cubicBezTo>
                  <a:pt x="355600" y="412750"/>
                  <a:pt x="341412" y="426938"/>
                  <a:pt x="341412" y="444500"/>
                </a:cubicBezTo>
                <a:cubicBezTo>
                  <a:pt x="341412" y="462062"/>
                  <a:pt x="355600" y="476250"/>
                  <a:pt x="373162" y="476250"/>
                </a:cubicBezTo>
                <a:lnTo>
                  <a:pt x="460474" y="476250"/>
                </a:lnTo>
                <a:cubicBezTo>
                  <a:pt x="478036" y="476250"/>
                  <a:pt x="492224" y="462062"/>
                  <a:pt x="492224" y="444500"/>
                </a:cubicBezTo>
                <a:cubicBezTo>
                  <a:pt x="492224" y="426938"/>
                  <a:pt x="478036" y="412750"/>
                  <a:pt x="460474" y="412750"/>
                </a:cubicBezTo>
                <a:lnTo>
                  <a:pt x="449064" y="412750"/>
                </a:lnTo>
                <a:lnTo>
                  <a:pt x="282972" y="50304"/>
                </a:lnTo>
                <a:close/>
                <a:moveTo>
                  <a:pt x="328216" y="301625"/>
                </a:moveTo>
                <a:lnTo>
                  <a:pt x="179784" y="301625"/>
                </a:lnTo>
                <a:lnTo>
                  <a:pt x="254000" y="139700"/>
                </a:lnTo>
                <a:lnTo>
                  <a:pt x="328216" y="3016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86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Graphetics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584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of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properties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written symbols — shapes, sizes, visual forms.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Analogous to phonetics but for writing. Used in OCR and handwriting recognition.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55000" y="2032000"/>
            <a:ext cx="6731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6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5833" y="31750"/>
                </a:moveTo>
                <a:cubicBezTo>
                  <a:pt x="62971" y="31750"/>
                  <a:pt x="28222" y="70842"/>
                  <a:pt x="28222" y="119063"/>
                </a:cubicBezTo>
                <a:lnTo>
                  <a:pt x="28222" y="285750"/>
                </a:lnTo>
                <a:cubicBezTo>
                  <a:pt x="28222" y="303312"/>
                  <a:pt x="40834" y="317500"/>
                  <a:pt x="56444" y="317500"/>
                </a:cubicBezTo>
                <a:cubicBezTo>
                  <a:pt x="72055" y="317500"/>
                  <a:pt x="84667" y="303312"/>
                  <a:pt x="84667" y="285750"/>
                </a:cubicBezTo>
                <a:lnTo>
                  <a:pt x="84667" y="222250"/>
                </a:lnTo>
                <a:lnTo>
                  <a:pt x="141111" y="222250"/>
                </a:lnTo>
                <a:lnTo>
                  <a:pt x="141111" y="285750"/>
                </a:lnTo>
                <a:cubicBezTo>
                  <a:pt x="141111" y="303312"/>
                  <a:pt x="153723" y="317500"/>
                  <a:pt x="169333" y="317500"/>
                </a:cubicBezTo>
                <a:cubicBezTo>
                  <a:pt x="184944" y="317500"/>
                  <a:pt x="197556" y="303312"/>
                  <a:pt x="197556" y="285750"/>
                </a:cubicBezTo>
                <a:lnTo>
                  <a:pt x="197556" y="119063"/>
                </a:lnTo>
                <a:cubicBezTo>
                  <a:pt x="197556" y="70842"/>
                  <a:pt x="162807" y="31750"/>
                  <a:pt x="119944" y="31750"/>
                </a:cubicBezTo>
                <a:lnTo>
                  <a:pt x="105833" y="31750"/>
                </a:lnTo>
                <a:close/>
                <a:moveTo>
                  <a:pt x="141111" y="158750"/>
                </a:moveTo>
                <a:lnTo>
                  <a:pt x="84667" y="158750"/>
                </a:lnTo>
                <a:lnTo>
                  <a:pt x="84667" y="119063"/>
                </a:lnTo>
                <a:cubicBezTo>
                  <a:pt x="84667" y="105866"/>
                  <a:pt x="94103" y="95250"/>
                  <a:pt x="105833" y="95250"/>
                </a:cubicBezTo>
                <a:lnTo>
                  <a:pt x="119944" y="95250"/>
                </a:lnTo>
                <a:cubicBezTo>
                  <a:pt x="131674" y="95250"/>
                  <a:pt x="141111" y="105866"/>
                  <a:pt x="141111" y="119063"/>
                </a:cubicBezTo>
                <a:lnTo>
                  <a:pt x="141111" y="158750"/>
                </a:lnTo>
                <a:close/>
                <a:moveTo>
                  <a:pt x="268111" y="31750"/>
                </a:moveTo>
                <a:cubicBezTo>
                  <a:pt x="252501" y="31750"/>
                  <a:pt x="239889" y="45938"/>
                  <a:pt x="239889" y="63500"/>
                </a:cubicBezTo>
                <a:lnTo>
                  <a:pt x="239889" y="285750"/>
                </a:lnTo>
                <a:cubicBezTo>
                  <a:pt x="239889" y="303312"/>
                  <a:pt x="252501" y="317500"/>
                  <a:pt x="268111" y="317500"/>
                </a:cubicBezTo>
                <a:lnTo>
                  <a:pt x="331611" y="317500"/>
                </a:lnTo>
                <a:cubicBezTo>
                  <a:pt x="374474" y="317500"/>
                  <a:pt x="409222" y="278408"/>
                  <a:pt x="409222" y="230188"/>
                </a:cubicBezTo>
                <a:cubicBezTo>
                  <a:pt x="409222" y="206772"/>
                  <a:pt x="401020" y="185539"/>
                  <a:pt x="387703" y="169863"/>
                </a:cubicBezTo>
                <a:cubicBezTo>
                  <a:pt x="396787" y="155575"/>
                  <a:pt x="402167" y="138013"/>
                  <a:pt x="402167" y="119062"/>
                </a:cubicBezTo>
                <a:cubicBezTo>
                  <a:pt x="402167" y="70842"/>
                  <a:pt x="367418" y="31750"/>
                  <a:pt x="324556" y="31750"/>
                </a:cubicBezTo>
                <a:lnTo>
                  <a:pt x="268111" y="31750"/>
                </a:lnTo>
                <a:close/>
                <a:moveTo>
                  <a:pt x="324556" y="142875"/>
                </a:moveTo>
                <a:lnTo>
                  <a:pt x="296333" y="142875"/>
                </a:lnTo>
                <a:lnTo>
                  <a:pt x="296333" y="95250"/>
                </a:lnTo>
                <a:lnTo>
                  <a:pt x="324556" y="95250"/>
                </a:lnTo>
                <a:cubicBezTo>
                  <a:pt x="336285" y="95250"/>
                  <a:pt x="345722" y="105866"/>
                  <a:pt x="345722" y="119063"/>
                </a:cubicBezTo>
                <a:cubicBezTo>
                  <a:pt x="345722" y="132259"/>
                  <a:pt x="336285" y="142875"/>
                  <a:pt x="324556" y="142875"/>
                </a:cubicBezTo>
                <a:close/>
                <a:moveTo>
                  <a:pt x="296333" y="254000"/>
                </a:moveTo>
                <a:lnTo>
                  <a:pt x="296333" y="206375"/>
                </a:lnTo>
                <a:lnTo>
                  <a:pt x="331611" y="206375"/>
                </a:lnTo>
                <a:cubicBezTo>
                  <a:pt x="343341" y="206375"/>
                  <a:pt x="352778" y="216991"/>
                  <a:pt x="352778" y="230188"/>
                </a:cubicBezTo>
                <a:cubicBezTo>
                  <a:pt x="352778" y="243384"/>
                  <a:pt x="343341" y="254000"/>
                  <a:pt x="331611" y="254000"/>
                </a:cubicBezTo>
                <a:lnTo>
                  <a:pt x="296333" y="254000"/>
                </a:lnTo>
                <a:close/>
                <a:moveTo>
                  <a:pt x="501826" y="337344"/>
                </a:moveTo>
                <a:cubicBezTo>
                  <a:pt x="511528" y="323652"/>
                  <a:pt x="509587" y="303709"/>
                  <a:pt x="497417" y="292695"/>
                </a:cubicBezTo>
                <a:cubicBezTo>
                  <a:pt x="485246" y="281682"/>
                  <a:pt x="467519" y="283964"/>
                  <a:pt x="457729" y="297656"/>
                </a:cubicBezTo>
                <a:lnTo>
                  <a:pt x="364508" y="428724"/>
                </a:lnTo>
                <a:lnTo>
                  <a:pt x="330376" y="390327"/>
                </a:lnTo>
                <a:cubicBezTo>
                  <a:pt x="319352" y="377924"/>
                  <a:pt x="301449" y="377924"/>
                  <a:pt x="290424" y="390327"/>
                </a:cubicBezTo>
                <a:cubicBezTo>
                  <a:pt x="279400" y="402729"/>
                  <a:pt x="279400" y="422870"/>
                  <a:pt x="290424" y="435273"/>
                </a:cubicBezTo>
                <a:lnTo>
                  <a:pt x="346869" y="498773"/>
                </a:lnTo>
                <a:cubicBezTo>
                  <a:pt x="352513" y="505123"/>
                  <a:pt x="360363" y="508496"/>
                  <a:pt x="368388" y="508000"/>
                </a:cubicBezTo>
                <a:cubicBezTo>
                  <a:pt x="376414" y="507504"/>
                  <a:pt x="383822" y="503138"/>
                  <a:pt x="388849" y="496094"/>
                </a:cubicBezTo>
                <a:lnTo>
                  <a:pt x="501826" y="33734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286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Graphemics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36000" y="2921000"/>
            <a:ext cx="5969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of how visual units (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graphemes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function in writing systems.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grapheme is the smallest unit: letters, characters, symbols.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5334000"/>
            <a:ext cx="13716000" cy="228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778000" y="558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 in English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78000" y="609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"ph" and "f" can represent the same sound but are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different graphemes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(phone vs fish)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"ough" has multiple pronunciations: tough /ʌf/, through /uː/, thought /ɔː/, bough /aʊ/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 NLP: graphetic analysis powers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OCR systems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that convert scanned documents to text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Analysis — Words and Their Categories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phase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NLP processing. Identifies words by breaking text into tokens.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Tasks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Splitting text into words/tokens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Tagging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Assigning grammatical roles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Lexicon Lookup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Matching against dictionary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Lexicon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Collection of word info: categories, meanings, grammar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Example: "pig" → Noun, Verb, Adjective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604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286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 Category Ambiguity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63000" y="2857500"/>
          <a:ext cx="5842000" cy="3683000"/>
        </p:xfrm>
        <a:graphic>
          <a:graphicData uri="http://schemas.openxmlformats.org/drawingml/2006/table">
            <a:tbl>
              <a:tblPr/>
              <a:tblGrid>
                <a:gridCol w="2044700"/>
                <a:gridCol w="1752600"/>
                <a:gridCol w="2044700"/>
              </a:tblGrid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Noun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"the 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book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book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a flight"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N/V/Adj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 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 / "</a:t>
                      </a:r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it"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5+ POS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adverb, prep, etc.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 and Part-of-Speech Tagging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6731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1000" y="2159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Tokenization Example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51000" y="2667000"/>
            <a:ext cx="5969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Input: </a:t>
            </a:r>
            <a:pPr algn="l">
              <a:lnSpc>
                <a:spcPct val="160000"/>
              </a:lnSpc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 am reading a book."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 tokens: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["I", "am", "reading", "a", "book"]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Multi-word expressions like "New York"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9685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63000" y="2159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 Tagging Example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63000" y="2667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"I"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(Pronoun)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"am"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VBP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(Verb)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"reading"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VBG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(Verb, gerund)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"a"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(Determiner)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"book"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(Noun)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334000"/>
            <a:ext cx="13716000" cy="2286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51000" y="565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5651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51000" y="62230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Ambiguity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"book" can be noun or verb; "set" has 5+ POS categories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Unknown words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New words, typos, domain-specific terminology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Language-specific rules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Different tokenization for CJK languages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Morphological Analysis — Word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Morphology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study of word formation. A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morpheme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smallest unit of meaning in a language.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111500"/>
            <a:ext cx="6731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10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6333" y="31750"/>
                </a:moveTo>
                <a:cubicBezTo>
                  <a:pt x="296333" y="14188"/>
                  <a:pt x="277416" y="0"/>
                  <a:pt x="254000" y="0"/>
                </a:cubicBezTo>
                <a:cubicBezTo>
                  <a:pt x="230584" y="0"/>
                  <a:pt x="211667" y="14188"/>
                  <a:pt x="211667" y="31750"/>
                </a:cubicBezTo>
                <a:lnTo>
                  <a:pt x="211667" y="158750"/>
                </a:lnTo>
                <a:lnTo>
                  <a:pt x="42333" y="158750"/>
                </a:lnTo>
                <a:cubicBezTo>
                  <a:pt x="18918" y="158750"/>
                  <a:pt x="0" y="172938"/>
                  <a:pt x="0" y="190500"/>
                </a:cubicBezTo>
                <a:cubicBezTo>
                  <a:pt x="0" y="208062"/>
                  <a:pt x="18918" y="222250"/>
                  <a:pt x="42333" y="222250"/>
                </a:cubicBezTo>
                <a:lnTo>
                  <a:pt x="211667" y="222250"/>
                </a:lnTo>
                <a:lnTo>
                  <a:pt x="211667" y="349250"/>
                </a:lnTo>
                <a:cubicBezTo>
                  <a:pt x="211667" y="366812"/>
                  <a:pt x="230584" y="381000"/>
                  <a:pt x="254000" y="381000"/>
                </a:cubicBezTo>
                <a:cubicBezTo>
                  <a:pt x="277416" y="381000"/>
                  <a:pt x="296333" y="366812"/>
                  <a:pt x="296333" y="349250"/>
                </a:cubicBezTo>
                <a:lnTo>
                  <a:pt x="296333" y="222250"/>
                </a:lnTo>
                <a:lnTo>
                  <a:pt x="465667" y="222250"/>
                </a:lnTo>
                <a:cubicBezTo>
                  <a:pt x="489082" y="222250"/>
                  <a:pt x="508000" y="208062"/>
                  <a:pt x="508000" y="190500"/>
                </a:cubicBezTo>
                <a:cubicBezTo>
                  <a:pt x="508000" y="172938"/>
                  <a:pt x="489082" y="158750"/>
                  <a:pt x="465667" y="158750"/>
                </a:cubicBezTo>
                <a:lnTo>
                  <a:pt x="296333" y="158750"/>
                </a:lnTo>
                <a:lnTo>
                  <a:pt x="296333" y="31750"/>
                </a:lnTo>
                <a:close/>
                <a:moveTo>
                  <a:pt x="0" y="476250"/>
                </a:moveTo>
                <a:cubicBezTo>
                  <a:pt x="0" y="493812"/>
                  <a:pt x="18918" y="508000"/>
                  <a:pt x="42333" y="508000"/>
                </a:cubicBezTo>
                <a:lnTo>
                  <a:pt x="465667" y="508000"/>
                </a:lnTo>
                <a:cubicBezTo>
                  <a:pt x="489082" y="508000"/>
                  <a:pt x="508000" y="493812"/>
                  <a:pt x="508000" y="476250"/>
                </a:cubicBezTo>
                <a:cubicBezTo>
                  <a:pt x="508000" y="458688"/>
                  <a:pt x="489082" y="444500"/>
                  <a:pt x="465667" y="444500"/>
                </a:cubicBezTo>
                <a:lnTo>
                  <a:pt x="42333" y="444500"/>
                </a:lnTo>
                <a:cubicBezTo>
                  <a:pt x="18918" y="444500"/>
                  <a:pt x="0" y="458688"/>
                  <a:pt x="0" y="476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365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Inflectional Morphology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1000" y="4000500"/>
            <a:ext cx="596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Modifies grammatical properties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without changing core meaning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Plural: "dog" → "dog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Past tense: "walk" → "walk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Comparative: "tall" → "tall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111500"/>
            <a:ext cx="6604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630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00645" y="34131"/>
                </a:moveTo>
                <a:cubicBezTo>
                  <a:pt x="412552" y="29170"/>
                  <a:pt x="426145" y="31948"/>
                  <a:pt x="435273" y="40977"/>
                </a:cubicBezTo>
                <a:lnTo>
                  <a:pt x="498773" y="104477"/>
                </a:lnTo>
                <a:cubicBezTo>
                  <a:pt x="504726" y="110430"/>
                  <a:pt x="508099" y="118467"/>
                  <a:pt x="508099" y="126901"/>
                </a:cubicBezTo>
                <a:cubicBezTo>
                  <a:pt x="508099" y="135334"/>
                  <a:pt x="504726" y="143371"/>
                  <a:pt x="498773" y="149324"/>
                </a:cubicBezTo>
                <a:lnTo>
                  <a:pt x="435273" y="212824"/>
                </a:lnTo>
                <a:cubicBezTo>
                  <a:pt x="426145" y="221952"/>
                  <a:pt x="412552" y="224631"/>
                  <a:pt x="400645" y="219670"/>
                </a:cubicBezTo>
                <a:cubicBezTo>
                  <a:pt x="388739" y="214709"/>
                  <a:pt x="381000" y="203299"/>
                  <a:pt x="381000" y="190500"/>
                </a:cubicBezTo>
                <a:lnTo>
                  <a:pt x="381000" y="158750"/>
                </a:lnTo>
                <a:lnTo>
                  <a:pt x="349250" y="158750"/>
                </a:lnTo>
                <a:cubicBezTo>
                  <a:pt x="339229" y="158750"/>
                  <a:pt x="329803" y="163413"/>
                  <a:pt x="323850" y="171450"/>
                </a:cubicBezTo>
                <a:lnTo>
                  <a:pt x="291703" y="214313"/>
                </a:lnTo>
                <a:lnTo>
                  <a:pt x="252016" y="161429"/>
                </a:lnTo>
                <a:lnTo>
                  <a:pt x="273050" y="133350"/>
                </a:lnTo>
                <a:cubicBezTo>
                  <a:pt x="291009" y="109339"/>
                  <a:pt x="319286" y="95250"/>
                  <a:pt x="349250" y="95250"/>
                </a:cubicBezTo>
                <a:lnTo>
                  <a:pt x="381000" y="95250"/>
                </a:lnTo>
                <a:lnTo>
                  <a:pt x="381000" y="63500"/>
                </a:lnTo>
                <a:cubicBezTo>
                  <a:pt x="381000" y="50701"/>
                  <a:pt x="388739" y="39092"/>
                  <a:pt x="400645" y="34131"/>
                </a:cubicBezTo>
                <a:close/>
                <a:moveTo>
                  <a:pt x="152797" y="293688"/>
                </a:moveTo>
                <a:lnTo>
                  <a:pt x="192484" y="346571"/>
                </a:lnTo>
                <a:lnTo>
                  <a:pt x="171450" y="374650"/>
                </a:lnTo>
                <a:cubicBezTo>
                  <a:pt x="153491" y="398661"/>
                  <a:pt x="125214" y="412750"/>
                  <a:pt x="95250" y="412750"/>
                </a:cubicBezTo>
                <a:lnTo>
                  <a:pt x="31750" y="412750"/>
                </a:lnTo>
                <a:cubicBezTo>
                  <a:pt x="14188" y="412750"/>
                  <a:pt x="0" y="398562"/>
                  <a:pt x="0" y="381000"/>
                </a:cubicBezTo>
                <a:cubicBezTo>
                  <a:pt x="0" y="363438"/>
                  <a:pt x="14188" y="349250"/>
                  <a:pt x="31750" y="349250"/>
                </a:cubicBezTo>
                <a:lnTo>
                  <a:pt x="95250" y="349250"/>
                </a:lnTo>
                <a:cubicBezTo>
                  <a:pt x="105271" y="349250"/>
                  <a:pt x="114697" y="344587"/>
                  <a:pt x="120650" y="336550"/>
                </a:cubicBezTo>
                <a:lnTo>
                  <a:pt x="152797" y="293688"/>
                </a:lnTo>
                <a:close/>
                <a:moveTo>
                  <a:pt x="435173" y="466923"/>
                </a:moveTo>
                <a:cubicBezTo>
                  <a:pt x="426045" y="476052"/>
                  <a:pt x="412452" y="478730"/>
                  <a:pt x="400546" y="473770"/>
                </a:cubicBezTo>
                <a:cubicBezTo>
                  <a:pt x="388640" y="468809"/>
                  <a:pt x="381000" y="457299"/>
                  <a:pt x="381000" y="444500"/>
                </a:cubicBezTo>
                <a:lnTo>
                  <a:pt x="381000" y="412750"/>
                </a:lnTo>
                <a:lnTo>
                  <a:pt x="349250" y="412750"/>
                </a:lnTo>
                <a:cubicBezTo>
                  <a:pt x="319286" y="412750"/>
                  <a:pt x="291009" y="398661"/>
                  <a:pt x="273050" y="374650"/>
                </a:cubicBezTo>
                <a:lnTo>
                  <a:pt x="120650" y="171450"/>
                </a:lnTo>
                <a:cubicBezTo>
                  <a:pt x="114697" y="163413"/>
                  <a:pt x="105271" y="158750"/>
                  <a:pt x="95250" y="158750"/>
                </a:cubicBez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95250" y="95250"/>
                </a:lnTo>
                <a:cubicBezTo>
                  <a:pt x="125214" y="95250"/>
                  <a:pt x="153491" y="109339"/>
                  <a:pt x="171450" y="133350"/>
                </a:cubicBezTo>
                <a:lnTo>
                  <a:pt x="323850" y="336550"/>
                </a:lnTo>
                <a:cubicBezTo>
                  <a:pt x="329803" y="344587"/>
                  <a:pt x="339229" y="349250"/>
                  <a:pt x="349250" y="349250"/>
                </a:cubicBezTo>
                <a:lnTo>
                  <a:pt x="381000" y="349250"/>
                </a:lnTo>
                <a:lnTo>
                  <a:pt x="381000" y="317500"/>
                </a:lnTo>
                <a:cubicBezTo>
                  <a:pt x="381000" y="304701"/>
                  <a:pt x="388739" y="293092"/>
                  <a:pt x="400645" y="288131"/>
                </a:cubicBezTo>
                <a:cubicBezTo>
                  <a:pt x="412552" y="283170"/>
                  <a:pt x="426145" y="285948"/>
                  <a:pt x="435273" y="294977"/>
                </a:cubicBezTo>
                <a:lnTo>
                  <a:pt x="498773" y="358477"/>
                </a:lnTo>
                <a:cubicBezTo>
                  <a:pt x="504726" y="364430"/>
                  <a:pt x="508099" y="372467"/>
                  <a:pt x="508099" y="380901"/>
                </a:cubicBezTo>
                <a:cubicBezTo>
                  <a:pt x="508099" y="389334"/>
                  <a:pt x="504726" y="397371"/>
                  <a:pt x="498773" y="403324"/>
                </a:cubicBezTo>
                <a:lnTo>
                  <a:pt x="435273" y="46682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365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Derivational Morphology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40005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words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different meanings: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"un-": happy → un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happy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"-ness": happy → happi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"-ly": quick → quick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66040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8000" y="6731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Stemming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reduces words to root form ("running" → "run")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Lemmatization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converts to dictionary form ("better" → "good")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Morphemes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203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133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 Morphemes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67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 stand alone as words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book, run, happy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445000" cy="203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5981" y="76200"/>
                </a:moveTo>
                <a:cubicBezTo>
                  <a:pt x="284268" y="76200"/>
                  <a:pt x="272909" y="79772"/>
                  <a:pt x="262961" y="86281"/>
                </a:cubicBezTo>
                <a:cubicBezTo>
                  <a:pt x="251813" y="73581"/>
                  <a:pt x="238831" y="62944"/>
                  <a:pt x="224508" y="54928"/>
                </a:cubicBezTo>
                <a:cubicBezTo>
                  <a:pt x="244404" y="35878"/>
                  <a:pt x="269734" y="25400"/>
                  <a:pt x="295981" y="25400"/>
                </a:cubicBezTo>
                <a:cubicBezTo>
                  <a:pt x="356941" y="25400"/>
                  <a:pt x="406400" y="80963"/>
                  <a:pt x="406400" y="149622"/>
                </a:cubicBezTo>
                <a:cubicBezTo>
                  <a:pt x="406400" y="182563"/>
                  <a:pt x="394758" y="214154"/>
                  <a:pt x="374086" y="237411"/>
                </a:cubicBezTo>
                <a:lnTo>
                  <a:pt x="323921" y="293846"/>
                </a:lnTo>
                <a:cubicBezTo>
                  <a:pt x="303248" y="317103"/>
                  <a:pt x="275167" y="330200"/>
                  <a:pt x="245886" y="330200"/>
                </a:cubicBezTo>
                <a:cubicBezTo>
                  <a:pt x="184926" y="330200"/>
                  <a:pt x="135467" y="274638"/>
                  <a:pt x="135467" y="205978"/>
                </a:cubicBezTo>
                <a:cubicBezTo>
                  <a:pt x="135467" y="204788"/>
                  <a:pt x="135467" y="203597"/>
                  <a:pt x="135537" y="202406"/>
                </a:cubicBezTo>
                <a:cubicBezTo>
                  <a:pt x="135890" y="188357"/>
                  <a:pt x="146262" y="177324"/>
                  <a:pt x="158750" y="177721"/>
                </a:cubicBezTo>
                <a:cubicBezTo>
                  <a:pt x="171238" y="178118"/>
                  <a:pt x="181046" y="189786"/>
                  <a:pt x="180693" y="203835"/>
                </a:cubicBezTo>
                <a:cubicBezTo>
                  <a:pt x="180693" y="204549"/>
                  <a:pt x="180693" y="205264"/>
                  <a:pt x="180693" y="205899"/>
                </a:cubicBezTo>
                <a:cubicBezTo>
                  <a:pt x="180693" y="246459"/>
                  <a:pt x="209903" y="279321"/>
                  <a:pt x="245957" y="279321"/>
                </a:cubicBezTo>
                <a:cubicBezTo>
                  <a:pt x="263243" y="279321"/>
                  <a:pt x="279823" y="271621"/>
                  <a:pt x="292100" y="257810"/>
                </a:cubicBezTo>
                <a:lnTo>
                  <a:pt x="342265" y="201374"/>
                </a:lnTo>
                <a:cubicBezTo>
                  <a:pt x="354471" y="187643"/>
                  <a:pt x="361386" y="168910"/>
                  <a:pt x="361386" y="149463"/>
                </a:cubicBezTo>
                <a:cubicBezTo>
                  <a:pt x="361386" y="108903"/>
                  <a:pt x="332176" y="76041"/>
                  <a:pt x="296122" y="76041"/>
                </a:cubicBezTo>
                <a:close/>
                <a:moveTo>
                  <a:pt x="194169" y="137557"/>
                </a:moveTo>
                <a:cubicBezTo>
                  <a:pt x="192828" y="136922"/>
                  <a:pt x="191488" y="136049"/>
                  <a:pt x="190288" y="135096"/>
                </a:cubicBezTo>
                <a:cubicBezTo>
                  <a:pt x="181398" y="129937"/>
                  <a:pt x="171238" y="127000"/>
                  <a:pt x="160584" y="127000"/>
                </a:cubicBezTo>
                <a:cubicBezTo>
                  <a:pt x="143298" y="127000"/>
                  <a:pt x="126718" y="134699"/>
                  <a:pt x="114441" y="148511"/>
                </a:cubicBezTo>
                <a:lnTo>
                  <a:pt x="64276" y="204946"/>
                </a:lnTo>
                <a:cubicBezTo>
                  <a:pt x="52070" y="218678"/>
                  <a:pt x="45156" y="237411"/>
                  <a:pt x="45156" y="256858"/>
                </a:cubicBezTo>
                <a:cubicBezTo>
                  <a:pt x="45156" y="297418"/>
                  <a:pt x="74366" y="330279"/>
                  <a:pt x="110419" y="330279"/>
                </a:cubicBezTo>
                <a:cubicBezTo>
                  <a:pt x="122061" y="330279"/>
                  <a:pt x="133421" y="326787"/>
                  <a:pt x="143369" y="320278"/>
                </a:cubicBezTo>
                <a:cubicBezTo>
                  <a:pt x="154517" y="332978"/>
                  <a:pt x="167499" y="343614"/>
                  <a:pt x="181892" y="351631"/>
                </a:cubicBezTo>
                <a:cubicBezTo>
                  <a:pt x="161996" y="370602"/>
                  <a:pt x="136737" y="381159"/>
                  <a:pt x="110419" y="381159"/>
                </a:cubicBezTo>
                <a:cubicBezTo>
                  <a:pt x="49459" y="381159"/>
                  <a:pt x="0" y="325596"/>
                  <a:pt x="0" y="256937"/>
                </a:cubicBezTo>
                <a:cubicBezTo>
                  <a:pt x="0" y="223996"/>
                  <a:pt x="11642" y="192405"/>
                  <a:pt x="32314" y="169148"/>
                </a:cubicBezTo>
                <a:lnTo>
                  <a:pt x="82479" y="112713"/>
                </a:lnTo>
                <a:cubicBezTo>
                  <a:pt x="103152" y="89456"/>
                  <a:pt x="131233" y="76359"/>
                  <a:pt x="160514" y="76359"/>
                </a:cubicBezTo>
                <a:cubicBezTo>
                  <a:pt x="221615" y="76359"/>
                  <a:pt x="270933" y="132398"/>
                  <a:pt x="270933" y="200898"/>
                </a:cubicBezTo>
                <a:cubicBezTo>
                  <a:pt x="270933" y="201930"/>
                  <a:pt x="270933" y="202962"/>
                  <a:pt x="270933" y="203994"/>
                </a:cubicBezTo>
                <a:cubicBezTo>
                  <a:pt x="270651" y="218043"/>
                  <a:pt x="260279" y="229076"/>
                  <a:pt x="247791" y="228759"/>
                </a:cubicBezTo>
                <a:cubicBezTo>
                  <a:pt x="235303" y="228441"/>
                  <a:pt x="225496" y="216773"/>
                  <a:pt x="225778" y="202724"/>
                </a:cubicBezTo>
                <a:cubicBezTo>
                  <a:pt x="225778" y="202089"/>
                  <a:pt x="225778" y="201533"/>
                  <a:pt x="225778" y="200898"/>
                </a:cubicBezTo>
                <a:cubicBezTo>
                  <a:pt x="225778" y="174149"/>
                  <a:pt x="213078" y="150654"/>
                  <a:pt x="194169" y="13771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794500" y="2133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Bound Morphemes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667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Must attach to other morphemes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un-, -ness, -s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032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93500" y="21336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 Morpheme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66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primary lexical unit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"chatters" → root: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191000"/>
            <a:ext cx="4445000" cy="203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4419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Inflectional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4953000"/>
            <a:ext cx="393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Modify grammatical properties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 plural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past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-ed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comparative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191000"/>
            <a:ext cx="4445000" cy="203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5843" y="-21431"/>
                </a:moveTo>
                <a:lnTo>
                  <a:pt x="196286" y="7779"/>
                </a:lnTo>
                <a:lnTo>
                  <a:pt x="222250" y="19526"/>
                </a:lnTo>
                <a:cubicBezTo>
                  <a:pt x="224367" y="20479"/>
                  <a:pt x="225778" y="22860"/>
                  <a:pt x="225778" y="25400"/>
                </a:cubicBezTo>
                <a:cubicBezTo>
                  <a:pt x="225778" y="27940"/>
                  <a:pt x="224367" y="30321"/>
                  <a:pt x="222250" y="31274"/>
                </a:cubicBezTo>
                <a:lnTo>
                  <a:pt x="196286" y="43021"/>
                </a:lnTo>
                <a:lnTo>
                  <a:pt x="185843" y="72231"/>
                </a:lnTo>
                <a:cubicBezTo>
                  <a:pt x="184997" y="74613"/>
                  <a:pt x="182880" y="76200"/>
                  <a:pt x="180622" y="76200"/>
                </a:cubicBezTo>
                <a:cubicBezTo>
                  <a:pt x="178364" y="76200"/>
                  <a:pt x="176248" y="74613"/>
                  <a:pt x="175401" y="72231"/>
                </a:cubicBezTo>
                <a:lnTo>
                  <a:pt x="164959" y="43021"/>
                </a:lnTo>
                <a:lnTo>
                  <a:pt x="138994" y="31274"/>
                </a:lnTo>
                <a:cubicBezTo>
                  <a:pt x="136878" y="30321"/>
                  <a:pt x="135467" y="27940"/>
                  <a:pt x="135467" y="25400"/>
                </a:cubicBezTo>
                <a:cubicBezTo>
                  <a:pt x="135467" y="22860"/>
                  <a:pt x="136878" y="20479"/>
                  <a:pt x="138994" y="19526"/>
                </a:cubicBezTo>
                <a:lnTo>
                  <a:pt x="164959" y="7779"/>
                </a:lnTo>
                <a:lnTo>
                  <a:pt x="175401" y="-21431"/>
                </a:lnTo>
                <a:cubicBezTo>
                  <a:pt x="176248" y="-23812"/>
                  <a:pt x="178364" y="-25400"/>
                  <a:pt x="180622" y="-25400"/>
                </a:cubicBezTo>
                <a:cubicBezTo>
                  <a:pt x="182880" y="-25400"/>
                  <a:pt x="184997" y="-23812"/>
                  <a:pt x="185843" y="-21431"/>
                </a:cubicBezTo>
                <a:close/>
                <a:moveTo>
                  <a:pt x="78105" y="33099"/>
                </a:moveTo>
                <a:lnTo>
                  <a:pt x="93274" y="72866"/>
                </a:lnTo>
                <a:lnTo>
                  <a:pt x="128623" y="89932"/>
                </a:lnTo>
                <a:cubicBezTo>
                  <a:pt x="132786" y="91916"/>
                  <a:pt x="135467" y="96520"/>
                  <a:pt x="135467" y="101600"/>
                </a:cubicBezTo>
                <a:cubicBezTo>
                  <a:pt x="135467" y="106680"/>
                  <a:pt x="132786" y="111284"/>
                  <a:pt x="128623" y="113268"/>
                </a:cubicBezTo>
                <a:lnTo>
                  <a:pt x="93274" y="130334"/>
                </a:lnTo>
                <a:lnTo>
                  <a:pt x="78105" y="170101"/>
                </a:lnTo>
                <a:cubicBezTo>
                  <a:pt x="76341" y="174784"/>
                  <a:pt x="72249" y="177800"/>
                  <a:pt x="67733" y="177800"/>
                </a:cubicBezTo>
                <a:cubicBezTo>
                  <a:pt x="63218" y="177800"/>
                  <a:pt x="59126" y="174784"/>
                  <a:pt x="57362" y="170101"/>
                </a:cubicBezTo>
                <a:lnTo>
                  <a:pt x="42192" y="130334"/>
                </a:lnTo>
                <a:lnTo>
                  <a:pt x="6844" y="113268"/>
                </a:lnTo>
                <a:cubicBezTo>
                  <a:pt x="2681" y="111284"/>
                  <a:pt x="0" y="106680"/>
                  <a:pt x="0" y="101600"/>
                </a:cubicBezTo>
                <a:cubicBezTo>
                  <a:pt x="0" y="96520"/>
                  <a:pt x="2681" y="91916"/>
                  <a:pt x="6844" y="89932"/>
                </a:cubicBezTo>
                <a:lnTo>
                  <a:pt x="42192" y="72866"/>
                </a:lnTo>
                <a:lnTo>
                  <a:pt x="57362" y="33099"/>
                </a:lnTo>
                <a:cubicBezTo>
                  <a:pt x="59126" y="28416"/>
                  <a:pt x="63218" y="25400"/>
                  <a:pt x="67733" y="25400"/>
                </a:cubicBezTo>
                <a:cubicBezTo>
                  <a:pt x="72249" y="25400"/>
                  <a:pt x="76341" y="28416"/>
                  <a:pt x="78105" y="33099"/>
                </a:cubicBezTo>
                <a:close/>
                <a:moveTo>
                  <a:pt x="327378" y="241300"/>
                </a:moveTo>
                <a:cubicBezTo>
                  <a:pt x="331893" y="241300"/>
                  <a:pt x="335986" y="244316"/>
                  <a:pt x="337749" y="248999"/>
                </a:cubicBezTo>
                <a:lnTo>
                  <a:pt x="352919" y="288766"/>
                </a:lnTo>
                <a:lnTo>
                  <a:pt x="388267" y="305832"/>
                </a:lnTo>
                <a:cubicBezTo>
                  <a:pt x="392430" y="307816"/>
                  <a:pt x="395111" y="312420"/>
                  <a:pt x="395111" y="317500"/>
                </a:cubicBezTo>
                <a:cubicBezTo>
                  <a:pt x="395111" y="322580"/>
                  <a:pt x="392430" y="327184"/>
                  <a:pt x="388267" y="329168"/>
                </a:cubicBezTo>
                <a:lnTo>
                  <a:pt x="352919" y="346234"/>
                </a:lnTo>
                <a:lnTo>
                  <a:pt x="337749" y="386001"/>
                </a:lnTo>
                <a:cubicBezTo>
                  <a:pt x="335986" y="390684"/>
                  <a:pt x="331893" y="393700"/>
                  <a:pt x="327378" y="393700"/>
                </a:cubicBezTo>
                <a:cubicBezTo>
                  <a:pt x="322862" y="393700"/>
                  <a:pt x="318770" y="390684"/>
                  <a:pt x="317006" y="386001"/>
                </a:cubicBezTo>
                <a:lnTo>
                  <a:pt x="301837" y="346234"/>
                </a:lnTo>
                <a:lnTo>
                  <a:pt x="266488" y="329168"/>
                </a:lnTo>
                <a:cubicBezTo>
                  <a:pt x="262326" y="327184"/>
                  <a:pt x="259644" y="322580"/>
                  <a:pt x="259644" y="317500"/>
                </a:cubicBezTo>
                <a:cubicBezTo>
                  <a:pt x="259644" y="312420"/>
                  <a:pt x="262326" y="307816"/>
                  <a:pt x="266488" y="305832"/>
                </a:cubicBezTo>
                <a:lnTo>
                  <a:pt x="301837" y="288766"/>
                </a:lnTo>
                <a:lnTo>
                  <a:pt x="317006" y="248999"/>
                </a:lnTo>
                <a:cubicBezTo>
                  <a:pt x="318770" y="244316"/>
                  <a:pt x="322862" y="241300"/>
                  <a:pt x="327378" y="241300"/>
                </a:cubicBezTo>
                <a:close/>
                <a:moveTo>
                  <a:pt x="324556" y="0"/>
                </a:moveTo>
                <a:cubicBezTo>
                  <a:pt x="332317" y="0"/>
                  <a:pt x="339796" y="3493"/>
                  <a:pt x="345369" y="9684"/>
                </a:cubicBezTo>
                <a:lnTo>
                  <a:pt x="375214" y="43259"/>
                </a:lnTo>
                <a:cubicBezTo>
                  <a:pt x="380718" y="49530"/>
                  <a:pt x="383822" y="57944"/>
                  <a:pt x="383822" y="66675"/>
                </a:cubicBezTo>
                <a:cubicBezTo>
                  <a:pt x="383822" y="75406"/>
                  <a:pt x="380718" y="83820"/>
                  <a:pt x="375214" y="90091"/>
                </a:cubicBezTo>
                <a:lnTo>
                  <a:pt x="312984" y="160099"/>
                </a:lnTo>
                <a:lnTo>
                  <a:pt x="241512" y="79693"/>
                </a:lnTo>
                <a:lnTo>
                  <a:pt x="303742" y="9684"/>
                </a:lnTo>
                <a:cubicBezTo>
                  <a:pt x="309316" y="3493"/>
                  <a:pt x="316794" y="0"/>
                  <a:pt x="324556" y="0"/>
                </a:cubicBezTo>
                <a:close/>
                <a:moveTo>
                  <a:pt x="31186" y="316309"/>
                </a:moveTo>
                <a:lnTo>
                  <a:pt x="217593" y="106601"/>
                </a:lnTo>
                <a:lnTo>
                  <a:pt x="289066" y="187008"/>
                </a:lnTo>
                <a:lnTo>
                  <a:pt x="102658" y="396716"/>
                </a:lnTo>
                <a:cubicBezTo>
                  <a:pt x="97084" y="402908"/>
                  <a:pt x="89606" y="406400"/>
                  <a:pt x="81844" y="406400"/>
                </a:cubicBezTo>
                <a:cubicBezTo>
                  <a:pt x="74083" y="406400"/>
                  <a:pt x="66604" y="402908"/>
                  <a:pt x="61031" y="396716"/>
                </a:cubicBezTo>
                <a:lnTo>
                  <a:pt x="31186" y="363141"/>
                </a:lnTo>
                <a:cubicBezTo>
                  <a:pt x="25682" y="356870"/>
                  <a:pt x="22578" y="348456"/>
                  <a:pt x="22578" y="339725"/>
                </a:cubicBezTo>
                <a:cubicBezTo>
                  <a:pt x="22578" y="330994"/>
                  <a:pt x="25682" y="322580"/>
                  <a:pt x="31186" y="31630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794500" y="4419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Derivational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4953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new words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un-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-ness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191000"/>
            <a:ext cx="4318000" cy="203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928" y="-19764"/>
                </a:moveTo>
                <a:cubicBezTo>
                  <a:pt x="22296" y="-27226"/>
                  <a:pt x="11571" y="-27226"/>
                  <a:pt x="5009" y="-19764"/>
                </a:cubicBezTo>
                <a:cubicBezTo>
                  <a:pt x="-1552" y="-12303"/>
                  <a:pt x="-1623" y="-238"/>
                  <a:pt x="4939" y="7223"/>
                </a:cubicBezTo>
                <a:lnTo>
                  <a:pt x="377472" y="426323"/>
                </a:lnTo>
                <a:cubicBezTo>
                  <a:pt x="384104" y="433784"/>
                  <a:pt x="394829" y="433784"/>
                  <a:pt x="401391" y="426323"/>
                </a:cubicBezTo>
                <a:cubicBezTo>
                  <a:pt x="407952" y="418862"/>
                  <a:pt x="408023" y="406797"/>
                  <a:pt x="401391" y="399415"/>
                </a:cubicBezTo>
                <a:lnTo>
                  <a:pt x="333375" y="322898"/>
                </a:lnTo>
                <a:cubicBezTo>
                  <a:pt x="335280" y="320993"/>
                  <a:pt x="337185" y="319088"/>
                  <a:pt x="339019" y="317183"/>
                </a:cubicBezTo>
                <a:cubicBezTo>
                  <a:pt x="372039" y="282654"/>
                  <a:pt x="394123" y="241459"/>
                  <a:pt x="404636" y="213122"/>
                </a:cubicBezTo>
                <a:cubicBezTo>
                  <a:pt x="406964" y="206851"/>
                  <a:pt x="406964" y="199866"/>
                  <a:pt x="404636" y="193596"/>
                </a:cubicBezTo>
                <a:cubicBezTo>
                  <a:pt x="394123" y="165259"/>
                  <a:pt x="372039" y="123984"/>
                  <a:pt x="339019" y="89535"/>
                </a:cubicBezTo>
                <a:cubicBezTo>
                  <a:pt x="305788" y="54848"/>
                  <a:pt x="260138" y="25559"/>
                  <a:pt x="203129" y="25559"/>
                </a:cubicBezTo>
                <a:cubicBezTo>
                  <a:pt x="163054" y="25559"/>
                  <a:pt x="128623" y="40005"/>
                  <a:pt x="100118" y="60643"/>
                </a:cubicBezTo>
                <a:lnTo>
                  <a:pt x="28928" y="-19764"/>
                </a:lnTo>
                <a:close/>
                <a:moveTo>
                  <a:pt x="144286" y="110093"/>
                </a:moveTo>
                <a:cubicBezTo>
                  <a:pt x="160867" y="96758"/>
                  <a:pt x="181257" y="88900"/>
                  <a:pt x="203200" y="88900"/>
                </a:cubicBezTo>
                <a:cubicBezTo>
                  <a:pt x="259292" y="88900"/>
                  <a:pt x="304800" y="140097"/>
                  <a:pt x="304800" y="203200"/>
                </a:cubicBezTo>
                <a:cubicBezTo>
                  <a:pt x="304800" y="227886"/>
                  <a:pt x="297815" y="250746"/>
                  <a:pt x="285962" y="269478"/>
                </a:cubicBezTo>
                <a:lnTo>
                  <a:pt x="261479" y="241935"/>
                </a:lnTo>
                <a:cubicBezTo>
                  <a:pt x="270439" y="224949"/>
                  <a:pt x="273473" y="204073"/>
                  <a:pt x="268605" y="183436"/>
                </a:cubicBezTo>
                <a:cubicBezTo>
                  <a:pt x="258939" y="142796"/>
                  <a:pt x="221756" y="118666"/>
                  <a:pt x="185632" y="129540"/>
                </a:cubicBezTo>
                <a:cubicBezTo>
                  <a:pt x="179564" y="131366"/>
                  <a:pt x="173849" y="134064"/>
                  <a:pt x="168698" y="137478"/>
                </a:cubicBezTo>
                <a:lnTo>
                  <a:pt x="144216" y="109934"/>
                </a:lnTo>
                <a:close/>
                <a:moveTo>
                  <a:pt x="229517" y="313611"/>
                </a:moveTo>
                <a:cubicBezTo>
                  <a:pt x="221121" y="316151"/>
                  <a:pt x="212302" y="317500"/>
                  <a:pt x="203200" y="317500"/>
                </a:cubicBezTo>
                <a:cubicBezTo>
                  <a:pt x="147108" y="317500"/>
                  <a:pt x="101600" y="266303"/>
                  <a:pt x="101600" y="203200"/>
                </a:cubicBezTo>
                <a:cubicBezTo>
                  <a:pt x="101600" y="192961"/>
                  <a:pt x="102799" y="183039"/>
                  <a:pt x="105057" y="173593"/>
                </a:cubicBezTo>
                <a:lnTo>
                  <a:pt x="48966" y="110490"/>
                </a:lnTo>
                <a:cubicBezTo>
                  <a:pt x="25964" y="139700"/>
                  <a:pt x="10160" y="170656"/>
                  <a:pt x="1764" y="193437"/>
                </a:cubicBezTo>
                <a:cubicBezTo>
                  <a:pt x="-564" y="199708"/>
                  <a:pt x="-564" y="206692"/>
                  <a:pt x="1764" y="212963"/>
                </a:cubicBezTo>
                <a:cubicBezTo>
                  <a:pt x="12277" y="241300"/>
                  <a:pt x="34361" y="282575"/>
                  <a:pt x="67381" y="317024"/>
                </a:cubicBezTo>
                <a:cubicBezTo>
                  <a:pt x="100612" y="351711"/>
                  <a:pt x="146262" y="381000"/>
                  <a:pt x="203271" y="381000"/>
                </a:cubicBezTo>
                <a:cubicBezTo>
                  <a:pt x="229588" y="381000"/>
                  <a:pt x="253506" y="374729"/>
                  <a:pt x="274884" y="364649"/>
                </a:cubicBezTo>
                <a:lnTo>
                  <a:pt x="229588" y="31369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93500" y="44196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 Morpheme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4953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 "invisible" affix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"cat" = cat +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∅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(singular)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6040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8000" y="6667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morpheme types is essential for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stemming, lemmatization,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building morphological analyzers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Stemming vs. Lemmatization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3020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54864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Stemming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Lemmatization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Rule-based suffix stripping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Vocabulary + morphological analysis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Slower (requires lookup)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Accuracy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May produce non-words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Always valid words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Context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Ignores context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Considers POS and meaning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5524500"/>
            <a:ext cx="6731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51000" y="5715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Stemming Examples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51000" y="6223000"/>
            <a:ext cx="596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"running" → "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"flies" → "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 (non-word)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"happily" → "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happili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82000" y="5524500"/>
            <a:ext cx="6604000" cy="228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8763000" y="5715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Lemmatization Examples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63000" y="62230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"better" → "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"was" → "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"running" → "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L18: Deep-Level Processing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3683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Semantics · Pragmatics · Discourse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18000" y="4445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4445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Analysis — Meaning of Words and Sentences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Focuses on understanding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words and sentences.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Approaches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Syntax-driven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Derives meaning from grammar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grammar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Uses semantic categories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Tasks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Word Sense Disambiguation (WSD)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Named Entity Recognition (NER)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Semantic Role Labeling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350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17000" y="2286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Anomaly Example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271000" y="27940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9017000" y="311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9588500" y="304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4CA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Semantically Valid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"John eats an apple."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Grammatically correct + meaningful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170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2556" y="132556"/>
                </a:moveTo>
                <a:cubicBezTo>
                  <a:pt x="140018" y="125095"/>
                  <a:pt x="152083" y="125095"/>
                  <a:pt x="159464" y="132556"/>
                </a:cubicBezTo>
                <a:lnTo>
                  <a:pt x="203121" y="176213"/>
                </a:lnTo>
                <a:lnTo>
                  <a:pt x="246777" y="132556"/>
                </a:lnTo>
                <a:cubicBezTo>
                  <a:pt x="254238" y="125095"/>
                  <a:pt x="266303" y="125095"/>
                  <a:pt x="273685" y="132556"/>
                </a:cubicBezTo>
                <a:cubicBezTo>
                  <a:pt x="281067" y="140018"/>
                  <a:pt x="281146" y="152083"/>
                  <a:pt x="273685" y="159464"/>
                </a:cubicBezTo>
                <a:lnTo>
                  <a:pt x="230029" y="203121"/>
                </a:lnTo>
                <a:lnTo>
                  <a:pt x="273685" y="246777"/>
                </a:lnTo>
                <a:cubicBezTo>
                  <a:pt x="281146" y="254238"/>
                  <a:pt x="281146" y="266303"/>
                  <a:pt x="273685" y="273685"/>
                </a:cubicBezTo>
                <a:cubicBezTo>
                  <a:pt x="266224" y="281067"/>
                  <a:pt x="254159" y="281146"/>
                  <a:pt x="246777" y="273685"/>
                </a:cubicBezTo>
                <a:lnTo>
                  <a:pt x="203121" y="230029"/>
                </a:lnTo>
                <a:lnTo>
                  <a:pt x="159464" y="273685"/>
                </a:lnTo>
                <a:cubicBezTo>
                  <a:pt x="152003" y="281146"/>
                  <a:pt x="139938" y="281146"/>
                  <a:pt x="132556" y="273685"/>
                </a:cubicBezTo>
                <a:cubicBezTo>
                  <a:pt x="125174" y="266224"/>
                  <a:pt x="125095" y="254159"/>
                  <a:pt x="132556" y="246777"/>
                </a:cubicBezTo>
                <a:lnTo>
                  <a:pt x="176212" y="203121"/>
                </a:lnTo>
                <a:lnTo>
                  <a:pt x="132556" y="159464"/>
                </a:lnTo>
                <a:cubicBezTo>
                  <a:pt x="125095" y="152003"/>
                  <a:pt x="125095" y="139938"/>
                  <a:pt x="132556" y="13255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588500" y="431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Semantically Invalid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"Colorless green ideas sleep furiously."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Grammatically correct but meaningless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17000" y="5588000"/>
            <a:ext cx="5588000" cy="889000"/>
          </a:xfrm>
          <a:prstGeom prst="roundRect">
            <a:avLst>
              <a:gd name="adj" fmla="val 10000"/>
            </a:avLst>
          </a:prstGeom>
          <a:solidFill>
            <a:srgbClr val="2E5E8A">
              <a:alpha val="3137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5715000"/>
            <a:ext cx="533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i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"Semantics focuses on literal meaning — pragmatics on inferred meaning"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 Sense Disambiguation (WSD)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WSD determines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meaning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ambiguous words based on context. Many common words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polysemous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having multiple senses.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921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311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"bank"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619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Financial institution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 went to the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River side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river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921000"/>
            <a:ext cx="4318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23000" y="311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"light"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23000" y="3619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Not heavy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backpack"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Not dark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"Turn on the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0" y="2921000"/>
            <a:ext cx="4318000" cy="2286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10922000" y="311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"run"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22000" y="3619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Move quickly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school"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Operate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program"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5588000"/>
            <a:ext cx="13716000" cy="2159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78000" y="577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WSD Approaches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78000" y="62865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Dictionary-based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Uses lexical resources like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WordNet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look up possible senses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Supervised ML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Training on manually annotated corpora with sense labels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Unsupervised/Knowledge-based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Using co-occurrence patterns and context similarity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Named Entity Recognition (NER)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NER identifies and classifies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named entities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predefined categories using lexical knowledge and contextual analysis.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Entity Types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4445000"/>
            <a:ext cx="2159000" cy="76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4445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Albert Einstein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9500" y="4445000"/>
            <a:ext cx="2159000" cy="76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3619500" y="4445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Organization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United Nations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4445000"/>
            <a:ext cx="2159000" cy="7620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4445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Mount Everest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905000"/>
            <a:ext cx="6350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17000" y="2159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17000" y="2667000"/>
            <a:ext cx="558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Information Extraction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Pull structured data from text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 Answering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Identify entities in queries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 Indexing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Tag entities for search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Graphs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Build entity relationship networks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5588000"/>
            <a:ext cx="13716000" cy="215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7780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76500" y="5905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NER Approaches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78000" y="6540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BiLSTM-CRF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Bidirectional LSTM with Conditional Random Field layer for sequence labeling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BERT-based models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Fine-tuned transformer models achieve state-of-the-art accuracy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Roles and Predicate-Argument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Role Labeling (SRL)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identifies the roles words play relative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predicates (verbs)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revealing "who did what to whom."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2921000"/>
          <a:ext cx="7620000" cy="3175000"/>
        </p:xfrm>
        <a:graphic>
          <a:graphicData uri="http://schemas.openxmlformats.org/drawingml/2006/table">
            <a:tbl>
              <a:tblPr/>
              <a:tblGrid>
                <a:gridCol w="1905000"/>
                <a:gridCol w="3048000"/>
                <a:gridCol w="2667000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Doer of action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"Mary" gave...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Patient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Receiver of action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"book" was given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Thing acted upon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 book"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Instrument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 used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"with a knife"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Beneficiary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Who benefits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"for John"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271000" y="2921000"/>
            <a:ext cx="5715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52000" y="3111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Analysis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52000" y="3619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"Mary gave John a book"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906000" y="4127500"/>
            <a:ext cx="4445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10" name="Text 7"/>
          <p:cNvSpPr/>
          <p:nvPr/>
        </p:nvSpPr>
        <p:spPr>
          <a:xfrm>
            <a:off x="9652000" y="4318000"/>
            <a:ext cx="495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Agent (giver)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gave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Predicate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John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Recipient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book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Theme (thing given)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70000" y="6477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78000" y="6604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PropBank numbering: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Arg0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Proto-Agent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Arg1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Proto-Patient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Arg2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Indirect Object | Applications: QA, IE, MT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Pragmatic Analysis — Context and Intent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Focuses on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intended meaning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beyond literal words — considering context, tone, and speaker intention.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Aspects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Actual purpose behind statements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Figurative meaning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Idioms, metaphors, sarcasm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interpretation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Real-world knowledge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Question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"What did the speaker actually mean?"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350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17000" y="2286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Literal vs. Intended Meaning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271000" y="27940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29845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17000" y="33274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"Can you pass the salt?"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(not a question about ability)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17000" y="43180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17000" y="46609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"Do you know what time it is?"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Resentment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about lateness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17000" y="56515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17000" y="5969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"I'm falling for you."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</a:t>
            </a:r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Expression of love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(not literal falling)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Acts and Figurative Language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Speech Act Classification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413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59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460500" y="31115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Assertives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0500" y="3492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 facts</a:t>
            </a:r>
            <a:endParaRPr lang="en-US" sz="14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4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door is open"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4000" y="2413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53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0" y="76200"/>
                </a:moveTo>
                <a:cubicBezTo>
                  <a:pt x="395049" y="76200"/>
                  <a:pt x="406400" y="87551"/>
                  <a:pt x="406400" y="101600"/>
                </a:cubicBezTo>
                <a:cubicBezTo>
                  <a:pt x="406400" y="115649"/>
                  <a:pt x="395049" y="127000"/>
                  <a:pt x="381000" y="127000"/>
                </a:cubicBezTo>
                <a:lnTo>
                  <a:pt x="215900" y="127000"/>
                </a:lnTo>
                <a:lnTo>
                  <a:pt x="215900" y="76200"/>
                </a:lnTo>
                <a:lnTo>
                  <a:pt x="381000" y="76200"/>
                </a:lnTo>
                <a:close/>
                <a:moveTo>
                  <a:pt x="254000" y="228600"/>
                </a:moveTo>
                <a:cubicBezTo>
                  <a:pt x="268049" y="228600"/>
                  <a:pt x="279400" y="239951"/>
                  <a:pt x="279400" y="254000"/>
                </a:cubicBezTo>
                <a:cubicBezTo>
                  <a:pt x="279400" y="268049"/>
                  <a:pt x="268049" y="279400"/>
                  <a:pt x="254000" y="279400"/>
                </a:cubicBezTo>
                <a:lnTo>
                  <a:pt x="203200" y="279400"/>
                </a:lnTo>
                <a:cubicBezTo>
                  <a:pt x="189151" y="279400"/>
                  <a:pt x="177800" y="268049"/>
                  <a:pt x="177800" y="254000"/>
                </a:cubicBezTo>
                <a:cubicBezTo>
                  <a:pt x="177800" y="239951"/>
                  <a:pt x="189151" y="228600"/>
                  <a:pt x="203200" y="228600"/>
                </a:cubicBezTo>
                <a:lnTo>
                  <a:pt x="254000" y="228600"/>
                </a:lnTo>
                <a:close/>
                <a:moveTo>
                  <a:pt x="304800" y="177800"/>
                </a:moveTo>
                <a:cubicBezTo>
                  <a:pt x="304800" y="191849"/>
                  <a:pt x="293449" y="203200"/>
                  <a:pt x="279400" y="203200"/>
                </a:cubicBezTo>
                <a:lnTo>
                  <a:pt x="241300" y="203200"/>
                </a:lnTo>
                <a:cubicBezTo>
                  <a:pt x="227251" y="203200"/>
                  <a:pt x="215900" y="191849"/>
                  <a:pt x="215900" y="177800"/>
                </a:cubicBezTo>
                <a:cubicBezTo>
                  <a:pt x="215900" y="163751"/>
                  <a:pt x="227251" y="152400"/>
                  <a:pt x="241300" y="152400"/>
                </a:cubicBezTo>
                <a:lnTo>
                  <a:pt x="279400" y="152400"/>
                </a:lnTo>
                <a:cubicBezTo>
                  <a:pt x="293449" y="152400"/>
                  <a:pt x="304800" y="163751"/>
                  <a:pt x="304800" y="177800"/>
                </a:cubicBezTo>
                <a:close/>
                <a:moveTo>
                  <a:pt x="228600" y="304800"/>
                </a:moveTo>
                <a:cubicBezTo>
                  <a:pt x="242649" y="304800"/>
                  <a:pt x="254000" y="316151"/>
                  <a:pt x="254000" y="330200"/>
                </a:cubicBezTo>
                <a:cubicBezTo>
                  <a:pt x="254000" y="344249"/>
                  <a:pt x="242649" y="355600"/>
                  <a:pt x="2286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lnTo>
                  <a:pt x="228600" y="304800"/>
                </a:lnTo>
                <a:close/>
                <a:moveTo>
                  <a:pt x="158750" y="228600"/>
                </a:moveTo>
                <a:lnTo>
                  <a:pt x="159226" y="228600"/>
                </a:lnTo>
                <a:cubicBezTo>
                  <a:pt x="154940" y="236061"/>
                  <a:pt x="152400" y="244713"/>
                  <a:pt x="152400" y="254000"/>
                </a:cubicBezTo>
                <a:cubicBezTo>
                  <a:pt x="152400" y="264478"/>
                  <a:pt x="155575" y="274161"/>
                  <a:pt x="160973" y="282258"/>
                </a:cubicBezTo>
                <a:cubicBezTo>
                  <a:pt x="141208" y="289163"/>
                  <a:pt x="127000" y="308054"/>
                  <a:pt x="127000" y="330200"/>
                </a:cubicBezTo>
                <a:cubicBezTo>
                  <a:pt x="127000" y="339487"/>
                  <a:pt x="129461" y="348139"/>
                  <a:pt x="133826" y="355600"/>
                </a:cubicBezTo>
                <a:lnTo>
                  <a:pt x="127000" y="355600"/>
                </a:lnTo>
                <a:cubicBezTo>
                  <a:pt x="56832" y="355600"/>
                  <a:pt x="0" y="298768"/>
                  <a:pt x="0" y="228600"/>
                </a:cubicBezTo>
                <a:lnTo>
                  <a:pt x="0" y="179626"/>
                </a:lnTo>
                <a:cubicBezTo>
                  <a:pt x="0" y="145971"/>
                  <a:pt x="13414" y="113665"/>
                  <a:pt x="37227" y="89853"/>
                </a:cubicBezTo>
                <a:lnTo>
                  <a:pt x="46434" y="80645"/>
                </a:lnTo>
                <a:cubicBezTo>
                  <a:pt x="65484" y="61516"/>
                  <a:pt x="91361" y="50800"/>
                  <a:pt x="118269" y="50800"/>
                </a:cubicBezTo>
                <a:lnTo>
                  <a:pt x="139700" y="50800"/>
                </a:lnTo>
                <a:cubicBezTo>
                  <a:pt x="167719" y="50800"/>
                  <a:pt x="190500" y="73581"/>
                  <a:pt x="190500" y="101600"/>
                </a:cubicBezTo>
                <a:lnTo>
                  <a:pt x="190500" y="171450"/>
                </a:lnTo>
                <a:cubicBezTo>
                  <a:pt x="190500" y="188992"/>
                  <a:pt x="176292" y="203200"/>
                  <a:pt x="158750" y="203200"/>
                </a:cubicBezTo>
                <a:cubicBezTo>
                  <a:pt x="141208" y="203200"/>
                  <a:pt x="127000" y="188992"/>
                  <a:pt x="127000" y="171450"/>
                </a:cubicBezTo>
                <a:lnTo>
                  <a:pt x="127000" y="127000"/>
                </a:lnTo>
                <a:cubicBezTo>
                  <a:pt x="127000" y="120015"/>
                  <a:pt x="121285" y="114300"/>
                  <a:pt x="114300" y="114300"/>
                </a:cubicBezTo>
                <a:cubicBezTo>
                  <a:pt x="107315" y="114300"/>
                  <a:pt x="101600" y="120015"/>
                  <a:pt x="101600" y="127000"/>
                </a:cubicBezTo>
                <a:lnTo>
                  <a:pt x="101600" y="171450"/>
                </a:lnTo>
                <a:cubicBezTo>
                  <a:pt x="101600" y="203041"/>
                  <a:pt x="127159" y="228600"/>
                  <a:pt x="158750" y="228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4254500" y="31115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54500" y="3492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 action</a:t>
            </a:r>
            <a:endParaRPr lang="en-US" sz="14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4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"Close the door"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2413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47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9724" y="67628"/>
                </a:moveTo>
                <a:lnTo>
                  <a:pt x="107456" y="170498"/>
                </a:lnTo>
                <a:cubicBezTo>
                  <a:pt x="104211" y="174546"/>
                  <a:pt x="104352" y="180816"/>
                  <a:pt x="107809" y="184706"/>
                </a:cubicBezTo>
                <a:cubicBezTo>
                  <a:pt x="129328" y="208915"/>
                  <a:pt x="164253" y="208915"/>
                  <a:pt x="185773" y="184706"/>
                </a:cubicBezTo>
                <a:lnTo>
                  <a:pt x="208209" y="159464"/>
                </a:lnTo>
                <a:cubicBezTo>
                  <a:pt x="211173" y="156131"/>
                  <a:pt x="214912" y="154305"/>
                  <a:pt x="218722" y="153988"/>
                </a:cubicBezTo>
                <a:cubicBezTo>
                  <a:pt x="223520" y="153511"/>
                  <a:pt x="228459" y="155337"/>
                  <a:pt x="232128" y="159464"/>
                </a:cubicBezTo>
                <a:lnTo>
                  <a:pt x="356729" y="298450"/>
                </a:lnTo>
                <a:lnTo>
                  <a:pt x="406400" y="254000"/>
                </a:lnTo>
                <a:lnTo>
                  <a:pt x="406400" y="25400"/>
                </a:lnTo>
                <a:lnTo>
                  <a:pt x="327378" y="76200"/>
                </a:lnTo>
                <a:lnTo>
                  <a:pt x="310586" y="63579"/>
                </a:lnTo>
                <a:cubicBezTo>
                  <a:pt x="299438" y="55245"/>
                  <a:pt x="286385" y="50800"/>
                  <a:pt x="272979" y="50800"/>
                </a:cubicBezTo>
                <a:lnTo>
                  <a:pt x="223308" y="50800"/>
                </a:lnTo>
                <a:cubicBezTo>
                  <a:pt x="222532" y="50800"/>
                  <a:pt x="221686" y="50800"/>
                  <a:pt x="220909" y="50879"/>
                </a:cubicBezTo>
                <a:cubicBezTo>
                  <a:pt x="208986" y="51594"/>
                  <a:pt x="197767" y="57626"/>
                  <a:pt x="189724" y="67627"/>
                </a:cubicBezTo>
                <a:close/>
                <a:moveTo>
                  <a:pt x="82268" y="145018"/>
                </a:moveTo>
                <a:lnTo>
                  <a:pt x="157621" y="50800"/>
                </a:lnTo>
                <a:lnTo>
                  <a:pt x="129681" y="50800"/>
                </a:lnTo>
                <a:cubicBezTo>
                  <a:pt x="111689" y="50800"/>
                  <a:pt x="94474" y="58817"/>
                  <a:pt x="81774" y="73104"/>
                </a:cubicBezTo>
                <a:lnTo>
                  <a:pt x="79022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10349" y="357426"/>
                </a:lnTo>
                <a:cubicBezTo>
                  <a:pt x="126577" y="372666"/>
                  <a:pt x="147038" y="381000"/>
                  <a:pt x="168134" y="381000"/>
                </a:cubicBezTo>
                <a:lnTo>
                  <a:pt x="179211" y="381000"/>
                </a:lnTo>
                <a:lnTo>
                  <a:pt x="174272" y="375444"/>
                </a:lnTo>
                <a:cubicBezTo>
                  <a:pt x="167640" y="367983"/>
                  <a:pt x="167640" y="355918"/>
                  <a:pt x="174272" y="348536"/>
                </a:cubicBezTo>
                <a:cubicBezTo>
                  <a:pt x="180904" y="341154"/>
                  <a:pt x="191629" y="341074"/>
                  <a:pt x="198191" y="348536"/>
                </a:cubicBezTo>
                <a:lnTo>
                  <a:pt x="227118" y="381079"/>
                </a:lnTo>
                <a:lnTo>
                  <a:pt x="233468" y="381079"/>
                </a:lnTo>
                <a:cubicBezTo>
                  <a:pt x="246944" y="381079"/>
                  <a:pt x="260138" y="377666"/>
                  <a:pt x="272133" y="371316"/>
                </a:cubicBezTo>
                <a:lnTo>
                  <a:pt x="253294" y="350044"/>
                </a:lnTo>
                <a:cubicBezTo>
                  <a:pt x="246662" y="342583"/>
                  <a:pt x="246662" y="330518"/>
                  <a:pt x="253294" y="323136"/>
                </a:cubicBezTo>
                <a:cubicBezTo>
                  <a:pt x="259927" y="315754"/>
                  <a:pt x="270651" y="315674"/>
                  <a:pt x="277213" y="323136"/>
                </a:cubicBezTo>
                <a:lnTo>
                  <a:pt x="299791" y="348536"/>
                </a:lnTo>
                <a:lnTo>
                  <a:pt x="312138" y="334645"/>
                </a:lnTo>
                <a:cubicBezTo>
                  <a:pt x="318417" y="327581"/>
                  <a:pt x="320252" y="317341"/>
                  <a:pt x="317500" y="308372"/>
                </a:cubicBezTo>
                <a:lnTo>
                  <a:pt x="220204" y="199787"/>
                </a:lnTo>
                <a:lnTo>
                  <a:pt x="209691" y="211614"/>
                </a:lnTo>
                <a:cubicBezTo>
                  <a:pt x="174907" y="250746"/>
                  <a:pt x="118604" y="250746"/>
                  <a:pt x="83820" y="211614"/>
                </a:cubicBezTo>
                <a:cubicBezTo>
                  <a:pt x="67592" y="193357"/>
                  <a:pt x="66957" y="164068"/>
                  <a:pt x="82268" y="14493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8500" y="31115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Commissives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8500" y="3492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Promise/commit</a:t>
            </a:r>
            <a:endParaRPr lang="en-US" sz="14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4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"I'll help you"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52000" y="2413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41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1294" y="69136"/>
                </a:moveTo>
                <a:lnTo>
                  <a:pt x="203200" y="85566"/>
                </a:lnTo>
                <a:lnTo>
                  <a:pt x="215106" y="69136"/>
                </a:lnTo>
                <a:cubicBezTo>
                  <a:pt x="234950" y="41672"/>
                  <a:pt x="266859" y="25400"/>
                  <a:pt x="300752" y="25400"/>
                </a:cubicBezTo>
                <a:cubicBezTo>
                  <a:pt x="359093" y="25400"/>
                  <a:pt x="406400" y="72708"/>
                  <a:pt x="406400" y="131048"/>
                </a:cubicBezTo>
                <a:lnTo>
                  <a:pt x="406400" y="133112"/>
                </a:lnTo>
                <a:cubicBezTo>
                  <a:pt x="406400" y="222171"/>
                  <a:pt x="295354" y="325596"/>
                  <a:pt x="237411" y="369808"/>
                </a:cubicBezTo>
                <a:cubicBezTo>
                  <a:pt x="227568" y="377269"/>
                  <a:pt x="215503" y="381000"/>
                  <a:pt x="203200" y="381000"/>
                </a:cubicBezTo>
                <a:cubicBezTo>
                  <a:pt x="190897" y="381000"/>
                  <a:pt x="178753" y="377349"/>
                  <a:pt x="168989" y="369808"/>
                </a:cubicBezTo>
                <a:cubicBezTo>
                  <a:pt x="111046" y="325596"/>
                  <a:pt x="0" y="222171"/>
                  <a:pt x="0" y="133112"/>
                </a:cubicBezTo>
                <a:lnTo>
                  <a:pt x="0" y="131048"/>
                </a:lnTo>
                <a:cubicBezTo>
                  <a:pt x="0" y="72708"/>
                  <a:pt x="47308" y="25400"/>
                  <a:pt x="105648" y="25400"/>
                </a:cubicBezTo>
                <a:cubicBezTo>
                  <a:pt x="139541" y="25400"/>
                  <a:pt x="171450" y="41672"/>
                  <a:pt x="191294" y="6913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9842500" y="31115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Expressives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42500" y="3492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 emotion</a:t>
            </a:r>
            <a:endParaRPr lang="en-US" sz="14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4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"Thank you!"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446000" y="2413000"/>
            <a:ext cx="2540000" cy="2286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13335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9662" y="121761"/>
                </a:moveTo>
                <a:lnTo>
                  <a:pt x="106468" y="106918"/>
                </a:lnTo>
                <a:cubicBezTo>
                  <a:pt x="97649" y="96996"/>
                  <a:pt x="97649" y="80883"/>
                  <a:pt x="106468" y="70961"/>
                </a:cubicBezTo>
                <a:lnTo>
                  <a:pt x="187396" y="-20161"/>
                </a:lnTo>
                <a:cubicBezTo>
                  <a:pt x="196215" y="-30083"/>
                  <a:pt x="210538" y="-30083"/>
                  <a:pt x="219357" y="-20161"/>
                </a:cubicBezTo>
                <a:lnTo>
                  <a:pt x="232551" y="-5239"/>
                </a:lnTo>
                <a:cubicBezTo>
                  <a:pt x="241371" y="4683"/>
                  <a:pt x="241371" y="20796"/>
                  <a:pt x="232551" y="30718"/>
                </a:cubicBezTo>
                <a:lnTo>
                  <a:pt x="151624" y="121761"/>
                </a:lnTo>
                <a:cubicBezTo>
                  <a:pt x="142804" y="131683"/>
                  <a:pt x="128482" y="131683"/>
                  <a:pt x="119662" y="121761"/>
                </a:cubicBezTo>
                <a:close/>
                <a:moveTo>
                  <a:pt x="194733" y="168037"/>
                </a:moveTo>
                <a:lnTo>
                  <a:pt x="172579" y="143113"/>
                </a:lnTo>
                <a:lnTo>
                  <a:pt x="251601" y="54213"/>
                </a:lnTo>
                <a:lnTo>
                  <a:pt x="335844" y="148987"/>
                </a:lnTo>
                <a:lnTo>
                  <a:pt x="256822" y="237887"/>
                </a:lnTo>
                <a:lnTo>
                  <a:pt x="234668" y="212963"/>
                </a:lnTo>
                <a:lnTo>
                  <a:pt x="70979" y="397113"/>
                </a:lnTo>
                <a:cubicBezTo>
                  <a:pt x="59972" y="409496"/>
                  <a:pt x="42122" y="409496"/>
                  <a:pt x="31044" y="397113"/>
                </a:cubicBezTo>
                <a:cubicBezTo>
                  <a:pt x="19967" y="384731"/>
                  <a:pt x="20038" y="364649"/>
                  <a:pt x="31044" y="352187"/>
                </a:cubicBezTo>
                <a:lnTo>
                  <a:pt x="194733" y="168037"/>
                </a:lnTo>
                <a:close/>
                <a:moveTo>
                  <a:pt x="275802" y="297339"/>
                </a:moveTo>
                <a:cubicBezTo>
                  <a:pt x="266982" y="287417"/>
                  <a:pt x="266982" y="271304"/>
                  <a:pt x="275802" y="261382"/>
                </a:cubicBezTo>
                <a:lnTo>
                  <a:pt x="356729" y="170339"/>
                </a:lnTo>
                <a:cubicBezTo>
                  <a:pt x="365548" y="160417"/>
                  <a:pt x="379871" y="160417"/>
                  <a:pt x="388691" y="170339"/>
                </a:cubicBezTo>
                <a:lnTo>
                  <a:pt x="401884" y="185182"/>
                </a:lnTo>
                <a:cubicBezTo>
                  <a:pt x="410704" y="195104"/>
                  <a:pt x="410704" y="211217"/>
                  <a:pt x="401884" y="221139"/>
                </a:cubicBezTo>
                <a:lnTo>
                  <a:pt x="320957" y="312261"/>
                </a:lnTo>
                <a:cubicBezTo>
                  <a:pt x="312138" y="322183"/>
                  <a:pt x="297815" y="322183"/>
                  <a:pt x="288996" y="312261"/>
                </a:cubicBezTo>
                <a:lnTo>
                  <a:pt x="275802" y="2974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636500" y="31115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Declarations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636500" y="3492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Change reality</a:t>
            </a:r>
            <a:endParaRPr lang="en-US" sz="14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4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 declare you married"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270000" y="5080000"/>
            <a:ext cx="13716000" cy="2667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8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Figurative Language Challenges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78000" y="57785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Idioms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"kick the bucket" = die | "break a leg" = good luck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Metaphors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"time is money" | "the world is a stage"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Irony/Sarcasm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Saying the opposite of what is meant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Hyperbole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"I've told you a million times" (exaggeration)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Discourse Analysis — Beyond Single Sentences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Discourse analysis deals with how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sentences connect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within a larger context — ensuring meaning remains coherent across text.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111500"/>
            <a:ext cx="6731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10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5043" y="371673"/>
                </a:moveTo>
                <a:lnTo>
                  <a:pt x="499710" y="276423"/>
                </a:lnTo>
                <a:cubicBezTo>
                  <a:pt x="510734" y="264021"/>
                  <a:pt x="510734" y="243880"/>
                  <a:pt x="499710" y="231477"/>
                </a:cubicBezTo>
                <a:lnTo>
                  <a:pt x="415043" y="136227"/>
                </a:lnTo>
                <a:cubicBezTo>
                  <a:pt x="404019" y="123825"/>
                  <a:pt x="386115" y="123825"/>
                  <a:pt x="375091" y="136227"/>
                </a:cubicBezTo>
                <a:cubicBezTo>
                  <a:pt x="364067" y="148630"/>
                  <a:pt x="364067" y="168771"/>
                  <a:pt x="375091" y="181173"/>
                </a:cubicBezTo>
                <a:lnTo>
                  <a:pt x="411603" y="222250"/>
                </a:lnTo>
                <a:lnTo>
                  <a:pt x="96308" y="22225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ubicBezTo>
                  <a:pt x="121797" y="123825"/>
                  <a:pt x="103893" y="123825"/>
                  <a:pt x="92869" y="136227"/>
                </a:cubicBezTo>
                <a:lnTo>
                  <a:pt x="8202" y="231477"/>
                </a:lnTo>
                <a:cubicBezTo>
                  <a:pt x="2910" y="237430"/>
                  <a:pt x="-88" y="245467"/>
                  <a:pt x="-88" y="253901"/>
                </a:cubicBezTo>
                <a:cubicBezTo>
                  <a:pt x="-88" y="262334"/>
                  <a:pt x="2910" y="270371"/>
                  <a:pt x="8202" y="276324"/>
                </a:cubicBezTo>
                <a:lnTo>
                  <a:pt x="92869" y="371574"/>
                </a:lnTo>
                <a:cubicBezTo>
                  <a:pt x="103893" y="383977"/>
                  <a:pt x="121797" y="383977"/>
                  <a:pt x="132821" y="371574"/>
                </a:cubicBezTo>
                <a:cubicBezTo>
                  <a:pt x="143845" y="359172"/>
                  <a:pt x="143845" y="339030"/>
                  <a:pt x="132821" y="326628"/>
                </a:cubicBezTo>
                <a:lnTo>
                  <a:pt x="96308" y="285552"/>
                </a:lnTo>
                <a:lnTo>
                  <a:pt x="411603" y="285552"/>
                </a:lnTo>
                <a:lnTo>
                  <a:pt x="375091" y="326628"/>
                </a:lnTo>
                <a:cubicBezTo>
                  <a:pt x="364067" y="339030"/>
                  <a:pt x="364067" y="359172"/>
                  <a:pt x="375091" y="371574"/>
                </a:cubicBezTo>
                <a:cubicBezTo>
                  <a:pt x="386115" y="383977"/>
                  <a:pt x="404019" y="383977"/>
                  <a:pt x="415043" y="37157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365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Anaphora Resolution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1000" y="4000500"/>
            <a:ext cx="596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Identifying references (pronouns) and linking them to correct antecedents.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"Taylor went to the store.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bought groceries."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"She" refers to "Taylor"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111500"/>
            <a:ext cx="6604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630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365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Discourse Structure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4000500"/>
            <a:ext cx="584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Identifying relationships between sentences: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Elaboration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providing detail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showing difference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Cause-Effect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explanation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Sequence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temporal order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69850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8000" y="7048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Unlike syntax and semantics (single-sentence),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discourse operates at the text level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Anaphora and Coreference Resolution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68500"/>
            <a:ext cx="6858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Anaphora Resolution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Recognizes entities referenced by anaphors (pronouns).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Coreference Resolution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expressions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that refer to the same entity.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 of Anaphora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Pronominal — "she", "it", "they"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Definite NPs — "the door", "that man"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Bridging — "the front door" of John's house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36000" y="1968500"/>
            <a:ext cx="6350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17000" y="2222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Resolution Example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271000" y="27305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292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(i) "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Ram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topped in the class."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(ii) "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was intelligent."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3030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0" y="43815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"He" refers to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"Ram"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Coreference link established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70000" y="5905500"/>
            <a:ext cx="13716000" cy="1778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1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6286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51000" y="6858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 Summarization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Track entities across paragraphs |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Information Extraction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Link mentions to entities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Translation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Maintain referential consistency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Discourse Structure and Coherence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Coherence Relations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969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Relations that connect sentences: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Elaboration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providing detail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"however", "but"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Cause-Effect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"therefore", "so"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Sequence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"first", "then", "finally"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2978" y="85725"/>
                </a:moveTo>
                <a:cubicBezTo>
                  <a:pt x="319802" y="85725"/>
                  <a:pt x="307023" y="89743"/>
                  <a:pt x="295831" y="97066"/>
                </a:cubicBezTo>
                <a:cubicBezTo>
                  <a:pt x="283289" y="82778"/>
                  <a:pt x="268684" y="70812"/>
                  <a:pt x="252571" y="61793"/>
                </a:cubicBezTo>
                <a:cubicBezTo>
                  <a:pt x="274955" y="40362"/>
                  <a:pt x="303451" y="28575"/>
                  <a:pt x="332978" y="28575"/>
                </a:cubicBezTo>
                <a:cubicBezTo>
                  <a:pt x="401558" y="28575"/>
                  <a:pt x="457200" y="91083"/>
                  <a:pt x="457200" y="168325"/>
                </a:cubicBezTo>
                <a:cubicBezTo>
                  <a:pt x="457200" y="205383"/>
                  <a:pt x="444103" y="240923"/>
                  <a:pt x="420846" y="267087"/>
                </a:cubicBezTo>
                <a:lnTo>
                  <a:pt x="364411" y="330577"/>
                </a:lnTo>
                <a:cubicBezTo>
                  <a:pt x="341154" y="356741"/>
                  <a:pt x="309563" y="371475"/>
                  <a:pt x="276622" y="371475"/>
                </a:cubicBezTo>
                <a:cubicBezTo>
                  <a:pt x="208042" y="371475"/>
                  <a:pt x="152400" y="308967"/>
                  <a:pt x="152400" y="231725"/>
                </a:cubicBezTo>
                <a:cubicBezTo>
                  <a:pt x="152400" y="230386"/>
                  <a:pt x="152400" y="229046"/>
                  <a:pt x="152479" y="227707"/>
                </a:cubicBezTo>
                <a:cubicBezTo>
                  <a:pt x="152876" y="211901"/>
                  <a:pt x="164544" y="199489"/>
                  <a:pt x="178594" y="199936"/>
                </a:cubicBezTo>
                <a:cubicBezTo>
                  <a:pt x="192643" y="200382"/>
                  <a:pt x="203676" y="213509"/>
                  <a:pt x="203279" y="229314"/>
                </a:cubicBezTo>
                <a:cubicBezTo>
                  <a:pt x="203279" y="230118"/>
                  <a:pt x="203279" y="230922"/>
                  <a:pt x="203279" y="231636"/>
                </a:cubicBezTo>
                <a:cubicBezTo>
                  <a:pt x="203279" y="277267"/>
                  <a:pt x="236141" y="314236"/>
                  <a:pt x="276701" y="314236"/>
                </a:cubicBezTo>
                <a:cubicBezTo>
                  <a:pt x="296148" y="314236"/>
                  <a:pt x="314801" y="305574"/>
                  <a:pt x="328613" y="290036"/>
                </a:cubicBezTo>
                <a:lnTo>
                  <a:pt x="385048" y="226546"/>
                </a:lnTo>
                <a:cubicBezTo>
                  <a:pt x="398780" y="211098"/>
                  <a:pt x="406559" y="190024"/>
                  <a:pt x="406559" y="168146"/>
                </a:cubicBezTo>
                <a:cubicBezTo>
                  <a:pt x="406559" y="122515"/>
                  <a:pt x="373698" y="85546"/>
                  <a:pt x="333137" y="85546"/>
                </a:cubicBezTo>
                <a:close/>
                <a:moveTo>
                  <a:pt x="218440" y="154751"/>
                </a:moveTo>
                <a:cubicBezTo>
                  <a:pt x="216932" y="154037"/>
                  <a:pt x="215424" y="153055"/>
                  <a:pt x="214074" y="151983"/>
                </a:cubicBezTo>
                <a:cubicBezTo>
                  <a:pt x="204073" y="146179"/>
                  <a:pt x="192643" y="142875"/>
                  <a:pt x="180658" y="142875"/>
                </a:cubicBezTo>
                <a:cubicBezTo>
                  <a:pt x="161211" y="142875"/>
                  <a:pt x="142558" y="151537"/>
                  <a:pt x="128746" y="167074"/>
                </a:cubicBezTo>
                <a:lnTo>
                  <a:pt x="72311" y="230565"/>
                </a:lnTo>
                <a:cubicBezTo>
                  <a:pt x="58579" y="246013"/>
                  <a:pt x="50800" y="267087"/>
                  <a:pt x="50800" y="288965"/>
                </a:cubicBezTo>
                <a:cubicBezTo>
                  <a:pt x="50800" y="334595"/>
                  <a:pt x="83661" y="371564"/>
                  <a:pt x="124222" y="371564"/>
                </a:cubicBezTo>
                <a:cubicBezTo>
                  <a:pt x="137319" y="371564"/>
                  <a:pt x="150098" y="367635"/>
                  <a:pt x="161290" y="360313"/>
                </a:cubicBezTo>
                <a:cubicBezTo>
                  <a:pt x="173831" y="374600"/>
                  <a:pt x="188436" y="386566"/>
                  <a:pt x="204629" y="395585"/>
                </a:cubicBezTo>
                <a:cubicBezTo>
                  <a:pt x="182245" y="416927"/>
                  <a:pt x="153829" y="428804"/>
                  <a:pt x="124222" y="428804"/>
                </a:cubicBezTo>
                <a:cubicBezTo>
                  <a:pt x="55642" y="428804"/>
                  <a:pt x="0" y="366296"/>
                  <a:pt x="0" y="289054"/>
                </a:cubicBezTo>
                <a:cubicBezTo>
                  <a:pt x="0" y="251996"/>
                  <a:pt x="13097" y="216456"/>
                  <a:pt x="36354" y="190292"/>
                </a:cubicBezTo>
                <a:lnTo>
                  <a:pt x="92789" y="126802"/>
                </a:lnTo>
                <a:cubicBezTo>
                  <a:pt x="116046" y="100638"/>
                  <a:pt x="147638" y="85904"/>
                  <a:pt x="180578" y="85904"/>
                </a:cubicBezTo>
                <a:cubicBezTo>
                  <a:pt x="249317" y="85904"/>
                  <a:pt x="304800" y="148947"/>
                  <a:pt x="304800" y="226010"/>
                </a:cubicBezTo>
                <a:cubicBezTo>
                  <a:pt x="304800" y="227171"/>
                  <a:pt x="304800" y="228332"/>
                  <a:pt x="304800" y="229493"/>
                </a:cubicBezTo>
                <a:cubicBezTo>
                  <a:pt x="304483" y="245299"/>
                  <a:pt x="292814" y="257711"/>
                  <a:pt x="278765" y="257354"/>
                </a:cubicBezTo>
                <a:cubicBezTo>
                  <a:pt x="264716" y="256996"/>
                  <a:pt x="253682" y="243870"/>
                  <a:pt x="254000" y="228064"/>
                </a:cubicBezTo>
                <a:cubicBezTo>
                  <a:pt x="254000" y="227350"/>
                  <a:pt x="254000" y="226725"/>
                  <a:pt x="254000" y="226010"/>
                </a:cubicBezTo>
                <a:cubicBezTo>
                  <a:pt x="254000" y="195917"/>
                  <a:pt x="239713" y="169485"/>
                  <a:pt x="218440" y="15493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Cohesion Devices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Mechanisms that bind text together: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pronouns ("he", "it")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Substitution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"do so", "one"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Ellipsis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omitting understood words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Conjunction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"and", "but", "because"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Lexical cohesion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synonyms, repetitions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842000"/>
            <a:ext cx="13716000" cy="1778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778000" y="603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Discourse Markers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78000" y="6540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However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contrast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Therefore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result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example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elaboration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Moreover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addition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Although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concession |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Meanwhile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temporal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Applications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NLP stages combine for real-world systems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NLP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Text/Speech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67000" y="2540000"/>
            <a:ext cx="3175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9845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9845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Phonetic/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Graphetic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35500" y="2540000"/>
            <a:ext cx="3175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9530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Tokenization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POS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04000" y="2540000"/>
            <a:ext cx="3175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9215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9215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Morphological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Lexical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72500" y="2540000"/>
            <a:ext cx="3175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8900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Syntactic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41000" y="2540000"/>
            <a:ext cx="3175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8585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85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509500" y="2540000"/>
            <a:ext cx="3175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827000" y="2032000"/>
            <a:ext cx="1651000" cy="10160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23" name="Text 21"/>
          <p:cNvSpPr/>
          <p:nvPr/>
        </p:nvSpPr>
        <p:spPr>
          <a:xfrm>
            <a:off x="12827000" y="2032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Discourse +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Pragmatic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84500" y="32385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L17: Surface-Level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858500" y="32385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L18: Deep-Level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70000" y="3810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27" name="Text 25"/>
          <p:cNvSpPr/>
          <p:nvPr/>
        </p:nvSpPr>
        <p:spPr>
          <a:xfrm>
            <a:off x="1270000" y="4127500"/>
            <a:ext cx="1371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Levels Work Together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Each level provides an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enriched representation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the next — from raw signals to structured meaning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Lower levels handle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surface structure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higher levels extract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deeper meaning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Deep Learning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Transformers, BERT, GPT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implicitly learn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representations across all these levels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Understanding these levels is essential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designing effective NLP systems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The pipeline is not strictly linear — higher levels can feed back to resolve ambiguities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NLP 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190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2889" y="0"/>
                </a:moveTo>
                <a:cubicBezTo>
                  <a:pt x="125377" y="0"/>
                  <a:pt x="135467" y="11351"/>
                  <a:pt x="135467" y="25400"/>
                </a:cubicBezTo>
                <a:lnTo>
                  <a:pt x="135467" y="50800"/>
                </a:lnTo>
                <a:lnTo>
                  <a:pt x="225778" y="50800"/>
                </a:lnTo>
                <a:cubicBezTo>
                  <a:pt x="238266" y="50800"/>
                  <a:pt x="248356" y="62151"/>
                  <a:pt x="248356" y="76200"/>
                </a:cubicBezTo>
                <a:cubicBezTo>
                  <a:pt x="248356" y="90249"/>
                  <a:pt x="238266" y="101600"/>
                  <a:pt x="225778" y="101600"/>
                </a:cubicBezTo>
                <a:lnTo>
                  <a:pt x="219004" y="101600"/>
                </a:lnTo>
                <a:lnTo>
                  <a:pt x="213078" y="119936"/>
                </a:lnTo>
                <a:cubicBezTo>
                  <a:pt x="201507" y="155813"/>
                  <a:pt x="184079" y="188595"/>
                  <a:pt x="162137" y="216773"/>
                </a:cubicBezTo>
                <a:cubicBezTo>
                  <a:pt x="172156" y="223758"/>
                  <a:pt x="182598" y="229949"/>
                  <a:pt x="193463" y="235426"/>
                </a:cubicBezTo>
                <a:lnTo>
                  <a:pt x="229023" y="253206"/>
                </a:lnTo>
                <a:lnTo>
                  <a:pt x="272909" y="142081"/>
                </a:lnTo>
                <a:cubicBezTo>
                  <a:pt x="276507" y="132874"/>
                  <a:pt x="284621" y="127000"/>
                  <a:pt x="293511" y="127000"/>
                </a:cubicBezTo>
                <a:cubicBezTo>
                  <a:pt x="302401" y="127000"/>
                  <a:pt x="310515" y="132874"/>
                  <a:pt x="314113" y="142081"/>
                </a:cubicBezTo>
                <a:lnTo>
                  <a:pt x="404424" y="370681"/>
                </a:lnTo>
                <a:cubicBezTo>
                  <a:pt x="409504" y="383540"/>
                  <a:pt x="404354" y="398542"/>
                  <a:pt x="392994" y="404178"/>
                </a:cubicBezTo>
                <a:cubicBezTo>
                  <a:pt x="381635" y="409813"/>
                  <a:pt x="368229" y="404098"/>
                  <a:pt x="363220" y="391319"/>
                </a:cubicBezTo>
                <a:lnTo>
                  <a:pt x="349109" y="355600"/>
                </a:lnTo>
                <a:lnTo>
                  <a:pt x="237984" y="355600"/>
                </a:lnTo>
                <a:lnTo>
                  <a:pt x="223873" y="391319"/>
                </a:lnTo>
                <a:cubicBezTo>
                  <a:pt x="218793" y="404178"/>
                  <a:pt x="205458" y="409892"/>
                  <a:pt x="194098" y="404178"/>
                </a:cubicBezTo>
                <a:cubicBezTo>
                  <a:pt x="182739" y="398463"/>
                  <a:pt x="177588" y="383461"/>
                  <a:pt x="182668" y="370681"/>
                </a:cubicBezTo>
                <a:lnTo>
                  <a:pt x="210749" y="299641"/>
                </a:lnTo>
                <a:lnTo>
                  <a:pt x="175189" y="281861"/>
                </a:lnTo>
                <a:cubicBezTo>
                  <a:pt x="158962" y="273764"/>
                  <a:pt x="143439" y="264081"/>
                  <a:pt x="128764" y="252968"/>
                </a:cubicBezTo>
                <a:cubicBezTo>
                  <a:pt x="113736" y="266621"/>
                  <a:pt x="97296" y="278527"/>
                  <a:pt x="79728" y="288449"/>
                </a:cubicBezTo>
                <a:lnTo>
                  <a:pt x="55245" y="302101"/>
                </a:lnTo>
                <a:cubicBezTo>
                  <a:pt x="44097" y="308372"/>
                  <a:pt x="30551" y="303292"/>
                  <a:pt x="24977" y="290751"/>
                </a:cubicBezTo>
                <a:cubicBezTo>
                  <a:pt x="19403" y="278209"/>
                  <a:pt x="23918" y="262969"/>
                  <a:pt x="35066" y="256699"/>
                </a:cubicBezTo>
                <a:lnTo>
                  <a:pt x="59408" y="242967"/>
                </a:lnTo>
                <a:cubicBezTo>
                  <a:pt x="70908" y="236458"/>
                  <a:pt x="81844" y="228918"/>
                  <a:pt x="92146" y="220504"/>
                </a:cubicBezTo>
                <a:cubicBezTo>
                  <a:pt x="82409" y="210423"/>
                  <a:pt x="73237" y="199549"/>
                  <a:pt x="64699" y="188039"/>
                </a:cubicBezTo>
                <a:lnTo>
                  <a:pt x="57573" y="178356"/>
                </a:lnTo>
                <a:cubicBezTo>
                  <a:pt x="49601" y="167561"/>
                  <a:pt x="50871" y="151527"/>
                  <a:pt x="60466" y="142558"/>
                </a:cubicBezTo>
                <a:cubicBezTo>
                  <a:pt x="70062" y="133588"/>
                  <a:pt x="84314" y="135017"/>
                  <a:pt x="92287" y="145812"/>
                </a:cubicBezTo>
                <a:lnTo>
                  <a:pt x="99483" y="155496"/>
                </a:lnTo>
                <a:cubicBezTo>
                  <a:pt x="107597" y="166529"/>
                  <a:pt x="116487" y="176768"/>
                  <a:pt x="125871" y="186214"/>
                </a:cubicBezTo>
                <a:cubicBezTo>
                  <a:pt x="145274" y="162084"/>
                  <a:pt x="160584" y="133747"/>
                  <a:pt x="170674" y="102552"/>
                </a:cubicBezTo>
                <a:lnTo>
                  <a:pt x="171027" y="101600"/>
                </a:lnTo>
                <a:lnTo>
                  <a:pt x="22648" y="101600"/>
                </a:lnTo>
                <a:cubicBezTo>
                  <a:pt x="10089" y="101600"/>
                  <a:pt x="0" y="90249"/>
                  <a:pt x="0" y="76200"/>
                </a:cubicBezTo>
                <a:cubicBezTo>
                  <a:pt x="0" y="62151"/>
                  <a:pt x="10089" y="50800"/>
                  <a:pt x="22578" y="50800"/>
                </a:cubicBezTo>
                <a:lnTo>
                  <a:pt x="90311" y="50800"/>
                </a:lnTo>
                <a:lnTo>
                  <a:pt x="90311" y="25400"/>
                </a:lnTo>
                <a:cubicBezTo>
                  <a:pt x="90311" y="11351"/>
                  <a:pt x="100401" y="0"/>
                  <a:pt x="112889" y="0"/>
                </a:cubicBezTo>
                <a:close/>
                <a:moveTo>
                  <a:pt x="293511" y="214948"/>
                </a:moveTo>
                <a:lnTo>
                  <a:pt x="258022" y="304800"/>
                </a:lnTo>
                <a:lnTo>
                  <a:pt x="329001" y="304800"/>
                </a:lnTo>
                <a:lnTo>
                  <a:pt x="293511" y="21494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133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Translation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67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Translate, DeepL — uses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levels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from morphology to pragmatics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445000" cy="190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14300"/>
                </a:moveTo>
                <a:cubicBezTo>
                  <a:pt x="270933" y="191452"/>
                  <a:pt x="210256" y="254000"/>
                  <a:pt x="135467" y="254000"/>
                </a:cubicBezTo>
                <a:cubicBezTo>
                  <a:pt x="116628" y="254000"/>
                  <a:pt x="98707" y="250031"/>
                  <a:pt x="82409" y="242888"/>
                </a:cubicBezTo>
                <a:lnTo>
                  <a:pt x="24836" y="277178"/>
                </a:lnTo>
                <a:cubicBezTo>
                  <a:pt x="18274" y="281067"/>
                  <a:pt x="10231" y="279717"/>
                  <a:pt x="4939" y="273844"/>
                </a:cubicBezTo>
                <a:cubicBezTo>
                  <a:pt x="-353" y="267970"/>
                  <a:pt x="-1552" y="258842"/>
                  <a:pt x="1976" y="251460"/>
                </a:cubicBezTo>
                <a:lnTo>
                  <a:pt x="27093" y="198120"/>
                </a:lnTo>
                <a:cubicBezTo>
                  <a:pt x="10089" y="174784"/>
                  <a:pt x="0" y="145733"/>
                  <a:pt x="0" y="114300"/>
                </a:cubicBezTo>
                <a:cubicBezTo>
                  <a:pt x="0" y="37147"/>
                  <a:pt x="60678" y="-25400"/>
                  <a:pt x="135467" y="-25400"/>
                </a:cubicBezTo>
                <a:cubicBezTo>
                  <a:pt x="210256" y="-25400"/>
                  <a:pt x="270933" y="37147"/>
                  <a:pt x="270933" y="114300"/>
                </a:cubicBezTo>
                <a:close/>
                <a:moveTo>
                  <a:pt x="270933" y="406400"/>
                </a:moveTo>
                <a:cubicBezTo>
                  <a:pt x="204541" y="406400"/>
                  <a:pt x="149296" y="357108"/>
                  <a:pt x="137724" y="292100"/>
                </a:cubicBezTo>
                <a:cubicBezTo>
                  <a:pt x="222391" y="290909"/>
                  <a:pt x="295981" y="223123"/>
                  <a:pt x="304094" y="131207"/>
                </a:cubicBezTo>
                <a:cubicBezTo>
                  <a:pt x="362867" y="146447"/>
                  <a:pt x="406400" y="201295"/>
                  <a:pt x="406400" y="266700"/>
                </a:cubicBezTo>
                <a:cubicBezTo>
                  <a:pt x="406400" y="298133"/>
                  <a:pt x="396311" y="327184"/>
                  <a:pt x="379307" y="350520"/>
                </a:cubicBezTo>
                <a:lnTo>
                  <a:pt x="404424" y="403860"/>
                </a:lnTo>
                <a:cubicBezTo>
                  <a:pt x="407882" y="411242"/>
                  <a:pt x="406682" y="420291"/>
                  <a:pt x="401461" y="426244"/>
                </a:cubicBezTo>
                <a:cubicBezTo>
                  <a:pt x="396240" y="432197"/>
                  <a:pt x="388126" y="433546"/>
                  <a:pt x="381564" y="429578"/>
                </a:cubicBezTo>
                <a:lnTo>
                  <a:pt x="323991" y="395288"/>
                </a:lnTo>
                <a:cubicBezTo>
                  <a:pt x="307693" y="402431"/>
                  <a:pt x="289772" y="406400"/>
                  <a:pt x="270933" y="406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794500" y="2133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Chatbots &amp; Assistants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667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Siri, Alexa, ChatGPT — require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pragmatic understanding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dialogue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1905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1286" y="255508"/>
                </a:moveTo>
                <a:cubicBezTo>
                  <a:pt x="147479" y="277733"/>
                  <a:pt x="173673" y="292100"/>
                  <a:pt x="203200" y="292100"/>
                </a:cubicBezTo>
                <a:cubicBezTo>
                  <a:pt x="232727" y="292100"/>
                  <a:pt x="258921" y="277733"/>
                  <a:pt x="275114" y="255508"/>
                </a:cubicBezTo>
                <a:cubicBezTo>
                  <a:pt x="281305" y="247015"/>
                  <a:pt x="293211" y="245110"/>
                  <a:pt x="301704" y="251301"/>
                </a:cubicBezTo>
                <a:cubicBezTo>
                  <a:pt x="310198" y="257493"/>
                  <a:pt x="312103" y="269399"/>
                  <a:pt x="305911" y="277892"/>
                </a:cubicBezTo>
                <a:cubicBezTo>
                  <a:pt x="282813" y="309563"/>
                  <a:pt x="245428" y="330200"/>
                  <a:pt x="203200" y="330200"/>
                </a:cubicBezTo>
                <a:cubicBezTo>
                  <a:pt x="160973" y="330200"/>
                  <a:pt x="123587" y="309563"/>
                  <a:pt x="100489" y="277892"/>
                </a:cubicBezTo>
                <a:cubicBezTo>
                  <a:pt x="94298" y="269399"/>
                  <a:pt x="96202" y="257493"/>
                  <a:pt x="104696" y="251301"/>
                </a:cubicBezTo>
                <a:cubicBezTo>
                  <a:pt x="113189" y="245110"/>
                  <a:pt x="125095" y="247015"/>
                  <a:pt x="131286" y="255508"/>
                </a:cubicBezTo>
                <a:close/>
                <a:moveTo>
                  <a:pt x="114300" y="165100"/>
                </a:moveTo>
                <a:cubicBezTo>
                  <a:pt x="114300" y="151081"/>
                  <a:pt x="125681" y="139700"/>
                  <a:pt x="139700" y="139700"/>
                </a:cubicBezTo>
                <a:cubicBezTo>
                  <a:pt x="153719" y="139700"/>
                  <a:pt x="165100" y="151081"/>
                  <a:pt x="165100" y="165100"/>
                </a:cubicBezTo>
                <a:cubicBezTo>
                  <a:pt x="165100" y="179119"/>
                  <a:pt x="153719" y="190500"/>
                  <a:pt x="139700" y="190500"/>
                </a:cubicBezTo>
                <a:cubicBezTo>
                  <a:pt x="125681" y="190500"/>
                  <a:pt x="114300" y="179119"/>
                  <a:pt x="114300" y="165100"/>
                </a:cubicBezTo>
                <a:close/>
                <a:moveTo>
                  <a:pt x="266700" y="139700"/>
                </a:moveTo>
                <a:cubicBezTo>
                  <a:pt x="280719" y="139700"/>
                  <a:pt x="292100" y="151081"/>
                  <a:pt x="292100" y="165100"/>
                </a:cubicBezTo>
                <a:cubicBezTo>
                  <a:pt x="292100" y="179119"/>
                  <a:pt x="280719" y="190500"/>
                  <a:pt x="266700" y="190500"/>
                </a:cubicBezTo>
                <a:cubicBezTo>
                  <a:pt x="252681" y="190500"/>
                  <a:pt x="241300" y="179119"/>
                  <a:pt x="241300" y="165100"/>
                </a:cubicBezTo>
                <a:cubicBezTo>
                  <a:pt x="241300" y="151081"/>
                  <a:pt x="252681" y="139700"/>
                  <a:pt x="266700" y="139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93500" y="21336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 Analysis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667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Combines semantic and pragmatic analysis to detect opinions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064000"/>
            <a:ext cx="4445000" cy="190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4292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 Extraction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4826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NER and semantic roles to extract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064000"/>
            <a:ext cx="4445000" cy="190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22781"/>
                  <a:pt x="30374" y="0"/>
                  <a:pt x="67733" y="0"/>
                </a:cubicBezTo>
                <a:lnTo>
                  <a:pt x="225954" y="0"/>
                </a:lnTo>
                <a:cubicBezTo>
                  <a:pt x="243946" y="0"/>
                  <a:pt x="261197" y="5318"/>
                  <a:pt x="273897" y="14843"/>
                </a:cubicBezTo>
                <a:lnTo>
                  <a:pt x="386609" y="99457"/>
                </a:lnTo>
                <a:cubicBezTo>
                  <a:pt x="399309" y="108982"/>
                  <a:pt x="406400" y="121920"/>
                  <a:pt x="406400" y="135414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220133" y="46434"/>
                </a:moveTo>
                <a:lnTo>
                  <a:pt x="220133" y="120650"/>
                </a:lnTo>
                <a:cubicBezTo>
                  <a:pt x="220133" y="131207"/>
                  <a:pt x="231457" y="139700"/>
                  <a:pt x="245533" y="139700"/>
                </a:cubicBezTo>
                <a:lnTo>
                  <a:pt x="344487" y="139700"/>
                </a:lnTo>
                <a:lnTo>
                  <a:pt x="220133" y="46434"/>
                </a:lnTo>
                <a:close/>
                <a:moveTo>
                  <a:pt x="127000" y="203200"/>
                </a:moveTo>
                <a:cubicBezTo>
                  <a:pt x="112924" y="203200"/>
                  <a:pt x="101600" y="211693"/>
                  <a:pt x="101600" y="222250"/>
                </a:cubicBezTo>
                <a:cubicBezTo>
                  <a:pt x="101600" y="232807"/>
                  <a:pt x="112924" y="241300"/>
                  <a:pt x="127000" y="241300"/>
                </a:cubicBezTo>
                <a:lnTo>
                  <a:pt x="279400" y="241300"/>
                </a:lnTo>
                <a:cubicBezTo>
                  <a:pt x="293476" y="241300"/>
                  <a:pt x="304800" y="232807"/>
                  <a:pt x="304800" y="222250"/>
                </a:cubicBezTo>
                <a:cubicBezTo>
                  <a:pt x="304800" y="211693"/>
                  <a:pt x="293476" y="203200"/>
                  <a:pt x="279400" y="203200"/>
                </a:cubicBezTo>
                <a:lnTo>
                  <a:pt x="127000" y="203200"/>
                </a:lnTo>
                <a:close/>
                <a:moveTo>
                  <a:pt x="127000" y="279400"/>
                </a:moveTo>
                <a:cubicBezTo>
                  <a:pt x="112924" y="279400"/>
                  <a:pt x="101600" y="287893"/>
                  <a:pt x="101600" y="298450"/>
                </a:cubicBezTo>
                <a:cubicBezTo>
                  <a:pt x="101600" y="309007"/>
                  <a:pt x="112924" y="317500"/>
                  <a:pt x="127000" y="317500"/>
                </a:cubicBezTo>
                <a:lnTo>
                  <a:pt x="279400" y="317500"/>
                </a:lnTo>
                <a:cubicBezTo>
                  <a:pt x="293476" y="317500"/>
                  <a:pt x="304800" y="309007"/>
                  <a:pt x="304800" y="298450"/>
                </a:cubicBezTo>
                <a:cubicBezTo>
                  <a:pt x="304800" y="287893"/>
                  <a:pt x="293476" y="279400"/>
                  <a:pt x="279400" y="279400"/>
                </a:cubicBezTo>
                <a:lnTo>
                  <a:pt x="127000" y="2794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794500" y="42926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Summarization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4826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Relies on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discourse structure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identify key information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064000"/>
            <a:ext cx="4318000" cy="190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47108" y="0"/>
                  <a:pt x="101600" y="34131"/>
                  <a:pt x="101600" y="76200"/>
                </a:cubicBezTo>
                <a:lnTo>
                  <a:pt x="101600" y="177800"/>
                </a:lnTo>
                <a:cubicBezTo>
                  <a:pt x="101600" y="219869"/>
                  <a:pt x="147108" y="254000"/>
                  <a:pt x="203200" y="254000"/>
                </a:cubicBezTo>
                <a:cubicBezTo>
                  <a:pt x="259292" y="254000"/>
                  <a:pt x="304800" y="219869"/>
                  <a:pt x="304800" y="177800"/>
                </a:cubicBezTo>
                <a:lnTo>
                  <a:pt x="304800" y="76200"/>
                </a:lnTo>
                <a:cubicBezTo>
                  <a:pt x="304800" y="34131"/>
                  <a:pt x="259292" y="0"/>
                  <a:pt x="203200" y="0"/>
                </a:cubicBezTo>
                <a:close/>
                <a:moveTo>
                  <a:pt x="50800" y="146050"/>
                </a:moveTo>
                <a:cubicBezTo>
                  <a:pt x="50800" y="135493"/>
                  <a:pt x="39476" y="127000"/>
                  <a:pt x="25400" y="127000"/>
                </a:cubicBezTo>
                <a:cubicBezTo>
                  <a:pt x="11324" y="127000"/>
                  <a:pt x="0" y="135493"/>
                  <a:pt x="0" y="146050"/>
                </a:cubicBezTo>
                <a:lnTo>
                  <a:pt x="0" y="177800"/>
                </a:lnTo>
                <a:cubicBezTo>
                  <a:pt x="0" y="255508"/>
                  <a:pt x="77576" y="319643"/>
                  <a:pt x="177800" y="329009"/>
                </a:cubicBezTo>
                <a:lnTo>
                  <a:pt x="177800" y="368300"/>
                </a:lnTo>
                <a:lnTo>
                  <a:pt x="127000" y="368300"/>
                </a:lnTo>
                <a:cubicBezTo>
                  <a:pt x="112924" y="368300"/>
                  <a:pt x="101600" y="376793"/>
                  <a:pt x="101600" y="387350"/>
                </a:cubicBezTo>
                <a:cubicBezTo>
                  <a:pt x="101600" y="397907"/>
                  <a:pt x="112924" y="406400"/>
                  <a:pt x="127000" y="406400"/>
                </a:cubicBezTo>
                <a:lnTo>
                  <a:pt x="279400" y="406400"/>
                </a:lnTo>
                <a:cubicBezTo>
                  <a:pt x="293476" y="406400"/>
                  <a:pt x="304800" y="397907"/>
                  <a:pt x="304800" y="387350"/>
                </a:cubicBezTo>
                <a:cubicBezTo>
                  <a:pt x="304800" y="376793"/>
                  <a:pt x="293476" y="368300"/>
                  <a:pt x="279400" y="368300"/>
                </a:cubicBezTo>
                <a:lnTo>
                  <a:pt x="228600" y="368300"/>
                </a:lnTo>
                <a:lnTo>
                  <a:pt x="228600" y="329009"/>
                </a:lnTo>
                <a:cubicBezTo>
                  <a:pt x="328824" y="319643"/>
                  <a:pt x="406400" y="255508"/>
                  <a:pt x="406400" y="177800"/>
                </a:cubicBezTo>
                <a:lnTo>
                  <a:pt x="406400" y="146050"/>
                </a:lnTo>
                <a:cubicBezTo>
                  <a:pt x="406400" y="135493"/>
                  <a:pt x="395076" y="127000"/>
                  <a:pt x="381000" y="127000"/>
                </a:cubicBezTo>
                <a:cubicBezTo>
                  <a:pt x="366924" y="127000"/>
                  <a:pt x="355600" y="135493"/>
                  <a:pt x="355600" y="146050"/>
                </a:cubicBezTo>
                <a:lnTo>
                  <a:pt x="355600" y="177800"/>
                </a:lnTo>
                <a:cubicBezTo>
                  <a:pt x="355600" y="240903"/>
                  <a:pt x="287338" y="292100"/>
                  <a:pt x="203200" y="292100"/>
                </a:cubicBezTo>
                <a:cubicBezTo>
                  <a:pt x="119062" y="292100"/>
                  <a:pt x="50800" y="240903"/>
                  <a:pt x="50800" y="177800"/>
                </a:cubicBezTo>
                <a:lnTo>
                  <a:pt x="50800" y="1460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93500" y="42926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Speech Recognition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4826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Begins at the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phonetic level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ASR converts speech to text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350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8000" y="6540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application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emphasizes different levels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linguistic analysis — understanding all stages enables building effective NLP systems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1905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 &amp; Key Takeaways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858000" y="29210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32000" y="3175000"/>
            <a:ext cx="1219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processes language through 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seven hierarchical levels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from phonetics to pragmatics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Surface-level (L17)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Phonetics, Graphetics, Lexical, Morphology — handle the </a:t>
            </a:r>
            <a:pPr algn="ctr">
              <a:lnSpc>
                <a:spcPct val="18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language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Deep-level (L18)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Semantics, Pragmatics, Discourse — handle </a:t>
            </a:r>
            <a:pPr algn="ctr">
              <a:lnSpc>
                <a:spcPct val="18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meaning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ctr">
              <a:lnSpc>
                <a:spcPct val="18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level builds upon the previous, creating a pipeline from raw input to understanding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8000" y="6350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Language Processing I · Week 10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Lectures 17 &amp; 18 — Stages of Linguistic Analysis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I</dc:title>
  <dc:subject>Natural Language Processing I</dc:subject>
  <dc:creator>Kimi</dc:creator>
  <cp:lastModifiedBy>Kimi</cp:lastModifiedBy>
  <cp:revision>1</cp:revision>
  <dcterms:created xsi:type="dcterms:W3CDTF">2026-06-26T14:39:35Z</dcterms:created>
  <dcterms:modified xsi:type="dcterms:W3CDTF">2026-06-26T14:39:35Z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{"Label":"Natural Language Processing I","ContentProducer":"001191110108MACG2KBH8F10000","ProduceID":"19f0432b-a792-8a57-8000-00003b450634","ReservedCode1":"","ContentPropagator":"001191110108MACG2KBH8F20000","PropagateID":"19f042cb-11d2-8ca9-8000-096f03d14912","ReservedCode2":""}</vt:lpwstr>
  </property>
</Properties>
</file>