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From Scratch</c:v>
                  </c:pt>
                  <c:pt idx="1">
                    <c:v>Feature Extraction</c:v>
                  </c:pt>
                  <c:pt idx="2">
                    <c:v>Fine-Tuning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84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From Scratch</c:v>
                  </c:pt>
                  <c:pt idx="1">
                    <c:v>Feature Extraction</c:v>
                  </c:pt>
                  <c:pt idx="2">
                    <c:v>Fine-Tuning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88</c:v>
                </c:pt>
                <c:pt idx="2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From Scratch</c:v>
                  </c:pt>
                  <c:pt idx="1">
                    <c:v>Feature Extraction</c:v>
                  </c:pt>
                  <c:pt idx="2">
                    <c:v>Fine-Tuning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</c:v>
                </c:pt>
                <c:pt idx="1">
                  <c:v>84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800" b="0" i="0" u="none" strike="noStrike">
                <a:solidFill>
                  <a:srgbClr val="3C4A5A"/>
                </a:solidFill>
                <a:latin typeface="Arial"/>
              </a:rPr>
              <a:t>Training Accuracy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D0D6DC"/>
            </a:solidFill>
            <a:ln w="25400" cap="flat">
              <a:solidFill>
                <a:srgbClr val="D0D6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0D6DC"/>
              </a:solidFill>
              <a:ln w="9525" cap="flat">
                <a:solidFill>
                  <a:srgbClr val="D0D6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35</c:v>
                </c:pt>
                <c:pt idx="2">
                  <c:v>52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73</c:v>
                </c:pt>
                <c:pt idx="7">
                  <c:v>75</c:v>
                </c:pt>
                <c:pt idx="8">
                  <c:v>76</c:v>
                </c:pt>
                <c:pt idx="9">
                  <c:v>77</c:v>
                </c:pt>
                <c:pt idx="10">
                  <c:v>78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 Extraction</c:v>
                </c:pt>
              </c:strCache>
            </c:strRef>
          </c:tx>
          <c:spPr>
            <a:solidFill>
              <a:srgbClr val="2E5E8A"/>
            </a:solidFill>
            <a:ln w="25400" cap="flat">
              <a:solidFill>
                <a:srgbClr val="2E5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5E8A"/>
              </a:solidFill>
              <a:ln w="9525" cap="flat">
                <a:solidFill>
                  <a:srgbClr val="2E5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45</c:v>
                </c:pt>
                <c:pt idx="1">
                  <c:v>72</c:v>
                </c:pt>
                <c:pt idx="2">
                  <c:v>82</c:v>
                </c:pt>
                <c:pt idx="3">
                  <c:v>86</c:v>
                </c:pt>
                <c:pt idx="4">
                  <c:v>88</c:v>
                </c:pt>
                <c:pt idx="5">
                  <c:v>89</c:v>
                </c:pt>
                <c:pt idx="6">
                  <c:v>90</c:v>
                </c:pt>
                <c:pt idx="7">
                  <c:v>90</c:v>
                </c:pt>
                <c:pt idx="8">
                  <c:v>91</c:v>
                </c:pt>
                <c:pt idx="9">
                  <c:v>91</c:v>
                </c:pt>
                <c:pt idx="10">
                  <c:v>91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Fine-Tuning</c:v>
                </c:pt>
              </c:strCache>
            </c:strRef>
          </c:tx>
          <c:spPr>
            <a:solidFill>
              <a:srgbClr val="FF7F50"/>
            </a:solidFill>
            <a:ln w="25400" cap="flat">
              <a:solidFill>
                <a:srgbClr val="FF7F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F50"/>
              </a:solidFill>
              <a:ln w="9525" cap="flat">
                <a:solidFill>
                  <a:srgbClr val="FF7F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50</c:v>
                </c:pt>
                <c:pt idx="1">
                  <c:v>78</c:v>
                </c:pt>
                <c:pt idx="2">
                  <c:v>88</c:v>
                </c:pt>
                <c:pt idx="3">
                  <c:v>91</c:v>
                </c:pt>
                <c:pt idx="4">
                  <c:v>93</c:v>
                </c:pt>
                <c:pt idx="5">
                  <c:v>93</c:v>
                </c:pt>
                <c:pt idx="6">
                  <c:v>94</c:v>
                </c:pt>
                <c:pt idx="7">
                  <c:v>94</c:v>
                </c:pt>
                <c:pt idx="8">
                  <c:v>94</c:v>
                </c:pt>
                <c:pt idx="9">
                  <c:v>94</c:v>
                </c:pt>
                <c:pt idx="10">
                  <c:v>94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800" b="0" i="0" u="none" strike="noStrike">
                <a:solidFill>
                  <a:srgbClr val="3C4A5A"/>
                </a:solidFill>
                <a:latin typeface="Arial"/>
              </a:rPr>
              <a:t>Validation Accuracy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D0D6DC"/>
            </a:solidFill>
            <a:ln w="25400" cap="flat">
              <a:solidFill>
                <a:srgbClr val="D0D6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0D6DC"/>
              </a:solidFill>
              <a:ln w="9525" cap="flat">
                <a:solidFill>
                  <a:srgbClr val="D0D6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30</c:v>
                  </c:pt>
                  <c:pt idx="6">
                    <c:v>40</c:v>
                  </c:pt>
                  <c:pt idx="7">
                    <c:v>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30</c:v>
                </c:pt>
                <c:pt idx="2">
                  <c:v>45</c:v>
                </c:pt>
                <c:pt idx="3">
                  <c:v>52</c:v>
                </c:pt>
                <c:pt idx="4">
                  <c:v>58</c:v>
                </c:pt>
                <c:pt idx="5">
                  <c:v>65</c:v>
                </c:pt>
                <c:pt idx="6">
                  <c:v>70</c:v>
                </c:pt>
                <c:pt idx="7">
                  <c:v>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 Extraction</c:v>
                </c:pt>
              </c:strCache>
            </c:strRef>
          </c:tx>
          <c:spPr>
            <a:solidFill>
              <a:srgbClr val="2E5E8A"/>
            </a:solidFill>
            <a:ln w="25400" cap="flat">
              <a:solidFill>
                <a:srgbClr val="2E5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5E8A"/>
              </a:solidFill>
              <a:ln w="9525" cap="flat">
                <a:solidFill>
                  <a:srgbClr val="2E5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30</c:v>
                  </c:pt>
                  <c:pt idx="6">
                    <c:v>40</c:v>
                  </c:pt>
                  <c:pt idx="7">
                    <c:v>50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</c:v>
                </c:pt>
                <c:pt idx="1">
                  <c:v>68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  <c:pt idx="5">
                  <c:v>84</c:v>
                </c:pt>
                <c:pt idx="6">
                  <c:v>84</c:v>
                </c:pt>
                <c:pt idx="7">
                  <c:v>84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Fine-Tuning</c:v>
                </c:pt>
              </c:strCache>
            </c:strRef>
          </c:tx>
          <c:spPr>
            <a:solidFill>
              <a:srgbClr val="FF7F50"/>
            </a:solidFill>
            <a:ln w="25400" cap="flat">
              <a:solidFill>
                <a:srgbClr val="FF7F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F50"/>
              </a:solidFill>
              <a:ln w="9525" cap="flat">
                <a:solidFill>
                  <a:srgbClr val="FF7F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30</c:v>
                  </c:pt>
                  <c:pt idx="6">
                    <c:v>40</c:v>
                  </c:pt>
                  <c:pt idx="7">
                    <c:v>50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48</c:v>
                </c:pt>
                <c:pt idx="1">
                  <c:v>74</c:v>
                </c:pt>
                <c:pt idx="2">
                  <c:v>84</c:v>
                </c:pt>
                <c:pt idx="3">
                  <c:v>87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600" b="0" i="0" u="none" strike="noStrike">
                <a:solidFill>
                  <a:srgbClr val="3C4A5A"/>
                </a:solidFill>
                <a:latin typeface="Arial"/>
              </a:rPr>
              <a:t>Fine-Tuning Model: Per-Class 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Airplane</c:v>
                  </c:pt>
                  <c:pt idx="1">
                    <c:v>Automobile</c:v>
                  </c:pt>
                  <c:pt idx="2">
                    <c:v>Bird</c:v>
                  </c:pt>
                  <c:pt idx="3">
                    <c:v>Cat</c:v>
                  </c:pt>
                  <c:pt idx="4">
                    <c:v>Deer</c:v>
                  </c:pt>
                  <c:pt idx="5">
                    <c:v>Dog</c:v>
                  </c:pt>
                  <c:pt idx="6">
                    <c:v>Frog</c:v>
                  </c:pt>
                  <c:pt idx="7">
                    <c:v>Horse</c:v>
                  </c:pt>
                  <c:pt idx="8">
                    <c:v>Ship</c:v>
                  </c:pt>
                  <c:pt idx="9">
                    <c:v>Truck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93.2</c:v>
                </c:pt>
                <c:pt idx="1">
                  <c:v>94.5</c:v>
                </c:pt>
                <c:pt idx="2">
                  <c:v>87.1</c:v>
                </c:pt>
                <c:pt idx="3">
                  <c:v>82.3</c:v>
                </c:pt>
                <c:pt idx="4">
                  <c:v>89.7</c:v>
                </c:pt>
                <c:pt idx="5">
                  <c:v>85.4</c:v>
                </c:pt>
                <c:pt idx="6">
                  <c:v>93.8</c:v>
                </c:pt>
                <c:pt idx="7">
                  <c:v>91.2</c:v>
                </c:pt>
                <c:pt idx="8">
                  <c:v>95.1</c:v>
                </c:pt>
                <c:pt idx="9">
                  <c:v>93.6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270000" y="2667000"/>
            <a:ext cx="1371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Transfer Learning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Demonstration · W17 L31 · Course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Course · 2026 Spring Semester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Transfer Learning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42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365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429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Techniques &amp; Methods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31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254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Implementation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207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143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207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609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032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609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&amp; Future Directions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Transfer Learning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Fundamentals, motivation, and key concepts behind transfer learning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Motivation: Why Transfer Learning Matters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Problem with Training from Scratch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ImageNet: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1.2M images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1000 classes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Training ResNet-50: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~14 days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8 GPUs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Most real-world tasks have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limited labeled data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Learning Solution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Leverage pre-trained model knowledge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Reduce training time by up to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Achieve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accuracy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less data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CNN layers learn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 features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(edges, textures) that transfer across tasks, while deeper layers learn task-specific patterns.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36000" y="20955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36000" y="3048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ImageNet Images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6000" y="3492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 object categories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0" y="20955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Days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1811000" y="3048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from Scratch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11000" y="34925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hours with transfer learning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382000" y="4953000"/>
          <a:ext cx="6604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Transfer Learning? Core Concepts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24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Domain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3683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comes from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Large dataset (e.g., ImageNet)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Pre-trained model weights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Learned feature representations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VGG16 on 1.2M images, 1000 classes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23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179308"/>
                </a:moveTo>
                <a:lnTo>
                  <a:pt x="484108" y="293608"/>
                </a:lnTo>
                <a:cubicBezTo>
                  <a:pt x="473154" y="304562"/>
                  <a:pt x="456843" y="307777"/>
                  <a:pt x="442555" y="301823"/>
                </a:cubicBezTo>
                <a:cubicBezTo>
                  <a:pt x="428268" y="295870"/>
                  <a:pt x="419100" y="282059"/>
                  <a:pt x="419100" y="266700"/>
                </a:cubicBezTo>
                <a:lnTo>
                  <a:pt x="419100" y="190500"/>
                </a:ln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419100" y="114300"/>
                </a:lnTo>
                <a:lnTo>
                  <a:pt x="419100" y="38100"/>
                </a:lnTo>
                <a:cubicBezTo>
                  <a:pt x="419100" y="22741"/>
                  <a:pt x="428387" y="8811"/>
                  <a:pt x="442674" y="2857"/>
                </a:cubicBezTo>
                <a:cubicBezTo>
                  <a:pt x="456962" y="-3096"/>
                  <a:pt x="473273" y="238"/>
                  <a:pt x="484227" y="11073"/>
                </a:cubicBezTo>
                <a:lnTo>
                  <a:pt x="598527" y="125373"/>
                </a:lnTo>
                <a:cubicBezTo>
                  <a:pt x="613410" y="140256"/>
                  <a:pt x="613410" y="164425"/>
                  <a:pt x="598527" y="179308"/>
                </a:cubicBezTo>
                <a:close/>
                <a:moveTo>
                  <a:pt x="125373" y="598408"/>
                </a:moveTo>
                <a:lnTo>
                  <a:pt x="11073" y="484108"/>
                </a:lnTo>
                <a:cubicBezTo>
                  <a:pt x="-3810" y="469225"/>
                  <a:pt x="-3810" y="445056"/>
                  <a:pt x="11073" y="430173"/>
                </a:cubicBezTo>
                <a:lnTo>
                  <a:pt x="125373" y="315873"/>
                </a:lnTo>
                <a:cubicBezTo>
                  <a:pt x="136327" y="304919"/>
                  <a:pt x="152638" y="301704"/>
                  <a:pt x="166926" y="307658"/>
                </a:cubicBezTo>
                <a:cubicBezTo>
                  <a:pt x="181213" y="313611"/>
                  <a:pt x="190500" y="327541"/>
                  <a:pt x="190500" y="342900"/>
                </a:cubicBezTo>
                <a:lnTo>
                  <a:pt x="190500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cubicBezTo>
                  <a:pt x="609600" y="478274"/>
                  <a:pt x="592574" y="495300"/>
                  <a:pt x="571500" y="495300"/>
                </a:cubicBezTo>
                <a:lnTo>
                  <a:pt x="190500" y="495300"/>
                </a:lnTo>
                <a:lnTo>
                  <a:pt x="190500" y="571500"/>
                </a:lnTo>
                <a:cubicBezTo>
                  <a:pt x="190500" y="586859"/>
                  <a:pt x="181213" y="600789"/>
                  <a:pt x="166926" y="606743"/>
                </a:cubicBezTo>
                <a:cubicBezTo>
                  <a:pt x="152638" y="612696"/>
                  <a:pt x="136327" y="609362"/>
                  <a:pt x="125373" y="59852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Method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23000" y="3683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is transferred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 extraction (freeze layers)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Fine-tuning (unfreeze layers)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Domain adaptation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Early layers transfer general features; deeper layers are task-specific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522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Domain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22000" y="3683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is applied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Smaller, task-specific dataset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Related but different task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Limited labeled examples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CIFAR-10 with 60K images across 10 classes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Transfer Learning in Deep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Feature Extraction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Freeze model, use as fixed feature extractor.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 small datasets.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Fine-Tuning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Unfreeze layers, retrain with small LR.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 larger datasets.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Domain Adaptation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 to different but related distribution. Handles domain shift.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Multi-Task Learning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multiple tasks simultaneously, sharing representations.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Approaches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271000" y="2794000"/>
            <a:ext cx="533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Zero-Shot Learning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 unseen classes using semantic embeddings.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Self-Taught Learning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on unlabeled source data to extract features.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Distillation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from teacher to simpler student model.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Parameter-Efficient FT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 small subsets (LoRA, Adapters) only.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Pre-trained Models for Transfer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9370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389120"/>
                <a:gridCol w="4937760"/>
              </a:tblGrid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VGG-16/19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138M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Simple, deep architecture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General classification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ResNet-50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25.6M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Skip connections, no vanishing gradient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Balanced accuracy &amp; 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DenseNet-121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Dense feature propagation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compute resources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Inception-v3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23.8M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Efficient multi-scale computation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Resource-constrained deployment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MobileNet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4.2M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Depthwise separable convolutions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Mobile &amp; edge devices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Xception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22.8M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Extreme depthwise separable conv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accuracy tasks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223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13000"/>
                </a:srgbClr>
              </a:gs>
            </a:gsLst>
            <a:lin ang="0" scaled="1"/>
          </a:gra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6413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ResNet-50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achieves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76.06%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top-1 accuracy on ImageNet. For NLP,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dominate transfer learning. Model choice depends on dataset size, compute constraints, and task complexity.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Techniques &amp; Methods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extraction, fine-tuning strategies, and parameter-efficient adaptation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Extraction: Pre-trained Representations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Load pre-trained model (ImageNet weights)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Freeze all convolutional layers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Replace classifier with new layers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Train only the new classifier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Suited When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Target dataset is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Target data is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source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Limited compute resources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Advantage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Preserves low-level features from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millions of images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while adapting.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35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0" y="2032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Load Pre-trained Model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(ImageNet weights)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0" y="2921000"/>
            <a:ext cx="0" cy="31750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8382000" y="3238500"/>
            <a:ext cx="635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32385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Freeze Convolutional Base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(layer.trainable = False)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0" y="4127500"/>
            <a:ext cx="0" cy="31750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382000" y="4445000"/>
            <a:ext cx="6350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4445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Add New Classifier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(match target classes)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0" y="5334000"/>
            <a:ext cx="0" cy="31750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382000" y="5651500"/>
            <a:ext cx="6350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56515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Train Classifier Only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(features remain fixed)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0" y="6540500"/>
            <a:ext cx="0" cy="31750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6858000"/>
            <a:ext cx="6350000" cy="889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8382000" y="6858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Deploy Model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(ready for inference)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Fine-Tuning: Adapting Deep Representations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Principle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Earlier layers detect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simple, general patterns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Deeper layers detect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complex, task-specific patterns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Strategy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LR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pre-trained layers (1e-4 to 1e-5)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Higher LR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new classifier layers (1e-3)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Approaches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Fine-tune only classifier layers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Gradually unfreeze from top to bottom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Full fine-tuning with differential LR</a:t>
            </a:r>
            <a:endParaRPr lang="en-US" sz="19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outperforms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feature extraction on larger datasets.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609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17000" y="2159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Progressive Unfreezing Strategy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017000" y="2921000"/>
            <a:ext cx="5588000" cy="444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2921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Block 1-2 (Early: edges, textures) — FROZEN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17000" y="3492500"/>
            <a:ext cx="5588000" cy="444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0" y="3492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Block 3 (Mid: patterns, shapes) — FROZEN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17000" y="4064000"/>
            <a:ext cx="5588000" cy="444500"/>
          </a:xfrm>
          <a:prstGeom prst="roundRect">
            <a:avLst>
              <a:gd name="adj" fmla="val 8000"/>
            </a:avLst>
          </a:prstGeom>
          <a:solidFill>
            <a:srgbClr val="6B9CBF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4064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Block 4 (Deep: object parts) — LR: 1e-5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17000" y="4635500"/>
            <a:ext cx="5588000" cy="4445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017000" y="4635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Block 5 (Deepest: objects) — LR: 1e-4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17000" y="5207000"/>
            <a:ext cx="5588000" cy="4445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5207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Classifier (FC layers) — LR: 1e-3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17000" y="5969000"/>
            <a:ext cx="558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Frozen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Weights unchanged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 LR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Gentle updates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Higher LR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Active learning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Prevents 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catastrophic forgetting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 Strategies: A Comparative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5560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5212080"/>
              </a:tblGrid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Strategy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Result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 Fine-tuning (FT)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Unfreeze and train all layers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Baseline approach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Linear Probing (LP)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Freeze backbone, train only classifier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Fastest training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LP-FT (Combined)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Linear probe first, then full fine-tuning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in 50%+ cases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Gradual Unfreezing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Progressively unfreeze layers top-down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Good for VGG-19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Auto-RGN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Dynamic adaptive learning rates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 to 11% improvement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5842000"/>
            <a:ext cx="13716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13000"/>
                </a:srgbClr>
              </a:gs>
            </a:gsLst>
            <a:lin ang="0" scaled="1"/>
          </a:gra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5969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Findings (Medical Imaging Benchmark)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78000" y="6477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Evaluated across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medical domains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using ResNet-50, DenseNet-121, VGG-19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DenseNet-121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benefited most (24 cases).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single strategy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universally dominates.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Parameter-Efficient Fine-Tuning (PEFT)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2540000" cy="2921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35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0"/>
                </a:moveTo>
                <a:cubicBezTo>
                  <a:pt x="308729" y="0"/>
                  <a:pt x="342900" y="25598"/>
                  <a:pt x="342900" y="57150"/>
                </a:cubicBezTo>
                <a:cubicBezTo>
                  <a:pt x="342900" y="69533"/>
                  <a:pt x="337661" y="80962"/>
                  <a:pt x="328613" y="90368"/>
                </a:cubicBezTo>
                <a:cubicBezTo>
                  <a:pt x="320754" y="98584"/>
                  <a:pt x="314325" y="108585"/>
                  <a:pt x="314325" y="120015"/>
                </a:cubicBezTo>
                <a:cubicBezTo>
                  <a:pt x="314325" y="137874"/>
                  <a:pt x="328851" y="152400"/>
                  <a:pt x="346710" y="152400"/>
                </a:cubicBezTo>
                <a:lnTo>
                  <a:pt x="400050" y="152400"/>
                </a:lnTo>
                <a:cubicBezTo>
                  <a:pt x="431602" y="152400"/>
                  <a:pt x="457200" y="177998"/>
                  <a:pt x="457200" y="209550"/>
                </a:cubicBezTo>
                <a:lnTo>
                  <a:pt x="457200" y="262890"/>
                </a:lnTo>
                <a:cubicBezTo>
                  <a:pt x="457200" y="280749"/>
                  <a:pt x="471726" y="295275"/>
                  <a:pt x="489585" y="295275"/>
                </a:cubicBezTo>
                <a:cubicBezTo>
                  <a:pt x="500896" y="295275"/>
                  <a:pt x="511016" y="288846"/>
                  <a:pt x="519232" y="280987"/>
                </a:cubicBezTo>
                <a:cubicBezTo>
                  <a:pt x="528638" y="272058"/>
                  <a:pt x="540068" y="266700"/>
                  <a:pt x="552450" y="266700"/>
                </a:cubicBezTo>
                <a:cubicBezTo>
                  <a:pt x="584002" y="266700"/>
                  <a:pt x="609600" y="300871"/>
                  <a:pt x="609600" y="342900"/>
                </a:cubicBezTo>
                <a:cubicBezTo>
                  <a:pt x="609600" y="384929"/>
                  <a:pt x="584002" y="419100"/>
                  <a:pt x="552450" y="419100"/>
                </a:cubicBezTo>
                <a:cubicBezTo>
                  <a:pt x="540068" y="419100"/>
                  <a:pt x="528518" y="413861"/>
                  <a:pt x="519232" y="404813"/>
                </a:cubicBezTo>
                <a:cubicBezTo>
                  <a:pt x="511016" y="396954"/>
                  <a:pt x="501015" y="390525"/>
                  <a:pt x="489585" y="390525"/>
                </a:cubicBezTo>
                <a:cubicBezTo>
                  <a:pt x="471726" y="390525"/>
                  <a:pt x="457200" y="405051"/>
                  <a:pt x="457200" y="422910"/>
                </a:cubicBezTo>
                <a:lnTo>
                  <a:pt x="457200" y="552450"/>
                </a:lnTo>
                <a:cubicBezTo>
                  <a:pt x="457200" y="584002"/>
                  <a:pt x="431602" y="609600"/>
                  <a:pt x="400050" y="609600"/>
                </a:cubicBezTo>
                <a:lnTo>
                  <a:pt x="332423" y="609600"/>
                </a:lnTo>
                <a:cubicBezTo>
                  <a:pt x="317183" y="609600"/>
                  <a:pt x="304800" y="597218"/>
                  <a:pt x="304800" y="581978"/>
                </a:cubicBezTo>
                <a:cubicBezTo>
                  <a:pt x="304800" y="571024"/>
                  <a:pt x="311706" y="561380"/>
                  <a:pt x="320516" y="554831"/>
                </a:cubicBezTo>
                <a:cubicBezTo>
                  <a:pt x="334328" y="544473"/>
                  <a:pt x="342900" y="530185"/>
                  <a:pt x="342900" y="514350"/>
                </a:cubicBezTo>
                <a:cubicBezTo>
                  <a:pt x="342900" y="482798"/>
                  <a:pt x="308729" y="457200"/>
                  <a:pt x="266700" y="457200"/>
                </a:cubicBezTo>
                <a:cubicBezTo>
                  <a:pt x="224671" y="457200"/>
                  <a:pt x="190500" y="482798"/>
                  <a:pt x="190500" y="514350"/>
                </a:cubicBezTo>
                <a:cubicBezTo>
                  <a:pt x="190500" y="530185"/>
                  <a:pt x="199072" y="544473"/>
                  <a:pt x="212884" y="554831"/>
                </a:cubicBezTo>
                <a:cubicBezTo>
                  <a:pt x="221694" y="561380"/>
                  <a:pt x="228600" y="570905"/>
                  <a:pt x="228600" y="581978"/>
                </a:cubicBezTo>
                <a:cubicBezTo>
                  <a:pt x="228600" y="597218"/>
                  <a:pt x="216218" y="609600"/>
                  <a:pt x="200978" y="609600"/>
                </a:cubicBezTo>
                <a:lnTo>
                  <a:pt x="57150" y="609600"/>
                </a:lnTo>
                <a:cubicBezTo>
                  <a:pt x="25598" y="609600"/>
                  <a:pt x="0" y="584002"/>
                  <a:pt x="0" y="552450"/>
                </a:cubicBezTo>
                <a:lnTo>
                  <a:pt x="0" y="408623"/>
                </a:lnTo>
                <a:cubicBezTo>
                  <a:pt x="0" y="393383"/>
                  <a:pt x="12383" y="381000"/>
                  <a:pt x="27622" y="381000"/>
                </a:cubicBezTo>
                <a:cubicBezTo>
                  <a:pt x="38576" y="381000"/>
                  <a:pt x="48220" y="387906"/>
                  <a:pt x="54769" y="396716"/>
                </a:cubicBezTo>
                <a:cubicBezTo>
                  <a:pt x="65127" y="410528"/>
                  <a:pt x="79415" y="419100"/>
                  <a:pt x="95250" y="419100"/>
                </a:cubicBezTo>
                <a:cubicBezTo>
                  <a:pt x="126802" y="419100"/>
                  <a:pt x="152400" y="384929"/>
                  <a:pt x="152400" y="342900"/>
                </a:cubicBezTo>
                <a:cubicBezTo>
                  <a:pt x="152400" y="300871"/>
                  <a:pt x="126802" y="266700"/>
                  <a:pt x="95250" y="266700"/>
                </a:cubicBezTo>
                <a:cubicBezTo>
                  <a:pt x="79415" y="266700"/>
                  <a:pt x="65127" y="275273"/>
                  <a:pt x="54769" y="289084"/>
                </a:cubicBezTo>
                <a:cubicBezTo>
                  <a:pt x="48220" y="297894"/>
                  <a:pt x="38695" y="304800"/>
                  <a:pt x="27622" y="304800"/>
                </a:cubicBezTo>
                <a:cubicBezTo>
                  <a:pt x="12382" y="304800"/>
                  <a:pt x="0" y="292418"/>
                  <a:pt x="0" y="277178"/>
                </a:cubicBezTo>
                <a:lnTo>
                  <a:pt x="0" y="209550"/>
                </a:lnTo>
                <a:cubicBezTo>
                  <a:pt x="0" y="177998"/>
                  <a:pt x="25598" y="152400"/>
                  <a:pt x="57150" y="152400"/>
                </a:cubicBezTo>
                <a:lnTo>
                  <a:pt x="186690" y="152400"/>
                </a:lnTo>
                <a:cubicBezTo>
                  <a:pt x="204549" y="152400"/>
                  <a:pt x="219075" y="137874"/>
                  <a:pt x="219075" y="120015"/>
                </a:cubicBezTo>
                <a:cubicBezTo>
                  <a:pt x="219075" y="108704"/>
                  <a:pt x="212646" y="98584"/>
                  <a:pt x="204787" y="90368"/>
                </a:cubicBezTo>
                <a:cubicBezTo>
                  <a:pt x="195858" y="80962"/>
                  <a:pt x="190500" y="69533"/>
                  <a:pt x="190500" y="57150"/>
                </a:cubicBezTo>
                <a:cubicBezTo>
                  <a:pt x="190500" y="25598"/>
                  <a:pt x="224671" y="0"/>
                  <a:pt x="266700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7000" y="3365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small adapter modules, train only adapters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1905000"/>
            <a:ext cx="2540000" cy="2921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571500"/>
                </a:moveTo>
                <a:cubicBezTo>
                  <a:pt x="473154" y="571500"/>
                  <a:pt x="609600" y="443508"/>
                  <a:pt x="609600" y="285750"/>
                </a:cubicBezTo>
                <a:cubicBezTo>
                  <a:pt x="609600" y="127992"/>
                  <a:pt x="473154" y="0"/>
                  <a:pt x="304800" y="0"/>
                </a:cubicBezTo>
                <a:cubicBezTo>
                  <a:pt x="136446" y="0"/>
                  <a:pt x="0" y="127992"/>
                  <a:pt x="0" y="285750"/>
                </a:cubicBezTo>
                <a:cubicBezTo>
                  <a:pt x="0" y="350401"/>
                  <a:pt x="22860" y="409932"/>
                  <a:pt x="61436" y="457795"/>
                </a:cubicBezTo>
                <a:lnTo>
                  <a:pt x="3334" y="567690"/>
                </a:lnTo>
                <a:cubicBezTo>
                  <a:pt x="-2381" y="578406"/>
                  <a:pt x="-595" y="591503"/>
                  <a:pt x="7620" y="600432"/>
                </a:cubicBezTo>
                <a:cubicBezTo>
                  <a:pt x="15835" y="609362"/>
                  <a:pt x="28813" y="612100"/>
                  <a:pt x="39886" y="607338"/>
                </a:cubicBezTo>
                <a:lnTo>
                  <a:pt x="180856" y="546973"/>
                </a:lnTo>
                <a:cubicBezTo>
                  <a:pt x="218718" y="562689"/>
                  <a:pt x="260628" y="571500"/>
                  <a:pt x="304800" y="571500"/>
                </a:cubicBezTo>
                <a:close/>
                <a:moveTo>
                  <a:pt x="152400" y="247650"/>
                </a:moveTo>
                <a:cubicBezTo>
                  <a:pt x="173428" y="247650"/>
                  <a:pt x="190500" y="264722"/>
                  <a:pt x="190500" y="285750"/>
                </a:cubicBezTo>
                <a:cubicBezTo>
                  <a:pt x="190500" y="306778"/>
                  <a:pt x="173428" y="323850"/>
                  <a:pt x="152400" y="323850"/>
                </a:cubicBezTo>
                <a:cubicBezTo>
                  <a:pt x="131372" y="323850"/>
                  <a:pt x="114300" y="306778"/>
                  <a:pt x="114300" y="285750"/>
                </a:cubicBezTo>
                <a:cubicBezTo>
                  <a:pt x="114300" y="264722"/>
                  <a:pt x="131372" y="247650"/>
                  <a:pt x="152400" y="247650"/>
                </a:cubicBezTo>
                <a:close/>
                <a:moveTo>
                  <a:pt x="304800" y="247650"/>
                </a:moveTo>
                <a:cubicBezTo>
                  <a:pt x="325828" y="247650"/>
                  <a:pt x="342900" y="264722"/>
                  <a:pt x="342900" y="285750"/>
                </a:cubicBezTo>
                <a:cubicBezTo>
                  <a:pt x="342900" y="306778"/>
                  <a:pt x="325828" y="323850"/>
                  <a:pt x="304800" y="323850"/>
                </a:cubicBezTo>
                <a:cubicBezTo>
                  <a:pt x="283772" y="323850"/>
                  <a:pt x="266700" y="306778"/>
                  <a:pt x="266700" y="285750"/>
                </a:cubicBezTo>
                <a:cubicBezTo>
                  <a:pt x="266700" y="264722"/>
                  <a:pt x="283772" y="247650"/>
                  <a:pt x="304800" y="247650"/>
                </a:cubicBezTo>
                <a:close/>
                <a:moveTo>
                  <a:pt x="419100" y="285750"/>
                </a:moveTo>
                <a:cubicBezTo>
                  <a:pt x="419100" y="264722"/>
                  <a:pt x="436172" y="247650"/>
                  <a:pt x="457200" y="247650"/>
                </a:cubicBezTo>
                <a:cubicBezTo>
                  <a:pt x="478228" y="247650"/>
                  <a:pt x="495300" y="264722"/>
                  <a:pt x="495300" y="285750"/>
                </a:cubicBezTo>
                <a:cubicBezTo>
                  <a:pt x="495300" y="306778"/>
                  <a:pt x="478228" y="323850"/>
                  <a:pt x="457200" y="323850"/>
                </a:cubicBezTo>
                <a:cubicBezTo>
                  <a:pt x="436172" y="323850"/>
                  <a:pt x="419100" y="306778"/>
                  <a:pt x="419100" y="285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 Tuning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91000" y="3365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Prepend learnable tokens to input, keep model frozen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1905000"/>
            <a:ext cx="2540000" cy="2921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23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985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 Tuning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85000" y="3365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trainable vectors to each layer's key and value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1905000"/>
            <a:ext cx="2540000" cy="2921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17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23280" y="8334"/>
                </a:moveTo>
                <a:cubicBezTo>
                  <a:pt x="534472" y="-2858"/>
                  <a:pt x="552569" y="-2858"/>
                  <a:pt x="563642" y="8334"/>
                </a:cubicBezTo>
                <a:lnTo>
                  <a:pt x="601742" y="46434"/>
                </a:lnTo>
                <a:cubicBezTo>
                  <a:pt x="612934" y="57626"/>
                  <a:pt x="612934" y="75724"/>
                  <a:pt x="601742" y="86797"/>
                </a:cubicBezTo>
                <a:lnTo>
                  <a:pt x="498158" y="190381"/>
                </a:lnTo>
                <a:lnTo>
                  <a:pt x="544592" y="236815"/>
                </a:lnTo>
                <a:cubicBezTo>
                  <a:pt x="552807" y="245031"/>
                  <a:pt x="555188" y="257294"/>
                  <a:pt x="550783" y="268010"/>
                </a:cubicBezTo>
                <a:cubicBezTo>
                  <a:pt x="546378" y="278725"/>
                  <a:pt x="536019" y="285750"/>
                  <a:pt x="524470" y="285750"/>
                </a:cubicBezTo>
                <a:lnTo>
                  <a:pt x="353020" y="285750"/>
                </a:lnTo>
                <a:cubicBezTo>
                  <a:pt x="337185" y="285750"/>
                  <a:pt x="324445" y="273010"/>
                  <a:pt x="324445" y="257175"/>
                </a:cubicBezTo>
                <a:lnTo>
                  <a:pt x="324445" y="85725"/>
                </a:lnTo>
                <a:cubicBezTo>
                  <a:pt x="324445" y="74176"/>
                  <a:pt x="331351" y="63698"/>
                  <a:pt x="342067" y="59293"/>
                </a:cubicBezTo>
                <a:cubicBezTo>
                  <a:pt x="352782" y="54888"/>
                  <a:pt x="365046" y="57269"/>
                  <a:pt x="373261" y="65484"/>
                </a:cubicBezTo>
                <a:lnTo>
                  <a:pt x="419695" y="111919"/>
                </a:lnTo>
                <a:lnTo>
                  <a:pt x="523280" y="8334"/>
                </a:lnTo>
                <a:close/>
                <a:moveTo>
                  <a:pt x="86320" y="323850"/>
                </a:moveTo>
                <a:lnTo>
                  <a:pt x="257770" y="323850"/>
                </a:lnTo>
                <a:cubicBezTo>
                  <a:pt x="273606" y="323850"/>
                  <a:pt x="286345" y="336590"/>
                  <a:pt x="286345" y="352425"/>
                </a:cubicBezTo>
                <a:lnTo>
                  <a:pt x="286345" y="523875"/>
                </a:lnTo>
                <a:cubicBezTo>
                  <a:pt x="286345" y="535424"/>
                  <a:pt x="279440" y="545902"/>
                  <a:pt x="268724" y="550307"/>
                </a:cubicBezTo>
                <a:cubicBezTo>
                  <a:pt x="258008" y="554712"/>
                  <a:pt x="245745" y="552331"/>
                  <a:pt x="237530" y="544116"/>
                </a:cubicBezTo>
                <a:lnTo>
                  <a:pt x="191095" y="497681"/>
                </a:lnTo>
                <a:lnTo>
                  <a:pt x="87511" y="601266"/>
                </a:lnTo>
                <a:cubicBezTo>
                  <a:pt x="76319" y="612457"/>
                  <a:pt x="58222" y="612457"/>
                  <a:pt x="47149" y="601266"/>
                </a:cubicBezTo>
                <a:lnTo>
                  <a:pt x="9049" y="563166"/>
                </a:lnTo>
                <a:cubicBezTo>
                  <a:pt x="-2143" y="551974"/>
                  <a:pt x="-2143" y="533876"/>
                  <a:pt x="9049" y="522803"/>
                </a:cubicBezTo>
                <a:lnTo>
                  <a:pt x="112633" y="419219"/>
                </a:lnTo>
                <a:lnTo>
                  <a:pt x="66199" y="372785"/>
                </a:lnTo>
                <a:cubicBezTo>
                  <a:pt x="57983" y="364569"/>
                  <a:pt x="55602" y="352306"/>
                  <a:pt x="60007" y="341590"/>
                </a:cubicBezTo>
                <a:cubicBezTo>
                  <a:pt x="64413" y="330875"/>
                  <a:pt x="74771" y="323850"/>
                  <a:pt x="86320" y="3238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LoRA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79000" y="3365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Low-rank decomposition matrices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0" y="1905000"/>
            <a:ext cx="2540000" cy="2921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411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8857" y="123825"/>
                </a:moveTo>
                <a:cubicBezTo>
                  <a:pt x="126881" y="123825"/>
                  <a:pt x="141514" y="111021"/>
                  <a:pt x="141514" y="95250"/>
                </a:cubicBezTo>
                <a:cubicBezTo>
                  <a:pt x="141514" y="79479"/>
                  <a:pt x="126881" y="66675"/>
                  <a:pt x="108857" y="66675"/>
                </a:cubicBezTo>
                <a:cubicBezTo>
                  <a:pt x="90833" y="66675"/>
                  <a:pt x="76200" y="79479"/>
                  <a:pt x="76200" y="95250"/>
                </a:cubicBezTo>
                <a:cubicBezTo>
                  <a:pt x="76200" y="111021"/>
                  <a:pt x="90833" y="123825"/>
                  <a:pt x="108857" y="123825"/>
                </a:cubicBezTo>
                <a:close/>
                <a:moveTo>
                  <a:pt x="217714" y="95250"/>
                </a:moveTo>
                <a:cubicBezTo>
                  <a:pt x="217714" y="134303"/>
                  <a:pt x="190908" y="167878"/>
                  <a:pt x="152400" y="182523"/>
                </a:cubicBezTo>
                <a:lnTo>
                  <a:pt x="152400" y="266700"/>
                </a:lnTo>
                <a:lnTo>
                  <a:pt x="391886" y="266700"/>
                </a:lnTo>
                <a:cubicBezTo>
                  <a:pt x="427945" y="266700"/>
                  <a:pt x="457200" y="241102"/>
                  <a:pt x="457200" y="209550"/>
                </a:cubicBezTo>
                <a:lnTo>
                  <a:pt x="457200" y="182523"/>
                </a:lnTo>
                <a:cubicBezTo>
                  <a:pt x="418692" y="167878"/>
                  <a:pt x="391886" y="134303"/>
                  <a:pt x="391886" y="95250"/>
                </a:cubicBezTo>
                <a:cubicBezTo>
                  <a:pt x="391886" y="42624"/>
                  <a:pt x="440599" y="0"/>
                  <a:pt x="500743" y="0"/>
                </a:cubicBezTo>
                <a:cubicBezTo>
                  <a:pt x="560886" y="0"/>
                  <a:pt x="609600" y="42624"/>
                  <a:pt x="609600" y="95250"/>
                </a:cubicBezTo>
                <a:cubicBezTo>
                  <a:pt x="609600" y="134303"/>
                  <a:pt x="582794" y="167878"/>
                  <a:pt x="544286" y="182523"/>
                </a:cubicBezTo>
                <a:lnTo>
                  <a:pt x="544286" y="209550"/>
                </a:lnTo>
                <a:cubicBezTo>
                  <a:pt x="544286" y="283250"/>
                  <a:pt x="476114" y="342900"/>
                  <a:pt x="391886" y="342900"/>
                </a:cubicBezTo>
                <a:lnTo>
                  <a:pt x="152400" y="342900"/>
                </a:lnTo>
                <a:lnTo>
                  <a:pt x="152400" y="427077"/>
                </a:lnTo>
                <a:cubicBezTo>
                  <a:pt x="190908" y="441722"/>
                  <a:pt x="217714" y="475298"/>
                  <a:pt x="217714" y="514350"/>
                </a:cubicBezTo>
                <a:cubicBezTo>
                  <a:pt x="217714" y="566976"/>
                  <a:pt x="169001" y="609600"/>
                  <a:pt x="108857" y="609600"/>
                </a:cubicBezTo>
                <a:cubicBezTo>
                  <a:pt x="48714" y="609600"/>
                  <a:pt x="0" y="566976"/>
                  <a:pt x="0" y="514350"/>
                </a:cubicBezTo>
                <a:cubicBezTo>
                  <a:pt x="0" y="475298"/>
                  <a:pt x="26806" y="441722"/>
                  <a:pt x="65314" y="427077"/>
                </a:cubicBezTo>
                <a:lnTo>
                  <a:pt x="65314" y="182642"/>
                </a:lnTo>
                <a:cubicBezTo>
                  <a:pt x="26806" y="167878"/>
                  <a:pt x="0" y="134303"/>
                  <a:pt x="0" y="95250"/>
                </a:cubicBezTo>
                <a:cubicBezTo>
                  <a:pt x="0" y="42624"/>
                  <a:pt x="48714" y="0"/>
                  <a:pt x="108857" y="0"/>
                </a:cubicBezTo>
                <a:cubicBezTo>
                  <a:pt x="169001" y="0"/>
                  <a:pt x="217714" y="42624"/>
                  <a:pt x="217714" y="95250"/>
                </a:cubicBezTo>
                <a:close/>
                <a:moveTo>
                  <a:pt x="533400" y="95250"/>
                </a:moveTo>
                <a:cubicBezTo>
                  <a:pt x="533400" y="79479"/>
                  <a:pt x="518767" y="66675"/>
                  <a:pt x="500743" y="66675"/>
                </a:cubicBezTo>
                <a:cubicBezTo>
                  <a:pt x="482719" y="66675"/>
                  <a:pt x="468086" y="79479"/>
                  <a:pt x="468086" y="95250"/>
                </a:cubicBezTo>
                <a:cubicBezTo>
                  <a:pt x="468086" y="111021"/>
                  <a:pt x="482719" y="123825"/>
                  <a:pt x="500743" y="123825"/>
                </a:cubicBezTo>
                <a:cubicBezTo>
                  <a:pt x="518767" y="123825"/>
                  <a:pt x="533400" y="111021"/>
                  <a:pt x="533400" y="95250"/>
                </a:cubicBezTo>
                <a:close/>
                <a:moveTo>
                  <a:pt x="108857" y="542925"/>
                </a:moveTo>
                <a:cubicBezTo>
                  <a:pt x="126881" y="542925"/>
                  <a:pt x="141514" y="530121"/>
                  <a:pt x="141514" y="514350"/>
                </a:cubicBezTo>
                <a:cubicBezTo>
                  <a:pt x="141514" y="498579"/>
                  <a:pt x="126881" y="485775"/>
                  <a:pt x="108857" y="485775"/>
                </a:cubicBezTo>
                <a:cubicBezTo>
                  <a:pt x="90833" y="485775"/>
                  <a:pt x="76200" y="498579"/>
                  <a:pt x="76200" y="514350"/>
                </a:cubicBezTo>
                <a:cubicBezTo>
                  <a:pt x="76200" y="530121"/>
                  <a:pt x="90833" y="542925"/>
                  <a:pt x="108857" y="5429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Side Tuning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573000" y="3365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a side network while keeping main network frozen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0000" y="5207000"/>
            <a:ext cx="13716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78000" y="5461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PEFT Matters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Updates only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0.1% - 5%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parameters vs. 100%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Maintains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95%+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full fine-tuning performance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Essential for large models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Enables deployment on resource-constrained devices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Which Transfer Learning Approach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5560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68580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Dataset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Similarity to Source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Recommended Approach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 Extraction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+ Linear Classifier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Different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Early Layer Features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+ SVM/LogReg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Fine-tune Classifier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Layers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Different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 Fine-tuning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with Low LR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5842000"/>
            <a:ext cx="13716000" cy="203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13000"/>
                </a:srgbClr>
              </a:gs>
            </a:gsLst>
            <a:lin ang="0" scaled="1"/>
          </a:gra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5969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 Rules for Transfer Learning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78000" y="6477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Always start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 as baseline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then progressively unfreeze layers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learning rates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pre-trained layers (1e-4 to 1e-5) to preserve learned features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Monitor validation loss to prevent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small datasets; use early stopping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Implementation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CIFAR-10 image classification using VGG16 with PyTorch/TensorFlow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Goal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Demonstrate transfer learning for CIFAR-10 using pre-trained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VGG16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Dataset: CIFAR-10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60,000 images (32x32 color)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10 classes: airplane, automobile, bird, cat, deer, dog, frog, horse, ship, truck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50,000 training + 10,000 test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Experimental Conditions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Scratch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baseline CNN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frozen VGG16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progressive unfreezing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Expected: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Higher accuracy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faster convergence.</a:t>
            </a:r>
            <a:endParaRPr lang="en-US" sz="1800" dirty="0"/>
          </a:p>
        </p:txBody>
      </p:sp>
      <p:pic>
        <p:nvPicPr>
          <p:cNvPr id="5" name="Image 0" descr="https://kimi-img.moonshot.cn/pub/slides/okc/24aabzyozzrak/mnt/agents/output/transfer-learning-ppt/images/2_Convolutional_Neural_Network_A_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905000"/>
            <a:ext cx="6096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890000" y="5842000"/>
            <a:ext cx="6096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71000" y="6032500"/>
            <a:ext cx="533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Stack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PyTorch / TensorFlow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VGG16 (ImageNet pre-trained)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GPU (CUDA)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Google Colab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 CIFAR-10 Deep Dive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0955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Images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3365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 train + 10K test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62500" y="19050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62500" y="20955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32x32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62500" y="2921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Resolution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3365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RGB color channels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9050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5000" y="20955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255000" y="2921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5000" y="3365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6,000 images each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7500" y="1905000"/>
            <a:ext cx="3238500" cy="2032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1747500" y="2095500"/>
            <a:ext cx="3238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Balanced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1747500" y="2921000"/>
            <a:ext cx="323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Distribution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47500" y="3365500"/>
            <a:ext cx="3238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 samples per class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318000"/>
            <a:ext cx="13716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78000" y="450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032000" y="52705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2032000" y="527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51000" y="603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Resize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48x48 or 224x224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02000" y="5588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445000" y="52705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7" name="Text 25"/>
          <p:cNvSpPr/>
          <p:nvPr/>
        </p:nvSpPr>
        <p:spPr>
          <a:xfrm>
            <a:off x="4445000" y="527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64000" y="603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[0, 1] range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0" y="5588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858000" y="52705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527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77000" y="603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Standardize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ImageNet mean/std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28000" y="5588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9271000" y="52705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5" name="Text 33"/>
          <p:cNvSpPr/>
          <p:nvPr/>
        </p:nvSpPr>
        <p:spPr>
          <a:xfrm>
            <a:off x="9271000" y="527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890000" y="603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One-hot labels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41000" y="5588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1684000" y="52705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9" name="Text 37"/>
          <p:cNvSpPr/>
          <p:nvPr/>
        </p:nvSpPr>
        <p:spPr>
          <a:xfrm>
            <a:off x="11684000" y="527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1303000" y="603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Augment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Flip, rotation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78000" y="6985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CIFAR-10 classes: Airplane · Automobile · Bird · Cat · Deer · Dog · Frog · Horse · Ship · Truck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Architecture: VGG16 Adaptation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350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2095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Original VGG16 (ImageNet)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4000" y="26035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16 layers: 13 conv + 3 FC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138M parameters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Input: 224x224x3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Output: 1000 classes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FC: 4096 -&gt; 4096 -&gt; 1000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0" y="1905000"/>
            <a:ext cx="6985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55000" y="2095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Adapted VGG16 (CIFAR-10)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55000" y="26035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Conv base: FROZEN (feature extractor)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Only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~2M trainable params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Input: 48x48x3 (resized)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Output: 10 classes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New FC: 512 -&gt; Dropout -&gt; 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70000" y="5143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Flow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5842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D0D6DC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84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48x48x3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6159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556000" y="5715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3556000" y="5715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Base (Frozen)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 Conv Layers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6159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604000" y="58420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6B9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4000" y="5842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Flatten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6159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636000" y="5715000"/>
            <a:ext cx="2794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5715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Classifier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512 -&gt; Dropout -&gt; 10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0000" y="6159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1938000" y="5842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D0D6DC"/>
          </a:solidFill>
          <a:ln/>
        </p:spPr>
      </p:sp>
      <p:sp>
        <p:nvSpPr>
          <p:cNvPr id="24" name="Text 22"/>
          <p:cNvSpPr/>
          <p:nvPr/>
        </p:nvSpPr>
        <p:spPr>
          <a:xfrm>
            <a:off x="11938000" y="584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Classes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6985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convolutional base acts as a powerful feature extractor, learning hierarchical features from edges to complex patterns.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Implementation: Feature Extraction Approach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Load Pre-trained Model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VGG16 with ImageNet weights, exclude top classifier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Freeze All Layers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layer.trainable = False for all conv layers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Add Custom Classifier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GlobalAvgPool -&gt; Dense(512, ReLU) -&gt; Dropout(0.3) -&gt; Dense(10, Softmax)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 Compile Model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Adam optimizer (lr=1e-3), categorical_crossentropy loss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5: Train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for 20-30 epochs with early stopping. Only classifier weights update.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9000" y="1905000"/>
            <a:ext cx="6477000" cy="6096000"/>
          </a:xfrm>
          <a:prstGeom prst="roundRect">
            <a:avLst>
              <a:gd name="adj" fmla="val 8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0000" y="2095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/ Keras Pseudocode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90000" y="2603500"/>
            <a:ext cx="5715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Step 1: Load base model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base_model = VGG16(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weights='imagenet',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include_top=False,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input_shape=(48,48,3))</a:t>
            </a:r>
            <a:endParaRPr lang="en-US" sz="1300" dirty="0"/>
          </a:p>
          <a:p>
            <a:pPr algn="l">
              <a:lnSpc>
                <a:spcPct val="140000"/>
              </a:lnSpc>
            </a:pP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Step 2: Freeze layers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layer in base_model.layers: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layer.trainable = False</a:t>
            </a:r>
            <a:endParaRPr lang="en-US" sz="1300" dirty="0"/>
          </a:p>
          <a:p>
            <a:pPr algn="l">
              <a:lnSpc>
                <a:spcPct val="140000"/>
              </a:lnSpc>
            </a:pP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Step 3: Add classifier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base_model.output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GlobalAveragePooling2D()(x)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Dense(512, activation='relu')(x)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Dropout(0.3)(x)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 = Dense(10, activation='softmax')(x)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= Model(base_model.input, pred)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Implementation: Fine-Tuning Approach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254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032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1: Feature Extraction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2540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Train classifier with </a:t>
            </a:r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frozen backbone</a:t>
            </a:r>
            <a:endParaRPr lang="en-US" sz="1500" dirty="0"/>
          </a:p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10 epochs, lr=1e-3</a:t>
            </a:r>
            <a:endParaRPr lang="en-US" sz="1500" dirty="0"/>
          </a:p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Establish baseline accuracy</a:t>
            </a:r>
            <a:endParaRPr lang="en-US" sz="1500" dirty="0"/>
          </a:p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Conv layers unchanged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69000" y="1905000"/>
            <a:ext cx="4445000" cy="254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6223000" y="2032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2: Gradual Unfreezing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23000" y="2540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Unfreeze from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block5_conv1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Lower lr to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1e-4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Train for 10-15 epochs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Deeper layers adapt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0" y="1905000"/>
            <a:ext cx="4318000" cy="2540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10922000" y="203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3: Optional Deeper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22000" y="25400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Unfreeze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block4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needed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Even lower lr: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1e-5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Train for 5-10 epochs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Fine-grained adaptation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0" y="3175000"/>
            <a:ext cx="25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414000" y="3175000"/>
            <a:ext cx="25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70000" y="4826000"/>
            <a:ext cx="13716000" cy="3048000"/>
          </a:xfrm>
          <a:prstGeom prst="roundRect">
            <a:avLst>
              <a:gd name="adj" fmla="val 8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8000" y="5016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Code: Gradual Unfreezing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78000" y="55245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Unfreeze from block5_conv1 onwards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layer in base_model.layers: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if layer.name == 'block5_conv1': break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layer.trainable = False</a:t>
            </a:r>
            <a:endParaRPr lang="en-US" sz="1400" dirty="0"/>
          </a:p>
          <a:p>
            <a:pPr algn="l">
              <a:lnSpc>
                <a:spcPct val="140000"/>
              </a:lnSpc>
            </a:pP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ReduceLROnPlateau adapts LR when val_loss plateaus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Progressive approach prevents catastrophic forgetting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 &amp; Hyperparameters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7620000" cy="6096000"/>
        </p:xfrm>
        <a:graphic>
          <a:graphicData uri="http://schemas.openxmlformats.org/drawingml/2006/table">
            <a:tbl>
              <a:tblPr/>
              <a:tblGrid>
                <a:gridCol w="3048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Parameter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Optimizer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Adam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Rate (classifier)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1e-3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Rate (fine-tuning)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1e-4 to 1e-5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Loss Function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 Cross-Entropy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Batch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Epochs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 (with early stopping)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Early Stopping Patience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epochs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LR Reduction Factor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 (patience: 3)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Input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48x48 (resized from 32x32)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GPU (CUDA)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271000" y="1905000"/>
            <a:ext cx="5715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52000" y="2159000"/>
            <a:ext cx="495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Experimental Conditions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652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8" name="Text 5"/>
          <p:cNvSpPr/>
          <p:nvPr/>
        </p:nvSpPr>
        <p:spPr>
          <a:xfrm>
            <a:off x="10287000" y="2921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Scratch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287000" y="336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CNN from random init as baseline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520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8"/>
          <p:cNvSpPr/>
          <p:nvPr/>
        </p:nvSpPr>
        <p:spPr>
          <a:xfrm>
            <a:off x="10287000" y="4191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287000" y="463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Frozen VGG16 + trainable classifier only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520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1"/>
          <p:cNvSpPr/>
          <p:nvPr/>
        </p:nvSpPr>
        <p:spPr>
          <a:xfrm>
            <a:off x="10287000" y="5461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287000" y="590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Progressive unfreezing with differential LR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52000" y="6858000"/>
            <a:ext cx="4953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7" name="Text 14"/>
          <p:cNvSpPr/>
          <p:nvPr/>
        </p:nvSpPr>
        <p:spPr>
          <a:xfrm>
            <a:off x="9652000" y="70485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conditions use identical preprocessing, batch size, and data augmentation for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 comparison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Evaluation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Experimental results comparing training from scratch, feature extraction, and fine-tuning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Comparison: Three Approaches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032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70000" y="2984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Scratch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3429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epochs, unstable convergence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69000" y="2032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969000" y="2984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69000" y="3429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epochs, stable training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286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68000" y="20320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0668000" y="2984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68000" y="3429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 epochs, best performance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1270000" y="4572000"/>
          <a:ext cx="8890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10541000" y="4572000"/>
            <a:ext cx="4445000" cy="317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795000" y="47625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795000" y="5334000"/>
            <a:ext cx="393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10-17%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accuracy gain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 extraction: best efficiency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Fine-tuning: highest accuracy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Convergence reduced by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Curves: Convergence Analysis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1270000" y="1841500"/>
          <a:ext cx="7366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8890000" y="1841500"/>
          <a:ext cx="6096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1270000" y="5334000"/>
            <a:ext cx="13716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778000" y="5588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Convergence Analysis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Scratch: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Starts ~12% (random), climbs to ~78% train / ~73% val. 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overfitting.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Starts ~45%, reaches ~88% train / ~84% val. 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overfitting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best stability.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Starts ~50%, reaches ~94% train / ~90% val. 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final accuracy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Per-Class Performance Analysis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1270000" y="1841500"/>
          <a:ext cx="889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0541000" y="1841500"/>
            <a:ext cx="4445000" cy="4318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58500" y="2095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Analysis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858500" y="2667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Performing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Ship: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95.1%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Automobile: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94.5%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Frog: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93.8%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Distinct visual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858500" y="4191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Most Challenging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Cat: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82.3%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Dog: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85.4%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Bird: </a:t>
            </a:r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87.1%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Fine-grained animal distinction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8585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 Accuracy: 90.6%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70000" y="647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Confusion Pattern: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Primary misclassification pairs are 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cat-dog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bird-deer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Transfer learning improves worst-class accuracy by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8-12%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vs. from-scratch.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Insights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2095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24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Accuracy Gain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3149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learning outperforms training from scratch by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10-17%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CIFAR-10 with limited data.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23000" y="2095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23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 Efficiency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3149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Excellent results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training time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ideal for rapid prototyping.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794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22000" y="2095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92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Progressive Fine-Tuning Wins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3149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Gradual unfreezing yields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accuracy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while preventing catastrophic forgetting.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080000"/>
            <a:ext cx="6731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24000" y="5270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24000" y="584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Generalizable Low-Level Features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63246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Pre-trained models learn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generalizable features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(edges, textures, shapes) that transfer across diverse visual domains, from natural images to specialized tasks.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6604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36000" y="5270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36000" y="584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Widens with Less Data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36000" y="63246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gap between transfer learning and from-scratch training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widens as dataset size decreases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On small datasets, transfer learning can outperform by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20-30%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&amp; Future Directions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 of lessons learned and emerging trends in transfer learning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Limitations of Transfer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2556" y="132556"/>
                </a:moveTo>
                <a:cubicBezTo>
                  <a:pt x="140018" y="125095"/>
                  <a:pt x="152083" y="125095"/>
                  <a:pt x="159464" y="132556"/>
                </a:cubicBezTo>
                <a:lnTo>
                  <a:pt x="203121" y="176213"/>
                </a:lnTo>
                <a:lnTo>
                  <a:pt x="246777" y="132556"/>
                </a:lnTo>
                <a:cubicBezTo>
                  <a:pt x="254238" y="125095"/>
                  <a:pt x="266303" y="125095"/>
                  <a:pt x="273685" y="132556"/>
                </a:cubicBezTo>
                <a:cubicBezTo>
                  <a:pt x="281067" y="140018"/>
                  <a:pt x="281146" y="152083"/>
                  <a:pt x="273685" y="159464"/>
                </a:cubicBezTo>
                <a:lnTo>
                  <a:pt x="230029" y="203121"/>
                </a:lnTo>
                <a:lnTo>
                  <a:pt x="273685" y="246777"/>
                </a:lnTo>
                <a:cubicBezTo>
                  <a:pt x="281146" y="254238"/>
                  <a:pt x="281146" y="266303"/>
                  <a:pt x="273685" y="273685"/>
                </a:cubicBezTo>
                <a:cubicBezTo>
                  <a:pt x="266224" y="281067"/>
                  <a:pt x="254159" y="281146"/>
                  <a:pt x="246777" y="273685"/>
                </a:cubicBezTo>
                <a:lnTo>
                  <a:pt x="203121" y="230029"/>
                </a:lnTo>
                <a:lnTo>
                  <a:pt x="159464" y="273685"/>
                </a:lnTo>
                <a:cubicBezTo>
                  <a:pt x="152003" y="281146"/>
                  <a:pt x="139938" y="281146"/>
                  <a:pt x="132556" y="273685"/>
                </a:cubicBezTo>
                <a:cubicBezTo>
                  <a:pt x="125174" y="266224"/>
                  <a:pt x="125095" y="254159"/>
                  <a:pt x="132556" y="246777"/>
                </a:cubicBezTo>
                <a:lnTo>
                  <a:pt x="176212" y="203121"/>
                </a:lnTo>
                <a:lnTo>
                  <a:pt x="132556" y="159464"/>
                </a:lnTo>
                <a:cubicBezTo>
                  <a:pt x="125095" y="152003"/>
                  <a:pt x="125095" y="139938"/>
                  <a:pt x="132556" y="13255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159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Negative Transfer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source and target domains are too different, transfer can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hurt performance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instead of helping.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794500" y="2159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Gap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learned on natural images may not transfer well to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medical, satellite, or specialized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domains.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93500" y="2159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Catastrophic Forgetting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Aggressive fine-tuning can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destroy pre-trained knowledge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Requires careful learning rate management.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572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840" y="25400"/>
                </a:moveTo>
                <a:lnTo>
                  <a:pt x="325120" y="25400"/>
                </a:lnTo>
                <a:cubicBezTo>
                  <a:pt x="336360" y="25400"/>
                  <a:pt x="345440" y="36751"/>
                  <a:pt x="345440" y="50800"/>
                </a:cubicBezTo>
                <a:cubicBezTo>
                  <a:pt x="345440" y="64849"/>
                  <a:pt x="336360" y="76200"/>
                  <a:pt x="325120" y="76200"/>
                </a:cubicBezTo>
                <a:lnTo>
                  <a:pt x="252984" y="76200"/>
                </a:lnTo>
                <a:cubicBezTo>
                  <a:pt x="249682" y="96679"/>
                  <a:pt x="238443" y="113586"/>
                  <a:pt x="223520" y="121682"/>
                </a:cubicBezTo>
                <a:lnTo>
                  <a:pt x="223520" y="355600"/>
                </a:lnTo>
                <a:lnTo>
                  <a:pt x="325120" y="355600"/>
                </a:lnTo>
                <a:cubicBezTo>
                  <a:pt x="336360" y="355600"/>
                  <a:pt x="345440" y="366951"/>
                  <a:pt x="345440" y="381000"/>
                </a:cubicBezTo>
                <a:cubicBezTo>
                  <a:pt x="345440" y="395049"/>
                  <a:pt x="336360" y="406400"/>
                  <a:pt x="325120" y="406400"/>
                </a:cubicBezTo>
                <a:lnTo>
                  <a:pt x="81280" y="406400"/>
                </a:lnTo>
                <a:cubicBezTo>
                  <a:pt x="70041" y="406400"/>
                  <a:pt x="60960" y="395049"/>
                  <a:pt x="60960" y="381000"/>
                </a:cubicBezTo>
                <a:cubicBezTo>
                  <a:pt x="60960" y="366951"/>
                  <a:pt x="70041" y="355600"/>
                  <a:pt x="81280" y="355600"/>
                </a:cubicBezTo>
                <a:lnTo>
                  <a:pt x="182880" y="355600"/>
                </a:lnTo>
                <a:lnTo>
                  <a:pt x="182880" y="121682"/>
                </a:lnTo>
                <a:cubicBezTo>
                  <a:pt x="167958" y="113506"/>
                  <a:pt x="156718" y="96599"/>
                  <a:pt x="153416" y="76200"/>
                </a:cubicBezTo>
                <a:lnTo>
                  <a:pt x="81280" y="76200"/>
                </a:lnTo>
                <a:cubicBezTo>
                  <a:pt x="70041" y="76200"/>
                  <a:pt x="60960" y="64849"/>
                  <a:pt x="60960" y="50800"/>
                </a:cubicBezTo>
                <a:cubicBezTo>
                  <a:pt x="60960" y="36751"/>
                  <a:pt x="70041" y="25400"/>
                  <a:pt x="81280" y="25400"/>
                </a:cubicBezTo>
                <a:lnTo>
                  <a:pt x="162560" y="25400"/>
                </a:lnTo>
                <a:cubicBezTo>
                  <a:pt x="171831" y="10001"/>
                  <a:pt x="186563" y="0"/>
                  <a:pt x="203200" y="0"/>
                </a:cubicBezTo>
                <a:cubicBezTo>
                  <a:pt x="219837" y="0"/>
                  <a:pt x="234569" y="10001"/>
                  <a:pt x="243840" y="25400"/>
                </a:cubicBezTo>
                <a:close/>
                <a:moveTo>
                  <a:pt x="279146" y="254000"/>
                </a:moveTo>
                <a:lnTo>
                  <a:pt x="371094" y="254000"/>
                </a:lnTo>
                <a:lnTo>
                  <a:pt x="325120" y="155416"/>
                </a:lnTo>
                <a:lnTo>
                  <a:pt x="279146" y="254000"/>
                </a:lnTo>
                <a:close/>
                <a:moveTo>
                  <a:pt x="325120" y="330200"/>
                </a:moveTo>
                <a:cubicBezTo>
                  <a:pt x="285179" y="330200"/>
                  <a:pt x="251968" y="303213"/>
                  <a:pt x="245110" y="267573"/>
                </a:cubicBezTo>
                <a:cubicBezTo>
                  <a:pt x="243459" y="258842"/>
                  <a:pt x="245745" y="249873"/>
                  <a:pt x="249365" y="242094"/>
                </a:cubicBezTo>
                <a:lnTo>
                  <a:pt x="309817" y="112554"/>
                </a:lnTo>
                <a:cubicBezTo>
                  <a:pt x="312992" y="105728"/>
                  <a:pt x="318834" y="101600"/>
                  <a:pt x="325120" y="101600"/>
                </a:cubicBezTo>
                <a:cubicBezTo>
                  <a:pt x="331407" y="101600"/>
                  <a:pt x="337249" y="105807"/>
                  <a:pt x="340424" y="112554"/>
                </a:cubicBezTo>
                <a:lnTo>
                  <a:pt x="400876" y="242094"/>
                </a:lnTo>
                <a:cubicBezTo>
                  <a:pt x="404495" y="249873"/>
                  <a:pt x="406781" y="258842"/>
                  <a:pt x="405130" y="267573"/>
                </a:cubicBezTo>
                <a:cubicBezTo>
                  <a:pt x="398272" y="303133"/>
                  <a:pt x="365062" y="330200"/>
                  <a:pt x="325120" y="330200"/>
                </a:cubicBezTo>
                <a:close/>
                <a:moveTo>
                  <a:pt x="80518" y="155416"/>
                </a:moveTo>
                <a:lnTo>
                  <a:pt x="34544" y="254000"/>
                </a:lnTo>
                <a:lnTo>
                  <a:pt x="126556" y="254000"/>
                </a:lnTo>
                <a:lnTo>
                  <a:pt x="80518" y="155416"/>
                </a:lnTo>
                <a:close/>
                <a:moveTo>
                  <a:pt x="572" y="267573"/>
                </a:moveTo>
                <a:cubicBezTo>
                  <a:pt x="-1080" y="258842"/>
                  <a:pt x="1207" y="249873"/>
                  <a:pt x="4826" y="242094"/>
                </a:cubicBezTo>
                <a:lnTo>
                  <a:pt x="65278" y="112554"/>
                </a:lnTo>
                <a:cubicBezTo>
                  <a:pt x="68453" y="105728"/>
                  <a:pt x="74295" y="101600"/>
                  <a:pt x="80582" y="101600"/>
                </a:cubicBezTo>
                <a:cubicBezTo>
                  <a:pt x="86868" y="101600"/>
                  <a:pt x="92710" y="105807"/>
                  <a:pt x="95885" y="112554"/>
                </a:cubicBezTo>
                <a:lnTo>
                  <a:pt x="156337" y="242094"/>
                </a:lnTo>
                <a:cubicBezTo>
                  <a:pt x="159957" y="249873"/>
                  <a:pt x="162243" y="258842"/>
                  <a:pt x="160592" y="267573"/>
                </a:cubicBezTo>
                <a:cubicBezTo>
                  <a:pt x="153733" y="303133"/>
                  <a:pt x="120523" y="330200"/>
                  <a:pt x="80582" y="330200"/>
                </a:cubicBezTo>
                <a:cubicBezTo>
                  <a:pt x="40640" y="330200"/>
                  <a:pt x="7429" y="303213"/>
                  <a:pt x="572" y="26757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4826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Bias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Pre-trained models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inherit biases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from source datasets, which can propagate to downstream tasks.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572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4826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Computational Cost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pre-trained models require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inference resources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deployment.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572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93500" y="4826000"/>
            <a:ext cx="323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 Risk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Fine-tuning on very small datasets can lead to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despite the regularization effect of transfer.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 in Transfer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572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778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937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286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6500" y="2413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 Models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GPT-4, CLIP, SAM enable zero/few-shot adaptation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0" y="4953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Near Term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558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54500" y="5715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Domain-Adaptive Pre-training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Intermediate fine-tuning on domain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74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0" y="3937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0" y="2286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02500" y="2413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Multi-Modal Transfer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Cross-modal knowledge transfer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22000" y="4419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0" y="4953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5588000"/>
            <a:ext cx="2540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350500" y="5715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Federated TL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transfer with privacy preserved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0" y="4419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81000" y="3937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54000" y="22860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081000" y="2413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Green AI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PEFT reduces compute by 90%+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" y="73660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8000" y="7493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Also: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Transfer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(AutoML selection) and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Continual Learning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(lifelong accumulation)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048000" y="3810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Transfer Learning — Project Demonstration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18000" y="4826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&amp; Discussion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W17 L31 · Deep Learning Course · 2026 Spring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23200" y="609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233124"/>
                </a:moveTo>
                <a:lnTo>
                  <a:pt x="272203" y="335637"/>
                </a:lnTo>
                <a:cubicBezTo>
                  <a:pt x="282575" y="340400"/>
                  <a:pt x="293582" y="342900"/>
                  <a:pt x="304800" y="342900"/>
                </a:cubicBezTo>
                <a:cubicBezTo>
                  <a:pt x="316018" y="342900"/>
                  <a:pt x="327025" y="340400"/>
                  <a:pt x="337397" y="335637"/>
                </a:cubicBezTo>
                <a:lnTo>
                  <a:pt x="593937" y="216813"/>
                </a:lnTo>
                <a:cubicBezTo>
                  <a:pt x="603462" y="212407"/>
                  <a:pt x="609600" y="202049"/>
                  <a:pt x="609600" y="190500"/>
                </a:cubicBezTo>
                <a:cubicBezTo>
                  <a:pt x="609600" y="178951"/>
                  <a:pt x="603462" y="168592"/>
                  <a:pt x="593937" y="164187"/>
                </a:cubicBezTo>
                <a:lnTo>
                  <a:pt x="337397" y="45363"/>
                </a:lnTo>
                <a:cubicBezTo>
                  <a:pt x="327025" y="40600"/>
                  <a:pt x="316018" y="38100"/>
                  <a:pt x="304800" y="38100"/>
                </a:cubicBezTo>
                <a:cubicBezTo>
                  <a:pt x="293582" y="38100"/>
                  <a:pt x="282575" y="40600"/>
                  <a:pt x="272203" y="45363"/>
                </a:cubicBezTo>
                <a:lnTo>
                  <a:pt x="15663" y="164187"/>
                </a:lnTo>
                <a:cubicBezTo>
                  <a:pt x="6138" y="168592"/>
                  <a:pt x="0" y="178951"/>
                  <a:pt x="0" y="190500"/>
                </a:cubicBezTo>
                <a:lnTo>
                  <a:pt x="0" y="542925"/>
                </a:lnTo>
                <a:cubicBezTo>
                  <a:pt x="0" y="558760"/>
                  <a:pt x="11324" y="571500"/>
                  <a:pt x="25400" y="571500"/>
                </a:cubicBezTo>
                <a:cubicBezTo>
                  <a:pt x="39476" y="571500"/>
                  <a:pt x="50800" y="558760"/>
                  <a:pt x="50800" y="542925"/>
                </a:cubicBezTo>
                <a:lnTo>
                  <a:pt x="50800" y="233124"/>
                </a:lnTo>
                <a:close/>
                <a:moveTo>
                  <a:pt x="101600" y="318492"/>
                </a:moveTo>
                <a:lnTo>
                  <a:pt x="101600" y="457200"/>
                </a:lnTo>
                <a:cubicBezTo>
                  <a:pt x="101600" y="520303"/>
                  <a:pt x="192617" y="571500"/>
                  <a:pt x="304800" y="571500"/>
                </a:cubicBezTo>
                <a:cubicBezTo>
                  <a:pt x="416983" y="571500"/>
                  <a:pt x="508000" y="520303"/>
                  <a:pt x="508000" y="457200"/>
                </a:cubicBezTo>
                <a:lnTo>
                  <a:pt x="508000" y="318373"/>
                </a:lnTo>
                <a:lnTo>
                  <a:pt x="356764" y="388501"/>
                </a:lnTo>
                <a:cubicBezTo>
                  <a:pt x="340254" y="396121"/>
                  <a:pt x="322686" y="400050"/>
                  <a:pt x="304800" y="400050"/>
                </a:cubicBezTo>
                <a:cubicBezTo>
                  <a:pt x="286914" y="400050"/>
                  <a:pt x="269346" y="396121"/>
                  <a:pt x="252836" y="388501"/>
                </a:cubicBezTo>
                <a:lnTo>
                  <a:pt x="101600" y="318373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17</dc:title>
  <dc:subject>week 17</dc:subject>
  <dc:creator>Kimi</dc:creator>
  <cp:lastModifiedBy>Kimi</cp:lastModifiedBy>
  <cp:revision>1</cp:revision>
  <dcterms:created xsi:type="dcterms:W3CDTF">2026-06-26T14:41:32Z</dcterms:created>
  <dcterms:modified xsi:type="dcterms:W3CDTF">2026-06-26T14:41:32Z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17","ContentProducer":"001191110108MACG2KBH8F10000","ProduceID":"19f04340-c902-8bb5-8000-00001b6e66c5","ReservedCode1":"","ContentPropagator":"001191110108MACG2KBH8F20000","PropagateID":"19f042e9-5332-86e3-8000-0997c7b559ea","ReservedCode2":""}</vt:lpwstr>
  </property>
</Properties>
</file>