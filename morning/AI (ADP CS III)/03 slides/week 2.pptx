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Quattrocento Sans" charset="-122" pitchFamily="34"/>
      <p:regular r:id="rId35"/>
    </p:embeddedFont>
    <p:embeddedFont>
      <p:font typeface="Liter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24yafeoub6me/mnt/agents/output/ai_problem_solving/images/6_Dark_abstract_technology_wallpaper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1C">
                  <a:alpha val="90000"/>
                </a:srgbClr>
              </a:gs>
              <a:gs pos="50000">
                <a:srgbClr val="0A1F1C">
                  <a:alpha val="80000"/>
                </a:srgbClr>
              </a:gs>
              <a:gs pos="100000">
                <a:srgbClr val="0A1F1C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2794000"/>
            <a:ext cx="127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778000" y="3556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048000" y="5080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Solving Problems by Searching &amp; Uninformed Search Strategies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588000" y="609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00" spc="300" kern="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2 — LECTURES 3 &amp; 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3000" y="6731000"/>
            <a:ext cx="1270000" cy="508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9144000"/>
          </a:xfrm>
          <a:prstGeom prst="rect">
            <a:avLst/>
          </a:prstGeom>
          <a:solidFill>
            <a:srgbClr val="0D4A42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2700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OUTLINE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905000"/>
            <a:ext cx="381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921000"/>
            <a:ext cx="762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33020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2 covers problem-solving fundamentals and uninformed search strategies in AI.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7112000"/>
            <a:ext cx="1270000" cy="457200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7112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96000" y="1778000"/>
            <a:ext cx="9144000" cy="254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Text 8"/>
          <p:cNvSpPr/>
          <p:nvPr/>
        </p:nvSpPr>
        <p:spPr>
          <a:xfrm>
            <a:off x="6604000" y="2159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7000" y="2159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 by Searching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47000" y="27432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how AI agents solve problems through systematic search. Covers problem formulation and search components.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47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4826000"/>
            <a:ext cx="9144000" cy="254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5" name="Text 13"/>
          <p:cNvSpPr/>
          <p:nvPr/>
        </p:nvSpPr>
        <p:spPr>
          <a:xfrm>
            <a:off x="6604000" y="5207000"/>
            <a:ext cx="101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47000" y="5207000"/>
            <a:ext cx="685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Search Strategies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47000" y="57912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Depth-first search, breadth-first search, and other blind search methods. Analysis of completeness, optimality, time and space complexity.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47000" y="6858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24yafeoub6me/mnt/agents/output/ai_problem_solving/images/8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1C">
                  <a:alpha val="95000"/>
                </a:srgbClr>
              </a:gs>
              <a:gs pos="60000">
                <a:srgbClr val="0A1F1C">
                  <a:alpha val="82000"/>
                </a:srgbClr>
              </a:gs>
              <a:gs pos="100000">
                <a:srgbClr val="0A1F1C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5560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 by Searching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3 — Understanding how AI agents solve problems through systematic search in state spaces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60960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D4943A">
              <a:alpha val="18824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6096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Problem Solving in AI?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8382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1060450" y="18796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8542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311400"/>
            <a:ext cx="7874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 is finding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sequence of actions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transforms an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state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desired goal state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429000"/>
            <a:ext cx="8382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agents use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a fundamental mechanism for problem solving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involves exploring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0D4A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 space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all possible states reachable from the initial state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solution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path from initial state to goal state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algorithms systematically explore possible paths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762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8026400"/>
            <a:ext cx="838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822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54000" y="47625"/>
                </a:moveTo>
                <a:cubicBezTo>
                  <a:pt x="254000" y="72529"/>
                  <a:pt x="224681" y="109686"/>
                  <a:pt x="212030" y="124520"/>
                </a:cubicBezTo>
                <a:cubicBezTo>
                  <a:pt x="210145" y="126702"/>
                  <a:pt x="207367" y="127546"/>
                  <a:pt x="204837" y="127000"/>
                </a:cubicBezTo>
                <a:lnTo>
                  <a:pt x="158750" y="127000"/>
                </a:lnTo>
                <a:cubicBezTo>
                  <a:pt x="149969" y="127000"/>
                  <a:pt x="142875" y="134094"/>
                  <a:pt x="142875" y="142875"/>
                </a:cubicBezTo>
                <a:cubicBezTo>
                  <a:pt x="142875" y="151656"/>
                  <a:pt x="149969" y="158750"/>
                  <a:pt x="158750" y="158750"/>
                </a:cubicBezTo>
                <a:lnTo>
                  <a:pt x="206375" y="158750"/>
                </a:lnTo>
                <a:cubicBezTo>
                  <a:pt x="232668" y="158750"/>
                  <a:pt x="254000" y="180082"/>
                  <a:pt x="254000" y="206375"/>
                </a:cubicBezTo>
                <a:cubicBezTo>
                  <a:pt x="254000" y="232668"/>
                  <a:pt x="232668" y="254000"/>
                  <a:pt x="206375" y="254000"/>
                </a:cubicBezTo>
                <a:lnTo>
                  <a:pt x="69255" y="254000"/>
                </a:lnTo>
                <a:cubicBezTo>
                  <a:pt x="73571" y="249089"/>
                  <a:pt x="78829" y="242788"/>
                  <a:pt x="84138" y="235744"/>
                </a:cubicBezTo>
                <a:cubicBezTo>
                  <a:pt x="87263" y="231577"/>
                  <a:pt x="90488" y="227012"/>
                  <a:pt x="93563" y="222250"/>
                </a:cubicBezTo>
                <a:lnTo>
                  <a:pt x="206375" y="222250"/>
                </a:lnTo>
                <a:cubicBezTo>
                  <a:pt x="215156" y="222250"/>
                  <a:pt x="222250" y="215156"/>
                  <a:pt x="222250" y="206375"/>
                </a:cubicBezTo>
                <a:cubicBezTo>
                  <a:pt x="222250" y="197594"/>
                  <a:pt x="215156" y="190500"/>
                  <a:pt x="206375" y="190500"/>
                </a:cubicBezTo>
                <a:lnTo>
                  <a:pt x="158750" y="190500"/>
                </a:lnTo>
                <a:cubicBezTo>
                  <a:pt x="132457" y="190500"/>
                  <a:pt x="111125" y="169168"/>
                  <a:pt x="111125" y="142875"/>
                </a:cubicBezTo>
                <a:cubicBezTo>
                  <a:pt x="111125" y="116582"/>
                  <a:pt x="132457" y="95250"/>
                  <a:pt x="158750" y="95250"/>
                </a:cubicBezTo>
                <a:lnTo>
                  <a:pt x="178495" y="95250"/>
                </a:lnTo>
                <a:cubicBezTo>
                  <a:pt x="168077" y="79623"/>
                  <a:pt x="158750" y="61664"/>
                  <a:pt x="158750" y="47625"/>
                </a:cubicBezTo>
                <a:cubicBezTo>
                  <a:pt x="158750" y="21332"/>
                  <a:pt x="180082" y="0"/>
                  <a:pt x="206375" y="0"/>
                </a:cubicBezTo>
                <a:cubicBezTo>
                  <a:pt x="232668" y="0"/>
                  <a:pt x="254000" y="21332"/>
                  <a:pt x="254000" y="47625"/>
                </a:cubicBezTo>
                <a:close/>
                <a:moveTo>
                  <a:pt x="58093" y="242639"/>
                </a:moveTo>
                <a:cubicBezTo>
                  <a:pt x="56207" y="244773"/>
                  <a:pt x="54521" y="246658"/>
                  <a:pt x="53082" y="248245"/>
                </a:cubicBezTo>
                <a:lnTo>
                  <a:pt x="52189" y="249237"/>
                </a:lnTo>
                <a:lnTo>
                  <a:pt x="52090" y="249138"/>
                </a:lnTo>
                <a:cubicBezTo>
                  <a:pt x="49113" y="251420"/>
                  <a:pt x="44847" y="251123"/>
                  <a:pt x="42168" y="248245"/>
                </a:cubicBezTo>
                <a:cubicBezTo>
                  <a:pt x="29666" y="234652"/>
                  <a:pt x="0" y="199678"/>
                  <a:pt x="0" y="174625"/>
                </a:cubicBezTo>
                <a:cubicBezTo>
                  <a:pt x="0" y="148332"/>
                  <a:pt x="21332" y="127000"/>
                  <a:pt x="47625" y="127000"/>
                </a:cubicBezTo>
                <a:cubicBezTo>
                  <a:pt x="73918" y="127000"/>
                  <a:pt x="95250" y="148332"/>
                  <a:pt x="95250" y="174625"/>
                </a:cubicBezTo>
                <a:cubicBezTo>
                  <a:pt x="95250" y="189508"/>
                  <a:pt x="84782" y="207863"/>
                  <a:pt x="73670" y="223193"/>
                </a:cubicBezTo>
                <a:cubicBezTo>
                  <a:pt x="68362" y="230485"/>
                  <a:pt x="62905" y="237083"/>
                  <a:pt x="58390" y="242292"/>
                </a:cubicBezTo>
                <a:lnTo>
                  <a:pt x="58093" y="242639"/>
                </a:lnTo>
                <a:close/>
                <a:moveTo>
                  <a:pt x="63500" y="174625"/>
                </a:moveTo>
                <a:cubicBezTo>
                  <a:pt x="63500" y="165863"/>
                  <a:pt x="56387" y="158750"/>
                  <a:pt x="47625" y="158750"/>
                </a:cubicBezTo>
                <a:cubicBezTo>
                  <a:pt x="38863" y="158750"/>
                  <a:pt x="31750" y="165863"/>
                  <a:pt x="31750" y="174625"/>
                </a:cubicBezTo>
                <a:cubicBezTo>
                  <a:pt x="31750" y="183387"/>
                  <a:pt x="38863" y="190500"/>
                  <a:pt x="47625" y="190500"/>
                </a:cubicBezTo>
                <a:cubicBezTo>
                  <a:pt x="56387" y="190500"/>
                  <a:pt x="63500" y="183387"/>
                  <a:pt x="63500" y="174625"/>
                </a:cubicBezTo>
                <a:close/>
                <a:moveTo>
                  <a:pt x="206375" y="63500"/>
                </a:moveTo>
                <a:cubicBezTo>
                  <a:pt x="215137" y="63500"/>
                  <a:pt x="222250" y="56387"/>
                  <a:pt x="222250" y="47625"/>
                </a:cubicBezTo>
                <a:cubicBezTo>
                  <a:pt x="222250" y="38863"/>
                  <a:pt x="215137" y="31750"/>
                  <a:pt x="206375" y="31750"/>
                </a:cubicBezTo>
                <a:cubicBezTo>
                  <a:pt x="197613" y="31750"/>
                  <a:pt x="190500" y="38863"/>
                  <a:pt x="190500" y="47625"/>
                </a:cubicBezTo>
                <a:cubicBezTo>
                  <a:pt x="190500" y="56387"/>
                  <a:pt x="197613" y="63500"/>
                  <a:pt x="206375" y="63500"/>
                </a:cubicBezTo>
                <a:close/>
              </a:path>
            </a:pathLst>
          </a:custGeom>
          <a:solidFill>
            <a:srgbClr val="6B8F7B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82042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 Finding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02000" y="822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125" y="0"/>
                </a:moveTo>
                <a:cubicBezTo>
                  <a:pt x="128637" y="0"/>
                  <a:pt x="142875" y="10666"/>
                  <a:pt x="142875" y="23812"/>
                </a:cubicBezTo>
                <a:cubicBezTo>
                  <a:pt x="142875" y="28972"/>
                  <a:pt x="140692" y="33734"/>
                  <a:pt x="136922" y="37654"/>
                </a:cubicBezTo>
                <a:cubicBezTo>
                  <a:pt x="133648" y="41077"/>
                  <a:pt x="130969" y="45244"/>
                  <a:pt x="130969" y="50006"/>
                </a:cubicBezTo>
                <a:cubicBezTo>
                  <a:pt x="130969" y="57448"/>
                  <a:pt x="137021" y="63500"/>
                  <a:pt x="144463" y="63500"/>
                </a:cubicBezTo>
                <a:lnTo>
                  <a:pt x="166688" y="63500"/>
                </a:lnTo>
                <a:cubicBezTo>
                  <a:pt x="179834" y="63500"/>
                  <a:pt x="190500" y="74166"/>
                  <a:pt x="190500" y="87313"/>
                </a:cubicBezTo>
                <a:lnTo>
                  <a:pt x="190500" y="109538"/>
                </a:lnTo>
                <a:cubicBezTo>
                  <a:pt x="190500" y="116979"/>
                  <a:pt x="196552" y="123031"/>
                  <a:pt x="203994" y="123031"/>
                </a:cubicBezTo>
                <a:cubicBezTo>
                  <a:pt x="208707" y="123031"/>
                  <a:pt x="212923" y="120352"/>
                  <a:pt x="216346" y="117078"/>
                </a:cubicBezTo>
                <a:cubicBezTo>
                  <a:pt x="220266" y="113357"/>
                  <a:pt x="225028" y="111125"/>
                  <a:pt x="230188" y="111125"/>
                </a:cubicBezTo>
                <a:cubicBezTo>
                  <a:pt x="243334" y="111125"/>
                  <a:pt x="254000" y="125363"/>
                  <a:pt x="254000" y="142875"/>
                </a:cubicBezTo>
                <a:cubicBezTo>
                  <a:pt x="254000" y="160387"/>
                  <a:pt x="243334" y="174625"/>
                  <a:pt x="230188" y="174625"/>
                </a:cubicBezTo>
                <a:cubicBezTo>
                  <a:pt x="225028" y="174625"/>
                  <a:pt x="220216" y="172442"/>
                  <a:pt x="216346" y="168672"/>
                </a:cubicBezTo>
                <a:cubicBezTo>
                  <a:pt x="212923" y="165398"/>
                  <a:pt x="208756" y="162719"/>
                  <a:pt x="203994" y="162719"/>
                </a:cubicBezTo>
                <a:cubicBezTo>
                  <a:pt x="196552" y="162719"/>
                  <a:pt x="190500" y="168771"/>
                  <a:pt x="190500" y="176213"/>
                </a:cubicBezTo>
                <a:lnTo>
                  <a:pt x="190500" y="230188"/>
                </a:lnTo>
                <a:cubicBezTo>
                  <a:pt x="190500" y="243334"/>
                  <a:pt x="179834" y="254000"/>
                  <a:pt x="166688" y="254000"/>
                </a:cubicBezTo>
                <a:lnTo>
                  <a:pt x="138509" y="254000"/>
                </a:lnTo>
                <a:cubicBezTo>
                  <a:pt x="132159" y="254000"/>
                  <a:pt x="127000" y="248841"/>
                  <a:pt x="127000" y="242491"/>
                </a:cubicBezTo>
                <a:cubicBezTo>
                  <a:pt x="127000" y="237927"/>
                  <a:pt x="129877" y="233908"/>
                  <a:pt x="133548" y="231180"/>
                </a:cubicBezTo>
                <a:cubicBezTo>
                  <a:pt x="139303" y="226864"/>
                  <a:pt x="142875" y="220911"/>
                  <a:pt x="142875" y="214313"/>
                </a:cubicBezTo>
                <a:cubicBezTo>
                  <a:pt x="142875" y="201166"/>
                  <a:pt x="128637" y="190500"/>
                  <a:pt x="111125" y="190500"/>
                </a:cubicBezTo>
                <a:cubicBezTo>
                  <a:pt x="93613" y="190500"/>
                  <a:pt x="79375" y="201166"/>
                  <a:pt x="79375" y="214313"/>
                </a:cubicBezTo>
                <a:cubicBezTo>
                  <a:pt x="79375" y="220911"/>
                  <a:pt x="82947" y="226864"/>
                  <a:pt x="88702" y="231180"/>
                </a:cubicBezTo>
                <a:cubicBezTo>
                  <a:pt x="92373" y="233908"/>
                  <a:pt x="95250" y="237877"/>
                  <a:pt x="95250" y="242491"/>
                </a:cubicBezTo>
                <a:cubicBezTo>
                  <a:pt x="95250" y="248841"/>
                  <a:pt x="90091" y="254000"/>
                  <a:pt x="83741" y="254000"/>
                </a:cubicBezTo>
                <a:lnTo>
                  <a:pt x="23812" y="254000"/>
                </a:lnTo>
                <a:cubicBezTo>
                  <a:pt x="10666" y="254000"/>
                  <a:pt x="0" y="243334"/>
                  <a:pt x="0" y="230188"/>
                </a:cubicBezTo>
                <a:lnTo>
                  <a:pt x="0" y="170259"/>
                </a:lnTo>
                <a:cubicBezTo>
                  <a:pt x="0" y="163909"/>
                  <a:pt x="5159" y="158750"/>
                  <a:pt x="11509" y="158750"/>
                </a:cubicBezTo>
                <a:cubicBezTo>
                  <a:pt x="16073" y="158750"/>
                  <a:pt x="20092" y="161627"/>
                  <a:pt x="22820" y="165298"/>
                </a:cubicBezTo>
                <a:cubicBezTo>
                  <a:pt x="27136" y="171053"/>
                  <a:pt x="33089" y="174625"/>
                  <a:pt x="39688" y="174625"/>
                </a:cubicBezTo>
                <a:cubicBezTo>
                  <a:pt x="52834" y="174625"/>
                  <a:pt x="63500" y="160387"/>
                  <a:pt x="63500" y="142875"/>
                </a:cubicBezTo>
                <a:cubicBezTo>
                  <a:pt x="63500" y="125363"/>
                  <a:pt x="52834" y="111125"/>
                  <a:pt x="39688" y="111125"/>
                </a:cubicBezTo>
                <a:cubicBezTo>
                  <a:pt x="33089" y="111125"/>
                  <a:pt x="27136" y="114697"/>
                  <a:pt x="22820" y="120452"/>
                </a:cubicBezTo>
                <a:cubicBezTo>
                  <a:pt x="20092" y="124123"/>
                  <a:pt x="16123" y="127000"/>
                  <a:pt x="11509" y="127000"/>
                </a:cubicBezTo>
                <a:cubicBezTo>
                  <a:pt x="5159" y="127000"/>
                  <a:pt x="0" y="121841"/>
                  <a:pt x="0" y="115491"/>
                </a:cubicBezTo>
                <a:lnTo>
                  <a:pt x="0" y="87313"/>
                </a:lnTo>
                <a:cubicBezTo>
                  <a:pt x="0" y="74166"/>
                  <a:pt x="10666" y="63500"/>
                  <a:pt x="23812" y="63500"/>
                </a:cubicBezTo>
                <a:lnTo>
                  <a:pt x="77788" y="63500"/>
                </a:lnTo>
                <a:cubicBezTo>
                  <a:pt x="85229" y="63500"/>
                  <a:pt x="91281" y="57448"/>
                  <a:pt x="91281" y="50006"/>
                </a:cubicBezTo>
                <a:cubicBezTo>
                  <a:pt x="91281" y="45293"/>
                  <a:pt x="88602" y="41077"/>
                  <a:pt x="85328" y="37654"/>
                </a:cubicBezTo>
                <a:cubicBezTo>
                  <a:pt x="81607" y="33734"/>
                  <a:pt x="79375" y="28972"/>
                  <a:pt x="79375" y="23813"/>
                </a:cubicBezTo>
                <a:cubicBezTo>
                  <a:pt x="79375" y="10666"/>
                  <a:pt x="93613" y="0"/>
                  <a:pt x="111125" y="0"/>
                </a:cubicBezTo>
                <a:close/>
              </a:path>
            </a:pathLst>
          </a:custGeom>
          <a:solidFill>
            <a:srgbClr val="6B8F7B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0" y="82042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Puzzle Solving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8000" y="822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3344" y="27781"/>
                </a:moveTo>
                <a:lnTo>
                  <a:pt x="83344" y="47625"/>
                </a:lnTo>
                <a:lnTo>
                  <a:pt x="44599" y="47625"/>
                </a:lnTo>
                <a:cubicBezTo>
                  <a:pt x="37505" y="47625"/>
                  <a:pt x="31750" y="53380"/>
                  <a:pt x="31750" y="60474"/>
                </a:cubicBezTo>
                <a:cubicBezTo>
                  <a:pt x="31750" y="62458"/>
                  <a:pt x="32196" y="64443"/>
                  <a:pt x="33089" y="66229"/>
                </a:cubicBezTo>
                <a:lnTo>
                  <a:pt x="49659" y="99368"/>
                </a:lnTo>
                <a:cubicBezTo>
                  <a:pt x="44004" y="100261"/>
                  <a:pt x="39638" y="105172"/>
                  <a:pt x="39638" y="111125"/>
                </a:cubicBezTo>
                <a:cubicBezTo>
                  <a:pt x="39638" y="117723"/>
                  <a:pt x="44946" y="123031"/>
                  <a:pt x="51544" y="123031"/>
                </a:cubicBezTo>
                <a:lnTo>
                  <a:pt x="54322" y="123031"/>
                </a:lnTo>
                <a:lnTo>
                  <a:pt x="47575" y="190500"/>
                </a:lnTo>
                <a:lnTo>
                  <a:pt x="19695" y="225375"/>
                </a:lnTo>
                <a:cubicBezTo>
                  <a:pt x="17214" y="228501"/>
                  <a:pt x="15825" y="232370"/>
                  <a:pt x="15825" y="236389"/>
                </a:cubicBezTo>
                <a:cubicBezTo>
                  <a:pt x="15825" y="246112"/>
                  <a:pt x="23713" y="254000"/>
                  <a:pt x="33437" y="254000"/>
                </a:cubicBezTo>
                <a:lnTo>
                  <a:pt x="156914" y="254000"/>
                </a:lnTo>
                <a:cubicBezTo>
                  <a:pt x="166638" y="254000"/>
                  <a:pt x="174526" y="246112"/>
                  <a:pt x="174526" y="236389"/>
                </a:cubicBezTo>
                <a:cubicBezTo>
                  <a:pt x="174526" y="232370"/>
                  <a:pt x="173186" y="228501"/>
                  <a:pt x="170656" y="225375"/>
                </a:cubicBezTo>
                <a:lnTo>
                  <a:pt x="142875" y="190500"/>
                </a:lnTo>
                <a:lnTo>
                  <a:pt x="136128" y="123031"/>
                </a:lnTo>
                <a:lnTo>
                  <a:pt x="138906" y="123031"/>
                </a:lnTo>
                <a:cubicBezTo>
                  <a:pt x="145504" y="123031"/>
                  <a:pt x="150813" y="117723"/>
                  <a:pt x="150813" y="111125"/>
                </a:cubicBezTo>
                <a:cubicBezTo>
                  <a:pt x="150813" y="105221"/>
                  <a:pt x="146496" y="100261"/>
                  <a:pt x="140791" y="99368"/>
                </a:cubicBezTo>
                <a:lnTo>
                  <a:pt x="157361" y="66229"/>
                </a:lnTo>
                <a:cubicBezTo>
                  <a:pt x="158254" y="64443"/>
                  <a:pt x="158700" y="62458"/>
                  <a:pt x="158700" y="60474"/>
                </a:cubicBezTo>
                <a:cubicBezTo>
                  <a:pt x="158700" y="53380"/>
                  <a:pt x="152946" y="47625"/>
                  <a:pt x="145852" y="47625"/>
                </a:cubicBezTo>
                <a:lnTo>
                  <a:pt x="107107" y="47625"/>
                </a:lnTo>
                <a:lnTo>
                  <a:pt x="107107" y="27781"/>
                </a:lnTo>
                <a:lnTo>
                  <a:pt x="115044" y="27781"/>
                </a:lnTo>
                <a:cubicBezTo>
                  <a:pt x="121642" y="27781"/>
                  <a:pt x="126950" y="22473"/>
                  <a:pt x="126950" y="15875"/>
                </a:cubicBezTo>
                <a:cubicBezTo>
                  <a:pt x="126950" y="9277"/>
                  <a:pt x="121692" y="3969"/>
                  <a:pt x="115094" y="3969"/>
                </a:cubicBezTo>
                <a:lnTo>
                  <a:pt x="107156" y="3969"/>
                </a:lnTo>
                <a:lnTo>
                  <a:pt x="107156" y="-3969"/>
                </a:lnTo>
                <a:cubicBezTo>
                  <a:pt x="107156" y="-10567"/>
                  <a:pt x="101848" y="-15875"/>
                  <a:pt x="95250" y="-15875"/>
                </a:cubicBezTo>
                <a:cubicBezTo>
                  <a:pt x="88652" y="-15875"/>
                  <a:pt x="83344" y="-10567"/>
                  <a:pt x="83344" y="-3969"/>
                </a:cubicBezTo>
                <a:lnTo>
                  <a:pt x="83344" y="3969"/>
                </a:lnTo>
                <a:lnTo>
                  <a:pt x="75406" y="3969"/>
                </a:lnTo>
                <a:cubicBezTo>
                  <a:pt x="68808" y="3969"/>
                  <a:pt x="63500" y="9277"/>
                  <a:pt x="63500" y="15875"/>
                </a:cubicBezTo>
                <a:cubicBezTo>
                  <a:pt x="63500" y="22473"/>
                  <a:pt x="68808" y="27781"/>
                  <a:pt x="75406" y="27781"/>
                </a:cubicBezTo>
                <a:lnTo>
                  <a:pt x="83344" y="27781"/>
                </a:lnTo>
                <a:close/>
                <a:moveTo>
                  <a:pt x="161627" y="138708"/>
                </a:moveTo>
                <a:lnTo>
                  <a:pt x="165844" y="181124"/>
                </a:lnTo>
                <a:lnTo>
                  <a:pt x="189359" y="210493"/>
                </a:lnTo>
                <a:lnTo>
                  <a:pt x="191443" y="213320"/>
                </a:lnTo>
                <a:cubicBezTo>
                  <a:pt x="196007" y="220117"/>
                  <a:pt x="198438" y="228154"/>
                  <a:pt x="198438" y="236389"/>
                </a:cubicBezTo>
                <a:cubicBezTo>
                  <a:pt x="198438" y="242689"/>
                  <a:pt x="197048" y="248692"/>
                  <a:pt x="194518" y="254000"/>
                </a:cubicBezTo>
                <a:lnTo>
                  <a:pt x="235744" y="254000"/>
                </a:lnTo>
                <a:cubicBezTo>
                  <a:pt x="245814" y="254000"/>
                  <a:pt x="254000" y="245814"/>
                  <a:pt x="254000" y="235744"/>
                </a:cubicBezTo>
                <a:cubicBezTo>
                  <a:pt x="254000" y="232122"/>
                  <a:pt x="252909" y="228600"/>
                  <a:pt x="250924" y="225623"/>
                </a:cubicBezTo>
                <a:lnTo>
                  <a:pt x="238125" y="206425"/>
                </a:lnTo>
                <a:lnTo>
                  <a:pt x="238125" y="174675"/>
                </a:lnTo>
                <a:lnTo>
                  <a:pt x="244723" y="168077"/>
                </a:lnTo>
                <a:cubicBezTo>
                  <a:pt x="250676" y="162123"/>
                  <a:pt x="254000" y="154037"/>
                  <a:pt x="254000" y="145604"/>
                </a:cubicBezTo>
                <a:lnTo>
                  <a:pt x="254000" y="95250"/>
                </a:lnTo>
                <a:cubicBezTo>
                  <a:pt x="254000" y="86469"/>
                  <a:pt x="246906" y="79375"/>
                  <a:pt x="238125" y="79375"/>
                </a:cubicBezTo>
                <a:cubicBezTo>
                  <a:pt x="229344" y="79375"/>
                  <a:pt x="222250" y="86469"/>
                  <a:pt x="222250" y="95250"/>
                </a:cubicBezTo>
                <a:lnTo>
                  <a:pt x="222250" y="103188"/>
                </a:lnTo>
                <a:lnTo>
                  <a:pt x="206375" y="103188"/>
                </a:lnTo>
                <a:lnTo>
                  <a:pt x="206375" y="95250"/>
                </a:lnTo>
                <a:cubicBezTo>
                  <a:pt x="206375" y="86469"/>
                  <a:pt x="199281" y="79375"/>
                  <a:pt x="190500" y="79375"/>
                </a:cubicBezTo>
                <a:cubicBezTo>
                  <a:pt x="181719" y="79375"/>
                  <a:pt x="174625" y="86469"/>
                  <a:pt x="174625" y="95250"/>
                </a:cubicBezTo>
                <a:lnTo>
                  <a:pt x="174625" y="111125"/>
                </a:lnTo>
                <a:cubicBezTo>
                  <a:pt x="174625" y="122238"/>
                  <a:pt x="169565" y="132159"/>
                  <a:pt x="161627" y="138708"/>
                </a:cubicBezTo>
                <a:close/>
              </a:path>
            </a:pathLst>
          </a:custGeom>
          <a:solidFill>
            <a:srgbClr val="6B8F7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8204200"/>
            <a:ext cx="165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Game Playing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35875" y="8229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63500" y="0"/>
                </a:moveTo>
                <a:cubicBezTo>
                  <a:pt x="72281" y="0"/>
                  <a:pt x="79375" y="7094"/>
                  <a:pt x="79375" y="15875"/>
                </a:cubicBezTo>
                <a:lnTo>
                  <a:pt x="79375" y="31750"/>
                </a:lnTo>
                <a:lnTo>
                  <a:pt x="142875" y="31750"/>
                </a:lnTo>
                <a:lnTo>
                  <a:pt x="142875" y="15875"/>
                </a:lnTo>
                <a:cubicBezTo>
                  <a:pt x="142875" y="7094"/>
                  <a:pt x="149969" y="0"/>
                  <a:pt x="158750" y="0"/>
                </a:cubicBezTo>
                <a:cubicBezTo>
                  <a:pt x="167531" y="0"/>
                  <a:pt x="174625" y="7094"/>
                  <a:pt x="174625" y="15875"/>
                </a:cubicBezTo>
                <a:lnTo>
                  <a:pt x="174625" y="31750"/>
                </a:lnTo>
                <a:lnTo>
                  <a:pt x="190500" y="31750"/>
                </a:lnTo>
                <a:cubicBezTo>
                  <a:pt x="208012" y="31750"/>
                  <a:pt x="222250" y="45988"/>
                  <a:pt x="222250" y="63500"/>
                </a:cubicBezTo>
                <a:lnTo>
                  <a:pt x="222250" y="206375"/>
                </a:lnTo>
                <a:cubicBezTo>
                  <a:pt x="222250" y="223887"/>
                  <a:pt x="208012" y="238125"/>
                  <a:pt x="190500" y="238125"/>
                </a:cubicBezTo>
                <a:lnTo>
                  <a:pt x="31750" y="238125"/>
                </a:lnTo>
                <a:cubicBezTo>
                  <a:pt x="14238" y="238125"/>
                  <a:pt x="0" y="223887"/>
                  <a:pt x="0" y="206375"/>
                </a:cubicBezTo>
                <a:lnTo>
                  <a:pt x="0" y="63500"/>
                </a:lnTo>
                <a:cubicBezTo>
                  <a:pt x="0" y="45988"/>
                  <a:pt x="14238" y="31750"/>
                  <a:pt x="31750" y="31750"/>
                </a:cubicBezTo>
                <a:lnTo>
                  <a:pt x="47625" y="31750"/>
                </a:lnTo>
                <a:lnTo>
                  <a:pt x="47625" y="15875"/>
                </a:lnTo>
                <a:cubicBezTo>
                  <a:pt x="47625" y="7094"/>
                  <a:pt x="54719" y="0"/>
                  <a:pt x="63500" y="0"/>
                </a:cubicBezTo>
                <a:close/>
                <a:moveTo>
                  <a:pt x="152995" y="113457"/>
                </a:moveTo>
                <a:cubicBezTo>
                  <a:pt x="156468" y="107900"/>
                  <a:pt x="154781" y="100558"/>
                  <a:pt x="149225" y="97036"/>
                </a:cubicBezTo>
                <a:cubicBezTo>
                  <a:pt x="143669" y="93514"/>
                  <a:pt x="136327" y="95250"/>
                  <a:pt x="132804" y="100806"/>
                </a:cubicBezTo>
                <a:lnTo>
                  <a:pt x="102344" y="149572"/>
                </a:lnTo>
                <a:lnTo>
                  <a:pt x="88950" y="131713"/>
                </a:lnTo>
                <a:cubicBezTo>
                  <a:pt x="84981" y="126454"/>
                  <a:pt x="77539" y="125363"/>
                  <a:pt x="72281" y="129332"/>
                </a:cubicBezTo>
                <a:cubicBezTo>
                  <a:pt x="67022" y="133300"/>
                  <a:pt x="65931" y="140742"/>
                  <a:pt x="69900" y="146000"/>
                </a:cubicBezTo>
                <a:lnTo>
                  <a:pt x="93712" y="177750"/>
                </a:lnTo>
                <a:cubicBezTo>
                  <a:pt x="96044" y="180876"/>
                  <a:pt x="99814" y="182662"/>
                  <a:pt x="103733" y="182513"/>
                </a:cubicBezTo>
                <a:cubicBezTo>
                  <a:pt x="107652" y="182364"/>
                  <a:pt x="111224" y="180280"/>
                  <a:pt x="113308" y="176907"/>
                </a:cubicBezTo>
                <a:lnTo>
                  <a:pt x="152995" y="113407"/>
                </a:lnTo>
                <a:close/>
              </a:path>
            </a:pathLst>
          </a:custGeom>
          <a:solidFill>
            <a:srgbClr val="6B8F7B"/>
          </a:solidFill>
          <a:ln/>
        </p:spPr>
      </p:sp>
      <p:sp>
        <p:nvSpPr>
          <p:cNvPr id="19" name="Text 17"/>
          <p:cNvSpPr/>
          <p:nvPr/>
        </p:nvSpPr>
        <p:spPr>
          <a:xfrm>
            <a:off x="7975600" y="8204200"/>
            <a:ext cx="139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Scheduling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52000" y="1651000"/>
            <a:ext cx="5842000" cy="6858000"/>
          </a:xfrm>
          <a:prstGeom prst="roundRect">
            <a:avLst>
              <a:gd name="adj" fmla="val 5000"/>
            </a:avLst>
          </a:prstGeom>
          <a:solidFill>
            <a:srgbClr val="0D4A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76000" y="2159000"/>
            <a:ext cx="2794000" cy="7112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76000" y="2159000"/>
            <a:ext cx="279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State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573000" y="2870200"/>
            <a:ext cx="0" cy="508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12700000" y="29718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176000" y="3378200"/>
            <a:ext cx="2794000" cy="7112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25400">
            <a:solidFill>
              <a:srgbClr val="6B8F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76000" y="3378200"/>
            <a:ext cx="279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Space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573000" y="4089400"/>
            <a:ext cx="0" cy="508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8" name="Text 26"/>
          <p:cNvSpPr/>
          <p:nvPr/>
        </p:nvSpPr>
        <p:spPr>
          <a:xfrm>
            <a:off x="12700000" y="41910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176000" y="4597400"/>
            <a:ext cx="2794000" cy="7112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76000" y="4597400"/>
            <a:ext cx="279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Path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573000" y="5308600"/>
            <a:ext cx="0" cy="5080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12700000" y="54102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Test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76000" y="5816600"/>
            <a:ext cx="2794000" cy="711200"/>
          </a:xfrm>
          <a:prstGeom prst="roundRect">
            <a:avLst>
              <a:gd name="adj" fmla="val 10000"/>
            </a:avLst>
          </a:prstGeom>
          <a:solidFill>
            <a:srgbClr val="D4943A"/>
          </a:solidFill>
          <a:ln/>
        </p:spPr>
      </p:sp>
      <p:sp>
        <p:nvSpPr>
          <p:cNvPr id="34" name="Text 32"/>
          <p:cNvSpPr/>
          <p:nvPr/>
        </p:nvSpPr>
        <p:spPr>
          <a:xfrm>
            <a:off x="11176000" y="5816600"/>
            <a:ext cx="2794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State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60000" y="6858000"/>
            <a:ext cx="482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agent searches through possible states to find a path to the goal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Formulation: The Five Key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965200" y="1854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854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1854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Initial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" y="2413000"/>
            <a:ext cx="424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starting configuration of the agent. Example: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"At Arad"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route-finding problem.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6510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1" name="Shape 9"/>
          <p:cNvSpPr/>
          <p:nvPr/>
        </p:nvSpPr>
        <p:spPr>
          <a:xfrm>
            <a:off x="5918200" y="1854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5918200" y="1854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1600" y="1854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18200" y="2413000"/>
            <a:ext cx="424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Available operations at any state. Example: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"Go from Arad to Zerind"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"Go to Sibiu"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1651000"/>
            <a:ext cx="4826000" cy="2159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71200" y="1854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871200" y="1854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04600" y="1854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Transition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71200" y="2413000"/>
            <a:ext cx="436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Describes the result of each action. Example: RESULT(In(Arad), Go(Zerind)) = In(Zerind).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40640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21" name="Shape 19"/>
          <p:cNvSpPr/>
          <p:nvPr/>
        </p:nvSpPr>
        <p:spPr>
          <a:xfrm>
            <a:off x="965200" y="4267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965200" y="4267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98600" y="426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 Test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5200" y="4826000"/>
            <a:ext cx="424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if a state is a goal. Example: </a:t>
            </a:r>
            <a:pPr>
              <a:lnSpc>
                <a:spcPct val="150000"/>
              </a:lnSpc>
            </a:pPr>
            <a:r>
              <a:rPr lang="en-US" sz="1500" i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"Is the agent currently in Bucharest?"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15000" y="4064000"/>
            <a:ext cx="4699000" cy="2159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26" name="Shape 24"/>
          <p:cNvSpPr/>
          <p:nvPr/>
        </p:nvSpPr>
        <p:spPr>
          <a:xfrm>
            <a:off x="5918200" y="4267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5918200" y="4267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51600" y="42672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 Cost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18200" y="4826000"/>
            <a:ext cx="424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function assigning cost to each path. Example: sum of distances, number of steps.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668000" y="4064000"/>
            <a:ext cx="4826000" cy="2159000"/>
          </a:xfrm>
          <a:prstGeom prst="roundRect">
            <a:avLst>
              <a:gd name="adj" fmla="val 5000"/>
            </a:avLst>
          </a:prstGeom>
          <a:solidFill>
            <a:srgbClr val="0D4A4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02950" y="4318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11328400" y="4292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FORMAL DEFINITION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22000" y="47498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problem is defined as: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(S, A, T, G, C)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= Initial State, A = Actions, T = Transition Model, G = Goal Test, C = Path Cost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604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agent's task is to find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sequence of actions from the initial state to a goal state. An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solution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the lowest path cost among all solutions.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State Space Representation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510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 space is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mathematical model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all possible configurations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Visualized as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0D4A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directed graph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nodes = states, edges = actions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state space forms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search tree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when explored from the initial state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State space graph may contain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cycles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search tree is acyclic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4953000"/>
            <a:ext cx="6858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4953000"/>
            <a:ext cx="63500" cy="1524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080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5410200"/>
            <a:ext cx="635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tree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expands the state space graph from the initial state. Each node = state; each branch = action.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6731000"/>
            <a:ext cx="685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Romania Route Finding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71628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Cities are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roads are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edges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distances as costs. Finding a route from Arad to Bucharest = searching this state space.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1651000"/>
            <a:ext cx="7366000" cy="6858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13" name="Text 11"/>
          <p:cNvSpPr/>
          <p:nvPr/>
        </p:nvSpPr>
        <p:spPr>
          <a:xfrm>
            <a:off x="8509000" y="1854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TREE CONCEPT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413000"/>
            <a:ext cx="1270000" cy="5080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922000" y="2413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049000" y="2921000"/>
            <a:ext cx="0" cy="381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303000" y="2921000"/>
            <a:ext cx="1016000" cy="381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 flipH="1">
            <a:off x="10795000" y="2921000"/>
            <a:ext cx="1016000" cy="381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arrow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144000" y="3429000"/>
            <a:ext cx="1016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0" y="3429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3429000"/>
            <a:ext cx="1016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22000" y="3429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0" y="3429000"/>
            <a:ext cx="1016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700000" y="3429000"/>
            <a:ext cx="101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398000" y="3886200"/>
            <a:ext cx="0" cy="381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1049000" y="3886200"/>
            <a:ext cx="508000" cy="381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1557000" y="3886200"/>
            <a:ext cx="508000" cy="381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3462000" y="3886200"/>
            <a:ext cx="0" cy="381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8890000" y="4394200"/>
            <a:ext cx="889000" cy="4064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90000" y="4394200"/>
            <a:ext cx="88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541000" y="4394200"/>
            <a:ext cx="889000" cy="4064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41000" y="4394200"/>
            <a:ext cx="88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065000" y="4394200"/>
            <a:ext cx="889000" cy="4064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065000" y="4394200"/>
            <a:ext cx="88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589000" y="4394200"/>
            <a:ext cx="889000" cy="4064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36" name="Text 34"/>
          <p:cNvSpPr/>
          <p:nvPr/>
        </p:nvSpPr>
        <p:spPr>
          <a:xfrm>
            <a:off x="13589000" y="4394200"/>
            <a:ext cx="88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732000" y="2514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d=0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732000" y="35306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d=1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4732000" y="44958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d=2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09000" y="5334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node 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(highlighted) is found at depth 2. The search tree expands level by level from the root. Branching factor b = 3.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509000" y="6604000"/>
            <a:ext cx="203200" cy="203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42" name="Text 40"/>
          <p:cNvSpPr/>
          <p:nvPr/>
        </p:nvSpPr>
        <p:spPr>
          <a:xfrm>
            <a:off x="8813800" y="6578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Node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160000" y="6604000"/>
            <a:ext cx="203200" cy="203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64800" y="6578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Node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Problem Components: Visual Breakdown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748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search problem can be formally defined and solved through systematic exploration. Here are the key elements: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54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9464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= (Initial State, Actions, Transition Model, Goal Test, Path Cost)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8100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381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42164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sequence of actions leading from the initial state to a goal state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65200" y="508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 Solution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5200" y="54864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solution with the lowest path cost among all possible solutions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350000"/>
            <a:ext cx="50800" cy="101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9652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Strategy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6731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Determines the order of node expansion — the core of search algorithms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2540000"/>
            <a:ext cx="7112000" cy="4826000"/>
          </a:xfrm>
          <a:prstGeom prst="roundRect">
            <a:avLst>
              <a:gd name="adj" fmla="val 5000"/>
            </a:avLst>
          </a:prstGeom>
          <a:solidFill>
            <a:srgbClr val="0D4A42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2794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WORKFLOW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541000" y="3302000"/>
            <a:ext cx="2286000" cy="558800"/>
          </a:xfrm>
          <a:prstGeom prst="roundRect">
            <a:avLst>
              <a:gd name="adj" fmla="val 15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41000" y="33020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Formulate Goal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684000" y="3860800"/>
            <a:ext cx="0" cy="3556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0541000" y="4318000"/>
            <a:ext cx="2286000" cy="558800"/>
          </a:xfrm>
          <a:prstGeom prst="roundRect">
            <a:avLst>
              <a:gd name="adj" fmla="val 15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41000" y="43180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Formulate Problem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684000" y="4876800"/>
            <a:ext cx="0" cy="3556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0541000" y="5334000"/>
            <a:ext cx="2286000" cy="558800"/>
          </a:xfrm>
          <a:prstGeom prst="roundRect">
            <a:avLst>
              <a:gd name="adj" fmla="val 15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41000" y="53340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684000" y="5892800"/>
            <a:ext cx="0" cy="355600"/>
          </a:xfrm>
          <a:prstGeom prst="straightConnector1">
            <a:avLst/>
          </a:prstGeom>
          <a:noFill/>
          <a:ln w="25400">
            <a:solidFill>
              <a:srgbClr val="D4943A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541000" y="6350000"/>
            <a:ext cx="2286000" cy="5588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541000" y="63500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Solution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Algorithm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600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8F7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MAIN CATEGORIES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082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2108200"/>
            <a:ext cx="63500" cy="2286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Shape 6"/>
          <p:cNvSpPr/>
          <p:nvPr/>
        </p:nvSpPr>
        <p:spPr>
          <a:xfrm>
            <a:off x="1044575" y="2311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8476" y="-17294"/>
                </a:moveTo>
                <a:cubicBezTo>
                  <a:pt x="21947" y="-23822"/>
                  <a:pt x="11390" y="-23822"/>
                  <a:pt x="4931" y="-17294"/>
                </a:cubicBezTo>
                <a:cubicBezTo>
                  <a:pt x="-1528" y="-10765"/>
                  <a:pt x="-1597" y="-208"/>
                  <a:pt x="4862" y="6320"/>
                </a:cubicBezTo>
                <a:lnTo>
                  <a:pt x="371574" y="373033"/>
                </a:lnTo>
                <a:cubicBezTo>
                  <a:pt x="378103" y="379561"/>
                  <a:pt x="388660" y="379561"/>
                  <a:pt x="395119" y="373033"/>
                </a:cubicBezTo>
                <a:cubicBezTo>
                  <a:pt x="401578" y="366504"/>
                  <a:pt x="401647" y="355947"/>
                  <a:pt x="395119" y="349488"/>
                </a:cubicBezTo>
                <a:lnTo>
                  <a:pt x="328166" y="282535"/>
                </a:lnTo>
                <a:cubicBezTo>
                  <a:pt x="330041" y="280868"/>
                  <a:pt x="331916" y="279202"/>
                  <a:pt x="333722" y="277535"/>
                </a:cubicBezTo>
                <a:cubicBezTo>
                  <a:pt x="366226" y="247323"/>
                  <a:pt x="387965" y="211276"/>
                  <a:pt x="398314" y="186482"/>
                </a:cubicBezTo>
                <a:cubicBezTo>
                  <a:pt x="400606" y="180995"/>
                  <a:pt x="400606" y="174883"/>
                  <a:pt x="398314" y="169396"/>
                </a:cubicBezTo>
                <a:cubicBezTo>
                  <a:pt x="387965" y="144601"/>
                  <a:pt x="366226" y="108486"/>
                  <a:pt x="333722" y="78343"/>
                </a:cubicBezTo>
                <a:cubicBezTo>
                  <a:pt x="301010" y="47992"/>
                  <a:pt x="256074" y="22364"/>
                  <a:pt x="199956" y="22364"/>
                </a:cubicBezTo>
                <a:cubicBezTo>
                  <a:pt x="160506" y="22364"/>
                  <a:pt x="126613" y="35004"/>
                  <a:pt x="98554" y="53062"/>
                </a:cubicBezTo>
                <a:lnTo>
                  <a:pt x="28476" y="-17294"/>
                </a:lnTo>
                <a:close/>
                <a:moveTo>
                  <a:pt x="142032" y="96331"/>
                </a:moveTo>
                <a:cubicBezTo>
                  <a:pt x="158353" y="84663"/>
                  <a:pt x="178425" y="77787"/>
                  <a:pt x="200025" y="77787"/>
                </a:cubicBezTo>
                <a:cubicBezTo>
                  <a:pt x="255240" y="77787"/>
                  <a:pt x="300038" y="122585"/>
                  <a:pt x="300038" y="177800"/>
                </a:cubicBezTo>
                <a:cubicBezTo>
                  <a:pt x="300038" y="199400"/>
                  <a:pt x="293162" y="219402"/>
                  <a:pt x="281494" y="235793"/>
                </a:cubicBezTo>
                <a:lnTo>
                  <a:pt x="257393" y="211693"/>
                </a:lnTo>
                <a:cubicBezTo>
                  <a:pt x="266214" y="196830"/>
                  <a:pt x="269200" y="178564"/>
                  <a:pt x="264408" y="160506"/>
                </a:cubicBezTo>
                <a:cubicBezTo>
                  <a:pt x="254893" y="124946"/>
                  <a:pt x="218291" y="103832"/>
                  <a:pt x="182731" y="113348"/>
                </a:cubicBezTo>
                <a:cubicBezTo>
                  <a:pt x="176758" y="114945"/>
                  <a:pt x="171133" y="117306"/>
                  <a:pt x="166062" y="120293"/>
                </a:cubicBezTo>
                <a:lnTo>
                  <a:pt x="141962" y="96193"/>
                </a:lnTo>
                <a:close/>
                <a:moveTo>
                  <a:pt x="225931" y="274409"/>
                </a:moveTo>
                <a:cubicBezTo>
                  <a:pt x="217666" y="276632"/>
                  <a:pt x="208984" y="277813"/>
                  <a:pt x="200025" y="277813"/>
                </a:cubicBezTo>
                <a:cubicBezTo>
                  <a:pt x="144810" y="277813"/>
                  <a:pt x="100013" y="233015"/>
                  <a:pt x="100013" y="177800"/>
                </a:cubicBezTo>
                <a:cubicBezTo>
                  <a:pt x="100013" y="168841"/>
                  <a:pt x="101193" y="160159"/>
                  <a:pt x="103416" y="151894"/>
                </a:cubicBezTo>
                <a:lnTo>
                  <a:pt x="48200" y="96679"/>
                </a:lnTo>
                <a:cubicBezTo>
                  <a:pt x="25559" y="122238"/>
                  <a:pt x="10001" y="149324"/>
                  <a:pt x="1736" y="169257"/>
                </a:cubicBezTo>
                <a:cubicBezTo>
                  <a:pt x="-556" y="174744"/>
                  <a:pt x="-556" y="180856"/>
                  <a:pt x="1736" y="186343"/>
                </a:cubicBezTo>
                <a:cubicBezTo>
                  <a:pt x="12085" y="211138"/>
                  <a:pt x="33824" y="247253"/>
                  <a:pt x="66328" y="277396"/>
                </a:cubicBezTo>
                <a:cubicBezTo>
                  <a:pt x="99040" y="307747"/>
                  <a:pt x="143976" y="333375"/>
                  <a:pt x="200094" y="333375"/>
                </a:cubicBezTo>
                <a:cubicBezTo>
                  <a:pt x="226000" y="333375"/>
                  <a:pt x="249545" y="327888"/>
                  <a:pt x="270589" y="319068"/>
                </a:cubicBezTo>
                <a:lnTo>
                  <a:pt x="226000" y="274479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1549400" y="2286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(Blind)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794000"/>
            <a:ext cx="6553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additional information about states beyond the problem definition. Explores systematically without guidance.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BFS, DFS, UCS, DLS, IDDFS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2108200"/>
            <a:ext cx="7112000" cy="2286000"/>
          </a:xfrm>
          <a:prstGeom prst="roundRect">
            <a:avLst>
              <a:gd name="adj" fmla="val 5000"/>
            </a:avLst>
          </a:prstGeom>
          <a:solidFill>
            <a:srgbClr val="0D4A42"/>
          </a:solidFill>
          <a:ln/>
        </p:spPr>
      </p:sp>
      <p:sp>
        <p:nvSpPr>
          <p:cNvPr id="12" name="Shape 10"/>
          <p:cNvSpPr/>
          <p:nvPr/>
        </p:nvSpPr>
        <p:spPr>
          <a:xfrm>
            <a:off x="8664575" y="2311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69400" y="2286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Informed (Heuristic) 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2794000"/>
            <a:ext cx="6553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5F3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Uses problem-specific knowledge (heuristics) to guide the search more efficiently toward the goal.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5F3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5F3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A*, Greedy Best-First, Hill Climbing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7752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Evaluating Search Algorithms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2578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17" name="Shape 15"/>
          <p:cNvSpPr/>
          <p:nvPr/>
        </p:nvSpPr>
        <p:spPr>
          <a:xfrm>
            <a:off x="12700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1854200" y="5562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54200" y="5969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the algorithm guaranteed to find a solution if one exists?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280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8712200" y="5562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Optimality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12200" y="5969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it find the optimal (lowest-cost) solution?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1854200" y="6832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Complexity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54200" y="7239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long does it take to find a solution?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8712200" y="6832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 Complexity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712200" y="7239000"/>
            <a:ext cx="508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much memory is required during search?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3 Summary: Problem-Solving Fundamentals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018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993775" y="1930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-11112"/>
                </a:moveTo>
                <a:cubicBezTo>
                  <a:pt x="212318" y="-11112"/>
                  <a:pt x="222250" y="-1181"/>
                  <a:pt x="222250" y="11112"/>
                </a:cubicBezTo>
                <a:lnTo>
                  <a:pt x="222250" y="23822"/>
                </a:lnTo>
                <a:cubicBezTo>
                  <a:pt x="290384" y="33546"/>
                  <a:pt x="344279" y="87441"/>
                  <a:pt x="354003" y="155575"/>
                </a:cubicBezTo>
                <a:lnTo>
                  <a:pt x="366712" y="155575"/>
                </a:lnTo>
                <a:cubicBezTo>
                  <a:pt x="379006" y="155575"/>
                  <a:pt x="388938" y="165507"/>
                  <a:pt x="388938" y="177800"/>
                </a:cubicBezTo>
                <a:cubicBezTo>
                  <a:pt x="388938" y="190093"/>
                  <a:pt x="379006" y="200025"/>
                  <a:pt x="366712" y="200025"/>
                </a:cubicBezTo>
                <a:lnTo>
                  <a:pt x="354003" y="200025"/>
                </a:lnTo>
                <a:cubicBezTo>
                  <a:pt x="344279" y="268159"/>
                  <a:pt x="290384" y="322054"/>
                  <a:pt x="222250" y="331778"/>
                </a:cubicBezTo>
                <a:lnTo>
                  <a:pt x="222250" y="344488"/>
                </a:lnTo>
                <a:cubicBezTo>
                  <a:pt x="222250" y="356781"/>
                  <a:pt x="212318" y="366712"/>
                  <a:pt x="200025" y="366712"/>
                </a:cubicBezTo>
                <a:cubicBezTo>
                  <a:pt x="187732" y="366712"/>
                  <a:pt x="177800" y="356781"/>
                  <a:pt x="177800" y="344488"/>
                </a:cubicBezTo>
                <a:lnTo>
                  <a:pt x="177800" y="331778"/>
                </a:lnTo>
                <a:cubicBezTo>
                  <a:pt x="109666" y="322054"/>
                  <a:pt x="55771" y="268159"/>
                  <a:pt x="46047" y="200025"/>
                </a:cubicBezTo>
                <a:lnTo>
                  <a:pt x="33337" y="200025"/>
                </a:lnTo>
                <a:cubicBezTo>
                  <a:pt x="21044" y="200025"/>
                  <a:pt x="11112" y="190093"/>
                  <a:pt x="11112" y="177800"/>
                </a:cubicBezTo>
                <a:cubicBezTo>
                  <a:pt x="11112" y="165507"/>
                  <a:pt x="21044" y="155575"/>
                  <a:pt x="33337" y="155575"/>
                </a:cubicBezTo>
                <a:lnTo>
                  <a:pt x="46047" y="155575"/>
                </a:lnTo>
                <a:cubicBezTo>
                  <a:pt x="55771" y="87441"/>
                  <a:pt x="109666" y="33546"/>
                  <a:pt x="177800" y="23822"/>
                </a:cubicBezTo>
                <a:lnTo>
                  <a:pt x="177800" y="11112"/>
                </a:lnTo>
                <a:cubicBezTo>
                  <a:pt x="177800" y="-1181"/>
                  <a:pt x="187732" y="-11112"/>
                  <a:pt x="200025" y="-11112"/>
                </a:cubicBezTo>
                <a:close/>
                <a:moveTo>
                  <a:pt x="91122" y="200025"/>
                </a:moveTo>
                <a:cubicBezTo>
                  <a:pt x="99943" y="243572"/>
                  <a:pt x="134253" y="277882"/>
                  <a:pt x="177800" y="286703"/>
                </a:cubicBezTo>
                <a:lnTo>
                  <a:pt x="177800" y="277813"/>
                </a:lnTo>
                <a:cubicBezTo>
                  <a:pt x="177800" y="265519"/>
                  <a:pt x="187732" y="255587"/>
                  <a:pt x="200025" y="255587"/>
                </a:cubicBezTo>
                <a:cubicBezTo>
                  <a:pt x="212318" y="255587"/>
                  <a:pt x="222250" y="265519"/>
                  <a:pt x="222250" y="277813"/>
                </a:cubicBezTo>
                <a:lnTo>
                  <a:pt x="222250" y="286703"/>
                </a:lnTo>
                <a:cubicBezTo>
                  <a:pt x="265797" y="277882"/>
                  <a:pt x="300107" y="243572"/>
                  <a:pt x="308928" y="200025"/>
                </a:cubicBezTo>
                <a:lnTo>
                  <a:pt x="300038" y="200025"/>
                </a:lnTo>
                <a:cubicBezTo>
                  <a:pt x="287744" y="200025"/>
                  <a:pt x="277813" y="190093"/>
                  <a:pt x="277813" y="177800"/>
                </a:cubicBezTo>
                <a:cubicBezTo>
                  <a:pt x="277813" y="165507"/>
                  <a:pt x="287744" y="155575"/>
                  <a:pt x="300038" y="155575"/>
                </a:cubicBezTo>
                <a:lnTo>
                  <a:pt x="308928" y="155575"/>
                </a:lnTo>
                <a:cubicBezTo>
                  <a:pt x="300107" y="112028"/>
                  <a:pt x="265797" y="77718"/>
                  <a:pt x="222250" y="68898"/>
                </a:cubicBezTo>
                <a:lnTo>
                  <a:pt x="222250" y="77788"/>
                </a:lnTo>
                <a:cubicBezTo>
                  <a:pt x="222250" y="90081"/>
                  <a:pt x="212318" y="100013"/>
                  <a:pt x="200025" y="100013"/>
                </a:cubicBezTo>
                <a:cubicBezTo>
                  <a:pt x="187732" y="100013"/>
                  <a:pt x="177800" y="90081"/>
                  <a:pt x="177800" y="77788"/>
                </a:cubicBezTo>
                <a:lnTo>
                  <a:pt x="177800" y="68898"/>
                </a:lnTo>
                <a:cubicBezTo>
                  <a:pt x="134253" y="77718"/>
                  <a:pt x="99943" y="112028"/>
                  <a:pt x="91122" y="155575"/>
                </a:cubicBezTo>
                <a:lnTo>
                  <a:pt x="100013" y="155575"/>
                </a:lnTo>
                <a:cubicBezTo>
                  <a:pt x="112306" y="155575"/>
                  <a:pt x="122238" y="165507"/>
                  <a:pt x="122238" y="177800"/>
                </a:cubicBezTo>
                <a:cubicBezTo>
                  <a:pt x="122238" y="190093"/>
                  <a:pt x="112306" y="200025"/>
                  <a:pt x="100013" y="200025"/>
                </a:cubicBezTo>
                <a:lnTo>
                  <a:pt x="91122" y="200025"/>
                </a:lnTo>
                <a:close/>
                <a:moveTo>
                  <a:pt x="200025" y="144463"/>
                </a:moveTo>
                <a:cubicBezTo>
                  <a:pt x="218424" y="144463"/>
                  <a:pt x="233363" y="159401"/>
                  <a:pt x="233363" y="177800"/>
                </a:cubicBezTo>
                <a:cubicBezTo>
                  <a:pt x="233363" y="196199"/>
                  <a:pt x="218424" y="211138"/>
                  <a:pt x="200025" y="211138"/>
                </a:cubicBezTo>
                <a:cubicBezTo>
                  <a:pt x="181626" y="211138"/>
                  <a:pt x="166688" y="196199"/>
                  <a:pt x="166688" y="177800"/>
                </a:cubicBezTo>
                <a:cubicBezTo>
                  <a:pt x="166688" y="159401"/>
                  <a:pt x="181626" y="144463"/>
                  <a:pt x="200025" y="144463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90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413000"/>
            <a:ext cx="4191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 = finding a path from initial state to goal state through state space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7018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190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Components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413000"/>
            <a:ext cx="4191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State, Actions, Transition Model, Goal Test, Path Cost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701800"/>
            <a:ext cx="4826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44225" y="19304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5563" y="72231"/>
                </a:moveTo>
                <a:cubicBezTo>
                  <a:pt x="64762" y="72231"/>
                  <a:pt x="72231" y="64762"/>
                  <a:pt x="72231" y="55563"/>
                </a:cubicBezTo>
                <a:cubicBezTo>
                  <a:pt x="72231" y="46363"/>
                  <a:pt x="64762" y="38894"/>
                  <a:pt x="55563" y="38894"/>
                </a:cubicBezTo>
                <a:cubicBezTo>
                  <a:pt x="46363" y="38894"/>
                  <a:pt x="38894" y="46363"/>
                  <a:pt x="38894" y="55563"/>
                </a:cubicBezTo>
                <a:cubicBezTo>
                  <a:pt x="38894" y="64762"/>
                  <a:pt x="46363" y="72231"/>
                  <a:pt x="55563" y="72231"/>
                </a:cubicBezTo>
                <a:close/>
                <a:moveTo>
                  <a:pt x="111125" y="55563"/>
                </a:moveTo>
                <a:cubicBezTo>
                  <a:pt x="111125" y="78343"/>
                  <a:pt x="97443" y="97929"/>
                  <a:pt x="77788" y="106472"/>
                </a:cubicBezTo>
                <a:lnTo>
                  <a:pt x="77788" y="155575"/>
                </a:lnTo>
                <a:lnTo>
                  <a:pt x="200025" y="155575"/>
                </a:lnTo>
                <a:cubicBezTo>
                  <a:pt x="218430" y="155575"/>
                  <a:pt x="233363" y="140643"/>
                  <a:pt x="233363" y="122238"/>
                </a:cubicBezTo>
                <a:lnTo>
                  <a:pt x="233363" y="106472"/>
                </a:lnTo>
                <a:cubicBezTo>
                  <a:pt x="213707" y="97929"/>
                  <a:pt x="200025" y="78343"/>
                  <a:pt x="200025" y="55563"/>
                </a:cubicBezTo>
                <a:cubicBezTo>
                  <a:pt x="200025" y="24864"/>
                  <a:pt x="224889" y="0"/>
                  <a:pt x="255587" y="0"/>
                </a:cubicBezTo>
                <a:cubicBezTo>
                  <a:pt x="286286" y="0"/>
                  <a:pt x="311150" y="24864"/>
                  <a:pt x="311150" y="55563"/>
                </a:cubicBezTo>
                <a:cubicBezTo>
                  <a:pt x="311150" y="78343"/>
                  <a:pt x="297468" y="97929"/>
                  <a:pt x="277813" y="106472"/>
                </a:cubicBezTo>
                <a:lnTo>
                  <a:pt x="277813" y="122238"/>
                </a:lnTo>
                <a:cubicBezTo>
                  <a:pt x="277813" y="165229"/>
                  <a:pt x="243016" y="200025"/>
                  <a:pt x="200025" y="200025"/>
                </a:cubicBezTo>
                <a:lnTo>
                  <a:pt x="77788" y="200025"/>
                </a:lnTo>
                <a:lnTo>
                  <a:pt x="77788" y="249128"/>
                </a:lnTo>
                <a:cubicBezTo>
                  <a:pt x="97443" y="257671"/>
                  <a:pt x="111125" y="277257"/>
                  <a:pt x="111125" y="300038"/>
                </a:cubicBezTo>
                <a:cubicBezTo>
                  <a:pt x="111125" y="330736"/>
                  <a:pt x="86261" y="355600"/>
                  <a:pt x="55563" y="355600"/>
                </a:cubicBezTo>
                <a:cubicBezTo>
                  <a:pt x="24864" y="355600"/>
                  <a:pt x="0" y="330736"/>
                  <a:pt x="0" y="300038"/>
                </a:cubicBezTo>
                <a:cubicBezTo>
                  <a:pt x="0" y="277257"/>
                  <a:pt x="13682" y="257671"/>
                  <a:pt x="33337" y="249128"/>
                </a:cubicBezTo>
                <a:lnTo>
                  <a:pt x="33337" y="106541"/>
                </a:lnTo>
                <a:cubicBezTo>
                  <a:pt x="13682" y="97929"/>
                  <a:pt x="0" y="78343"/>
                  <a:pt x="0" y="55563"/>
                </a:cubicBezTo>
                <a:cubicBezTo>
                  <a:pt x="0" y="24864"/>
                  <a:pt x="24864" y="0"/>
                  <a:pt x="55563" y="0"/>
                </a:cubicBezTo>
                <a:cubicBezTo>
                  <a:pt x="86261" y="0"/>
                  <a:pt x="111125" y="24864"/>
                  <a:pt x="111125" y="55563"/>
                </a:cubicBezTo>
                <a:close/>
                <a:moveTo>
                  <a:pt x="272256" y="55563"/>
                </a:moveTo>
                <a:cubicBezTo>
                  <a:pt x="272256" y="46363"/>
                  <a:pt x="264787" y="38894"/>
                  <a:pt x="255587" y="38894"/>
                </a:cubicBezTo>
                <a:cubicBezTo>
                  <a:pt x="246388" y="38894"/>
                  <a:pt x="238919" y="46363"/>
                  <a:pt x="238919" y="55563"/>
                </a:cubicBezTo>
                <a:cubicBezTo>
                  <a:pt x="238919" y="64762"/>
                  <a:pt x="246388" y="72231"/>
                  <a:pt x="255587" y="72231"/>
                </a:cubicBezTo>
                <a:cubicBezTo>
                  <a:pt x="264787" y="72231"/>
                  <a:pt x="272256" y="64762"/>
                  <a:pt x="272256" y="55563"/>
                </a:cubicBezTo>
                <a:close/>
                <a:moveTo>
                  <a:pt x="55563" y="316706"/>
                </a:moveTo>
                <a:cubicBezTo>
                  <a:pt x="64762" y="316706"/>
                  <a:pt x="72231" y="309237"/>
                  <a:pt x="72231" y="300038"/>
                </a:cubicBezTo>
                <a:cubicBezTo>
                  <a:pt x="72231" y="290838"/>
                  <a:pt x="64762" y="283369"/>
                  <a:pt x="55563" y="283369"/>
                </a:cubicBezTo>
                <a:cubicBezTo>
                  <a:pt x="46363" y="283369"/>
                  <a:pt x="38894" y="290838"/>
                  <a:pt x="38894" y="300038"/>
                </a:cubicBezTo>
                <a:cubicBezTo>
                  <a:pt x="38894" y="309237"/>
                  <a:pt x="46363" y="316706"/>
                  <a:pt x="55563" y="31670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04600" y="190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Categories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413000"/>
            <a:ext cx="4318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(no domain knowledge) vs. Informed (uses heuristics)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064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267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699000"/>
            <a:ext cx="1397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Will it find a solution? |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Optimality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Is it the best solution? |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How fast? |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Space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How much memory?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6223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660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98939" y="221139"/>
                </a:moveTo>
                <a:cubicBezTo>
                  <a:pt x="408861" y="211217"/>
                  <a:pt x="408861" y="195104"/>
                  <a:pt x="398939" y="185182"/>
                </a:cubicBezTo>
                <a:lnTo>
                  <a:pt x="271939" y="58182"/>
                </a:lnTo>
                <a:cubicBezTo>
                  <a:pt x="262017" y="48260"/>
                  <a:pt x="245904" y="48260"/>
                  <a:pt x="235982" y="58182"/>
                </a:cubicBezTo>
                <a:cubicBezTo>
                  <a:pt x="226060" y="68104"/>
                  <a:pt x="226060" y="84217"/>
                  <a:pt x="235982" y="94139"/>
                </a:cubicBezTo>
                <a:lnTo>
                  <a:pt x="319643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319643" y="228600"/>
                </a:lnTo>
                <a:lnTo>
                  <a:pt x="235982" y="312261"/>
                </a:lnTo>
                <a:cubicBezTo>
                  <a:pt x="226060" y="322183"/>
                  <a:pt x="226060" y="338296"/>
                  <a:pt x="235982" y="348218"/>
                </a:cubicBezTo>
                <a:cubicBezTo>
                  <a:pt x="245904" y="358140"/>
                  <a:pt x="262017" y="358140"/>
                  <a:pt x="271939" y="348218"/>
                </a:cubicBezTo>
                <a:lnTo>
                  <a:pt x="398939" y="221218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2" name="Text 20"/>
          <p:cNvSpPr/>
          <p:nvPr/>
        </p:nvSpPr>
        <p:spPr>
          <a:xfrm>
            <a:off x="1701800" y="6553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Coming Up Next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701800" y="7035800"/>
            <a:ext cx="1341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4 — Uninformed Search Strategies: Breadth-First Search (BFS) and Depth-First Search (DFS) with full algorithmic analysis.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24yafeoub6me/mnt/agents/output/ai_problem_solving/images/10_Artificial_Intelligence_Background.png">    </p:cNvPr>
          <p:cNvPicPr>
            <a:picLocks noChangeAspect="1"/>
          </p:cNvPicPr>
          <p:nvPr/>
        </p:nvPicPr>
        <p:blipFill>
          <a:blip r:embed="rId1"/>
          <a:srcRect l="26505" r="26505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1C">
                  <a:alpha val="95000"/>
                </a:srgbClr>
              </a:gs>
              <a:gs pos="60000">
                <a:srgbClr val="0A1F1C">
                  <a:alpha val="82000"/>
                </a:srgbClr>
              </a:gs>
              <a:gs pos="100000">
                <a:srgbClr val="0A1F1C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381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556000"/>
            <a:ext cx="1016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3810000"/>
            <a:ext cx="889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Search Strategies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16000" y="4826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Lecture 4 — Depth-First Search, Breadth-First Search, and other blind search methods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60960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D4943A">
              <a:alpha val="18824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6096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Uninformed Search?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1930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98137"/>
                </a:moveTo>
                <a:lnTo>
                  <a:pt x="177800" y="312956"/>
                </a:lnTo>
                <a:lnTo>
                  <a:pt x="178147" y="312817"/>
                </a:lnTo>
                <a:cubicBezTo>
                  <a:pt x="216069" y="297051"/>
                  <a:pt x="256768" y="288925"/>
                  <a:pt x="297815" y="288925"/>
                </a:cubicBezTo>
                <a:lnTo>
                  <a:pt x="311150" y="288925"/>
                </a:lnTo>
                <a:lnTo>
                  <a:pt x="311150" y="66675"/>
                </a:lnTo>
                <a:lnTo>
                  <a:pt x="297815" y="66675"/>
                </a:lnTo>
                <a:cubicBezTo>
                  <a:pt x="268506" y="66675"/>
                  <a:pt x="239405" y="72509"/>
                  <a:pt x="212318" y="83760"/>
                </a:cubicBezTo>
                <a:cubicBezTo>
                  <a:pt x="200650" y="88622"/>
                  <a:pt x="189121" y="93414"/>
                  <a:pt x="177800" y="98137"/>
                </a:cubicBezTo>
                <a:close/>
                <a:moveTo>
                  <a:pt x="160367" y="42714"/>
                </a:moveTo>
                <a:lnTo>
                  <a:pt x="177800" y="50006"/>
                </a:lnTo>
                <a:lnTo>
                  <a:pt x="195233" y="42714"/>
                </a:lnTo>
                <a:cubicBezTo>
                  <a:pt x="227737" y="29170"/>
                  <a:pt x="262602" y="22225"/>
                  <a:pt x="297815" y="22225"/>
                </a:cubicBezTo>
                <a:lnTo>
                  <a:pt x="322263" y="22225"/>
                </a:lnTo>
                <a:cubicBezTo>
                  <a:pt x="340668" y="22225"/>
                  <a:pt x="355600" y="37157"/>
                  <a:pt x="355600" y="55563"/>
                </a:cubicBezTo>
                <a:lnTo>
                  <a:pt x="355600" y="300038"/>
                </a:lnTo>
                <a:cubicBezTo>
                  <a:pt x="355600" y="318443"/>
                  <a:pt x="340668" y="333375"/>
                  <a:pt x="322263" y="333375"/>
                </a:cubicBezTo>
                <a:lnTo>
                  <a:pt x="297815" y="333375"/>
                </a:lnTo>
                <a:cubicBezTo>
                  <a:pt x="262602" y="333375"/>
                  <a:pt x="227737" y="340320"/>
                  <a:pt x="195233" y="353864"/>
                </a:cubicBezTo>
                <a:lnTo>
                  <a:pt x="186343" y="357545"/>
                </a:lnTo>
                <a:cubicBezTo>
                  <a:pt x="180856" y="359837"/>
                  <a:pt x="174744" y="359837"/>
                  <a:pt x="169257" y="357545"/>
                </a:cubicBezTo>
                <a:lnTo>
                  <a:pt x="160367" y="353864"/>
                </a:lnTo>
                <a:cubicBezTo>
                  <a:pt x="127863" y="340320"/>
                  <a:pt x="92998" y="333375"/>
                  <a:pt x="57785" y="333375"/>
                </a:cubicBezTo>
                <a:lnTo>
                  <a:pt x="33337" y="333375"/>
                </a:lnTo>
                <a:cubicBezTo>
                  <a:pt x="14932" y="333375"/>
                  <a:pt x="0" y="318443"/>
                  <a:pt x="0" y="300038"/>
                </a:cubicBezTo>
                <a:lnTo>
                  <a:pt x="0" y="55563"/>
                </a:lnTo>
                <a:cubicBezTo>
                  <a:pt x="0" y="37157"/>
                  <a:pt x="14932" y="22225"/>
                  <a:pt x="33337" y="22225"/>
                </a:cubicBezTo>
                <a:lnTo>
                  <a:pt x="57785" y="22225"/>
                </a:lnTo>
                <a:cubicBezTo>
                  <a:pt x="92998" y="22225"/>
                  <a:pt x="127863" y="29170"/>
                  <a:pt x="160367" y="4271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190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2336800"/>
            <a:ext cx="1417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search ("blind search") explores the state space using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the problem definition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heuristics or domain knowledge.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251200"/>
            <a:ext cx="711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algorithm only knows: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initial state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possible actions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and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goal test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paths are explored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systematically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following a fixed rule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Cannot distinguish promising from unpromising states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Called "blind" — no clue about goal proximity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82000" y="3251200"/>
            <a:ext cx="7112000" cy="254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342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UNINFORMED SEARCH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3860800"/>
            <a:ext cx="6502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Breadth-First Search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Depth-First Search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DLS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Depth-Limited Search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IDDFS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Iterative Deepening DFS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Uniform Cost Search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6146800"/>
            <a:ext cx="14732000" cy="2032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6324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UNINFORMED VS. INFORMED SEARCH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6800" y="6781800"/>
          <a:ext cx="14122400" cy="1219200"/>
        </p:xfrm>
        <a:graphic>
          <a:graphicData uri="http://schemas.openxmlformats.org/drawingml/2006/table">
            <a:tbl>
              <a:tblPr/>
              <a:tblGrid>
                <a:gridCol w="3530600"/>
                <a:gridCol w="5295900"/>
                <a:gridCol w="529590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Aspect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Uninformed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Informed Search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</a:tr>
              <a:tr h="7366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Guidance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only problem definition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heuristics / estimates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Breadth-First Search (BFS):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256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256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81200" y="16002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Expands the shallowest unexpanded node first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2860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Explores the search tree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level by level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nodes at depth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depth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d+1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0D4A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FIFO queue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 structure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if branching factor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i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finite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Optimal when all step costs are equal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58800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5588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Shape 9"/>
          <p:cNvSpPr/>
          <p:nvPr/>
        </p:nvSpPr>
        <p:spPr>
          <a:xfrm>
            <a:off x="1054100" y="5791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5765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61722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exploring a maze: check all rooms at distance 1, then 2, and so 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286000"/>
            <a:ext cx="7366000" cy="4572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489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 EXPLORATION ORDER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303000" y="29210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303000" y="292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0" y="33782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414000" y="37846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0" y="3784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684000" y="33782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303000" y="37846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1303000" y="3784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938000" y="33782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192000" y="37846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12192000" y="3784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541000" y="42418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0033000" y="46482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0033000" y="4648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430000" y="42418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1303000" y="46482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11303000" y="4648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319000" y="42418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2573000" y="46482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35" name="Text 33"/>
          <p:cNvSpPr/>
          <p:nvPr/>
        </p:nvSpPr>
        <p:spPr>
          <a:xfrm>
            <a:off x="12573000" y="4648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90000" y="5461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Nodes are numbered in expansion order. BFS explores all nodes at depth </a:t>
            </a:r>
            <a:pPr>
              <a:lnSpc>
                <a:spcPct val="150000"/>
              </a:lnSpc>
            </a:pPr>
            <a:r>
              <a:rPr lang="en-US" sz="1400" i="1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moving to depth </a:t>
            </a:r>
            <a:pPr>
              <a:lnSpc>
                <a:spcPct val="150000"/>
              </a:lnSpc>
            </a:pPr>
            <a:r>
              <a:rPr lang="en-US" sz="1400" i="1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d+1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Uses a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FIFO queue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BFS: Algorithm &amp; Pseudocode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8890000" cy="4826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828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BREADTH-FIRST SEARCH 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286000"/>
            <a:ext cx="82804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frontier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a queue with the initial state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 as empty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frontier is not empty: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Remove the </a:t>
            </a:r>
            <a:pPr>
              <a:lnSpc>
                <a:spcPct val="170000"/>
              </a:lnSpc>
            </a:pPr>
            <a:r>
              <a:rPr lang="en-US" sz="15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node from frontier (dequeue)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node to explored set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node is goal, return solution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neighbor not in frontier or explored: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Enqueue neighbor to the </a:t>
            </a:r>
            <a:pPr>
              <a:lnSpc>
                <a:spcPct val="170000"/>
              </a:lnSpc>
            </a:pPr>
            <a:r>
              <a:rPr lang="en-US" sz="15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queue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failure if frontier is empty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33000" y="1651000"/>
            <a:ext cx="5461000" cy="2286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9" name="Shape 7"/>
          <p:cNvSpPr/>
          <p:nvPr/>
        </p:nvSpPr>
        <p:spPr>
          <a:xfrm>
            <a:off x="10360025" y="1879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400" y="1854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7800" y="2362200"/>
            <a:ext cx="4902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Queue (FIFO)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First-In-First-Out: oldest node expanded first. New nodes added to the BACK.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33000" y="4191000"/>
            <a:ext cx="5461000" cy="2286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78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820400" y="4394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7800" y="4902200"/>
            <a:ext cx="4902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 always expands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shallowest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node first. This guarantees the shortest path (in steps) is found.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BFS: Example Walkthrough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74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tree: Root A, Goal G (highlighted in orange)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7366000" cy="5334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0" y="23876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0" y="23876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02000" y="2895600"/>
            <a:ext cx="76200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318000" y="2895600"/>
            <a:ext cx="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572000" y="2895600"/>
            <a:ext cx="76200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540000" y="3505200"/>
            <a:ext cx="889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0000" y="35052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0" y="3505200"/>
            <a:ext cx="889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10000" y="35052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0" y="3505200"/>
            <a:ext cx="889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0000" y="35052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67000" y="3962400"/>
            <a:ext cx="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21000" y="3962400"/>
            <a:ext cx="50800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254500" y="3962400"/>
            <a:ext cx="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286000" y="4572000"/>
            <a:ext cx="762000" cy="4064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572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02000" y="4572000"/>
            <a:ext cx="762000" cy="4064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2000" y="4572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18000" y="4572000"/>
            <a:ext cx="762000" cy="4064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4318000" y="4572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" y="533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 explores: A → B → C → D → E → F → 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G found at depth 2 (shallowest solution)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350000"/>
            <a:ext cx="177800" cy="1778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549400" y="63246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Node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921000" y="6350000"/>
            <a:ext cx="177800" cy="1778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D494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63246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Node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0" y="6350000"/>
            <a:ext cx="177800" cy="1778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1400" y="63246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Node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36000" y="2133600"/>
            <a:ext cx="6858000" cy="5334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35" name="Text 33"/>
          <p:cNvSpPr/>
          <p:nvPr/>
        </p:nvSpPr>
        <p:spPr>
          <a:xfrm>
            <a:off x="9017000" y="2387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Trace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17000" y="2819400"/>
            <a:ext cx="6096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37" name="Text 35"/>
          <p:cNvSpPr/>
          <p:nvPr/>
        </p:nvSpPr>
        <p:spPr>
          <a:xfrm>
            <a:off x="9017000" y="30480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Start at A, add B, C, D to queue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17000" y="35052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Dequeue B, add E, F to queue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17000" y="39624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Dequeue C, add G to queue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017000" y="44196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Dequeue D (no new children)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017000" y="48768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5: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Dequeue E (no new children)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17000" y="53340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6: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Dequeue F (no new children)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017000" y="57912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7: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Dequeue G →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FOUND!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17000" y="6350000"/>
            <a:ext cx="6096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5" name="Text 43"/>
          <p:cNvSpPr/>
          <p:nvPr/>
        </p:nvSpPr>
        <p:spPr>
          <a:xfrm>
            <a:off x="9017000" y="65532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path: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→ C → G (2 steps)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BFS: Properties &amp; Complexity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63956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Explanation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Completeness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D4A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(if b is finite)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Guaranteed to find a solution if one exists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D4A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(uniform cost)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Finds the shallowest goal (fewest steps)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 + b + b² + ... + bd nodes in worst case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Stores all nodes at deepest level in frontier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588000"/>
            <a:ext cx="14732000" cy="1524000"/>
          </a:xfrm>
          <a:prstGeom prst="roundRect">
            <a:avLst>
              <a:gd name="adj" fmla="val 3000"/>
            </a:avLst>
          </a:prstGeom>
          <a:solidFill>
            <a:srgbClr val="D4943A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5588000"/>
            <a:ext cx="63500" cy="1524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8" name="Shape 5"/>
          <p:cNvSpPr/>
          <p:nvPr/>
        </p:nvSpPr>
        <p:spPr>
          <a:xfrm>
            <a:off x="1066800" y="581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9" name="Text 6"/>
          <p:cNvSpPr/>
          <p:nvPr/>
        </p:nvSpPr>
        <p:spPr>
          <a:xfrm>
            <a:off x="1473200" y="57912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LIMITATION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" y="6223000"/>
            <a:ext cx="14173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 = 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 = 10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BFS may generate ~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billion nodes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Memory is the critical bottleneck — BFS is impractical for deep search spaces with high branching factor.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7620000"/>
            <a:ext cx="14732000" cy="508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12" name="Text 9"/>
          <p:cNvSpPr/>
          <p:nvPr/>
        </p:nvSpPr>
        <p:spPr>
          <a:xfrm>
            <a:off x="1066800" y="7620000"/>
            <a:ext cx="141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branching factor |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depth of shallowest solution | Nodes = 1 + b + b² + ... + b</a:t>
            </a:r>
            <a:pPr algn="ctr">
              <a:lnSpc>
                <a:spcPct val="100000"/>
              </a:lnSpc>
            </a:pPr>
            <a:r>
              <a:rPr lang="en-US" sz="1800" baseline="300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BFS: Advantages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6350000"/>
          </a:xfrm>
          <a:prstGeom prst="roundRect">
            <a:avLst>
              <a:gd name="adj" fmla="val 3000"/>
            </a:avLst>
          </a:prstGeom>
          <a:solidFill>
            <a:srgbClr val="0D4A42">
              <a:alpha val="313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7112000" cy="63500"/>
          </a:xfrm>
          <a:prstGeom prst="rect">
            <a:avLst/>
          </a:prstGeom>
          <a:solidFill>
            <a:srgbClr val="0D4A42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195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1930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540000"/>
            <a:ext cx="65024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finds a solution if one exists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(uniform cost)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the shortest path (fewest steps)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Predictable and orderly exploration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infinite loops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 with proper cycle checking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651000"/>
            <a:ext cx="7112000" cy="6350000"/>
          </a:xfrm>
          <a:prstGeom prst="roundRect">
            <a:avLst>
              <a:gd name="adj" fmla="val 3000"/>
            </a:avLst>
          </a:prstGeom>
          <a:solidFill>
            <a:srgbClr val="D4943A">
              <a:alpha val="3137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82000" y="1651000"/>
            <a:ext cx="7112000" cy="6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95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69400" y="1930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2540000"/>
            <a:ext cx="65024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Memory-intensive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all nodes at current depth level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Impractical for deep spaces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branching factor causes explosion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for distant goals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explore all shallow nodes first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Ignores step costs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optimal for weighted paths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Depth-First Search (DFS):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256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6256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81200" y="1600200"/>
            <a:ext cx="762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Expands the deepest unexpanded node first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2860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Follows one branch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 deeply as possible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Backtracks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only when a dead end is reached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a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0D4A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LIFO stack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(or recursion)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Memory-efficient: only stores current path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C1C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optimal and not complete in infinite spaces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58800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5588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1" name="Shape 9"/>
          <p:cNvSpPr/>
          <p:nvPr/>
        </p:nvSpPr>
        <p:spPr>
          <a:xfrm>
            <a:off x="1054100" y="57912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57658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6172200"/>
            <a:ext cx="635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exploring a maze: follow one path to its end, then backtrack.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2286000"/>
            <a:ext cx="7366000" cy="4572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15" name="Text 13"/>
          <p:cNvSpPr/>
          <p:nvPr/>
        </p:nvSpPr>
        <p:spPr>
          <a:xfrm>
            <a:off x="8509000" y="2489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 EXPLORATION ORDER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303000" y="29210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17" name="Text 15"/>
          <p:cNvSpPr/>
          <p:nvPr/>
        </p:nvSpPr>
        <p:spPr>
          <a:xfrm>
            <a:off x="11303000" y="29210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0" y="33782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414000" y="37846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0" y="3784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541000" y="42418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033000" y="46482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33000" y="4648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160000" y="51054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0033000" y="55118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033000" y="55118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49000" y="4241800"/>
            <a:ext cx="50800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10922000" y="46482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0922000" y="4648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938000" y="33782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2192000" y="37846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32" name="Text 30"/>
          <p:cNvSpPr/>
          <p:nvPr/>
        </p:nvSpPr>
        <p:spPr>
          <a:xfrm>
            <a:off x="12192000" y="37846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2319000" y="4241800"/>
            <a:ext cx="0" cy="3048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12192000" y="4648200"/>
            <a:ext cx="762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35" name="Text 33"/>
          <p:cNvSpPr/>
          <p:nvPr/>
        </p:nvSpPr>
        <p:spPr>
          <a:xfrm>
            <a:off x="12192000" y="46482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890000" y="6096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 explores deep first, then backtracks. Uses 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LIFO stack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5F3E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DFS: Algorithm &amp; Pseudocode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8890000" cy="4826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18288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DEPTH-FIRST SEARCH ALGORITHM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6800" y="2286000"/>
            <a:ext cx="82804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frontier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a stack with the initial state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set as empty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While frontier is not empty: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Remove the </a:t>
            </a:r>
            <a:pPr>
              <a:lnSpc>
                <a:spcPct val="170000"/>
              </a:lnSpc>
            </a:pPr>
            <a:r>
              <a:rPr lang="en-US" sz="15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node from frontier (pop)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node to explored set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node is goal, return solution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each neighbor not in frontier or explored: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Push neighbor onto the </a:t>
            </a:r>
            <a:pPr>
              <a:lnSpc>
                <a:spcPct val="170000"/>
              </a:lnSpc>
            </a:pPr>
            <a:r>
              <a:rPr lang="en-US" sz="1500" i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the stack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failure if frontier is empty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33000" y="1651000"/>
            <a:ext cx="5461000" cy="2286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9" name="Shape 7"/>
          <p:cNvSpPr/>
          <p:nvPr/>
        </p:nvSpPr>
        <p:spPr>
          <a:xfrm>
            <a:off x="10337800" y="187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0" name="Text 8"/>
          <p:cNvSpPr/>
          <p:nvPr/>
        </p:nvSpPr>
        <p:spPr>
          <a:xfrm>
            <a:off x="10820400" y="1854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7800" y="2362200"/>
            <a:ext cx="4902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 (LIFO)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Last-In-First-Out: most recently generated node expanded first. New nodes added to the TOP.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33000" y="4191000"/>
            <a:ext cx="5461000" cy="2286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378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820400" y="4394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37800" y="4902200"/>
            <a:ext cx="49022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 always expands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deepest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node first. Memory-efficient but may miss optimal solutions.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DFS: Example Walkthrough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748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tree: Root A, Goal G. DFS finds a different path.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133600"/>
            <a:ext cx="7366000" cy="5334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7" name="Shape 5"/>
          <p:cNvSpPr/>
          <p:nvPr/>
        </p:nvSpPr>
        <p:spPr>
          <a:xfrm>
            <a:off x="3810000" y="2387600"/>
            <a:ext cx="1016000" cy="5080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3810000" y="23876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302000" y="2895600"/>
            <a:ext cx="76200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4318000" y="2895600"/>
            <a:ext cx="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572000" y="2895600"/>
            <a:ext cx="76200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540000" y="3505200"/>
            <a:ext cx="889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0000" y="35052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0" y="3505200"/>
            <a:ext cx="889000" cy="4572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3810000" y="35052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80000" y="3505200"/>
            <a:ext cx="889000" cy="4572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0000" y="3505200"/>
            <a:ext cx="889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67000" y="3962400"/>
            <a:ext cx="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921000" y="3962400"/>
            <a:ext cx="50800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254500" y="3962400"/>
            <a:ext cx="0" cy="508000"/>
          </a:xfrm>
          <a:prstGeom prst="straightConnector1">
            <a:avLst/>
          </a:prstGeom>
          <a:noFill/>
          <a:ln w="12700">
            <a:solidFill>
              <a:srgbClr val="6B8F7B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2286000" y="4572000"/>
            <a:ext cx="762000" cy="4064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4572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02000" y="4572000"/>
            <a:ext cx="762000" cy="4064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02000" y="4572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18000" y="4572000"/>
            <a:ext cx="762000" cy="4064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4318000" y="4572000"/>
            <a:ext cx="76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" y="53340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 explores: A → B → E (backtrack) → F (backtrack) → C → 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G found after backtracking from F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350000"/>
            <a:ext cx="177800" cy="177800"/>
          </a:xfrm>
          <a:prstGeom prst="roundRect">
            <a:avLst>
              <a:gd name="adj" fmla="val 15000"/>
            </a:avLst>
          </a:prstGeom>
          <a:solidFill>
            <a:srgbClr val="D4943A"/>
          </a:solidFill>
          <a:ln/>
        </p:spPr>
      </p:sp>
      <p:sp>
        <p:nvSpPr>
          <p:cNvPr id="29" name="Text 27"/>
          <p:cNvSpPr/>
          <p:nvPr/>
        </p:nvSpPr>
        <p:spPr>
          <a:xfrm>
            <a:off x="1549400" y="63246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/ Visited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302000" y="6350000"/>
            <a:ext cx="177800" cy="177800"/>
          </a:xfrm>
          <a:prstGeom prst="roundRect">
            <a:avLst>
              <a:gd name="adj" fmla="val 15000"/>
            </a:avLst>
          </a:prstGeom>
          <a:solidFill>
            <a:srgbClr val="FFFFFF">
              <a:alpha val="14510"/>
            </a:srgbClr>
          </a:solidFill>
          <a:ln w="12700">
            <a:solidFill>
              <a:srgbClr val="6B8F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1400" y="6324600"/>
            <a:ext cx="127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Unvisited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36000" y="2133600"/>
            <a:ext cx="6858000" cy="5334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33" name="Text 31"/>
          <p:cNvSpPr/>
          <p:nvPr/>
        </p:nvSpPr>
        <p:spPr>
          <a:xfrm>
            <a:off x="9017000" y="2387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Trace (Stack)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17000" y="2819400"/>
            <a:ext cx="6096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35" name="Text 33"/>
          <p:cNvSpPr/>
          <p:nvPr/>
        </p:nvSpPr>
        <p:spPr>
          <a:xfrm>
            <a:off x="9017000" y="30480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Push A, pop A, push B, C, 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017000" y="35052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Pop D (leaf, backtrack)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17000" y="39624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Pop C, push 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17000" y="4419600"/>
            <a:ext cx="609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Pop G →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 FOUND!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17000" y="5080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 Order depends on how children are pushed. LIFO means last pushed is explored first.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17000" y="5969000"/>
            <a:ext cx="6096000" cy="254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1" name="Text 39"/>
          <p:cNvSpPr/>
          <p:nvPr/>
        </p:nvSpPr>
        <p:spPr>
          <a:xfrm>
            <a:off x="9017000" y="61722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Solution path: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→ C → G (2 steps)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Nodes explored: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A, D, C, G (fewer than BFS!)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DFS: Properties &amp; Complexity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639568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Explanation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Completeness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(infinite spaces)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May loop infinitely; complete in finite spaces with cycle check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Finds first solution on path, not necessarily optimal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May explore entire tree; m = max depth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729108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Only stores current path + siblings (linear!)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588000"/>
            <a:ext cx="14732000" cy="1524000"/>
          </a:xfrm>
          <a:prstGeom prst="roundRect">
            <a:avLst>
              <a:gd name="adj" fmla="val 3000"/>
            </a:avLst>
          </a:prstGeom>
          <a:solidFill>
            <a:srgbClr val="0D4A42">
              <a:alpha val="627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5588000"/>
            <a:ext cx="63500" cy="1524000"/>
          </a:xfrm>
          <a:prstGeom prst="rect">
            <a:avLst/>
          </a:prstGeom>
          <a:solidFill>
            <a:srgbClr val="0D4A42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5816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9" name="Text 6"/>
          <p:cNvSpPr/>
          <p:nvPr/>
        </p:nvSpPr>
        <p:spPr>
          <a:xfrm>
            <a:off x="1473200" y="5791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DFS'S BIGGEST ADVANTAGE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66800" y="6223000"/>
            <a:ext cx="14173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space complexity O(bm)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DFS's biggest advantage over BFS. For deep search spaces, DFS uses dramatically less memory — it only stores the current path from root to leaf plus unexplored siblings.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7620000"/>
            <a:ext cx="14732000" cy="508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12" name="Text 9"/>
          <p:cNvSpPr/>
          <p:nvPr/>
        </p:nvSpPr>
        <p:spPr>
          <a:xfrm>
            <a:off x="1066800" y="7620000"/>
            <a:ext cx="14122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branching factor | </a:t>
            </a:r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maximum depth | Space = nodes on current path + siblings at each level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DFS: Advantages &amp; Limitations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6350000"/>
          </a:xfrm>
          <a:prstGeom prst="roundRect">
            <a:avLst>
              <a:gd name="adj" fmla="val 3000"/>
            </a:avLst>
          </a:prstGeom>
          <a:solidFill>
            <a:srgbClr val="0D4A42">
              <a:alpha val="3137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7112000" cy="63500"/>
          </a:xfrm>
          <a:prstGeom prst="rect">
            <a:avLst/>
          </a:prstGeom>
          <a:solidFill>
            <a:srgbClr val="0D4A42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195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8" name="Text 6"/>
          <p:cNvSpPr/>
          <p:nvPr/>
        </p:nvSpPr>
        <p:spPr>
          <a:xfrm>
            <a:off x="1549400" y="1930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2540000"/>
            <a:ext cx="65024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Memory-efficient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stores current path and unexplored siblings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deep solutions fast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solution lies along first path explored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Easy to implement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recursive implementation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0D4A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for deep problems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Suited when solutions are deep in the tree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651000"/>
            <a:ext cx="7112000" cy="6350000"/>
          </a:xfrm>
          <a:prstGeom prst="roundRect">
            <a:avLst>
              <a:gd name="adj" fmla="val 3000"/>
            </a:avLst>
          </a:prstGeom>
          <a:solidFill>
            <a:srgbClr val="D4943A">
              <a:alpha val="3137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382000" y="1651000"/>
            <a:ext cx="7112000" cy="635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0" y="19558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3" name="Text 11"/>
          <p:cNvSpPr/>
          <p:nvPr/>
        </p:nvSpPr>
        <p:spPr>
          <a:xfrm>
            <a:off x="9169400" y="19304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2540000"/>
            <a:ext cx="6502400" cy="50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complete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loop infinitely in cyclic/infinite spaces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optimal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not guarantee shortest/cheapest path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explore fruitless branches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get stuck in very deep, useless paths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7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Order-dependent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depends on child expansion order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BFS vs DFS: Head-to-Head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51000"/>
          <a:ext cx="14732000" cy="4826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581141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Breadth-First Search (BFS)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5F3E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Depth-First Search (DFS)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4A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A42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Strategy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 by level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One branch deeply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Structure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Queue (FIFO)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Stack (LIFO)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Completeness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D4A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(finite b)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(infinite spaces)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0D4A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(uniform cost)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D494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Space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O(bd) — exponential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O(bm) — linear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Shallow solutions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Memory-limited, deep solutions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EF"/>
                    </a:solidFill>
                  </a:tcPr>
                </a:tc>
              </a:tr>
              <a:tr h="5306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Memory explosion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Infinite loops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E4D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8580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7" name="Shape 4"/>
          <p:cNvSpPr/>
          <p:nvPr/>
        </p:nvSpPr>
        <p:spPr>
          <a:xfrm>
            <a:off x="1089025" y="71628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5"/>
          <p:cNvSpPr/>
          <p:nvPr/>
        </p:nvSpPr>
        <p:spPr>
          <a:xfrm>
            <a:off x="1549400" y="7137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800" y="7493000"/>
            <a:ext cx="14173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 trades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completeness and optimality. DFS trades </a:t>
            </a:r>
            <a:pPr>
              <a:lnSpc>
                <a:spcPct val="130000"/>
              </a:lnSpc>
            </a:pPr>
            <a:r>
              <a:rPr lang="en-US" sz="16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memory efficiency. Choose based on your problem constraints.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Uninformed Search Methods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651000"/>
            <a:ext cx="63500" cy="165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1854200"/>
            <a:ext cx="635000" cy="304800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8542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1828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Depth-Limited Search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2286000"/>
            <a:ext cx="6553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 with a predetermined depth limit. Prevents infinite loops but may miss solutions deeper than the limit.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0" y="16510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2" name="Shape 10"/>
          <p:cNvSpPr/>
          <p:nvPr/>
        </p:nvSpPr>
        <p:spPr>
          <a:xfrm>
            <a:off x="8382000" y="1651000"/>
            <a:ext cx="63500" cy="165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0" y="1854200"/>
            <a:ext cx="838200" cy="304800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0" y="1854200"/>
            <a:ext cx="838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IDDFS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0" y="1828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Iterative Deepening DFS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0" y="2286000"/>
            <a:ext cx="6553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DLS with increasing depth limits (0, 1, 2, ...). Combines BFS completeness with DFS memory efficiency.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5560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556000"/>
            <a:ext cx="63500" cy="165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800" y="3759200"/>
            <a:ext cx="635000" cy="304800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37592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8800" y="3733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Cost Search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66800" y="4191000"/>
            <a:ext cx="6553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Expands the node with lowest path cost first. Uses a priority queue. Optimal for problems with varying step costs.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35560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24" name="Shape 22"/>
          <p:cNvSpPr/>
          <p:nvPr/>
        </p:nvSpPr>
        <p:spPr>
          <a:xfrm>
            <a:off x="8382000" y="3556000"/>
            <a:ext cx="63500" cy="1651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25" name="Shape 23"/>
          <p:cNvSpPr/>
          <p:nvPr/>
        </p:nvSpPr>
        <p:spPr>
          <a:xfrm>
            <a:off x="8686800" y="3759200"/>
            <a:ext cx="635000" cy="304800"/>
          </a:xfrm>
          <a:prstGeom prst="roundRect">
            <a:avLst>
              <a:gd name="adj" fmla="val 50000"/>
            </a:avLst>
          </a:prstGeom>
          <a:solidFill>
            <a:srgbClr val="D4943A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0" y="37592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48800" y="3733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Bidirectional Search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0" y="4191000"/>
            <a:ext cx="6553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Two simultaneous searches: forward from start, backward from goal. Reduces time from O(b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to O(b</a:t>
            </a:r>
            <a:pPr>
              <a:lnSpc>
                <a:spcPct val="150000"/>
              </a:lnSpc>
            </a:pPr>
            <a:r>
              <a:rPr lang="en-US" sz="1500" baseline="30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d/2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588000"/>
            <a:ext cx="14732000" cy="2286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4575" y="58928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14957" y="-13127"/>
                </a:moveTo>
                <a:cubicBezTo>
                  <a:pt x="212110" y="-18683"/>
                  <a:pt x="206345" y="-22225"/>
                  <a:pt x="200094" y="-22225"/>
                </a:cubicBezTo>
                <a:cubicBezTo>
                  <a:pt x="193844" y="-22225"/>
                  <a:pt x="188079" y="-18683"/>
                  <a:pt x="185231" y="-13127"/>
                </a:cubicBezTo>
                <a:lnTo>
                  <a:pt x="134114" y="87025"/>
                </a:lnTo>
                <a:lnTo>
                  <a:pt x="23058" y="104666"/>
                </a:lnTo>
                <a:cubicBezTo>
                  <a:pt x="16877" y="105638"/>
                  <a:pt x="11738" y="110014"/>
                  <a:pt x="9793" y="115987"/>
                </a:cubicBezTo>
                <a:cubicBezTo>
                  <a:pt x="7848" y="121960"/>
                  <a:pt x="9446" y="128488"/>
                  <a:pt x="13821" y="132933"/>
                </a:cubicBezTo>
                <a:lnTo>
                  <a:pt x="93276" y="212457"/>
                </a:lnTo>
                <a:lnTo>
                  <a:pt x="75773" y="323513"/>
                </a:lnTo>
                <a:cubicBezTo>
                  <a:pt x="74801" y="329694"/>
                  <a:pt x="77371" y="335945"/>
                  <a:pt x="82441" y="339626"/>
                </a:cubicBezTo>
                <a:cubicBezTo>
                  <a:pt x="87511" y="343307"/>
                  <a:pt x="94178" y="343862"/>
                  <a:pt x="99804" y="341015"/>
                </a:cubicBezTo>
                <a:lnTo>
                  <a:pt x="200094" y="290036"/>
                </a:lnTo>
                <a:lnTo>
                  <a:pt x="300315" y="341015"/>
                </a:lnTo>
                <a:cubicBezTo>
                  <a:pt x="305872" y="343862"/>
                  <a:pt x="312609" y="343307"/>
                  <a:pt x="317679" y="339626"/>
                </a:cubicBezTo>
                <a:cubicBezTo>
                  <a:pt x="322749" y="335945"/>
                  <a:pt x="325318" y="329763"/>
                  <a:pt x="324346" y="323513"/>
                </a:cubicBezTo>
                <a:lnTo>
                  <a:pt x="306774" y="212457"/>
                </a:lnTo>
                <a:lnTo>
                  <a:pt x="386229" y="132933"/>
                </a:lnTo>
                <a:cubicBezTo>
                  <a:pt x="390674" y="128488"/>
                  <a:pt x="392202" y="121960"/>
                  <a:pt x="390257" y="115987"/>
                </a:cubicBezTo>
                <a:cubicBezTo>
                  <a:pt x="388312" y="110014"/>
                  <a:pt x="383242" y="105638"/>
                  <a:pt x="376992" y="104666"/>
                </a:cubicBezTo>
                <a:lnTo>
                  <a:pt x="266005" y="87025"/>
                </a:lnTo>
                <a:lnTo>
                  <a:pt x="214957" y="-13127"/>
                </a:ln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549400" y="5867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IDDFS IS SPECIAL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66800" y="6350000"/>
            <a:ext cx="14173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IDDFS offers 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of both worlds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the completeness and optimality of BFS with the memory efficiency of DFS. It is 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preferred uninformed search method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large state spaces where the solution depth is unknown. The overhead of re-exploring upper levels is negligible because the deepest level dominates the node count.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Choosing the Right Search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748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this decision framework to select the appropriate uninformed search algorithm: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2098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43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80605"/>
                </a:lnTo>
                <a:cubicBezTo>
                  <a:pt x="0" y="84653"/>
                  <a:pt x="2619" y="88106"/>
                  <a:pt x="6013" y="90309"/>
                </a:cubicBezTo>
                <a:cubicBezTo>
                  <a:pt x="13871" y="95429"/>
                  <a:pt x="19050" y="104239"/>
                  <a:pt x="19050" y="114300"/>
                </a:cubicBezTo>
                <a:cubicBezTo>
                  <a:pt x="19050" y="124361"/>
                  <a:pt x="13871" y="133171"/>
                  <a:pt x="6013" y="138291"/>
                </a:cubicBezTo>
                <a:cubicBezTo>
                  <a:pt x="2619" y="140494"/>
                  <a:pt x="0" y="143947"/>
                  <a:pt x="0" y="147995"/>
                </a:cubicBezTo>
                <a:lnTo>
                  <a:pt x="0" y="180975"/>
                </a:lnTo>
                <a:lnTo>
                  <a:pt x="304800" y="180975"/>
                </a:lnTo>
                <a:lnTo>
                  <a:pt x="304800" y="147995"/>
                </a:lnTo>
                <a:cubicBezTo>
                  <a:pt x="304800" y="143947"/>
                  <a:pt x="302181" y="140494"/>
                  <a:pt x="298787" y="138291"/>
                </a:cubicBezTo>
                <a:cubicBezTo>
                  <a:pt x="290929" y="133171"/>
                  <a:pt x="285750" y="124361"/>
                  <a:pt x="285750" y="114300"/>
                </a:cubicBezTo>
                <a:cubicBezTo>
                  <a:pt x="285750" y="104239"/>
                  <a:pt x="290929" y="95429"/>
                  <a:pt x="298787" y="90309"/>
                </a:cubicBezTo>
                <a:cubicBezTo>
                  <a:pt x="302181" y="88106"/>
                  <a:pt x="304800" y="84653"/>
                  <a:pt x="304800" y="80605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304800" y="247650"/>
                </a:moveTo>
                <a:lnTo>
                  <a:pt x="304800" y="209550"/>
                </a:lnTo>
                <a:lnTo>
                  <a:pt x="0" y="209550"/>
                </a:lnTo>
                <a:lnTo>
                  <a:pt x="0" y="247650"/>
                </a:lnTo>
                <a:cubicBezTo>
                  <a:pt x="0" y="258187"/>
                  <a:pt x="8513" y="266700"/>
                  <a:pt x="19050" y="266700"/>
                </a:cubicBezTo>
                <a:lnTo>
                  <a:pt x="57150" y="266700"/>
                </a:lnTo>
                <a:lnTo>
                  <a:pt x="57150" y="252413"/>
                </a:lnTo>
                <a:cubicBezTo>
                  <a:pt x="57150" y="244495"/>
                  <a:pt x="63520" y="238125"/>
                  <a:pt x="71438" y="238125"/>
                </a:cubicBezTo>
                <a:cubicBezTo>
                  <a:pt x="79355" y="238125"/>
                  <a:pt x="85725" y="244495"/>
                  <a:pt x="85725" y="252413"/>
                </a:cubicBezTo>
                <a:lnTo>
                  <a:pt x="85725" y="266700"/>
                </a:lnTo>
                <a:lnTo>
                  <a:pt x="138113" y="266700"/>
                </a:lnTo>
                <a:lnTo>
                  <a:pt x="138113" y="252413"/>
                </a:lnTo>
                <a:cubicBezTo>
                  <a:pt x="138113" y="244495"/>
                  <a:pt x="144482" y="238125"/>
                  <a:pt x="152400" y="238125"/>
                </a:cubicBezTo>
                <a:cubicBezTo>
                  <a:pt x="160318" y="238125"/>
                  <a:pt x="166688" y="244495"/>
                  <a:pt x="166688" y="252413"/>
                </a:cubicBezTo>
                <a:lnTo>
                  <a:pt x="166688" y="266700"/>
                </a:lnTo>
                <a:lnTo>
                  <a:pt x="219075" y="266700"/>
                </a:lnTo>
                <a:lnTo>
                  <a:pt x="219075" y="252413"/>
                </a:lnTo>
                <a:cubicBezTo>
                  <a:pt x="219075" y="244495"/>
                  <a:pt x="225445" y="238125"/>
                  <a:pt x="233363" y="238125"/>
                </a:cubicBezTo>
                <a:cubicBezTo>
                  <a:pt x="241280" y="238125"/>
                  <a:pt x="247650" y="244495"/>
                  <a:pt x="247650" y="252413"/>
                </a:cubicBezTo>
                <a:lnTo>
                  <a:pt x="247650" y="266700"/>
                </a:ln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lose/>
                <a:moveTo>
                  <a:pt x="95250" y="95250"/>
                </a:moveTo>
                <a:lnTo>
                  <a:pt x="95250" y="133350"/>
                </a:lnTo>
                <a:cubicBezTo>
                  <a:pt x="95250" y="143887"/>
                  <a:pt x="86737" y="152400"/>
                  <a:pt x="76200" y="152400"/>
                </a:cubicBezTo>
                <a:cubicBezTo>
                  <a:pt x="65663" y="152400"/>
                  <a:pt x="57150" y="143887"/>
                  <a:pt x="57150" y="133350"/>
                </a:cubicBezTo>
                <a:lnTo>
                  <a:pt x="57150" y="95250"/>
                </a:lnTo>
                <a:cubicBezTo>
                  <a:pt x="57150" y="84713"/>
                  <a:pt x="65663" y="76200"/>
                  <a:pt x="76200" y="76200"/>
                </a:cubicBezTo>
                <a:cubicBezTo>
                  <a:pt x="86737" y="76200"/>
                  <a:pt x="95250" y="84713"/>
                  <a:pt x="95250" y="95250"/>
                </a:cubicBezTo>
                <a:close/>
                <a:moveTo>
                  <a:pt x="171450" y="95250"/>
                </a:moveTo>
                <a:lnTo>
                  <a:pt x="171450" y="133350"/>
                </a:lnTo>
                <a:cubicBezTo>
                  <a:pt x="171450" y="143887"/>
                  <a:pt x="162937" y="152400"/>
                  <a:pt x="152400" y="152400"/>
                </a:cubicBezTo>
                <a:cubicBezTo>
                  <a:pt x="141863" y="152400"/>
                  <a:pt x="133350" y="143887"/>
                  <a:pt x="133350" y="13335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47650" y="95250"/>
                </a:moveTo>
                <a:lnTo>
                  <a:pt x="247650" y="133350"/>
                </a:lnTo>
                <a:cubicBezTo>
                  <a:pt x="247650" y="143887"/>
                  <a:pt x="239137" y="152400"/>
                  <a:pt x="228600" y="152400"/>
                </a:cubicBezTo>
                <a:cubicBezTo>
                  <a:pt x="218063" y="152400"/>
                  <a:pt x="209550" y="143887"/>
                  <a:pt x="209550" y="133350"/>
                </a:cubicBezTo>
                <a:lnTo>
                  <a:pt x="209550" y="95250"/>
                </a:lnTo>
                <a:cubicBezTo>
                  <a:pt x="209550" y="84713"/>
                  <a:pt x="218063" y="76200"/>
                  <a:pt x="228600" y="76200"/>
                </a:cubicBezTo>
                <a:cubicBezTo>
                  <a:pt x="239137" y="76200"/>
                  <a:pt x="247650" y="84713"/>
                  <a:pt x="247650" y="9525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8" name="Text 6"/>
          <p:cNvSpPr/>
          <p:nvPr/>
        </p:nvSpPr>
        <p:spPr>
          <a:xfrm>
            <a:off x="1422400" y="2413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memory limited?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8702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IDDFS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22098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1" name="Shape 9"/>
          <p:cNvSpPr/>
          <p:nvPr/>
        </p:nvSpPr>
        <p:spPr>
          <a:xfrm>
            <a:off x="5969000" y="243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57150" y="19050"/>
                </a:moveTo>
                <a:cubicBezTo>
                  <a:pt x="46613" y="19050"/>
                  <a:pt x="38100" y="27563"/>
                  <a:pt x="38100" y="38100"/>
                </a:cubicBezTo>
                <a:cubicBezTo>
                  <a:pt x="38100" y="48637"/>
                  <a:pt x="46613" y="57150"/>
                  <a:pt x="57150" y="57150"/>
                </a:cubicBezTo>
                <a:lnTo>
                  <a:pt x="68282" y="57150"/>
                </a:lnTo>
                <a:lnTo>
                  <a:pt x="5596" y="119896"/>
                </a:lnTo>
                <a:cubicBezTo>
                  <a:pt x="-1845" y="127337"/>
                  <a:pt x="-1845" y="139422"/>
                  <a:pt x="5596" y="146864"/>
                </a:cubicBezTo>
                <a:cubicBezTo>
                  <a:pt x="13037" y="154305"/>
                  <a:pt x="25122" y="154305"/>
                  <a:pt x="32564" y="146864"/>
                </a:cubicBezTo>
                <a:lnTo>
                  <a:pt x="95250" y="84118"/>
                </a:lnTo>
                <a:lnTo>
                  <a:pt x="95250" y="95250"/>
                </a:lnTo>
                <a:cubicBezTo>
                  <a:pt x="95250" y="105787"/>
                  <a:pt x="103763" y="114300"/>
                  <a:pt x="114300" y="114300"/>
                </a:cubicBezTo>
                <a:cubicBezTo>
                  <a:pt x="124837" y="114300"/>
                  <a:pt x="133350" y="105787"/>
                  <a:pt x="133350" y="95250"/>
                </a:cubicBezTo>
                <a:lnTo>
                  <a:pt x="133350" y="38100"/>
                </a:lnTo>
                <a:cubicBezTo>
                  <a:pt x="133350" y="27563"/>
                  <a:pt x="124837" y="19050"/>
                  <a:pt x="114300" y="19050"/>
                </a:cubicBezTo>
                <a:lnTo>
                  <a:pt x="57150" y="19050"/>
                </a:lnTo>
                <a:close/>
                <a:moveTo>
                  <a:pt x="240387" y="41731"/>
                </a:moveTo>
                <a:cubicBezTo>
                  <a:pt x="240387" y="49835"/>
                  <a:pt x="244710" y="57322"/>
                  <a:pt x="251728" y="61374"/>
                </a:cubicBezTo>
                <a:cubicBezTo>
                  <a:pt x="258746" y="65426"/>
                  <a:pt x="267392" y="65426"/>
                  <a:pt x="274409" y="61374"/>
                </a:cubicBezTo>
                <a:cubicBezTo>
                  <a:pt x="281427" y="57322"/>
                  <a:pt x="285750" y="49835"/>
                  <a:pt x="285750" y="41731"/>
                </a:cubicBezTo>
                <a:cubicBezTo>
                  <a:pt x="285750" y="33628"/>
                  <a:pt x="281427" y="26140"/>
                  <a:pt x="274409" y="22089"/>
                </a:cubicBezTo>
                <a:cubicBezTo>
                  <a:pt x="267392" y="18037"/>
                  <a:pt x="258746" y="18037"/>
                  <a:pt x="251728" y="22089"/>
                </a:cubicBezTo>
                <a:cubicBezTo>
                  <a:pt x="244710" y="26140"/>
                  <a:pt x="240387" y="33628"/>
                  <a:pt x="240387" y="41731"/>
                </a:cubicBezTo>
                <a:close/>
                <a:moveTo>
                  <a:pt x="166509" y="115610"/>
                </a:moveTo>
                <a:cubicBezTo>
                  <a:pt x="166509" y="123713"/>
                  <a:pt x="170832" y="131201"/>
                  <a:pt x="177850" y="135252"/>
                </a:cubicBezTo>
                <a:cubicBezTo>
                  <a:pt x="184867" y="139304"/>
                  <a:pt x="193513" y="139304"/>
                  <a:pt x="200531" y="135252"/>
                </a:cubicBezTo>
                <a:cubicBezTo>
                  <a:pt x="207549" y="131201"/>
                  <a:pt x="211872" y="123713"/>
                  <a:pt x="211872" y="115610"/>
                </a:cubicBezTo>
                <a:cubicBezTo>
                  <a:pt x="211872" y="107506"/>
                  <a:pt x="207549" y="100019"/>
                  <a:pt x="200531" y="95967"/>
                </a:cubicBezTo>
                <a:cubicBezTo>
                  <a:pt x="193513" y="91915"/>
                  <a:pt x="184867" y="91915"/>
                  <a:pt x="177850" y="95967"/>
                </a:cubicBezTo>
                <a:cubicBezTo>
                  <a:pt x="170832" y="100019"/>
                  <a:pt x="166509" y="107506"/>
                  <a:pt x="166509" y="115610"/>
                </a:cubicBezTo>
                <a:close/>
                <a:moveTo>
                  <a:pt x="263069" y="92928"/>
                </a:moveTo>
                <a:cubicBezTo>
                  <a:pt x="250550" y="92928"/>
                  <a:pt x="240387" y="103091"/>
                  <a:pt x="240387" y="115610"/>
                </a:cubicBezTo>
                <a:cubicBezTo>
                  <a:pt x="240387" y="128128"/>
                  <a:pt x="250550" y="138291"/>
                  <a:pt x="263069" y="138291"/>
                </a:cubicBezTo>
                <a:cubicBezTo>
                  <a:pt x="271172" y="138291"/>
                  <a:pt x="278660" y="133968"/>
                  <a:pt x="282711" y="126950"/>
                </a:cubicBezTo>
                <a:cubicBezTo>
                  <a:pt x="286763" y="119933"/>
                  <a:pt x="286763" y="111287"/>
                  <a:pt x="282711" y="104269"/>
                </a:cubicBezTo>
                <a:cubicBezTo>
                  <a:pt x="278660" y="97251"/>
                  <a:pt x="271172" y="92928"/>
                  <a:pt x="263069" y="92928"/>
                </a:cubicBezTo>
                <a:close/>
                <a:moveTo>
                  <a:pt x="92988" y="189190"/>
                </a:moveTo>
                <a:cubicBezTo>
                  <a:pt x="92988" y="197294"/>
                  <a:pt x="97311" y="204781"/>
                  <a:pt x="104329" y="208833"/>
                </a:cubicBezTo>
                <a:cubicBezTo>
                  <a:pt x="111346" y="212885"/>
                  <a:pt x="119992" y="212885"/>
                  <a:pt x="127010" y="208833"/>
                </a:cubicBezTo>
                <a:cubicBezTo>
                  <a:pt x="134028" y="204781"/>
                  <a:pt x="138351" y="197294"/>
                  <a:pt x="138351" y="189190"/>
                </a:cubicBezTo>
                <a:cubicBezTo>
                  <a:pt x="138351" y="181087"/>
                  <a:pt x="134028" y="173599"/>
                  <a:pt x="127010" y="169548"/>
                </a:cubicBezTo>
                <a:cubicBezTo>
                  <a:pt x="119992" y="165496"/>
                  <a:pt x="111346" y="165496"/>
                  <a:pt x="104329" y="169548"/>
                </a:cubicBezTo>
                <a:cubicBezTo>
                  <a:pt x="97311" y="173599"/>
                  <a:pt x="92988" y="181087"/>
                  <a:pt x="92988" y="189190"/>
                </a:cubicBezTo>
                <a:close/>
                <a:moveTo>
                  <a:pt x="189190" y="166509"/>
                </a:moveTo>
                <a:cubicBezTo>
                  <a:pt x="181087" y="166509"/>
                  <a:pt x="173599" y="170832"/>
                  <a:pt x="169548" y="177850"/>
                </a:cubicBezTo>
                <a:cubicBezTo>
                  <a:pt x="165496" y="184867"/>
                  <a:pt x="165496" y="193513"/>
                  <a:pt x="169548" y="200531"/>
                </a:cubicBezTo>
                <a:cubicBezTo>
                  <a:pt x="173599" y="207549"/>
                  <a:pt x="181087" y="211872"/>
                  <a:pt x="189190" y="211872"/>
                </a:cubicBezTo>
                <a:cubicBezTo>
                  <a:pt x="197294" y="211872"/>
                  <a:pt x="204781" y="207549"/>
                  <a:pt x="208833" y="200531"/>
                </a:cubicBezTo>
                <a:cubicBezTo>
                  <a:pt x="212885" y="193513"/>
                  <a:pt x="212885" y="184867"/>
                  <a:pt x="208833" y="177850"/>
                </a:cubicBezTo>
                <a:cubicBezTo>
                  <a:pt x="204781" y="170832"/>
                  <a:pt x="197294" y="166509"/>
                  <a:pt x="189190" y="166509"/>
                </a:cubicBezTo>
                <a:close/>
                <a:moveTo>
                  <a:pt x="240447" y="189190"/>
                </a:moveTo>
                <a:cubicBezTo>
                  <a:pt x="240447" y="197294"/>
                  <a:pt x="244770" y="204781"/>
                  <a:pt x="251787" y="208833"/>
                </a:cubicBezTo>
                <a:cubicBezTo>
                  <a:pt x="258805" y="212885"/>
                  <a:pt x="267451" y="212885"/>
                  <a:pt x="274469" y="208833"/>
                </a:cubicBezTo>
                <a:cubicBezTo>
                  <a:pt x="281486" y="204781"/>
                  <a:pt x="285810" y="197294"/>
                  <a:pt x="285810" y="189190"/>
                </a:cubicBezTo>
                <a:cubicBezTo>
                  <a:pt x="285810" y="176672"/>
                  <a:pt x="275646" y="166509"/>
                  <a:pt x="263128" y="166509"/>
                </a:cubicBezTo>
                <a:cubicBezTo>
                  <a:pt x="250610" y="166509"/>
                  <a:pt x="240447" y="176672"/>
                  <a:pt x="240447" y="189190"/>
                </a:cubicBezTo>
                <a:close/>
                <a:moveTo>
                  <a:pt x="41731" y="240387"/>
                </a:moveTo>
                <a:cubicBezTo>
                  <a:pt x="33628" y="240387"/>
                  <a:pt x="26140" y="244710"/>
                  <a:pt x="22089" y="251728"/>
                </a:cubicBezTo>
                <a:cubicBezTo>
                  <a:pt x="18037" y="258746"/>
                  <a:pt x="18037" y="267392"/>
                  <a:pt x="22089" y="274409"/>
                </a:cubicBezTo>
                <a:cubicBezTo>
                  <a:pt x="26140" y="281427"/>
                  <a:pt x="33628" y="285750"/>
                  <a:pt x="41731" y="285750"/>
                </a:cubicBezTo>
                <a:cubicBezTo>
                  <a:pt x="49835" y="285750"/>
                  <a:pt x="57322" y="281427"/>
                  <a:pt x="61374" y="274409"/>
                </a:cubicBezTo>
                <a:cubicBezTo>
                  <a:pt x="65426" y="267392"/>
                  <a:pt x="65426" y="258746"/>
                  <a:pt x="61374" y="251728"/>
                </a:cubicBezTo>
                <a:cubicBezTo>
                  <a:pt x="57322" y="244710"/>
                  <a:pt x="49835" y="240387"/>
                  <a:pt x="41731" y="240387"/>
                </a:cubicBezTo>
                <a:close/>
                <a:moveTo>
                  <a:pt x="92988" y="263069"/>
                </a:moveTo>
                <a:cubicBezTo>
                  <a:pt x="92988" y="271172"/>
                  <a:pt x="97311" y="278660"/>
                  <a:pt x="104329" y="282711"/>
                </a:cubicBezTo>
                <a:cubicBezTo>
                  <a:pt x="111346" y="286763"/>
                  <a:pt x="119992" y="286763"/>
                  <a:pt x="127010" y="282711"/>
                </a:cubicBezTo>
                <a:cubicBezTo>
                  <a:pt x="134028" y="278660"/>
                  <a:pt x="138351" y="271172"/>
                  <a:pt x="138351" y="263069"/>
                </a:cubicBezTo>
                <a:cubicBezTo>
                  <a:pt x="138351" y="254965"/>
                  <a:pt x="134028" y="247478"/>
                  <a:pt x="127010" y="243426"/>
                </a:cubicBezTo>
                <a:cubicBezTo>
                  <a:pt x="119992" y="239374"/>
                  <a:pt x="111346" y="239374"/>
                  <a:pt x="104329" y="243426"/>
                </a:cubicBezTo>
                <a:cubicBezTo>
                  <a:pt x="97311" y="247478"/>
                  <a:pt x="92988" y="254965"/>
                  <a:pt x="92988" y="263069"/>
                </a:cubicBezTo>
                <a:close/>
                <a:moveTo>
                  <a:pt x="189190" y="240387"/>
                </a:moveTo>
                <a:cubicBezTo>
                  <a:pt x="181087" y="240387"/>
                  <a:pt x="173599" y="244710"/>
                  <a:pt x="169548" y="251728"/>
                </a:cubicBezTo>
                <a:cubicBezTo>
                  <a:pt x="165496" y="258746"/>
                  <a:pt x="165496" y="267392"/>
                  <a:pt x="169548" y="274409"/>
                </a:cubicBezTo>
                <a:cubicBezTo>
                  <a:pt x="173599" y="281427"/>
                  <a:pt x="181087" y="285750"/>
                  <a:pt x="189190" y="285750"/>
                </a:cubicBezTo>
                <a:cubicBezTo>
                  <a:pt x="197294" y="285750"/>
                  <a:pt x="204781" y="281427"/>
                  <a:pt x="208833" y="274409"/>
                </a:cubicBezTo>
                <a:cubicBezTo>
                  <a:pt x="212885" y="267392"/>
                  <a:pt x="212885" y="258746"/>
                  <a:pt x="208833" y="251728"/>
                </a:cubicBezTo>
                <a:cubicBezTo>
                  <a:pt x="204781" y="244710"/>
                  <a:pt x="197294" y="240387"/>
                  <a:pt x="189190" y="240387"/>
                </a:cubicBezTo>
                <a:close/>
                <a:moveTo>
                  <a:pt x="240447" y="263069"/>
                </a:moveTo>
                <a:cubicBezTo>
                  <a:pt x="240447" y="271172"/>
                  <a:pt x="244770" y="278660"/>
                  <a:pt x="251787" y="282711"/>
                </a:cubicBezTo>
                <a:cubicBezTo>
                  <a:pt x="258805" y="286763"/>
                  <a:pt x="267451" y="286763"/>
                  <a:pt x="274469" y="282711"/>
                </a:cubicBezTo>
                <a:cubicBezTo>
                  <a:pt x="281486" y="278660"/>
                  <a:pt x="285810" y="271172"/>
                  <a:pt x="285810" y="263069"/>
                </a:cubicBezTo>
                <a:cubicBezTo>
                  <a:pt x="285810" y="250550"/>
                  <a:pt x="275646" y="240387"/>
                  <a:pt x="263128" y="240387"/>
                </a:cubicBezTo>
                <a:cubicBezTo>
                  <a:pt x="250610" y="240387"/>
                  <a:pt x="240447" y="250550"/>
                  <a:pt x="240447" y="263069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6375400" y="2413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the solution shallow?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69000" y="28702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good choice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2209800"/>
            <a:ext cx="4826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22000" y="2438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57150"/>
                </a:moveTo>
                <a:lnTo>
                  <a:pt x="76200" y="47625"/>
                </a:lnTo>
                <a:cubicBezTo>
                  <a:pt x="76200" y="21312"/>
                  <a:pt x="127397" y="0"/>
                  <a:pt x="190500" y="0"/>
                </a:cubicBezTo>
                <a:cubicBezTo>
                  <a:pt x="253603" y="0"/>
                  <a:pt x="304800" y="21312"/>
                  <a:pt x="304800" y="47625"/>
                </a:cubicBezTo>
                <a:lnTo>
                  <a:pt x="304800" y="57150"/>
                </a:lnTo>
                <a:cubicBezTo>
                  <a:pt x="304800" y="75367"/>
                  <a:pt x="280214" y="91202"/>
                  <a:pt x="244078" y="99239"/>
                </a:cubicBezTo>
                <a:cubicBezTo>
                  <a:pt x="242649" y="97572"/>
                  <a:pt x="241161" y="95964"/>
                  <a:pt x="239673" y="94476"/>
                </a:cubicBezTo>
                <a:cubicBezTo>
                  <a:pt x="230445" y="85368"/>
                  <a:pt x="218539" y="78462"/>
                  <a:pt x="206097" y="73343"/>
                </a:cubicBezTo>
                <a:cubicBezTo>
                  <a:pt x="181154" y="62925"/>
                  <a:pt x="148650" y="57210"/>
                  <a:pt x="114300" y="57210"/>
                </a:cubicBezTo>
                <a:cubicBezTo>
                  <a:pt x="101263" y="57210"/>
                  <a:pt x="88523" y="58043"/>
                  <a:pt x="76319" y="59650"/>
                </a:cubicBezTo>
                <a:cubicBezTo>
                  <a:pt x="76200" y="58876"/>
                  <a:pt x="76200" y="58043"/>
                  <a:pt x="76200" y="57210"/>
                </a:cubicBezTo>
                <a:close/>
                <a:moveTo>
                  <a:pt x="257175" y="210145"/>
                </a:moveTo>
                <a:lnTo>
                  <a:pt x="257175" y="182642"/>
                </a:lnTo>
                <a:cubicBezTo>
                  <a:pt x="266164" y="180320"/>
                  <a:pt x="274618" y="177582"/>
                  <a:pt x="282297" y="174367"/>
                </a:cubicBezTo>
                <a:cubicBezTo>
                  <a:pt x="290155" y="171093"/>
                  <a:pt x="297835" y="167104"/>
                  <a:pt x="304800" y="162282"/>
                </a:cubicBezTo>
                <a:lnTo>
                  <a:pt x="304800" y="171450"/>
                </a:lnTo>
                <a:cubicBezTo>
                  <a:pt x="304800" y="187404"/>
                  <a:pt x="286048" y="201513"/>
                  <a:pt x="257175" y="210145"/>
                </a:cubicBezTo>
                <a:close/>
                <a:moveTo>
                  <a:pt x="257175" y="152995"/>
                </a:moveTo>
                <a:lnTo>
                  <a:pt x="257175" y="133350"/>
                </a:lnTo>
                <a:cubicBezTo>
                  <a:pt x="257175" y="130671"/>
                  <a:pt x="256937" y="128111"/>
                  <a:pt x="256580" y="125611"/>
                </a:cubicBezTo>
                <a:cubicBezTo>
                  <a:pt x="265807" y="123289"/>
                  <a:pt x="274439" y="120491"/>
                  <a:pt x="282297" y="117157"/>
                </a:cubicBezTo>
                <a:cubicBezTo>
                  <a:pt x="290155" y="113824"/>
                  <a:pt x="297835" y="109895"/>
                  <a:pt x="304800" y="105073"/>
                </a:cubicBezTo>
                <a:lnTo>
                  <a:pt x="304800" y="114240"/>
                </a:lnTo>
                <a:cubicBezTo>
                  <a:pt x="304800" y="130195"/>
                  <a:pt x="286048" y="144304"/>
                  <a:pt x="257175" y="152936"/>
                </a:cubicBezTo>
                <a:close/>
                <a:moveTo>
                  <a:pt x="0" y="142875"/>
                </a:moveTo>
                <a:lnTo>
                  <a:pt x="0" y="133350"/>
                </a:lnTo>
                <a:cubicBezTo>
                  <a:pt x="0" y="107037"/>
                  <a:pt x="51197" y="85725"/>
                  <a:pt x="114300" y="85725"/>
                </a:cubicBezTo>
                <a:cubicBezTo>
                  <a:pt x="177403" y="85725"/>
                  <a:pt x="228600" y="107037"/>
                  <a:pt x="228600" y="133350"/>
                </a:cubicBezTo>
                <a:lnTo>
                  <a:pt x="228600" y="142875"/>
                </a:lnTo>
                <a:cubicBezTo>
                  <a:pt x="228600" y="169188"/>
                  <a:pt x="177403" y="190500"/>
                  <a:pt x="114300" y="190500"/>
                </a:cubicBezTo>
                <a:cubicBezTo>
                  <a:pt x="51197" y="190500"/>
                  <a:pt x="0" y="169188"/>
                  <a:pt x="0" y="142875"/>
                </a:cubicBezTo>
                <a:close/>
                <a:moveTo>
                  <a:pt x="228600" y="200025"/>
                </a:moveTo>
                <a:cubicBezTo>
                  <a:pt x="228600" y="226338"/>
                  <a:pt x="177403" y="247650"/>
                  <a:pt x="114300" y="247650"/>
                </a:cubicBezTo>
                <a:cubicBezTo>
                  <a:pt x="51197" y="247650"/>
                  <a:pt x="0" y="226338"/>
                  <a:pt x="0" y="200025"/>
                </a:cubicBezTo>
                <a:lnTo>
                  <a:pt x="0" y="190857"/>
                </a:lnTo>
                <a:cubicBezTo>
                  <a:pt x="6906" y="195679"/>
                  <a:pt x="14585" y="199608"/>
                  <a:pt x="22503" y="202942"/>
                </a:cubicBezTo>
                <a:cubicBezTo>
                  <a:pt x="47446" y="213360"/>
                  <a:pt x="79950" y="219075"/>
                  <a:pt x="114300" y="219075"/>
                </a:cubicBezTo>
                <a:cubicBezTo>
                  <a:pt x="148650" y="219075"/>
                  <a:pt x="181154" y="213300"/>
                  <a:pt x="206097" y="202942"/>
                </a:cubicBezTo>
                <a:cubicBezTo>
                  <a:pt x="213955" y="199668"/>
                  <a:pt x="221635" y="195679"/>
                  <a:pt x="228600" y="190857"/>
                </a:cubicBezTo>
                <a:lnTo>
                  <a:pt x="228600" y="200025"/>
                </a:lnTo>
                <a:close/>
                <a:moveTo>
                  <a:pt x="228600" y="248007"/>
                </a:moveTo>
                <a:lnTo>
                  <a:pt x="228600" y="257175"/>
                </a:lnTo>
                <a:cubicBezTo>
                  <a:pt x="228600" y="283488"/>
                  <a:pt x="177403" y="304800"/>
                  <a:pt x="114300" y="304800"/>
                </a:cubicBezTo>
                <a:cubicBezTo>
                  <a:pt x="51197" y="304800"/>
                  <a:pt x="0" y="283488"/>
                  <a:pt x="0" y="257175"/>
                </a:cubicBezTo>
                <a:lnTo>
                  <a:pt x="0" y="248007"/>
                </a:lnTo>
                <a:cubicBezTo>
                  <a:pt x="6906" y="252829"/>
                  <a:pt x="14585" y="256758"/>
                  <a:pt x="22503" y="260092"/>
                </a:cubicBezTo>
                <a:cubicBezTo>
                  <a:pt x="47446" y="270510"/>
                  <a:pt x="79950" y="276225"/>
                  <a:pt x="114300" y="276225"/>
                </a:cubicBezTo>
                <a:cubicBezTo>
                  <a:pt x="148650" y="276225"/>
                  <a:pt x="181154" y="270450"/>
                  <a:pt x="206097" y="260092"/>
                </a:cubicBezTo>
                <a:cubicBezTo>
                  <a:pt x="213955" y="256818"/>
                  <a:pt x="221635" y="252829"/>
                  <a:pt x="228600" y="248007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328400" y="2413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step costs?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22000" y="28702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(optimal)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9878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21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89654"/>
                </a:moveTo>
                <a:lnTo>
                  <a:pt x="242054" y="146804"/>
                </a:lnTo>
                <a:cubicBezTo>
                  <a:pt x="236577" y="152281"/>
                  <a:pt x="228421" y="153888"/>
                  <a:pt x="221278" y="150912"/>
                </a:cubicBezTo>
                <a:cubicBezTo>
                  <a:pt x="214134" y="147935"/>
                  <a:pt x="209550" y="141030"/>
                  <a:pt x="209550" y="133350"/>
                </a:cubicBezTo>
                <a:lnTo>
                  <a:pt x="209550" y="95250"/>
                </a:lnTo>
                <a:lnTo>
                  <a:pt x="19050" y="95250"/>
                </a:lnTo>
                <a:cubicBezTo>
                  <a:pt x="8513" y="95250"/>
                  <a:pt x="0" y="86737"/>
                  <a:pt x="0" y="76200"/>
                </a:cubicBezTo>
                <a:cubicBezTo>
                  <a:pt x="0" y="65663"/>
                  <a:pt x="8513" y="57150"/>
                  <a:pt x="19050" y="57150"/>
                </a:cubicBezTo>
                <a:lnTo>
                  <a:pt x="209550" y="57150"/>
                </a:lnTo>
                <a:lnTo>
                  <a:pt x="209550" y="19050"/>
                </a:lnTo>
                <a:cubicBezTo>
                  <a:pt x="209550" y="11370"/>
                  <a:pt x="214193" y="4405"/>
                  <a:pt x="221337" y="1429"/>
                </a:cubicBezTo>
                <a:cubicBezTo>
                  <a:pt x="228481" y="-1548"/>
                  <a:pt x="236637" y="119"/>
                  <a:pt x="242114" y="5536"/>
                </a:cubicBezTo>
                <a:lnTo>
                  <a:pt x="299264" y="62686"/>
                </a:lnTo>
                <a:cubicBezTo>
                  <a:pt x="306705" y="70128"/>
                  <a:pt x="306705" y="82213"/>
                  <a:pt x="299264" y="89654"/>
                </a:cubicBezTo>
                <a:close/>
                <a:moveTo>
                  <a:pt x="62686" y="299204"/>
                </a:moveTo>
                <a:lnTo>
                  <a:pt x="5536" y="242054"/>
                </a:lnTo>
                <a:cubicBezTo>
                  <a:pt x="-1905" y="234613"/>
                  <a:pt x="-1905" y="222528"/>
                  <a:pt x="5536" y="215086"/>
                </a:cubicBezTo>
                <a:lnTo>
                  <a:pt x="62686" y="157936"/>
                </a:lnTo>
                <a:cubicBezTo>
                  <a:pt x="68163" y="152460"/>
                  <a:pt x="76319" y="150852"/>
                  <a:pt x="83463" y="153829"/>
                </a:cubicBezTo>
                <a:cubicBezTo>
                  <a:pt x="90607" y="156805"/>
                  <a:pt x="95250" y="163770"/>
                  <a:pt x="95250" y="171450"/>
                </a:cubicBezTo>
                <a:lnTo>
                  <a:pt x="95250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cubicBezTo>
                  <a:pt x="304800" y="239137"/>
                  <a:pt x="296287" y="247650"/>
                  <a:pt x="285750" y="247650"/>
                </a:cubicBezTo>
                <a:lnTo>
                  <a:pt x="95250" y="247650"/>
                </a:lnTo>
                <a:lnTo>
                  <a:pt x="95250" y="285750"/>
                </a:lnTo>
                <a:cubicBezTo>
                  <a:pt x="95250" y="293430"/>
                  <a:pt x="90607" y="300395"/>
                  <a:pt x="83463" y="303371"/>
                </a:cubicBezTo>
                <a:cubicBezTo>
                  <a:pt x="76319" y="306348"/>
                  <a:pt x="68163" y="304681"/>
                  <a:pt x="62686" y="29926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22400" y="419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Known, reversible goal?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6482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Bidirectional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search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15000" y="3987800"/>
            <a:ext cx="4699000" cy="1524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23" name="Shape 21"/>
          <p:cNvSpPr/>
          <p:nvPr/>
        </p:nvSpPr>
        <p:spPr>
          <a:xfrm>
            <a:off x="6026150" y="4216400"/>
            <a:ext cx="190500" cy="304800"/>
          </a:xfrm>
          <a:custGeom>
            <a:avLst/>
            <a:gdLst/>
            <a:ahLst/>
            <a:cxnLst/>
            <a:rect l="l" t="t" r="r" b="b"/>
            <a:pathLst>
              <a:path w="190500" h="304800">
                <a:moveTo>
                  <a:pt x="38100" y="95250"/>
                </a:moveTo>
                <a:cubicBezTo>
                  <a:pt x="38100" y="63698"/>
                  <a:pt x="63698" y="38100"/>
                  <a:pt x="95250" y="38100"/>
                </a:cubicBezTo>
                <a:cubicBezTo>
                  <a:pt x="126802" y="38100"/>
                  <a:pt x="152400" y="63698"/>
                  <a:pt x="152400" y="95250"/>
                </a:cubicBezTo>
                <a:cubicBezTo>
                  <a:pt x="152400" y="120670"/>
                  <a:pt x="135791" y="142220"/>
                  <a:pt x="112812" y="149662"/>
                </a:cubicBezTo>
                <a:cubicBezTo>
                  <a:pt x="95905" y="155138"/>
                  <a:pt x="76200" y="170676"/>
                  <a:pt x="76200" y="195263"/>
                </a:cubicBezTo>
                <a:lnTo>
                  <a:pt x="76200" y="209550"/>
                </a:lnTo>
                <a:cubicBezTo>
                  <a:pt x="76200" y="220087"/>
                  <a:pt x="84713" y="228600"/>
                  <a:pt x="95250" y="228600"/>
                </a:cubicBezTo>
                <a:cubicBezTo>
                  <a:pt x="105787" y="228600"/>
                  <a:pt x="114300" y="220087"/>
                  <a:pt x="114300" y="209550"/>
                </a:cubicBezTo>
                <a:lnTo>
                  <a:pt x="114300" y="195263"/>
                </a:lnTo>
                <a:cubicBezTo>
                  <a:pt x="114300" y="194250"/>
                  <a:pt x="114657" y="192822"/>
                  <a:pt x="116384" y="190917"/>
                </a:cubicBezTo>
                <a:cubicBezTo>
                  <a:pt x="118170" y="188952"/>
                  <a:pt x="121087" y="187047"/>
                  <a:pt x="124539" y="185916"/>
                </a:cubicBezTo>
                <a:cubicBezTo>
                  <a:pt x="162818" y="173593"/>
                  <a:pt x="190500" y="137696"/>
                  <a:pt x="190500" y="95250"/>
                </a:cubicBezTo>
                <a:cubicBezTo>
                  <a:pt x="190500" y="42624"/>
                  <a:pt x="147876" y="0"/>
                  <a:pt x="95250" y="0"/>
                </a:cubicBezTo>
                <a:cubicBezTo>
                  <a:pt x="42624" y="0"/>
                  <a:pt x="0" y="42624"/>
                  <a:pt x="0" y="95250"/>
                </a:cubicBezTo>
                <a:cubicBezTo>
                  <a:pt x="0" y="105787"/>
                  <a:pt x="8513" y="114300"/>
                  <a:pt x="19050" y="114300"/>
                </a:cubicBezTo>
                <a:cubicBezTo>
                  <a:pt x="29587" y="114300"/>
                  <a:pt x="38100" y="105787"/>
                  <a:pt x="38100" y="95250"/>
                </a:cubicBezTo>
                <a:close/>
                <a:moveTo>
                  <a:pt x="95250" y="304800"/>
                </a:moveTo>
                <a:cubicBezTo>
                  <a:pt x="108406" y="304800"/>
                  <a:pt x="119062" y="294144"/>
                  <a:pt x="119062" y="280987"/>
                </a:cubicBezTo>
                <a:cubicBezTo>
                  <a:pt x="119062" y="267831"/>
                  <a:pt x="108406" y="257175"/>
                  <a:pt x="95250" y="257175"/>
                </a:cubicBezTo>
                <a:cubicBezTo>
                  <a:pt x="82094" y="257175"/>
                  <a:pt x="71438" y="267831"/>
                  <a:pt x="71438" y="280987"/>
                </a:cubicBezTo>
                <a:cubicBezTo>
                  <a:pt x="71438" y="294144"/>
                  <a:pt x="82094" y="304800"/>
                  <a:pt x="95250" y="3048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6375400" y="419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Unknown solution depth?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69000" y="46482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IDDFS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often best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668000" y="3987800"/>
            <a:ext cx="4826000" cy="1524000"/>
          </a:xfrm>
          <a:prstGeom prst="roundRect">
            <a:avLst>
              <a:gd name="adj" fmla="val 5000"/>
            </a:avLst>
          </a:prstGeom>
          <a:solidFill>
            <a:srgbClr val="0D4A42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83900" y="4216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28600" y="19050"/>
                </a:moveTo>
                <a:lnTo>
                  <a:pt x="304800" y="19050"/>
                </a:lnTo>
                <a:cubicBezTo>
                  <a:pt x="315337" y="19050"/>
                  <a:pt x="323850" y="27563"/>
                  <a:pt x="323850" y="38100"/>
                </a:cubicBezTo>
                <a:cubicBezTo>
                  <a:pt x="323850" y="48637"/>
                  <a:pt x="315337" y="57150"/>
                  <a:pt x="304800" y="57150"/>
                </a:cubicBezTo>
                <a:lnTo>
                  <a:pt x="237173" y="57150"/>
                </a:lnTo>
                <a:cubicBezTo>
                  <a:pt x="234077" y="72509"/>
                  <a:pt x="223540" y="85189"/>
                  <a:pt x="209550" y="91261"/>
                </a:cubicBezTo>
                <a:lnTo>
                  <a:pt x="209550" y="266700"/>
                </a:lnTo>
                <a:lnTo>
                  <a:pt x="304800" y="266700"/>
                </a:lnTo>
                <a:cubicBezTo>
                  <a:pt x="315337" y="266700"/>
                  <a:pt x="323850" y="275213"/>
                  <a:pt x="323850" y="285750"/>
                </a:cubicBezTo>
                <a:cubicBezTo>
                  <a:pt x="323850" y="296287"/>
                  <a:pt x="315337" y="304800"/>
                  <a:pt x="304800" y="304800"/>
                </a:cubicBezTo>
                <a:lnTo>
                  <a:pt x="76200" y="304800"/>
                </a:lnTo>
                <a:cubicBezTo>
                  <a:pt x="65663" y="304800"/>
                  <a:pt x="57150" y="296287"/>
                  <a:pt x="57150" y="285750"/>
                </a:cubicBezTo>
                <a:cubicBezTo>
                  <a:pt x="57150" y="275213"/>
                  <a:pt x="65663" y="266700"/>
                  <a:pt x="76200" y="266700"/>
                </a:cubicBezTo>
                <a:lnTo>
                  <a:pt x="171450" y="266700"/>
                </a:lnTo>
                <a:lnTo>
                  <a:pt x="171450" y="91261"/>
                </a:lnTo>
                <a:cubicBezTo>
                  <a:pt x="157460" y="85130"/>
                  <a:pt x="146923" y="72450"/>
                  <a:pt x="143828" y="57150"/>
                </a:cubicBezTo>
                <a:lnTo>
                  <a:pt x="76200" y="57150"/>
                </a:lnTo>
                <a:cubicBezTo>
                  <a:pt x="65663" y="57150"/>
                  <a:pt x="57150" y="48637"/>
                  <a:pt x="57150" y="38100"/>
                </a:cubicBezTo>
                <a:cubicBezTo>
                  <a:pt x="57150" y="27563"/>
                  <a:pt x="65663" y="19050"/>
                  <a:pt x="76200" y="19050"/>
                </a:cubicBezTo>
                <a:lnTo>
                  <a:pt x="152400" y="19050"/>
                </a:lnTo>
                <a:cubicBezTo>
                  <a:pt x="161092" y="7501"/>
                  <a:pt x="174903" y="0"/>
                  <a:pt x="190500" y="0"/>
                </a:cubicBezTo>
                <a:cubicBezTo>
                  <a:pt x="206097" y="0"/>
                  <a:pt x="219908" y="7501"/>
                  <a:pt x="228600" y="19050"/>
                </a:cubicBezTo>
                <a:close/>
                <a:moveTo>
                  <a:pt x="261699" y="190500"/>
                </a:moveTo>
                <a:lnTo>
                  <a:pt x="347901" y="190500"/>
                </a:lnTo>
                <a:lnTo>
                  <a:pt x="304800" y="116562"/>
                </a:lnTo>
                <a:lnTo>
                  <a:pt x="261699" y="190500"/>
                </a:lnTo>
                <a:close/>
                <a:moveTo>
                  <a:pt x="304800" y="247650"/>
                </a:moveTo>
                <a:cubicBezTo>
                  <a:pt x="267355" y="247650"/>
                  <a:pt x="236220" y="227409"/>
                  <a:pt x="229791" y="200680"/>
                </a:cubicBezTo>
                <a:cubicBezTo>
                  <a:pt x="228243" y="194131"/>
                  <a:pt x="230386" y="187404"/>
                  <a:pt x="233779" y="181570"/>
                </a:cubicBezTo>
                <a:lnTo>
                  <a:pt x="290453" y="84415"/>
                </a:lnTo>
                <a:cubicBezTo>
                  <a:pt x="293430" y="79296"/>
                  <a:pt x="298906" y="76200"/>
                  <a:pt x="304800" y="76200"/>
                </a:cubicBezTo>
                <a:cubicBezTo>
                  <a:pt x="310694" y="76200"/>
                  <a:pt x="316170" y="79355"/>
                  <a:pt x="319147" y="84415"/>
                </a:cubicBezTo>
                <a:lnTo>
                  <a:pt x="375821" y="181570"/>
                </a:lnTo>
                <a:cubicBezTo>
                  <a:pt x="379214" y="187404"/>
                  <a:pt x="381357" y="194131"/>
                  <a:pt x="379809" y="200680"/>
                </a:cubicBezTo>
                <a:cubicBezTo>
                  <a:pt x="373380" y="227350"/>
                  <a:pt x="342245" y="247650"/>
                  <a:pt x="304800" y="247650"/>
                </a:cubicBezTo>
                <a:close/>
                <a:moveTo>
                  <a:pt x="75486" y="116562"/>
                </a:moveTo>
                <a:lnTo>
                  <a:pt x="32385" y="190500"/>
                </a:lnTo>
                <a:lnTo>
                  <a:pt x="118646" y="190500"/>
                </a:lnTo>
                <a:lnTo>
                  <a:pt x="75486" y="116562"/>
                </a:lnTo>
                <a:close/>
                <a:moveTo>
                  <a:pt x="536" y="200680"/>
                </a:moveTo>
                <a:cubicBezTo>
                  <a:pt x="-1012" y="194131"/>
                  <a:pt x="1131" y="187404"/>
                  <a:pt x="4524" y="181570"/>
                </a:cubicBezTo>
                <a:lnTo>
                  <a:pt x="61198" y="84415"/>
                </a:lnTo>
                <a:cubicBezTo>
                  <a:pt x="64175" y="79296"/>
                  <a:pt x="69652" y="76200"/>
                  <a:pt x="75545" y="76200"/>
                </a:cubicBezTo>
                <a:cubicBezTo>
                  <a:pt x="81439" y="76200"/>
                  <a:pt x="86916" y="79355"/>
                  <a:pt x="89892" y="84415"/>
                </a:cubicBezTo>
                <a:lnTo>
                  <a:pt x="146566" y="181570"/>
                </a:lnTo>
                <a:cubicBezTo>
                  <a:pt x="149959" y="187404"/>
                  <a:pt x="152102" y="194131"/>
                  <a:pt x="150555" y="200680"/>
                </a:cubicBezTo>
                <a:cubicBezTo>
                  <a:pt x="144125" y="227350"/>
                  <a:pt x="112990" y="247650"/>
                  <a:pt x="75545" y="247650"/>
                </a:cubicBezTo>
                <a:cubicBezTo>
                  <a:pt x="38100" y="247650"/>
                  <a:pt x="6965" y="227409"/>
                  <a:pt x="536" y="20068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8" name="Text 26"/>
          <p:cNvSpPr/>
          <p:nvPr/>
        </p:nvSpPr>
        <p:spPr>
          <a:xfrm>
            <a:off x="11328400" y="4191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general choice?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22000" y="46482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3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F5F3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IDDFS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F5F3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most cases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5969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D4943A">
              <a:alpha val="6275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5969000"/>
            <a:ext cx="63500" cy="1778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6800" y="622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" y="6197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REMINDER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66800" y="6654800"/>
            <a:ext cx="14173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single algorithm is best for all problems. Understanding the </a:t>
            </a:r>
            <a:pPr>
              <a:lnSpc>
                <a:spcPct val="160000"/>
              </a:lnSpc>
            </a:pPr>
            <a:r>
              <a:rPr lang="en-US" sz="17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trade-offs</a:t>
            </a:r>
            <a:pPr>
              <a:lnSpc>
                <a:spcPct val="16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between time, space, completeness, and optimality is essential for selecting the right search strategy. Always analyze your problem's characteristics first.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 of Uninformed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76200"/>
                </a:moveTo>
                <a:cubicBezTo>
                  <a:pt x="406400" y="116046"/>
                  <a:pt x="359489" y="175498"/>
                  <a:pt x="339249" y="199231"/>
                </a:cubicBezTo>
                <a:cubicBezTo>
                  <a:pt x="336233" y="202724"/>
                  <a:pt x="331788" y="204073"/>
                  <a:pt x="327739" y="203200"/>
                </a:cubicBezTo>
                <a:lnTo>
                  <a:pt x="254000" y="203200"/>
                </a:lnTo>
                <a:cubicBezTo>
                  <a:pt x="239951" y="203200"/>
                  <a:pt x="228600" y="214551"/>
                  <a:pt x="228600" y="228600"/>
                </a:cubicBezTo>
                <a:cubicBezTo>
                  <a:pt x="228600" y="242649"/>
                  <a:pt x="239951" y="254000"/>
                  <a:pt x="254000" y="254000"/>
                </a:cubicBezTo>
                <a:lnTo>
                  <a:pt x="330200" y="254000"/>
                </a:lnTo>
                <a:cubicBezTo>
                  <a:pt x="372269" y="254000"/>
                  <a:pt x="406400" y="288131"/>
                  <a:pt x="406400" y="330200"/>
                </a:cubicBezTo>
                <a:cubicBezTo>
                  <a:pt x="406400" y="372269"/>
                  <a:pt x="372269" y="406400"/>
                  <a:pt x="330200" y="406400"/>
                </a:cubicBezTo>
                <a:lnTo>
                  <a:pt x="110808" y="406400"/>
                </a:lnTo>
                <a:cubicBezTo>
                  <a:pt x="117713" y="398542"/>
                  <a:pt x="126127" y="388461"/>
                  <a:pt x="134620" y="377190"/>
                </a:cubicBezTo>
                <a:cubicBezTo>
                  <a:pt x="139621" y="370523"/>
                  <a:pt x="144780" y="363220"/>
                  <a:pt x="149701" y="355600"/>
                </a:cubicBezTo>
                <a:lnTo>
                  <a:pt x="330200" y="355600"/>
                </a:lnTo>
                <a:cubicBezTo>
                  <a:pt x="344249" y="355600"/>
                  <a:pt x="355600" y="344249"/>
                  <a:pt x="355600" y="330200"/>
                </a:cubicBezTo>
                <a:cubicBezTo>
                  <a:pt x="355600" y="316151"/>
                  <a:pt x="344249" y="304800"/>
                  <a:pt x="330200" y="304800"/>
                </a:cubicBezTo>
                <a:lnTo>
                  <a:pt x="254000" y="304800"/>
                </a:lnTo>
                <a:cubicBezTo>
                  <a:pt x="211931" y="304800"/>
                  <a:pt x="177800" y="270669"/>
                  <a:pt x="177800" y="228600"/>
                </a:cubicBezTo>
                <a:cubicBezTo>
                  <a:pt x="177800" y="186531"/>
                  <a:pt x="211931" y="152400"/>
                  <a:pt x="254000" y="152400"/>
                </a:cubicBezTo>
                <a:lnTo>
                  <a:pt x="285591" y="152400"/>
                </a:lnTo>
                <a:cubicBezTo>
                  <a:pt x="268923" y="127397"/>
                  <a:pt x="254000" y="98663"/>
                  <a:pt x="254000" y="76200"/>
                </a:cubicBezTo>
                <a:cubicBezTo>
                  <a:pt x="254000" y="34131"/>
                  <a:pt x="288131" y="0"/>
                  <a:pt x="330200" y="0"/>
                </a:cubicBezTo>
                <a:cubicBezTo>
                  <a:pt x="372269" y="0"/>
                  <a:pt x="406400" y="34131"/>
                  <a:pt x="406400" y="76200"/>
                </a:cubicBezTo>
                <a:close/>
                <a:moveTo>
                  <a:pt x="92948" y="388223"/>
                </a:moveTo>
                <a:cubicBezTo>
                  <a:pt x="89932" y="391636"/>
                  <a:pt x="87233" y="394653"/>
                  <a:pt x="84931" y="397193"/>
                </a:cubicBezTo>
                <a:lnTo>
                  <a:pt x="83503" y="398780"/>
                </a:lnTo>
                <a:lnTo>
                  <a:pt x="83344" y="398621"/>
                </a:lnTo>
                <a:cubicBezTo>
                  <a:pt x="78581" y="402273"/>
                  <a:pt x="71755" y="401796"/>
                  <a:pt x="67469" y="397193"/>
                </a:cubicBezTo>
                <a:cubicBezTo>
                  <a:pt x="47466" y="375444"/>
                  <a:pt x="0" y="319484"/>
                  <a:pt x="0" y="279400"/>
                </a:cubicBezTo>
                <a:cubicBezTo>
                  <a:pt x="0" y="237331"/>
                  <a:pt x="34131" y="203200"/>
                  <a:pt x="76200" y="203200"/>
                </a:cubicBezTo>
                <a:cubicBezTo>
                  <a:pt x="118269" y="203200"/>
                  <a:pt x="152400" y="237331"/>
                  <a:pt x="152400" y="279400"/>
                </a:cubicBezTo>
                <a:cubicBezTo>
                  <a:pt x="152400" y="303213"/>
                  <a:pt x="135652" y="332581"/>
                  <a:pt x="117872" y="357108"/>
                </a:cubicBezTo>
                <a:cubicBezTo>
                  <a:pt x="109379" y="368776"/>
                  <a:pt x="100648" y="379333"/>
                  <a:pt x="93424" y="387668"/>
                </a:cubicBezTo>
                <a:lnTo>
                  <a:pt x="92948" y="388223"/>
                </a:lnTo>
                <a:close/>
                <a:moveTo>
                  <a:pt x="101600" y="279400"/>
                </a:moveTo>
                <a:cubicBezTo>
                  <a:pt x="101600" y="265381"/>
                  <a:pt x="90219" y="254000"/>
                  <a:pt x="76200" y="254000"/>
                </a:cubicBezTo>
                <a:cubicBezTo>
                  <a:pt x="62181" y="254000"/>
                  <a:pt x="50800" y="265381"/>
                  <a:pt x="50800" y="279400"/>
                </a:cubicBezTo>
                <a:cubicBezTo>
                  <a:pt x="50800" y="293419"/>
                  <a:pt x="62181" y="304800"/>
                  <a:pt x="76200" y="304800"/>
                </a:cubicBezTo>
                <a:cubicBezTo>
                  <a:pt x="90219" y="304800"/>
                  <a:pt x="101600" y="293419"/>
                  <a:pt x="101600" y="279400"/>
                </a:cubicBezTo>
                <a:close/>
                <a:moveTo>
                  <a:pt x="330200" y="101600"/>
                </a:moveTo>
                <a:cubicBezTo>
                  <a:pt x="344219" y="101600"/>
                  <a:pt x="355600" y="90219"/>
                  <a:pt x="355600" y="76200"/>
                </a:cubicBezTo>
                <a:cubicBezTo>
                  <a:pt x="355600" y="62181"/>
                  <a:pt x="344219" y="50800"/>
                  <a:pt x="330200" y="50800"/>
                </a:cubicBezTo>
                <a:cubicBezTo>
                  <a:pt x="316181" y="50800"/>
                  <a:pt x="304800" y="62181"/>
                  <a:pt x="304800" y="76200"/>
                </a:cubicBezTo>
                <a:cubicBezTo>
                  <a:pt x="304800" y="90219"/>
                  <a:pt x="316181" y="101600"/>
                  <a:pt x="330200" y="101600"/>
                </a:cubicBez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190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Pathfinding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413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routing, robot motion planning, maze solving, autonomous vehicle navigation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6510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77800" y="0"/>
                </a:moveTo>
                <a:cubicBezTo>
                  <a:pt x="205819" y="0"/>
                  <a:pt x="228600" y="17066"/>
                  <a:pt x="228600" y="38100"/>
                </a:cubicBezTo>
                <a:cubicBezTo>
                  <a:pt x="228600" y="46355"/>
                  <a:pt x="225108" y="53975"/>
                  <a:pt x="219075" y="60246"/>
                </a:cubicBezTo>
                <a:cubicBezTo>
                  <a:pt x="213836" y="65723"/>
                  <a:pt x="209550" y="72390"/>
                  <a:pt x="209550" y="80010"/>
                </a:cubicBezTo>
                <a:cubicBezTo>
                  <a:pt x="209550" y="91916"/>
                  <a:pt x="219234" y="101600"/>
                  <a:pt x="231140" y="101600"/>
                </a:cubicBezTo>
                <a:lnTo>
                  <a:pt x="266700" y="101600"/>
                </a:lnTo>
                <a:cubicBezTo>
                  <a:pt x="287734" y="101600"/>
                  <a:pt x="304800" y="118666"/>
                  <a:pt x="304800" y="139700"/>
                </a:cubicBezTo>
                <a:lnTo>
                  <a:pt x="304800" y="175260"/>
                </a:lnTo>
                <a:cubicBezTo>
                  <a:pt x="304800" y="187166"/>
                  <a:pt x="314484" y="196850"/>
                  <a:pt x="326390" y="196850"/>
                </a:cubicBezTo>
                <a:cubicBezTo>
                  <a:pt x="333931" y="196850"/>
                  <a:pt x="340678" y="192564"/>
                  <a:pt x="346154" y="187325"/>
                </a:cubicBezTo>
                <a:cubicBezTo>
                  <a:pt x="352425" y="181372"/>
                  <a:pt x="360045" y="177800"/>
                  <a:pt x="368300" y="177800"/>
                </a:cubicBezTo>
                <a:cubicBezTo>
                  <a:pt x="389334" y="177800"/>
                  <a:pt x="406400" y="200581"/>
                  <a:pt x="406400" y="228600"/>
                </a:cubicBezTo>
                <a:cubicBezTo>
                  <a:pt x="406400" y="256619"/>
                  <a:pt x="389334" y="279400"/>
                  <a:pt x="368300" y="279400"/>
                </a:cubicBezTo>
                <a:cubicBezTo>
                  <a:pt x="360045" y="279400"/>
                  <a:pt x="352346" y="275908"/>
                  <a:pt x="346154" y="269875"/>
                </a:cubicBezTo>
                <a:cubicBezTo>
                  <a:pt x="340678" y="264636"/>
                  <a:pt x="334010" y="260350"/>
                  <a:pt x="326390" y="260350"/>
                </a:cubicBezTo>
                <a:cubicBezTo>
                  <a:pt x="314484" y="260350"/>
                  <a:pt x="304800" y="270034"/>
                  <a:pt x="304800" y="281940"/>
                </a:cubicBezTo>
                <a:lnTo>
                  <a:pt x="304800" y="368300"/>
                </a:lnTo>
                <a:cubicBezTo>
                  <a:pt x="304800" y="389334"/>
                  <a:pt x="287734" y="406400"/>
                  <a:pt x="266700" y="406400"/>
                </a:cubicBezTo>
                <a:lnTo>
                  <a:pt x="221615" y="406400"/>
                </a:lnTo>
                <a:cubicBezTo>
                  <a:pt x="211455" y="406400"/>
                  <a:pt x="203200" y="398145"/>
                  <a:pt x="203200" y="387985"/>
                </a:cubicBezTo>
                <a:cubicBezTo>
                  <a:pt x="203200" y="380683"/>
                  <a:pt x="207804" y="374253"/>
                  <a:pt x="213678" y="369888"/>
                </a:cubicBezTo>
                <a:cubicBezTo>
                  <a:pt x="222885" y="362982"/>
                  <a:pt x="228600" y="353457"/>
                  <a:pt x="228600" y="342900"/>
                </a:cubicBezTo>
                <a:cubicBezTo>
                  <a:pt x="228600" y="321866"/>
                  <a:pt x="205819" y="304800"/>
                  <a:pt x="177800" y="304800"/>
                </a:cubicBezTo>
                <a:cubicBezTo>
                  <a:pt x="149781" y="304800"/>
                  <a:pt x="127000" y="321866"/>
                  <a:pt x="127000" y="342900"/>
                </a:cubicBezTo>
                <a:cubicBezTo>
                  <a:pt x="127000" y="353457"/>
                  <a:pt x="132715" y="362982"/>
                  <a:pt x="141923" y="369888"/>
                </a:cubicBezTo>
                <a:cubicBezTo>
                  <a:pt x="147796" y="374253"/>
                  <a:pt x="152400" y="380603"/>
                  <a:pt x="152400" y="387985"/>
                </a:cubicBezTo>
                <a:cubicBezTo>
                  <a:pt x="152400" y="398145"/>
                  <a:pt x="144145" y="406400"/>
                  <a:pt x="133985" y="406400"/>
                </a:cubicBezTo>
                <a:lnTo>
                  <a:pt x="38100" y="406400"/>
                </a:lnTo>
                <a:cubicBezTo>
                  <a:pt x="17066" y="406400"/>
                  <a:pt x="0" y="389334"/>
                  <a:pt x="0" y="368300"/>
                </a:cubicBezTo>
                <a:lnTo>
                  <a:pt x="0" y="272415"/>
                </a:lnTo>
                <a:cubicBezTo>
                  <a:pt x="0" y="262255"/>
                  <a:pt x="8255" y="254000"/>
                  <a:pt x="18415" y="254000"/>
                </a:cubicBezTo>
                <a:cubicBezTo>
                  <a:pt x="25717" y="254000"/>
                  <a:pt x="32147" y="258604"/>
                  <a:pt x="36513" y="264478"/>
                </a:cubicBezTo>
                <a:cubicBezTo>
                  <a:pt x="43418" y="273685"/>
                  <a:pt x="52943" y="279400"/>
                  <a:pt x="63500" y="279400"/>
                </a:cubicBezTo>
                <a:cubicBezTo>
                  <a:pt x="84534" y="279400"/>
                  <a:pt x="101600" y="256619"/>
                  <a:pt x="101600" y="228600"/>
                </a:cubicBezTo>
                <a:cubicBezTo>
                  <a:pt x="101600" y="200581"/>
                  <a:pt x="84534" y="177800"/>
                  <a:pt x="63500" y="177800"/>
                </a:cubicBezTo>
                <a:cubicBezTo>
                  <a:pt x="52943" y="177800"/>
                  <a:pt x="43418" y="183515"/>
                  <a:pt x="36513" y="192723"/>
                </a:cubicBezTo>
                <a:cubicBezTo>
                  <a:pt x="32147" y="198596"/>
                  <a:pt x="25797" y="203200"/>
                  <a:pt x="18415" y="203200"/>
                </a:cubicBezTo>
                <a:cubicBezTo>
                  <a:pt x="8255" y="203200"/>
                  <a:pt x="0" y="194945"/>
                  <a:pt x="0" y="184785"/>
                </a:cubicBezTo>
                <a:lnTo>
                  <a:pt x="0" y="139700"/>
                </a:lnTo>
                <a:cubicBezTo>
                  <a:pt x="0" y="118666"/>
                  <a:pt x="17066" y="101600"/>
                  <a:pt x="38100" y="101600"/>
                </a:cubicBezTo>
                <a:lnTo>
                  <a:pt x="124460" y="101600"/>
                </a:lnTo>
                <a:cubicBezTo>
                  <a:pt x="136366" y="101600"/>
                  <a:pt x="146050" y="91916"/>
                  <a:pt x="146050" y="80010"/>
                </a:cubicBezTo>
                <a:cubicBezTo>
                  <a:pt x="146050" y="72469"/>
                  <a:pt x="141764" y="65723"/>
                  <a:pt x="136525" y="60246"/>
                </a:cubicBezTo>
                <a:cubicBezTo>
                  <a:pt x="130572" y="53975"/>
                  <a:pt x="127000" y="46355"/>
                  <a:pt x="127000" y="38100"/>
                </a:cubicBezTo>
                <a:cubicBezTo>
                  <a:pt x="127000" y="17066"/>
                  <a:pt x="149781" y="0"/>
                  <a:pt x="177800" y="0"/>
                </a:cubicBez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11" name="Text 9"/>
          <p:cNvSpPr/>
          <p:nvPr/>
        </p:nvSpPr>
        <p:spPr>
          <a:xfrm>
            <a:off x="6502400" y="190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Puzzle Solving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413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8-puzzle, Rubik's cube, Sudoku, crossword puzzles, sliding tile puzzles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0" y="1651000"/>
            <a:ext cx="4826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22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33350" y="44450"/>
                </a:moveTo>
                <a:lnTo>
                  <a:pt x="133350" y="76200"/>
                </a:lnTo>
                <a:lnTo>
                  <a:pt x="71358" y="76200"/>
                </a:lnTo>
                <a:cubicBezTo>
                  <a:pt x="60008" y="76200"/>
                  <a:pt x="50800" y="85408"/>
                  <a:pt x="50800" y="96758"/>
                </a:cubicBezTo>
                <a:cubicBezTo>
                  <a:pt x="50800" y="99933"/>
                  <a:pt x="51514" y="103108"/>
                  <a:pt x="52943" y="105966"/>
                </a:cubicBezTo>
                <a:lnTo>
                  <a:pt x="79454" y="158988"/>
                </a:lnTo>
                <a:cubicBezTo>
                  <a:pt x="70406" y="160417"/>
                  <a:pt x="63421" y="168275"/>
                  <a:pt x="63421" y="177800"/>
                </a:cubicBezTo>
                <a:cubicBezTo>
                  <a:pt x="63421" y="188357"/>
                  <a:pt x="71914" y="196850"/>
                  <a:pt x="82471" y="196850"/>
                </a:cubicBezTo>
                <a:lnTo>
                  <a:pt x="86916" y="196850"/>
                </a:lnTo>
                <a:lnTo>
                  <a:pt x="76121" y="304800"/>
                </a:lnTo>
                <a:lnTo>
                  <a:pt x="31512" y="360601"/>
                </a:lnTo>
                <a:cubicBezTo>
                  <a:pt x="27543" y="365601"/>
                  <a:pt x="25321" y="371793"/>
                  <a:pt x="25321" y="378222"/>
                </a:cubicBezTo>
                <a:cubicBezTo>
                  <a:pt x="25321" y="393779"/>
                  <a:pt x="37941" y="406400"/>
                  <a:pt x="53499" y="406400"/>
                </a:cubicBezTo>
                <a:lnTo>
                  <a:pt x="251063" y="406400"/>
                </a:lnTo>
                <a:cubicBezTo>
                  <a:pt x="266621" y="406400"/>
                  <a:pt x="279241" y="393779"/>
                  <a:pt x="279241" y="378222"/>
                </a:cubicBezTo>
                <a:cubicBezTo>
                  <a:pt x="279241" y="371793"/>
                  <a:pt x="277098" y="365601"/>
                  <a:pt x="273050" y="360601"/>
                </a:cubicBezTo>
                <a:lnTo>
                  <a:pt x="228600" y="304800"/>
                </a:lnTo>
                <a:lnTo>
                  <a:pt x="217805" y="196850"/>
                </a:lnTo>
                <a:lnTo>
                  <a:pt x="222250" y="196850"/>
                </a:lnTo>
                <a:cubicBezTo>
                  <a:pt x="232807" y="196850"/>
                  <a:pt x="241300" y="188357"/>
                  <a:pt x="241300" y="177800"/>
                </a:cubicBezTo>
                <a:cubicBezTo>
                  <a:pt x="241300" y="168354"/>
                  <a:pt x="234394" y="160417"/>
                  <a:pt x="225266" y="158988"/>
                </a:cubicBezTo>
                <a:lnTo>
                  <a:pt x="251777" y="105966"/>
                </a:lnTo>
                <a:cubicBezTo>
                  <a:pt x="253206" y="103108"/>
                  <a:pt x="253921" y="99933"/>
                  <a:pt x="253921" y="96758"/>
                </a:cubicBezTo>
                <a:cubicBezTo>
                  <a:pt x="253921" y="85408"/>
                  <a:pt x="244713" y="76200"/>
                  <a:pt x="233362" y="76200"/>
                </a:cubicBezTo>
                <a:lnTo>
                  <a:pt x="171371" y="76200"/>
                </a:lnTo>
                <a:lnTo>
                  <a:pt x="171371" y="44450"/>
                </a:lnTo>
                <a:lnTo>
                  <a:pt x="184071" y="44450"/>
                </a:lnTo>
                <a:cubicBezTo>
                  <a:pt x="194628" y="44450"/>
                  <a:pt x="203121" y="35957"/>
                  <a:pt x="203121" y="25400"/>
                </a:cubicBezTo>
                <a:cubicBezTo>
                  <a:pt x="203121" y="14843"/>
                  <a:pt x="194707" y="6350"/>
                  <a:pt x="184150" y="6350"/>
                </a:cubicBezTo>
                <a:lnTo>
                  <a:pt x="171450" y="6350"/>
                </a:lnTo>
                <a:lnTo>
                  <a:pt x="171450" y="-6350"/>
                </a:lnTo>
                <a:cubicBezTo>
                  <a:pt x="171450" y="-16907"/>
                  <a:pt x="162957" y="-25400"/>
                  <a:pt x="152400" y="-25400"/>
                </a:cubicBezTo>
                <a:cubicBezTo>
                  <a:pt x="141843" y="-25400"/>
                  <a:pt x="133350" y="-16907"/>
                  <a:pt x="133350" y="-6350"/>
                </a:cubicBezTo>
                <a:lnTo>
                  <a:pt x="133350" y="6350"/>
                </a:lnTo>
                <a:lnTo>
                  <a:pt x="120650" y="6350"/>
                </a:lnTo>
                <a:cubicBezTo>
                  <a:pt x="110093" y="6350"/>
                  <a:pt x="101600" y="14843"/>
                  <a:pt x="101600" y="25400"/>
                </a:cubicBezTo>
                <a:cubicBezTo>
                  <a:pt x="101600" y="35957"/>
                  <a:pt x="110093" y="44450"/>
                  <a:pt x="120650" y="44450"/>
                </a:cubicBezTo>
                <a:lnTo>
                  <a:pt x="133350" y="44450"/>
                </a:lnTo>
                <a:close/>
                <a:moveTo>
                  <a:pt x="258604" y="221933"/>
                </a:moveTo>
                <a:lnTo>
                  <a:pt x="265351" y="289798"/>
                </a:lnTo>
                <a:lnTo>
                  <a:pt x="302974" y="336788"/>
                </a:lnTo>
                <a:lnTo>
                  <a:pt x="306308" y="341313"/>
                </a:lnTo>
                <a:cubicBezTo>
                  <a:pt x="313611" y="352187"/>
                  <a:pt x="317500" y="365046"/>
                  <a:pt x="317500" y="378222"/>
                </a:cubicBezTo>
                <a:cubicBezTo>
                  <a:pt x="317500" y="388303"/>
                  <a:pt x="315278" y="397907"/>
                  <a:pt x="311229" y="406400"/>
                </a:cubicBezTo>
                <a:lnTo>
                  <a:pt x="377190" y="406400"/>
                </a:lnTo>
                <a:cubicBezTo>
                  <a:pt x="393303" y="406400"/>
                  <a:pt x="406400" y="393303"/>
                  <a:pt x="406400" y="377190"/>
                </a:cubicBezTo>
                <a:cubicBezTo>
                  <a:pt x="406400" y="371396"/>
                  <a:pt x="404654" y="365760"/>
                  <a:pt x="401479" y="360998"/>
                </a:cubicBezTo>
                <a:lnTo>
                  <a:pt x="381000" y="330279"/>
                </a:lnTo>
                <a:lnTo>
                  <a:pt x="381000" y="279479"/>
                </a:lnTo>
                <a:lnTo>
                  <a:pt x="391557" y="268923"/>
                </a:lnTo>
                <a:cubicBezTo>
                  <a:pt x="401082" y="259398"/>
                  <a:pt x="406400" y="246459"/>
                  <a:pt x="406400" y="232966"/>
                </a:cubicBezTo>
                <a:lnTo>
                  <a:pt x="406400" y="152400"/>
                </a:lnTo>
                <a:cubicBezTo>
                  <a:pt x="406400" y="138351"/>
                  <a:pt x="395049" y="127000"/>
                  <a:pt x="381000" y="127000"/>
                </a:cubicBezTo>
                <a:cubicBezTo>
                  <a:pt x="366951" y="127000"/>
                  <a:pt x="355600" y="138351"/>
                  <a:pt x="355600" y="152400"/>
                </a:cubicBezTo>
                <a:lnTo>
                  <a:pt x="355600" y="165100"/>
                </a:lnTo>
                <a:lnTo>
                  <a:pt x="330200" y="165100"/>
                </a:lnTo>
                <a:lnTo>
                  <a:pt x="330200" y="152400"/>
                </a:lnTo>
                <a:cubicBezTo>
                  <a:pt x="330200" y="138351"/>
                  <a:pt x="318849" y="127000"/>
                  <a:pt x="304800" y="127000"/>
                </a:cubicBezTo>
                <a:cubicBezTo>
                  <a:pt x="290751" y="127000"/>
                  <a:pt x="279400" y="138351"/>
                  <a:pt x="279400" y="152400"/>
                </a:cubicBezTo>
                <a:lnTo>
                  <a:pt x="279400" y="177800"/>
                </a:lnTo>
                <a:cubicBezTo>
                  <a:pt x="279400" y="195580"/>
                  <a:pt x="271304" y="211455"/>
                  <a:pt x="258604" y="221933"/>
                </a:cubicBez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15" name="Text 13"/>
          <p:cNvSpPr/>
          <p:nvPr/>
        </p:nvSpPr>
        <p:spPr>
          <a:xfrm>
            <a:off x="11455400" y="190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Game Playing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22000" y="2413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Chess, Go, tic-tac-toe game tree exploration, minimax algorithm foundation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39878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424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93132" y="-24606"/>
                </a:moveTo>
                <a:cubicBezTo>
                  <a:pt x="302578" y="-27384"/>
                  <a:pt x="312499" y="-22463"/>
                  <a:pt x="316151" y="-13573"/>
                </a:cubicBezTo>
                <a:lnTo>
                  <a:pt x="316786" y="-11748"/>
                </a:lnTo>
                <a:lnTo>
                  <a:pt x="348536" y="96203"/>
                </a:lnTo>
                <a:cubicBezTo>
                  <a:pt x="350520" y="102870"/>
                  <a:pt x="348615" y="110093"/>
                  <a:pt x="343694" y="115014"/>
                </a:cubicBezTo>
                <a:lnTo>
                  <a:pt x="292814" y="165894"/>
                </a:lnTo>
                <a:lnTo>
                  <a:pt x="353457" y="149384"/>
                </a:lnTo>
                <a:lnTo>
                  <a:pt x="369252" y="101917"/>
                </a:lnTo>
                <a:lnTo>
                  <a:pt x="369967" y="100092"/>
                </a:lnTo>
                <a:cubicBezTo>
                  <a:pt x="373936" y="91281"/>
                  <a:pt x="384016" y="86757"/>
                  <a:pt x="393382" y="89852"/>
                </a:cubicBezTo>
                <a:cubicBezTo>
                  <a:pt x="402749" y="92948"/>
                  <a:pt x="408067" y="102632"/>
                  <a:pt x="405924" y="112078"/>
                </a:cubicBezTo>
                <a:lnTo>
                  <a:pt x="405368" y="113983"/>
                </a:lnTo>
                <a:lnTo>
                  <a:pt x="386318" y="171133"/>
                </a:lnTo>
                <a:cubicBezTo>
                  <a:pt x="384334" y="177165"/>
                  <a:pt x="379413" y="181769"/>
                  <a:pt x="373221" y="183515"/>
                </a:cubicBezTo>
                <a:lnTo>
                  <a:pt x="300911" y="203200"/>
                </a:lnTo>
                <a:lnTo>
                  <a:pt x="373221" y="222885"/>
                </a:lnTo>
                <a:cubicBezTo>
                  <a:pt x="379333" y="224552"/>
                  <a:pt x="384254" y="229235"/>
                  <a:pt x="386318" y="235268"/>
                </a:cubicBezTo>
                <a:lnTo>
                  <a:pt x="405368" y="292418"/>
                </a:lnTo>
                <a:lnTo>
                  <a:pt x="405924" y="294323"/>
                </a:lnTo>
                <a:cubicBezTo>
                  <a:pt x="408067" y="303768"/>
                  <a:pt x="402669" y="313452"/>
                  <a:pt x="393382" y="316548"/>
                </a:cubicBezTo>
                <a:cubicBezTo>
                  <a:pt x="384016" y="319643"/>
                  <a:pt x="373936" y="315119"/>
                  <a:pt x="369967" y="306308"/>
                </a:cubicBezTo>
                <a:lnTo>
                  <a:pt x="369252" y="304483"/>
                </a:lnTo>
                <a:lnTo>
                  <a:pt x="353457" y="257016"/>
                </a:lnTo>
                <a:lnTo>
                  <a:pt x="292814" y="240506"/>
                </a:lnTo>
                <a:lnTo>
                  <a:pt x="343694" y="291386"/>
                </a:lnTo>
                <a:cubicBezTo>
                  <a:pt x="348536" y="296228"/>
                  <a:pt x="350441" y="303371"/>
                  <a:pt x="348615" y="309959"/>
                </a:cubicBezTo>
                <a:lnTo>
                  <a:pt x="316865" y="424259"/>
                </a:lnTo>
                <a:lnTo>
                  <a:pt x="316230" y="426085"/>
                </a:lnTo>
                <a:cubicBezTo>
                  <a:pt x="312738" y="435054"/>
                  <a:pt x="302895" y="440134"/>
                  <a:pt x="293370" y="437515"/>
                </a:cubicBezTo>
                <a:cubicBezTo>
                  <a:pt x="283845" y="434896"/>
                  <a:pt x="278051" y="425450"/>
                  <a:pt x="279717" y="415925"/>
                </a:cubicBezTo>
                <a:lnTo>
                  <a:pt x="280114" y="414020"/>
                </a:lnTo>
                <a:lnTo>
                  <a:pt x="308848" y="310436"/>
                </a:lnTo>
                <a:lnTo>
                  <a:pt x="279321" y="280908"/>
                </a:lnTo>
                <a:cubicBezTo>
                  <a:pt x="278606" y="322263"/>
                  <a:pt x="244793" y="355600"/>
                  <a:pt x="203200" y="355600"/>
                </a:cubicBezTo>
                <a:cubicBezTo>
                  <a:pt x="161608" y="355600"/>
                  <a:pt x="127794" y="322263"/>
                  <a:pt x="127000" y="280908"/>
                </a:cubicBezTo>
                <a:lnTo>
                  <a:pt x="97631" y="310277"/>
                </a:lnTo>
                <a:lnTo>
                  <a:pt x="126206" y="407352"/>
                </a:lnTo>
                <a:lnTo>
                  <a:pt x="126683" y="409257"/>
                </a:lnTo>
                <a:cubicBezTo>
                  <a:pt x="128429" y="418703"/>
                  <a:pt x="122793" y="428228"/>
                  <a:pt x="113347" y="431006"/>
                </a:cubicBezTo>
                <a:cubicBezTo>
                  <a:pt x="103902" y="433784"/>
                  <a:pt x="93980" y="428863"/>
                  <a:pt x="90329" y="419973"/>
                </a:cubicBezTo>
                <a:lnTo>
                  <a:pt x="89694" y="418148"/>
                </a:lnTo>
                <a:lnTo>
                  <a:pt x="57944" y="310197"/>
                </a:lnTo>
                <a:cubicBezTo>
                  <a:pt x="55959" y="303530"/>
                  <a:pt x="57864" y="296307"/>
                  <a:pt x="62786" y="291306"/>
                </a:cubicBezTo>
                <a:lnTo>
                  <a:pt x="113665" y="240427"/>
                </a:lnTo>
                <a:lnTo>
                  <a:pt x="53022" y="256937"/>
                </a:lnTo>
                <a:lnTo>
                  <a:pt x="37227" y="304403"/>
                </a:lnTo>
                <a:lnTo>
                  <a:pt x="36512" y="306229"/>
                </a:lnTo>
                <a:cubicBezTo>
                  <a:pt x="32544" y="315039"/>
                  <a:pt x="22463" y="319564"/>
                  <a:pt x="13097" y="316468"/>
                </a:cubicBezTo>
                <a:cubicBezTo>
                  <a:pt x="3731" y="313372"/>
                  <a:pt x="-1588" y="303689"/>
                  <a:pt x="556" y="294243"/>
                </a:cubicBezTo>
                <a:lnTo>
                  <a:pt x="1111" y="292338"/>
                </a:lnTo>
                <a:lnTo>
                  <a:pt x="20161" y="235188"/>
                </a:lnTo>
                <a:cubicBezTo>
                  <a:pt x="22146" y="229156"/>
                  <a:pt x="27067" y="224552"/>
                  <a:pt x="33258" y="222806"/>
                </a:cubicBezTo>
                <a:lnTo>
                  <a:pt x="105569" y="203121"/>
                </a:lnTo>
                <a:lnTo>
                  <a:pt x="33258" y="183436"/>
                </a:lnTo>
                <a:cubicBezTo>
                  <a:pt x="27146" y="181769"/>
                  <a:pt x="22225" y="177086"/>
                  <a:pt x="20161" y="171053"/>
                </a:cubicBezTo>
                <a:lnTo>
                  <a:pt x="1111" y="113903"/>
                </a:lnTo>
                <a:lnTo>
                  <a:pt x="556" y="111998"/>
                </a:lnTo>
                <a:cubicBezTo>
                  <a:pt x="-1588" y="102552"/>
                  <a:pt x="3810" y="92869"/>
                  <a:pt x="13097" y="89773"/>
                </a:cubicBezTo>
                <a:cubicBezTo>
                  <a:pt x="22384" y="86677"/>
                  <a:pt x="32544" y="91202"/>
                  <a:pt x="36512" y="100012"/>
                </a:cubicBezTo>
                <a:lnTo>
                  <a:pt x="37227" y="101838"/>
                </a:lnTo>
                <a:lnTo>
                  <a:pt x="53022" y="149304"/>
                </a:lnTo>
                <a:lnTo>
                  <a:pt x="113665" y="165814"/>
                </a:lnTo>
                <a:lnTo>
                  <a:pt x="62786" y="114935"/>
                </a:lnTo>
                <a:cubicBezTo>
                  <a:pt x="57864" y="110014"/>
                  <a:pt x="56039" y="102791"/>
                  <a:pt x="57944" y="96123"/>
                </a:cubicBezTo>
                <a:lnTo>
                  <a:pt x="89694" y="-11827"/>
                </a:lnTo>
                <a:lnTo>
                  <a:pt x="90329" y="-13653"/>
                </a:lnTo>
                <a:cubicBezTo>
                  <a:pt x="93980" y="-22622"/>
                  <a:pt x="103902" y="-27464"/>
                  <a:pt x="113348" y="-24686"/>
                </a:cubicBezTo>
                <a:cubicBezTo>
                  <a:pt x="122793" y="-21908"/>
                  <a:pt x="128429" y="-12383"/>
                  <a:pt x="126683" y="-2937"/>
                </a:cubicBezTo>
                <a:lnTo>
                  <a:pt x="126206" y="-1032"/>
                </a:lnTo>
                <a:lnTo>
                  <a:pt x="97631" y="96044"/>
                </a:lnTo>
                <a:lnTo>
                  <a:pt x="139700" y="138112"/>
                </a:lnTo>
                <a:cubicBezTo>
                  <a:pt x="140494" y="103743"/>
                  <a:pt x="168593" y="76121"/>
                  <a:pt x="203121" y="76121"/>
                </a:cubicBezTo>
                <a:cubicBezTo>
                  <a:pt x="237649" y="76121"/>
                  <a:pt x="265748" y="103743"/>
                  <a:pt x="266541" y="138192"/>
                </a:cubicBezTo>
                <a:lnTo>
                  <a:pt x="308689" y="96044"/>
                </a:lnTo>
                <a:lnTo>
                  <a:pt x="280114" y="-1032"/>
                </a:lnTo>
                <a:lnTo>
                  <a:pt x="279638" y="-2937"/>
                </a:lnTo>
                <a:cubicBezTo>
                  <a:pt x="277892" y="-12462"/>
                  <a:pt x="283528" y="-21908"/>
                  <a:pt x="292973" y="-24686"/>
                </a:cubicBez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19" name="Text 17"/>
          <p:cNvSpPr/>
          <p:nvPr/>
        </p:nvSpPr>
        <p:spPr>
          <a:xfrm>
            <a:off x="1549400" y="42418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Crawling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47498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exploration of web pages, link traversal, site mapping (BFS-style)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715000" y="3987800"/>
            <a:ext cx="4699000" cy="2032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42418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96850" y="69850"/>
                </a:moveTo>
                <a:lnTo>
                  <a:pt x="260350" y="69850"/>
                </a:lnTo>
                <a:lnTo>
                  <a:pt x="260350" y="107950"/>
                </a:lnTo>
                <a:lnTo>
                  <a:pt x="196850" y="107950"/>
                </a:lnTo>
                <a:lnTo>
                  <a:pt x="196850" y="69850"/>
                </a:lnTo>
                <a:close/>
                <a:moveTo>
                  <a:pt x="190500" y="25400"/>
                </a:moveTo>
                <a:cubicBezTo>
                  <a:pt x="169466" y="25400"/>
                  <a:pt x="152400" y="42466"/>
                  <a:pt x="152400" y="63500"/>
                </a:cubicBezTo>
                <a:lnTo>
                  <a:pt x="152400" y="114300"/>
                </a:lnTo>
                <a:cubicBezTo>
                  <a:pt x="152400" y="135334"/>
                  <a:pt x="169466" y="152400"/>
                  <a:pt x="190500" y="152400"/>
                </a:cubicBezTo>
                <a:lnTo>
                  <a:pt x="203200" y="152400"/>
                </a:lnTo>
                <a:lnTo>
                  <a:pt x="203200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101600" y="228600"/>
                </a:lnTo>
                <a:lnTo>
                  <a:pt x="101600" y="254000"/>
                </a:lnTo>
                <a:lnTo>
                  <a:pt x="88900" y="254000"/>
                </a:lnTo>
                <a:cubicBezTo>
                  <a:pt x="67866" y="254000"/>
                  <a:pt x="50800" y="271066"/>
                  <a:pt x="50800" y="292100"/>
                </a:cubicBezTo>
                <a:lnTo>
                  <a:pt x="50800" y="342900"/>
                </a:lnTo>
                <a:cubicBezTo>
                  <a:pt x="50800" y="363934"/>
                  <a:pt x="67866" y="381000"/>
                  <a:pt x="88900" y="381000"/>
                </a:cubicBezTo>
                <a:lnTo>
                  <a:pt x="165100" y="381000"/>
                </a:lnTo>
                <a:cubicBezTo>
                  <a:pt x="186134" y="381000"/>
                  <a:pt x="203200" y="363934"/>
                  <a:pt x="203200" y="342900"/>
                </a:cubicBezTo>
                <a:lnTo>
                  <a:pt x="203200" y="292100"/>
                </a:lnTo>
                <a:cubicBezTo>
                  <a:pt x="203200" y="271066"/>
                  <a:pt x="186134" y="254000"/>
                  <a:pt x="165100" y="254000"/>
                </a:cubicBezTo>
                <a:lnTo>
                  <a:pt x="152400" y="254000"/>
                </a:lnTo>
                <a:lnTo>
                  <a:pt x="152400" y="228600"/>
                </a:lnTo>
                <a:lnTo>
                  <a:pt x="304800" y="228600"/>
                </a:lnTo>
                <a:lnTo>
                  <a:pt x="304800" y="254000"/>
                </a:lnTo>
                <a:lnTo>
                  <a:pt x="292100" y="254000"/>
                </a:lnTo>
                <a:cubicBezTo>
                  <a:pt x="271066" y="254000"/>
                  <a:pt x="254000" y="271066"/>
                  <a:pt x="254000" y="292100"/>
                </a:cubicBezTo>
                <a:lnTo>
                  <a:pt x="254000" y="342900"/>
                </a:lnTo>
                <a:cubicBezTo>
                  <a:pt x="254000" y="363934"/>
                  <a:pt x="271066" y="381000"/>
                  <a:pt x="292100" y="381000"/>
                </a:cubicBezTo>
                <a:lnTo>
                  <a:pt x="368300" y="381000"/>
                </a:lnTo>
                <a:cubicBezTo>
                  <a:pt x="389334" y="381000"/>
                  <a:pt x="406400" y="363934"/>
                  <a:pt x="406400" y="342900"/>
                </a:cubicBezTo>
                <a:lnTo>
                  <a:pt x="406400" y="292100"/>
                </a:lnTo>
                <a:cubicBezTo>
                  <a:pt x="406400" y="271066"/>
                  <a:pt x="389334" y="254000"/>
                  <a:pt x="368300" y="254000"/>
                </a:cubicBezTo>
                <a:lnTo>
                  <a:pt x="355600" y="254000"/>
                </a:lnTo>
                <a:lnTo>
                  <a:pt x="355600" y="228600"/>
                </a:lnTo>
                <a:lnTo>
                  <a:pt x="431800" y="228600"/>
                </a:lnTo>
                <a:cubicBezTo>
                  <a:pt x="445849" y="228600"/>
                  <a:pt x="457200" y="217249"/>
                  <a:pt x="457200" y="203200"/>
                </a:cubicBezTo>
                <a:cubicBezTo>
                  <a:pt x="457200" y="189151"/>
                  <a:pt x="445849" y="177800"/>
                  <a:pt x="431800" y="177800"/>
                </a:cubicBezTo>
                <a:lnTo>
                  <a:pt x="254000" y="177800"/>
                </a:lnTo>
                <a:lnTo>
                  <a:pt x="254000" y="152400"/>
                </a:lnTo>
                <a:lnTo>
                  <a:pt x="266700" y="152400"/>
                </a:lnTo>
                <a:cubicBezTo>
                  <a:pt x="287734" y="152400"/>
                  <a:pt x="304800" y="135334"/>
                  <a:pt x="304800" y="114300"/>
                </a:cubicBezTo>
                <a:lnTo>
                  <a:pt x="304800" y="63500"/>
                </a:lnTo>
                <a:cubicBezTo>
                  <a:pt x="304800" y="42466"/>
                  <a:pt x="287734" y="25400"/>
                  <a:pt x="266700" y="25400"/>
                </a:cubicBezTo>
                <a:lnTo>
                  <a:pt x="190500" y="25400"/>
                </a:lnTo>
                <a:close/>
                <a:moveTo>
                  <a:pt x="355600" y="298450"/>
                </a:moveTo>
                <a:lnTo>
                  <a:pt x="361950" y="298450"/>
                </a:lnTo>
                <a:lnTo>
                  <a:pt x="361950" y="336550"/>
                </a:lnTo>
                <a:lnTo>
                  <a:pt x="298450" y="336550"/>
                </a:lnTo>
                <a:lnTo>
                  <a:pt x="298450" y="298450"/>
                </a:lnTo>
                <a:lnTo>
                  <a:pt x="355600" y="298450"/>
                </a:lnTo>
                <a:close/>
                <a:moveTo>
                  <a:pt x="152400" y="298450"/>
                </a:moveTo>
                <a:lnTo>
                  <a:pt x="158750" y="298450"/>
                </a:lnTo>
                <a:lnTo>
                  <a:pt x="158750" y="336550"/>
                </a:lnTo>
                <a:lnTo>
                  <a:pt x="95250" y="336550"/>
                </a:lnTo>
                <a:lnTo>
                  <a:pt x="95250" y="298450"/>
                </a:lnTo>
                <a:lnTo>
                  <a:pt x="152400" y="298450"/>
                </a:lnTo>
                <a:close/>
              </a:path>
            </a:pathLst>
          </a:custGeom>
          <a:solidFill>
            <a:srgbClr val="0D4A42"/>
          </a:solidFill>
          <a:ln/>
        </p:spPr>
      </p:sp>
      <p:sp>
        <p:nvSpPr>
          <p:cNvPr id="23" name="Text 21"/>
          <p:cNvSpPr/>
          <p:nvPr/>
        </p:nvSpPr>
        <p:spPr>
          <a:xfrm>
            <a:off x="6502400" y="42418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Routing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0" y="47498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Finding least-cost paths in communication networks, packet routing (UCS)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668000" y="3987800"/>
            <a:ext cx="4826000" cy="2032000"/>
          </a:xfrm>
          <a:prstGeom prst="roundRect">
            <a:avLst>
              <a:gd name="adj" fmla="val 5000"/>
            </a:avLst>
          </a:prstGeom>
          <a:solidFill>
            <a:srgbClr val="0D4A4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922000" y="4241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11455400" y="42418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Space Missions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22000" y="47498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5F3E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deepening variants used for spacecraft trajectory optimization and planning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64770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D4943A">
              <a:alpha val="6275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6477000"/>
            <a:ext cx="63500" cy="12700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31" name="Text 29"/>
          <p:cNvSpPr/>
          <p:nvPr/>
        </p:nvSpPr>
        <p:spPr>
          <a:xfrm>
            <a:off x="1066800" y="6731000"/>
            <a:ext cx="1417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D494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Insight: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These fundamental search strategies power countless real-world AI systems. Understanding trade-offs is essential for efficient agents.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2 Summary: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7018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701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510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 in AI =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systematic search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 state space from initial state to goal state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4638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463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4130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components define a search problem: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State, Actions, Transition Model, Goal Test, Path Cost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32258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225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1750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Uninformed search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uses no domain knowledge — explores systematically with BFS, DFS, and variants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9878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3987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39370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Complete, optimal (uniform cost), but memory-intensive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</a:t>
            </a:r>
            <a:pPr>
              <a:lnSpc>
                <a:spcPct val="150000"/>
              </a:lnSpc>
            </a:pPr>
            <a:r>
              <a:rPr lang="en-US" sz="1800" b="1" baseline="300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7498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749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6990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Memory-efficient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O(bm)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but not complete or optimal in general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5118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511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4610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Trade-offs exist between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time, space, completeness,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optimality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free lunch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273800"/>
            <a:ext cx="457200" cy="4572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62738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6223000"/>
            <a:ext cx="1412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IDDFS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offers the best of both: BFS completeness + DFS memory efficiency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162800"/>
            <a:ext cx="14732000" cy="635000"/>
          </a:xfrm>
          <a:prstGeom prst="roundRect">
            <a:avLst>
              <a:gd name="adj" fmla="val 3000"/>
            </a:avLst>
          </a:prstGeom>
          <a:solidFill>
            <a:srgbClr val="0D4A42"/>
          </a:solidFill>
          <a:ln/>
        </p:spPr>
      </p:sp>
      <p:sp>
        <p:nvSpPr>
          <p:cNvPr id="27" name="Text 25"/>
          <p:cNvSpPr/>
          <p:nvPr/>
        </p:nvSpPr>
        <p:spPr>
          <a:xfrm>
            <a:off x="1066800" y="7162800"/>
            <a:ext cx="14122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Week: Informed Search Strategies</a:t>
            </a:r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A*, Greedy Best-First, Heuristics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— Week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62000" y="7112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&amp; Discussion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20800"/>
            <a:ext cx="635000" cy="381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651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6" name="Shape 4"/>
          <p:cNvSpPr/>
          <p:nvPr/>
        </p:nvSpPr>
        <p:spPr>
          <a:xfrm>
            <a:off x="965200" y="1854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1854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1828800"/>
            <a:ext cx="614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are the five components of a well-defined search problem? Provide an example.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651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0" name="Shape 8"/>
          <p:cNvSpPr/>
          <p:nvPr/>
        </p:nvSpPr>
        <p:spPr>
          <a:xfrm>
            <a:off x="8585200" y="1854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1" name="Text 9"/>
          <p:cNvSpPr/>
          <p:nvPr/>
        </p:nvSpPr>
        <p:spPr>
          <a:xfrm>
            <a:off x="8585200" y="1854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18600" y="1828800"/>
            <a:ext cx="614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is BFS called "complete" but DFS is not (in infinite spaces)?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175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200" y="3378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3378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" y="3352800"/>
            <a:ext cx="614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is the main advantage of DFS over BFS? What is the main disadvantage?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175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18" name="Shape 16"/>
          <p:cNvSpPr/>
          <p:nvPr/>
        </p:nvSpPr>
        <p:spPr>
          <a:xfrm>
            <a:off x="8585200" y="3378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19" name="Text 17"/>
          <p:cNvSpPr/>
          <p:nvPr/>
        </p:nvSpPr>
        <p:spPr>
          <a:xfrm>
            <a:off x="8585200" y="3378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18600" y="3352800"/>
            <a:ext cx="614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would you choose IDDFS over BFS? Explain your reasoning.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4699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8E4DD"/>
          </a:solidFill>
          <a:ln/>
        </p:spPr>
      </p:sp>
      <p:sp>
        <p:nvSpPr>
          <p:cNvPr id="22" name="Shape 20"/>
          <p:cNvSpPr/>
          <p:nvPr/>
        </p:nvSpPr>
        <p:spPr>
          <a:xfrm>
            <a:off x="965200" y="4902200"/>
            <a:ext cx="406400" cy="406400"/>
          </a:xfrm>
          <a:prstGeom prst="ellipse">
            <a:avLst/>
          </a:prstGeom>
          <a:solidFill>
            <a:srgbClr val="D4943A"/>
          </a:solidFill>
          <a:ln/>
        </p:spPr>
      </p:sp>
      <p:sp>
        <p:nvSpPr>
          <p:cNvPr id="23" name="Text 21"/>
          <p:cNvSpPr/>
          <p:nvPr/>
        </p:nvSpPr>
        <p:spPr>
          <a:xfrm>
            <a:off x="965200" y="4902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" y="4876800"/>
            <a:ext cx="614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the time and space complexity of BFS and DFS. When does each perform better?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4699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0D4A42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0" y="495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D4943A"/>
          </a:solidFill>
          <a:ln/>
        </p:spPr>
      </p:sp>
      <p:sp>
        <p:nvSpPr>
          <p:cNvPr id="27" name="Text 25"/>
          <p:cNvSpPr/>
          <p:nvPr/>
        </p:nvSpPr>
        <p:spPr>
          <a:xfrm>
            <a:off x="9169400" y="4927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ABOUT 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0" y="5384800"/>
            <a:ext cx="650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F3E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what real-world scenario would BFS outperform DFS? Vice versa?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647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D4A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Exercise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934200"/>
            <a:ext cx="14732000" cy="25400"/>
          </a:xfrm>
          <a:prstGeom prst="rect">
            <a:avLst/>
          </a:prstGeom>
          <a:solidFill>
            <a:srgbClr val="D5D0C8"/>
          </a:solidFill>
          <a:ln/>
        </p:spPr>
      </p:sp>
      <p:sp>
        <p:nvSpPr>
          <p:cNvPr id="31" name="Shape 29"/>
          <p:cNvSpPr/>
          <p:nvPr/>
        </p:nvSpPr>
        <p:spPr>
          <a:xfrm>
            <a:off x="762000" y="71628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E8E4DD"/>
          </a:solidFill>
          <a:ln/>
        </p:spPr>
      </p:sp>
      <p:sp>
        <p:nvSpPr>
          <p:cNvPr id="32" name="Text 30"/>
          <p:cNvSpPr/>
          <p:nvPr/>
        </p:nvSpPr>
        <p:spPr>
          <a:xfrm>
            <a:off x="1066800" y="7289800"/>
            <a:ext cx="14122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C1C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 BFS and DFS on a binary search tree with 7 nodes. Count nodes expanded by each when searching for the deepest node. What do you observe?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7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2000" y="8813800"/>
            <a:ext cx="508000" cy="381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e24yafeoub6me/mnt/agents/output/ai_problem_solving/images/8_Abstract_technology_background_futuristic.png">    </p:cNvPr>
          <p:cNvPicPr>
            <a:picLocks noChangeAspect="1"/>
          </p:cNvPicPr>
          <p:nvPr/>
        </p:nvPicPr>
        <p:blipFill>
          <a:blip r:embed="rId1"/>
          <a:srcRect l="160" r="16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1F1C">
                  <a:alpha val="91000"/>
                </a:srgbClr>
              </a:gs>
              <a:gs pos="50000">
                <a:srgbClr val="0A1F1C">
                  <a:alpha val="82000"/>
                </a:srgbClr>
              </a:gs>
              <a:gs pos="100000">
                <a:srgbClr val="0A1F1C">
                  <a:alpha val="91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493000" y="2794000"/>
            <a:ext cx="1270000" cy="508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5F3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6B8F7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Artificial Intelligence — Week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048000" y="47498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F3E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Solving: Uninformed Search Strategies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26000" y="5588000"/>
            <a:ext cx="6604000" cy="635000"/>
          </a:xfrm>
          <a:prstGeom prst="roundRect">
            <a:avLst>
              <a:gd name="adj" fmla="val 50000"/>
            </a:avLst>
          </a:prstGeom>
          <a:solidFill>
            <a:srgbClr val="D4943A">
              <a:alpha val="1451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826000" y="5588000"/>
            <a:ext cx="660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D494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Week: Informed Search Strategies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93000" y="6604000"/>
            <a:ext cx="1270000" cy="50800"/>
          </a:xfrm>
          <a:prstGeom prst="rect">
            <a:avLst/>
          </a:prstGeom>
          <a:solidFill>
            <a:srgbClr val="D4943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Week 2: Problem Solving</dc:title>
  <dc:subject>Artificial Intelligence - Week 2: Problem Solving</dc:subject>
  <dc:creator>Kimi</dc:creator>
  <cp:lastModifiedBy>Kimi</cp:lastModifiedBy>
  <cp:revision>1</cp:revision>
  <dcterms:created xsi:type="dcterms:W3CDTF">2026-05-25T19:21:48Z</dcterms:created>
  <dcterms:modified xsi:type="dcterms:W3CDTF">2026-05-25T19:21:48Z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{"Label":"Artificial Intelligence - Week 2: Problem Solving","ContentProducer":"001191110108MACG2KBH8F10000","ProduceID":"19e6047d-0cb2-88a0-8000-0000cbae6bcc","ReservedCode1":"","ContentPropagator":"001191110108MACG2KBH8F20000","PropagateID":"19e6047d-0cb2-88a0-8000-0000cbae6bcc","ReservedCode2":""}</vt:lpwstr>
  </property>
</Properties>
</file>