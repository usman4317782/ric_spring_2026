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of Operation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Agility Digit</c:v>
                  </c:pt>
                  <c:pt idx="1">
                    <c:v>Figure 02</c:v>
                  </c:pt>
                  <c:pt idx="2">
                    <c:v>Tesla Optimus</c:v>
                  </c:pt>
                  <c:pt idx="3">
                    <c:v>8-hr Shift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2.5</c:v>
                </c:pt>
                <c:pt idx="2">
                  <c:v>4.5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191000"/>
            <a:ext cx="1016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Artificial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080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461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System Design · AI Robotics · Project Presentation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8000" y="5969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W16 Course Module ·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540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556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System Design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572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572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4572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Robotics &amp; Issues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58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5588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5588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Presentation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Foundations of how AI systems capture, organize, and utilize knowledge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Knowledge Representation?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 (KR) structures information so machines can use it for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 and decision-making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Goals: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Make relationships between concepts explicit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Enable inference and conclusion-drawing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Support human-like cognition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KR Cycle: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 → Learning →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Reasoning → Planning → Execution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"Knowledge is necessary for intelligence, but not sufficient."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28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vs. Intelligence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52000" y="2921000"/>
            <a:ext cx="4064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3175000"/>
            <a:ext cx="5080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 acquired through experience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Ability to learn and reason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KR provides structure; intelligence the mechanism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Knowledge in AI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3302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16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22514" y="609600"/>
                </a:moveTo>
                <a:lnTo>
                  <a:pt x="130629" y="609600"/>
                </a:lnTo>
                <a:cubicBezTo>
                  <a:pt x="58511" y="609600"/>
                  <a:pt x="0" y="558403"/>
                  <a:pt x="0" y="495300"/>
                </a:cubicBezTo>
                <a:lnTo>
                  <a:pt x="0" y="114300"/>
                </a:lnTo>
                <a:cubicBezTo>
                  <a:pt x="0" y="51197"/>
                  <a:pt x="58511" y="0"/>
                  <a:pt x="130629" y="0"/>
                </a:cubicBezTo>
                <a:lnTo>
                  <a:pt x="544286" y="0"/>
                </a:lnTo>
                <a:cubicBezTo>
                  <a:pt x="580345" y="0"/>
                  <a:pt x="609600" y="25598"/>
                  <a:pt x="609600" y="57150"/>
                </a:cubicBezTo>
                <a:lnTo>
                  <a:pt x="609600" y="400050"/>
                </a:lnTo>
                <a:cubicBezTo>
                  <a:pt x="609600" y="424934"/>
                  <a:pt x="591366" y="446127"/>
                  <a:pt x="566057" y="453985"/>
                </a:cubicBezTo>
                <a:lnTo>
                  <a:pt x="566057" y="533400"/>
                </a:lnTo>
                <a:cubicBezTo>
                  <a:pt x="590142" y="533400"/>
                  <a:pt x="609600" y="550426"/>
                  <a:pt x="609600" y="571500"/>
                </a:cubicBezTo>
                <a:cubicBezTo>
                  <a:pt x="609600" y="592574"/>
                  <a:pt x="590142" y="609600"/>
                  <a:pt x="566057" y="609600"/>
                </a:cubicBezTo>
                <a:lnTo>
                  <a:pt x="522514" y="609600"/>
                </a:lnTo>
                <a:close/>
                <a:moveTo>
                  <a:pt x="130629" y="457200"/>
                </a:moveTo>
                <a:cubicBezTo>
                  <a:pt x="106544" y="457200"/>
                  <a:pt x="87086" y="474226"/>
                  <a:pt x="87086" y="495300"/>
                </a:cubicBezTo>
                <a:cubicBezTo>
                  <a:pt x="87086" y="516374"/>
                  <a:pt x="106544" y="533400"/>
                  <a:pt x="130629" y="533400"/>
                </a:cubicBezTo>
                <a:lnTo>
                  <a:pt x="478971" y="533400"/>
                </a:lnTo>
                <a:lnTo>
                  <a:pt x="478971" y="457200"/>
                </a:lnTo>
                <a:lnTo>
                  <a:pt x="130629" y="457200"/>
                </a:lnTo>
                <a:close/>
                <a:moveTo>
                  <a:pt x="174171" y="180975"/>
                </a:moveTo>
                <a:cubicBezTo>
                  <a:pt x="174171" y="196810"/>
                  <a:pt x="188731" y="209550"/>
                  <a:pt x="206829" y="209550"/>
                </a:cubicBezTo>
                <a:lnTo>
                  <a:pt x="446314" y="209550"/>
                </a:lnTo>
                <a:cubicBezTo>
                  <a:pt x="464412" y="209550"/>
                  <a:pt x="478971" y="196810"/>
                  <a:pt x="478971" y="180975"/>
                </a:cubicBezTo>
                <a:cubicBezTo>
                  <a:pt x="478971" y="165140"/>
                  <a:pt x="464412" y="152400"/>
                  <a:pt x="446314" y="152400"/>
                </a:cubicBezTo>
                <a:lnTo>
                  <a:pt x="206829" y="152400"/>
                </a:lnTo>
                <a:cubicBezTo>
                  <a:pt x="188731" y="152400"/>
                  <a:pt x="174171" y="165140"/>
                  <a:pt x="174171" y="180975"/>
                </a:cubicBezTo>
                <a:close/>
                <a:moveTo>
                  <a:pt x="206829" y="266700"/>
                </a:moveTo>
                <a:cubicBezTo>
                  <a:pt x="188731" y="266700"/>
                  <a:pt x="174171" y="279440"/>
                  <a:pt x="174171" y="295275"/>
                </a:cubicBezTo>
                <a:cubicBezTo>
                  <a:pt x="174171" y="311110"/>
                  <a:pt x="188731" y="323850"/>
                  <a:pt x="206829" y="323850"/>
                </a:cubicBezTo>
                <a:lnTo>
                  <a:pt x="446314" y="323850"/>
                </a:lnTo>
                <a:cubicBezTo>
                  <a:pt x="464412" y="323850"/>
                  <a:pt x="478971" y="311110"/>
                  <a:pt x="478971" y="295275"/>
                </a:cubicBezTo>
                <a:cubicBezTo>
                  <a:pt x="478971" y="279440"/>
                  <a:pt x="464412" y="266700"/>
                  <a:pt x="446314" y="266700"/>
                </a:cubicBezTo>
                <a:lnTo>
                  <a:pt x="206829" y="2667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3020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Declarative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3937000"/>
            <a:ext cx="279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Facts and relationships about the world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"Paris is the capital of France"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Represents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known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53000" y="2032000"/>
            <a:ext cx="3302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9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96145" y="250627"/>
                </a:moveTo>
                <a:cubicBezTo>
                  <a:pt x="407765" y="246698"/>
                  <a:pt x="419957" y="253603"/>
                  <a:pt x="425196" y="267057"/>
                </a:cubicBezTo>
                <a:lnTo>
                  <a:pt x="442912" y="311825"/>
                </a:lnTo>
                <a:cubicBezTo>
                  <a:pt x="452723" y="313492"/>
                  <a:pt x="462344" y="316825"/>
                  <a:pt x="471392" y="321469"/>
                </a:cubicBezTo>
                <a:lnTo>
                  <a:pt x="504730" y="293727"/>
                </a:lnTo>
                <a:cubicBezTo>
                  <a:pt x="514731" y="285393"/>
                  <a:pt x="527971" y="287060"/>
                  <a:pt x="536448" y="297656"/>
                </a:cubicBezTo>
                <a:lnTo>
                  <a:pt x="554736" y="320516"/>
                </a:lnTo>
                <a:cubicBezTo>
                  <a:pt x="563213" y="331113"/>
                  <a:pt x="564547" y="347782"/>
                  <a:pt x="557879" y="360164"/>
                </a:cubicBezTo>
                <a:lnTo>
                  <a:pt x="535686" y="401717"/>
                </a:lnTo>
                <a:cubicBezTo>
                  <a:pt x="537496" y="407313"/>
                  <a:pt x="539115" y="413147"/>
                  <a:pt x="540449" y="419219"/>
                </a:cubicBezTo>
                <a:cubicBezTo>
                  <a:pt x="541782" y="425291"/>
                  <a:pt x="542639" y="431244"/>
                  <a:pt x="543306" y="437317"/>
                </a:cubicBezTo>
                <a:lnTo>
                  <a:pt x="579215" y="459462"/>
                </a:lnTo>
                <a:cubicBezTo>
                  <a:pt x="589979" y="466130"/>
                  <a:pt x="595503" y="481370"/>
                  <a:pt x="592360" y="495776"/>
                </a:cubicBezTo>
                <a:lnTo>
                  <a:pt x="585692" y="526971"/>
                </a:lnTo>
                <a:cubicBezTo>
                  <a:pt x="582549" y="541377"/>
                  <a:pt x="571786" y="551140"/>
                  <a:pt x="559784" y="550188"/>
                </a:cubicBezTo>
                <a:lnTo>
                  <a:pt x="519779" y="546973"/>
                </a:lnTo>
                <a:cubicBezTo>
                  <a:pt x="513778" y="556617"/>
                  <a:pt x="506825" y="565547"/>
                  <a:pt x="498919" y="573167"/>
                </a:cubicBezTo>
                <a:lnTo>
                  <a:pt x="501491" y="623054"/>
                </a:lnTo>
                <a:cubicBezTo>
                  <a:pt x="502253" y="638056"/>
                  <a:pt x="494443" y="651629"/>
                  <a:pt x="482917" y="655439"/>
                </a:cubicBezTo>
                <a:lnTo>
                  <a:pt x="457962" y="663773"/>
                </a:lnTo>
                <a:cubicBezTo>
                  <a:pt x="446342" y="667702"/>
                  <a:pt x="434245" y="660797"/>
                  <a:pt x="428911" y="647343"/>
                </a:cubicBezTo>
                <a:lnTo>
                  <a:pt x="411194" y="602575"/>
                </a:lnTo>
                <a:cubicBezTo>
                  <a:pt x="401384" y="600908"/>
                  <a:pt x="391763" y="597575"/>
                  <a:pt x="382715" y="592931"/>
                </a:cubicBezTo>
                <a:lnTo>
                  <a:pt x="349377" y="620673"/>
                </a:lnTo>
                <a:cubicBezTo>
                  <a:pt x="339376" y="629007"/>
                  <a:pt x="326136" y="627340"/>
                  <a:pt x="317659" y="616744"/>
                </a:cubicBezTo>
                <a:lnTo>
                  <a:pt x="299371" y="593884"/>
                </a:lnTo>
                <a:cubicBezTo>
                  <a:pt x="290894" y="583287"/>
                  <a:pt x="289560" y="566738"/>
                  <a:pt x="296228" y="554236"/>
                </a:cubicBezTo>
                <a:lnTo>
                  <a:pt x="318421" y="512564"/>
                </a:lnTo>
                <a:cubicBezTo>
                  <a:pt x="316611" y="506968"/>
                  <a:pt x="314992" y="501134"/>
                  <a:pt x="313658" y="495062"/>
                </a:cubicBezTo>
                <a:cubicBezTo>
                  <a:pt x="312325" y="488990"/>
                  <a:pt x="311468" y="482918"/>
                  <a:pt x="310801" y="476964"/>
                </a:cubicBezTo>
                <a:lnTo>
                  <a:pt x="274892" y="454819"/>
                </a:lnTo>
                <a:cubicBezTo>
                  <a:pt x="264128" y="448151"/>
                  <a:pt x="258699" y="432911"/>
                  <a:pt x="261747" y="418505"/>
                </a:cubicBezTo>
                <a:lnTo>
                  <a:pt x="268415" y="387310"/>
                </a:lnTo>
                <a:cubicBezTo>
                  <a:pt x="271558" y="372904"/>
                  <a:pt x="282321" y="363141"/>
                  <a:pt x="294323" y="364093"/>
                </a:cubicBezTo>
                <a:lnTo>
                  <a:pt x="334232" y="367308"/>
                </a:lnTo>
                <a:cubicBezTo>
                  <a:pt x="340233" y="357664"/>
                  <a:pt x="347186" y="348734"/>
                  <a:pt x="355092" y="341114"/>
                </a:cubicBezTo>
                <a:lnTo>
                  <a:pt x="352520" y="291346"/>
                </a:lnTo>
                <a:cubicBezTo>
                  <a:pt x="351758" y="276344"/>
                  <a:pt x="359569" y="262771"/>
                  <a:pt x="371094" y="258961"/>
                </a:cubicBezTo>
                <a:lnTo>
                  <a:pt x="396049" y="250627"/>
                </a:lnTo>
                <a:close/>
                <a:moveTo>
                  <a:pt x="427101" y="404813"/>
                </a:moveTo>
                <a:cubicBezTo>
                  <a:pt x="403970" y="404845"/>
                  <a:pt x="385212" y="428346"/>
                  <a:pt x="385239" y="457260"/>
                </a:cubicBezTo>
                <a:cubicBezTo>
                  <a:pt x="385265" y="486173"/>
                  <a:pt x="404065" y="509620"/>
                  <a:pt x="427196" y="509588"/>
                </a:cubicBezTo>
                <a:cubicBezTo>
                  <a:pt x="450327" y="509555"/>
                  <a:pt x="469085" y="486054"/>
                  <a:pt x="469059" y="457140"/>
                </a:cubicBezTo>
                <a:cubicBezTo>
                  <a:pt x="469032" y="428227"/>
                  <a:pt x="450232" y="404780"/>
                  <a:pt x="427101" y="404813"/>
                </a:cubicBezTo>
                <a:close/>
                <a:moveTo>
                  <a:pt x="214217" y="-54173"/>
                </a:moveTo>
                <a:lnTo>
                  <a:pt x="239173" y="-45839"/>
                </a:lnTo>
                <a:cubicBezTo>
                  <a:pt x="250698" y="-41910"/>
                  <a:pt x="258508" y="-28337"/>
                  <a:pt x="257747" y="-13454"/>
                </a:cubicBezTo>
                <a:lnTo>
                  <a:pt x="255175" y="36314"/>
                </a:lnTo>
                <a:cubicBezTo>
                  <a:pt x="263081" y="43934"/>
                  <a:pt x="270034" y="52745"/>
                  <a:pt x="276035" y="62508"/>
                </a:cubicBezTo>
                <a:lnTo>
                  <a:pt x="316040" y="59293"/>
                </a:lnTo>
                <a:cubicBezTo>
                  <a:pt x="327946" y="58341"/>
                  <a:pt x="338804" y="68104"/>
                  <a:pt x="341947" y="82510"/>
                </a:cubicBezTo>
                <a:lnTo>
                  <a:pt x="348615" y="113705"/>
                </a:lnTo>
                <a:cubicBezTo>
                  <a:pt x="351663" y="128111"/>
                  <a:pt x="346234" y="143351"/>
                  <a:pt x="335471" y="150019"/>
                </a:cubicBezTo>
                <a:lnTo>
                  <a:pt x="299561" y="172164"/>
                </a:lnTo>
                <a:cubicBezTo>
                  <a:pt x="298895" y="178237"/>
                  <a:pt x="297942" y="184309"/>
                  <a:pt x="296704" y="190262"/>
                </a:cubicBezTo>
                <a:cubicBezTo>
                  <a:pt x="295466" y="196215"/>
                  <a:pt x="293751" y="202168"/>
                  <a:pt x="291941" y="207764"/>
                </a:cubicBezTo>
                <a:lnTo>
                  <a:pt x="314135" y="249436"/>
                </a:lnTo>
                <a:cubicBezTo>
                  <a:pt x="320802" y="261937"/>
                  <a:pt x="319469" y="278487"/>
                  <a:pt x="310991" y="289084"/>
                </a:cubicBezTo>
                <a:lnTo>
                  <a:pt x="292703" y="311944"/>
                </a:lnTo>
                <a:cubicBezTo>
                  <a:pt x="284226" y="322540"/>
                  <a:pt x="270986" y="324207"/>
                  <a:pt x="260985" y="315873"/>
                </a:cubicBezTo>
                <a:lnTo>
                  <a:pt x="227648" y="288131"/>
                </a:lnTo>
                <a:cubicBezTo>
                  <a:pt x="218599" y="292775"/>
                  <a:pt x="208979" y="296108"/>
                  <a:pt x="199168" y="297775"/>
                </a:cubicBezTo>
                <a:lnTo>
                  <a:pt x="181451" y="342543"/>
                </a:lnTo>
                <a:cubicBezTo>
                  <a:pt x="176117" y="355997"/>
                  <a:pt x="163925" y="362783"/>
                  <a:pt x="152400" y="358973"/>
                </a:cubicBezTo>
                <a:lnTo>
                  <a:pt x="127445" y="350639"/>
                </a:lnTo>
                <a:cubicBezTo>
                  <a:pt x="115824" y="346710"/>
                  <a:pt x="108109" y="333137"/>
                  <a:pt x="108871" y="318254"/>
                </a:cubicBezTo>
                <a:lnTo>
                  <a:pt x="111443" y="268367"/>
                </a:lnTo>
                <a:cubicBezTo>
                  <a:pt x="103537" y="260747"/>
                  <a:pt x="96584" y="251936"/>
                  <a:pt x="90583" y="242173"/>
                </a:cubicBezTo>
                <a:lnTo>
                  <a:pt x="50578" y="245388"/>
                </a:lnTo>
                <a:cubicBezTo>
                  <a:pt x="38672" y="246340"/>
                  <a:pt x="27813" y="236577"/>
                  <a:pt x="24670" y="222171"/>
                </a:cubicBezTo>
                <a:lnTo>
                  <a:pt x="18002" y="190976"/>
                </a:lnTo>
                <a:cubicBezTo>
                  <a:pt x="14954" y="176570"/>
                  <a:pt x="20384" y="161330"/>
                  <a:pt x="31147" y="154662"/>
                </a:cubicBezTo>
                <a:lnTo>
                  <a:pt x="67056" y="132517"/>
                </a:lnTo>
                <a:cubicBezTo>
                  <a:pt x="67723" y="126444"/>
                  <a:pt x="68675" y="120491"/>
                  <a:pt x="69914" y="114419"/>
                </a:cubicBezTo>
                <a:cubicBezTo>
                  <a:pt x="71247" y="108347"/>
                  <a:pt x="72771" y="102513"/>
                  <a:pt x="74676" y="96917"/>
                </a:cubicBezTo>
                <a:lnTo>
                  <a:pt x="52483" y="55364"/>
                </a:lnTo>
                <a:cubicBezTo>
                  <a:pt x="45815" y="42863"/>
                  <a:pt x="47149" y="26313"/>
                  <a:pt x="55626" y="15716"/>
                </a:cubicBezTo>
                <a:lnTo>
                  <a:pt x="73914" y="-7144"/>
                </a:lnTo>
                <a:cubicBezTo>
                  <a:pt x="82391" y="-17740"/>
                  <a:pt x="95631" y="-19407"/>
                  <a:pt x="105632" y="-11073"/>
                </a:cubicBezTo>
                <a:lnTo>
                  <a:pt x="138970" y="16669"/>
                </a:lnTo>
                <a:cubicBezTo>
                  <a:pt x="148019" y="12025"/>
                  <a:pt x="157639" y="8692"/>
                  <a:pt x="167449" y="7025"/>
                </a:cubicBezTo>
                <a:lnTo>
                  <a:pt x="185166" y="-37743"/>
                </a:lnTo>
                <a:cubicBezTo>
                  <a:pt x="190500" y="-51197"/>
                  <a:pt x="202597" y="-57983"/>
                  <a:pt x="214217" y="-54173"/>
                </a:cubicBezTo>
                <a:close/>
                <a:moveTo>
                  <a:pt x="183261" y="100013"/>
                </a:moveTo>
                <a:cubicBezTo>
                  <a:pt x="160130" y="100013"/>
                  <a:pt x="141351" y="123487"/>
                  <a:pt x="141351" y="152400"/>
                </a:cubicBezTo>
                <a:cubicBezTo>
                  <a:pt x="141351" y="181313"/>
                  <a:pt x="160130" y="204787"/>
                  <a:pt x="183261" y="204787"/>
                </a:cubicBezTo>
                <a:cubicBezTo>
                  <a:pt x="206392" y="204787"/>
                  <a:pt x="225171" y="181313"/>
                  <a:pt x="225171" y="152400"/>
                </a:cubicBezTo>
                <a:cubicBezTo>
                  <a:pt x="225171" y="123487"/>
                  <a:pt x="206392" y="100013"/>
                  <a:pt x="183261" y="10001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5207000" y="33020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Procedural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07000" y="3937000"/>
            <a:ext cx="279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Step-by-step instructions for tasks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to solve an equation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Represents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do things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36000" y="2032000"/>
            <a:ext cx="3302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82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33020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Meta-Knowledge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90000" y="3937000"/>
            <a:ext cx="279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about knowledge itself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Knowing what we know and don't know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Enables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self-awareness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19000" y="2032000"/>
            <a:ext cx="2667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33477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8765" y="-32147"/>
                </a:moveTo>
                <a:lnTo>
                  <a:pt x="294428" y="11668"/>
                </a:lnTo>
                <a:lnTo>
                  <a:pt x="333375" y="29289"/>
                </a:lnTo>
                <a:cubicBezTo>
                  <a:pt x="336550" y="30718"/>
                  <a:pt x="338667" y="34290"/>
                  <a:pt x="338667" y="38100"/>
                </a:cubicBezTo>
                <a:cubicBezTo>
                  <a:pt x="338667" y="41910"/>
                  <a:pt x="336550" y="45482"/>
                  <a:pt x="333375" y="46911"/>
                </a:cubicBezTo>
                <a:lnTo>
                  <a:pt x="294428" y="64532"/>
                </a:lnTo>
                <a:lnTo>
                  <a:pt x="278765" y="108347"/>
                </a:lnTo>
                <a:cubicBezTo>
                  <a:pt x="277495" y="111919"/>
                  <a:pt x="274320" y="114300"/>
                  <a:pt x="270933" y="114300"/>
                </a:cubicBezTo>
                <a:cubicBezTo>
                  <a:pt x="267547" y="114300"/>
                  <a:pt x="264372" y="111919"/>
                  <a:pt x="263102" y="108347"/>
                </a:cubicBezTo>
                <a:lnTo>
                  <a:pt x="247438" y="64532"/>
                </a:lnTo>
                <a:lnTo>
                  <a:pt x="208492" y="46911"/>
                </a:lnTo>
                <a:cubicBezTo>
                  <a:pt x="205317" y="45482"/>
                  <a:pt x="203200" y="41910"/>
                  <a:pt x="203200" y="38100"/>
                </a:cubicBezTo>
                <a:cubicBezTo>
                  <a:pt x="203200" y="34290"/>
                  <a:pt x="205317" y="30718"/>
                  <a:pt x="208492" y="29289"/>
                </a:cubicBezTo>
                <a:lnTo>
                  <a:pt x="247438" y="11668"/>
                </a:lnTo>
                <a:lnTo>
                  <a:pt x="263102" y="-32147"/>
                </a:lnTo>
                <a:cubicBezTo>
                  <a:pt x="264372" y="-35719"/>
                  <a:pt x="267547" y="-38100"/>
                  <a:pt x="270933" y="-38100"/>
                </a:cubicBezTo>
                <a:cubicBezTo>
                  <a:pt x="274320" y="-38100"/>
                  <a:pt x="277495" y="-35719"/>
                  <a:pt x="278765" y="-32147"/>
                </a:cubicBezTo>
                <a:close/>
                <a:moveTo>
                  <a:pt x="117157" y="49649"/>
                </a:moveTo>
                <a:lnTo>
                  <a:pt x="139912" y="109299"/>
                </a:lnTo>
                <a:lnTo>
                  <a:pt x="192934" y="134898"/>
                </a:lnTo>
                <a:cubicBezTo>
                  <a:pt x="199178" y="137874"/>
                  <a:pt x="203200" y="144780"/>
                  <a:pt x="203200" y="152400"/>
                </a:cubicBezTo>
                <a:cubicBezTo>
                  <a:pt x="203200" y="160020"/>
                  <a:pt x="199178" y="166926"/>
                  <a:pt x="192934" y="169902"/>
                </a:cubicBezTo>
                <a:lnTo>
                  <a:pt x="139912" y="195501"/>
                </a:lnTo>
                <a:lnTo>
                  <a:pt x="117157" y="255151"/>
                </a:lnTo>
                <a:cubicBezTo>
                  <a:pt x="114512" y="262176"/>
                  <a:pt x="108373" y="266700"/>
                  <a:pt x="101600" y="266700"/>
                </a:cubicBezTo>
                <a:cubicBezTo>
                  <a:pt x="94827" y="266700"/>
                  <a:pt x="88688" y="262176"/>
                  <a:pt x="86042" y="255151"/>
                </a:cubicBezTo>
                <a:lnTo>
                  <a:pt x="63288" y="195501"/>
                </a:lnTo>
                <a:lnTo>
                  <a:pt x="10266" y="169902"/>
                </a:lnTo>
                <a:cubicBezTo>
                  <a:pt x="4022" y="166926"/>
                  <a:pt x="0" y="160020"/>
                  <a:pt x="0" y="152400"/>
                </a:cubicBezTo>
                <a:cubicBezTo>
                  <a:pt x="0" y="144780"/>
                  <a:pt x="4022" y="137874"/>
                  <a:pt x="10266" y="134898"/>
                </a:cubicBezTo>
                <a:lnTo>
                  <a:pt x="63288" y="109299"/>
                </a:lnTo>
                <a:lnTo>
                  <a:pt x="86043" y="49649"/>
                </a:lnTo>
                <a:cubicBezTo>
                  <a:pt x="88688" y="42624"/>
                  <a:pt x="94827" y="38100"/>
                  <a:pt x="101600" y="38100"/>
                </a:cubicBezTo>
                <a:cubicBezTo>
                  <a:pt x="108373" y="38100"/>
                  <a:pt x="114512" y="42624"/>
                  <a:pt x="117157" y="49649"/>
                </a:cubicBezTo>
                <a:close/>
                <a:moveTo>
                  <a:pt x="491067" y="361950"/>
                </a:moveTo>
                <a:cubicBezTo>
                  <a:pt x="497840" y="361950"/>
                  <a:pt x="503978" y="366474"/>
                  <a:pt x="506624" y="373499"/>
                </a:cubicBezTo>
                <a:lnTo>
                  <a:pt x="529378" y="433149"/>
                </a:lnTo>
                <a:lnTo>
                  <a:pt x="582401" y="458748"/>
                </a:lnTo>
                <a:cubicBezTo>
                  <a:pt x="588645" y="461724"/>
                  <a:pt x="592667" y="468630"/>
                  <a:pt x="592667" y="476250"/>
                </a:cubicBezTo>
                <a:cubicBezTo>
                  <a:pt x="592667" y="483870"/>
                  <a:pt x="588645" y="490776"/>
                  <a:pt x="582401" y="493752"/>
                </a:cubicBezTo>
                <a:lnTo>
                  <a:pt x="529378" y="519351"/>
                </a:lnTo>
                <a:lnTo>
                  <a:pt x="506624" y="579001"/>
                </a:lnTo>
                <a:cubicBezTo>
                  <a:pt x="503978" y="586026"/>
                  <a:pt x="497840" y="590550"/>
                  <a:pt x="491067" y="590550"/>
                </a:cubicBezTo>
                <a:cubicBezTo>
                  <a:pt x="484293" y="590550"/>
                  <a:pt x="478155" y="586026"/>
                  <a:pt x="475509" y="579001"/>
                </a:cubicBezTo>
                <a:lnTo>
                  <a:pt x="452755" y="519351"/>
                </a:lnTo>
                <a:lnTo>
                  <a:pt x="399732" y="493752"/>
                </a:lnTo>
                <a:cubicBezTo>
                  <a:pt x="393488" y="490776"/>
                  <a:pt x="389467" y="483870"/>
                  <a:pt x="389467" y="476250"/>
                </a:cubicBezTo>
                <a:cubicBezTo>
                  <a:pt x="389467" y="468630"/>
                  <a:pt x="393488" y="461724"/>
                  <a:pt x="399732" y="458748"/>
                </a:cubicBezTo>
                <a:lnTo>
                  <a:pt x="452755" y="433149"/>
                </a:lnTo>
                <a:lnTo>
                  <a:pt x="475509" y="373499"/>
                </a:lnTo>
                <a:cubicBezTo>
                  <a:pt x="478155" y="366474"/>
                  <a:pt x="484293" y="361950"/>
                  <a:pt x="491067" y="361950"/>
                </a:cubicBezTo>
                <a:close/>
                <a:moveTo>
                  <a:pt x="486833" y="0"/>
                </a:moveTo>
                <a:cubicBezTo>
                  <a:pt x="498475" y="0"/>
                  <a:pt x="509693" y="5239"/>
                  <a:pt x="518054" y="14526"/>
                </a:cubicBezTo>
                <a:lnTo>
                  <a:pt x="562822" y="64889"/>
                </a:lnTo>
                <a:cubicBezTo>
                  <a:pt x="571077" y="74295"/>
                  <a:pt x="575733" y="86916"/>
                  <a:pt x="575733" y="100013"/>
                </a:cubicBezTo>
                <a:cubicBezTo>
                  <a:pt x="575733" y="113109"/>
                  <a:pt x="571077" y="125730"/>
                  <a:pt x="562822" y="135136"/>
                </a:cubicBezTo>
                <a:lnTo>
                  <a:pt x="469477" y="240149"/>
                </a:lnTo>
                <a:lnTo>
                  <a:pt x="362268" y="119539"/>
                </a:lnTo>
                <a:lnTo>
                  <a:pt x="455612" y="14526"/>
                </a:lnTo>
                <a:cubicBezTo>
                  <a:pt x="463973" y="5239"/>
                  <a:pt x="475192" y="0"/>
                  <a:pt x="486833" y="0"/>
                </a:cubicBezTo>
                <a:close/>
                <a:moveTo>
                  <a:pt x="46778" y="474464"/>
                </a:moveTo>
                <a:lnTo>
                  <a:pt x="326390" y="159901"/>
                </a:lnTo>
                <a:lnTo>
                  <a:pt x="433599" y="280511"/>
                </a:lnTo>
                <a:lnTo>
                  <a:pt x="153988" y="595074"/>
                </a:lnTo>
                <a:cubicBezTo>
                  <a:pt x="145627" y="604361"/>
                  <a:pt x="134408" y="609600"/>
                  <a:pt x="122767" y="609600"/>
                </a:cubicBezTo>
                <a:cubicBezTo>
                  <a:pt x="111125" y="609600"/>
                  <a:pt x="99907" y="604361"/>
                  <a:pt x="91546" y="595074"/>
                </a:cubicBezTo>
                <a:lnTo>
                  <a:pt x="46778" y="544711"/>
                </a:lnTo>
                <a:cubicBezTo>
                  <a:pt x="38523" y="535305"/>
                  <a:pt x="33867" y="522684"/>
                  <a:pt x="33867" y="509588"/>
                </a:cubicBezTo>
                <a:cubicBezTo>
                  <a:pt x="33867" y="496491"/>
                  <a:pt x="38523" y="483870"/>
                  <a:pt x="46778" y="4744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573000" y="3302000"/>
            <a:ext cx="215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Heuristic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573000" y="3937000"/>
            <a:ext cx="215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 of thumb and expert intuition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Experiential wisdom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Guides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practical reasoning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Logic-Based Representation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2286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Propositional Logic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51000" y="2857500"/>
            <a:ext cx="584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Simple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true/false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propositions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Operators: AND, OR, NOT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Example: P ∧ Q → 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Limited: no objects/relations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2032000"/>
            <a:ext cx="6604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63000" y="2286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First-Order Predicate Logic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763000" y="2857500"/>
            <a:ext cx="584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Predicates, variables, quantifiers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Quantifiers: ∀, ∃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Example: ∀x (Human(x) → Mortal(x))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Much more expressive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70000" y="54610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 &amp; Disadvantages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6096000"/>
          <a:ext cx="13716000" cy="2032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Advantages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Disadvantages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Strengths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Enables sound logical reasoning; basis for programming languages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 be restrictive and challenging to work with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Limitations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Supports formal inference and proof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Computationally inefficient for large knowledge bases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Network Representation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5715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networks represent knowledge as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graphical structures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objects and concepts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relationships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Relations: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IS-A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inheritance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Kind-of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categorization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0" y="1905000"/>
            <a:ext cx="6604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68000" y="2222500"/>
            <a:ext cx="1524000" cy="508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0" y="22225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90000" y="3175000"/>
            <a:ext cx="1524000" cy="508000"/>
          </a:xfrm>
          <a:prstGeom prst="roundRect">
            <a:avLst>
              <a:gd name="adj" fmla="val 12000"/>
            </a:avLst>
          </a:prstGeom>
          <a:solidFill>
            <a:srgbClr val="6B9CBF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0" y="3175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Mammal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2000" y="4127500"/>
            <a:ext cx="1524000" cy="508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0" y="41275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446000" y="3175000"/>
            <a:ext cx="1524000" cy="508000"/>
          </a:xfrm>
          <a:prstGeom prst="roundRect">
            <a:avLst>
              <a:gd name="adj" fmla="val 12000"/>
            </a:avLst>
          </a:prstGeom>
          <a:solidFill>
            <a:srgbClr val="6B9CB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6000" y="3175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224000" y="4127500"/>
            <a:ext cx="1270000" cy="508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4224000" y="4127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Canary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2000" y="2730500"/>
            <a:ext cx="1778000" cy="4445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9906000" y="2730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IS-A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74000" y="3683000"/>
            <a:ext cx="1778000" cy="4445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8128000" y="368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IS-A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192000" y="2730500"/>
            <a:ext cx="1778000" cy="4445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12573000" y="2730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IS-A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208000" y="3683000"/>
            <a:ext cx="1778000" cy="4445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13462000" y="368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IS-A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70000" y="5969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70000" y="6413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Natural and intuitive representation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Transparently conveys meaning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Simple and easy to understand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82000" y="5969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82000" y="6413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High computational cost at runtime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Lack equivalent quantifiers (∀, ∃)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Depend on creator's design choices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 Representation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09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Frames are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record-like structures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slots (attributes) and facets (values).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Default values and constraints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Pointers to other frames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Inheritance from parents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Groups related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874000" y="1905000"/>
            <a:ext cx="6858000" cy="355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128000" y="2095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Frame: Hotel Room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55000" y="2603500"/>
            <a:ext cx="609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2730500"/>
          <a:ext cx="6096000" cy="24765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182880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bed_count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has_bathroom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Boolean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price_range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$100-200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amenities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WiFi, TV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270000" y="5969000"/>
            <a:ext cx="6604000" cy="203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51000" y="6159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51000" y="6604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Easy to understand and visualize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Supports default reasoning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Extensible by adding new slots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82000" y="5969000"/>
            <a:ext cx="6604000" cy="203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63000" y="61595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763000" y="6604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Inference mechanisms not easily processed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Generalized approach may miss edge cases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Frame interactions can become complex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Rules &amp; Rule-Based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05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&lt;condition&gt;  </a:t>
            </a:r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THEN</a:t>
            </a:r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&lt;action&gt;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70000" y="3302000"/>
            <a:ext cx="406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70200" y="355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245031"/>
                </a:moveTo>
                <a:cubicBezTo>
                  <a:pt x="589461" y="256699"/>
                  <a:pt x="566329" y="266105"/>
                  <a:pt x="542245" y="273606"/>
                </a:cubicBezTo>
                <a:cubicBezTo>
                  <a:pt x="478291" y="293608"/>
                  <a:pt x="394335" y="304800"/>
                  <a:pt x="304800" y="304800"/>
                </a:cubicBezTo>
                <a:cubicBezTo>
                  <a:pt x="215265" y="304800"/>
                  <a:pt x="131173" y="293489"/>
                  <a:pt x="67355" y="273606"/>
                </a:cubicBezTo>
                <a:cubicBezTo>
                  <a:pt x="43407" y="266105"/>
                  <a:pt x="20139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36480" y="438150"/>
                  <a:pt x="304800" y="438150"/>
                </a:cubicBezTo>
                <a:cubicBezTo>
                  <a:pt x="473120" y="438150"/>
                  <a:pt x="609600" y="395526"/>
                  <a:pt x="609600" y="342900"/>
                </a:cubicBezTo>
                <a:lnTo>
                  <a:pt x="609600" y="245031"/>
                </a:lnTo>
                <a:close/>
                <a:moveTo>
                  <a:pt x="609600" y="152400"/>
                </a:moveTo>
                <a:lnTo>
                  <a:pt x="609600" y="95250"/>
                </a:lnTo>
                <a:cubicBezTo>
                  <a:pt x="609600" y="42624"/>
                  <a:pt x="473120" y="0"/>
                  <a:pt x="304800" y="0"/>
                </a:cubicBezTo>
                <a:cubicBezTo>
                  <a:pt x="13648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36480" y="247650"/>
                  <a:pt x="304800" y="247650"/>
                </a:cubicBezTo>
                <a:cubicBezTo>
                  <a:pt x="473120" y="247650"/>
                  <a:pt x="609600" y="205026"/>
                  <a:pt x="609600" y="152400"/>
                </a:cubicBezTo>
                <a:close/>
                <a:moveTo>
                  <a:pt x="542245" y="464106"/>
                </a:moveTo>
                <a:cubicBezTo>
                  <a:pt x="478427" y="483989"/>
                  <a:pt x="394471" y="495300"/>
                  <a:pt x="304800" y="495300"/>
                </a:cubicBezTo>
                <a:cubicBezTo>
                  <a:pt x="215129" y="495300"/>
                  <a:pt x="131173" y="483989"/>
                  <a:pt x="67355" y="464106"/>
                </a:cubicBezTo>
                <a:cubicBezTo>
                  <a:pt x="43407" y="456605"/>
                  <a:pt x="20139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36480" y="609600"/>
                  <a:pt x="304800" y="609600"/>
                </a:cubicBezTo>
                <a:cubicBezTo>
                  <a:pt x="473120" y="609600"/>
                  <a:pt x="609600" y="566976"/>
                  <a:pt x="609600" y="514350"/>
                </a:cubicBezTo>
                <a:lnTo>
                  <a:pt x="609600" y="435531"/>
                </a:lnTo>
                <a:cubicBezTo>
                  <a:pt x="589461" y="447199"/>
                  <a:pt x="566329" y="456605"/>
                  <a:pt x="542245" y="46410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3180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 Base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24000" y="4762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Collection of IF-THEN production rules encoding domain expertise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0" y="3302000"/>
            <a:ext cx="406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96200" y="355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34171" y="76200"/>
                  <a:pt x="0" y="110371"/>
                  <a:pt x="0" y="152400"/>
                </a:cubicBezTo>
                <a:lnTo>
                  <a:pt x="0" y="161211"/>
                </a:lnTo>
                <a:cubicBezTo>
                  <a:pt x="0" y="169307"/>
                  <a:pt x="5239" y="176212"/>
                  <a:pt x="12025" y="180618"/>
                </a:cubicBezTo>
                <a:cubicBezTo>
                  <a:pt x="27742" y="190857"/>
                  <a:pt x="38100" y="208478"/>
                  <a:pt x="38100" y="228600"/>
                </a:cubicBezTo>
                <a:cubicBezTo>
                  <a:pt x="38100" y="248722"/>
                  <a:pt x="27742" y="266343"/>
                  <a:pt x="12025" y="276582"/>
                </a:cubicBezTo>
                <a:cubicBezTo>
                  <a:pt x="5239" y="280987"/>
                  <a:pt x="0" y="287893"/>
                  <a:pt x="0" y="295989"/>
                </a:cubicBezTo>
                <a:lnTo>
                  <a:pt x="0" y="361950"/>
                </a:lnTo>
                <a:lnTo>
                  <a:pt x="609600" y="361950"/>
                </a:lnTo>
                <a:lnTo>
                  <a:pt x="609600" y="295989"/>
                </a:lnTo>
                <a:cubicBezTo>
                  <a:pt x="609600" y="287893"/>
                  <a:pt x="604361" y="280987"/>
                  <a:pt x="597575" y="276582"/>
                </a:cubicBezTo>
                <a:cubicBezTo>
                  <a:pt x="581858" y="266343"/>
                  <a:pt x="571500" y="248722"/>
                  <a:pt x="571500" y="228600"/>
                </a:cubicBezTo>
                <a:cubicBezTo>
                  <a:pt x="571500" y="208478"/>
                  <a:pt x="581858" y="190857"/>
                  <a:pt x="597575" y="180618"/>
                </a:cubicBezTo>
                <a:cubicBezTo>
                  <a:pt x="604361" y="176212"/>
                  <a:pt x="609600" y="169307"/>
                  <a:pt x="609600" y="161211"/>
                </a:cubicBezTo>
                <a:lnTo>
                  <a:pt x="609600" y="152400"/>
                </a:lnTo>
                <a:cubicBezTo>
                  <a:pt x="609600" y="110371"/>
                  <a:pt x="575429" y="76200"/>
                  <a:pt x="533400" y="76200"/>
                </a:cubicBezTo>
                <a:lnTo>
                  <a:pt x="76200" y="76200"/>
                </a:lnTo>
                <a:close/>
                <a:moveTo>
                  <a:pt x="609600" y="495300"/>
                </a:moveTo>
                <a:lnTo>
                  <a:pt x="609600" y="419100"/>
                </a:lnTo>
                <a:lnTo>
                  <a:pt x="0" y="419100"/>
                </a:lnTo>
                <a:lnTo>
                  <a:pt x="0" y="495300"/>
                </a:lnTo>
                <a:cubicBezTo>
                  <a:pt x="0" y="516374"/>
                  <a:pt x="17026" y="533400"/>
                  <a:pt x="38100" y="533400"/>
                </a:cubicBezTo>
                <a:lnTo>
                  <a:pt x="114300" y="533400"/>
                </a:lnTo>
                <a:lnTo>
                  <a:pt x="114300" y="504825"/>
                </a:lnTo>
                <a:cubicBezTo>
                  <a:pt x="114300" y="488990"/>
                  <a:pt x="127040" y="476250"/>
                  <a:pt x="142875" y="476250"/>
                </a:cubicBezTo>
                <a:cubicBezTo>
                  <a:pt x="158710" y="476250"/>
                  <a:pt x="171450" y="488990"/>
                  <a:pt x="171450" y="504825"/>
                </a:cubicBezTo>
                <a:lnTo>
                  <a:pt x="171450" y="533400"/>
                </a:lnTo>
                <a:lnTo>
                  <a:pt x="276225" y="533400"/>
                </a:lnTo>
                <a:lnTo>
                  <a:pt x="276225" y="504825"/>
                </a:lnTo>
                <a:cubicBezTo>
                  <a:pt x="276225" y="488990"/>
                  <a:pt x="288965" y="476250"/>
                  <a:pt x="304800" y="476250"/>
                </a:cubicBezTo>
                <a:cubicBezTo>
                  <a:pt x="320635" y="476250"/>
                  <a:pt x="333375" y="488990"/>
                  <a:pt x="333375" y="504825"/>
                </a:cubicBezTo>
                <a:lnTo>
                  <a:pt x="333375" y="533400"/>
                </a:lnTo>
                <a:lnTo>
                  <a:pt x="438150" y="533400"/>
                </a:lnTo>
                <a:lnTo>
                  <a:pt x="438150" y="504825"/>
                </a:lnTo>
                <a:cubicBezTo>
                  <a:pt x="438150" y="488990"/>
                  <a:pt x="450890" y="476250"/>
                  <a:pt x="466725" y="476250"/>
                </a:cubicBezTo>
                <a:cubicBezTo>
                  <a:pt x="482560" y="476250"/>
                  <a:pt x="495300" y="488990"/>
                  <a:pt x="495300" y="504825"/>
                </a:cubicBezTo>
                <a:lnTo>
                  <a:pt x="495300" y="533400"/>
                </a:lnTo>
                <a:lnTo>
                  <a:pt x="571500" y="533400"/>
                </a:lnTo>
                <a:cubicBezTo>
                  <a:pt x="592574" y="533400"/>
                  <a:pt x="609600" y="516374"/>
                  <a:pt x="609600" y="495300"/>
                </a:cubicBezTo>
                <a:close/>
                <a:moveTo>
                  <a:pt x="190500" y="190500"/>
                </a:moveTo>
                <a:lnTo>
                  <a:pt x="190500" y="266700"/>
                </a:lnTo>
                <a:cubicBezTo>
                  <a:pt x="190500" y="287774"/>
                  <a:pt x="173474" y="304800"/>
                  <a:pt x="152400" y="304800"/>
                </a:cubicBezTo>
                <a:cubicBezTo>
                  <a:pt x="131326" y="304800"/>
                  <a:pt x="114300" y="287774"/>
                  <a:pt x="114300" y="266700"/>
                </a:cubicBezTo>
                <a:lnTo>
                  <a:pt x="114300" y="190500"/>
                </a:lnTo>
                <a:cubicBezTo>
                  <a:pt x="114300" y="169426"/>
                  <a:pt x="131326" y="152400"/>
                  <a:pt x="152400" y="152400"/>
                </a:cubicBezTo>
                <a:cubicBezTo>
                  <a:pt x="173474" y="152400"/>
                  <a:pt x="190500" y="169426"/>
                  <a:pt x="190500" y="190500"/>
                </a:cubicBezTo>
                <a:close/>
                <a:moveTo>
                  <a:pt x="342900" y="190500"/>
                </a:moveTo>
                <a:lnTo>
                  <a:pt x="342900" y="266700"/>
                </a:lnTo>
                <a:cubicBezTo>
                  <a:pt x="342900" y="287774"/>
                  <a:pt x="325874" y="304800"/>
                  <a:pt x="304800" y="304800"/>
                </a:cubicBezTo>
                <a:cubicBezTo>
                  <a:pt x="283726" y="304800"/>
                  <a:pt x="266700" y="287774"/>
                  <a:pt x="266700" y="266700"/>
                </a:cubicBezTo>
                <a:lnTo>
                  <a:pt x="266700" y="190500"/>
                </a:lnTo>
                <a:cubicBezTo>
                  <a:pt x="266700" y="169426"/>
                  <a:pt x="283726" y="152400"/>
                  <a:pt x="304800" y="152400"/>
                </a:cubicBezTo>
                <a:cubicBezTo>
                  <a:pt x="325874" y="152400"/>
                  <a:pt x="342900" y="169426"/>
                  <a:pt x="342900" y="190500"/>
                </a:cubicBezTo>
                <a:close/>
                <a:moveTo>
                  <a:pt x="495300" y="190500"/>
                </a:moveTo>
                <a:lnTo>
                  <a:pt x="495300" y="266700"/>
                </a:lnTo>
                <a:cubicBezTo>
                  <a:pt x="495300" y="287774"/>
                  <a:pt x="478274" y="304800"/>
                  <a:pt x="457200" y="304800"/>
                </a:cubicBezTo>
                <a:cubicBezTo>
                  <a:pt x="436126" y="304800"/>
                  <a:pt x="419100" y="287774"/>
                  <a:pt x="419100" y="266700"/>
                </a:cubicBezTo>
                <a:lnTo>
                  <a:pt x="419100" y="190500"/>
                </a:lnTo>
                <a:cubicBezTo>
                  <a:pt x="419100" y="169426"/>
                  <a:pt x="436126" y="152400"/>
                  <a:pt x="457200" y="152400"/>
                </a:cubicBezTo>
                <a:cubicBezTo>
                  <a:pt x="478274" y="152400"/>
                  <a:pt x="495300" y="169426"/>
                  <a:pt x="495300" y="1905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350000" y="43180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Working Memory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50000" y="4762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Stores current facts and data that the system is processing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3302000"/>
            <a:ext cx="406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522200" y="355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96145" y="250627"/>
                </a:moveTo>
                <a:cubicBezTo>
                  <a:pt x="407765" y="246698"/>
                  <a:pt x="419957" y="253603"/>
                  <a:pt x="425196" y="267057"/>
                </a:cubicBezTo>
                <a:lnTo>
                  <a:pt x="442912" y="311825"/>
                </a:lnTo>
                <a:cubicBezTo>
                  <a:pt x="452723" y="313492"/>
                  <a:pt x="462344" y="316825"/>
                  <a:pt x="471392" y="321469"/>
                </a:cubicBezTo>
                <a:lnTo>
                  <a:pt x="504730" y="293727"/>
                </a:lnTo>
                <a:cubicBezTo>
                  <a:pt x="514731" y="285393"/>
                  <a:pt x="527971" y="287060"/>
                  <a:pt x="536448" y="297656"/>
                </a:cubicBezTo>
                <a:lnTo>
                  <a:pt x="554736" y="320516"/>
                </a:lnTo>
                <a:cubicBezTo>
                  <a:pt x="563213" y="331113"/>
                  <a:pt x="564547" y="347782"/>
                  <a:pt x="557879" y="360164"/>
                </a:cubicBezTo>
                <a:lnTo>
                  <a:pt x="535686" y="401717"/>
                </a:lnTo>
                <a:cubicBezTo>
                  <a:pt x="537496" y="407313"/>
                  <a:pt x="539115" y="413147"/>
                  <a:pt x="540449" y="419219"/>
                </a:cubicBezTo>
                <a:cubicBezTo>
                  <a:pt x="541782" y="425291"/>
                  <a:pt x="542639" y="431244"/>
                  <a:pt x="543306" y="437317"/>
                </a:cubicBezTo>
                <a:lnTo>
                  <a:pt x="579215" y="459462"/>
                </a:lnTo>
                <a:cubicBezTo>
                  <a:pt x="589979" y="466130"/>
                  <a:pt x="595503" y="481370"/>
                  <a:pt x="592360" y="495776"/>
                </a:cubicBezTo>
                <a:lnTo>
                  <a:pt x="585692" y="526971"/>
                </a:lnTo>
                <a:cubicBezTo>
                  <a:pt x="582549" y="541377"/>
                  <a:pt x="571786" y="551140"/>
                  <a:pt x="559784" y="550188"/>
                </a:cubicBezTo>
                <a:lnTo>
                  <a:pt x="519779" y="546973"/>
                </a:lnTo>
                <a:cubicBezTo>
                  <a:pt x="513778" y="556617"/>
                  <a:pt x="506825" y="565547"/>
                  <a:pt x="498919" y="573167"/>
                </a:cubicBezTo>
                <a:lnTo>
                  <a:pt x="501491" y="623054"/>
                </a:lnTo>
                <a:cubicBezTo>
                  <a:pt x="502253" y="638056"/>
                  <a:pt x="494443" y="651629"/>
                  <a:pt x="482917" y="655439"/>
                </a:cubicBezTo>
                <a:lnTo>
                  <a:pt x="457962" y="663773"/>
                </a:lnTo>
                <a:cubicBezTo>
                  <a:pt x="446342" y="667702"/>
                  <a:pt x="434245" y="660797"/>
                  <a:pt x="428911" y="647343"/>
                </a:cubicBezTo>
                <a:lnTo>
                  <a:pt x="411194" y="602575"/>
                </a:lnTo>
                <a:cubicBezTo>
                  <a:pt x="401384" y="600908"/>
                  <a:pt x="391763" y="597575"/>
                  <a:pt x="382715" y="592931"/>
                </a:cubicBezTo>
                <a:lnTo>
                  <a:pt x="349377" y="620673"/>
                </a:lnTo>
                <a:cubicBezTo>
                  <a:pt x="339376" y="629007"/>
                  <a:pt x="326136" y="627340"/>
                  <a:pt x="317659" y="616744"/>
                </a:cubicBezTo>
                <a:lnTo>
                  <a:pt x="299371" y="593884"/>
                </a:lnTo>
                <a:cubicBezTo>
                  <a:pt x="290894" y="583287"/>
                  <a:pt x="289560" y="566738"/>
                  <a:pt x="296228" y="554236"/>
                </a:cubicBezTo>
                <a:lnTo>
                  <a:pt x="318421" y="512564"/>
                </a:lnTo>
                <a:cubicBezTo>
                  <a:pt x="316611" y="506968"/>
                  <a:pt x="314992" y="501134"/>
                  <a:pt x="313658" y="495062"/>
                </a:cubicBezTo>
                <a:cubicBezTo>
                  <a:pt x="312325" y="488990"/>
                  <a:pt x="311468" y="482918"/>
                  <a:pt x="310801" y="476964"/>
                </a:cubicBezTo>
                <a:lnTo>
                  <a:pt x="274892" y="454819"/>
                </a:lnTo>
                <a:cubicBezTo>
                  <a:pt x="264128" y="448151"/>
                  <a:pt x="258699" y="432911"/>
                  <a:pt x="261747" y="418505"/>
                </a:cubicBezTo>
                <a:lnTo>
                  <a:pt x="268415" y="387310"/>
                </a:lnTo>
                <a:cubicBezTo>
                  <a:pt x="271558" y="372904"/>
                  <a:pt x="282321" y="363141"/>
                  <a:pt x="294323" y="364093"/>
                </a:cubicBezTo>
                <a:lnTo>
                  <a:pt x="334232" y="367308"/>
                </a:lnTo>
                <a:cubicBezTo>
                  <a:pt x="340233" y="357664"/>
                  <a:pt x="347186" y="348734"/>
                  <a:pt x="355092" y="341114"/>
                </a:cubicBezTo>
                <a:lnTo>
                  <a:pt x="352520" y="291346"/>
                </a:lnTo>
                <a:cubicBezTo>
                  <a:pt x="351758" y="276344"/>
                  <a:pt x="359569" y="262771"/>
                  <a:pt x="371094" y="258961"/>
                </a:cubicBezTo>
                <a:lnTo>
                  <a:pt x="396049" y="250627"/>
                </a:lnTo>
                <a:close/>
                <a:moveTo>
                  <a:pt x="427101" y="404813"/>
                </a:moveTo>
                <a:cubicBezTo>
                  <a:pt x="403970" y="404845"/>
                  <a:pt x="385212" y="428346"/>
                  <a:pt x="385239" y="457260"/>
                </a:cubicBezTo>
                <a:cubicBezTo>
                  <a:pt x="385265" y="486173"/>
                  <a:pt x="404065" y="509620"/>
                  <a:pt x="427196" y="509588"/>
                </a:cubicBezTo>
                <a:cubicBezTo>
                  <a:pt x="450327" y="509555"/>
                  <a:pt x="469085" y="486054"/>
                  <a:pt x="469059" y="457140"/>
                </a:cubicBezTo>
                <a:cubicBezTo>
                  <a:pt x="469032" y="428227"/>
                  <a:pt x="450232" y="404780"/>
                  <a:pt x="427101" y="404813"/>
                </a:cubicBezTo>
                <a:close/>
                <a:moveTo>
                  <a:pt x="214217" y="-54173"/>
                </a:moveTo>
                <a:lnTo>
                  <a:pt x="239173" y="-45839"/>
                </a:lnTo>
                <a:cubicBezTo>
                  <a:pt x="250698" y="-41910"/>
                  <a:pt x="258508" y="-28337"/>
                  <a:pt x="257747" y="-13454"/>
                </a:cubicBezTo>
                <a:lnTo>
                  <a:pt x="255175" y="36314"/>
                </a:lnTo>
                <a:cubicBezTo>
                  <a:pt x="263081" y="43934"/>
                  <a:pt x="270034" y="52745"/>
                  <a:pt x="276035" y="62508"/>
                </a:cubicBezTo>
                <a:lnTo>
                  <a:pt x="316040" y="59293"/>
                </a:lnTo>
                <a:cubicBezTo>
                  <a:pt x="327946" y="58341"/>
                  <a:pt x="338804" y="68104"/>
                  <a:pt x="341947" y="82510"/>
                </a:cubicBezTo>
                <a:lnTo>
                  <a:pt x="348615" y="113705"/>
                </a:lnTo>
                <a:cubicBezTo>
                  <a:pt x="351663" y="128111"/>
                  <a:pt x="346234" y="143351"/>
                  <a:pt x="335471" y="150019"/>
                </a:cubicBezTo>
                <a:lnTo>
                  <a:pt x="299561" y="172164"/>
                </a:lnTo>
                <a:cubicBezTo>
                  <a:pt x="298895" y="178237"/>
                  <a:pt x="297942" y="184309"/>
                  <a:pt x="296704" y="190262"/>
                </a:cubicBezTo>
                <a:cubicBezTo>
                  <a:pt x="295466" y="196215"/>
                  <a:pt x="293751" y="202168"/>
                  <a:pt x="291941" y="207764"/>
                </a:cubicBezTo>
                <a:lnTo>
                  <a:pt x="314135" y="249436"/>
                </a:lnTo>
                <a:cubicBezTo>
                  <a:pt x="320802" y="261937"/>
                  <a:pt x="319469" y="278487"/>
                  <a:pt x="310991" y="289084"/>
                </a:cubicBezTo>
                <a:lnTo>
                  <a:pt x="292703" y="311944"/>
                </a:lnTo>
                <a:cubicBezTo>
                  <a:pt x="284226" y="322540"/>
                  <a:pt x="270986" y="324207"/>
                  <a:pt x="260985" y="315873"/>
                </a:cubicBezTo>
                <a:lnTo>
                  <a:pt x="227648" y="288131"/>
                </a:lnTo>
                <a:cubicBezTo>
                  <a:pt x="218599" y="292775"/>
                  <a:pt x="208979" y="296108"/>
                  <a:pt x="199168" y="297775"/>
                </a:cubicBezTo>
                <a:lnTo>
                  <a:pt x="181451" y="342543"/>
                </a:lnTo>
                <a:cubicBezTo>
                  <a:pt x="176117" y="355997"/>
                  <a:pt x="163925" y="362783"/>
                  <a:pt x="152400" y="358973"/>
                </a:cubicBezTo>
                <a:lnTo>
                  <a:pt x="127445" y="350639"/>
                </a:lnTo>
                <a:cubicBezTo>
                  <a:pt x="115824" y="346710"/>
                  <a:pt x="108109" y="333137"/>
                  <a:pt x="108871" y="318254"/>
                </a:cubicBezTo>
                <a:lnTo>
                  <a:pt x="111443" y="268367"/>
                </a:lnTo>
                <a:cubicBezTo>
                  <a:pt x="103537" y="260747"/>
                  <a:pt x="96584" y="251936"/>
                  <a:pt x="90583" y="242173"/>
                </a:cubicBezTo>
                <a:lnTo>
                  <a:pt x="50578" y="245388"/>
                </a:lnTo>
                <a:cubicBezTo>
                  <a:pt x="38672" y="246340"/>
                  <a:pt x="27813" y="236577"/>
                  <a:pt x="24670" y="222171"/>
                </a:cubicBezTo>
                <a:lnTo>
                  <a:pt x="18002" y="190976"/>
                </a:lnTo>
                <a:cubicBezTo>
                  <a:pt x="14954" y="176570"/>
                  <a:pt x="20384" y="161330"/>
                  <a:pt x="31147" y="154662"/>
                </a:cubicBezTo>
                <a:lnTo>
                  <a:pt x="67056" y="132517"/>
                </a:lnTo>
                <a:cubicBezTo>
                  <a:pt x="67723" y="126444"/>
                  <a:pt x="68675" y="120491"/>
                  <a:pt x="69914" y="114419"/>
                </a:cubicBezTo>
                <a:cubicBezTo>
                  <a:pt x="71247" y="108347"/>
                  <a:pt x="72771" y="102513"/>
                  <a:pt x="74676" y="96917"/>
                </a:cubicBezTo>
                <a:lnTo>
                  <a:pt x="52483" y="55364"/>
                </a:lnTo>
                <a:cubicBezTo>
                  <a:pt x="45815" y="42863"/>
                  <a:pt x="47149" y="26313"/>
                  <a:pt x="55626" y="15716"/>
                </a:cubicBezTo>
                <a:lnTo>
                  <a:pt x="73914" y="-7144"/>
                </a:lnTo>
                <a:cubicBezTo>
                  <a:pt x="82391" y="-17740"/>
                  <a:pt x="95631" y="-19407"/>
                  <a:pt x="105632" y="-11073"/>
                </a:cubicBezTo>
                <a:lnTo>
                  <a:pt x="138970" y="16669"/>
                </a:lnTo>
                <a:cubicBezTo>
                  <a:pt x="148019" y="12025"/>
                  <a:pt x="157639" y="8692"/>
                  <a:pt x="167449" y="7025"/>
                </a:cubicBezTo>
                <a:lnTo>
                  <a:pt x="185166" y="-37743"/>
                </a:lnTo>
                <a:cubicBezTo>
                  <a:pt x="190500" y="-51197"/>
                  <a:pt x="202597" y="-57983"/>
                  <a:pt x="214217" y="-54173"/>
                </a:cubicBezTo>
                <a:close/>
                <a:moveTo>
                  <a:pt x="183261" y="100013"/>
                </a:moveTo>
                <a:cubicBezTo>
                  <a:pt x="160130" y="100013"/>
                  <a:pt x="141351" y="123487"/>
                  <a:pt x="141351" y="152400"/>
                </a:cubicBezTo>
                <a:cubicBezTo>
                  <a:pt x="141351" y="181313"/>
                  <a:pt x="160130" y="204787"/>
                  <a:pt x="183261" y="204787"/>
                </a:cubicBezTo>
                <a:cubicBezTo>
                  <a:pt x="206392" y="204787"/>
                  <a:pt x="225171" y="181313"/>
                  <a:pt x="225171" y="152400"/>
                </a:cubicBezTo>
                <a:cubicBezTo>
                  <a:pt x="225171" y="123487"/>
                  <a:pt x="206392" y="100013"/>
                  <a:pt x="183261" y="10001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0" y="43180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Engine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176000" y="4762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Recognize-act cycle: match rules → resolve → execute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" y="6223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Recognize-Act Cycle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270000" y="6858000"/>
            <a:ext cx="2794000" cy="4445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000" y="68580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Match Rules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64000" y="71120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699000" y="6858000"/>
            <a:ext cx="2794000" cy="4445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3" name="Text 21"/>
          <p:cNvSpPr/>
          <p:nvPr/>
        </p:nvSpPr>
        <p:spPr>
          <a:xfrm>
            <a:off x="4699000" y="68580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Select (Resolve)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3000" y="71120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128000" y="6858000"/>
            <a:ext cx="2794000" cy="4445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8128000" y="68580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Execute (Act)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22000" y="71120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1557000" y="6858000"/>
            <a:ext cx="2794000" cy="444500"/>
          </a:xfrm>
          <a:prstGeom prst="roundRect">
            <a:avLst>
              <a:gd name="adj" fmla="val 12000"/>
            </a:avLst>
          </a:prstGeom>
          <a:solidFill>
            <a:srgbClr val="6B9CBF"/>
          </a:solidFill>
          <a:ln/>
        </p:spPr>
      </p:sp>
      <p:sp>
        <p:nvSpPr>
          <p:cNvPr id="29" name="Text 27"/>
          <p:cNvSpPr/>
          <p:nvPr/>
        </p:nvSpPr>
        <p:spPr>
          <a:xfrm>
            <a:off x="11557000" y="68580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KR Techniques Comparison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82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  <a:gridCol w="2743200"/>
              </a:tblGrid>
              <a:tr h="675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Logic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Semantic Net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Frames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Rules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Expressiveness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Ease of Use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Hard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Easy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Easy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Inference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Expensive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Slow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Efficient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Naturalness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Scalability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Good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7112000"/>
            <a:ext cx="13716000" cy="762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78000" y="7112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single technique is universally best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choice depends on domain and application requirements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Knowledge Representation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07057"/>
                </a:moveTo>
                <a:lnTo>
                  <a:pt x="239117" y="86420"/>
                </a:lnTo>
                <a:cubicBezTo>
                  <a:pt x="214313" y="52090"/>
                  <a:pt x="174526" y="31750"/>
                  <a:pt x="132060" y="31750"/>
                </a:cubicBezTo>
                <a:cubicBezTo>
                  <a:pt x="59134" y="31750"/>
                  <a:pt x="0" y="90884"/>
                  <a:pt x="0" y="163810"/>
                </a:cubicBezTo>
                <a:lnTo>
                  <a:pt x="0" y="166390"/>
                </a:lnTo>
                <a:cubicBezTo>
                  <a:pt x="0" y="189805"/>
                  <a:pt x="6152" y="214015"/>
                  <a:pt x="16470" y="238125"/>
                </a:cubicBezTo>
                <a:lnTo>
                  <a:pt x="121642" y="238125"/>
                </a:lnTo>
                <a:cubicBezTo>
                  <a:pt x="124817" y="238125"/>
                  <a:pt x="127695" y="236240"/>
                  <a:pt x="128984" y="233263"/>
                </a:cubicBezTo>
                <a:lnTo>
                  <a:pt x="160536" y="157559"/>
                </a:lnTo>
                <a:cubicBezTo>
                  <a:pt x="164207" y="148828"/>
                  <a:pt x="172740" y="143073"/>
                  <a:pt x="182166" y="142875"/>
                </a:cubicBezTo>
                <a:cubicBezTo>
                  <a:pt x="191591" y="142677"/>
                  <a:pt x="200323" y="148233"/>
                  <a:pt x="204192" y="156865"/>
                </a:cubicBezTo>
                <a:lnTo>
                  <a:pt x="255091" y="269875"/>
                </a:lnTo>
                <a:lnTo>
                  <a:pt x="296168" y="187722"/>
                </a:lnTo>
                <a:cubicBezTo>
                  <a:pt x="300236" y="179685"/>
                  <a:pt x="308471" y="174526"/>
                  <a:pt x="317500" y="174526"/>
                </a:cubicBezTo>
                <a:cubicBezTo>
                  <a:pt x="326529" y="174526"/>
                  <a:pt x="334764" y="179586"/>
                  <a:pt x="338832" y="187722"/>
                </a:cubicBezTo>
                <a:lnTo>
                  <a:pt x="361851" y="233660"/>
                </a:lnTo>
                <a:cubicBezTo>
                  <a:pt x="363240" y="236339"/>
                  <a:pt x="365919" y="238026"/>
                  <a:pt x="368995" y="238026"/>
                </a:cubicBezTo>
                <a:lnTo>
                  <a:pt x="491629" y="238026"/>
                </a:lnTo>
                <a:cubicBezTo>
                  <a:pt x="502047" y="213916"/>
                  <a:pt x="508099" y="189706"/>
                  <a:pt x="508099" y="166291"/>
                </a:cubicBezTo>
                <a:lnTo>
                  <a:pt x="508099" y="163711"/>
                </a:lnTo>
                <a:cubicBezTo>
                  <a:pt x="508000" y="90884"/>
                  <a:pt x="448866" y="31750"/>
                  <a:pt x="375940" y="31750"/>
                </a:cubicBezTo>
                <a:cubicBezTo>
                  <a:pt x="333573" y="31750"/>
                  <a:pt x="293688" y="52090"/>
                  <a:pt x="268883" y="86420"/>
                </a:cubicBezTo>
                <a:lnTo>
                  <a:pt x="254000" y="106958"/>
                </a:lnTo>
                <a:close/>
                <a:moveTo>
                  <a:pt x="465931" y="285750"/>
                </a:moveTo>
                <a:lnTo>
                  <a:pt x="368895" y="285750"/>
                </a:lnTo>
                <a:cubicBezTo>
                  <a:pt x="347861" y="285750"/>
                  <a:pt x="328613" y="273844"/>
                  <a:pt x="319187" y="254992"/>
                </a:cubicBezTo>
                <a:lnTo>
                  <a:pt x="317500" y="251619"/>
                </a:lnTo>
                <a:lnTo>
                  <a:pt x="275332" y="336054"/>
                </a:lnTo>
                <a:cubicBezTo>
                  <a:pt x="271264" y="344289"/>
                  <a:pt x="262731" y="349448"/>
                  <a:pt x="253504" y="349250"/>
                </a:cubicBezTo>
                <a:cubicBezTo>
                  <a:pt x="244277" y="349052"/>
                  <a:pt x="236041" y="343595"/>
                  <a:pt x="232271" y="335260"/>
                </a:cubicBezTo>
                <a:lnTo>
                  <a:pt x="183356" y="226616"/>
                </a:lnTo>
                <a:lnTo>
                  <a:pt x="172938" y="251619"/>
                </a:lnTo>
                <a:cubicBezTo>
                  <a:pt x="164306" y="272355"/>
                  <a:pt x="144066" y="285849"/>
                  <a:pt x="121642" y="285849"/>
                </a:cubicBezTo>
                <a:lnTo>
                  <a:pt x="42069" y="285849"/>
                </a:lnTo>
                <a:cubicBezTo>
                  <a:pt x="88900" y="359073"/>
                  <a:pt x="164108" y="426442"/>
                  <a:pt x="211138" y="462359"/>
                </a:cubicBezTo>
                <a:cubicBezTo>
                  <a:pt x="223441" y="471686"/>
                  <a:pt x="238522" y="476349"/>
                  <a:pt x="253901" y="476349"/>
                </a:cubicBezTo>
                <a:cubicBezTo>
                  <a:pt x="269280" y="476349"/>
                  <a:pt x="284460" y="471785"/>
                  <a:pt x="296664" y="462359"/>
                </a:cubicBezTo>
                <a:cubicBezTo>
                  <a:pt x="343892" y="426343"/>
                  <a:pt x="419100" y="358973"/>
                  <a:pt x="465931" y="2857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3495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048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 (MYCIN, Watson) represent symptoms, diagnoses, rules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00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0" y="23495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0000" y="3048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Fraud detection — Mastercard: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75B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transactions/year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0490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04800" y="31750"/>
                </a:moveTo>
                <a:lnTo>
                  <a:pt x="406400" y="31750"/>
                </a:lnTo>
                <a:cubicBezTo>
                  <a:pt x="420449" y="31750"/>
                  <a:pt x="431800" y="45938"/>
                  <a:pt x="431800" y="63500"/>
                </a:cubicBezTo>
                <a:cubicBezTo>
                  <a:pt x="431800" y="81062"/>
                  <a:pt x="420449" y="95250"/>
                  <a:pt x="406400" y="95250"/>
                </a:cubicBezTo>
                <a:lnTo>
                  <a:pt x="316230" y="95250"/>
                </a:lnTo>
                <a:cubicBezTo>
                  <a:pt x="312103" y="120848"/>
                  <a:pt x="298053" y="141982"/>
                  <a:pt x="279400" y="152102"/>
                </a:cubicBezTo>
                <a:lnTo>
                  <a:pt x="279400" y="444500"/>
                </a:lnTo>
                <a:lnTo>
                  <a:pt x="406400" y="444500"/>
                </a:lnTo>
                <a:cubicBezTo>
                  <a:pt x="420449" y="444500"/>
                  <a:pt x="431800" y="458688"/>
                  <a:pt x="431800" y="476250"/>
                </a:cubicBezTo>
                <a:cubicBezTo>
                  <a:pt x="431800" y="493812"/>
                  <a:pt x="420449" y="508000"/>
                  <a:pt x="406400" y="508000"/>
                </a:cubicBezTo>
                <a:lnTo>
                  <a:pt x="101600" y="508000"/>
                </a:lnTo>
                <a:cubicBezTo>
                  <a:pt x="87551" y="508000"/>
                  <a:pt x="76200" y="493812"/>
                  <a:pt x="76200" y="476250"/>
                </a:cubicBezTo>
                <a:cubicBezTo>
                  <a:pt x="76200" y="458688"/>
                  <a:pt x="87551" y="444500"/>
                  <a:pt x="101600" y="444500"/>
                </a:cubicBezTo>
                <a:lnTo>
                  <a:pt x="228600" y="444500"/>
                </a:lnTo>
                <a:lnTo>
                  <a:pt x="228600" y="152102"/>
                </a:lnTo>
                <a:cubicBezTo>
                  <a:pt x="209947" y="141883"/>
                  <a:pt x="195898" y="120749"/>
                  <a:pt x="191770" y="95250"/>
                </a:cubicBezTo>
                <a:lnTo>
                  <a:pt x="101600" y="95250"/>
                </a:lnTo>
                <a:cubicBezTo>
                  <a:pt x="87551" y="95250"/>
                  <a:pt x="76200" y="81062"/>
                  <a:pt x="76200" y="63500"/>
                </a:cubicBezTo>
                <a:cubicBezTo>
                  <a:pt x="76200" y="45938"/>
                  <a:pt x="87551" y="31750"/>
                  <a:pt x="101600" y="31750"/>
                </a:cubicBezTo>
                <a:lnTo>
                  <a:pt x="203200" y="31750"/>
                </a:lnTo>
                <a:cubicBezTo>
                  <a:pt x="214789" y="12502"/>
                  <a:pt x="233204" y="0"/>
                  <a:pt x="254000" y="0"/>
                </a:cubicBezTo>
                <a:cubicBezTo>
                  <a:pt x="274796" y="0"/>
                  <a:pt x="293211" y="12502"/>
                  <a:pt x="304800" y="31750"/>
                </a:cubicBezTo>
                <a:close/>
                <a:moveTo>
                  <a:pt x="348933" y="317500"/>
                </a:moveTo>
                <a:lnTo>
                  <a:pt x="463868" y="317500"/>
                </a:lnTo>
                <a:lnTo>
                  <a:pt x="406400" y="194270"/>
                </a:lnTo>
                <a:lnTo>
                  <a:pt x="348933" y="317500"/>
                </a:lnTo>
                <a:close/>
                <a:moveTo>
                  <a:pt x="406400" y="412750"/>
                </a:moveTo>
                <a:cubicBezTo>
                  <a:pt x="356473" y="412750"/>
                  <a:pt x="314960" y="379016"/>
                  <a:pt x="306388" y="334466"/>
                </a:cubicBezTo>
                <a:cubicBezTo>
                  <a:pt x="304324" y="323552"/>
                  <a:pt x="307181" y="312341"/>
                  <a:pt x="311706" y="302617"/>
                </a:cubicBezTo>
                <a:lnTo>
                  <a:pt x="387271" y="140692"/>
                </a:lnTo>
                <a:cubicBezTo>
                  <a:pt x="391239" y="132159"/>
                  <a:pt x="398542" y="127000"/>
                  <a:pt x="406400" y="127000"/>
                </a:cubicBezTo>
                <a:cubicBezTo>
                  <a:pt x="414258" y="127000"/>
                  <a:pt x="421561" y="132259"/>
                  <a:pt x="425529" y="140692"/>
                </a:cubicBezTo>
                <a:lnTo>
                  <a:pt x="501094" y="302617"/>
                </a:lnTo>
                <a:cubicBezTo>
                  <a:pt x="505619" y="312341"/>
                  <a:pt x="508476" y="323552"/>
                  <a:pt x="506413" y="334466"/>
                </a:cubicBezTo>
                <a:cubicBezTo>
                  <a:pt x="497840" y="378916"/>
                  <a:pt x="456327" y="412750"/>
                  <a:pt x="406400" y="412750"/>
                </a:cubicBezTo>
                <a:close/>
                <a:moveTo>
                  <a:pt x="100648" y="194270"/>
                </a:moveTo>
                <a:lnTo>
                  <a:pt x="43180" y="317500"/>
                </a:lnTo>
                <a:lnTo>
                  <a:pt x="158194" y="317500"/>
                </a:lnTo>
                <a:lnTo>
                  <a:pt x="100648" y="194270"/>
                </a:lnTo>
                <a:close/>
                <a:moveTo>
                  <a:pt x="714" y="334466"/>
                </a:moveTo>
                <a:cubicBezTo>
                  <a:pt x="-1349" y="323552"/>
                  <a:pt x="1508" y="312341"/>
                  <a:pt x="6033" y="302617"/>
                </a:cubicBezTo>
                <a:lnTo>
                  <a:pt x="81598" y="140692"/>
                </a:lnTo>
                <a:cubicBezTo>
                  <a:pt x="85566" y="132159"/>
                  <a:pt x="92869" y="127000"/>
                  <a:pt x="100727" y="127000"/>
                </a:cubicBezTo>
                <a:cubicBezTo>
                  <a:pt x="108585" y="127000"/>
                  <a:pt x="115888" y="132259"/>
                  <a:pt x="119856" y="140692"/>
                </a:cubicBezTo>
                <a:lnTo>
                  <a:pt x="195421" y="302617"/>
                </a:lnTo>
                <a:cubicBezTo>
                  <a:pt x="199946" y="312341"/>
                  <a:pt x="202803" y="323552"/>
                  <a:pt x="200739" y="334466"/>
                </a:cubicBezTo>
                <a:cubicBezTo>
                  <a:pt x="192167" y="378916"/>
                  <a:pt x="150654" y="412750"/>
                  <a:pt x="100727" y="412750"/>
                </a:cubicBezTo>
                <a:cubicBezTo>
                  <a:pt x="50800" y="412750"/>
                  <a:pt x="9287" y="379016"/>
                  <a:pt x="714" y="33446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747500" y="23495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49000" y="3048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ROSS Intelligence analyzes millions of legal cases using knowledge graphs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50800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51000" y="539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349500" y="5397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 Engines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51000" y="6096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Knowledge Graph connects billions of entities for semantic search, understanding relationships between people, places, and things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5080000"/>
            <a:ext cx="6604000" cy="254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8763000" y="539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34144" y="116483"/>
                </a:moveTo>
                <a:lnTo>
                  <a:pt x="108248" y="190500"/>
                </a:lnTo>
                <a:lnTo>
                  <a:pt x="399752" y="190500"/>
                </a:lnTo>
                <a:lnTo>
                  <a:pt x="373856" y="116483"/>
                </a:lnTo>
                <a:cubicBezTo>
                  <a:pt x="369391" y="103783"/>
                  <a:pt x="357386" y="95250"/>
                  <a:pt x="343892" y="95250"/>
                </a:cubicBezTo>
                <a:lnTo>
                  <a:pt x="164108" y="95250"/>
                </a:lnTo>
                <a:cubicBezTo>
                  <a:pt x="150614" y="95250"/>
                  <a:pt x="138609" y="103783"/>
                  <a:pt x="134144" y="116483"/>
                </a:cubicBezTo>
                <a:close/>
                <a:moveTo>
                  <a:pt x="39291" y="195263"/>
                </a:moveTo>
                <a:lnTo>
                  <a:pt x="74216" y="95548"/>
                </a:lnTo>
                <a:cubicBezTo>
                  <a:pt x="87610" y="57348"/>
                  <a:pt x="123627" y="31750"/>
                  <a:pt x="164108" y="31750"/>
                </a:cubicBezTo>
                <a:lnTo>
                  <a:pt x="343892" y="31750"/>
                </a:lnTo>
                <a:cubicBezTo>
                  <a:pt x="384373" y="31750"/>
                  <a:pt x="420390" y="57348"/>
                  <a:pt x="433784" y="95548"/>
                </a:cubicBezTo>
                <a:lnTo>
                  <a:pt x="468709" y="195263"/>
                </a:lnTo>
                <a:cubicBezTo>
                  <a:pt x="491728" y="204788"/>
                  <a:pt x="508000" y="227509"/>
                  <a:pt x="508000" y="254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44500" y="476250"/>
                </a:lnTo>
                <a:cubicBezTo>
                  <a:pt x="426938" y="476250"/>
                  <a:pt x="412750" y="462062"/>
                  <a:pt x="412750" y="444500"/>
                </a:cubicBezTo>
                <a:lnTo>
                  <a:pt x="412750" y="412750"/>
                </a:lnTo>
                <a:lnTo>
                  <a:pt x="95250" y="412750"/>
                </a:lnTo>
                <a:lnTo>
                  <a:pt x="95250" y="444500"/>
                </a:lnTo>
                <a:cubicBezTo>
                  <a:pt x="95250" y="462062"/>
                  <a:pt x="81062" y="476250"/>
                  <a:pt x="6350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254000"/>
                </a:lnTo>
                <a:cubicBezTo>
                  <a:pt x="0" y="227509"/>
                  <a:pt x="16272" y="204788"/>
                  <a:pt x="39291" y="195263"/>
                </a:cubicBezTo>
                <a:close/>
                <a:moveTo>
                  <a:pt x="127000" y="301625"/>
                </a:moveTo>
                <a:cubicBezTo>
                  <a:pt x="127000" y="284102"/>
                  <a:pt x="112773" y="269875"/>
                  <a:pt x="95250" y="269875"/>
                </a:cubicBezTo>
                <a:cubicBezTo>
                  <a:pt x="77727" y="269875"/>
                  <a:pt x="63500" y="284102"/>
                  <a:pt x="63500" y="301625"/>
                </a:cubicBezTo>
                <a:cubicBezTo>
                  <a:pt x="63500" y="319148"/>
                  <a:pt x="77727" y="333375"/>
                  <a:pt x="95250" y="333375"/>
                </a:cubicBezTo>
                <a:cubicBezTo>
                  <a:pt x="112773" y="333375"/>
                  <a:pt x="127000" y="319148"/>
                  <a:pt x="127000" y="301625"/>
                </a:cubicBezTo>
                <a:close/>
                <a:moveTo>
                  <a:pt x="412750" y="333375"/>
                </a:moveTo>
                <a:cubicBezTo>
                  <a:pt x="430273" y="333375"/>
                  <a:pt x="444500" y="319148"/>
                  <a:pt x="444500" y="301625"/>
                </a:cubicBezTo>
                <a:cubicBezTo>
                  <a:pt x="444500" y="284102"/>
                  <a:pt x="430273" y="269875"/>
                  <a:pt x="412750" y="269875"/>
                </a:cubicBezTo>
                <a:cubicBezTo>
                  <a:pt x="395227" y="269875"/>
                  <a:pt x="381000" y="284102"/>
                  <a:pt x="381000" y="301625"/>
                </a:cubicBezTo>
                <a:cubicBezTo>
                  <a:pt x="381000" y="319148"/>
                  <a:pt x="395227" y="333375"/>
                  <a:pt x="412750" y="333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461500" y="5397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Autonomous Vehicles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763000" y="6096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 traffic rules, object relationships, and navigation knowledge for real-time decision-making on the road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System Design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Architecture, methodology, and best practices for knowledge-based systems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Intelligent System?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intelligent system solves problems within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specialized domain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requires human expertise.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systems mimic expert thinking for analysis, design, and decision-making.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field is called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Engineering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AI + software + domain expertise.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1905000"/>
            <a:ext cx="6096000" cy="381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1590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Characteristics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652000" y="2730500"/>
            <a:ext cx="4064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2921000"/>
            <a:ext cx="50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Domain knowledge from experts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Rule-based/hybrid reasoning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Explainable decisions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Handles uncertainty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70000" y="6223000"/>
            <a:ext cx="431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70000" y="6413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1270000" y="7048500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Enterprises planning deployment by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69000" y="6223000"/>
            <a:ext cx="4318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69000" y="6413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84%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5969000" y="7048500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Systems incorporating ML components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668000" y="6223000"/>
            <a:ext cx="4318000" cy="165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10668000" y="6413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10M+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0668000" y="7048500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rules in enterprise KBs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System Architecture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349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558800" y="224611"/>
                </a:moveTo>
                <a:cubicBezTo>
                  <a:pt x="540340" y="235307"/>
                  <a:pt x="519135" y="243929"/>
                  <a:pt x="497058" y="250805"/>
                </a:cubicBezTo>
                <a:cubicBezTo>
                  <a:pt x="438433" y="269141"/>
                  <a:pt x="361474" y="279400"/>
                  <a:pt x="279400" y="279400"/>
                </a:cubicBezTo>
                <a:cubicBezTo>
                  <a:pt x="197326" y="279400"/>
                  <a:pt x="120242" y="269032"/>
                  <a:pt x="61742" y="250805"/>
                </a:cubicBezTo>
                <a:cubicBezTo>
                  <a:pt x="39790" y="243929"/>
                  <a:pt x="18460" y="235307"/>
                  <a:pt x="0" y="224611"/>
                </a:cubicBezTo>
                <a:lnTo>
                  <a:pt x="0" y="314325"/>
                </a:lnTo>
                <a:cubicBezTo>
                  <a:pt x="0" y="362565"/>
                  <a:pt x="125106" y="401637"/>
                  <a:pt x="279400" y="401637"/>
                </a:cubicBezTo>
                <a:cubicBezTo>
                  <a:pt x="433694" y="401637"/>
                  <a:pt x="558800" y="362565"/>
                  <a:pt x="558800" y="314325"/>
                </a:cubicBezTo>
                <a:lnTo>
                  <a:pt x="558800" y="224611"/>
                </a:lnTo>
                <a:close/>
                <a:moveTo>
                  <a:pt x="558800" y="139700"/>
                </a:moveTo>
                <a:lnTo>
                  <a:pt x="558800" y="87313"/>
                </a:lnTo>
                <a:cubicBezTo>
                  <a:pt x="558800" y="39072"/>
                  <a:pt x="433694" y="0"/>
                  <a:pt x="279400" y="0"/>
                </a:cubicBezTo>
                <a:cubicBezTo>
                  <a:pt x="125106" y="0"/>
                  <a:pt x="0" y="39072"/>
                  <a:pt x="0" y="87313"/>
                </a:cubicBezTo>
                <a:lnTo>
                  <a:pt x="0" y="139700"/>
                </a:lnTo>
                <a:cubicBezTo>
                  <a:pt x="0" y="187940"/>
                  <a:pt x="125106" y="227013"/>
                  <a:pt x="279400" y="227013"/>
                </a:cubicBezTo>
                <a:cubicBezTo>
                  <a:pt x="433694" y="227013"/>
                  <a:pt x="558800" y="187940"/>
                  <a:pt x="558800" y="139700"/>
                </a:cubicBezTo>
                <a:close/>
                <a:moveTo>
                  <a:pt x="497058" y="425430"/>
                </a:moveTo>
                <a:cubicBezTo>
                  <a:pt x="438558" y="443657"/>
                  <a:pt x="361598" y="454025"/>
                  <a:pt x="279400" y="454025"/>
                </a:cubicBezTo>
                <a:cubicBezTo>
                  <a:pt x="197202" y="454025"/>
                  <a:pt x="120242" y="443657"/>
                  <a:pt x="61742" y="425430"/>
                </a:cubicBezTo>
                <a:cubicBezTo>
                  <a:pt x="39790" y="418554"/>
                  <a:pt x="18460" y="409932"/>
                  <a:pt x="0" y="399236"/>
                </a:cubicBezTo>
                <a:lnTo>
                  <a:pt x="0" y="471488"/>
                </a:lnTo>
                <a:cubicBezTo>
                  <a:pt x="0" y="519728"/>
                  <a:pt x="125106" y="558800"/>
                  <a:pt x="279400" y="558800"/>
                </a:cubicBezTo>
                <a:cubicBezTo>
                  <a:pt x="433694" y="558800"/>
                  <a:pt x="558800" y="519728"/>
                  <a:pt x="558800" y="471488"/>
                </a:cubicBezTo>
                <a:lnTo>
                  <a:pt x="558800" y="399236"/>
                </a:lnTo>
                <a:cubicBezTo>
                  <a:pt x="540340" y="409932"/>
                  <a:pt x="519135" y="418554"/>
                  <a:pt x="497058" y="42543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349500"/>
            <a:ext cx="292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Base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111500"/>
            <a:ext cx="3556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Factual and heuristic knowledge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Millions of rules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Some exceed 10M rules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Codified expertise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0000" y="2349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363133" y="229741"/>
                </a:moveTo>
                <a:cubicBezTo>
                  <a:pt x="373785" y="226139"/>
                  <a:pt x="384961" y="232470"/>
                  <a:pt x="389763" y="244802"/>
                </a:cubicBezTo>
                <a:lnTo>
                  <a:pt x="406003" y="285839"/>
                </a:lnTo>
                <a:cubicBezTo>
                  <a:pt x="414996" y="287367"/>
                  <a:pt x="423815" y="290423"/>
                  <a:pt x="432110" y="294680"/>
                </a:cubicBezTo>
                <a:lnTo>
                  <a:pt x="462669" y="269250"/>
                </a:lnTo>
                <a:cubicBezTo>
                  <a:pt x="471837" y="261610"/>
                  <a:pt x="483973" y="263138"/>
                  <a:pt x="491744" y="272852"/>
                </a:cubicBezTo>
                <a:lnTo>
                  <a:pt x="508508" y="293807"/>
                </a:lnTo>
                <a:cubicBezTo>
                  <a:pt x="516279" y="303520"/>
                  <a:pt x="517501" y="318800"/>
                  <a:pt x="511389" y="330150"/>
                </a:cubicBezTo>
                <a:lnTo>
                  <a:pt x="491046" y="368240"/>
                </a:lnTo>
                <a:cubicBezTo>
                  <a:pt x="492704" y="373370"/>
                  <a:pt x="494189" y="378718"/>
                  <a:pt x="495411" y="384284"/>
                </a:cubicBezTo>
                <a:cubicBezTo>
                  <a:pt x="496634" y="389850"/>
                  <a:pt x="497419" y="395307"/>
                  <a:pt x="498031" y="400874"/>
                </a:cubicBezTo>
                <a:lnTo>
                  <a:pt x="530947" y="421174"/>
                </a:lnTo>
                <a:cubicBezTo>
                  <a:pt x="540814" y="427286"/>
                  <a:pt x="545878" y="441256"/>
                  <a:pt x="542996" y="454462"/>
                </a:cubicBezTo>
                <a:lnTo>
                  <a:pt x="536885" y="483056"/>
                </a:lnTo>
                <a:cubicBezTo>
                  <a:pt x="534003" y="496262"/>
                  <a:pt x="524137" y="505212"/>
                  <a:pt x="513136" y="504339"/>
                </a:cubicBezTo>
                <a:lnTo>
                  <a:pt x="476464" y="501392"/>
                </a:lnTo>
                <a:cubicBezTo>
                  <a:pt x="470964" y="510232"/>
                  <a:pt x="464590" y="518418"/>
                  <a:pt x="457343" y="525403"/>
                </a:cubicBezTo>
                <a:lnTo>
                  <a:pt x="459700" y="571133"/>
                </a:lnTo>
                <a:cubicBezTo>
                  <a:pt x="460399" y="584885"/>
                  <a:pt x="453239" y="597327"/>
                  <a:pt x="442674" y="600819"/>
                </a:cubicBezTo>
                <a:lnTo>
                  <a:pt x="419799" y="608459"/>
                </a:lnTo>
                <a:cubicBezTo>
                  <a:pt x="409146" y="612061"/>
                  <a:pt x="398058" y="605730"/>
                  <a:pt x="393168" y="593398"/>
                </a:cubicBezTo>
                <a:lnTo>
                  <a:pt x="376928" y="552361"/>
                </a:lnTo>
                <a:cubicBezTo>
                  <a:pt x="367935" y="550833"/>
                  <a:pt x="359116" y="547777"/>
                  <a:pt x="350822" y="543520"/>
                </a:cubicBezTo>
                <a:lnTo>
                  <a:pt x="320262" y="568950"/>
                </a:lnTo>
                <a:cubicBezTo>
                  <a:pt x="311094" y="576590"/>
                  <a:pt x="298958" y="575062"/>
                  <a:pt x="291187" y="565348"/>
                </a:cubicBezTo>
                <a:lnTo>
                  <a:pt x="274423" y="544393"/>
                </a:lnTo>
                <a:cubicBezTo>
                  <a:pt x="266652" y="534680"/>
                  <a:pt x="265430" y="519509"/>
                  <a:pt x="271542" y="508050"/>
                </a:cubicBezTo>
                <a:lnTo>
                  <a:pt x="291886" y="469850"/>
                </a:lnTo>
                <a:cubicBezTo>
                  <a:pt x="290227" y="464721"/>
                  <a:pt x="288742" y="459373"/>
                  <a:pt x="287520" y="453807"/>
                </a:cubicBezTo>
                <a:cubicBezTo>
                  <a:pt x="286298" y="448241"/>
                  <a:pt x="285512" y="442674"/>
                  <a:pt x="284901" y="437217"/>
                </a:cubicBezTo>
                <a:lnTo>
                  <a:pt x="251984" y="416917"/>
                </a:lnTo>
                <a:cubicBezTo>
                  <a:pt x="242118" y="410805"/>
                  <a:pt x="237141" y="396835"/>
                  <a:pt x="239935" y="383629"/>
                </a:cubicBezTo>
                <a:lnTo>
                  <a:pt x="246047" y="355034"/>
                </a:lnTo>
                <a:cubicBezTo>
                  <a:pt x="248928" y="341828"/>
                  <a:pt x="258794" y="332879"/>
                  <a:pt x="269796" y="333752"/>
                </a:cubicBezTo>
                <a:lnTo>
                  <a:pt x="306380" y="336699"/>
                </a:lnTo>
                <a:cubicBezTo>
                  <a:pt x="311880" y="327858"/>
                  <a:pt x="318254" y="319673"/>
                  <a:pt x="325501" y="312688"/>
                </a:cubicBezTo>
                <a:lnTo>
                  <a:pt x="323144" y="267067"/>
                </a:lnTo>
                <a:cubicBezTo>
                  <a:pt x="322445" y="253315"/>
                  <a:pt x="329605" y="240873"/>
                  <a:pt x="340170" y="237381"/>
                </a:cubicBezTo>
                <a:lnTo>
                  <a:pt x="363045" y="229741"/>
                </a:lnTo>
                <a:close/>
                <a:moveTo>
                  <a:pt x="391509" y="371078"/>
                </a:moveTo>
                <a:cubicBezTo>
                  <a:pt x="370306" y="371108"/>
                  <a:pt x="353111" y="392651"/>
                  <a:pt x="353135" y="419155"/>
                </a:cubicBezTo>
                <a:cubicBezTo>
                  <a:pt x="353160" y="445659"/>
                  <a:pt x="370393" y="467152"/>
                  <a:pt x="391597" y="467122"/>
                </a:cubicBezTo>
                <a:cubicBezTo>
                  <a:pt x="412800" y="467092"/>
                  <a:pt x="429995" y="445549"/>
                  <a:pt x="429970" y="419045"/>
                </a:cubicBezTo>
                <a:cubicBezTo>
                  <a:pt x="429946" y="392541"/>
                  <a:pt x="412712" y="371048"/>
                  <a:pt x="391509" y="371078"/>
                </a:cubicBezTo>
                <a:close/>
                <a:moveTo>
                  <a:pt x="196366" y="-49659"/>
                </a:moveTo>
                <a:lnTo>
                  <a:pt x="219242" y="-42019"/>
                </a:lnTo>
                <a:cubicBezTo>
                  <a:pt x="229807" y="-38417"/>
                  <a:pt x="236966" y="-25975"/>
                  <a:pt x="236268" y="-12333"/>
                </a:cubicBezTo>
                <a:lnTo>
                  <a:pt x="233910" y="33288"/>
                </a:lnTo>
                <a:cubicBezTo>
                  <a:pt x="241157" y="40273"/>
                  <a:pt x="247531" y="48349"/>
                  <a:pt x="253032" y="57299"/>
                </a:cubicBezTo>
                <a:lnTo>
                  <a:pt x="289703" y="54352"/>
                </a:lnTo>
                <a:cubicBezTo>
                  <a:pt x="300617" y="53479"/>
                  <a:pt x="310571" y="62428"/>
                  <a:pt x="313452" y="75634"/>
                </a:cubicBezTo>
                <a:lnTo>
                  <a:pt x="319564" y="104229"/>
                </a:lnTo>
                <a:cubicBezTo>
                  <a:pt x="322358" y="117435"/>
                  <a:pt x="317381" y="131405"/>
                  <a:pt x="307515" y="137517"/>
                </a:cubicBezTo>
                <a:lnTo>
                  <a:pt x="274598" y="157817"/>
                </a:lnTo>
                <a:cubicBezTo>
                  <a:pt x="273987" y="163384"/>
                  <a:pt x="273114" y="168950"/>
                  <a:pt x="271978" y="174407"/>
                </a:cubicBezTo>
                <a:cubicBezTo>
                  <a:pt x="270843" y="179864"/>
                  <a:pt x="269272" y="185321"/>
                  <a:pt x="267613" y="190450"/>
                </a:cubicBezTo>
                <a:lnTo>
                  <a:pt x="287957" y="228650"/>
                </a:lnTo>
                <a:cubicBezTo>
                  <a:pt x="294069" y="240109"/>
                  <a:pt x="292846" y="255280"/>
                  <a:pt x="285075" y="264993"/>
                </a:cubicBezTo>
                <a:lnTo>
                  <a:pt x="268311" y="285948"/>
                </a:lnTo>
                <a:cubicBezTo>
                  <a:pt x="260541" y="295662"/>
                  <a:pt x="248404" y="297190"/>
                  <a:pt x="239236" y="289550"/>
                </a:cubicBezTo>
                <a:lnTo>
                  <a:pt x="208677" y="264120"/>
                </a:lnTo>
                <a:cubicBezTo>
                  <a:pt x="200382" y="268377"/>
                  <a:pt x="191564" y="271433"/>
                  <a:pt x="182570" y="272961"/>
                </a:cubicBezTo>
                <a:lnTo>
                  <a:pt x="166330" y="313998"/>
                </a:lnTo>
                <a:cubicBezTo>
                  <a:pt x="161441" y="326330"/>
                  <a:pt x="150265" y="332551"/>
                  <a:pt x="139700" y="329059"/>
                </a:cubicBezTo>
                <a:lnTo>
                  <a:pt x="116824" y="321419"/>
                </a:lnTo>
                <a:cubicBezTo>
                  <a:pt x="106172" y="317818"/>
                  <a:pt x="99100" y="305375"/>
                  <a:pt x="99798" y="291733"/>
                </a:cubicBezTo>
                <a:lnTo>
                  <a:pt x="102156" y="246003"/>
                </a:lnTo>
                <a:cubicBezTo>
                  <a:pt x="94909" y="239018"/>
                  <a:pt x="88535" y="230942"/>
                  <a:pt x="83034" y="221992"/>
                </a:cubicBezTo>
                <a:lnTo>
                  <a:pt x="46363" y="224939"/>
                </a:lnTo>
                <a:cubicBezTo>
                  <a:pt x="35449" y="225812"/>
                  <a:pt x="25495" y="216862"/>
                  <a:pt x="22614" y="203656"/>
                </a:cubicBezTo>
                <a:lnTo>
                  <a:pt x="16502" y="175062"/>
                </a:lnTo>
                <a:cubicBezTo>
                  <a:pt x="13708" y="161856"/>
                  <a:pt x="18685" y="147886"/>
                  <a:pt x="28551" y="141774"/>
                </a:cubicBezTo>
                <a:lnTo>
                  <a:pt x="61468" y="121474"/>
                </a:lnTo>
                <a:cubicBezTo>
                  <a:pt x="62079" y="115907"/>
                  <a:pt x="62952" y="110450"/>
                  <a:pt x="64087" y="104884"/>
                </a:cubicBezTo>
                <a:cubicBezTo>
                  <a:pt x="65310" y="99318"/>
                  <a:pt x="66707" y="93970"/>
                  <a:pt x="68453" y="88840"/>
                </a:cubicBezTo>
                <a:lnTo>
                  <a:pt x="48109" y="50750"/>
                </a:lnTo>
                <a:cubicBezTo>
                  <a:pt x="41997" y="39291"/>
                  <a:pt x="43220" y="24120"/>
                  <a:pt x="50991" y="14407"/>
                </a:cubicBezTo>
                <a:lnTo>
                  <a:pt x="67755" y="-6548"/>
                </a:lnTo>
                <a:cubicBezTo>
                  <a:pt x="75525" y="-16262"/>
                  <a:pt x="87662" y="-17790"/>
                  <a:pt x="96830" y="-10150"/>
                </a:cubicBezTo>
                <a:lnTo>
                  <a:pt x="127389" y="15280"/>
                </a:lnTo>
                <a:cubicBezTo>
                  <a:pt x="135684" y="11023"/>
                  <a:pt x="144502" y="7967"/>
                  <a:pt x="153495" y="6439"/>
                </a:cubicBezTo>
                <a:lnTo>
                  <a:pt x="169736" y="-34598"/>
                </a:lnTo>
                <a:cubicBezTo>
                  <a:pt x="174625" y="-46930"/>
                  <a:pt x="185714" y="-53151"/>
                  <a:pt x="196366" y="-49659"/>
                </a:cubicBezTo>
                <a:close/>
                <a:moveTo>
                  <a:pt x="167989" y="91678"/>
                </a:moveTo>
                <a:cubicBezTo>
                  <a:pt x="146786" y="91678"/>
                  <a:pt x="129572" y="113196"/>
                  <a:pt x="129572" y="139700"/>
                </a:cubicBezTo>
                <a:cubicBezTo>
                  <a:pt x="129572" y="166204"/>
                  <a:pt x="146786" y="187722"/>
                  <a:pt x="167989" y="187722"/>
                </a:cubicBezTo>
                <a:cubicBezTo>
                  <a:pt x="189192" y="187722"/>
                  <a:pt x="206407" y="166204"/>
                  <a:pt x="206407" y="139700"/>
                </a:cubicBezTo>
                <a:cubicBezTo>
                  <a:pt x="206407" y="113196"/>
                  <a:pt x="189192" y="91678"/>
                  <a:pt x="167989" y="9167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0" y="2349500"/>
            <a:ext cx="292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Engine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0000" y="3111500"/>
            <a:ext cx="3556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Reasoning mechanism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chaining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Backward chaining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Combines facts + knowledge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355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1049000" y="2349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69850" y="34925"/>
                </a:moveTo>
                <a:cubicBezTo>
                  <a:pt x="31323" y="34925"/>
                  <a:pt x="0" y="66248"/>
                  <a:pt x="0" y="104775"/>
                </a:cubicBezTo>
                <a:lnTo>
                  <a:pt x="0" y="384175"/>
                </a:lnTo>
                <a:cubicBezTo>
                  <a:pt x="0" y="422702"/>
                  <a:pt x="31323" y="454025"/>
                  <a:pt x="69850" y="454025"/>
                </a:cubicBezTo>
                <a:lnTo>
                  <a:pt x="227013" y="454025"/>
                </a:lnTo>
                <a:lnTo>
                  <a:pt x="209550" y="506413"/>
                </a:lnTo>
                <a:lnTo>
                  <a:pt x="130969" y="506413"/>
                </a:lnTo>
                <a:cubicBezTo>
                  <a:pt x="116453" y="506413"/>
                  <a:pt x="104775" y="518091"/>
                  <a:pt x="104775" y="532606"/>
                </a:cubicBezTo>
                <a:cubicBezTo>
                  <a:pt x="104775" y="547122"/>
                  <a:pt x="116453" y="558800"/>
                  <a:pt x="130969" y="558800"/>
                </a:cubicBezTo>
                <a:lnTo>
                  <a:pt x="427831" y="558800"/>
                </a:lnTo>
                <a:cubicBezTo>
                  <a:pt x="442347" y="558800"/>
                  <a:pt x="454025" y="547122"/>
                  <a:pt x="454025" y="532606"/>
                </a:cubicBezTo>
                <a:cubicBezTo>
                  <a:pt x="454025" y="518091"/>
                  <a:pt x="442347" y="506413"/>
                  <a:pt x="427831" y="506413"/>
                </a:cubicBezTo>
                <a:lnTo>
                  <a:pt x="349250" y="506413"/>
                </a:lnTo>
                <a:lnTo>
                  <a:pt x="331788" y="454025"/>
                </a:lnTo>
                <a:lnTo>
                  <a:pt x="488950" y="454025"/>
                </a:lnTo>
                <a:cubicBezTo>
                  <a:pt x="527477" y="454025"/>
                  <a:pt x="558800" y="422702"/>
                  <a:pt x="558800" y="384175"/>
                </a:cubicBezTo>
                <a:lnTo>
                  <a:pt x="558800" y="104775"/>
                </a:lnTo>
                <a:cubicBezTo>
                  <a:pt x="558800" y="66248"/>
                  <a:pt x="527477" y="34925"/>
                  <a:pt x="488950" y="34925"/>
                </a:cubicBezTo>
                <a:lnTo>
                  <a:pt x="69850" y="34925"/>
                </a:lnTo>
                <a:close/>
                <a:moveTo>
                  <a:pt x="104775" y="104775"/>
                </a:moveTo>
                <a:lnTo>
                  <a:pt x="454025" y="104775"/>
                </a:lnTo>
                <a:cubicBezTo>
                  <a:pt x="473343" y="104775"/>
                  <a:pt x="488950" y="120382"/>
                  <a:pt x="488950" y="139700"/>
                </a:cubicBezTo>
                <a:lnTo>
                  <a:pt x="488950" y="314325"/>
                </a:lnTo>
                <a:cubicBezTo>
                  <a:pt x="488950" y="333643"/>
                  <a:pt x="473343" y="349250"/>
                  <a:pt x="454025" y="349250"/>
                </a:cubicBezTo>
                <a:lnTo>
                  <a:pt x="104775" y="349250"/>
                </a:lnTo>
                <a:cubicBezTo>
                  <a:pt x="85457" y="349250"/>
                  <a:pt x="69850" y="333643"/>
                  <a:pt x="69850" y="314325"/>
                </a:cubicBezTo>
                <a:lnTo>
                  <a:pt x="69850" y="139700"/>
                </a:lnTo>
                <a:cubicBezTo>
                  <a:pt x="69850" y="120382"/>
                  <a:pt x="85457" y="104775"/>
                  <a:pt x="104775" y="1047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747500" y="2349500"/>
            <a:ext cx="292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49000" y="3111500"/>
            <a:ext cx="3556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Bridges experts and users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LLM-powered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interfaces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81% use conversational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6032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Additional Components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270000" y="6604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24000" y="685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0"/>
                  <a:pt x="158750" y="184150"/>
                </a:cubicBezTo>
                <a:cubicBezTo>
                  <a:pt x="148193" y="184150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0" y="224234"/>
                </a:cubicBezTo>
                <a:lnTo>
                  <a:pt x="222250" y="227251"/>
                </a:lnTo>
                <a:cubicBezTo>
                  <a:pt x="222250" y="237808"/>
                  <a:pt x="213757" y="246301"/>
                  <a:pt x="203200" y="246301"/>
                </a:cubicBezTo>
                <a:cubicBezTo>
                  <a:pt x="192643" y="246301"/>
                  <a:pt x="184150" y="237808"/>
                  <a:pt x="184150" y="227251"/>
                </a:cubicBezTo>
                <a:lnTo>
                  <a:pt x="184150" y="220821"/>
                </a:lnTo>
                <a:cubicBezTo>
                  <a:pt x="184150" y="204549"/>
                  <a:pt x="195898" y="192881"/>
                  <a:pt x="208042" y="188913"/>
                </a:cubicBezTo>
                <a:cubicBezTo>
                  <a:pt x="213122" y="187246"/>
                  <a:pt x="218519" y="184547"/>
                  <a:pt x="222488" y="180737"/>
                </a:cubicBezTo>
                <a:cubicBezTo>
                  <a:pt x="225901" y="177403"/>
                  <a:pt x="228600" y="172799"/>
                  <a:pt x="228600" y="165179"/>
                </a:cubicBezTo>
                <a:cubicBezTo>
                  <a:pt x="228600" y="151130"/>
                  <a:pt x="217249" y="139779"/>
                  <a:pt x="203200" y="139779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19" name="Text 17"/>
          <p:cNvSpPr/>
          <p:nvPr/>
        </p:nvSpPr>
        <p:spPr>
          <a:xfrm>
            <a:off x="2095500" y="6731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Explanation Facility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Justifies decisions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26000" y="6604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80000" y="685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2308" y="181372"/>
                </a:moveTo>
                <a:cubicBezTo>
                  <a:pt x="62865" y="107553"/>
                  <a:pt x="126444" y="50800"/>
                  <a:pt x="203200" y="50800"/>
                </a:cubicBezTo>
                <a:cubicBezTo>
                  <a:pt x="245269" y="50800"/>
                  <a:pt x="283369" y="67866"/>
                  <a:pt x="310991" y="95409"/>
                </a:cubicBezTo>
                <a:cubicBezTo>
                  <a:pt x="311150" y="95568"/>
                  <a:pt x="311309" y="95726"/>
                  <a:pt x="311468" y="95885"/>
                </a:cubicBezTo>
                <a:lnTo>
                  <a:pt x="317500" y="101600"/>
                </a:lnTo>
                <a:lnTo>
                  <a:pt x="279479" y="101600"/>
                </a:lnTo>
                <a:cubicBezTo>
                  <a:pt x="265430" y="101600"/>
                  <a:pt x="254079" y="112951"/>
                  <a:pt x="254079" y="127000"/>
                </a:cubicBezTo>
                <a:cubicBezTo>
                  <a:pt x="254079" y="141049"/>
                  <a:pt x="265430" y="152400"/>
                  <a:pt x="279479" y="152400"/>
                </a:cubicBezTo>
                <a:lnTo>
                  <a:pt x="381079" y="152400"/>
                </a:lnTo>
                <a:cubicBezTo>
                  <a:pt x="395129" y="152400"/>
                  <a:pt x="406479" y="141049"/>
                  <a:pt x="406479" y="127000"/>
                </a:cubicBezTo>
                <a:lnTo>
                  <a:pt x="406479" y="25400"/>
                </a:lnTo>
                <a:cubicBezTo>
                  <a:pt x="406479" y="11351"/>
                  <a:pt x="395129" y="0"/>
                  <a:pt x="381079" y="0"/>
                </a:cubicBezTo>
                <a:cubicBezTo>
                  <a:pt x="367030" y="0"/>
                  <a:pt x="355679" y="11351"/>
                  <a:pt x="355679" y="25400"/>
                </a:cubicBezTo>
                <a:lnTo>
                  <a:pt x="355679" y="67786"/>
                </a:lnTo>
                <a:lnTo>
                  <a:pt x="346710" y="59293"/>
                </a:lnTo>
                <a:cubicBezTo>
                  <a:pt x="309959" y="22701"/>
                  <a:pt x="259159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lose/>
                <a:moveTo>
                  <a:pt x="404336" y="232172"/>
                </a:moveTo>
                <a:cubicBezTo>
                  <a:pt x="406321" y="218281"/>
                  <a:pt x="396637" y="205423"/>
                  <a:pt x="382826" y="203438"/>
                </a:cubicBezTo>
                <a:cubicBezTo>
                  <a:pt x="369014" y="201454"/>
                  <a:pt x="356076" y="211138"/>
                  <a:pt x="354092" y="224949"/>
                </a:cubicBezTo>
                <a:cubicBezTo>
                  <a:pt x="343535" y="298768"/>
                  <a:pt x="279956" y="355521"/>
                  <a:pt x="203200" y="355521"/>
                </a:cubicBezTo>
                <a:cubicBezTo>
                  <a:pt x="161131" y="355521"/>
                  <a:pt x="123031" y="338455"/>
                  <a:pt x="95409" y="310912"/>
                </a:cubicBezTo>
                <a:cubicBezTo>
                  <a:pt x="95250" y="310753"/>
                  <a:pt x="95091" y="310594"/>
                  <a:pt x="94932" y="310436"/>
                </a:cubicBezTo>
                <a:lnTo>
                  <a:pt x="88900" y="304721"/>
                </a:lnTo>
                <a:lnTo>
                  <a:pt x="126921" y="304721"/>
                </a:lnTo>
                <a:cubicBezTo>
                  <a:pt x="140970" y="304721"/>
                  <a:pt x="152321" y="293370"/>
                  <a:pt x="152321" y="279321"/>
                </a:cubicBezTo>
                <a:cubicBezTo>
                  <a:pt x="152321" y="265271"/>
                  <a:pt x="140970" y="253921"/>
                  <a:pt x="126921" y="253921"/>
                </a:cubicBezTo>
                <a:lnTo>
                  <a:pt x="25400" y="254000"/>
                </a:lnTo>
                <a:cubicBezTo>
                  <a:pt x="18653" y="254000"/>
                  <a:pt x="12144" y="256699"/>
                  <a:pt x="7382" y="261541"/>
                </a:cubicBezTo>
                <a:cubicBezTo>
                  <a:pt x="2619" y="266383"/>
                  <a:pt x="-79" y="272812"/>
                  <a:pt x="0" y="279638"/>
                </a:cubicBezTo>
                <a:lnTo>
                  <a:pt x="794" y="380444"/>
                </a:lnTo>
                <a:cubicBezTo>
                  <a:pt x="873" y="394494"/>
                  <a:pt x="12383" y="405765"/>
                  <a:pt x="26432" y="405606"/>
                </a:cubicBezTo>
                <a:cubicBezTo>
                  <a:pt x="40481" y="405448"/>
                  <a:pt x="51753" y="394017"/>
                  <a:pt x="51594" y="379968"/>
                </a:cubicBezTo>
                <a:lnTo>
                  <a:pt x="51276" y="339090"/>
                </a:lnTo>
                <a:lnTo>
                  <a:pt x="59769" y="347107"/>
                </a:lnTo>
                <a:cubicBezTo>
                  <a:pt x="96520" y="383699"/>
                  <a:pt x="147241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22" name="Text 20"/>
          <p:cNvSpPr/>
          <p:nvPr/>
        </p:nvSpPr>
        <p:spPr>
          <a:xfrm>
            <a:off x="5651500" y="6731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Acq.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Extracts expertise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6604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6000" y="685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1257" y="0"/>
                </a:moveTo>
                <a:lnTo>
                  <a:pt x="116114" y="0"/>
                </a:lnTo>
                <a:cubicBezTo>
                  <a:pt x="100058" y="0"/>
                  <a:pt x="87086" y="11351"/>
                  <a:pt x="87086" y="25400"/>
                </a:cubicBezTo>
                <a:cubicBezTo>
                  <a:pt x="87086" y="39449"/>
                  <a:pt x="100058" y="50800"/>
                  <a:pt x="116114" y="50800"/>
                </a:cubicBezTo>
                <a:lnTo>
                  <a:pt x="116114" y="171053"/>
                </a:lnTo>
                <a:lnTo>
                  <a:pt x="6804" y="338376"/>
                </a:lnTo>
                <a:cubicBezTo>
                  <a:pt x="2359" y="345281"/>
                  <a:pt x="0" y="352981"/>
                  <a:pt x="0" y="360918"/>
                </a:cubicBezTo>
                <a:cubicBezTo>
                  <a:pt x="0" y="386080"/>
                  <a:pt x="23223" y="406400"/>
                  <a:pt x="51979" y="406400"/>
                </a:cubicBezTo>
                <a:lnTo>
                  <a:pt x="354421" y="406400"/>
                </a:lnTo>
                <a:cubicBezTo>
                  <a:pt x="383086" y="406400"/>
                  <a:pt x="406400" y="386080"/>
                  <a:pt x="406400" y="360918"/>
                </a:cubicBezTo>
                <a:cubicBezTo>
                  <a:pt x="406400" y="352981"/>
                  <a:pt x="404041" y="345202"/>
                  <a:pt x="399596" y="338376"/>
                </a:cubicBezTo>
                <a:lnTo>
                  <a:pt x="290286" y="171053"/>
                </a:lnTo>
                <a:lnTo>
                  <a:pt x="290286" y="50800"/>
                </a:lnTo>
                <a:cubicBezTo>
                  <a:pt x="306342" y="50800"/>
                  <a:pt x="319314" y="39449"/>
                  <a:pt x="319314" y="25400"/>
                </a:cubicBezTo>
                <a:cubicBezTo>
                  <a:pt x="319314" y="11351"/>
                  <a:pt x="306342" y="0"/>
                  <a:pt x="290286" y="0"/>
                </a:cubicBezTo>
                <a:lnTo>
                  <a:pt x="261257" y="0"/>
                </a:lnTo>
                <a:close/>
                <a:moveTo>
                  <a:pt x="174171" y="171053"/>
                </a:moveTo>
                <a:lnTo>
                  <a:pt x="174171" y="50800"/>
                </a:lnTo>
                <a:lnTo>
                  <a:pt x="232229" y="50800"/>
                </a:lnTo>
                <a:lnTo>
                  <a:pt x="232229" y="171053"/>
                </a:lnTo>
                <a:cubicBezTo>
                  <a:pt x="232229" y="179864"/>
                  <a:pt x="234859" y="188595"/>
                  <a:pt x="239849" y="196294"/>
                </a:cubicBezTo>
                <a:lnTo>
                  <a:pt x="277586" y="254000"/>
                </a:lnTo>
                <a:lnTo>
                  <a:pt x="128814" y="254000"/>
                </a:lnTo>
                <a:lnTo>
                  <a:pt x="166551" y="196294"/>
                </a:lnTo>
                <a:cubicBezTo>
                  <a:pt x="171541" y="188595"/>
                  <a:pt x="174171" y="179943"/>
                  <a:pt x="174171" y="171053"/>
                </a:cubicBez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25" name="Text 23"/>
          <p:cNvSpPr/>
          <p:nvPr/>
        </p:nvSpPr>
        <p:spPr>
          <a:xfrm>
            <a:off x="9207500" y="6731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Working Memory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Holds current facts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938000" y="6604000"/>
            <a:ext cx="3048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192000" y="685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675" y="0"/>
                </a:moveTo>
                <a:cubicBezTo>
                  <a:pt x="335915" y="0"/>
                  <a:pt x="350520" y="6033"/>
                  <a:pt x="361236" y="16828"/>
                </a:cubicBezTo>
                <a:lnTo>
                  <a:pt x="389573" y="45164"/>
                </a:lnTo>
                <a:cubicBezTo>
                  <a:pt x="400368" y="55880"/>
                  <a:pt x="406400" y="70485"/>
                  <a:pt x="406400" y="85725"/>
                </a:cubicBezTo>
                <a:cubicBezTo>
                  <a:pt x="406400" y="100965"/>
                  <a:pt x="400368" y="115570"/>
                  <a:pt x="389573" y="126286"/>
                </a:cubicBezTo>
                <a:lnTo>
                  <a:pt x="353933" y="161925"/>
                </a:lnTo>
                <a:lnTo>
                  <a:pt x="244475" y="52467"/>
                </a:lnTo>
                <a:lnTo>
                  <a:pt x="280114" y="16828"/>
                </a:lnTo>
                <a:cubicBezTo>
                  <a:pt x="290830" y="6033"/>
                  <a:pt x="305435" y="0"/>
                  <a:pt x="320675" y="0"/>
                </a:cubicBezTo>
                <a:close/>
                <a:moveTo>
                  <a:pt x="46752" y="250111"/>
                </a:moveTo>
                <a:lnTo>
                  <a:pt x="217567" y="79375"/>
                </a:lnTo>
                <a:lnTo>
                  <a:pt x="327025" y="188833"/>
                </a:lnTo>
                <a:lnTo>
                  <a:pt x="156289" y="359648"/>
                </a:lnTo>
                <a:cubicBezTo>
                  <a:pt x="147796" y="368141"/>
                  <a:pt x="137160" y="374333"/>
                  <a:pt x="125571" y="377587"/>
                </a:cubicBezTo>
                <a:lnTo>
                  <a:pt x="24130" y="405686"/>
                </a:lnTo>
                <a:cubicBezTo>
                  <a:pt x="17542" y="407511"/>
                  <a:pt x="10398" y="405686"/>
                  <a:pt x="5556" y="400764"/>
                </a:cubicBezTo>
                <a:cubicBezTo>
                  <a:pt x="714" y="395843"/>
                  <a:pt x="-1191" y="388779"/>
                  <a:pt x="635" y="382191"/>
                </a:cubicBezTo>
                <a:lnTo>
                  <a:pt x="28893" y="280829"/>
                </a:lnTo>
                <a:cubicBezTo>
                  <a:pt x="32147" y="269240"/>
                  <a:pt x="38259" y="258683"/>
                  <a:pt x="46831" y="250111"/>
                </a:cubicBezTo>
                <a:close/>
                <a:moveTo>
                  <a:pt x="178911" y="64135"/>
                </a:moveTo>
                <a:lnTo>
                  <a:pt x="64135" y="178911"/>
                </a:lnTo>
                <a:lnTo>
                  <a:pt x="9287" y="124063"/>
                </a:lnTo>
                <a:cubicBezTo>
                  <a:pt x="-3096" y="111681"/>
                  <a:pt x="-3096" y="91599"/>
                  <a:pt x="9287" y="79137"/>
                </a:cubicBezTo>
                <a:lnTo>
                  <a:pt x="79137" y="9287"/>
                </a:lnTo>
                <a:cubicBezTo>
                  <a:pt x="91519" y="-3096"/>
                  <a:pt x="111601" y="-3096"/>
                  <a:pt x="124063" y="9287"/>
                </a:cubicBezTo>
                <a:lnTo>
                  <a:pt x="128746" y="13970"/>
                </a:lnTo>
                <a:lnTo>
                  <a:pt x="84058" y="58658"/>
                </a:lnTo>
                <a:cubicBezTo>
                  <a:pt x="77867" y="64849"/>
                  <a:pt x="77867" y="74930"/>
                  <a:pt x="84058" y="81121"/>
                </a:cubicBezTo>
                <a:cubicBezTo>
                  <a:pt x="90249" y="87313"/>
                  <a:pt x="100330" y="87313"/>
                  <a:pt x="106521" y="81121"/>
                </a:cubicBezTo>
                <a:lnTo>
                  <a:pt x="151209" y="36433"/>
                </a:lnTo>
                <a:lnTo>
                  <a:pt x="178911" y="64135"/>
                </a:lnTo>
                <a:close/>
                <a:moveTo>
                  <a:pt x="342265" y="227489"/>
                </a:moveTo>
                <a:lnTo>
                  <a:pt x="369967" y="255191"/>
                </a:lnTo>
                <a:lnTo>
                  <a:pt x="325279" y="299879"/>
                </a:lnTo>
                <a:cubicBezTo>
                  <a:pt x="319087" y="306070"/>
                  <a:pt x="319087" y="316151"/>
                  <a:pt x="325279" y="322342"/>
                </a:cubicBezTo>
                <a:cubicBezTo>
                  <a:pt x="331470" y="328533"/>
                  <a:pt x="341551" y="328533"/>
                  <a:pt x="347742" y="322342"/>
                </a:cubicBezTo>
                <a:lnTo>
                  <a:pt x="392430" y="277654"/>
                </a:lnTo>
                <a:lnTo>
                  <a:pt x="397113" y="282337"/>
                </a:lnTo>
                <a:cubicBezTo>
                  <a:pt x="409496" y="294719"/>
                  <a:pt x="409496" y="314801"/>
                  <a:pt x="397113" y="327263"/>
                </a:cubicBezTo>
                <a:lnTo>
                  <a:pt x="327263" y="397113"/>
                </a:lnTo>
                <a:cubicBezTo>
                  <a:pt x="314881" y="409496"/>
                  <a:pt x="294799" y="409496"/>
                  <a:pt x="282337" y="397113"/>
                </a:cubicBezTo>
                <a:lnTo>
                  <a:pt x="227489" y="342265"/>
                </a:lnTo>
                <a:lnTo>
                  <a:pt x="342265" y="227489"/>
                </a:ln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28" name="Text 26"/>
          <p:cNvSpPr/>
          <p:nvPr/>
        </p:nvSpPr>
        <p:spPr>
          <a:xfrm>
            <a:off x="12700000" y="6731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Case Editor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Manages test cases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Inference: Forward &amp; Backward Chaining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4445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2032000"/>
            <a:ext cx="6604000" cy="635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3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Chaining (Data-Driven)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921000"/>
            <a:ext cx="584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Start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known facts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Apply rules, derive new facts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Continue until goal reached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Prediction, monitoring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Event-driven systems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6604000" cy="4445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2032000"/>
            <a:ext cx="6604000" cy="635000"/>
          </a:xfrm>
          <a:prstGeom prst="roundRect">
            <a:avLst>
              <a:gd name="adj" fmla="val 6000"/>
            </a:avLst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2032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Backward Chaining (Goal-Driven)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921000"/>
            <a:ext cx="584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Start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hypothesis/goal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Work backward for facts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Verify evidence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Diagnosis, explanation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Troubleshooting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68580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FF7F50">
                  <a:alpha val="8000"/>
                </a:srgbClr>
              </a:gs>
            </a:gsLst>
            <a:lin ang="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778000" y="6858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approaches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combining both strategies achieve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 better accuracy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complex diagnostic scenarios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Phases of Intelligent System Development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" y="2540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540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35000" y="3619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500" y="40640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characteristics, participants,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05000" y="2984500"/>
            <a:ext cx="76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667000" y="2540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2667000" y="2540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286000" y="3619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49500" y="40640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Collect data, extract concepts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56000" y="2984500"/>
            <a:ext cx="76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318000" y="2540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4318000" y="2540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7000" y="3619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00500" y="40640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Choose tools, transform data, test cases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07000" y="2984500"/>
            <a:ext cx="76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969000" y="2540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5969000" y="2540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88000" y="3619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51500" y="40640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Detailed design, UI, refine system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2984500"/>
            <a:ext cx="76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620000" y="2540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0" y="2540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39000" y="3619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02500" y="40640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Evaluate, revise as needed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9000" y="2984500"/>
            <a:ext cx="762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9271000" y="2540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30" name="Text 28"/>
          <p:cNvSpPr/>
          <p:nvPr/>
        </p:nvSpPr>
        <p:spPr>
          <a:xfrm>
            <a:off x="9271000" y="2540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890000" y="36195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53500" y="40640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 transfer, maintenance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 flipH="1">
            <a:off x="10414000" y="2159000"/>
            <a:ext cx="4572000" cy="1270000"/>
          </a:xfrm>
          <a:prstGeom prst="bentConnector3">
            <a:avLst/>
          </a:prstGeom>
          <a:noFill/>
          <a:ln w="25400">
            <a:solidFill>
              <a:srgbClr val="FF7F50"/>
            </a:solidFill>
            <a:prstDash val="dash"/>
            <a:headEnd type="arrow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11049000" y="1841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Highly Iterative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270000" y="5715000"/>
            <a:ext cx="13716000" cy="203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78000" y="59055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process is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highly iterative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considerable overlap between phases. At any time, team members may engage in activities across multiple phases. Problem assessment is the most critical phase — "a good and right beginning always assures success."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System Design Methodologies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858000" cy="355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2032000"/>
            <a:ext cx="6858000" cy="5715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0320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CRISP-DM — Most Widely Used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Business Understanding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Data Understanding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Data Preparation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Modeling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Evaluation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Deployment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0" y="2032000"/>
            <a:ext cx="6350000" cy="355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36000" y="2032000"/>
            <a:ext cx="6350000" cy="571500"/>
          </a:xfrm>
          <a:prstGeom prst="roundRect">
            <a:avLst>
              <a:gd name="adj" fmla="val 6000"/>
            </a:avLst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0" y="2032000"/>
            <a:ext cx="584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ASUM-DM — IBM Refined (2015)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17000" y="2857500"/>
            <a:ext cx="558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Refines and extends CRISP-DM with: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More detailed guidance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Enhanced project management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Better integration with agile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Improved documentation standards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70000" y="6032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Design Considerations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70000" y="6604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6731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Scalability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Handle growing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64000" y="6604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4191000" y="6731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Latency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p99 &lt; 200ms target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6604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0" y="6731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Reliable predictions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52000" y="6604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6B9CBF"/>
          </a:solidFill>
          <a:ln/>
        </p:spPr>
      </p:sp>
      <p:sp>
        <p:nvSpPr>
          <p:cNvPr id="20" name="Text 18"/>
          <p:cNvSpPr/>
          <p:nvPr/>
        </p:nvSpPr>
        <p:spPr>
          <a:xfrm>
            <a:off x="9779000" y="6731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Adaptability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 from new data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446000" y="6604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D0D6DC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0" y="6731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Observability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 data drift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System Applications in 2026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6351"/>
                </a:moveTo>
                <a:lnTo>
                  <a:pt x="215205" y="77778"/>
                </a:lnTo>
                <a:cubicBezTo>
                  <a:pt x="192881" y="46881"/>
                  <a:pt x="157073" y="28575"/>
                  <a:pt x="118854" y="28575"/>
                </a:cubicBezTo>
                <a:cubicBezTo>
                  <a:pt x="53221" y="28575"/>
                  <a:pt x="0" y="81796"/>
                  <a:pt x="0" y="147429"/>
                </a:cubicBezTo>
                <a:lnTo>
                  <a:pt x="0" y="149751"/>
                </a:lnTo>
                <a:cubicBezTo>
                  <a:pt x="0" y="170825"/>
                  <a:pt x="5536" y="192613"/>
                  <a:pt x="14823" y="214313"/>
                </a:cubicBezTo>
                <a:lnTo>
                  <a:pt x="109478" y="214313"/>
                </a:lnTo>
                <a:cubicBezTo>
                  <a:pt x="112335" y="214313"/>
                  <a:pt x="114925" y="212616"/>
                  <a:pt x="116086" y="209937"/>
                </a:cubicBezTo>
                <a:lnTo>
                  <a:pt x="144482" y="141803"/>
                </a:lnTo>
                <a:cubicBezTo>
                  <a:pt x="147786" y="133945"/>
                  <a:pt x="155466" y="128766"/>
                  <a:pt x="163949" y="128588"/>
                </a:cubicBezTo>
                <a:cubicBezTo>
                  <a:pt x="172432" y="128409"/>
                  <a:pt x="180290" y="133410"/>
                  <a:pt x="183773" y="141178"/>
                </a:cubicBezTo>
                <a:lnTo>
                  <a:pt x="229582" y="242888"/>
                </a:lnTo>
                <a:lnTo>
                  <a:pt x="266551" y="168950"/>
                </a:lnTo>
                <a:cubicBezTo>
                  <a:pt x="270212" y="161717"/>
                  <a:pt x="277624" y="157073"/>
                  <a:pt x="285750" y="157073"/>
                </a:cubicBezTo>
                <a:cubicBezTo>
                  <a:pt x="293876" y="157073"/>
                  <a:pt x="301288" y="161627"/>
                  <a:pt x="304949" y="168950"/>
                </a:cubicBezTo>
                <a:lnTo>
                  <a:pt x="325666" y="210294"/>
                </a:lnTo>
                <a:cubicBezTo>
                  <a:pt x="326916" y="212705"/>
                  <a:pt x="329327" y="214223"/>
                  <a:pt x="332095" y="214223"/>
                </a:cubicBezTo>
                <a:lnTo>
                  <a:pt x="442466" y="214223"/>
                </a:lnTo>
                <a:cubicBezTo>
                  <a:pt x="451842" y="192524"/>
                  <a:pt x="457289" y="170736"/>
                  <a:pt x="457289" y="149662"/>
                </a:cubicBezTo>
                <a:lnTo>
                  <a:pt x="457289" y="147340"/>
                </a:lnTo>
                <a:cubicBezTo>
                  <a:pt x="457200" y="81796"/>
                  <a:pt x="403979" y="28575"/>
                  <a:pt x="338346" y="28575"/>
                </a:cubicBezTo>
                <a:cubicBezTo>
                  <a:pt x="300216" y="28575"/>
                  <a:pt x="264319" y="46881"/>
                  <a:pt x="241995" y="77778"/>
                </a:cubicBezTo>
                <a:lnTo>
                  <a:pt x="228600" y="96262"/>
                </a:lnTo>
                <a:close/>
                <a:moveTo>
                  <a:pt x="419338" y="257175"/>
                </a:moveTo>
                <a:lnTo>
                  <a:pt x="332006" y="257175"/>
                </a:lnTo>
                <a:cubicBezTo>
                  <a:pt x="313075" y="257175"/>
                  <a:pt x="295751" y="246459"/>
                  <a:pt x="287268" y="229493"/>
                </a:cubicBezTo>
                <a:lnTo>
                  <a:pt x="285750" y="226457"/>
                </a:lnTo>
                <a:lnTo>
                  <a:pt x="247799" y="302449"/>
                </a:lnTo>
                <a:cubicBezTo>
                  <a:pt x="244138" y="309860"/>
                  <a:pt x="236458" y="314504"/>
                  <a:pt x="228154" y="314325"/>
                </a:cubicBezTo>
                <a:cubicBezTo>
                  <a:pt x="219849" y="314146"/>
                  <a:pt x="212437" y="309235"/>
                  <a:pt x="209044" y="301734"/>
                </a:cubicBezTo>
                <a:lnTo>
                  <a:pt x="165021" y="203954"/>
                </a:lnTo>
                <a:lnTo>
                  <a:pt x="155644" y="226457"/>
                </a:lnTo>
                <a:cubicBezTo>
                  <a:pt x="147876" y="245120"/>
                  <a:pt x="129659" y="257264"/>
                  <a:pt x="109478" y="257264"/>
                </a:cubicBezTo>
                <a:lnTo>
                  <a:pt x="37862" y="257264"/>
                </a:lnTo>
                <a:cubicBezTo>
                  <a:pt x="80010" y="323165"/>
                  <a:pt x="147697" y="383798"/>
                  <a:pt x="190024" y="416123"/>
                </a:cubicBezTo>
                <a:cubicBezTo>
                  <a:pt x="201097" y="424517"/>
                  <a:pt x="214670" y="428714"/>
                  <a:pt x="228511" y="428714"/>
                </a:cubicBezTo>
                <a:cubicBezTo>
                  <a:pt x="242352" y="428714"/>
                  <a:pt x="256014" y="424607"/>
                  <a:pt x="266998" y="416123"/>
                </a:cubicBezTo>
                <a:cubicBezTo>
                  <a:pt x="309503" y="383709"/>
                  <a:pt x="377190" y="323076"/>
                  <a:pt x="419338" y="2571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222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87500" y="2857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Diagnostic systems. Watson: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200M+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medical pages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9000" y="19685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921500" y="2222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86500" y="2857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Predictive maintenance reducing downtime by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52%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(Siemens)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685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855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85725"/>
                </a:moveTo>
                <a:lnTo>
                  <a:pt x="114300" y="71438"/>
                </a:lnTo>
                <a:cubicBezTo>
                  <a:pt x="114300" y="31968"/>
                  <a:pt x="191095" y="0"/>
                  <a:pt x="285750" y="0"/>
                </a:cubicBezTo>
                <a:cubicBezTo>
                  <a:pt x="380405" y="0"/>
                  <a:pt x="457200" y="31968"/>
                  <a:pt x="457200" y="71438"/>
                </a:cubicBezTo>
                <a:lnTo>
                  <a:pt x="457200" y="85725"/>
                </a:lnTo>
                <a:cubicBezTo>
                  <a:pt x="457200" y="113050"/>
                  <a:pt x="420320" y="136803"/>
                  <a:pt x="366117" y="148858"/>
                </a:cubicBezTo>
                <a:cubicBezTo>
                  <a:pt x="363974" y="146358"/>
                  <a:pt x="361742" y="143947"/>
                  <a:pt x="359509" y="141714"/>
                </a:cubicBezTo>
                <a:cubicBezTo>
                  <a:pt x="345668" y="128052"/>
                  <a:pt x="327809" y="117693"/>
                  <a:pt x="309146" y="110014"/>
                </a:cubicBezTo>
                <a:cubicBezTo>
                  <a:pt x="271730" y="94387"/>
                  <a:pt x="222974" y="85814"/>
                  <a:pt x="171450" y="85814"/>
                </a:cubicBezTo>
                <a:cubicBezTo>
                  <a:pt x="151894" y="85814"/>
                  <a:pt x="132784" y="87064"/>
                  <a:pt x="114479" y="89475"/>
                </a:cubicBezTo>
                <a:cubicBezTo>
                  <a:pt x="114300" y="88315"/>
                  <a:pt x="114300" y="87064"/>
                  <a:pt x="114300" y="85814"/>
                </a:cubicBezTo>
                <a:close/>
                <a:moveTo>
                  <a:pt x="385763" y="315218"/>
                </a:moveTo>
                <a:lnTo>
                  <a:pt x="385763" y="273963"/>
                </a:lnTo>
                <a:cubicBezTo>
                  <a:pt x="399246" y="270480"/>
                  <a:pt x="411926" y="266373"/>
                  <a:pt x="423446" y="261551"/>
                </a:cubicBezTo>
                <a:cubicBezTo>
                  <a:pt x="435233" y="256639"/>
                  <a:pt x="446752" y="250656"/>
                  <a:pt x="457200" y="243423"/>
                </a:cubicBezTo>
                <a:lnTo>
                  <a:pt x="457200" y="257175"/>
                </a:lnTo>
                <a:cubicBezTo>
                  <a:pt x="457200" y="281107"/>
                  <a:pt x="429071" y="302270"/>
                  <a:pt x="385763" y="315218"/>
                </a:cubicBezTo>
                <a:close/>
                <a:moveTo>
                  <a:pt x="385763" y="229493"/>
                </a:moveTo>
                <a:lnTo>
                  <a:pt x="385763" y="200025"/>
                </a:lnTo>
                <a:cubicBezTo>
                  <a:pt x="385763" y="196007"/>
                  <a:pt x="385405" y="192167"/>
                  <a:pt x="384870" y="188416"/>
                </a:cubicBezTo>
                <a:cubicBezTo>
                  <a:pt x="398711" y="184934"/>
                  <a:pt x="411659" y="180737"/>
                  <a:pt x="423446" y="175736"/>
                </a:cubicBezTo>
                <a:cubicBezTo>
                  <a:pt x="435233" y="170736"/>
                  <a:pt x="446752" y="164842"/>
                  <a:pt x="457200" y="157609"/>
                </a:cubicBezTo>
                <a:lnTo>
                  <a:pt x="457200" y="171361"/>
                </a:lnTo>
                <a:cubicBezTo>
                  <a:pt x="457200" y="195292"/>
                  <a:pt x="429071" y="216456"/>
                  <a:pt x="385763" y="229404"/>
                </a:cubicBezTo>
                <a:close/>
                <a:moveTo>
                  <a:pt x="0" y="214313"/>
                </a:moveTo>
                <a:lnTo>
                  <a:pt x="0" y="200025"/>
                </a:lnTo>
                <a:cubicBezTo>
                  <a:pt x="0" y="160556"/>
                  <a:pt x="76795" y="128588"/>
                  <a:pt x="171450" y="128588"/>
                </a:cubicBezTo>
                <a:cubicBezTo>
                  <a:pt x="266105" y="128588"/>
                  <a:pt x="342900" y="160556"/>
                  <a:pt x="342900" y="200025"/>
                </a:cubicBezTo>
                <a:lnTo>
                  <a:pt x="342900" y="214313"/>
                </a:lnTo>
                <a:cubicBezTo>
                  <a:pt x="342900" y="253782"/>
                  <a:pt x="266105" y="285750"/>
                  <a:pt x="171450" y="285750"/>
                </a:cubicBezTo>
                <a:cubicBezTo>
                  <a:pt x="76795" y="285750"/>
                  <a:pt x="0" y="253782"/>
                  <a:pt x="0" y="214313"/>
                </a:cubicBezTo>
                <a:close/>
                <a:moveTo>
                  <a:pt x="342900" y="300038"/>
                </a:moveTo>
                <a:cubicBezTo>
                  <a:pt x="342900" y="339507"/>
                  <a:pt x="266105" y="371475"/>
                  <a:pt x="171450" y="371475"/>
                </a:cubicBezTo>
                <a:cubicBezTo>
                  <a:pt x="76795" y="371475"/>
                  <a:pt x="0" y="339507"/>
                  <a:pt x="0" y="300038"/>
                </a:cubicBezTo>
                <a:lnTo>
                  <a:pt x="0" y="286286"/>
                </a:lnTo>
                <a:cubicBezTo>
                  <a:pt x="10358" y="293519"/>
                  <a:pt x="21878" y="299412"/>
                  <a:pt x="33754" y="304413"/>
                </a:cubicBezTo>
                <a:cubicBezTo>
                  <a:pt x="71170" y="320040"/>
                  <a:pt x="119926" y="328613"/>
                  <a:pt x="171450" y="328613"/>
                </a:cubicBezTo>
                <a:cubicBezTo>
                  <a:pt x="222974" y="328613"/>
                  <a:pt x="271730" y="319951"/>
                  <a:pt x="309146" y="304413"/>
                </a:cubicBezTo>
                <a:cubicBezTo>
                  <a:pt x="320933" y="299502"/>
                  <a:pt x="332452" y="293519"/>
                  <a:pt x="342900" y="286286"/>
                </a:cubicBezTo>
                <a:lnTo>
                  <a:pt x="342900" y="300038"/>
                </a:lnTo>
                <a:close/>
                <a:moveTo>
                  <a:pt x="342900" y="372011"/>
                </a:moveTo>
                <a:lnTo>
                  <a:pt x="342900" y="385763"/>
                </a:lnTo>
                <a:cubicBezTo>
                  <a:pt x="342900" y="425232"/>
                  <a:pt x="266105" y="457200"/>
                  <a:pt x="171450" y="457200"/>
                </a:cubicBezTo>
                <a:cubicBezTo>
                  <a:pt x="76795" y="457200"/>
                  <a:pt x="0" y="425232"/>
                  <a:pt x="0" y="385763"/>
                </a:cubicBezTo>
                <a:lnTo>
                  <a:pt x="0" y="372011"/>
                </a:lnTo>
                <a:cubicBezTo>
                  <a:pt x="10358" y="379244"/>
                  <a:pt x="21878" y="385137"/>
                  <a:pt x="33754" y="390138"/>
                </a:cubicBezTo>
                <a:cubicBezTo>
                  <a:pt x="71170" y="405765"/>
                  <a:pt x="119926" y="414338"/>
                  <a:pt x="171450" y="414338"/>
                </a:cubicBezTo>
                <a:cubicBezTo>
                  <a:pt x="222974" y="414338"/>
                  <a:pt x="271730" y="405676"/>
                  <a:pt x="309146" y="390138"/>
                </a:cubicBezTo>
                <a:cubicBezTo>
                  <a:pt x="320933" y="385227"/>
                  <a:pt x="332452" y="379244"/>
                  <a:pt x="342900" y="372011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0500" y="2222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85500" y="2857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Fraud detection: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75B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transactions evaluated annually (Mastercard)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3815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87500" y="463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5758" y="-8840"/>
                </a:moveTo>
                <a:cubicBezTo>
                  <a:pt x="357902" y="-1161"/>
                  <a:pt x="362392" y="12769"/>
                  <a:pt x="356881" y="24914"/>
                </a:cubicBezTo>
                <a:lnTo>
                  <a:pt x="276871" y="200025"/>
                </a:lnTo>
                <a:lnTo>
                  <a:pt x="424543" y="200025"/>
                </a:lnTo>
                <a:cubicBezTo>
                  <a:pt x="438320" y="200025"/>
                  <a:pt x="450567" y="207526"/>
                  <a:pt x="455261" y="218867"/>
                </a:cubicBezTo>
                <a:cubicBezTo>
                  <a:pt x="459955" y="230207"/>
                  <a:pt x="455975" y="242888"/>
                  <a:pt x="445464" y="250567"/>
                </a:cubicBezTo>
                <a:lnTo>
                  <a:pt x="151550" y="464880"/>
                </a:lnTo>
                <a:cubicBezTo>
                  <a:pt x="140018" y="473273"/>
                  <a:pt x="123587" y="473720"/>
                  <a:pt x="111443" y="466040"/>
                </a:cubicBezTo>
                <a:cubicBezTo>
                  <a:pt x="99298" y="458361"/>
                  <a:pt x="94808" y="444431"/>
                  <a:pt x="100319" y="432286"/>
                </a:cubicBezTo>
                <a:lnTo>
                  <a:pt x="180329" y="257175"/>
                </a:lnTo>
                <a:lnTo>
                  <a:pt x="32657" y="257175"/>
                </a:lnTo>
                <a:cubicBezTo>
                  <a:pt x="18880" y="257175"/>
                  <a:pt x="6633" y="249674"/>
                  <a:pt x="1939" y="238333"/>
                </a:cubicBezTo>
                <a:cubicBezTo>
                  <a:pt x="-2755" y="226993"/>
                  <a:pt x="1225" y="214312"/>
                  <a:pt x="11736" y="206633"/>
                </a:cubicBezTo>
                <a:lnTo>
                  <a:pt x="305650" y="-7680"/>
                </a:lnTo>
                <a:cubicBezTo>
                  <a:pt x="317183" y="-16073"/>
                  <a:pt x="333613" y="-16520"/>
                  <a:pt x="345758" y="-884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222500" y="4635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87500" y="5270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Grid management optimizing power distribution across networks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3815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86500" y="463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74320" y="28575"/>
                </a:moveTo>
                <a:lnTo>
                  <a:pt x="365760" y="28575"/>
                </a:lnTo>
                <a:cubicBezTo>
                  <a:pt x="378404" y="28575"/>
                  <a:pt x="388620" y="41344"/>
                  <a:pt x="388620" y="57150"/>
                </a:cubicBezTo>
                <a:cubicBezTo>
                  <a:pt x="388620" y="72956"/>
                  <a:pt x="378404" y="85725"/>
                  <a:pt x="365760" y="85725"/>
                </a:cubicBezTo>
                <a:lnTo>
                  <a:pt x="284607" y="85725"/>
                </a:lnTo>
                <a:cubicBezTo>
                  <a:pt x="280892" y="108764"/>
                  <a:pt x="268248" y="127784"/>
                  <a:pt x="251460" y="136892"/>
                </a:cubicBezTo>
                <a:lnTo>
                  <a:pt x="251460" y="400050"/>
                </a:lnTo>
                <a:lnTo>
                  <a:pt x="365760" y="400050"/>
                </a:lnTo>
                <a:cubicBezTo>
                  <a:pt x="378404" y="400050"/>
                  <a:pt x="388620" y="412819"/>
                  <a:pt x="388620" y="428625"/>
                </a:cubicBezTo>
                <a:cubicBezTo>
                  <a:pt x="388620" y="444431"/>
                  <a:pt x="378404" y="457200"/>
                  <a:pt x="365760" y="457200"/>
                </a:cubicBezTo>
                <a:lnTo>
                  <a:pt x="91440" y="457200"/>
                </a:lnTo>
                <a:cubicBezTo>
                  <a:pt x="78796" y="457200"/>
                  <a:pt x="68580" y="444431"/>
                  <a:pt x="68580" y="428625"/>
                </a:cubicBezTo>
                <a:cubicBezTo>
                  <a:pt x="68580" y="412819"/>
                  <a:pt x="78796" y="400050"/>
                  <a:pt x="91440" y="400050"/>
                </a:cubicBezTo>
                <a:lnTo>
                  <a:pt x="205740" y="400050"/>
                </a:lnTo>
                <a:lnTo>
                  <a:pt x="205740" y="136892"/>
                </a:lnTo>
                <a:cubicBezTo>
                  <a:pt x="188952" y="127695"/>
                  <a:pt x="176308" y="108674"/>
                  <a:pt x="172593" y="85725"/>
                </a:cubicBezTo>
                <a:lnTo>
                  <a:pt x="91440" y="85725"/>
                </a:lnTo>
                <a:cubicBezTo>
                  <a:pt x="78796" y="85725"/>
                  <a:pt x="68580" y="72956"/>
                  <a:pt x="68580" y="57150"/>
                </a:cubicBezTo>
                <a:cubicBezTo>
                  <a:pt x="68580" y="41344"/>
                  <a:pt x="78796" y="28575"/>
                  <a:pt x="91440" y="28575"/>
                </a:cubicBezTo>
                <a:lnTo>
                  <a:pt x="182880" y="28575"/>
                </a:lnTo>
                <a:cubicBezTo>
                  <a:pt x="193310" y="11251"/>
                  <a:pt x="209883" y="0"/>
                  <a:pt x="228600" y="0"/>
                </a:cubicBezTo>
                <a:cubicBezTo>
                  <a:pt x="247317" y="0"/>
                  <a:pt x="263890" y="11251"/>
                  <a:pt x="274320" y="28575"/>
                </a:cubicBezTo>
                <a:close/>
                <a:moveTo>
                  <a:pt x="314039" y="285750"/>
                </a:moveTo>
                <a:lnTo>
                  <a:pt x="417481" y="285750"/>
                </a:lnTo>
                <a:lnTo>
                  <a:pt x="365760" y="174843"/>
                </a:lnTo>
                <a:lnTo>
                  <a:pt x="314039" y="285750"/>
                </a:lnTo>
                <a:close/>
                <a:moveTo>
                  <a:pt x="365760" y="371475"/>
                </a:moveTo>
                <a:cubicBezTo>
                  <a:pt x="320826" y="371475"/>
                  <a:pt x="283464" y="341114"/>
                  <a:pt x="275749" y="301020"/>
                </a:cubicBezTo>
                <a:cubicBezTo>
                  <a:pt x="273891" y="291197"/>
                  <a:pt x="276463" y="281107"/>
                  <a:pt x="280535" y="272355"/>
                </a:cubicBezTo>
                <a:lnTo>
                  <a:pt x="348544" y="126623"/>
                </a:lnTo>
                <a:cubicBezTo>
                  <a:pt x="352115" y="118943"/>
                  <a:pt x="358688" y="114300"/>
                  <a:pt x="365760" y="114300"/>
                </a:cubicBezTo>
                <a:cubicBezTo>
                  <a:pt x="372832" y="114300"/>
                  <a:pt x="379405" y="119033"/>
                  <a:pt x="382976" y="126623"/>
                </a:cubicBezTo>
                <a:lnTo>
                  <a:pt x="450985" y="272355"/>
                </a:lnTo>
                <a:cubicBezTo>
                  <a:pt x="455057" y="281107"/>
                  <a:pt x="457629" y="291197"/>
                  <a:pt x="455771" y="301020"/>
                </a:cubicBezTo>
                <a:cubicBezTo>
                  <a:pt x="448056" y="341025"/>
                  <a:pt x="410694" y="371475"/>
                  <a:pt x="365760" y="371475"/>
                </a:cubicBezTo>
                <a:close/>
                <a:moveTo>
                  <a:pt x="90583" y="174843"/>
                </a:moveTo>
                <a:lnTo>
                  <a:pt x="38862" y="285750"/>
                </a:lnTo>
                <a:lnTo>
                  <a:pt x="142375" y="285750"/>
                </a:lnTo>
                <a:lnTo>
                  <a:pt x="90583" y="174843"/>
                </a:lnTo>
                <a:close/>
                <a:moveTo>
                  <a:pt x="643" y="301020"/>
                </a:moveTo>
                <a:cubicBezTo>
                  <a:pt x="-1214" y="291197"/>
                  <a:pt x="1357" y="281107"/>
                  <a:pt x="5429" y="272355"/>
                </a:cubicBezTo>
                <a:lnTo>
                  <a:pt x="73438" y="126623"/>
                </a:lnTo>
                <a:cubicBezTo>
                  <a:pt x="77010" y="118943"/>
                  <a:pt x="83582" y="114300"/>
                  <a:pt x="90654" y="114300"/>
                </a:cubicBezTo>
                <a:cubicBezTo>
                  <a:pt x="97727" y="114300"/>
                  <a:pt x="104299" y="119033"/>
                  <a:pt x="107871" y="126623"/>
                </a:cubicBezTo>
                <a:lnTo>
                  <a:pt x="175879" y="272355"/>
                </a:lnTo>
                <a:cubicBezTo>
                  <a:pt x="179951" y="281107"/>
                  <a:pt x="182523" y="291197"/>
                  <a:pt x="180665" y="301020"/>
                </a:cubicBezTo>
                <a:cubicBezTo>
                  <a:pt x="172950" y="341025"/>
                  <a:pt x="135588" y="371475"/>
                  <a:pt x="90654" y="371475"/>
                </a:cubicBezTo>
                <a:cubicBezTo>
                  <a:pt x="45720" y="371475"/>
                  <a:pt x="8358" y="341114"/>
                  <a:pt x="643" y="30102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921500" y="4635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86500" y="5270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Contract review processing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10,000+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pages per hour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381500"/>
            <a:ext cx="4318000" cy="203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10985500" y="463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537" y="59650"/>
                </a:moveTo>
                <a:cubicBezTo>
                  <a:pt x="309920" y="46881"/>
                  <a:pt x="306110" y="29021"/>
                  <a:pt x="289084" y="19735"/>
                </a:cubicBezTo>
                <a:cubicBezTo>
                  <a:pt x="272058" y="10448"/>
                  <a:pt x="248245" y="13305"/>
                  <a:pt x="235863" y="26075"/>
                </a:cubicBezTo>
                <a:lnTo>
                  <a:pt x="109657" y="156180"/>
                </a:lnTo>
                <a:lnTo>
                  <a:pt x="65008" y="122694"/>
                </a:lnTo>
                <a:cubicBezTo>
                  <a:pt x="50125" y="111532"/>
                  <a:pt x="25956" y="111532"/>
                  <a:pt x="11073" y="122694"/>
                </a:cubicBezTo>
                <a:cubicBezTo>
                  <a:pt x="-3810" y="133856"/>
                  <a:pt x="-3810" y="151983"/>
                  <a:pt x="11073" y="163145"/>
                </a:cubicBezTo>
                <a:lnTo>
                  <a:pt x="87273" y="220295"/>
                </a:lnTo>
                <a:cubicBezTo>
                  <a:pt x="95131" y="226189"/>
                  <a:pt x="106085" y="229225"/>
                  <a:pt x="117158" y="228600"/>
                </a:cubicBezTo>
                <a:cubicBezTo>
                  <a:pt x="128230" y="227975"/>
                  <a:pt x="138470" y="223689"/>
                  <a:pt x="145018" y="216902"/>
                </a:cubicBezTo>
                <a:lnTo>
                  <a:pt x="297418" y="59740"/>
                </a:lnTo>
                <a:close/>
                <a:moveTo>
                  <a:pt x="449937" y="181094"/>
                </a:moveTo>
                <a:cubicBezTo>
                  <a:pt x="462320" y="168325"/>
                  <a:pt x="458510" y="150465"/>
                  <a:pt x="441484" y="141178"/>
                </a:cubicBezTo>
                <a:cubicBezTo>
                  <a:pt x="424458" y="131891"/>
                  <a:pt x="400645" y="134749"/>
                  <a:pt x="388263" y="147518"/>
                </a:cubicBezTo>
                <a:lnTo>
                  <a:pt x="185857" y="356205"/>
                </a:lnTo>
                <a:lnTo>
                  <a:pt x="103108" y="294144"/>
                </a:lnTo>
                <a:cubicBezTo>
                  <a:pt x="88225" y="282982"/>
                  <a:pt x="64056" y="282982"/>
                  <a:pt x="49173" y="294144"/>
                </a:cubicBezTo>
                <a:cubicBezTo>
                  <a:pt x="34290" y="305306"/>
                  <a:pt x="34290" y="323433"/>
                  <a:pt x="49173" y="334595"/>
                </a:cubicBezTo>
                <a:lnTo>
                  <a:pt x="163473" y="420320"/>
                </a:lnTo>
                <a:cubicBezTo>
                  <a:pt x="171331" y="426214"/>
                  <a:pt x="182285" y="429250"/>
                  <a:pt x="193357" y="428625"/>
                </a:cubicBezTo>
                <a:cubicBezTo>
                  <a:pt x="204430" y="428000"/>
                  <a:pt x="214670" y="423714"/>
                  <a:pt x="221218" y="416927"/>
                </a:cubicBezTo>
                <a:lnTo>
                  <a:pt x="449818" y="18118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620500" y="46355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 Control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85500" y="5270500"/>
            <a:ext cx="368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Inspecting 100% of production with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D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99.7%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accuracy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70000" y="6858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Trend: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75% of enterprises plan to deploy intelligent expert systems (Gartner)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84% of modern systems incorporate ML components for hybrid reasoning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Robotics &amp; Issues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Convergence of AI and robotics, key challenges, and ethical considerations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Robotics: An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 in 2026 is 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pivotal moment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convergence between AI, manufacturing, and investment.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Robots are physical entities with sensing and the ability to affect the world.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span the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"three D's"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Dull, Dirty, Dangerous.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5842000" cy="1016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Shape 4"/>
          <p:cNvSpPr/>
          <p:nvPr/>
        </p:nvSpPr>
        <p:spPr>
          <a:xfrm>
            <a:off x="9207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222" y="31750"/>
                </a:moveTo>
                <a:cubicBezTo>
                  <a:pt x="43833" y="31750"/>
                  <a:pt x="56444" y="45938"/>
                  <a:pt x="56444" y="63500"/>
                </a:cubicBezTo>
                <a:lnTo>
                  <a:pt x="56444" y="285750"/>
                </a:lnTo>
                <a:lnTo>
                  <a:pt x="254000" y="285750"/>
                </a:lnTo>
                <a:lnTo>
                  <a:pt x="254000" y="158750"/>
                </a:lnTo>
                <a:cubicBezTo>
                  <a:pt x="254000" y="141188"/>
                  <a:pt x="266612" y="127000"/>
                  <a:pt x="282222" y="127000"/>
                </a:cubicBezTo>
                <a:lnTo>
                  <a:pt x="423333" y="127000"/>
                </a:lnTo>
                <a:cubicBezTo>
                  <a:pt x="470076" y="127000"/>
                  <a:pt x="508000" y="169664"/>
                  <a:pt x="508000" y="222250"/>
                </a:cubicBezTo>
                <a:lnTo>
                  <a:pt x="508000" y="444500"/>
                </a:lnTo>
                <a:cubicBezTo>
                  <a:pt x="508000" y="462062"/>
                  <a:pt x="495388" y="476250"/>
                  <a:pt x="479778" y="476250"/>
                </a:cubicBezTo>
                <a:cubicBezTo>
                  <a:pt x="464167" y="476250"/>
                  <a:pt x="451556" y="462062"/>
                  <a:pt x="451556" y="444500"/>
                </a:cubicBezTo>
                <a:lnTo>
                  <a:pt x="451556" y="381000"/>
                </a:lnTo>
                <a:lnTo>
                  <a:pt x="56444" y="381000"/>
                </a:lnTo>
                <a:lnTo>
                  <a:pt x="56444" y="444500"/>
                </a:lnTo>
                <a:cubicBezTo>
                  <a:pt x="56444" y="462062"/>
                  <a:pt x="43833" y="476250"/>
                  <a:pt x="28222" y="476250"/>
                </a:cubicBezTo>
                <a:cubicBezTo>
                  <a:pt x="12612" y="476250"/>
                  <a:pt x="0" y="462062"/>
                  <a:pt x="0" y="444500"/>
                </a:cubicBezTo>
                <a:lnTo>
                  <a:pt x="0" y="63500"/>
                </a:lnTo>
                <a:cubicBezTo>
                  <a:pt x="0" y="45938"/>
                  <a:pt x="12612" y="31750"/>
                  <a:pt x="28222" y="31750"/>
                </a:cubicBezTo>
                <a:close/>
                <a:moveTo>
                  <a:pt x="98778" y="190500"/>
                </a:moveTo>
                <a:cubicBezTo>
                  <a:pt x="98778" y="155453"/>
                  <a:pt x="124070" y="127000"/>
                  <a:pt x="155222" y="127000"/>
                </a:cubicBezTo>
                <a:cubicBezTo>
                  <a:pt x="186375" y="127000"/>
                  <a:pt x="211667" y="155453"/>
                  <a:pt x="211667" y="190500"/>
                </a:cubicBezTo>
                <a:cubicBezTo>
                  <a:pt x="211667" y="225547"/>
                  <a:pt x="186375" y="254000"/>
                  <a:pt x="155222" y="254000"/>
                </a:cubicBezTo>
                <a:cubicBezTo>
                  <a:pt x="124070" y="254000"/>
                  <a:pt x="98778" y="225547"/>
                  <a:pt x="98778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1905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Dull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Manufacturing, warehouse logistics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890000" y="3175000"/>
            <a:ext cx="5842000" cy="10160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9" name="Shape 7"/>
          <p:cNvSpPr/>
          <p:nvPr/>
        </p:nvSpPr>
        <p:spPr>
          <a:xfrm>
            <a:off x="9207500" y="342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9710" y="54173"/>
                </a:moveTo>
                <a:cubicBezTo>
                  <a:pt x="510734" y="41771"/>
                  <a:pt x="510734" y="21630"/>
                  <a:pt x="499710" y="9227"/>
                </a:cubicBezTo>
                <a:cubicBezTo>
                  <a:pt x="488685" y="-3175"/>
                  <a:pt x="470782" y="-3175"/>
                  <a:pt x="459758" y="9227"/>
                </a:cubicBezTo>
                <a:lnTo>
                  <a:pt x="290424" y="199727"/>
                </a:lnTo>
                <a:lnTo>
                  <a:pt x="259821" y="165298"/>
                </a:lnTo>
                <a:cubicBezTo>
                  <a:pt x="256117" y="161131"/>
                  <a:pt x="251001" y="158750"/>
                  <a:pt x="245710" y="158750"/>
                </a:cubicBezTo>
                <a:cubicBezTo>
                  <a:pt x="234685" y="158750"/>
                  <a:pt x="225778" y="168771"/>
                  <a:pt x="225778" y="181173"/>
                </a:cubicBezTo>
                <a:lnTo>
                  <a:pt x="225778" y="210046"/>
                </a:lnTo>
                <a:lnTo>
                  <a:pt x="321292" y="317500"/>
                </a:lnTo>
                <a:lnTo>
                  <a:pt x="346957" y="317500"/>
                </a:lnTo>
                <a:cubicBezTo>
                  <a:pt x="357981" y="317500"/>
                  <a:pt x="366889" y="307479"/>
                  <a:pt x="366889" y="295077"/>
                </a:cubicBezTo>
                <a:cubicBezTo>
                  <a:pt x="366889" y="289123"/>
                  <a:pt x="364772" y="283369"/>
                  <a:pt x="361068" y="279202"/>
                </a:cubicBezTo>
                <a:lnTo>
                  <a:pt x="330465" y="244773"/>
                </a:lnTo>
                <a:lnTo>
                  <a:pt x="499798" y="54273"/>
                </a:lnTo>
                <a:close/>
                <a:moveTo>
                  <a:pt x="300831" y="350639"/>
                </a:moveTo>
                <a:lnTo>
                  <a:pt x="196321" y="233065"/>
                </a:lnTo>
                <a:cubicBezTo>
                  <a:pt x="158662" y="229394"/>
                  <a:pt x="121179" y="244673"/>
                  <a:pt x="94192" y="275034"/>
                </a:cubicBezTo>
                <a:lnTo>
                  <a:pt x="87136" y="282972"/>
                </a:lnTo>
                <a:cubicBezTo>
                  <a:pt x="67469" y="305098"/>
                  <a:pt x="56444" y="335062"/>
                  <a:pt x="56444" y="366316"/>
                </a:cubicBezTo>
                <a:cubicBezTo>
                  <a:pt x="56444" y="373063"/>
                  <a:pt x="62706" y="377428"/>
                  <a:pt x="68086" y="374452"/>
                </a:cubicBezTo>
                <a:lnTo>
                  <a:pt x="113153" y="349151"/>
                </a:lnTo>
                <a:cubicBezTo>
                  <a:pt x="117563" y="346670"/>
                  <a:pt x="121532" y="353219"/>
                  <a:pt x="117916" y="356989"/>
                </a:cubicBezTo>
                <a:lnTo>
                  <a:pt x="6438" y="469702"/>
                </a:lnTo>
                <a:cubicBezTo>
                  <a:pt x="2381" y="473869"/>
                  <a:pt x="0" y="479822"/>
                  <a:pt x="0" y="486073"/>
                </a:cubicBezTo>
                <a:cubicBezTo>
                  <a:pt x="0" y="498177"/>
                  <a:pt x="8731" y="508000"/>
                  <a:pt x="19491" y="508000"/>
                </a:cubicBezTo>
                <a:lnTo>
                  <a:pt x="172332" y="508000"/>
                </a:lnTo>
                <a:cubicBezTo>
                  <a:pt x="206551" y="508000"/>
                  <a:pt x="239272" y="492720"/>
                  <a:pt x="263525" y="465534"/>
                </a:cubicBezTo>
                <a:cubicBezTo>
                  <a:pt x="290513" y="435173"/>
                  <a:pt x="304006" y="393005"/>
                  <a:pt x="300831" y="3506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3175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Dirty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Food production, disaster assistance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890000" y="4445000"/>
            <a:ext cx="5842000" cy="1016000"/>
          </a:xfrm>
          <a:prstGeom prst="roundRect">
            <a:avLst>
              <a:gd name="adj" fmla="val 8000"/>
            </a:avLst>
          </a:prstGeom>
          <a:solidFill>
            <a:srgbClr val="6B9CBF"/>
          </a:solidFill>
          <a:ln/>
        </p:spPr>
      </p:sp>
      <p:sp>
        <p:nvSpPr>
          <p:cNvPr id="12" name="Shape 10"/>
          <p:cNvSpPr/>
          <p:nvPr/>
        </p:nvSpPr>
        <p:spPr>
          <a:xfrm>
            <a:off x="92075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0" y="4445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Dangerous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Military, security, transportation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70000" y="5969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Technology Components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270000" y="65405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24000" y="673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12700"/>
                </a:moveTo>
                <a:cubicBezTo>
                  <a:pt x="169355" y="12700"/>
                  <a:pt x="162560" y="21193"/>
                  <a:pt x="162560" y="31750"/>
                </a:cubicBezTo>
                <a:cubicBezTo>
                  <a:pt x="162560" y="42307"/>
                  <a:pt x="169355" y="50800"/>
                  <a:pt x="177800" y="50800"/>
                </a:cubicBezTo>
                <a:lnTo>
                  <a:pt x="213741" y="50800"/>
                </a:lnTo>
                <a:lnTo>
                  <a:pt x="228029" y="89456"/>
                </a:lnTo>
                <a:lnTo>
                  <a:pt x="167640" y="146050"/>
                </a:lnTo>
                <a:cubicBezTo>
                  <a:pt x="146431" y="126127"/>
                  <a:pt x="120015" y="114300"/>
                  <a:pt x="91440" y="114300"/>
                </a:cubicBezTo>
                <a:lnTo>
                  <a:pt x="55880" y="114300"/>
                </a:lnTo>
                <a:cubicBezTo>
                  <a:pt x="47435" y="114300"/>
                  <a:pt x="40640" y="122793"/>
                  <a:pt x="40640" y="133350"/>
                </a:cubicBezTo>
                <a:cubicBezTo>
                  <a:pt x="40640" y="143907"/>
                  <a:pt x="47435" y="152400"/>
                  <a:pt x="55880" y="152400"/>
                </a:cubicBezTo>
                <a:lnTo>
                  <a:pt x="91440" y="152400"/>
                </a:lnTo>
                <a:cubicBezTo>
                  <a:pt x="141288" y="152400"/>
                  <a:pt x="182372" y="199708"/>
                  <a:pt x="187452" y="260350"/>
                </a:cubicBezTo>
                <a:lnTo>
                  <a:pt x="171323" y="260350"/>
                </a:lnTo>
                <a:cubicBezTo>
                  <a:pt x="164211" y="213360"/>
                  <a:pt x="131128" y="177800"/>
                  <a:pt x="91440" y="177800"/>
                </a:cubicBezTo>
                <a:cubicBezTo>
                  <a:pt x="46546" y="177800"/>
                  <a:pt x="10160" y="223282"/>
                  <a:pt x="10160" y="279400"/>
                </a:cubicBezTo>
                <a:cubicBezTo>
                  <a:pt x="10160" y="335518"/>
                  <a:pt x="46546" y="381000"/>
                  <a:pt x="91440" y="381000"/>
                </a:cubicBezTo>
                <a:cubicBezTo>
                  <a:pt x="131128" y="381000"/>
                  <a:pt x="164148" y="345440"/>
                  <a:pt x="171323" y="298450"/>
                </a:cubicBezTo>
                <a:lnTo>
                  <a:pt x="203200" y="298450"/>
                </a:lnTo>
                <a:cubicBezTo>
                  <a:pt x="211646" y="298450"/>
                  <a:pt x="218440" y="289957"/>
                  <a:pt x="218440" y="279400"/>
                </a:cubicBezTo>
                <a:lnTo>
                  <a:pt x="218440" y="261541"/>
                </a:lnTo>
                <a:cubicBezTo>
                  <a:pt x="218440" y="225742"/>
                  <a:pt x="234760" y="193754"/>
                  <a:pt x="260033" y="176054"/>
                </a:cubicBezTo>
                <a:lnTo>
                  <a:pt x="267716" y="196771"/>
                </a:lnTo>
                <a:cubicBezTo>
                  <a:pt x="247142" y="215186"/>
                  <a:pt x="233744" y="245348"/>
                  <a:pt x="233744" y="279400"/>
                </a:cubicBezTo>
                <a:cubicBezTo>
                  <a:pt x="233744" y="335518"/>
                  <a:pt x="270129" y="381000"/>
                  <a:pt x="315024" y="381000"/>
                </a:cubicBezTo>
                <a:cubicBezTo>
                  <a:pt x="359918" y="381000"/>
                  <a:pt x="396304" y="335518"/>
                  <a:pt x="396304" y="279400"/>
                </a:cubicBezTo>
                <a:cubicBezTo>
                  <a:pt x="396304" y="223282"/>
                  <a:pt x="359918" y="177800"/>
                  <a:pt x="315024" y="177800"/>
                </a:cubicBezTo>
                <a:cubicBezTo>
                  <a:pt x="308229" y="177800"/>
                  <a:pt x="301689" y="178832"/>
                  <a:pt x="295402" y="180816"/>
                </a:cubicBezTo>
                <a:lnTo>
                  <a:pt x="275463" y="127000"/>
                </a:lnTo>
                <a:lnTo>
                  <a:pt x="309880" y="127000"/>
                </a:lnTo>
                <a:cubicBezTo>
                  <a:pt x="318326" y="127000"/>
                  <a:pt x="325120" y="118507"/>
                  <a:pt x="325120" y="107950"/>
                </a:cubicBezTo>
                <a:lnTo>
                  <a:pt x="325120" y="69850"/>
                </a:lnTo>
                <a:cubicBezTo>
                  <a:pt x="325120" y="59293"/>
                  <a:pt x="318326" y="50800"/>
                  <a:pt x="309880" y="50800"/>
                </a:cubicBezTo>
                <a:lnTo>
                  <a:pt x="276035" y="50800"/>
                </a:lnTo>
                <a:cubicBezTo>
                  <a:pt x="271653" y="50800"/>
                  <a:pt x="267335" y="52546"/>
                  <a:pt x="263843" y="55880"/>
                </a:cubicBezTo>
                <a:lnTo>
                  <a:pt x="252984" y="66040"/>
                </a:lnTo>
                <a:lnTo>
                  <a:pt x="237363" y="23733"/>
                </a:lnTo>
                <a:cubicBezTo>
                  <a:pt x="234886" y="16986"/>
                  <a:pt x="229489" y="12700"/>
                  <a:pt x="223520" y="12700"/>
                </a:cubicBezTo>
                <a:lnTo>
                  <a:pt x="177800" y="12700"/>
                </a:lnTo>
                <a:close/>
                <a:moveTo>
                  <a:pt x="283083" y="238442"/>
                </a:moveTo>
                <a:lnTo>
                  <a:pt x="301117" y="287338"/>
                </a:lnTo>
                <a:cubicBezTo>
                  <a:pt x="304673" y="296863"/>
                  <a:pt x="313690" y="301069"/>
                  <a:pt x="321310" y="296624"/>
                </a:cubicBezTo>
                <a:cubicBezTo>
                  <a:pt x="328930" y="292179"/>
                  <a:pt x="332295" y="280908"/>
                  <a:pt x="328740" y="271383"/>
                </a:cubicBezTo>
                <a:lnTo>
                  <a:pt x="310642" y="222488"/>
                </a:lnTo>
                <a:cubicBezTo>
                  <a:pt x="312039" y="222329"/>
                  <a:pt x="313436" y="222250"/>
                  <a:pt x="314897" y="222250"/>
                </a:cubicBezTo>
                <a:cubicBezTo>
                  <a:pt x="340170" y="222250"/>
                  <a:pt x="360617" y="247809"/>
                  <a:pt x="360617" y="279400"/>
                </a:cubicBezTo>
                <a:cubicBezTo>
                  <a:pt x="360617" y="310991"/>
                  <a:pt x="340170" y="336550"/>
                  <a:pt x="314897" y="336550"/>
                </a:cubicBezTo>
                <a:cubicBezTo>
                  <a:pt x="289624" y="336550"/>
                  <a:pt x="269177" y="310991"/>
                  <a:pt x="269177" y="279400"/>
                </a:cubicBezTo>
                <a:cubicBezTo>
                  <a:pt x="269177" y="263366"/>
                  <a:pt x="274447" y="248841"/>
                  <a:pt x="283020" y="238442"/>
                </a:cubicBezTo>
                <a:close/>
                <a:moveTo>
                  <a:pt x="91440" y="336550"/>
                </a:moveTo>
                <a:cubicBezTo>
                  <a:pt x="66167" y="336550"/>
                  <a:pt x="45720" y="310991"/>
                  <a:pt x="45720" y="279400"/>
                </a:cubicBezTo>
                <a:cubicBezTo>
                  <a:pt x="45720" y="247809"/>
                  <a:pt x="66167" y="222250"/>
                  <a:pt x="91440" y="222250"/>
                </a:cubicBezTo>
                <a:cubicBezTo>
                  <a:pt x="111316" y="222250"/>
                  <a:pt x="128270" y="238125"/>
                  <a:pt x="134557" y="260350"/>
                </a:cubicBezTo>
                <a:lnTo>
                  <a:pt x="91440" y="260350"/>
                </a:lnTo>
                <a:cubicBezTo>
                  <a:pt x="82994" y="260350"/>
                  <a:pt x="76200" y="268843"/>
                  <a:pt x="76200" y="279400"/>
                </a:cubicBezTo>
                <a:cubicBezTo>
                  <a:pt x="76200" y="289957"/>
                  <a:pt x="82994" y="298450"/>
                  <a:pt x="91440" y="298450"/>
                </a:cubicBezTo>
                <a:lnTo>
                  <a:pt x="134557" y="298450"/>
                </a:lnTo>
                <a:cubicBezTo>
                  <a:pt x="128270" y="320675"/>
                  <a:pt x="111316" y="336550"/>
                  <a:pt x="91440" y="3365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2095500" y="6667500"/>
            <a:ext cx="15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Actuators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Motors, arms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64000" y="65405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8000" y="673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150" y="0"/>
                </a:moveTo>
                <a:cubicBezTo>
                  <a:pt x="306864" y="0"/>
                  <a:pt x="406400" y="99536"/>
                  <a:pt x="406400" y="222250"/>
                </a:cubicBezTo>
                <a:cubicBezTo>
                  <a:pt x="406400" y="232807"/>
                  <a:pt x="397907" y="241300"/>
                  <a:pt x="387350" y="241300"/>
                </a:cubicBezTo>
                <a:cubicBezTo>
                  <a:pt x="376793" y="241300"/>
                  <a:pt x="368300" y="232807"/>
                  <a:pt x="368300" y="222250"/>
                </a:cubicBezTo>
                <a:cubicBezTo>
                  <a:pt x="368300" y="120571"/>
                  <a:pt x="285829" y="38100"/>
                  <a:pt x="184150" y="38100"/>
                </a:cubicBezTo>
                <a:cubicBezTo>
                  <a:pt x="173593" y="38100"/>
                  <a:pt x="165100" y="29607"/>
                  <a:pt x="165100" y="19050"/>
                </a:cubicBezTo>
                <a:cubicBezTo>
                  <a:pt x="165100" y="8493"/>
                  <a:pt x="173593" y="0"/>
                  <a:pt x="184150" y="0"/>
                </a:cubicBezTo>
                <a:close/>
                <a:moveTo>
                  <a:pt x="165100" y="95250"/>
                </a:moveTo>
                <a:cubicBezTo>
                  <a:pt x="165100" y="84693"/>
                  <a:pt x="173593" y="76200"/>
                  <a:pt x="184150" y="76200"/>
                </a:cubicBezTo>
                <a:cubicBezTo>
                  <a:pt x="264795" y="76200"/>
                  <a:pt x="330200" y="141605"/>
                  <a:pt x="330200" y="222250"/>
                </a:cubicBezTo>
                <a:cubicBezTo>
                  <a:pt x="330200" y="232807"/>
                  <a:pt x="321707" y="241300"/>
                  <a:pt x="311150" y="241300"/>
                </a:cubicBezTo>
                <a:cubicBezTo>
                  <a:pt x="300593" y="241300"/>
                  <a:pt x="292100" y="232807"/>
                  <a:pt x="292100" y="222250"/>
                </a:cubicBezTo>
                <a:cubicBezTo>
                  <a:pt x="292100" y="162639"/>
                  <a:pt x="243761" y="114300"/>
                  <a:pt x="184150" y="114300"/>
                </a:cubicBezTo>
                <a:cubicBezTo>
                  <a:pt x="173593" y="114300"/>
                  <a:pt x="165100" y="105807"/>
                  <a:pt x="165100" y="95250"/>
                </a:cubicBezTo>
                <a:close/>
                <a:moveTo>
                  <a:pt x="20955" y="113268"/>
                </a:moveTo>
                <a:cubicBezTo>
                  <a:pt x="27940" y="99060"/>
                  <a:pt x="46673" y="97472"/>
                  <a:pt x="57864" y="108664"/>
                </a:cubicBezTo>
                <a:lnTo>
                  <a:pt x="159861" y="210661"/>
                </a:lnTo>
                <a:lnTo>
                  <a:pt x="185261" y="185261"/>
                </a:lnTo>
                <a:cubicBezTo>
                  <a:pt x="195183" y="175339"/>
                  <a:pt x="211296" y="175339"/>
                  <a:pt x="221218" y="185261"/>
                </a:cubicBezTo>
                <a:cubicBezTo>
                  <a:pt x="231140" y="195183"/>
                  <a:pt x="231140" y="211296"/>
                  <a:pt x="221218" y="221218"/>
                </a:cubicBezTo>
                <a:lnTo>
                  <a:pt x="195818" y="246618"/>
                </a:lnTo>
                <a:lnTo>
                  <a:pt x="297815" y="348615"/>
                </a:lnTo>
                <a:cubicBezTo>
                  <a:pt x="309007" y="359807"/>
                  <a:pt x="307340" y="378460"/>
                  <a:pt x="293211" y="385524"/>
                </a:cubicBezTo>
                <a:cubicBezTo>
                  <a:pt x="266065" y="398939"/>
                  <a:pt x="235585" y="406479"/>
                  <a:pt x="203279" y="406479"/>
                </a:cubicBezTo>
                <a:cubicBezTo>
                  <a:pt x="91043" y="406479"/>
                  <a:pt x="79" y="315516"/>
                  <a:pt x="79" y="203279"/>
                </a:cubicBezTo>
                <a:cubicBezTo>
                  <a:pt x="79" y="170974"/>
                  <a:pt x="7620" y="140414"/>
                  <a:pt x="21034" y="11334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4889500" y="6667500"/>
            <a:ext cx="15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Vision, LiDAR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65405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2000" y="673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3" name="Text 21"/>
          <p:cNvSpPr/>
          <p:nvPr/>
        </p:nvSpPr>
        <p:spPr>
          <a:xfrm>
            <a:off x="7683500" y="6667500"/>
            <a:ext cx="15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AI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52000" y="65405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06000" y="673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5280" y="101600"/>
                </a:moveTo>
                <a:cubicBezTo>
                  <a:pt x="340868" y="101600"/>
                  <a:pt x="345440" y="107315"/>
                  <a:pt x="345440" y="114300"/>
                </a:cubicBezTo>
                <a:lnTo>
                  <a:pt x="345440" y="292100"/>
                </a:lnTo>
                <a:cubicBezTo>
                  <a:pt x="345440" y="299085"/>
                  <a:pt x="340868" y="304800"/>
                  <a:pt x="335280" y="304800"/>
                </a:cubicBezTo>
                <a:lnTo>
                  <a:pt x="71120" y="304800"/>
                </a:lnTo>
                <a:cubicBezTo>
                  <a:pt x="65532" y="304800"/>
                  <a:pt x="60960" y="299085"/>
                  <a:pt x="60960" y="292100"/>
                </a:cubicBezTo>
                <a:lnTo>
                  <a:pt x="60960" y="114300"/>
                </a:lnTo>
                <a:cubicBezTo>
                  <a:pt x="60960" y="107315"/>
                  <a:pt x="65532" y="101600"/>
                  <a:pt x="71120" y="101600"/>
                </a:cubicBezTo>
                <a:lnTo>
                  <a:pt x="335280" y="101600"/>
                </a:lnTo>
                <a:close/>
                <a:moveTo>
                  <a:pt x="71120" y="50800"/>
                </a:moveTo>
                <a:cubicBezTo>
                  <a:pt x="43053" y="50800"/>
                  <a:pt x="20320" y="79216"/>
                  <a:pt x="20320" y="114300"/>
                </a:cubicBezTo>
                <a:lnTo>
                  <a:pt x="20320" y="292100"/>
                </a:lnTo>
                <a:cubicBezTo>
                  <a:pt x="20320" y="327184"/>
                  <a:pt x="43053" y="355600"/>
                  <a:pt x="71120" y="355600"/>
                </a:cubicBezTo>
                <a:lnTo>
                  <a:pt x="335280" y="355600"/>
                </a:lnTo>
                <a:cubicBezTo>
                  <a:pt x="363347" y="355600"/>
                  <a:pt x="386080" y="327184"/>
                  <a:pt x="386080" y="292100"/>
                </a:cubicBezTo>
                <a:lnTo>
                  <a:pt x="386080" y="254000"/>
                </a:lnTo>
                <a:cubicBezTo>
                  <a:pt x="397320" y="254000"/>
                  <a:pt x="406400" y="242649"/>
                  <a:pt x="406400" y="2286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lnTo>
                  <a:pt x="386080" y="114300"/>
                </a:lnTo>
                <a:cubicBezTo>
                  <a:pt x="386080" y="79216"/>
                  <a:pt x="363347" y="50800"/>
                  <a:pt x="335280" y="50800"/>
                </a:cubicBezTo>
                <a:lnTo>
                  <a:pt x="71120" y="50800"/>
                </a:lnTo>
                <a:close/>
                <a:moveTo>
                  <a:pt x="106680" y="139700"/>
                </a:moveTo>
                <a:cubicBezTo>
                  <a:pt x="98234" y="139700"/>
                  <a:pt x="91440" y="148193"/>
                  <a:pt x="91440" y="158750"/>
                </a:cubicBezTo>
                <a:lnTo>
                  <a:pt x="91440" y="247650"/>
                </a:lnTo>
                <a:cubicBezTo>
                  <a:pt x="91440" y="258207"/>
                  <a:pt x="98234" y="266700"/>
                  <a:pt x="106680" y="266700"/>
                </a:cubicBezTo>
                <a:lnTo>
                  <a:pt x="299720" y="266700"/>
                </a:lnTo>
                <a:cubicBezTo>
                  <a:pt x="308166" y="266700"/>
                  <a:pt x="314960" y="258207"/>
                  <a:pt x="314960" y="247650"/>
                </a:cubicBezTo>
                <a:lnTo>
                  <a:pt x="314960" y="158750"/>
                </a:lnTo>
                <a:cubicBezTo>
                  <a:pt x="314960" y="148193"/>
                  <a:pt x="308166" y="139700"/>
                  <a:pt x="299720" y="139700"/>
                </a:cubicBezTo>
                <a:lnTo>
                  <a:pt x="106680" y="1397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0477500" y="6667500"/>
            <a:ext cx="15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Battery systems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446000" y="65405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700000" y="673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6B9CBF"/>
          </a:solidFill>
          <a:ln/>
        </p:spPr>
      </p:sp>
      <p:sp>
        <p:nvSpPr>
          <p:cNvPr id="29" name="Text 27"/>
          <p:cNvSpPr/>
          <p:nvPr/>
        </p:nvSpPr>
        <p:spPr>
          <a:xfrm>
            <a:off x="13271500" y="6667500"/>
            <a:ext cx="15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Software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Programming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Robotics Technologies in 2026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2225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Embodied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87500" y="2921000"/>
            <a:ext cx="368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Running intelligence locally on robots with powerful AI chips for faster decision-making and stronger data security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685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9400" y="0"/>
                </a:moveTo>
                <a:cubicBezTo>
                  <a:pt x="279400" y="-17562"/>
                  <a:pt x="268049" y="-31750"/>
                  <a:pt x="254000" y="-31750"/>
                </a:cubicBezTo>
                <a:cubicBezTo>
                  <a:pt x="239951" y="-31750"/>
                  <a:pt x="228600" y="-17562"/>
                  <a:pt x="228600" y="0"/>
                </a:cubicBezTo>
                <a:lnTo>
                  <a:pt x="228600" y="63500"/>
                </a:lnTo>
                <a:lnTo>
                  <a:pt x="152400" y="63500"/>
                </a:lnTo>
                <a:cubicBezTo>
                  <a:pt x="110331" y="63500"/>
                  <a:pt x="76200" y="106164"/>
                  <a:pt x="76200" y="158750"/>
                </a:cubicBezTo>
                <a:lnTo>
                  <a:pt x="76200" y="381000"/>
                </a:lnTo>
                <a:cubicBezTo>
                  <a:pt x="76200" y="433586"/>
                  <a:pt x="110331" y="476250"/>
                  <a:pt x="152400" y="476250"/>
                </a:cubicBezTo>
                <a:lnTo>
                  <a:pt x="355600" y="476250"/>
                </a:lnTo>
                <a:cubicBezTo>
                  <a:pt x="397669" y="476250"/>
                  <a:pt x="431800" y="433586"/>
                  <a:pt x="431800" y="381000"/>
                </a:cubicBezTo>
                <a:lnTo>
                  <a:pt x="431800" y="158750"/>
                </a:lnTo>
                <a:cubicBezTo>
                  <a:pt x="431800" y="106164"/>
                  <a:pt x="397669" y="63500"/>
                  <a:pt x="355600" y="63500"/>
                </a:cubicBezTo>
                <a:lnTo>
                  <a:pt x="279400" y="63500"/>
                </a:lnTo>
                <a:lnTo>
                  <a:pt x="279400" y="0"/>
                </a:lnTo>
                <a:close/>
                <a:moveTo>
                  <a:pt x="127000" y="365125"/>
                </a:moveTo>
                <a:cubicBezTo>
                  <a:pt x="127000" y="351929"/>
                  <a:pt x="135493" y="341313"/>
                  <a:pt x="146050" y="341313"/>
                </a:cubicBezTo>
                <a:lnTo>
                  <a:pt x="171450" y="341313"/>
                </a:lnTo>
                <a:cubicBezTo>
                  <a:pt x="182007" y="341313"/>
                  <a:pt x="190500" y="351929"/>
                  <a:pt x="190500" y="365125"/>
                </a:cubicBezTo>
                <a:cubicBezTo>
                  <a:pt x="190500" y="378321"/>
                  <a:pt x="182007" y="388938"/>
                  <a:pt x="171450" y="388938"/>
                </a:cubicBezTo>
                <a:lnTo>
                  <a:pt x="146050" y="388938"/>
                </a:lnTo>
                <a:cubicBezTo>
                  <a:pt x="135493" y="388938"/>
                  <a:pt x="127000" y="378321"/>
                  <a:pt x="127000" y="365125"/>
                </a:cubicBezTo>
                <a:close/>
                <a:moveTo>
                  <a:pt x="222250" y="365125"/>
                </a:moveTo>
                <a:cubicBezTo>
                  <a:pt x="222250" y="351929"/>
                  <a:pt x="230743" y="341313"/>
                  <a:pt x="241300" y="341313"/>
                </a:cubicBezTo>
                <a:lnTo>
                  <a:pt x="266700" y="341313"/>
                </a:lnTo>
                <a:cubicBezTo>
                  <a:pt x="277257" y="341313"/>
                  <a:pt x="285750" y="351929"/>
                  <a:pt x="285750" y="365125"/>
                </a:cubicBezTo>
                <a:cubicBezTo>
                  <a:pt x="285750" y="378321"/>
                  <a:pt x="277257" y="388938"/>
                  <a:pt x="266700" y="388938"/>
                </a:cubicBezTo>
                <a:lnTo>
                  <a:pt x="241300" y="388938"/>
                </a:lnTo>
                <a:cubicBezTo>
                  <a:pt x="230743" y="388938"/>
                  <a:pt x="222250" y="378321"/>
                  <a:pt x="222250" y="365125"/>
                </a:cubicBezTo>
                <a:close/>
                <a:moveTo>
                  <a:pt x="317500" y="365125"/>
                </a:moveTo>
                <a:cubicBezTo>
                  <a:pt x="317500" y="351929"/>
                  <a:pt x="325993" y="341313"/>
                  <a:pt x="336550" y="341313"/>
                </a:cubicBezTo>
                <a:lnTo>
                  <a:pt x="361950" y="341313"/>
                </a:lnTo>
                <a:cubicBezTo>
                  <a:pt x="372507" y="341313"/>
                  <a:pt x="381000" y="351929"/>
                  <a:pt x="381000" y="365125"/>
                </a:cubicBezTo>
                <a:cubicBezTo>
                  <a:pt x="381000" y="378321"/>
                  <a:pt x="372507" y="388938"/>
                  <a:pt x="361950" y="388938"/>
                </a:cubicBezTo>
                <a:lnTo>
                  <a:pt x="336550" y="388938"/>
                </a:lnTo>
                <a:cubicBezTo>
                  <a:pt x="325993" y="388938"/>
                  <a:pt x="317500" y="378321"/>
                  <a:pt x="317500" y="365125"/>
                </a:cubicBezTo>
                <a:close/>
                <a:moveTo>
                  <a:pt x="177800" y="174625"/>
                </a:moveTo>
                <a:cubicBezTo>
                  <a:pt x="198828" y="174625"/>
                  <a:pt x="215900" y="195965"/>
                  <a:pt x="215900" y="222250"/>
                </a:cubicBezTo>
                <a:cubicBezTo>
                  <a:pt x="215900" y="248535"/>
                  <a:pt x="198828" y="269875"/>
                  <a:pt x="177800" y="269875"/>
                </a:cubicBezTo>
                <a:cubicBezTo>
                  <a:pt x="156772" y="269875"/>
                  <a:pt x="139700" y="248535"/>
                  <a:pt x="139700" y="222250"/>
                </a:cubicBezTo>
                <a:cubicBezTo>
                  <a:pt x="139700" y="195965"/>
                  <a:pt x="156772" y="174625"/>
                  <a:pt x="177800" y="174625"/>
                </a:cubicBezTo>
                <a:close/>
                <a:moveTo>
                  <a:pt x="292100" y="222250"/>
                </a:moveTo>
                <a:cubicBezTo>
                  <a:pt x="292100" y="195965"/>
                  <a:pt x="309172" y="174625"/>
                  <a:pt x="330200" y="174625"/>
                </a:cubicBezTo>
                <a:cubicBezTo>
                  <a:pt x="351228" y="174625"/>
                  <a:pt x="368300" y="195965"/>
                  <a:pt x="368300" y="222250"/>
                </a:cubicBezTo>
                <a:cubicBezTo>
                  <a:pt x="368300" y="248535"/>
                  <a:pt x="351228" y="269875"/>
                  <a:pt x="330200" y="269875"/>
                </a:cubicBezTo>
                <a:cubicBezTo>
                  <a:pt x="309172" y="269875"/>
                  <a:pt x="292100" y="248535"/>
                  <a:pt x="292100" y="222250"/>
                </a:cubicBezTo>
                <a:close/>
                <a:moveTo>
                  <a:pt x="50800" y="222250"/>
                </a:moveTo>
                <a:cubicBezTo>
                  <a:pt x="50800" y="204688"/>
                  <a:pt x="39449" y="190500"/>
                  <a:pt x="25400" y="190500"/>
                </a:cubicBezTo>
                <a:cubicBezTo>
                  <a:pt x="11351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1351" y="349250"/>
                  <a:pt x="25400" y="349250"/>
                </a:cubicBezTo>
                <a:cubicBezTo>
                  <a:pt x="39449" y="349250"/>
                  <a:pt x="50800" y="335062"/>
                  <a:pt x="50800" y="317500"/>
                </a:cubicBezTo>
                <a:lnTo>
                  <a:pt x="50800" y="222250"/>
                </a:lnTo>
                <a:close/>
                <a:moveTo>
                  <a:pt x="482600" y="190500"/>
                </a:moveTo>
                <a:cubicBezTo>
                  <a:pt x="468551" y="190500"/>
                  <a:pt x="457200" y="204688"/>
                  <a:pt x="457200" y="222250"/>
                </a:cubicBezTo>
                <a:lnTo>
                  <a:pt x="457200" y="317500"/>
                </a:lnTo>
                <a:cubicBezTo>
                  <a:pt x="457200" y="335062"/>
                  <a:pt x="468551" y="349250"/>
                  <a:pt x="482600" y="349250"/>
                </a:cubicBezTo>
                <a:cubicBezTo>
                  <a:pt x="496649" y="349250"/>
                  <a:pt x="508000" y="335062"/>
                  <a:pt x="508000" y="31750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985000" y="22225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 Behavior Models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86500" y="2921000"/>
            <a:ext cx="368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Physical AI equivalent of LLMs, trained on real-world deployment data. Led by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Sanctuary AI, Boston Dynamics, Figure AI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68500"/>
            <a:ext cx="4318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855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1556" y="95250"/>
                </a:moveTo>
                <a:lnTo>
                  <a:pt x="56444" y="95250"/>
                </a:lnTo>
                <a:cubicBezTo>
                  <a:pt x="25312" y="95250"/>
                  <a:pt x="0" y="123726"/>
                  <a:pt x="0" y="158750"/>
                </a:cubicBezTo>
                <a:lnTo>
                  <a:pt x="0" y="349250"/>
                </a:lnTo>
                <a:cubicBezTo>
                  <a:pt x="0" y="384274"/>
                  <a:pt x="25312" y="412750"/>
                  <a:pt x="56444" y="412750"/>
                </a:cubicBezTo>
                <a:lnTo>
                  <a:pt x="160073" y="412750"/>
                </a:lnTo>
                <a:cubicBezTo>
                  <a:pt x="175066" y="412750"/>
                  <a:pt x="189442" y="406102"/>
                  <a:pt x="200025" y="394196"/>
                </a:cubicBezTo>
                <a:lnTo>
                  <a:pt x="229923" y="360561"/>
                </a:lnTo>
                <a:cubicBezTo>
                  <a:pt x="236273" y="353417"/>
                  <a:pt x="245004" y="349349"/>
                  <a:pt x="254000" y="349349"/>
                </a:cubicBezTo>
                <a:cubicBezTo>
                  <a:pt x="262996" y="349349"/>
                  <a:pt x="271727" y="353417"/>
                  <a:pt x="278077" y="360561"/>
                </a:cubicBezTo>
                <a:lnTo>
                  <a:pt x="307975" y="394196"/>
                </a:lnTo>
                <a:cubicBezTo>
                  <a:pt x="318558" y="406102"/>
                  <a:pt x="332934" y="412750"/>
                  <a:pt x="347927" y="412750"/>
                </a:cubicBezTo>
                <a:lnTo>
                  <a:pt x="451556" y="412750"/>
                </a:lnTo>
                <a:cubicBezTo>
                  <a:pt x="482688" y="412750"/>
                  <a:pt x="508000" y="384274"/>
                  <a:pt x="508000" y="349250"/>
                </a:cubicBezTo>
                <a:lnTo>
                  <a:pt x="508000" y="158750"/>
                </a:lnTo>
                <a:cubicBezTo>
                  <a:pt x="508000" y="123726"/>
                  <a:pt x="482688" y="95250"/>
                  <a:pt x="451556" y="95250"/>
                </a:cubicBezTo>
                <a:close/>
                <a:moveTo>
                  <a:pt x="70556" y="238125"/>
                </a:moveTo>
                <a:cubicBezTo>
                  <a:pt x="70556" y="203078"/>
                  <a:pt x="95847" y="174625"/>
                  <a:pt x="127000" y="174625"/>
                </a:cubicBezTo>
                <a:cubicBezTo>
                  <a:pt x="158153" y="174625"/>
                  <a:pt x="183444" y="203078"/>
                  <a:pt x="183444" y="238125"/>
                </a:cubicBezTo>
                <a:cubicBezTo>
                  <a:pt x="183444" y="273172"/>
                  <a:pt x="158153" y="301625"/>
                  <a:pt x="127000" y="301625"/>
                </a:cubicBezTo>
                <a:cubicBezTo>
                  <a:pt x="95847" y="301625"/>
                  <a:pt x="70556" y="273172"/>
                  <a:pt x="70556" y="238125"/>
                </a:cubicBezTo>
                <a:close/>
                <a:moveTo>
                  <a:pt x="381000" y="174625"/>
                </a:moveTo>
                <a:cubicBezTo>
                  <a:pt x="412153" y="174625"/>
                  <a:pt x="437444" y="203078"/>
                  <a:pt x="437444" y="238125"/>
                </a:cubicBezTo>
                <a:cubicBezTo>
                  <a:pt x="437444" y="273172"/>
                  <a:pt x="412153" y="301625"/>
                  <a:pt x="381000" y="301625"/>
                </a:cubicBezTo>
                <a:cubicBezTo>
                  <a:pt x="349847" y="301625"/>
                  <a:pt x="324556" y="273172"/>
                  <a:pt x="324556" y="238125"/>
                </a:cubicBezTo>
                <a:cubicBezTo>
                  <a:pt x="324556" y="203078"/>
                  <a:pt x="349847" y="174625"/>
                  <a:pt x="381000" y="17462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684000" y="22225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Sim-to-Real Transfer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85500" y="2921000"/>
            <a:ext cx="368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in simulation (NVIDIA Isaac Lab) and transferring to physical robots, enabling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zero-shot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skill acquisition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52705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875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5750" y="31750"/>
                </a:moveTo>
                <a:cubicBezTo>
                  <a:pt x="285750" y="14188"/>
                  <a:pt x="271562" y="0"/>
                  <a:pt x="254000" y="0"/>
                </a:cubicBezTo>
                <a:cubicBezTo>
                  <a:pt x="236438" y="0"/>
                  <a:pt x="222250" y="14188"/>
                  <a:pt x="222250" y="31750"/>
                </a:cubicBezTo>
                <a:lnTo>
                  <a:pt x="222250" y="238125"/>
                </a:lnTo>
                <a:cubicBezTo>
                  <a:pt x="222250" y="246856"/>
                  <a:pt x="215106" y="254000"/>
                  <a:pt x="206375" y="254000"/>
                </a:cubicBezTo>
                <a:cubicBezTo>
                  <a:pt x="197644" y="254000"/>
                  <a:pt x="190500" y="246856"/>
                  <a:pt x="190500" y="238125"/>
                </a:cubicBezTo>
                <a:lnTo>
                  <a:pt x="190500" y="63500"/>
                </a:lnTo>
                <a:cubicBezTo>
                  <a:pt x="190500" y="45938"/>
                  <a:pt x="176312" y="31750"/>
                  <a:pt x="158750" y="31750"/>
                </a:cubicBezTo>
                <a:cubicBezTo>
                  <a:pt x="141188" y="31750"/>
                  <a:pt x="127000" y="45938"/>
                  <a:pt x="127000" y="63500"/>
                </a:cubicBezTo>
                <a:lnTo>
                  <a:pt x="127000" y="333375"/>
                </a:lnTo>
                <a:cubicBezTo>
                  <a:pt x="127000" y="334863"/>
                  <a:pt x="127000" y="336451"/>
                  <a:pt x="127099" y="337939"/>
                </a:cubicBezTo>
                <a:lnTo>
                  <a:pt x="67072" y="280789"/>
                </a:lnTo>
                <a:cubicBezTo>
                  <a:pt x="51197" y="265708"/>
                  <a:pt x="26095" y="266303"/>
                  <a:pt x="10914" y="282178"/>
                </a:cubicBezTo>
                <a:cubicBezTo>
                  <a:pt x="-4266" y="298053"/>
                  <a:pt x="-3572" y="323155"/>
                  <a:pt x="12303" y="338336"/>
                </a:cubicBezTo>
                <a:lnTo>
                  <a:pt x="123825" y="444500"/>
                </a:lnTo>
                <a:cubicBezTo>
                  <a:pt x="166588" y="485279"/>
                  <a:pt x="223441" y="508000"/>
                  <a:pt x="282575" y="508000"/>
                </a:cubicBezTo>
                <a:lnTo>
                  <a:pt x="301625" y="508000"/>
                </a:lnTo>
                <a:cubicBezTo>
                  <a:pt x="398066" y="508000"/>
                  <a:pt x="476250" y="429816"/>
                  <a:pt x="476250" y="333375"/>
                </a:cubicBezTo>
                <a:lnTo>
                  <a:pt x="476250" y="127000"/>
                </a:lnTo>
                <a:cubicBezTo>
                  <a:pt x="476250" y="109438"/>
                  <a:pt x="462062" y="95250"/>
                  <a:pt x="444500" y="95250"/>
                </a:cubicBezTo>
                <a:cubicBezTo>
                  <a:pt x="426938" y="95250"/>
                  <a:pt x="412750" y="109438"/>
                  <a:pt x="412750" y="127000"/>
                </a:cubicBezTo>
                <a:lnTo>
                  <a:pt x="412750" y="238125"/>
                </a:lnTo>
                <a:cubicBezTo>
                  <a:pt x="412750" y="246856"/>
                  <a:pt x="405606" y="254000"/>
                  <a:pt x="396875" y="254000"/>
                </a:cubicBezTo>
                <a:cubicBezTo>
                  <a:pt x="388144" y="254000"/>
                  <a:pt x="381000" y="246856"/>
                  <a:pt x="381000" y="238125"/>
                </a:cubicBezTo>
                <a:lnTo>
                  <a:pt x="381000" y="63500"/>
                </a:lnTo>
                <a:cubicBezTo>
                  <a:pt x="381000" y="45938"/>
                  <a:pt x="366812" y="31750"/>
                  <a:pt x="349250" y="31750"/>
                </a:cubicBezTo>
                <a:cubicBezTo>
                  <a:pt x="331688" y="31750"/>
                  <a:pt x="317500" y="45938"/>
                  <a:pt x="317500" y="63500"/>
                </a:cubicBezTo>
                <a:lnTo>
                  <a:pt x="317500" y="238125"/>
                </a:lnTo>
                <a:cubicBezTo>
                  <a:pt x="317500" y="246856"/>
                  <a:pt x="310356" y="254000"/>
                  <a:pt x="301625" y="254000"/>
                </a:cubicBezTo>
                <a:cubicBezTo>
                  <a:pt x="292894" y="254000"/>
                  <a:pt x="285750" y="246856"/>
                  <a:pt x="285750" y="238125"/>
                </a:cubicBezTo>
                <a:lnTo>
                  <a:pt x="285750" y="317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5524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Advanced Manipulation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87500" y="6223000"/>
            <a:ext cx="596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Multi-modal tactile sensing detecting pressure, temperature, vibration, and slip. Human hand has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27 DOF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robots now achieving 11-20 DOF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5270500"/>
            <a:ext cx="6604000" cy="254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86995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63500"/>
                </a:moveTo>
                <a:cubicBezTo>
                  <a:pt x="31750" y="28453"/>
                  <a:pt x="60203" y="0"/>
                  <a:pt x="95250" y="0"/>
                </a:cubicBezTo>
                <a:cubicBezTo>
                  <a:pt x="130297" y="0"/>
                  <a:pt x="158750" y="28453"/>
                  <a:pt x="158750" y="63500"/>
                </a:cubicBezTo>
                <a:cubicBezTo>
                  <a:pt x="158750" y="98547"/>
                  <a:pt x="130297" y="127000"/>
                  <a:pt x="95250" y="127000"/>
                </a:cubicBezTo>
                <a:cubicBezTo>
                  <a:pt x="60203" y="127000"/>
                  <a:pt x="31750" y="98547"/>
                  <a:pt x="31750" y="63500"/>
                </a:cubicBezTo>
                <a:close/>
                <a:moveTo>
                  <a:pt x="0" y="222250"/>
                </a:moveTo>
                <a:cubicBezTo>
                  <a:pt x="0" y="187226"/>
                  <a:pt x="28476" y="158750"/>
                  <a:pt x="63500" y="158750"/>
                </a:cubicBezTo>
                <a:lnTo>
                  <a:pt x="127000" y="158750"/>
                </a:lnTo>
                <a:cubicBezTo>
                  <a:pt x="130175" y="158750"/>
                  <a:pt x="133350" y="158948"/>
                  <a:pt x="136426" y="159445"/>
                </a:cubicBezTo>
                <a:lnTo>
                  <a:pt x="92373" y="203498"/>
                </a:lnTo>
                <a:cubicBezTo>
                  <a:pt x="64492" y="231378"/>
                  <a:pt x="64492" y="276622"/>
                  <a:pt x="92373" y="304502"/>
                </a:cubicBezTo>
                <a:lnTo>
                  <a:pt x="147935" y="360065"/>
                </a:lnTo>
                <a:cubicBezTo>
                  <a:pt x="151309" y="363438"/>
                  <a:pt x="154880" y="366415"/>
                  <a:pt x="158750" y="368995"/>
                </a:cubicBezTo>
                <a:lnTo>
                  <a:pt x="158750" y="460375"/>
                </a:lnTo>
                <a:cubicBezTo>
                  <a:pt x="158750" y="486668"/>
                  <a:pt x="137418" y="508000"/>
                  <a:pt x="111125" y="508000"/>
                </a:cubicBezTo>
                <a:lnTo>
                  <a:pt x="79375" y="508000"/>
                </a:lnTo>
                <a:cubicBezTo>
                  <a:pt x="53082" y="508000"/>
                  <a:pt x="31750" y="486668"/>
                  <a:pt x="31750" y="460375"/>
                </a:cubicBezTo>
                <a:lnTo>
                  <a:pt x="31750" y="340717"/>
                </a:lnTo>
                <a:cubicBezTo>
                  <a:pt x="12799" y="329803"/>
                  <a:pt x="0" y="309265"/>
                  <a:pt x="0" y="285750"/>
                </a:cubicBezTo>
                <a:lnTo>
                  <a:pt x="0" y="222250"/>
                </a:lnTo>
                <a:close/>
                <a:moveTo>
                  <a:pt x="349250" y="63500"/>
                </a:moveTo>
                <a:cubicBezTo>
                  <a:pt x="349250" y="28453"/>
                  <a:pt x="377703" y="0"/>
                  <a:pt x="412750" y="0"/>
                </a:cubicBezTo>
                <a:cubicBezTo>
                  <a:pt x="447797" y="0"/>
                  <a:pt x="476250" y="28453"/>
                  <a:pt x="476250" y="63500"/>
                </a:cubicBezTo>
                <a:cubicBezTo>
                  <a:pt x="476250" y="98547"/>
                  <a:pt x="447797" y="127000"/>
                  <a:pt x="412750" y="127000"/>
                </a:cubicBezTo>
                <a:cubicBezTo>
                  <a:pt x="377703" y="127000"/>
                  <a:pt x="349250" y="98547"/>
                  <a:pt x="349250" y="63500"/>
                </a:cubicBezTo>
                <a:close/>
                <a:moveTo>
                  <a:pt x="415627" y="203498"/>
                </a:moveTo>
                <a:lnTo>
                  <a:pt x="371574" y="159445"/>
                </a:lnTo>
                <a:cubicBezTo>
                  <a:pt x="374650" y="158948"/>
                  <a:pt x="377825" y="158750"/>
                  <a:pt x="381000" y="158750"/>
                </a:cubicBezTo>
                <a:lnTo>
                  <a:pt x="444500" y="158750"/>
                </a:lnTo>
                <a:cubicBezTo>
                  <a:pt x="479524" y="158750"/>
                  <a:pt x="508000" y="187226"/>
                  <a:pt x="508000" y="222250"/>
                </a:cubicBezTo>
                <a:lnTo>
                  <a:pt x="508000" y="285750"/>
                </a:lnTo>
                <a:cubicBezTo>
                  <a:pt x="508000" y="309265"/>
                  <a:pt x="495201" y="329803"/>
                  <a:pt x="476250" y="340717"/>
                </a:cubicBezTo>
                <a:lnTo>
                  <a:pt x="476250" y="460375"/>
                </a:lnTo>
                <a:cubicBezTo>
                  <a:pt x="476250" y="486668"/>
                  <a:pt x="454918" y="508000"/>
                  <a:pt x="428625" y="508000"/>
                </a:cubicBezTo>
                <a:lnTo>
                  <a:pt x="396875" y="508000"/>
                </a:lnTo>
                <a:cubicBezTo>
                  <a:pt x="370582" y="508000"/>
                  <a:pt x="349250" y="486668"/>
                  <a:pt x="349250" y="460375"/>
                </a:cubicBezTo>
                <a:lnTo>
                  <a:pt x="349250" y="368995"/>
                </a:lnTo>
                <a:cubicBezTo>
                  <a:pt x="353120" y="366415"/>
                  <a:pt x="356691" y="363438"/>
                  <a:pt x="360065" y="360065"/>
                </a:cubicBezTo>
                <a:lnTo>
                  <a:pt x="415627" y="304502"/>
                </a:lnTo>
                <a:cubicBezTo>
                  <a:pt x="443508" y="276622"/>
                  <a:pt x="443508" y="231378"/>
                  <a:pt x="415627" y="203498"/>
                </a:cubicBezTo>
                <a:close/>
                <a:moveTo>
                  <a:pt x="300434" y="176411"/>
                </a:moveTo>
                <a:cubicBezTo>
                  <a:pt x="309364" y="172740"/>
                  <a:pt x="319584" y="174724"/>
                  <a:pt x="326430" y="181570"/>
                </a:cubicBezTo>
                <a:lnTo>
                  <a:pt x="381992" y="237133"/>
                </a:lnTo>
                <a:cubicBezTo>
                  <a:pt x="391319" y="246459"/>
                  <a:pt x="391319" y="261541"/>
                  <a:pt x="381992" y="270768"/>
                </a:cubicBezTo>
                <a:lnTo>
                  <a:pt x="326430" y="326330"/>
                </a:lnTo>
                <a:cubicBezTo>
                  <a:pt x="319584" y="333177"/>
                  <a:pt x="309364" y="335161"/>
                  <a:pt x="300434" y="331490"/>
                </a:cubicBezTo>
                <a:cubicBezTo>
                  <a:pt x="291505" y="327819"/>
                  <a:pt x="285750" y="319187"/>
                  <a:pt x="285750" y="309562"/>
                </a:cubicBezTo>
                <a:lnTo>
                  <a:pt x="285750" y="285750"/>
                </a:lnTo>
                <a:lnTo>
                  <a:pt x="222250" y="285750"/>
                </a:lnTo>
                <a:lnTo>
                  <a:pt x="222250" y="309562"/>
                </a:lnTo>
                <a:cubicBezTo>
                  <a:pt x="222250" y="319187"/>
                  <a:pt x="216495" y="327918"/>
                  <a:pt x="207566" y="331589"/>
                </a:cubicBezTo>
                <a:cubicBezTo>
                  <a:pt x="198636" y="335260"/>
                  <a:pt x="188416" y="333276"/>
                  <a:pt x="181570" y="326430"/>
                </a:cubicBezTo>
                <a:lnTo>
                  <a:pt x="126008" y="270867"/>
                </a:lnTo>
                <a:cubicBezTo>
                  <a:pt x="116681" y="261541"/>
                  <a:pt x="116681" y="246459"/>
                  <a:pt x="126008" y="237232"/>
                </a:cubicBezTo>
                <a:lnTo>
                  <a:pt x="181570" y="181670"/>
                </a:lnTo>
                <a:cubicBezTo>
                  <a:pt x="188416" y="174823"/>
                  <a:pt x="198636" y="172839"/>
                  <a:pt x="207566" y="176510"/>
                </a:cubicBezTo>
                <a:cubicBezTo>
                  <a:pt x="216495" y="180181"/>
                  <a:pt x="222250" y="188813"/>
                  <a:pt x="222250" y="198438"/>
                </a:cubicBezTo>
                <a:lnTo>
                  <a:pt x="222250" y="222250"/>
                </a:lnTo>
                <a:lnTo>
                  <a:pt x="285750" y="222250"/>
                </a:lnTo>
                <a:lnTo>
                  <a:pt x="285750" y="198438"/>
                </a:lnTo>
                <a:cubicBezTo>
                  <a:pt x="285750" y="188813"/>
                  <a:pt x="291505" y="180082"/>
                  <a:pt x="300434" y="1764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398000" y="5524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Autonomy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99500" y="6223000"/>
            <a:ext cx="596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Autonomous operation on trained tasks with human guidance for novel situations — a practical middle ground for current AI capabilities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Humanoid Robotics: Key Challenges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8260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5212080"/>
              </a:tblGrid>
              <a:tr h="675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Challenge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Current Status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Power &amp; Battery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Bipedal walking consumes enormous energy for balance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Most robots: </a:t>
                      </a:r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1-4 hours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vs. 8-hr shifts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Bipedal Balance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Inherently unstable inverted pendulums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Requires </a:t>
                      </a:r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500-1000 Hz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control loops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Dexterous Hands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Human hand: 27 DOF, thousands of sensors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Robots: </a:t>
                      </a:r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11-20 DOF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 upfront investment for development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$16K - $250K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per unit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Manufacturing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Production lines still developing for mass scale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Tesla targeting </a:t>
                      </a:r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$20K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units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70000" y="7112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Battery Life by Robot (2026)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270000" y="7556500"/>
          <a:ext cx="13716000" cy="69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Autonomy Limitations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6604000" cy="279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8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Long Tail Problem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9845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Physical tasks have thousands of edge cases — odd packages, unfamiliar orientations, spills. Each needs pre-programming or genuine intelligence.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968500"/>
            <a:ext cx="6604000" cy="279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28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Scarcity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9845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Unlike abundant internet text, physical behavior data is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expensive to collect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hard to standardize, and environment-specific.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143500"/>
            <a:ext cx="6604000" cy="279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1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1556" y="95250"/>
                </a:moveTo>
                <a:lnTo>
                  <a:pt x="56444" y="95250"/>
                </a:lnTo>
                <a:cubicBezTo>
                  <a:pt x="25312" y="95250"/>
                  <a:pt x="0" y="123726"/>
                  <a:pt x="0" y="158750"/>
                </a:cubicBezTo>
                <a:lnTo>
                  <a:pt x="0" y="349250"/>
                </a:lnTo>
                <a:cubicBezTo>
                  <a:pt x="0" y="384274"/>
                  <a:pt x="25312" y="412750"/>
                  <a:pt x="56444" y="412750"/>
                </a:cubicBezTo>
                <a:lnTo>
                  <a:pt x="160073" y="412750"/>
                </a:lnTo>
                <a:cubicBezTo>
                  <a:pt x="175066" y="412750"/>
                  <a:pt x="189442" y="406102"/>
                  <a:pt x="200025" y="394196"/>
                </a:cubicBezTo>
                <a:lnTo>
                  <a:pt x="229923" y="360561"/>
                </a:lnTo>
                <a:cubicBezTo>
                  <a:pt x="236273" y="353417"/>
                  <a:pt x="245004" y="349349"/>
                  <a:pt x="254000" y="349349"/>
                </a:cubicBezTo>
                <a:cubicBezTo>
                  <a:pt x="262996" y="349349"/>
                  <a:pt x="271727" y="353417"/>
                  <a:pt x="278077" y="360561"/>
                </a:cubicBezTo>
                <a:lnTo>
                  <a:pt x="307975" y="394196"/>
                </a:lnTo>
                <a:cubicBezTo>
                  <a:pt x="318558" y="406102"/>
                  <a:pt x="332934" y="412750"/>
                  <a:pt x="347927" y="412750"/>
                </a:cubicBezTo>
                <a:lnTo>
                  <a:pt x="451556" y="412750"/>
                </a:lnTo>
                <a:cubicBezTo>
                  <a:pt x="482688" y="412750"/>
                  <a:pt x="508000" y="384274"/>
                  <a:pt x="508000" y="349250"/>
                </a:cubicBezTo>
                <a:lnTo>
                  <a:pt x="508000" y="158750"/>
                </a:lnTo>
                <a:cubicBezTo>
                  <a:pt x="508000" y="123726"/>
                  <a:pt x="482688" y="95250"/>
                  <a:pt x="451556" y="95250"/>
                </a:cubicBezTo>
                <a:close/>
                <a:moveTo>
                  <a:pt x="70556" y="238125"/>
                </a:moveTo>
                <a:cubicBezTo>
                  <a:pt x="70556" y="203078"/>
                  <a:pt x="95847" y="174625"/>
                  <a:pt x="127000" y="174625"/>
                </a:cubicBezTo>
                <a:cubicBezTo>
                  <a:pt x="158153" y="174625"/>
                  <a:pt x="183444" y="203078"/>
                  <a:pt x="183444" y="238125"/>
                </a:cubicBezTo>
                <a:cubicBezTo>
                  <a:pt x="183444" y="273172"/>
                  <a:pt x="158153" y="301625"/>
                  <a:pt x="127000" y="301625"/>
                </a:cubicBezTo>
                <a:cubicBezTo>
                  <a:pt x="95847" y="301625"/>
                  <a:pt x="70556" y="273172"/>
                  <a:pt x="70556" y="238125"/>
                </a:cubicBezTo>
                <a:close/>
                <a:moveTo>
                  <a:pt x="381000" y="174625"/>
                </a:moveTo>
                <a:cubicBezTo>
                  <a:pt x="412153" y="174625"/>
                  <a:pt x="437444" y="203078"/>
                  <a:pt x="437444" y="238125"/>
                </a:cubicBezTo>
                <a:cubicBezTo>
                  <a:pt x="437444" y="273172"/>
                  <a:pt x="412153" y="301625"/>
                  <a:pt x="381000" y="301625"/>
                </a:cubicBezTo>
                <a:cubicBezTo>
                  <a:pt x="349847" y="301625"/>
                  <a:pt x="324556" y="273172"/>
                  <a:pt x="324556" y="238125"/>
                </a:cubicBezTo>
                <a:cubicBezTo>
                  <a:pt x="324556" y="203078"/>
                  <a:pt x="349847" y="174625"/>
                  <a:pt x="381000" y="17462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2349500" y="546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Sim-to-Real Gap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51000" y="61595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Simulation training struggles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deformable objects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novel geometries. What works in simulation often fails in the real world.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5143500"/>
            <a:ext cx="6604000" cy="279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63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55600" y="63500"/>
                </a:moveTo>
                <a:cubicBezTo>
                  <a:pt x="439738" y="63500"/>
                  <a:pt x="508000" y="148828"/>
                  <a:pt x="508000" y="254000"/>
                </a:cubicBezTo>
                <a:cubicBezTo>
                  <a:pt x="508000" y="359172"/>
                  <a:pt x="439738" y="444500"/>
                  <a:pt x="355600" y="444500"/>
                </a:cubicBezTo>
                <a:lnTo>
                  <a:pt x="152400" y="444500"/>
                </a:lnTo>
                <a:cubicBezTo>
                  <a:pt x="68263" y="444500"/>
                  <a:pt x="0" y="359172"/>
                  <a:pt x="0" y="254000"/>
                </a:cubicBezTo>
                <a:cubicBezTo>
                  <a:pt x="0" y="148828"/>
                  <a:pt x="68263" y="63500"/>
                  <a:pt x="152400" y="63500"/>
                </a:cubicBezTo>
                <a:lnTo>
                  <a:pt x="355600" y="63500"/>
                </a:lnTo>
                <a:close/>
                <a:moveTo>
                  <a:pt x="152400" y="174625"/>
                </a:moveTo>
                <a:cubicBezTo>
                  <a:pt x="141843" y="174625"/>
                  <a:pt x="133350" y="185241"/>
                  <a:pt x="133350" y="198438"/>
                </a:cubicBezTo>
                <a:lnTo>
                  <a:pt x="133350" y="230188"/>
                </a:lnTo>
                <a:lnTo>
                  <a:pt x="107950" y="230188"/>
                </a:lnTo>
                <a:cubicBezTo>
                  <a:pt x="97393" y="230188"/>
                  <a:pt x="88900" y="240804"/>
                  <a:pt x="88900" y="254000"/>
                </a:cubicBezTo>
                <a:cubicBezTo>
                  <a:pt x="88900" y="267196"/>
                  <a:pt x="97393" y="277813"/>
                  <a:pt x="107950" y="277813"/>
                </a:cubicBezTo>
                <a:lnTo>
                  <a:pt x="133350" y="277813"/>
                </a:lnTo>
                <a:lnTo>
                  <a:pt x="133350" y="309562"/>
                </a:lnTo>
                <a:cubicBezTo>
                  <a:pt x="133350" y="322759"/>
                  <a:pt x="141843" y="333375"/>
                  <a:pt x="152400" y="333375"/>
                </a:cubicBezTo>
                <a:cubicBezTo>
                  <a:pt x="162957" y="333375"/>
                  <a:pt x="171450" y="322759"/>
                  <a:pt x="171450" y="309562"/>
                </a:cubicBezTo>
                <a:lnTo>
                  <a:pt x="171450" y="277813"/>
                </a:lnTo>
                <a:lnTo>
                  <a:pt x="196850" y="277813"/>
                </a:lnTo>
                <a:cubicBezTo>
                  <a:pt x="207407" y="277813"/>
                  <a:pt x="215900" y="267196"/>
                  <a:pt x="215900" y="254000"/>
                </a:cubicBezTo>
                <a:cubicBezTo>
                  <a:pt x="215900" y="240804"/>
                  <a:pt x="207407" y="230188"/>
                  <a:pt x="196850" y="230188"/>
                </a:cubicBezTo>
                <a:lnTo>
                  <a:pt x="171450" y="230188"/>
                </a:lnTo>
                <a:lnTo>
                  <a:pt x="171450" y="198438"/>
                </a:lnTo>
                <a:cubicBezTo>
                  <a:pt x="171450" y="185241"/>
                  <a:pt x="162957" y="174625"/>
                  <a:pt x="152400" y="174625"/>
                </a:cubicBezTo>
                <a:close/>
                <a:moveTo>
                  <a:pt x="342900" y="269875"/>
                </a:moveTo>
                <a:cubicBezTo>
                  <a:pt x="328881" y="269875"/>
                  <a:pt x="317500" y="284102"/>
                  <a:pt x="317500" y="301625"/>
                </a:cubicBezTo>
                <a:cubicBezTo>
                  <a:pt x="317500" y="319148"/>
                  <a:pt x="328881" y="333375"/>
                  <a:pt x="342900" y="333375"/>
                </a:cubicBezTo>
                <a:cubicBezTo>
                  <a:pt x="356919" y="333375"/>
                  <a:pt x="368300" y="319148"/>
                  <a:pt x="368300" y="301625"/>
                </a:cubicBezTo>
                <a:cubicBezTo>
                  <a:pt x="368300" y="284102"/>
                  <a:pt x="356919" y="269875"/>
                  <a:pt x="342900" y="269875"/>
                </a:cubicBezTo>
                <a:close/>
                <a:moveTo>
                  <a:pt x="393700" y="174625"/>
                </a:moveTo>
                <a:cubicBezTo>
                  <a:pt x="379681" y="174625"/>
                  <a:pt x="368300" y="188852"/>
                  <a:pt x="368300" y="206375"/>
                </a:cubicBezTo>
                <a:cubicBezTo>
                  <a:pt x="368300" y="223898"/>
                  <a:pt x="379681" y="238125"/>
                  <a:pt x="393700" y="238125"/>
                </a:cubicBezTo>
                <a:cubicBezTo>
                  <a:pt x="407719" y="238125"/>
                  <a:pt x="419100" y="223898"/>
                  <a:pt x="419100" y="206375"/>
                </a:cubicBezTo>
                <a:cubicBezTo>
                  <a:pt x="419100" y="188852"/>
                  <a:pt x="407719" y="174625"/>
                  <a:pt x="393700" y="1746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461500" y="546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Teleoperation Dependency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63000" y="6159500"/>
            <a:ext cx="584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Many "autonomous" demos rely on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 remote control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Not scalable for real deployment. True autonomy is still years away.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Safety, Ethics &amp; Regulatory Challenges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699000"/>
        </p:xfrm>
        <a:graphic>
          <a:graphicData uri="http://schemas.openxmlformats.org/drawingml/2006/table">
            <a:tbl>
              <a:tblPr/>
              <a:tblGrid>
                <a:gridCol w="3429000"/>
                <a:gridCol w="5486400"/>
                <a:gridCol w="4800600"/>
              </a:tblGrid>
              <a:tr h="61087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Challenge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Impact / Status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Safety Standards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 ISO standard for dynamically balancing legged robots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Liability questions unresolved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 Privacy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Robots collect biometric, location, health data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35.3%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of ethics market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Bias &amp; Fairness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AI decision-making perpetuates biases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Hiring, lending, criminal justice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Employment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Automation may displace workers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Retraining needed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Autonomous Weapons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 major companies pledged not to weaponize robots (2022)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Global regulation gap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8135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HRI Ethics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Emotional manipulation, deception concerns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82.2%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professionals aware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7112000"/>
            <a:ext cx="13716000" cy="5715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FF7F50">
                  <a:alpha val="8000"/>
                </a:srgbClr>
              </a:gs>
            </a:gsLst>
            <a:lin ang="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778000" y="7112000"/>
            <a:ext cx="1270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Robotics Ethics Market CAGR: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13.6%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(2026-2033) | Healthcare leads with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31.6%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share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Outlook: 2026-2032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4318000"/>
            <a:ext cx="13716000" cy="508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0" y="4165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59000" y="368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2026-2028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78000" y="4762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Near-Term Solutions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24000" y="5270500"/>
            <a:ext cx="3683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78000" y="5461000"/>
            <a:ext cx="317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Hot-swappable batteries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Sim-to-real breakthroughs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Hybrid autonomy models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Focused task deployments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Wheeled alternatives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25000" y="4165600"/>
            <a:ext cx="355600" cy="3556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9000" y="3683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2028-2032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28000" y="4762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Medium-Term Solutions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74000" y="5270500"/>
            <a:ext cx="3683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28000" y="5461000"/>
            <a:ext cx="317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Solid-state batteries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Mature safety standards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Manufacturing at scale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LBMs without teleop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Industry-specific variants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19050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key question is no longer </a:t>
            </a:r>
            <a:pPr algn="ctr">
              <a:lnSpc>
                <a:spcPct val="160000"/>
              </a:lnSpc>
            </a:pPr>
            <a:r>
              <a:rPr lang="en-US" sz="22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robotics will scale,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 </a:t>
            </a:r>
            <a:pPr algn="ctr">
              <a:lnSpc>
                <a:spcPct val="16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quickly</a:t>
            </a:r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industries and societies will adapt.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70000" y="8128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i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"Technology, economics, and societal needs are converging for irreversible transformation."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Presentation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Applying knowledge representation and intelligent system concepts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Objectives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>
                  <a:alpha val="8000"/>
                </a:srgbClr>
              </a:gs>
              <a:gs pos="100000">
                <a:srgbClr val="FF7F50">
                  <a:alpha val="8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05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demonstrates the practical application of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 techniques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system design principles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covered in this course.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3556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Objectives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4191000"/>
            <a:ext cx="2540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32000" y="4445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2032000" y="444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0500" y="5270500"/>
            <a:ext cx="215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Apply appropriate KR techniques to represent domain knowledge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4191000"/>
            <a:ext cx="2540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6000" y="4445000"/>
            <a:ext cx="635000" cy="635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4826000" y="444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54500" y="5270500"/>
            <a:ext cx="215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system architecture following six-phase methodology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4191000"/>
            <a:ext cx="2540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20000" y="4445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0" y="444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48500" y="5270500"/>
            <a:ext cx="215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 working prototype with KB and inference engine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52000" y="4191000"/>
            <a:ext cx="2540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414000" y="4445000"/>
            <a:ext cx="635000" cy="635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0" y="444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42500" y="5270500"/>
            <a:ext cx="215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 system performance against defined criteria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446000" y="4191000"/>
            <a:ext cx="2540000" cy="330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13208000" y="4445000"/>
            <a:ext cx="635000" cy="635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3208000" y="444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636500" y="5270500"/>
            <a:ext cx="215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 design decisions and lessons learned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0000" y="7810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project integrates theoretical concepts from all three lecture topics: KR, Intelligent Systems, and AI Robotics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Design &amp; Implementation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620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Problem assessment and domain selection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Knowledge acquisition via expert interviews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KR using selected techniques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Prototype with inference engine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UI design for non-expert users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6: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Testing, evaluation, iteration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398000" y="1905000"/>
            <a:ext cx="5334000" cy="482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79000" y="22225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 &amp; Technologies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160000" y="2794000"/>
            <a:ext cx="3810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8" name="Text 6"/>
          <p:cNvSpPr/>
          <p:nvPr/>
        </p:nvSpPr>
        <p:spPr>
          <a:xfrm>
            <a:off x="9779000" y="3048000"/>
            <a:ext cx="457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Programming: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Python / Prolog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Databases: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Graph DBs for semantic nets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Frameworks: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OOP for frame-based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Rule engines for production rules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0000" y="7112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KR Technique Selection Guide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70000" y="7683500"/>
            <a:ext cx="3175000" cy="4445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76835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 → Diagnostic Systems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99000" y="7620000"/>
            <a:ext cx="3175000" cy="635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9000" y="7620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Frames → Object Classification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7620000"/>
            <a:ext cx="3175000" cy="635000"/>
          </a:xfrm>
          <a:prstGeom prst="roundRect">
            <a:avLst>
              <a:gd name="adj" fmla="val 12000"/>
            </a:avLst>
          </a:prstGeom>
          <a:solidFill>
            <a:srgbClr val="6B9CBF"/>
          </a:solidFill>
          <a:ln/>
        </p:spPr>
      </p:sp>
      <p:sp>
        <p:nvSpPr>
          <p:cNvPr id="15" name="Text 13"/>
          <p:cNvSpPr/>
          <p:nvPr/>
        </p:nvSpPr>
        <p:spPr>
          <a:xfrm>
            <a:off x="8128000" y="76200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Nets → Relationships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557000" y="7683500"/>
            <a:ext cx="3429000" cy="444500"/>
          </a:xfrm>
          <a:prstGeom prst="roundRect">
            <a:avLst>
              <a:gd name="adj" fmla="val 12000"/>
            </a:avLst>
          </a:prstGeom>
          <a:solidFill>
            <a:srgbClr val="D0D6DC"/>
          </a:solidFill>
          <a:ln/>
        </p:spPr>
      </p:sp>
      <p:sp>
        <p:nvSpPr>
          <p:cNvPr id="17" name="Text 15"/>
          <p:cNvSpPr/>
          <p:nvPr/>
        </p:nvSpPr>
        <p:spPr>
          <a:xfrm>
            <a:off x="11557000" y="7683500"/>
            <a:ext cx="342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Logic → Formal Reasoning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Results, Discussion &amp; 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68500"/>
            <a:ext cx="4318000" cy="4318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968500"/>
            <a:ext cx="4318000" cy="5715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968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381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Prototype reasoning over domain knowledge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Achieved performance criteria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Demonstrated KR viability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68500"/>
            <a:ext cx="4318000" cy="4318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69000" y="1968500"/>
            <a:ext cx="4318000" cy="571500"/>
          </a:xfrm>
          <a:prstGeom prst="roundRect">
            <a:avLst>
              <a:gd name="adj" fmla="val 6000"/>
            </a:avLst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1968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Discussion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794000"/>
            <a:ext cx="381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7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KR approaches</a:t>
            </a:r>
            <a:pPr algn="l">
              <a:lnSpc>
                <a:spcPct val="17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outperform single techniques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Iterative development with expert feedback is essential</a:t>
            </a:r>
            <a:endParaRPr lang="en-US" sz="18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Explainability is critical for user trust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68500"/>
            <a:ext cx="4318000" cy="4318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0922000" y="1968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22000" y="2794000"/>
            <a:ext cx="381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KR is the foundation of intelligent systems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 single KR technique is optimal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Balance expressiveness with efficiency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Embed ethics from the start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70000" y="6731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8000" y="6858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Work: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Scale to larger knowledge bases · Integrate ML components ·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Explore neuro-symbolic AI approaches · Deploy in real-world scenarios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Future of Intelligent Systems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13000" y="3810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representation remains the cornerstone of AI</a:t>
            </a:r>
            <a:endParaRPr lang="en-US" sz="2400" dirty="0"/>
          </a:p>
          <a:p>
            <a:pPr algn="ctr">
              <a:lnSpc>
                <a:spcPct val="16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expert systems to modern LLMs and beyond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953000" y="5334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W16 · Knowledge Representation ·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75500" y="6350000"/>
            <a:ext cx="1905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5500" y="63500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16</dc:title>
  <dc:subject>week 16</dc:subject>
  <dc:creator>Kimi</dc:creator>
  <cp:lastModifiedBy>Kimi</cp:lastModifiedBy>
  <cp:revision>1</cp:revision>
  <dcterms:created xsi:type="dcterms:W3CDTF">2026-06-26T14:41:28Z</dcterms:created>
  <dcterms:modified xsi:type="dcterms:W3CDTF">2026-06-26T14:41:28Z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16","ContentProducer":"001191110108MACG2KBH8F10000","ProduceID":"19f04315-e662-8e06-8000-00007450425b","ReservedCode1":"","ContentPropagator":"001191110108MACG2KBH8F20000","PropagateID":"19f042e3-9ab2-8931-8000-099749844dc0","ReservedCode2":""}</vt:lpwstr>
  </property>
</Properties>
</file>