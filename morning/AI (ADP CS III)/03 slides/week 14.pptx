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Φ (Integrated Information)</c:v>
                </c:pt>
              </c:strCache>
            </c:strRef>
          </c:tx>
          <c:spPr>
            <a:solidFill>
              <a:srgbClr val="FF7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Photodiode</c:v>
                  </c:pt>
                  <c:pt idx="1">
                    <c:v>Simple Circuit</c:v>
                  </c:pt>
                  <c:pt idx="2">
                    <c:v>C. Elegans</c:v>
                  </c:pt>
                  <c:pt idx="3">
                    <c:v>Human Brain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0.5</c:v>
                </c:pt>
                <c:pt idx="2">
                  <c:v>5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ymfqbviyuvle/mnt/agents/output/knowledge-representation/images/3_Abstract_Brain_Model_Conceptual_Neural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5F5F0">
                  <a:alpha val="91000"/>
                </a:srgbClr>
              </a:gs>
              <a:gs pos="50000">
                <a:srgbClr val="F5F5F0">
                  <a:alpha val="82000"/>
                </a:srgbClr>
              </a:gs>
              <a:gs pos="100000">
                <a:srgbClr val="F5F5F0">
                  <a:alpha val="63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1778000" y="3048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3048000" y="4318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General Intelligence &amp; Cognitive and Conscious Systems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55880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W14 · L25 &amp; L26 ·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Artificial General Intelligence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683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619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683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Cognitive and Conscious Systems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3175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 · Knowledge Representation · Approaches · Challenges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4318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Architectures · Consciousness Theories · Machine Consciousness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W14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Exploring the foundations of intelligent systems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L25: Introduction to Artificial General Intelligence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General Intelligence (AGI)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represents the pursuit of creating machines with human-like general intelligence.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 systems would possess the ability to: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any domain without retraining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Reason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abstractly and solve novel problems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new environments autonomously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knowledge from one task to another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096000" cy="508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0" y="2413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Overview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0" y="3048000"/>
            <a:ext cx="508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 Covered: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Definition and key concepts of AGI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AGI vs. Narrow AI comparison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Core capabilities required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Three major paradigms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Knowledge representation techniques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Current research state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Challenges and future roadmap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7366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i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"AGI is the ability to achieve goals in a wide range of environments."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Legg &amp; Hutter, 2007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AGI? — Definition and Key Concepts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143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AGI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refers to machine intelligence that can understand, learn, and apply knowledge across diverse tasks at a level comparable to human intelligence.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429000"/>
            <a:ext cx="3175000" cy="254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40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77937" y="238224"/>
                </a:moveTo>
                <a:cubicBezTo>
                  <a:pt x="460474" y="237034"/>
                  <a:pt x="445294" y="250130"/>
                  <a:pt x="444004" y="267692"/>
                </a:cubicBezTo>
                <a:cubicBezTo>
                  <a:pt x="440730" y="314325"/>
                  <a:pt x="420588" y="356394"/>
                  <a:pt x="389632" y="387747"/>
                </a:cubicBezTo>
                <a:lnTo>
                  <a:pt x="358180" y="356195"/>
                </a:lnTo>
                <a:cubicBezTo>
                  <a:pt x="351334" y="349349"/>
                  <a:pt x="341114" y="347365"/>
                  <a:pt x="332184" y="351036"/>
                </a:cubicBezTo>
                <a:cubicBezTo>
                  <a:pt x="323255" y="354707"/>
                  <a:pt x="317500" y="363438"/>
                  <a:pt x="317500" y="373063"/>
                </a:cubicBezTo>
                <a:lnTo>
                  <a:pt x="317500" y="484187"/>
                </a:lnTo>
                <a:cubicBezTo>
                  <a:pt x="317500" y="497384"/>
                  <a:pt x="328116" y="508000"/>
                  <a:pt x="341313" y="508000"/>
                </a:cubicBezTo>
                <a:lnTo>
                  <a:pt x="452437" y="508000"/>
                </a:lnTo>
                <a:cubicBezTo>
                  <a:pt x="462062" y="508000"/>
                  <a:pt x="470793" y="502245"/>
                  <a:pt x="474464" y="493316"/>
                </a:cubicBezTo>
                <a:cubicBezTo>
                  <a:pt x="478135" y="484386"/>
                  <a:pt x="476151" y="474166"/>
                  <a:pt x="469305" y="467320"/>
                </a:cubicBezTo>
                <a:lnTo>
                  <a:pt x="434578" y="432594"/>
                </a:lnTo>
                <a:cubicBezTo>
                  <a:pt x="475952" y="390723"/>
                  <a:pt x="502940" y="334566"/>
                  <a:pt x="507405" y="272058"/>
                </a:cubicBezTo>
                <a:cubicBezTo>
                  <a:pt x="508595" y="254595"/>
                  <a:pt x="495498" y="239415"/>
                  <a:pt x="477937" y="238125"/>
                </a:cubicBezTo>
                <a:close/>
                <a:moveTo>
                  <a:pt x="38695" y="40680"/>
                </a:moveTo>
                <a:lnTo>
                  <a:pt x="73422" y="75406"/>
                </a:lnTo>
                <a:cubicBezTo>
                  <a:pt x="32048" y="117277"/>
                  <a:pt x="5060" y="173434"/>
                  <a:pt x="595" y="235942"/>
                </a:cubicBezTo>
                <a:cubicBezTo>
                  <a:pt x="-595" y="253405"/>
                  <a:pt x="12502" y="268585"/>
                  <a:pt x="30063" y="269875"/>
                </a:cubicBezTo>
                <a:cubicBezTo>
                  <a:pt x="47625" y="271165"/>
                  <a:pt x="62706" y="257969"/>
                  <a:pt x="63996" y="240407"/>
                </a:cubicBezTo>
                <a:cubicBezTo>
                  <a:pt x="67270" y="193774"/>
                  <a:pt x="87412" y="151705"/>
                  <a:pt x="118368" y="120352"/>
                </a:cubicBezTo>
                <a:lnTo>
                  <a:pt x="149820" y="151805"/>
                </a:lnTo>
                <a:cubicBezTo>
                  <a:pt x="156666" y="158651"/>
                  <a:pt x="166886" y="160635"/>
                  <a:pt x="175816" y="156964"/>
                </a:cubicBezTo>
                <a:cubicBezTo>
                  <a:pt x="184745" y="153293"/>
                  <a:pt x="190500" y="144562"/>
                  <a:pt x="190500" y="134938"/>
                </a:cubicBezTo>
                <a:lnTo>
                  <a:pt x="190500" y="23812"/>
                </a:lnTo>
                <a:cubicBezTo>
                  <a:pt x="190500" y="10616"/>
                  <a:pt x="179884" y="0"/>
                  <a:pt x="166688" y="0"/>
                </a:cubicBezTo>
                <a:lnTo>
                  <a:pt x="55563" y="0"/>
                </a:lnTo>
                <a:cubicBezTo>
                  <a:pt x="45938" y="0"/>
                  <a:pt x="37207" y="5755"/>
                  <a:pt x="33536" y="14684"/>
                </a:cubicBezTo>
                <a:cubicBezTo>
                  <a:pt x="29865" y="23614"/>
                  <a:pt x="31948" y="33834"/>
                  <a:pt x="38695" y="40680"/>
                </a:cubicBezTo>
                <a:close/>
                <a:moveTo>
                  <a:pt x="238125" y="30063"/>
                </a:moveTo>
                <a:cubicBezTo>
                  <a:pt x="236934" y="47526"/>
                  <a:pt x="250031" y="62706"/>
                  <a:pt x="267593" y="63996"/>
                </a:cubicBezTo>
                <a:cubicBezTo>
                  <a:pt x="314226" y="67270"/>
                  <a:pt x="356295" y="87412"/>
                  <a:pt x="387648" y="118368"/>
                </a:cubicBezTo>
                <a:lnTo>
                  <a:pt x="356195" y="149820"/>
                </a:lnTo>
                <a:cubicBezTo>
                  <a:pt x="349349" y="156666"/>
                  <a:pt x="347365" y="166886"/>
                  <a:pt x="351036" y="175816"/>
                </a:cubicBezTo>
                <a:cubicBezTo>
                  <a:pt x="354707" y="184745"/>
                  <a:pt x="363438" y="190500"/>
                  <a:pt x="373063" y="190500"/>
                </a:cubicBezTo>
                <a:lnTo>
                  <a:pt x="484187" y="190500"/>
                </a:lnTo>
                <a:cubicBezTo>
                  <a:pt x="497384" y="190500"/>
                  <a:pt x="508000" y="179884"/>
                  <a:pt x="508000" y="166688"/>
                </a:cubicBezTo>
                <a:lnTo>
                  <a:pt x="508000" y="55563"/>
                </a:lnTo>
                <a:cubicBezTo>
                  <a:pt x="508000" y="45938"/>
                  <a:pt x="502245" y="37207"/>
                  <a:pt x="493316" y="33536"/>
                </a:cubicBezTo>
                <a:cubicBezTo>
                  <a:pt x="484386" y="29865"/>
                  <a:pt x="474166" y="31948"/>
                  <a:pt x="467320" y="38695"/>
                </a:cubicBezTo>
                <a:lnTo>
                  <a:pt x="432594" y="73422"/>
                </a:lnTo>
                <a:cubicBezTo>
                  <a:pt x="390723" y="32048"/>
                  <a:pt x="334566" y="5060"/>
                  <a:pt x="272058" y="595"/>
                </a:cubicBezTo>
                <a:cubicBezTo>
                  <a:pt x="254595" y="-595"/>
                  <a:pt x="239415" y="12502"/>
                  <a:pt x="238125" y="30063"/>
                </a:cubicBezTo>
                <a:close/>
                <a:moveTo>
                  <a:pt x="40680" y="469305"/>
                </a:moveTo>
                <a:lnTo>
                  <a:pt x="75406" y="434578"/>
                </a:lnTo>
                <a:cubicBezTo>
                  <a:pt x="117277" y="475952"/>
                  <a:pt x="173434" y="502940"/>
                  <a:pt x="235942" y="507405"/>
                </a:cubicBezTo>
                <a:cubicBezTo>
                  <a:pt x="253405" y="508595"/>
                  <a:pt x="268585" y="495498"/>
                  <a:pt x="269875" y="477937"/>
                </a:cubicBezTo>
                <a:cubicBezTo>
                  <a:pt x="271165" y="460375"/>
                  <a:pt x="257969" y="445294"/>
                  <a:pt x="240407" y="444004"/>
                </a:cubicBezTo>
                <a:cubicBezTo>
                  <a:pt x="193774" y="440730"/>
                  <a:pt x="151705" y="420588"/>
                  <a:pt x="120352" y="389632"/>
                </a:cubicBezTo>
                <a:lnTo>
                  <a:pt x="151805" y="358180"/>
                </a:lnTo>
                <a:cubicBezTo>
                  <a:pt x="158651" y="351334"/>
                  <a:pt x="160635" y="341114"/>
                  <a:pt x="156964" y="332184"/>
                </a:cubicBezTo>
                <a:cubicBezTo>
                  <a:pt x="153293" y="323255"/>
                  <a:pt x="144562" y="317500"/>
                  <a:pt x="134938" y="317500"/>
                </a:cubicBezTo>
                <a:lnTo>
                  <a:pt x="23812" y="317500"/>
                </a:lnTo>
                <a:cubicBezTo>
                  <a:pt x="10616" y="317500"/>
                  <a:pt x="0" y="328116"/>
                  <a:pt x="0" y="341313"/>
                </a:cubicBezTo>
                <a:lnTo>
                  <a:pt x="0" y="452437"/>
                </a:lnTo>
                <a:cubicBezTo>
                  <a:pt x="0" y="462062"/>
                  <a:pt x="5755" y="470793"/>
                  <a:pt x="14684" y="474464"/>
                </a:cubicBezTo>
                <a:cubicBezTo>
                  <a:pt x="23614" y="478135"/>
                  <a:pt x="33834" y="476052"/>
                  <a:pt x="40680" y="46930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318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Generalization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47625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knowledge across domains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26000" y="3429000"/>
            <a:ext cx="3175000" cy="254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0" y="4318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80000" y="47625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Operate without human intervention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429000"/>
            <a:ext cx="3175000" cy="254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52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31750"/>
                </a:moveTo>
                <a:cubicBezTo>
                  <a:pt x="508000" y="139005"/>
                  <a:pt x="431998" y="228501"/>
                  <a:pt x="330994" y="249436"/>
                </a:cubicBezTo>
                <a:cubicBezTo>
                  <a:pt x="323155" y="191790"/>
                  <a:pt x="297259" y="139898"/>
                  <a:pt x="259060" y="99715"/>
                </a:cubicBezTo>
                <a:cubicBezTo>
                  <a:pt x="298847" y="39688"/>
                  <a:pt x="367010" y="0"/>
                  <a:pt x="444500" y="0"/>
                </a:cubicBezTo>
                <a:lnTo>
                  <a:pt x="476250" y="0"/>
                </a:lnTo>
                <a:cubicBezTo>
                  <a:pt x="493812" y="0"/>
                  <a:pt x="508000" y="14188"/>
                  <a:pt x="508000" y="31750"/>
                </a:cubicBezTo>
                <a:close/>
                <a:moveTo>
                  <a:pt x="0" y="95250"/>
                </a:moveTo>
                <a:cubicBezTo>
                  <a:pt x="0" y="77688"/>
                  <a:pt x="14188" y="63500"/>
                  <a:pt x="31750" y="63500"/>
                </a:cubicBezTo>
                <a:lnTo>
                  <a:pt x="63500" y="63500"/>
                </a:lnTo>
                <a:cubicBezTo>
                  <a:pt x="186234" y="63500"/>
                  <a:pt x="285750" y="163016"/>
                  <a:pt x="285750" y="285750"/>
                </a:cubicBezTo>
                <a:lnTo>
                  <a:pt x="285750" y="476250"/>
                </a:lnTo>
                <a:cubicBezTo>
                  <a:pt x="285750" y="493812"/>
                  <a:pt x="271562" y="508000"/>
                  <a:pt x="254000" y="508000"/>
                </a:cubicBezTo>
                <a:cubicBezTo>
                  <a:pt x="236438" y="508000"/>
                  <a:pt x="222250" y="493812"/>
                  <a:pt x="222250" y="476250"/>
                </a:cubicBezTo>
                <a:lnTo>
                  <a:pt x="222250" y="317500"/>
                </a:lnTo>
                <a:cubicBezTo>
                  <a:pt x="99516" y="317500"/>
                  <a:pt x="0" y="217984"/>
                  <a:pt x="0" y="952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4318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Adaptability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36000" y="47625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 from new experiences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938000" y="3429000"/>
            <a:ext cx="3048000" cy="2540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1445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431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192000" y="47625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Logical inference and problem-solving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0000" y="6223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term was popularized by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Shane Legg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Marcus Hutter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(2007): </a:t>
            </a:r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"the ability to achieve goals in a wide range of environments."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 vs Narrow AI — Understanding the Gap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4064000"/>
        </p:xfrm>
        <a:graphic>
          <a:graphicData uri="http://schemas.openxmlformats.org/drawingml/2006/table">
            <a:tbl>
              <a:tblPr/>
              <a:tblGrid>
                <a:gridCol w="3429000"/>
                <a:gridCol w="5143500"/>
                <a:gridCol w="51435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Narrow AI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Artificial General Intelligence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Scope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Single task or domain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Any task across all domains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Requires retraining for new tasks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Learns new tasks without retraining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Reasoning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Pattern matching and statistics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Abstract reasoning and causal understanding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8331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ChatGPT, AlphaGo, DALL-E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Hypothetical — not yet achieved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350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51000" y="660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21444"/>
                </a:moveTo>
                <a:cubicBezTo>
                  <a:pt x="240476" y="121444"/>
                  <a:pt x="250031" y="130999"/>
                  <a:pt x="250031" y="142875"/>
                </a:cubicBezTo>
                <a:lnTo>
                  <a:pt x="250031" y="242888"/>
                </a:lnTo>
                <a:cubicBezTo>
                  <a:pt x="250031" y="254764"/>
                  <a:pt x="240476" y="264319"/>
                  <a:pt x="228600" y="264319"/>
                </a:cubicBezTo>
                <a:cubicBezTo>
                  <a:pt x="216724" y="264319"/>
                  <a:pt x="207169" y="254764"/>
                  <a:pt x="207169" y="242888"/>
                </a:cubicBezTo>
                <a:lnTo>
                  <a:pt x="207169" y="142875"/>
                </a:lnTo>
                <a:cubicBezTo>
                  <a:pt x="207169" y="130999"/>
                  <a:pt x="216724" y="121444"/>
                  <a:pt x="228600" y="121444"/>
                </a:cubicBezTo>
                <a:close/>
                <a:moveTo>
                  <a:pt x="204758" y="314325"/>
                </a:moveTo>
                <a:cubicBezTo>
                  <a:pt x="204215" y="305475"/>
                  <a:pt x="208629" y="297055"/>
                  <a:pt x="216215" y="292466"/>
                </a:cubicBezTo>
                <a:cubicBezTo>
                  <a:pt x="223802" y="287877"/>
                  <a:pt x="233309" y="287877"/>
                  <a:pt x="240895" y="292466"/>
                </a:cubicBezTo>
                <a:cubicBezTo>
                  <a:pt x="248482" y="297055"/>
                  <a:pt x="252895" y="305475"/>
                  <a:pt x="252353" y="314325"/>
                </a:cubicBezTo>
                <a:cubicBezTo>
                  <a:pt x="252895" y="323175"/>
                  <a:pt x="248482" y="331595"/>
                  <a:pt x="240895" y="336184"/>
                </a:cubicBezTo>
                <a:cubicBezTo>
                  <a:pt x="233309" y="340773"/>
                  <a:pt x="223802" y="340773"/>
                  <a:pt x="216215" y="336184"/>
                </a:cubicBezTo>
                <a:cubicBezTo>
                  <a:pt x="208629" y="331595"/>
                  <a:pt x="204215" y="323175"/>
                  <a:pt x="204758" y="3143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6350000"/>
            <a:ext cx="1244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Distinction: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Narrow AI is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trained for one task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AGI can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generalize to novel tasks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retraining.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 Required for AGI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133600" y="2286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Abstract Reasoning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921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Drawing inferences and conclusions from limited or incomplete information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23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32978" y="85725"/>
                </a:moveTo>
                <a:cubicBezTo>
                  <a:pt x="319802" y="85725"/>
                  <a:pt x="307023" y="89743"/>
                  <a:pt x="295831" y="97066"/>
                </a:cubicBezTo>
                <a:cubicBezTo>
                  <a:pt x="283289" y="82778"/>
                  <a:pt x="268684" y="70812"/>
                  <a:pt x="252571" y="61793"/>
                </a:cubicBezTo>
                <a:cubicBezTo>
                  <a:pt x="274955" y="40362"/>
                  <a:pt x="303451" y="28575"/>
                  <a:pt x="332978" y="28575"/>
                </a:cubicBezTo>
                <a:cubicBezTo>
                  <a:pt x="401558" y="28575"/>
                  <a:pt x="457200" y="91083"/>
                  <a:pt x="457200" y="168325"/>
                </a:cubicBezTo>
                <a:cubicBezTo>
                  <a:pt x="457200" y="205383"/>
                  <a:pt x="444103" y="240923"/>
                  <a:pt x="420846" y="267087"/>
                </a:cubicBezTo>
                <a:lnTo>
                  <a:pt x="364411" y="330577"/>
                </a:lnTo>
                <a:cubicBezTo>
                  <a:pt x="341154" y="356741"/>
                  <a:pt x="309563" y="371475"/>
                  <a:pt x="276622" y="371475"/>
                </a:cubicBezTo>
                <a:cubicBezTo>
                  <a:pt x="208042" y="371475"/>
                  <a:pt x="152400" y="308967"/>
                  <a:pt x="152400" y="231725"/>
                </a:cubicBezTo>
                <a:cubicBezTo>
                  <a:pt x="152400" y="230386"/>
                  <a:pt x="152400" y="229046"/>
                  <a:pt x="152479" y="227707"/>
                </a:cubicBezTo>
                <a:cubicBezTo>
                  <a:pt x="152876" y="211901"/>
                  <a:pt x="164544" y="199489"/>
                  <a:pt x="178594" y="199936"/>
                </a:cubicBezTo>
                <a:cubicBezTo>
                  <a:pt x="192643" y="200382"/>
                  <a:pt x="203676" y="213509"/>
                  <a:pt x="203279" y="229314"/>
                </a:cubicBezTo>
                <a:cubicBezTo>
                  <a:pt x="203279" y="230118"/>
                  <a:pt x="203279" y="230922"/>
                  <a:pt x="203279" y="231636"/>
                </a:cubicBezTo>
                <a:cubicBezTo>
                  <a:pt x="203279" y="277267"/>
                  <a:pt x="236141" y="314236"/>
                  <a:pt x="276701" y="314236"/>
                </a:cubicBezTo>
                <a:cubicBezTo>
                  <a:pt x="296148" y="314236"/>
                  <a:pt x="314801" y="305574"/>
                  <a:pt x="328613" y="290036"/>
                </a:cubicBezTo>
                <a:lnTo>
                  <a:pt x="385048" y="226546"/>
                </a:lnTo>
                <a:cubicBezTo>
                  <a:pt x="398780" y="211098"/>
                  <a:pt x="406559" y="190024"/>
                  <a:pt x="406559" y="168146"/>
                </a:cubicBezTo>
                <a:cubicBezTo>
                  <a:pt x="406559" y="122515"/>
                  <a:pt x="373698" y="85546"/>
                  <a:pt x="333137" y="85546"/>
                </a:cubicBezTo>
                <a:close/>
                <a:moveTo>
                  <a:pt x="218440" y="154751"/>
                </a:moveTo>
                <a:cubicBezTo>
                  <a:pt x="216932" y="154037"/>
                  <a:pt x="215424" y="153055"/>
                  <a:pt x="214074" y="151983"/>
                </a:cubicBezTo>
                <a:cubicBezTo>
                  <a:pt x="204073" y="146179"/>
                  <a:pt x="192643" y="142875"/>
                  <a:pt x="180658" y="142875"/>
                </a:cubicBezTo>
                <a:cubicBezTo>
                  <a:pt x="161211" y="142875"/>
                  <a:pt x="142558" y="151537"/>
                  <a:pt x="128746" y="167074"/>
                </a:cubicBezTo>
                <a:lnTo>
                  <a:pt x="72311" y="230565"/>
                </a:lnTo>
                <a:cubicBezTo>
                  <a:pt x="58579" y="246013"/>
                  <a:pt x="50800" y="267087"/>
                  <a:pt x="50800" y="288965"/>
                </a:cubicBezTo>
                <a:cubicBezTo>
                  <a:pt x="50800" y="334595"/>
                  <a:pt x="83661" y="371564"/>
                  <a:pt x="124222" y="371564"/>
                </a:cubicBezTo>
                <a:cubicBezTo>
                  <a:pt x="137319" y="371564"/>
                  <a:pt x="150098" y="367635"/>
                  <a:pt x="161290" y="360313"/>
                </a:cubicBezTo>
                <a:cubicBezTo>
                  <a:pt x="173831" y="374600"/>
                  <a:pt x="188436" y="386566"/>
                  <a:pt x="204629" y="395585"/>
                </a:cubicBezTo>
                <a:cubicBezTo>
                  <a:pt x="182245" y="416927"/>
                  <a:pt x="153829" y="428804"/>
                  <a:pt x="124222" y="428804"/>
                </a:cubicBezTo>
                <a:cubicBezTo>
                  <a:pt x="55642" y="428804"/>
                  <a:pt x="0" y="366296"/>
                  <a:pt x="0" y="289054"/>
                </a:cubicBezTo>
                <a:cubicBezTo>
                  <a:pt x="0" y="251996"/>
                  <a:pt x="13097" y="216456"/>
                  <a:pt x="36354" y="190292"/>
                </a:cubicBezTo>
                <a:lnTo>
                  <a:pt x="92789" y="126802"/>
                </a:lnTo>
                <a:cubicBezTo>
                  <a:pt x="116046" y="100638"/>
                  <a:pt x="147638" y="85904"/>
                  <a:pt x="180578" y="85904"/>
                </a:cubicBezTo>
                <a:cubicBezTo>
                  <a:pt x="249317" y="85904"/>
                  <a:pt x="304800" y="148947"/>
                  <a:pt x="304800" y="226010"/>
                </a:cubicBezTo>
                <a:cubicBezTo>
                  <a:pt x="304800" y="227171"/>
                  <a:pt x="304800" y="228332"/>
                  <a:pt x="304800" y="229493"/>
                </a:cubicBezTo>
                <a:cubicBezTo>
                  <a:pt x="304483" y="245299"/>
                  <a:pt x="292814" y="257711"/>
                  <a:pt x="278765" y="257354"/>
                </a:cubicBezTo>
                <a:cubicBezTo>
                  <a:pt x="264716" y="256996"/>
                  <a:pt x="253682" y="243870"/>
                  <a:pt x="254000" y="228064"/>
                </a:cubicBezTo>
                <a:cubicBezTo>
                  <a:pt x="254000" y="227350"/>
                  <a:pt x="254000" y="226725"/>
                  <a:pt x="254000" y="226010"/>
                </a:cubicBezTo>
                <a:cubicBezTo>
                  <a:pt x="254000" y="195917"/>
                  <a:pt x="239713" y="169485"/>
                  <a:pt x="218440" y="15493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832600" y="2286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Causal Understanding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921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Comprehending cause-effect relationships beyond mere correlation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220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1886" y="457200"/>
                </a:moveTo>
                <a:lnTo>
                  <a:pt x="97971" y="457200"/>
                </a:lnTo>
                <a:cubicBezTo>
                  <a:pt x="43883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43883" y="0"/>
                  <a:pt x="97971" y="0"/>
                </a:cubicBezTo>
                <a:lnTo>
                  <a:pt x="408214" y="0"/>
                </a:lnTo>
                <a:cubicBezTo>
                  <a:pt x="435258" y="0"/>
                  <a:pt x="457200" y="19199"/>
                  <a:pt x="457200" y="42863"/>
                </a:cubicBezTo>
                <a:lnTo>
                  <a:pt x="457200" y="300038"/>
                </a:lnTo>
                <a:cubicBezTo>
                  <a:pt x="457200" y="318701"/>
                  <a:pt x="443525" y="334595"/>
                  <a:pt x="424543" y="340489"/>
                </a:cubicBezTo>
                <a:lnTo>
                  <a:pt x="424543" y="400050"/>
                </a:lnTo>
                <a:cubicBezTo>
                  <a:pt x="442606" y="400050"/>
                  <a:pt x="457200" y="412819"/>
                  <a:pt x="457200" y="428625"/>
                </a:cubicBezTo>
                <a:cubicBezTo>
                  <a:pt x="457200" y="444431"/>
                  <a:pt x="442606" y="457200"/>
                  <a:pt x="424543" y="457200"/>
                </a:cubicBezTo>
                <a:lnTo>
                  <a:pt x="391886" y="457200"/>
                </a:lnTo>
                <a:close/>
                <a:moveTo>
                  <a:pt x="97971" y="342900"/>
                </a:moveTo>
                <a:cubicBezTo>
                  <a:pt x="79908" y="342900"/>
                  <a:pt x="65314" y="355669"/>
                  <a:pt x="65314" y="371475"/>
                </a:cubicBezTo>
                <a:cubicBezTo>
                  <a:pt x="65314" y="387281"/>
                  <a:pt x="79908" y="400050"/>
                  <a:pt x="97971" y="400050"/>
                </a:cubicBezTo>
                <a:lnTo>
                  <a:pt x="359229" y="400050"/>
                </a:lnTo>
                <a:lnTo>
                  <a:pt x="359229" y="342900"/>
                </a:lnTo>
                <a:lnTo>
                  <a:pt x="97971" y="342900"/>
                </a:lnTo>
                <a:close/>
                <a:moveTo>
                  <a:pt x="130629" y="135731"/>
                </a:moveTo>
                <a:cubicBezTo>
                  <a:pt x="130629" y="147608"/>
                  <a:pt x="141548" y="157163"/>
                  <a:pt x="155121" y="157163"/>
                </a:cubicBezTo>
                <a:lnTo>
                  <a:pt x="334736" y="157163"/>
                </a:lnTo>
                <a:cubicBezTo>
                  <a:pt x="348309" y="157163"/>
                  <a:pt x="359229" y="147608"/>
                  <a:pt x="359229" y="135731"/>
                </a:cubicBezTo>
                <a:cubicBezTo>
                  <a:pt x="359229" y="123855"/>
                  <a:pt x="348309" y="114300"/>
                  <a:pt x="334736" y="114300"/>
                </a:cubicBezTo>
                <a:lnTo>
                  <a:pt x="155121" y="114300"/>
                </a:lnTo>
                <a:cubicBezTo>
                  <a:pt x="141548" y="114300"/>
                  <a:pt x="130629" y="123855"/>
                  <a:pt x="130629" y="135731"/>
                </a:cubicBezTo>
                <a:close/>
                <a:moveTo>
                  <a:pt x="155121" y="200025"/>
                </a:moveTo>
                <a:cubicBezTo>
                  <a:pt x="141548" y="200025"/>
                  <a:pt x="130629" y="209580"/>
                  <a:pt x="130629" y="221456"/>
                </a:cubicBezTo>
                <a:cubicBezTo>
                  <a:pt x="130629" y="233333"/>
                  <a:pt x="141548" y="242888"/>
                  <a:pt x="155121" y="242888"/>
                </a:cubicBezTo>
                <a:lnTo>
                  <a:pt x="334736" y="242888"/>
                </a:lnTo>
                <a:cubicBezTo>
                  <a:pt x="348309" y="242888"/>
                  <a:pt x="359229" y="233333"/>
                  <a:pt x="359229" y="221456"/>
                </a:cubicBezTo>
                <a:cubicBezTo>
                  <a:pt x="359229" y="209580"/>
                  <a:pt x="348309" y="200025"/>
                  <a:pt x="334736" y="200025"/>
                </a:cubicBezTo>
                <a:lnTo>
                  <a:pt x="155121" y="20002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31600" y="2286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Sense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921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implicit everyday facts about how the world works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5080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24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2133600" y="5334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Learning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000" y="5969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Applying knowledge and skills from one domain to novel, unrelated tasks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69000" y="5080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23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832600" y="5334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Metacognition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3000" y="5969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Awareness and control of one's own thinking processes and limitations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668000" y="5080000"/>
            <a:ext cx="4318000" cy="266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22000" y="533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4288"/>
                </a:moveTo>
                <a:cubicBezTo>
                  <a:pt x="269605" y="14288"/>
                  <a:pt x="302895" y="55901"/>
                  <a:pt x="302895" y="107156"/>
                </a:cubicBezTo>
                <a:cubicBezTo>
                  <a:pt x="302895" y="158412"/>
                  <a:pt x="269605" y="200025"/>
                  <a:pt x="228600" y="200025"/>
                </a:cubicBezTo>
                <a:cubicBezTo>
                  <a:pt x="187595" y="200025"/>
                  <a:pt x="154305" y="158412"/>
                  <a:pt x="154305" y="107156"/>
                </a:cubicBezTo>
                <a:cubicBezTo>
                  <a:pt x="154305" y="55901"/>
                  <a:pt x="187595" y="14288"/>
                  <a:pt x="228600" y="14288"/>
                </a:cubicBezTo>
                <a:close/>
                <a:moveTo>
                  <a:pt x="68580" y="78581"/>
                </a:moveTo>
                <a:cubicBezTo>
                  <a:pt x="96968" y="78581"/>
                  <a:pt x="120015" y="107390"/>
                  <a:pt x="120015" y="142875"/>
                </a:cubicBezTo>
                <a:cubicBezTo>
                  <a:pt x="120015" y="178360"/>
                  <a:pt x="96968" y="207169"/>
                  <a:pt x="68580" y="207169"/>
                </a:cubicBezTo>
                <a:cubicBezTo>
                  <a:pt x="40192" y="207169"/>
                  <a:pt x="17145" y="178360"/>
                  <a:pt x="17145" y="142875"/>
                </a:cubicBezTo>
                <a:cubicBezTo>
                  <a:pt x="17145" y="107390"/>
                  <a:pt x="40192" y="78581"/>
                  <a:pt x="68580" y="78581"/>
                </a:cubicBezTo>
                <a:close/>
                <a:moveTo>
                  <a:pt x="0" y="371475"/>
                </a:moveTo>
                <a:cubicBezTo>
                  <a:pt x="0" y="308342"/>
                  <a:pt x="40934" y="257175"/>
                  <a:pt x="91440" y="257175"/>
                </a:cubicBezTo>
                <a:cubicBezTo>
                  <a:pt x="100584" y="257175"/>
                  <a:pt x="109442" y="258872"/>
                  <a:pt x="117800" y="261997"/>
                </a:cubicBezTo>
                <a:cubicBezTo>
                  <a:pt x="94298" y="294858"/>
                  <a:pt x="80010" y="338257"/>
                  <a:pt x="80010" y="385763"/>
                </a:cubicBezTo>
                <a:lnTo>
                  <a:pt x="80010" y="400050"/>
                </a:lnTo>
                <a:cubicBezTo>
                  <a:pt x="80010" y="410230"/>
                  <a:pt x="81725" y="419874"/>
                  <a:pt x="84796" y="428625"/>
                </a:cubicBezTo>
                <a:lnTo>
                  <a:pt x="22860" y="428625"/>
                </a:lnTo>
                <a:cubicBezTo>
                  <a:pt x="10216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372404" y="428625"/>
                </a:moveTo>
                <a:cubicBezTo>
                  <a:pt x="375475" y="419874"/>
                  <a:pt x="377190" y="410230"/>
                  <a:pt x="377190" y="400050"/>
                </a:cubicBezTo>
                <a:lnTo>
                  <a:pt x="377190" y="385763"/>
                </a:lnTo>
                <a:cubicBezTo>
                  <a:pt x="377190" y="338257"/>
                  <a:pt x="362903" y="294858"/>
                  <a:pt x="339400" y="261997"/>
                </a:cubicBezTo>
                <a:cubicBezTo>
                  <a:pt x="347758" y="258872"/>
                  <a:pt x="356616" y="257175"/>
                  <a:pt x="365760" y="257175"/>
                </a:cubicBezTo>
                <a:cubicBezTo>
                  <a:pt x="416266" y="257175"/>
                  <a:pt x="457200" y="308342"/>
                  <a:pt x="457200" y="371475"/>
                </a:cubicBezTo>
                <a:lnTo>
                  <a:pt x="457200" y="400050"/>
                </a:lnTo>
                <a:cubicBezTo>
                  <a:pt x="457200" y="415856"/>
                  <a:pt x="446984" y="428625"/>
                  <a:pt x="434340" y="428625"/>
                </a:cubicBezTo>
                <a:lnTo>
                  <a:pt x="372404" y="428625"/>
                </a:lnTo>
                <a:close/>
                <a:moveTo>
                  <a:pt x="337185" y="142875"/>
                </a:moveTo>
                <a:cubicBezTo>
                  <a:pt x="337185" y="107390"/>
                  <a:pt x="360232" y="78581"/>
                  <a:pt x="388620" y="78581"/>
                </a:cubicBezTo>
                <a:cubicBezTo>
                  <a:pt x="417008" y="78581"/>
                  <a:pt x="440055" y="107390"/>
                  <a:pt x="440055" y="142875"/>
                </a:cubicBezTo>
                <a:cubicBezTo>
                  <a:pt x="440055" y="178360"/>
                  <a:pt x="417008" y="207169"/>
                  <a:pt x="388620" y="207169"/>
                </a:cubicBezTo>
                <a:cubicBezTo>
                  <a:pt x="360232" y="207169"/>
                  <a:pt x="337185" y="178360"/>
                  <a:pt x="337185" y="142875"/>
                </a:cubicBezTo>
                <a:close/>
                <a:moveTo>
                  <a:pt x="114300" y="385763"/>
                </a:moveTo>
                <a:cubicBezTo>
                  <a:pt x="114300" y="306824"/>
                  <a:pt x="165449" y="242888"/>
                  <a:pt x="228600" y="242888"/>
                </a:cubicBezTo>
                <a:cubicBezTo>
                  <a:pt x="291751" y="242888"/>
                  <a:pt x="342900" y="306824"/>
                  <a:pt x="342900" y="385763"/>
                </a:cubicBezTo>
                <a:lnTo>
                  <a:pt x="342900" y="400050"/>
                </a:lnTo>
                <a:cubicBezTo>
                  <a:pt x="342900" y="415856"/>
                  <a:pt x="332684" y="428625"/>
                  <a:pt x="320040" y="428625"/>
                </a:cubicBezTo>
                <a:lnTo>
                  <a:pt x="137160" y="428625"/>
                </a:lnTo>
                <a:cubicBezTo>
                  <a:pt x="124516" y="428625"/>
                  <a:pt x="114300" y="415856"/>
                  <a:pt x="114300" y="400050"/>
                </a:cubicBezTo>
                <a:lnTo>
                  <a:pt x="114300" y="385763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1531600" y="53340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Social Intelligence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22000" y="59690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and effectively interacting with other intelligent agents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Approaches to AGI — Three Major Paradigms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28600" y="76200"/>
                </a:moveTo>
                <a:cubicBezTo>
                  <a:pt x="228600" y="55126"/>
                  <a:pt x="245626" y="38100"/>
                  <a:pt x="266700" y="38100"/>
                </a:cubicBezTo>
                <a:lnTo>
                  <a:pt x="342900" y="38100"/>
                </a:lnTo>
                <a:cubicBezTo>
                  <a:pt x="363974" y="38100"/>
                  <a:pt x="381000" y="55126"/>
                  <a:pt x="381000" y="76200"/>
                </a:cubicBezTo>
                <a:lnTo>
                  <a:pt x="381000" y="152400"/>
                </a:lnTo>
                <a:cubicBezTo>
                  <a:pt x="381000" y="173474"/>
                  <a:pt x="363974" y="190500"/>
                  <a:pt x="342900" y="190500"/>
                </a:cubicBezTo>
                <a:lnTo>
                  <a:pt x="333375" y="190500"/>
                </a:lnTo>
                <a:lnTo>
                  <a:pt x="333375" y="266700"/>
                </a:lnTo>
                <a:lnTo>
                  <a:pt x="476250" y="266700"/>
                </a:lnTo>
                <a:cubicBezTo>
                  <a:pt x="523637" y="266700"/>
                  <a:pt x="561975" y="305038"/>
                  <a:pt x="561975" y="352425"/>
                </a:cubicBezTo>
                <a:lnTo>
                  <a:pt x="561975" y="419100"/>
                </a:lnTo>
                <a:lnTo>
                  <a:pt x="571500" y="419100"/>
                </a:lnTo>
                <a:cubicBezTo>
                  <a:pt x="592574" y="419100"/>
                  <a:pt x="609600" y="436126"/>
                  <a:pt x="609600" y="457200"/>
                </a:cubicBezTo>
                <a:lnTo>
                  <a:pt x="609600" y="533400"/>
                </a:lnTo>
                <a:cubicBezTo>
                  <a:pt x="609600" y="554474"/>
                  <a:pt x="592574" y="571500"/>
                  <a:pt x="571500" y="571500"/>
                </a:cubicBezTo>
                <a:lnTo>
                  <a:pt x="495300" y="571500"/>
                </a:lnTo>
                <a:cubicBezTo>
                  <a:pt x="474226" y="571500"/>
                  <a:pt x="457200" y="554474"/>
                  <a:pt x="457200" y="533400"/>
                </a:cubicBezTo>
                <a:lnTo>
                  <a:pt x="457200" y="457200"/>
                </a:lnTo>
                <a:cubicBezTo>
                  <a:pt x="457200" y="436126"/>
                  <a:pt x="474226" y="419100"/>
                  <a:pt x="495300" y="419100"/>
                </a:cubicBezTo>
                <a:lnTo>
                  <a:pt x="504825" y="419100"/>
                </a:lnTo>
                <a:lnTo>
                  <a:pt x="504825" y="352425"/>
                </a:lnTo>
                <a:cubicBezTo>
                  <a:pt x="504825" y="336590"/>
                  <a:pt x="492085" y="323850"/>
                  <a:pt x="476250" y="323850"/>
                </a:cubicBezTo>
                <a:lnTo>
                  <a:pt x="333375" y="323850"/>
                </a:lnTo>
                <a:lnTo>
                  <a:pt x="333375" y="419100"/>
                </a:lnTo>
                <a:lnTo>
                  <a:pt x="342900" y="419100"/>
                </a:lnTo>
                <a:cubicBezTo>
                  <a:pt x="363974" y="419100"/>
                  <a:pt x="381000" y="436126"/>
                  <a:pt x="381000" y="457200"/>
                </a:cubicBezTo>
                <a:lnTo>
                  <a:pt x="381000" y="533400"/>
                </a:lnTo>
                <a:cubicBezTo>
                  <a:pt x="381000" y="554474"/>
                  <a:pt x="363974" y="571500"/>
                  <a:pt x="342900" y="571500"/>
                </a:cubicBezTo>
                <a:lnTo>
                  <a:pt x="266700" y="571500"/>
                </a:lnTo>
                <a:cubicBezTo>
                  <a:pt x="245626" y="571500"/>
                  <a:pt x="228600" y="554474"/>
                  <a:pt x="228600" y="533400"/>
                </a:cubicBezTo>
                <a:lnTo>
                  <a:pt x="228600" y="457200"/>
                </a:lnTo>
                <a:cubicBezTo>
                  <a:pt x="228600" y="436126"/>
                  <a:pt x="245626" y="419100"/>
                  <a:pt x="266700" y="419100"/>
                </a:cubicBezTo>
                <a:lnTo>
                  <a:pt x="276225" y="419100"/>
                </a:lnTo>
                <a:lnTo>
                  <a:pt x="276225" y="323850"/>
                </a:lnTo>
                <a:lnTo>
                  <a:pt x="133350" y="323850"/>
                </a:lnTo>
                <a:cubicBezTo>
                  <a:pt x="117515" y="323850"/>
                  <a:pt x="104775" y="336590"/>
                  <a:pt x="104775" y="352425"/>
                </a:cubicBezTo>
                <a:lnTo>
                  <a:pt x="104775" y="419100"/>
                </a:lnTo>
                <a:lnTo>
                  <a:pt x="114300" y="419100"/>
                </a:lnTo>
                <a:cubicBezTo>
                  <a:pt x="135374" y="419100"/>
                  <a:pt x="152400" y="436126"/>
                  <a:pt x="152400" y="457200"/>
                </a:cubicBezTo>
                <a:lnTo>
                  <a:pt x="152400" y="533400"/>
                </a:lnTo>
                <a:cubicBezTo>
                  <a:pt x="152400" y="554474"/>
                  <a:pt x="135374" y="571500"/>
                  <a:pt x="114300" y="571500"/>
                </a:cubicBezTo>
                <a:lnTo>
                  <a:pt x="38100" y="571500"/>
                </a:lnTo>
                <a:cubicBezTo>
                  <a:pt x="17026" y="571500"/>
                  <a:pt x="0" y="554474"/>
                  <a:pt x="0" y="533400"/>
                </a:cubicBezTo>
                <a:lnTo>
                  <a:pt x="0" y="457200"/>
                </a:lnTo>
                <a:cubicBezTo>
                  <a:pt x="0" y="436126"/>
                  <a:pt x="17026" y="419100"/>
                  <a:pt x="38100" y="419100"/>
                </a:cubicBezTo>
                <a:lnTo>
                  <a:pt x="47625" y="419100"/>
                </a:lnTo>
                <a:lnTo>
                  <a:pt x="47625" y="352425"/>
                </a:lnTo>
                <a:cubicBezTo>
                  <a:pt x="47625" y="305038"/>
                  <a:pt x="85963" y="266700"/>
                  <a:pt x="133350" y="266700"/>
                </a:cubicBezTo>
                <a:lnTo>
                  <a:pt x="276225" y="266700"/>
                </a:lnTo>
                <a:lnTo>
                  <a:pt x="276225" y="190500"/>
                </a:lnTo>
                <a:lnTo>
                  <a:pt x="266700" y="190500"/>
                </a:lnTo>
                <a:cubicBezTo>
                  <a:pt x="245626" y="190500"/>
                  <a:pt x="228600" y="173474"/>
                  <a:pt x="228600" y="152400"/>
                </a:cubicBezTo>
                <a:lnTo>
                  <a:pt x="228600" y="762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Symbolic 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810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GOFAI — Good Old-Fashioned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4318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Rule-based systems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Logic programming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Knowledge representation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Expert systems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Explicit reasoning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Weaknesses: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Hard to learn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69000" y="2032000"/>
            <a:ext cx="4318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47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62467" y="104775"/>
                </a:moveTo>
                <a:lnTo>
                  <a:pt x="347133" y="104775"/>
                </a:lnTo>
                <a:lnTo>
                  <a:pt x="347133" y="161925"/>
                </a:lnTo>
                <a:lnTo>
                  <a:pt x="262467" y="161925"/>
                </a:lnTo>
                <a:lnTo>
                  <a:pt x="262467" y="104775"/>
                </a:lnTo>
                <a:close/>
                <a:moveTo>
                  <a:pt x="254000" y="38100"/>
                </a:moveTo>
                <a:cubicBezTo>
                  <a:pt x="225954" y="38100"/>
                  <a:pt x="203200" y="63698"/>
                  <a:pt x="203200" y="95250"/>
                </a:cubicBezTo>
                <a:lnTo>
                  <a:pt x="203200" y="171450"/>
                </a:lnTo>
                <a:cubicBezTo>
                  <a:pt x="203200" y="203002"/>
                  <a:pt x="225954" y="228600"/>
                  <a:pt x="254000" y="228600"/>
                </a:cubicBezTo>
                <a:lnTo>
                  <a:pt x="270933" y="228600"/>
                </a:lnTo>
                <a:lnTo>
                  <a:pt x="270933" y="266700"/>
                </a:lnTo>
                <a:lnTo>
                  <a:pt x="33867" y="266700"/>
                </a:lnTo>
                <a:cubicBezTo>
                  <a:pt x="15134" y="266700"/>
                  <a:pt x="0" y="283726"/>
                  <a:pt x="0" y="304800"/>
                </a:cubicBezTo>
                <a:cubicBezTo>
                  <a:pt x="0" y="325874"/>
                  <a:pt x="15134" y="342900"/>
                  <a:pt x="33867" y="342900"/>
                </a:cubicBezTo>
                <a:lnTo>
                  <a:pt x="135467" y="342900"/>
                </a:lnTo>
                <a:lnTo>
                  <a:pt x="135467" y="381000"/>
                </a:lnTo>
                <a:lnTo>
                  <a:pt x="118533" y="381000"/>
                </a:lnTo>
                <a:cubicBezTo>
                  <a:pt x="90488" y="381000"/>
                  <a:pt x="67733" y="406598"/>
                  <a:pt x="67733" y="438150"/>
                </a:cubicBezTo>
                <a:lnTo>
                  <a:pt x="67733" y="514350"/>
                </a:lnTo>
                <a:cubicBezTo>
                  <a:pt x="67733" y="545902"/>
                  <a:pt x="90488" y="571500"/>
                  <a:pt x="118533" y="571500"/>
                </a:cubicBezTo>
                <a:lnTo>
                  <a:pt x="220133" y="571500"/>
                </a:lnTo>
                <a:cubicBezTo>
                  <a:pt x="248179" y="571500"/>
                  <a:pt x="270933" y="545902"/>
                  <a:pt x="270933" y="514350"/>
                </a:cubicBezTo>
                <a:lnTo>
                  <a:pt x="270933" y="438150"/>
                </a:lnTo>
                <a:cubicBezTo>
                  <a:pt x="270933" y="406598"/>
                  <a:pt x="248179" y="381000"/>
                  <a:pt x="220133" y="381000"/>
                </a:cubicBezTo>
                <a:lnTo>
                  <a:pt x="203200" y="381000"/>
                </a:lnTo>
                <a:lnTo>
                  <a:pt x="203200" y="342900"/>
                </a:lnTo>
                <a:lnTo>
                  <a:pt x="406400" y="342900"/>
                </a:lnTo>
                <a:lnTo>
                  <a:pt x="406400" y="381000"/>
                </a:lnTo>
                <a:lnTo>
                  <a:pt x="389467" y="381000"/>
                </a:lnTo>
                <a:cubicBezTo>
                  <a:pt x="361421" y="381000"/>
                  <a:pt x="338667" y="406598"/>
                  <a:pt x="338667" y="438150"/>
                </a:cubicBezTo>
                <a:lnTo>
                  <a:pt x="338667" y="514350"/>
                </a:lnTo>
                <a:cubicBezTo>
                  <a:pt x="338667" y="545902"/>
                  <a:pt x="361421" y="571500"/>
                  <a:pt x="389467" y="571500"/>
                </a:cubicBezTo>
                <a:lnTo>
                  <a:pt x="491067" y="571500"/>
                </a:lnTo>
                <a:cubicBezTo>
                  <a:pt x="519112" y="571500"/>
                  <a:pt x="541867" y="545902"/>
                  <a:pt x="541867" y="514350"/>
                </a:cubicBezTo>
                <a:lnTo>
                  <a:pt x="541867" y="438150"/>
                </a:lnTo>
                <a:cubicBezTo>
                  <a:pt x="541867" y="406598"/>
                  <a:pt x="519112" y="381000"/>
                  <a:pt x="491067" y="381000"/>
                </a:cubicBezTo>
                <a:lnTo>
                  <a:pt x="474133" y="381000"/>
                </a:lnTo>
                <a:lnTo>
                  <a:pt x="474133" y="342900"/>
                </a:lnTo>
                <a:lnTo>
                  <a:pt x="575733" y="342900"/>
                </a:lnTo>
                <a:cubicBezTo>
                  <a:pt x="594466" y="342900"/>
                  <a:pt x="609600" y="325874"/>
                  <a:pt x="609600" y="304800"/>
                </a:cubicBezTo>
                <a:cubicBezTo>
                  <a:pt x="609600" y="283726"/>
                  <a:pt x="594466" y="266700"/>
                  <a:pt x="575733" y="266700"/>
                </a:cubicBezTo>
                <a:lnTo>
                  <a:pt x="338667" y="266700"/>
                </a:lnTo>
                <a:lnTo>
                  <a:pt x="338667" y="228600"/>
                </a:lnTo>
                <a:lnTo>
                  <a:pt x="355600" y="228600"/>
                </a:lnTo>
                <a:cubicBezTo>
                  <a:pt x="383646" y="228600"/>
                  <a:pt x="406400" y="203002"/>
                  <a:pt x="406400" y="171450"/>
                </a:cubicBezTo>
                <a:lnTo>
                  <a:pt x="406400" y="95250"/>
                </a:lnTo>
                <a:cubicBezTo>
                  <a:pt x="406400" y="63698"/>
                  <a:pt x="383646" y="38100"/>
                  <a:pt x="355600" y="38100"/>
                </a:cubicBezTo>
                <a:lnTo>
                  <a:pt x="254000" y="38100"/>
                </a:lnTo>
                <a:close/>
                <a:moveTo>
                  <a:pt x="474133" y="447675"/>
                </a:moveTo>
                <a:lnTo>
                  <a:pt x="482600" y="447675"/>
                </a:lnTo>
                <a:lnTo>
                  <a:pt x="482600" y="504825"/>
                </a:lnTo>
                <a:lnTo>
                  <a:pt x="397933" y="504825"/>
                </a:lnTo>
                <a:lnTo>
                  <a:pt x="397933" y="447675"/>
                </a:lnTo>
                <a:lnTo>
                  <a:pt x="474133" y="447675"/>
                </a:lnTo>
                <a:close/>
                <a:moveTo>
                  <a:pt x="203200" y="447675"/>
                </a:moveTo>
                <a:lnTo>
                  <a:pt x="211667" y="447675"/>
                </a:lnTo>
                <a:lnTo>
                  <a:pt x="211667" y="504825"/>
                </a:lnTo>
                <a:lnTo>
                  <a:pt x="127000" y="504825"/>
                </a:lnTo>
                <a:lnTo>
                  <a:pt x="127000" y="447675"/>
                </a:lnTo>
                <a:lnTo>
                  <a:pt x="203200" y="4476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Connectionist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50000" y="3810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Networks &amp; Deep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0000" y="4318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Deep neural networks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Emergent behavior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Representation learning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End-to-end training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Pattern recognition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Weaknesses: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Black box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2032000"/>
            <a:ext cx="4318000" cy="584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24460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8857" y="66675"/>
                </a:moveTo>
                <a:cubicBezTo>
                  <a:pt x="126881" y="66675"/>
                  <a:pt x="141514" y="79479"/>
                  <a:pt x="141514" y="95250"/>
                </a:cubicBezTo>
                <a:cubicBezTo>
                  <a:pt x="141514" y="111021"/>
                  <a:pt x="126881" y="123825"/>
                  <a:pt x="108857" y="123825"/>
                </a:cubicBezTo>
                <a:cubicBezTo>
                  <a:pt x="90833" y="123825"/>
                  <a:pt x="76200" y="111021"/>
                  <a:pt x="76200" y="95250"/>
                </a:cubicBezTo>
                <a:cubicBezTo>
                  <a:pt x="76200" y="79479"/>
                  <a:pt x="90833" y="66675"/>
                  <a:pt x="108857" y="66675"/>
                </a:cubicBezTo>
                <a:close/>
                <a:moveTo>
                  <a:pt x="152944" y="182404"/>
                </a:moveTo>
                <a:cubicBezTo>
                  <a:pt x="191044" y="167640"/>
                  <a:pt x="217714" y="134183"/>
                  <a:pt x="217714" y="95250"/>
                </a:cubicBezTo>
                <a:cubicBezTo>
                  <a:pt x="217714" y="42624"/>
                  <a:pt x="169001" y="0"/>
                  <a:pt x="108857" y="0"/>
                </a:cubicBezTo>
                <a:cubicBezTo>
                  <a:pt x="48714" y="0"/>
                  <a:pt x="0" y="42624"/>
                  <a:pt x="0" y="95250"/>
                </a:cubicBezTo>
                <a:cubicBezTo>
                  <a:pt x="0" y="134303"/>
                  <a:pt x="26806" y="167878"/>
                  <a:pt x="65314" y="182523"/>
                </a:cubicBezTo>
                <a:lnTo>
                  <a:pt x="65314" y="426958"/>
                </a:lnTo>
                <a:cubicBezTo>
                  <a:pt x="26806" y="441722"/>
                  <a:pt x="0" y="475298"/>
                  <a:pt x="0" y="514350"/>
                </a:cubicBezTo>
                <a:cubicBezTo>
                  <a:pt x="0" y="566976"/>
                  <a:pt x="48714" y="609600"/>
                  <a:pt x="108857" y="609600"/>
                </a:cubicBezTo>
                <a:cubicBezTo>
                  <a:pt x="169001" y="609600"/>
                  <a:pt x="217714" y="566976"/>
                  <a:pt x="217714" y="514350"/>
                </a:cubicBezTo>
                <a:cubicBezTo>
                  <a:pt x="217714" y="475298"/>
                  <a:pt x="190908" y="441722"/>
                  <a:pt x="152400" y="427077"/>
                </a:cubicBezTo>
                <a:lnTo>
                  <a:pt x="152400" y="323969"/>
                </a:lnTo>
                <a:cubicBezTo>
                  <a:pt x="188731" y="347901"/>
                  <a:pt x="234043" y="362069"/>
                  <a:pt x="283029" y="362069"/>
                </a:cubicBezTo>
                <a:lnTo>
                  <a:pt x="401002" y="362069"/>
                </a:lnTo>
                <a:cubicBezTo>
                  <a:pt x="417739" y="395764"/>
                  <a:pt x="456111" y="419219"/>
                  <a:pt x="500743" y="419219"/>
                </a:cubicBezTo>
                <a:cubicBezTo>
                  <a:pt x="560886" y="419219"/>
                  <a:pt x="609600" y="376595"/>
                  <a:pt x="609600" y="323969"/>
                </a:cubicBezTo>
                <a:cubicBezTo>
                  <a:pt x="609600" y="271343"/>
                  <a:pt x="560886" y="228719"/>
                  <a:pt x="500743" y="228719"/>
                </a:cubicBezTo>
                <a:cubicBezTo>
                  <a:pt x="456111" y="228719"/>
                  <a:pt x="417739" y="252174"/>
                  <a:pt x="401002" y="285869"/>
                </a:cubicBezTo>
                <a:lnTo>
                  <a:pt x="283029" y="285750"/>
                </a:lnTo>
                <a:cubicBezTo>
                  <a:pt x="215129" y="285750"/>
                  <a:pt x="159204" y="240387"/>
                  <a:pt x="152944" y="182404"/>
                </a:cubicBezTo>
                <a:close/>
                <a:moveTo>
                  <a:pt x="108857" y="485775"/>
                </a:moveTo>
                <a:cubicBezTo>
                  <a:pt x="126881" y="485775"/>
                  <a:pt x="141514" y="498579"/>
                  <a:pt x="141514" y="514350"/>
                </a:cubicBezTo>
                <a:cubicBezTo>
                  <a:pt x="141514" y="530121"/>
                  <a:pt x="126881" y="542925"/>
                  <a:pt x="108857" y="542925"/>
                </a:cubicBezTo>
                <a:cubicBezTo>
                  <a:pt x="90833" y="542925"/>
                  <a:pt x="76200" y="530121"/>
                  <a:pt x="76200" y="514350"/>
                </a:cubicBezTo>
                <a:cubicBezTo>
                  <a:pt x="76200" y="498579"/>
                  <a:pt x="90833" y="485775"/>
                  <a:pt x="108857" y="485775"/>
                </a:cubicBezTo>
                <a:close/>
                <a:moveTo>
                  <a:pt x="468086" y="323850"/>
                </a:moveTo>
                <a:cubicBezTo>
                  <a:pt x="468086" y="308079"/>
                  <a:pt x="482719" y="295275"/>
                  <a:pt x="500743" y="295275"/>
                </a:cubicBezTo>
                <a:cubicBezTo>
                  <a:pt x="518767" y="295275"/>
                  <a:pt x="533400" y="308079"/>
                  <a:pt x="533400" y="323850"/>
                </a:cubicBezTo>
                <a:cubicBezTo>
                  <a:pt x="533400" y="339621"/>
                  <a:pt x="518767" y="352425"/>
                  <a:pt x="500743" y="352425"/>
                </a:cubicBezTo>
                <a:cubicBezTo>
                  <a:pt x="482719" y="352425"/>
                  <a:pt x="468086" y="339621"/>
                  <a:pt x="468086" y="3238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(Neuro-Symbolic)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49000" y="38100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of Both Worlds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4318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Neural + symbolic integration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World models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Causal reasoning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Structured learning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Strengths: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Reasoning + learning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Weaknesses: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Complexity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for AGI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(KR)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foundational to AGI — it determines how machines store, organize, and reason about information.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good KR system must satisfy four key criteria: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4826000"/>
            <a:ext cx="3175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7000" y="49530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68500" y="4953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Representational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Represent all knowledge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99000" y="4826000"/>
            <a:ext cx="3175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6000" y="49530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97500" y="4953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Inferential Adequacy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Derive new knowledge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70000" y="6477000"/>
            <a:ext cx="3175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97000" y="66040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68500" y="6604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Inferential Efficiency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 quick reasoning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99000" y="6477000"/>
            <a:ext cx="3175000" cy="1397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6000" y="6604000"/>
            <a:ext cx="5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97500" y="66040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Acquisitional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 knowledge expansion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2032000"/>
            <a:ext cx="6350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63000" y="22860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 Major KR Models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763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30374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30374" y="406400"/>
                  <a:pt x="67733" y="406400"/>
                </a:cubicBezTo>
                <a:lnTo>
                  <a:pt x="338667" y="406400"/>
                </a:lnTo>
                <a:cubicBezTo>
                  <a:pt x="376026" y="406400"/>
                  <a:pt x="406400" y="383619"/>
                  <a:pt x="406400" y="355600"/>
                </a:cubicBezTo>
                <a:lnTo>
                  <a:pt x="406400" y="50800"/>
                </a:lnTo>
                <a:cubicBezTo>
                  <a:pt x="406400" y="22781"/>
                  <a:pt x="376026" y="0"/>
                  <a:pt x="338667" y="0"/>
                </a:cubicBezTo>
                <a:lnTo>
                  <a:pt x="67733" y="0"/>
                </a:lnTo>
                <a:close/>
                <a:moveTo>
                  <a:pt x="101600" y="50800"/>
                </a:moveTo>
                <a:lnTo>
                  <a:pt x="304800" y="50800"/>
                </a:lnTo>
                <a:cubicBezTo>
                  <a:pt x="323533" y="50800"/>
                  <a:pt x="338667" y="62151"/>
                  <a:pt x="338667" y="76200"/>
                </a:cubicBezTo>
                <a:lnTo>
                  <a:pt x="338667" y="101600"/>
                </a:lnTo>
                <a:cubicBezTo>
                  <a:pt x="338667" y="115649"/>
                  <a:pt x="323533" y="127000"/>
                  <a:pt x="304800" y="127000"/>
                </a:cubicBezTo>
                <a:lnTo>
                  <a:pt x="101600" y="127000"/>
                </a:lnTo>
                <a:cubicBezTo>
                  <a:pt x="82867" y="127000"/>
                  <a:pt x="67733" y="115649"/>
                  <a:pt x="67733" y="101600"/>
                </a:cubicBezTo>
                <a:lnTo>
                  <a:pt x="67733" y="76200"/>
                </a:lnTo>
                <a:cubicBezTo>
                  <a:pt x="67733" y="62151"/>
                  <a:pt x="82867" y="50800"/>
                  <a:pt x="101600" y="50800"/>
                </a:cubicBezTo>
                <a:close/>
                <a:moveTo>
                  <a:pt x="118533" y="184150"/>
                </a:moveTo>
                <a:cubicBezTo>
                  <a:pt x="118533" y="194664"/>
                  <a:pt x="107152" y="203200"/>
                  <a:pt x="93133" y="203200"/>
                </a:cubicBezTo>
                <a:cubicBezTo>
                  <a:pt x="79115" y="203200"/>
                  <a:pt x="67733" y="194664"/>
                  <a:pt x="67733" y="184150"/>
                </a:cubicBezTo>
                <a:cubicBezTo>
                  <a:pt x="67733" y="173636"/>
                  <a:pt x="79115" y="165100"/>
                  <a:pt x="93133" y="165100"/>
                </a:cubicBezTo>
                <a:cubicBezTo>
                  <a:pt x="107152" y="165100"/>
                  <a:pt x="118533" y="173636"/>
                  <a:pt x="118533" y="184150"/>
                </a:cubicBezTo>
                <a:close/>
                <a:moveTo>
                  <a:pt x="203200" y="203200"/>
                </a:moveTo>
                <a:cubicBezTo>
                  <a:pt x="189181" y="203200"/>
                  <a:pt x="177800" y="194664"/>
                  <a:pt x="177800" y="184150"/>
                </a:cubicBezTo>
                <a:cubicBezTo>
                  <a:pt x="177800" y="173636"/>
                  <a:pt x="189181" y="165100"/>
                  <a:pt x="203200" y="165100"/>
                </a:cubicBezTo>
                <a:cubicBezTo>
                  <a:pt x="217219" y="165100"/>
                  <a:pt x="228600" y="173636"/>
                  <a:pt x="228600" y="184150"/>
                </a:cubicBezTo>
                <a:cubicBezTo>
                  <a:pt x="228600" y="194664"/>
                  <a:pt x="217219" y="203200"/>
                  <a:pt x="203200" y="203200"/>
                </a:cubicBezTo>
                <a:close/>
                <a:moveTo>
                  <a:pt x="338667" y="184150"/>
                </a:moveTo>
                <a:cubicBezTo>
                  <a:pt x="338667" y="194664"/>
                  <a:pt x="327285" y="203200"/>
                  <a:pt x="313267" y="203200"/>
                </a:cubicBezTo>
                <a:cubicBezTo>
                  <a:pt x="299248" y="203200"/>
                  <a:pt x="287867" y="194664"/>
                  <a:pt x="287867" y="184150"/>
                </a:cubicBezTo>
                <a:cubicBezTo>
                  <a:pt x="287867" y="173636"/>
                  <a:pt x="299248" y="165100"/>
                  <a:pt x="313267" y="165100"/>
                </a:cubicBezTo>
                <a:cubicBezTo>
                  <a:pt x="327285" y="165100"/>
                  <a:pt x="338667" y="173636"/>
                  <a:pt x="338667" y="184150"/>
                </a:cubicBezTo>
                <a:close/>
                <a:moveTo>
                  <a:pt x="93133" y="279400"/>
                </a:moveTo>
                <a:cubicBezTo>
                  <a:pt x="79115" y="279400"/>
                  <a:pt x="67733" y="270864"/>
                  <a:pt x="67733" y="260350"/>
                </a:cubicBezTo>
                <a:cubicBezTo>
                  <a:pt x="67733" y="249836"/>
                  <a:pt x="79115" y="241300"/>
                  <a:pt x="93133" y="241300"/>
                </a:cubicBezTo>
                <a:cubicBezTo>
                  <a:pt x="107152" y="241300"/>
                  <a:pt x="118533" y="249836"/>
                  <a:pt x="118533" y="260350"/>
                </a:cubicBezTo>
                <a:cubicBezTo>
                  <a:pt x="118533" y="270864"/>
                  <a:pt x="107152" y="279400"/>
                  <a:pt x="93133" y="279400"/>
                </a:cubicBezTo>
                <a:close/>
                <a:moveTo>
                  <a:pt x="228600" y="260350"/>
                </a:moveTo>
                <a:cubicBezTo>
                  <a:pt x="228600" y="270864"/>
                  <a:pt x="217219" y="279400"/>
                  <a:pt x="203200" y="279400"/>
                </a:cubicBezTo>
                <a:cubicBezTo>
                  <a:pt x="189181" y="279400"/>
                  <a:pt x="177800" y="270864"/>
                  <a:pt x="177800" y="260350"/>
                </a:cubicBezTo>
                <a:cubicBezTo>
                  <a:pt x="177800" y="249836"/>
                  <a:pt x="189181" y="241300"/>
                  <a:pt x="203200" y="241300"/>
                </a:cubicBezTo>
                <a:cubicBezTo>
                  <a:pt x="217219" y="241300"/>
                  <a:pt x="228600" y="249836"/>
                  <a:pt x="228600" y="260350"/>
                </a:cubicBezTo>
                <a:close/>
                <a:moveTo>
                  <a:pt x="313267" y="279400"/>
                </a:moveTo>
                <a:cubicBezTo>
                  <a:pt x="299248" y="279400"/>
                  <a:pt x="287867" y="270864"/>
                  <a:pt x="287867" y="260350"/>
                </a:cubicBezTo>
                <a:cubicBezTo>
                  <a:pt x="287867" y="249836"/>
                  <a:pt x="299248" y="241300"/>
                  <a:pt x="313267" y="241300"/>
                </a:cubicBezTo>
                <a:cubicBezTo>
                  <a:pt x="327285" y="241300"/>
                  <a:pt x="338667" y="249836"/>
                  <a:pt x="338667" y="260350"/>
                </a:cubicBezTo>
                <a:cubicBezTo>
                  <a:pt x="338667" y="270864"/>
                  <a:pt x="327285" y="279400"/>
                  <a:pt x="313267" y="279400"/>
                </a:cubicBezTo>
                <a:close/>
                <a:moveTo>
                  <a:pt x="67733" y="336550"/>
                </a:moveTo>
                <a:cubicBezTo>
                  <a:pt x="67733" y="325993"/>
                  <a:pt x="79058" y="317500"/>
                  <a:pt x="93133" y="317500"/>
                </a:cubicBezTo>
                <a:lnTo>
                  <a:pt x="211667" y="317500"/>
                </a:lnTo>
                <a:cubicBezTo>
                  <a:pt x="225743" y="317500"/>
                  <a:pt x="237067" y="325993"/>
                  <a:pt x="237067" y="336550"/>
                </a:cubicBezTo>
                <a:cubicBezTo>
                  <a:pt x="237067" y="347107"/>
                  <a:pt x="225743" y="355600"/>
                  <a:pt x="211667" y="355600"/>
                </a:cubicBezTo>
                <a:lnTo>
                  <a:pt x="93133" y="355600"/>
                </a:lnTo>
                <a:cubicBezTo>
                  <a:pt x="79058" y="355600"/>
                  <a:pt x="67733" y="347107"/>
                  <a:pt x="67733" y="336550"/>
                </a:cubicBezTo>
                <a:close/>
                <a:moveTo>
                  <a:pt x="313267" y="317500"/>
                </a:moveTo>
                <a:cubicBezTo>
                  <a:pt x="327343" y="317500"/>
                  <a:pt x="338667" y="325993"/>
                  <a:pt x="338667" y="336550"/>
                </a:cubicBezTo>
                <a:cubicBezTo>
                  <a:pt x="338667" y="347107"/>
                  <a:pt x="327343" y="355600"/>
                  <a:pt x="313267" y="355600"/>
                </a:cubicBezTo>
                <a:cubicBezTo>
                  <a:pt x="299191" y="355600"/>
                  <a:pt x="287867" y="347107"/>
                  <a:pt x="287867" y="336550"/>
                </a:cubicBezTo>
                <a:cubicBezTo>
                  <a:pt x="287867" y="325993"/>
                  <a:pt x="299191" y="317500"/>
                  <a:pt x="313267" y="3175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9334500" y="2984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Logic-Based Models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First-order logic, theorem proving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763000" y="406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9334500" y="4000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Networks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Graph-based concept relationships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763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2229" y="127000"/>
                </a:moveTo>
                <a:lnTo>
                  <a:pt x="232229" y="203200"/>
                </a:lnTo>
                <a:lnTo>
                  <a:pt x="348343" y="203200"/>
                </a:lnTo>
                <a:lnTo>
                  <a:pt x="348343" y="127000"/>
                </a:lnTo>
                <a:lnTo>
                  <a:pt x="232229" y="127000"/>
                </a:lnTo>
                <a:close/>
                <a:moveTo>
                  <a:pt x="174171" y="127000"/>
                </a:moveTo>
                <a:lnTo>
                  <a:pt x="58057" y="127000"/>
                </a:lnTo>
                <a:lnTo>
                  <a:pt x="58057" y="203200"/>
                </a:lnTo>
                <a:lnTo>
                  <a:pt x="174171" y="203200"/>
                </a:lnTo>
                <a:lnTo>
                  <a:pt x="174171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6035" y="25400"/>
                  <a:pt x="58057" y="25400"/>
                </a:cubicBezTo>
                <a:lnTo>
                  <a:pt x="348343" y="25400"/>
                </a:lnTo>
                <a:cubicBezTo>
                  <a:pt x="380365" y="25400"/>
                  <a:pt x="406400" y="48181"/>
                  <a:pt x="406400" y="762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48343" y="254000"/>
                </a:moveTo>
                <a:lnTo>
                  <a:pt x="232229" y="254000"/>
                </a:lnTo>
                <a:lnTo>
                  <a:pt x="232229" y="330200"/>
                </a:lnTo>
                <a:lnTo>
                  <a:pt x="348343" y="330200"/>
                </a:lnTo>
                <a:lnTo>
                  <a:pt x="348343" y="254000"/>
                </a:lnTo>
                <a:close/>
                <a:moveTo>
                  <a:pt x="174171" y="330200"/>
                </a:moveTo>
                <a:lnTo>
                  <a:pt x="174171" y="254000"/>
                </a:lnTo>
                <a:lnTo>
                  <a:pt x="58057" y="254000"/>
                </a:lnTo>
                <a:lnTo>
                  <a:pt x="58057" y="330200"/>
                </a:lnTo>
                <a:lnTo>
                  <a:pt x="174171" y="33020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4" name="Text 22"/>
          <p:cNvSpPr/>
          <p:nvPr/>
        </p:nvSpPr>
        <p:spPr>
          <a:xfrm>
            <a:off x="9334500" y="5016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Frame-Based Models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Structured templates with slots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763000" y="609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6204" y="28813"/>
                </a:moveTo>
                <a:cubicBezTo>
                  <a:pt x="114856" y="34846"/>
                  <a:pt x="116919" y="46752"/>
                  <a:pt x="110887" y="55324"/>
                </a:cubicBezTo>
                <a:lnTo>
                  <a:pt x="66437" y="118824"/>
                </a:lnTo>
                <a:cubicBezTo>
                  <a:pt x="63183" y="123428"/>
                  <a:pt x="58103" y="126365"/>
                  <a:pt x="52467" y="126841"/>
                </a:cubicBezTo>
                <a:cubicBezTo>
                  <a:pt x="46831" y="127317"/>
                  <a:pt x="41275" y="125413"/>
                  <a:pt x="37306" y="121444"/>
                </a:cubicBezTo>
                <a:lnTo>
                  <a:pt x="5556" y="89694"/>
                </a:lnTo>
                <a:cubicBezTo>
                  <a:pt x="-1826" y="82233"/>
                  <a:pt x="-1826" y="70168"/>
                  <a:pt x="5556" y="62706"/>
                </a:cubicBezTo>
                <a:cubicBezTo>
                  <a:pt x="12938" y="55245"/>
                  <a:pt x="25083" y="55324"/>
                  <a:pt x="32544" y="62706"/>
                </a:cubicBezTo>
                <a:lnTo>
                  <a:pt x="48260" y="78423"/>
                </a:lnTo>
                <a:lnTo>
                  <a:pt x="79693" y="33496"/>
                </a:lnTo>
                <a:cubicBezTo>
                  <a:pt x="85725" y="24844"/>
                  <a:pt x="97631" y="22781"/>
                  <a:pt x="106204" y="28813"/>
                </a:cubicBezTo>
                <a:close/>
                <a:moveTo>
                  <a:pt x="106204" y="155813"/>
                </a:moveTo>
                <a:cubicBezTo>
                  <a:pt x="114856" y="161846"/>
                  <a:pt x="116919" y="173752"/>
                  <a:pt x="110887" y="182324"/>
                </a:cubicBezTo>
                <a:lnTo>
                  <a:pt x="66437" y="245824"/>
                </a:lnTo>
                <a:cubicBezTo>
                  <a:pt x="63183" y="250428"/>
                  <a:pt x="58103" y="253365"/>
                  <a:pt x="52467" y="253841"/>
                </a:cubicBezTo>
                <a:cubicBezTo>
                  <a:pt x="46831" y="254318"/>
                  <a:pt x="41275" y="252413"/>
                  <a:pt x="37306" y="248444"/>
                </a:cubicBezTo>
                <a:lnTo>
                  <a:pt x="5556" y="216694"/>
                </a:lnTo>
                <a:cubicBezTo>
                  <a:pt x="-1905" y="209233"/>
                  <a:pt x="-1905" y="197168"/>
                  <a:pt x="5556" y="189786"/>
                </a:cubicBezTo>
                <a:cubicBezTo>
                  <a:pt x="13017" y="182404"/>
                  <a:pt x="25083" y="182324"/>
                  <a:pt x="32464" y="189786"/>
                </a:cubicBezTo>
                <a:lnTo>
                  <a:pt x="48181" y="205502"/>
                </a:lnTo>
                <a:lnTo>
                  <a:pt x="79613" y="160576"/>
                </a:lnTo>
                <a:cubicBezTo>
                  <a:pt x="85646" y="151924"/>
                  <a:pt x="97552" y="149860"/>
                  <a:pt x="106124" y="155892"/>
                </a:cubicBezTo>
                <a:close/>
                <a:moveTo>
                  <a:pt x="177800" y="76200"/>
                </a:moveTo>
                <a:cubicBezTo>
                  <a:pt x="177800" y="62151"/>
                  <a:pt x="189151" y="50800"/>
                  <a:pt x="203200" y="50800"/>
                </a:cubicBezTo>
                <a:lnTo>
                  <a:pt x="381000" y="50800"/>
                </a:lnTo>
                <a:cubicBezTo>
                  <a:pt x="395049" y="50800"/>
                  <a:pt x="406400" y="62151"/>
                  <a:pt x="406400" y="76200"/>
                </a:cubicBezTo>
                <a:cubicBezTo>
                  <a:pt x="406400" y="90249"/>
                  <a:pt x="395049" y="101600"/>
                  <a:pt x="381000" y="101600"/>
                </a:cubicBezTo>
                <a:lnTo>
                  <a:pt x="203200" y="101600"/>
                </a:lnTo>
                <a:cubicBezTo>
                  <a:pt x="189151" y="101600"/>
                  <a:pt x="177800" y="90249"/>
                  <a:pt x="177800" y="76200"/>
                </a:cubicBezTo>
                <a:close/>
                <a:moveTo>
                  <a:pt x="177800" y="203200"/>
                </a:moveTo>
                <a:cubicBezTo>
                  <a:pt x="177800" y="189151"/>
                  <a:pt x="189151" y="177800"/>
                  <a:pt x="203200" y="177800"/>
                </a:cubicBezTo>
                <a:lnTo>
                  <a:pt x="381000" y="177800"/>
                </a:lnTo>
                <a:cubicBezTo>
                  <a:pt x="395049" y="177800"/>
                  <a:pt x="406400" y="189151"/>
                  <a:pt x="406400" y="203200"/>
                </a:cubicBezTo>
                <a:cubicBezTo>
                  <a:pt x="406400" y="217249"/>
                  <a:pt x="395049" y="228600"/>
                  <a:pt x="381000" y="228600"/>
                </a:cubicBezTo>
                <a:lnTo>
                  <a:pt x="203200" y="228600"/>
                </a:lnTo>
                <a:cubicBezTo>
                  <a:pt x="189151" y="228600"/>
                  <a:pt x="177800" y="217249"/>
                  <a:pt x="177800" y="203200"/>
                </a:cubicBezTo>
                <a:close/>
                <a:moveTo>
                  <a:pt x="127000" y="330200"/>
                </a:moveTo>
                <a:cubicBezTo>
                  <a:pt x="127000" y="316151"/>
                  <a:pt x="138351" y="304800"/>
                  <a:pt x="152400" y="304800"/>
                </a:cubicBez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52400" y="355600"/>
                </a:lnTo>
                <a:cubicBezTo>
                  <a:pt x="138351" y="355600"/>
                  <a:pt x="127000" y="344249"/>
                  <a:pt x="127000" y="330200"/>
                </a:cubicBezTo>
                <a:close/>
                <a:moveTo>
                  <a:pt x="50800" y="298450"/>
                </a:moveTo>
                <a:cubicBezTo>
                  <a:pt x="68323" y="298450"/>
                  <a:pt x="82550" y="312677"/>
                  <a:pt x="82550" y="330200"/>
                </a:cubicBezTo>
                <a:cubicBezTo>
                  <a:pt x="82550" y="347723"/>
                  <a:pt x="68323" y="361950"/>
                  <a:pt x="50800" y="361950"/>
                </a:cubicBezTo>
                <a:cubicBezTo>
                  <a:pt x="33277" y="361950"/>
                  <a:pt x="19050" y="347723"/>
                  <a:pt x="19050" y="330200"/>
                </a:cubicBezTo>
                <a:cubicBezTo>
                  <a:pt x="19050" y="312677"/>
                  <a:pt x="33277" y="298450"/>
                  <a:pt x="50800" y="2984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9334500" y="6032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 Rules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If-then rules for reasoning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Networks and Frames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Networks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70000" y="24765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Graph-based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(concepts)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(relationships).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Key: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isA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(taxonomy),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hasPart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(parts),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(capability)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78000" y="4445000"/>
            <a:ext cx="1270000" cy="508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4445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Animal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48000" y="4762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3111500" y="4508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10000" y="4445000"/>
            <a:ext cx="1270000" cy="508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0" y="4445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0" y="4762500"/>
            <a:ext cx="762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5143500" y="4508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42000" y="4445000"/>
            <a:ext cx="1270000" cy="508000"/>
          </a:xfrm>
          <a:prstGeom prst="roundRect">
            <a:avLst>
              <a:gd name="adj" fmla="val 15000"/>
            </a:avLst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5842000" y="4445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Penguin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45000" y="5080000"/>
            <a:ext cx="0" cy="50800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dash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4508500" y="5207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10000" y="5588000"/>
            <a:ext cx="1270000" cy="508000"/>
          </a:xfrm>
          <a:prstGeom prst="roundRect">
            <a:avLst>
              <a:gd name="adj" fmla="val 15000"/>
            </a:avLst>
          </a:prstGeom>
          <a:solidFill>
            <a:srgbClr val="D0D6DC"/>
          </a:solidFill>
          <a:ln/>
        </p:spPr>
      </p:sp>
      <p:sp>
        <p:nvSpPr>
          <p:cNvPr id="19" name="Text 17"/>
          <p:cNvSpPr/>
          <p:nvPr/>
        </p:nvSpPr>
        <p:spPr>
          <a:xfrm>
            <a:off x="3810000" y="5588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2000" y="1905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382000" y="2540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Introduced by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Marvin Minsky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(1975). Structured templates with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fillers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facets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810000"/>
          <a:ext cx="6350000" cy="2540000"/>
        </p:xfrm>
        <a:graphic>
          <a:graphicData uri="http://schemas.openxmlformats.org/drawingml/2006/table">
            <a:tbl>
              <a:tblPr/>
              <a:tblGrid>
                <a:gridCol w="2222500"/>
                <a:gridCol w="2222500"/>
                <a:gridCol w="19050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Slot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Make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Toyota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Camry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Engine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V6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Wheels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Integer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8382000" y="64135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Frame "Car" with hierarchical inheritance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70000" y="7112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Expert systems, NLP, knowledge graphs, chatbots, and recommendation systems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Ontologies and Logic-Based Representation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48000" y="2349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98158" y="188000"/>
                </a:moveTo>
                <a:cubicBezTo>
                  <a:pt x="540187" y="178117"/>
                  <a:pt x="571500" y="140375"/>
                  <a:pt x="571500" y="95250"/>
                </a:cubicBezTo>
                <a:cubicBezTo>
                  <a:pt x="571500" y="42624"/>
                  <a:pt x="528876" y="0"/>
                  <a:pt x="476250" y="0"/>
                </a:cubicBezTo>
                <a:cubicBezTo>
                  <a:pt x="424577" y="0"/>
                  <a:pt x="382548" y="41077"/>
                  <a:pt x="381000" y="92273"/>
                </a:cubicBezTo>
                <a:lnTo>
                  <a:pt x="162163" y="179903"/>
                </a:lnTo>
                <a:cubicBezTo>
                  <a:pt x="144899" y="162878"/>
                  <a:pt x="121325" y="152400"/>
                  <a:pt x="95250" y="152400"/>
                </a:cubicBezTo>
                <a:cubicBezTo>
                  <a:pt x="42624" y="152400"/>
                  <a:pt x="0" y="195024"/>
                  <a:pt x="0" y="247650"/>
                </a:cubicBezTo>
                <a:cubicBezTo>
                  <a:pt x="0" y="300276"/>
                  <a:pt x="42624" y="342900"/>
                  <a:pt x="95250" y="342900"/>
                </a:cubicBezTo>
                <a:cubicBezTo>
                  <a:pt x="109776" y="342900"/>
                  <a:pt x="123587" y="339685"/>
                  <a:pt x="135850" y="333851"/>
                </a:cubicBezTo>
                <a:lnTo>
                  <a:pt x="309205" y="485537"/>
                </a:lnTo>
                <a:cubicBezTo>
                  <a:pt x="306348" y="494586"/>
                  <a:pt x="304800" y="504349"/>
                  <a:pt x="304800" y="514350"/>
                </a:cubicBezTo>
                <a:cubicBezTo>
                  <a:pt x="304800" y="566976"/>
                  <a:pt x="347424" y="609600"/>
                  <a:pt x="400050" y="609600"/>
                </a:cubicBezTo>
                <a:cubicBezTo>
                  <a:pt x="452676" y="609600"/>
                  <a:pt x="495300" y="566976"/>
                  <a:pt x="495300" y="514350"/>
                </a:cubicBezTo>
                <a:cubicBezTo>
                  <a:pt x="495300" y="481370"/>
                  <a:pt x="478631" y="452318"/>
                  <a:pt x="453152" y="435293"/>
                </a:cubicBezTo>
                <a:lnTo>
                  <a:pt x="498158" y="188000"/>
                </a:lnTo>
                <a:close/>
                <a:moveTo>
                  <a:pt x="186095" y="276463"/>
                </a:moveTo>
                <a:cubicBezTo>
                  <a:pt x="188714" y="268248"/>
                  <a:pt x="190262" y="259556"/>
                  <a:pt x="190500" y="250627"/>
                </a:cubicBezTo>
                <a:lnTo>
                  <a:pt x="409337" y="163116"/>
                </a:lnTo>
                <a:cubicBezTo>
                  <a:pt x="413623" y="167283"/>
                  <a:pt x="418148" y="171093"/>
                  <a:pt x="423148" y="174427"/>
                </a:cubicBezTo>
                <a:lnTo>
                  <a:pt x="378143" y="421600"/>
                </a:lnTo>
                <a:cubicBezTo>
                  <a:pt x="371594" y="423148"/>
                  <a:pt x="365284" y="425291"/>
                  <a:pt x="359331" y="428149"/>
                </a:cubicBezTo>
                <a:lnTo>
                  <a:pt x="186095" y="27646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175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Ontologies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3746500"/>
            <a:ext cx="3556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Formal conceptualizations: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Classes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concepts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Properties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attributes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Relations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associations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Axioms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rules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OWL, RDF, Protege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47000" y="2349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99085" y="92988"/>
                </a:moveTo>
                <a:cubicBezTo>
                  <a:pt x="307552" y="60484"/>
                  <a:pt x="334010" y="38100"/>
                  <a:pt x="364067" y="38100"/>
                </a:cubicBezTo>
                <a:lnTo>
                  <a:pt x="575733" y="38100"/>
                </a:lnTo>
                <a:cubicBezTo>
                  <a:pt x="594466" y="38100"/>
                  <a:pt x="609600" y="55126"/>
                  <a:pt x="609600" y="76200"/>
                </a:cubicBezTo>
                <a:cubicBezTo>
                  <a:pt x="609600" y="97274"/>
                  <a:pt x="594466" y="114300"/>
                  <a:pt x="575733" y="114300"/>
                </a:cubicBezTo>
                <a:lnTo>
                  <a:pt x="364067" y="114300"/>
                </a:lnTo>
                <a:lnTo>
                  <a:pt x="252624" y="544116"/>
                </a:lnTo>
                <a:cubicBezTo>
                  <a:pt x="248814" y="558760"/>
                  <a:pt x="237702" y="569357"/>
                  <a:pt x="224261" y="571262"/>
                </a:cubicBezTo>
                <a:cubicBezTo>
                  <a:pt x="210820" y="573167"/>
                  <a:pt x="197697" y="565785"/>
                  <a:pt x="190923" y="552688"/>
                </a:cubicBezTo>
                <a:lnTo>
                  <a:pt x="82127" y="342900"/>
                </a:lnTo>
                <a:lnTo>
                  <a:pt x="33867" y="342900"/>
                </a:lnTo>
                <a:cubicBezTo>
                  <a:pt x="15134" y="342900"/>
                  <a:pt x="0" y="325874"/>
                  <a:pt x="0" y="304800"/>
                </a:cubicBezTo>
                <a:cubicBezTo>
                  <a:pt x="0" y="283726"/>
                  <a:pt x="15134" y="266700"/>
                  <a:pt x="33867" y="266700"/>
                </a:cubicBezTo>
                <a:lnTo>
                  <a:pt x="82127" y="266700"/>
                </a:lnTo>
                <a:cubicBezTo>
                  <a:pt x="106257" y="266700"/>
                  <a:pt x="128482" y="281107"/>
                  <a:pt x="140652" y="304562"/>
                </a:cubicBezTo>
                <a:lnTo>
                  <a:pt x="209656" y="437674"/>
                </a:lnTo>
                <a:lnTo>
                  <a:pt x="298979" y="92988"/>
                </a:lnTo>
                <a:close/>
                <a:moveTo>
                  <a:pt x="416348" y="277892"/>
                </a:moveTo>
                <a:cubicBezTo>
                  <a:pt x="429577" y="263009"/>
                  <a:pt x="451062" y="263009"/>
                  <a:pt x="464291" y="277892"/>
                </a:cubicBezTo>
                <a:lnTo>
                  <a:pt x="508106" y="327184"/>
                </a:lnTo>
                <a:lnTo>
                  <a:pt x="551921" y="277892"/>
                </a:lnTo>
                <a:cubicBezTo>
                  <a:pt x="565150" y="263009"/>
                  <a:pt x="586634" y="263009"/>
                  <a:pt x="599863" y="277892"/>
                </a:cubicBezTo>
                <a:cubicBezTo>
                  <a:pt x="613092" y="292775"/>
                  <a:pt x="613092" y="316944"/>
                  <a:pt x="599863" y="331827"/>
                </a:cubicBezTo>
                <a:lnTo>
                  <a:pt x="556048" y="381119"/>
                </a:lnTo>
                <a:lnTo>
                  <a:pt x="599863" y="430411"/>
                </a:lnTo>
                <a:cubicBezTo>
                  <a:pt x="613092" y="445294"/>
                  <a:pt x="613092" y="469463"/>
                  <a:pt x="599863" y="484346"/>
                </a:cubicBezTo>
                <a:cubicBezTo>
                  <a:pt x="586634" y="499229"/>
                  <a:pt x="565150" y="499229"/>
                  <a:pt x="551921" y="484346"/>
                </a:cubicBezTo>
                <a:lnTo>
                  <a:pt x="508106" y="435054"/>
                </a:lnTo>
                <a:lnTo>
                  <a:pt x="464291" y="484346"/>
                </a:lnTo>
                <a:cubicBezTo>
                  <a:pt x="451062" y="499229"/>
                  <a:pt x="429578" y="499229"/>
                  <a:pt x="416348" y="484346"/>
                </a:cubicBezTo>
                <a:cubicBezTo>
                  <a:pt x="403119" y="469463"/>
                  <a:pt x="403119" y="445294"/>
                  <a:pt x="416348" y="430411"/>
                </a:cubicBezTo>
                <a:lnTo>
                  <a:pt x="460163" y="381119"/>
                </a:lnTo>
                <a:lnTo>
                  <a:pt x="416348" y="331827"/>
                </a:lnTo>
                <a:cubicBezTo>
                  <a:pt x="403119" y="316944"/>
                  <a:pt x="403119" y="292775"/>
                  <a:pt x="416348" y="277892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175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Logic-Based Models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0000" y="3746500"/>
            <a:ext cx="3556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First-Order Predicate Logic: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Formal languages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Deductive reasoning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Theorem proving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Model generators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Strength: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Strong inference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446000" y="2349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96145" y="250627"/>
                </a:moveTo>
                <a:cubicBezTo>
                  <a:pt x="407765" y="246698"/>
                  <a:pt x="419957" y="253603"/>
                  <a:pt x="425196" y="267057"/>
                </a:cubicBezTo>
                <a:lnTo>
                  <a:pt x="442912" y="311825"/>
                </a:lnTo>
                <a:cubicBezTo>
                  <a:pt x="452723" y="313492"/>
                  <a:pt x="462344" y="316825"/>
                  <a:pt x="471392" y="321469"/>
                </a:cubicBezTo>
                <a:lnTo>
                  <a:pt x="504730" y="293727"/>
                </a:lnTo>
                <a:cubicBezTo>
                  <a:pt x="514731" y="285393"/>
                  <a:pt x="527971" y="287060"/>
                  <a:pt x="536448" y="297656"/>
                </a:cubicBezTo>
                <a:lnTo>
                  <a:pt x="554736" y="320516"/>
                </a:lnTo>
                <a:cubicBezTo>
                  <a:pt x="563213" y="331113"/>
                  <a:pt x="564547" y="347782"/>
                  <a:pt x="557879" y="360164"/>
                </a:cubicBezTo>
                <a:lnTo>
                  <a:pt x="535686" y="401717"/>
                </a:lnTo>
                <a:cubicBezTo>
                  <a:pt x="537496" y="407313"/>
                  <a:pt x="539115" y="413147"/>
                  <a:pt x="540449" y="419219"/>
                </a:cubicBezTo>
                <a:cubicBezTo>
                  <a:pt x="541782" y="425291"/>
                  <a:pt x="542639" y="431244"/>
                  <a:pt x="543306" y="437317"/>
                </a:cubicBezTo>
                <a:lnTo>
                  <a:pt x="579215" y="459462"/>
                </a:lnTo>
                <a:cubicBezTo>
                  <a:pt x="589979" y="466130"/>
                  <a:pt x="595503" y="481370"/>
                  <a:pt x="592360" y="495776"/>
                </a:cubicBezTo>
                <a:lnTo>
                  <a:pt x="585692" y="526971"/>
                </a:lnTo>
                <a:cubicBezTo>
                  <a:pt x="582549" y="541377"/>
                  <a:pt x="571786" y="551140"/>
                  <a:pt x="559784" y="550188"/>
                </a:cubicBezTo>
                <a:lnTo>
                  <a:pt x="519779" y="546973"/>
                </a:lnTo>
                <a:cubicBezTo>
                  <a:pt x="513778" y="556617"/>
                  <a:pt x="506825" y="565547"/>
                  <a:pt x="498919" y="573167"/>
                </a:cubicBezTo>
                <a:lnTo>
                  <a:pt x="501491" y="623054"/>
                </a:lnTo>
                <a:cubicBezTo>
                  <a:pt x="502253" y="638056"/>
                  <a:pt x="494443" y="651629"/>
                  <a:pt x="482917" y="655439"/>
                </a:cubicBezTo>
                <a:lnTo>
                  <a:pt x="457962" y="663773"/>
                </a:lnTo>
                <a:cubicBezTo>
                  <a:pt x="446342" y="667702"/>
                  <a:pt x="434245" y="660797"/>
                  <a:pt x="428911" y="647343"/>
                </a:cubicBezTo>
                <a:lnTo>
                  <a:pt x="411194" y="602575"/>
                </a:lnTo>
                <a:cubicBezTo>
                  <a:pt x="401384" y="600908"/>
                  <a:pt x="391763" y="597575"/>
                  <a:pt x="382715" y="592931"/>
                </a:cubicBezTo>
                <a:lnTo>
                  <a:pt x="349377" y="620673"/>
                </a:lnTo>
                <a:cubicBezTo>
                  <a:pt x="339376" y="629007"/>
                  <a:pt x="326136" y="627340"/>
                  <a:pt x="317659" y="616744"/>
                </a:cubicBezTo>
                <a:lnTo>
                  <a:pt x="299371" y="593884"/>
                </a:lnTo>
                <a:cubicBezTo>
                  <a:pt x="290894" y="583287"/>
                  <a:pt x="289560" y="566738"/>
                  <a:pt x="296228" y="554236"/>
                </a:cubicBezTo>
                <a:lnTo>
                  <a:pt x="318421" y="512564"/>
                </a:lnTo>
                <a:cubicBezTo>
                  <a:pt x="316611" y="506968"/>
                  <a:pt x="314992" y="501134"/>
                  <a:pt x="313658" y="495062"/>
                </a:cubicBezTo>
                <a:cubicBezTo>
                  <a:pt x="312325" y="488990"/>
                  <a:pt x="311468" y="482918"/>
                  <a:pt x="310801" y="476964"/>
                </a:cubicBezTo>
                <a:lnTo>
                  <a:pt x="274892" y="454819"/>
                </a:lnTo>
                <a:cubicBezTo>
                  <a:pt x="264128" y="448151"/>
                  <a:pt x="258699" y="432911"/>
                  <a:pt x="261747" y="418505"/>
                </a:cubicBezTo>
                <a:lnTo>
                  <a:pt x="268415" y="387310"/>
                </a:lnTo>
                <a:cubicBezTo>
                  <a:pt x="271558" y="372904"/>
                  <a:pt x="282321" y="363141"/>
                  <a:pt x="294323" y="364093"/>
                </a:cubicBezTo>
                <a:lnTo>
                  <a:pt x="334232" y="367308"/>
                </a:lnTo>
                <a:cubicBezTo>
                  <a:pt x="340233" y="357664"/>
                  <a:pt x="347186" y="348734"/>
                  <a:pt x="355092" y="341114"/>
                </a:cubicBezTo>
                <a:lnTo>
                  <a:pt x="352520" y="291346"/>
                </a:lnTo>
                <a:cubicBezTo>
                  <a:pt x="351758" y="276344"/>
                  <a:pt x="359569" y="262771"/>
                  <a:pt x="371094" y="258961"/>
                </a:cubicBezTo>
                <a:lnTo>
                  <a:pt x="396049" y="250627"/>
                </a:lnTo>
                <a:close/>
                <a:moveTo>
                  <a:pt x="427101" y="404813"/>
                </a:moveTo>
                <a:cubicBezTo>
                  <a:pt x="403970" y="404845"/>
                  <a:pt x="385212" y="428346"/>
                  <a:pt x="385239" y="457260"/>
                </a:cubicBezTo>
                <a:cubicBezTo>
                  <a:pt x="385265" y="486173"/>
                  <a:pt x="404065" y="509620"/>
                  <a:pt x="427196" y="509588"/>
                </a:cubicBezTo>
                <a:cubicBezTo>
                  <a:pt x="450327" y="509555"/>
                  <a:pt x="469085" y="486054"/>
                  <a:pt x="469059" y="457140"/>
                </a:cubicBezTo>
                <a:cubicBezTo>
                  <a:pt x="469032" y="428227"/>
                  <a:pt x="450232" y="404780"/>
                  <a:pt x="427101" y="404813"/>
                </a:cubicBezTo>
                <a:close/>
                <a:moveTo>
                  <a:pt x="214217" y="-54173"/>
                </a:moveTo>
                <a:lnTo>
                  <a:pt x="239173" y="-45839"/>
                </a:lnTo>
                <a:cubicBezTo>
                  <a:pt x="250698" y="-41910"/>
                  <a:pt x="258508" y="-28337"/>
                  <a:pt x="257747" y="-13454"/>
                </a:cubicBezTo>
                <a:lnTo>
                  <a:pt x="255175" y="36314"/>
                </a:lnTo>
                <a:cubicBezTo>
                  <a:pt x="263081" y="43934"/>
                  <a:pt x="270034" y="52745"/>
                  <a:pt x="276035" y="62508"/>
                </a:cubicBezTo>
                <a:lnTo>
                  <a:pt x="316040" y="59293"/>
                </a:lnTo>
                <a:cubicBezTo>
                  <a:pt x="327946" y="58341"/>
                  <a:pt x="338804" y="68104"/>
                  <a:pt x="341947" y="82510"/>
                </a:cubicBezTo>
                <a:lnTo>
                  <a:pt x="348615" y="113705"/>
                </a:lnTo>
                <a:cubicBezTo>
                  <a:pt x="351663" y="128111"/>
                  <a:pt x="346234" y="143351"/>
                  <a:pt x="335471" y="150019"/>
                </a:cubicBezTo>
                <a:lnTo>
                  <a:pt x="299561" y="172164"/>
                </a:lnTo>
                <a:cubicBezTo>
                  <a:pt x="298895" y="178237"/>
                  <a:pt x="297942" y="184309"/>
                  <a:pt x="296704" y="190262"/>
                </a:cubicBezTo>
                <a:cubicBezTo>
                  <a:pt x="295466" y="196215"/>
                  <a:pt x="293751" y="202168"/>
                  <a:pt x="291941" y="207764"/>
                </a:cubicBezTo>
                <a:lnTo>
                  <a:pt x="314135" y="249436"/>
                </a:lnTo>
                <a:cubicBezTo>
                  <a:pt x="320802" y="261937"/>
                  <a:pt x="319469" y="278487"/>
                  <a:pt x="310991" y="289084"/>
                </a:cubicBezTo>
                <a:lnTo>
                  <a:pt x="292703" y="311944"/>
                </a:lnTo>
                <a:cubicBezTo>
                  <a:pt x="284226" y="322540"/>
                  <a:pt x="270986" y="324207"/>
                  <a:pt x="260985" y="315873"/>
                </a:cubicBezTo>
                <a:lnTo>
                  <a:pt x="227648" y="288131"/>
                </a:lnTo>
                <a:cubicBezTo>
                  <a:pt x="218599" y="292775"/>
                  <a:pt x="208979" y="296108"/>
                  <a:pt x="199168" y="297775"/>
                </a:cubicBezTo>
                <a:lnTo>
                  <a:pt x="181451" y="342543"/>
                </a:lnTo>
                <a:cubicBezTo>
                  <a:pt x="176117" y="355997"/>
                  <a:pt x="163925" y="362783"/>
                  <a:pt x="152400" y="358973"/>
                </a:cubicBezTo>
                <a:lnTo>
                  <a:pt x="127445" y="350639"/>
                </a:lnTo>
                <a:cubicBezTo>
                  <a:pt x="115824" y="346710"/>
                  <a:pt x="108109" y="333137"/>
                  <a:pt x="108871" y="318254"/>
                </a:cubicBezTo>
                <a:lnTo>
                  <a:pt x="111443" y="268367"/>
                </a:lnTo>
                <a:cubicBezTo>
                  <a:pt x="103537" y="260747"/>
                  <a:pt x="96584" y="251936"/>
                  <a:pt x="90583" y="242173"/>
                </a:cubicBezTo>
                <a:lnTo>
                  <a:pt x="50578" y="245388"/>
                </a:lnTo>
                <a:cubicBezTo>
                  <a:pt x="38672" y="246340"/>
                  <a:pt x="27813" y="236577"/>
                  <a:pt x="24670" y="222171"/>
                </a:cubicBezTo>
                <a:lnTo>
                  <a:pt x="18002" y="190976"/>
                </a:lnTo>
                <a:cubicBezTo>
                  <a:pt x="14954" y="176570"/>
                  <a:pt x="20384" y="161330"/>
                  <a:pt x="31147" y="154662"/>
                </a:cubicBezTo>
                <a:lnTo>
                  <a:pt x="67056" y="132517"/>
                </a:lnTo>
                <a:cubicBezTo>
                  <a:pt x="67723" y="126444"/>
                  <a:pt x="68675" y="120491"/>
                  <a:pt x="69914" y="114419"/>
                </a:cubicBezTo>
                <a:cubicBezTo>
                  <a:pt x="71247" y="108347"/>
                  <a:pt x="72771" y="102513"/>
                  <a:pt x="74676" y="96917"/>
                </a:cubicBezTo>
                <a:lnTo>
                  <a:pt x="52483" y="55364"/>
                </a:lnTo>
                <a:cubicBezTo>
                  <a:pt x="45815" y="42863"/>
                  <a:pt x="47149" y="26313"/>
                  <a:pt x="55626" y="15716"/>
                </a:cubicBezTo>
                <a:lnTo>
                  <a:pt x="73914" y="-7144"/>
                </a:lnTo>
                <a:cubicBezTo>
                  <a:pt x="82391" y="-17740"/>
                  <a:pt x="95631" y="-19407"/>
                  <a:pt x="105632" y="-11073"/>
                </a:cubicBezTo>
                <a:lnTo>
                  <a:pt x="138970" y="16669"/>
                </a:lnTo>
                <a:cubicBezTo>
                  <a:pt x="148019" y="12025"/>
                  <a:pt x="157639" y="8692"/>
                  <a:pt x="167449" y="7025"/>
                </a:cubicBezTo>
                <a:lnTo>
                  <a:pt x="185166" y="-37743"/>
                </a:lnTo>
                <a:cubicBezTo>
                  <a:pt x="190500" y="-51197"/>
                  <a:pt x="202597" y="-57983"/>
                  <a:pt x="214217" y="-54173"/>
                </a:cubicBezTo>
                <a:close/>
                <a:moveTo>
                  <a:pt x="183261" y="100013"/>
                </a:moveTo>
                <a:cubicBezTo>
                  <a:pt x="160130" y="100013"/>
                  <a:pt x="141351" y="123487"/>
                  <a:pt x="141351" y="152400"/>
                </a:cubicBezTo>
                <a:cubicBezTo>
                  <a:pt x="141351" y="181313"/>
                  <a:pt x="160130" y="204787"/>
                  <a:pt x="183261" y="204787"/>
                </a:cubicBezTo>
                <a:cubicBezTo>
                  <a:pt x="206392" y="204787"/>
                  <a:pt x="225171" y="181313"/>
                  <a:pt x="225171" y="152400"/>
                </a:cubicBezTo>
                <a:cubicBezTo>
                  <a:pt x="225171" y="123487"/>
                  <a:pt x="206392" y="100013"/>
                  <a:pt x="183261" y="1000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175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 Rules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049000" y="3746500"/>
            <a:ext cx="35560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If-then rules for reasoning: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condition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Forward chaining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Backward chaining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Foundation of: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0000" y="7874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Ontologies offer strong inference; Frames provide readability; Semantic networks excel at visualization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 of AGI Research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4866" y="184348"/>
                </a:moveTo>
                <a:lnTo>
                  <a:pt x="194866" y="136128"/>
                </a:lnTo>
                <a:cubicBezTo>
                  <a:pt x="194866" y="132060"/>
                  <a:pt x="196354" y="128984"/>
                  <a:pt x="199926" y="127000"/>
                </a:cubicBezTo>
                <a:lnTo>
                  <a:pt x="296962" y="71140"/>
                </a:lnTo>
                <a:cubicBezTo>
                  <a:pt x="310158" y="63500"/>
                  <a:pt x="325934" y="59928"/>
                  <a:pt x="342205" y="59928"/>
                </a:cubicBezTo>
                <a:cubicBezTo>
                  <a:pt x="403126" y="59928"/>
                  <a:pt x="441821" y="107156"/>
                  <a:pt x="441821" y="157460"/>
                </a:cubicBezTo>
                <a:cubicBezTo>
                  <a:pt x="441821" y="161032"/>
                  <a:pt x="441821" y="165100"/>
                  <a:pt x="441325" y="169168"/>
                </a:cubicBezTo>
                <a:lnTo>
                  <a:pt x="340618" y="110232"/>
                </a:lnTo>
                <a:cubicBezTo>
                  <a:pt x="334566" y="106660"/>
                  <a:pt x="328414" y="106660"/>
                  <a:pt x="322362" y="110232"/>
                </a:cubicBezTo>
                <a:lnTo>
                  <a:pt x="194866" y="184348"/>
                </a:lnTo>
                <a:close/>
                <a:moveTo>
                  <a:pt x="421382" y="372269"/>
                </a:moveTo>
                <a:lnTo>
                  <a:pt x="421382" y="256977"/>
                </a:lnTo>
                <a:cubicBezTo>
                  <a:pt x="421382" y="249833"/>
                  <a:pt x="418306" y="244773"/>
                  <a:pt x="412254" y="241201"/>
                </a:cubicBezTo>
                <a:lnTo>
                  <a:pt x="284758" y="167084"/>
                </a:lnTo>
                <a:lnTo>
                  <a:pt x="326430" y="143173"/>
                </a:lnTo>
                <a:cubicBezTo>
                  <a:pt x="330002" y="141188"/>
                  <a:pt x="333077" y="141188"/>
                  <a:pt x="336550" y="143173"/>
                </a:cubicBezTo>
                <a:lnTo>
                  <a:pt x="433586" y="199132"/>
                </a:lnTo>
                <a:cubicBezTo>
                  <a:pt x="461566" y="215404"/>
                  <a:pt x="480318" y="249932"/>
                  <a:pt x="480318" y="283468"/>
                </a:cubicBezTo>
                <a:cubicBezTo>
                  <a:pt x="480318" y="322064"/>
                  <a:pt x="457498" y="357684"/>
                  <a:pt x="421382" y="372368"/>
                </a:cubicBezTo>
                <a:lnTo>
                  <a:pt x="421382" y="372368"/>
                </a:lnTo>
                <a:close/>
                <a:moveTo>
                  <a:pt x="164902" y="270669"/>
                </a:moveTo>
                <a:lnTo>
                  <a:pt x="123230" y="246261"/>
                </a:lnTo>
                <a:cubicBezTo>
                  <a:pt x="119658" y="244277"/>
                  <a:pt x="118170" y="241201"/>
                  <a:pt x="118170" y="237133"/>
                </a:cubicBezTo>
                <a:lnTo>
                  <a:pt x="118170" y="125413"/>
                </a:lnTo>
                <a:cubicBezTo>
                  <a:pt x="118170" y="71041"/>
                  <a:pt x="159841" y="29865"/>
                  <a:pt x="216198" y="29865"/>
                </a:cubicBezTo>
                <a:cubicBezTo>
                  <a:pt x="237530" y="29865"/>
                  <a:pt x="257373" y="37009"/>
                  <a:pt x="274141" y="49709"/>
                </a:cubicBezTo>
                <a:lnTo>
                  <a:pt x="174030" y="107652"/>
                </a:lnTo>
                <a:cubicBezTo>
                  <a:pt x="167977" y="111224"/>
                  <a:pt x="164902" y="116284"/>
                  <a:pt x="164902" y="123428"/>
                </a:cubicBezTo>
                <a:lnTo>
                  <a:pt x="164902" y="270768"/>
                </a:lnTo>
                <a:lnTo>
                  <a:pt x="164902" y="270768"/>
                </a:lnTo>
                <a:close/>
                <a:moveTo>
                  <a:pt x="254595" y="322461"/>
                </a:moveTo>
                <a:lnTo>
                  <a:pt x="194866" y="288925"/>
                </a:lnTo>
                <a:lnTo>
                  <a:pt x="194866" y="217785"/>
                </a:lnTo>
                <a:lnTo>
                  <a:pt x="254595" y="184249"/>
                </a:lnTo>
                <a:lnTo>
                  <a:pt x="314325" y="217785"/>
                </a:lnTo>
                <a:lnTo>
                  <a:pt x="314325" y="288925"/>
                </a:lnTo>
                <a:lnTo>
                  <a:pt x="254595" y="322461"/>
                </a:lnTo>
                <a:close/>
                <a:moveTo>
                  <a:pt x="292993" y="476945"/>
                </a:moveTo>
                <a:cubicBezTo>
                  <a:pt x="271661" y="476945"/>
                  <a:pt x="251817" y="469801"/>
                  <a:pt x="235049" y="457101"/>
                </a:cubicBezTo>
                <a:lnTo>
                  <a:pt x="335161" y="399157"/>
                </a:lnTo>
                <a:cubicBezTo>
                  <a:pt x="341213" y="395585"/>
                  <a:pt x="344289" y="390525"/>
                  <a:pt x="344289" y="383381"/>
                </a:cubicBezTo>
                <a:lnTo>
                  <a:pt x="344289" y="236041"/>
                </a:lnTo>
                <a:lnTo>
                  <a:pt x="386457" y="260449"/>
                </a:lnTo>
                <a:cubicBezTo>
                  <a:pt x="390029" y="262434"/>
                  <a:pt x="391517" y="265509"/>
                  <a:pt x="391517" y="269577"/>
                </a:cubicBezTo>
                <a:lnTo>
                  <a:pt x="391517" y="381298"/>
                </a:lnTo>
                <a:cubicBezTo>
                  <a:pt x="391517" y="435670"/>
                  <a:pt x="349349" y="476845"/>
                  <a:pt x="292993" y="476845"/>
                </a:cubicBezTo>
                <a:lnTo>
                  <a:pt x="292993" y="476845"/>
                </a:lnTo>
                <a:close/>
                <a:moveTo>
                  <a:pt x="172442" y="363637"/>
                </a:moveTo>
                <a:lnTo>
                  <a:pt x="75505" y="307777"/>
                </a:lnTo>
                <a:cubicBezTo>
                  <a:pt x="47526" y="291505"/>
                  <a:pt x="28773" y="256977"/>
                  <a:pt x="28773" y="223441"/>
                </a:cubicBezTo>
                <a:cubicBezTo>
                  <a:pt x="28773" y="184348"/>
                  <a:pt x="52189" y="149225"/>
                  <a:pt x="88205" y="134541"/>
                </a:cubicBezTo>
                <a:lnTo>
                  <a:pt x="88205" y="250329"/>
                </a:lnTo>
                <a:cubicBezTo>
                  <a:pt x="88205" y="257473"/>
                  <a:pt x="91281" y="262533"/>
                  <a:pt x="97334" y="266105"/>
                </a:cubicBezTo>
                <a:lnTo>
                  <a:pt x="224334" y="339725"/>
                </a:lnTo>
                <a:lnTo>
                  <a:pt x="182662" y="363637"/>
                </a:lnTo>
                <a:cubicBezTo>
                  <a:pt x="179090" y="365621"/>
                  <a:pt x="176014" y="365621"/>
                  <a:pt x="172541" y="363637"/>
                </a:cubicBezTo>
                <a:close/>
                <a:moveTo>
                  <a:pt x="166886" y="446980"/>
                </a:moveTo>
                <a:cubicBezTo>
                  <a:pt x="109438" y="446980"/>
                  <a:pt x="67270" y="403820"/>
                  <a:pt x="67270" y="350441"/>
                </a:cubicBezTo>
                <a:cubicBezTo>
                  <a:pt x="67270" y="346373"/>
                  <a:pt x="67766" y="342305"/>
                  <a:pt x="68263" y="338237"/>
                </a:cubicBezTo>
                <a:lnTo>
                  <a:pt x="168374" y="396180"/>
                </a:lnTo>
                <a:cubicBezTo>
                  <a:pt x="174427" y="399752"/>
                  <a:pt x="180578" y="399752"/>
                  <a:pt x="186630" y="396180"/>
                </a:cubicBezTo>
                <a:lnTo>
                  <a:pt x="314127" y="322560"/>
                </a:lnTo>
                <a:lnTo>
                  <a:pt x="314127" y="370780"/>
                </a:lnTo>
                <a:cubicBezTo>
                  <a:pt x="314127" y="374848"/>
                  <a:pt x="312638" y="377924"/>
                  <a:pt x="309066" y="379909"/>
                </a:cubicBezTo>
                <a:lnTo>
                  <a:pt x="212030" y="435769"/>
                </a:lnTo>
                <a:cubicBezTo>
                  <a:pt x="198834" y="443409"/>
                  <a:pt x="183059" y="446980"/>
                  <a:pt x="166787" y="446980"/>
                </a:cubicBezTo>
                <a:lnTo>
                  <a:pt x="166787" y="446980"/>
                </a:lnTo>
                <a:close/>
                <a:moveTo>
                  <a:pt x="292894" y="507405"/>
                </a:moveTo>
                <a:cubicBezTo>
                  <a:pt x="354409" y="507405"/>
                  <a:pt x="405705" y="463748"/>
                  <a:pt x="417314" y="405805"/>
                </a:cubicBezTo>
                <a:cubicBezTo>
                  <a:pt x="474166" y="391021"/>
                  <a:pt x="510778" y="337741"/>
                  <a:pt x="510778" y="283369"/>
                </a:cubicBezTo>
                <a:cubicBezTo>
                  <a:pt x="510778" y="247848"/>
                  <a:pt x="495498" y="213221"/>
                  <a:pt x="468114" y="188416"/>
                </a:cubicBezTo>
                <a:cubicBezTo>
                  <a:pt x="470694" y="177701"/>
                  <a:pt x="472182" y="167084"/>
                  <a:pt x="472182" y="156369"/>
                </a:cubicBezTo>
                <a:cubicBezTo>
                  <a:pt x="472182" y="83741"/>
                  <a:pt x="413246" y="29369"/>
                  <a:pt x="345182" y="29369"/>
                </a:cubicBezTo>
                <a:cubicBezTo>
                  <a:pt x="331490" y="29369"/>
                  <a:pt x="318294" y="31353"/>
                  <a:pt x="305098" y="36016"/>
                </a:cubicBezTo>
                <a:cubicBezTo>
                  <a:pt x="282277" y="13692"/>
                  <a:pt x="250726" y="-595"/>
                  <a:pt x="216198" y="-595"/>
                </a:cubicBezTo>
                <a:cubicBezTo>
                  <a:pt x="154682" y="-595"/>
                  <a:pt x="103386" y="43061"/>
                  <a:pt x="91777" y="101005"/>
                </a:cubicBezTo>
                <a:cubicBezTo>
                  <a:pt x="34925" y="115689"/>
                  <a:pt x="-1687" y="169069"/>
                  <a:pt x="-1687" y="223441"/>
                </a:cubicBezTo>
                <a:cubicBezTo>
                  <a:pt x="-1687" y="258961"/>
                  <a:pt x="13593" y="293588"/>
                  <a:pt x="40977" y="318393"/>
                </a:cubicBezTo>
                <a:cubicBezTo>
                  <a:pt x="38398" y="329109"/>
                  <a:pt x="36909" y="339725"/>
                  <a:pt x="36909" y="350441"/>
                </a:cubicBezTo>
                <a:cubicBezTo>
                  <a:pt x="36909" y="423069"/>
                  <a:pt x="95845" y="477441"/>
                  <a:pt x="163909" y="477441"/>
                </a:cubicBezTo>
                <a:cubicBezTo>
                  <a:pt x="177602" y="477441"/>
                  <a:pt x="190798" y="475456"/>
                  <a:pt x="203994" y="470793"/>
                </a:cubicBezTo>
                <a:cubicBezTo>
                  <a:pt x="226814" y="493117"/>
                  <a:pt x="258366" y="507405"/>
                  <a:pt x="292894" y="50740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222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OpenAI GPT Series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2667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LLMs with emergent reasoning across diverse tasks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2032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99500" y="2476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5600" y="63500"/>
                </a:moveTo>
                <a:cubicBezTo>
                  <a:pt x="439738" y="63500"/>
                  <a:pt x="508000" y="148828"/>
                  <a:pt x="508000" y="254000"/>
                </a:cubicBezTo>
                <a:cubicBezTo>
                  <a:pt x="508000" y="359172"/>
                  <a:pt x="439738" y="444500"/>
                  <a:pt x="355600" y="444500"/>
                </a:cubicBezTo>
                <a:lnTo>
                  <a:pt x="152400" y="444500"/>
                </a:lnTo>
                <a:cubicBezTo>
                  <a:pt x="68263" y="444500"/>
                  <a:pt x="0" y="359172"/>
                  <a:pt x="0" y="254000"/>
                </a:cubicBezTo>
                <a:cubicBezTo>
                  <a:pt x="0" y="148828"/>
                  <a:pt x="68263" y="63500"/>
                  <a:pt x="152400" y="63500"/>
                </a:cubicBezTo>
                <a:lnTo>
                  <a:pt x="355600" y="63500"/>
                </a:lnTo>
                <a:close/>
                <a:moveTo>
                  <a:pt x="152400" y="174625"/>
                </a:moveTo>
                <a:cubicBezTo>
                  <a:pt x="141843" y="174625"/>
                  <a:pt x="133350" y="185241"/>
                  <a:pt x="133350" y="198438"/>
                </a:cubicBezTo>
                <a:lnTo>
                  <a:pt x="133350" y="230188"/>
                </a:lnTo>
                <a:lnTo>
                  <a:pt x="107950" y="230188"/>
                </a:lnTo>
                <a:cubicBezTo>
                  <a:pt x="97393" y="230188"/>
                  <a:pt x="88900" y="240804"/>
                  <a:pt x="88900" y="254000"/>
                </a:cubicBezTo>
                <a:cubicBezTo>
                  <a:pt x="88900" y="267196"/>
                  <a:pt x="97393" y="277813"/>
                  <a:pt x="107950" y="277813"/>
                </a:cubicBezTo>
                <a:lnTo>
                  <a:pt x="133350" y="277813"/>
                </a:lnTo>
                <a:lnTo>
                  <a:pt x="133350" y="309562"/>
                </a:lnTo>
                <a:cubicBezTo>
                  <a:pt x="133350" y="322759"/>
                  <a:pt x="141843" y="333375"/>
                  <a:pt x="152400" y="333375"/>
                </a:cubicBezTo>
                <a:cubicBezTo>
                  <a:pt x="162957" y="333375"/>
                  <a:pt x="171450" y="322759"/>
                  <a:pt x="171450" y="309562"/>
                </a:cubicBezTo>
                <a:lnTo>
                  <a:pt x="171450" y="277813"/>
                </a:lnTo>
                <a:lnTo>
                  <a:pt x="196850" y="277813"/>
                </a:lnTo>
                <a:cubicBezTo>
                  <a:pt x="207407" y="277813"/>
                  <a:pt x="215900" y="267196"/>
                  <a:pt x="215900" y="254000"/>
                </a:cubicBezTo>
                <a:cubicBezTo>
                  <a:pt x="215900" y="240804"/>
                  <a:pt x="207407" y="230188"/>
                  <a:pt x="196850" y="230188"/>
                </a:cubicBezTo>
                <a:lnTo>
                  <a:pt x="171450" y="230188"/>
                </a:lnTo>
                <a:lnTo>
                  <a:pt x="171450" y="198438"/>
                </a:lnTo>
                <a:cubicBezTo>
                  <a:pt x="171450" y="185241"/>
                  <a:pt x="162957" y="174625"/>
                  <a:pt x="152400" y="174625"/>
                </a:cubicBezTo>
                <a:close/>
                <a:moveTo>
                  <a:pt x="342900" y="269875"/>
                </a:moveTo>
                <a:cubicBezTo>
                  <a:pt x="328881" y="269875"/>
                  <a:pt x="317500" y="284102"/>
                  <a:pt x="317500" y="301625"/>
                </a:cubicBezTo>
                <a:cubicBezTo>
                  <a:pt x="317500" y="319148"/>
                  <a:pt x="328881" y="333375"/>
                  <a:pt x="342900" y="333375"/>
                </a:cubicBezTo>
                <a:cubicBezTo>
                  <a:pt x="356919" y="333375"/>
                  <a:pt x="368300" y="319148"/>
                  <a:pt x="368300" y="301625"/>
                </a:cubicBezTo>
                <a:cubicBezTo>
                  <a:pt x="368300" y="284102"/>
                  <a:pt x="356919" y="269875"/>
                  <a:pt x="342900" y="269875"/>
                </a:cubicBezTo>
                <a:close/>
                <a:moveTo>
                  <a:pt x="393700" y="174625"/>
                </a:moveTo>
                <a:cubicBezTo>
                  <a:pt x="379681" y="174625"/>
                  <a:pt x="368300" y="188852"/>
                  <a:pt x="368300" y="206375"/>
                </a:cubicBezTo>
                <a:cubicBezTo>
                  <a:pt x="368300" y="223898"/>
                  <a:pt x="379681" y="238125"/>
                  <a:pt x="393700" y="238125"/>
                </a:cubicBezTo>
                <a:cubicBezTo>
                  <a:pt x="407719" y="238125"/>
                  <a:pt x="419100" y="223898"/>
                  <a:pt x="419100" y="206375"/>
                </a:cubicBezTo>
                <a:cubicBezTo>
                  <a:pt x="419100" y="188852"/>
                  <a:pt x="407719" y="174625"/>
                  <a:pt x="393700" y="1746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222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DeepMind Gato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98000" y="2667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generalist agent for hundreds of tasks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4064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87500" y="450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315416"/>
                </a:moveTo>
                <a:cubicBezTo>
                  <a:pt x="508000" y="406003"/>
                  <a:pt x="476726" y="462756"/>
                  <a:pt x="420449" y="462756"/>
                </a:cubicBezTo>
                <a:cubicBezTo>
                  <a:pt x="370761" y="462756"/>
                  <a:pt x="344408" y="428427"/>
                  <a:pt x="295910" y="327223"/>
                </a:cubicBezTo>
                <a:lnTo>
                  <a:pt x="270986" y="275034"/>
                </a:lnTo>
                <a:cubicBezTo>
                  <a:pt x="264398" y="262632"/>
                  <a:pt x="259477" y="251023"/>
                  <a:pt x="254159" y="240308"/>
                </a:cubicBezTo>
                <a:cubicBezTo>
                  <a:pt x="238204" y="273844"/>
                  <a:pt x="216773" y="322659"/>
                  <a:pt x="216773" y="322659"/>
                </a:cubicBezTo>
                <a:cubicBezTo>
                  <a:pt x="163592" y="438348"/>
                  <a:pt x="133747" y="462756"/>
                  <a:pt x="92234" y="462756"/>
                </a:cubicBezTo>
                <a:cubicBezTo>
                  <a:pt x="34449" y="462756"/>
                  <a:pt x="0" y="405904"/>
                  <a:pt x="0" y="317996"/>
                </a:cubicBezTo>
                <a:cubicBezTo>
                  <a:pt x="0" y="176113"/>
                  <a:pt x="63341" y="42069"/>
                  <a:pt x="145971" y="42069"/>
                </a:cubicBezTo>
                <a:cubicBezTo>
                  <a:pt x="185817" y="42069"/>
                  <a:pt x="220424" y="66576"/>
                  <a:pt x="260906" y="130870"/>
                </a:cubicBezTo>
                <a:cubicBezTo>
                  <a:pt x="290354" y="81161"/>
                  <a:pt x="322898" y="42069"/>
                  <a:pt x="364569" y="42069"/>
                </a:cubicBezTo>
                <a:cubicBezTo>
                  <a:pt x="443230" y="42069"/>
                  <a:pt x="508000" y="166787"/>
                  <a:pt x="508000" y="315416"/>
                </a:cubicBezTo>
                <a:close/>
                <a:moveTo>
                  <a:pt x="228124" y="190698"/>
                </a:moveTo>
                <a:cubicBezTo>
                  <a:pt x="194072" y="129084"/>
                  <a:pt x="171847" y="110827"/>
                  <a:pt x="145256" y="110827"/>
                </a:cubicBezTo>
                <a:cubicBezTo>
                  <a:pt x="96123" y="110827"/>
                  <a:pt x="54927" y="216098"/>
                  <a:pt x="54927" y="319187"/>
                </a:cubicBezTo>
                <a:cubicBezTo>
                  <a:pt x="54927" y="367308"/>
                  <a:pt x="69612" y="394295"/>
                  <a:pt x="94297" y="394295"/>
                </a:cubicBezTo>
                <a:cubicBezTo>
                  <a:pt x="118269" y="394295"/>
                  <a:pt x="133191" y="375444"/>
                  <a:pt x="176213" y="291306"/>
                </a:cubicBezTo>
                <a:cubicBezTo>
                  <a:pt x="176213" y="291306"/>
                  <a:pt x="195818" y="252512"/>
                  <a:pt x="228124" y="190698"/>
                </a:cubicBezTo>
                <a:close/>
                <a:moveTo>
                  <a:pt x="421640" y="394295"/>
                </a:moveTo>
                <a:cubicBezTo>
                  <a:pt x="447199" y="394295"/>
                  <a:pt x="458867" y="367010"/>
                  <a:pt x="458867" y="319980"/>
                </a:cubicBezTo>
                <a:cubicBezTo>
                  <a:pt x="458867" y="196751"/>
                  <a:pt x="415766" y="96341"/>
                  <a:pt x="361077" y="96341"/>
                </a:cubicBezTo>
                <a:cubicBezTo>
                  <a:pt x="334724" y="96341"/>
                  <a:pt x="312579" y="122039"/>
                  <a:pt x="285750" y="173732"/>
                </a:cubicBezTo>
                <a:cubicBezTo>
                  <a:pt x="293211" y="187424"/>
                  <a:pt x="300911" y="202505"/>
                  <a:pt x="309007" y="218777"/>
                </a:cubicBezTo>
                <a:lnTo>
                  <a:pt x="338773" y="280690"/>
                </a:lnTo>
                <a:cubicBezTo>
                  <a:pt x="385366" y="374055"/>
                  <a:pt x="397113" y="394295"/>
                  <a:pt x="421640" y="39429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254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 FAIR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4699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Open-source models and multimodal learning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4064000"/>
            <a:ext cx="6604000" cy="165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99500" y="450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4254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Anthropic Claude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98000" y="4699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Constitutional AI for safety and alignment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6223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1778000" y="6350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Assessment: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Current systems demonstrate impressive capabilities but lack true generalization, causal reasoning, and common sense. The consensus: </a:t>
            </a:r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are still far from achieving human-level AGI.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and Future Roadmap for AGI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841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Major Challenges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70000" y="2476500"/>
            <a:ext cx="6350000" cy="63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</p:spPr>
      </p:sp>
      <p:sp>
        <p:nvSpPr>
          <p:cNvPr id="6" name="Shape 4"/>
          <p:cNvSpPr/>
          <p:nvPr/>
        </p:nvSpPr>
        <p:spPr>
          <a:xfrm>
            <a:off x="1397000" y="25654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2565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06600" y="24765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Alignment Problem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ensuring AGI goals match human values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0000" y="3238500"/>
            <a:ext cx="6350000" cy="63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</p:spPr>
      </p:sp>
      <p:sp>
        <p:nvSpPr>
          <p:cNvPr id="10" name="Shape 8"/>
          <p:cNvSpPr/>
          <p:nvPr/>
        </p:nvSpPr>
        <p:spPr>
          <a:xfrm>
            <a:off x="1397000" y="33274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" y="332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06600" y="32385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Sense Reasoning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encoding implicit knowledge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4000500"/>
            <a:ext cx="6350000" cy="63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</p:spPr>
      </p:sp>
      <p:sp>
        <p:nvSpPr>
          <p:cNvPr id="14" name="Shape 12"/>
          <p:cNvSpPr/>
          <p:nvPr/>
        </p:nvSpPr>
        <p:spPr>
          <a:xfrm>
            <a:off x="1397000" y="40894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4089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06600" y="40005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Causal Understanding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beyond correlation to causation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" y="4762500"/>
            <a:ext cx="6350000" cy="63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</p:spPr>
      </p:sp>
      <p:sp>
        <p:nvSpPr>
          <p:cNvPr id="18" name="Shape 16"/>
          <p:cNvSpPr/>
          <p:nvPr/>
        </p:nvSpPr>
        <p:spPr>
          <a:xfrm>
            <a:off x="1397000" y="48514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9" name="Text 17"/>
          <p:cNvSpPr/>
          <p:nvPr/>
        </p:nvSpPr>
        <p:spPr>
          <a:xfrm>
            <a:off x="1397000" y="485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06600" y="47625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Computational Requirements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massive compute needs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70000" y="5524500"/>
            <a:ext cx="6350000" cy="63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7000" y="56134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3" name="Text 21"/>
          <p:cNvSpPr/>
          <p:nvPr/>
        </p:nvSpPr>
        <p:spPr>
          <a:xfrm>
            <a:off x="1397000" y="561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006600" y="55245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Safety and Control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preventing unintended consequences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70000" y="6286500"/>
            <a:ext cx="6350000" cy="635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</p:spPr>
      </p:sp>
      <p:sp>
        <p:nvSpPr>
          <p:cNvPr id="26" name="Shape 24"/>
          <p:cNvSpPr/>
          <p:nvPr/>
        </p:nvSpPr>
        <p:spPr>
          <a:xfrm>
            <a:off x="1397000" y="63754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7" name="Text 25"/>
          <p:cNvSpPr/>
          <p:nvPr/>
        </p:nvSpPr>
        <p:spPr>
          <a:xfrm>
            <a:off x="1397000" y="6375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06600" y="62865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 Metrics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measuring general intelligence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82000" y="18415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Directions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382000" y="2476500"/>
            <a:ext cx="6350000" cy="4445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63000" y="2730500"/>
            <a:ext cx="558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Neuro-Symbolic Integration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learning + symbolic reasoning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Models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representations of the world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Continual Learning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catastrophic forgetting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Brain-Inspired Architectures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Insights from neuroscience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and Conscious Systems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intelligent machines to systems that think and perceive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L26: Introduction to Cognitive and Conscious Systems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systems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 AI architectures inspired by human cognition.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lecture explores: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Architectures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SOAR, ACT-R, LIDA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Consciousness Theories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GWT, IIT, Predictive Processing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Consciousness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Can AI be conscious?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&amp; Ethics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Impact and challenges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096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pic>
        <p:nvPicPr>
          <p:cNvPr id="6" name="Image 0" descr="https://kimi-img.moonshot.cn/pub/slides/okc/qymfqbviyuvle/mnt/agents/output/knowledge-representation/images/4_Will_Artificial_Intelligence_So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2286000"/>
            <a:ext cx="5588000" cy="25400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8890000" y="5080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i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question of whether a machine can think is no more interesting than whether a submarine can swim."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Edsger Dijkstra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Cognitive Systems?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systems are intelligent systems that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emulate human cognitive processes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perception, attention, memory, learning, reasoning, decision-making, and language understanding.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3302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22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5750" y="0"/>
                </a:moveTo>
                <a:cubicBezTo>
                  <a:pt x="285750" y="-17562"/>
                  <a:pt x="271562" y="-31750"/>
                  <a:pt x="254000" y="-31750"/>
                </a:cubicBezTo>
                <a:cubicBezTo>
                  <a:pt x="236438" y="-31750"/>
                  <a:pt x="222250" y="-17562"/>
                  <a:pt x="222250" y="0"/>
                </a:cubicBezTo>
                <a:lnTo>
                  <a:pt x="222250" y="254000"/>
                </a:lnTo>
                <a:cubicBezTo>
                  <a:pt x="222250" y="271562"/>
                  <a:pt x="236438" y="285750"/>
                  <a:pt x="254000" y="285750"/>
                </a:cubicBezTo>
                <a:cubicBezTo>
                  <a:pt x="271562" y="285750"/>
                  <a:pt x="285750" y="271562"/>
                  <a:pt x="285750" y="254000"/>
                </a:cubicBezTo>
                <a:lnTo>
                  <a:pt x="285750" y="0"/>
                </a:lnTo>
                <a:close/>
                <a:moveTo>
                  <a:pt x="145157" y="97631"/>
                </a:moveTo>
                <a:cubicBezTo>
                  <a:pt x="159544" y="87610"/>
                  <a:pt x="163016" y="67766"/>
                  <a:pt x="152995" y="53380"/>
                </a:cubicBezTo>
                <a:cubicBezTo>
                  <a:pt x="142974" y="38993"/>
                  <a:pt x="123130" y="35520"/>
                  <a:pt x="108744" y="45541"/>
                </a:cubicBezTo>
                <a:cubicBezTo>
                  <a:pt x="43061" y="91380"/>
                  <a:pt x="0" y="167680"/>
                  <a:pt x="0" y="254000"/>
                </a:cubicBezTo>
                <a:cubicBezTo>
                  <a:pt x="0" y="394295"/>
                  <a:pt x="113705" y="508000"/>
                  <a:pt x="254000" y="508000"/>
                </a:cubicBezTo>
                <a:cubicBezTo>
                  <a:pt x="394295" y="508000"/>
                  <a:pt x="508000" y="394295"/>
                  <a:pt x="508000" y="254000"/>
                </a:cubicBezTo>
                <a:cubicBezTo>
                  <a:pt x="508000" y="167680"/>
                  <a:pt x="464939" y="91380"/>
                  <a:pt x="399157" y="45541"/>
                </a:cubicBezTo>
                <a:cubicBezTo>
                  <a:pt x="384770" y="35520"/>
                  <a:pt x="365026" y="38993"/>
                  <a:pt x="354905" y="53380"/>
                </a:cubicBezTo>
                <a:cubicBezTo>
                  <a:pt x="344785" y="67766"/>
                  <a:pt x="348357" y="87511"/>
                  <a:pt x="362744" y="97631"/>
                </a:cubicBezTo>
                <a:cubicBezTo>
                  <a:pt x="412155" y="132159"/>
                  <a:pt x="444401" y="189309"/>
                  <a:pt x="444401" y="254000"/>
                </a:cubicBezTo>
                <a:cubicBezTo>
                  <a:pt x="444401" y="359172"/>
                  <a:pt x="359073" y="444500"/>
                  <a:pt x="253901" y="444500"/>
                </a:cubicBezTo>
                <a:cubicBezTo>
                  <a:pt x="148729" y="444500"/>
                  <a:pt x="63500" y="359172"/>
                  <a:pt x="63500" y="254000"/>
                </a:cubicBezTo>
                <a:cubicBezTo>
                  <a:pt x="63500" y="189309"/>
                  <a:pt x="95746" y="132060"/>
                  <a:pt x="145157" y="97631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397000" y="419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7000" y="4635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Operate without constant guidance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4000" y="3302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16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5385" y="226715"/>
                </a:moveTo>
                <a:cubicBezTo>
                  <a:pt x="78581" y="134441"/>
                  <a:pt x="158055" y="63500"/>
                  <a:pt x="254000" y="63500"/>
                </a:cubicBezTo>
                <a:cubicBezTo>
                  <a:pt x="306586" y="63500"/>
                  <a:pt x="354211" y="84832"/>
                  <a:pt x="388739" y="119261"/>
                </a:cubicBezTo>
                <a:cubicBezTo>
                  <a:pt x="388938" y="119459"/>
                  <a:pt x="389136" y="119658"/>
                  <a:pt x="389334" y="119856"/>
                </a:cubicBezTo>
                <a:lnTo>
                  <a:pt x="396875" y="127000"/>
                </a:lnTo>
                <a:lnTo>
                  <a:pt x="349349" y="127000"/>
                </a:lnTo>
                <a:cubicBezTo>
                  <a:pt x="331788" y="127000"/>
                  <a:pt x="317599" y="141188"/>
                  <a:pt x="317599" y="158750"/>
                </a:cubicBezTo>
                <a:cubicBezTo>
                  <a:pt x="317599" y="176312"/>
                  <a:pt x="331788" y="190500"/>
                  <a:pt x="349349" y="190500"/>
                </a:cubicBezTo>
                <a:lnTo>
                  <a:pt x="476349" y="190500"/>
                </a:lnTo>
                <a:cubicBezTo>
                  <a:pt x="493911" y="190500"/>
                  <a:pt x="508099" y="176312"/>
                  <a:pt x="508099" y="158750"/>
                </a:cubicBezTo>
                <a:lnTo>
                  <a:pt x="508099" y="31750"/>
                </a:lnTo>
                <a:cubicBezTo>
                  <a:pt x="508099" y="14188"/>
                  <a:pt x="493911" y="0"/>
                  <a:pt x="476349" y="0"/>
                </a:cubicBezTo>
                <a:cubicBezTo>
                  <a:pt x="458788" y="0"/>
                  <a:pt x="444599" y="14188"/>
                  <a:pt x="444599" y="31750"/>
                </a:cubicBezTo>
                <a:lnTo>
                  <a:pt x="444599" y="84733"/>
                </a:lnTo>
                <a:lnTo>
                  <a:pt x="433388" y="74116"/>
                </a:lnTo>
                <a:cubicBezTo>
                  <a:pt x="387449" y="28377"/>
                  <a:pt x="323949" y="0"/>
                  <a:pt x="254000" y="0"/>
                </a:cubicBezTo>
                <a:cubicBezTo>
                  <a:pt x="126008" y="0"/>
                  <a:pt x="20141" y="94655"/>
                  <a:pt x="2580" y="217785"/>
                </a:cubicBezTo>
                <a:cubicBezTo>
                  <a:pt x="99" y="235148"/>
                  <a:pt x="12105" y="251222"/>
                  <a:pt x="29468" y="253702"/>
                </a:cubicBezTo>
                <a:cubicBezTo>
                  <a:pt x="46831" y="256183"/>
                  <a:pt x="62905" y="244078"/>
                  <a:pt x="65385" y="226814"/>
                </a:cubicBezTo>
                <a:close/>
                <a:moveTo>
                  <a:pt x="505420" y="290215"/>
                </a:moveTo>
                <a:cubicBezTo>
                  <a:pt x="507901" y="272852"/>
                  <a:pt x="495796" y="256778"/>
                  <a:pt x="478532" y="254298"/>
                </a:cubicBezTo>
                <a:cubicBezTo>
                  <a:pt x="461268" y="251817"/>
                  <a:pt x="445095" y="263922"/>
                  <a:pt x="442615" y="281186"/>
                </a:cubicBezTo>
                <a:cubicBezTo>
                  <a:pt x="429419" y="373459"/>
                  <a:pt x="349945" y="444401"/>
                  <a:pt x="254000" y="444401"/>
                </a:cubicBezTo>
                <a:cubicBezTo>
                  <a:pt x="201414" y="444401"/>
                  <a:pt x="153789" y="423069"/>
                  <a:pt x="119261" y="388640"/>
                </a:cubicBezTo>
                <a:cubicBezTo>
                  <a:pt x="119062" y="388441"/>
                  <a:pt x="118864" y="388243"/>
                  <a:pt x="118666" y="388045"/>
                </a:cubicBezTo>
                <a:lnTo>
                  <a:pt x="111125" y="380901"/>
                </a:lnTo>
                <a:lnTo>
                  <a:pt x="158651" y="380901"/>
                </a:lnTo>
                <a:cubicBezTo>
                  <a:pt x="176212" y="380901"/>
                  <a:pt x="190401" y="366713"/>
                  <a:pt x="190401" y="349151"/>
                </a:cubicBezTo>
                <a:cubicBezTo>
                  <a:pt x="190401" y="331589"/>
                  <a:pt x="176212" y="317401"/>
                  <a:pt x="158651" y="317401"/>
                </a:cubicBezTo>
                <a:lnTo>
                  <a:pt x="31750" y="317500"/>
                </a:lnTo>
                <a:cubicBezTo>
                  <a:pt x="23316" y="317500"/>
                  <a:pt x="15180" y="320873"/>
                  <a:pt x="9227" y="326926"/>
                </a:cubicBezTo>
                <a:cubicBezTo>
                  <a:pt x="3274" y="332978"/>
                  <a:pt x="-99" y="341015"/>
                  <a:pt x="0" y="349548"/>
                </a:cubicBezTo>
                <a:lnTo>
                  <a:pt x="992" y="475555"/>
                </a:lnTo>
                <a:cubicBezTo>
                  <a:pt x="1091" y="493117"/>
                  <a:pt x="15478" y="507206"/>
                  <a:pt x="33040" y="507008"/>
                </a:cubicBezTo>
                <a:cubicBezTo>
                  <a:pt x="50602" y="506809"/>
                  <a:pt x="64691" y="492522"/>
                  <a:pt x="64492" y="474960"/>
                </a:cubicBezTo>
                <a:lnTo>
                  <a:pt x="64095" y="423863"/>
                </a:lnTo>
                <a:lnTo>
                  <a:pt x="74712" y="433884"/>
                </a:lnTo>
                <a:cubicBezTo>
                  <a:pt x="120650" y="479623"/>
                  <a:pt x="184051" y="508000"/>
                  <a:pt x="254000" y="508000"/>
                </a:cubicBezTo>
                <a:cubicBezTo>
                  <a:pt x="381992" y="508000"/>
                  <a:pt x="487859" y="413345"/>
                  <a:pt x="505420" y="29021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4191000" y="419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Adaptability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91000" y="4635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 from new experiences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3302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0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6985000" y="419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85000" y="4635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Handle uncertainty and noisy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52000" y="3302000"/>
            <a:ext cx="2540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604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4175" y="-9823"/>
                </a:moveTo>
                <a:cubicBezTo>
                  <a:pt x="397669" y="-1290"/>
                  <a:pt x="402658" y="14188"/>
                  <a:pt x="396535" y="27682"/>
                </a:cubicBezTo>
                <a:lnTo>
                  <a:pt x="307635" y="222250"/>
                </a:lnTo>
                <a:lnTo>
                  <a:pt x="471714" y="222250"/>
                </a:lnTo>
                <a:cubicBezTo>
                  <a:pt x="487022" y="222250"/>
                  <a:pt x="500629" y="230584"/>
                  <a:pt x="505846" y="243185"/>
                </a:cubicBezTo>
                <a:cubicBezTo>
                  <a:pt x="511062" y="255786"/>
                  <a:pt x="506639" y="269875"/>
                  <a:pt x="494960" y="278408"/>
                </a:cubicBezTo>
                <a:lnTo>
                  <a:pt x="168388" y="516533"/>
                </a:lnTo>
                <a:cubicBezTo>
                  <a:pt x="155575" y="525859"/>
                  <a:pt x="137319" y="526355"/>
                  <a:pt x="123825" y="517823"/>
                </a:cubicBezTo>
                <a:cubicBezTo>
                  <a:pt x="110331" y="509290"/>
                  <a:pt x="105342" y="493812"/>
                  <a:pt x="111465" y="480318"/>
                </a:cubicBezTo>
                <a:lnTo>
                  <a:pt x="200365" y="285750"/>
                </a:lnTo>
                <a:lnTo>
                  <a:pt x="36286" y="285750"/>
                </a:lnTo>
                <a:cubicBezTo>
                  <a:pt x="20978" y="285750"/>
                  <a:pt x="7371" y="277416"/>
                  <a:pt x="2154" y="264815"/>
                </a:cubicBezTo>
                <a:cubicBezTo>
                  <a:pt x="-3062" y="252214"/>
                  <a:pt x="1361" y="238125"/>
                  <a:pt x="13040" y="229592"/>
                </a:cubicBezTo>
                <a:lnTo>
                  <a:pt x="339612" y="-8533"/>
                </a:lnTo>
                <a:cubicBezTo>
                  <a:pt x="352425" y="-17859"/>
                  <a:pt x="370681" y="-18355"/>
                  <a:pt x="384175" y="-982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9779000" y="419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79000" y="4635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and respond in real time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46000" y="3302000"/>
            <a:ext cx="2540000" cy="2286000"/>
          </a:xfrm>
          <a:prstGeom prst="roundRect">
            <a:avLst>
              <a:gd name="adj" fmla="val 10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13398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0" y="4191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Multimodal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573000" y="46355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 multiple information sources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" y="6096000"/>
            <a:ext cx="13716000" cy="101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78000" y="6223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Distinction: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Cognitive systems aim to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replicate how humans think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just match human performance.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Architectures — Overview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cognitive architecture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a blueprint for intelligent agents — specifying structures for perception, memory, learning, reasoning, planning, and action selection.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40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-31750"/>
                </a:moveTo>
                <a:cubicBezTo>
                  <a:pt x="394229" y="-31750"/>
                  <a:pt x="508000" y="53578"/>
                  <a:pt x="508000" y="158750"/>
                </a:cubicBezTo>
                <a:lnTo>
                  <a:pt x="508000" y="291207"/>
                </a:lnTo>
                <a:cubicBezTo>
                  <a:pt x="508000" y="308074"/>
                  <a:pt x="499004" y="324148"/>
                  <a:pt x="483261" y="336054"/>
                </a:cubicBezTo>
                <a:lnTo>
                  <a:pt x="423333" y="381000"/>
                </a:lnTo>
                <a:lnTo>
                  <a:pt x="490538" y="431304"/>
                </a:lnTo>
                <a:cubicBezTo>
                  <a:pt x="501782" y="439737"/>
                  <a:pt x="508000" y="451148"/>
                  <a:pt x="508000" y="463054"/>
                </a:cubicBezTo>
                <a:cubicBezTo>
                  <a:pt x="508000" y="487859"/>
                  <a:pt x="481145" y="507901"/>
                  <a:pt x="448204" y="508000"/>
                </a:cubicBezTo>
                <a:lnTo>
                  <a:pt x="59928" y="508000"/>
                </a:lnTo>
                <a:cubicBezTo>
                  <a:pt x="26855" y="508000"/>
                  <a:pt x="132" y="487859"/>
                  <a:pt x="132" y="463054"/>
                </a:cubicBezTo>
                <a:cubicBezTo>
                  <a:pt x="132" y="451148"/>
                  <a:pt x="6482" y="439737"/>
                  <a:pt x="17595" y="431304"/>
                </a:cubicBezTo>
                <a:lnTo>
                  <a:pt x="84667" y="381000"/>
                </a:lnTo>
                <a:lnTo>
                  <a:pt x="84667" y="346670"/>
                </a:lnTo>
                <a:cubicBezTo>
                  <a:pt x="84667" y="328116"/>
                  <a:pt x="95515" y="310555"/>
                  <a:pt x="114168" y="298450"/>
                </a:cubicBezTo>
                <a:lnTo>
                  <a:pt x="232833" y="222250"/>
                </a:lnTo>
                <a:lnTo>
                  <a:pt x="169333" y="222250"/>
                </a:lnTo>
                <a:lnTo>
                  <a:pt x="153326" y="234255"/>
                </a:lnTo>
                <a:cubicBezTo>
                  <a:pt x="136525" y="246856"/>
                  <a:pt x="113639" y="254000"/>
                  <a:pt x="89826" y="254000"/>
                </a:cubicBezTo>
                <a:cubicBezTo>
                  <a:pt x="40217" y="254000"/>
                  <a:pt x="0" y="223837"/>
                  <a:pt x="0" y="186630"/>
                </a:cubicBezTo>
                <a:lnTo>
                  <a:pt x="0" y="177998"/>
                </a:lnTo>
                <a:cubicBezTo>
                  <a:pt x="0" y="155377"/>
                  <a:pt x="10848" y="133449"/>
                  <a:pt x="30559" y="116185"/>
                </a:cubicBezTo>
                <a:lnTo>
                  <a:pt x="127000" y="31750"/>
                </a:lnTo>
                <a:lnTo>
                  <a:pt x="127000" y="0"/>
                </a:lnTo>
                <a:cubicBezTo>
                  <a:pt x="127000" y="-17562"/>
                  <a:pt x="145918" y="-31750"/>
                  <a:pt x="169333" y="-31750"/>
                </a:cubicBezTo>
                <a:lnTo>
                  <a:pt x="254000" y="-31750"/>
                </a:lnTo>
                <a:close/>
                <a:moveTo>
                  <a:pt x="211667" y="71438"/>
                </a:moveTo>
                <a:cubicBezTo>
                  <a:pt x="194143" y="71438"/>
                  <a:pt x="179917" y="82108"/>
                  <a:pt x="179917" y="95250"/>
                </a:cubicBezTo>
                <a:cubicBezTo>
                  <a:pt x="179917" y="108392"/>
                  <a:pt x="194143" y="119063"/>
                  <a:pt x="211667" y="119063"/>
                </a:cubicBezTo>
                <a:cubicBezTo>
                  <a:pt x="229190" y="119063"/>
                  <a:pt x="243417" y="108392"/>
                  <a:pt x="243417" y="95250"/>
                </a:cubicBezTo>
                <a:cubicBezTo>
                  <a:pt x="243417" y="82108"/>
                  <a:pt x="229190" y="71438"/>
                  <a:pt x="211667" y="7143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SOAR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4635500"/>
            <a:ext cx="266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State, Operator And Result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Universal problem-solving with production rules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26000" y="3302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96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ACT-R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80000" y="4635500"/>
            <a:ext cx="266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Adaptive Control of Thought-Rational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Cognitive modeling with declarative memory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2000" y="3302000"/>
            <a:ext cx="3175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52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7523" y="11410"/>
                </a:moveTo>
                <a:cubicBezTo>
                  <a:pt x="67557" y="4564"/>
                  <a:pt x="54504" y="8235"/>
                  <a:pt x="48419" y="19447"/>
                </a:cubicBezTo>
                <a:cubicBezTo>
                  <a:pt x="26547" y="60127"/>
                  <a:pt x="14023" y="107851"/>
                  <a:pt x="14023" y="158750"/>
                </a:cubicBezTo>
                <a:cubicBezTo>
                  <a:pt x="14023" y="209649"/>
                  <a:pt x="26547" y="257373"/>
                  <a:pt x="48419" y="298053"/>
                </a:cubicBezTo>
                <a:cubicBezTo>
                  <a:pt x="54504" y="309265"/>
                  <a:pt x="67469" y="312936"/>
                  <a:pt x="77523" y="306090"/>
                </a:cubicBezTo>
                <a:cubicBezTo>
                  <a:pt x="87577" y="299244"/>
                  <a:pt x="90752" y="284659"/>
                  <a:pt x="84667" y="273348"/>
                </a:cubicBezTo>
                <a:cubicBezTo>
                  <a:pt x="66763" y="240010"/>
                  <a:pt x="56444" y="200720"/>
                  <a:pt x="56444" y="158750"/>
                </a:cubicBezTo>
                <a:cubicBezTo>
                  <a:pt x="56444" y="116780"/>
                  <a:pt x="66763" y="77490"/>
                  <a:pt x="84755" y="44053"/>
                </a:cubicBezTo>
                <a:cubicBezTo>
                  <a:pt x="90840" y="32841"/>
                  <a:pt x="87577" y="18157"/>
                  <a:pt x="77611" y="11311"/>
                </a:cubicBezTo>
                <a:close/>
                <a:moveTo>
                  <a:pt x="430389" y="11410"/>
                </a:moveTo>
                <a:cubicBezTo>
                  <a:pt x="420423" y="18256"/>
                  <a:pt x="417160" y="32841"/>
                  <a:pt x="423245" y="44152"/>
                </a:cubicBezTo>
                <a:cubicBezTo>
                  <a:pt x="441237" y="77589"/>
                  <a:pt x="451556" y="116880"/>
                  <a:pt x="451556" y="158849"/>
                </a:cubicBezTo>
                <a:cubicBezTo>
                  <a:pt x="451556" y="200819"/>
                  <a:pt x="441237" y="240109"/>
                  <a:pt x="423245" y="273546"/>
                </a:cubicBezTo>
                <a:cubicBezTo>
                  <a:pt x="417160" y="284758"/>
                  <a:pt x="420423" y="299442"/>
                  <a:pt x="430389" y="306288"/>
                </a:cubicBezTo>
                <a:cubicBezTo>
                  <a:pt x="440355" y="313134"/>
                  <a:pt x="453408" y="309463"/>
                  <a:pt x="459493" y="298252"/>
                </a:cubicBezTo>
                <a:cubicBezTo>
                  <a:pt x="481365" y="257572"/>
                  <a:pt x="493889" y="209848"/>
                  <a:pt x="493889" y="158948"/>
                </a:cubicBezTo>
                <a:cubicBezTo>
                  <a:pt x="493889" y="108049"/>
                  <a:pt x="481365" y="60127"/>
                  <a:pt x="459493" y="19447"/>
                </a:cubicBezTo>
                <a:cubicBezTo>
                  <a:pt x="453408" y="8235"/>
                  <a:pt x="440443" y="4564"/>
                  <a:pt x="430389" y="11410"/>
                </a:cubicBezTo>
                <a:close/>
                <a:moveTo>
                  <a:pt x="282222" y="213717"/>
                </a:moveTo>
                <a:cubicBezTo>
                  <a:pt x="299067" y="202704"/>
                  <a:pt x="310444" y="182265"/>
                  <a:pt x="310444" y="158750"/>
                </a:cubicBezTo>
                <a:cubicBezTo>
                  <a:pt x="310444" y="123726"/>
                  <a:pt x="285133" y="95250"/>
                  <a:pt x="254000" y="95250"/>
                </a:cubicBezTo>
                <a:cubicBezTo>
                  <a:pt x="222867" y="95250"/>
                  <a:pt x="197556" y="123726"/>
                  <a:pt x="197556" y="158750"/>
                </a:cubicBezTo>
                <a:cubicBezTo>
                  <a:pt x="197556" y="182265"/>
                  <a:pt x="208933" y="202803"/>
                  <a:pt x="225778" y="213717"/>
                </a:cubicBezTo>
                <a:lnTo>
                  <a:pt x="225778" y="476250"/>
                </a:lnTo>
                <a:cubicBezTo>
                  <a:pt x="225778" y="493812"/>
                  <a:pt x="238390" y="508000"/>
                  <a:pt x="254000" y="508000"/>
                </a:cubicBezTo>
                <a:cubicBezTo>
                  <a:pt x="269610" y="508000"/>
                  <a:pt x="282222" y="493812"/>
                  <a:pt x="282222" y="476250"/>
                </a:cubicBezTo>
                <a:lnTo>
                  <a:pt x="282222" y="213717"/>
                </a:lnTo>
                <a:close/>
                <a:moveTo>
                  <a:pt x="158926" y="90289"/>
                </a:moveTo>
                <a:cubicBezTo>
                  <a:pt x="165276" y="79177"/>
                  <a:pt x="162366" y="64492"/>
                  <a:pt x="152576" y="57348"/>
                </a:cubicBezTo>
                <a:cubicBezTo>
                  <a:pt x="142787" y="50205"/>
                  <a:pt x="129646" y="53479"/>
                  <a:pt x="123296" y="64492"/>
                </a:cubicBezTo>
                <a:cubicBezTo>
                  <a:pt x="107774" y="91678"/>
                  <a:pt x="98778" y="124023"/>
                  <a:pt x="98778" y="158750"/>
                </a:cubicBezTo>
                <a:cubicBezTo>
                  <a:pt x="98778" y="193477"/>
                  <a:pt x="107774" y="225822"/>
                  <a:pt x="123296" y="253008"/>
                </a:cubicBezTo>
                <a:cubicBezTo>
                  <a:pt x="129646" y="264120"/>
                  <a:pt x="142699" y="267295"/>
                  <a:pt x="152576" y="260152"/>
                </a:cubicBezTo>
                <a:cubicBezTo>
                  <a:pt x="162454" y="253008"/>
                  <a:pt x="165276" y="238323"/>
                  <a:pt x="158926" y="227211"/>
                </a:cubicBezTo>
                <a:cubicBezTo>
                  <a:pt x="147637" y="207466"/>
                  <a:pt x="141111" y="183952"/>
                  <a:pt x="141111" y="158750"/>
                </a:cubicBezTo>
                <a:cubicBezTo>
                  <a:pt x="141111" y="133548"/>
                  <a:pt x="147638" y="110034"/>
                  <a:pt x="158926" y="90289"/>
                </a:cubicBezTo>
                <a:close/>
                <a:moveTo>
                  <a:pt x="384704" y="64492"/>
                </a:moveTo>
                <a:cubicBezTo>
                  <a:pt x="378354" y="53380"/>
                  <a:pt x="365301" y="50205"/>
                  <a:pt x="355424" y="57348"/>
                </a:cubicBezTo>
                <a:cubicBezTo>
                  <a:pt x="345546" y="64492"/>
                  <a:pt x="342724" y="79177"/>
                  <a:pt x="349074" y="90289"/>
                </a:cubicBezTo>
                <a:cubicBezTo>
                  <a:pt x="360363" y="110034"/>
                  <a:pt x="366889" y="133548"/>
                  <a:pt x="366889" y="158750"/>
                </a:cubicBezTo>
                <a:cubicBezTo>
                  <a:pt x="366889" y="183952"/>
                  <a:pt x="360363" y="207466"/>
                  <a:pt x="349074" y="227211"/>
                </a:cubicBezTo>
                <a:cubicBezTo>
                  <a:pt x="342724" y="238323"/>
                  <a:pt x="345634" y="253008"/>
                  <a:pt x="355424" y="260152"/>
                </a:cubicBezTo>
                <a:cubicBezTo>
                  <a:pt x="365213" y="267295"/>
                  <a:pt x="378354" y="264021"/>
                  <a:pt x="384704" y="253008"/>
                </a:cubicBezTo>
                <a:cubicBezTo>
                  <a:pt x="400226" y="225822"/>
                  <a:pt x="409222" y="193477"/>
                  <a:pt x="409222" y="158750"/>
                </a:cubicBezTo>
                <a:cubicBezTo>
                  <a:pt x="409222" y="124023"/>
                  <a:pt x="400226" y="91678"/>
                  <a:pt x="384704" y="64492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4191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LIDA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36000" y="4635500"/>
            <a:ext cx="266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 Intelligent Distribution Agent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Based on Global Workspace Theory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938000" y="3302000"/>
            <a:ext cx="3048000" cy="3556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131445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0714" y="103188"/>
                </a:moveTo>
                <a:cubicBezTo>
                  <a:pt x="105734" y="103188"/>
                  <a:pt x="117929" y="92517"/>
                  <a:pt x="117929" y="79375"/>
                </a:cubicBezTo>
                <a:cubicBezTo>
                  <a:pt x="117929" y="66233"/>
                  <a:pt x="105734" y="55563"/>
                  <a:pt x="90714" y="55563"/>
                </a:cubicBezTo>
                <a:cubicBezTo>
                  <a:pt x="75694" y="55563"/>
                  <a:pt x="63500" y="66233"/>
                  <a:pt x="63500" y="79375"/>
                </a:cubicBezTo>
                <a:cubicBezTo>
                  <a:pt x="63500" y="92517"/>
                  <a:pt x="75694" y="103188"/>
                  <a:pt x="90714" y="103188"/>
                </a:cubicBezTo>
                <a:close/>
                <a:moveTo>
                  <a:pt x="181429" y="79375"/>
                </a:moveTo>
                <a:cubicBezTo>
                  <a:pt x="181429" y="111919"/>
                  <a:pt x="159090" y="139898"/>
                  <a:pt x="127000" y="152102"/>
                </a:cubicBezTo>
                <a:lnTo>
                  <a:pt x="127000" y="222250"/>
                </a:lnTo>
                <a:lnTo>
                  <a:pt x="326571" y="222250"/>
                </a:lnTo>
                <a:cubicBezTo>
                  <a:pt x="356621" y="222250"/>
                  <a:pt x="381000" y="200918"/>
                  <a:pt x="381000" y="174625"/>
                </a:cubicBezTo>
                <a:lnTo>
                  <a:pt x="381000" y="152102"/>
                </a:lnTo>
                <a:cubicBezTo>
                  <a:pt x="348910" y="139898"/>
                  <a:pt x="326571" y="111919"/>
                  <a:pt x="326571" y="79375"/>
                </a:cubicBezTo>
                <a:cubicBezTo>
                  <a:pt x="326571" y="35520"/>
                  <a:pt x="367166" y="0"/>
                  <a:pt x="417286" y="0"/>
                </a:cubicBezTo>
                <a:cubicBezTo>
                  <a:pt x="467405" y="0"/>
                  <a:pt x="508000" y="35520"/>
                  <a:pt x="508000" y="79375"/>
                </a:cubicBezTo>
                <a:cubicBezTo>
                  <a:pt x="508000" y="111919"/>
                  <a:pt x="485662" y="139898"/>
                  <a:pt x="453571" y="152102"/>
                </a:cubicBezTo>
                <a:lnTo>
                  <a:pt x="453571" y="174625"/>
                </a:lnTo>
                <a:cubicBezTo>
                  <a:pt x="453571" y="236041"/>
                  <a:pt x="396762" y="285750"/>
                  <a:pt x="326571" y="285750"/>
                </a:cubicBezTo>
                <a:lnTo>
                  <a:pt x="127000" y="285750"/>
                </a:lnTo>
                <a:lnTo>
                  <a:pt x="127000" y="355898"/>
                </a:lnTo>
                <a:cubicBezTo>
                  <a:pt x="159090" y="368102"/>
                  <a:pt x="181429" y="396081"/>
                  <a:pt x="181429" y="428625"/>
                </a:cubicBezTo>
                <a:cubicBezTo>
                  <a:pt x="181429" y="472480"/>
                  <a:pt x="140834" y="508000"/>
                  <a:pt x="90714" y="508000"/>
                </a:cubicBezTo>
                <a:cubicBezTo>
                  <a:pt x="40595" y="508000"/>
                  <a:pt x="0" y="472480"/>
                  <a:pt x="0" y="428625"/>
                </a:cubicBezTo>
                <a:cubicBezTo>
                  <a:pt x="0" y="396081"/>
                  <a:pt x="22338" y="368102"/>
                  <a:pt x="54429" y="355898"/>
                </a:cubicBezTo>
                <a:lnTo>
                  <a:pt x="54429" y="152202"/>
                </a:lnTo>
                <a:cubicBezTo>
                  <a:pt x="22338" y="139898"/>
                  <a:pt x="0" y="111919"/>
                  <a:pt x="0" y="79375"/>
                </a:cubicBezTo>
                <a:cubicBezTo>
                  <a:pt x="0" y="35520"/>
                  <a:pt x="40595" y="0"/>
                  <a:pt x="90714" y="0"/>
                </a:cubicBezTo>
                <a:cubicBezTo>
                  <a:pt x="140834" y="0"/>
                  <a:pt x="181429" y="35520"/>
                  <a:pt x="181429" y="79375"/>
                </a:cubicBezTo>
                <a:close/>
                <a:moveTo>
                  <a:pt x="444500" y="79375"/>
                </a:moveTo>
                <a:cubicBezTo>
                  <a:pt x="444500" y="66233"/>
                  <a:pt x="432306" y="55563"/>
                  <a:pt x="417286" y="55563"/>
                </a:cubicBezTo>
                <a:cubicBezTo>
                  <a:pt x="402266" y="55563"/>
                  <a:pt x="390071" y="66233"/>
                  <a:pt x="390071" y="79375"/>
                </a:cubicBezTo>
                <a:cubicBezTo>
                  <a:pt x="390071" y="92517"/>
                  <a:pt x="402266" y="103188"/>
                  <a:pt x="417286" y="103188"/>
                </a:cubicBezTo>
                <a:cubicBezTo>
                  <a:pt x="432306" y="103188"/>
                  <a:pt x="444500" y="92517"/>
                  <a:pt x="444500" y="79375"/>
                </a:cubicBezTo>
                <a:close/>
                <a:moveTo>
                  <a:pt x="90714" y="452437"/>
                </a:moveTo>
                <a:cubicBezTo>
                  <a:pt x="105734" y="452437"/>
                  <a:pt x="117929" y="441767"/>
                  <a:pt x="117929" y="428625"/>
                </a:cubicBezTo>
                <a:cubicBezTo>
                  <a:pt x="117929" y="415483"/>
                  <a:pt x="105734" y="404813"/>
                  <a:pt x="90714" y="404813"/>
                </a:cubicBezTo>
                <a:cubicBezTo>
                  <a:pt x="75694" y="404813"/>
                  <a:pt x="63500" y="415483"/>
                  <a:pt x="63500" y="428625"/>
                </a:cubicBezTo>
                <a:cubicBezTo>
                  <a:pt x="63500" y="441767"/>
                  <a:pt x="75694" y="452437"/>
                  <a:pt x="90714" y="45243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4191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CLARION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192000" y="4635500"/>
            <a:ext cx="254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Connectionist Learning with Adaptive Rule Induction</a:t>
            </a:r>
            <a:endParaRPr lang="en-US" sz="14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Dual-process cognition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70000" y="7175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architectures provide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frameworks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building general intelligent systems.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SOAR and ACT-R Architectures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05000"/>
            <a:ext cx="6604000" cy="762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905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SOAR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(1987)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51000" y="2921000"/>
            <a:ext cx="584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Name: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State, Operator And Result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Creators: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Laird, Newell, Rosenbloom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cognition as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through problem spaces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Production rules • Chunking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Universal subgoaling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Apps: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Military, game AI, robotics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584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905000"/>
            <a:ext cx="6604000" cy="76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8636000" y="1905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ACT-R</a:t>
            </a:r>
            <a:pPr algn="l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(1990s)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763000" y="2921000"/>
            <a:ext cx="584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Name: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Adaptive Control of Thought-Rational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Creator: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John R. Anderson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Models cognition with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plausibility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Modules: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Declarative &amp; procedural memory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Goal, visual, manual modules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Apps: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Psychology, HCI, education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70000" y="7874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aim for general intelligence through unified cognitive theories — SOAR emphasizes problem-solving; ACT-R emphasizes human-like cognition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Consciousness — Definition and the Hard Problem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Consciousness: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state of subjective experience — the </a:t>
            </a:r>
            <a:pPr algn="l">
              <a:lnSpc>
                <a:spcPct val="15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"what it is like"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be aware (Nagel, 1974: </a:t>
            </a:r>
            <a:pPr algn="l">
              <a:lnSpc>
                <a:spcPct val="15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"What Is It Like to Be a Bat?"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1000" y="361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160238" y="168573"/>
                </a:moveTo>
                <a:cubicBezTo>
                  <a:pt x="148134" y="163413"/>
                  <a:pt x="134144" y="168970"/>
                  <a:pt x="128984" y="181074"/>
                </a:cubicBezTo>
                <a:cubicBezTo>
                  <a:pt x="123825" y="193179"/>
                  <a:pt x="129381" y="207169"/>
                  <a:pt x="141486" y="212328"/>
                </a:cubicBezTo>
                <a:lnTo>
                  <a:pt x="153293" y="217388"/>
                </a:lnTo>
                <a:cubicBezTo>
                  <a:pt x="170458" y="224730"/>
                  <a:pt x="188218" y="230188"/>
                  <a:pt x="206474" y="233561"/>
                </a:cubicBezTo>
                <a:lnTo>
                  <a:pt x="206474" y="283270"/>
                </a:lnTo>
                <a:cubicBezTo>
                  <a:pt x="206474" y="287536"/>
                  <a:pt x="205780" y="291802"/>
                  <a:pt x="204391" y="295771"/>
                </a:cubicBezTo>
                <a:lnTo>
                  <a:pt x="175915" y="381198"/>
                </a:lnTo>
                <a:cubicBezTo>
                  <a:pt x="171748" y="393700"/>
                  <a:pt x="178495" y="407194"/>
                  <a:pt x="190996" y="411361"/>
                </a:cubicBezTo>
                <a:cubicBezTo>
                  <a:pt x="203498" y="415528"/>
                  <a:pt x="216991" y="408781"/>
                  <a:pt x="221159" y="396280"/>
                </a:cubicBezTo>
                <a:lnTo>
                  <a:pt x="245368" y="323652"/>
                </a:lnTo>
                <a:cubicBezTo>
                  <a:pt x="246658" y="319881"/>
                  <a:pt x="250130" y="317302"/>
                  <a:pt x="254099" y="317302"/>
                </a:cubicBezTo>
                <a:cubicBezTo>
                  <a:pt x="258068" y="317302"/>
                  <a:pt x="261640" y="319881"/>
                  <a:pt x="262830" y="323652"/>
                </a:cubicBezTo>
                <a:lnTo>
                  <a:pt x="287040" y="396280"/>
                </a:lnTo>
                <a:cubicBezTo>
                  <a:pt x="291207" y="408781"/>
                  <a:pt x="304701" y="415528"/>
                  <a:pt x="317202" y="411361"/>
                </a:cubicBezTo>
                <a:cubicBezTo>
                  <a:pt x="329704" y="407194"/>
                  <a:pt x="336352" y="393898"/>
                  <a:pt x="332184" y="381397"/>
                </a:cubicBezTo>
                <a:lnTo>
                  <a:pt x="303709" y="295970"/>
                </a:lnTo>
                <a:cubicBezTo>
                  <a:pt x="302320" y="291902"/>
                  <a:pt x="301625" y="287734"/>
                  <a:pt x="301625" y="283468"/>
                </a:cubicBezTo>
                <a:lnTo>
                  <a:pt x="301625" y="233759"/>
                </a:lnTo>
                <a:cubicBezTo>
                  <a:pt x="319881" y="230287"/>
                  <a:pt x="337641" y="224929"/>
                  <a:pt x="354806" y="217587"/>
                </a:cubicBezTo>
                <a:lnTo>
                  <a:pt x="366613" y="212527"/>
                </a:lnTo>
                <a:cubicBezTo>
                  <a:pt x="378718" y="207367"/>
                  <a:pt x="384274" y="193377"/>
                  <a:pt x="379115" y="181273"/>
                </a:cubicBezTo>
                <a:cubicBezTo>
                  <a:pt x="373955" y="169168"/>
                  <a:pt x="359966" y="163612"/>
                  <a:pt x="347861" y="168771"/>
                </a:cubicBezTo>
                <a:lnTo>
                  <a:pt x="336054" y="173633"/>
                </a:lnTo>
                <a:cubicBezTo>
                  <a:pt x="310158" y="184745"/>
                  <a:pt x="282277" y="190500"/>
                  <a:pt x="254000" y="190500"/>
                </a:cubicBezTo>
                <a:cubicBezTo>
                  <a:pt x="225723" y="190500"/>
                  <a:pt x="197941" y="184745"/>
                  <a:pt x="171946" y="173633"/>
                </a:cubicBezTo>
                <a:lnTo>
                  <a:pt x="160139" y="168573"/>
                </a:lnTo>
                <a:close/>
                <a:moveTo>
                  <a:pt x="254000" y="158750"/>
                </a:moveTo>
                <a:cubicBezTo>
                  <a:pt x="275904" y="158750"/>
                  <a:pt x="293688" y="140967"/>
                  <a:pt x="293688" y="119063"/>
                </a:cubicBezTo>
                <a:cubicBezTo>
                  <a:pt x="293688" y="97158"/>
                  <a:pt x="275904" y="79375"/>
                  <a:pt x="254000" y="79375"/>
                </a:cubicBezTo>
                <a:cubicBezTo>
                  <a:pt x="232096" y="79375"/>
                  <a:pt x="214313" y="97158"/>
                  <a:pt x="214313" y="119063"/>
                </a:cubicBezTo>
                <a:cubicBezTo>
                  <a:pt x="214313" y="140967"/>
                  <a:pt x="232096" y="158750"/>
                  <a:pt x="254000" y="1587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349500" y="3556000"/>
            <a:ext cx="520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Access Consciousness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51000" y="4191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Information globally available — can be reported, remembered, and used for decisions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302000"/>
            <a:ext cx="6604000" cy="228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63000" y="361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31750"/>
                </a:moveTo>
                <a:cubicBezTo>
                  <a:pt x="182739" y="31750"/>
                  <a:pt x="125677" y="68263"/>
                  <a:pt x="84138" y="111720"/>
                </a:cubicBezTo>
                <a:cubicBezTo>
                  <a:pt x="42863" y="154880"/>
                  <a:pt x="15258" y="206375"/>
                  <a:pt x="2117" y="241796"/>
                </a:cubicBezTo>
                <a:cubicBezTo>
                  <a:pt x="-794" y="249634"/>
                  <a:pt x="-794" y="258366"/>
                  <a:pt x="2117" y="266204"/>
                </a:cubicBezTo>
                <a:cubicBezTo>
                  <a:pt x="15258" y="301625"/>
                  <a:pt x="42863" y="353219"/>
                  <a:pt x="84138" y="396280"/>
                </a:cubicBezTo>
                <a:cubicBezTo>
                  <a:pt x="125677" y="439638"/>
                  <a:pt x="182739" y="476250"/>
                  <a:pt x="254000" y="476250"/>
                </a:cubicBezTo>
                <a:cubicBezTo>
                  <a:pt x="325261" y="476250"/>
                  <a:pt x="382323" y="439737"/>
                  <a:pt x="423863" y="396280"/>
                </a:cubicBezTo>
                <a:cubicBezTo>
                  <a:pt x="465138" y="353120"/>
                  <a:pt x="492742" y="301625"/>
                  <a:pt x="505883" y="266204"/>
                </a:cubicBezTo>
                <a:cubicBezTo>
                  <a:pt x="508794" y="258366"/>
                  <a:pt x="508794" y="249634"/>
                  <a:pt x="505883" y="241796"/>
                </a:cubicBezTo>
                <a:cubicBezTo>
                  <a:pt x="492742" y="206375"/>
                  <a:pt x="465138" y="154781"/>
                  <a:pt x="423863" y="111720"/>
                </a:cubicBezTo>
                <a:cubicBezTo>
                  <a:pt x="382323" y="68362"/>
                  <a:pt x="325261" y="31750"/>
                  <a:pt x="254000" y="31750"/>
                </a:cubicBezTo>
                <a:close/>
                <a:moveTo>
                  <a:pt x="127000" y="254000"/>
                </a:moveTo>
                <a:cubicBezTo>
                  <a:pt x="127000" y="175145"/>
                  <a:pt x="183907" y="111125"/>
                  <a:pt x="254000" y="111125"/>
                </a:cubicBezTo>
                <a:cubicBezTo>
                  <a:pt x="324093" y="111125"/>
                  <a:pt x="381000" y="175145"/>
                  <a:pt x="381000" y="254000"/>
                </a:cubicBezTo>
                <a:cubicBezTo>
                  <a:pt x="381000" y="332855"/>
                  <a:pt x="324093" y="396875"/>
                  <a:pt x="254000" y="396875"/>
                </a:cubicBezTo>
                <a:cubicBezTo>
                  <a:pt x="183907" y="396875"/>
                  <a:pt x="127000" y="332855"/>
                  <a:pt x="127000" y="254000"/>
                </a:cubicBezTo>
                <a:close/>
                <a:moveTo>
                  <a:pt x="254000" y="190500"/>
                </a:moveTo>
                <a:cubicBezTo>
                  <a:pt x="254000" y="225524"/>
                  <a:pt x="228688" y="254000"/>
                  <a:pt x="197556" y="254000"/>
                </a:cubicBezTo>
                <a:cubicBezTo>
                  <a:pt x="187413" y="254000"/>
                  <a:pt x="177888" y="251023"/>
                  <a:pt x="169598" y="245666"/>
                </a:cubicBezTo>
                <a:cubicBezTo>
                  <a:pt x="168716" y="256480"/>
                  <a:pt x="169510" y="267593"/>
                  <a:pt x="172156" y="278606"/>
                </a:cubicBezTo>
                <a:cubicBezTo>
                  <a:pt x="184238" y="329406"/>
                  <a:pt x="230717" y="359569"/>
                  <a:pt x="275872" y="345976"/>
                </a:cubicBezTo>
                <a:cubicBezTo>
                  <a:pt x="321028" y="332383"/>
                  <a:pt x="347839" y="280095"/>
                  <a:pt x="335756" y="229295"/>
                </a:cubicBezTo>
                <a:cubicBezTo>
                  <a:pt x="324997" y="183952"/>
                  <a:pt x="286808" y="155079"/>
                  <a:pt x="246592" y="159048"/>
                </a:cubicBezTo>
                <a:cubicBezTo>
                  <a:pt x="251266" y="168275"/>
                  <a:pt x="254000" y="178991"/>
                  <a:pt x="254000" y="1905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3556000"/>
            <a:ext cx="520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Phenomenal Consciousness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4191000"/>
            <a:ext cx="596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Subjective experience —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qualia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The redness of red, the pain of a headache.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6096000"/>
            <a:ext cx="13716000" cy="1524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51000" y="647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304800" y="209550"/>
                </a:moveTo>
                <a:cubicBezTo>
                  <a:pt x="283726" y="209550"/>
                  <a:pt x="266700" y="226576"/>
                  <a:pt x="266700" y="247650"/>
                </a:cubicBezTo>
                <a:cubicBezTo>
                  <a:pt x="266700" y="263485"/>
                  <a:pt x="253960" y="276225"/>
                  <a:pt x="238125" y="276225"/>
                </a:cubicBezTo>
                <a:cubicBezTo>
                  <a:pt x="222290" y="276225"/>
                  <a:pt x="209550" y="263485"/>
                  <a:pt x="209550" y="247650"/>
                </a:cubicBezTo>
                <a:cubicBezTo>
                  <a:pt x="209550" y="195024"/>
                  <a:pt x="252174" y="152400"/>
                  <a:pt x="304800" y="152400"/>
                </a:cubicBezTo>
                <a:cubicBezTo>
                  <a:pt x="357426" y="152400"/>
                  <a:pt x="400050" y="195024"/>
                  <a:pt x="400050" y="247650"/>
                </a:cubicBezTo>
                <a:cubicBezTo>
                  <a:pt x="400050" y="303848"/>
                  <a:pt x="357188" y="327660"/>
                  <a:pt x="333375" y="336352"/>
                </a:cubicBezTo>
                <a:lnTo>
                  <a:pt x="333375" y="340876"/>
                </a:lnTo>
                <a:cubicBezTo>
                  <a:pt x="333375" y="356711"/>
                  <a:pt x="320635" y="369451"/>
                  <a:pt x="304800" y="369451"/>
                </a:cubicBezTo>
                <a:cubicBezTo>
                  <a:pt x="288965" y="369451"/>
                  <a:pt x="276225" y="356711"/>
                  <a:pt x="276225" y="340876"/>
                </a:cubicBezTo>
                <a:lnTo>
                  <a:pt x="276225" y="331232"/>
                </a:lnTo>
                <a:cubicBezTo>
                  <a:pt x="276225" y="306824"/>
                  <a:pt x="293846" y="289322"/>
                  <a:pt x="312063" y="283369"/>
                </a:cubicBezTo>
                <a:cubicBezTo>
                  <a:pt x="319683" y="280868"/>
                  <a:pt x="327779" y="276820"/>
                  <a:pt x="333732" y="271105"/>
                </a:cubicBezTo>
                <a:cubicBezTo>
                  <a:pt x="338852" y="266105"/>
                  <a:pt x="342900" y="259199"/>
                  <a:pt x="342900" y="247769"/>
                </a:cubicBezTo>
                <a:cubicBezTo>
                  <a:pt x="342900" y="226695"/>
                  <a:pt x="325874" y="209669"/>
                  <a:pt x="304800" y="209669"/>
                </a:cubicBezTo>
                <a:close/>
                <a:moveTo>
                  <a:pt x="266700" y="438150"/>
                </a:moveTo>
                <a:cubicBezTo>
                  <a:pt x="266700" y="417122"/>
                  <a:pt x="283772" y="400050"/>
                  <a:pt x="304800" y="400050"/>
                </a:cubicBezTo>
                <a:cubicBezTo>
                  <a:pt x="325828" y="400050"/>
                  <a:pt x="342900" y="417122"/>
                  <a:pt x="342900" y="438150"/>
                </a:cubicBezTo>
                <a:cubicBezTo>
                  <a:pt x="342900" y="459178"/>
                  <a:pt x="325828" y="476250"/>
                  <a:pt x="304800" y="476250"/>
                </a:cubicBezTo>
                <a:cubicBezTo>
                  <a:pt x="283772" y="476250"/>
                  <a:pt x="266700" y="459178"/>
                  <a:pt x="266700" y="4381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2476500" y="6286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Hard Problem</a:t>
            </a:r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(Chalmers, 1995)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76500" y="6731000"/>
            <a:ext cx="1219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does brain activity produce subjective experience? Easy Problems are tractable; the Hard Problem remains a mystery.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Workspace Theory (GWT)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Bernard Baars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(1988), GWT likens consciousness to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theater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Unconscious processes in background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Content enters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"global workspace"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Like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spotlight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stage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Mechanism: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Info becomes conscious when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globally broadcast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GNW (Dehaene):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Burst of neural activity; stimuli enter awareness when activity spreads (~300ms).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5842000" cy="508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Theater Model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906000" y="2794000"/>
            <a:ext cx="3810000" cy="127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50000"/>
                </a:srgbClr>
              </a:gs>
            </a:gsLst>
            <a:lin ang="54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9906000" y="2794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WORKSPACE</a:t>
            </a:r>
            <a:endParaRPr lang="en-US" sz="20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Conscious content broadcast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98000" y="43815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43815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68000" y="43815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0" y="43815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938000" y="43815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938000" y="43815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98000" y="52705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D0D6DC"/>
          </a:solidFill>
          <a:ln/>
        </p:spPr>
      </p:sp>
      <p:sp>
        <p:nvSpPr>
          <p:cNvPr id="16" name="Text 14"/>
          <p:cNvSpPr/>
          <p:nvPr/>
        </p:nvSpPr>
        <p:spPr>
          <a:xfrm>
            <a:off x="9398000" y="52705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68000" y="52705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D0D6DC"/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0" y="52705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938000" y="52705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D0D6DC"/>
          </a:solidFill>
          <a:ln/>
        </p:spPr>
      </p:sp>
      <p:sp>
        <p:nvSpPr>
          <p:cNvPr id="20" name="Text 18"/>
          <p:cNvSpPr/>
          <p:nvPr/>
        </p:nvSpPr>
        <p:spPr>
          <a:xfrm>
            <a:off x="11938000" y="52705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Emotion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71000" y="6032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Unconscious specialized processors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906000" y="4064000"/>
            <a:ext cx="1016000" cy="254000"/>
          </a:xfrm>
          <a:prstGeom prst="straightConnector1">
            <a:avLst/>
          </a:prstGeom>
          <a:noFill/>
          <a:ln w="12700">
            <a:solidFill>
              <a:srgbClr val="D0D6DC"/>
            </a:solidFill>
            <a:prstDash val="dash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176000" y="4064000"/>
            <a:ext cx="0" cy="254000"/>
          </a:xfrm>
          <a:prstGeom prst="straightConnector1">
            <a:avLst/>
          </a:prstGeom>
          <a:noFill/>
          <a:ln w="12700">
            <a:solidFill>
              <a:srgbClr val="D0D6DC"/>
            </a:solidFill>
            <a:prstDash val="dash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2446000" y="4064000"/>
            <a:ext cx="0" cy="254000"/>
          </a:xfrm>
          <a:prstGeom prst="straightConnector1">
            <a:avLst/>
          </a:prstGeom>
          <a:noFill/>
          <a:ln w="12700">
            <a:solidFill>
              <a:srgbClr val="D0D6DC"/>
            </a:solidFill>
            <a:prstDash val="dash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70000" y="71755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LIDA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Stan Franklin simulates global workspace in artificial agents.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Information Theory (IIT)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Developed by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Giulio Tononi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(2004), IIT proposes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consciousness = integrated information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 system.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 (Φ):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Measures integration. Higher Φ = more consciousness. Φ = 0 means no consciousness.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IIT 4.0</a:t>
            </a:r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(2023): Refined axioms into formal math framework.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5842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Consciousness Spectrum (Φ)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0" y="2667000"/>
          <a:ext cx="5334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270000" y="5715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Phenomenological Axioms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270000" y="6350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460500" y="6413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Intrinsic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Exists for itself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99000" y="6350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89500" y="6413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Composed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 structure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28000" y="6350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318500" y="6413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Integrated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Experience is unified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557000" y="6350000"/>
            <a:ext cx="3175000" cy="101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747500" y="6413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Exclusive</a:t>
            </a:r>
            <a:endParaRPr lang="en-US" sz="18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Experience has borders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70000" y="7620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Controversy: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2023 adversarial collaboration pitted IIT vs GWT; critics question testability.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Processing and Consciousness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Coding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(Friston, 2010; Clark, 2013):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brain is a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machine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generating world models and minimizing prediction errors.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Inference: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Higher levels predict lower inputs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Mismatches generate errors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Errors update beliefs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Perception is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construction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5842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524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Hierarchical Prediction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33000" y="27940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0033000" y="2794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High-Level Predictions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11000" y="33020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0033000" y="36830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6B9CBF"/>
          </a:solidFill>
          <a:ln/>
        </p:spPr>
      </p:sp>
      <p:sp>
        <p:nvSpPr>
          <p:cNvPr id="11" name="Text 9"/>
          <p:cNvSpPr/>
          <p:nvPr/>
        </p:nvSpPr>
        <p:spPr>
          <a:xfrm>
            <a:off x="10033000" y="3683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Mid-Level Integration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11000" y="4191000"/>
            <a:ext cx="0" cy="381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033000" y="45720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33000" y="457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Sensory Input + Errors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41000" y="51435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 errors update beliefs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70000" y="6223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8000" y="6350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Anil Seth (2021)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</a:t>
            </a:r>
            <a:pPr algn="l">
              <a:lnSpc>
                <a:spcPct val="160000"/>
              </a:lnSpc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Being You: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Consciousness as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"controlled hallucination"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shaped by prediction. Our brains generate predicted worlds and refine them with sensory data.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Consciousness — Can AI Be Conscious?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05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90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Arguments FOR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84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Functionalism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Consciousness is information processing, not substrate.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IIT Implication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Φ systems possess consciousness.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GWT Implementation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Workspace can be computed (LIDA).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482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905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90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Arguments AGAINST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E539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The Hard Problem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theory bridges physical processes to experience.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539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Chinese Room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is not semantics (Searle).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539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Causal Structure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lacks biological complexity of brains.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7048500"/>
            <a:ext cx="13716000" cy="762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778000" y="70485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Consensus: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No current AI system is conscious. The question remains open and deeply debated.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Cognitive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96351"/>
                </a:moveTo>
                <a:lnTo>
                  <a:pt x="215205" y="77778"/>
                </a:lnTo>
                <a:cubicBezTo>
                  <a:pt x="192881" y="46881"/>
                  <a:pt x="157073" y="28575"/>
                  <a:pt x="118854" y="28575"/>
                </a:cubicBezTo>
                <a:cubicBezTo>
                  <a:pt x="53221" y="28575"/>
                  <a:pt x="0" y="81796"/>
                  <a:pt x="0" y="147429"/>
                </a:cubicBezTo>
                <a:lnTo>
                  <a:pt x="0" y="149751"/>
                </a:lnTo>
                <a:cubicBezTo>
                  <a:pt x="0" y="170825"/>
                  <a:pt x="5536" y="192613"/>
                  <a:pt x="14823" y="214313"/>
                </a:cubicBezTo>
                <a:lnTo>
                  <a:pt x="109478" y="214313"/>
                </a:lnTo>
                <a:cubicBezTo>
                  <a:pt x="112335" y="214313"/>
                  <a:pt x="114925" y="212616"/>
                  <a:pt x="116086" y="209937"/>
                </a:cubicBezTo>
                <a:lnTo>
                  <a:pt x="144482" y="141803"/>
                </a:lnTo>
                <a:cubicBezTo>
                  <a:pt x="147786" y="133945"/>
                  <a:pt x="155466" y="128766"/>
                  <a:pt x="163949" y="128588"/>
                </a:cubicBezTo>
                <a:cubicBezTo>
                  <a:pt x="172432" y="128409"/>
                  <a:pt x="180290" y="133410"/>
                  <a:pt x="183773" y="141178"/>
                </a:cubicBezTo>
                <a:lnTo>
                  <a:pt x="229582" y="242888"/>
                </a:lnTo>
                <a:lnTo>
                  <a:pt x="266551" y="168950"/>
                </a:lnTo>
                <a:cubicBezTo>
                  <a:pt x="270212" y="161717"/>
                  <a:pt x="277624" y="157073"/>
                  <a:pt x="285750" y="157073"/>
                </a:cubicBezTo>
                <a:cubicBezTo>
                  <a:pt x="293876" y="157073"/>
                  <a:pt x="301288" y="161627"/>
                  <a:pt x="304949" y="168950"/>
                </a:cubicBezTo>
                <a:lnTo>
                  <a:pt x="325666" y="210294"/>
                </a:lnTo>
                <a:cubicBezTo>
                  <a:pt x="326916" y="212705"/>
                  <a:pt x="329327" y="214223"/>
                  <a:pt x="332095" y="214223"/>
                </a:cubicBezTo>
                <a:lnTo>
                  <a:pt x="442466" y="214223"/>
                </a:lnTo>
                <a:cubicBezTo>
                  <a:pt x="451842" y="192524"/>
                  <a:pt x="457289" y="170736"/>
                  <a:pt x="457289" y="149662"/>
                </a:cubicBezTo>
                <a:lnTo>
                  <a:pt x="457289" y="147340"/>
                </a:lnTo>
                <a:cubicBezTo>
                  <a:pt x="457200" y="81796"/>
                  <a:pt x="403979" y="28575"/>
                  <a:pt x="338346" y="28575"/>
                </a:cubicBezTo>
                <a:cubicBezTo>
                  <a:pt x="300216" y="28575"/>
                  <a:pt x="264319" y="46881"/>
                  <a:pt x="241995" y="77778"/>
                </a:cubicBezTo>
                <a:lnTo>
                  <a:pt x="228600" y="96262"/>
                </a:lnTo>
                <a:close/>
                <a:moveTo>
                  <a:pt x="419338" y="257175"/>
                </a:moveTo>
                <a:lnTo>
                  <a:pt x="332006" y="257175"/>
                </a:lnTo>
                <a:cubicBezTo>
                  <a:pt x="313075" y="257175"/>
                  <a:pt x="295751" y="246459"/>
                  <a:pt x="287268" y="229493"/>
                </a:cubicBezTo>
                <a:lnTo>
                  <a:pt x="285750" y="226457"/>
                </a:lnTo>
                <a:lnTo>
                  <a:pt x="247799" y="302449"/>
                </a:lnTo>
                <a:cubicBezTo>
                  <a:pt x="244138" y="309860"/>
                  <a:pt x="236458" y="314504"/>
                  <a:pt x="228154" y="314325"/>
                </a:cubicBezTo>
                <a:cubicBezTo>
                  <a:pt x="219849" y="314146"/>
                  <a:pt x="212437" y="309235"/>
                  <a:pt x="209044" y="301734"/>
                </a:cubicBezTo>
                <a:lnTo>
                  <a:pt x="165021" y="203954"/>
                </a:lnTo>
                <a:lnTo>
                  <a:pt x="155644" y="226457"/>
                </a:lnTo>
                <a:cubicBezTo>
                  <a:pt x="147876" y="245120"/>
                  <a:pt x="129659" y="257264"/>
                  <a:pt x="109478" y="257264"/>
                </a:cubicBezTo>
                <a:lnTo>
                  <a:pt x="37862" y="257264"/>
                </a:lnTo>
                <a:cubicBezTo>
                  <a:pt x="80010" y="323165"/>
                  <a:pt x="147697" y="383798"/>
                  <a:pt x="190024" y="416123"/>
                </a:cubicBezTo>
                <a:cubicBezTo>
                  <a:pt x="201097" y="424517"/>
                  <a:pt x="214670" y="428714"/>
                  <a:pt x="228511" y="428714"/>
                </a:cubicBezTo>
                <a:cubicBezTo>
                  <a:pt x="242352" y="428714"/>
                  <a:pt x="256014" y="424607"/>
                  <a:pt x="266998" y="416123"/>
                </a:cubicBezTo>
                <a:cubicBezTo>
                  <a:pt x="309503" y="383709"/>
                  <a:pt x="377190" y="323076"/>
                  <a:pt x="419338" y="2571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349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22500" y="2768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Diagnostics, treatment, mental health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0729" y="104835"/>
                </a:moveTo>
                <a:lnTo>
                  <a:pt x="97423" y="171450"/>
                </a:lnTo>
                <a:lnTo>
                  <a:pt x="359777" y="171450"/>
                </a:lnTo>
                <a:lnTo>
                  <a:pt x="336471" y="104835"/>
                </a:lnTo>
                <a:cubicBezTo>
                  <a:pt x="332452" y="93405"/>
                  <a:pt x="321647" y="85725"/>
                  <a:pt x="309503" y="85725"/>
                </a:cubicBezTo>
                <a:lnTo>
                  <a:pt x="147697" y="85725"/>
                </a:lnTo>
                <a:cubicBezTo>
                  <a:pt x="135553" y="85725"/>
                  <a:pt x="124748" y="93405"/>
                  <a:pt x="120729" y="104835"/>
                </a:cubicBezTo>
                <a:close/>
                <a:moveTo>
                  <a:pt x="35362" y="175736"/>
                </a:moveTo>
                <a:lnTo>
                  <a:pt x="66794" y="85993"/>
                </a:lnTo>
                <a:cubicBezTo>
                  <a:pt x="78849" y="51614"/>
                  <a:pt x="111264" y="28575"/>
                  <a:pt x="147697" y="28575"/>
                </a:cubicBezTo>
                <a:lnTo>
                  <a:pt x="309503" y="28575"/>
                </a:lnTo>
                <a:cubicBezTo>
                  <a:pt x="345936" y="28575"/>
                  <a:pt x="378351" y="51614"/>
                  <a:pt x="390406" y="85993"/>
                </a:cubicBezTo>
                <a:lnTo>
                  <a:pt x="421838" y="175736"/>
                </a:lnTo>
                <a:cubicBezTo>
                  <a:pt x="442555" y="184309"/>
                  <a:pt x="457200" y="204758"/>
                  <a:pt x="457200" y="2286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400050" y="428625"/>
                </a:lnTo>
                <a:cubicBezTo>
                  <a:pt x="384244" y="428625"/>
                  <a:pt x="371475" y="415856"/>
                  <a:pt x="371475" y="400050"/>
                </a:cubicBezTo>
                <a:lnTo>
                  <a:pt x="371475" y="371475"/>
                </a:lnTo>
                <a:lnTo>
                  <a:pt x="85725" y="371475"/>
                </a:lnTo>
                <a:lnTo>
                  <a:pt x="85725" y="400050"/>
                </a:lnTo>
                <a:cubicBezTo>
                  <a:pt x="85725" y="415856"/>
                  <a:pt x="72956" y="428625"/>
                  <a:pt x="57150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228600"/>
                </a:lnTo>
                <a:cubicBezTo>
                  <a:pt x="0" y="204758"/>
                  <a:pt x="14645" y="184309"/>
                  <a:pt x="35362" y="175736"/>
                </a:cubicBezTo>
                <a:close/>
                <a:moveTo>
                  <a:pt x="114300" y="271463"/>
                </a:moveTo>
                <a:cubicBezTo>
                  <a:pt x="114300" y="255692"/>
                  <a:pt x="101496" y="242888"/>
                  <a:pt x="85725" y="242888"/>
                </a:cubicBezTo>
                <a:cubicBezTo>
                  <a:pt x="69954" y="242888"/>
                  <a:pt x="57150" y="255692"/>
                  <a:pt x="57150" y="271463"/>
                </a:cubicBezTo>
                <a:cubicBezTo>
                  <a:pt x="57150" y="287233"/>
                  <a:pt x="69954" y="300038"/>
                  <a:pt x="85725" y="300038"/>
                </a:cubicBezTo>
                <a:cubicBezTo>
                  <a:pt x="101496" y="300038"/>
                  <a:pt x="114300" y="287233"/>
                  <a:pt x="114300" y="271463"/>
                </a:cubicBezTo>
                <a:close/>
                <a:moveTo>
                  <a:pt x="371475" y="300038"/>
                </a:moveTo>
                <a:cubicBezTo>
                  <a:pt x="387246" y="300038"/>
                  <a:pt x="400050" y="287233"/>
                  <a:pt x="400050" y="271463"/>
                </a:cubicBezTo>
                <a:cubicBezTo>
                  <a:pt x="400050" y="255692"/>
                  <a:pt x="387246" y="242888"/>
                  <a:pt x="371475" y="242888"/>
                </a:cubicBezTo>
                <a:cubicBezTo>
                  <a:pt x="355704" y="242888"/>
                  <a:pt x="342900" y="255692"/>
                  <a:pt x="342900" y="271463"/>
                </a:cubicBezTo>
                <a:cubicBezTo>
                  <a:pt x="342900" y="287233"/>
                  <a:pt x="355704" y="300038"/>
                  <a:pt x="371475" y="30003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921500" y="2349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Autonomous Vehicles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21500" y="2768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Perception-decision pipelines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0985500" y="2476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1460" y="0"/>
                </a:moveTo>
                <a:cubicBezTo>
                  <a:pt x="251460" y="-15806"/>
                  <a:pt x="241244" y="-28575"/>
                  <a:pt x="228600" y="-28575"/>
                </a:cubicBezTo>
                <a:cubicBezTo>
                  <a:pt x="215956" y="-28575"/>
                  <a:pt x="205740" y="-15806"/>
                  <a:pt x="205740" y="0"/>
                </a:cubicBezTo>
                <a:lnTo>
                  <a:pt x="205740" y="57150"/>
                </a:lnTo>
                <a:lnTo>
                  <a:pt x="137160" y="57150"/>
                </a:lnTo>
                <a:cubicBezTo>
                  <a:pt x="99298" y="57150"/>
                  <a:pt x="68580" y="95548"/>
                  <a:pt x="68580" y="142875"/>
                </a:cubicBezTo>
                <a:lnTo>
                  <a:pt x="68580" y="342900"/>
                </a:lnTo>
                <a:cubicBezTo>
                  <a:pt x="68580" y="390227"/>
                  <a:pt x="99298" y="428625"/>
                  <a:pt x="137160" y="428625"/>
                </a:cubicBezTo>
                <a:lnTo>
                  <a:pt x="320040" y="428625"/>
                </a:lnTo>
                <a:cubicBezTo>
                  <a:pt x="357902" y="428625"/>
                  <a:pt x="388620" y="390227"/>
                  <a:pt x="388620" y="342900"/>
                </a:cubicBezTo>
                <a:lnTo>
                  <a:pt x="388620" y="142875"/>
                </a:lnTo>
                <a:cubicBezTo>
                  <a:pt x="388620" y="95548"/>
                  <a:pt x="357902" y="57150"/>
                  <a:pt x="320040" y="57150"/>
                </a:cubicBezTo>
                <a:lnTo>
                  <a:pt x="251460" y="57150"/>
                </a:lnTo>
                <a:lnTo>
                  <a:pt x="251460" y="0"/>
                </a:lnTo>
                <a:close/>
                <a:moveTo>
                  <a:pt x="114300" y="328613"/>
                </a:moveTo>
                <a:cubicBezTo>
                  <a:pt x="114300" y="316736"/>
                  <a:pt x="121944" y="307181"/>
                  <a:pt x="131445" y="307181"/>
                </a:cubicBezTo>
                <a:lnTo>
                  <a:pt x="154305" y="307181"/>
                </a:lnTo>
                <a:cubicBezTo>
                  <a:pt x="163806" y="307181"/>
                  <a:pt x="171450" y="316736"/>
                  <a:pt x="171450" y="328613"/>
                </a:cubicBezTo>
                <a:cubicBezTo>
                  <a:pt x="171450" y="340489"/>
                  <a:pt x="163806" y="350044"/>
                  <a:pt x="154305" y="350044"/>
                </a:cubicBezTo>
                <a:lnTo>
                  <a:pt x="131445" y="350044"/>
                </a:lnTo>
                <a:cubicBezTo>
                  <a:pt x="121944" y="350044"/>
                  <a:pt x="114300" y="340489"/>
                  <a:pt x="114300" y="328613"/>
                </a:cubicBezTo>
                <a:close/>
                <a:moveTo>
                  <a:pt x="200025" y="328613"/>
                </a:moveTo>
                <a:cubicBezTo>
                  <a:pt x="200025" y="316736"/>
                  <a:pt x="207669" y="307181"/>
                  <a:pt x="217170" y="307181"/>
                </a:cubicBezTo>
                <a:lnTo>
                  <a:pt x="240030" y="307181"/>
                </a:lnTo>
                <a:cubicBezTo>
                  <a:pt x="249531" y="307181"/>
                  <a:pt x="257175" y="316736"/>
                  <a:pt x="257175" y="328613"/>
                </a:cubicBezTo>
                <a:cubicBezTo>
                  <a:pt x="257175" y="340489"/>
                  <a:pt x="249531" y="350044"/>
                  <a:pt x="240030" y="350044"/>
                </a:cubicBezTo>
                <a:lnTo>
                  <a:pt x="217170" y="350044"/>
                </a:lnTo>
                <a:cubicBezTo>
                  <a:pt x="207669" y="350044"/>
                  <a:pt x="200025" y="340489"/>
                  <a:pt x="200025" y="328613"/>
                </a:cubicBezTo>
                <a:close/>
                <a:moveTo>
                  <a:pt x="285750" y="328613"/>
                </a:moveTo>
                <a:cubicBezTo>
                  <a:pt x="285750" y="316736"/>
                  <a:pt x="293394" y="307181"/>
                  <a:pt x="302895" y="307181"/>
                </a:cubicBezTo>
                <a:lnTo>
                  <a:pt x="325755" y="307181"/>
                </a:lnTo>
                <a:cubicBezTo>
                  <a:pt x="335256" y="307181"/>
                  <a:pt x="342900" y="316736"/>
                  <a:pt x="342900" y="328613"/>
                </a:cubicBezTo>
                <a:cubicBezTo>
                  <a:pt x="342900" y="340489"/>
                  <a:pt x="335256" y="350044"/>
                  <a:pt x="325755" y="350044"/>
                </a:cubicBezTo>
                <a:lnTo>
                  <a:pt x="302895" y="350044"/>
                </a:lnTo>
                <a:cubicBezTo>
                  <a:pt x="293394" y="350044"/>
                  <a:pt x="285750" y="340489"/>
                  <a:pt x="285750" y="328613"/>
                </a:cubicBezTo>
                <a:close/>
                <a:moveTo>
                  <a:pt x="160020" y="157163"/>
                </a:moveTo>
                <a:cubicBezTo>
                  <a:pt x="178945" y="157163"/>
                  <a:pt x="194310" y="176369"/>
                  <a:pt x="194310" y="200025"/>
                </a:cubicBezTo>
                <a:cubicBezTo>
                  <a:pt x="194310" y="223681"/>
                  <a:pt x="178945" y="242888"/>
                  <a:pt x="160020" y="242888"/>
                </a:cubicBezTo>
                <a:cubicBezTo>
                  <a:pt x="141095" y="242888"/>
                  <a:pt x="125730" y="223681"/>
                  <a:pt x="125730" y="200025"/>
                </a:cubicBezTo>
                <a:cubicBezTo>
                  <a:pt x="125730" y="176369"/>
                  <a:pt x="141095" y="157163"/>
                  <a:pt x="160020" y="157163"/>
                </a:cubicBezTo>
                <a:close/>
                <a:moveTo>
                  <a:pt x="262890" y="200025"/>
                </a:moveTo>
                <a:cubicBezTo>
                  <a:pt x="262890" y="176369"/>
                  <a:pt x="278255" y="157163"/>
                  <a:pt x="297180" y="157163"/>
                </a:cubicBezTo>
                <a:cubicBezTo>
                  <a:pt x="316105" y="157163"/>
                  <a:pt x="331470" y="176369"/>
                  <a:pt x="331470" y="200025"/>
                </a:cubicBezTo>
                <a:cubicBezTo>
                  <a:pt x="331470" y="223681"/>
                  <a:pt x="316105" y="242888"/>
                  <a:pt x="297180" y="242888"/>
                </a:cubicBezTo>
                <a:cubicBezTo>
                  <a:pt x="278255" y="242888"/>
                  <a:pt x="262890" y="223681"/>
                  <a:pt x="262890" y="200025"/>
                </a:cubicBezTo>
                <a:close/>
                <a:moveTo>
                  <a:pt x="45720" y="200025"/>
                </a:moveTo>
                <a:cubicBezTo>
                  <a:pt x="45720" y="184219"/>
                  <a:pt x="35504" y="171450"/>
                  <a:pt x="22860" y="171450"/>
                </a:cubicBezTo>
                <a:cubicBezTo>
                  <a:pt x="10216" y="171450"/>
                  <a:pt x="0" y="184219"/>
                  <a:pt x="0" y="200025"/>
                </a:cubicBezTo>
                <a:lnTo>
                  <a:pt x="0" y="285750"/>
                </a:lnTo>
                <a:cubicBezTo>
                  <a:pt x="0" y="301556"/>
                  <a:pt x="10216" y="314325"/>
                  <a:pt x="22860" y="314325"/>
                </a:cubicBezTo>
                <a:cubicBezTo>
                  <a:pt x="35504" y="314325"/>
                  <a:pt x="45720" y="301556"/>
                  <a:pt x="45720" y="285750"/>
                </a:cubicBezTo>
                <a:lnTo>
                  <a:pt x="45720" y="200025"/>
                </a:lnTo>
                <a:close/>
                <a:moveTo>
                  <a:pt x="434340" y="171450"/>
                </a:moveTo>
                <a:cubicBezTo>
                  <a:pt x="421696" y="171450"/>
                  <a:pt x="411480" y="184219"/>
                  <a:pt x="411480" y="200025"/>
                </a:cubicBezTo>
                <a:lnTo>
                  <a:pt x="411480" y="285750"/>
                </a:lnTo>
                <a:cubicBezTo>
                  <a:pt x="411480" y="301556"/>
                  <a:pt x="421696" y="314325"/>
                  <a:pt x="434340" y="314325"/>
                </a:cubicBezTo>
                <a:cubicBezTo>
                  <a:pt x="446984" y="314325"/>
                  <a:pt x="457200" y="301556"/>
                  <a:pt x="457200" y="285750"/>
                </a:cubicBezTo>
                <a:lnTo>
                  <a:pt x="457200" y="200025"/>
                </a:lnTo>
                <a:cubicBezTo>
                  <a:pt x="457200" y="184219"/>
                  <a:pt x="446984" y="171450"/>
                  <a:pt x="434340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0" y="2349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Robotics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20500" y="2768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Human-robot interaction, adaptive manipulation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191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463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222500" y="4508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22500" y="4927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Intelligent tutoring, personalized learning paths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191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6500" y="463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4800" y="128588"/>
                </a:moveTo>
                <a:cubicBezTo>
                  <a:pt x="304800" y="215384"/>
                  <a:pt x="236538" y="285750"/>
                  <a:pt x="152400" y="285750"/>
                </a:cubicBezTo>
                <a:cubicBezTo>
                  <a:pt x="131207" y="285750"/>
                  <a:pt x="111046" y="281285"/>
                  <a:pt x="92710" y="273248"/>
                </a:cubicBezTo>
                <a:lnTo>
                  <a:pt x="27940" y="311825"/>
                </a:lnTo>
                <a:cubicBezTo>
                  <a:pt x="20558" y="316200"/>
                  <a:pt x="11509" y="314682"/>
                  <a:pt x="5556" y="308074"/>
                </a:cubicBezTo>
                <a:cubicBezTo>
                  <a:pt x="-397" y="301466"/>
                  <a:pt x="-1746" y="291197"/>
                  <a:pt x="2223" y="282893"/>
                </a:cubicBezTo>
                <a:lnTo>
                  <a:pt x="30480" y="222885"/>
                </a:lnTo>
                <a:cubicBezTo>
                  <a:pt x="11351" y="196632"/>
                  <a:pt x="0" y="163949"/>
                  <a:pt x="0" y="128588"/>
                </a:cubicBezTo>
                <a:cubicBezTo>
                  <a:pt x="0" y="41791"/>
                  <a:pt x="68263" y="-28575"/>
                  <a:pt x="152400" y="-28575"/>
                </a:cubicBezTo>
                <a:cubicBezTo>
                  <a:pt x="236538" y="-28575"/>
                  <a:pt x="304800" y="41791"/>
                  <a:pt x="304800" y="128588"/>
                </a:cubicBezTo>
                <a:close/>
                <a:moveTo>
                  <a:pt x="304800" y="457200"/>
                </a:moveTo>
                <a:cubicBezTo>
                  <a:pt x="230108" y="457200"/>
                  <a:pt x="167958" y="401747"/>
                  <a:pt x="154940" y="328613"/>
                </a:cubicBezTo>
                <a:cubicBezTo>
                  <a:pt x="250190" y="327273"/>
                  <a:pt x="332978" y="251014"/>
                  <a:pt x="342106" y="147608"/>
                </a:cubicBezTo>
                <a:cubicBezTo>
                  <a:pt x="408226" y="164753"/>
                  <a:pt x="457200" y="226457"/>
                  <a:pt x="457200" y="300038"/>
                </a:cubicBezTo>
                <a:cubicBezTo>
                  <a:pt x="457200" y="335399"/>
                  <a:pt x="445849" y="368082"/>
                  <a:pt x="426720" y="394335"/>
                </a:cubicBezTo>
                <a:lnTo>
                  <a:pt x="454978" y="454342"/>
                </a:lnTo>
                <a:cubicBezTo>
                  <a:pt x="458867" y="462647"/>
                  <a:pt x="457518" y="472827"/>
                  <a:pt x="451644" y="479524"/>
                </a:cubicBezTo>
                <a:cubicBezTo>
                  <a:pt x="445770" y="486221"/>
                  <a:pt x="436642" y="487740"/>
                  <a:pt x="429260" y="483275"/>
                </a:cubicBezTo>
                <a:lnTo>
                  <a:pt x="364490" y="444698"/>
                </a:lnTo>
                <a:cubicBezTo>
                  <a:pt x="346154" y="452735"/>
                  <a:pt x="325993" y="457200"/>
                  <a:pt x="304800" y="4572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1500" y="4508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 &amp; Conversational AI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21500" y="4927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Conversational agents, semantic understanding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191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85500" y="463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20500" y="45085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 Support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620500" y="4927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 problem-solving, strategic planning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" y="6350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Cognitive systems bridge the gap between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narrow AI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human-like intelligence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enabling flexible and robust systems.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 in Cognitive AI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540000"/>
            <a:ext cx="13716000" cy="38100"/>
          </a:xfrm>
          <a:prstGeom prst="rect">
            <a:avLst/>
          </a:prstGeom>
          <a:gradFill rotWithShape="1" flip="none">
            <a:gsLst>
              <a:gs pos="0">
                <a:srgbClr val="2E5E8A"/>
              </a:gs>
              <a:gs pos="100000">
                <a:srgbClr val="FF7F50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1778000" y="2387600"/>
            <a:ext cx="304800" cy="3048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70000" y="3048000"/>
            <a:ext cx="2032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97000" y="3175000"/>
            <a:ext cx="177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Neuro-Symbolic</a:t>
            </a:r>
            <a:endParaRPr lang="en-US" sz="1400" dirty="0"/>
          </a:p>
          <a:p>
            <a:pPr algn="ctr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+ symbolic reasoning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8000" y="2387600"/>
            <a:ext cx="304800" cy="3048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0" y="3048000"/>
            <a:ext cx="2032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7000" y="3175000"/>
            <a:ext cx="177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Brain-Computer Interfaces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 neural integration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2387600"/>
            <a:ext cx="304800" cy="3048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0000" y="3048000"/>
            <a:ext cx="2032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7000" y="3175000"/>
            <a:ext cx="177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Embodied Cognition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Intelligence from physical interaction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2387600"/>
            <a:ext cx="304800" cy="3048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0000" y="3048000"/>
            <a:ext cx="2032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17000" y="3175000"/>
            <a:ext cx="177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Developmental Robotics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Robots that learn like children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938000" y="2387600"/>
            <a:ext cx="304800" cy="3048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0" y="3048000"/>
            <a:ext cx="2032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557000" y="3175000"/>
            <a:ext cx="177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Whole-Brain Emulation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Simulating biological neural circuits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478000" y="2387600"/>
            <a:ext cx="304800" cy="3048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70000" y="3048000"/>
            <a:ext cx="2032000" cy="2286000"/>
          </a:xfrm>
          <a:prstGeom prst="roundRect">
            <a:avLst>
              <a:gd name="adj" fmla="val 10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097000" y="3175000"/>
            <a:ext cx="177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Continual Learning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catastrophic forgetting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5969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1778000" y="6096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Vision: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Moving from task-specific AI to systems that </a:t>
            </a:r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learn, adapt, and evolve</a:t>
            </a:r>
            <a:pPr algn="l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like biological minds — achieving true cognitive flexibility and general intelligence.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63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Ethical Considerations and Societal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75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286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Safety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22500" y="2730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Ensuring AGI acts in humanity's interest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65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320" y="28575"/>
                </a:moveTo>
                <a:lnTo>
                  <a:pt x="365760" y="28575"/>
                </a:lnTo>
                <a:cubicBezTo>
                  <a:pt x="378404" y="28575"/>
                  <a:pt x="388620" y="41344"/>
                  <a:pt x="388620" y="57150"/>
                </a:cubicBezTo>
                <a:cubicBezTo>
                  <a:pt x="388620" y="72956"/>
                  <a:pt x="378404" y="85725"/>
                  <a:pt x="365760" y="85725"/>
                </a:cubicBezTo>
                <a:lnTo>
                  <a:pt x="284607" y="85725"/>
                </a:lnTo>
                <a:cubicBezTo>
                  <a:pt x="280892" y="108764"/>
                  <a:pt x="268248" y="127784"/>
                  <a:pt x="251460" y="136892"/>
                </a:cubicBezTo>
                <a:lnTo>
                  <a:pt x="251460" y="400050"/>
                </a:lnTo>
                <a:lnTo>
                  <a:pt x="365760" y="400050"/>
                </a:lnTo>
                <a:cubicBezTo>
                  <a:pt x="378404" y="400050"/>
                  <a:pt x="388620" y="412819"/>
                  <a:pt x="388620" y="428625"/>
                </a:cubicBezTo>
                <a:cubicBezTo>
                  <a:pt x="388620" y="444431"/>
                  <a:pt x="378404" y="457200"/>
                  <a:pt x="365760" y="457200"/>
                </a:cubicBezTo>
                <a:lnTo>
                  <a:pt x="91440" y="457200"/>
                </a:lnTo>
                <a:cubicBezTo>
                  <a:pt x="78796" y="457200"/>
                  <a:pt x="68580" y="444431"/>
                  <a:pt x="68580" y="428625"/>
                </a:cubicBezTo>
                <a:cubicBezTo>
                  <a:pt x="68580" y="412819"/>
                  <a:pt x="78796" y="400050"/>
                  <a:pt x="91440" y="400050"/>
                </a:cubicBezTo>
                <a:lnTo>
                  <a:pt x="205740" y="400050"/>
                </a:lnTo>
                <a:lnTo>
                  <a:pt x="205740" y="136892"/>
                </a:lnTo>
                <a:cubicBezTo>
                  <a:pt x="188952" y="127695"/>
                  <a:pt x="176308" y="108674"/>
                  <a:pt x="172593" y="85725"/>
                </a:cubicBezTo>
                <a:lnTo>
                  <a:pt x="91440" y="85725"/>
                </a:lnTo>
                <a:cubicBezTo>
                  <a:pt x="78796" y="85725"/>
                  <a:pt x="68580" y="72956"/>
                  <a:pt x="68580" y="57150"/>
                </a:cubicBezTo>
                <a:cubicBezTo>
                  <a:pt x="68580" y="41344"/>
                  <a:pt x="78796" y="28575"/>
                  <a:pt x="91440" y="28575"/>
                </a:cubicBezTo>
                <a:lnTo>
                  <a:pt x="182880" y="28575"/>
                </a:lnTo>
                <a:cubicBezTo>
                  <a:pt x="193310" y="11251"/>
                  <a:pt x="209883" y="0"/>
                  <a:pt x="228600" y="0"/>
                </a:cubicBezTo>
                <a:cubicBezTo>
                  <a:pt x="247317" y="0"/>
                  <a:pt x="263890" y="11251"/>
                  <a:pt x="274320" y="28575"/>
                </a:cubicBezTo>
                <a:close/>
                <a:moveTo>
                  <a:pt x="314039" y="285750"/>
                </a:moveTo>
                <a:lnTo>
                  <a:pt x="417481" y="285750"/>
                </a:lnTo>
                <a:lnTo>
                  <a:pt x="365760" y="174843"/>
                </a:lnTo>
                <a:lnTo>
                  <a:pt x="314039" y="285750"/>
                </a:lnTo>
                <a:close/>
                <a:moveTo>
                  <a:pt x="365760" y="371475"/>
                </a:moveTo>
                <a:cubicBezTo>
                  <a:pt x="320826" y="371475"/>
                  <a:pt x="283464" y="341114"/>
                  <a:pt x="275749" y="301020"/>
                </a:cubicBezTo>
                <a:cubicBezTo>
                  <a:pt x="273891" y="291197"/>
                  <a:pt x="276463" y="281107"/>
                  <a:pt x="280535" y="272355"/>
                </a:cubicBezTo>
                <a:lnTo>
                  <a:pt x="348544" y="126623"/>
                </a:lnTo>
                <a:cubicBezTo>
                  <a:pt x="352115" y="118943"/>
                  <a:pt x="358688" y="114300"/>
                  <a:pt x="365760" y="114300"/>
                </a:cubicBezTo>
                <a:cubicBezTo>
                  <a:pt x="372832" y="114300"/>
                  <a:pt x="379405" y="119033"/>
                  <a:pt x="382976" y="126623"/>
                </a:cubicBezTo>
                <a:lnTo>
                  <a:pt x="450985" y="272355"/>
                </a:lnTo>
                <a:cubicBezTo>
                  <a:pt x="455057" y="281107"/>
                  <a:pt x="457629" y="291197"/>
                  <a:pt x="455771" y="301020"/>
                </a:cubicBezTo>
                <a:cubicBezTo>
                  <a:pt x="448056" y="341025"/>
                  <a:pt x="410694" y="371475"/>
                  <a:pt x="365760" y="371475"/>
                </a:cubicBezTo>
                <a:close/>
                <a:moveTo>
                  <a:pt x="90583" y="174843"/>
                </a:moveTo>
                <a:lnTo>
                  <a:pt x="38862" y="285750"/>
                </a:lnTo>
                <a:lnTo>
                  <a:pt x="142375" y="285750"/>
                </a:lnTo>
                <a:lnTo>
                  <a:pt x="90583" y="174843"/>
                </a:lnTo>
                <a:close/>
                <a:moveTo>
                  <a:pt x="643" y="301020"/>
                </a:moveTo>
                <a:cubicBezTo>
                  <a:pt x="-1214" y="291197"/>
                  <a:pt x="1357" y="281107"/>
                  <a:pt x="5429" y="272355"/>
                </a:cubicBezTo>
                <a:lnTo>
                  <a:pt x="73438" y="126623"/>
                </a:lnTo>
                <a:cubicBezTo>
                  <a:pt x="77010" y="118943"/>
                  <a:pt x="83582" y="114300"/>
                  <a:pt x="90654" y="114300"/>
                </a:cubicBezTo>
                <a:cubicBezTo>
                  <a:pt x="97727" y="114300"/>
                  <a:pt x="104299" y="119033"/>
                  <a:pt x="107871" y="126623"/>
                </a:cubicBezTo>
                <a:lnTo>
                  <a:pt x="175879" y="272355"/>
                </a:lnTo>
                <a:cubicBezTo>
                  <a:pt x="179951" y="281107"/>
                  <a:pt x="182523" y="291197"/>
                  <a:pt x="180665" y="301020"/>
                </a:cubicBezTo>
                <a:cubicBezTo>
                  <a:pt x="172950" y="341025"/>
                  <a:pt x="135588" y="371475"/>
                  <a:pt x="90654" y="371475"/>
                </a:cubicBezTo>
                <a:cubicBezTo>
                  <a:pt x="45720" y="371475"/>
                  <a:pt x="8358" y="341114"/>
                  <a:pt x="643" y="30102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6921500" y="2286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Consciousness Rights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21500" y="2730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Moral status of conscious machines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85500" y="234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8594" y="42863"/>
                </a:moveTo>
                <a:lnTo>
                  <a:pt x="278606" y="42863"/>
                </a:lnTo>
                <a:cubicBezTo>
                  <a:pt x="282535" y="42863"/>
                  <a:pt x="285750" y="46077"/>
                  <a:pt x="285750" y="50006"/>
                </a:cubicBezTo>
                <a:lnTo>
                  <a:pt x="285750" y="85725"/>
                </a:lnTo>
                <a:lnTo>
                  <a:pt x="171450" y="85725"/>
                </a:lnTo>
                <a:lnTo>
                  <a:pt x="171450" y="50006"/>
                </a:lnTo>
                <a:cubicBezTo>
                  <a:pt x="171450" y="46077"/>
                  <a:pt x="174665" y="42863"/>
                  <a:pt x="178594" y="42863"/>
                </a:cubicBezTo>
                <a:close/>
                <a:moveTo>
                  <a:pt x="128588" y="50006"/>
                </a:moveTo>
                <a:lnTo>
                  <a:pt x="128588" y="85725"/>
                </a:lnTo>
                <a:lnTo>
                  <a:pt x="57150" y="85725"/>
                </a:lnTo>
                <a:cubicBezTo>
                  <a:pt x="25628" y="85725"/>
                  <a:pt x="0" y="111353"/>
                  <a:pt x="0" y="142875"/>
                </a:cubicBezTo>
                <a:lnTo>
                  <a:pt x="0" y="228600"/>
                </a:lnTo>
                <a:lnTo>
                  <a:pt x="457200" y="228600"/>
                </a:lnTo>
                <a:lnTo>
                  <a:pt x="457200" y="142875"/>
                </a:lnTo>
                <a:cubicBezTo>
                  <a:pt x="457200" y="111353"/>
                  <a:pt x="431572" y="85725"/>
                  <a:pt x="400050" y="85725"/>
                </a:cubicBezTo>
                <a:lnTo>
                  <a:pt x="328613" y="85725"/>
                </a:lnTo>
                <a:lnTo>
                  <a:pt x="328613" y="50006"/>
                </a:lnTo>
                <a:cubicBezTo>
                  <a:pt x="328613" y="22414"/>
                  <a:pt x="306199" y="0"/>
                  <a:pt x="278606" y="0"/>
                </a:cubicBezTo>
                <a:lnTo>
                  <a:pt x="178594" y="0"/>
                </a:lnTo>
                <a:cubicBezTo>
                  <a:pt x="151001" y="0"/>
                  <a:pt x="128588" y="22414"/>
                  <a:pt x="128588" y="50006"/>
                </a:cubicBezTo>
                <a:close/>
                <a:moveTo>
                  <a:pt x="457200" y="271463"/>
                </a:moveTo>
                <a:lnTo>
                  <a:pt x="285750" y="271463"/>
                </a:lnTo>
                <a:lnTo>
                  <a:pt x="285750" y="285750"/>
                </a:lnTo>
                <a:cubicBezTo>
                  <a:pt x="285750" y="301556"/>
                  <a:pt x="272981" y="314325"/>
                  <a:pt x="257175" y="314325"/>
                </a:cubicBezTo>
                <a:lnTo>
                  <a:pt x="200025" y="314325"/>
                </a:lnTo>
                <a:cubicBezTo>
                  <a:pt x="184219" y="314325"/>
                  <a:pt x="171450" y="301556"/>
                  <a:pt x="171450" y="285750"/>
                </a:cubicBezTo>
                <a:lnTo>
                  <a:pt x="171450" y="271463"/>
                </a:lnTo>
                <a:lnTo>
                  <a:pt x="0" y="271463"/>
                </a:ln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400050" y="428625"/>
                </a:lnTo>
                <a:cubicBezTo>
                  <a:pt x="431572" y="428625"/>
                  <a:pt x="457200" y="402997"/>
                  <a:pt x="457200" y="371475"/>
                </a:cubicBezTo>
                <a:lnTo>
                  <a:pt x="457200" y="27146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0" y="2286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Job Displacement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620500" y="2730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Economic impacts of intelligent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0000" y="4191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87500" y="450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60142" y="0"/>
                  <a:pt x="285750" y="25608"/>
                  <a:pt x="285750" y="57150"/>
                </a:cubicBezTo>
                <a:cubicBezTo>
                  <a:pt x="285750" y="88692"/>
                  <a:pt x="260142" y="114300"/>
                  <a:pt x="228600" y="114300"/>
                </a:cubicBezTo>
                <a:cubicBezTo>
                  <a:pt x="197058" y="114300"/>
                  <a:pt x="171450" y="88692"/>
                  <a:pt x="171450" y="57150"/>
                </a:cubicBezTo>
                <a:cubicBezTo>
                  <a:pt x="171450" y="25608"/>
                  <a:pt x="197058" y="0"/>
                  <a:pt x="228600" y="0"/>
                </a:cubicBezTo>
                <a:close/>
                <a:moveTo>
                  <a:pt x="314325" y="278606"/>
                </a:moveTo>
                <a:cubicBezTo>
                  <a:pt x="314325" y="300930"/>
                  <a:pt x="302984" y="320576"/>
                  <a:pt x="285750" y="332095"/>
                </a:cubicBezTo>
                <a:lnTo>
                  <a:pt x="285750" y="414338"/>
                </a:lnTo>
                <a:cubicBezTo>
                  <a:pt x="285750" y="438001"/>
                  <a:pt x="266551" y="457200"/>
                  <a:pt x="242888" y="457200"/>
                </a:cubicBezTo>
                <a:lnTo>
                  <a:pt x="214313" y="457200"/>
                </a:lnTo>
                <a:cubicBezTo>
                  <a:pt x="190649" y="457200"/>
                  <a:pt x="171450" y="438001"/>
                  <a:pt x="171450" y="414338"/>
                </a:cubicBezTo>
                <a:lnTo>
                  <a:pt x="171450" y="332095"/>
                </a:lnTo>
                <a:cubicBezTo>
                  <a:pt x="154216" y="320576"/>
                  <a:pt x="142875" y="300930"/>
                  <a:pt x="142875" y="278606"/>
                </a:cubicBezTo>
                <a:lnTo>
                  <a:pt x="142875" y="242888"/>
                </a:lnTo>
                <a:cubicBezTo>
                  <a:pt x="142875" y="195560"/>
                  <a:pt x="181273" y="157163"/>
                  <a:pt x="228600" y="157163"/>
                </a:cubicBezTo>
                <a:cubicBezTo>
                  <a:pt x="275927" y="157163"/>
                  <a:pt x="314325" y="195560"/>
                  <a:pt x="314325" y="242888"/>
                </a:cubicBezTo>
                <a:lnTo>
                  <a:pt x="314325" y="278606"/>
                </a:lnTo>
                <a:close/>
                <a:moveTo>
                  <a:pt x="85725" y="28575"/>
                </a:moveTo>
                <a:cubicBezTo>
                  <a:pt x="113324" y="28575"/>
                  <a:pt x="135731" y="50982"/>
                  <a:pt x="135731" y="78581"/>
                </a:cubicBezTo>
                <a:cubicBezTo>
                  <a:pt x="135731" y="106180"/>
                  <a:pt x="113324" y="128588"/>
                  <a:pt x="85725" y="128588"/>
                </a:cubicBezTo>
                <a:cubicBezTo>
                  <a:pt x="58126" y="128588"/>
                  <a:pt x="35719" y="106180"/>
                  <a:pt x="35719" y="78581"/>
                </a:cubicBezTo>
                <a:cubicBezTo>
                  <a:pt x="35719" y="50982"/>
                  <a:pt x="58126" y="28575"/>
                  <a:pt x="85725" y="28575"/>
                </a:cubicBezTo>
                <a:close/>
                <a:moveTo>
                  <a:pt x="100013" y="242888"/>
                </a:moveTo>
                <a:lnTo>
                  <a:pt x="100013" y="271463"/>
                </a:lnTo>
                <a:cubicBezTo>
                  <a:pt x="100013" y="300484"/>
                  <a:pt x="110817" y="326916"/>
                  <a:pt x="128588" y="347097"/>
                </a:cubicBezTo>
                <a:lnTo>
                  <a:pt x="128588" y="414338"/>
                </a:lnTo>
                <a:cubicBezTo>
                  <a:pt x="128588" y="415409"/>
                  <a:pt x="128588" y="416570"/>
                  <a:pt x="128677" y="417641"/>
                </a:cubicBezTo>
                <a:cubicBezTo>
                  <a:pt x="121087" y="424428"/>
                  <a:pt x="111085" y="428625"/>
                  <a:pt x="100013" y="428625"/>
                </a:cubicBezTo>
                <a:lnTo>
                  <a:pt x="71438" y="428625"/>
                </a:lnTo>
                <a:cubicBezTo>
                  <a:pt x="47774" y="428625"/>
                  <a:pt x="28575" y="409426"/>
                  <a:pt x="28575" y="385763"/>
                </a:cubicBezTo>
                <a:lnTo>
                  <a:pt x="28575" y="335220"/>
                </a:lnTo>
                <a:cubicBezTo>
                  <a:pt x="11519" y="325398"/>
                  <a:pt x="0" y="306913"/>
                  <a:pt x="0" y="285750"/>
                </a:cubicBezTo>
                <a:lnTo>
                  <a:pt x="0" y="257175"/>
                </a:lnTo>
                <a:cubicBezTo>
                  <a:pt x="0" y="209848"/>
                  <a:pt x="38398" y="171450"/>
                  <a:pt x="85725" y="171450"/>
                </a:cubicBezTo>
                <a:cubicBezTo>
                  <a:pt x="97066" y="171450"/>
                  <a:pt x="107871" y="173682"/>
                  <a:pt x="117783" y="177611"/>
                </a:cubicBezTo>
                <a:cubicBezTo>
                  <a:pt x="106531" y="196721"/>
                  <a:pt x="100013" y="219045"/>
                  <a:pt x="100013" y="242888"/>
                </a:cubicBezTo>
                <a:close/>
                <a:moveTo>
                  <a:pt x="328613" y="414338"/>
                </a:moveTo>
                <a:lnTo>
                  <a:pt x="328613" y="347097"/>
                </a:lnTo>
                <a:cubicBezTo>
                  <a:pt x="346383" y="327005"/>
                  <a:pt x="357188" y="300484"/>
                  <a:pt x="357188" y="271463"/>
                </a:cubicBezTo>
                <a:lnTo>
                  <a:pt x="357188" y="242888"/>
                </a:lnTo>
                <a:cubicBezTo>
                  <a:pt x="357188" y="219045"/>
                  <a:pt x="350669" y="196810"/>
                  <a:pt x="339417" y="177611"/>
                </a:cubicBezTo>
                <a:cubicBezTo>
                  <a:pt x="349329" y="173593"/>
                  <a:pt x="360134" y="171450"/>
                  <a:pt x="371475" y="171450"/>
                </a:cubicBezTo>
                <a:cubicBezTo>
                  <a:pt x="418802" y="171450"/>
                  <a:pt x="457200" y="209848"/>
                  <a:pt x="457200" y="257175"/>
                </a:cubicBezTo>
                <a:lnTo>
                  <a:pt x="457200" y="285750"/>
                </a:lnTo>
                <a:cubicBezTo>
                  <a:pt x="457200" y="306913"/>
                  <a:pt x="445681" y="325398"/>
                  <a:pt x="428625" y="335220"/>
                </a:cubicBezTo>
                <a:lnTo>
                  <a:pt x="428625" y="385763"/>
                </a:lnTo>
                <a:cubicBezTo>
                  <a:pt x="428625" y="409426"/>
                  <a:pt x="409426" y="428625"/>
                  <a:pt x="385763" y="428625"/>
                </a:cubicBezTo>
                <a:lnTo>
                  <a:pt x="357188" y="428625"/>
                </a:lnTo>
                <a:cubicBezTo>
                  <a:pt x="346204" y="428625"/>
                  <a:pt x="336113" y="424517"/>
                  <a:pt x="328523" y="417641"/>
                </a:cubicBezTo>
                <a:cubicBezTo>
                  <a:pt x="328523" y="416570"/>
                  <a:pt x="328613" y="415409"/>
                  <a:pt x="328613" y="414338"/>
                </a:cubicBezTo>
                <a:close/>
                <a:moveTo>
                  <a:pt x="371475" y="28575"/>
                </a:moveTo>
                <a:cubicBezTo>
                  <a:pt x="399074" y="28575"/>
                  <a:pt x="421481" y="50982"/>
                  <a:pt x="421481" y="78581"/>
                </a:cubicBezTo>
                <a:cubicBezTo>
                  <a:pt x="421481" y="106180"/>
                  <a:pt x="399074" y="128588"/>
                  <a:pt x="371475" y="128588"/>
                </a:cubicBezTo>
                <a:cubicBezTo>
                  <a:pt x="343876" y="128588"/>
                  <a:pt x="321469" y="106180"/>
                  <a:pt x="321469" y="78581"/>
                </a:cubicBezTo>
                <a:cubicBezTo>
                  <a:pt x="321469" y="50982"/>
                  <a:pt x="343876" y="28575"/>
                  <a:pt x="371475" y="2857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2222500" y="4445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Bias and Fairness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22500" y="488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Preventing discriminatory outcomes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0" y="4191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86500" y="450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1500" y="4445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Transparency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21500" y="488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Explainability of complex decisions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668000" y="4191000"/>
            <a:ext cx="4318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85500" y="450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4620" y="136981"/>
                </a:moveTo>
                <a:lnTo>
                  <a:pt x="119777" y="120283"/>
                </a:lnTo>
                <a:cubicBezTo>
                  <a:pt x="109855" y="109121"/>
                  <a:pt x="109855" y="90994"/>
                  <a:pt x="119777" y="79831"/>
                </a:cubicBezTo>
                <a:lnTo>
                  <a:pt x="210820" y="-22681"/>
                </a:lnTo>
                <a:cubicBezTo>
                  <a:pt x="220742" y="-33844"/>
                  <a:pt x="236855" y="-33844"/>
                  <a:pt x="246777" y="-22681"/>
                </a:cubicBezTo>
                <a:lnTo>
                  <a:pt x="261620" y="-5894"/>
                </a:lnTo>
                <a:cubicBezTo>
                  <a:pt x="271542" y="5269"/>
                  <a:pt x="271542" y="23396"/>
                  <a:pt x="261620" y="34558"/>
                </a:cubicBezTo>
                <a:lnTo>
                  <a:pt x="170577" y="136981"/>
                </a:lnTo>
                <a:cubicBezTo>
                  <a:pt x="160655" y="148144"/>
                  <a:pt x="144542" y="148144"/>
                  <a:pt x="134620" y="136981"/>
                </a:cubicBezTo>
                <a:close/>
                <a:moveTo>
                  <a:pt x="219075" y="189041"/>
                </a:moveTo>
                <a:lnTo>
                  <a:pt x="194151" y="161002"/>
                </a:lnTo>
                <a:lnTo>
                  <a:pt x="283051" y="60990"/>
                </a:lnTo>
                <a:lnTo>
                  <a:pt x="377825" y="167610"/>
                </a:lnTo>
                <a:lnTo>
                  <a:pt x="288925" y="267623"/>
                </a:lnTo>
                <a:lnTo>
                  <a:pt x="264001" y="239584"/>
                </a:lnTo>
                <a:lnTo>
                  <a:pt x="79851" y="446752"/>
                </a:lnTo>
                <a:cubicBezTo>
                  <a:pt x="67469" y="460683"/>
                  <a:pt x="47387" y="460683"/>
                  <a:pt x="34925" y="446752"/>
                </a:cubicBezTo>
                <a:cubicBezTo>
                  <a:pt x="22463" y="432822"/>
                  <a:pt x="22543" y="410230"/>
                  <a:pt x="34925" y="396210"/>
                </a:cubicBezTo>
                <a:lnTo>
                  <a:pt x="219075" y="189041"/>
                </a:lnTo>
                <a:close/>
                <a:moveTo>
                  <a:pt x="310277" y="334506"/>
                </a:moveTo>
                <a:cubicBezTo>
                  <a:pt x="300355" y="323344"/>
                  <a:pt x="300355" y="305217"/>
                  <a:pt x="310277" y="294055"/>
                </a:cubicBezTo>
                <a:lnTo>
                  <a:pt x="401320" y="191631"/>
                </a:lnTo>
                <a:cubicBezTo>
                  <a:pt x="411242" y="180469"/>
                  <a:pt x="427355" y="180469"/>
                  <a:pt x="437277" y="191631"/>
                </a:cubicBezTo>
                <a:lnTo>
                  <a:pt x="452120" y="208330"/>
                </a:lnTo>
                <a:cubicBezTo>
                  <a:pt x="462042" y="219492"/>
                  <a:pt x="462042" y="237619"/>
                  <a:pt x="452120" y="248781"/>
                </a:cubicBezTo>
                <a:lnTo>
                  <a:pt x="361077" y="351294"/>
                </a:lnTo>
                <a:cubicBezTo>
                  <a:pt x="351155" y="362456"/>
                  <a:pt x="335042" y="362456"/>
                  <a:pt x="325120" y="351294"/>
                </a:cubicBezTo>
                <a:lnTo>
                  <a:pt x="310277" y="33459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20500" y="44450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Governance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620500" y="488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Regulatory frameworks for AGI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477000"/>
            <a:ext cx="13716000" cy="1016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1778000" y="65405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Dual-Use Dilemma: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same capabilities that could solve global challenges (disease, climate, poverty) could also pose existential risks if misaligned or misused.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and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0000" y="1905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90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L25: Artificial General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842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AGI aims for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human-level general intelligence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all domains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Three paradigms: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symbolic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connectionist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KR —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networks, frames, ontologies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is foundational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Challenges: common sense, causality, alignment, safety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1905000"/>
            <a:ext cx="6604000" cy="63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8636000" y="190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L26: Cognitive &amp; Conscious Systems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architectures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(SOAR, ACT-R) model human-like intelligence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GWT, IIT, Predictive Processing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scientific frameworks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consciousness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open question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Ethics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paramount as capabilities advance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Journey Continues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810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representing knowledge to understanding minds — the quest for AGI challenges us to explore the nature of intelligence, cognition, and consciousness.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53000" y="533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W14 · Knowledge Representation ·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3000" y="6350000"/>
            <a:ext cx="1270000" cy="508000"/>
          </a:xfrm>
          <a:prstGeom prst="roundRect">
            <a:avLst>
              <a:gd name="adj" fmla="val 2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3000" y="6350000"/>
            <a:ext cx="12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Course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</dc:title>
  <dc:subject>week 14</dc:subject>
  <dc:creator>Kimi</dc:creator>
  <cp:lastModifiedBy>Kimi</cp:lastModifiedBy>
  <cp:revision>1</cp:revision>
  <dcterms:created xsi:type="dcterms:W3CDTF">2026-06-26T14:40:56Z</dcterms:created>
  <dcterms:modified xsi:type="dcterms:W3CDTF">2026-06-26T14:40:56Z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14","ContentProducer":"001191110108MACG2KBH8F10000","ProduceID":"19f04312-03b2-8ed5-8000-0000416c23ae","ReservedCode1":"","ContentPropagator":"001191110108MACG2KBH8F20000","PropagateID":"19f042da-f2c2-85a4-8000-09b1579575ad","ReservedCode2":""}</vt:lpwstr>
  </property>
</Properties>
</file>