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Prolog</a:t>
            </a:r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Logic Programming Fundamentals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953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13 · Lecture 23 &amp; 24 · Computer Science &amp; 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L23 — Introduction to Prolog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Syntax, Facts, Rules, Queries, Unification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406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00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406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L24 — Advanced Prolog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57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Recursion, Lists, Cuts, Applications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Prolog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Syntax, Facts, Rules, Queries, and Unification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Prolog?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gramming in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 — a declarative language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Created by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Colmerauer &amp; Roussel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1972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first-order predicate logic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paradigm: describe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Widely used in AI: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Expert systems &amp; NLP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Knowledge representation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Symbolic reasoning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Prolog at a Glance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0" y="2921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0" y="368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Created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92000" y="2921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2192000" y="368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Years of Use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98000" y="4318000"/>
            <a:ext cx="508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4572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Implementations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0" y="5143500"/>
            <a:ext cx="533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SWI-Prolog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most popular, open source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GNU Prolog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ISO compliant, compiler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SICStus Prolog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industrial strength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Trealla Prolog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modern, WASM support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Prolog Program Structure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24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245031"/>
                </a:moveTo>
                <a:cubicBezTo>
                  <a:pt x="589461" y="256699"/>
                  <a:pt x="566329" y="266105"/>
                  <a:pt x="542245" y="273606"/>
                </a:cubicBezTo>
                <a:cubicBezTo>
                  <a:pt x="478291" y="293608"/>
                  <a:pt x="394335" y="304800"/>
                  <a:pt x="304800" y="304800"/>
                </a:cubicBezTo>
                <a:cubicBezTo>
                  <a:pt x="215265" y="304800"/>
                  <a:pt x="131173" y="293489"/>
                  <a:pt x="67355" y="273606"/>
                </a:cubicBezTo>
                <a:cubicBezTo>
                  <a:pt x="43407" y="266105"/>
                  <a:pt x="20139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36480" y="438150"/>
                  <a:pt x="304800" y="438150"/>
                </a:cubicBezTo>
                <a:cubicBezTo>
                  <a:pt x="473120" y="438150"/>
                  <a:pt x="609600" y="395526"/>
                  <a:pt x="609600" y="342900"/>
                </a:cubicBezTo>
                <a:lnTo>
                  <a:pt x="609600" y="245031"/>
                </a:lnTo>
                <a:close/>
                <a:moveTo>
                  <a:pt x="609600" y="152400"/>
                </a:moveTo>
                <a:lnTo>
                  <a:pt x="609600" y="95250"/>
                </a:lnTo>
                <a:cubicBezTo>
                  <a:pt x="609600" y="42624"/>
                  <a:pt x="473120" y="0"/>
                  <a:pt x="304800" y="0"/>
                </a:cubicBezTo>
                <a:cubicBezTo>
                  <a:pt x="13648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36480" y="247650"/>
                  <a:pt x="304800" y="247650"/>
                </a:cubicBezTo>
                <a:cubicBezTo>
                  <a:pt x="473120" y="247650"/>
                  <a:pt x="609600" y="205026"/>
                  <a:pt x="609600" y="152400"/>
                </a:cubicBezTo>
                <a:close/>
                <a:moveTo>
                  <a:pt x="542245" y="464106"/>
                </a:moveTo>
                <a:cubicBezTo>
                  <a:pt x="478427" y="483989"/>
                  <a:pt x="394471" y="495300"/>
                  <a:pt x="304800" y="495300"/>
                </a:cubicBezTo>
                <a:cubicBezTo>
                  <a:pt x="215129" y="495300"/>
                  <a:pt x="131173" y="483989"/>
                  <a:pt x="67355" y="464106"/>
                </a:cubicBezTo>
                <a:cubicBezTo>
                  <a:pt x="43407" y="456605"/>
                  <a:pt x="20139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36480" y="609600"/>
                  <a:pt x="304800" y="609600"/>
                </a:cubicBezTo>
                <a:cubicBezTo>
                  <a:pt x="473120" y="609600"/>
                  <a:pt x="609600" y="566976"/>
                  <a:pt x="609600" y="514350"/>
                </a:cubicBezTo>
                <a:lnTo>
                  <a:pt x="609600" y="435531"/>
                </a:lnTo>
                <a:cubicBezTo>
                  <a:pt x="589461" y="447199"/>
                  <a:pt x="566329" y="456605"/>
                  <a:pt x="542245" y="46410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4000" y="3683000"/>
            <a:ext cx="3810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Unconditional statements about the world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likes(john, mary).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parent(tom, bob).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male(john).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Syntax: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predicate(args).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23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8857" y="123825"/>
                </a:moveTo>
                <a:cubicBezTo>
                  <a:pt x="126881" y="123825"/>
                  <a:pt x="141514" y="111021"/>
                  <a:pt x="141514" y="95250"/>
                </a:cubicBezTo>
                <a:cubicBezTo>
                  <a:pt x="141514" y="79479"/>
                  <a:pt x="126881" y="66675"/>
                  <a:pt x="108857" y="66675"/>
                </a:cubicBezTo>
                <a:cubicBezTo>
                  <a:pt x="90833" y="66675"/>
                  <a:pt x="76200" y="79479"/>
                  <a:pt x="76200" y="95250"/>
                </a:cubicBezTo>
                <a:cubicBezTo>
                  <a:pt x="76200" y="111021"/>
                  <a:pt x="90833" y="123825"/>
                  <a:pt x="108857" y="123825"/>
                </a:cubicBezTo>
                <a:close/>
                <a:moveTo>
                  <a:pt x="217714" y="95250"/>
                </a:moveTo>
                <a:cubicBezTo>
                  <a:pt x="217714" y="134303"/>
                  <a:pt x="190908" y="167878"/>
                  <a:pt x="152400" y="182523"/>
                </a:cubicBezTo>
                <a:lnTo>
                  <a:pt x="152400" y="266700"/>
                </a:lnTo>
                <a:lnTo>
                  <a:pt x="391886" y="266700"/>
                </a:lnTo>
                <a:cubicBezTo>
                  <a:pt x="427945" y="266700"/>
                  <a:pt x="457200" y="241102"/>
                  <a:pt x="457200" y="209550"/>
                </a:cubicBezTo>
                <a:lnTo>
                  <a:pt x="457200" y="182523"/>
                </a:lnTo>
                <a:cubicBezTo>
                  <a:pt x="418692" y="167878"/>
                  <a:pt x="391886" y="134303"/>
                  <a:pt x="391886" y="95250"/>
                </a:cubicBezTo>
                <a:cubicBezTo>
                  <a:pt x="391886" y="42624"/>
                  <a:pt x="440599" y="0"/>
                  <a:pt x="500743" y="0"/>
                </a:cubicBezTo>
                <a:cubicBezTo>
                  <a:pt x="560886" y="0"/>
                  <a:pt x="609600" y="42624"/>
                  <a:pt x="609600" y="95250"/>
                </a:cubicBezTo>
                <a:cubicBezTo>
                  <a:pt x="609600" y="134303"/>
                  <a:pt x="582794" y="167878"/>
                  <a:pt x="544286" y="182523"/>
                </a:cubicBezTo>
                <a:lnTo>
                  <a:pt x="544286" y="209550"/>
                </a:lnTo>
                <a:cubicBezTo>
                  <a:pt x="544286" y="283250"/>
                  <a:pt x="476114" y="342900"/>
                  <a:pt x="391886" y="342900"/>
                </a:cubicBezTo>
                <a:lnTo>
                  <a:pt x="152400" y="342900"/>
                </a:lnTo>
                <a:lnTo>
                  <a:pt x="152400" y="427077"/>
                </a:lnTo>
                <a:cubicBezTo>
                  <a:pt x="190908" y="441722"/>
                  <a:pt x="217714" y="475298"/>
                  <a:pt x="217714" y="514350"/>
                </a:cubicBezTo>
                <a:cubicBezTo>
                  <a:pt x="217714" y="566976"/>
                  <a:pt x="169001" y="609600"/>
                  <a:pt x="108857" y="609600"/>
                </a:cubicBezTo>
                <a:cubicBezTo>
                  <a:pt x="48714" y="609600"/>
                  <a:pt x="0" y="566976"/>
                  <a:pt x="0" y="514350"/>
                </a:cubicBezTo>
                <a:cubicBezTo>
                  <a:pt x="0" y="475298"/>
                  <a:pt x="26806" y="441722"/>
                  <a:pt x="65314" y="427077"/>
                </a:cubicBezTo>
                <a:lnTo>
                  <a:pt x="65314" y="182642"/>
                </a:lnTo>
                <a:cubicBezTo>
                  <a:pt x="26806" y="167878"/>
                  <a:pt x="0" y="134303"/>
                  <a:pt x="0" y="95250"/>
                </a:cubicBezTo>
                <a:cubicBezTo>
                  <a:pt x="0" y="42624"/>
                  <a:pt x="48714" y="0"/>
                  <a:pt x="108857" y="0"/>
                </a:cubicBezTo>
                <a:cubicBezTo>
                  <a:pt x="169001" y="0"/>
                  <a:pt x="217714" y="42624"/>
                  <a:pt x="217714" y="95250"/>
                </a:cubicBezTo>
                <a:close/>
                <a:moveTo>
                  <a:pt x="533400" y="95250"/>
                </a:moveTo>
                <a:cubicBezTo>
                  <a:pt x="533400" y="79479"/>
                  <a:pt x="518767" y="66675"/>
                  <a:pt x="500743" y="66675"/>
                </a:cubicBezTo>
                <a:cubicBezTo>
                  <a:pt x="482719" y="66675"/>
                  <a:pt x="468086" y="79479"/>
                  <a:pt x="468086" y="95250"/>
                </a:cubicBezTo>
                <a:cubicBezTo>
                  <a:pt x="468086" y="111021"/>
                  <a:pt x="482719" y="123825"/>
                  <a:pt x="500743" y="123825"/>
                </a:cubicBezTo>
                <a:cubicBezTo>
                  <a:pt x="518767" y="123825"/>
                  <a:pt x="533400" y="111021"/>
                  <a:pt x="533400" y="95250"/>
                </a:cubicBezTo>
                <a:close/>
                <a:moveTo>
                  <a:pt x="108857" y="542925"/>
                </a:moveTo>
                <a:cubicBezTo>
                  <a:pt x="126881" y="542925"/>
                  <a:pt x="141514" y="530121"/>
                  <a:pt x="141514" y="514350"/>
                </a:cubicBezTo>
                <a:cubicBezTo>
                  <a:pt x="141514" y="498579"/>
                  <a:pt x="126881" y="485775"/>
                  <a:pt x="108857" y="485775"/>
                </a:cubicBezTo>
                <a:cubicBezTo>
                  <a:pt x="90833" y="485775"/>
                  <a:pt x="76200" y="498579"/>
                  <a:pt x="76200" y="514350"/>
                </a:cubicBezTo>
                <a:cubicBezTo>
                  <a:pt x="76200" y="530121"/>
                  <a:pt x="90833" y="542925"/>
                  <a:pt x="108857" y="5429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23000" y="3683000"/>
            <a:ext cx="3810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Conditional "if-then" relationships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father(X,Y) :-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parent(X,Y),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male(X).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Syntax: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 :- Body.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622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522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47650" y="419100"/>
                </a:moveTo>
                <a:cubicBezTo>
                  <a:pt x="342276" y="419100"/>
                  <a:pt x="419100" y="342276"/>
                  <a:pt x="419100" y="247650"/>
                </a:cubicBezTo>
                <a:cubicBezTo>
                  <a:pt x="419100" y="153024"/>
                  <a:pt x="342276" y="76200"/>
                  <a:pt x="247650" y="76200"/>
                </a:cubicBezTo>
                <a:cubicBezTo>
                  <a:pt x="153024" y="76200"/>
                  <a:pt x="76200" y="153024"/>
                  <a:pt x="76200" y="247650"/>
                </a:cubicBezTo>
                <a:cubicBezTo>
                  <a:pt x="76200" y="342276"/>
                  <a:pt x="153024" y="419100"/>
                  <a:pt x="247650" y="4191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Queries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22000" y="3683000"/>
            <a:ext cx="3810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Questions posed to the Prolog system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?- likes(john, mary).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?- father(X, bob).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?- grandparent(tom, X).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Syntax: ?- goal.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Terms — The Building Blocks of Prolog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873" y="50304"/>
                </a:moveTo>
                <a:cubicBezTo>
                  <a:pt x="277713" y="38993"/>
                  <a:pt x="266402" y="31750"/>
                  <a:pt x="254000" y="31750"/>
                </a:cubicBezTo>
                <a:cubicBezTo>
                  <a:pt x="241598" y="31750"/>
                  <a:pt x="230287" y="38993"/>
                  <a:pt x="225127" y="50304"/>
                </a:cubicBezTo>
                <a:lnTo>
                  <a:pt x="59035" y="412750"/>
                </a:lnTo>
                <a:lnTo>
                  <a:pt x="47625" y="412750"/>
                </a:lnTo>
                <a:cubicBezTo>
                  <a:pt x="30063" y="412750"/>
                  <a:pt x="15875" y="426938"/>
                  <a:pt x="15875" y="444500"/>
                </a:cubicBezTo>
                <a:cubicBezTo>
                  <a:pt x="15875" y="462062"/>
                  <a:pt x="30063" y="476250"/>
                  <a:pt x="47625" y="476250"/>
                </a:cubicBezTo>
                <a:lnTo>
                  <a:pt x="134938" y="476250"/>
                </a:lnTo>
                <a:cubicBezTo>
                  <a:pt x="152499" y="476250"/>
                  <a:pt x="166688" y="462062"/>
                  <a:pt x="166688" y="444500"/>
                </a:cubicBezTo>
                <a:cubicBezTo>
                  <a:pt x="166688" y="426938"/>
                  <a:pt x="152499" y="412750"/>
                  <a:pt x="134938" y="412750"/>
                </a:cubicBezTo>
                <a:lnTo>
                  <a:pt x="128885" y="412750"/>
                </a:lnTo>
                <a:lnTo>
                  <a:pt x="150713" y="365125"/>
                </a:lnTo>
                <a:lnTo>
                  <a:pt x="357386" y="365125"/>
                </a:lnTo>
                <a:lnTo>
                  <a:pt x="379214" y="412750"/>
                </a:lnTo>
                <a:lnTo>
                  <a:pt x="373162" y="412750"/>
                </a:lnTo>
                <a:cubicBezTo>
                  <a:pt x="355600" y="412750"/>
                  <a:pt x="341412" y="426938"/>
                  <a:pt x="341412" y="444500"/>
                </a:cubicBezTo>
                <a:cubicBezTo>
                  <a:pt x="341412" y="462062"/>
                  <a:pt x="355600" y="476250"/>
                  <a:pt x="373162" y="476250"/>
                </a:cubicBezTo>
                <a:lnTo>
                  <a:pt x="460474" y="476250"/>
                </a:lnTo>
                <a:cubicBezTo>
                  <a:pt x="478036" y="476250"/>
                  <a:pt x="492224" y="462062"/>
                  <a:pt x="492224" y="444500"/>
                </a:cubicBezTo>
                <a:cubicBezTo>
                  <a:pt x="492224" y="426938"/>
                  <a:pt x="478036" y="412750"/>
                  <a:pt x="460474" y="412750"/>
                </a:cubicBezTo>
                <a:lnTo>
                  <a:pt x="449064" y="412750"/>
                </a:lnTo>
                <a:lnTo>
                  <a:pt x="282972" y="50304"/>
                </a:lnTo>
                <a:close/>
                <a:moveTo>
                  <a:pt x="328216" y="301625"/>
                </a:moveTo>
                <a:lnTo>
                  <a:pt x="179784" y="301625"/>
                </a:lnTo>
                <a:lnTo>
                  <a:pt x="254000" y="139700"/>
                </a:lnTo>
                <a:lnTo>
                  <a:pt x="328216" y="30162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Atoms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349500" y="2667000"/>
            <a:ext cx="520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Constants: lowercase start or in quotes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john, mary, 'Hello World', x1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13023" y="695"/>
                </a:moveTo>
                <a:cubicBezTo>
                  <a:pt x="230188" y="4366"/>
                  <a:pt x="241102" y="21233"/>
                  <a:pt x="237430" y="38398"/>
                </a:cubicBezTo>
                <a:lnTo>
                  <a:pt x="218480" y="127000"/>
                </a:lnTo>
                <a:lnTo>
                  <a:pt x="343991" y="127000"/>
                </a:lnTo>
                <a:lnTo>
                  <a:pt x="365820" y="25102"/>
                </a:lnTo>
                <a:cubicBezTo>
                  <a:pt x="369491" y="7938"/>
                  <a:pt x="386358" y="-2977"/>
                  <a:pt x="403523" y="695"/>
                </a:cubicBezTo>
                <a:cubicBezTo>
                  <a:pt x="420688" y="4366"/>
                  <a:pt x="431602" y="21233"/>
                  <a:pt x="427930" y="38398"/>
                </a:cubicBezTo>
                <a:lnTo>
                  <a:pt x="408980" y="127000"/>
                </a:lnTo>
                <a:lnTo>
                  <a:pt x="476250" y="127000"/>
                </a:lnTo>
                <a:cubicBezTo>
                  <a:pt x="493812" y="127000"/>
                  <a:pt x="508000" y="141188"/>
                  <a:pt x="508000" y="158750"/>
                </a:cubicBezTo>
                <a:cubicBezTo>
                  <a:pt x="508000" y="176312"/>
                  <a:pt x="493812" y="190500"/>
                  <a:pt x="476250" y="190500"/>
                </a:cubicBezTo>
                <a:lnTo>
                  <a:pt x="395287" y="190500"/>
                </a:lnTo>
                <a:lnTo>
                  <a:pt x="368102" y="317500"/>
                </a:lnTo>
                <a:lnTo>
                  <a:pt x="435372" y="317500"/>
                </a:lnTo>
                <a:cubicBezTo>
                  <a:pt x="452934" y="317500"/>
                  <a:pt x="467122" y="331688"/>
                  <a:pt x="467122" y="349250"/>
                </a:cubicBezTo>
                <a:cubicBezTo>
                  <a:pt x="467122" y="366812"/>
                  <a:pt x="452934" y="381000"/>
                  <a:pt x="435372" y="381000"/>
                </a:cubicBezTo>
                <a:lnTo>
                  <a:pt x="354409" y="381000"/>
                </a:lnTo>
                <a:lnTo>
                  <a:pt x="332581" y="482898"/>
                </a:lnTo>
                <a:cubicBezTo>
                  <a:pt x="328910" y="500063"/>
                  <a:pt x="312043" y="510977"/>
                  <a:pt x="294878" y="507305"/>
                </a:cubicBezTo>
                <a:cubicBezTo>
                  <a:pt x="277713" y="503634"/>
                  <a:pt x="266799" y="486767"/>
                  <a:pt x="270470" y="469602"/>
                </a:cubicBezTo>
                <a:lnTo>
                  <a:pt x="289421" y="381000"/>
                </a:lnTo>
                <a:lnTo>
                  <a:pt x="163909" y="381000"/>
                </a:lnTo>
                <a:lnTo>
                  <a:pt x="142081" y="482898"/>
                </a:lnTo>
                <a:cubicBezTo>
                  <a:pt x="138410" y="500063"/>
                  <a:pt x="121543" y="510977"/>
                  <a:pt x="104378" y="507305"/>
                </a:cubicBezTo>
                <a:cubicBezTo>
                  <a:pt x="87213" y="503634"/>
                  <a:pt x="76299" y="486767"/>
                  <a:pt x="79970" y="469602"/>
                </a:cubicBezTo>
                <a:lnTo>
                  <a:pt x="99020" y="381000"/>
                </a:lnTo>
                <a:lnTo>
                  <a:pt x="31750" y="381000"/>
                </a:lnTo>
                <a:cubicBezTo>
                  <a:pt x="14188" y="381000"/>
                  <a:pt x="0" y="366812"/>
                  <a:pt x="0" y="349250"/>
                </a:cubicBezTo>
                <a:cubicBezTo>
                  <a:pt x="0" y="331688"/>
                  <a:pt x="14188" y="317500"/>
                  <a:pt x="31750" y="317500"/>
                </a:cubicBezTo>
                <a:lnTo>
                  <a:pt x="112713" y="317500"/>
                </a:lnTo>
                <a:lnTo>
                  <a:pt x="139898" y="190500"/>
                </a:lnTo>
                <a:lnTo>
                  <a:pt x="72628" y="190500"/>
                </a:lnTo>
                <a:cubicBezTo>
                  <a:pt x="55066" y="190500"/>
                  <a:pt x="40878" y="176312"/>
                  <a:pt x="40878" y="158750"/>
                </a:cubicBezTo>
                <a:cubicBezTo>
                  <a:pt x="40878" y="141188"/>
                  <a:pt x="55066" y="127000"/>
                  <a:pt x="72628" y="127000"/>
                </a:cubicBezTo>
                <a:lnTo>
                  <a:pt x="153591" y="127000"/>
                </a:lnTo>
                <a:lnTo>
                  <a:pt x="175419" y="25102"/>
                </a:lnTo>
                <a:cubicBezTo>
                  <a:pt x="178991" y="7938"/>
                  <a:pt x="195858" y="-2977"/>
                  <a:pt x="213023" y="695"/>
                </a:cubicBezTo>
                <a:close/>
                <a:moveTo>
                  <a:pt x="204788" y="190500"/>
                </a:moveTo>
                <a:lnTo>
                  <a:pt x="177602" y="317500"/>
                </a:lnTo>
                <a:lnTo>
                  <a:pt x="303113" y="317500"/>
                </a:lnTo>
                <a:lnTo>
                  <a:pt x="330299" y="190500"/>
                </a:lnTo>
                <a:lnTo>
                  <a:pt x="204787" y="1905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22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Numbers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61500" y="2667000"/>
            <a:ext cx="520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Integers and floating-point values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42, -7, 3.14159, 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4318000"/>
            <a:ext cx="6604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476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63500"/>
                </a:moveTo>
                <a:cubicBezTo>
                  <a:pt x="169333" y="45938"/>
                  <a:pt x="188251" y="31750"/>
                  <a:pt x="211667" y="31750"/>
                </a:cubicBezTo>
                <a:lnTo>
                  <a:pt x="465667" y="31750"/>
                </a:lnTo>
                <a:cubicBezTo>
                  <a:pt x="489082" y="31750"/>
                  <a:pt x="508000" y="45938"/>
                  <a:pt x="508000" y="63500"/>
                </a:cubicBezTo>
                <a:cubicBezTo>
                  <a:pt x="508000" y="81062"/>
                  <a:pt x="489082" y="95250"/>
                  <a:pt x="465667" y="95250"/>
                </a:cubicBezTo>
                <a:lnTo>
                  <a:pt x="388011" y="95250"/>
                </a:lnTo>
                <a:lnTo>
                  <a:pt x="211667" y="412750"/>
                </a:lnTo>
                <a:lnTo>
                  <a:pt x="296333" y="412750"/>
                </a:lnTo>
                <a:cubicBezTo>
                  <a:pt x="319749" y="412750"/>
                  <a:pt x="338667" y="426938"/>
                  <a:pt x="338667" y="444500"/>
                </a:cubicBezTo>
                <a:cubicBezTo>
                  <a:pt x="338667" y="462062"/>
                  <a:pt x="319749" y="476250"/>
                  <a:pt x="296333" y="476250"/>
                </a:cubicBezTo>
                <a:lnTo>
                  <a:pt x="42333" y="476250"/>
                </a:lnTo>
                <a:cubicBezTo>
                  <a:pt x="18918" y="476250"/>
                  <a:pt x="0" y="462062"/>
                  <a:pt x="0" y="444500"/>
                </a:cubicBezTo>
                <a:cubicBezTo>
                  <a:pt x="0" y="426938"/>
                  <a:pt x="18918" y="412750"/>
                  <a:pt x="42333" y="412750"/>
                </a:cubicBezTo>
                <a:lnTo>
                  <a:pt x="119989" y="412750"/>
                </a:lnTo>
                <a:lnTo>
                  <a:pt x="296333" y="95250"/>
                </a:lnTo>
                <a:lnTo>
                  <a:pt x="211667" y="95250"/>
                </a:lnTo>
                <a:cubicBezTo>
                  <a:pt x="188251" y="95250"/>
                  <a:pt x="169333" y="81062"/>
                  <a:pt x="169333" y="635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349500" y="463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49500" y="5080000"/>
            <a:ext cx="520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Placeholders: uppercase start or underscore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X, Name, _temp, _ (anonymous)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4318000"/>
            <a:ext cx="6604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63000" y="476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1781" y="-1290"/>
                </a:moveTo>
                <a:cubicBezTo>
                  <a:pt x="264616" y="-11212"/>
                  <a:pt x="243384" y="-11212"/>
                  <a:pt x="226219" y="-1290"/>
                </a:cubicBezTo>
                <a:lnTo>
                  <a:pt x="142677" y="46930"/>
                </a:lnTo>
                <a:cubicBezTo>
                  <a:pt x="125512" y="56852"/>
                  <a:pt x="114895" y="75208"/>
                  <a:pt x="114895" y="95052"/>
                </a:cubicBezTo>
                <a:lnTo>
                  <a:pt x="114895" y="196155"/>
                </a:lnTo>
                <a:lnTo>
                  <a:pt x="27285" y="246757"/>
                </a:lnTo>
                <a:cubicBezTo>
                  <a:pt x="10120" y="256679"/>
                  <a:pt x="-496" y="275034"/>
                  <a:pt x="-496" y="294878"/>
                </a:cubicBezTo>
                <a:lnTo>
                  <a:pt x="-496" y="391418"/>
                </a:lnTo>
                <a:cubicBezTo>
                  <a:pt x="-496" y="411262"/>
                  <a:pt x="10120" y="429617"/>
                  <a:pt x="27285" y="439539"/>
                </a:cubicBezTo>
                <a:lnTo>
                  <a:pt x="110927" y="487759"/>
                </a:lnTo>
                <a:cubicBezTo>
                  <a:pt x="128091" y="497681"/>
                  <a:pt x="149324" y="497681"/>
                  <a:pt x="166489" y="487759"/>
                </a:cubicBezTo>
                <a:lnTo>
                  <a:pt x="254099" y="437158"/>
                </a:lnTo>
                <a:lnTo>
                  <a:pt x="341709" y="487759"/>
                </a:lnTo>
                <a:cubicBezTo>
                  <a:pt x="358874" y="497681"/>
                  <a:pt x="380107" y="497681"/>
                  <a:pt x="397272" y="487759"/>
                </a:cubicBezTo>
                <a:lnTo>
                  <a:pt x="480715" y="439539"/>
                </a:lnTo>
                <a:cubicBezTo>
                  <a:pt x="497880" y="429617"/>
                  <a:pt x="508496" y="411262"/>
                  <a:pt x="508496" y="391418"/>
                </a:cubicBezTo>
                <a:lnTo>
                  <a:pt x="508496" y="294878"/>
                </a:lnTo>
                <a:cubicBezTo>
                  <a:pt x="508496" y="275034"/>
                  <a:pt x="497880" y="256679"/>
                  <a:pt x="480715" y="246757"/>
                </a:cubicBezTo>
                <a:lnTo>
                  <a:pt x="393105" y="196155"/>
                </a:lnTo>
                <a:lnTo>
                  <a:pt x="393105" y="95052"/>
                </a:lnTo>
                <a:cubicBezTo>
                  <a:pt x="393105" y="75208"/>
                  <a:pt x="382488" y="56852"/>
                  <a:pt x="365323" y="46930"/>
                </a:cubicBezTo>
                <a:lnTo>
                  <a:pt x="281781" y="-1290"/>
                </a:lnTo>
                <a:close/>
                <a:moveTo>
                  <a:pt x="230188" y="290314"/>
                </a:moveTo>
                <a:lnTo>
                  <a:pt x="230188" y="395982"/>
                </a:lnTo>
                <a:lnTo>
                  <a:pt x="142577" y="446584"/>
                </a:lnTo>
                <a:cubicBezTo>
                  <a:pt x="141387" y="447278"/>
                  <a:pt x="139998" y="447675"/>
                  <a:pt x="138609" y="447675"/>
                </a:cubicBezTo>
                <a:lnTo>
                  <a:pt x="138609" y="343198"/>
                </a:lnTo>
                <a:lnTo>
                  <a:pt x="230188" y="290314"/>
                </a:lnTo>
                <a:close/>
                <a:moveTo>
                  <a:pt x="459780" y="290909"/>
                </a:moveTo>
                <a:cubicBezTo>
                  <a:pt x="460474" y="292100"/>
                  <a:pt x="460871" y="293489"/>
                  <a:pt x="460871" y="294878"/>
                </a:cubicBezTo>
                <a:lnTo>
                  <a:pt x="460871" y="391418"/>
                </a:lnTo>
                <a:cubicBezTo>
                  <a:pt x="460871" y="394295"/>
                  <a:pt x="459383" y="396875"/>
                  <a:pt x="456902" y="398264"/>
                </a:cubicBezTo>
                <a:lnTo>
                  <a:pt x="373261" y="446484"/>
                </a:lnTo>
                <a:cubicBezTo>
                  <a:pt x="372070" y="447179"/>
                  <a:pt x="370681" y="447576"/>
                  <a:pt x="369292" y="447576"/>
                </a:cubicBezTo>
                <a:lnTo>
                  <a:pt x="369292" y="343098"/>
                </a:lnTo>
                <a:lnTo>
                  <a:pt x="459780" y="290909"/>
                </a:lnTo>
                <a:close/>
                <a:moveTo>
                  <a:pt x="345579" y="95052"/>
                </a:moveTo>
                <a:lnTo>
                  <a:pt x="345579" y="196155"/>
                </a:lnTo>
                <a:lnTo>
                  <a:pt x="254000" y="249039"/>
                </a:lnTo>
                <a:lnTo>
                  <a:pt x="254000" y="143371"/>
                </a:lnTo>
                <a:lnTo>
                  <a:pt x="344488" y="91182"/>
                </a:lnTo>
                <a:cubicBezTo>
                  <a:pt x="345182" y="92373"/>
                  <a:pt x="345579" y="93762"/>
                  <a:pt x="345579" y="95151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9461500" y="463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Compound Terms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61500" y="5080000"/>
            <a:ext cx="520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Functor + arguments (arity = arg count)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parent(tom, bob), likes(john, pizza)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70000" y="6731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D0E0E3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1778000" y="6921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Rule: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Atoms start with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lowercase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variables with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uppercase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This is how Prolog distinguishes them!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Facts &amp; Knowledge Base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33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the simplest Prolog statements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predicate(arg1, ..., argN).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Facts are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 terms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all arguments are instantiated (no variables)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collection of facts and rules loaded into Prolog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matters for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 not for logical correctness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12000" y="1905000"/>
            <a:ext cx="7874000" cy="609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3000" y="20955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Family Knowledge 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3000" y="2667000"/>
            <a:ext cx="7112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Gender facts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male(tom).        female(ann).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male(bob).        female(mary).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male(jim).        female(pat).</a:t>
            </a:r>
            <a:endParaRPr lang="en-US" sz="1600" dirty="0"/>
          </a:p>
          <a:p>
            <a:pPr algn="l">
              <a:lnSpc>
                <a:spcPct val="150000"/>
              </a:lnSpc>
            </a:pP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Parent facts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parent(tom, bob).   parent(tom, liz).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parent(ann, bob).   parent(ann, liz).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parent(bob, pat).   parent(bob, jim).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parent(liz, sue).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&amp; Logical Implications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58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express: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"Head is true IF Body is true"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Syntax: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 :- Body.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:-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implication operator (neck)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Body = conjunction (AND) of goals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6000" y="1905000"/>
            <a:ext cx="7620000" cy="254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7747000" y="2095500"/>
            <a:ext cx="685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Rule examples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father(X, Y) :- parent(X, Y), male(X).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mother(X, Y) :- parent(X, Y), female(X).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grandparent(X, Z) :-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parent(X, Y), parent(Y, Z).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4826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Deductive Reasoning Chain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70000" y="5588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558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Facts (Data)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10000" y="5969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826000" y="5588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6000" y="558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 (Logic)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6000" y="5969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382000" y="5588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558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Queries (Questions)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22000" y="5969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938000" y="5588000"/>
            <a:ext cx="3048000" cy="762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11938000" y="5588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Answers (Proofs)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70000" y="6731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sibling(X, Y) :- parent(Z, X), parent(Z, Y), X \= Y.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\=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operator ensures X and Y are different individuals (not the same person)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Queries &amp; Goal Execution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Types of Queries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6350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2667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Ground query: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?- male(tom). → true.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873500"/>
            <a:ext cx="6350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24000" y="40005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 query: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?- father(X, bob). → X = tom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70000" y="5207000"/>
            <a:ext cx="6350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4000" y="5334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Conjunctive: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?- parent(X,bob), male(X). → X = tom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 Session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82000" y="2540000"/>
            <a:ext cx="6604000" cy="381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2794000"/>
            <a:ext cx="584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?-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father(X, bob).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tom 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false.</a:t>
            </a:r>
            <a:endParaRPr lang="en-US" sz="1600" dirty="0"/>
          </a:p>
          <a:p>
            <a:pPr algn="l">
              <a:lnSpc>
                <a:spcPct val="150000"/>
              </a:lnSpc>
            </a:pP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?-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grandparent(tom, X).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pat 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jim 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6731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7000"/>
                </a:srgbClr>
              </a:gs>
              <a:gs pos="100000">
                <a:srgbClr val="D0E0E3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1651000" y="6858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Press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after each answer to find the next solution. Prolog acts as a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theorem prover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it searches for proofs!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Unification — The Core Mechanism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D0E0E3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Unification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the process of making two terms identical by substituting variables. It is the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fundamental computational mechanism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Prolog.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Unification Conditions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3683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Identical atoms or numbers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41275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One is a variable → binds to the other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70000" y="4572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Same functor/arity + args unify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82000" y="3111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Unification Examples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683000"/>
          <a:ext cx="6604000" cy="2286000"/>
        </p:xfrm>
        <a:graphic>
          <a:graphicData uri="http://schemas.openxmlformats.org/drawingml/2006/table">
            <a:tbl>
              <a:tblPr/>
              <a:tblGrid>
                <a:gridCol w="3302000"/>
                <a:gridCol w="1651000"/>
                <a:gridCol w="16510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Expression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Result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Binding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 = 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Success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 = 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f(X,a) = f(b,Y)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Success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X=b, Y=a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f(X,X) = f(a,b)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270000" y="6477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51000" y="679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0" y="6604000"/>
            <a:ext cx="1244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Occurs Check: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Prevents infinite terms. X = f(X) would create an infinite structure. Most Prolog systems skip this check by default for performance.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Prolog Execution Model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Depth-First Search with Backtracking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24000" y="26670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667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349500" y="2667000"/>
            <a:ext cx="533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goal against clauses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(top → bottom)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24000" y="35560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55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49500" y="3556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matches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524000" y="4445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444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49500" y="444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matches → prove body (recursive)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524000" y="5334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5334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349500" y="5334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match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backtrack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choice point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82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AND-OR Search Tree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82000" y="2540000"/>
            <a:ext cx="6604000" cy="3683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22000" y="27940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2794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3302000"/>
            <a:ext cx="-762000" cy="508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2446000" y="3302000"/>
            <a:ext cx="762000" cy="508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144000" y="38100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3810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Clause 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2700000" y="38100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00" y="3810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Clause 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06000" y="4318000"/>
            <a:ext cx="0" cy="381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144000" y="46990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6B9CB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4699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Subgoal 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0" y="53340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6B9CB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5334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Subgoal B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763000" y="6096000"/>
            <a:ext cx="203200" cy="2032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33" name="Text 31"/>
          <p:cNvSpPr/>
          <p:nvPr/>
        </p:nvSpPr>
        <p:spPr>
          <a:xfrm>
            <a:off x="9067800" y="60452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 node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287000" y="6096000"/>
            <a:ext cx="203200" cy="20320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35" name="Text 33"/>
          <p:cNvSpPr/>
          <p:nvPr/>
        </p:nvSpPr>
        <p:spPr>
          <a:xfrm>
            <a:off x="10591800" y="60452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 node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70000" y="6477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Choice points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locations where multiple clauses could match.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Backtracking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undoing bindings and trying alternatives.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Backtracking in Action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Query: ?- grandparent(tom, X).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476500"/>
            <a:ext cx="13716000" cy="5588000"/>
          </a:xfrm>
          <a:prstGeom prst="roundRect">
            <a:avLst>
              <a:gd name="adj" fmla="val 4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2667000"/>
            <a:ext cx="1295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grandparent(tom, X)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Try: grandparent(X,Z) :- parent(X,Y), parent(Y,Z)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Bind:</a:t>
            </a:r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X=tom, Z=G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Subgoal 1:</a:t>
            </a:r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parent(tom, Y) → </a:t>
            </a:r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bob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Subgoal 2:</a:t>
            </a:r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parent(bob, G) → </a:t>
            </a:r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pat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X = pat</a:t>
            </a:r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← first answer!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E67E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presses ';' → BACKTRACK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Subgoal 2: parent(bob, G) → </a:t>
            </a:r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jim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X = jim</a:t>
            </a:r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← second answer!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E67E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presses ';' → BACKTRACK further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Subgoal 1: parent(tom, Y) → </a:t>
            </a:r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liz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Subgoal 2: parent(liz, G) → </a:t>
            </a:r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match → FAIL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more solutions.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Predicates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58420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54864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Predicates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587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Arithmetic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is, +, -, *, /, //, mod, abs, sqrt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 is 3 + 4.</a:t>
                      </a:r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→ X = 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587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Comparison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=, \=, ==, \==, =:=, =\=, @&lt;, @&gt;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 =:= 3.</a:t>
                      </a:r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→ true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587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 Check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atom/1, integer/1, var/1, nonvar/1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atom(hello).</a:t>
                      </a:r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→ true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587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Meta-Logical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call/1, findall/3, bagof/3, setof/3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findall(X, p(X), L).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587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I/O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write/1, read/1, nl/0, format/2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write('Hello').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587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Database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asserta/1, assertz/1, retract/1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assertz(fact(a)).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Prolog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Recursion, Lists, Cuts, and Applications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Recursion in Prolog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6350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4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lnTo>
                  <a:pt x="391886" y="28575"/>
                </a:lnTo>
                <a:cubicBezTo>
                  <a:pt x="427911" y="28575"/>
                  <a:pt x="457200" y="54203"/>
                  <a:pt x="457200" y="85725"/>
                </a:cubicBezTo>
                <a:lnTo>
                  <a:pt x="457200" y="371475"/>
                </a:lnTo>
                <a:cubicBezTo>
                  <a:pt x="457200" y="402997"/>
                  <a:pt x="427911" y="428625"/>
                  <a:pt x="391886" y="428625"/>
                </a:cubicBezTo>
                <a:lnTo>
                  <a:pt x="65314" y="428625"/>
                </a:lnTo>
                <a:cubicBezTo>
                  <a:pt x="29289" y="428625"/>
                  <a:pt x="0" y="402997"/>
                  <a:pt x="0" y="371475"/>
                </a:cubicBezTo>
                <a:lnTo>
                  <a:pt x="0" y="85725"/>
                </a:lnTo>
                <a:cubicBezTo>
                  <a:pt x="0" y="54203"/>
                  <a:pt x="29289" y="28575"/>
                  <a:pt x="65314" y="285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2667000"/>
            <a:ext cx="520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Case: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Stopping condition (non-recursive)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0000" y="3810000"/>
            <a:ext cx="6350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2E5E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24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2159000" y="3937000"/>
            <a:ext cx="520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 Case: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Calls itself with smaller subproblem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82000" y="2540000"/>
            <a:ext cx="6604000" cy="228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2730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Ancestor (base + recursive)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ancestor(X, Y) :- parent(X, Y).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ancestor(X, Y) :- parent(X, Z),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    ancestor(Z, Y).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5080000"/>
            <a:ext cx="6604000" cy="228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5270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Factorial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factorial(0, 1).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factorial(N, F) :- N &gt; 0,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N1 is N - 1, factorial(N1, F1),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 is N * F1.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5207000"/>
            <a:ext cx="6350000" cy="76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>
                  <a:alpha val="6000"/>
                </a:srgbClr>
              </a:gs>
              <a:gs pos="100000">
                <a:srgbClr val="FF7F50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524000" y="52705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Always ensure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base case is first and progress is made toward it!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Lists in Prolog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Fundamental Data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6350000" cy="184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26670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[a, b, c, d]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Empty list: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Nested: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[[a,b], [c,d]]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4508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Head-Tail Decomposition [H|T]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70000" y="5016500"/>
            <a:ext cx="6350000" cy="254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52070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Decomposition examples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[a,b,c] = [X|Y]    → X=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Y=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[b,c]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[a] = [X|Y]        → X=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Y=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 = [X|Y]         →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926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(empty!)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Representation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382000" y="2540000"/>
            <a:ext cx="6604000" cy="152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90000" y="2921000"/>
            <a:ext cx="762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2921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906000" y="2921000"/>
            <a:ext cx="762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0" y="2921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22000" y="2921000"/>
            <a:ext cx="762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22000" y="2921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938000" y="2921000"/>
            <a:ext cx="762000" cy="762000"/>
          </a:xfrm>
          <a:prstGeom prst="roundRect">
            <a:avLst>
              <a:gd name="adj" fmla="val 12000"/>
            </a:avLst>
          </a:prstGeom>
          <a:solidFill>
            <a:srgbClr val="D0D6DC"/>
          </a:solidFill>
          <a:ln/>
        </p:spPr>
      </p:sp>
      <p:sp>
        <p:nvSpPr>
          <p:cNvPr id="19" name="Text 17"/>
          <p:cNvSpPr/>
          <p:nvPr/>
        </p:nvSpPr>
        <p:spPr>
          <a:xfrm>
            <a:off x="11938000" y="2921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[]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52000" y="3302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668000" y="3302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1684000" y="3302000"/>
            <a:ext cx="254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8763000" y="38100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60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Tail (also a list)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82000" y="4572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list constructor/deconstructor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pipe operator splits a list into first element and rest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270000" y="7874000"/>
            <a:ext cx="13716000" cy="381000"/>
          </a:xfrm>
          <a:prstGeom prst="rect">
            <a:avLst/>
          </a:prstGeom>
          <a:solidFill>
            <a:srgbClr val="2E5E8A">
              <a:alpha val="3137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7874000"/>
            <a:ext cx="132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Lists are the foundation for most Prolog data processing — master [H|T] and you've mastered Prolog lists!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 Processing Predicates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24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47650" y="419100"/>
                </a:moveTo>
                <a:cubicBezTo>
                  <a:pt x="342276" y="419100"/>
                  <a:pt x="419100" y="342276"/>
                  <a:pt x="419100" y="247650"/>
                </a:cubicBezTo>
                <a:cubicBezTo>
                  <a:pt x="419100" y="153024"/>
                  <a:pt x="342276" y="76200"/>
                  <a:pt x="247650" y="76200"/>
                </a:cubicBezTo>
                <a:cubicBezTo>
                  <a:pt x="153024" y="76200"/>
                  <a:pt x="76200" y="153024"/>
                  <a:pt x="76200" y="247650"/>
                </a:cubicBezTo>
                <a:cubicBezTo>
                  <a:pt x="76200" y="342276"/>
                  <a:pt x="153024" y="419100"/>
                  <a:pt x="247650" y="4191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member/2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24000" y="3683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3810000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member(X, [X|_]).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member(X, [_|T]) :-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member(X, T).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5334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 if X is an element of list L. Works for both checking and generating.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69000" y="1905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23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43971" y="114300"/>
                </a:moveTo>
                <a:cubicBezTo>
                  <a:pt x="426402" y="114300"/>
                  <a:pt x="409363" y="119658"/>
                  <a:pt x="394441" y="129421"/>
                </a:cubicBezTo>
                <a:cubicBezTo>
                  <a:pt x="377719" y="110371"/>
                  <a:pt x="358246" y="94417"/>
                  <a:pt x="336762" y="82391"/>
                </a:cubicBezTo>
                <a:cubicBezTo>
                  <a:pt x="366607" y="53816"/>
                  <a:pt x="404601" y="38100"/>
                  <a:pt x="443971" y="38100"/>
                </a:cubicBezTo>
                <a:cubicBezTo>
                  <a:pt x="535411" y="38100"/>
                  <a:pt x="609600" y="121444"/>
                  <a:pt x="609600" y="224433"/>
                </a:cubicBezTo>
                <a:cubicBezTo>
                  <a:pt x="609600" y="273844"/>
                  <a:pt x="592138" y="321231"/>
                  <a:pt x="561128" y="356116"/>
                </a:cubicBezTo>
                <a:lnTo>
                  <a:pt x="485881" y="440769"/>
                </a:lnTo>
                <a:cubicBezTo>
                  <a:pt x="454872" y="475655"/>
                  <a:pt x="412750" y="495300"/>
                  <a:pt x="368829" y="495300"/>
                </a:cubicBezTo>
                <a:cubicBezTo>
                  <a:pt x="277389" y="495300"/>
                  <a:pt x="203200" y="411956"/>
                  <a:pt x="203200" y="308967"/>
                </a:cubicBezTo>
                <a:cubicBezTo>
                  <a:pt x="203200" y="307181"/>
                  <a:pt x="203200" y="305395"/>
                  <a:pt x="203306" y="303609"/>
                </a:cubicBezTo>
                <a:cubicBezTo>
                  <a:pt x="203835" y="282535"/>
                  <a:pt x="219392" y="265986"/>
                  <a:pt x="238125" y="266581"/>
                </a:cubicBezTo>
                <a:cubicBezTo>
                  <a:pt x="256858" y="267176"/>
                  <a:pt x="271568" y="284678"/>
                  <a:pt x="271039" y="305753"/>
                </a:cubicBezTo>
                <a:cubicBezTo>
                  <a:pt x="271039" y="306824"/>
                  <a:pt x="271039" y="307896"/>
                  <a:pt x="271039" y="308848"/>
                </a:cubicBezTo>
                <a:cubicBezTo>
                  <a:pt x="271039" y="369689"/>
                  <a:pt x="314854" y="418981"/>
                  <a:pt x="368935" y="418981"/>
                </a:cubicBezTo>
                <a:cubicBezTo>
                  <a:pt x="394864" y="418981"/>
                  <a:pt x="419735" y="407432"/>
                  <a:pt x="438150" y="386715"/>
                </a:cubicBezTo>
                <a:lnTo>
                  <a:pt x="513398" y="302062"/>
                </a:lnTo>
                <a:cubicBezTo>
                  <a:pt x="531707" y="281464"/>
                  <a:pt x="542078" y="253365"/>
                  <a:pt x="542078" y="224195"/>
                </a:cubicBezTo>
                <a:cubicBezTo>
                  <a:pt x="542078" y="163354"/>
                  <a:pt x="498263" y="114062"/>
                  <a:pt x="444183" y="114062"/>
                </a:cubicBezTo>
                <a:close/>
                <a:moveTo>
                  <a:pt x="291253" y="206335"/>
                </a:moveTo>
                <a:cubicBezTo>
                  <a:pt x="289243" y="205383"/>
                  <a:pt x="287232" y="204073"/>
                  <a:pt x="285432" y="202644"/>
                </a:cubicBezTo>
                <a:cubicBezTo>
                  <a:pt x="272097" y="194905"/>
                  <a:pt x="256857" y="190500"/>
                  <a:pt x="240877" y="190500"/>
                </a:cubicBezTo>
                <a:cubicBezTo>
                  <a:pt x="214948" y="190500"/>
                  <a:pt x="190077" y="202049"/>
                  <a:pt x="171662" y="222766"/>
                </a:cubicBezTo>
                <a:lnTo>
                  <a:pt x="96414" y="307419"/>
                </a:lnTo>
                <a:cubicBezTo>
                  <a:pt x="78105" y="328017"/>
                  <a:pt x="67733" y="356116"/>
                  <a:pt x="67733" y="385286"/>
                </a:cubicBezTo>
                <a:cubicBezTo>
                  <a:pt x="67733" y="446127"/>
                  <a:pt x="111548" y="495419"/>
                  <a:pt x="165629" y="495419"/>
                </a:cubicBezTo>
                <a:cubicBezTo>
                  <a:pt x="183092" y="495419"/>
                  <a:pt x="200131" y="490180"/>
                  <a:pt x="215053" y="480417"/>
                </a:cubicBezTo>
                <a:cubicBezTo>
                  <a:pt x="231775" y="499467"/>
                  <a:pt x="251248" y="515422"/>
                  <a:pt x="272838" y="527447"/>
                </a:cubicBezTo>
                <a:cubicBezTo>
                  <a:pt x="242993" y="555903"/>
                  <a:pt x="205105" y="571738"/>
                  <a:pt x="165629" y="571738"/>
                </a:cubicBezTo>
                <a:cubicBezTo>
                  <a:pt x="74189" y="571738"/>
                  <a:pt x="0" y="488394"/>
                  <a:pt x="0" y="385405"/>
                </a:cubicBezTo>
                <a:cubicBezTo>
                  <a:pt x="0" y="335994"/>
                  <a:pt x="17463" y="288607"/>
                  <a:pt x="48472" y="253722"/>
                </a:cubicBezTo>
                <a:lnTo>
                  <a:pt x="123719" y="169069"/>
                </a:lnTo>
                <a:cubicBezTo>
                  <a:pt x="154728" y="134183"/>
                  <a:pt x="196850" y="114538"/>
                  <a:pt x="240771" y="114538"/>
                </a:cubicBezTo>
                <a:cubicBezTo>
                  <a:pt x="332423" y="114538"/>
                  <a:pt x="406400" y="198596"/>
                  <a:pt x="406400" y="301347"/>
                </a:cubicBezTo>
                <a:cubicBezTo>
                  <a:pt x="406400" y="302895"/>
                  <a:pt x="406400" y="304443"/>
                  <a:pt x="406400" y="305991"/>
                </a:cubicBezTo>
                <a:cubicBezTo>
                  <a:pt x="405977" y="327065"/>
                  <a:pt x="390419" y="343614"/>
                  <a:pt x="371687" y="343138"/>
                </a:cubicBezTo>
                <a:cubicBezTo>
                  <a:pt x="352954" y="342662"/>
                  <a:pt x="338243" y="325160"/>
                  <a:pt x="338667" y="304086"/>
                </a:cubicBezTo>
                <a:cubicBezTo>
                  <a:pt x="338667" y="303133"/>
                  <a:pt x="338667" y="302300"/>
                  <a:pt x="338667" y="301347"/>
                </a:cubicBezTo>
                <a:cubicBezTo>
                  <a:pt x="338667" y="261223"/>
                  <a:pt x="319617" y="225981"/>
                  <a:pt x="291253" y="20657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6223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append/3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23000" y="3683000"/>
            <a:ext cx="3810000" cy="1651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13500" y="3810000"/>
            <a:ext cx="3429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append([], L, L).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append([H|T1], L2,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[H|T3]) :-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append(T1, L2, T3).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3000" y="5334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Concatenate two lists. Can also split a list or find all decompositions.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0" y="1905000"/>
            <a:ext cx="4318000" cy="609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522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1298" y="614601"/>
                </a:moveTo>
                <a:cubicBezTo>
                  <a:pt x="201507" y="636865"/>
                  <a:pt x="169333" y="636865"/>
                  <a:pt x="149437" y="614601"/>
                </a:cubicBezTo>
                <a:lnTo>
                  <a:pt x="29739" y="479941"/>
                </a:lnTo>
                <a:cubicBezTo>
                  <a:pt x="9948" y="457676"/>
                  <a:pt x="9948" y="421481"/>
                  <a:pt x="29739" y="399098"/>
                </a:cubicBezTo>
                <a:lnTo>
                  <a:pt x="47731" y="378857"/>
                </a:lnTo>
                <a:lnTo>
                  <a:pt x="125518" y="466368"/>
                </a:lnTo>
                <a:cubicBezTo>
                  <a:pt x="135467" y="477560"/>
                  <a:pt x="151553" y="477560"/>
                  <a:pt x="161396" y="466368"/>
                </a:cubicBezTo>
                <a:cubicBezTo>
                  <a:pt x="171238" y="455176"/>
                  <a:pt x="171344" y="437078"/>
                  <a:pt x="161396" y="426006"/>
                </a:cubicBezTo>
                <a:lnTo>
                  <a:pt x="83608" y="338495"/>
                </a:lnTo>
                <a:lnTo>
                  <a:pt x="119486" y="298133"/>
                </a:lnTo>
                <a:lnTo>
                  <a:pt x="173355" y="358735"/>
                </a:lnTo>
                <a:cubicBezTo>
                  <a:pt x="183303" y="369927"/>
                  <a:pt x="199390" y="369927"/>
                  <a:pt x="209233" y="358735"/>
                </a:cubicBezTo>
                <a:cubicBezTo>
                  <a:pt x="219075" y="347543"/>
                  <a:pt x="219181" y="329446"/>
                  <a:pt x="209233" y="318373"/>
                </a:cubicBezTo>
                <a:lnTo>
                  <a:pt x="155363" y="257770"/>
                </a:lnTo>
                <a:lnTo>
                  <a:pt x="191241" y="217408"/>
                </a:lnTo>
                <a:lnTo>
                  <a:pt x="269028" y="304919"/>
                </a:lnTo>
                <a:cubicBezTo>
                  <a:pt x="278977" y="316111"/>
                  <a:pt x="295063" y="316111"/>
                  <a:pt x="304906" y="304919"/>
                </a:cubicBezTo>
                <a:cubicBezTo>
                  <a:pt x="314748" y="293727"/>
                  <a:pt x="314854" y="275630"/>
                  <a:pt x="304906" y="264557"/>
                </a:cubicBezTo>
                <a:lnTo>
                  <a:pt x="227118" y="177046"/>
                </a:lnTo>
                <a:lnTo>
                  <a:pt x="262996" y="136684"/>
                </a:lnTo>
                <a:lnTo>
                  <a:pt x="316865" y="197287"/>
                </a:lnTo>
                <a:cubicBezTo>
                  <a:pt x="326813" y="208478"/>
                  <a:pt x="342900" y="208478"/>
                  <a:pt x="352742" y="197287"/>
                </a:cubicBezTo>
                <a:cubicBezTo>
                  <a:pt x="362585" y="186095"/>
                  <a:pt x="362691" y="167997"/>
                  <a:pt x="352742" y="156924"/>
                </a:cubicBezTo>
                <a:lnTo>
                  <a:pt x="298873" y="96322"/>
                </a:lnTo>
                <a:lnTo>
                  <a:pt x="334751" y="55959"/>
                </a:lnTo>
                <a:lnTo>
                  <a:pt x="412538" y="143470"/>
                </a:lnTo>
                <a:cubicBezTo>
                  <a:pt x="422487" y="154662"/>
                  <a:pt x="438573" y="154662"/>
                  <a:pt x="448416" y="143470"/>
                </a:cubicBezTo>
                <a:cubicBezTo>
                  <a:pt x="458258" y="132278"/>
                  <a:pt x="458364" y="114181"/>
                  <a:pt x="448416" y="103108"/>
                </a:cubicBezTo>
                <a:lnTo>
                  <a:pt x="370628" y="15597"/>
                </a:lnTo>
                <a:lnTo>
                  <a:pt x="388620" y="-4643"/>
                </a:lnTo>
                <a:cubicBezTo>
                  <a:pt x="408411" y="-26908"/>
                  <a:pt x="440584" y="-26908"/>
                  <a:pt x="460481" y="-4643"/>
                </a:cubicBezTo>
                <a:lnTo>
                  <a:pt x="580496" y="129659"/>
                </a:lnTo>
                <a:cubicBezTo>
                  <a:pt x="600287" y="151924"/>
                  <a:pt x="600287" y="188119"/>
                  <a:pt x="580496" y="210503"/>
                </a:cubicBezTo>
                <a:lnTo>
                  <a:pt x="221298" y="61460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304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length/2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922000" y="3683000"/>
            <a:ext cx="3810000" cy="1651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20" name="Text 18"/>
          <p:cNvSpPr/>
          <p:nvPr/>
        </p:nvSpPr>
        <p:spPr>
          <a:xfrm>
            <a:off x="11112500" y="3810000"/>
            <a:ext cx="3429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length([], 0).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length([_|T], N) :-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length(T, N1),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N is N1 + 1.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2000" y="5334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 the length of a list. Can also generate a list of given length.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Cut Operator (!)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is the Cut?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0000" y="2540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cut </a:t>
            </a:r>
            <a:pPr algn="l">
              <a:lnSpc>
                <a:spcPct val="160000"/>
              </a:lnSpc>
            </a:pPr>
            <a:r>
              <a:rPr lang="en-US" sz="2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commits to choices made before it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backtracking past the cut point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types: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Green cut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improves efficiency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cut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changes semantics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2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max/3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382000" y="2540000"/>
            <a:ext cx="6604000" cy="2032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0" y="27305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With cut — efficient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max(X, Y, X) :- X &gt;= Y,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926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max(X, Y, Y).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5778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Effects of Cut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70000" y="6731000"/>
            <a:ext cx="4318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68580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74C3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Cannot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backtrack to clauses above the cut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69000" y="6731000"/>
            <a:ext cx="4318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3000" y="68580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74C3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Cannot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try alternative clauses for same predicate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0" y="6731000"/>
            <a:ext cx="4318000" cy="1079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7AE60"/>
              </a:gs>
              <a:gs pos="100000">
                <a:srgbClr val="2ECC7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10922000" y="68580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Improves efficiency by pruning the search tree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8064500"/>
            <a:ext cx="13716000" cy="4445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812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1905000" y="8064500"/>
            <a:ext cx="1282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Warning: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Overuse of cuts makes programs harder to understand and debug. Use sparingly and document!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Negation as Failure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D0E0E3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Prolog implements negation via the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closed-world assumption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\+ Goal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succeeds if Goal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cannot be proven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This is "negation as failure" — not true logical negation.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302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3873500"/>
            <a:ext cx="6350000" cy="1778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000500"/>
            <a:ext cx="584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Negation as failure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not_parent(X) :- \+ parent(X, _).</a:t>
            </a:r>
            <a:endParaRPr lang="en-US" sz="1600" dirty="0"/>
          </a:p>
          <a:p>
            <a:pPr algn="l">
              <a:lnSpc>
                <a:spcPct val="150000"/>
              </a:lnSpc>
            </a:pP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?-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not_parent(john).  →  true.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3302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Important Caveats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382000" y="3873500"/>
            <a:ext cx="6604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36000" y="39370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 in negated goals should be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ground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4699000"/>
            <a:ext cx="6604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36000" y="47625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\+ (X = 3)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behaves differently from 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\= 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59690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51000" y="641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2349500" y="615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Closed-World Assumption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349500" y="6604000"/>
            <a:ext cx="1231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"If we can't prove it, it's false." This differs from databases where missing information ≠ false information. Be aware of this limitation when modeling real-world knowledge.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 &amp; Operators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>
                  <a:alpha val="8000"/>
                </a:srgbClr>
              </a:gs>
              <a:gs pos="100000">
                <a:srgbClr val="FF7F50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Difference: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unifies (structural),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evaluates (arithmetic). 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= 3+4 → X = 3+4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but 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is 3+4 → X =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Operators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3683000"/>
          <a:ext cx="6604000" cy="3302000"/>
        </p:xfrm>
        <a:graphic>
          <a:graphicData uri="http://schemas.openxmlformats.org/drawingml/2006/table">
            <a:tbl>
              <a:tblPr/>
              <a:tblGrid>
                <a:gridCol w="2311400"/>
                <a:gridCol w="42926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+, -, *, /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Basic arithmetic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//, mod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 division, modulo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**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Power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=:=, =\=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 equality / inequality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&lt;, &gt;, =&lt;, &gt;=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 comparison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abs, sqrt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Absolute value, square root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82000" y="3111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Sum of List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382000" y="3683000"/>
            <a:ext cx="6604000" cy="1651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0" name="Text 7"/>
          <p:cNvSpPr/>
          <p:nvPr/>
        </p:nvSpPr>
        <p:spPr>
          <a:xfrm>
            <a:off x="8763000" y="3873500"/>
            <a:ext cx="584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Sum all elements in a list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sumlist([], 0).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sumlist([H|T], S) :-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sumlist(T, S1), S is H + S1.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82000" y="558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 Demo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382000" y="6096000"/>
            <a:ext cx="6604000" cy="127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3" name="Text 10"/>
          <p:cNvSpPr/>
          <p:nvPr/>
        </p:nvSpPr>
        <p:spPr>
          <a:xfrm>
            <a:off x="8763000" y="62865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6E2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?-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sumlist([1,2,3,4], S).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 = 10.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Input, Output &amp; File Handling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 Predicates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476500"/>
            <a:ext cx="6858000" cy="1651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603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write(Term).    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571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write without newline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writeln(Term).  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571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write with newline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nl.             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571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newline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format('~w~n', [X]).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571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formatted output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905000"/>
            <a:ext cx="685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Predicates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2476500"/>
            <a:ext cx="6604000" cy="1651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26035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read(Term).     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571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read a Prolog term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get_char(C).    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571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read a character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get_code(C).     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571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read ASCII 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450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Operations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70000" y="50800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2070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6D9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Read from file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read_file(File) :- open(File, read, S),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     read_line_to_codes(S, Line),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8F8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     writeln(Line), close(S).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70485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7048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64000" y="70485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064000" y="7048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70485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6B9CB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7048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52000" y="723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open modes in Prolog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Prolog Applications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7144"/>
                </a:moveTo>
                <a:cubicBezTo>
                  <a:pt x="161010" y="7144"/>
                  <a:pt x="106136" y="55159"/>
                  <a:pt x="106136" y="114300"/>
                </a:cubicBezTo>
                <a:cubicBezTo>
                  <a:pt x="106136" y="173441"/>
                  <a:pt x="161010" y="221456"/>
                  <a:pt x="228600" y="221456"/>
                </a:cubicBezTo>
                <a:cubicBezTo>
                  <a:pt x="296190" y="221456"/>
                  <a:pt x="351064" y="173441"/>
                  <a:pt x="351064" y="114300"/>
                </a:cubicBezTo>
                <a:cubicBezTo>
                  <a:pt x="351064" y="55159"/>
                  <a:pt x="296190" y="7144"/>
                  <a:pt x="228600" y="7144"/>
                </a:cubicBezTo>
                <a:close/>
                <a:moveTo>
                  <a:pt x="289832" y="286464"/>
                </a:moveTo>
                <a:cubicBezTo>
                  <a:pt x="284321" y="286018"/>
                  <a:pt x="278606" y="285750"/>
                  <a:pt x="272891" y="285750"/>
                </a:cubicBezTo>
                <a:lnTo>
                  <a:pt x="184207" y="285750"/>
                </a:lnTo>
                <a:cubicBezTo>
                  <a:pt x="178492" y="285750"/>
                  <a:pt x="172879" y="286018"/>
                  <a:pt x="167266" y="286464"/>
                </a:cubicBezTo>
                <a:lnTo>
                  <a:pt x="167266" y="346740"/>
                </a:lnTo>
                <a:cubicBezTo>
                  <a:pt x="184105" y="353526"/>
                  <a:pt x="195841" y="368439"/>
                  <a:pt x="195841" y="385673"/>
                </a:cubicBezTo>
                <a:cubicBezTo>
                  <a:pt x="195841" y="409337"/>
                  <a:pt x="173899" y="428536"/>
                  <a:pt x="146855" y="428536"/>
                </a:cubicBezTo>
                <a:cubicBezTo>
                  <a:pt x="119811" y="428536"/>
                  <a:pt x="97869" y="409337"/>
                  <a:pt x="97869" y="385673"/>
                </a:cubicBezTo>
                <a:cubicBezTo>
                  <a:pt x="97869" y="368350"/>
                  <a:pt x="109606" y="353437"/>
                  <a:pt x="126444" y="346740"/>
                </a:cubicBezTo>
                <a:lnTo>
                  <a:pt x="126444" y="294590"/>
                </a:lnTo>
                <a:cubicBezTo>
                  <a:pt x="62253" y="315218"/>
                  <a:pt x="16329" y="369332"/>
                  <a:pt x="16329" y="432733"/>
                </a:cubicBezTo>
                <a:cubicBezTo>
                  <a:pt x="16329" y="446216"/>
                  <a:pt x="28881" y="457200"/>
                  <a:pt x="44291" y="457200"/>
                </a:cubicBezTo>
                <a:lnTo>
                  <a:pt x="412807" y="457200"/>
                </a:lnTo>
                <a:cubicBezTo>
                  <a:pt x="428217" y="457200"/>
                  <a:pt x="440769" y="446216"/>
                  <a:pt x="440769" y="432733"/>
                </a:cubicBezTo>
                <a:cubicBezTo>
                  <a:pt x="440769" y="369332"/>
                  <a:pt x="394845" y="315307"/>
                  <a:pt x="330552" y="294680"/>
                </a:cubicBezTo>
                <a:lnTo>
                  <a:pt x="330552" y="328077"/>
                </a:lnTo>
                <a:cubicBezTo>
                  <a:pt x="354330" y="335399"/>
                  <a:pt x="371373" y="355312"/>
                  <a:pt x="371373" y="378619"/>
                </a:cubicBezTo>
                <a:lnTo>
                  <a:pt x="371373" y="407194"/>
                </a:lnTo>
                <a:cubicBezTo>
                  <a:pt x="371373" y="417016"/>
                  <a:pt x="362188" y="425053"/>
                  <a:pt x="350962" y="425053"/>
                </a:cubicBezTo>
                <a:cubicBezTo>
                  <a:pt x="339736" y="425053"/>
                  <a:pt x="330552" y="417016"/>
                  <a:pt x="330552" y="407194"/>
                </a:cubicBezTo>
                <a:lnTo>
                  <a:pt x="330552" y="378619"/>
                </a:lnTo>
                <a:cubicBezTo>
                  <a:pt x="330552" y="368796"/>
                  <a:pt x="321367" y="360759"/>
                  <a:pt x="310141" y="360759"/>
                </a:cubicBezTo>
                <a:cubicBezTo>
                  <a:pt x="298915" y="360759"/>
                  <a:pt x="289730" y="368796"/>
                  <a:pt x="289730" y="378619"/>
                </a:cubicBezTo>
                <a:lnTo>
                  <a:pt x="289730" y="407194"/>
                </a:lnTo>
                <a:cubicBezTo>
                  <a:pt x="289730" y="417016"/>
                  <a:pt x="280545" y="425053"/>
                  <a:pt x="269319" y="425053"/>
                </a:cubicBezTo>
                <a:cubicBezTo>
                  <a:pt x="258093" y="425053"/>
                  <a:pt x="248909" y="417016"/>
                  <a:pt x="248909" y="407194"/>
                </a:cubicBezTo>
                <a:lnTo>
                  <a:pt x="248909" y="378619"/>
                </a:lnTo>
                <a:cubicBezTo>
                  <a:pt x="248909" y="355312"/>
                  <a:pt x="265952" y="335488"/>
                  <a:pt x="289730" y="328077"/>
                </a:cubicBezTo>
                <a:lnTo>
                  <a:pt x="289730" y="286464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133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730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Medical diagnosis, chemical analysis (MYCIN, DENDRAL)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0" y="128588"/>
                </a:moveTo>
                <a:cubicBezTo>
                  <a:pt x="304800" y="215384"/>
                  <a:pt x="236538" y="285750"/>
                  <a:pt x="152400" y="285750"/>
                </a:cubicBezTo>
                <a:cubicBezTo>
                  <a:pt x="131207" y="285750"/>
                  <a:pt x="111046" y="281285"/>
                  <a:pt x="92710" y="273248"/>
                </a:cubicBezTo>
                <a:lnTo>
                  <a:pt x="27940" y="311825"/>
                </a:lnTo>
                <a:cubicBezTo>
                  <a:pt x="20558" y="316200"/>
                  <a:pt x="11509" y="314682"/>
                  <a:pt x="5556" y="308074"/>
                </a:cubicBezTo>
                <a:cubicBezTo>
                  <a:pt x="-397" y="301466"/>
                  <a:pt x="-1746" y="291197"/>
                  <a:pt x="2223" y="282893"/>
                </a:cubicBezTo>
                <a:lnTo>
                  <a:pt x="30480" y="222885"/>
                </a:lnTo>
                <a:cubicBezTo>
                  <a:pt x="11351" y="196632"/>
                  <a:pt x="0" y="163949"/>
                  <a:pt x="0" y="128588"/>
                </a:cubicBezTo>
                <a:cubicBezTo>
                  <a:pt x="0" y="41791"/>
                  <a:pt x="68263" y="-28575"/>
                  <a:pt x="152400" y="-28575"/>
                </a:cubicBezTo>
                <a:cubicBezTo>
                  <a:pt x="236538" y="-28575"/>
                  <a:pt x="304800" y="41791"/>
                  <a:pt x="304800" y="128588"/>
                </a:cubicBezTo>
                <a:close/>
                <a:moveTo>
                  <a:pt x="304800" y="457200"/>
                </a:moveTo>
                <a:cubicBezTo>
                  <a:pt x="230108" y="457200"/>
                  <a:pt x="167958" y="401747"/>
                  <a:pt x="154940" y="328613"/>
                </a:cubicBezTo>
                <a:cubicBezTo>
                  <a:pt x="250190" y="327273"/>
                  <a:pt x="332978" y="251014"/>
                  <a:pt x="342106" y="147608"/>
                </a:cubicBezTo>
                <a:cubicBezTo>
                  <a:pt x="408226" y="164753"/>
                  <a:pt x="457200" y="226457"/>
                  <a:pt x="457200" y="300038"/>
                </a:cubicBezTo>
                <a:cubicBezTo>
                  <a:pt x="457200" y="335399"/>
                  <a:pt x="445849" y="368082"/>
                  <a:pt x="426720" y="394335"/>
                </a:cubicBezTo>
                <a:lnTo>
                  <a:pt x="454978" y="454342"/>
                </a:lnTo>
                <a:cubicBezTo>
                  <a:pt x="458867" y="462647"/>
                  <a:pt x="457518" y="472827"/>
                  <a:pt x="451644" y="479524"/>
                </a:cubicBezTo>
                <a:cubicBezTo>
                  <a:pt x="445770" y="486221"/>
                  <a:pt x="436642" y="487740"/>
                  <a:pt x="429260" y="483275"/>
                </a:cubicBezTo>
                <a:lnTo>
                  <a:pt x="364490" y="444698"/>
                </a:lnTo>
                <a:cubicBezTo>
                  <a:pt x="346154" y="452735"/>
                  <a:pt x="325993" y="457200"/>
                  <a:pt x="304800" y="457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32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730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Parsing with Definite Clause Grammars (DCGs)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025" y="0"/>
                </a:moveTo>
                <a:cubicBezTo>
                  <a:pt x="231547" y="0"/>
                  <a:pt x="257175" y="19199"/>
                  <a:pt x="257175" y="42863"/>
                </a:cubicBezTo>
                <a:cubicBezTo>
                  <a:pt x="257175" y="52149"/>
                  <a:pt x="253246" y="60722"/>
                  <a:pt x="246459" y="67776"/>
                </a:cubicBezTo>
                <a:cubicBezTo>
                  <a:pt x="240566" y="73938"/>
                  <a:pt x="235744" y="81439"/>
                  <a:pt x="235744" y="90011"/>
                </a:cubicBezTo>
                <a:cubicBezTo>
                  <a:pt x="235744" y="103406"/>
                  <a:pt x="246638" y="114300"/>
                  <a:pt x="260033" y="114300"/>
                </a:cubicBezTo>
                <a:lnTo>
                  <a:pt x="300038" y="114300"/>
                </a:lnTo>
                <a:cubicBezTo>
                  <a:pt x="323701" y="114300"/>
                  <a:pt x="342900" y="133499"/>
                  <a:pt x="342900" y="157163"/>
                </a:cubicBezTo>
                <a:lnTo>
                  <a:pt x="342900" y="197168"/>
                </a:lnTo>
                <a:cubicBezTo>
                  <a:pt x="342900" y="210562"/>
                  <a:pt x="353794" y="221456"/>
                  <a:pt x="367189" y="221456"/>
                </a:cubicBezTo>
                <a:cubicBezTo>
                  <a:pt x="375672" y="221456"/>
                  <a:pt x="383262" y="216634"/>
                  <a:pt x="389424" y="210741"/>
                </a:cubicBezTo>
                <a:cubicBezTo>
                  <a:pt x="396478" y="204043"/>
                  <a:pt x="405051" y="200025"/>
                  <a:pt x="414337" y="200025"/>
                </a:cubicBezTo>
                <a:cubicBezTo>
                  <a:pt x="438001" y="200025"/>
                  <a:pt x="457200" y="225653"/>
                  <a:pt x="457200" y="257175"/>
                </a:cubicBezTo>
                <a:cubicBezTo>
                  <a:pt x="457200" y="288697"/>
                  <a:pt x="438001" y="314325"/>
                  <a:pt x="414337" y="314325"/>
                </a:cubicBezTo>
                <a:cubicBezTo>
                  <a:pt x="405051" y="314325"/>
                  <a:pt x="396389" y="310396"/>
                  <a:pt x="389424" y="303609"/>
                </a:cubicBezTo>
                <a:cubicBezTo>
                  <a:pt x="383262" y="297716"/>
                  <a:pt x="375761" y="292894"/>
                  <a:pt x="367189" y="292894"/>
                </a:cubicBezTo>
                <a:cubicBezTo>
                  <a:pt x="353794" y="292894"/>
                  <a:pt x="342900" y="303788"/>
                  <a:pt x="342900" y="317183"/>
                </a:cubicBezTo>
                <a:lnTo>
                  <a:pt x="342900" y="414338"/>
                </a:lnTo>
                <a:cubicBezTo>
                  <a:pt x="342900" y="438001"/>
                  <a:pt x="323701" y="457200"/>
                  <a:pt x="300038" y="457200"/>
                </a:cubicBezTo>
                <a:lnTo>
                  <a:pt x="249317" y="457200"/>
                </a:lnTo>
                <a:cubicBezTo>
                  <a:pt x="237887" y="457200"/>
                  <a:pt x="228600" y="447913"/>
                  <a:pt x="228600" y="436483"/>
                </a:cubicBezTo>
                <a:cubicBezTo>
                  <a:pt x="228600" y="428268"/>
                  <a:pt x="233779" y="421035"/>
                  <a:pt x="240387" y="416123"/>
                </a:cubicBezTo>
                <a:cubicBezTo>
                  <a:pt x="250746" y="408355"/>
                  <a:pt x="257175" y="397639"/>
                  <a:pt x="257175" y="385763"/>
                </a:cubicBezTo>
                <a:cubicBezTo>
                  <a:pt x="257175" y="362099"/>
                  <a:pt x="231547" y="342900"/>
                  <a:pt x="200025" y="342900"/>
                </a:cubicBezTo>
                <a:cubicBezTo>
                  <a:pt x="168503" y="342900"/>
                  <a:pt x="142875" y="362099"/>
                  <a:pt x="142875" y="385763"/>
                </a:cubicBezTo>
                <a:cubicBezTo>
                  <a:pt x="142875" y="397639"/>
                  <a:pt x="149304" y="408355"/>
                  <a:pt x="159663" y="416123"/>
                </a:cubicBezTo>
                <a:cubicBezTo>
                  <a:pt x="166271" y="421035"/>
                  <a:pt x="171450" y="428179"/>
                  <a:pt x="171450" y="436483"/>
                </a:cubicBezTo>
                <a:cubicBezTo>
                  <a:pt x="171450" y="447913"/>
                  <a:pt x="162163" y="457200"/>
                  <a:pt x="150733" y="457200"/>
                </a:cubicBezTo>
                <a:lnTo>
                  <a:pt x="42863" y="457200"/>
                </a:lnTo>
                <a:cubicBezTo>
                  <a:pt x="19199" y="457200"/>
                  <a:pt x="0" y="438001"/>
                  <a:pt x="0" y="414338"/>
                </a:cubicBezTo>
                <a:lnTo>
                  <a:pt x="0" y="306467"/>
                </a:lnTo>
                <a:cubicBezTo>
                  <a:pt x="0" y="295037"/>
                  <a:pt x="9287" y="285750"/>
                  <a:pt x="20717" y="285750"/>
                </a:cubicBezTo>
                <a:cubicBezTo>
                  <a:pt x="28932" y="285750"/>
                  <a:pt x="36165" y="290929"/>
                  <a:pt x="41077" y="297537"/>
                </a:cubicBezTo>
                <a:cubicBezTo>
                  <a:pt x="48845" y="307896"/>
                  <a:pt x="59561" y="314325"/>
                  <a:pt x="71438" y="314325"/>
                </a:cubicBezTo>
                <a:cubicBezTo>
                  <a:pt x="95101" y="314325"/>
                  <a:pt x="114300" y="288697"/>
                  <a:pt x="114300" y="257175"/>
                </a:cubicBezTo>
                <a:cubicBezTo>
                  <a:pt x="114300" y="225653"/>
                  <a:pt x="95101" y="200025"/>
                  <a:pt x="71438" y="200025"/>
                </a:cubicBezTo>
                <a:cubicBezTo>
                  <a:pt x="59561" y="200025"/>
                  <a:pt x="48845" y="206454"/>
                  <a:pt x="41077" y="216813"/>
                </a:cubicBezTo>
                <a:cubicBezTo>
                  <a:pt x="36165" y="223421"/>
                  <a:pt x="29021" y="228600"/>
                  <a:pt x="20717" y="228600"/>
                </a:cubicBezTo>
                <a:cubicBezTo>
                  <a:pt x="9287" y="228600"/>
                  <a:pt x="0" y="219313"/>
                  <a:pt x="0" y="207883"/>
                </a:cubicBezTo>
                <a:lnTo>
                  <a:pt x="0" y="157163"/>
                </a:lnTo>
                <a:cubicBezTo>
                  <a:pt x="0" y="133499"/>
                  <a:pt x="19199" y="114300"/>
                  <a:pt x="42863" y="114300"/>
                </a:cubicBezTo>
                <a:lnTo>
                  <a:pt x="140018" y="114300"/>
                </a:lnTo>
                <a:cubicBezTo>
                  <a:pt x="153412" y="114300"/>
                  <a:pt x="164306" y="103406"/>
                  <a:pt x="164306" y="90011"/>
                </a:cubicBezTo>
                <a:cubicBezTo>
                  <a:pt x="164306" y="81528"/>
                  <a:pt x="159484" y="73938"/>
                  <a:pt x="153591" y="67776"/>
                </a:cubicBezTo>
                <a:cubicBezTo>
                  <a:pt x="146893" y="60722"/>
                  <a:pt x="142875" y="52149"/>
                  <a:pt x="142875" y="42863"/>
                </a:cubicBezTo>
                <a:cubicBezTo>
                  <a:pt x="142875" y="19199"/>
                  <a:pt x="168503" y="0"/>
                  <a:pt x="200025" y="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1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 Programming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730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Scheduling, optimization, Sudoku solvers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191000"/>
            <a:ext cx="4318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133600" y="4445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Representation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5016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networks, ontologies, RDF/OWL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191000"/>
            <a:ext cx="4318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32600" y="4445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Automated Reasoning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5016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Theorem provers, proof assistants, Datalog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191000"/>
            <a:ext cx="4318000" cy="1905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2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31600" y="4445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Web &amp; Semantic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5016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SWI-Prolog web framework, semantic web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604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6000"/>
                </a:srgbClr>
              </a:gs>
              <a:gs pos="100000">
                <a:srgbClr val="D0E0E3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1651000" y="6731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Prolog excels at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symbolic reasoning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wherever logic and rules dominate, Prolog shines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Prolog vs. Other Paradigms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699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  <a:gridCol w="2743200"/>
              </a:tblGrid>
              <a:tr h="6578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Aspect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Prolog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Java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Haskell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Paradigm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Logic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Style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Declarative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Imperative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Imperative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Declarative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Logical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Mutable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Mutable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Immutable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Unif+BT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Sequential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Sequential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Lazy eval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Strength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Symbolic AI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Enterprise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Steep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Easy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Steep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9850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7000"/>
                </a:srgbClr>
              </a:gs>
              <a:gs pos="100000">
                <a:srgbClr val="D0E0E3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651000" y="7048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Prolog's declarative nature makes it unique for AI. It's complementary — use Prolog for reasoning, other languages for interfaces.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&amp; Common Pitfalls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584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7AE6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84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Place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cases before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recursive cases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 cuts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sparingly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document them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Ensure recursive calls make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meaningful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predicate names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Test with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edge cases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(empty lists)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 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trace/0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debugging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Keep predicates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Comment complex logic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584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9126" y="149126"/>
                </a:moveTo>
                <a:cubicBezTo>
                  <a:pt x="157520" y="140732"/>
                  <a:pt x="171093" y="140732"/>
                  <a:pt x="179397" y="149126"/>
                </a:cubicBezTo>
                <a:lnTo>
                  <a:pt x="228511" y="198239"/>
                </a:lnTo>
                <a:lnTo>
                  <a:pt x="277624" y="149126"/>
                </a:lnTo>
                <a:cubicBezTo>
                  <a:pt x="286018" y="140732"/>
                  <a:pt x="299591" y="140732"/>
                  <a:pt x="307896" y="149126"/>
                </a:cubicBezTo>
                <a:cubicBezTo>
                  <a:pt x="316200" y="157520"/>
                  <a:pt x="316290" y="171093"/>
                  <a:pt x="307896" y="179397"/>
                </a:cubicBezTo>
                <a:lnTo>
                  <a:pt x="258782" y="228511"/>
                </a:lnTo>
                <a:lnTo>
                  <a:pt x="307896" y="277624"/>
                </a:lnTo>
                <a:cubicBezTo>
                  <a:pt x="316290" y="286018"/>
                  <a:pt x="316290" y="299591"/>
                  <a:pt x="307896" y="307896"/>
                </a:cubicBezTo>
                <a:cubicBezTo>
                  <a:pt x="299502" y="316200"/>
                  <a:pt x="285929" y="316290"/>
                  <a:pt x="277624" y="307896"/>
                </a:cubicBezTo>
                <a:lnTo>
                  <a:pt x="228511" y="258782"/>
                </a:lnTo>
                <a:lnTo>
                  <a:pt x="179397" y="307896"/>
                </a:lnTo>
                <a:cubicBezTo>
                  <a:pt x="171004" y="316290"/>
                  <a:pt x="157430" y="316290"/>
                  <a:pt x="149126" y="307896"/>
                </a:cubicBezTo>
                <a:cubicBezTo>
                  <a:pt x="140821" y="299502"/>
                  <a:pt x="140732" y="285929"/>
                  <a:pt x="149126" y="277624"/>
                </a:cubicBezTo>
                <a:lnTo>
                  <a:pt x="198239" y="228511"/>
                </a:lnTo>
                <a:lnTo>
                  <a:pt x="149126" y="179397"/>
                </a:lnTo>
                <a:cubicBezTo>
                  <a:pt x="140732" y="171004"/>
                  <a:pt x="140732" y="157430"/>
                  <a:pt x="149126" y="149126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E74C3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Infinite recursion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(wrong base case)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Using 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74C3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instead of 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74C3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arithmetic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Uninstantiated vars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arithmetic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Over-reliance on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 cuts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Left recursion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(stack overflow)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Forgetting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closed-world assumption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Missing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occurs check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issues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Underspecified variable scopes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0500" y="203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03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33600" y="1968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Prolog is a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declarative logic programming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language based on first-order logic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0000" y="2921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0500" y="304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0500" y="304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33600" y="30734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Programs consist of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and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3937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60500" y="406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406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33600" y="40894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Unification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the core computational mechanism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4953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60500" y="508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1460500" y="508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33600" y="5016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Backtracking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enables automatic search for multiple solutions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70000" y="5969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60500" y="6096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1460500" y="609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33600" y="61214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Recursion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the primary iteration mechanism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2000" y="1905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72500" y="2032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8572500" y="203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45600" y="20574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head-tail decomposition [H|T]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382000" y="2921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72500" y="3048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0" name="Text 28"/>
          <p:cNvSpPr/>
          <p:nvPr/>
        </p:nvSpPr>
        <p:spPr>
          <a:xfrm>
            <a:off x="8572500" y="304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45600" y="30734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cut (!)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controls backtracking (use judiciously)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382000" y="3937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572500" y="4064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4" name="Text 32"/>
          <p:cNvSpPr/>
          <p:nvPr/>
        </p:nvSpPr>
        <p:spPr>
          <a:xfrm>
            <a:off x="8572500" y="406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245600" y="40894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Negation as failure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closed-world assumption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82000" y="4953000"/>
            <a:ext cx="6604000" cy="825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72500" y="5080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8" name="Text 36"/>
          <p:cNvSpPr/>
          <p:nvPr/>
        </p:nvSpPr>
        <p:spPr>
          <a:xfrm>
            <a:off x="8572500" y="508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245600" y="51054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Excels at: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symbolic AI, NLP, constraints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382000" y="5969000"/>
            <a:ext cx="6604000" cy="825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76200" dist="25400" dir="5400000">
              <a:srgbClr val="000000">
                <a:alpha val="1569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72500" y="6096000"/>
            <a:ext cx="508000" cy="5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572500" y="609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245600" y="6032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Mastering Prolog develops unique problem-solving skills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70000" y="7239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Think declaratively. Let Prolog do the searching.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Questions &amp; Discussion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048000" y="368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Representation — Week 13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83000" y="4699000"/>
            <a:ext cx="889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Recommended: "Programming in Prolog" — Clocksin &amp; Mellish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Practice: SWISH (swish.swi-prolog.org)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609600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6096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 &amp; AI Department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</dc:title>
  <dc:subject>week 13</dc:subject>
  <dc:creator>Kimi</dc:creator>
  <cp:lastModifiedBy>Kimi</cp:lastModifiedBy>
  <cp:revision>1</cp:revision>
  <dcterms:created xsi:type="dcterms:W3CDTF">2026-06-26T14:40:48Z</dcterms:created>
  <dcterms:modified xsi:type="dcterms:W3CDTF">2026-06-26T14:40:48Z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13","ContentProducer":"001191110108MACG2KBH8F10000","ProduceID":"19f0434b-41a2-87b9-8000-0000893aa5dd","ReservedCode1":"","ContentPropagator":"001191110108MACG2KBH8F20000","PropagateID":"19f042d6-f212-87b4-8000-09b10617178f","ReservedCode2":""}</vt:lpwstr>
  </property>
</Properties>
</file>