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3byxv7fur4/mnt/agents/output/ai-week8/images/6_Abstract_neural_network_connections.png">    </p:cNvPr>
          <p:cNvPicPr>
            <a:picLocks noChangeAspect="1"/>
          </p:cNvPicPr>
          <p:nvPr/>
        </p:nvPicPr>
        <p:blipFill>
          <a:blip r:embed="rId1"/>
          <a:srcRect l="194" r="19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50000">
                <a:srgbClr val="0F172A">
                  <a:alpha val="8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4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048000" y="4572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8 — Neural Networks, Perceptron &amp; Reinforcement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334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LECTURES L15 &amp; L16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968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54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Networks &amp; Perceptron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984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Biological inspiration, the Perceptron algorithm, MLP architecture, activation functions, and backpropagation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381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572000"/>
            <a:ext cx="889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508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508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5524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Agent-environment interaction, Markov Decision Processes, Q-Learning, and Deep Q-Networks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635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16</a:t>
            </a:r>
            <a:endParaRPr lang="en-US" sz="1600" dirty="0"/>
          </a:p>
        </p:txBody>
      </p:sp>
      <p:pic>
        <p:nvPicPr>
          <p:cNvPr id="14" name="Image 0" descr="https://kimi-img.moonshot.cn/pub/slides/okc/2h73byxv7fur4/mnt/agents/output/ai-week8/images/10_A_glowing_blue_digital_brain_illustration.png">    </p:cNvPr>
          <p:cNvPicPr>
            <a:picLocks noChangeAspect="1"/>
          </p:cNvPicPr>
          <p:nvPr/>
        </p:nvPicPr>
        <p:blipFill>
          <a:blip r:embed="rId1"/>
          <a:srcRect l="31900" r="31900" t="0" b="0"/>
          <a:stretch/>
        </p:blipFill>
        <p:spPr>
          <a:xfrm>
            <a:off x="10414000" y="635000"/>
            <a:ext cx="5080000" cy="7874000"/>
          </a:xfrm>
          <a:prstGeom prst="roundRect">
            <a:avLst>
              <a:gd name="adj" fmla="val 8000"/>
            </a:avLst>
          </a:prstGeom>
        </p:spPr>
      </p:pic>
      <p:sp>
        <p:nvSpPr>
          <p:cNvPr id="15" name="Text 12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478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0" spc="200" kern="0" dirty="0">
                <a:solidFill>
                  <a:srgbClr val="1E293B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901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7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NETWORKS &amp; PERCEPTRON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6515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biological neurons to artificial neural networks — understanding the foundation of deep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85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15</a:t>
            </a:r>
            <a:endParaRPr lang="en-US" sz="1600" dirty="0"/>
          </a:p>
        </p:txBody>
      </p:sp>
      <p:pic>
        <p:nvPicPr>
          <p:cNvPr id="8" name="Image 0" descr="https://kimi-img.moonshot.cn/pub/slides/okc/2h73byxv7fur4/mnt/agents/output/ai-week8/images/4_23_737_Neural_Network_Backgroun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27902" r="27902" t="0" b="0"/>
          <a:stretch/>
        </p:blipFill>
        <p:spPr>
          <a:xfrm>
            <a:off x="9906000" y="1016000"/>
            <a:ext cx="5588000" cy="711200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Biological Inspiration: The Human Brain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6604000" cy="6604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905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Biological Neuron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540000"/>
            <a:ext cx="5842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human brain contains approximately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86 billion neurons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connected by trillions of synapses.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biological neuron: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Dendrites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receive signals from other neurons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Cell Body (Soma)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processes incoming signals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Axon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transmits output signal to other neurons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Synapse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connection point between neurons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the combined input exceeds a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threshold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neuron fires an action potential.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74000" y="158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NEURON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049000" y="2540000"/>
            <a:ext cx="1524000" cy="15240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90500" dist="50800" dir="5400000">
              <a:srgbClr val="1e293b">
                <a:alpha val="1882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049000" y="4127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Cell Body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06000" y="2921000"/>
            <a:ext cx="1143000" cy="381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906000" y="3302000"/>
            <a:ext cx="1143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9906000" y="3683000"/>
            <a:ext cx="1143000" cy="381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128000" y="31496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Dendrites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573000" y="3302000"/>
            <a:ext cx="1270000" cy="0"/>
          </a:xfrm>
          <a:prstGeom prst="straightConnector1">
            <a:avLst/>
          </a:prstGeom>
          <a:noFill/>
          <a:ln w="38100">
            <a:solidFill>
              <a:srgbClr val="1E293B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13970000" y="31496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41400" y="32004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3462000" y="28575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Synapse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74000" y="5334000"/>
            <a:ext cx="7620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128000" y="5397500"/>
            <a:ext cx="711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Artificial Neural Networks mimic this biological structure — weighted inputs are summed, and if the result exceeds a threshold, the neuron "fires."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Artificial Neuron: McCulloch-Pitts Model (1943)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Warren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McCulloch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Walter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Pitts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proposed the first mathematical model of an artificial neuron in 1943.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model computes 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weighted sum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inputs and applies an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activation function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produce output.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proved that networks of simple units could compute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any logical function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48895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5016500"/>
                <a:ext cx="6350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 dirty="0"/>
                        <m:t>y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f</m:t>
                      </m:r>
                      <m:r>
                        <a:rPr lang="en-US" sz="1800" dirty="0"/>
                        <m:t>(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i</m:t>
                          </m:r>
                          <m:r>
                            <a:rPr lang="en-US" sz="1300" dirty="0"/>
                            <m:t>=</m:t>
                          </m:r>
                          <m:r>
                            <a:rPr lang="en-US" sz="1300" dirty="0"/>
                            <m:t>1</m:t>
                          </m:r>
                        </m:sub>
                        <m:sup>
                          <m:r>
                            <a:rPr lang="en-US" sz="1300" i="1" dirty="0"/>
                            <m:t>n</m:t>
                          </m:r>
                        </m:sup>
                      </m:sSubSup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x</m:t>
                          </m:r>
                        </m:e>
                        <m:sub>
                          <m:r>
                            <a:rPr lang="en-US" sz="1300" i="1" dirty="0"/>
                            <m:t>i</m:t>
                          </m:r>
                        </m:sub>
                      </m:sSub>
                      <m:r>
                        <a:rPr lang="en-US" sz="1800" dirty="0"/>
                        <m:t>+</m:t>
                      </m:r>
                      <m:r>
                        <a:rPr lang="en-US" sz="1800" i="1" dirty="0"/>
                        <m:t>b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5016500"/>
                <a:ext cx="6350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293B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y = f\left(\sum_{i=1}^{n} w_i x_i + b\right) )</a:t>
                </a:r>
                <a:endParaRPr lang="en-US" sz="18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62000" y="6096000"/>
            <a:ext cx="685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pPr>
              <a:lnSpc>
                <a:spcPct val="170000"/>
              </a:lnSpc>
            </a:pPr>
            <a:r>
              <a:rPr lang="en-US" sz="1500" b="1" baseline="-40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input features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pPr>
              <a:lnSpc>
                <a:spcPct val="170000"/>
              </a:lnSpc>
            </a:pPr>
            <a:r>
              <a:rPr lang="en-US" sz="1500" b="1" baseline="-40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weights (connection strengths)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bias (threshold adjustment)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activation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58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NEURON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890000" y="2286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90000" y="2286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90000" y="3175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0000" y="3175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0000" y="4064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0000" y="4064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pPr algn="ctr">
              <a:lnSpc>
                <a:spcPct val="100000"/>
              </a:lnSpc>
            </a:pPr>
            <a:r>
              <a:rPr lang="en-US" sz="1600" baseline="-40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79000" y="2540000"/>
            <a:ext cx="1016000" cy="1016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779000" y="3429000"/>
            <a:ext cx="1016000" cy="127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 flipV="1">
            <a:off x="9779000" y="4318000"/>
            <a:ext cx="1016000" cy="762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9969500" y="2667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pPr algn="ctr">
              <a:lnSpc>
                <a:spcPct val="100000"/>
              </a:lnSpc>
            </a:pPr>
            <a:r>
              <a:rPr lang="en-US" sz="1300" baseline="-40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69500" y="3276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pPr algn="ctr">
              <a:lnSpc>
                <a:spcPct val="100000"/>
              </a:lnSpc>
            </a:pPr>
            <a:r>
              <a:rPr lang="en-US" sz="1300" baseline="-40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69500" y="4318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pPr algn="ctr">
              <a:lnSpc>
                <a:spcPct val="100000"/>
              </a:lnSpc>
            </a:pPr>
            <a:r>
              <a:rPr lang="en-US" sz="1300" baseline="-40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3048000"/>
            <a:ext cx="1270000" cy="12700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5400000">
              <a:srgbClr val="1e293b">
                <a:alpha val="1451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10795000" y="3048000"/>
                <a:ext cx="1270000" cy="1270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dirty="0"/>
                        <m:t>Σ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 20"/>
              <p:cNvSpPr/>
              <p:nvPr/>
            </p:nvSpPr>
            <p:spPr>
              <a:xfrm>
                <a:off x="10795000" y="3048000"/>
                <a:ext cx="1270000" cy="1270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\Sigma )</a:t>
                </a:r>
                <a:endParaRPr lang="en-US" sz="1600" dirty="0"/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11112500" y="4699000"/>
            <a:ext cx="635000" cy="5080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ysDot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0604500" y="52705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(b)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065000" y="3683000"/>
            <a:ext cx="1016000" cy="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3081000" y="3429000"/>
            <a:ext cx="889000" cy="5080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13081000" y="3429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224000" y="35306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Perceptron: A Learning Machine (1958)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270000" cy="4572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22500" y="1587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Frank Rosenblatt, Cornell Aeronautical Laboratory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863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Frank Rosenblatt created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Perceptron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first artificial neural network that could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from examples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rule-based systems, the Perceptron proved machines could learn patterns from data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autonomously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Developed during the Cold War for military pattern recognition: identifying aircraft and tanks from aerial photographs.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461000"/>
            <a:ext cx="8636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39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5588000"/>
            <a:ext cx="749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Learning from data rather than being programmed with rules — this became the dominant approach in modern AI.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1587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CONTEXT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87000" y="2349500"/>
            <a:ext cx="38100" cy="4826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10800" y="2476500"/>
            <a:ext cx="190500" cy="1905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4500" y="2413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1943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0" y="241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McCulloch-Pitts neuron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10800" y="3238500"/>
            <a:ext cx="190500" cy="1905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4500" y="3175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0" y="317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Rosenblatt's Perceptron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210800" y="4000500"/>
            <a:ext cx="190500" cy="1905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4500" y="3937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0" y="393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Minsky &amp; Papert's limitations book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10800" y="4762500"/>
            <a:ext cx="190500" cy="1905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4500" y="4699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0" y="4699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Backpropagation popularized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10800" y="5524500"/>
            <a:ext cx="190500" cy="1905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4500" y="5461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546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revolution (AlexNet)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Perceptron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Perceptron algorithm iteratively updates weights to find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linear decision boundary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222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2222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Initialize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weights and bias to zero or small random values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2385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23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3238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each training sample,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 predicted output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ŷ = step(Σw</a:t>
            </a:r>
            <a:pPr>
              <a:lnSpc>
                <a:spcPct val="150000"/>
              </a:lnSpc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</a:t>
            </a:r>
            <a:pPr>
              <a:lnSpc>
                <a:spcPct val="150000"/>
              </a:lnSpc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b)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42545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25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4254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weights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w</a:t>
            </a:r>
            <a:pPr>
              <a:lnSpc>
                <a:spcPct val="150000"/>
              </a:lnSpc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← w</a:t>
            </a:r>
            <a:pPr>
              <a:lnSpc>
                <a:spcPct val="150000"/>
              </a:lnSpc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η(y − ŷ)x</a:t>
            </a:r>
            <a:pPr>
              <a:lnSpc>
                <a:spcPct val="150000"/>
              </a:lnSpc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2705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270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5270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Repeat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until convergence or maximum epochs reached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2095500"/>
            <a:ext cx="7112000" cy="4064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2349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Parameters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28575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Rate (η)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controls step size of weight updates. Too high: unstable. Too low: slow convergence.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Convergence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algorithm converges 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i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if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data is linearly separable.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Function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outputs 1 if Σw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baseline="-400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</a:t>
            </a:r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b ≥ 0, else 0.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63500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1E293B">
              <a:alpha val="3137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666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6540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Perceptron Convergence Theorem: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training data is linearly separable, the Perceptron learning algorithm is guaranteed to find a separating hyperplane in a finite number of steps.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Perceptron Learning: Visual Intuition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Perceptron learns by adjusting its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 boundary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(hyperplane) to correctly separate data points.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a 2D case, the decision boundary is a line: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w₁x₁ + w₂x₂ + b = 0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point is misclassified, the weight vector rotates toward the correct side. Positive examples push the boundary away; negative examples pull it closer.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546100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5524500"/>
            <a:ext cx="622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Geometric Interpretation: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weight vector is normal (perpendicular) to the decision boundary. The learning rule adjusts this normal direction.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8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BOUNDARY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095500"/>
            <a:ext cx="7112000" cy="482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8763000" y="5715000"/>
            <a:ext cx="6350000" cy="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8890000" y="2476500"/>
            <a:ext cx="0" cy="34290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986000" y="5778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10600" y="2349500"/>
            <a:ext cx="40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V="1">
            <a:off x="9398000" y="2667000"/>
            <a:ext cx="4826000" cy="254000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arrow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14160500" y="30226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Boundary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176000" y="3810000"/>
            <a:ext cx="762000" cy="762000"/>
          </a:xfrm>
          <a:prstGeom prst="straightConnector1">
            <a:avLst/>
          </a:prstGeom>
          <a:noFill/>
          <a:ln w="25400">
            <a:solidFill>
              <a:srgbClr val="1E293B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11938000" y="36195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 vector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65000" y="2921000"/>
            <a:ext cx="177800" cy="177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12954000" y="3175000"/>
            <a:ext cx="177800" cy="177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12700000" y="2667000"/>
            <a:ext cx="177800" cy="177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0" y="2476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(+1)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06000" y="4699000"/>
            <a:ext cx="177800" cy="1778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4318000"/>
            <a:ext cx="177800" cy="1778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0" y="5080000"/>
            <a:ext cx="177800" cy="1778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50800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91B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(-1)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Perceptron Limitations: The XOR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270000" cy="45720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22500" y="1587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Marvin Minsky &amp; Seymour Papert — "Perceptrons"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Minsky and Papert proved that a single-layer Perceptron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solve non-linearly separable problems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most famously the XOR function.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single straight line can separate the positive and negative classes in the XOR input space.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07000"/>
          <a:ext cx="4826000" cy="2286000"/>
        </p:xfrm>
        <a:graphic>
          <a:graphicData uri="http://schemas.openxmlformats.org/drawingml/2006/table">
            <a:tbl>
              <a:tblPr/>
              <a:tblGrid>
                <a:gridCol w="1206500"/>
                <a:gridCol w="1206500"/>
                <a:gridCol w="1206500"/>
                <a:gridCol w="12065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x₁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x₂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XOR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F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Negative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Positive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Positive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7620000"/>
            <a:ext cx="482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(1,1) → 0 (Negative) — not shown in table for brevity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2000" y="158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XOR INPUT SPACE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2000" y="2095500"/>
            <a:ext cx="7112000" cy="482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8763000" y="5334000"/>
            <a:ext cx="6350000" cy="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10795000" y="2476500"/>
            <a:ext cx="0" cy="30480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8890000" y="5397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732000" y="5397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41000" y="5842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41000" y="18796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541000" y="527050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10033000" y="5588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(0,0)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4478000" y="52705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13970000" y="5588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(0,1)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541000" y="24765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9906000" y="1968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(1,0)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4478000" y="247650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13970000" y="2222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(1,1)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033000" y="3810000"/>
            <a:ext cx="5080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ysDot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11684000" y="38735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line can separate!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82000" y="7239000"/>
            <a:ext cx="7112000" cy="889000"/>
          </a:xfrm>
          <a:prstGeom prst="roundRect">
            <a:avLst>
              <a:gd name="adj" fmla="val 5000"/>
            </a:avLst>
          </a:prstGeom>
          <a:solidFill>
            <a:srgbClr val="EF4444">
              <a:alpha val="6275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8699500" y="7302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Consequence: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caused the first "AI Winter" — reduced funding in NN research throughout the 1970s.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82000" y="8255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 Multi-layer networks with non-linear activation functions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Perceptron to Multi-Layer Networks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Stacking multiple layers of neurons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non-linear activation functions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the network to learn complex, non-linear decision boundaries.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6858000" cy="5080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73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 Perceptron (MLP)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365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3810000"/>
            <a:ext cx="508000" cy="508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1270000" y="4572000"/>
            <a:ext cx="508000" cy="508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5334000"/>
            <a:ext cx="508000" cy="5080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2921000" y="33655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HIDDEN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2000" y="3683000"/>
            <a:ext cx="558800" cy="5588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5400000">
              <a:srgbClr val="1e293b">
                <a:alpha val="1254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2000" y="4546600"/>
            <a:ext cx="558800" cy="5588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5400000">
              <a:srgbClr val="1e293b">
                <a:alpha val="1254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02000" y="5410200"/>
            <a:ext cx="558800" cy="55880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5400000">
              <a:srgbClr val="1e293b">
                <a:alpha val="1254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80000" y="33655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1000" y="4318000"/>
            <a:ext cx="558800" cy="5588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5400000">
              <a:srgbClr val="d97706">
                <a:alpha val="1254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78000" y="3937000"/>
            <a:ext cx="1524000" cy="381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778000" y="4064000"/>
            <a:ext cx="1524000" cy="762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778000" y="4699000"/>
            <a:ext cx="1524000" cy="127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778000" y="4826000"/>
            <a:ext cx="1524000" cy="127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778000" y="4953000"/>
            <a:ext cx="1524000" cy="635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778000" y="5461000"/>
            <a:ext cx="1524000" cy="381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778000" y="5588000"/>
            <a:ext cx="1524000" cy="127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860800" y="3937000"/>
            <a:ext cx="1600200" cy="1016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860800" y="4699000"/>
            <a:ext cx="1600200" cy="254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860800" y="5461000"/>
            <a:ext cx="1600200" cy="254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8128000" y="2540000"/>
            <a:ext cx="736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MLP consists of: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Layer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receives raw features, one node per feature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Hidden Layer(s)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learns intermediate representations through weighted computation + activation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 Layer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produces final predictions (one per class)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just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hidden layer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 MLP can approximate any continuous function — the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Universal Approximation Theorem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 matters: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more layers enable hierarchical feature learning, from simple edges to complex objects.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 Perceptron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Designing an MLP requires careful choices across multiple dimensions. Each component plays a critical role in the network's ability to learn and generalize.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48000"/>
          <a:ext cx="14732000" cy="3937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3912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 Choices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Nodes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per input feature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 count, normalization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Hidden Layers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Each neuron: weighted sum + activation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layers (depth), neurons per layer (width)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Nodes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Produce predictions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per class (classification), one (regression)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Weights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Fully connected between adjacent layers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Initialization strategy (Xavier, He)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Bias Terms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 activation function to shift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per neuron, learned during training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 Types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Shallow vs. Deep networks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Shallow: 1-2 hidden layers; Deep: 3+ layers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Trade-off: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More parameters (deeper/wider networks) increase representational power but also risk overfitting and require more training data and computation.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Activation Functions: Why Non-Linearity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non-linear activation functions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 multi-layer network would be equivalent to a single linear transformation — no matter how many layers, only linear mappings are possible.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We Need Non-Linearity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685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Activation functions introduce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non-linearity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needed to model complex, real-world patterns.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Requirements for an activation function: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Non-linear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enables learning complex mappings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Differentiable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required for gradient-based learning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Computationally efficient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training speed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Activation Functions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3429000"/>
            <a:ext cx="3175000" cy="88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0" y="3530600"/>
            <a:ext cx="279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σ(x) = 1/(1+e⁻ˣ)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11000" y="3429000"/>
            <a:ext cx="3683000" cy="88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0" y="3530600"/>
            <a:ext cx="330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tanh(x) = (eˣ-e⁻ˣ)/(eˣ+e⁻ˣ)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4508500"/>
            <a:ext cx="3175000" cy="88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500" y="4610100"/>
            <a:ext cx="279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f(x) = max(0, x)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11000" y="4508500"/>
            <a:ext cx="3683000" cy="889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0" y="4610100"/>
            <a:ext cx="330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Leaky ReLU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f(x) = max(αx, x)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477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choice of activation function significantly impacts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speed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convergence stability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model performance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Modern deep networks predominantly use ReLU and its variants.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Sigmoid and Tanh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77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Sigmoid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79500" y="2222500"/>
                <a:ext cx="6477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σ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x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</m:t>
                          </m:r>
                        </m:num>
                        <m:den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+</m:t>
                          </m:r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e</m:t>
                              </m:r>
                            </m:e>
                            <m:sup>
                              <m:r>
                                <a:rPr lang="en-US" sz="800" dirty="0"/>
                                <m:t>−</m:t>
                              </m:r>
                              <m:r>
                                <a:rPr lang="en-US" sz="800" i="1" dirty="0"/>
                                <m:t>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D97706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Output range: (0, 1)</a:t>
                </a:r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79500" y="2222500"/>
                <a:ext cx="6477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D9770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\sigma(x) = \frac{1}{1 + e^{-x}} )</a:t>
                </a:r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D97706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Output range: (0, 1)</a:t>
                </a:r>
                <a:endParaRPr lang="en-US" sz="16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1079500" y="27305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Smooth, differentiable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Probability interpretation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2730500"/>
            <a:ext cx="330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Vanishing gradient problem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Outputs not zero-centered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Computationally expensive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Saturation at extremes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875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699500" y="177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Tanh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8699500" y="2222500"/>
                <a:ext cx="6477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tanh</m:t>
                      </m:r>
                      <m:r>
                        <a:rPr lang="en-US" sz="1600" dirty="0"/>
                        <m:t>⁡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x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e</m:t>
                              </m:r>
                            </m:e>
                            <m:sup>
                              <m:r>
                                <a:rPr lang="en-US" sz="800" i="1" dirty="0"/>
                                <m:t>x</m:t>
                              </m:r>
                            </m:sup>
                          </m:sSup>
                          <m:r>
                            <a:rPr lang="en-US" sz="1100" dirty="0"/>
                            <m:t>−</m:t>
                          </m:r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e</m:t>
                              </m:r>
                            </m:e>
                            <m:sup>
                              <m:r>
                                <a:rPr lang="en-US" sz="800" dirty="0"/>
                                <m:t>−</m:t>
                              </m:r>
                              <m:r>
                                <a:rPr lang="en-US" sz="800" i="1" dirty="0"/>
                                <m:t>x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e</m:t>
                              </m:r>
                            </m:e>
                            <m:sup>
                              <m:r>
                                <a:rPr lang="en-US" sz="800" i="1" dirty="0"/>
                                <m:t>x</m:t>
                              </m:r>
                            </m:sup>
                          </m:sSup>
                          <m:r>
                            <a:rPr lang="en-US" sz="1100" dirty="0"/>
                            <m:t>+</m:t>
                          </m:r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e</m:t>
                              </m:r>
                            </m:e>
                            <m:sup>
                              <m:r>
                                <a:rPr lang="en-US" sz="800" dirty="0"/>
                                <m:t>−</m:t>
                              </m:r>
                              <m:r>
                                <a:rPr lang="en-US" sz="800" i="1" dirty="0"/>
                                <m:t>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D97706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Range: (-1, 1)</a:t>
                </a:r>
                <a:endParaRPr lang="en-US" sz="16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8699500" y="2222500"/>
                <a:ext cx="6477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D9770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\tanh(x) = \frac{e^x - e^{-x}}{e^x + e^{-x}} )</a:t>
                </a:r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D97706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Range: (-1, 1)</a:t>
                </a:r>
                <a:endParaRPr lang="en-US" sz="1600" dirty="0"/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8699500" y="27305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Zero-centered outputs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Faster convergence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938000" y="2730500"/>
            <a:ext cx="330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Still vanishing gradients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 ideal for deep networks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Expensive computation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Saturates for large |x|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Head-to-Head Comparison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78500"/>
          <a:ext cx="14732000" cy="2286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Sigmoid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Tanh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Range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(0, 1)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(-1, 1)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Tanh (zero-centered)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Gradient Flow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Tanh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Modern Usage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layer only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RNN hidden layers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ReLU (supersedes both)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ReLU: The Modern Standard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ReLU: </a:t>
            </a:r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f(x) = max(0, x)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most widely used activation function in deep learning since 2011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050" y="330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31496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efficient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simple max operation, no exponentials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2950" y="4064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95250"/>
                </a:moveTo>
                <a:cubicBezTo>
                  <a:pt x="218063" y="95250"/>
                  <a:pt x="209550" y="86737"/>
                  <a:pt x="209550" y="76200"/>
                </a:cubicBezTo>
                <a:cubicBezTo>
                  <a:pt x="209550" y="65663"/>
                  <a:pt x="218063" y="57150"/>
                  <a:pt x="228600" y="57150"/>
                </a:cubicBezTo>
                <a:lnTo>
                  <a:pt x="323850" y="57150"/>
                </a:lnTo>
                <a:cubicBezTo>
                  <a:pt x="334387" y="57150"/>
                  <a:pt x="342900" y="65663"/>
                  <a:pt x="342900" y="76200"/>
                </a:cubicBezTo>
                <a:lnTo>
                  <a:pt x="342900" y="171450"/>
                </a:lnTo>
                <a:cubicBezTo>
                  <a:pt x="342900" y="181987"/>
                  <a:pt x="334387" y="190500"/>
                  <a:pt x="323850" y="190500"/>
                </a:cubicBezTo>
                <a:cubicBezTo>
                  <a:pt x="313313" y="190500"/>
                  <a:pt x="304800" y="181987"/>
                  <a:pt x="304800" y="171450"/>
                </a:cubicBezTo>
                <a:lnTo>
                  <a:pt x="304800" y="122218"/>
                </a:lnTo>
                <a:lnTo>
                  <a:pt x="203954" y="223064"/>
                </a:lnTo>
                <a:cubicBezTo>
                  <a:pt x="196513" y="230505"/>
                  <a:pt x="184428" y="230505"/>
                  <a:pt x="176986" y="223064"/>
                </a:cubicBezTo>
                <a:lnTo>
                  <a:pt x="114300" y="160318"/>
                </a:lnTo>
                <a:lnTo>
                  <a:pt x="32504" y="242054"/>
                </a:lnTo>
                <a:cubicBezTo>
                  <a:pt x="25063" y="249495"/>
                  <a:pt x="12978" y="249495"/>
                  <a:pt x="5536" y="242054"/>
                </a:cubicBezTo>
                <a:cubicBezTo>
                  <a:pt x="-1905" y="234613"/>
                  <a:pt x="-1905" y="222528"/>
                  <a:pt x="5536" y="215086"/>
                </a:cubicBezTo>
                <a:lnTo>
                  <a:pt x="100786" y="119836"/>
                </a:lnTo>
                <a:cubicBezTo>
                  <a:pt x="108228" y="112395"/>
                  <a:pt x="120313" y="112395"/>
                  <a:pt x="127754" y="119836"/>
                </a:cubicBezTo>
                <a:lnTo>
                  <a:pt x="190500" y="182582"/>
                </a:lnTo>
                <a:lnTo>
                  <a:pt x="277832" y="95250"/>
                </a:lnTo>
                <a:lnTo>
                  <a:pt x="228600" y="952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40386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Avoids vanishing gradient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positive inputs — gradients flow freely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82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206500" y="4889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Sparse activations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negative inputs become zero, creating efficiency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68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206500" y="5651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6x faster convergence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sigmoid/tanh on benchmark tasks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 &amp; Variants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238500"/>
            <a:ext cx="7112000" cy="1143000"/>
          </a:xfrm>
          <a:prstGeom prst="roundRect">
            <a:avLst>
              <a:gd name="adj" fmla="val 5000"/>
            </a:avLst>
          </a:prstGeom>
          <a:solidFill>
            <a:srgbClr val="EF4444">
              <a:alpha val="6275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99500" y="3327400"/>
            <a:ext cx="6477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"Dying ReLU" Problem: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Neurons can become permanently inactive if they consistently receive negative inputs (gradient = 0).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4635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Variants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5080000"/>
          <a:ext cx="7112000" cy="2286000"/>
        </p:xfrm>
        <a:graphic>
          <a:graphicData uri="http://schemas.openxmlformats.org/drawingml/2006/table">
            <a:tbl>
              <a:tblPr/>
              <a:tblGrid>
                <a:gridCol w="1991360"/>
                <a:gridCol w="2987040"/>
                <a:gridCol w="21336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Leaky ReLU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max(αx, x), α=0.01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Prevents dying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PReLU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max(αx, x), α learned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Adaptive slope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if x≥0, α(eˣ-1)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Smooth negative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GELU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x·Φ(x)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Backpropagation Algorithm (1986)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270000" cy="4572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22500" y="1587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Rumelhart, Hinton &amp; Williams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Backpropagation made training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deep neural networks practical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uses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 rule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calculus to efficiently compute gradients of the loss function with respect to every weight.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algorithm has two phases: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Forward Pass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(compute predictions) and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Backward Pass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(propagate errors to update weights).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207000"/>
            <a:ext cx="8382000" cy="1016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5308600"/>
            <a:ext cx="774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Impact: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breakthrough enabled MLPs to overcome Minsky &amp; Papert's limitations, sparking renewed interest in neural networks.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79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779000" y="21590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779000" y="2159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49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9779000" y="3619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Loss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049000" y="4000500"/>
            <a:ext cx="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779000" y="45085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779000" y="45085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BACKWARD PASS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49000" y="5397500"/>
            <a:ext cx="0" cy="508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9779000" y="5905500"/>
            <a:ext cx="2794000" cy="762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79000" y="59055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WEIGHTS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0" y="2159000"/>
            <a:ext cx="2540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Forward: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 flows through layers. Each neuron computes weighted sum + activation.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Rule: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∂L/∂w = (∂L/∂a) × (∂a/∂z) × (∂z/∂w)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Backward: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Error gradients flow from output to input, layer by layer.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Update: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 ← w − η·(∂L/∂w)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Pass and Backward Pass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75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2225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Input data flows through the network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by layer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Each neuron computes: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Σ(wᵢ·aᵢ) + b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Apply activation: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= f(z)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Final layer produces predictions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Compute loss: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 = (predicted − actual)²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587500"/>
            <a:ext cx="7112000" cy="3302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699500" y="175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Backward Pass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99500" y="22225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Compute gradient of loss w.r.t. each weight using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rule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∂L/∂w = (∂L/∂a) × (∂a/∂z) × (∂z/∂w)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Update weights: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 ← w − η·(∂L/∂w)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Repeat for all layers from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to input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Iterate until convergence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2705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539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EQUATIONS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1079500" y="58166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Forward: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z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=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W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a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+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b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</m:oMath>
                  </m:oMathPara>
                </a14:m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,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a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=</m:t>
                      </m:r>
                      <m:r>
                        <a:rPr lang="en-US" sz="1600" i="1" dirty="0"/>
                        <m:t>f</m:t>
                      </m:r>
                      <m:r>
                        <a:rPr lang="en-US" sz="1600" dirty="0"/>
                        <m:t>(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z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1079500" y="58166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Forward: </a:t>
                </a:r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z^{[l]} = W^{[l]}a^{[l-1]} + b^{[l]} )</a:t>
                </a:r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, </a:t>
                </a:r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a^{[l]} = f(z^{[l]}) )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079500" y="62611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Backward: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δ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(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W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+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]</m:t>
                          </m:r>
                          <m:r>
                            <a:rPr lang="en-US" sz="1100" i="1" dirty="0"/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δ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+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⊙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f</m:t>
                          </m:r>
                        </m:e>
                        <m:sup>
                          <m:r>
                            <a:rPr lang="en-US" sz="1100" dirty="0"/>
                            <m:t>′</m:t>
                          </m:r>
                        </m:sup>
                      </m:sSup>
                      <m:r>
                        <a:rPr lang="en-US" sz="1600" dirty="0"/>
                        <m:t>(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z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1079500" y="62611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Backward: </a:t>
                </a:r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\delta^{[l]} = (W^{[l+1]T}\delta^{[l+1]}) \odot f'(z^{[l]}) )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8382000" y="58166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Weight Update: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∂</m:t>
                          </m:r>
                          <m:r>
                            <a:rPr lang="en-US" sz="1100" i="1" dirty="0"/>
                            <m:t>L</m:t>
                          </m:r>
                        </m:num>
                        <m:den>
                          <m:r>
                            <a:rPr lang="en-US" sz="1100" dirty="0"/>
                            <m:t>∂</m:t>
                          </m:r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W</m:t>
                              </m:r>
                            </m:e>
                            <m:sup>
                              <m:r>
                                <a:rPr lang="en-US" sz="800" dirty="0"/>
                                <m:t>[</m:t>
                              </m:r>
                              <m:r>
                                <a:rPr lang="en-US" sz="800" i="1" dirty="0"/>
                                <m:t>l</m:t>
                              </m:r>
                              <m:r>
                                <a:rPr lang="en-US" sz="800" dirty="0"/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1600" dirty="0"/>
                        <m:t>=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δ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a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]</m:t>
                          </m:r>
                          <m:r>
                            <a:rPr lang="en-US" sz="1100" i="1" dirty="0"/>
                            <m:t>T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8382000" y="58166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Weight Update: </a:t>
                </a:r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\frac{\partial L}{\partial W^{[l]}} = \delta^{[l]}a^{[l-1]T} )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8382000" y="62611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Gradient Descent: </a:t>
                </a:r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W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=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W</m:t>
                          </m:r>
                        </m:e>
                        <m:sup>
                          <m:r>
                            <a:rPr lang="en-US" sz="1100" dirty="0"/>
                            <m:t>[</m:t>
                          </m:r>
                          <m:r>
                            <a:rPr lang="en-US" sz="1100" i="1" dirty="0"/>
                            <m:t>l</m:t>
                          </m:r>
                          <m:r>
                            <a:rPr lang="en-US" sz="1100" dirty="0"/>
                            <m:t>]</m:t>
                          </m:r>
                        </m:sup>
                      </m:sSup>
                      <m:r>
                        <a:rPr lang="en-US" sz="1600" dirty="0"/>
                        <m:t>−</m:t>
                      </m:r>
                      <m:r>
                        <a:rPr lang="en-US" sz="1600" i="1" dirty="0"/>
                        <m:t>η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∂</m:t>
                          </m:r>
                          <m:r>
                            <a:rPr lang="en-US" sz="1100" i="1" dirty="0"/>
                            <m:t>L</m:t>
                          </m:r>
                        </m:num>
                        <m:den>
                          <m:r>
                            <a:rPr lang="en-US" sz="1100" dirty="0"/>
                            <m:t>∂</m:t>
                          </m:r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W</m:t>
                              </m:r>
                            </m:e>
                            <m:sup>
                              <m:r>
                                <a:rPr lang="en-US" sz="800" dirty="0"/>
                                <m:t>[</m:t>
                              </m:r>
                              <m:r>
                                <a:rPr lang="en-US" sz="800" i="1" dirty="0"/>
                                <m:t>l</m:t>
                              </m:r>
                              <m:r>
                                <a:rPr lang="en-US" sz="800" dirty="0"/>
                                <m:t>]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8382000" y="6261100"/>
                <a:ext cx="6858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7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Gradient Descent: </a:t>
                </a:r>
                <a:pPr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W^{[l]} = W^{[l]} - \eta \frac{\partial L}{\partial W^{[l]}} )</a:t>
                </a:r>
                <a:endParaRPr lang="en-US" sz="1600" dirty="0"/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a Neural Network: Key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606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prediction error.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regression,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Cross-Entropy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classification.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099175" y="18034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95429" y="371296"/>
                </a:moveTo>
                <a:cubicBezTo>
                  <a:pt x="104110" y="379978"/>
                  <a:pt x="118209" y="379978"/>
                  <a:pt x="126891" y="371296"/>
                </a:cubicBezTo>
                <a:lnTo>
                  <a:pt x="215791" y="282396"/>
                </a:lnTo>
                <a:cubicBezTo>
                  <a:pt x="224473" y="273715"/>
                  <a:pt x="224473" y="259616"/>
                  <a:pt x="215791" y="250934"/>
                </a:cubicBezTo>
                <a:cubicBezTo>
                  <a:pt x="207109" y="242253"/>
                  <a:pt x="193010" y="242253"/>
                  <a:pt x="184329" y="250934"/>
                </a:cubicBezTo>
                <a:lnTo>
                  <a:pt x="133350" y="301913"/>
                </a:lnTo>
                <a:lnTo>
                  <a:pt x="133350" y="0"/>
                </a:lnTo>
                <a:cubicBezTo>
                  <a:pt x="133350" y="-12293"/>
                  <a:pt x="123418" y="-22225"/>
                  <a:pt x="111125" y="-22225"/>
                </a:cubicBezTo>
                <a:cubicBezTo>
                  <a:pt x="98832" y="-22225"/>
                  <a:pt x="88900" y="-12293"/>
                  <a:pt x="88900" y="0"/>
                </a:cubicBezTo>
                <a:lnTo>
                  <a:pt x="88900" y="301913"/>
                </a:lnTo>
                <a:lnTo>
                  <a:pt x="37921" y="250934"/>
                </a:lnTo>
                <a:cubicBezTo>
                  <a:pt x="29240" y="242253"/>
                  <a:pt x="15141" y="242253"/>
                  <a:pt x="6459" y="250934"/>
                </a:cubicBezTo>
                <a:cubicBezTo>
                  <a:pt x="-2223" y="259616"/>
                  <a:pt x="-2223" y="273715"/>
                  <a:pt x="6459" y="282396"/>
                </a:cubicBezTo>
                <a:lnTo>
                  <a:pt x="95359" y="37129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5151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Descent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606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Iteratively minimizes loss by moving in the direction of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gradient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22250" y="244475"/>
                </a:moveTo>
                <a:cubicBezTo>
                  <a:pt x="222250" y="225792"/>
                  <a:pt x="210790" y="209818"/>
                  <a:pt x="194469" y="203289"/>
                </a:cubicBez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lnTo>
                  <a:pt x="161131" y="203289"/>
                </a:lnTo>
                <a:cubicBezTo>
                  <a:pt x="144810" y="209887"/>
                  <a:pt x="133350" y="225862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ubicBezTo>
                  <a:pt x="202317" y="288925"/>
                  <a:pt x="222250" y="268992"/>
                  <a:pt x="222250" y="244475"/>
                </a:cubicBezTo>
                <a:close/>
                <a:moveTo>
                  <a:pt x="100013" y="122238"/>
                </a:moveTo>
                <a:cubicBezTo>
                  <a:pt x="112279" y="122238"/>
                  <a:pt x="122238" y="112279"/>
                  <a:pt x="122238" y="100013"/>
                </a:cubicBez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lose/>
                <a:moveTo>
                  <a:pt x="88900" y="177800"/>
                </a:move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ubicBezTo>
                  <a:pt x="78941" y="200025"/>
                  <a:pt x="88900" y="190066"/>
                  <a:pt x="88900" y="177800"/>
                </a:cubicBezTo>
                <a:close/>
                <a:moveTo>
                  <a:pt x="288925" y="200025"/>
                </a:moveTo>
                <a:cubicBezTo>
                  <a:pt x="301191" y="200025"/>
                  <a:pt x="311150" y="190066"/>
                  <a:pt x="311150" y="177800"/>
                </a:cubicBez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lose/>
                <a:moveTo>
                  <a:pt x="277813" y="100013"/>
                </a:moveTo>
                <a:cubicBezTo>
                  <a:pt x="277813" y="87746"/>
                  <a:pt x="267854" y="77788"/>
                  <a:pt x="255587" y="77788"/>
                </a:cubicBezTo>
                <a:cubicBezTo>
                  <a:pt x="243321" y="77788"/>
                  <a:pt x="233363" y="87746"/>
                  <a:pt x="233363" y="100013"/>
                </a:cubicBezTo>
                <a:cubicBezTo>
                  <a:pt x="233363" y="112279"/>
                  <a:pt x="243321" y="122238"/>
                  <a:pt x="255587" y="122238"/>
                </a:cubicBezTo>
                <a:cubicBezTo>
                  <a:pt x="267854" y="122238"/>
                  <a:pt x="277813" y="112279"/>
                  <a:pt x="277813" y="1000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2606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size for weight updates. Too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unstable. Too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slow.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9370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412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Epochs &amp; Batch Size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610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Epoch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one complete pass through training data.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samples per update.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39370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25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515100" y="412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0" y="4610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memorizes training data but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fails to generalize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new data.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95000" y="39370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49000" y="415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1531600" y="4127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Regularization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4610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to prevent overfitting: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 regularization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early stopping.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350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6477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Workflow: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→ Forward Pass → Compute Loss → Backward Pass → Update Weights → Repeat. Monitor validation loss to detect overfitting. Use learning rate scheduling and regularization for better generalization.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Networks: Real-World 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Neural networks power countless modern applications across virtually every industry.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387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2387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702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classification (ResNet, VGG), object detection (YOLO), facial recognition, medical imaging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159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007100" y="2387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27000" y="0"/>
                </a:moveTo>
                <a:cubicBezTo>
                  <a:pt x="141049" y="0"/>
                  <a:pt x="152400" y="11351"/>
                  <a:pt x="152400" y="25400"/>
                </a:cubicBezTo>
                <a:lnTo>
                  <a:pt x="152400" y="50800"/>
                </a:lnTo>
                <a:lnTo>
                  <a:pt x="254000" y="50800"/>
                </a:lnTo>
                <a:cubicBezTo>
                  <a:pt x="268049" y="50800"/>
                  <a:pt x="279400" y="62151"/>
                  <a:pt x="279400" y="76200"/>
                </a:cubicBezTo>
                <a:cubicBezTo>
                  <a:pt x="279400" y="90249"/>
                  <a:pt x="268049" y="101600"/>
                  <a:pt x="254000" y="101600"/>
                </a:cubicBezTo>
                <a:lnTo>
                  <a:pt x="246380" y="101600"/>
                </a:lnTo>
                <a:lnTo>
                  <a:pt x="239713" y="119936"/>
                </a:lnTo>
                <a:cubicBezTo>
                  <a:pt x="226695" y="155813"/>
                  <a:pt x="207089" y="188595"/>
                  <a:pt x="182404" y="216773"/>
                </a:cubicBezTo>
                <a:cubicBezTo>
                  <a:pt x="193675" y="223758"/>
                  <a:pt x="205423" y="229949"/>
                  <a:pt x="217646" y="235426"/>
                </a:cubicBezTo>
                <a:lnTo>
                  <a:pt x="257651" y="253206"/>
                </a:lnTo>
                <a:lnTo>
                  <a:pt x="307023" y="142081"/>
                </a:lnTo>
                <a:cubicBezTo>
                  <a:pt x="311071" y="132874"/>
                  <a:pt x="320199" y="127000"/>
                  <a:pt x="330200" y="127000"/>
                </a:cubicBezTo>
                <a:cubicBezTo>
                  <a:pt x="340201" y="127000"/>
                  <a:pt x="349329" y="132874"/>
                  <a:pt x="353377" y="142081"/>
                </a:cubicBezTo>
                <a:lnTo>
                  <a:pt x="454977" y="370681"/>
                </a:lnTo>
                <a:cubicBezTo>
                  <a:pt x="460692" y="383540"/>
                  <a:pt x="454898" y="398542"/>
                  <a:pt x="442119" y="404178"/>
                </a:cubicBezTo>
                <a:cubicBezTo>
                  <a:pt x="429339" y="409813"/>
                  <a:pt x="414258" y="404098"/>
                  <a:pt x="408622" y="391319"/>
                </a:cubicBezTo>
                <a:lnTo>
                  <a:pt x="392747" y="355600"/>
                </a:lnTo>
                <a:lnTo>
                  <a:pt x="267732" y="355600"/>
                </a:lnTo>
                <a:lnTo>
                  <a:pt x="251857" y="391319"/>
                </a:lnTo>
                <a:cubicBezTo>
                  <a:pt x="246142" y="404178"/>
                  <a:pt x="231140" y="409892"/>
                  <a:pt x="218361" y="404178"/>
                </a:cubicBezTo>
                <a:cubicBezTo>
                  <a:pt x="205581" y="398463"/>
                  <a:pt x="199787" y="383461"/>
                  <a:pt x="205502" y="370681"/>
                </a:cubicBezTo>
                <a:lnTo>
                  <a:pt x="237093" y="299641"/>
                </a:lnTo>
                <a:lnTo>
                  <a:pt x="197088" y="281861"/>
                </a:lnTo>
                <a:cubicBezTo>
                  <a:pt x="178832" y="273764"/>
                  <a:pt x="161369" y="264081"/>
                  <a:pt x="144859" y="252968"/>
                </a:cubicBezTo>
                <a:cubicBezTo>
                  <a:pt x="127952" y="266621"/>
                  <a:pt x="109458" y="278527"/>
                  <a:pt x="89694" y="288449"/>
                </a:cubicBezTo>
                <a:lnTo>
                  <a:pt x="62151" y="302101"/>
                </a:lnTo>
                <a:cubicBezTo>
                  <a:pt x="49609" y="308372"/>
                  <a:pt x="34369" y="303292"/>
                  <a:pt x="28099" y="290751"/>
                </a:cubicBezTo>
                <a:cubicBezTo>
                  <a:pt x="21828" y="278209"/>
                  <a:pt x="26908" y="262969"/>
                  <a:pt x="39449" y="256699"/>
                </a:cubicBezTo>
                <a:lnTo>
                  <a:pt x="66834" y="242967"/>
                </a:lnTo>
                <a:cubicBezTo>
                  <a:pt x="79772" y="236458"/>
                  <a:pt x="92075" y="228918"/>
                  <a:pt x="103664" y="220504"/>
                </a:cubicBezTo>
                <a:cubicBezTo>
                  <a:pt x="92710" y="210423"/>
                  <a:pt x="82391" y="199549"/>
                  <a:pt x="72787" y="188039"/>
                </a:cubicBezTo>
                <a:lnTo>
                  <a:pt x="64770" y="178356"/>
                </a:lnTo>
                <a:cubicBezTo>
                  <a:pt x="55801" y="167561"/>
                  <a:pt x="57229" y="151527"/>
                  <a:pt x="68024" y="142558"/>
                </a:cubicBezTo>
                <a:cubicBezTo>
                  <a:pt x="78819" y="133588"/>
                  <a:pt x="94853" y="135017"/>
                  <a:pt x="103822" y="145812"/>
                </a:cubicBezTo>
                <a:lnTo>
                  <a:pt x="111919" y="155496"/>
                </a:lnTo>
                <a:cubicBezTo>
                  <a:pt x="121047" y="166529"/>
                  <a:pt x="131048" y="176768"/>
                  <a:pt x="141605" y="186214"/>
                </a:cubicBezTo>
                <a:cubicBezTo>
                  <a:pt x="163433" y="162084"/>
                  <a:pt x="180657" y="133747"/>
                  <a:pt x="192008" y="102552"/>
                </a:cubicBezTo>
                <a:lnTo>
                  <a:pt x="192405" y="101600"/>
                </a:lnTo>
                <a:lnTo>
                  <a:pt x="25479" y="101600"/>
                </a:lnTo>
                <a:cubicBezTo>
                  <a:pt x="11351" y="101600"/>
                  <a:pt x="0" y="90249"/>
                  <a:pt x="0" y="76200"/>
                </a:cubicBezTo>
                <a:cubicBezTo>
                  <a:pt x="0" y="62151"/>
                  <a:pt x="11351" y="50800"/>
                  <a:pt x="25400" y="50800"/>
                </a:cubicBezTo>
                <a:lnTo>
                  <a:pt x="101600" y="50800"/>
                </a:lnTo>
                <a:lnTo>
                  <a:pt x="101600" y="25400"/>
                </a:lnTo>
                <a:cubicBezTo>
                  <a:pt x="101600" y="11351"/>
                  <a:pt x="112951" y="0"/>
                  <a:pt x="127000" y="0"/>
                </a:cubicBezTo>
                <a:close/>
                <a:moveTo>
                  <a:pt x="330200" y="214948"/>
                </a:moveTo>
                <a:lnTo>
                  <a:pt x="290274" y="304800"/>
                </a:lnTo>
                <a:lnTo>
                  <a:pt x="370126" y="304800"/>
                </a:lnTo>
                <a:lnTo>
                  <a:pt x="330200" y="21494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565900" y="2387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8702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translation, sentiment analysis, chatbots (GPT, BERT), text summarization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99800" y="23876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52400" y="0"/>
                </a:moveTo>
                <a:cubicBezTo>
                  <a:pt x="110331" y="0"/>
                  <a:pt x="76200" y="34131"/>
                  <a:pt x="76200" y="76200"/>
                </a:cubicBezTo>
                <a:lnTo>
                  <a:pt x="76200" y="177800"/>
                </a:lnTo>
                <a:cubicBezTo>
                  <a:pt x="76200" y="219869"/>
                  <a:pt x="110331" y="254000"/>
                  <a:pt x="152400" y="254000"/>
                </a:cubicBezTo>
                <a:cubicBezTo>
                  <a:pt x="194469" y="254000"/>
                  <a:pt x="228600" y="219869"/>
                  <a:pt x="228600" y="177800"/>
                </a:cubicBezTo>
                <a:lnTo>
                  <a:pt x="228600" y="76200"/>
                </a:lnTo>
                <a:cubicBezTo>
                  <a:pt x="228600" y="34131"/>
                  <a:pt x="194469" y="0"/>
                  <a:pt x="152400" y="0"/>
                </a:cubicBezTo>
                <a:close/>
                <a:moveTo>
                  <a:pt x="38100" y="146050"/>
                </a:moveTo>
                <a:cubicBezTo>
                  <a:pt x="38100" y="135493"/>
                  <a:pt x="29607" y="127000"/>
                  <a:pt x="19050" y="127000"/>
                </a:cubicBezTo>
                <a:cubicBezTo>
                  <a:pt x="8493" y="127000"/>
                  <a:pt x="0" y="135493"/>
                  <a:pt x="0" y="146050"/>
                </a:cubicBezTo>
                <a:lnTo>
                  <a:pt x="0" y="177800"/>
                </a:lnTo>
                <a:cubicBezTo>
                  <a:pt x="0" y="255508"/>
                  <a:pt x="58182" y="319643"/>
                  <a:pt x="133350" y="329009"/>
                </a:cubicBezTo>
                <a:lnTo>
                  <a:pt x="13335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209550" y="406400"/>
                </a:lnTo>
                <a:cubicBezTo>
                  <a:pt x="220107" y="406400"/>
                  <a:pt x="228600" y="397907"/>
                  <a:pt x="228600" y="387350"/>
                </a:cubicBezTo>
                <a:cubicBezTo>
                  <a:pt x="228600" y="376793"/>
                  <a:pt x="220107" y="368300"/>
                  <a:pt x="209550" y="368300"/>
                </a:cubicBezTo>
                <a:lnTo>
                  <a:pt x="171450" y="368300"/>
                </a:lnTo>
                <a:lnTo>
                  <a:pt x="171450" y="329009"/>
                </a:lnTo>
                <a:cubicBezTo>
                  <a:pt x="246618" y="319643"/>
                  <a:pt x="304800" y="255508"/>
                  <a:pt x="304800" y="177800"/>
                </a:cubicBezTo>
                <a:lnTo>
                  <a:pt x="304800" y="146050"/>
                </a:lnTo>
                <a:cubicBezTo>
                  <a:pt x="304800" y="135493"/>
                  <a:pt x="296307" y="127000"/>
                  <a:pt x="285750" y="127000"/>
                </a:cubicBezTo>
                <a:cubicBezTo>
                  <a:pt x="275193" y="127000"/>
                  <a:pt x="266700" y="135493"/>
                  <a:pt x="266700" y="146050"/>
                </a:cubicBezTo>
                <a:lnTo>
                  <a:pt x="266700" y="177800"/>
                </a:lnTo>
                <a:cubicBezTo>
                  <a:pt x="266700" y="240903"/>
                  <a:pt x="215503" y="292100"/>
                  <a:pt x="152400" y="292100"/>
                </a:cubicBezTo>
                <a:cubicBezTo>
                  <a:pt x="89297" y="292100"/>
                  <a:pt x="38100" y="240903"/>
                  <a:pt x="38100" y="177800"/>
                </a:cubicBezTo>
                <a:lnTo>
                  <a:pt x="38100" y="1460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1582400" y="23876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Recognition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8702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assistants (Siri, Alexa), real-time transcription, voice authentication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3815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610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549400" y="46101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0927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cars, drone navigation, robotic control systems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3815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1700" y="46101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55600" y="50800"/>
                </a:moveTo>
                <a:cubicBezTo>
                  <a:pt x="439738" y="50800"/>
                  <a:pt x="508000" y="119063"/>
                  <a:pt x="508000" y="203200"/>
                </a:cubicBezTo>
                <a:cubicBezTo>
                  <a:pt x="508000" y="287338"/>
                  <a:pt x="439738" y="355600"/>
                  <a:pt x="355600" y="355600"/>
                </a:cubicBezTo>
                <a:lnTo>
                  <a:pt x="152400" y="355600"/>
                </a:lnTo>
                <a:cubicBezTo>
                  <a:pt x="68263" y="355600"/>
                  <a:pt x="0" y="287338"/>
                  <a:pt x="0" y="203200"/>
                </a:cubicBezTo>
                <a:cubicBezTo>
                  <a:pt x="0" y="119063"/>
                  <a:pt x="68263" y="50800"/>
                  <a:pt x="152400" y="50800"/>
                </a:cubicBezTo>
                <a:lnTo>
                  <a:pt x="355600" y="50800"/>
                </a:lnTo>
                <a:close/>
                <a:moveTo>
                  <a:pt x="152400" y="139700"/>
                </a:moveTo>
                <a:cubicBezTo>
                  <a:pt x="141843" y="139700"/>
                  <a:pt x="133350" y="148193"/>
                  <a:pt x="133350" y="158750"/>
                </a:cubicBezTo>
                <a:lnTo>
                  <a:pt x="133350" y="184150"/>
                </a:lnTo>
                <a:lnTo>
                  <a:pt x="107950" y="184150"/>
                </a:lnTo>
                <a:cubicBezTo>
                  <a:pt x="97393" y="184150"/>
                  <a:pt x="88900" y="192643"/>
                  <a:pt x="88900" y="203200"/>
                </a:cubicBezTo>
                <a:cubicBezTo>
                  <a:pt x="88900" y="213757"/>
                  <a:pt x="97393" y="222250"/>
                  <a:pt x="107950" y="222250"/>
                </a:cubicBezTo>
                <a:lnTo>
                  <a:pt x="133350" y="222250"/>
                </a:lnTo>
                <a:lnTo>
                  <a:pt x="133350" y="247650"/>
                </a:lnTo>
                <a:cubicBezTo>
                  <a:pt x="133350" y="258207"/>
                  <a:pt x="141843" y="266700"/>
                  <a:pt x="152400" y="266700"/>
                </a:cubicBezTo>
                <a:cubicBezTo>
                  <a:pt x="162957" y="266700"/>
                  <a:pt x="171450" y="258207"/>
                  <a:pt x="171450" y="247650"/>
                </a:cubicBezTo>
                <a:lnTo>
                  <a:pt x="171450" y="222250"/>
                </a:lnTo>
                <a:lnTo>
                  <a:pt x="196850" y="222250"/>
                </a:lnTo>
                <a:cubicBezTo>
                  <a:pt x="207407" y="222250"/>
                  <a:pt x="215900" y="213757"/>
                  <a:pt x="215900" y="203200"/>
                </a:cubicBezTo>
                <a:cubicBezTo>
                  <a:pt x="215900" y="192643"/>
                  <a:pt x="207407" y="184150"/>
                  <a:pt x="196850" y="184150"/>
                </a:cubicBezTo>
                <a:lnTo>
                  <a:pt x="171450" y="184150"/>
                </a:lnTo>
                <a:lnTo>
                  <a:pt x="171450" y="158750"/>
                </a:lnTo>
                <a:cubicBezTo>
                  <a:pt x="171450" y="148193"/>
                  <a:pt x="162957" y="139700"/>
                  <a:pt x="152400" y="139700"/>
                </a:cubicBezTo>
                <a:close/>
                <a:moveTo>
                  <a:pt x="342900" y="215900"/>
                </a:moveTo>
                <a:cubicBezTo>
                  <a:pt x="328881" y="215900"/>
                  <a:pt x="317500" y="227281"/>
                  <a:pt x="317500" y="241300"/>
                </a:cubicBezTo>
                <a:cubicBezTo>
                  <a:pt x="317500" y="255319"/>
                  <a:pt x="328881" y="266700"/>
                  <a:pt x="342900" y="266700"/>
                </a:cubicBezTo>
                <a:cubicBezTo>
                  <a:pt x="356919" y="266700"/>
                  <a:pt x="368300" y="255319"/>
                  <a:pt x="368300" y="241300"/>
                </a:cubicBezTo>
                <a:cubicBezTo>
                  <a:pt x="368300" y="227281"/>
                  <a:pt x="356919" y="215900"/>
                  <a:pt x="342900" y="215900"/>
                </a:cubicBezTo>
                <a:close/>
                <a:moveTo>
                  <a:pt x="393700" y="139700"/>
                </a:moveTo>
                <a:cubicBezTo>
                  <a:pt x="379681" y="139700"/>
                  <a:pt x="368300" y="151081"/>
                  <a:pt x="368300" y="165100"/>
                </a:cubicBezTo>
                <a:cubicBezTo>
                  <a:pt x="368300" y="179119"/>
                  <a:pt x="379681" y="190500"/>
                  <a:pt x="393700" y="190500"/>
                </a:cubicBezTo>
                <a:cubicBezTo>
                  <a:pt x="407719" y="190500"/>
                  <a:pt x="419100" y="179119"/>
                  <a:pt x="419100" y="165100"/>
                </a:cubicBezTo>
                <a:cubicBezTo>
                  <a:pt x="419100" y="151081"/>
                  <a:pt x="407719" y="139700"/>
                  <a:pt x="393700" y="139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900" y="46101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Playing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50927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AlphaGo (Go), chess engines, poker (Pluribus), StarCraft (AlphaStar)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3815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3600" y="46101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11582400" y="46101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50927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detection, stock price prediction, credit scoring, risk assessment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667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079500" y="6731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versatility of neural networks stems from their ability to learn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representations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automatically from raw data — features are learned, not hand-engineered.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0" spc="200" kern="0" dirty="0">
                <a:solidFill>
                  <a:srgbClr val="1E293B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6515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through interaction — how agents make optimal decisions in dynamic environments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85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16</a:t>
            </a:r>
            <a:endParaRPr lang="en-US" sz="1600" dirty="0"/>
          </a:p>
        </p:txBody>
      </p:sp>
      <p:pic>
        <p:nvPicPr>
          <p:cNvPr id="8" name="Image 0" descr="https://kimi-img.moonshot.cn/pub/slides/okc/2h73byxv7fur4/mnt/agents/output/ai-week8/images/9_3d_rendering_smart_humanoid_robo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28788" r="28788" t="0" b="0"/>
          <a:stretch/>
        </p:blipFill>
        <p:spPr>
          <a:xfrm>
            <a:off x="9906000" y="1016000"/>
            <a:ext cx="5588000" cy="711200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Reinforcement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 (RL)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machine learning paradigm where an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learns to make decisions by interacting with an environment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receiving rewards and penalties through trial and error.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RL Differs from Other ML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429000"/>
          <a:ext cx="14732000" cy="2286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3854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Supervised Learning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Unsupervised Learning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Reinforcement Learning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915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Labeled dataset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Unlabeled 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dataset — interaction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915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Feedback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Correct answer given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direct feedback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Reward signal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915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 mapping input→output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 hidden patterns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Maximize cumulative reward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609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 of RL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666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1206500" y="6604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labeled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required — learns through exploration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45000" y="666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4889500" y="6604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rewards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actions have long-term consequences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89900" y="6667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8572500" y="6604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Exploration vs. Exploitation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try new vs. use known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065000" y="666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12509500" y="6604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Goal-oriented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maximize cumulative reward over time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Agent-Environment Interaction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 each time step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agent and environment interact in a continuous loop. The agent must learn which actions lead to the highest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long-term cumulative reward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14732000" cy="4191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588000" y="2794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5400000">
              <a:srgbClr val="1e293b">
                <a:alpha val="1254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88000" y="2794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5334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52400" dist="38100" dir="5400000">
              <a:srgbClr val="d97706">
                <a:alpha val="1254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88000" y="5334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74000" y="3810000"/>
            <a:ext cx="0" cy="1524000"/>
          </a:xfrm>
          <a:prstGeom prst="straightConnector1">
            <a:avLst/>
          </a:prstGeom>
          <a:noFill/>
          <a:ln w="381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382000" y="3810000"/>
            <a:ext cx="0" cy="1524000"/>
          </a:xfrm>
          <a:prstGeom prst="straightConnector1">
            <a:avLst/>
          </a:prstGeom>
          <a:noFill/>
          <a:ln w="38100">
            <a:solidFill>
              <a:srgbClr val="1E293B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6096000" y="41910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s</a:t>
            </a:r>
            <a:pPr algn="ctr">
              <a:lnSpc>
                <a:spcPct val="100000"/>
              </a:lnSpc>
            </a:pPr>
            <a:r>
              <a:rPr lang="en-US" sz="1400" b="1" baseline="-40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9000" y="41910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 r</a:t>
            </a:r>
            <a:pPr algn="ctr">
              <a:lnSpc>
                <a:spcPct val="100000"/>
              </a:lnSpc>
            </a:pPr>
            <a:r>
              <a:rPr lang="en-US" sz="1400" b="1" baseline="-40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2000" y="4635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a</a:t>
            </a:r>
            <a:pPr algn="ctr">
              <a:lnSpc>
                <a:spcPct val="100000"/>
              </a:lnSpc>
            </a:pPr>
            <a:r>
              <a:rPr lang="en-US" sz="1400" b="1" baseline="-40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2921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Agent observes current state s</a:t>
            </a:r>
            <a:pPr>
              <a:lnSpc>
                <a:spcPct val="150000"/>
              </a:lnSpc>
            </a:pPr>
            <a:r>
              <a:rPr lang="en-US" sz="1400" baseline="-40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environment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5588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Agent selects action a</a:t>
            </a:r>
            <a:pPr>
              <a:lnSpc>
                <a:spcPct val="150000"/>
              </a:lnSpc>
            </a:pPr>
            <a:r>
              <a:rPr lang="en-US" sz="1400" baseline="-40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its policy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2921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Environment transitions to new state s</a:t>
            </a:r>
            <a:pPr>
              <a:lnSpc>
                <a:spcPct val="150000"/>
              </a:lnSpc>
            </a:pPr>
            <a:r>
              <a:rPr lang="en-US" sz="1400" baseline="-40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t+1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0" y="5588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Environment provides reward r</a:t>
            </a:r>
            <a:pPr>
              <a:lnSpc>
                <a:spcPct val="150000"/>
              </a:lnSpc>
            </a:pPr>
            <a:r>
              <a:rPr lang="en-US" sz="1400" baseline="-40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t+1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98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loop continues until a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terminal state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reached (episodic tasks) or indefinitely (continuing tasks).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Markov Decision Process (MDP)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MDP is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framework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formalizes sequential decision-making in RL. Named after Andrey Markov, it captures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Markov Property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the future depends only on the present state and action, not on past history.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079500" y="2857500"/>
                <a:ext cx="1409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MDP =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dirty="0"/>
                        <m:t>⟨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A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T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R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γ</m:t>
                      </m:r>
                      <m:r>
                        <a:rPr lang="en-US" sz="1600" dirty="0"/>
                        <m:t>⟩</m:t>
                      </m:r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a 5-tuple defining the decision problem</a:t>
                </a:r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1079500" y="2857500"/>
                <a:ext cx="14097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MDP = 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\langle S, A, T, R, \gamma \rangle )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FFFFFF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— a 5-tuple defining the decision problem</a:t>
                </a:r>
                <a:endParaRPr lang="en-US" sz="16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Five 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635500"/>
            <a:ext cx="2667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46990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52070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possible situations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6500" y="4635500"/>
            <a:ext cx="2667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6500" y="46990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73500" y="52070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choices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31000" y="4635500"/>
            <a:ext cx="2667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731000" y="46990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52070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P(s'|s,a)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15500" y="4635500"/>
            <a:ext cx="2667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0" y="46990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42500" y="52070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feedback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0" y="4635500"/>
            <a:ext cx="2794000" cy="1524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0" y="4699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27000" y="5207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Discount Factor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≤ γ &lt; 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540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MDPs provide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foundation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RL algorithms. The discount factor γ balances immediate vs. future rewards — γ = 0 means only care about now; γ close to 1 means plan far into the future.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MDP Components: States, Actions, Rewards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4699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082675" y="18034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133350" y="197525"/>
                </a:moveTo>
                <a:cubicBezTo>
                  <a:pt x="177869" y="187454"/>
                  <a:pt x="211138" y="147588"/>
                  <a:pt x="211138" y="100013"/>
                </a:cubicBezTo>
                <a:cubicBezTo>
                  <a:pt x="211138" y="44797"/>
                  <a:pt x="166340" y="0"/>
                  <a:pt x="111125" y="0"/>
                </a:cubicBezTo>
                <a:cubicBezTo>
                  <a:pt x="55910" y="0"/>
                  <a:pt x="11112" y="44797"/>
                  <a:pt x="11112" y="100013"/>
                </a:cubicBezTo>
                <a:cubicBezTo>
                  <a:pt x="11112" y="147588"/>
                  <a:pt x="44381" y="187454"/>
                  <a:pt x="88900" y="197525"/>
                </a:cubicBezTo>
                <a:lnTo>
                  <a:pt x="88900" y="333375"/>
                </a:lnTo>
                <a:cubicBezTo>
                  <a:pt x="88900" y="345668"/>
                  <a:pt x="98832" y="355600"/>
                  <a:pt x="111125" y="355600"/>
                </a:cubicBezTo>
                <a:cubicBezTo>
                  <a:pt x="123418" y="355600"/>
                  <a:pt x="133350" y="345668"/>
                  <a:pt x="133350" y="333375"/>
                </a:cubicBezTo>
                <a:lnTo>
                  <a:pt x="133350" y="197525"/>
                </a:lnTo>
                <a:close/>
                <a:moveTo>
                  <a:pt x="116681" y="66675"/>
                </a:moveTo>
                <a:cubicBezTo>
                  <a:pt x="95220" y="66675"/>
                  <a:pt x="77788" y="84108"/>
                  <a:pt x="77788" y="105569"/>
                </a:cubicBezTo>
                <a:cubicBezTo>
                  <a:pt x="77788" y="114806"/>
                  <a:pt x="70356" y="122238"/>
                  <a:pt x="61119" y="122238"/>
                </a:cubicBezTo>
                <a:cubicBezTo>
                  <a:pt x="51881" y="122238"/>
                  <a:pt x="44450" y="114806"/>
                  <a:pt x="44450" y="105569"/>
                </a:cubicBezTo>
                <a:cubicBezTo>
                  <a:pt x="44450" y="65703"/>
                  <a:pt x="76815" y="33337"/>
                  <a:pt x="116681" y="33337"/>
                </a:cubicBezTo>
                <a:cubicBezTo>
                  <a:pt x="125919" y="33337"/>
                  <a:pt x="133350" y="40769"/>
                  <a:pt x="133350" y="50006"/>
                </a:cubicBezTo>
                <a:cubicBezTo>
                  <a:pt x="133350" y="59244"/>
                  <a:pt x="125919" y="66675"/>
                  <a:pt x="116681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States (S)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606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 all possible situations the agent can be in.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contain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relevant information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decision-making (Markov property).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robot position in a grid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054725" y="1803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27781"/>
                </a:moveTo>
                <a:cubicBezTo>
                  <a:pt x="88900" y="12432"/>
                  <a:pt x="101332" y="0"/>
                  <a:pt x="116681" y="0"/>
                </a:cubicBezTo>
                <a:cubicBezTo>
                  <a:pt x="132030" y="0"/>
                  <a:pt x="144463" y="12432"/>
                  <a:pt x="144463" y="27781"/>
                </a:cubicBezTo>
                <a:lnTo>
                  <a:pt x="144463" y="130711"/>
                </a:lnTo>
                <a:cubicBezTo>
                  <a:pt x="150366" y="125432"/>
                  <a:pt x="158145" y="122238"/>
                  <a:pt x="166688" y="122238"/>
                </a:cubicBezTo>
                <a:cubicBezTo>
                  <a:pt x="180995" y="122238"/>
                  <a:pt x="193219" y="131266"/>
                  <a:pt x="197941" y="143907"/>
                </a:cubicBezTo>
                <a:cubicBezTo>
                  <a:pt x="204053" y="137448"/>
                  <a:pt x="212665" y="133350"/>
                  <a:pt x="222250" y="133350"/>
                </a:cubicBezTo>
                <a:cubicBezTo>
                  <a:pt x="239822" y="133350"/>
                  <a:pt x="254198" y="146893"/>
                  <a:pt x="255518" y="164118"/>
                </a:cubicBezTo>
                <a:cubicBezTo>
                  <a:pt x="261422" y="158770"/>
                  <a:pt x="269270" y="155575"/>
                  <a:pt x="277813" y="155575"/>
                </a:cubicBezTo>
                <a:cubicBezTo>
                  <a:pt x="296218" y="155575"/>
                  <a:pt x="311150" y="170507"/>
                  <a:pt x="311150" y="188913"/>
                </a:cubicBezTo>
                <a:lnTo>
                  <a:pt x="311150" y="266700"/>
                </a:lnTo>
                <a:cubicBezTo>
                  <a:pt x="311150" y="315803"/>
                  <a:pt x="271353" y="355600"/>
                  <a:pt x="222250" y="355600"/>
                </a:cubicBezTo>
                <a:lnTo>
                  <a:pt x="163006" y="355600"/>
                </a:lnTo>
                <a:cubicBezTo>
                  <a:pt x="159534" y="355600"/>
                  <a:pt x="156131" y="355392"/>
                  <a:pt x="152797" y="354905"/>
                </a:cubicBezTo>
                <a:cubicBezTo>
                  <a:pt x="114389" y="351016"/>
                  <a:pt x="79038" y="331291"/>
                  <a:pt x="55563" y="300038"/>
                </a:cubicBezTo>
                <a:lnTo>
                  <a:pt x="5556" y="233363"/>
                </a:lnTo>
                <a:cubicBezTo>
                  <a:pt x="-3681" y="221069"/>
                  <a:pt x="-1181" y="203706"/>
                  <a:pt x="11112" y="194469"/>
                </a:cubicBezTo>
                <a:cubicBezTo>
                  <a:pt x="23406" y="185231"/>
                  <a:pt x="40769" y="187732"/>
                  <a:pt x="50006" y="200025"/>
                </a:cubicBezTo>
                <a:lnTo>
                  <a:pt x="88900" y="251906"/>
                </a:lnTo>
                <a:lnTo>
                  <a:pt x="88900" y="27781"/>
                </a:lnTo>
                <a:close/>
                <a:moveTo>
                  <a:pt x="166688" y="211138"/>
                </a:moveTo>
                <a:cubicBezTo>
                  <a:pt x="166688" y="205026"/>
                  <a:pt x="161687" y="200025"/>
                  <a:pt x="155575" y="200025"/>
                </a:cubicBezTo>
                <a:cubicBezTo>
                  <a:pt x="149463" y="200025"/>
                  <a:pt x="144463" y="205026"/>
                  <a:pt x="144463" y="211138"/>
                </a:cubicBezTo>
                <a:lnTo>
                  <a:pt x="144463" y="277813"/>
                </a:lnTo>
                <a:cubicBezTo>
                  <a:pt x="144463" y="283924"/>
                  <a:pt x="149463" y="288925"/>
                  <a:pt x="155575" y="288925"/>
                </a:cubicBezTo>
                <a:cubicBezTo>
                  <a:pt x="161687" y="288925"/>
                  <a:pt x="166688" y="283924"/>
                  <a:pt x="166688" y="277813"/>
                </a:cubicBezTo>
                <a:lnTo>
                  <a:pt x="166688" y="211138"/>
                </a:lnTo>
                <a:close/>
                <a:moveTo>
                  <a:pt x="200025" y="200025"/>
                </a:moveTo>
                <a:cubicBezTo>
                  <a:pt x="193913" y="200025"/>
                  <a:pt x="188913" y="205026"/>
                  <a:pt x="188913" y="211138"/>
                </a:cubicBezTo>
                <a:lnTo>
                  <a:pt x="188913" y="277813"/>
                </a:lnTo>
                <a:cubicBezTo>
                  <a:pt x="188913" y="283924"/>
                  <a:pt x="193913" y="288925"/>
                  <a:pt x="200025" y="288925"/>
                </a:cubicBezTo>
                <a:cubicBezTo>
                  <a:pt x="206137" y="288925"/>
                  <a:pt x="211138" y="283924"/>
                  <a:pt x="211138" y="277813"/>
                </a:cubicBezTo>
                <a:lnTo>
                  <a:pt x="211138" y="211138"/>
                </a:lnTo>
                <a:cubicBezTo>
                  <a:pt x="211138" y="205026"/>
                  <a:pt x="206137" y="200025"/>
                  <a:pt x="200025" y="200025"/>
                </a:cubicBezTo>
                <a:close/>
                <a:moveTo>
                  <a:pt x="255587" y="211138"/>
                </a:moveTo>
                <a:cubicBezTo>
                  <a:pt x="255587" y="205026"/>
                  <a:pt x="250587" y="200025"/>
                  <a:pt x="244475" y="200025"/>
                </a:cubicBezTo>
                <a:cubicBezTo>
                  <a:pt x="238363" y="200025"/>
                  <a:pt x="233363" y="205026"/>
                  <a:pt x="233363" y="211138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cubicBezTo>
                  <a:pt x="250587" y="288925"/>
                  <a:pt x="255587" y="283924"/>
                  <a:pt x="255587" y="277813"/>
                </a:cubicBezTo>
                <a:lnTo>
                  <a:pt x="255587" y="21113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5151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 (A)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606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Choices available to the agent at each state.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(move left/right) or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(steering angle).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{up, down, left, right}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2921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26775" y="1803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Reward Function (R)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260600"/>
            <a:ext cx="419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immediate feedback R(s, a, s') for taking action a in state 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rewards encourage;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rewards discourage.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Implicitly defines the task objective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889500"/>
            <a:ext cx="9652000" cy="1651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5016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 FUNCTION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" y="5359400"/>
            <a:ext cx="9017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probability of moving from state s to s' when taking action a: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T(s, a, s') = P(s'|s, a)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Captures environment dynamics and uncertainty. The agent may not know this function (model-free RL).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4889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112500" y="501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 WORLD EXAMPLE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12500" y="5334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States: grid cells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Actions: move N/S/E/W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Reward: +10 goal, -1 wall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Policies and Value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(π)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policy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the agent's behavior — a mapping from states to actions.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226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Policy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016000" y="3365500"/>
                <a:ext cx="292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π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=</m:t>
                      </m:r>
                      <m:r>
                        <a:rPr lang="en-US" sz="1600" i="1" dirty="0"/>
                        <m:t>a</m:t>
                      </m:r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3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Same action every time</a:t>
                </a:r>
                <a:endParaRPr lang="en-US" sz="16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016000" y="3365500"/>
                <a:ext cx="292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D9770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\pi(s) = a )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3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Same action every time</a:t>
                </a:r>
                <a:endParaRPr lang="en-US" sz="160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445000" y="29210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699000" y="30226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Stochastic Policy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699000" y="3365500"/>
                <a:ext cx="292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π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a</m:t>
                      </m:r>
                      <m:r>
                        <a:rPr lang="en-US" sz="1600" dirty="0"/>
                        <m:t>∣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)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D97706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probability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3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Action distribution per state</a:t>
                </a:r>
                <a:endParaRPr lang="en-US" sz="16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4699000" y="3365500"/>
                <a:ext cx="2921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D9770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\pi(a|s)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D97706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= probability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300" dirty="0">
                    <a:solidFill>
                      <a:srgbClr val="64748B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Action distribution per state</a:t>
                </a:r>
                <a:endParaRPr lang="en-US" sz="1600" dirty="0"/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762000" y="457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Functions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165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Value functions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estimate how good it is to be in a given state or take a given action.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905500"/>
            <a:ext cx="71120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60071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State-Value Function V</a:t>
            </a:r>
            <a:pPr>
              <a:lnSpc>
                <a:spcPct val="100000"/>
              </a:lnSpc>
            </a:pPr>
            <a:r>
              <a:rPr lang="en-US" sz="1600" baseline="30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3500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cumulative reward starting from state s and following policy π.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239000"/>
            <a:ext cx="7112000" cy="9398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7302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Action-Value Function Q</a:t>
            </a:r>
            <a:pPr>
              <a:lnSpc>
                <a:spcPct val="100000"/>
              </a:lnSpc>
            </a:pPr>
            <a:r>
              <a:rPr lang="en-US" sz="1600" baseline="3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(s, 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76200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cumulative reward starting from s, taking action a, then following π.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2921000"/>
            <a:ext cx="7112000" cy="5207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8699500" y="3149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Goal of RL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99500" y="36576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 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optimal policy π*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maximizes the expected cumulative reward from every state.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8699500" y="5080000"/>
                <a:ext cx="647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π</m:t>
                          </m:r>
                        </m:e>
                        <m:sup>
                          <m:r>
                            <a:rPr lang="en-US" sz="1100" dirty="0"/>
                            <m:t>∗</m:t>
                          </m:r>
                        </m:sup>
                      </m:sSup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=</m:t>
                      </m:r>
                      <m:r>
                        <a:rPr lang="en-US" sz="1600" i="1" dirty="0"/>
                        <m:t>arg</m:t>
                      </m:r>
                      <m:r>
                        <a:rPr lang="en-US" sz="1600" dirty="0"/>
                        <m:t>⁡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max</m:t>
                          </m:r>
                          <m:r>
                            <a:rPr lang="en-US" sz="1100" dirty="0"/>
                            <m:t>⁡</m:t>
                          </m:r>
                        </m:e>
                        <m:sub>
                          <m:r>
                            <a:rPr lang="en-US" sz="1100" i="1" dirty="0"/>
                            <m:t>a</m:t>
                          </m:r>
                        </m:sub>
                      </m:sSub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Q</m:t>
                          </m:r>
                        </m:e>
                        <m:sup>
                          <m:r>
                            <a:rPr lang="en-US" sz="1100" dirty="0"/>
                            <m:t>∗</m:t>
                          </m:r>
                        </m:sup>
                      </m:sSup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a</m:t>
                      </m:r>
                      <m:r>
                        <a:rPr lang="en-US" sz="1600" dirty="0"/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 21"/>
              <p:cNvSpPr/>
              <p:nvPr/>
            </p:nvSpPr>
            <p:spPr>
              <a:xfrm>
                <a:off x="8699500" y="5080000"/>
                <a:ext cx="6477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60000"/>
                  </a:lnSpc>
                </a:pPr>
                <a:r>
                  <a:rPr lang="en-US" sz="1600" dirty="0">
                    <a:solidFill>
                      <a:srgbClr val="1E293B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\pi^*(s) = \arg\max_a Q^*(s, a) )</a:t>
                </a:r>
                <a:endParaRPr lang="en-US" sz="1600" dirty="0"/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8699500" y="5969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METHODS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99500" y="6350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Dynamic Programming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Value/Policy Iteration (model known)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Monte Carlo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sample-based estimation (model-free)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Temporal-Difference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Q-Learning, SARSA (model-free)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Q-Learning: Learning Action Values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Q-Learning is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model-free, off-policy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RL algorithm that learns the optimal action-value function Q*(s,a)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knowing the environment's transition dynamics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514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BELLMAN EQUATION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079500" y="2857500"/>
                <a:ext cx="14097000" cy="44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/>
                        <m:t>Q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a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←</m:t>
                      </m:r>
                      <m:r>
                        <a:rPr lang="en-US" sz="1600" i="1" dirty="0"/>
                        <m:t>Q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a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+</m:t>
                      </m:r>
                      <m:r>
                        <a:rPr lang="en-US" sz="1600" i="1" dirty="0"/>
                        <m:t>α</m:t>
                      </m:r>
                      <m:r>
                        <a:rPr lang="en-US" sz="1600" dirty="0"/>
                        <m:t>[</m:t>
                      </m:r>
                      <m:r>
                        <a:rPr lang="en-US" sz="1600" i="1" dirty="0"/>
                        <m:t>r</m:t>
                      </m:r>
                      <m:r>
                        <a:rPr lang="en-US" sz="1600" dirty="0"/>
                        <m:t>+</m:t>
                      </m:r>
                      <m:r>
                        <a:rPr lang="en-US" sz="1600" i="1" dirty="0"/>
                        <m:t>γ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max</m:t>
                          </m:r>
                          <m:r>
                            <a:rPr lang="en-US" sz="1100" dirty="0"/>
                            <m:t>⁡</m:t>
                          </m:r>
                        </m:e>
                        <m:sub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a</m:t>
                              </m:r>
                            </m:e>
                            <m:sup>
                              <m:r>
                                <a:rPr lang="en-US" sz="800" dirty="0"/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1600" i="1" dirty="0"/>
                        <m:t>Q</m:t>
                      </m:r>
                      <m:r>
                        <a:rPr lang="en-US" sz="1600" dirty="0"/>
                        <m:t>(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s</m:t>
                          </m:r>
                        </m:e>
                        <m:sup>
                          <m:r>
                            <a:rPr lang="en-US" sz="1100" dirty="0"/>
                            <m:t>′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a</m:t>
                          </m:r>
                        </m:e>
                        <m:sup>
                          <m:r>
                            <a:rPr lang="en-US" sz="1100" dirty="0"/>
                            <m:t>′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−</m:t>
                      </m:r>
                      <m:r>
                        <a:rPr lang="en-US" sz="1600" i="1" dirty="0"/>
                        <m:t>Q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,</m:t>
                      </m:r>
                      <m:r>
                        <a:rPr lang="en-US" sz="1600" i="1" dirty="0"/>
                        <m:t>a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1079500" y="2857500"/>
                <a:ext cx="14097000" cy="44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Q(s,a) \leftarrow Q(s,a) + \alpha[r + \gamma \max_{a'} Q(s',a') - Q(s,a)] )</a:t>
                </a:r>
                <a:endParaRPr lang="en-US" sz="16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374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Parameters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254500"/>
            <a:ext cx="469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 (learning rate)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how quickly Q-values are updated. Typically 0.1 to 0.5.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8500" y="4254500"/>
            <a:ext cx="469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γ (discount factor)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importance of future rewards. Typically 0.9 to 0.99.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0" y="4254500"/>
            <a:ext cx="469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 (exploration rate)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probability of random action. Decays over 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ε-Greedy Exploration Strategy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8166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9055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probability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take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action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(explore new possibilities)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5816600"/>
            <a:ext cx="7112000" cy="101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699500" y="59055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probability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1−ε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take action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Q-value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(exploit known rewards)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7112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 typically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decays over time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explore early, exploit later. The Q-table stores estimated values for each state-action pair, starting at 0.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Q-Networks (DQN) and Modern RL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DeepMind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combined deep neural networks with Q-learning to create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DQN (2015)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enabling RL to handle high-dimensional state spaces like raw pixels from Atari games.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85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365500"/>
            <a:ext cx="7112000" cy="1143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361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492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Replay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stores past transitions and samples randomly to break correlations between consecutive experiences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699000"/>
            <a:ext cx="7112000" cy="1143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311150"/>
                </a:moveTo>
                <a:lnTo>
                  <a:pt x="44450" y="311150"/>
                </a:lnTo>
                <a:lnTo>
                  <a:pt x="44450" y="155575"/>
                </a:lnTo>
                <a:lnTo>
                  <a:pt x="77788" y="155575"/>
                </a:lnTo>
                <a:lnTo>
                  <a:pt x="77788" y="111125"/>
                </a:lnTo>
                <a:lnTo>
                  <a:pt x="44450" y="111125"/>
                </a:lnTo>
                <a:cubicBezTo>
                  <a:pt x="19933" y="111125"/>
                  <a:pt x="0" y="131058"/>
                  <a:pt x="0" y="155575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00025" y="355600"/>
                </a:lnTo>
                <a:cubicBezTo>
                  <a:pt x="224542" y="355600"/>
                  <a:pt x="244475" y="335667"/>
                  <a:pt x="244475" y="311150"/>
                </a:cubicBezTo>
                <a:lnTo>
                  <a:pt x="244475" y="277813"/>
                </a:lnTo>
                <a:lnTo>
                  <a:pt x="200025" y="277813"/>
                </a:lnTo>
                <a:lnTo>
                  <a:pt x="200025" y="311150"/>
                </a:lnTo>
                <a:close/>
                <a:moveTo>
                  <a:pt x="155575" y="244475"/>
                </a:moveTo>
                <a:lnTo>
                  <a:pt x="311150" y="244475"/>
                </a:lnTo>
                <a:cubicBezTo>
                  <a:pt x="335667" y="244475"/>
                  <a:pt x="355600" y="224542"/>
                  <a:pt x="355600" y="200025"/>
                </a:cubicBezTo>
                <a:lnTo>
                  <a:pt x="355600" y="44450"/>
                </a:lnTo>
                <a:cubicBezTo>
                  <a:pt x="355600" y="19933"/>
                  <a:pt x="335667" y="0"/>
                  <a:pt x="311150" y="0"/>
                </a:cubicBezTo>
                <a:lnTo>
                  <a:pt x="155575" y="0"/>
                </a:lnTo>
                <a:cubicBezTo>
                  <a:pt x="131058" y="0"/>
                  <a:pt x="111125" y="19933"/>
                  <a:pt x="111125" y="44450"/>
                </a:cubicBezTo>
                <a:lnTo>
                  <a:pt x="111125" y="200025"/>
                </a:lnTo>
                <a:cubicBezTo>
                  <a:pt x="111125" y="224542"/>
                  <a:pt x="131058" y="244475"/>
                  <a:pt x="155575" y="244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826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Network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separate network for computing target Q-values, stabilizing the learning process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85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RL Milestones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33655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33655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33655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AlphaGo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defeated world champion Lee Sedol at Go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43180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43180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0" y="4318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AlphaZero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learned chess, shogi, Go from scratch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52705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5270500"/>
            <a:ext cx="88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0" y="52705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MuZero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plans without knowing environment rules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D97706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6477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DQN proved that a single neural network architecture could master diverse tasks (dozens of Atari games) using only pixel inputs and game scores — no game-specific knowledge required.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63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Learning: 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RL has achieved remarkable real-world impact across diverse domains.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71550" y="2387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8448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2258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Boston Dynamics locomotion, robotic arm manipulation, walking control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0" y="2159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0" y="238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762500" y="28448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32258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AlphaGo, OpenAI Five (Dota 2), AlphaStar (StarCraft II)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2159000"/>
            <a:ext cx="34290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4550" y="2387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02096" y="74106"/>
                </a:moveTo>
                <a:lnTo>
                  <a:pt x="81399" y="133350"/>
                </a:lnTo>
                <a:lnTo>
                  <a:pt x="166757" y="133350"/>
                </a:lnTo>
                <a:lnTo>
                  <a:pt x="166757" y="66675"/>
                </a:lnTo>
                <a:lnTo>
                  <a:pt x="112653" y="66675"/>
                </a:lnTo>
                <a:cubicBezTo>
                  <a:pt x="107930" y="66675"/>
                  <a:pt x="103694" y="69661"/>
                  <a:pt x="102166" y="74106"/>
                </a:cubicBezTo>
                <a:close/>
                <a:moveTo>
                  <a:pt x="33754" y="134670"/>
                </a:moveTo>
                <a:lnTo>
                  <a:pt x="60077" y="59452"/>
                </a:lnTo>
                <a:cubicBezTo>
                  <a:pt x="67925" y="37157"/>
                  <a:pt x="88969" y="22225"/>
                  <a:pt x="112584" y="22225"/>
                </a:cubicBezTo>
                <a:lnTo>
                  <a:pt x="250031" y="22225"/>
                </a:lnTo>
                <a:cubicBezTo>
                  <a:pt x="267533" y="22225"/>
                  <a:pt x="283994" y="30490"/>
                  <a:pt x="294481" y="44450"/>
                </a:cubicBezTo>
                <a:lnTo>
                  <a:pt x="361295" y="133558"/>
                </a:lnTo>
                <a:cubicBezTo>
                  <a:pt x="407759" y="136475"/>
                  <a:pt x="444500" y="175091"/>
                  <a:pt x="444500" y="222250"/>
                </a:cubicBezTo>
                <a:lnTo>
                  <a:pt x="444500" y="233363"/>
                </a:lnTo>
                <a:cubicBezTo>
                  <a:pt x="444500" y="257879"/>
                  <a:pt x="424567" y="277813"/>
                  <a:pt x="400050" y="277813"/>
                </a:cubicBezTo>
                <a:lnTo>
                  <a:pt x="388660" y="277813"/>
                </a:lnTo>
                <a:cubicBezTo>
                  <a:pt x="385882" y="308997"/>
                  <a:pt x="359698" y="333375"/>
                  <a:pt x="327819" y="333375"/>
                </a:cubicBezTo>
                <a:cubicBezTo>
                  <a:pt x="295940" y="333375"/>
                  <a:pt x="269756" y="308997"/>
                  <a:pt x="266978" y="277813"/>
                </a:cubicBezTo>
                <a:lnTo>
                  <a:pt x="166479" y="277813"/>
                </a:lnTo>
                <a:cubicBezTo>
                  <a:pt x="163701" y="308997"/>
                  <a:pt x="137517" y="333375"/>
                  <a:pt x="105638" y="333375"/>
                </a:cubicBezTo>
                <a:cubicBezTo>
                  <a:pt x="73759" y="333375"/>
                  <a:pt x="47575" y="308997"/>
                  <a:pt x="44797" y="277813"/>
                </a:cubicBezTo>
                <a:lnTo>
                  <a:pt x="44519" y="277813"/>
                </a:lnTo>
                <a:cubicBezTo>
                  <a:pt x="20003" y="277813"/>
                  <a:pt x="69" y="257879"/>
                  <a:pt x="69" y="233363"/>
                </a:cubicBezTo>
                <a:lnTo>
                  <a:pt x="69" y="177800"/>
                </a:lnTo>
                <a:cubicBezTo>
                  <a:pt x="69" y="156895"/>
                  <a:pt x="14446" y="139392"/>
                  <a:pt x="33824" y="134670"/>
                </a:cubicBezTo>
                <a:close/>
                <a:moveTo>
                  <a:pt x="305594" y="133350"/>
                </a:moveTo>
                <a:lnTo>
                  <a:pt x="258921" y="71120"/>
                </a:lnTo>
                <a:cubicBezTo>
                  <a:pt x="256838" y="68342"/>
                  <a:pt x="253504" y="66675"/>
                  <a:pt x="250031" y="66675"/>
                </a:cubicBezTo>
                <a:lnTo>
                  <a:pt x="200025" y="66675"/>
                </a:lnTo>
                <a:lnTo>
                  <a:pt x="200025" y="133350"/>
                </a:lnTo>
                <a:lnTo>
                  <a:pt x="305594" y="133350"/>
                </a:lnTo>
                <a:close/>
                <a:moveTo>
                  <a:pt x="105569" y="300038"/>
                </a:moveTo>
                <a:cubicBezTo>
                  <a:pt x="120902" y="300038"/>
                  <a:pt x="133350" y="287589"/>
                  <a:pt x="133350" y="272256"/>
                </a:cubicBezTo>
                <a:cubicBezTo>
                  <a:pt x="133350" y="256923"/>
                  <a:pt x="120902" y="244475"/>
                  <a:pt x="105569" y="244475"/>
                </a:cubicBezTo>
                <a:cubicBezTo>
                  <a:pt x="90236" y="244475"/>
                  <a:pt x="77788" y="256923"/>
                  <a:pt x="77788" y="272256"/>
                </a:cubicBezTo>
                <a:cubicBezTo>
                  <a:pt x="77788" y="287589"/>
                  <a:pt x="90236" y="300038"/>
                  <a:pt x="105569" y="300038"/>
                </a:cubicBezTo>
                <a:close/>
                <a:moveTo>
                  <a:pt x="355600" y="272256"/>
                </a:moveTo>
                <a:cubicBezTo>
                  <a:pt x="355600" y="256923"/>
                  <a:pt x="343152" y="244475"/>
                  <a:pt x="327819" y="244475"/>
                </a:cubicBezTo>
                <a:cubicBezTo>
                  <a:pt x="312486" y="244475"/>
                  <a:pt x="300038" y="256923"/>
                  <a:pt x="300038" y="272256"/>
                </a:cubicBezTo>
                <a:cubicBezTo>
                  <a:pt x="300038" y="287589"/>
                  <a:pt x="312486" y="300038"/>
                  <a:pt x="327819" y="300038"/>
                </a:cubicBezTo>
                <a:cubicBezTo>
                  <a:pt x="343152" y="300038"/>
                  <a:pt x="355600" y="287589"/>
                  <a:pt x="355600" y="27225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8448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Vehicles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32258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planning, traffic signal control, adaptive cruise 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01500" y="2159000"/>
            <a:ext cx="3492500" cy="254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77725" y="2387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33337" y="255587"/>
                </a:moveTo>
                <a:lnTo>
                  <a:pt x="33337" y="277813"/>
                </a:lnTo>
                <a:cubicBezTo>
                  <a:pt x="33337" y="283924"/>
                  <a:pt x="38338" y="288925"/>
                  <a:pt x="44450" y="288925"/>
                </a:cubicBezTo>
                <a:lnTo>
                  <a:pt x="66675" y="288925"/>
                </a:lnTo>
                <a:cubicBezTo>
                  <a:pt x="72787" y="288925"/>
                  <a:pt x="77788" y="283924"/>
                  <a:pt x="77788" y="277813"/>
                </a:cubicBezTo>
                <a:lnTo>
                  <a:pt x="77788" y="255587"/>
                </a:lnTo>
                <a:cubicBezTo>
                  <a:pt x="77788" y="249476"/>
                  <a:pt x="72787" y="244475"/>
                  <a:pt x="66675" y="244475"/>
                </a:cubicBezTo>
                <a:lnTo>
                  <a:pt x="44450" y="244475"/>
                </a:lnTo>
                <a:cubicBezTo>
                  <a:pt x="38338" y="244475"/>
                  <a:pt x="33337" y="249476"/>
                  <a:pt x="33337" y="255587"/>
                </a:cubicBezTo>
                <a:close/>
                <a:moveTo>
                  <a:pt x="244475" y="244475"/>
                </a:moveTo>
                <a:cubicBezTo>
                  <a:pt x="238363" y="244475"/>
                  <a:pt x="233363" y="249476"/>
                  <a:pt x="233363" y="255587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lnTo>
                  <a:pt x="266700" y="288925"/>
                </a:lnTo>
                <a:cubicBezTo>
                  <a:pt x="272812" y="288925"/>
                  <a:pt x="277813" y="283924"/>
                  <a:pt x="277813" y="277813"/>
                </a:cubicBezTo>
                <a:lnTo>
                  <a:pt x="277813" y="255587"/>
                </a:lnTo>
                <a:cubicBezTo>
                  <a:pt x="277813" y="249476"/>
                  <a:pt x="272812" y="244475"/>
                  <a:pt x="266700" y="244475"/>
                </a:cubicBezTo>
                <a:lnTo>
                  <a:pt x="244475" y="244475"/>
                </a:lnTo>
                <a:close/>
                <a:moveTo>
                  <a:pt x="33337" y="166688"/>
                </a:moveTo>
                <a:lnTo>
                  <a:pt x="33337" y="188913"/>
                </a:lnTo>
                <a:cubicBezTo>
                  <a:pt x="33337" y="195024"/>
                  <a:pt x="38338" y="200025"/>
                  <a:pt x="44450" y="200025"/>
                </a:cubicBezTo>
                <a:lnTo>
                  <a:pt x="66675" y="200025"/>
                </a:lnTo>
                <a:cubicBezTo>
                  <a:pt x="72787" y="200025"/>
                  <a:pt x="77788" y="195024"/>
                  <a:pt x="77788" y="188913"/>
                </a:cubicBezTo>
                <a:lnTo>
                  <a:pt x="77788" y="166688"/>
                </a:lnTo>
                <a:cubicBezTo>
                  <a:pt x="77788" y="160576"/>
                  <a:pt x="72787" y="155575"/>
                  <a:pt x="66675" y="155575"/>
                </a:cubicBezTo>
                <a:lnTo>
                  <a:pt x="44450" y="155575"/>
                </a:lnTo>
                <a:cubicBezTo>
                  <a:pt x="38338" y="155575"/>
                  <a:pt x="33337" y="160576"/>
                  <a:pt x="33337" y="166688"/>
                </a:cubicBezTo>
                <a:close/>
                <a:moveTo>
                  <a:pt x="244475" y="155575"/>
                </a:moveTo>
                <a:cubicBezTo>
                  <a:pt x="238363" y="155575"/>
                  <a:pt x="233363" y="160576"/>
                  <a:pt x="233363" y="166688"/>
                </a:cubicBezTo>
                <a:lnTo>
                  <a:pt x="233363" y="188913"/>
                </a:lnTo>
                <a:cubicBezTo>
                  <a:pt x="233363" y="195024"/>
                  <a:pt x="238363" y="200025"/>
                  <a:pt x="244475" y="200025"/>
                </a:cubicBezTo>
                <a:lnTo>
                  <a:pt x="266700" y="200025"/>
                </a:lnTo>
                <a:cubicBezTo>
                  <a:pt x="272812" y="200025"/>
                  <a:pt x="277813" y="195024"/>
                  <a:pt x="277813" y="188913"/>
                </a:cubicBezTo>
                <a:lnTo>
                  <a:pt x="277813" y="166688"/>
                </a:lnTo>
                <a:cubicBezTo>
                  <a:pt x="277813" y="160576"/>
                  <a:pt x="272812" y="155575"/>
                  <a:pt x="266700" y="155575"/>
                </a:cubicBezTo>
                <a:lnTo>
                  <a:pt x="244475" y="155575"/>
                </a:lnTo>
                <a:close/>
                <a:moveTo>
                  <a:pt x="33337" y="77788"/>
                </a:moveTo>
                <a:lnTo>
                  <a:pt x="33337" y="100013"/>
                </a:lnTo>
                <a:cubicBezTo>
                  <a:pt x="33337" y="106124"/>
                  <a:pt x="38338" y="111125"/>
                  <a:pt x="44450" y="111125"/>
                </a:cubicBezTo>
                <a:lnTo>
                  <a:pt x="66675" y="111125"/>
                </a:lnTo>
                <a:cubicBezTo>
                  <a:pt x="72787" y="111125"/>
                  <a:pt x="77788" y="106124"/>
                  <a:pt x="77788" y="100013"/>
                </a:cubicBezTo>
                <a:lnTo>
                  <a:pt x="77788" y="77788"/>
                </a:lnTo>
                <a:cubicBezTo>
                  <a:pt x="77788" y="71676"/>
                  <a:pt x="72787" y="66675"/>
                  <a:pt x="66675" y="66675"/>
                </a:cubicBezTo>
                <a:lnTo>
                  <a:pt x="44450" y="66675"/>
                </a:lnTo>
                <a:cubicBezTo>
                  <a:pt x="38338" y="66675"/>
                  <a:pt x="33337" y="71676"/>
                  <a:pt x="33337" y="77788"/>
                </a:cubicBezTo>
                <a:close/>
                <a:moveTo>
                  <a:pt x="244475" y="66675"/>
                </a:moveTo>
                <a:cubicBezTo>
                  <a:pt x="238363" y="66675"/>
                  <a:pt x="233363" y="71676"/>
                  <a:pt x="233363" y="77788"/>
                </a:cubicBezTo>
                <a:lnTo>
                  <a:pt x="233363" y="100013"/>
                </a:lnTo>
                <a:cubicBezTo>
                  <a:pt x="233363" y="106124"/>
                  <a:pt x="238363" y="111125"/>
                  <a:pt x="244475" y="111125"/>
                </a:cubicBezTo>
                <a:lnTo>
                  <a:pt x="266700" y="111125"/>
                </a:lnTo>
                <a:cubicBezTo>
                  <a:pt x="272812" y="111125"/>
                  <a:pt x="277813" y="106124"/>
                  <a:pt x="277813" y="100013"/>
                </a:cubicBezTo>
                <a:lnTo>
                  <a:pt x="277813" y="77788"/>
                </a:lnTo>
                <a:cubicBezTo>
                  <a:pt x="277813" y="71676"/>
                  <a:pt x="272812" y="66675"/>
                  <a:pt x="266700" y="66675"/>
                </a:cubicBezTo>
                <a:lnTo>
                  <a:pt x="244475" y="666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5500" y="28448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55500" y="3225800"/>
            <a:ext cx="298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Netflix, YouTube content recommendation optimizing user engagement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530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66675"/>
                </a:moveTo>
                <a:lnTo>
                  <a:pt x="88900" y="55563"/>
                </a:lnTo>
                <a:cubicBezTo>
                  <a:pt x="88900" y="24864"/>
                  <a:pt x="148630" y="0"/>
                  <a:pt x="222250" y="0"/>
                </a:cubicBezTo>
                <a:cubicBezTo>
                  <a:pt x="295870" y="0"/>
                  <a:pt x="355600" y="24864"/>
                  <a:pt x="355600" y="55563"/>
                </a:cubicBezTo>
                <a:lnTo>
                  <a:pt x="355600" y="66675"/>
                </a:lnTo>
                <a:cubicBezTo>
                  <a:pt x="355600" y="87928"/>
                  <a:pt x="326916" y="106402"/>
                  <a:pt x="284758" y="115778"/>
                </a:cubicBezTo>
                <a:cubicBezTo>
                  <a:pt x="283091" y="113834"/>
                  <a:pt x="281355" y="111958"/>
                  <a:pt x="279618" y="110222"/>
                </a:cubicBezTo>
                <a:cubicBezTo>
                  <a:pt x="268853" y="99596"/>
                  <a:pt x="254962" y="91539"/>
                  <a:pt x="240447" y="85566"/>
                </a:cubicBezTo>
                <a:cubicBezTo>
                  <a:pt x="211346" y="73412"/>
                  <a:pt x="173424" y="66744"/>
                  <a:pt x="133350" y="66744"/>
                </a:cubicBezTo>
                <a:cubicBezTo>
                  <a:pt x="118140" y="66744"/>
                  <a:pt x="103277" y="67717"/>
                  <a:pt x="89039" y="69592"/>
                </a:cubicBezTo>
                <a:cubicBezTo>
                  <a:pt x="88900" y="68689"/>
                  <a:pt x="88900" y="67717"/>
                  <a:pt x="88900" y="66744"/>
                </a:cubicBezTo>
                <a:close/>
                <a:moveTo>
                  <a:pt x="300038" y="245170"/>
                </a:moveTo>
                <a:lnTo>
                  <a:pt x="300038" y="213082"/>
                </a:lnTo>
                <a:cubicBezTo>
                  <a:pt x="310525" y="210374"/>
                  <a:pt x="320387" y="207179"/>
                  <a:pt x="329347" y="203428"/>
                </a:cubicBezTo>
                <a:cubicBezTo>
                  <a:pt x="338515" y="199608"/>
                  <a:pt x="347474" y="194955"/>
                  <a:pt x="355600" y="189329"/>
                </a:cubicBezTo>
                <a:lnTo>
                  <a:pt x="355600" y="200025"/>
                </a:lnTo>
                <a:cubicBezTo>
                  <a:pt x="355600" y="218638"/>
                  <a:pt x="333722" y="235099"/>
                  <a:pt x="300038" y="245170"/>
                </a:cubicBezTo>
                <a:close/>
                <a:moveTo>
                  <a:pt x="300038" y="178495"/>
                </a:moveTo>
                <a:lnTo>
                  <a:pt x="300038" y="155575"/>
                </a:lnTo>
                <a:cubicBezTo>
                  <a:pt x="300038" y="152450"/>
                  <a:pt x="299760" y="149463"/>
                  <a:pt x="299343" y="146546"/>
                </a:cubicBezTo>
                <a:cubicBezTo>
                  <a:pt x="310108" y="143837"/>
                  <a:pt x="320179" y="140573"/>
                  <a:pt x="329347" y="136684"/>
                </a:cubicBezTo>
                <a:cubicBezTo>
                  <a:pt x="338515" y="132794"/>
                  <a:pt x="347474" y="128210"/>
                  <a:pt x="355600" y="122585"/>
                </a:cubicBezTo>
                <a:lnTo>
                  <a:pt x="355600" y="133281"/>
                </a:lnTo>
                <a:cubicBezTo>
                  <a:pt x="355600" y="151894"/>
                  <a:pt x="333722" y="168354"/>
                  <a:pt x="300038" y="178425"/>
                </a:cubicBezTo>
                <a:close/>
                <a:moveTo>
                  <a:pt x="0" y="166688"/>
                </a:moveTo>
                <a:lnTo>
                  <a:pt x="0" y="155575"/>
                </a:lnTo>
                <a:cubicBezTo>
                  <a:pt x="0" y="124877"/>
                  <a:pt x="59730" y="100013"/>
                  <a:pt x="133350" y="100013"/>
                </a:cubicBezTo>
                <a:cubicBezTo>
                  <a:pt x="206970" y="100013"/>
                  <a:pt x="266700" y="124877"/>
                  <a:pt x="266700" y="155575"/>
                </a:cubicBezTo>
                <a:lnTo>
                  <a:pt x="266700" y="166688"/>
                </a:lnTo>
                <a:cubicBezTo>
                  <a:pt x="266700" y="197386"/>
                  <a:pt x="206970" y="222250"/>
                  <a:pt x="133350" y="222250"/>
                </a:cubicBezTo>
                <a:cubicBezTo>
                  <a:pt x="59730" y="222250"/>
                  <a:pt x="0" y="197386"/>
                  <a:pt x="0" y="166688"/>
                </a:cubicBezTo>
                <a:close/>
                <a:moveTo>
                  <a:pt x="266700" y="233363"/>
                </a:moveTo>
                <a:cubicBezTo>
                  <a:pt x="266700" y="264061"/>
                  <a:pt x="206970" y="288925"/>
                  <a:pt x="133350" y="288925"/>
                </a:cubicBezTo>
                <a:cubicBezTo>
                  <a:pt x="59730" y="288925"/>
                  <a:pt x="0" y="264061"/>
                  <a:pt x="0" y="233363"/>
                </a:cubicBezTo>
                <a:lnTo>
                  <a:pt x="0" y="222667"/>
                </a:lnTo>
                <a:cubicBezTo>
                  <a:pt x="8057" y="228292"/>
                  <a:pt x="17016" y="232876"/>
                  <a:pt x="26253" y="236766"/>
                </a:cubicBezTo>
                <a:cubicBezTo>
                  <a:pt x="55354" y="248920"/>
                  <a:pt x="93276" y="255588"/>
                  <a:pt x="133350" y="255588"/>
                </a:cubicBezTo>
                <a:cubicBezTo>
                  <a:pt x="173424" y="255588"/>
                  <a:pt x="211346" y="248851"/>
                  <a:pt x="240447" y="236766"/>
                </a:cubicBezTo>
                <a:cubicBezTo>
                  <a:pt x="249615" y="232946"/>
                  <a:pt x="258574" y="228292"/>
                  <a:pt x="266700" y="222667"/>
                </a:cubicBezTo>
                <a:lnTo>
                  <a:pt x="266700" y="233363"/>
                </a:lnTo>
                <a:close/>
                <a:moveTo>
                  <a:pt x="266700" y="289342"/>
                </a:moveTo>
                <a:lnTo>
                  <a:pt x="266700" y="300038"/>
                </a:lnTo>
                <a:cubicBezTo>
                  <a:pt x="266700" y="330736"/>
                  <a:pt x="206970" y="355600"/>
                  <a:pt x="133350" y="355600"/>
                </a:cubicBezTo>
                <a:cubicBezTo>
                  <a:pt x="59730" y="355600"/>
                  <a:pt x="0" y="330736"/>
                  <a:pt x="0" y="300038"/>
                </a:cubicBezTo>
                <a:lnTo>
                  <a:pt x="0" y="289342"/>
                </a:lnTo>
                <a:cubicBezTo>
                  <a:pt x="8057" y="294967"/>
                  <a:pt x="17016" y="299551"/>
                  <a:pt x="26253" y="303441"/>
                </a:cubicBezTo>
                <a:cubicBezTo>
                  <a:pt x="55354" y="315595"/>
                  <a:pt x="93276" y="322263"/>
                  <a:pt x="133350" y="322263"/>
                </a:cubicBezTo>
                <a:cubicBezTo>
                  <a:pt x="173424" y="322263"/>
                  <a:pt x="211346" y="315526"/>
                  <a:pt x="240447" y="303441"/>
                </a:cubicBezTo>
                <a:cubicBezTo>
                  <a:pt x="249615" y="299621"/>
                  <a:pt x="258574" y="294967"/>
                  <a:pt x="266700" y="28934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7658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146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Algorithmic trading, portfolio optimization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78500" y="5080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2500" y="530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032500" y="57658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2500" y="6146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Treatment optimization, drug discovery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795000" y="5080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71225" y="530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9000" y="57658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Management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49000" y="6146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data center cooling: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energy reduction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7366000"/>
            <a:ext cx="14732000" cy="635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" y="7429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 excels in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decision-making problems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the optimal strategy is not known in advance.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3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spc="1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3byxv7fur4/mnt/agents/output/ai-week8/images/1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50000">
                <a:srgbClr val="0F172A">
                  <a:alpha val="8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032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286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spc="4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3175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2032000" y="3683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 hierarchical representations from data through layered computation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32000" y="4318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Perceptron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laid the foundation;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Backpropagation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made deep learning practical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32000" y="4953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agents to learn optimal behavior through environment interaction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032000" y="5588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MDP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the mathematical framework;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Q-Learning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RL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 to complex problems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88000" y="6604000"/>
            <a:ext cx="5080000" cy="127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9"/>
          <p:cNvSpPr/>
          <p:nvPr/>
        </p:nvSpPr>
        <p:spPr>
          <a:xfrm>
            <a:off x="3048000" y="685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Perceptrons to AlphaGo — the journey of AI continues.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| WEEK 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8: Neural Networks, Perceptron &amp; Reinforcement Learning</dc:title>
  <dc:subject>Artificial Intelligence - Week 8: Neural Networks, Perceptron &amp; Reinforcement Learning</dc:subject>
  <dc:creator>Kimi</dc:creator>
  <cp:lastModifiedBy>Kimi</cp:lastModifiedBy>
  <cp:revision>1</cp:revision>
  <dcterms:created xsi:type="dcterms:W3CDTF">2026-05-25T19:23:34Z</dcterms:created>
  <dcterms:modified xsi:type="dcterms:W3CDTF">2026-05-25T19:23:34Z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8: Neural Networks, Perceptron &amp; Reinforcement Learning","ContentProducer":"001191110108MACG2KBH8F10000","ProduceID":"19e6046c-0752-8e39-8000-0000c42bf3c3","ReservedCode1":"","ContentPropagator":"001191110108MACG2KBH8F20000","PropagateID":"19e6046c-0752-8e39-8000-0000c42bf3c3","ReservedCode2":""}</vt:lpwstr>
  </property>
</Properties>
</file>