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embeddedFontLst>
    <p:embeddedFont>
      <p:font typeface="Liter" charset="-122" pitchFamily="34"/>
      <p:regular r:id="rId37"/>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font" Target="fonts/font1.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91919"/>
        </a:solidFill>
      </p:bgPr>
    </p:bg>
    <p:spTree>
      <p:nvGrpSpPr>
        <p:cNvPr id="1" name=""/>
        <p:cNvGrpSpPr/>
        <p:nvPr/>
      </p:nvGrpSpPr>
      <p:grpSpPr>
        <a:xfrm>
          <a:off x="0" y="0"/>
          <a:ext cx="0" cy="0"/>
          <a:chOff x="0" y="0"/>
          <a:chExt cx="0" cy="0"/>
        </a:xfrm>
      </p:grpSpPr>
      <p:pic>
        <p:nvPicPr>
          <p:cNvPr id="2" name="Image 0" descr="https://statics.moonshot.cn/kimi-ppt/html-gen/static/image-error.png">    </p:cNvPr>
          <p:cNvPicPr>
            <a:picLocks noChangeAspect="1"/>
          </p:cNvPicPr>
          <p:nvPr/>
        </p:nvPicPr>
        <p:blipFill>
          <a:blip r:embed="rId1">
            <a:alphaModFix amt="40000"/>
          </a:blip>
          <a:stretch>
            <a:fillRect/>
          </a:stretch>
        </p:blipFill>
        <p:spPr>
          <a:xfrm>
            <a:off x="0" y="0"/>
            <a:ext cx="12192000" cy="6858000"/>
          </a:xfrm>
          <a:prstGeom prst="roundRect">
            <a:avLst>
              <a:gd name="adj" fmla="val 0"/>
            </a:avLst>
          </a:prstGeom>
        </p:spPr>
      </p:pic>
      <p:sp>
        <p:nvSpPr>
          <p:cNvPr id="3" name="Shape 0"/>
          <p:cNvSpPr/>
          <p:nvPr/>
        </p:nvSpPr>
        <p:spPr>
          <a:xfrm>
            <a:off x="0" y="0"/>
            <a:ext cx="12192000" cy="6858000"/>
          </a:xfrm>
          <a:prstGeom prst="roundRect">
            <a:avLst>
              <a:gd name="adj" fmla="val 0"/>
            </a:avLst>
          </a:prstGeom>
          <a:gradFill rotWithShape="1" flip="none">
            <a:gsLst>
              <a:gs pos="0">
                <a:srgbClr val="191919">
                  <a:alpha val="95000"/>
                </a:srgbClr>
              </a:gs>
              <a:gs pos="50000">
                <a:srgbClr val="191919">
                  <a:alpha val="85000"/>
                </a:srgbClr>
              </a:gs>
              <a:gs pos="100000">
                <a:srgbClr val="000000">
                  <a:alpha val="0"/>
                </a:srgbClr>
              </a:gs>
            </a:gsLst>
            <a:lin ang="2700000" scaled="1"/>
          </a:gradFill>
          <a:ln/>
        </p:spPr>
      </p:sp>
      <p:sp>
        <p:nvSpPr>
          <p:cNvPr id="4" name="Shape 1"/>
          <p:cNvSpPr/>
          <p:nvPr/>
        </p:nvSpPr>
        <p:spPr>
          <a:xfrm>
            <a:off x="384810" y="1523048"/>
            <a:ext cx="3560445" cy="388620"/>
          </a:xfrm>
          <a:prstGeom prst="roundRect">
            <a:avLst>
              <a:gd name="adj" fmla="val 19608"/>
            </a:avLst>
          </a:prstGeom>
          <a:solidFill>
            <a:srgbClr val="6366F1">
              <a:alpha val="20000"/>
            </a:srgbClr>
          </a:solidFill>
          <a:ln w="10160">
            <a:solidFill>
              <a:srgbClr val="6366F1"/>
            </a:solidFill>
            <a:prstDash val="solid"/>
          </a:ln>
        </p:spPr>
      </p:sp>
      <p:sp>
        <p:nvSpPr>
          <p:cNvPr id="5" name="Text 2"/>
          <p:cNvSpPr/>
          <p:nvPr/>
        </p:nvSpPr>
        <p:spPr>
          <a:xfrm>
            <a:off x="541020" y="1603058"/>
            <a:ext cx="3323154" cy="220980"/>
          </a:xfrm>
          <a:prstGeom prst="rect">
            <a:avLst/>
          </a:prstGeom>
          <a:noFill/>
          <a:ln/>
        </p:spPr>
        <p:txBody>
          <a:bodyPr wrap="square" lIns="0" tIns="0" rIns="0" bIns="0" rtlCol="0" anchor="ctr"/>
          <a:lstStyle/>
          <a:p>
            <a:pPr>
              <a:lnSpc>
                <a:spcPct val="130000"/>
              </a:lnSpc>
            </a:pPr>
            <a:r>
              <a:rPr lang="en-US" sz="1200" b="1" spc="60" kern="0" dirty="0">
                <a:solidFill>
                  <a:srgbClr val="6366F1"/>
                </a:solidFill>
                <a:latin typeface="Liter" pitchFamily="34" charset="0"/>
                <a:ea typeface="Liter" pitchFamily="34" charset="-122"/>
                <a:cs typeface="Liter" pitchFamily="34" charset="-120"/>
              </a:rPr>
              <a:t>WEEK 01 — COMPLETE BEGINNER'S GUIDE</a:t>
            </a:r>
            <a:endParaRPr lang="en-US" sz="1600" dirty="0"/>
          </a:p>
        </p:txBody>
      </p:sp>
      <p:sp>
        <p:nvSpPr>
          <p:cNvPr id="6" name="Text 3"/>
          <p:cNvSpPr/>
          <p:nvPr/>
        </p:nvSpPr>
        <p:spPr>
          <a:xfrm>
            <a:off x="381000" y="2220278"/>
            <a:ext cx="8077200" cy="1733550"/>
          </a:xfrm>
          <a:prstGeom prst="rect">
            <a:avLst/>
          </a:prstGeom>
          <a:noFill/>
          <a:ln/>
        </p:spPr>
        <p:txBody>
          <a:bodyPr wrap="square" lIns="0" tIns="0" rIns="0" bIns="0" rtlCol="0" anchor="ctr"/>
          <a:lstStyle/>
          <a:p>
            <a:pPr>
              <a:lnSpc>
                <a:spcPct val="80000"/>
              </a:lnSpc>
            </a:pPr>
            <a:r>
              <a:rPr lang="en-US" sz="7200" b="1" dirty="0">
                <a:solidFill>
                  <a:srgbClr val="EFEFEF"/>
                </a:solidFill>
                <a:latin typeface="Liter" pitchFamily="34" charset="0"/>
                <a:ea typeface="Liter" pitchFamily="34" charset="-122"/>
                <a:cs typeface="Liter" pitchFamily="34" charset="-120"/>
              </a:rPr>
              <a:t>Artificial</a:t>
            </a:r>
            <a:endParaRPr lang="en-US" sz="1600" dirty="0"/>
          </a:p>
          <a:p>
            <a:pPr>
              <a:lnSpc>
                <a:spcPct val="80000"/>
              </a:lnSpc>
            </a:pPr>
            <a:r>
              <a:rPr lang="en-US" sz="7200" b="1" dirty="0">
                <a:solidFill>
                  <a:srgbClr val="6366F1"/>
                </a:solidFill>
                <a:latin typeface="Liter" pitchFamily="34" charset="0"/>
                <a:ea typeface="Liter" pitchFamily="34" charset="-122"/>
                <a:cs typeface="Liter" pitchFamily="34" charset="-120"/>
              </a:rPr>
              <a:t>Intelligence</a:t>
            </a:r>
            <a:endParaRPr lang="en-US" sz="1600" dirty="0"/>
          </a:p>
        </p:txBody>
      </p:sp>
      <p:sp>
        <p:nvSpPr>
          <p:cNvPr id="7" name="Shape 4"/>
          <p:cNvSpPr/>
          <p:nvPr/>
        </p:nvSpPr>
        <p:spPr>
          <a:xfrm>
            <a:off x="381000" y="4262438"/>
            <a:ext cx="1524000" cy="57150"/>
          </a:xfrm>
          <a:prstGeom prst="roundRect">
            <a:avLst>
              <a:gd name="adj" fmla="val 0"/>
            </a:avLst>
          </a:prstGeom>
          <a:solidFill>
            <a:srgbClr val="6366F1"/>
          </a:solidFill>
          <a:ln/>
        </p:spPr>
      </p:sp>
      <p:sp>
        <p:nvSpPr>
          <p:cNvPr id="8" name="Text 5"/>
          <p:cNvSpPr/>
          <p:nvPr/>
        </p:nvSpPr>
        <p:spPr>
          <a:xfrm>
            <a:off x="381000" y="4624388"/>
            <a:ext cx="7762875" cy="714375"/>
          </a:xfrm>
          <a:prstGeom prst="rect">
            <a:avLst/>
          </a:prstGeom>
          <a:noFill/>
          <a:ln/>
        </p:spPr>
        <p:txBody>
          <a:bodyPr wrap="square" lIns="0" tIns="0" rIns="0" bIns="0" rtlCol="0" anchor="ctr"/>
          <a:lstStyle/>
          <a:p>
            <a:pPr>
              <a:lnSpc>
                <a:spcPct val="100000"/>
              </a:lnSpc>
            </a:pPr>
            <a:r>
              <a:rPr lang="en-US" sz="2250" dirty="0">
                <a:solidFill>
                  <a:srgbClr val="8F8F8F"/>
                </a:solidFill>
                <a:latin typeface="Liter" pitchFamily="34" charset="0"/>
                <a:ea typeface="Liter" pitchFamily="34" charset="-122"/>
                <a:cs typeface="Liter" pitchFamily="34" charset="-120"/>
              </a:rPr>
              <a:t>Introduction and</a:t>
            </a:r>
            <a:endParaRPr lang="en-US" sz="1600" dirty="0"/>
          </a:p>
          <a:p>
            <a:pPr>
              <a:lnSpc>
                <a:spcPct val="100000"/>
              </a:lnSpc>
            </a:pPr>
            <a:r>
              <a:rPr lang="en-US" sz="2250" dirty="0">
                <a:solidFill>
                  <a:srgbClr val="8F8F8F"/>
                </a:solidFill>
                <a:latin typeface="Liter" pitchFamily="34" charset="0"/>
                <a:ea typeface="Liter" pitchFamily="34" charset="-122"/>
                <a:cs typeface="Liter" pitchFamily="34" charset="-120"/>
              </a:rPr>
              <a:t>Core Concepts</a:t>
            </a:r>
            <a:endParaRPr lang="en-US" sz="1600" dirty="0"/>
          </a:p>
        </p:txBody>
      </p:sp>
      <p:sp>
        <p:nvSpPr>
          <p:cNvPr id="9" name="Shape 6"/>
          <p:cNvSpPr/>
          <p:nvPr/>
        </p:nvSpPr>
        <p:spPr>
          <a:xfrm>
            <a:off x="10290810" y="2251710"/>
            <a:ext cx="1512570" cy="1512570"/>
          </a:xfrm>
          <a:prstGeom prst="roundRect">
            <a:avLst>
              <a:gd name="adj" fmla="val 15113"/>
            </a:avLst>
          </a:prstGeom>
          <a:solidFill>
            <a:srgbClr val="262626"/>
          </a:solidFill>
          <a:ln w="10160">
            <a:solidFill>
              <a:srgbClr val="333333"/>
            </a:solidFill>
            <a:prstDash val="solid"/>
          </a:ln>
        </p:spPr>
      </p:sp>
      <p:sp>
        <p:nvSpPr>
          <p:cNvPr id="10" name="Shape 7"/>
          <p:cNvSpPr/>
          <p:nvPr/>
        </p:nvSpPr>
        <p:spPr>
          <a:xfrm>
            <a:off x="10706100" y="2667000"/>
            <a:ext cx="685800" cy="685800"/>
          </a:xfrm>
          <a:custGeom>
            <a:avLst/>
            <a:gdLst/>
            <a:ahLst/>
            <a:cxnLst/>
            <a:rect l="l" t="t" r="r" b="b"/>
            <a:pathLst>
              <a:path w="685800" h="685800">
                <a:moveTo>
                  <a:pt x="160734" y="75009"/>
                </a:moveTo>
                <a:cubicBezTo>
                  <a:pt x="160734" y="33620"/>
                  <a:pt x="194355" y="0"/>
                  <a:pt x="235744" y="0"/>
                </a:cubicBezTo>
                <a:lnTo>
                  <a:pt x="267891" y="0"/>
                </a:lnTo>
                <a:cubicBezTo>
                  <a:pt x="291599" y="0"/>
                  <a:pt x="310753" y="19154"/>
                  <a:pt x="310753" y="42863"/>
                </a:cubicBezTo>
                <a:lnTo>
                  <a:pt x="310753" y="642938"/>
                </a:lnTo>
                <a:cubicBezTo>
                  <a:pt x="310753" y="666646"/>
                  <a:pt x="291599" y="685800"/>
                  <a:pt x="267891" y="685800"/>
                </a:cubicBezTo>
                <a:lnTo>
                  <a:pt x="225028" y="685800"/>
                </a:lnTo>
                <a:cubicBezTo>
                  <a:pt x="185112" y="685800"/>
                  <a:pt x="151492" y="658475"/>
                  <a:pt x="141982" y="621506"/>
                </a:cubicBezTo>
                <a:cubicBezTo>
                  <a:pt x="141044" y="621506"/>
                  <a:pt x="140241" y="621506"/>
                  <a:pt x="139303" y="621506"/>
                </a:cubicBezTo>
                <a:cubicBezTo>
                  <a:pt x="80099" y="621506"/>
                  <a:pt x="32147" y="573554"/>
                  <a:pt x="32147" y="514350"/>
                </a:cubicBezTo>
                <a:cubicBezTo>
                  <a:pt x="32147" y="490240"/>
                  <a:pt x="40184" y="468005"/>
                  <a:pt x="53578" y="450056"/>
                </a:cubicBezTo>
                <a:cubicBezTo>
                  <a:pt x="27593" y="430500"/>
                  <a:pt x="10716" y="399425"/>
                  <a:pt x="10716" y="364331"/>
                </a:cubicBezTo>
                <a:cubicBezTo>
                  <a:pt x="10716" y="322942"/>
                  <a:pt x="34290" y="286911"/>
                  <a:pt x="68580" y="269096"/>
                </a:cubicBezTo>
                <a:cubicBezTo>
                  <a:pt x="59070" y="253023"/>
                  <a:pt x="53578" y="234270"/>
                  <a:pt x="53578" y="214313"/>
                </a:cubicBezTo>
                <a:cubicBezTo>
                  <a:pt x="53578" y="155109"/>
                  <a:pt x="101531" y="107156"/>
                  <a:pt x="160734" y="107156"/>
                </a:cubicBezTo>
                <a:lnTo>
                  <a:pt x="160734" y="75009"/>
                </a:lnTo>
                <a:close/>
                <a:moveTo>
                  <a:pt x="525066" y="75009"/>
                </a:moveTo>
                <a:lnTo>
                  <a:pt x="525066" y="107156"/>
                </a:lnTo>
                <a:cubicBezTo>
                  <a:pt x="584269" y="107156"/>
                  <a:pt x="632222" y="155109"/>
                  <a:pt x="632222" y="214313"/>
                </a:cubicBezTo>
                <a:cubicBezTo>
                  <a:pt x="632222" y="234404"/>
                  <a:pt x="626730" y="253157"/>
                  <a:pt x="617220" y="269096"/>
                </a:cubicBezTo>
                <a:cubicBezTo>
                  <a:pt x="651644" y="286911"/>
                  <a:pt x="675084" y="322808"/>
                  <a:pt x="675084" y="364331"/>
                </a:cubicBezTo>
                <a:cubicBezTo>
                  <a:pt x="675084" y="399425"/>
                  <a:pt x="658207" y="430500"/>
                  <a:pt x="632222" y="450056"/>
                </a:cubicBezTo>
                <a:cubicBezTo>
                  <a:pt x="645616" y="468005"/>
                  <a:pt x="653653" y="490240"/>
                  <a:pt x="653653" y="514350"/>
                </a:cubicBezTo>
                <a:cubicBezTo>
                  <a:pt x="653653" y="573554"/>
                  <a:pt x="605701" y="621506"/>
                  <a:pt x="546497" y="621506"/>
                </a:cubicBezTo>
                <a:cubicBezTo>
                  <a:pt x="545559" y="621506"/>
                  <a:pt x="544756" y="621506"/>
                  <a:pt x="543818" y="621506"/>
                </a:cubicBezTo>
                <a:cubicBezTo>
                  <a:pt x="534308" y="658475"/>
                  <a:pt x="500688" y="685800"/>
                  <a:pt x="460772" y="685800"/>
                </a:cubicBezTo>
                <a:lnTo>
                  <a:pt x="417909" y="685800"/>
                </a:lnTo>
                <a:cubicBezTo>
                  <a:pt x="394201" y="685800"/>
                  <a:pt x="375047" y="666646"/>
                  <a:pt x="375047" y="642938"/>
                </a:cubicBezTo>
                <a:lnTo>
                  <a:pt x="375047" y="42863"/>
                </a:lnTo>
                <a:cubicBezTo>
                  <a:pt x="375047" y="19154"/>
                  <a:pt x="394201" y="0"/>
                  <a:pt x="417909" y="0"/>
                </a:cubicBezTo>
                <a:lnTo>
                  <a:pt x="450056" y="0"/>
                </a:lnTo>
                <a:cubicBezTo>
                  <a:pt x="491445" y="0"/>
                  <a:pt x="525066" y="33620"/>
                  <a:pt x="525066" y="75009"/>
                </a:cubicBezTo>
                <a:close/>
              </a:path>
            </a:pathLst>
          </a:custGeom>
          <a:solidFill>
            <a:srgbClr val="6366F1"/>
          </a:solidFill>
          <a:ln/>
        </p:spPr>
      </p:sp>
      <p:sp>
        <p:nvSpPr>
          <p:cNvPr id="11" name="Shape 8"/>
          <p:cNvSpPr/>
          <p:nvPr/>
        </p:nvSpPr>
        <p:spPr>
          <a:xfrm>
            <a:off x="11123534" y="4057650"/>
            <a:ext cx="133350" cy="152400"/>
          </a:xfrm>
          <a:custGeom>
            <a:avLst/>
            <a:gdLst/>
            <a:ahLst/>
            <a:cxnLst/>
            <a:rect l="l" t="t" r="r" b="b"/>
            <a:pathLst>
              <a:path w="133350" h="152400">
                <a:moveTo>
                  <a:pt x="38100" y="0"/>
                </a:moveTo>
                <a:cubicBezTo>
                  <a:pt x="32831" y="0"/>
                  <a:pt x="28575" y="4256"/>
                  <a:pt x="28575" y="9525"/>
                </a:cubicBezTo>
                <a:lnTo>
                  <a:pt x="28575" y="19050"/>
                </a:lnTo>
                <a:lnTo>
                  <a:pt x="19050" y="19050"/>
                </a:lnTo>
                <a:cubicBezTo>
                  <a:pt x="8543" y="19050"/>
                  <a:pt x="0" y="27593"/>
                  <a:pt x="0" y="38100"/>
                </a:cubicBezTo>
                <a:lnTo>
                  <a:pt x="0" y="52388"/>
                </a:lnTo>
                <a:lnTo>
                  <a:pt x="133350" y="52388"/>
                </a:lnTo>
                <a:lnTo>
                  <a:pt x="133350" y="38100"/>
                </a:lnTo>
                <a:cubicBezTo>
                  <a:pt x="133350" y="27593"/>
                  <a:pt x="124807" y="19050"/>
                  <a:pt x="114300" y="19050"/>
                </a:cubicBezTo>
                <a:lnTo>
                  <a:pt x="104775" y="19050"/>
                </a:lnTo>
                <a:lnTo>
                  <a:pt x="104775" y="9525"/>
                </a:lnTo>
                <a:cubicBezTo>
                  <a:pt x="104775" y="4256"/>
                  <a:pt x="100519" y="0"/>
                  <a:pt x="95250" y="0"/>
                </a:cubicBezTo>
                <a:cubicBezTo>
                  <a:pt x="89981" y="0"/>
                  <a:pt x="85725" y="4256"/>
                  <a:pt x="85725" y="9525"/>
                </a:cubicBezTo>
                <a:lnTo>
                  <a:pt x="85725" y="19050"/>
                </a:lnTo>
                <a:lnTo>
                  <a:pt x="47625" y="19050"/>
                </a:lnTo>
                <a:lnTo>
                  <a:pt x="47625" y="9525"/>
                </a:lnTo>
                <a:cubicBezTo>
                  <a:pt x="47625" y="4256"/>
                  <a:pt x="43369" y="0"/>
                  <a:pt x="38100" y="0"/>
                </a:cubicBezTo>
                <a:close/>
                <a:moveTo>
                  <a:pt x="0" y="66675"/>
                </a:moveTo>
                <a:lnTo>
                  <a:pt x="0" y="123825"/>
                </a:lnTo>
                <a:cubicBezTo>
                  <a:pt x="0" y="134332"/>
                  <a:pt x="8543" y="142875"/>
                  <a:pt x="19050" y="142875"/>
                </a:cubicBezTo>
                <a:lnTo>
                  <a:pt x="114300" y="142875"/>
                </a:lnTo>
                <a:cubicBezTo>
                  <a:pt x="124807" y="142875"/>
                  <a:pt x="133350" y="134332"/>
                  <a:pt x="133350" y="123825"/>
                </a:cubicBezTo>
                <a:lnTo>
                  <a:pt x="133350" y="66675"/>
                </a:lnTo>
                <a:lnTo>
                  <a:pt x="0" y="66675"/>
                </a:lnTo>
                <a:close/>
              </a:path>
            </a:pathLst>
          </a:custGeom>
          <a:solidFill>
            <a:srgbClr val="6366F1"/>
          </a:solidFill>
          <a:ln/>
        </p:spPr>
      </p:sp>
      <p:sp>
        <p:nvSpPr>
          <p:cNvPr id="12" name="Text 9"/>
          <p:cNvSpPr/>
          <p:nvPr/>
        </p:nvSpPr>
        <p:spPr>
          <a:xfrm>
            <a:off x="11314034" y="4000500"/>
            <a:ext cx="495300" cy="266700"/>
          </a:xfrm>
          <a:prstGeom prst="rect">
            <a:avLst/>
          </a:prstGeom>
          <a:noFill/>
          <a:ln/>
        </p:spPr>
        <p:txBody>
          <a:bodyPr wrap="square" lIns="0" tIns="0" rIns="0" bIns="0" rtlCol="0" anchor="ctr"/>
          <a:lstStyle/>
          <a:p>
            <a:pPr algn="r">
              <a:lnSpc>
                <a:spcPct val="130000"/>
              </a:lnSpc>
            </a:pPr>
            <a:r>
              <a:rPr lang="en-US" sz="1350" dirty="0">
                <a:solidFill>
                  <a:srgbClr val="8F8F8F"/>
                </a:solidFill>
                <a:latin typeface="Liter" pitchFamily="34" charset="0"/>
                <a:ea typeface="Liter" pitchFamily="34" charset="-122"/>
                <a:cs typeface="Liter" pitchFamily="34" charset="-120"/>
              </a:rPr>
              <a:t>2026</a:t>
            </a:r>
            <a:endParaRPr lang="en-US" sz="1600" dirty="0"/>
          </a:p>
        </p:txBody>
      </p:sp>
      <p:sp>
        <p:nvSpPr>
          <p:cNvPr id="13" name="Shape 10"/>
          <p:cNvSpPr/>
          <p:nvPr/>
        </p:nvSpPr>
        <p:spPr>
          <a:xfrm>
            <a:off x="10399752" y="4400550"/>
            <a:ext cx="171450" cy="152400"/>
          </a:xfrm>
          <a:custGeom>
            <a:avLst/>
            <a:gdLst/>
            <a:ahLst/>
            <a:cxnLst/>
            <a:rect l="l" t="t" r="r" b="b"/>
            <a:pathLst>
              <a:path w="171450" h="152400">
                <a:moveTo>
                  <a:pt x="14288" y="58281"/>
                </a:moveTo>
                <a:lnTo>
                  <a:pt x="76557" y="83909"/>
                </a:lnTo>
                <a:cubicBezTo>
                  <a:pt x="79474" y="85100"/>
                  <a:pt x="82570" y="85725"/>
                  <a:pt x="85725" y="85725"/>
                </a:cubicBezTo>
                <a:cubicBezTo>
                  <a:pt x="88880" y="85725"/>
                  <a:pt x="91976" y="85100"/>
                  <a:pt x="94893" y="83909"/>
                </a:cubicBezTo>
                <a:lnTo>
                  <a:pt x="167045" y="54203"/>
                </a:lnTo>
                <a:cubicBezTo>
                  <a:pt x="169724" y="53102"/>
                  <a:pt x="171450" y="50512"/>
                  <a:pt x="171450" y="47625"/>
                </a:cubicBezTo>
                <a:cubicBezTo>
                  <a:pt x="171450" y="44738"/>
                  <a:pt x="169724" y="42148"/>
                  <a:pt x="167045" y="41047"/>
                </a:cubicBezTo>
                <a:lnTo>
                  <a:pt x="94893" y="11341"/>
                </a:lnTo>
                <a:cubicBezTo>
                  <a:pt x="91976" y="10150"/>
                  <a:pt x="88880" y="9525"/>
                  <a:pt x="85725" y="9525"/>
                </a:cubicBezTo>
                <a:cubicBezTo>
                  <a:pt x="82570" y="9525"/>
                  <a:pt x="79474" y="10150"/>
                  <a:pt x="76557" y="11341"/>
                </a:cubicBezTo>
                <a:lnTo>
                  <a:pt x="4405" y="41047"/>
                </a:lnTo>
                <a:cubicBezTo>
                  <a:pt x="1726" y="42148"/>
                  <a:pt x="0" y="44738"/>
                  <a:pt x="0" y="47625"/>
                </a:cubicBezTo>
                <a:lnTo>
                  <a:pt x="0" y="135731"/>
                </a:lnTo>
                <a:cubicBezTo>
                  <a:pt x="0" y="139690"/>
                  <a:pt x="3185" y="142875"/>
                  <a:pt x="7144" y="142875"/>
                </a:cubicBezTo>
                <a:cubicBezTo>
                  <a:pt x="11103" y="142875"/>
                  <a:pt x="14288" y="139690"/>
                  <a:pt x="14288" y="135731"/>
                </a:cubicBezTo>
                <a:lnTo>
                  <a:pt x="14288" y="58281"/>
                </a:lnTo>
                <a:close/>
                <a:moveTo>
                  <a:pt x="28575" y="79623"/>
                </a:moveTo>
                <a:lnTo>
                  <a:pt x="28575" y="114300"/>
                </a:lnTo>
                <a:cubicBezTo>
                  <a:pt x="28575" y="130076"/>
                  <a:pt x="54173" y="142875"/>
                  <a:pt x="85725" y="142875"/>
                </a:cubicBezTo>
                <a:cubicBezTo>
                  <a:pt x="117277" y="142875"/>
                  <a:pt x="142875" y="130076"/>
                  <a:pt x="142875" y="114300"/>
                </a:cubicBezTo>
                <a:lnTo>
                  <a:pt x="142875" y="79593"/>
                </a:lnTo>
                <a:lnTo>
                  <a:pt x="100340" y="97125"/>
                </a:lnTo>
                <a:cubicBezTo>
                  <a:pt x="95696" y="99030"/>
                  <a:pt x="90755" y="100012"/>
                  <a:pt x="85725" y="100012"/>
                </a:cubicBezTo>
                <a:cubicBezTo>
                  <a:pt x="80695" y="100012"/>
                  <a:pt x="75754" y="99030"/>
                  <a:pt x="71110" y="97125"/>
                </a:cubicBezTo>
                <a:lnTo>
                  <a:pt x="28575" y="79593"/>
                </a:lnTo>
                <a:close/>
              </a:path>
            </a:pathLst>
          </a:custGeom>
          <a:solidFill>
            <a:srgbClr val="6366F1"/>
          </a:solidFill>
          <a:ln/>
        </p:spPr>
      </p:sp>
      <p:sp>
        <p:nvSpPr>
          <p:cNvPr id="14" name="Text 11"/>
          <p:cNvSpPr/>
          <p:nvPr/>
        </p:nvSpPr>
        <p:spPr>
          <a:xfrm>
            <a:off x="10609302" y="4343400"/>
            <a:ext cx="1200150" cy="266700"/>
          </a:xfrm>
          <a:prstGeom prst="rect">
            <a:avLst/>
          </a:prstGeom>
          <a:noFill/>
          <a:ln/>
        </p:spPr>
        <p:txBody>
          <a:bodyPr wrap="square" lIns="0" tIns="0" rIns="0" bIns="0" rtlCol="0" anchor="ctr"/>
          <a:lstStyle/>
          <a:p>
            <a:pPr algn="r">
              <a:lnSpc>
                <a:spcPct val="130000"/>
              </a:lnSpc>
            </a:pPr>
            <a:r>
              <a:rPr lang="en-US" sz="1350" dirty="0">
                <a:solidFill>
                  <a:srgbClr val="8F8F8F"/>
                </a:solidFill>
                <a:latin typeface="Liter" pitchFamily="34" charset="0"/>
                <a:ea typeface="Liter" pitchFamily="34" charset="-122"/>
                <a:cs typeface="Liter" pitchFamily="34" charset="-120"/>
              </a:rPr>
              <a:t>Beginner Level</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91919"/>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6366F1">
              <a:alpha val="20000"/>
            </a:srgbClr>
          </a:solidFill>
          <a:ln/>
        </p:spPr>
      </p:sp>
      <p:sp>
        <p:nvSpPr>
          <p:cNvPr id="3" name="Text 1"/>
          <p:cNvSpPr/>
          <p:nvPr/>
        </p:nvSpPr>
        <p:spPr>
          <a:xfrm>
            <a:off x="510659" y="533400"/>
            <a:ext cx="295275" cy="266700"/>
          </a:xfrm>
          <a:prstGeom prst="rect">
            <a:avLst/>
          </a:prstGeom>
          <a:noFill/>
          <a:ln/>
        </p:spPr>
        <p:txBody>
          <a:bodyPr wrap="square" lIns="0" tIns="0" rIns="0" bIns="0" rtlCol="0" anchor="ctr"/>
          <a:lstStyle/>
          <a:p>
            <a:pPr>
              <a:lnSpc>
                <a:spcPct val="120000"/>
              </a:lnSpc>
            </a:pPr>
            <a:r>
              <a:rPr lang="en-US" sz="1500" b="1" dirty="0">
                <a:solidFill>
                  <a:srgbClr val="6366F1"/>
                </a:solidFill>
                <a:latin typeface="Liter" pitchFamily="34" charset="0"/>
                <a:ea typeface="Liter" pitchFamily="34" charset="-122"/>
                <a:cs typeface="Liter" pitchFamily="34" charset="-120"/>
              </a:rPr>
              <a:t>01</a:t>
            </a:r>
            <a:endParaRPr lang="en-US" sz="1600" dirty="0"/>
          </a:p>
        </p:txBody>
      </p:sp>
      <p:sp>
        <p:nvSpPr>
          <p:cNvPr id="4" name="Text 2"/>
          <p:cNvSpPr/>
          <p:nvPr/>
        </p:nvSpPr>
        <p:spPr>
          <a:xfrm>
            <a:off x="952500" y="381000"/>
            <a:ext cx="4543425" cy="190500"/>
          </a:xfrm>
          <a:prstGeom prst="rect">
            <a:avLst/>
          </a:prstGeom>
          <a:noFill/>
          <a:ln/>
        </p:spPr>
        <p:txBody>
          <a:bodyPr wrap="square" lIns="0" tIns="0" rIns="0" bIns="0" rtlCol="0" anchor="ctr"/>
          <a:lstStyle/>
          <a:p>
            <a:pPr>
              <a:lnSpc>
                <a:spcPct val="120000"/>
              </a:lnSpc>
            </a:pPr>
            <a:r>
              <a:rPr lang="en-US" sz="1050" b="1" spc="53" kern="0" dirty="0">
                <a:solidFill>
                  <a:srgbClr val="6366F1"/>
                </a:solidFill>
                <a:latin typeface="Liter" pitchFamily="34" charset="0"/>
                <a:ea typeface="Liter" pitchFamily="34" charset="-122"/>
                <a:cs typeface="Liter" pitchFamily="34" charset="-120"/>
              </a:rPr>
              <a:t>Introduction to AI</a:t>
            </a:r>
            <a:endParaRPr lang="en-US" sz="1600" dirty="0"/>
          </a:p>
        </p:txBody>
      </p:sp>
      <p:sp>
        <p:nvSpPr>
          <p:cNvPr id="5" name="Text 3"/>
          <p:cNvSpPr/>
          <p:nvPr/>
        </p:nvSpPr>
        <p:spPr>
          <a:xfrm>
            <a:off x="952500" y="571500"/>
            <a:ext cx="464820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What is Artificial Intelligence?</a:t>
            </a:r>
            <a:endParaRPr lang="en-US" sz="1600" dirty="0"/>
          </a:p>
        </p:txBody>
      </p:sp>
      <p:sp>
        <p:nvSpPr>
          <p:cNvPr id="6" name="Shape 4"/>
          <p:cNvSpPr/>
          <p:nvPr/>
        </p:nvSpPr>
        <p:spPr>
          <a:xfrm>
            <a:off x="384810" y="1108710"/>
            <a:ext cx="6760845" cy="1836420"/>
          </a:xfrm>
          <a:prstGeom prst="roundRect">
            <a:avLst>
              <a:gd name="adj" fmla="val 6224"/>
            </a:avLst>
          </a:prstGeom>
          <a:solidFill>
            <a:srgbClr val="262626"/>
          </a:solidFill>
          <a:ln w="10160">
            <a:solidFill>
              <a:srgbClr val="333333"/>
            </a:solidFill>
            <a:prstDash val="solid"/>
          </a:ln>
        </p:spPr>
      </p:sp>
      <p:sp>
        <p:nvSpPr>
          <p:cNvPr id="7" name="Shape 5"/>
          <p:cNvSpPr/>
          <p:nvPr/>
        </p:nvSpPr>
        <p:spPr>
          <a:xfrm>
            <a:off x="502920" y="1226820"/>
            <a:ext cx="381000" cy="381000"/>
          </a:xfrm>
          <a:prstGeom prst="roundRect">
            <a:avLst>
              <a:gd name="adj" fmla="val 20000"/>
            </a:avLst>
          </a:prstGeom>
          <a:solidFill>
            <a:srgbClr val="6366F1">
              <a:alpha val="20000"/>
            </a:srgbClr>
          </a:solidFill>
          <a:ln/>
        </p:spPr>
      </p:sp>
      <p:sp>
        <p:nvSpPr>
          <p:cNvPr id="8" name="Shape 6"/>
          <p:cNvSpPr/>
          <p:nvPr/>
        </p:nvSpPr>
        <p:spPr>
          <a:xfrm>
            <a:off x="631507" y="1331595"/>
            <a:ext cx="128588" cy="171450"/>
          </a:xfrm>
          <a:custGeom>
            <a:avLst/>
            <a:gdLst/>
            <a:ahLst/>
            <a:cxnLst/>
            <a:rect l="l" t="t" r="r" b="b"/>
            <a:pathLst>
              <a:path w="128588" h="171450">
                <a:moveTo>
                  <a:pt x="98081" y="128588"/>
                </a:moveTo>
                <a:cubicBezTo>
                  <a:pt x="100526" y="121120"/>
                  <a:pt x="105415" y="114356"/>
                  <a:pt x="110940" y="108529"/>
                </a:cubicBezTo>
                <a:cubicBezTo>
                  <a:pt x="121890" y="97010"/>
                  <a:pt x="128587" y="81439"/>
                  <a:pt x="128587" y="64294"/>
                </a:cubicBezTo>
                <a:cubicBezTo>
                  <a:pt x="128587" y="28798"/>
                  <a:pt x="99789" y="0"/>
                  <a:pt x="64294" y="0"/>
                </a:cubicBezTo>
                <a:cubicBezTo>
                  <a:pt x="28798" y="0"/>
                  <a:pt x="0" y="28798"/>
                  <a:pt x="0" y="64294"/>
                </a:cubicBezTo>
                <a:cubicBezTo>
                  <a:pt x="0" y="81439"/>
                  <a:pt x="6697" y="97010"/>
                  <a:pt x="17647" y="108529"/>
                </a:cubicBezTo>
                <a:cubicBezTo>
                  <a:pt x="23173" y="114356"/>
                  <a:pt x="28095" y="121120"/>
                  <a:pt x="30506" y="128588"/>
                </a:cubicBezTo>
                <a:lnTo>
                  <a:pt x="98048" y="128588"/>
                </a:lnTo>
                <a:close/>
                <a:moveTo>
                  <a:pt x="96441" y="144661"/>
                </a:moveTo>
                <a:lnTo>
                  <a:pt x="32147" y="144661"/>
                </a:lnTo>
                <a:lnTo>
                  <a:pt x="32147" y="150019"/>
                </a:lnTo>
                <a:cubicBezTo>
                  <a:pt x="32147" y="164820"/>
                  <a:pt x="44135" y="176808"/>
                  <a:pt x="58936" y="176808"/>
                </a:cubicBezTo>
                <a:lnTo>
                  <a:pt x="69652" y="176808"/>
                </a:lnTo>
                <a:cubicBezTo>
                  <a:pt x="84453" y="176808"/>
                  <a:pt x="96441" y="164820"/>
                  <a:pt x="96441" y="150019"/>
                </a:cubicBezTo>
                <a:lnTo>
                  <a:pt x="96441" y="144661"/>
                </a:lnTo>
                <a:close/>
                <a:moveTo>
                  <a:pt x="61615" y="37505"/>
                </a:moveTo>
                <a:cubicBezTo>
                  <a:pt x="48287" y="37505"/>
                  <a:pt x="37505" y="48287"/>
                  <a:pt x="37505" y="61615"/>
                </a:cubicBezTo>
                <a:cubicBezTo>
                  <a:pt x="37505" y="66069"/>
                  <a:pt x="33922" y="69652"/>
                  <a:pt x="29468" y="69652"/>
                </a:cubicBezTo>
                <a:cubicBezTo>
                  <a:pt x="25014" y="69652"/>
                  <a:pt x="21431" y="66069"/>
                  <a:pt x="21431" y="61615"/>
                </a:cubicBezTo>
                <a:cubicBezTo>
                  <a:pt x="21431" y="39413"/>
                  <a:pt x="39413" y="21431"/>
                  <a:pt x="61615" y="21431"/>
                </a:cubicBezTo>
                <a:cubicBezTo>
                  <a:pt x="66069" y="21431"/>
                  <a:pt x="69652" y="25014"/>
                  <a:pt x="69652" y="29468"/>
                </a:cubicBezTo>
                <a:cubicBezTo>
                  <a:pt x="69652" y="33922"/>
                  <a:pt x="66069" y="37505"/>
                  <a:pt x="61615" y="37505"/>
                </a:cubicBezTo>
                <a:close/>
              </a:path>
            </a:pathLst>
          </a:custGeom>
          <a:solidFill>
            <a:srgbClr val="6366F1"/>
          </a:solidFill>
          <a:ln/>
        </p:spPr>
      </p:sp>
      <p:sp>
        <p:nvSpPr>
          <p:cNvPr id="9" name="Text 7"/>
          <p:cNvSpPr/>
          <p:nvPr/>
        </p:nvSpPr>
        <p:spPr>
          <a:xfrm>
            <a:off x="998220" y="1226820"/>
            <a:ext cx="1533525" cy="304800"/>
          </a:xfrm>
          <a:prstGeom prst="rect">
            <a:avLst/>
          </a:prstGeom>
          <a:noFill/>
          <a:ln/>
        </p:spPr>
        <p:txBody>
          <a:bodyPr wrap="square" lIns="0" tIns="3810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Simple Definition</a:t>
            </a:r>
            <a:endParaRPr lang="en-US" sz="1600" dirty="0"/>
          </a:p>
        </p:txBody>
      </p:sp>
      <p:sp>
        <p:nvSpPr>
          <p:cNvPr id="10" name="Text 8"/>
          <p:cNvSpPr/>
          <p:nvPr/>
        </p:nvSpPr>
        <p:spPr>
          <a:xfrm>
            <a:off x="502920" y="1684020"/>
            <a:ext cx="6600825" cy="6858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Artificial Intelligence (AI) is when computers and machines can do tasks that normally need human intelligence.</a:t>
            </a:r>
            <a:pPr>
              <a:lnSpc>
                <a:spcPct val="130000"/>
              </a:lnSpc>
            </a:pPr>
            <a:r>
              <a:rPr lang="en-US" sz="1200" dirty="0">
                <a:solidFill>
                  <a:srgbClr val="EFEFEF"/>
                </a:solidFill>
                <a:latin typeface="Liter" pitchFamily="34" charset="0"/>
                <a:ea typeface="Liter" pitchFamily="34" charset="-122"/>
                <a:cs typeface="Liter" pitchFamily="34" charset="-120"/>
              </a:rPr>
              <a:t> Think of it as teaching computers to think, learn, and solve problems—just like humans do!</a:t>
            </a:r>
            <a:endParaRPr lang="en-US" sz="1600" dirty="0"/>
          </a:p>
        </p:txBody>
      </p:sp>
      <p:sp>
        <p:nvSpPr>
          <p:cNvPr id="11" name="Shape 9"/>
          <p:cNvSpPr/>
          <p:nvPr/>
        </p:nvSpPr>
        <p:spPr>
          <a:xfrm>
            <a:off x="521970" y="2446020"/>
            <a:ext cx="6505575" cy="381000"/>
          </a:xfrm>
          <a:custGeom>
            <a:avLst/>
            <a:gdLst/>
            <a:ahLst/>
            <a:cxnLst/>
            <a:rect l="l" t="t" r="r" b="b"/>
            <a:pathLst>
              <a:path w="6505575" h="381000">
                <a:moveTo>
                  <a:pt x="38100" y="0"/>
                </a:moveTo>
                <a:lnTo>
                  <a:pt x="6429375" y="0"/>
                </a:lnTo>
                <a:cubicBezTo>
                  <a:pt x="6471431" y="0"/>
                  <a:pt x="6505575" y="34144"/>
                  <a:pt x="6505575" y="76200"/>
                </a:cubicBezTo>
                <a:lnTo>
                  <a:pt x="6505575" y="304800"/>
                </a:lnTo>
                <a:cubicBezTo>
                  <a:pt x="6505575" y="346856"/>
                  <a:pt x="6471431" y="381000"/>
                  <a:pt x="6429375" y="381000"/>
                </a:cubicBezTo>
                <a:lnTo>
                  <a:pt x="38100" y="381000"/>
                </a:lnTo>
                <a:cubicBezTo>
                  <a:pt x="17072" y="381000"/>
                  <a:pt x="0" y="363928"/>
                  <a:pt x="0" y="342900"/>
                </a:cubicBezTo>
                <a:lnTo>
                  <a:pt x="0" y="38100"/>
                </a:lnTo>
                <a:cubicBezTo>
                  <a:pt x="0" y="17072"/>
                  <a:pt x="17072" y="0"/>
                  <a:pt x="38100" y="0"/>
                </a:cubicBezTo>
                <a:close/>
              </a:path>
            </a:pathLst>
          </a:custGeom>
          <a:solidFill>
            <a:srgbClr val="191919"/>
          </a:solidFill>
          <a:ln/>
        </p:spPr>
      </p:sp>
      <p:sp>
        <p:nvSpPr>
          <p:cNvPr id="12" name="Shape 10"/>
          <p:cNvSpPr/>
          <p:nvPr/>
        </p:nvSpPr>
        <p:spPr>
          <a:xfrm>
            <a:off x="521970" y="2446020"/>
            <a:ext cx="38100" cy="381000"/>
          </a:xfrm>
          <a:custGeom>
            <a:avLst/>
            <a:gdLst/>
            <a:ahLst/>
            <a:cxnLst/>
            <a:rect l="l" t="t" r="r" b="b"/>
            <a:pathLst>
              <a:path w="38100" h="381000">
                <a:moveTo>
                  <a:pt x="38100" y="0"/>
                </a:moveTo>
                <a:lnTo>
                  <a:pt x="38100" y="0"/>
                </a:lnTo>
                <a:lnTo>
                  <a:pt x="38100" y="381000"/>
                </a:lnTo>
                <a:lnTo>
                  <a:pt x="38100" y="381000"/>
                </a:lnTo>
                <a:cubicBezTo>
                  <a:pt x="17072" y="381000"/>
                  <a:pt x="0" y="363928"/>
                  <a:pt x="0" y="342900"/>
                </a:cubicBezTo>
                <a:lnTo>
                  <a:pt x="0" y="38100"/>
                </a:lnTo>
                <a:cubicBezTo>
                  <a:pt x="0" y="17072"/>
                  <a:pt x="17072" y="0"/>
                  <a:pt x="38100" y="0"/>
                </a:cubicBezTo>
                <a:close/>
              </a:path>
            </a:pathLst>
          </a:custGeom>
          <a:solidFill>
            <a:srgbClr val="6366F1"/>
          </a:solidFill>
          <a:ln/>
        </p:spPr>
      </p:sp>
      <p:sp>
        <p:nvSpPr>
          <p:cNvPr id="13" name="Text 11"/>
          <p:cNvSpPr/>
          <p:nvPr/>
        </p:nvSpPr>
        <p:spPr>
          <a:xfrm>
            <a:off x="617220" y="2522220"/>
            <a:ext cx="64103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"AI makes machines smart enough to help us with everyday tasks."</a:t>
            </a:r>
            <a:endParaRPr lang="en-US" sz="1600" dirty="0"/>
          </a:p>
        </p:txBody>
      </p:sp>
      <p:sp>
        <p:nvSpPr>
          <p:cNvPr id="14" name="Shape 12"/>
          <p:cNvSpPr/>
          <p:nvPr/>
        </p:nvSpPr>
        <p:spPr>
          <a:xfrm>
            <a:off x="384810" y="3028950"/>
            <a:ext cx="6760845" cy="1684020"/>
          </a:xfrm>
          <a:prstGeom prst="roundRect">
            <a:avLst>
              <a:gd name="adj" fmla="val 6787"/>
            </a:avLst>
          </a:prstGeom>
          <a:solidFill>
            <a:srgbClr val="262626"/>
          </a:solidFill>
          <a:ln w="10160">
            <a:solidFill>
              <a:srgbClr val="333333"/>
            </a:solidFill>
            <a:prstDash val="solid"/>
          </a:ln>
        </p:spPr>
      </p:sp>
      <p:sp>
        <p:nvSpPr>
          <p:cNvPr id="15" name="Shape 13"/>
          <p:cNvSpPr/>
          <p:nvPr/>
        </p:nvSpPr>
        <p:spPr>
          <a:xfrm>
            <a:off x="526732" y="3185160"/>
            <a:ext cx="190500" cy="190500"/>
          </a:xfrm>
          <a:custGeom>
            <a:avLst/>
            <a:gdLst/>
            <a:ahLst/>
            <a:cxnLst/>
            <a:rect l="l" t="t" r="r" b="b"/>
            <a:pathLst>
              <a:path w="190500" h="190500">
                <a:moveTo>
                  <a:pt x="49783" y="13506"/>
                </a:moveTo>
                <a:cubicBezTo>
                  <a:pt x="53839" y="16334"/>
                  <a:pt x="54806" y="21915"/>
                  <a:pt x="51978" y="25933"/>
                </a:cubicBezTo>
                <a:lnTo>
                  <a:pt x="31142" y="55699"/>
                </a:lnTo>
                <a:cubicBezTo>
                  <a:pt x="29617" y="57857"/>
                  <a:pt x="27236" y="59234"/>
                  <a:pt x="24594" y="59457"/>
                </a:cubicBezTo>
                <a:cubicBezTo>
                  <a:pt x="21952" y="59680"/>
                  <a:pt x="19348" y="58787"/>
                  <a:pt x="17487" y="56927"/>
                </a:cubicBezTo>
                <a:lnTo>
                  <a:pt x="2604" y="42044"/>
                </a:lnTo>
                <a:cubicBezTo>
                  <a:pt x="-856" y="38546"/>
                  <a:pt x="-856" y="32891"/>
                  <a:pt x="2604" y="29394"/>
                </a:cubicBezTo>
                <a:cubicBezTo>
                  <a:pt x="6065" y="25896"/>
                  <a:pt x="11757" y="25933"/>
                  <a:pt x="15255" y="29394"/>
                </a:cubicBezTo>
                <a:lnTo>
                  <a:pt x="22622" y="36761"/>
                </a:lnTo>
                <a:lnTo>
                  <a:pt x="37356" y="15701"/>
                </a:lnTo>
                <a:cubicBezTo>
                  <a:pt x="40184" y="11646"/>
                  <a:pt x="45765" y="10678"/>
                  <a:pt x="49783" y="13506"/>
                </a:cubicBezTo>
                <a:close/>
                <a:moveTo>
                  <a:pt x="49783" y="73037"/>
                </a:moveTo>
                <a:cubicBezTo>
                  <a:pt x="53839" y="75865"/>
                  <a:pt x="54806" y="81446"/>
                  <a:pt x="51978" y="85465"/>
                </a:cubicBezTo>
                <a:lnTo>
                  <a:pt x="31142" y="115230"/>
                </a:lnTo>
                <a:cubicBezTo>
                  <a:pt x="29617" y="117388"/>
                  <a:pt x="27236" y="118765"/>
                  <a:pt x="24594" y="118988"/>
                </a:cubicBezTo>
                <a:cubicBezTo>
                  <a:pt x="21952" y="119211"/>
                  <a:pt x="19348" y="118318"/>
                  <a:pt x="17487" y="116458"/>
                </a:cubicBezTo>
                <a:lnTo>
                  <a:pt x="2604" y="101575"/>
                </a:lnTo>
                <a:cubicBezTo>
                  <a:pt x="-893" y="98078"/>
                  <a:pt x="-893" y="92422"/>
                  <a:pt x="2604" y="88962"/>
                </a:cubicBezTo>
                <a:cubicBezTo>
                  <a:pt x="6102" y="85502"/>
                  <a:pt x="11757" y="85465"/>
                  <a:pt x="15218" y="88962"/>
                </a:cubicBezTo>
                <a:lnTo>
                  <a:pt x="22585" y="96329"/>
                </a:lnTo>
                <a:lnTo>
                  <a:pt x="37319" y="75270"/>
                </a:lnTo>
                <a:cubicBezTo>
                  <a:pt x="40146" y="71214"/>
                  <a:pt x="45727" y="70247"/>
                  <a:pt x="49746" y="73075"/>
                </a:cubicBezTo>
                <a:close/>
                <a:moveTo>
                  <a:pt x="83344" y="35719"/>
                </a:moveTo>
                <a:cubicBezTo>
                  <a:pt x="83344" y="29133"/>
                  <a:pt x="88664" y="23812"/>
                  <a:pt x="95250" y="23812"/>
                </a:cubicBezTo>
                <a:lnTo>
                  <a:pt x="178594" y="23812"/>
                </a:lnTo>
                <a:cubicBezTo>
                  <a:pt x="185179" y="23812"/>
                  <a:pt x="190500" y="29133"/>
                  <a:pt x="190500" y="35719"/>
                </a:cubicBezTo>
                <a:cubicBezTo>
                  <a:pt x="190500" y="42304"/>
                  <a:pt x="185179" y="47625"/>
                  <a:pt x="178594" y="47625"/>
                </a:cubicBezTo>
                <a:lnTo>
                  <a:pt x="95250" y="47625"/>
                </a:lnTo>
                <a:cubicBezTo>
                  <a:pt x="88664" y="47625"/>
                  <a:pt x="83344" y="42304"/>
                  <a:pt x="83344" y="35719"/>
                </a:cubicBezTo>
                <a:close/>
                <a:moveTo>
                  <a:pt x="83344" y="95250"/>
                </a:moveTo>
                <a:cubicBezTo>
                  <a:pt x="83344" y="88664"/>
                  <a:pt x="88664" y="83344"/>
                  <a:pt x="95250" y="83344"/>
                </a:cubicBezTo>
                <a:lnTo>
                  <a:pt x="178594" y="83344"/>
                </a:lnTo>
                <a:cubicBezTo>
                  <a:pt x="185179" y="83344"/>
                  <a:pt x="190500" y="88664"/>
                  <a:pt x="190500" y="95250"/>
                </a:cubicBezTo>
                <a:cubicBezTo>
                  <a:pt x="190500" y="101836"/>
                  <a:pt x="185179" y="107156"/>
                  <a:pt x="178594" y="107156"/>
                </a:cubicBezTo>
                <a:lnTo>
                  <a:pt x="95250" y="107156"/>
                </a:lnTo>
                <a:cubicBezTo>
                  <a:pt x="88664" y="107156"/>
                  <a:pt x="83344" y="101836"/>
                  <a:pt x="83344" y="95250"/>
                </a:cubicBezTo>
                <a:close/>
                <a:moveTo>
                  <a:pt x="59531" y="154781"/>
                </a:moveTo>
                <a:cubicBezTo>
                  <a:pt x="59531" y="148196"/>
                  <a:pt x="64852" y="142875"/>
                  <a:pt x="71438" y="142875"/>
                </a:cubicBezTo>
                <a:lnTo>
                  <a:pt x="178594" y="142875"/>
                </a:lnTo>
                <a:cubicBezTo>
                  <a:pt x="185179" y="142875"/>
                  <a:pt x="190500" y="148196"/>
                  <a:pt x="190500" y="154781"/>
                </a:cubicBezTo>
                <a:cubicBezTo>
                  <a:pt x="190500" y="161367"/>
                  <a:pt x="185179" y="166688"/>
                  <a:pt x="178594" y="166688"/>
                </a:cubicBezTo>
                <a:lnTo>
                  <a:pt x="71438" y="166688"/>
                </a:lnTo>
                <a:cubicBezTo>
                  <a:pt x="64852" y="166688"/>
                  <a:pt x="59531" y="161367"/>
                  <a:pt x="59531" y="154781"/>
                </a:cubicBezTo>
                <a:close/>
                <a:moveTo>
                  <a:pt x="23812" y="139898"/>
                </a:moveTo>
                <a:cubicBezTo>
                  <a:pt x="32027" y="139898"/>
                  <a:pt x="38695" y="146567"/>
                  <a:pt x="38695" y="154781"/>
                </a:cubicBezTo>
                <a:cubicBezTo>
                  <a:pt x="38695" y="162995"/>
                  <a:pt x="32027" y="169664"/>
                  <a:pt x="23812" y="169664"/>
                </a:cubicBezTo>
                <a:cubicBezTo>
                  <a:pt x="15598" y="169664"/>
                  <a:pt x="8930" y="162995"/>
                  <a:pt x="8930" y="154781"/>
                </a:cubicBezTo>
                <a:cubicBezTo>
                  <a:pt x="8930" y="146567"/>
                  <a:pt x="15598" y="139898"/>
                  <a:pt x="23812" y="139898"/>
                </a:cubicBezTo>
                <a:close/>
              </a:path>
            </a:pathLst>
          </a:custGeom>
          <a:solidFill>
            <a:srgbClr val="6366F1"/>
          </a:solidFill>
          <a:ln/>
        </p:spPr>
      </p:sp>
      <p:sp>
        <p:nvSpPr>
          <p:cNvPr id="16" name="Text 14"/>
          <p:cNvSpPr/>
          <p:nvPr/>
        </p:nvSpPr>
        <p:spPr>
          <a:xfrm>
            <a:off x="741045" y="3147060"/>
            <a:ext cx="6381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Key Points to Remember</a:t>
            </a:r>
            <a:endParaRPr lang="en-US" sz="1600" dirty="0"/>
          </a:p>
        </p:txBody>
      </p:sp>
      <p:sp>
        <p:nvSpPr>
          <p:cNvPr id="17" name="Shape 15"/>
          <p:cNvSpPr/>
          <p:nvPr/>
        </p:nvSpPr>
        <p:spPr>
          <a:xfrm>
            <a:off x="502920" y="3509010"/>
            <a:ext cx="228600" cy="228600"/>
          </a:xfrm>
          <a:prstGeom prst="roundRect">
            <a:avLst>
              <a:gd name="adj" fmla="val 50000"/>
            </a:avLst>
          </a:prstGeom>
          <a:solidFill>
            <a:srgbClr val="6366F1">
              <a:alpha val="20000"/>
            </a:srgbClr>
          </a:solidFill>
          <a:ln/>
        </p:spPr>
      </p:sp>
      <p:sp>
        <p:nvSpPr>
          <p:cNvPr id="18" name="Text 16"/>
          <p:cNvSpPr/>
          <p:nvPr/>
        </p:nvSpPr>
        <p:spPr>
          <a:xfrm>
            <a:off x="590550" y="3528060"/>
            <a:ext cx="123825" cy="190500"/>
          </a:xfrm>
          <a:prstGeom prst="rect">
            <a:avLst/>
          </a:prstGeom>
          <a:noFill/>
          <a:ln/>
        </p:spPr>
        <p:txBody>
          <a:bodyPr wrap="square" lIns="0" tIns="0" rIns="0" bIns="0" rtlCol="0" anchor="ctr"/>
          <a:lstStyle/>
          <a:p>
            <a:pPr>
              <a:lnSpc>
                <a:spcPct val="120000"/>
              </a:lnSpc>
            </a:pPr>
            <a:r>
              <a:rPr lang="en-US" sz="1050" b="1" dirty="0">
                <a:solidFill>
                  <a:srgbClr val="6366F1"/>
                </a:solidFill>
                <a:latin typeface="Liter" pitchFamily="34" charset="0"/>
                <a:ea typeface="Liter" pitchFamily="34" charset="-122"/>
                <a:cs typeface="Liter" pitchFamily="34" charset="-120"/>
              </a:rPr>
              <a:t>1</a:t>
            </a:r>
            <a:endParaRPr lang="en-US" sz="1600" dirty="0"/>
          </a:p>
        </p:txBody>
      </p:sp>
      <p:sp>
        <p:nvSpPr>
          <p:cNvPr id="19" name="Text 17"/>
          <p:cNvSpPr/>
          <p:nvPr/>
        </p:nvSpPr>
        <p:spPr>
          <a:xfrm>
            <a:off x="845820" y="3489960"/>
            <a:ext cx="386715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AI helps machines understand, learn, and make decisions</a:t>
            </a:r>
            <a:endParaRPr lang="en-US" sz="1600" dirty="0"/>
          </a:p>
        </p:txBody>
      </p:sp>
      <p:sp>
        <p:nvSpPr>
          <p:cNvPr id="20" name="Shape 18"/>
          <p:cNvSpPr/>
          <p:nvPr/>
        </p:nvSpPr>
        <p:spPr>
          <a:xfrm>
            <a:off x="502920" y="3794760"/>
            <a:ext cx="228600" cy="228600"/>
          </a:xfrm>
          <a:prstGeom prst="roundRect">
            <a:avLst>
              <a:gd name="adj" fmla="val 50000"/>
            </a:avLst>
          </a:prstGeom>
          <a:solidFill>
            <a:srgbClr val="6366F1">
              <a:alpha val="20000"/>
            </a:srgbClr>
          </a:solidFill>
          <a:ln/>
        </p:spPr>
      </p:sp>
      <p:sp>
        <p:nvSpPr>
          <p:cNvPr id="21" name="Text 19"/>
          <p:cNvSpPr/>
          <p:nvPr/>
        </p:nvSpPr>
        <p:spPr>
          <a:xfrm>
            <a:off x="578406" y="3813810"/>
            <a:ext cx="142875" cy="190500"/>
          </a:xfrm>
          <a:prstGeom prst="rect">
            <a:avLst/>
          </a:prstGeom>
          <a:noFill/>
          <a:ln/>
        </p:spPr>
        <p:txBody>
          <a:bodyPr wrap="square" lIns="0" tIns="0" rIns="0" bIns="0" rtlCol="0" anchor="ctr"/>
          <a:lstStyle/>
          <a:p>
            <a:pPr>
              <a:lnSpc>
                <a:spcPct val="120000"/>
              </a:lnSpc>
            </a:pPr>
            <a:r>
              <a:rPr lang="en-US" sz="1050" b="1" dirty="0">
                <a:solidFill>
                  <a:srgbClr val="6366F1"/>
                </a:solidFill>
                <a:latin typeface="Liter" pitchFamily="34" charset="0"/>
                <a:ea typeface="Liter" pitchFamily="34" charset="-122"/>
                <a:cs typeface="Liter" pitchFamily="34" charset="-120"/>
              </a:rPr>
              <a:t>2</a:t>
            </a:r>
            <a:endParaRPr lang="en-US" sz="1600" dirty="0"/>
          </a:p>
        </p:txBody>
      </p:sp>
      <p:sp>
        <p:nvSpPr>
          <p:cNvPr id="22" name="Text 20"/>
          <p:cNvSpPr/>
          <p:nvPr/>
        </p:nvSpPr>
        <p:spPr>
          <a:xfrm>
            <a:off x="845820" y="3775710"/>
            <a:ext cx="3590925"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It can recognize speech, images, and patterns in data</a:t>
            </a:r>
            <a:endParaRPr lang="en-US" sz="1600" dirty="0"/>
          </a:p>
        </p:txBody>
      </p:sp>
      <p:sp>
        <p:nvSpPr>
          <p:cNvPr id="23" name="Shape 21"/>
          <p:cNvSpPr/>
          <p:nvPr/>
        </p:nvSpPr>
        <p:spPr>
          <a:xfrm>
            <a:off x="502920" y="4080510"/>
            <a:ext cx="228600" cy="228600"/>
          </a:xfrm>
          <a:prstGeom prst="roundRect">
            <a:avLst>
              <a:gd name="adj" fmla="val 50000"/>
            </a:avLst>
          </a:prstGeom>
          <a:solidFill>
            <a:srgbClr val="6366F1">
              <a:alpha val="20000"/>
            </a:srgbClr>
          </a:solidFill>
          <a:ln/>
        </p:spPr>
      </p:sp>
      <p:sp>
        <p:nvSpPr>
          <p:cNvPr id="24" name="Text 22"/>
          <p:cNvSpPr/>
          <p:nvPr/>
        </p:nvSpPr>
        <p:spPr>
          <a:xfrm>
            <a:off x="577810" y="4099560"/>
            <a:ext cx="142875" cy="190500"/>
          </a:xfrm>
          <a:prstGeom prst="rect">
            <a:avLst/>
          </a:prstGeom>
          <a:noFill/>
          <a:ln/>
        </p:spPr>
        <p:txBody>
          <a:bodyPr wrap="square" lIns="0" tIns="0" rIns="0" bIns="0" rtlCol="0" anchor="ctr"/>
          <a:lstStyle/>
          <a:p>
            <a:pPr>
              <a:lnSpc>
                <a:spcPct val="120000"/>
              </a:lnSpc>
            </a:pPr>
            <a:r>
              <a:rPr lang="en-US" sz="1050" b="1" dirty="0">
                <a:solidFill>
                  <a:srgbClr val="6366F1"/>
                </a:solidFill>
                <a:latin typeface="Liter" pitchFamily="34" charset="0"/>
                <a:ea typeface="Liter" pitchFamily="34" charset="-122"/>
                <a:cs typeface="Liter" pitchFamily="34" charset="-120"/>
              </a:rPr>
              <a:t>3</a:t>
            </a:r>
            <a:endParaRPr lang="en-US" sz="1600" dirty="0"/>
          </a:p>
        </p:txBody>
      </p:sp>
      <p:sp>
        <p:nvSpPr>
          <p:cNvPr id="25" name="Text 23"/>
          <p:cNvSpPr/>
          <p:nvPr/>
        </p:nvSpPr>
        <p:spPr>
          <a:xfrm>
            <a:off x="845820" y="4061460"/>
            <a:ext cx="352425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AI gets better over time by learning from experience</a:t>
            </a:r>
            <a:endParaRPr lang="en-US" sz="1600" dirty="0"/>
          </a:p>
        </p:txBody>
      </p:sp>
      <p:sp>
        <p:nvSpPr>
          <p:cNvPr id="26" name="Shape 24"/>
          <p:cNvSpPr/>
          <p:nvPr/>
        </p:nvSpPr>
        <p:spPr>
          <a:xfrm>
            <a:off x="502920" y="4366260"/>
            <a:ext cx="228600" cy="228600"/>
          </a:xfrm>
          <a:prstGeom prst="roundRect">
            <a:avLst>
              <a:gd name="adj" fmla="val 50000"/>
            </a:avLst>
          </a:prstGeom>
          <a:solidFill>
            <a:srgbClr val="6366F1">
              <a:alpha val="20000"/>
            </a:srgbClr>
          </a:solidFill>
          <a:ln/>
        </p:spPr>
      </p:sp>
      <p:sp>
        <p:nvSpPr>
          <p:cNvPr id="27" name="Text 25"/>
          <p:cNvSpPr/>
          <p:nvPr/>
        </p:nvSpPr>
        <p:spPr>
          <a:xfrm>
            <a:off x="577929" y="4385310"/>
            <a:ext cx="142875" cy="190500"/>
          </a:xfrm>
          <a:prstGeom prst="rect">
            <a:avLst/>
          </a:prstGeom>
          <a:noFill/>
          <a:ln/>
        </p:spPr>
        <p:txBody>
          <a:bodyPr wrap="square" lIns="0" tIns="0" rIns="0" bIns="0" rtlCol="0" anchor="ctr"/>
          <a:lstStyle/>
          <a:p>
            <a:pPr>
              <a:lnSpc>
                <a:spcPct val="120000"/>
              </a:lnSpc>
            </a:pPr>
            <a:r>
              <a:rPr lang="en-US" sz="1050" b="1" dirty="0">
                <a:solidFill>
                  <a:srgbClr val="6366F1"/>
                </a:solidFill>
                <a:latin typeface="Liter" pitchFamily="34" charset="0"/>
                <a:ea typeface="Liter" pitchFamily="34" charset="-122"/>
                <a:cs typeface="Liter" pitchFamily="34" charset="-120"/>
              </a:rPr>
              <a:t>4</a:t>
            </a:r>
            <a:endParaRPr lang="en-US" sz="1600" dirty="0"/>
          </a:p>
        </p:txBody>
      </p:sp>
      <p:sp>
        <p:nvSpPr>
          <p:cNvPr id="28" name="Text 26"/>
          <p:cNvSpPr/>
          <p:nvPr/>
        </p:nvSpPr>
        <p:spPr>
          <a:xfrm>
            <a:off x="845820" y="4347210"/>
            <a:ext cx="32766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You already use AI every day without realizing it!</a:t>
            </a:r>
            <a:endParaRPr lang="en-US" sz="1600" dirty="0"/>
          </a:p>
        </p:txBody>
      </p:sp>
      <p:sp>
        <p:nvSpPr>
          <p:cNvPr id="29" name="Shape 27"/>
          <p:cNvSpPr/>
          <p:nvPr/>
        </p:nvSpPr>
        <p:spPr>
          <a:xfrm>
            <a:off x="7303770" y="1108710"/>
            <a:ext cx="4503420" cy="1798320"/>
          </a:xfrm>
          <a:prstGeom prst="roundRect">
            <a:avLst>
              <a:gd name="adj" fmla="val 6356"/>
            </a:avLst>
          </a:prstGeom>
          <a:gradFill rotWithShape="1" flip="none">
            <a:gsLst>
              <a:gs pos="0">
                <a:srgbClr val="6366F1">
                  <a:alpha val="20000"/>
                </a:srgbClr>
              </a:gs>
              <a:gs pos="100000">
                <a:srgbClr val="6366F1">
                  <a:alpha val="5000"/>
                </a:srgbClr>
              </a:gs>
            </a:gsLst>
            <a:lin ang="2700000" scaled="1"/>
          </a:gradFill>
          <a:ln w="10160">
            <a:solidFill>
              <a:srgbClr val="6366F1"/>
            </a:solidFill>
            <a:prstDash val="solid"/>
          </a:ln>
        </p:spPr>
      </p:sp>
      <p:sp>
        <p:nvSpPr>
          <p:cNvPr id="30" name="Shape 28"/>
          <p:cNvSpPr/>
          <p:nvPr/>
        </p:nvSpPr>
        <p:spPr>
          <a:xfrm>
            <a:off x="7445693" y="1264920"/>
            <a:ext cx="190500" cy="190500"/>
          </a:xfrm>
          <a:custGeom>
            <a:avLst/>
            <a:gdLst/>
            <a:ahLst/>
            <a:cxnLst/>
            <a:rect l="l" t="t" r="r" b="b"/>
            <a:pathLst>
              <a:path w="190500" h="190500">
                <a:moveTo>
                  <a:pt x="130932" y="104180"/>
                </a:moveTo>
                <a:lnTo>
                  <a:pt x="59903" y="104180"/>
                </a:lnTo>
                <a:cubicBezTo>
                  <a:pt x="60982" y="128178"/>
                  <a:pt x="66303" y="150279"/>
                  <a:pt x="73856" y="166464"/>
                </a:cubicBezTo>
                <a:cubicBezTo>
                  <a:pt x="78098" y="175580"/>
                  <a:pt x="82674" y="182017"/>
                  <a:pt x="86916" y="185961"/>
                </a:cubicBezTo>
                <a:cubicBezTo>
                  <a:pt x="91083" y="189867"/>
                  <a:pt x="93948" y="190500"/>
                  <a:pt x="95436" y="190500"/>
                </a:cubicBezTo>
                <a:cubicBezTo>
                  <a:pt x="96924" y="190500"/>
                  <a:pt x="99789" y="189867"/>
                  <a:pt x="103956" y="185961"/>
                </a:cubicBezTo>
                <a:cubicBezTo>
                  <a:pt x="108198" y="182017"/>
                  <a:pt x="112775" y="175543"/>
                  <a:pt x="117016" y="166464"/>
                </a:cubicBezTo>
                <a:cubicBezTo>
                  <a:pt x="124569" y="150279"/>
                  <a:pt x="129890" y="128178"/>
                  <a:pt x="130969" y="104180"/>
                </a:cubicBezTo>
                <a:close/>
                <a:moveTo>
                  <a:pt x="59866" y="86320"/>
                </a:moveTo>
                <a:lnTo>
                  <a:pt x="130894" y="86320"/>
                </a:lnTo>
                <a:cubicBezTo>
                  <a:pt x="129853" y="62322"/>
                  <a:pt x="124532" y="40221"/>
                  <a:pt x="116979" y="24036"/>
                </a:cubicBezTo>
                <a:cubicBezTo>
                  <a:pt x="112737" y="14957"/>
                  <a:pt x="108161" y="8483"/>
                  <a:pt x="103919" y="4539"/>
                </a:cubicBezTo>
                <a:cubicBezTo>
                  <a:pt x="99752" y="633"/>
                  <a:pt x="96887" y="0"/>
                  <a:pt x="95399" y="0"/>
                </a:cubicBezTo>
                <a:cubicBezTo>
                  <a:pt x="93911" y="0"/>
                  <a:pt x="91046" y="633"/>
                  <a:pt x="86878" y="4539"/>
                </a:cubicBezTo>
                <a:cubicBezTo>
                  <a:pt x="82637" y="8483"/>
                  <a:pt x="78060" y="14957"/>
                  <a:pt x="73819" y="24036"/>
                </a:cubicBezTo>
                <a:cubicBezTo>
                  <a:pt x="66266" y="40221"/>
                  <a:pt x="60945" y="62322"/>
                  <a:pt x="59866" y="86320"/>
                </a:cubicBezTo>
                <a:close/>
                <a:moveTo>
                  <a:pt x="42007" y="86320"/>
                </a:moveTo>
                <a:cubicBezTo>
                  <a:pt x="43309" y="54471"/>
                  <a:pt x="51532" y="24892"/>
                  <a:pt x="63550" y="5469"/>
                </a:cubicBezTo>
                <a:cubicBezTo>
                  <a:pt x="29282" y="17599"/>
                  <a:pt x="4056" y="48816"/>
                  <a:pt x="558" y="86320"/>
                </a:cubicBezTo>
                <a:lnTo>
                  <a:pt x="42007" y="86320"/>
                </a:lnTo>
                <a:close/>
                <a:moveTo>
                  <a:pt x="558" y="104180"/>
                </a:moveTo>
                <a:cubicBezTo>
                  <a:pt x="4056" y="141684"/>
                  <a:pt x="29282" y="172901"/>
                  <a:pt x="63550" y="185031"/>
                </a:cubicBezTo>
                <a:cubicBezTo>
                  <a:pt x="51532" y="165608"/>
                  <a:pt x="43309" y="136029"/>
                  <a:pt x="42007" y="104180"/>
                </a:cubicBezTo>
                <a:lnTo>
                  <a:pt x="558" y="104180"/>
                </a:lnTo>
                <a:close/>
                <a:moveTo>
                  <a:pt x="148791" y="104180"/>
                </a:moveTo>
                <a:cubicBezTo>
                  <a:pt x="147489" y="136029"/>
                  <a:pt x="139266" y="165608"/>
                  <a:pt x="127248" y="185031"/>
                </a:cubicBezTo>
                <a:cubicBezTo>
                  <a:pt x="161516" y="172864"/>
                  <a:pt x="186742" y="141684"/>
                  <a:pt x="190240" y="104180"/>
                </a:cubicBezTo>
                <a:lnTo>
                  <a:pt x="148791" y="104180"/>
                </a:lnTo>
                <a:close/>
                <a:moveTo>
                  <a:pt x="190240" y="86320"/>
                </a:moveTo>
                <a:cubicBezTo>
                  <a:pt x="186742" y="48816"/>
                  <a:pt x="161516" y="17599"/>
                  <a:pt x="127248" y="5469"/>
                </a:cubicBezTo>
                <a:cubicBezTo>
                  <a:pt x="139266" y="24892"/>
                  <a:pt x="147489" y="54471"/>
                  <a:pt x="148791" y="86320"/>
                </a:cubicBezTo>
                <a:lnTo>
                  <a:pt x="190240" y="86320"/>
                </a:lnTo>
                <a:close/>
              </a:path>
            </a:pathLst>
          </a:custGeom>
          <a:solidFill>
            <a:srgbClr val="6366F1"/>
          </a:solidFill>
          <a:ln/>
        </p:spPr>
      </p:sp>
      <p:sp>
        <p:nvSpPr>
          <p:cNvPr id="31" name="Text 29"/>
          <p:cNvSpPr/>
          <p:nvPr/>
        </p:nvSpPr>
        <p:spPr>
          <a:xfrm>
            <a:off x="7736205" y="1226820"/>
            <a:ext cx="1809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Real-World Example</a:t>
            </a:r>
            <a:endParaRPr lang="en-US" sz="1600" dirty="0"/>
          </a:p>
        </p:txBody>
      </p:sp>
      <p:sp>
        <p:nvSpPr>
          <p:cNvPr id="32" name="Shape 30"/>
          <p:cNvSpPr/>
          <p:nvPr/>
        </p:nvSpPr>
        <p:spPr>
          <a:xfrm>
            <a:off x="7421880" y="1569720"/>
            <a:ext cx="4267200" cy="1219200"/>
          </a:xfrm>
          <a:prstGeom prst="roundRect">
            <a:avLst>
              <a:gd name="adj" fmla="val 6250"/>
            </a:avLst>
          </a:prstGeom>
          <a:solidFill>
            <a:srgbClr val="191919"/>
          </a:solidFill>
          <a:ln/>
        </p:spPr>
      </p:sp>
      <p:sp>
        <p:nvSpPr>
          <p:cNvPr id="33" name="Text 31"/>
          <p:cNvSpPr/>
          <p:nvPr/>
        </p:nvSpPr>
        <p:spPr>
          <a:xfrm>
            <a:off x="7536180" y="1684020"/>
            <a:ext cx="4124325" cy="266700"/>
          </a:xfrm>
          <a:prstGeom prst="rect">
            <a:avLst/>
          </a:prstGeom>
          <a:noFill/>
          <a:ln/>
        </p:spPr>
        <p:txBody>
          <a:bodyPr wrap="square" lIns="0" tIns="0" rIns="0" bIns="0" rtlCol="0" anchor="ctr"/>
          <a:lstStyle/>
          <a:p>
            <a:pPr>
              <a:lnSpc>
                <a:spcPct val="130000"/>
              </a:lnSpc>
            </a:pPr>
            <a:r>
              <a:rPr lang="en-US" sz="1350" b="1" dirty="0">
                <a:solidFill>
                  <a:srgbClr val="6366F1"/>
                </a:solidFill>
                <a:latin typeface="Liter" pitchFamily="34" charset="0"/>
                <a:ea typeface="Liter" pitchFamily="34" charset="-122"/>
                <a:cs typeface="Liter" pitchFamily="34" charset="-120"/>
              </a:rPr>
              <a:t>ChatGPT</a:t>
            </a:r>
            <a:endParaRPr lang="en-US" sz="1600" dirty="0"/>
          </a:p>
        </p:txBody>
      </p:sp>
      <p:sp>
        <p:nvSpPr>
          <p:cNvPr id="34" name="Text 32"/>
          <p:cNvSpPr/>
          <p:nvPr/>
        </p:nvSpPr>
        <p:spPr>
          <a:xfrm>
            <a:off x="7536180" y="1988820"/>
            <a:ext cx="41148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ChatGPT is an AI that can have conversations, answer questions, write essays, and help with homework. It learned by reading billions of text examples!</a:t>
            </a:r>
            <a:endParaRPr lang="en-US" sz="1600" dirty="0"/>
          </a:p>
        </p:txBody>
      </p:sp>
      <p:sp>
        <p:nvSpPr>
          <p:cNvPr id="35" name="Shape 33"/>
          <p:cNvSpPr/>
          <p:nvPr/>
        </p:nvSpPr>
        <p:spPr>
          <a:xfrm>
            <a:off x="7303770" y="2990850"/>
            <a:ext cx="4503420" cy="1874520"/>
          </a:xfrm>
          <a:prstGeom prst="roundRect">
            <a:avLst>
              <a:gd name="adj" fmla="val 6098"/>
            </a:avLst>
          </a:prstGeom>
          <a:solidFill>
            <a:srgbClr val="262626"/>
          </a:solidFill>
          <a:ln w="10160">
            <a:solidFill>
              <a:srgbClr val="333333"/>
            </a:solidFill>
            <a:prstDash val="solid"/>
          </a:ln>
        </p:spPr>
      </p:sp>
      <p:sp>
        <p:nvSpPr>
          <p:cNvPr id="36" name="Shape 34"/>
          <p:cNvSpPr/>
          <p:nvPr/>
        </p:nvSpPr>
        <p:spPr>
          <a:xfrm>
            <a:off x="7456408" y="3156585"/>
            <a:ext cx="150019" cy="171450"/>
          </a:xfrm>
          <a:custGeom>
            <a:avLst/>
            <a:gdLst/>
            <a:ahLst/>
            <a:cxnLst/>
            <a:rect l="l" t="t" r="r" b="b"/>
            <a:pathLst>
              <a:path w="150019" h="171450">
                <a:moveTo>
                  <a:pt x="21431" y="10716"/>
                </a:moveTo>
                <a:cubicBezTo>
                  <a:pt x="9611" y="10716"/>
                  <a:pt x="0" y="20326"/>
                  <a:pt x="0" y="32147"/>
                </a:cubicBezTo>
                <a:lnTo>
                  <a:pt x="0" y="139303"/>
                </a:lnTo>
                <a:cubicBezTo>
                  <a:pt x="0" y="151124"/>
                  <a:pt x="9611" y="160734"/>
                  <a:pt x="21431" y="160734"/>
                </a:cubicBezTo>
                <a:lnTo>
                  <a:pt x="128588" y="160734"/>
                </a:lnTo>
                <a:cubicBezTo>
                  <a:pt x="140408" y="160734"/>
                  <a:pt x="150019" y="151124"/>
                  <a:pt x="150019" y="139303"/>
                </a:cubicBezTo>
                <a:lnTo>
                  <a:pt x="150019" y="32147"/>
                </a:lnTo>
                <a:cubicBezTo>
                  <a:pt x="150019" y="20326"/>
                  <a:pt x="140408" y="10716"/>
                  <a:pt x="128588" y="10716"/>
                </a:cubicBezTo>
                <a:lnTo>
                  <a:pt x="21431" y="10716"/>
                </a:lnTo>
                <a:close/>
                <a:moveTo>
                  <a:pt x="42863" y="37505"/>
                </a:moveTo>
                <a:cubicBezTo>
                  <a:pt x="51734" y="37505"/>
                  <a:pt x="58936" y="44707"/>
                  <a:pt x="58936" y="53578"/>
                </a:cubicBezTo>
                <a:cubicBezTo>
                  <a:pt x="58936" y="62449"/>
                  <a:pt x="51734" y="69652"/>
                  <a:pt x="42863" y="69652"/>
                </a:cubicBezTo>
                <a:cubicBezTo>
                  <a:pt x="33991" y="69652"/>
                  <a:pt x="26789" y="62449"/>
                  <a:pt x="26789" y="53578"/>
                </a:cubicBezTo>
                <a:cubicBezTo>
                  <a:pt x="26789" y="44707"/>
                  <a:pt x="33991" y="37505"/>
                  <a:pt x="42863" y="37505"/>
                </a:cubicBezTo>
                <a:close/>
                <a:moveTo>
                  <a:pt x="91083" y="75009"/>
                </a:moveTo>
                <a:cubicBezTo>
                  <a:pt x="93896" y="75009"/>
                  <a:pt x="96474" y="76483"/>
                  <a:pt x="97948" y="78860"/>
                </a:cubicBezTo>
                <a:lnTo>
                  <a:pt x="127415" y="127081"/>
                </a:lnTo>
                <a:cubicBezTo>
                  <a:pt x="128922" y="129559"/>
                  <a:pt x="128989" y="132673"/>
                  <a:pt x="127583" y="135218"/>
                </a:cubicBezTo>
                <a:cubicBezTo>
                  <a:pt x="126176" y="137763"/>
                  <a:pt x="123464" y="139303"/>
                  <a:pt x="120551" y="139303"/>
                </a:cubicBezTo>
                <a:lnTo>
                  <a:pt x="29468" y="139303"/>
                </a:lnTo>
                <a:cubicBezTo>
                  <a:pt x="26488" y="139303"/>
                  <a:pt x="23708" y="137629"/>
                  <a:pt x="22335" y="134983"/>
                </a:cubicBezTo>
                <a:cubicBezTo>
                  <a:pt x="20962" y="132338"/>
                  <a:pt x="21163" y="129123"/>
                  <a:pt x="22871" y="126679"/>
                </a:cubicBezTo>
                <a:lnTo>
                  <a:pt x="41624" y="99890"/>
                </a:lnTo>
                <a:cubicBezTo>
                  <a:pt x="43130" y="97747"/>
                  <a:pt x="45575" y="96474"/>
                  <a:pt x="48220" y="96474"/>
                </a:cubicBezTo>
                <a:cubicBezTo>
                  <a:pt x="50866" y="96474"/>
                  <a:pt x="53310" y="97747"/>
                  <a:pt x="54817" y="99890"/>
                </a:cubicBezTo>
                <a:lnTo>
                  <a:pt x="63658" y="112548"/>
                </a:lnTo>
                <a:lnTo>
                  <a:pt x="84218" y="78894"/>
                </a:lnTo>
                <a:cubicBezTo>
                  <a:pt x="85692" y="76516"/>
                  <a:pt x="88270" y="75043"/>
                  <a:pt x="91083" y="75043"/>
                </a:cubicBezTo>
                <a:close/>
              </a:path>
            </a:pathLst>
          </a:custGeom>
          <a:solidFill>
            <a:srgbClr val="6366F1"/>
          </a:solidFill>
          <a:ln/>
        </p:spPr>
      </p:sp>
      <p:sp>
        <p:nvSpPr>
          <p:cNvPr id="37" name="Text 35"/>
          <p:cNvSpPr/>
          <p:nvPr/>
        </p:nvSpPr>
        <p:spPr>
          <a:xfrm>
            <a:off x="7640955" y="3108960"/>
            <a:ext cx="41338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Visual</a:t>
            </a:r>
            <a:endParaRPr lang="en-US" sz="1600" dirty="0"/>
          </a:p>
        </p:txBody>
      </p:sp>
      <p:sp>
        <p:nvSpPr>
          <p:cNvPr id="38" name="Shape 36"/>
          <p:cNvSpPr/>
          <p:nvPr/>
        </p:nvSpPr>
        <p:spPr>
          <a:xfrm>
            <a:off x="7421880" y="3451860"/>
            <a:ext cx="4267200" cy="609600"/>
          </a:xfrm>
          <a:prstGeom prst="roundRect">
            <a:avLst>
              <a:gd name="adj" fmla="val 12500"/>
            </a:avLst>
          </a:prstGeom>
          <a:solidFill>
            <a:srgbClr val="191919"/>
          </a:solidFill>
          <a:ln/>
        </p:spPr>
      </p:sp>
      <p:sp>
        <p:nvSpPr>
          <p:cNvPr id="39" name="Text 37"/>
          <p:cNvSpPr/>
          <p:nvPr/>
        </p:nvSpPr>
        <p:spPr>
          <a:xfrm>
            <a:off x="7498080" y="352806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Diagram:</a:t>
            </a:r>
            <a:endParaRPr lang="en-US" sz="1600" dirty="0"/>
          </a:p>
        </p:txBody>
      </p:sp>
      <p:sp>
        <p:nvSpPr>
          <p:cNvPr id="40" name="Text 38"/>
          <p:cNvSpPr/>
          <p:nvPr/>
        </p:nvSpPr>
        <p:spPr>
          <a:xfrm>
            <a:off x="7498080" y="375666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Input → AI Brain → Smart Output</a:t>
            </a:r>
            <a:endParaRPr lang="en-US" sz="1600" dirty="0"/>
          </a:p>
        </p:txBody>
      </p:sp>
      <p:sp>
        <p:nvSpPr>
          <p:cNvPr id="41" name="Shape 39"/>
          <p:cNvSpPr/>
          <p:nvPr/>
        </p:nvSpPr>
        <p:spPr>
          <a:xfrm>
            <a:off x="7421880" y="4137660"/>
            <a:ext cx="4267200" cy="609600"/>
          </a:xfrm>
          <a:prstGeom prst="roundRect">
            <a:avLst>
              <a:gd name="adj" fmla="val 12500"/>
            </a:avLst>
          </a:prstGeom>
          <a:solidFill>
            <a:srgbClr val="191919"/>
          </a:solidFill>
          <a:ln/>
        </p:spPr>
      </p:sp>
      <p:sp>
        <p:nvSpPr>
          <p:cNvPr id="42" name="Text 40"/>
          <p:cNvSpPr/>
          <p:nvPr/>
        </p:nvSpPr>
        <p:spPr>
          <a:xfrm>
            <a:off x="7498080" y="421386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Image:</a:t>
            </a:r>
            <a:endParaRPr lang="en-US" sz="1600" dirty="0"/>
          </a:p>
        </p:txBody>
      </p:sp>
      <p:sp>
        <p:nvSpPr>
          <p:cNvPr id="43" name="Text 41"/>
          <p:cNvSpPr/>
          <p:nvPr/>
        </p:nvSpPr>
        <p:spPr>
          <a:xfrm>
            <a:off x="7498080" y="444246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Friendly robot interacting with human</a:t>
            </a:r>
            <a:endParaRPr lang="en-US" sz="1600" dirty="0"/>
          </a:p>
        </p:txBody>
      </p:sp>
      <p:sp>
        <p:nvSpPr>
          <p:cNvPr id="44" name="Shape 42"/>
          <p:cNvSpPr/>
          <p:nvPr/>
        </p:nvSpPr>
        <p:spPr>
          <a:xfrm>
            <a:off x="7303770" y="4949191"/>
            <a:ext cx="4503420" cy="1264920"/>
          </a:xfrm>
          <a:prstGeom prst="roundRect">
            <a:avLst>
              <a:gd name="adj" fmla="val 9036"/>
            </a:avLst>
          </a:prstGeom>
          <a:solidFill>
            <a:srgbClr val="262626"/>
          </a:solidFill>
          <a:ln w="10160">
            <a:solidFill>
              <a:srgbClr val="333333"/>
            </a:solidFill>
            <a:prstDash val="solid"/>
          </a:ln>
        </p:spPr>
      </p:sp>
      <p:sp>
        <p:nvSpPr>
          <p:cNvPr id="45" name="Text 43"/>
          <p:cNvSpPr/>
          <p:nvPr/>
        </p:nvSpPr>
        <p:spPr>
          <a:xfrm>
            <a:off x="7421880" y="5067300"/>
            <a:ext cx="43529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 Simple Explanation</a:t>
            </a:r>
            <a:endParaRPr lang="en-US" sz="1600" dirty="0"/>
          </a:p>
        </p:txBody>
      </p:sp>
      <p:sp>
        <p:nvSpPr>
          <p:cNvPr id="46" name="Text 44"/>
          <p:cNvSpPr/>
          <p:nvPr/>
        </p:nvSpPr>
        <p:spPr>
          <a:xfrm>
            <a:off x="7421880" y="5410200"/>
            <a:ext cx="43434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Imagine having a super-smart assistant that never gets tired, can process millions of facts in seconds, and learns to help you better every day. That's AI!</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91919"/>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6366F1">
              <a:alpha val="20000"/>
            </a:srgbClr>
          </a:solidFill>
          <a:ln/>
        </p:spPr>
      </p:sp>
      <p:sp>
        <p:nvSpPr>
          <p:cNvPr id="3" name="Text 1"/>
          <p:cNvSpPr/>
          <p:nvPr/>
        </p:nvSpPr>
        <p:spPr>
          <a:xfrm>
            <a:off x="493395" y="533400"/>
            <a:ext cx="323850" cy="266700"/>
          </a:xfrm>
          <a:prstGeom prst="rect">
            <a:avLst/>
          </a:prstGeom>
          <a:noFill/>
          <a:ln/>
        </p:spPr>
        <p:txBody>
          <a:bodyPr wrap="square" lIns="0" tIns="0" rIns="0" bIns="0" rtlCol="0" anchor="ctr"/>
          <a:lstStyle/>
          <a:p>
            <a:pPr>
              <a:lnSpc>
                <a:spcPct val="120000"/>
              </a:lnSpc>
            </a:pPr>
            <a:r>
              <a:rPr lang="en-US" sz="1500" b="1" dirty="0">
                <a:solidFill>
                  <a:srgbClr val="6366F1"/>
                </a:solidFill>
                <a:latin typeface="Liter" pitchFamily="34" charset="0"/>
                <a:ea typeface="Liter" pitchFamily="34" charset="-122"/>
                <a:cs typeface="Liter" pitchFamily="34" charset="-120"/>
              </a:rPr>
              <a:t>02</a:t>
            </a:r>
            <a:endParaRPr lang="en-US" sz="1600" dirty="0"/>
          </a:p>
        </p:txBody>
      </p:sp>
      <p:sp>
        <p:nvSpPr>
          <p:cNvPr id="4" name="Text 2"/>
          <p:cNvSpPr/>
          <p:nvPr/>
        </p:nvSpPr>
        <p:spPr>
          <a:xfrm>
            <a:off x="952500" y="381000"/>
            <a:ext cx="3209925" cy="190500"/>
          </a:xfrm>
          <a:prstGeom prst="rect">
            <a:avLst/>
          </a:prstGeom>
          <a:noFill/>
          <a:ln/>
        </p:spPr>
        <p:txBody>
          <a:bodyPr wrap="square" lIns="0" tIns="0" rIns="0" bIns="0" rtlCol="0" anchor="ctr"/>
          <a:lstStyle/>
          <a:p>
            <a:pPr>
              <a:lnSpc>
                <a:spcPct val="120000"/>
              </a:lnSpc>
            </a:pPr>
            <a:r>
              <a:rPr lang="en-US" sz="1050" b="1" spc="53" kern="0" dirty="0">
                <a:solidFill>
                  <a:srgbClr val="6366F1"/>
                </a:solidFill>
                <a:latin typeface="Liter" pitchFamily="34" charset="0"/>
                <a:ea typeface="Liter" pitchFamily="34" charset="-122"/>
                <a:cs typeface="Liter" pitchFamily="34" charset="-120"/>
              </a:rPr>
              <a:t>Introduction to AI</a:t>
            </a:r>
            <a:endParaRPr lang="en-US" sz="1600" dirty="0"/>
          </a:p>
        </p:txBody>
      </p:sp>
      <p:sp>
        <p:nvSpPr>
          <p:cNvPr id="5" name="Text 3"/>
          <p:cNvSpPr/>
          <p:nvPr/>
        </p:nvSpPr>
        <p:spPr>
          <a:xfrm>
            <a:off x="952500" y="571500"/>
            <a:ext cx="331470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Why is AI Important?</a:t>
            </a:r>
            <a:endParaRPr lang="en-US" sz="1600" dirty="0"/>
          </a:p>
        </p:txBody>
      </p:sp>
      <p:sp>
        <p:nvSpPr>
          <p:cNvPr id="6" name="Shape 4"/>
          <p:cNvSpPr/>
          <p:nvPr/>
        </p:nvSpPr>
        <p:spPr>
          <a:xfrm>
            <a:off x="384810" y="1108710"/>
            <a:ext cx="5627370" cy="1150620"/>
          </a:xfrm>
          <a:prstGeom prst="roundRect">
            <a:avLst>
              <a:gd name="adj" fmla="val 9934"/>
            </a:avLst>
          </a:prstGeom>
          <a:solidFill>
            <a:srgbClr val="262626"/>
          </a:solidFill>
          <a:ln w="10160">
            <a:solidFill>
              <a:srgbClr val="333333"/>
            </a:solidFill>
            <a:prstDash val="solid"/>
          </a:ln>
        </p:spPr>
      </p:sp>
      <p:sp>
        <p:nvSpPr>
          <p:cNvPr id="7" name="Shape 5"/>
          <p:cNvSpPr/>
          <p:nvPr/>
        </p:nvSpPr>
        <p:spPr>
          <a:xfrm>
            <a:off x="502920" y="1226820"/>
            <a:ext cx="381000" cy="381000"/>
          </a:xfrm>
          <a:prstGeom prst="roundRect">
            <a:avLst>
              <a:gd name="adj" fmla="val 20000"/>
            </a:avLst>
          </a:prstGeom>
          <a:solidFill>
            <a:srgbClr val="6366F1">
              <a:alpha val="20000"/>
            </a:srgbClr>
          </a:solidFill>
          <a:ln/>
        </p:spPr>
      </p:sp>
      <p:sp>
        <p:nvSpPr>
          <p:cNvPr id="8" name="Shape 6"/>
          <p:cNvSpPr/>
          <p:nvPr/>
        </p:nvSpPr>
        <p:spPr>
          <a:xfrm>
            <a:off x="598170" y="1322070"/>
            <a:ext cx="190500" cy="190500"/>
          </a:xfrm>
          <a:custGeom>
            <a:avLst/>
            <a:gdLst/>
            <a:ahLst/>
            <a:cxnLst/>
            <a:rect l="l" t="t" r="r" b="b"/>
            <a:pathLst>
              <a:path w="190500" h="190500">
                <a:moveTo>
                  <a:pt x="47625" y="119063"/>
                </a:moveTo>
                <a:lnTo>
                  <a:pt x="9116" y="119063"/>
                </a:lnTo>
                <a:cubicBezTo>
                  <a:pt x="-149" y="119063"/>
                  <a:pt x="-5842" y="108979"/>
                  <a:pt x="-1079" y="101017"/>
                </a:cubicBezTo>
                <a:lnTo>
                  <a:pt x="18604" y="68200"/>
                </a:lnTo>
                <a:cubicBezTo>
                  <a:pt x="21841" y="62805"/>
                  <a:pt x="27645" y="59531"/>
                  <a:pt x="33933" y="59531"/>
                </a:cubicBezTo>
                <a:lnTo>
                  <a:pt x="69279" y="59531"/>
                </a:lnTo>
                <a:cubicBezTo>
                  <a:pt x="97594" y="11571"/>
                  <a:pt x="139824" y="9153"/>
                  <a:pt x="168064" y="13283"/>
                </a:cubicBezTo>
                <a:cubicBezTo>
                  <a:pt x="172827" y="13990"/>
                  <a:pt x="176547" y="17711"/>
                  <a:pt x="177217" y="22436"/>
                </a:cubicBezTo>
                <a:cubicBezTo>
                  <a:pt x="181347" y="50676"/>
                  <a:pt x="178929" y="92906"/>
                  <a:pt x="130969" y="121221"/>
                </a:cubicBezTo>
                <a:lnTo>
                  <a:pt x="130969" y="156567"/>
                </a:lnTo>
                <a:cubicBezTo>
                  <a:pt x="130969" y="162855"/>
                  <a:pt x="127695" y="168659"/>
                  <a:pt x="122300" y="171896"/>
                </a:cubicBezTo>
                <a:lnTo>
                  <a:pt x="89483" y="191579"/>
                </a:lnTo>
                <a:cubicBezTo>
                  <a:pt x="81558" y="196342"/>
                  <a:pt x="71438" y="190612"/>
                  <a:pt x="71438" y="181384"/>
                </a:cubicBezTo>
                <a:lnTo>
                  <a:pt x="71438" y="142875"/>
                </a:lnTo>
                <a:cubicBezTo>
                  <a:pt x="71438" y="129741"/>
                  <a:pt x="60759" y="119063"/>
                  <a:pt x="47625" y="119063"/>
                </a:cubicBezTo>
                <a:lnTo>
                  <a:pt x="47588" y="119063"/>
                </a:lnTo>
                <a:close/>
                <a:moveTo>
                  <a:pt x="148828" y="59531"/>
                </a:moveTo>
                <a:cubicBezTo>
                  <a:pt x="148828" y="49674"/>
                  <a:pt x="140826" y="41672"/>
                  <a:pt x="130969" y="41672"/>
                </a:cubicBezTo>
                <a:cubicBezTo>
                  <a:pt x="121112" y="41672"/>
                  <a:pt x="113109" y="49674"/>
                  <a:pt x="113109" y="59531"/>
                </a:cubicBezTo>
                <a:cubicBezTo>
                  <a:pt x="113109" y="69388"/>
                  <a:pt x="121112" y="77391"/>
                  <a:pt x="130969" y="77391"/>
                </a:cubicBezTo>
                <a:cubicBezTo>
                  <a:pt x="140826" y="77391"/>
                  <a:pt x="148828" y="69388"/>
                  <a:pt x="148828" y="59531"/>
                </a:cubicBezTo>
                <a:close/>
              </a:path>
            </a:pathLst>
          </a:custGeom>
          <a:solidFill>
            <a:srgbClr val="6366F1"/>
          </a:solidFill>
          <a:ln/>
        </p:spPr>
      </p:sp>
      <p:sp>
        <p:nvSpPr>
          <p:cNvPr id="9" name="Text 7"/>
          <p:cNvSpPr/>
          <p:nvPr/>
        </p:nvSpPr>
        <p:spPr>
          <a:xfrm>
            <a:off x="998220" y="1283970"/>
            <a:ext cx="156210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Makes Life Easier</a:t>
            </a:r>
            <a:endParaRPr lang="en-US" sz="1600" dirty="0"/>
          </a:p>
        </p:txBody>
      </p:sp>
      <p:sp>
        <p:nvSpPr>
          <p:cNvPr id="10" name="Text 8"/>
          <p:cNvSpPr/>
          <p:nvPr/>
        </p:nvSpPr>
        <p:spPr>
          <a:xfrm>
            <a:off x="502920" y="1684020"/>
            <a:ext cx="5467350"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AI handles boring and repetitive tasks so humans can focus on creative and important work. It saves time and reduces errors.</a:t>
            </a:r>
            <a:endParaRPr lang="en-US" sz="1600" dirty="0"/>
          </a:p>
        </p:txBody>
      </p:sp>
      <p:sp>
        <p:nvSpPr>
          <p:cNvPr id="11" name="Shape 9"/>
          <p:cNvSpPr/>
          <p:nvPr/>
        </p:nvSpPr>
        <p:spPr>
          <a:xfrm>
            <a:off x="384810" y="2343150"/>
            <a:ext cx="5627370" cy="1150620"/>
          </a:xfrm>
          <a:prstGeom prst="roundRect">
            <a:avLst>
              <a:gd name="adj" fmla="val 9934"/>
            </a:avLst>
          </a:prstGeom>
          <a:solidFill>
            <a:srgbClr val="262626"/>
          </a:solidFill>
          <a:ln w="10160">
            <a:solidFill>
              <a:srgbClr val="333333"/>
            </a:solidFill>
            <a:prstDash val="solid"/>
          </a:ln>
        </p:spPr>
      </p:sp>
      <p:sp>
        <p:nvSpPr>
          <p:cNvPr id="12" name="Shape 10"/>
          <p:cNvSpPr/>
          <p:nvPr/>
        </p:nvSpPr>
        <p:spPr>
          <a:xfrm>
            <a:off x="502920" y="2461260"/>
            <a:ext cx="381000" cy="381000"/>
          </a:xfrm>
          <a:prstGeom prst="roundRect">
            <a:avLst>
              <a:gd name="adj" fmla="val 20000"/>
            </a:avLst>
          </a:prstGeom>
          <a:solidFill>
            <a:srgbClr val="6366F1">
              <a:alpha val="20000"/>
            </a:srgbClr>
          </a:solidFill>
          <a:ln/>
        </p:spPr>
      </p:sp>
      <p:sp>
        <p:nvSpPr>
          <p:cNvPr id="13" name="Shape 11"/>
          <p:cNvSpPr/>
          <p:nvPr/>
        </p:nvSpPr>
        <p:spPr>
          <a:xfrm>
            <a:off x="598170" y="2556510"/>
            <a:ext cx="190500" cy="190500"/>
          </a:xfrm>
          <a:custGeom>
            <a:avLst/>
            <a:gdLst/>
            <a:ahLst/>
            <a:cxnLst/>
            <a:rect l="l" t="t" r="r" b="b"/>
            <a:pathLst>
              <a:path w="190500" h="190500">
                <a:moveTo>
                  <a:pt x="44648" y="20836"/>
                </a:moveTo>
                <a:cubicBezTo>
                  <a:pt x="44648" y="9339"/>
                  <a:pt x="53987" y="0"/>
                  <a:pt x="65484" y="0"/>
                </a:cubicBezTo>
                <a:lnTo>
                  <a:pt x="74414" y="0"/>
                </a:lnTo>
                <a:cubicBezTo>
                  <a:pt x="81000" y="0"/>
                  <a:pt x="86320" y="5321"/>
                  <a:pt x="86320" y="11906"/>
                </a:cubicBezTo>
                <a:lnTo>
                  <a:pt x="86320" y="178594"/>
                </a:lnTo>
                <a:cubicBezTo>
                  <a:pt x="86320" y="185179"/>
                  <a:pt x="81000" y="190500"/>
                  <a:pt x="74414" y="190500"/>
                </a:cubicBezTo>
                <a:lnTo>
                  <a:pt x="62508" y="190500"/>
                </a:lnTo>
                <a:cubicBezTo>
                  <a:pt x="51420" y="190500"/>
                  <a:pt x="42081" y="182910"/>
                  <a:pt x="39439" y="172641"/>
                </a:cubicBezTo>
                <a:cubicBezTo>
                  <a:pt x="39179" y="172641"/>
                  <a:pt x="38956" y="172641"/>
                  <a:pt x="38695" y="172641"/>
                </a:cubicBezTo>
                <a:cubicBezTo>
                  <a:pt x="22250" y="172641"/>
                  <a:pt x="8930" y="159321"/>
                  <a:pt x="8930" y="142875"/>
                </a:cubicBezTo>
                <a:cubicBezTo>
                  <a:pt x="8930" y="136178"/>
                  <a:pt x="11162" y="130001"/>
                  <a:pt x="14883" y="125016"/>
                </a:cubicBezTo>
                <a:cubicBezTo>
                  <a:pt x="7665" y="119583"/>
                  <a:pt x="2977" y="110951"/>
                  <a:pt x="2977" y="101203"/>
                </a:cubicBezTo>
                <a:cubicBezTo>
                  <a:pt x="2977" y="89706"/>
                  <a:pt x="9525" y="79697"/>
                  <a:pt x="19050" y="74749"/>
                </a:cubicBezTo>
                <a:cubicBezTo>
                  <a:pt x="16408" y="70284"/>
                  <a:pt x="14883" y="65075"/>
                  <a:pt x="14883" y="59531"/>
                </a:cubicBezTo>
                <a:cubicBezTo>
                  <a:pt x="14883" y="43086"/>
                  <a:pt x="28203" y="29766"/>
                  <a:pt x="44648" y="29766"/>
                </a:cubicBezTo>
                <a:lnTo>
                  <a:pt x="44648" y="20836"/>
                </a:lnTo>
                <a:close/>
                <a:moveTo>
                  <a:pt x="145852" y="20836"/>
                </a:moveTo>
                <a:lnTo>
                  <a:pt x="145852" y="29766"/>
                </a:lnTo>
                <a:cubicBezTo>
                  <a:pt x="162297" y="29766"/>
                  <a:pt x="175617" y="43086"/>
                  <a:pt x="175617" y="59531"/>
                </a:cubicBezTo>
                <a:cubicBezTo>
                  <a:pt x="175617" y="65112"/>
                  <a:pt x="174092" y="70321"/>
                  <a:pt x="171450" y="74749"/>
                </a:cubicBezTo>
                <a:cubicBezTo>
                  <a:pt x="181012" y="79697"/>
                  <a:pt x="187523" y="89669"/>
                  <a:pt x="187523" y="101203"/>
                </a:cubicBezTo>
                <a:cubicBezTo>
                  <a:pt x="187523" y="110951"/>
                  <a:pt x="182835" y="119583"/>
                  <a:pt x="175617" y="125016"/>
                </a:cubicBezTo>
                <a:cubicBezTo>
                  <a:pt x="179338" y="130001"/>
                  <a:pt x="181570" y="136178"/>
                  <a:pt x="181570" y="142875"/>
                </a:cubicBezTo>
                <a:cubicBezTo>
                  <a:pt x="181570" y="159321"/>
                  <a:pt x="168250" y="172641"/>
                  <a:pt x="151805" y="172641"/>
                </a:cubicBezTo>
                <a:cubicBezTo>
                  <a:pt x="151544" y="172641"/>
                  <a:pt x="151321" y="172641"/>
                  <a:pt x="151061" y="172641"/>
                </a:cubicBezTo>
                <a:cubicBezTo>
                  <a:pt x="148419" y="182910"/>
                  <a:pt x="139080" y="190500"/>
                  <a:pt x="127992" y="190500"/>
                </a:cubicBezTo>
                <a:lnTo>
                  <a:pt x="116086" y="190500"/>
                </a:lnTo>
                <a:cubicBezTo>
                  <a:pt x="109500" y="190500"/>
                  <a:pt x="104180" y="185179"/>
                  <a:pt x="104180" y="178594"/>
                </a:cubicBezTo>
                <a:lnTo>
                  <a:pt x="104180" y="11906"/>
                </a:lnTo>
                <a:cubicBezTo>
                  <a:pt x="104180" y="5321"/>
                  <a:pt x="109500" y="0"/>
                  <a:pt x="116086" y="0"/>
                </a:cubicBezTo>
                <a:lnTo>
                  <a:pt x="125016" y="0"/>
                </a:lnTo>
                <a:cubicBezTo>
                  <a:pt x="136513" y="0"/>
                  <a:pt x="145852" y="9339"/>
                  <a:pt x="145852" y="20836"/>
                </a:cubicBezTo>
                <a:close/>
              </a:path>
            </a:pathLst>
          </a:custGeom>
          <a:solidFill>
            <a:srgbClr val="6366F1"/>
          </a:solidFill>
          <a:ln/>
        </p:spPr>
      </p:sp>
      <p:sp>
        <p:nvSpPr>
          <p:cNvPr id="14" name="Text 12"/>
          <p:cNvSpPr/>
          <p:nvPr/>
        </p:nvSpPr>
        <p:spPr>
          <a:xfrm>
            <a:off x="998220" y="2518410"/>
            <a:ext cx="2276475"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Solves Complex Problems</a:t>
            </a:r>
            <a:endParaRPr lang="en-US" sz="1600" dirty="0"/>
          </a:p>
        </p:txBody>
      </p:sp>
      <p:sp>
        <p:nvSpPr>
          <p:cNvPr id="15" name="Text 13"/>
          <p:cNvSpPr/>
          <p:nvPr/>
        </p:nvSpPr>
        <p:spPr>
          <a:xfrm>
            <a:off x="502920" y="2918460"/>
            <a:ext cx="5467350"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AI can analyze massive amounts of data to find patterns humans might miss. It helps scientists, doctors, and researchers make breakthrough discoveries.</a:t>
            </a:r>
            <a:endParaRPr lang="en-US" sz="1600" dirty="0"/>
          </a:p>
        </p:txBody>
      </p:sp>
      <p:sp>
        <p:nvSpPr>
          <p:cNvPr id="16" name="Shape 14"/>
          <p:cNvSpPr/>
          <p:nvPr/>
        </p:nvSpPr>
        <p:spPr>
          <a:xfrm>
            <a:off x="384810" y="3577591"/>
            <a:ext cx="5627370" cy="1150620"/>
          </a:xfrm>
          <a:prstGeom prst="roundRect">
            <a:avLst>
              <a:gd name="adj" fmla="val 9934"/>
            </a:avLst>
          </a:prstGeom>
          <a:solidFill>
            <a:srgbClr val="262626"/>
          </a:solidFill>
          <a:ln w="10160">
            <a:solidFill>
              <a:srgbClr val="333333"/>
            </a:solidFill>
            <a:prstDash val="solid"/>
          </a:ln>
        </p:spPr>
      </p:sp>
      <p:sp>
        <p:nvSpPr>
          <p:cNvPr id="17" name="Shape 15"/>
          <p:cNvSpPr/>
          <p:nvPr/>
        </p:nvSpPr>
        <p:spPr>
          <a:xfrm>
            <a:off x="502920" y="3695700"/>
            <a:ext cx="381000" cy="381000"/>
          </a:xfrm>
          <a:prstGeom prst="roundRect">
            <a:avLst>
              <a:gd name="adj" fmla="val 20000"/>
            </a:avLst>
          </a:prstGeom>
          <a:solidFill>
            <a:srgbClr val="6366F1">
              <a:alpha val="20000"/>
            </a:srgbClr>
          </a:solidFill>
          <a:ln/>
        </p:spPr>
      </p:sp>
      <p:sp>
        <p:nvSpPr>
          <p:cNvPr id="18" name="Shape 16"/>
          <p:cNvSpPr/>
          <p:nvPr/>
        </p:nvSpPr>
        <p:spPr>
          <a:xfrm>
            <a:off x="598170" y="3790950"/>
            <a:ext cx="190500" cy="190500"/>
          </a:xfrm>
          <a:custGeom>
            <a:avLst/>
            <a:gdLst/>
            <a:ahLst/>
            <a:cxnLst/>
            <a:rect l="l" t="t" r="r" b="b"/>
            <a:pathLst>
              <a:path w="190500" h="190500">
                <a:moveTo>
                  <a:pt x="95250" y="0"/>
                </a:moveTo>
                <a:cubicBezTo>
                  <a:pt x="147820" y="0"/>
                  <a:pt x="190500" y="42680"/>
                  <a:pt x="190500" y="95250"/>
                </a:cubicBezTo>
                <a:cubicBezTo>
                  <a:pt x="190500" y="147820"/>
                  <a:pt x="147820" y="190500"/>
                  <a:pt x="95250" y="190500"/>
                </a:cubicBezTo>
                <a:cubicBezTo>
                  <a:pt x="42680" y="190500"/>
                  <a:pt x="0" y="147820"/>
                  <a:pt x="0" y="95250"/>
                </a:cubicBezTo>
                <a:cubicBezTo>
                  <a:pt x="0" y="42680"/>
                  <a:pt x="42680" y="0"/>
                  <a:pt x="95250" y="0"/>
                </a:cubicBezTo>
                <a:close/>
                <a:moveTo>
                  <a:pt x="86320" y="44648"/>
                </a:moveTo>
                <a:lnTo>
                  <a:pt x="86320" y="95250"/>
                </a:lnTo>
                <a:cubicBezTo>
                  <a:pt x="86320" y="98227"/>
                  <a:pt x="87809" y="101017"/>
                  <a:pt x="90301" y="102691"/>
                </a:cubicBezTo>
                <a:lnTo>
                  <a:pt x="126020" y="126504"/>
                </a:lnTo>
                <a:cubicBezTo>
                  <a:pt x="130113" y="129257"/>
                  <a:pt x="135657" y="128141"/>
                  <a:pt x="138410" y="124011"/>
                </a:cubicBezTo>
                <a:cubicBezTo>
                  <a:pt x="141163" y="119881"/>
                  <a:pt x="140047" y="114374"/>
                  <a:pt x="135917" y="111621"/>
                </a:cubicBezTo>
                <a:lnTo>
                  <a:pt x="104180" y="90488"/>
                </a:lnTo>
                <a:lnTo>
                  <a:pt x="104180" y="44648"/>
                </a:lnTo>
                <a:cubicBezTo>
                  <a:pt x="104180" y="39700"/>
                  <a:pt x="100199" y="35719"/>
                  <a:pt x="95250" y="35719"/>
                </a:cubicBezTo>
                <a:cubicBezTo>
                  <a:pt x="90301" y="35719"/>
                  <a:pt x="86320" y="39700"/>
                  <a:pt x="86320" y="44648"/>
                </a:cubicBezTo>
                <a:close/>
              </a:path>
            </a:pathLst>
          </a:custGeom>
          <a:solidFill>
            <a:srgbClr val="6366F1"/>
          </a:solidFill>
          <a:ln/>
        </p:spPr>
      </p:sp>
      <p:sp>
        <p:nvSpPr>
          <p:cNvPr id="19" name="Text 17"/>
          <p:cNvSpPr/>
          <p:nvPr/>
        </p:nvSpPr>
        <p:spPr>
          <a:xfrm>
            <a:off x="998220" y="3752850"/>
            <a:ext cx="2657475"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Works 24/7 Without Tiredness</a:t>
            </a:r>
            <a:endParaRPr lang="en-US" sz="1600" dirty="0"/>
          </a:p>
        </p:txBody>
      </p:sp>
      <p:sp>
        <p:nvSpPr>
          <p:cNvPr id="20" name="Text 18"/>
          <p:cNvSpPr/>
          <p:nvPr/>
        </p:nvSpPr>
        <p:spPr>
          <a:xfrm>
            <a:off x="502920" y="4152900"/>
            <a:ext cx="5467350"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Unlike humans, AI never needs sleep or breaks. It can work around the clock, providing consistent service and monitoring.</a:t>
            </a:r>
            <a:endParaRPr lang="en-US" sz="1600" dirty="0"/>
          </a:p>
        </p:txBody>
      </p:sp>
      <p:sp>
        <p:nvSpPr>
          <p:cNvPr id="21" name="Shape 19"/>
          <p:cNvSpPr/>
          <p:nvPr/>
        </p:nvSpPr>
        <p:spPr>
          <a:xfrm>
            <a:off x="384810" y="4812030"/>
            <a:ext cx="5627370" cy="1150620"/>
          </a:xfrm>
          <a:prstGeom prst="roundRect">
            <a:avLst>
              <a:gd name="adj" fmla="val 9934"/>
            </a:avLst>
          </a:prstGeom>
          <a:solidFill>
            <a:srgbClr val="262626"/>
          </a:solidFill>
          <a:ln w="10160">
            <a:solidFill>
              <a:srgbClr val="333333"/>
            </a:solidFill>
            <a:prstDash val="solid"/>
          </a:ln>
        </p:spPr>
      </p:sp>
      <p:sp>
        <p:nvSpPr>
          <p:cNvPr id="22" name="Shape 20"/>
          <p:cNvSpPr/>
          <p:nvPr/>
        </p:nvSpPr>
        <p:spPr>
          <a:xfrm>
            <a:off x="502920" y="4930141"/>
            <a:ext cx="381000" cy="381000"/>
          </a:xfrm>
          <a:prstGeom prst="roundRect">
            <a:avLst>
              <a:gd name="adj" fmla="val 20000"/>
            </a:avLst>
          </a:prstGeom>
          <a:solidFill>
            <a:srgbClr val="6366F1">
              <a:alpha val="20000"/>
            </a:srgbClr>
          </a:solidFill>
          <a:ln/>
        </p:spPr>
      </p:sp>
      <p:sp>
        <p:nvSpPr>
          <p:cNvPr id="23" name="Shape 21"/>
          <p:cNvSpPr/>
          <p:nvPr/>
        </p:nvSpPr>
        <p:spPr>
          <a:xfrm>
            <a:off x="574357" y="5025391"/>
            <a:ext cx="238125" cy="190500"/>
          </a:xfrm>
          <a:custGeom>
            <a:avLst/>
            <a:gdLst/>
            <a:ahLst/>
            <a:cxnLst/>
            <a:rect l="l" t="t" r="r" b="b"/>
            <a:pathLst>
              <a:path w="238125" h="190500">
                <a:moveTo>
                  <a:pt x="119063" y="5953"/>
                </a:moveTo>
                <a:cubicBezTo>
                  <a:pt x="140419" y="5953"/>
                  <a:pt x="157758" y="23292"/>
                  <a:pt x="157758" y="44648"/>
                </a:cubicBezTo>
                <a:cubicBezTo>
                  <a:pt x="157758" y="66005"/>
                  <a:pt x="140419" y="83344"/>
                  <a:pt x="119063" y="83344"/>
                </a:cubicBezTo>
                <a:cubicBezTo>
                  <a:pt x="97706" y="83344"/>
                  <a:pt x="80367" y="66005"/>
                  <a:pt x="80367" y="44648"/>
                </a:cubicBezTo>
                <a:cubicBezTo>
                  <a:pt x="80367" y="23292"/>
                  <a:pt x="97706" y="5953"/>
                  <a:pt x="119063" y="5953"/>
                </a:cubicBezTo>
                <a:close/>
                <a:moveTo>
                  <a:pt x="35719" y="32742"/>
                </a:moveTo>
                <a:cubicBezTo>
                  <a:pt x="50504" y="32742"/>
                  <a:pt x="62508" y="44746"/>
                  <a:pt x="62508" y="59531"/>
                </a:cubicBezTo>
                <a:cubicBezTo>
                  <a:pt x="62508" y="74317"/>
                  <a:pt x="50504" y="86320"/>
                  <a:pt x="35719" y="86320"/>
                </a:cubicBezTo>
                <a:cubicBezTo>
                  <a:pt x="20933" y="86320"/>
                  <a:pt x="8930" y="74317"/>
                  <a:pt x="8930" y="59531"/>
                </a:cubicBezTo>
                <a:cubicBezTo>
                  <a:pt x="8930" y="44746"/>
                  <a:pt x="20933" y="32742"/>
                  <a:pt x="35719" y="32742"/>
                </a:cubicBezTo>
                <a:close/>
                <a:moveTo>
                  <a:pt x="0" y="154781"/>
                </a:moveTo>
                <a:cubicBezTo>
                  <a:pt x="0" y="128476"/>
                  <a:pt x="21320" y="107156"/>
                  <a:pt x="47625" y="107156"/>
                </a:cubicBezTo>
                <a:cubicBezTo>
                  <a:pt x="52388" y="107156"/>
                  <a:pt x="57001" y="107863"/>
                  <a:pt x="61354" y="109165"/>
                </a:cubicBezTo>
                <a:cubicBezTo>
                  <a:pt x="49113" y="122858"/>
                  <a:pt x="41672" y="140940"/>
                  <a:pt x="41672" y="160734"/>
                </a:cubicBezTo>
                <a:lnTo>
                  <a:pt x="41672" y="166688"/>
                </a:lnTo>
                <a:cubicBezTo>
                  <a:pt x="41672" y="170929"/>
                  <a:pt x="42565" y="174947"/>
                  <a:pt x="44165" y="178594"/>
                </a:cubicBezTo>
                <a:lnTo>
                  <a:pt x="11906" y="178594"/>
                </a:lnTo>
                <a:cubicBezTo>
                  <a:pt x="5321" y="178594"/>
                  <a:pt x="0" y="173273"/>
                  <a:pt x="0" y="166688"/>
                </a:cubicBezTo>
                <a:lnTo>
                  <a:pt x="0" y="154781"/>
                </a:lnTo>
                <a:close/>
                <a:moveTo>
                  <a:pt x="193960" y="178594"/>
                </a:moveTo>
                <a:cubicBezTo>
                  <a:pt x="195560" y="174947"/>
                  <a:pt x="196453" y="170929"/>
                  <a:pt x="196453" y="166688"/>
                </a:cubicBezTo>
                <a:lnTo>
                  <a:pt x="196453" y="160734"/>
                </a:lnTo>
                <a:cubicBezTo>
                  <a:pt x="196453" y="140940"/>
                  <a:pt x="189012" y="122858"/>
                  <a:pt x="176771" y="109165"/>
                </a:cubicBezTo>
                <a:cubicBezTo>
                  <a:pt x="181124" y="107863"/>
                  <a:pt x="185738" y="107156"/>
                  <a:pt x="190500" y="107156"/>
                </a:cubicBezTo>
                <a:cubicBezTo>
                  <a:pt x="216805" y="107156"/>
                  <a:pt x="238125" y="128476"/>
                  <a:pt x="238125" y="154781"/>
                </a:cubicBezTo>
                <a:lnTo>
                  <a:pt x="238125" y="166688"/>
                </a:lnTo>
                <a:cubicBezTo>
                  <a:pt x="238125" y="173273"/>
                  <a:pt x="232804" y="178594"/>
                  <a:pt x="226219" y="178594"/>
                </a:cubicBezTo>
                <a:lnTo>
                  <a:pt x="193960" y="178594"/>
                </a:lnTo>
                <a:close/>
                <a:moveTo>
                  <a:pt x="175617" y="59531"/>
                </a:moveTo>
                <a:cubicBezTo>
                  <a:pt x="175617" y="44746"/>
                  <a:pt x="187621" y="32742"/>
                  <a:pt x="202406" y="32742"/>
                </a:cubicBezTo>
                <a:cubicBezTo>
                  <a:pt x="217192" y="32742"/>
                  <a:pt x="229195" y="44746"/>
                  <a:pt x="229195" y="59531"/>
                </a:cubicBezTo>
                <a:cubicBezTo>
                  <a:pt x="229195" y="74317"/>
                  <a:pt x="217192" y="86320"/>
                  <a:pt x="202406" y="86320"/>
                </a:cubicBezTo>
                <a:cubicBezTo>
                  <a:pt x="187621" y="86320"/>
                  <a:pt x="175617" y="74317"/>
                  <a:pt x="175617" y="59531"/>
                </a:cubicBezTo>
                <a:close/>
                <a:moveTo>
                  <a:pt x="59531" y="160734"/>
                </a:moveTo>
                <a:cubicBezTo>
                  <a:pt x="59531" y="127843"/>
                  <a:pt x="86171" y="101203"/>
                  <a:pt x="119063" y="101203"/>
                </a:cubicBezTo>
                <a:cubicBezTo>
                  <a:pt x="151954" y="101203"/>
                  <a:pt x="178594" y="127843"/>
                  <a:pt x="178594" y="160734"/>
                </a:cubicBezTo>
                <a:lnTo>
                  <a:pt x="178594" y="166688"/>
                </a:lnTo>
                <a:cubicBezTo>
                  <a:pt x="178594" y="173273"/>
                  <a:pt x="173273" y="178594"/>
                  <a:pt x="166688" y="178594"/>
                </a:cubicBezTo>
                <a:lnTo>
                  <a:pt x="71438" y="178594"/>
                </a:lnTo>
                <a:cubicBezTo>
                  <a:pt x="64852" y="178594"/>
                  <a:pt x="59531" y="173273"/>
                  <a:pt x="59531" y="166688"/>
                </a:cubicBezTo>
                <a:lnTo>
                  <a:pt x="59531" y="160734"/>
                </a:lnTo>
                <a:close/>
              </a:path>
            </a:pathLst>
          </a:custGeom>
          <a:solidFill>
            <a:srgbClr val="6366F1"/>
          </a:solidFill>
          <a:ln/>
        </p:spPr>
      </p:sp>
      <p:sp>
        <p:nvSpPr>
          <p:cNvPr id="24" name="Text 22"/>
          <p:cNvSpPr/>
          <p:nvPr/>
        </p:nvSpPr>
        <p:spPr>
          <a:xfrm>
            <a:off x="998220" y="4987291"/>
            <a:ext cx="140970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Helps Everyone</a:t>
            </a:r>
            <a:endParaRPr lang="en-US" sz="1600" dirty="0"/>
          </a:p>
        </p:txBody>
      </p:sp>
      <p:sp>
        <p:nvSpPr>
          <p:cNvPr id="25" name="Text 23"/>
          <p:cNvSpPr/>
          <p:nvPr/>
        </p:nvSpPr>
        <p:spPr>
          <a:xfrm>
            <a:off x="502920" y="5387341"/>
            <a:ext cx="5467350"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From students to doctors, farmers to bankers—AI tools are available to help people in every profession and walk of life.</a:t>
            </a:r>
            <a:endParaRPr lang="en-US" sz="1600" dirty="0"/>
          </a:p>
        </p:txBody>
      </p:sp>
      <p:sp>
        <p:nvSpPr>
          <p:cNvPr id="26" name="Shape 24"/>
          <p:cNvSpPr/>
          <p:nvPr/>
        </p:nvSpPr>
        <p:spPr>
          <a:xfrm>
            <a:off x="6176010" y="1108710"/>
            <a:ext cx="5627370" cy="1798320"/>
          </a:xfrm>
          <a:prstGeom prst="roundRect">
            <a:avLst>
              <a:gd name="adj" fmla="val 6356"/>
            </a:avLst>
          </a:prstGeom>
          <a:gradFill rotWithShape="1" flip="none">
            <a:gsLst>
              <a:gs pos="0">
                <a:srgbClr val="6366F1">
                  <a:alpha val="20000"/>
                </a:srgbClr>
              </a:gs>
              <a:gs pos="100000">
                <a:srgbClr val="6366F1">
                  <a:alpha val="5000"/>
                </a:srgbClr>
              </a:gs>
            </a:gsLst>
            <a:lin ang="2700000" scaled="1"/>
          </a:gradFill>
          <a:ln w="10160">
            <a:solidFill>
              <a:srgbClr val="6366F1"/>
            </a:solidFill>
            <a:prstDash val="solid"/>
          </a:ln>
        </p:spPr>
      </p:sp>
      <p:sp>
        <p:nvSpPr>
          <p:cNvPr id="27" name="Shape 25"/>
          <p:cNvSpPr/>
          <p:nvPr/>
        </p:nvSpPr>
        <p:spPr>
          <a:xfrm>
            <a:off x="6341745" y="1264920"/>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6366F1"/>
          </a:solidFill>
          <a:ln/>
        </p:spPr>
      </p:sp>
      <p:sp>
        <p:nvSpPr>
          <p:cNvPr id="28" name="Text 26"/>
          <p:cNvSpPr/>
          <p:nvPr/>
        </p:nvSpPr>
        <p:spPr>
          <a:xfrm>
            <a:off x="6608445" y="1226820"/>
            <a:ext cx="1809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Real-World Example</a:t>
            </a:r>
            <a:endParaRPr lang="en-US" sz="1600" dirty="0"/>
          </a:p>
        </p:txBody>
      </p:sp>
      <p:sp>
        <p:nvSpPr>
          <p:cNvPr id="29" name="Shape 27"/>
          <p:cNvSpPr/>
          <p:nvPr/>
        </p:nvSpPr>
        <p:spPr>
          <a:xfrm>
            <a:off x="6294120" y="1569720"/>
            <a:ext cx="5391150" cy="1219200"/>
          </a:xfrm>
          <a:prstGeom prst="roundRect">
            <a:avLst>
              <a:gd name="adj" fmla="val 6250"/>
            </a:avLst>
          </a:prstGeom>
          <a:solidFill>
            <a:srgbClr val="191919"/>
          </a:solidFill>
          <a:ln/>
        </p:spPr>
      </p:sp>
      <p:sp>
        <p:nvSpPr>
          <p:cNvPr id="30" name="Text 28"/>
          <p:cNvSpPr/>
          <p:nvPr/>
        </p:nvSpPr>
        <p:spPr>
          <a:xfrm>
            <a:off x="6408420" y="1684020"/>
            <a:ext cx="5248275" cy="266700"/>
          </a:xfrm>
          <a:prstGeom prst="rect">
            <a:avLst/>
          </a:prstGeom>
          <a:noFill/>
          <a:ln/>
        </p:spPr>
        <p:txBody>
          <a:bodyPr wrap="square" lIns="0" tIns="0" rIns="0" bIns="0" rtlCol="0" anchor="ctr"/>
          <a:lstStyle/>
          <a:p>
            <a:pPr>
              <a:lnSpc>
                <a:spcPct val="130000"/>
              </a:lnSpc>
            </a:pPr>
            <a:r>
              <a:rPr lang="en-US" sz="1350" b="1" dirty="0">
                <a:solidFill>
                  <a:srgbClr val="6366F1"/>
                </a:solidFill>
                <a:latin typeface="Liter" pitchFamily="34" charset="0"/>
                <a:ea typeface="Liter" pitchFamily="34" charset="-122"/>
                <a:cs typeface="Liter" pitchFamily="34" charset="-120"/>
              </a:rPr>
              <a:t>Google Maps</a:t>
            </a:r>
            <a:endParaRPr lang="en-US" sz="1600" dirty="0"/>
          </a:p>
        </p:txBody>
      </p:sp>
      <p:sp>
        <p:nvSpPr>
          <p:cNvPr id="31" name="Text 29"/>
          <p:cNvSpPr/>
          <p:nvPr/>
        </p:nvSpPr>
        <p:spPr>
          <a:xfrm>
            <a:off x="6408420" y="1988820"/>
            <a:ext cx="523875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Google Maps uses AI to analyze traffic patterns, suggest the fastest routes, and predict arrival times. It processes millions of data points in real-time to save you time every day!</a:t>
            </a:r>
            <a:endParaRPr lang="en-US" sz="1600" dirty="0"/>
          </a:p>
        </p:txBody>
      </p:sp>
      <p:sp>
        <p:nvSpPr>
          <p:cNvPr id="32" name="Shape 30"/>
          <p:cNvSpPr/>
          <p:nvPr/>
        </p:nvSpPr>
        <p:spPr>
          <a:xfrm>
            <a:off x="6176010" y="2990850"/>
            <a:ext cx="5627370" cy="1264920"/>
          </a:xfrm>
          <a:prstGeom prst="roundRect">
            <a:avLst>
              <a:gd name="adj" fmla="val 9036"/>
            </a:avLst>
          </a:prstGeom>
          <a:solidFill>
            <a:srgbClr val="262626"/>
          </a:solidFill>
          <a:ln w="10160">
            <a:solidFill>
              <a:srgbClr val="333333"/>
            </a:solidFill>
            <a:prstDash val="solid"/>
          </a:ln>
        </p:spPr>
      </p:sp>
      <p:sp>
        <p:nvSpPr>
          <p:cNvPr id="33" name="Text 31"/>
          <p:cNvSpPr/>
          <p:nvPr/>
        </p:nvSpPr>
        <p:spPr>
          <a:xfrm>
            <a:off x="6294120" y="3108960"/>
            <a:ext cx="547687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 Simple Explanation</a:t>
            </a:r>
            <a:endParaRPr lang="en-US" sz="1600" dirty="0"/>
          </a:p>
        </p:txBody>
      </p:sp>
      <p:sp>
        <p:nvSpPr>
          <p:cNvPr id="34" name="Text 32"/>
          <p:cNvSpPr/>
          <p:nvPr/>
        </p:nvSpPr>
        <p:spPr>
          <a:xfrm>
            <a:off x="6294120" y="3451860"/>
            <a:ext cx="546735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Think of AI as a super-powered helper that makes everything faster, smarter, and more efficient. It's like having a genius assistant who can process information at lightning speed!</a:t>
            </a:r>
            <a:endParaRPr lang="en-US" sz="1600" dirty="0"/>
          </a:p>
        </p:txBody>
      </p:sp>
      <p:sp>
        <p:nvSpPr>
          <p:cNvPr id="35" name="Shape 33"/>
          <p:cNvSpPr/>
          <p:nvPr/>
        </p:nvSpPr>
        <p:spPr>
          <a:xfrm>
            <a:off x="6176010" y="4339591"/>
            <a:ext cx="5627370" cy="1226820"/>
          </a:xfrm>
          <a:prstGeom prst="roundRect">
            <a:avLst>
              <a:gd name="adj" fmla="val 9317"/>
            </a:avLst>
          </a:prstGeom>
          <a:solidFill>
            <a:srgbClr val="262626"/>
          </a:solidFill>
          <a:ln w="10160">
            <a:solidFill>
              <a:srgbClr val="333333"/>
            </a:solidFill>
            <a:prstDash val="solid"/>
          </a:ln>
        </p:spPr>
      </p:sp>
      <p:sp>
        <p:nvSpPr>
          <p:cNvPr id="36" name="Shape 34"/>
          <p:cNvSpPr/>
          <p:nvPr/>
        </p:nvSpPr>
        <p:spPr>
          <a:xfrm>
            <a:off x="6317932" y="4505325"/>
            <a:ext cx="171450" cy="171450"/>
          </a:xfrm>
          <a:custGeom>
            <a:avLst/>
            <a:gdLst/>
            <a:ahLst/>
            <a:cxnLst/>
            <a:rect l="l" t="t" r="r" b="b"/>
            <a:pathLst>
              <a:path w="171450" h="171450">
                <a:moveTo>
                  <a:pt x="21431" y="21431"/>
                </a:moveTo>
                <a:cubicBezTo>
                  <a:pt x="21431" y="15504"/>
                  <a:pt x="16643" y="10716"/>
                  <a:pt x="10716" y="10716"/>
                </a:cubicBezTo>
                <a:cubicBezTo>
                  <a:pt x="4789" y="10716"/>
                  <a:pt x="0" y="15504"/>
                  <a:pt x="0" y="21431"/>
                </a:cubicBezTo>
                <a:lnTo>
                  <a:pt x="0" y="133945"/>
                </a:lnTo>
                <a:cubicBezTo>
                  <a:pt x="0" y="148746"/>
                  <a:pt x="11988" y="160734"/>
                  <a:pt x="26789" y="160734"/>
                </a:cubicBezTo>
                <a:lnTo>
                  <a:pt x="160734" y="160734"/>
                </a:lnTo>
                <a:cubicBezTo>
                  <a:pt x="166661" y="160734"/>
                  <a:pt x="171450" y="155946"/>
                  <a:pt x="171450" y="150019"/>
                </a:cubicBezTo>
                <a:cubicBezTo>
                  <a:pt x="171450" y="144092"/>
                  <a:pt x="166661" y="139303"/>
                  <a:pt x="160734" y="139303"/>
                </a:cubicBezTo>
                <a:lnTo>
                  <a:pt x="26789" y="139303"/>
                </a:lnTo>
                <a:cubicBezTo>
                  <a:pt x="23842" y="139303"/>
                  <a:pt x="21431" y="136892"/>
                  <a:pt x="21431" y="133945"/>
                </a:cubicBezTo>
                <a:lnTo>
                  <a:pt x="21431" y="21431"/>
                </a:lnTo>
                <a:close/>
                <a:moveTo>
                  <a:pt x="157587" y="50430"/>
                </a:moveTo>
                <a:cubicBezTo>
                  <a:pt x="161772" y="46245"/>
                  <a:pt x="161772" y="39447"/>
                  <a:pt x="157587" y="35261"/>
                </a:cubicBezTo>
                <a:cubicBezTo>
                  <a:pt x="153401" y="31075"/>
                  <a:pt x="146603" y="31075"/>
                  <a:pt x="142417" y="35261"/>
                </a:cubicBezTo>
                <a:lnTo>
                  <a:pt x="107156" y="70556"/>
                </a:lnTo>
                <a:lnTo>
                  <a:pt x="87935" y="51368"/>
                </a:lnTo>
                <a:cubicBezTo>
                  <a:pt x="83749" y="47182"/>
                  <a:pt x="76952" y="47182"/>
                  <a:pt x="72766" y="51368"/>
                </a:cubicBezTo>
                <a:lnTo>
                  <a:pt x="40619" y="83515"/>
                </a:lnTo>
                <a:cubicBezTo>
                  <a:pt x="36433" y="87701"/>
                  <a:pt x="36433" y="94498"/>
                  <a:pt x="40619" y="98684"/>
                </a:cubicBezTo>
                <a:cubicBezTo>
                  <a:pt x="44805" y="102870"/>
                  <a:pt x="51602" y="102870"/>
                  <a:pt x="55788" y="98684"/>
                </a:cubicBezTo>
                <a:lnTo>
                  <a:pt x="80367" y="74105"/>
                </a:lnTo>
                <a:lnTo>
                  <a:pt x="99588" y="93326"/>
                </a:lnTo>
                <a:cubicBezTo>
                  <a:pt x="103774" y="97512"/>
                  <a:pt x="110572" y="97512"/>
                  <a:pt x="114758" y="93326"/>
                </a:cubicBezTo>
                <a:lnTo>
                  <a:pt x="157620" y="50464"/>
                </a:lnTo>
                <a:close/>
              </a:path>
            </a:pathLst>
          </a:custGeom>
          <a:solidFill>
            <a:srgbClr val="6366F1"/>
          </a:solidFill>
          <a:ln/>
        </p:spPr>
      </p:sp>
      <p:sp>
        <p:nvSpPr>
          <p:cNvPr id="37" name="Text 35"/>
          <p:cNvSpPr/>
          <p:nvPr/>
        </p:nvSpPr>
        <p:spPr>
          <a:xfrm>
            <a:off x="6513195" y="4457700"/>
            <a:ext cx="525780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By The Numbers</a:t>
            </a:r>
            <a:endParaRPr lang="en-US" sz="1600" dirty="0"/>
          </a:p>
        </p:txBody>
      </p:sp>
      <p:sp>
        <p:nvSpPr>
          <p:cNvPr id="38" name="Shape 36"/>
          <p:cNvSpPr/>
          <p:nvPr/>
        </p:nvSpPr>
        <p:spPr>
          <a:xfrm>
            <a:off x="6294120" y="4800600"/>
            <a:ext cx="2638425" cy="647700"/>
          </a:xfrm>
          <a:prstGeom prst="roundRect">
            <a:avLst>
              <a:gd name="adj" fmla="val 11765"/>
            </a:avLst>
          </a:prstGeom>
          <a:solidFill>
            <a:srgbClr val="191919"/>
          </a:solidFill>
          <a:ln/>
        </p:spPr>
      </p:sp>
      <p:sp>
        <p:nvSpPr>
          <p:cNvPr id="39" name="Text 37"/>
          <p:cNvSpPr/>
          <p:nvPr/>
        </p:nvSpPr>
        <p:spPr>
          <a:xfrm>
            <a:off x="6313170" y="4876800"/>
            <a:ext cx="2600325" cy="304800"/>
          </a:xfrm>
          <a:prstGeom prst="rect">
            <a:avLst/>
          </a:prstGeom>
          <a:noFill/>
          <a:ln/>
        </p:spPr>
        <p:txBody>
          <a:bodyPr wrap="square" lIns="0" tIns="0" rIns="0" bIns="0" rtlCol="0" anchor="ctr"/>
          <a:lstStyle/>
          <a:p>
            <a:pPr algn="ctr">
              <a:lnSpc>
                <a:spcPct val="110000"/>
              </a:lnSpc>
            </a:pPr>
            <a:r>
              <a:rPr lang="en-US" sz="1800" b="1" dirty="0">
                <a:solidFill>
                  <a:srgbClr val="6366F1"/>
                </a:solidFill>
                <a:latin typeface="Liter" pitchFamily="34" charset="0"/>
                <a:ea typeface="Liter" pitchFamily="34" charset="-122"/>
                <a:cs typeface="Liter" pitchFamily="34" charset="-120"/>
              </a:rPr>
              <a:t>$200B+</a:t>
            </a:r>
            <a:endParaRPr lang="en-US" sz="1600" dirty="0"/>
          </a:p>
        </p:txBody>
      </p:sp>
      <p:sp>
        <p:nvSpPr>
          <p:cNvPr id="40" name="Text 38"/>
          <p:cNvSpPr/>
          <p:nvPr/>
        </p:nvSpPr>
        <p:spPr>
          <a:xfrm>
            <a:off x="6336982" y="5181481"/>
            <a:ext cx="2552700" cy="190500"/>
          </a:xfrm>
          <a:prstGeom prst="rect">
            <a:avLst/>
          </a:prstGeom>
          <a:noFill/>
          <a:ln/>
        </p:spPr>
        <p:txBody>
          <a:bodyPr wrap="square" lIns="0" tIns="0" rIns="0" bIns="0" rtlCol="0" anchor="ctr"/>
          <a:lstStyle/>
          <a:p>
            <a:pPr algn="ctr">
              <a:lnSpc>
                <a:spcPct val="120000"/>
              </a:lnSpc>
            </a:pPr>
            <a:r>
              <a:rPr lang="en-US" sz="1050" dirty="0">
                <a:solidFill>
                  <a:srgbClr val="8F8F8F"/>
                </a:solidFill>
                <a:latin typeface="Liter" pitchFamily="34" charset="0"/>
                <a:ea typeface="Liter" pitchFamily="34" charset="-122"/>
                <a:cs typeface="Liter" pitchFamily="34" charset="-120"/>
              </a:rPr>
              <a:t>AI Investment (2025)</a:t>
            </a:r>
            <a:endParaRPr lang="en-US" sz="1600" dirty="0"/>
          </a:p>
        </p:txBody>
      </p:sp>
      <p:sp>
        <p:nvSpPr>
          <p:cNvPr id="41" name="Shape 39"/>
          <p:cNvSpPr/>
          <p:nvPr/>
        </p:nvSpPr>
        <p:spPr>
          <a:xfrm>
            <a:off x="9048750" y="4800600"/>
            <a:ext cx="2638425" cy="647700"/>
          </a:xfrm>
          <a:prstGeom prst="roundRect">
            <a:avLst>
              <a:gd name="adj" fmla="val 11765"/>
            </a:avLst>
          </a:prstGeom>
          <a:solidFill>
            <a:srgbClr val="191919"/>
          </a:solidFill>
          <a:ln/>
        </p:spPr>
      </p:sp>
      <p:sp>
        <p:nvSpPr>
          <p:cNvPr id="42" name="Text 40"/>
          <p:cNvSpPr/>
          <p:nvPr/>
        </p:nvSpPr>
        <p:spPr>
          <a:xfrm>
            <a:off x="9067800" y="4876800"/>
            <a:ext cx="2600325" cy="304800"/>
          </a:xfrm>
          <a:prstGeom prst="rect">
            <a:avLst/>
          </a:prstGeom>
          <a:noFill/>
          <a:ln/>
        </p:spPr>
        <p:txBody>
          <a:bodyPr wrap="square" lIns="0" tIns="0" rIns="0" bIns="0" rtlCol="0" anchor="ctr"/>
          <a:lstStyle/>
          <a:p>
            <a:pPr algn="ctr">
              <a:lnSpc>
                <a:spcPct val="110000"/>
              </a:lnSpc>
            </a:pPr>
            <a:r>
              <a:rPr lang="en-US" sz="1800" b="1" dirty="0">
                <a:solidFill>
                  <a:srgbClr val="6366F1"/>
                </a:solidFill>
                <a:latin typeface="Liter" pitchFamily="34" charset="0"/>
                <a:ea typeface="Liter" pitchFamily="34" charset="-122"/>
                <a:cs typeface="Liter" pitchFamily="34" charset="-120"/>
              </a:rPr>
              <a:t>77%</a:t>
            </a:r>
            <a:endParaRPr lang="en-US" sz="1600" dirty="0"/>
          </a:p>
        </p:txBody>
      </p:sp>
      <p:sp>
        <p:nvSpPr>
          <p:cNvPr id="43" name="Text 41"/>
          <p:cNvSpPr/>
          <p:nvPr/>
        </p:nvSpPr>
        <p:spPr>
          <a:xfrm>
            <a:off x="9091613" y="5181481"/>
            <a:ext cx="2552700" cy="190500"/>
          </a:xfrm>
          <a:prstGeom prst="rect">
            <a:avLst/>
          </a:prstGeom>
          <a:noFill/>
          <a:ln/>
        </p:spPr>
        <p:txBody>
          <a:bodyPr wrap="square" lIns="0" tIns="0" rIns="0" bIns="0" rtlCol="0" anchor="ctr"/>
          <a:lstStyle/>
          <a:p>
            <a:pPr algn="ctr">
              <a:lnSpc>
                <a:spcPct val="120000"/>
              </a:lnSpc>
            </a:pPr>
            <a:r>
              <a:rPr lang="en-US" sz="1050" dirty="0">
                <a:solidFill>
                  <a:srgbClr val="8F8F8F"/>
                </a:solidFill>
                <a:latin typeface="Liter" pitchFamily="34" charset="0"/>
                <a:ea typeface="Liter" pitchFamily="34" charset="-122"/>
                <a:cs typeface="Liter" pitchFamily="34" charset="-120"/>
              </a:rPr>
              <a:t>People Use AI Daily</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91919"/>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6366F1">
              <a:alpha val="20000"/>
            </a:srgbClr>
          </a:solidFill>
          <a:ln/>
        </p:spPr>
      </p:sp>
      <p:sp>
        <p:nvSpPr>
          <p:cNvPr id="3" name="Text 1"/>
          <p:cNvSpPr/>
          <p:nvPr/>
        </p:nvSpPr>
        <p:spPr>
          <a:xfrm>
            <a:off x="492562" y="533400"/>
            <a:ext cx="333375" cy="266700"/>
          </a:xfrm>
          <a:prstGeom prst="rect">
            <a:avLst/>
          </a:prstGeom>
          <a:noFill/>
          <a:ln/>
        </p:spPr>
        <p:txBody>
          <a:bodyPr wrap="square" lIns="0" tIns="0" rIns="0" bIns="0" rtlCol="0" anchor="ctr"/>
          <a:lstStyle/>
          <a:p>
            <a:pPr>
              <a:lnSpc>
                <a:spcPct val="120000"/>
              </a:lnSpc>
            </a:pPr>
            <a:r>
              <a:rPr lang="en-US" sz="1500" b="1" dirty="0">
                <a:solidFill>
                  <a:srgbClr val="6366F1"/>
                </a:solidFill>
                <a:latin typeface="Liter" pitchFamily="34" charset="0"/>
                <a:ea typeface="Liter" pitchFamily="34" charset="-122"/>
                <a:cs typeface="Liter" pitchFamily="34" charset="-120"/>
              </a:rPr>
              <a:t>03</a:t>
            </a:r>
            <a:endParaRPr lang="en-US" sz="1600" dirty="0"/>
          </a:p>
        </p:txBody>
      </p:sp>
      <p:sp>
        <p:nvSpPr>
          <p:cNvPr id="4" name="Text 2"/>
          <p:cNvSpPr/>
          <p:nvPr/>
        </p:nvSpPr>
        <p:spPr>
          <a:xfrm>
            <a:off x="952500" y="381000"/>
            <a:ext cx="5953125" cy="190500"/>
          </a:xfrm>
          <a:prstGeom prst="rect">
            <a:avLst/>
          </a:prstGeom>
          <a:noFill/>
          <a:ln/>
        </p:spPr>
        <p:txBody>
          <a:bodyPr wrap="square" lIns="0" tIns="0" rIns="0" bIns="0" rtlCol="0" anchor="ctr"/>
          <a:lstStyle/>
          <a:p>
            <a:pPr>
              <a:lnSpc>
                <a:spcPct val="120000"/>
              </a:lnSpc>
            </a:pPr>
            <a:r>
              <a:rPr lang="en-US" sz="1050" b="1" spc="53" kern="0" dirty="0">
                <a:solidFill>
                  <a:srgbClr val="6366F1"/>
                </a:solidFill>
                <a:latin typeface="Liter" pitchFamily="34" charset="0"/>
                <a:ea typeface="Liter" pitchFamily="34" charset="-122"/>
                <a:cs typeface="Liter" pitchFamily="34" charset="-120"/>
              </a:rPr>
              <a:t>Introduction to AI</a:t>
            </a:r>
            <a:endParaRPr lang="en-US" sz="1600" dirty="0"/>
          </a:p>
        </p:txBody>
      </p:sp>
      <p:sp>
        <p:nvSpPr>
          <p:cNvPr id="5" name="Text 3"/>
          <p:cNvSpPr/>
          <p:nvPr/>
        </p:nvSpPr>
        <p:spPr>
          <a:xfrm>
            <a:off x="952500" y="571500"/>
            <a:ext cx="605790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Everyday AI Examples You Already Use</a:t>
            </a:r>
            <a:endParaRPr lang="en-US" sz="1600" dirty="0"/>
          </a:p>
        </p:txBody>
      </p:sp>
      <p:sp>
        <p:nvSpPr>
          <p:cNvPr id="6" name="Shape 4"/>
          <p:cNvSpPr/>
          <p:nvPr/>
        </p:nvSpPr>
        <p:spPr>
          <a:xfrm>
            <a:off x="384810" y="1108710"/>
            <a:ext cx="3341370" cy="1731645"/>
          </a:xfrm>
          <a:prstGeom prst="roundRect">
            <a:avLst>
              <a:gd name="adj" fmla="val 6601"/>
            </a:avLst>
          </a:prstGeom>
          <a:solidFill>
            <a:srgbClr val="262626"/>
          </a:solidFill>
          <a:ln w="10160">
            <a:solidFill>
              <a:srgbClr val="333333"/>
            </a:solidFill>
            <a:prstDash val="solid"/>
          </a:ln>
        </p:spPr>
      </p:sp>
      <p:sp>
        <p:nvSpPr>
          <p:cNvPr id="7" name="Shape 5"/>
          <p:cNvSpPr/>
          <p:nvPr/>
        </p:nvSpPr>
        <p:spPr>
          <a:xfrm>
            <a:off x="464820" y="1188720"/>
            <a:ext cx="304800" cy="304800"/>
          </a:xfrm>
          <a:prstGeom prst="roundRect">
            <a:avLst>
              <a:gd name="adj" fmla="val 25000"/>
            </a:avLst>
          </a:prstGeom>
          <a:solidFill>
            <a:srgbClr val="FB2C36">
              <a:alpha val="20000"/>
            </a:srgbClr>
          </a:solidFill>
          <a:ln/>
        </p:spPr>
      </p:sp>
      <p:sp>
        <p:nvSpPr>
          <p:cNvPr id="8" name="Shape 6"/>
          <p:cNvSpPr/>
          <p:nvPr/>
        </p:nvSpPr>
        <p:spPr>
          <a:xfrm>
            <a:off x="550545" y="1264920"/>
            <a:ext cx="133350" cy="152400"/>
          </a:xfrm>
          <a:custGeom>
            <a:avLst/>
            <a:gdLst/>
            <a:ahLst/>
            <a:cxnLst/>
            <a:rect l="l" t="t" r="r" b="b"/>
            <a:pathLst>
              <a:path w="133350" h="152400">
                <a:moveTo>
                  <a:pt x="27146" y="10984"/>
                </a:moveTo>
                <a:cubicBezTo>
                  <a:pt x="23455" y="8959"/>
                  <a:pt x="18990" y="9049"/>
                  <a:pt x="15359" y="11192"/>
                </a:cubicBezTo>
                <a:cubicBezTo>
                  <a:pt x="11728" y="13335"/>
                  <a:pt x="9525" y="17234"/>
                  <a:pt x="9525" y="21431"/>
                </a:cubicBezTo>
                <a:lnTo>
                  <a:pt x="9525" y="130969"/>
                </a:lnTo>
                <a:cubicBezTo>
                  <a:pt x="9525" y="135166"/>
                  <a:pt x="11757" y="139065"/>
                  <a:pt x="15359" y="141208"/>
                </a:cubicBezTo>
                <a:cubicBezTo>
                  <a:pt x="18961" y="143351"/>
                  <a:pt x="23455" y="143441"/>
                  <a:pt x="27146" y="141416"/>
                </a:cubicBezTo>
                <a:lnTo>
                  <a:pt x="127159" y="86648"/>
                </a:lnTo>
                <a:cubicBezTo>
                  <a:pt x="130969" y="84564"/>
                  <a:pt x="133350" y="80546"/>
                  <a:pt x="133350" y="76200"/>
                </a:cubicBezTo>
                <a:cubicBezTo>
                  <a:pt x="133350" y="71854"/>
                  <a:pt x="130969" y="67836"/>
                  <a:pt x="127159" y="65752"/>
                </a:cubicBezTo>
                <a:lnTo>
                  <a:pt x="27146" y="10984"/>
                </a:lnTo>
                <a:close/>
              </a:path>
            </a:pathLst>
          </a:custGeom>
          <a:solidFill>
            <a:srgbClr val="FB2C36"/>
          </a:solidFill>
          <a:ln/>
        </p:spPr>
      </p:sp>
      <p:sp>
        <p:nvSpPr>
          <p:cNvPr id="9" name="Text 7"/>
          <p:cNvSpPr/>
          <p:nvPr/>
        </p:nvSpPr>
        <p:spPr>
          <a:xfrm>
            <a:off x="845820" y="1207770"/>
            <a:ext cx="5905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Netflix</a:t>
            </a:r>
            <a:endParaRPr lang="en-US" sz="1600" dirty="0"/>
          </a:p>
        </p:txBody>
      </p:sp>
      <p:sp>
        <p:nvSpPr>
          <p:cNvPr id="10" name="Text 8"/>
          <p:cNvSpPr/>
          <p:nvPr/>
        </p:nvSpPr>
        <p:spPr>
          <a:xfrm>
            <a:off x="464820" y="1531620"/>
            <a:ext cx="3257550" cy="885825"/>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Suggests movies based on what you watched before</a:t>
            </a:r>
            <a:endParaRPr lang="en-US" sz="1600" dirty="0"/>
          </a:p>
        </p:txBody>
      </p:sp>
      <p:sp>
        <p:nvSpPr>
          <p:cNvPr id="11" name="Shape 9"/>
          <p:cNvSpPr/>
          <p:nvPr/>
        </p:nvSpPr>
        <p:spPr>
          <a:xfrm>
            <a:off x="464820" y="2456141"/>
            <a:ext cx="3181350" cy="304800"/>
          </a:xfrm>
          <a:prstGeom prst="roundRect">
            <a:avLst>
              <a:gd name="adj" fmla="val 12500"/>
            </a:avLst>
          </a:prstGeom>
          <a:solidFill>
            <a:srgbClr val="191919"/>
          </a:solidFill>
          <a:ln/>
        </p:spPr>
      </p:sp>
      <p:sp>
        <p:nvSpPr>
          <p:cNvPr id="12" name="Text 10"/>
          <p:cNvSpPr/>
          <p:nvPr/>
        </p:nvSpPr>
        <p:spPr>
          <a:xfrm>
            <a:off x="521970" y="2513291"/>
            <a:ext cx="31337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AI learns your preferences!</a:t>
            </a:r>
            <a:endParaRPr lang="en-US" sz="1600" dirty="0"/>
          </a:p>
        </p:txBody>
      </p:sp>
      <p:sp>
        <p:nvSpPr>
          <p:cNvPr id="13" name="Shape 11"/>
          <p:cNvSpPr/>
          <p:nvPr/>
        </p:nvSpPr>
        <p:spPr>
          <a:xfrm>
            <a:off x="3806190" y="1108710"/>
            <a:ext cx="3341370" cy="1731645"/>
          </a:xfrm>
          <a:prstGeom prst="roundRect">
            <a:avLst>
              <a:gd name="adj" fmla="val 6601"/>
            </a:avLst>
          </a:prstGeom>
          <a:solidFill>
            <a:srgbClr val="262626"/>
          </a:solidFill>
          <a:ln w="10160">
            <a:solidFill>
              <a:srgbClr val="333333"/>
            </a:solidFill>
            <a:prstDash val="solid"/>
          </a:ln>
        </p:spPr>
      </p:sp>
      <p:sp>
        <p:nvSpPr>
          <p:cNvPr id="14" name="Shape 12"/>
          <p:cNvSpPr/>
          <p:nvPr/>
        </p:nvSpPr>
        <p:spPr>
          <a:xfrm>
            <a:off x="3886200" y="1188720"/>
            <a:ext cx="304800" cy="304800"/>
          </a:xfrm>
          <a:prstGeom prst="roundRect">
            <a:avLst>
              <a:gd name="adj" fmla="val 25000"/>
            </a:avLst>
          </a:prstGeom>
          <a:solidFill>
            <a:srgbClr val="2B7FFF">
              <a:alpha val="20000"/>
            </a:srgbClr>
          </a:solidFill>
          <a:ln/>
        </p:spPr>
      </p:sp>
      <p:sp>
        <p:nvSpPr>
          <p:cNvPr id="15" name="Shape 13"/>
          <p:cNvSpPr/>
          <p:nvPr/>
        </p:nvSpPr>
        <p:spPr>
          <a:xfrm>
            <a:off x="3962400" y="1264920"/>
            <a:ext cx="152400" cy="152400"/>
          </a:xfrm>
          <a:custGeom>
            <a:avLst/>
            <a:gdLst/>
            <a:ahLst/>
            <a:cxnLst/>
            <a:rect l="l" t="t" r="r" b="b"/>
            <a:pathLst>
              <a:path w="152400" h="152400">
                <a:moveTo>
                  <a:pt x="148828" y="77926"/>
                </a:moveTo>
                <a:cubicBezTo>
                  <a:pt x="148828" y="120045"/>
                  <a:pt x="119985" y="150019"/>
                  <a:pt x="77391" y="150019"/>
                </a:cubicBezTo>
                <a:cubicBezTo>
                  <a:pt x="36552" y="150019"/>
                  <a:pt x="3572" y="117038"/>
                  <a:pt x="3572" y="76200"/>
                </a:cubicBezTo>
                <a:cubicBezTo>
                  <a:pt x="3572" y="35362"/>
                  <a:pt x="36552" y="2381"/>
                  <a:pt x="77391" y="2381"/>
                </a:cubicBezTo>
                <a:cubicBezTo>
                  <a:pt x="97274" y="2381"/>
                  <a:pt x="114002" y="9674"/>
                  <a:pt x="126891" y="21699"/>
                </a:cubicBezTo>
                <a:lnTo>
                  <a:pt x="106799" y="41017"/>
                </a:lnTo>
                <a:cubicBezTo>
                  <a:pt x="80516" y="15657"/>
                  <a:pt x="31641" y="34707"/>
                  <a:pt x="31641" y="76200"/>
                </a:cubicBezTo>
                <a:cubicBezTo>
                  <a:pt x="31641" y="101947"/>
                  <a:pt x="52209" y="122813"/>
                  <a:pt x="77391" y="122813"/>
                </a:cubicBezTo>
                <a:cubicBezTo>
                  <a:pt x="106620" y="122813"/>
                  <a:pt x="117574" y="101858"/>
                  <a:pt x="119301" y="90994"/>
                </a:cubicBezTo>
                <a:lnTo>
                  <a:pt x="77391" y="90994"/>
                </a:lnTo>
                <a:lnTo>
                  <a:pt x="77391" y="65603"/>
                </a:lnTo>
                <a:lnTo>
                  <a:pt x="147667" y="65603"/>
                </a:lnTo>
                <a:cubicBezTo>
                  <a:pt x="148352" y="69384"/>
                  <a:pt x="148828" y="73015"/>
                  <a:pt x="148828" y="77926"/>
                </a:cubicBezTo>
                <a:close/>
              </a:path>
            </a:pathLst>
          </a:custGeom>
          <a:solidFill>
            <a:srgbClr val="2B7FFF"/>
          </a:solidFill>
          <a:ln/>
        </p:spPr>
      </p:sp>
      <p:sp>
        <p:nvSpPr>
          <p:cNvPr id="16" name="Text 14"/>
          <p:cNvSpPr/>
          <p:nvPr/>
        </p:nvSpPr>
        <p:spPr>
          <a:xfrm>
            <a:off x="4267200" y="1207770"/>
            <a:ext cx="11906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Google Search</a:t>
            </a:r>
            <a:endParaRPr lang="en-US" sz="1600" dirty="0"/>
          </a:p>
        </p:txBody>
      </p:sp>
      <p:sp>
        <p:nvSpPr>
          <p:cNvPr id="17" name="Text 15"/>
          <p:cNvSpPr/>
          <p:nvPr/>
        </p:nvSpPr>
        <p:spPr>
          <a:xfrm>
            <a:off x="3886200" y="1531620"/>
            <a:ext cx="3257550" cy="885825"/>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Understands your questions and finds best answers</a:t>
            </a:r>
            <a:endParaRPr lang="en-US" sz="1600" dirty="0"/>
          </a:p>
        </p:txBody>
      </p:sp>
      <p:sp>
        <p:nvSpPr>
          <p:cNvPr id="18" name="Shape 16"/>
          <p:cNvSpPr/>
          <p:nvPr/>
        </p:nvSpPr>
        <p:spPr>
          <a:xfrm>
            <a:off x="3886200" y="2456141"/>
            <a:ext cx="3181350" cy="304800"/>
          </a:xfrm>
          <a:prstGeom prst="roundRect">
            <a:avLst>
              <a:gd name="adj" fmla="val 12500"/>
            </a:avLst>
          </a:prstGeom>
          <a:solidFill>
            <a:srgbClr val="191919"/>
          </a:solidFill>
          <a:ln/>
        </p:spPr>
      </p:sp>
      <p:sp>
        <p:nvSpPr>
          <p:cNvPr id="19" name="Text 17"/>
          <p:cNvSpPr/>
          <p:nvPr/>
        </p:nvSpPr>
        <p:spPr>
          <a:xfrm>
            <a:off x="3943350" y="2513291"/>
            <a:ext cx="31337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AI understands language!</a:t>
            </a:r>
            <a:endParaRPr lang="en-US" sz="1600" dirty="0"/>
          </a:p>
        </p:txBody>
      </p:sp>
      <p:sp>
        <p:nvSpPr>
          <p:cNvPr id="20" name="Shape 18"/>
          <p:cNvSpPr/>
          <p:nvPr/>
        </p:nvSpPr>
        <p:spPr>
          <a:xfrm>
            <a:off x="384810" y="2924771"/>
            <a:ext cx="3341370" cy="1731645"/>
          </a:xfrm>
          <a:prstGeom prst="roundRect">
            <a:avLst>
              <a:gd name="adj" fmla="val 6601"/>
            </a:avLst>
          </a:prstGeom>
          <a:solidFill>
            <a:srgbClr val="262626"/>
          </a:solidFill>
          <a:ln w="10160">
            <a:solidFill>
              <a:srgbClr val="333333"/>
            </a:solidFill>
            <a:prstDash val="solid"/>
          </a:ln>
        </p:spPr>
      </p:sp>
      <p:sp>
        <p:nvSpPr>
          <p:cNvPr id="21" name="Shape 19"/>
          <p:cNvSpPr/>
          <p:nvPr/>
        </p:nvSpPr>
        <p:spPr>
          <a:xfrm>
            <a:off x="464820" y="3004782"/>
            <a:ext cx="304800" cy="304800"/>
          </a:xfrm>
          <a:prstGeom prst="roundRect">
            <a:avLst>
              <a:gd name="adj" fmla="val 25000"/>
            </a:avLst>
          </a:prstGeom>
          <a:solidFill>
            <a:srgbClr val="00C950">
              <a:alpha val="20000"/>
            </a:srgbClr>
          </a:solidFill>
          <a:ln/>
        </p:spPr>
      </p:sp>
      <p:sp>
        <p:nvSpPr>
          <p:cNvPr id="22" name="Shape 20"/>
          <p:cNvSpPr/>
          <p:nvPr/>
        </p:nvSpPr>
        <p:spPr>
          <a:xfrm>
            <a:off x="541020" y="3080982"/>
            <a:ext cx="152400" cy="152400"/>
          </a:xfrm>
          <a:custGeom>
            <a:avLst/>
            <a:gdLst/>
            <a:ahLst/>
            <a:cxnLst/>
            <a:rect l="l" t="t" r="r" b="b"/>
            <a:pathLst>
              <a:path w="152400" h="152400">
                <a:moveTo>
                  <a:pt x="76200" y="0"/>
                </a:moveTo>
                <a:cubicBezTo>
                  <a:pt x="77569" y="0"/>
                  <a:pt x="78938" y="298"/>
                  <a:pt x="80189" y="863"/>
                </a:cubicBezTo>
                <a:lnTo>
                  <a:pt x="136267" y="24646"/>
                </a:lnTo>
                <a:cubicBezTo>
                  <a:pt x="142815" y="27414"/>
                  <a:pt x="147697" y="33873"/>
                  <a:pt x="147667" y="41672"/>
                </a:cubicBezTo>
                <a:cubicBezTo>
                  <a:pt x="147518" y="71199"/>
                  <a:pt x="135374" y="125224"/>
                  <a:pt x="84088" y="149781"/>
                </a:cubicBezTo>
                <a:cubicBezTo>
                  <a:pt x="79117" y="152162"/>
                  <a:pt x="73343" y="152162"/>
                  <a:pt x="68372" y="149781"/>
                </a:cubicBezTo>
                <a:cubicBezTo>
                  <a:pt x="17056" y="125224"/>
                  <a:pt x="4941" y="71199"/>
                  <a:pt x="4792" y="41672"/>
                </a:cubicBezTo>
                <a:cubicBezTo>
                  <a:pt x="4762" y="33873"/>
                  <a:pt x="9644" y="27414"/>
                  <a:pt x="16192" y="24646"/>
                </a:cubicBezTo>
                <a:lnTo>
                  <a:pt x="72241" y="863"/>
                </a:lnTo>
                <a:cubicBezTo>
                  <a:pt x="73491" y="298"/>
                  <a:pt x="74831" y="0"/>
                  <a:pt x="76200" y="0"/>
                </a:cubicBezTo>
                <a:close/>
                <a:moveTo>
                  <a:pt x="76200" y="19883"/>
                </a:moveTo>
                <a:lnTo>
                  <a:pt x="76200" y="132427"/>
                </a:lnTo>
                <a:cubicBezTo>
                  <a:pt x="117277" y="112544"/>
                  <a:pt x="128320" y="68491"/>
                  <a:pt x="128588" y="42118"/>
                </a:cubicBezTo>
                <a:lnTo>
                  <a:pt x="76200" y="19913"/>
                </a:lnTo>
                <a:lnTo>
                  <a:pt x="76200" y="19913"/>
                </a:lnTo>
                <a:close/>
              </a:path>
            </a:pathLst>
          </a:custGeom>
          <a:solidFill>
            <a:srgbClr val="00C950"/>
          </a:solidFill>
          <a:ln/>
        </p:spPr>
      </p:sp>
      <p:sp>
        <p:nvSpPr>
          <p:cNvPr id="23" name="Text 21"/>
          <p:cNvSpPr/>
          <p:nvPr/>
        </p:nvSpPr>
        <p:spPr>
          <a:xfrm>
            <a:off x="845820" y="3023832"/>
            <a:ext cx="102870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Spam Filters</a:t>
            </a:r>
            <a:endParaRPr lang="en-US" sz="1600" dirty="0"/>
          </a:p>
        </p:txBody>
      </p:sp>
      <p:sp>
        <p:nvSpPr>
          <p:cNvPr id="24" name="Text 22"/>
          <p:cNvSpPr/>
          <p:nvPr/>
        </p:nvSpPr>
        <p:spPr>
          <a:xfrm>
            <a:off x="464820" y="3347682"/>
            <a:ext cx="3257550" cy="885825"/>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Blocks junk emails by learning what looks suspicious</a:t>
            </a:r>
            <a:endParaRPr lang="en-US" sz="1600" dirty="0"/>
          </a:p>
        </p:txBody>
      </p:sp>
      <p:sp>
        <p:nvSpPr>
          <p:cNvPr id="25" name="Shape 23"/>
          <p:cNvSpPr/>
          <p:nvPr/>
        </p:nvSpPr>
        <p:spPr>
          <a:xfrm>
            <a:off x="464820" y="4272202"/>
            <a:ext cx="3181350" cy="304800"/>
          </a:xfrm>
          <a:prstGeom prst="roundRect">
            <a:avLst>
              <a:gd name="adj" fmla="val 12500"/>
            </a:avLst>
          </a:prstGeom>
          <a:solidFill>
            <a:srgbClr val="191919"/>
          </a:solidFill>
          <a:ln/>
        </p:spPr>
      </p:sp>
      <p:sp>
        <p:nvSpPr>
          <p:cNvPr id="26" name="Text 24"/>
          <p:cNvSpPr/>
          <p:nvPr/>
        </p:nvSpPr>
        <p:spPr>
          <a:xfrm>
            <a:off x="521970" y="4329352"/>
            <a:ext cx="31337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AI detects patterns!</a:t>
            </a:r>
            <a:endParaRPr lang="en-US" sz="1600" dirty="0"/>
          </a:p>
        </p:txBody>
      </p:sp>
      <p:sp>
        <p:nvSpPr>
          <p:cNvPr id="27" name="Shape 25"/>
          <p:cNvSpPr/>
          <p:nvPr/>
        </p:nvSpPr>
        <p:spPr>
          <a:xfrm>
            <a:off x="3806190" y="2924771"/>
            <a:ext cx="3341370" cy="1731645"/>
          </a:xfrm>
          <a:prstGeom prst="roundRect">
            <a:avLst>
              <a:gd name="adj" fmla="val 6601"/>
            </a:avLst>
          </a:prstGeom>
          <a:solidFill>
            <a:srgbClr val="262626"/>
          </a:solidFill>
          <a:ln w="10160">
            <a:solidFill>
              <a:srgbClr val="333333"/>
            </a:solidFill>
            <a:prstDash val="solid"/>
          </a:ln>
        </p:spPr>
      </p:sp>
      <p:sp>
        <p:nvSpPr>
          <p:cNvPr id="28" name="Shape 26"/>
          <p:cNvSpPr/>
          <p:nvPr/>
        </p:nvSpPr>
        <p:spPr>
          <a:xfrm>
            <a:off x="3886200" y="3004782"/>
            <a:ext cx="304800" cy="304800"/>
          </a:xfrm>
          <a:prstGeom prst="roundRect">
            <a:avLst>
              <a:gd name="adj" fmla="val 25000"/>
            </a:avLst>
          </a:prstGeom>
          <a:solidFill>
            <a:srgbClr val="AD46FF">
              <a:alpha val="20000"/>
            </a:srgbClr>
          </a:solidFill>
          <a:ln/>
        </p:spPr>
      </p:sp>
      <p:sp>
        <p:nvSpPr>
          <p:cNvPr id="29" name="Shape 27"/>
          <p:cNvSpPr/>
          <p:nvPr/>
        </p:nvSpPr>
        <p:spPr>
          <a:xfrm>
            <a:off x="3962400" y="3080982"/>
            <a:ext cx="152400" cy="152400"/>
          </a:xfrm>
          <a:custGeom>
            <a:avLst/>
            <a:gdLst/>
            <a:ahLst/>
            <a:cxnLst/>
            <a:rect l="l" t="t" r="r" b="b"/>
            <a:pathLst>
              <a:path w="152400" h="152400">
                <a:moveTo>
                  <a:pt x="44381" y="19288"/>
                </a:moveTo>
                <a:lnTo>
                  <a:pt x="41285" y="28575"/>
                </a:lnTo>
                <a:lnTo>
                  <a:pt x="19050" y="28575"/>
                </a:lnTo>
                <a:cubicBezTo>
                  <a:pt x="8543" y="28575"/>
                  <a:pt x="0" y="37118"/>
                  <a:pt x="0" y="47625"/>
                </a:cubicBezTo>
                <a:lnTo>
                  <a:pt x="0" y="123825"/>
                </a:lnTo>
                <a:cubicBezTo>
                  <a:pt x="0" y="134332"/>
                  <a:pt x="8543" y="142875"/>
                  <a:pt x="19050" y="142875"/>
                </a:cubicBezTo>
                <a:lnTo>
                  <a:pt x="133350" y="142875"/>
                </a:lnTo>
                <a:cubicBezTo>
                  <a:pt x="143857" y="142875"/>
                  <a:pt x="152400" y="134332"/>
                  <a:pt x="152400" y="123825"/>
                </a:cubicBezTo>
                <a:lnTo>
                  <a:pt x="152400" y="47625"/>
                </a:lnTo>
                <a:cubicBezTo>
                  <a:pt x="152400" y="37118"/>
                  <a:pt x="143857" y="28575"/>
                  <a:pt x="133350" y="28575"/>
                </a:cubicBezTo>
                <a:lnTo>
                  <a:pt x="111115" y="28575"/>
                </a:lnTo>
                <a:lnTo>
                  <a:pt x="108019" y="19288"/>
                </a:lnTo>
                <a:cubicBezTo>
                  <a:pt x="106085" y="13454"/>
                  <a:pt x="100638" y="9525"/>
                  <a:pt x="94476" y="9525"/>
                </a:cubicBezTo>
                <a:lnTo>
                  <a:pt x="57924" y="9525"/>
                </a:lnTo>
                <a:cubicBezTo>
                  <a:pt x="51762" y="9525"/>
                  <a:pt x="46315" y="13454"/>
                  <a:pt x="44381" y="19288"/>
                </a:cubicBezTo>
                <a:close/>
                <a:moveTo>
                  <a:pt x="76200" y="57150"/>
                </a:moveTo>
                <a:cubicBezTo>
                  <a:pt x="91971" y="57150"/>
                  <a:pt x="104775" y="69954"/>
                  <a:pt x="104775" y="85725"/>
                </a:cubicBezTo>
                <a:cubicBezTo>
                  <a:pt x="104775" y="101496"/>
                  <a:pt x="91971" y="114300"/>
                  <a:pt x="76200" y="114300"/>
                </a:cubicBezTo>
                <a:cubicBezTo>
                  <a:pt x="60429" y="114300"/>
                  <a:pt x="47625" y="101496"/>
                  <a:pt x="47625" y="85725"/>
                </a:cubicBezTo>
                <a:cubicBezTo>
                  <a:pt x="47625" y="69954"/>
                  <a:pt x="60429" y="57150"/>
                  <a:pt x="76200" y="57150"/>
                </a:cubicBezTo>
                <a:close/>
              </a:path>
            </a:pathLst>
          </a:custGeom>
          <a:solidFill>
            <a:srgbClr val="AD46FF"/>
          </a:solidFill>
          <a:ln/>
        </p:spPr>
      </p:sp>
      <p:sp>
        <p:nvSpPr>
          <p:cNvPr id="30" name="Text 28"/>
          <p:cNvSpPr/>
          <p:nvPr/>
        </p:nvSpPr>
        <p:spPr>
          <a:xfrm>
            <a:off x="4267200" y="3023832"/>
            <a:ext cx="64770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Face ID</a:t>
            </a:r>
            <a:endParaRPr lang="en-US" sz="1600" dirty="0"/>
          </a:p>
        </p:txBody>
      </p:sp>
      <p:sp>
        <p:nvSpPr>
          <p:cNvPr id="31" name="Text 29"/>
          <p:cNvSpPr/>
          <p:nvPr/>
        </p:nvSpPr>
        <p:spPr>
          <a:xfrm>
            <a:off x="3886200" y="3347682"/>
            <a:ext cx="3257550" cy="885825"/>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Recognizes your face to unlock your phone</a:t>
            </a:r>
            <a:endParaRPr lang="en-US" sz="1600" dirty="0"/>
          </a:p>
        </p:txBody>
      </p:sp>
      <p:sp>
        <p:nvSpPr>
          <p:cNvPr id="32" name="Shape 30"/>
          <p:cNvSpPr/>
          <p:nvPr/>
        </p:nvSpPr>
        <p:spPr>
          <a:xfrm>
            <a:off x="3886200" y="4272202"/>
            <a:ext cx="3181350" cy="304800"/>
          </a:xfrm>
          <a:prstGeom prst="roundRect">
            <a:avLst>
              <a:gd name="adj" fmla="val 12500"/>
            </a:avLst>
          </a:prstGeom>
          <a:solidFill>
            <a:srgbClr val="191919"/>
          </a:solidFill>
          <a:ln/>
        </p:spPr>
      </p:sp>
      <p:sp>
        <p:nvSpPr>
          <p:cNvPr id="33" name="Text 31"/>
          <p:cNvSpPr/>
          <p:nvPr/>
        </p:nvSpPr>
        <p:spPr>
          <a:xfrm>
            <a:off x="3943350" y="4329352"/>
            <a:ext cx="31337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AI sees and recognizes!</a:t>
            </a:r>
            <a:endParaRPr lang="en-US" sz="1600" dirty="0"/>
          </a:p>
        </p:txBody>
      </p:sp>
      <p:sp>
        <p:nvSpPr>
          <p:cNvPr id="34" name="Shape 32"/>
          <p:cNvSpPr/>
          <p:nvPr/>
        </p:nvSpPr>
        <p:spPr>
          <a:xfrm>
            <a:off x="384810" y="4740830"/>
            <a:ext cx="3341370" cy="1731645"/>
          </a:xfrm>
          <a:prstGeom prst="roundRect">
            <a:avLst>
              <a:gd name="adj" fmla="val 6601"/>
            </a:avLst>
          </a:prstGeom>
          <a:solidFill>
            <a:srgbClr val="262626"/>
          </a:solidFill>
          <a:ln w="10160">
            <a:solidFill>
              <a:srgbClr val="333333"/>
            </a:solidFill>
            <a:prstDash val="solid"/>
          </a:ln>
        </p:spPr>
      </p:sp>
      <p:sp>
        <p:nvSpPr>
          <p:cNvPr id="35" name="Shape 33"/>
          <p:cNvSpPr/>
          <p:nvPr/>
        </p:nvSpPr>
        <p:spPr>
          <a:xfrm>
            <a:off x="464820" y="4820841"/>
            <a:ext cx="304800" cy="304800"/>
          </a:xfrm>
          <a:prstGeom prst="roundRect">
            <a:avLst>
              <a:gd name="adj" fmla="val 25000"/>
            </a:avLst>
          </a:prstGeom>
          <a:solidFill>
            <a:srgbClr val="F0B100">
              <a:alpha val="20000"/>
            </a:srgbClr>
          </a:solidFill>
          <a:ln/>
        </p:spPr>
      </p:sp>
      <p:sp>
        <p:nvSpPr>
          <p:cNvPr id="36" name="Shape 34"/>
          <p:cNvSpPr/>
          <p:nvPr/>
        </p:nvSpPr>
        <p:spPr>
          <a:xfrm>
            <a:off x="531495" y="4897041"/>
            <a:ext cx="171450" cy="152400"/>
          </a:xfrm>
          <a:custGeom>
            <a:avLst/>
            <a:gdLst/>
            <a:ahLst/>
            <a:cxnLst/>
            <a:rect l="l" t="t" r="r" b="b"/>
            <a:pathLst>
              <a:path w="171450" h="152400">
                <a:moveTo>
                  <a:pt x="163622" y="36939"/>
                </a:moveTo>
                <a:cubicBezTo>
                  <a:pt x="161776" y="29885"/>
                  <a:pt x="156240" y="24348"/>
                  <a:pt x="149245" y="22473"/>
                </a:cubicBezTo>
                <a:cubicBezTo>
                  <a:pt x="136594" y="19050"/>
                  <a:pt x="85755" y="19050"/>
                  <a:pt x="85755" y="19050"/>
                </a:cubicBezTo>
                <a:cubicBezTo>
                  <a:pt x="85755" y="19050"/>
                  <a:pt x="34915" y="19050"/>
                  <a:pt x="22235" y="22473"/>
                </a:cubicBezTo>
                <a:cubicBezTo>
                  <a:pt x="15240" y="24348"/>
                  <a:pt x="9733" y="29885"/>
                  <a:pt x="7858" y="36939"/>
                </a:cubicBezTo>
                <a:cubicBezTo>
                  <a:pt x="4465" y="49709"/>
                  <a:pt x="4465" y="76319"/>
                  <a:pt x="4465" y="76319"/>
                </a:cubicBezTo>
                <a:cubicBezTo>
                  <a:pt x="4465" y="76319"/>
                  <a:pt x="4465" y="102930"/>
                  <a:pt x="7858" y="115699"/>
                </a:cubicBezTo>
                <a:cubicBezTo>
                  <a:pt x="9733" y="122724"/>
                  <a:pt x="15240" y="128052"/>
                  <a:pt x="22235" y="129927"/>
                </a:cubicBezTo>
                <a:cubicBezTo>
                  <a:pt x="34915" y="133350"/>
                  <a:pt x="85755" y="133350"/>
                  <a:pt x="85755" y="133350"/>
                </a:cubicBezTo>
                <a:cubicBezTo>
                  <a:pt x="85755" y="133350"/>
                  <a:pt x="136594" y="133350"/>
                  <a:pt x="149275" y="129927"/>
                </a:cubicBezTo>
                <a:cubicBezTo>
                  <a:pt x="156270" y="128052"/>
                  <a:pt x="161776" y="122724"/>
                  <a:pt x="163651" y="115699"/>
                </a:cubicBezTo>
                <a:cubicBezTo>
                  <a:pt x="167045" y="102930"/>
                  <a:pt x="167045" y="76319"/>
                  <a:pt x="167045" y="76319"/>
                </a:cubicBezTo>
                <a:cubicBezTo>
                  <a:pt x="167045" y="76319"/>
                  <a:pt x="167045" y="49709"/>
                  <a:pt x="163651" y="36939"/>
                </a:cubicBezTo>
                <a:close/>
                <a:moveTo>
                  <a:pt x="69116" y="100489"/>
                </a:moveTo>
                <a:lnTo>
                  <a:pt x="69116" y="52149"/>
                </a:lnTo>
                <a:lnTo>
                  <a:pt x="111591" y="76319"/>
                </a:lnTo>
                <a:lnTo>
                  <a:pt x="69116" y="100489"/>
                </a:lnTo>
                <a:close/>
              </a:path>
            </a:pathLst>
          </a:custGeom>
          <a:solidFill>
            <a:srgbClr val="F0B100"/>
          </a:solidFill>
          <a:ln/>
        </p:spPr>
      </p:sp>
      <p:sp>
        <p:nvSpPr>
          <p:cNvPr id="37" name="Text 35"/>
          <p:cNvSpPr/>
          <p:nvPr/>
        </p:nvSpPr>
        <p:spPr>
          <a:xfrm>
            <a:off x="845820" y="4839891"/>
            <a:ext cx="7715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YouTube</a:t>
            </a:r>
            <a:endParaRPr lang="en-US" sz="1600" dirty="0"/>
          </a:p>
        </p:txBody>
      </p:sp>
      <p:sp>
        <p:nvSpPr>
          <p:cNvPr id="38" name="Text 36"/>
          <p:cNvSpPr/>
          <p:nvPr/>
        </p:nvSpPr>
        <p:spPr>
          <a:xfrm>
            <a:off x="464820" y="5163741"/>
            <a:ext cx="3257550" cy="885825"/>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Recommends videos you'll probably enjoy watching</a:t>
            </a:r>
            <a:endParaRPr lang="en-US" sz="1600" dirty="0"/>
          </a:p>
        </p:txBody>
      </p:sp>
      <p:sp>
        <p:nvSpPr>
          <p:cNvPr id="39" name="Shape 37"/>
          <p:cNvSpPr/>
          <p:nvPr/>
        </p:nvSpPr>
        <p:spPr>
          <a:xfrm>
            <a:off x="464820" y="6088380"/>
            <a:ext cx="3181350" cy="304800"/>
          </a:xfrm>
          <a:prstGeom prst="roundRect">
            <a:avLst>
              <a:gd name="adj" fmla="val 12500"/>
            </a:avLst>
          </a:prstGeom>
          <a:solidFill>
            <a:srgbClr val="191919"/>
          </a:solidFill>
          <a:ln/>
        </p:spPr>
      </p:sp>
      <p:sp>
        <p:nvSpPr>
          <p:cNvPr id="40" name="Text 38"/>
          <p:cNvSpPr/>
          <p:nvPr/>
        </p:nvSpPr>
        <p:spPr>
          <a:xfrm>
            <a:off x="521970" y="6145530"/>
            <a:ext cx="31337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AI predicts interests!</a:t>
            </a:r>
            <a:endParaRPr lang="en-US" sz="1600" dirty="0"/>
          </a:p>
        </p:txBody>
      </p:sp>
      <p:sp>
        <p:nvSpPr>
          <p:cNvPr id="41" name="Shape 39"/>
          <p:cNvSpPr/>
          <p:nvPr/>
        </p:nvSpPr>
        <p:spPr>
          <a:xfrm>
            <a:off x="3806190" y="4740830"/>
            <a:ext cx="3341370" cy="1731645"/>
          </a:xfrm>
          <a:prstGeom prst="roundRect">
            <a:avLst>
              <a:gd name="adj" fmla="val 6601"/>
            </a:avLst>
          </a:prstGeom>
          <a:solidFill>
            <a:srgbClr val="262626"/>
          </a:solidFill>
          <a:ln w="10160">
            <a:solidFill>
              <a:srgbClr val="333333"/>
            </a:solidFill>
            <a:prstDash val="solid"/>
          </a:ln>
        </p:spPr>
      </p:sp>
      <p:sp>
        <p:nvSpPr>
          <p:cNvPr id="42" name="Shape 40"/>
          <p:cNvSpPr/>
          <p:nvPr/>
        </p:nvSpPr>
        <p:spPr>
          <a:xfrm>
            <a:off x="3886200" y="4820841"/>
            <a:ext cx="304800" cy="304800"/>
          </a:xfrm>
          <a:prstGeom prst="roundRect">
            <a:avLst>
              <a:gd name="adj" fmla="val 25000"/>
            </a:avLst>
          </a:prstGeom>
          <a:solidFill>
            <a:srgbClr val="615FFF">
              <a:alpha val="20000"/>
            </a:srgbClr>
          </a:solidFill>
          <a:ln/>
        </p:spPr>
      </p:sp>
      <p:sp>
        <p:nvSpPr>
          <p:cNvPr id="43" name="Shape 41"/>
          <p:cNvSpPr/>
          <p:nvPr/>
        </p:nvSpPr>
        <p:spPr>
          <a:xfrm>
            <a:off x="3952875" y="4897041"/>
            <a:ext cx="171450" cy="152400"/>
          </a:xfrm>
          <a:custGeom>
            <a:avLst/>
            <a:gdLst/>
            <a:ahLst/>
            <a:cxnLst/>
            <a:rect l="l" t="t" r="r" b="b"/>
            <a:pathLst>
              <a:path w="171450" h="152400">
                <a:moveTo>
                  <a:pt x="47625" y="0"/>
                </a:moveTo>
                <a:cubicBezTo>
                  <a:pt x="52894" y="0"/>
                  <a:pt x="57150" y="4256"/>
                  <a:pt x="57150" y="9525"/>
                </a:cubicBezTo>
                <a:lnTo>
                  <a:pt x="57150" y="19050"/>
                </a:lnTo>
                <a:lnTo>
                  <a:pt x="95250" y="19050"/>
                </a:lnTo>
                <a:cubicBezTo>
                  <a:pt x="100519" y="19050"/>
                  <a:pt x="104775" y="23306"/>
                  <a:pt x="104775" y="28575"/>
                </a:cubicBezTo>
                <a:cubicBezTo>
                  <a:pt x="104775" y="33844"/>
                  <a:pt x="100519" y="38100"/>
                  <a:pt x="95250" y="38100"/>
                </a:cubicBezTo>
                <a:lnTo>
                  <a:pt x="92393" y="38100"/>
                </a:lnTo>
                <a:lnTo>
                  <a:pt x="89892" y="44976"/>
                </a:lnTo>
                <a:cubicBezTo>
                  <a:pt x="85011" y="58430"/>
                  <a:pt x="77659" y="70723"/>
                  <a:pt x="68401" y="81290"/>
                </a:cubicBezTo>
                <a:cubicBezTo>
                  <a:pt x="72628" y="83909"/>
                  <a:pt x="77033" y="86231"/>
                  <a:pt x="81617" y="88285"/>
                </a:cubicBezTo>
                <a:lnTo>
                  <a:pt x="96619" y="94952"/>
                </a:lnTo>
                <a:lnTo>
                  <a:pt x="115133" y="53280"/>
                </a:lnTo>
                <a:cubicBezTo>
                  <a:pt x="116651" y="49828"/>
                  <a:pt x="120075" y="47625"/>
                  <a:pt x="123825" y="47625"/>
                </a:cubicBezTo>
                <a:cubicBezTo>
                  <a:pt x="127575" y="47625"/>
                  <a:pt x="130999" y="49828"/>
                  <a:pt x="132517" y="53280"/>
                </a:cubicBezTo>
                <a:lnTo>
                  <a:pt x="170617" y="139005"/>
                </a:lnTo>
                <a:cubicBezTo>
                  <a:pt x="172760" y="143828"/>
                  <a:pt x="170587" y="149453"/>
                  <a:pt x="165795" y="151567"/>
                </a:cubicBezTo>
                <a:cubicBezTo>
                  <a:pt x="161002" y="153680"/>
                  <a:pt x="155347" y="151537"/>
                  <a:pt x="153233" y="146745"/>
                </a:cubicBezTo>
                <a:lnTo>
                  <a:pt x="147280" y="133350"/>
                </a:lnTo>
                <a:lnTo>
                  <a:pt x="100399" y="133350"/>
                </a:lnTo>
                <a:lnTo>
                  <a:pt x="94446" y="146745"/>
                </a:lnTo>
                <a:cubicBezTo>
                  <a:pt x="92303" y="151567"/>
                  <a:pt x="86677" y="153710"/>
                  <a:pt x="81885" y="151567"/>
                </a:cubicBezTo>
                <a:cubicBezTo>
                  <a:pt x="77093" y="149423"/>
                  <a:pt x="74920" y="143798"/>
                  <a:pt x="77063" y="139005"/>
                </a:cubicBezTo>
                <a:lnTo>
                  <a:pt x="88910" y="112365"/>
                </a:lnTo>
                <a:lnTo>
                  <a:pt x="73908" y="105698"/>
                </a:lnTo>
                <a:cubicBezTo>
                  <a:pt x="67062" y="102662"/>
                  <a:pt x="60514" y="99030"/>
                  <a:pt x="54322" y="94863"/>
                </a:cubicBezTo>
                <a:cubicBezTo>
                  <a:pt x="47982" y="99983"/>
                  <a:pt x="41047" y="104448"/>
                  <a:pt x="33635" y="108168"/>
                </a:cubicBezTo>
                <a:lnTo>
                  <a:pt x="23306" y="113288"/>
                </a:lnTo>
                <a:cubicBezTo>
                  <a:pt x="18604" y="115639"/>
                  <a:pt x="12889" y="113734"/>
                  <a:pt x="10537" y="109031"/>
                </a:cubicBezTo>
                <a:cubicBezTo>
                  <a:pt x="8186" y="104329"/>
                  <a:pt x="10091" y="98614"/>
                  <a:pt x="14794" y="96262"/>
                </a:cubicBezTo>
                <a:lnTo>
                  <a:pt x="25063" y="91113"/>
                </a:lnTo>
                <a:cubicBezTo>
                  <a:pt x="29914" y="88672"/>
                  <a:pt x="34528" y="85844"/>
                  <a:pt x="38874" y="82689"/>
                </a:cubicBezTo>
                <a:cubicBezTo>
                  <a:pt x="34766" y="78909"/>
                  <a:pt x="30897" y="74831"/>
                  <a:pt x="27295" y="70515"/>
                </a:cubicBezTo>
                <a:lnTo>
                  <a:pt x="24289" y="66883"/>
                </a:lnTo>
                <a:cubicBezTo>
                  <a:pt x="20925" y="62835"/>
                  <a:pt x="21461" y="56823"/>
                  <a:pt x="25509" y="53459"/>
                </a:cubicBezTo>
                <a:cubicBezTo>
                  <a:pt x="29557" y="50096"/>
                  <a:pt x="35570" y="50631"/>
                  <a:pt x="38933" y="54679"/>
                </a:cubicBezTo>
                <a:lnTo>
                  <a:pt x="41970" y="58311"/>
                </a:lnTo>
                <a:cubicBezTo>
                  <a:pt x="45393" y="62448"/>
                  <a:pt x="49143" y="66288"/>
                  <a:pt x="53102" y="69830"/>
                </a:cubicBezTo>
                <a:cubicBezTo>
                  <a:pt x="61287" y="60781"/>
                  <a:pt x="67747" y="50155"/>
                  <a:pt x="72003" y="38457"/>
                </a:cubicBezTo>
                <a:lnTo>
                  <a:pt x="72152" y="38100"/>
                </a:lnTo>
                <a:lnTo>
                  <a:pt x="9555" y="38100"/>
                </a:lnTo>
                <a:cubicBezTo>
                  <a:pt x="4256" y="38100"/>
                  <a:pt x="0" y="33844"/>
                  <a:pt x="0" y="28575"/>
                </a:cubicBezTo>
                <a:cubicBezTo>
                  <a:pt x="0" y="23306"/>
                  <a:pt x="4256" y="19050"/>
                  <a:pt x="9525" y="19050"/>
                </a:cubicBezTo>
                <a:lnTo>
                  <a:pt x="38100" y="19050"/>
                </a:lnTo>
                <a:lnTo>
                  <a:pt x="38100" y="9525"/>
                </a:lnTo>
                <a:cubicBezTo>
                  <a:pt x="38100" y="4256"/>
                  <a:pt x="42356" y="0"/>
                  <a:pt x="47625" y="0"/>
                </a:cubicBezTo>
                <a:close/>
                <a:moveTo>
                  <a:pt x="123825" y="80605"/>
                </a:moveTo>
                <a:lnTo>
                  <a:pt x="108853" y="114300"/>
                </a:lnTo>
                <a:lnTo>
                  <a:pt x="138797" y="114300"/>
                </a:lnTo>
                <a:lnTo>
                  <a:pt x="123825" y="80605"/>
                </a:lnTo>
                <a:close/>
              </a:path>
            </a:pathLst>
          </a:custGeom>
          <a:solidFill>
            <a:srgbClr val="615FFF"/>
          </a:solidFill>
          <a:ln/>
        </p:spPr>
      </p:sp>
      <p:sp>
        <p:nvSpPr>
          <p:cNvPr id="44" name="Text 42"/>
          <p:cNvSpPr/>
          <p:nvPr/>
        </p:nvSpPr>
        <p:spPr>
          <a:xfrm>
            <a:off x="4267200" y="4839891"/>
            <a:ext cx="10858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Auto-Correct</a:t>
            </a:r>
            <a:endParaRPr lang="en-US" sz="1600" dirty="0"/>
          </a:p>
        </p:txBody>
      </p:sp>
      <p:sp>
        <p:nvSpPr>
          <p:cNvPr id="45" name="Text 43"/>
          <p:cNvSpPr/>
          <p:nvPr/>
        </p:nvSpPr>
        <p:spPr>
          <a:xfrm>
            <a:off x="3886200" y="5163741"/>
            <a:ext cx="3257550" cy="885825"/>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Fixes spelling mistakes and suggests next words</a:t>
            </a:r>
            <a:endParaRPr lang="en-US" sz="1600" dirty="0"/>
          </a:p>
        </p:txBody>
      </p:sp>
      <p:sp>
        <p:nvSpPr>
          <p:cNvPr id="46" name="Shape 44"/>
          <p:cNvSpPr/>
          <p:nvPr/>
        </p:nvSpPr>
        <p:spPr>
          <a:xfrm>
            <a:off x="3886200" y="6088380"/>
            <a:ext cx="3181350" cy="304800"/>
          </a:xfrm>
          <a:prstGeom prst="roundRect">
            <a:avLst>
              <a:gd name="adj" fmla="val 12500"/>
            </a:avLst>
          </a:prstGeom>
          <a:solidFill>
            <a:srgbClr val="191919"/>
          </a:solidFill>
          <a:ln/>
        </p:spPr>
      </p:sp>
      <p:sp>
        <p:nvSpPr>
          <p:cNvPr id="47" name="Text 45"/>
          <p:cNvSpPr/>
          <p:nvPr/>
        </p:nvSpPr>
        <p:spPr>
          <a:xfrm>
            <a:off x="3943350" y="6145530"/>
            <a:ext cx="31337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AI learns language patterns!</a:t>
            </a:r>
            <a:endParaRPr lang="en-US" sz="1600" dirty="0"/>
          </a:p>
        </p:txBody>
      </p:sp>
      <p:sp>
        <p:nvSpPr>
          <p:cNvPr id="48" name="Shape 46"/>
          <p:cNvSpPr/>
          <p:nvPr/>
        </p:nvSpPr>
        <p:spPr>
          <a:xfrm>
            <a:off x="7303770" y="1108710"/>
            <a:ext cx="4503420" cy="2026920"/>
          </a:xfrm>
          <a:prstGeom prst="roundRect">
            <a:avLst>
              <a:gd name="adj" fmla="val 5639"/>
            </a:avLst>
          </a:prstGeom>
          <a:gradFill rotWithShape="1" flip="none">
            <a:gsLst>
              <a:gs pos="0">
                <a:srgbClr val="6366F1">
                  <a:alpha val="20000"/>
                </a:srgbClr>
              </a:gs>
              <a:gs pos="100000">
                <a:srgbClr val="6366F1">
                  <a:alpha val="5000"/>
                </a:srgbClr>
              </a:gs>
            </a:gsLst>
            <a:lin ang="2700000" scaled="1"/>
          </a:gradFill>
          <a:ln w="10160">
            <a:solidFill>
              <a:srgbClr val="6366F1"/>
            </a:solidFill>
            <a:prstDash val="solid"/>
          </a:ln>
        </p:spPr>
      </p:sp>
      <p:sp>
        <p:nvSpPr>
          <p:cNvPr id="49" name="Shape 47"/>
          <p:cNvSpPr/>
          <p:nvPr/>
        </p:nvSpPr>
        <p:spPr>
          <a:xfrm>
            <a:off x="7433786" y="1264920"/>
            <a:ext cx="214313" cy="190500"/>
          </a:xfrm>
          <a:custGeom>
            <a:avLst/>
            <a:gdLst/>
            <a:ahLst/>
            <a:cxnLst/>
            <a:rect l="l" t="t" r="r" b="b"/>
            <a:pathLst>
              <a:path w="214313" h="190500">
                <a:moveTo>
                  <a:pt x="115156" y="-7032"/>
                </a:moveTo>
                <a:cubicBezTo>
                  <a:pt x="113630" y="-10009"/>
                  <a:pt x="110542" y="-11906"/>
                  <a:pt x="107193" y="-11906"/>
                </a:cubicBezTo>
                <a:cubicBezTo>
                  <a:pt x="103845" y="-11906"/>
                  <a:pt x="100757" y="-10009"/>
                  <a:pt x="99231" y="-7032"/>
                </a:cubicBezTo>
                <a:lnTo>
                  <a:pt x="71847" y="46620"/>
                </a:lnTo>
                <a:lnTo>
                  <a:pt x="12353" y="56071"/>
                </a:lnTo>
                <a:cubicBezTo>
                  <a:pt x="9041" y="56592"/>
                  <a:pt x="6288" y="58936"/>
                  <a:pt x="5246" y="62136"/>
                </a:cubicBezTo>
                <a:cubicBezTo>
                  <a:pt x="4204" y="65336"/>
                  <a:pt x="5060" y="68833"/>
                  <a:pt x="7404" y="71214"/>
                </a:cubicBezTo>
                <a:lnTo>
                  <a:pt x="49969" y="113816"/>
                </a:lnTo>
                <a:lnTo>
                  <a:pt x="40593" y="173310"/>
                </a:lnTo>
                <a:cubicBezTo>
                  <a:pt x="40072" y="176622"/>
                  <a:pt x="41449" y="179970"/>
                  <a:pt x="44165" y="181942"/>
                </a:cubicBezTo>
                <a:cubicBezTo>
                  <a:pt x="46881" y="183914"/>
                  <a:pt x="50453" y="184212"/>
                  <a:pt x="53467" y="182687"/>
                </a:cubicBezTo>
                <a:lnTo>
                  <a:pt x="107193" y="155377"/>
                </a:lnTo>
                <a:lnTo>
                  <a:pt x="160883" y="182687"/>
                </a:lnTo>
                <a:cubicBezTo>
                  <a:pt x="163860" y="184212"/>
                  <a:pt x="167469" y="183914"/>
                  <a:pt x="170185" y="181942"/>
                </a:cubicBezTo>
                <a:cubicBezTo>
                  <a:pt x="172901" y="179970"/>
                  <a:pt x="174278" y="176659"/>
                  <a:pt x="173757" y="173310"/>
                </a:cubicBezTo>
                <a:lnTo>
                  <a:pt x="164343" y="113816"/>
                </a:lnTo>
                <a:lnTo>
                  <a:pt x="206908" y="71214"/>
                </a:lnTo>
                <a:cubicBezTo>
                  <a:pt x="209290" y="68833"/>
                  <a:pt x="210108" y="65336"/>
                  <a:pt x="209066" y="62136"/>
                </a:cubicBezTo>
                <a:cubicBezTo>
                  <a:pt x="208025" y="58936"/>
                  <a:pt x="205308" y="56592"/>
                  <a:pt x="201960" y="56071"/>
                </a:cubicBezTo>
                <a:lnTo>
                  <a:pt x="142503" y="46620"/>
                </a:lnTo>
                <a:lnTo>
                  <a:pt x="115156" y="-7032"/>
                </a:lnTo>
                <a:close/>
              </a:path>
            </a:pathLst>
          </a:custGeom>
          <a:solidFill>
            <a:srgbClr val="6366F1"/>
          </a:solidFill>
          <a:ln/>
        </p:spPr>
      </p:sp>
      <p:sp>
        <p:nvSpPr>
          <p:cNvPr id="50" name="Text 48"/>
          <p:cNvSpPr/>
          <p:nvPr/>
        </p:nvSpPr>
        <p:spPr>
          <a:xfrm>
            <a:off x="7736205" y="1226820"/>
            <a:ext cx="1809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Real-World Example</a:t>
            </a:r>
            <a:endParaRPr lang="en-US" sz="1600" dirty="0"/>
          </a:p>
        </p:txBody>
      </p:sp>
      <p:sp>
        <p:nvSpPr>
          <p:cNvPr id="51" name="Shape 49"/>
          <p:cNvSpPr/>
          <p:nvPr/>
        </p:nvSpPr>
        <p:spPr>
          <a:xfrm>
            <a:off x="7421880" y="1569720"/>
            <a:ext cx="4267200" cy="1447800"/>
          </a:xfrm>
          <a:prstGeom prst="roundRect">
            <a:avLst>
              <a:gd name="adj" fmla="val 5263"/>
            </a:avLst>
          </a:prstGeom>
          <a:solidFill>
            <a:srgbClr val="191919"/>
          </a:solidFill>
          <a:ln/>
        </p:spPr>
      </p:sp>
      <p:sp>
        <p:nvSpPr>
          <p:cNvPr id="52" name="Text 50"/>
          <p:cNvSpPr/>
          <p:nvPr/>
        </p:nvSpPr>
        <p:spPr>
          <a:xfrm>
            <a:off x="7536180" y="1684020"/>
            <a:ext cx="4124325" cy="266700"/>
          </a:xfrm>
          <a:prstGeom prst="rect">
            <a:avLst/>
          </a:prstGeom>
          <a:noFill/>
          <a:ln/>
        </p:spPr>
        <p:txBody>
          <a:bodyPr wrap="square" lIns="0" tIns="0" rIns="0" bIns="0" rtlCol="0" anchor="ctr"/>
          <a:lstStyle/>
          <a:p>
            <a:pPr>
              <a:lnSpc>
                <a:spcPct val="130000"/>
              </a:lnSpc>
            </a:pPr>
            <a:r>
              <a:rPr lang="en-US" sz="1350" b="1" dirty="0">
                <a:solidFill>
                  <a:srgbClr val="6366F1"/>
                </a:solidFill>
                <a:latin typeface="Liter" pitchFamily="34" charset="0"/>
                <a:ea typeface="Liter" pitchFamily="34" charset="-122"/>
                <a:cs typeface="Liter" pitchFamily="34" charset="-120"/>
              </a:rPr>
              <a:t>Siri &amp; Alexa</a:t>
            </a:r>
            <a:endParaRPr lang="en-US" sz="1600" dirty="0"/>
          </a:p>
        </p:txBody>
      </p:sp>
      <p:sp>
        <p:nvSpPr>
          <p:cNvPr id="53" name="Text 51"/>
          <p:cNvSpPr/>
          <p:nvPr/>
        </p:nvSpPr>
        <p:spPr>
          <a:xfrm>
            <a:off x="7536180" y="1988820"/>
            <a:ext cx="4114800" cy="9144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Virtual assistants use AI to understand your voice commands, answer questions, set reminders, and control smart home devices. They get smarter the more you use them!</a:t>
            </a:r>
            <a:endParaRPr lang="en-US" sz="1600" dirty="0"/>
          </a:p>
        </p:txBody>
      </p:sp>
      <p:sp>
        <p:nvSpPr>
          <p:cNvPr id="54" name="Shape 52"/>
          <p:cNvSpPr/>
          <p:nvPr/>
        </p:nvSpPr>
        <p:spPr>
          <a:xfrm>
            <a:off x="7303770" y="3219451"/>
            <a:ext cx="4503420" cy="1264920"/>
          </a:xfrm>
          <a:prstGeom prst="roundRect">
            <a:avLst>
              <a:gd name="adj" fmla="val 9036"/>
            </a:avLst>
          </a:prstGeom>
          <a:solidFill>
            <a:srgbClr val="262626"/>
          </a:solidFill>
          <a:ln w="10160">
            <a:solidFill>
              <a:srgbClr val="333333"/>
            </a:solidFill>
            <a:prstDash val="solid"/>
          </a:ln>
        </p:spPr>
      </p:sp>
      <p:sp>
        <p:nvSpPr>
          <p:cNvPr id="55" name="Text 53"/>
          <p:cNvSpPr/>
          <p:nvPr/>
        </p:nvSpPr>
        <p:spPr>
          <a:xfrm>
            <a:off x="7421880" y="3337561"/>
            <a:ext cx="43529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 Simple Explanation</a:t>
            </a:r>
            <a:endParaRPr lang="en-US" sz="1600" dirty="0"/>
          </a:p>
        </p:txBody>
      </p:sp>
      <p:sp>
        <p:nvSpPr>
          <p:cNvPr id="56" name="Text 54"/>
          <p:cNvSpPr/>
          <p:nvPr/>
        </p:nvSpPr>
        <p:spPr>
          <a:xfrm>
            <a:off x="7421880" y="3680461"/>
            <a:ext cx="43434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You might not realize it, but AI is already your silent helper! Every time you get a movie recommendation, use voice search, or unlock your phone with your face—that's AI working for you.</a:t>
            </a:r>
            <a:endParaRPr lang="en-US" sz="1600" dirty="0"/>
          </a:p>
        </p:txBody>
      </p:sp>
      <p:sp>
        <p:nvSpPr>
          <p:cNvPr id="57" name="Shape 55"/>
          <p:cNvSpPr/>
          <p:nvPr/>
        </p:nvSpPr>
        <p:spPr>
          <a:xfrm>
            <a:off x="7303770" y="4568190"/>
            <a:ext cx="4503420" cy="1874520"/>
          </a:xfrm>
          <a:prstGeom prst="roundRect">
            <a:avLst>
              <a:gd name="adj" fmla="val 6098"/>
            </a:avLst>
          </a:prstGeom>
          <a:solidFill>
            <a:srgbClr val="262626"/>
          </a:solidFill>
          <a:ln w="10160">
            <a:solidFill>
              <a:srgbClr val="333333"/>
            </a:solidFill>
            <a:prstDash val="solid"/>
          </a:ln>
        </p:spPr>
      </p:sp>
      <p:sp>
        <p:nvSpPr>
          <p:cNvPr id="58" name="Shape 56"/>
          <p:cNvSpPr/>
          <p:nvPr/>
        </p:nvSpPr>
        <p:spPr>
          <a:xfrm>
            <a:off x="7434977" y="4733925"/>
            <a:ext cx="192881" cy="171450"/>
          </a:xfrm>
          <a:custGeom>
            <a:avLst/>
            <a:gdLst/>
            <a:ahLst/>
            <a:cxnLst/>
            <a:rect l="l" t="t" r="r" b="b"/>
            <a:pathLst>
              <a:path w="192881" h="171450">
                <a:moveTo>
                  <a:pt x="96441" y="10716"/>
                </a:moveTo>
                <a:cubicBezTo>
                  <a:pt x="69384" y="10716"/>
                  <a:pt x="47718" y="23039"/>
                  <a:pt x="31946" y="37706"/>
                </a:cubicBezTo>
                <a:cubicBezTo>
                  <a:pt x="16274" y="52272"/>
                  <a:pt x="5793" y="69652"/>
                  <a:pt x="804" y="81606"/>
                </a:cubicBezTo>
                <a:cubicBezTo>
                  <a:pt x="-301" y="84252"/>
                  <a:pt x="-301" y="87198"/>
                  <a:pt x="804" y="89844"/>
                </a:cubicBezTo>
                <a:cubicBezTo>
                  <a:pt x="5793" y="101798"/>
                  <a:pt x="16274" y="119211"/>
                  <a:pt x="31946" y="133744"/>
                </a:cubicBezTo>
                <a:cubicBezTo>
                  <a:pt x="47718" y="148378"/>
                  <a:pt x="69384" y="160734"/>
                  <a:pt x="96441" y="160734"/>
                </a:cubicBezTo>
                <a:cubicBezTo>
                  <a:pt x="123498" y="160734"/>
                  <a:pt x="145163" y="148411"/>
                  <a:pt x="160935" y="133744"/>
                </a:cubicBezTo>
                <a:cubicBezTo>
                  <a:pt x="176607" y="119178"/>
                  <a:pt x="187088" y="101798"/>
                  <a:pt x="192078" y="89844"/>
                </a:cubicBezTo>
                <a:cubicBezTo>
                  <a:pt x="193183" y="87198"/>
                  <a:pt x="193183" y="84252"/>
                  <a:pt x="192078" y="81606"/>
                </a:cubicBezTo>
                <a:cubicBezTo>
                  <a:pt x="187088" y="69652"/>
                  <a:pt x="176607" y="52239"/>
                  <a:pt x="160935" y="37706"/>
                </a:cubicBezTo>
                <a:cubicBezTo>
                  <a:pt x="145163" y="23072"/>
                  <a:pt x="123498" y="10716"/>
                  <a:pt x="96441" y="10716"/>
                </a:cubicBezTo>
                <a:close/>
                <a:moveTo>
                  <a:pt x="48220" y="85725"/>
                </a:moveTo>
                <a:cubicBezTo>
                  <a:pt x="48220" y="59111"/>
                  <a:pt x="69827" y="37505"/>
                  <a:pt x="96441" y="37505"/>
                </a:cubicBezTo>
                <a:cubicBezTo>
                  <a:pt x="123054" y="37505"/>
                  <a:pt x="144661" y="59111"/>
                  <a:pt x="144661" y="85725"/>
                </a:cubicBezTo>
                <a:cubicBezTo>
                  <a:pt x="144661" y="112339"/>
                  <a:pt x="123054" y="133945"/>
                  <a:pt x="96441" y="133945"/>
                </a:cubicBezTo>
                <a:cubicBezTo>
                  <a:pt x="69827" y="133945"/>
                  <a:pt x="48220" y="112339"/>
                  <a:pt x="48220" y="85725"/>
                </a:cubicBezTo>
                <a:close/>
                <a:moveTo>
                  <a:pt x="96441" y="64294"/>
                </a:moveTo>
                <a:cubicBezTo>
                  <a:pt x="96441" y="76114"/>
                  <a:pt x="86830" y="85725"/>
                  <a:pt x="75009" y="85725"/>
                </a:cubicBezTo>
                <a:cubicBezTo>
                  <a:pt x="71158" y="85725"/>
                  <a:pt x="67542" y="84720"/>
                  <a:pt x="64394" y="82912"/>
                </a:cubicBezTo>
                <a:cubicBezTo>
                  <a:pt x="64059" y="86562"/>
                  <a:pt x="64361" y="90313"/>
                  <a:pt x="65365" y="94030"/>
                </a:cubicBezTo>
                <a:cubicBezTo>
                  <a:pt x="69953" y="111175"/>
                  <a:pt x="87600" y="121354"/>
                  <a:pt x="104745" y="116767"/>
                </a:cubicBezTo>
                <a:cubicBezTo>
                  <a:pt x="121890" y="112179"/>
                  <a:pt x="132070" y="94532"/>
                  <a:pt x="127482" y="77387"/>
                </a:cubicBezTo>
                <a:cubicBezTo>
                  <a:pt x="123397" y="62084"/>
                  <a:pt x="108898" y="52339"/>
                  <a:pt x="93628" y="53679"/>
                </a:cubicBezTo>
                <a:cubicBezTo>
                  <a:pt x="95403" y="56793"/>
                  <a:pt x="96441" y="60409"/>
                  <a:pt x="96441" y="64294"/>
                </a:cubicBezTo>
                <a:close/>
              </a:path>
            </a:pathLst>
          </a:custGeom>
          <a:solidFill>
            <a:srgbClr val="6366F1"/>
          </a:solidFill>
          <a:ln/>
        </p:spPr>
      </p:sp>
      <p:sp>
        <p:nvSpPr>
          <p:cNvPr id="59" name="Text 57"/>
          <p:cNvSpPr/>
          <p:nvPr/>
        </p:nvSpPr>
        <p:spPr>
          <a:xfrm>
            <a:off x="7640955" y="4686300"/>
            <a:ext cx="41338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Visual</a:t>
            </a:r>
            <a:endParaRPr lang="en-US" sz="1600" dirty="0"/>
          </a:p>
        </p:txBody>
      </p:sp>
      <p:sp>
        <p:nvSpPr>
          <p:cNvPr id="60" name="Shape 58"/>
          <p:cNvSpPr/>
          <p:nvPr/>
        </p:nvSpPr>
        <p:spPr>
          <a:xfrm>
            <a:off x="7421880" y="5029200"/>
            <a:ext cx="4267200" cy="609600"/>
          </a:xfrm>
          <a:prstGeom prst="roundRect">
            <a:avLst>
              <a:gd name="adj" fmla="val 12500"/>
            </a:avLst>
          </a:prstGeom>
          <a:solidFill>
            <a:srgbClr val="191919"/>
          </a:solidFill>
          <a:ln/>
        </p:spPr>
      </p:sp>
      <p:sp>
        <p:nvSpPr>
          <p:cNvPr id="61" name="Text 59"/>
          <p:cNvSpPr/>
          <p:nvPr/>
        </p:nvSpPr>
        <p:spPr>
          <a:xfrm>
            <a:off x="7498080" y="51054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Diagram:</a:t>
            </a:r>
            <a:endParaRPr lang="en-US" sz="1600" dirty="0"/>
          </a:p>
        </p:txBody>
      </p:sp>
      <p:sp>
        <p:nvSpPr>
          <p:cNvPr id="62" name="Text 60"/>
          <p:cNvSpPr/>
          <p:nvPr/>
        </p:nvSpPr>
        <p:spPr>
          <a:xfrm>
            <a:off x="7498080" y="53340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Apps you use → AI working behind the scenes</a:t>
            </a:r>
            <a:endParaRPr lang="en-US" sz="1600" dirty="0"/>
          </a:p>
        </p:txBody>
      </p:sp>
      <p:sp>
        <p:nvSpPr>
          <p:cNvPr id="63" name="Shape 61"/>
          <p:cNvSpPr/>
          <p:nvPr/>
        </p:nvSpPr>
        <p:spPr>
          <a:xfrm>
            <a:off x="7421880" y="5715000"/>
            <a:ext cx="4267200" cy="609600"/>
          </a:xfrm>
          <a:prstGeom prst="roundRect">
            <a:avLst>
              <a:gd name="adj" fmla="val 12500"/>
            </a:avLst>
          </a:prstGeom>
          <a:solidFill>
            <a:srgbClr val="191919"/>
          </a:solidFill>
          <a:ln/>
        </p:spPr>
      </p:sp>
      <p:sp>
        <p:nvSpPr>
          <p:cNvPr id="64" name="Text 62"/>
          <p:cNvSpPr/>
          <p:nvPr/>
        </p:nvSpPr>
        <p:spPr>
          <a:xfrm>
            <a:off x="7498080" y="57912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Image:</a:t>
            </a:r>
            <a:endParaRPr lang="en-US" sz="1600" dirty="0"/>
          </a:p>
        </p:txBody>
      </p:sp>
      <p:sp>
        <p:nvSpPr>
          <p:cNvPr id="65" name="Text 63"/>
          <p:cNvSpPr/>
          <p:nvPr/>
        </p:nvSpPr>
        <p:spPr>
          <a:xfrm>
            <a:off x="7498080" y="60198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Smartphone showing various AI apps</a:t>
            </a:r>
            <a:endParaRPr lang="en-US" sz="16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91919"/>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6366F1">
              <a:alpha val="20000"/>
            </a:srgbClr>
          </a:solidFill>
          <a:ln/>
        </p:spPr>
      </p:sp>
      <p:sp>
        <p:nvSpPr>
          <p:cNvPr id="3" name="Text 1"/>
          <p:cNvSpPr/>
          <p:nvPr/>
        </p:nvSpPr>
        <p:spPr>
          <a:xfrm>
            <a:off x="492681" y="533400"/>
            <a:ext cx="333375" cy="266700"/>
          </a:xfrm>
          <a:prstGeom prst="rect">
            <a:avLst/>
          </a:prstGeom>
          <a:noFill/>
          <a:ln/>
        </p:spPr>
        <p:txBody>
          <a:bodyPr wrap="square" lIns="0" tIns="0" rIns="0" bIns="0" rtlCol="0" anchor="ctr"/>
          <a:lstStyle/>
          <a:p>
            <a:pPr>
              <a:lnSpc>
                <a:spcPct val="120000"/>
              </a:lnSpc>
            </a:pPr>
            <a:r>
              <a:rPr lang="en-US" sz="1500" b="1" dirty="0">
                <a:solidFill>
                  <a:srgbClr val="6366F1"/>
                </a:solidFill>
                <a:latin typeface="Liter" pitchFamily="34" charset="0"/>
                <a:ea typeface="Liter" pitchFamily="34" charset="-122"/>
                <a:cs typeface="Liter" pitchFamily="34" charset="-120"/>
              </a:rPr>
              <a:t>04</a:t>
            </a:r>
            <a:endParaRPr lang="en-US" sz="1600" dirty="0"/>
          </a:p>
        </p:txBody>
      </p:sp>
      <p:sp>
        <p:nvSpPr>
          <p:cNvPr id="4" name="Text 2"/>
          <p:cNvSpPr/>
          <p:nvPr/>
        </p:nvSpPr>
        <p:spPr>
          <a:xfrm>
            <a:off x="952500" y="381000"/>
            <a:ext cx="3781425" cy="190500"/>
          </a:xfrm>
          <a:prstGeom prst="rect">
            <a:avLst/>
          </a:prstGeom>
          <a:noFill/>
          <a:ln/>
        </p:spPr>
        <p:txBody>
          <a:bodyPr wrap="square" lIns="0" tIns="0" rIns="0" bIns="0" rtlCol="0" anchor="ctr"/>
          <a:lstStyle/>
          <a:p>
            <a:pPr>
              <a:lnSpc>
                <a:spcPct val="120000"/>
              </a:lnSpc>
            </a:pPr>
            <a:r>
              <a:rPr lang="en-US" sz="1050" b="1" spc="53" kern="0" dirty="0">
                <a:solidFill>
                  <a:srgbClr val="6366F1"/>
                </a:solidFill>
                <a:latin typeface="Liter" pitchFamily="34" charset="0"/>
                <a:ea typeface="Liter" pitchFamily="34" charset="-122"/>
                <a:cs typeface="Liter" pitchFamily="34" charset="-120"/>
              </a:rPr>
              <a:t>Introduction to AI</a:t>
            </a:r>
            <a:endParaRPr lang="en-US" sz="1600" dirty="0"/>
          </a:p>
        </p:txBody>
      </p:sp>
      <p:sp>
        <p:nvSpPr>
          <p:cNvPr id="5" name="Text 3"/>
          <p:cNvSpPr/>
          <p:nvPr/>
        </p:nvSpPr>
        <p:spPr>
          <a:xfrm>
            <a:off x="952500" y="571500"/>
            <a:ext cx="388620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AI vs Human Intelligence</a:t>
            </a:r>
            <a:endParaRPr lang="en-US" sz="1600" dirty="0"/>
          </a:p>
        </p:txBody>
      </p:sp>
      <p:sp>
        <p:nvSpPr>
          <p:cNvPr id="6" name="Shape 4"/>
          <p:cNvSpPr/>
          <p:nvPr/>
        </p:nvSpPr>
        <p:spPr>
          <a:xfrm>
            <a:off x="384810" y="1108710"/>
            <a:ext cx="5627370" cy="3188970"/>
          </a:xfrm>
          <a:prstGeom prst="roundRect">
            <a:avLst>
              <a:gd name="adj" fmla="val 3584"/>
            </a:avLst>
          </a:prstGeom>
          <a:gradFill rotWithShape="1" flip="none">
            <a:gsLst>
              <a:gs pos="0">
                <a:srgbClr val="6366F1">
                  <a:alpha val="20000"/>
                </a:srgbClr>
              </a:gs>
              <a:gs pos="100000">
                <a:srgbClr val="6366F1">
                  <a:alpha val="5000"/>
                </a:srgbClr>
              </a:gs>
            </a:gsLst>
            <a:lin ang="2700000" scaled="1"/>
          </a:gradFill>
          <a:ln w="10160">
            <a:solidFill>
              <a:srgbClr val="6366F1"/>
            </a:solidFill>
            <a:prstDash val="solid"/>
          </a:ln>
        </p:spPr>
      </p:sp>
      <p:sp>
        <p:nvSpPr>
          <p:cNvPr id="7" name="Shape 5"/>
          <p:cNvSpPr/>
          <p:nvPr/>
        </p:nvSpPr>
        <p:spPr>
          <a:xfrm>
            <a:off x="502920" y="1245870"/>
            <a:ext cx="285750" cy="228600"/>
          </a:xfrm>
          <a:custGeom>
            <a:avLst/>
            <a:gdLst/>
            <a:ahLst/>
            <a:cxnLst/>
            <a:rect l="l" t="t" r="r" b="b"/>
            <a:pathLst>
              <a:path w="285750" h="228600">
                <a:moveTo>
                  <a:pt x="157163" y="0"/>
                </a:moveTo>
                <a:cubicBezTo>
                  <a:pt x="157163" y="-7903"/>
                  <a:pt x="150778" y="-14287"/>
                  <a:pt x="142875" y="-14287"/>
                </a:cubicBezTo>
                <a:cubicBezTo>
                  <a:pt x="134972" y="-14287"/>
                  <a:pt x="128588" y="-7903"/>
                  <a:pt x="128588" y="0"/>
                </a:cubicBezTo>
                <a:lnTo>
                  <a:pt x="128588" y="28575"/>
                </a:lnTo>
                <a:lnTo>
                  <a:pt x="85725" y="28575"/>
                </a:lnTo>
                <a:cubicBezTo>
                  <a:pt x="62061" y="28575"/>
                  <a:pt x="42863" y="47774"/>
                  <a:pt x="42863" y="71438"/>
                </a:cubicBezTo>
                <a:lnTo>
                  <a:pt x="42863" y="171450"/>
                </a:lnTo>
                <a:cubicBezTo>
                  <a:pt x="42863" y="195114"/>
                  <a:pt x="62061" y="214313"/>
                  <a:pt x="85725" y="214313"/>
                </a:cubicBezTo>
                <a:lnTo>
                  <a:pt x="200025" y="214313"/>
                </a:lnTo>
                <a:cubicBezTo>
                  <a:pt x="223689" y="214313"/>
                  <a:pt x="242888" y="195114"/>
                  <a:pt x="242888" y="171450"/>
                </a:cubicBezTo>
                <a:lnTo>
                  <a:pt x="242888" y="71438"/>
                </a:lnTo>
                <a:cubicBezTo>
                  <a:pt x="242888" y="47774"/>
                  <a:pt x="223689" y="28575"/>
                  <a:pt x="200025" y="28575"/>
                </a:cubicBezTo>
                <a:lnTo>
                  <a:pt x="157163" y="28575"/>
                </a:lnTo>
                <a:lnTo>
                  <a:pt x="157163" y="0"/>
                </a:lnTo>
                <a:close/>
                <a:moveTo>
                  <a:pt x="71438" y="164306"/>
                </a:moveTo>
                <a:cubicBezTo>
                  <a:pt x="71438" y="158368"/>
                  <a:pt x="76215" y="153591"/>
                  <a:pt x="82153" y="153591"/>
                </a:cubicBezTo>
                <a:lnTo>
                  <a:pt x="96441" y="153591"/>
                </a:lnTo>
                <a:cubicBezTo>
                  <a:pt x="102379" y="153591"/>
                  <a:pt x="107156" y="158368"/>
                  <a:pt x="107156" y="164306"/>
                </a:cubicBezTo>
                <a:cubicBezTo>
                  <a:pt x="107156" y="170244"/>
                  <a:pt x="102379" y="175022"/>
                  <a:pt x="96441" y="175022"/>
                </a:cubicBezTo>
                <a:lnTo>
                  <a:pt x="82153" y="175022"/>
                </a:lnTo>
                <a:cubicBezTo>
                  <a:pt x="76215" y="175022"/>
                  <a:pt x="71438" y="170244"/>
                  <a:pt x="71438" y="164306"/>
                </a:cubicBezTo>
                <a:close/>
                <a:moveTo>
                  <a:pt x="125016" y="164306"/>
                </a:moveTo>
                <a:cubicBezTo>
                  <a:pt x="125016" y="158368"/>
                  <a:pt x="129793" y="153591"/>
                  <a:pt x="135731" y="153591"/>
                </a:cubicBezTo>
                <a:lnTo>
                  <a:pt x="150019" y="153591"/>
                </a:lnTo>
                <a:cubicBezTo>
                  <a:pt x="155957" y="153591"/>
                  <a:pt x="160734" y="158368"/>
                  <a:pt x="160734" y="164306"/>
                </a:cubicBezTo>
                <a:cubicBezTo>
                  <a:pt x="160734" y="170244"/>
                  <a:pt x="155957" y="175022"/>
                  <a:pt x="150019" y="175022"/>
                </a:cubicBezTo>
                <a:lnTo>
                  <a:pt x="135731" y="175022"/>
                </a:lnTo>
                <a:cubicBezTo>
                  <a:pt x="129793" y="175022"/>
                  <a:pt x="125016" y="170244"/>
                  <a:pt x="125016" y="164306"/>
                </a:cubicBezTo>
                <a:close/>
                <a:moveTo>
                  <a:pt x="178594" y="164306"/>
                </a:moveTo>
                <a:cubicBezTo>
                  <a:pt x="178594" y="158368"/>
                  <a:pt x="183371" y="153591"/>
                  <a:pt x="189309" y="153591"/>
                </a:cubicBezTo>
                <a:lnTo>
                  <a:pt x="203597" y="153591"/>
                </a:lnTo>
                <a:cubicBezTo>
                  <a:pt x="209535" y="153591"/>
                  <a:pt x="214313" y="158368"/>
                  <a:pt x="214313" y="164306"/>
                </a:cubicBezTo>
                <a:cubicBezTo>
                  <a:pt x="214313" y="170244"/>
                  <a:pt x="209535" y="175022"/>
                  <a:pt x="203597" y="175022"/>
                </a:cubicBezTo>
                <a:lnTo>
                  <a:pt x="189309" y="175022"/>
                </a:lnTo>
                <a:cubicBezTo>
                  <a:pt x="183371" y="175022"/>
                  <a:pt x="178594" y="170244"/>
                  <a:pt x="178594" y="164306"/>
                </a:cubicBezTo>
                <a:close/>
                <a:moveTo>
                  <a:pt x="100013" y="78581"/>
                </a:moveTo>
                <a:cubicBezTo>
                  <a:pt x="111841" y="78581"/>
                  <a:pt x="121444" y="88184"/>
                  <a:pt x="121444" y="100013"/>
                </a:cubicBezTo>
                <a:cubicBezTo>
                  <a:pt x="121444" y="111841"/>
                  <a:pt x="111841" y="121444"/>
                  <a:pt x="100013" y="121444"/>
                </a:cubicBezTo>
                <a:cubicBezTo>
                  <a:pt x="88184" y="121444"/>
                  <a:pt x="78581" y="111841"/>
                  <a:pt x="78581" y="100013"/>
                </a:cubicBezTo>
                <a:cubicBezTo>
                  <a:pt x="78581" y="88184"/>
                  <a:pt x="88184" y="78581"/>
                  <a:pt x="100013" y="78581"/>
                </a:cubicBezTo>
                <a:close/>
                <a:moveTo>
                  <a:pt x="164306" y="100013"/>
                </a:moveTo>
                <a:cubicBezTo>
                  <a:pt x="164306" y="88184"/>
                  <a:pt x="173909" y="78581"/>
                  <a:pt x="185738" y="78581"/>
                </a:cubicBezTo>
                <a:cubicBezTo>
                  <a:pt x="197566" y="78581"/>
                  <a:pt x="207169" y="88184"/>
                  <a:pt x="207169" y="100013"/>
                </a:cubicBezTo>
                <a:cubicBezTo>
                  <a:pt x="207169" y="111841"/>
                  <a:pt x="197566" y="121444"/>
                  <a:pt x="185738" y="121444"/>
                </a:cubicBezTo>
                <a:cubicBezTo>
                  <a:pt x="173909" y="121444"/>
                  <a:pt x="164306" y="111841"/>
                  <a:pt x="164306" y="100013"/>
                </a:cubicBezTo>
                <a:close/>
                <a:moveTo>
                  <a:pt x="28575" y="100013"/>
                </a:moveTo>
                <a:cubicBezTo>
                  <a:pt x="28575" y="92110"/>
                  <a:pt x="22190" y="85725"/>
                  <a:pt x="14288" y="85725"/>
                </a:cubicBezTo>
                <a:cubicBezTo>
                  <a:pt x="6385" y="85725"/>
                  <a:pt x="0" y="92110"/>
                  <a:pt x="0" y="100013"/>
                </a:cubicBezTo>
                <a:lnTo>
                  <a:pt x="0" y="142875"/>
                </a:lnTo>
                <a:cubicBezTo>
                  <a:pt x="0" y="150778"/>
                  <a:pt x="6385" y="157163"/>
                  <a:pt x="14288" y="157163"/>
                </a:cubicBezTo>
                <a:cubicBezTo>
                  <a:pt x="22190" y="157163"/>
                  <a:pt x="28575" y="150778"/>
                  <a:pt x="28575" y="142875"/>
                </a:cubicBezTo>
                <a:lnTo>
                  <a:pt x="28575" y="100013"/>
                </a:lnTo>
                <a:close/>
                <a:moveTo>
                  <a:pt x="271463" y="85725"/>
                </a:moveTo>
                <a:cubicBezTo>
                  <a:pt x="263560" y="85725"/>
                  <a:pt x="257175" y="92110"/>
                  <a:pt x="257175" y="100013"/>
                </a:cubicBezTo>
                <a:lnTo>
                  <a:pt x="257175" y="142875"/>
                </a:lnTo>
                <a:cubicBezTo>
                  <a:pt x="257175" y="150778"/>
                  <a:pt x="263560" y="157163"/>
                  <a:pt x="271463" y="157163"/>
                </a:cubicBezTo>
                <a:cubicBezTo>
                  <a:pt x="279365" y="157163"/>
                  <a:pt x="285750" y="150778"/>
                  <a:pt x="285750" y="142875"/>
                </a:cubicBezTo>
                <a:lnTo>
                  <a:pt x="285750" y="100013"/>
                </a:lnTo>
                <a:cubicBezTo>
                  <a:pt x="285750" y="92110"/>
                  <a:pt x="279365" y="85725"/>
                  <a:pt x="271463" y="85725"/>
                </a:cubicBezTo>
                <a:close/>
              </a:path>
            </a:pathLst>
          </a:custGeom>
          <a:solidFill>
            <a:srgbClr val="6366F1"/>
          </a:solidFill>
          <a:ln/>
        </p:spPr>
      </p:sp>
      <p:sp>
        <p:nvSpPr>
          <p:cNvPr id="8" name="Text 6"/>
          <p:cNvSpPr/>
          <p:nvPr/>
        </p:nvSpPr>
        <p:spPr>
          <a:xfrm>
            <a:off x="864870" y="1226820"/>
            <a:ext cx="179070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What AI Does Better</a:t>
            </a:r>
            <a:endParaRPr lang="en-US" sz="1600" dirty="0"/>
          </a:p>
        </p:txBody>
      </p:sp>
      <p:sp>
        <p:nvSpPr>
          <p:cNvPr id="9" name="Shape 7"/>
          <p:cNvSpPr/>
          <p:nvPr/>
        </p:nvSpPr>
        <p:spPr>
          <a:xfrm>
            <a:off x="502920" y="1569720"/>
            <a:ext cx="5391150" cy="609600"/>
          </a:xfrm>
          <a:prstGeom prst="roundRect">
            <a:avLst>
              <a:gd name="adj" fmla="val 12500"/>
            </a:avLst>
          </a:prstGeom>
          <a:solidFill>
            <a:srgbClr val="191919"/>
          </a:solidFill>
          <a:ln/>
        </p:spPr>
      </p:sp>
      <p:sp>
        <p:nvSpPr>
          <p:cNvPr id="10" name="Shape 8"/>
          <p:cNvSpPr/>
          <p:nvPr/>
        </p:nvSpPr>
        <p:spPr>
          <a:xfrm>
            <a:off x="607695" y="1684020"/>
            <a:ext cx="133350" cy="152400"/>
          </a:xfrm>
          <a:custGeom>
            <a:avLst/>
            <a:gdLst/>
            <a:ahLst/>
            <a:cxnLst/>
            <a:rect l="l" t="t" r="r" b="b"/>
            <a:pathLst>
              <a:path w="133350" h="152400">
                <a:moveTo>
                  <a:pt x="100846" y="-2947"/>
                </a:moveTo>
                <a:cubicBezTo>
                  <a:pt x="104388" y="-387"/>
                  <a:pt x="105698" y="4256"/>
                  <a:pt x="104090" y="8305"/>
                </a:cubicBezTo>
                <a:lnTo>
                  <a:pt x="80754" y="66675"/>
                </a:lnTo>
                <a:lnTo>
                  <a:pt x="123825" y="66675"/>
                </a:lnTo>
                <a:cubicBezTo>
                  <a:pt x="127843" y="66675"/>
                  <a:pt x="131415" y="69175"/>
                  <a:pt x="132784" y="72956"/>
                </a:cubicBezTo>
                <a:cubicBezTo>
                  <a:pt x="134154" y="76736"/>
                  <a:pt x="132993" y="80962"/>
                  <a:pt x="129927" y="83522"/>
                </a:cubicBezTo>
                <a:lnTo>
                  <a:pt x="44202" y="154960"/>
                </a:lnTo>
                <a:cubicBezTo>
                  <a:pt x="40838" y="157758"/>
                  <a:pt x="36046" y="157907"/>
                  <a:pt x="32504" y="155347"/>
                </a:cubicBezTo>
                <a:cubicBezTo>
                  <a:pt x="28962" y="152787"/>
                  <a:pt x="27652" y="148144"/>
                  <a:pt x="29260" y="144095"/>
                </a:cubicBezTo>
                <a:lnTo>
                  <a:pt x="52596" y="85725"/>
                </a:lnTo>
                <a:lnTo>
                  <a:pt x="9525" y="85725"/>
                </a:lnTo>
                <a:cubicBezTo>
                  <a:pt x="5507" y="85725"/>
                  <a:pt x="1935" y="83225"/>
                  <a:pt x="566" y="79444"/>
                </a:cubicBezTo>
                <a:cubicBezTo>
                  <a:pt x="-804" y="75664"/>
                  <a:pt x="357" y="71438"/>
                  <a:pt x="3423" y="68878"/>
                </a:cubicBezTo>
                <a:lnTo>
                  <a:pt x="89148" y="-2560"/>
                </a:lnTo>
                <a:cubicBezTo>
                  <a:pt x="92512" y="-5358"/>
                  <a:pt x="97304" y="-5507"/>
                  <a:pt x="100846" y="-2947"/>
                </a:cubicBezTo>
                <a:close/>
              </a:path>
            </a:pathLst>
          </a:custGeom>
          <a:solidFill>
            <a:srgbClr val="6366F1"/>
          </a:solidFill>
          <a:ln/>
        </p:spPr>
      </p:sp>
      <p:sp>
        <p:nvSpPr>
          <p:cNvPr id="11" name="Text 9"/>
          <p:cNvSpPr/>
          <p:nvPr/>
        </p:nvSpPr>
        <p:spPr>
          <a:xfrm>
            <a:off x="845820" y="1645920"/>
            <a:ext cx="31051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Speed</a:t>
            </a:r>
            <a:endParaRPr lang="en-US" sz="1600" dirty="0"/>
          </a:p>
        </p:txBody>
      </p:sp>
      <p:sp>
        <p:nvSpPr>
          <p:cNvPr id="12" name="Text 10"/>
          <p:cNvSpPr/>
          <p:nvPr/>
        </p:nvSpPr>
        <p:spPr>
          <a:xfrm>
            <a:off x="845820" y="1874520"/>
            <a:ext cx="310515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Processes millions of calculations per second</a:t>
            </a:r>
            <a:endParaRPr lang="en-US" sz="1600" dirty="0"/>
          </a:p>
        </p:txBody>
      </p:sp>
      <p:sp>
        <p:nvSpPr>
          <p:cNvPr id="13" name="Shape 11"/>
          <p:cNvSpPr/>
          <p:nvPr/>
        </p:nvSpPr>
        <p:spPr>
          <a:xfrm>
            <a:off x="502920" y="2236470"/>
            <a:ext cx="5391150" cy="609600"/>
          </a:xfrm>
          <a:prstGeom prst="roundRect">
            <a:avLst>
              <a:gd name="adj" fmla="val 12500"/>
            </a:avLst>
          </a:prstGeom>
          <a:solidFill>
            <a:srgbClr val="191919"/>
          </a:solidFill>
          <a:ln/>
        </p:spPr>
      </p:sp>
      <p:sp>
        <p:nvSpPr>
          <p:cNvPr id="14" name="Shape 12"/>
          <p:cNvSpPr/>
          <p:nvPr/>
        </p:nvSpPr>
        <p:spPr>
          <a:xfrm>
            <a:off x="607695" y="2350770"/>
            <a:ext cx="133350" cy="152400"/>
          </a:xfrm>
          <a:custGeom>
            <a:avLst/>
            <a:gdLst/>
            <a:ahLst/>
            <a:cxnLst/>
            <a:rect l="l" t="t" r="r" b="b"/>
            <a:pathLst>
              <a:path w="133350" h="152400">
                <a:moveTo>
                  <a:pt x="133350" y="61258"/>
                </a:moveTo>
                <a:cubicBezTo>
                  <a:pt x="128945" y="64175"/>
                  <a:pt x="123885" y="66526"/>
                  <a:pt x="118616" y="68401"/>
                </a:cubicBezTo>
                <a:cubicBezTo>
                  <a:pt x="104626" y="73402"/>
                  <a:pt x="86261" y="76200"/>
                  <a:pt x="66675" y="76200"/>
                </a:cubicBezTo>
                <a:cubicBezTo>
                  <a:pt x="47089" y="76200"/>
                  <a:pt x="28694" y="73372"/>
                  <a:pt x="14734" y="68401"/>
                </a:cubicBezTo>
                <a:cubicBezTo>
                  <a:pt x="9495" y="66526"/>
                  <a:pt x="4405" y="64175"/>
                  <a:pt x="0" y="61258"/>
                </a:cubicBezTo>
                <a:lnTo>
                  <a:pt x="0" y="85725"/>
                </a:lnTo>
                <a:cubicBezTo>
                  <a:pt x="0" y="98881"/>
                  <a:pt x="29855" y="109537"/>
                  <a:pt x="66675" y="109537"/>
                </a:cubicBezTo>
                <a:cubicBezTo>
                  <a:pt x="103495" y="109537"/>
                  <a:pt x="133350" y="98881"/>
                  <a:pt x="133350" y="85725"/>
                </a:cubicBezTo>
                <a:lnTo>
                  <a:pt x="133350" y="61258"/>
                </a:lnTo>
                <a:close/>
                <a:moveTo>
                  <a:pt x="133350" y="38100"/>
                </a:moveTo>
                <a:lnTo>
                  <a:pt x="133350" y="23813"/>
                </a:lnTo>
                <a:cubicBezTo>
                  <a:pt x="133350" y="10656"/>
                  <a:pt x="103495" y="0"/>
                  <a:pt x="66675" y="0"/>
                </a:cubicBezTo>
                <a:cubicBezTo>
                  <a:pt x="29855" y="0"/>
                  <a:pt x="0" y="10656"/>
                  <a:pt x="0" y="23813"/>
                </a:cubicBezTo>
                <a:lnTo>
                  <a:pt x="0" y="38100"/>
                </a:lnTo>
                <a:cubicBezTo>
                  <a:pt x="0" y="51256"/>
                  <a:pt x="29855" y="61912"/>
                  <a:pt x="66675" y="61912"/>
                </a:cubicBezTo>
                <a:cubicBezTo>
                  <a:pt x="103495" y="61912"/>
                  <a:pt x="133350" y="51256"/>
                  <a:pt x="133350" y="38100"/>
                </a:cubicBezTo>
                <a:close/>
                <a:moveTo>
                  <a:pt x="118616" y="116026"/>
                </a:moveTo>
                <a:cubicBezTo>
                  <a:pt x="104656" y="120997"/>
                  <a:pt x="86291" y="123825"/>
                  <a:pt x="66675" y="123825"/>
                </a:cubicBezTo>
                <a:cubicBezTo>
                  <a:pt x="47059" y="123825"/>
                  <a:pt x="28694" y="120997"/>
                  <a:pt x="14734" y="116026"/>
                </a:cubicBezTo>
                <a:cubicBezTo>
                  <a:pt x="9495" y="114151"/>
                  <a:pt x="4405" y="111800"/>
                  <a:pt x="0" y="108883"/>
                </a:cubicBezTo>
                <a:lnTo>
                  <a:pt x="0" y="128588"/>
                </a:lnTo>
                <a:cubicBezTo>
                  <a:pt x="0" y="141744"/>
                  <a:pt x="29855" y="152400"/>
                  <a:pt x="66675" y="152400"/>
                </a:cubicBezTo>
                <a:cubicBezTo>
                  <a:pt x="103495" y="152400"/>
                  <a:pt x="133350" y="141744"/>
                  <a:pt x="133350" y="128588"/>
                </a:cubicBezTo>
                <a:lnTo>
                  <a:pt x="133350" y="108883"/>
                </a:lnTo>
                <a:cubicBezTo>
                  <a:pt x="128945" y="111800"/>
                  <a:pt x="123885" y="114151"/>
                  <a:pt x="118616" y="116026"/>
                </a:cubicBezTo>
                <a:close/>
              </a:path>
            </a:pathLst>
          </a:custGeom>
          <a:solidFill>
            <a:srgbClr val="6366F1"/>
          </a:solidFill>
          <a:ln/>
        </p:spPr>
      </p:sp>
      <p:sp>
        <p:nvSpPr>
          <p:cNvPr id="15" name="Text 13"/>
          <p:cNvSpPr/>
          <p:nvPr/>
        </p:nvSpPr>
        <p:spPr>
          <a:xfrm>
            <a:off x="845820" y="2312670"/>
            <a:ext cx="29432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Memory</a:t>
            </a:r>
            <a:endParaRPr lang="en-US" sz="1600" dirty="0"/>
          </a:p>
        </p:txBody>
      </p:sp>
      <p:sp>
        <p:nvSpPr>
          <p:cNvPr id="16" name="Text 14"/>
          <p:cNvSpPr/>
          <p:nvPr/>
        </p:nvSpPr>
        <p:spPr>
          <a:xfrm>
            <a:off x="845820" y="2541270"/>
            <a:ext cx="29432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Remembers vast amounts of data perfectly</a:t>
            </a:r>
            <a:endParaRPr lang="en-US" sz="1600" dirty="0"/>
          </a:p>
        </p:txBody>
      </p:sp>
      <p:sp>
        <p:nvSpPr>
          <p:cNvPr id="17" name="Shape 15"/>
          <p:cNvSpPr/>
          <p:nvPr/>
        </p:nvSpPr>
        <p:spPr>
          <a:xfrm>
            <a:off x="502920" y="2903220"/>
            <a:ext cx="5391150" cy="609600"/>
          </a:xfrm>
          <a:prstGeom prst="roundRect">
            <a:avLst>
              <a:gd name="adj" fmla="val 12500"/>
            </a:avLst>
          </a:prstGeom>
          <a:solidFill>
            <a:srgbClr val="191919"/>
          </a:solidFill>
          <a:ln/>
        </p:spPr>
      </p:sp>
      <p:sp>
        <p:nvSpPr>
          <p:cNvPr id="18" name="Shape 16"/>
          <p:cNvSpPr/>
          <p:nvPr/>
        </p:nvSpPr>
        <p:spPr>
          <a:xfrm>
            <a:off x="598170" y="3017520"/>
            <a:ext cx="152400" cy="152400"/>
          </a:xfrm>
          <a:custGeom>
            <a:avLst/>
            <a:gdLst/>
            <a:ahLst/>
            <a:cxnLst/>
            <a:rect l="l" t="t" r="r" b="b"/>
            <a:pathLst>
              <a:path w="152400" h="152400">
                <a:moveTo>
                  <a:pt x="129986" y="22235"/>
                </a:moveTo>
                <a:lnTo>
                  <a:pt x="133350" y="25420"/>
                </a:lnTo>
                <a:lnTo>
                  <a:pt x="133350" y="9525"/>
                </a:lnTo>
                <a:cubicBezTo>
                  <a:pt x="133350" y="4256"/>
                  <a:pt x="137606" y="0"/>
                  <a:pt x="142875" y="0"/>
                </a:cubicBezTo>
                <a:cubicBezTo>
                  <a:pt x="148144" y="0"/>
                  <a:pt x="152400" y="4256"/>
                  <a:pt x="152400" y="9525"/>
                </a:cubicBezTo>
                <a:lnTo>
                  <a:pt x="152400" y="47625"/>
                </a:lnTo>
                <a:cubicBezTo>
                  <a:pt x="152400" y="52894"/>
                  <a:pt x="148144" y="57150"/>
                  <a:pt x="142875" y="57150"/>
                </a:cubicBezTo>
                <a:lnTo>
                  <a:pt x="104775" y="57150"/>
                </a:lnTo>
                <a:cubicBezTo>
                  <a:pt x="99506" y="57150"/>
                  <a:pt x="95250" y="52894"/>
                  <a:pt x="95250" y="47625"/>
                </a:cubicBezTo>
                <a:cubicBezTo>
                  <a:pt x="95250" y="42356"/>
                  <a:pt x="99506" y="38100"/>
                  <a:pt x="104775" y="38100"/>
                </a:cubicBezTo>
                <a:lnTo>
                  <a:pt x="119033" y="38100"/>
                </a:lnTo>
                <a:lnTo>
                  <a:pt x="116771" y="35957"/>
                </a:lnTo>
                <a:cubicBezTo>
                  <a:pt x="116711" y="35897"/>
                  <a:pt x="116651" y="35838"/>
                  <a:pt x="116592" y="35778"/>
                </a:cubicBezTo>
                <a:cubicBezTo>
                  <a:pt x="94268" y="13454"/>
                  <a:pt x="58102" y="13454"/>
                  <a:pt x="35778" y="35778"/>
                </a:cubicBezTo>
                <a:cubicBezTo>
                  <a:pt x="13454" y="58103"/>
                  <a:pt x="13454" y="94268"/>
                  <a:pt x="35778" y="116592"/>
                </a:cubicBezTo>
                <a:cubicBezTo>
                  <a:pt x="58102" y="138916"/>
                  <a:pt x="94268" y="138916"/>
                  <a:pt x="116592" y="116592"/>
                </a:cubicBezTo>
                <a:cubicBezTo>
                  <a:pt x="119033" y="114151"/>
                  <a:pt x="121206" y="111562"/>
                  <a:pt x="123111" y="108823"/>
                </a:cubicBezTo>
                <a:cubicBezTo>
                  <a:pt x="126117" y="104507"/>
                  <a:pt x="132070" y="103465"/>
                  <a:pt x="136386" y="106472"/>
                </a:cubicBezTo>
                <a:cubicBezTo>
                  <a:pt x="140702" y="109478"/>
                  <a:pt x="141744" y="115431"/>
                  <a:pt x="138738" y="119747"/>
                </a:cubicBezTo>
                <a:cubicBezTo>
                  <a:pt x="136207" y="123379"/>
                  <a:pt x="133320" y="126831"/>
                  <a:pt x="130076" y="130076"/>
                </a:cubicBezTo>
                <a:cubicBezTo>
                  <a:pt x="100310" y="159841"/>
                  <a:pt x="52060" y="159841"/>
                  <a:pt x="22324" y="130076"/>
                </a:cubicBezTo>
                <a:cubicBezTo>
                  <a:pt x="-7412" y="100310"/>
                  <a:pt x="-7441" y="52090"/>
                  <a:pt x="22324" y="22324"/>
                </a:cubicBezTo>
                <a:cubicBezTo>
                  <a:pt x="52060" y="-7412"/>
                  <a:pt x="100221" y="-7441"/>
                  <a:pt x="129986" y="22235"/>
                </a:cubicBezTo>
                <a:close/>
              </a:path>
            </a:pathLst>
          </a:custGeom>
          <a:solidFill>
            <a:srgbClr val="6366F1"/>
          </a:solidFill>
          <a:ln/>
        </p:spPr>
      </p:sp>
      <p:sp>
        <p:nvSpPr>
          <p:cNvPr id="19" name="Text 17"/>
          <p:cNvSpPr/>
          <p:nvPr/>
        </p:nvSpPr>
        <p:spPr>
          <a:xfrm>
            <a:off x="845820" y="2979420"/>
            <a:ext cx="266700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Repetition</a:t>
            </a:r>
            <a:endParaRPr lang="en-US" sz="1600" dirty="0"/>
          </a:p>
        </p:txBody>
      </p:sp>
      <p:sp>
        <p:nvSpPr>
          <p:cNvPr id="20" name="Text 18"/>
          <p:cNvSpPr/>
          <p:nvPr/>
        </p:nvSpPr>
        <p:spPr>
          <a:xfrm>
            <a:off x="845820" y="3208020"/>
            <a:ext cx="266700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Does boring tasks without getting tired</a:t>
            </a:r>
            <a:endParaRPr lang="en-US" sz="1600" dirty="0"/>
          </a:p>
        </p:txBody>
      </p:sp>
      <p:sp>
        <p:nvSpPr>
          <p:cNvPr id="21" name="Shape 19"/>
          <p:cNvSpPr/>
          <p:nvPr/>
        </p:nvSpPr>
        <p:spPr>
          <a:xfrm>
            <a:off x="502920" y="3569970"/>
            <a:ext cx="5391150" cy="609600"/>
          </a:xfrm>
          <a:prstGeom prst="roundRect">
            <a:avLst>
              <a:gd name="adj" fmla="val 12500"/>
            </a:avLst>
          </a:prstGeom>
          <a:solidFill>
            <a:srgbClr val="191919"/>
          </a:solidFill>
          <a:ln/>
        </p:spPr>
      </p:sp>
      <p:sp>
        <p:nvSpPr>
          <p:cNvPr id="22" name="Shape 20"/>
          <p:cNvSpPr/>
          <p:nvPr/>
        </p:nvSpPr>
        <p:spPr>
          <a:xfrm>
            <a:off x="598170" y="3684270"/>
            <a:ext cx="152400" cy="152400"/>
          </a:xfrm>
          <a:custGeom>
            <a:avLst/>
            <a:gdLst/>
            <a:ahLst/>
            <a:cxnLst/>
            <a:rect l="l" t="t" r="r" b="b"/>
            <a:pathLst>
              <a:path w="152400" h="152400">
                <a:moveTo>
                  <a:pt x="9525" y="9525"/>
                </a:moveTo>
                <a:cubicBezTo>
                  <a:pt x="14794" y="9525"/>
                  <a:pt x="19050" y="13781"/>
                  <a:pt x="19050" y="19050"/>
                </a:cubicBezTo>
                <a:lnTo>
                  <a:pt x="19050" y="119062"/>
                </a:lnTo>
                <a:cubicBezTo>
                  <a:pt x="19050" y="121682"/>
                  <a:pt x="21193" y="123825"/>
                  <a:pt x="23813" y="123825"/>
                </a:cubicBezTo>
                <a:lnTo>
                  <a:pt x="142875" y="123825"/>
                </a:lnTo>
                <a:cubicBezTo>
                  <a:pt x="148144" y="123825"/>
                  <a:pt x="152400" y="128081"/>
                  <a:pt x="152400" y="133350"/>
                </a:cubicBezTo>
                <a:cubicBezTo>
                  <a:pt x="152400" y="138619"/>
                  <a:pt x="148144" y="142875"/>
                  <a:pt x="142875" y="142875"/>
                </a:cubicBezTo>
                <a:lnTo>
                  <a:pt x="23813" y="142875"/>
                </a:lnTo>
                <a:cubicBezTo>
                  <a:pt x="10656" y="142875"/>
                  <a:pt x="0" y="132219"/>
                  <a:pt x="0" y="119062"/>
                </a:cubicBezTo>
                <a:lnTo>
                  <a:pt x="0" y="19050"/>
                </a:lnTo>
                <a:cubicBezTo>
                  <a:pt x="0" y="13781"/>
                  <a:pt x="4256" y="9525"/>
                  <a:pt x="9525" y="9525"/>
                </a:cubicBezTo>
                <a:close/>
                <a:moveTo>
                  <a:pt x="38100" y="28575"/>
                </a:moveTo>
                <a:cubicBezTo>
                  <a:pt x="38100" y="23306"/>
                  <a:pt x="42356" y="19050"/>
                  <a:pt x="47625" y="19050"/>
                </a:cubicBezTo>
                <a:lnTo>
                  <a:pt x="104775" y="19050"/>
                </a:lnTo>
                <a:cubicBezTo>
                  <a:pt x="110044" y="19050"/>
                  <a:pt x="114300" y="23306"/>
                  <a:pt x="114300" y="28575"/>
                </a:cubicBezTo>
                <a:cubicBezTo>
                  <a:pt x="114300" y="33844"/>
                  <a:pt x="110044" y="38100"/>
                  <a:pt x="104775" y="38100"/>
                </a:cubicBezTo>
                <a:lnTo>
                  <a:pt x="47625" y="38100"/>
                </a:lnTo>
                <a:cubicBezTo>
                  <a:pt x="42356" y="38100"/>
                  <a:pt x="38100" y="33844"/>
                  <a:pt x="38100" y="28575"/>
                </a:cubicBezTo>
                <a:close/>
                <a:moveTo>
                  <a:pt x="47625" y="52388"/>
                </a:moveTo>
                <a:lnTo>
                  <a:pt x="85725" y="52388"/>
                </a:lnTo>
                <a:cubicBezTo>
                  <a:pt x="90994" y="52388"/>
                  <a:pt x="95250" y="56644"/>
                  <a:pt x="95250" y="61912"/>
                </a:cubicBezTo>
                <a:cubicBezTo>
                  <a:pt x="95250" y="67181"/>
                  <a:pt x="90994" y="71438"/>
                  <a:pt x="85725" y="71438"/>
                </a:cubicBezTo>
                <a:lnTo>
                  <a:pt x="47625" y="71438"/>
                </a:lnTo>
                <a:cubicBezTo>
                  <a:pt x="42356" y="71438"/>
                  <a:pt x="38100" y="67181"/>
                  <a:pt x="38100" y="61912"/>
                </a:cubicBezTo>
                <a:cubicBezTo>
                  <a:pt x="38100" y="56644"/>
                  <a:pt x="42356" y="52388"/>
                  <a:pt x="47625" y="52388"/>
                </a:cubicBezTo>
                <a:close/>
                <a:moveTo>
                  <a:pt x="47625" y="85725"/>
                </a:moveTo>
                <a:lnTo>
                  <a:pt x="123825" y="85725"/>
                </a:lnTo>
                <a:cubicBezTo>
                  <a:pt x="129094" y="85725"/>
                  <a:pt x="133350" y="89981"/>
                  <a:pt x="133350" y="95250"/>
                </a:cubicBezTo>
                <a:cubicBezTo>
                  <a:pt x="133350" y="100519"/>
                  <a:pt x="129094" y="104775"/>
                  <a:pt x="123825" y="104775"/>
                </a:cubicBezTo>
                <a:lnTo>
                  <a:pt x="47625" y="104775"/>
                </a:lnTo>
                <a:cubicBezTo>
                  <a:pt x="42356" y="104775"/>
                  <a:pt x="38100" y="100519"/>
                  <a:pt x="38100" y="95250"/>
                </a:cubicBezTo>
                <a:cubicBezTo>
                  <a:pt x="38100" y="89981"/>
                  <a:pt x="42356" y="85725"/>
                  <a:pt x="47625" y="85725"/>
                </a:cubicBezTo>
                <a:close/>
              </a:path>
            </a:pathLst>
          </a:custGeom>
          <a:solidFill>
            <a:srgbClr val="6366F1"/>
          </a:solidFill>
          <a:ln/>
        </p:spPr>
      </p:sp>
      <p:sp>
        <p:nvSpPr>
          <p:cNvPr id="23" name="Text 21"/>
          <p:cNvSpPr/>
          <p:nvPr/>
        </p:nvSpPr>
        <p:spPr>
          <a:xfrm>
            <a:off x="845820" y="3646170"/>
            <a:ext cx="26765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Analysis</a:t>
            </a:r>
            <a:endParaRPr lang="en-US" sz="1600" dirty="0"/>
          </a:p>
        </p:txBody>
      </p:sp>
      <p:sp>
        <p:nvSpPr>
          <p:cNvPr id="24" name="Text 22"/>
          <p:cNvSpPr/>
          <p:nvPr/>
        </p:nvSpPr>
        <p:spPr>
          <a:xfrm>
            <a:off x="845820" y="3874770"/>
            <a:ext cx="26765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Finds patterns in huge datasets quickly</a:t>
            </a:r>
            <a:endParaRPr lang="en-US" sz="1600" dirty="0"/>
          </a:p>
        </p:txBody>
      </p:sp>
      <p:sp>
        <p:nvSpPr>
          <p:cNvPr id="25" name="Shape 23"/>
          <p:cNvSpPr/>
          <p:nvPr/>
        </p:nvSpPr>
        <p:spPr>
          <a:xfrm>
            <a:off x="384810" y="4381501"/>
            <a:ext cx="5627370" cy="1264920"/>
          </a:xfrm>
          <a:prstGeom prst="roundRect">
            <a:avLst>
              <a:gd name="adj" fmla="val 9036"/>
            </a:avLst>
          </a:prstGeom>
          <a:solidFill>
            <a:srgbClr val="262626"/>
          </a:solidFill>
          <a:ln w="10160">
            <a:solidFill>
              <a:srgbClr val="333333"/>
            </a:solidFill>
            <a:prstDash val="solid"/>
          </a:ln>
        </p:spPr>
      </p:sp>
      <p:sp>
        <p:nvSpPr>
          <p:cNvPr id="26" name="Text 24"/>
          <p:cNvSpPr/>
          <p:nvPr/>
        </p:nvSpPr>
        <p:spPr>
          <a:xfrm>
            <a:off x="502920" y="4499611"/>
            <a:ext cx="547687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 Simple Explanation</a:t>
            </a:r>
            <a:endParaRPr lang="en-US" sz="1600" dirty="0"/>
          </a:p>
        </p:txBody>
      </p:sp>
      <p:sp>
        <p:nvSpPr>
          <p:cNvPr id="27" name="Text 25"/>
          <p:cNvSpPr/>
          <p:nvPr/>
        </p:nvSpPr>
        <p:spPr>
          <a:xfrm>
            <a:off x="502920" y="4842511"/>
            <a:ext cx="546735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AI and humans make a great team! AI handles data and speed, while humans bring creativity and wisdom. Together, they can solve problems neither could alone.</a:t>
            </a:r>
            <a:endParaRPr lang="en-US" sz="1600" dirty="0"/>
          </a:p>
        </p:txBody>
      </p:sp>
      <p:sp>
        <p:nvSpPr>
          <p:cNvPr id="28" name="Shape 26"/>
          <p:cNvSpPr/>
          <p:nvPr/>
        </p:nvSpPr>
        <p:spPr>
          <a:xfrm>
            <a:off x="6176010" y="1108710"/>
            <a:ext cx="5627370" cy="3188970"/>
          </a:xfrm>
          <a:prstGeom prst="roundRect">
            <a:avLst>
              <a:gd name="adj" fmla="val 3584"/>
            </a:avLst>
          </a:prstGeom>
          <a:gradFill rotWithShape="1" flip="none">
            <a:gsLst>
              <a:gs pos="0">
                <a:srgbClr val="FF6900">
                  <a:alpha val="20000"/>
                </a:srgbClr>
              </a:gs>
              <a:gs pos="100000">
                <a:srgbClr val="FF6900">
                  <a:alpha val="5000"/>
                </a:srgbClr>
              </a:gs>
            </a:gsLst>
            <a:lin ang="2700000" scaled="1"/>
          </a:gradFill>
          <a:ln w="10160">
            <a:solidFill>
              <a:srgbClr val="FF6900"/>
            </a:solidFill>
            <a:prstDash val="solid"/>
          </a:ln>
        </p:spPr>
      </p:sp>
      <p:sp>
        <p:nvSpPr>
          <p:cNvPr id="29" name="Shape 27"/>
          <p:cNvSpPr/>
          <p:nvPr/>
        </p:nvSpPr>
        <p:spPr>
          <a:xfrm>
            <a:off x="6336982" y="1245870"/>
            <a:ext cx="200025" cy="228600"/>
          </a:xfrm>
          <a:custGeom>
            <a:avLst/>
            <a:gdLst/>
            <a:ahLst/>
            <a:cxnLst/>
            <a:rect l="l" t="t" r="r" b="b"/>
            <a:pathLst>
              <a:path w="200025" h="228600">
                <a:moveTo>
                  <a:pt x="100013" y="110728"/>
                </a:moveTo>
                <a:cubicBezTo>
                  <a:pt x="129583" y="110728"/>
                  <a:pt x="153591" y="86721"/>
                  <a:pt x="153591" y="57150"/>
                </a:cubicBezTo>
                <a:cubicBezTo>
                  <a:pt x="153591" y="27579"/>
                  <a:pt x="129583" y="3572"/>
                  <a:pt x="100013" y="3572"/>
                </a:cubicBezTo>
                <a:cubicBezTo>
                  <a:pt x="70442" y="3572"/>
                  <a:pt x="46434" y="27579"/>
                  <a:pt x="46434" y="57150"/>
                </a:cubicBezTo>
                <a:cubicBezTo>
                  <a:pt x="46434" y="86721"/>
                  <a:pt x="70442" y="110728"/>
                  <a:pt x="100012" y="110728"/>
                </a:cubicBezTo>
                <a:close/>
                <a:moveTo>
                  <a:pt x="86752" y="135731"/>
                </a:moveTo>
                <a:cubicBezTo>
                  <a:pt x="42773" y="135731"/>
                  <a:pt x="7144" y="171361"/>
                  <a:pt x="7144" y="215339"/>
                </a:cubicBezTo>
                <a:cubicBezTo>
                  <a:pt x="7144" y="222662"/>
                  <a:pt x="13082" y="228600"/>
                  <a:pt x="20404" y="228600"/>
                </a:cubicBezTo>
                <a:lnTo>
                  <a:pt x="179621" y="228600"/>
                </a:lnTo>
                <a:cubicBezTo>
                  <a:pt x="186943" y="228600"/>
                  <a:pt x="192881" y="222662"/>
                  <a:pt x="192881" y="215339"/>
                </a:cubicBezTo>
                <a:cubicBezTo>
                  <a:pt x="192881" y="171361"/>
                  <a:pt x="157252" y="135731"/>
                  <a:pt x="113273" y="135731"/>
                </a:cubicBezTo>
                <a:lnTo>
                  <a:pt x="86752" y="135731"/>
                </a:lnTo>
                <a:close/>
              </a:path>
            </a:pathLst>
          </a:custGeom>
          <a:solidFill>
            <a:srgbClr val="FF6900"/>
          </a:solidFill>
          <a:ln/>
        </p:spPr>
      </p:sp>
      <p:sp>
        <p:nvSpPr>
          <p:cNvPr id="30" name="Text 28"/>
          <p:cNvSpPr/>
          <p:nvPr/>
        </p:nvSpPr>
        <p:spPr>
          <a:xfrm>
            <a:off x="6656070" y="1226820"/>
            <a:ext cx="2124075"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What Humans Do Better</a:t>
            </a:r>
            <a:endParaRPr lang="en-US" sz="1600" dirty="0"/>
          </a:p>
        </p:txBody>
      </p:sp>
      <p:sp>
        <p:nvSpPr>
          <p:cNvPr id="31" name="Shape 29"/>
          <p:cNvSpPr/>
          <p:nvPr/>
        </p:nvSpPr>
        <p:spPr>
          <a:xfrm>
            <a:off x="6294120" y="1569720"/>
            <a:ext cx="5391150" cy="609600"/>
          </a:xfrm>
          <a:prstGeom prst="roundRect">
            <a:avLst>
              <a:gd name="adj" fmla="val 12500"/>
            </a:avLst>
          </a:prstGeom>
          <a:solidFill>
            <a:srgbClr val="191919"/>
          </a:solidFill>
          <a:ln/>
        </p:spPr>
      </p:sp>
      <p:sp>
        <p:nvSpPr>
          <p:cNvPr id="32" name="Shape 30"/>
          <p:cNvSpPr/>
          <p:nvPr/>
        </p:nvSpPr>
        <p:spPr>
          <a:xfrm>
            <a:off x="6389370" y="1684020"/>
            <a:ext cx="152400" cy="152400"/>
          </a:xfrm>
          <a:custGeom>
            <a:avLst/>
            <a:gdLst/>
            <a:ahLst/>
            <a:cxnLst/>
            <a:rect l="l" t="t" r="r" b="b"/>
            <a:pathLst>
              <a:path w="152400" h="152400">
                <a:moveTo>
                  <a:pt x="71735" y="25926"/>
                </a:moveTo>
                <a:lnTo>
                  <a:pt x="76200" y="32087"/>
                </a:lnTo>
                <a:lnTo>
                  <a:pt x="80665" y="25926"/>
                </a:lnTo>
                <a:cubicBezTo>
                  <a:pt x="88106" y="15627"/>
                  <a:pt x="100072" y="9525"/>
                  <a:pt x="112782" y="9525"/>
                </a:cubicBezTo>
                <a:cubicBezTo>
                  <a:pt x="134660" y="9525"/>
                  <a:pt x="152400" y="27265"/>
                  <a:pt x="152400" y="49143"/>
                </a:cubicBezTo>
                <a:lnTo>
                  <a:pt x="152400" y="49917"/>
                </a:lnTo>
                <a:cubicBezTo>
                  <a:pt x="152400" y="83314"/>
                  <a:pt x="110758" y="122099"/>
                  <a:pt x="89029" y="138678"/>
                </a:cubicBezTo>
                <a:cubicBezTo>
                  <a:pt x="85338" y="141476"/>
                  <a:pt x="80814" y="142875"/>
                  <a:pt x="76200" y="142875"/>
                </a:cubicBezTo>
                <a:cubicBezTo>
                  <a:pt x="71586" y="142875"/>
                  <a:pt x="67032" y="141506"/>
                  <a:pt x="63371" y="138678"/>
                </a:cubicBezTo>
                <a:cubicBezTo>
                  <a:pt x="41642" y="122099"/>
                  <a:pt x="0" y="83314"/>
                  <a:pt x="0" y="49917"/>
                </a:cubicBezTo>
                <a:lnTo>
                  <a:pt x="0" y="49143"/>
                </a:lnTo>
                <a:cubicBezTo>
                  <a:pt x="0" y="27265"/>
                  <a:pt x="17740" y="9525"/>
                  <a:pt x="39618" y="9525"/>
                </a:cubicBezTo>
                <a:cubicBezTo>
                  <a:pt x="52328" y="9525"/>
                  <a:pt x="64294" y="15627"/>
                  <a:pt x="71735" y="25926"/>
                </a:cubicBezTo>
                <a:close/>
              </a:path>
            </a:pathLst>
          </a:custGeom>
          <a:solidFill>
            <a:srgbClr val="FF6900"/>
          </a:solidFill>
          <a:ln/>
        </p:spPr>
      </p:sp>
      <p:sp>
        <p:nvSpPr>
          <p:cNvPr id="33" name="Text 31"/>
          <p:cNvSpPr/>
          <p:nvPr/>
        </p:nvSpPr>
        <p:spPr>
          <a:xfrm>
            <a:off x="6637020" y="1645920"/>
            <a:ext cx="30194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Emotions</a:t>
            </a:r>
            <a:endParaRPr lang="en-US" sz="1600" dirty="0"/>
          </a:p>
        </p:txBody>
      </p:sp>
      <p:sp>
        <p:nvSpPr>
          <p:cNvPr id="34" name="Text 32"/>
          <p:cNvSpPr/>
          <p:nvPr/>
        </p:nvSpPr>
        <p:spPr>
          <a:xfrm>
            <a:off x="6637020" y="1874520"/>
            <a:ext cx="30194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Understands feelings, empathy, and context</a:t>
            </a:r>
            <a:endParaRPr lang="en-US" sz="1600" dirty="0"/>
          </a:p>
        </p:txBody>
      </p:sp>
      <p:sp>
        <p:nvSpPr>
          <p:cNvPr id="35" name="Shape 33"/>
          <p:cNvSpPr/>
          <p:nvPr/>
        </p:nvSpPr>
        <p:spPr>
          <a:xfrm>
            <a:off x="6294120" y="2236470"/>
            <a:ext cx="5391150" cy="609600"/>
          </a:xfrm>
          <a:prstGeom prst="roundRect">
            <a:avLst>
              <a:gd name="adj" fmla="val 12500"/>
            </a:avLst>
          </a:prstGeom>
          <a:solidFill>
            <a:srgbClr val="191919"/>
          </a:solidFill>
          <a:ln/>
        </p:spPr>
      </p:sp>
      <p:sp>
        <p:nvSpPr>
          <p:cNvPr id="36" name="Shape 34"/>
          <p:cNvSpPr/>
          <p:nvPr/>
        </p:nvSpPr>
        <p:spPr>
          <a:xfrm>
            <a:off x="6389370" y="2350770"/>
            <a:ext cx="152400" cy="152400"/>
          </a:xfrm>
          <a:custGeom>
            <a:avLst/>
            <a:gdLst/>
            <a:ahLst/>
            <a:cxnLst/>
            <a:rect l="l" t="t" r="r" b="b"/>
            <a:pathLst>
              <a:path w="152400" h="152400">
                <a:moveTo>
                  <a:pt x="152400" y="76200"/>
                </a:moveTo>
                <a:cubicBezTo>
                  <a:pt x="152400" y="76468"/>
                  <a:pt x="152400" y="76736"/>
                  <a:pt x="152400" y="77004"/>
                </a:cubicBezTo>
                <a:cubicBezTo>
                  <a:pt x="152281" y="87868"/>
                  <a:pt x="142399" y="95250"/>
                  <a:pt x="131534" y="95250"/>
                </a:cubicBezTo>
                <a:lnTo>
                  <a:pt x="102394" y="95250"/>
                </a:lnTo>
                <a:cubicBezTo>
                  <a:pt x="94506" y="95250"/>
                  <a:pt x="88106" y="101650"/>
                  <a:pt x="88106" y="109537"/>
                </a:cubicBezTo>
                <a:cubicBezTo>
                  <a:pt x="88106" y="110550"/>
                  <a:pt x="88225" y="111532"/>
                  <a:pt x="88404" y="112484"/>
                </a:cubicBezTo>
                <a:cubicBezTo>
                  <a:pt x="89029" y="115520"/>
                  <a:pt x="90339" y="118437"/>
                  <a:pt x="91619" y="121384"/>
                </a:cubicBezTo>
                <a:cubicBezTo>
                  <a:pt x="93434" y="125492"/>
                  <a:pt x="95220" y="129570"/>
                  <a:pt x="95220" y="133886"/>
                </a:cubicBezTo>
                <a:cubicBezTo>
                  <a:pt x="95220" y="143351"/>
                  <a:pt x="88791" y="151954"/>
                  <a:pt x="79325" y="152340"/>
                </a:cubicBezTo>
                <a:cubicBezTo>
                  <a:pt x="78284" y="152370"/>
                  <a:pt x="77242" y="152400"/>
                  <a:pt x="76170" y="152400"/>
                </a:cubicBezTo>
                <a:cubicBezTo>
                  <a:pt x="34082" y="152400"/>
                  <a:pt x="-30" y="118289"/>
                  <a:pt x="-30" y="76200"/>
                </a:cubicBezTo>
                <a:cubicBezTo>
                  <a:pt x="-30" y="34111"/>
                  <a:pt x="34111" y="0"/>
                  <a:pt x="76200" y="0"/>
                </a:cubicBezTo>
                <a:cubicBezTo>
                  <a:pt x="118289" y="0"/>
                  <a:pt x="152400" y="34111"/>
                  <a:pt x="152400" y="76200"/>
                </a:cubicBezTo>
                <a:close/>
                <a:moveTo>
                  <a:pt x="38100" y="85725"/>
                </a:moveTo>
                <a:cubicBezTo>
                  <a:pt x="38100" y="80468"/>
                  <a:pt x="33832" y="76200"/>
                  <a:pt x="28575" y="76200"/>
                </a:cubicBezTo>
                <a:cubicBezTo>
                  <a:pt x="23318" y="76200"/>
                  <a:pt x="19050" y="80468"/>
                  <a:pt x="19050" y="85725"/>
                </a:cubicBezTo>
                <a:cubicBezTo>
                  <a:pt x="19050" y="90982"/>
                  <a:pt x="23318" y="95250"/>
                  <a:pt x="28575" y="95250"/>
                </a:cubicBezTo>
                <a:cubicBezTo>
                  <a:pt x="33832" y="95250"/>
                  <a:pt x="38100" y="90982"/>
                  <a:pt x="38100" y="85725"/>
                </a:cubicBezTo>
                <a:close/>
                <a:moveTo>
                  <a:pt x="38100" y="57150"/>
                </a:moveTo>
                <a:cubicBezTo>
                  <a:pt x="43357" y="57150"/>
                  <a:pt x="47625" y="52882"/>
                  <a:pt x="47625" y="47625"/>
                </a:cubicBezTo>
                <a:cubicBezTo>
                  <a:pt x="47625" y="42368"/>
                  <a:pt x="43357" y="38100"/>
                  <a:pt x="38100" y="38100"/>
                </a:cubicBezTo>
                <a:cubicBezTo>
                  <a:pt x="32843" y="38100"/>
                  <a:pt x="28575" y="42368"/>
                  <a:pt x="28575" y="47625"/>
                </a:cubicBezTo>
                <a:cubicBezTo>
                  <a:pt x="28575" y="52882"/>
                  <a:pt x="32843" y="57150"/>
                  <a:pt x="38100" y="57150"/>
                </a:cubicBezTo>
                <a:close/>
                <a:moveTo>
                  <a:pt x="85725" y="28575"/>
                </a:moveTo>
                <a:cubicBezTo>
                  <a:pt x="85725" y="23318"/>
                  <a:pt x="81457" y="19050"/>
                  <a:pt x="76200" y="19050"/>
                </a:cubicBezTo>
                <a:cubicBezTo>
                  <a:pt x="70943" y="19050"/>
                  <a:pt x="66675" y="23318"/>
                  <a:pt x="66675" y="28575"/>
                </a:cubicBezTo>
                <a:cubicBezTo>
                  <a:pt x="66675" y="33832"/>
                  <a:pt x="70943" y="38100"/>
                  <a:pt x="76200" y="38100"/>
                </a:cubicBezTo>
                <a:cubicBezTo>
                  <a:pt x="81457" y="38100"/>
                  <a:pt x="85725" y="33832"/>
                  <a:pt x="85725" y="28575"/>
                </a:cubicBezTo>
                <a:close/>
                <a:moveTo>
                  <a:pt x="114300" y="57150"/>
                </a:moveTo>
                <a:cubicBezTo>
                  <a:pt x="119557" y="57150"/>
                  <a:pt x="123825" y="52882"/>
                  <a:pt x="123825" y="47625"/>
                </a:cubicBezTo>
                <a:cubicBezTo>
                  <a:pt x="123825" y="42368"/>
                  <a:pt x="119557" y="38100"/>
                  <a:pt x="114300" y="38100"/>
                </a:cubicBezTo>
                <a:cubicBezTo>
                  <a:pt x="109043" y="38100"/>
                  <a:pt x="104775" y="42368"/>
                  <a:pt x="104775" y="47625"/>
                </a:cubicBezTo>
                <a:cubicBezTo>
                  <a:pt x="104775" y="52882"/>
                  <a:pt x="109043" y="57150"/>
                  <a:pt x="114300" y="57150"/>
                </a:cubicBezTo>
                <a:close/>
              </a:path>
            </a:pathLst>
          </a:custGeom>
          <a:solidFill>
            <a:srgbClr val="FF6900"/>
          </a:solidFill>
          <a:ln/>
        </p:spPr>
      </p:sp>
      <p:sp>
        <p:nvSpPr>
          <p:cNvPr id="37" name="Text 35"/>
          <p:cNvSpPr/>
          <p:nvPr/>
        </p:nvSpPr>
        <p:spPr>
          <a:xfrm>
            <a:off x="6637020" y="2312670"/>
            <a:ext cx="251460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Creativity</a:t>
            </a:r>
            <a:endParaRPr lang="en-US" sz="1600" dirty="0"/>
          </a:p>
        </p:txBody>
      </p:sp>
      <p:sp>
        <p:nvSpPr>
          <p:cNvPr id="38" name="Text 36"/>
          <p:cNvSpPr/>
          <p:nvPr/>
        </p:nvSpPr>
        <p:spPr>
          <a:xfrm>
            <a:off x="6637020" y="2541270"/>
            <a:ext cx="251460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Creates art, music, and original ideas</a:t>
            </a:r>
            <a:endParaRPr lang="en-US" sz="1600" dirty="0"/>
          </a:p>
        </p:txBody>
      </p:sp>
      <p:sp>
        <p:nvSpPr>
          <p:cNvPr id="39" name="Shape 37"/>
          <p:cNvSpPr/>
          <p:nvPr/>
        </p:nvSpPr>
        <p:spPr>
          <a:xfrm>
            <a:off x="6294120" y="2903220"/>
            <a:ext cx="5391150" cy="609600"/>
          </a:xfrm>
          <a:prstGeom prst="roundRect">
            <a:avLst>
              <a:gd name="adj" fmla="val 12500"/>
            </a:avLst>
          </a:prstGeom>
          <a:solidFill>
            <a:srgbClr val="191919"/>
          </a:solidFill>
          <a:ln/>
        </p:spPr>
      </p:sp>
      <p:sp>
        <p:nvSpPr>
          <p:cNvPr id="40" name="Shape 38"/>
          <p:cNvSpPr/>
          <p:nvPr/>
        </p:nvSpPr>
        <p:spPr>
          <a:xfrm>
            <a:off x="6370320" y="3017520"/>
            <a:ext cx="190500" cy="152400"/>
          </a:xfrm>
          <a:custGeom>
            <a:avLst/>
            <a:gdLst/>
            <a:ahLst/>
            <a:cxnLst/>
            <a:rect l="l" t="t" r="r" b="b"/>
            <a:pathLst>
              <a:path w="190500" h="152400">
                <a:moveTo>
                  <a:pt x="114300" y="9525"/>
                </a:moveTo>
                <a:lnTo>
                  <a:pt x="152400" y="9525"/>
                </a:lnTo>
                <a:cubicBezTo>
                  <a:pt x="157669" y="9525"/>
                  <a:pt x="161925" y="13781"/>
                  <a:pt x="161925" y="19050"/>
                </a:cubicBezTo>
                <a:cubicBezTo>
                  <a:pt x="161925" y="24319"/>
                  <a:pt x="157669" y="28575"/>
                  <a:pt x="152400" y="28575"/>
                </a:cubicBezTo>
                <a:lnTo>
                  <a:pt x="118586" y="28575"/>
                </a:lnTo>
                <a:cubicBezTo>
                  <a:pt x="117038" y="36255"/>
                  <a:pt x="111770" y="42595"/>
                  <a:pt x="104775" y="45631"/>
                </a:cubicBezTo>
                <a:lnTo>
                  <a:pt x="104775" y="133350"/>
                </a:lnTo>
                <a:lnTo>
                  <a:pt x="152400" y="133350"/>
                </a:lnTo>
                <a:cubicBezTo>
                  <a:pt x="157669" y="133350"/>
                  <a:pt x="161925" y="137606"/>
                  <a:pt x="161925" y="142875"/>
                </a:cubicBezTo>
                <a:cubicBezTo>
                  <a:pt x="161925" y="148144"/>
                  <a:pt x="157669" y="152400"/>
                  <a:pt x="152400" y="152400"/>
                </a:cubicBezTo>
                <a:lnTo>
                  <a:pt x="38100" y="152400"/>
                </a:lnTo>
                <a:cubicBezTo>
                  <a:pt x="32831" y="152400"/>
                  <a:pt x="28575" y="148144"/>
                  <a:pt x="28575" y="142875"/>
                </a:cubicBezTo>
                <a:cubicBezTo>
                  <a:pt x="28575" y="137606"/>
                  <a:pt x="32831" y="133350"/>
                  <a:pt x="38100" y="133350"/>
                </a:cubicBezTo>
                <a:lnTo>
                  <a:pt x="85725" y="133350"/>
                </a:lnTo>
                <a:lnTo>
                  <a:pt x="85725" y="45631"/>
                </a:lnTo>
                <a:cubicBezTo>
                  <a:pt x="78730" y="42565"/>
                  <a:pt x="73462" y="36225"/>
                  <a:pt x="71914" y="28575"/>
                </a:cubicBezTo>
                <a:lnTo>
                  <a:pt x="38100" y="28575"/>
                </a:lnTo>
                <a:cubicBezTo>
                  <a:pt x="32831" y="28575"/>
                  <a:pt x="28575" y="24319"/>
                  <a:pt x="28575" y="19050"/>
                </a:cubicBezTo>
                <a:cubicBezTo>
                  <a:pt x="28575" y="13781"/>
                  <a:pt x="32831" y="9525"/>
                  <a:pt x="38100" y="9525"/>
                </a:cubicBezTo>
                <a:lnTo>
                  <a:pt x="76200" y="9525"/>
                </a:lnTo>
                <a:cubicBezTo>
                  <a:pt x="80546" y="3750"/>
                  <a:pt x="87451" y="0"/>
                  <a:pt x="95250" y="0"/>
                </a:cubicBezTo>
                <a:cubicBezTo>
                  <a:pt x="103049" y="0"/>
                  <a:pt x="109954" y="3750"/>
                  <a:pt x="114300" y="9525"/>
                </a:cubicBezTo>
                <a:close/>
                <a:moveTo>
                  <a:pt x="130850" y="95250"/>
                </a:moveTo>
                <a:lnTo>
                  <a:pt x="173950" y="95250"/>
                </a:lnTo>
                <a:lnTo>
                  <a:pt x="152400" y="58281"/>
                </a:lnTo>
                <a:lnTo>
                  <a:pt x="130850" y="95250"/>
                </a:lnTo>
                <a:close/>
                <a:moveTo>
                  <a:pt x="152400" y="123825"/>
                </a:moveTo>
                <a:cubicBezTo>
                  <a:pt x="133677" y="123825"/>
                  <a:pt x="118110" y="113705"/>
                  <a:pt x="114895" y="100340"/>
                </a:cubicBezTo>
                <a:cubicBezTo>
                  <a:pt x="114121" y="97066"/>
                  <a:pt x="115193" y="93702"/>
                  <a:pt x="116890" y="90785"/>
                </a:cubicBezTo>
                <a:lnTo>
                  <a:pt x="145226" y="42208"/>
                </a:lnTo>
                <a:cubicBezTo>
                  <a:pt x="146715" y="39648"/>
                  <a:pt x="149453" y="38100"/>
                  <a:pt x="152400" y="38100"/>
                </a:cubicBezTo>
                <a:cubicBezTo>
                  <a:pt x="155347" y="38100"/>
                  <a:pt x="158085" y="39678"/>
                  <a:pt x="159574" y="42208"/>
                </a:cubicBezTo>
                <a:lnTo>
                  <a:pt x="187910" y="90785"/>
                </a:lnTo>
                <a:cubicBezTo>
                  <a:pt x="189607" y="93702"/>
                  <a:pt x="190679" y="97066"/>
                  <a:pt x="189905" y="100340"/>
                </a:cubicBezTo>
                <a:cubicBezTo>
                  <a:pt x="186690" y="113675"/>
                  <a:pt x="171123" y="123825"/>
                  <a:pt x="152400" y="123825"/>
                </a:cubicBezTo>
                <a:close/>
                <a:moveTo>
                  <a:pt x="37743" y="58281"/>
                </a:moveTo>
                <a:lnTo>
                  <a:pt x="16193" y="95250"/>
                </a:lnTo>
                <a:lnTo>
                  <a:pt x="59323" y="95250"/>
                </a:lnTo>
                <a:lnTo>
                  <a:pt x="37743" y="58281"/>
                </a:lnTo>
                <a:close/>
                <a:moveTo>
                  <a:pt x="268" y="100340"/>
                </a:moveTo>
                <a:cubicBezTo>
                  <a:pt x="-506" y="97066"/>
                  <a:pt x="566" y="93702"/>
                  <a:pt x="2262" y="90785"/>
                </a:cubicBezTo>
                <a:lnTo>
                  <a:pt x="30599" y="42208"/>
                </a:lnTo>
                <a:cubicBezTo>
                  <a:pt x="32087" y="39648"/>
                  <a:pt x="34826" y="38100"/>
                  <a:pt x="37773" y="38100"/>
                </a:cubicBezTo>
                <a:cubicBezTo>
                  <a:pt x="40719" y="38100"/>
                  <a:pt x="43458" y="39678"/>
                  <a:pt x="44946" y="42208"/>
                </a:cubicBezTo>
                <a:lnTo>
                  <a:pt x="73283" y="90785"/>
                </a:lnTo>
                <a:cubicBezTo>
                  <a:pt x="74980" y="93702"/>
                  <a:pt x="76051" y="97066"/>
                  <a:pt x="75277" y="100340"/>
                </a:cubicBezTo>
                <a:cubicBezTo>
                  <a:pt x="72063" y="113675"/>
                  <a:pt x="56495" y="123825"/>
                  <a:pt x="37773" y="123825"/>
                </a:cubicBezTo>
                <a:cubicBezTo>
                  <a:pt x="19050" y="123825"/>
                  <a:pt x="3483" y="113705"/>
                  <a:pt x="268" y="100340"/>
                </a:cubicBezTo>
                <a:close/>
              </a:path>
            </a:pathLst>
          </a:custGeom>
          <a:solidFill>
            <a:srgbClr val="FF6900"/>
          </a:solidFill>
          <a:ln/>
        </p:spPr>
      </p:sp>
      <p:sp>
        <p:nvSpPr>
          <p:cNvPr id="41" name="Text 39"/>
          <p:cNvSpPr/>
          <p:nvPr/>
        </p:nvSpPr>
        <p:spPr>
          <a:xfrm>
            <a:off x="6637020" y="2979420"/>
            <a:ext cx="29146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Common Sense</a:t>
            </a:r>
            <a:endParaRPr lang="en-US" sz="1600" dirty="0"/>
          </a:p>
        </p:txBody>
      </p:sp>
      <p:sp>
        <p:nvSpPr>
          <p:cNvPr id="42" name="Text 40"/>
          <p:cNvSpPr/>
          <p:nvPr/>
        </p:nvSpPr>
        <p:spPr>
          <a:xfrm>
            <a:off x="6637020" y="3208020"/>
            <a:ext cx="291465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Makes judgments based on life experience</a:t>
            </a:r>
            <a:endParaRPr lang="en-US" sz="1600" dirty="0"/>
          </a:p>
        </p:txBody>
      </p:sp>
      <p:sp>
        <p:nvSpPr>
          <p:cNvPr id="43" name="Shape 41"/>
          <p:cNvSpPr/>
          <p:nvPr/>
        </p:nvSpPr>
        <p:spPr>
          <a:xfrm>
            <a:off x="6294120" y="3569970"/>
            <a:ext cx="5391150" cy="609600"/>
          </a:xfrm>
          <a:prstGeom prst="roundRect">
            <a:avLst>
              <a:gd name="adj" fmla="val 12500"/>
            </a:avLst>
          </a:prstGeom>
          <a:solidFill>
            <a:srgbClr val="191919"/>
          </a:solidFill>
          <a:ln/>
        </p:spPr>
      </p:sp>
      <p:sp>
        <p:nvSpPr>
          <p:cNvPr id="44" name="Shape 42"/>
          <p:cNvSpPr/>
          <p:nvPr/>
        </p:nvSpPr>
        <p:spPr>
          <a:xfrm>
            <a:off x="6379845" y="3684270"/>
            <a:ext cx="171450" cy="152400"/>
          </a:xfrm>
          <a:custGeom>
            <a:avLst/>
            <a:gdLst/>
            <a:ahLst/>
            <a:cxnLst/>
            <a:rect l="l" t="t" r="r" b="b"/>
            <a:pathLst>
              <a:path w="171450" h="152400">
                <a:moveTo>
                  <a:pt x="80040" y="25360"/>
                </a:moveTo>
                <a:lnTo>
                  <a:pt x="45333" y="63937"/>
                </a:lnTo>
                <a:cubicBezTo>
                  <a:pt x="43964" y="65455"/>
                  <a:pt x="44023" y="67806"/>
                  <a:pt x="45482" y="69265"/>
                </a:cubicBezTo>
                <a:cubicBezTo>
                  <a:pt x="54560" y="78343"/>
                  <a:pt x="69294" y="78343"/>
                  <a:pt x="78373" y="69265"/>
                </a:cubicBezTo>
                <a:lnTo>
                  <a:pt x="87838" y="59799"/>
                </a:lnTo>
                <a:cubicBezTo>
                  <a:pt x="89089" y="58549"/>
                  <a:pt x="90666" y="57864"/>
                  <a:pt x="92273" y="57745"/>
                </a:cubicBezTo>
                <a:cubicBezTo>
                  <a:pt x="94298" y="57567"/>
                  <a:pt x="96381" y="58251"/>
                  <a:pt x="97929" y="59799"/>
                </a:cubicBezTo>
                <a:lnTo>
                  <a:pt x="150495" y="111919"/>
                </a:lnTo>
                <a:lnTo>
                  <a:pt x="171450" y="95250"/>
                </a:lnTo>
                <a:lnTo>
                  <a:pt x="171450" y="9525"/>
                </a:lnTo>
                <a:lnTo>
                  <a:pt x="138113" y="28575"/>
                </a:lnTo>
                <a:lnTo>
                  <a:pt x="131028" y="23842"/>
                </a:lnTo>
                <a:cubicBezTo>
                  <a:pt x="126325" y="20717"/>
                  <a:pt x="120819" y="19050"/>
                  <a:pt x="115163" y="19050"/>
                </a:cubicBezTo>
                <a:lnTo>
                  <a:pt x="94208" y="19050"/>
                </a:lnTo>
                <a:cubicBezTo>
                  <a:pt x="93881" y="19050"/>
                  <a:pt x="93524" y="19050"/>
                  <a:pt x="93196" y="19080"/>
                </a:cubicBezTo>
                <a:cubicBezTo>
                  <a:pt x="88166" y="19348"/>
                  <a:pt x="83433" y="21610"/>
                  <a:pt x="80040" y="25360"/>
                </a:cubicBezTo>
                <a:close/>
                <a:moveTo>
                  <a:pt x="34707" y="54382"/>
                </a:moveTo>
                <a:lnTo>
                  <a:pt x="66496" y="19050"/>
                </a:lnTo>
                <a:lnTo>
                  <a:pt x="54709" y="19050"/>
                </a:lnTo>
                <a:cubicBezTo>
                  <a:pt x="47119" y="19050"/>
                  <a:pt x="39856" y="22056"/>
                  <a:pt x="34498" y="27414"/>
                </a:cubicBezTo>
                <a:lnTo>
                  <a:pt x="33338" y="28575"/>
                </a:lnTo>
                <a:lnTo>
                  <a:pt x="0" y="9525"/>
                </a:lnTo>
                <a:lnTo>
                  <a:pt x="0" y="95250"/>
                </a:lnTo>
                <a:lnTo>
                  <a:pt x="46553" y="134035"/>
                </a:lnTo>
                <a:cubicBezTo>
                  <a:pt x="53400" y="139750"/>
                  <a:pt x="62032" y="142875"/>
                  <a:pt x="70931" y="142875"/>
                </a:cubicBezTo>
                <a:lnTo>
                  <a:pt x="75605" y="142875"/>
                </a:lnTo>
                <a:lnTo>
                  <a:pt x="73521" y="140791"/>
                </a:lnTo>
                <a:cubicBezTo>
                  <a:pt x="70723" y="137993"/>
                  <a:pt x="70723" y="133469"/>
                  <a:pt x="73521" y="130701"/>
                </a:cubicBezTo>
                <a:cubicBezTo>
                  <a:pt x="76319" y="127933"/>
                  <a:pt x="80843" y="127903"/>
                  <a:pt x="83612" y="130701"/>
                </a:cubicBezTo>
                <a:lnTo>
                  <a:pt x="95816" y="142905"/>
                </a:lnTo>
                <a:lnTo>
                  <a:pt x="98494" y="142905"/>
                </a:lnTo>
                <a:cubicBezTo>
                  <a:pt x="104180" y="142905"/>
                  <a:pt x="109746" y="141625"/>
                  <a:pt x="114806" y="139244"/>
                </a:cubicBezTo>
                <a:lnTo>
                  <a:pt x="106859" y="131266"/>
                </a:lnTo>
                <a:cubicBezTo>
                  <a:pt x="104061" y="128468"/>
                  <a:pt x="104061" y="123944"/>
                  <a:pt x="106859" y="121176"/>
                </a:cubicBezTo>
                <a:cubicBezTo>
                  <a:pt x="109657" y="118408"/>
                  <a:pt x="114181" y="118378"/>
                  <a:pt x="116949" y="121176"/>
                </a:cubicBezTo>
                <a:lnTo>
                  <a:pt x="126474" y="130701"/>
                </a:lnTo>
                <a:lnTo>
                  <a:pt x="131683" y="125492"/>
                </a:lnTo>
                <a:cubicBezTo>
                  <a:pt x="134332" y="122843"/>
                  <a:pt x="135106" y="119003"/>
                  <a:pt x="133945" y="115639"/>
                </a:cubicBezTo>
                <a:lnTo>
                  <a:pt x="92899" y="74920"/>
                </a:lnTo>
                <a:lnTo>
                  <a:pt x="88463" y="79355"/>
                </a:lnTo>
                <a:cubicBezTo>
                  <a:pt x="73789" y="94030"/>
                  <a:pt x="50036" y="94030"/>
                  <a:pt x="35362" y="79355"/>
                </a:cubicBezTo>
                <a:cubicBezTo>
                  <a:pt x="28515" y="72509"/>
                  <a:pt x="28248" y="61526"/>
                  <a:pt x="34707" y="54352"/>
                </a:cubicBezTo>
                <a:close/>
              </a:path>
            </a:pathLst>
          </a:custGeom>
          <a:solidFill>
            <a:srgbClr val="FF6900"/>
          </a:solidFill>
          <a:ln/>
        </p:spPr>
      </p:sp>
      <p:sp>
        <p:nvSpPr>
          <p:cNvPr id="45" name="Text 43"/>
          <p:cNvSpPr/>
          <p:nvPr/>
        </p:nvSpPr>
        <p:spPr>
          <a:xfrm>
            <a:off x="6637020" y="3646170"/>
            <a:ext cx="27527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Relationships</a:t>
            </a:r>
            <a:endParaRPr lang="en-US" sz="1600" dirty="0"/>
          </a:p>
        </p:txBody>
      </p:sp>
      <p:sp>
        <p:nvSpPr>
          <p:cNvPr id="46" name="Text 44"/>
          <p:cNvSpPr/>
          <p:nvPr/>
        </p:nvSpPr>
        <p:spPr>
          <a:xfrm>
            <a:off x="6637020" y="3874770"/>
            <a:ext cx="27527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Builds trust and meaningful connections</a:t>
            </a:r>
            <a:endParaRPr lang="en-US" sz="1600" dirty="0"/>
          </a:p>
        </p:txBody>
      </p:sp>
      <p:sp>
        <p:nvSpPr>
          <p:cNvPr id="47" name="Shape 45"/>
          <p:cNvSpPr/>
          <p:nvPr/>
        </p:nvSpPr>
        <p:spPr>
          <a:xfrm>
            <a:off x="6176010" y="4381501"/>
            <a:ext cx="5627370" cy="1798320"/>
          </a:xfrm>
          <a:prstGeom prst="roundRect">
            <a:avLst>
              <a:gd name="adj" fmla="val 6356"/>
            </a:avLst>
          </a:prstGeom>
          <a:gradFill rotWithShape="1" flip="none">
            <a:gsLst>
              <a:gs pos="0">
                <a:srgbClr val="6366F1">
                  <a:alpha val="20000"/>
                </a:srgbClr>
              </a:gs>
              <a:gs pos="100000">
                <a:srgbClr val="6366F1">
                  <a:alpha val="5000"/>
                </a:srgbClr>
              </a:gs>
            </a:gsLst>
            <a:lin ang="2700000" scaled="1"/>
          </a:gradFill>
          <a:ln w="10160">
            <a:solidFill>
              <a:srgbClr val="6366F1"/>
            </a:solidFill>
            <a:prstDash val="solid"/>
          </a:ln>
        </p:spPr>
      </p:sp>
      <p:sp>
        <p:nvSpPr>
          <p:cNvPr id="48" name="Shape 46"/>
          <p:cNvSpPr/>
          <p:nvPr/>
        </p:nvSpPr>
        <p:spPr>
          <a:xfrm>
            <a:off x="6341745" y="4537711"/>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6366F1"/>
          </a:solidFill>
          <a:ln/>
        </p:spPr>
      </p:sp>
      <p:sp>
        <p:nvSpPr>
          <p:cNvPr id="49" name="Text 47"/>
          <p:cNvSpPr/>
          <p:nvPr/>
        </p:nvSpPr>
        <p:spPr>
          <a:xfrm>
            <a:off x="6608445" y="4499611"/>
            <a:ext cx="1809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Real-World Example</a:t>
            </a:r>
            <a:endParaRPr lang="en-US" sz="1600" dirty="0"/>
          </a:p>
        </p:txBody>
      </p:sp>
      <p:sp>
        <p:nvSpPr>
          <p:cNvPr id="50" name="Shape 48"/>
          <p:cNvSpPr/>
          <p:nvPr/>
        </p:nvSpPr>
        <p:spPr>
          <a:xfrm>
            <a:off x="6294120" y="4842511"/>
            <a:ext cx="5391150" cy="1219200"/>
          </a:xfrm>
          <a:prstGeom prst="roundRect">
            <a:avLst>
              <a:gd name="adj" fmla="val 6250"/>
            </a:avLst>
          </a:prstGeom>
          <a:solidFill>
            <a:srgbClr val="191919"/>
          </a:solidFill>
          <a:ln/>
        </p:spPr>
      </p:sp>
      <p:sp>
        <p:nvSpPr>
          <p:cNvPr id="51" name="Text 49"/>
          <p:cNvSpPr/>
          <p:nvPr/>
        </p:nvSpPr>
        <p:spPr>
          <a:xfrm>
            <a:off x="6408420" y="4956811"/>
            <a:ext cx="5248275" cy="266700"/>
          </a:xfrm>
          <a:prstGeom prst="rect">
            <a:avLst/>
          </a:prstGeom>
          <a:noFill/>
          <a:ln/>
        </p:spPr>
        <p:txBody>
          <a:bodyPr wrap="square" lIns="0" tIns="0" rIns="0" bIns="0" rtlCol="0" anchor="ctr"/>
          <a:lstStyle/>
          <a:p>
            <a:pPr>
              <a:lnSpc>
                <a:spcPct val="130000"/>
              </a:lnSpc>
            </a:pPr>
            <a:r>
              <a:rPr lang="en-US" sz="1350" b="1" dirty="0">
                <a:solidFill>
                  <a:srgbClr val="6366F1"/>
                </a:solidFill>
                <a:latin typeface="Liter" pitchFamily="34" charset="0"/>
                <a:ea typeface="Liter" pitchFamily="34" charset="-122"/>
                <a:cs typeface="Liter" pitchFamily="34" charset="-120"/>
              </a:rPr>
              <a:t>Medical Diagnosis</a:t>
            </a:r>
            <a:endParaRPr lang="en-US" sz="1600" dirty="0"/>
          </a:p>
        </p:txBody>
      </p:sp>
      <p:sp>
        <p:nvSpPr>
          <p:cNvPr id="52" name="Text 50"/>
          <p:cNvSpPr/>
          <p:nvPr/>
        </p:nvSpPr>
        <p:spPr>
          <a:xfrm>
            <a:off x="6408420" y="5261611"/>
            <a:ext cx="523875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AI can analyze X-rays faster than doctors, but doctors use empathy and experience to choose the best treatment for each patient. They work together!</a:t>
            </a:r>
            <a:endParaRPr lang="en-US" sz="16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91919"/>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6366F1">
              <a:alpha val="20000"/>
            </a:srgbClr>
          </a:solidFill>
          <a:ln/>
        </p:spPr>
      </p:sp>
      <p:sp>
        <p:nvSpPr>
          <p:cNvPr id="3" name="Text 1"/>
          <p:cNvSpPr/>
          <p:nvPr/>
        </p:nvSpPr>
        <p:spPr>
          <a:xfrm>
            <a:off x="493871" y="533400"/>
            <a:ext cx="323850" cy="266700"/>
          </a:xfrm>
          <a:prstGeom prst="rect">
            <a:avLst/>
          </a:prstGeom>
          <a:noFill/>
          <a:ln/>
        </p:spPr>
        <p:txBody>
          <a:bodyPr wrap="square" lIns="0" tIns="0" rIns="0" bIns="0" rtlCol="0" anchor="ctr"/>
          <a:lstStyle/>
          <a:p>
            <a:pPr>
              <a:lnSpc>
                <a:spcPct val="120000"/>
              </a:lnSpc>
            </a:pPr>
            <a:r>
              <a:rPr lang="en-US" sz="1500" b="1" dirty="0">
                <a:solidFill>
                  <a:srgbClr val="6366F1"/>
                </a:solidFill>
                <a:latin typeface="Liter" pitchFamily="34" charset="0"/>
                <a:ea typeface="Liter" pitchFamily="34" charset="-122"/>
                <a:cs typeface="Liter" pitchFamily="34" charset="-120"/>
              </a:rPr>
              <a:t>05</a:t>
            </a:r>
            <a:endParaRPr lang="en-US" sz="1600" dirty="0"/>
          </a:p>
        </p:txBody>
      </p:sp>
      <p:sp>
        <p:nvSpPr>
          <p:cNvPr id="4" name="Text 2"/>
          <p:cNvSpPr/>
          <p:nvPr/>
        </p:nvSpPr>
        <p:spPr>
          <a:xfrm>
            <a:off x="952500" y="381000"/>
            <a:ext cx="6019800" cy="190500"/>
          </a:xfrm>
          <a:prstGeom prst="rect">
            <a:avLst/>
          </a:prstGeom>
          <a:noFill/>
          <a:ln/>
        </p:spPr>
        <p:txBody>
          <a:bodyPr wrap="square" lIns="0" tIns="0" rIns="0" bIns="0" rtlCol="0" anchor="ctr"/>
          <a:lstStyle/>
          <a:p>
            <a:pPr>
              <a:lnSpc>
                <a:spcPct val="120000"/>
              </a:lnSpc>
            </a:pPr>
            <a:r>
              <a:rPr lang="en-US" sz="1050" b="1" spc="53" kern="0" dirty="0">
                <a:solidFill>
                  <a:srgbClr val="6366F1"/>
                </a:solidFill>
                <a:latin typeface="Liter" pitchFamily="34" charset="0"/>
                <a:ea typeface="Liter" pitchFamily="34" charset="-122"/>
                <a:cs typeface="Liter" pitchFamily="34" charset="-120"/>
              </a:rPr>
              <a:t>History of AI</a:t>
            </a:r>
            <a:endParaRPr lang="en-US" sz="1600" dirty="0"/>
          </a:p>
        </p:txBody>
      </p:sp>
      <p:sp>
        <p:nvSpPr>
          <p:cNvPr id="5" name="Text 3"/>
          <p:cNvSpPr/>
          <p:nvPr/>
        </p:nvSpPr>
        <p:spPr>
          <a:xfrm>
            <a:off x="952500" y="571500"/>
            <a:ext cx="6124575"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The Big Question: Can Machines Think?</a:t>
            </a:r>
            <a:endParaRPr lang="en-US" sz="1600" dirty="0"/>
          </a:p>
        </p:txBody>
      </p:sp>
      <p:sp>
        <p:nvSpPr>
          <p:cNvPr id="6" name="Shape 4"/>
          <p:cNvSpPr/>
          <p:nvPr/>
        </p:nvSpPr>
        <p:spPr>
          <a:xfrm>
            <a:off x="384810" y="1108710"/>
            <a:ext cx="6760845" cy="1988820"/>
          </a:xfrm>
          <a:prstGeom prst="roundRect">
            <a:avLst>
              <a:gd name="adj" fmla="val 5747"/>
            </a:avLst>
          </a:prstGeom>
          <a:solidFill>
            <a:srgbClr val="262626"/>
          </a:solidFill>
          <a:ln w="10160">
            <a:solidFill>
              <a:srgbClr val="333333"/>
            </a:solidFill>
            <a:prstDash val="solid"/>
          </a:ln>
        </p:spPr>
      </p:sp>
      <p:sp>
        <p:nvSpPr>
          <p:cNvPr id="7" name="Shape 5"/>
          <p:cNvSpPr/>
          <p:nvPr/>
        </p:nvSpPr>
        <p:spPr>
          <a:xfrm>
            <a:off x="502920" y="1226820"/>
            <a:ext cx="533400" cy="533400"/>
          </a:xfrm>
          <a:prstGeom prst="roundRect">
            <a:avLst>
              <a:gd name="adj" fmla="val 21429"/>
            </a:avLst>
          </a:prstGeom>
          <a:solidFill>
            <a:srgbClr val="6366F1">
              <a:alpha val="20000"/>
            </a:srgbClr>
          </a:solidFill>
          <a:ln/>
        </p:spPr>
      </p:sp>
      <p:sp>
        <p:nvSpPr>
          <p:cNvPr id="8" name="Shape 6"/>
          <p:cNvSpPr/>
          <p:nvPr/>
        </p:nvSpPr>
        <p:spPr>
          <a:xfrm>
            <a:off x="669608" y="1379220"/>
            <a:ext cx="200025" cy="228600"/>
          </a:xfrm>
          <a:custGeom>
            <a:avLst/>
            <a:gdLst/>
            <a:ahLst/>
            <a:cxnLst/>
            <a:rect l="l" t="t" r="r" b="b"/>
            <a:pathLst>
              <a:path w="200025" h="228600">
                <a:moveTo>
                  <a:pt x="100013" y="110728"/>
                </a:moveTo>
                <a:cubicBezTo>
                  <a:pt x="70442" y="110728"/>
                  <a:pt x="46434" y="86721"/>
                  <a:pt x="46434" y="57150"/>
                </a:cubicBezTo>
                <a:cubicBezTo>
                  <a:pt x="46434" y="27579"/>
                  <a:pt x="70442" y="3572"/>
                  <a:pt x="100012" y="3572"/>
                </a:cubicBezTo>
                <a:cubicBezTo>
                  <a:pt x="129583" y="3572"/>
                  <a:pt x="153591" y="27579"/>
                  <a:pt x="153591" y="57150"/>
                </a:cubicBezTo>
                <a:cubicBezTo>
                  <a:pt x="153591" y="86721"/>
                  <a:pt x="129583" y="110728"/>
                  <a:pt x="100013" y="110728"/>
                </a:cubicBezTo>
                <a:close/>
                <a:moveTo>
                  <a:pt x="86395" y="135731"/>
                </a:moveTo>
                <a:lnTo>
                  <a:pt x="113630" y="135731"/>
                </a:lnTo>
                <a:cubicBezTo>
                  <a:pt x="117961" y="135731"/>
                  <a:pt x="121444" y="139214"/>
                  <a:pt x="121444" y="143545"/>
                </a:cubicBezTo>
                <a:cubicBezTo>
                  <a:pt x="121444" y="145420"/>
                  <a:pt x="120774" y="147206"/>
                  <a:pt x="119569" y="148635"/>
                </a:cubicBezTo>
                <a:lnTo>
                  <a:pt x="107335" y="162922"/>
                </a:lnTo>
                <a:lnTo>
                  <a:pt x="121176" y="214313"/>
                </a:lnTo>
                <a:lnTo>
                  <a:pt x="121444" y="214313"/>
                </a:lnTo>
                <a:lnTo>
                  <a:pt x="136892" y="152474"/>
                </a:lnTo>
                <a:cubicBezTo>
                  <a:pt x="137874" y="148590"/>
                  <a:pt x="141848" y="146224"/>
                  <a:pt x="145599" y="147652"/>
                </a:cubicBezTo>
                <a:cubicBezTo>
                  <a:pt x="173236" y="158189"/>
                  <a:pt x="192881" y="184978"/>
                  <a:pt x="192881" y="216322"/>
                </a:cubicBezTo>
                <a:cubicBezTo>
                  <a:pt x="192881" y="223064"/>
                  <a:pt x="187389" y="228555"/>
                  <a:pt x="180648" y="228555"/>
                </a:cubicBezTo>
                <a:lnTo>
                  <a:pt x="19377" y="228600"/>
                </a:lnTo>
                <a:cubicBezTo>
                  <a:pt x="12636" y="228600"/>
                  <a:pt x="7144" y="223108"/>
                  <a:pt x="7144" y="216366"/>
                </a:cubicBezTo>
                <a:cubicBezTo>
                  <a:pt x="7144" y="185023"/>
                  <a:pt x="26789" y="158234"/>
                  <a:pt x="54426" y="147697"/>
                </a:cubicBezTo>
                <a:cubicBezTo>
                  <a:pt x="58177" y="146268"/>
                  <a:pt x="62151" y="148635"/>
                  <a:pt x="63133" y="152519"/>
                </a:cubicBezTo>
                <a:lnTo>
                  <a:pt x="78581" y="214357"/>
                </a:lnTo>
                <a:lnTo>
                  <a:pt x="78849" y="214357"/>
                </a:lnTo>
                <a:lnTo>
                  <a:pt x="92690" y="162967"/>
                </a:lnTo>
                <a:lnTo>
                  <a:pt x="80456" y="148679"/>
                </a:lnTo>
                <a:cubicBezTo>
                  <a:pt x="79251" y="147251"/>
                  <a:pt x="78581" y="145465"/>
                  <a:pt x="78581" y="143589"/>
                </a:cubicBezTo>
                <a:cubicBezTo>
                  <a:pt x="78581" y="139258"/>
                  <a:pt x="82064" y="135776"/>
                  <a:pt x="86395" y="135776"/>
                </a:cubicBezTo>
                <a:close/>
              </a:path>
            </a:pathLst>
          </a:custGeom>
          <a:solidFill>
            <a:srgbClr val="6366F1"/>
          </a:solidFill>
          <a:ln/>
        </p:spPr>
      </p:sp>
      <p:sp>
        <p:nvSpPr>
          <p:cNvPr id="9" name="Text 7"/>
          <p:cNvSpPr/>
          <p:nvPr/>
        </p:nvSpPr>
        <p:spPr>
          <a:xfrm>
            <a:off x="1150620" y="1226820"/>
            <a:ext cx="3114675"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Alan Turing (1912-1954)</a:t>
            </a:r>
            <a:endParaRPr lang="en-US" sz="1600" dirty="0"/>
          </a:p>
        </p:txBody>
      </p:sp>
      <p:sp>
        <p:nvSpPr>
          <p:cNvPr id="10" name="Text 8"/>
          <p:cNvSpPr/>
          <p:nvPr/>
        </p:nvSpPr>
        <p:spPr>
          <a:xfrm>
            <a:off x="1150620" y="1531620"/>
            <a:ext cx="30956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British mathematician and computer scientist</a:t>
            </a:r>
            <a:endParaRPr lang="en-US" sz="1600" dirty="0"/>
          </a:p>
        </p:txBody>
      </p:sp>
      <p:sp>
        <p:nvSpPr>
          <p:cNvPr id="11" name="Text 9"/>
          <p:cNvSpPr/>
          <p:nvPr/>
        </p:nvSpPr>
        <p:spPr>
          <a:xfrm>
            <a:off x="502920" y="1836420"/>
            <a:ext cx="6600825"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In 1950, Alan Turing asked a revolutionary question: </a:t>
            </a:r>
            <a:pPr>
              <a:lnSpc>
                <a:spcPct val="130000"/>
              </a:lnSpc>
            </a:pPr>
            <a:r>
              <a:rPr lang="en-US" sz="1200" b="1" dirty="0">
                <a:solidFill>
                  <a:srgbClr val="6366F1"/>
                </a:solidFill>
                <a:latin typeface="Liter" pitchFamily="34" charset="0"/>
                <a:ea typeface="Liter" pitchFamily="34" charset="-122"/>
                <a:cs typeface="Liter" pitchFamily="34" charset="-120"/>
              </a:rPr>
              <a:t>"Can machines think?"</a:t>
            </a:r>
            <a:pPr>
              <a:lnSpc>
                <a:spcPct val="130000"/>
              </a:lnSpc>
            </a:pPr>
            <a:r>
              <a:rPr lang="en-US" sz="1200" dirty="0">
                <a:solidFill>
                  <a:srgbClr val="EFEFEF"/>
                </a:solidFill>
                <a:latin typeface="Liter" pitchFamily="34" charset="0"/>
                <a:ea typeface="Liter" pitchFamily="34" charset="-122"/>
                <a:cs typeface="Liter" pitchFamily="34" charset="-120"/>
              </a:rPr>
              <a:t> This simple question started the entire field of artificial intelligence.</a:t>
            </a:r>
            <a:endParaRPr lang="en-US" sz="1600" dirty="0"/>
          </a:p>
        </p:txBody>
      </p:sp>
      <p:sp>
        <p:nvSpPr>
          <p:cNvPr id="12" name="Shape 10"/>
          <p:cNvSpPr/>
          <p:nvPr/>
        </p:nvSpPr>
        <p:spPr>
          <a:xfrm>
            <a:off x="521970" y="2369820"/>
            <a:ext cx="6505575" cy="609600"/>
          </a:xfrm>
          <a:custGeom>
            <a:avLst/>
            <a:gdLst/>
            <a:ahLst/>
            <a:cxnLst/>
            <a:rect l="l" t="t" r="r" b="b"/>
            <a:pathLst>
              <a:path w="6505575" h="609600">
                <a:moveTo>
                  <a:pt x="38100" y="0"/>
                </a:moveTo>
                <a:lnTo>
                  <a:pt x="6429375" y="0"/>
                </a:lnTo>
                <a:cubicBezTo>
                  <a:pt x="6471431" y="0"/>
                  <a:pt x="6505575" y="34144"/>
                  <a:pt x="6505575" y="76200"/>
                </a:cubicBezTo>
                <a:lnTo>
                  <a:pt x="6505575" y="533400"/>
                </a:lnTo>
                <a:cubicBezTo>
                  <a:pt x="6505575" y="575456"/>
                  <a:pt x="6471431" y="609600"/>
                  <a:pt x="6429375" y="609600"/>
                </a:cubicBezTo>
                <a:lnTo>
                  <a:pt x="38100" y="609600"/>
                </a:lnTo>
                <a:cubicBezTo>
                  <a:pt x="17072" y="609600"/>
                  <a:pt x="0" y="592528"/>
                  <a:pt x="0" y="571500"/>
                </a:cubicBezTo>
                <a:lnTo>
                  <a:pt x="0" y="38100"/>
                </a:lnTo>
                <a:cubicBezTo>
                  <a:pt x="0" y="17072"/>
                  <a:pt x="17072" y="0"/>
                  <a:pt x="38100" y="0"/>
                </a:cubicBezTo>
                <a:close/>
              </a:path>
            </a:pathLst>
          </a:custGeom>
          <a:solidFill>
            <a:srgbClr val="191919"/>
          </a:solidFill>
          <a:ln/>
        </p:spPr>
      </p:sp>
      <p:sp>
        <p:nvSpPr>
          <p:cNvPr id="13" name="Shape 11"/>
          <p:cNvSpPr/>
          <p:nvPr/>
        </p:nvSpPr>
        <p:spPr>
          <a:xfrm>
            <a:off x="521970" y="2369820"/>
            <a:ext cx="38100" cy="609600"/>
          </a:xfrm>
          <a:custGeom>
            <a:avLst/>
            <a:gdLst/>
            <a:ahLst/>
            <a:cxnLst/>
            <a:rect l="l" t="t" r="r" b="b"/>
            <a:pathLst>
              <a:path w="38100" h="609600">
                <a:moveTo>
                  <a:pt x="38100" y="0"/>
                </a:moveTo>
                <a:lnTo>
                  <a:pt x="38100" y="0"/>
                </a:lnTo>
                <a:lnTo>
                  <a:pt x="38100" y="609600"/>
                </a:lnTo>
                <a:lnTo>
                  <a:pt x="38100" y="609600"/>
                </a:lnTo>
                <a:cubicBezTo>
                  <a:pt x="17072" y="609600"/>
                  <a:pt x="0" y="592528"/>
                  <a:pt x="0" y="571500"/>
                </a:cubicBezTo>
                <a:lnTo>
                  <a:pt x="0" y="38100"/>
                </a:lnTo>
                <a:cubicBezTo>
                  <a:pt x="0" y="17072"/>
                  <a:pt x="17072" y="0"/>
                  <a:pt x="38100" y="0"/>
                </a:cubicBezTo>
                <a:close/>
              </a:path>
            </a:pathLst>
          </a:custGeom>
          <a:solidFill>
            <a:srgbClr val="6366F1"/>
          </a:solidFill>
          <a:ln/>
        </p:spPr>
      </p:sp>
      <p:sp>
        <p:nvSpPr>
          <p:cNvPr id="14" name="Text 12"/>
          <p:cNvSpPr/>
          <p:nvPr/>
        </p:nvSpPr>
        <p:spPr>
          <a:xfrm>
            <a:off x="617220" y="2446020"/>
            <a:ext cx="6410325"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"We can only see a short distance ahead, but we can see plenty there that needs to be done."</a:t>
            </a:r>
            <a:endParaRPr lang="en-US" sz="1600" dirty="0"/>
          </a:p>
        </p:txBody>
      </p:sp>
      <p:sp>
        <p:nvSpPr>
          <p:cNvPr id="15" name="Text 13"/>
          <p:cNvSpPr/>
          <p:nvPr/>
        </p:nvSpPr>
        <p:spPr>
          <a:xfrm>
            <a:off x="617220" y="2712723"/>
            <a:ext cx="6400800"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 Alan Turing</a:t>
            </a:r>
            <a:endParaRPr lang="en-US" sz="1600" dirty="0"/>
          </a:p>
        </p:txBody>
      </p:sp>
      <p:sp>
        <p:nvSpPr>
          <p:cNvPr id="16" name="Shape 14"/>
          <p:cNvSpPr/>
          <p:nvPr/>
        </p:nvSpPr>
        <p:spPr>
          <a:xfrm>
            <a:off x="384810" y="3181351"/>
            <a:ext cx="6760845" cy="1798320"/>
          </a:xfrm>
          <a:prstGeom prst="roundRect">
            <a:avLst>
              <a:gd name="adj" fmla="val 6356"/>
            </a:avLst>
          </a:prstGeom>
          <a:solidFill>
            <a:srgbClr val="262626"/>
          </a:solidFill>
          <a:ln w="10160">
            <a:solidFill>
              <a:srgbClr val="333333"/>
            </a:solidFill>
            <a:prstDash val="solid"/>
          </a:ln>
        </p:spPr>
      </p:sp>
      <p:sp>
        <p:nvSpPr>
          <p:cNvPr id="17" name="Shape 15"/>
          <p:cNvSpPr/>
          <p:nvPr/>
        </p:nvSpPr>
        <p:spPr>
          <a:xfrm>
            <a:off x="538639" y="3337559"/>
            <a:ext cx="166688" cy="190500"/>
          </a:xfrm>
          <a:custGeom>
            <a:avLst/>
            <a:gdLst/>
            <a:ahLst/>
            <a:cxnLst/>
            <a:rect l="l" t="t" r="r" b="b"/>
            <a:pathLst>
              <a:path w="166688" h="190500">
                <a:moveTo>
                  <a:pt x="107156" y="0"/>
                </a:moveTo>
                <a:lnTo>
                  <a:pt x="47625" y="0"/>
                </a:lnTo>
                <a:cubicBezTo>
                  <a:pt x="41039" y="0"/>
                  <a:pt x="35719" y="5321"/>
                  <a:pt x="35719" y="11906"/>
                </a:cubicBezTo>
                <a:cubicBezTo>
                  <a:pt x="35719" y="18492"/>
                  <a:pt x="41039" y="23812"/>
                  <a:pt x="47625" y="23812"/>
                </a:cubicBezTo>
                <a:lnTo>
                  <a:pt x="47625" y="80181"/>
                </a:lnTo>
                <a:lnTo>
                  <a:pt x="2791" y="158614"/>
                </a:lnTo>
                <a:cubicBezTo>
                  <a:pt x="967" y="161851"/>
                  <a:pt x="0" y="165460"/>
                  <a:pt x="0" y="169180"/>
                </a:cubicBezTo>
                <a:cubicBezTo>
                  <a:pt x="0" y="180975"/>
                  <a:pt x="9525" y="190500"/>
                  <a:pt x="21320" y="190500"/>
                </a:cubicBezTo>
                <a:lnTo>
                  <a:pt x="145368" y="190500"/>
                </a:lnTo>
                <a:cubicBezTo>
                  <a:pt x="157125" y="190500"/>
                  <a:pt x="166688" y="180975"/>
                  <a:pt x="166688" y="169180"/>
                </a:cubicBezTo>
                <a:cubicBezTo>
                  <a:pt x="166688" y="165460"/>
                  <a:pt x="165720" y="161813"/>
                  <a:pt x="163897" y="158614"/>
                </a:cubicBezTo>
                <a:lnTo>
                  <a:pt x="119063" y="80181"/>
                </a:lnTo>
                <a:lnTo>
                  <a:pt x="119063" y="23812"/>
                </a:lnTo>
                <a:cubicBezTo>
                  <a:pt x="125648" y="23812"/>
                  <a:pt x="130969" y="18492"/>
                  <a:pt x="130969" y="11906"/>
                </a:cubicBezTo>
                <a:cubicBezTo>
                  <a:pt x="130969" y="5321"/>
                  <a:pt x="125648" y="0"/>
                  <a:pt x="119063" y="0"/>
                </a:cubicBezTo>
                <a:lnTo>
                  <a:pt x="107156" y="0"/>
                </a:lnTo>
                <a:close/>
                <a:moveTo>
                  <a:pt x="71438" y="80181"/>
                </a:moveTo>
                <a:lnTo>
                  <a:pt x="71438" y="23812"/>
                </a:lnTo>
                <a:lnTo>
                  <a:pt x="95250" y="23812"/>
                </a:lnTo>
                <a:lnTo>
                  <a:pt x="95250" y="80181"/>
                </a:lnTo>
                <a:cubicBezTo>
                  <a:pt x="95250" y="84311"/>
                  <a:pt x="96329" y="88404"/>
                  <a:pt x="98375" y="92013"/>
                </a:cubicBezTo>
                <a:lnTo>
                  <a:pt x="113854" y="119063"/>
                </a:lnTo>
                <a:lnTo>
                  <a:pt x="52834" y="119063"/>
                </a:lnTo>
                <a:lnTo>
                  <a:pt x="68312" y="92013"/>
                </a:lnTo>
                <a:cubicBezTo>
                  <a:pt x="70358" y="88404"/>
                  <a:pt x="71438" y="84348"/>
                  <a:pt x="71438" y="80181"/>
                </a:cubicBezTo>
                <a:close/>
              </a:path>
            </a:pathLst>
          </a:custGeom>
          <a:solidFill>
            <a:srgbClr val="6366F1"/>
          </a:solidFill>
          <a:ln/>
        </p:spPr>
      </p:sp>
      <p:sp>
        <p:nvSpPr>
          <p:cNvPr id="18" name="Text 16"/>
          <p:cNvSpPr/>
          <p:nvPr/>
        </p:nvSpPr>
        <p:spPr>
          <a:xfrm>
            <a:off x="741045" y="3299459"/>
            <a:ext cx="6381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The Turing Test</a:t>
            </a:r>
            <a:endParaRPr lang="en-US" sz="1600" dirty="0"/>
          </a:p>
        </p:txBody>
      </p:sp>
      <p:sp>
        <p:nvSpPr>
          <p:cNvPr id="19" name="Text 17"/>
          <p:cNvSpPr/>
          <p:nvPr/>
        </p:nvSpPr>
        <p:spPr>
          <a:xfrm>
            <a:off x="502920" y="3642359"/>
            <a:ext cx="6600825"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Turing created a test: If a machine can have a conversation that is indistinguishable from a human, then it demonstrates intelligence.</a:t>
            </a:r>
            <a:endParaRPr lang="en-US" sz="1600" dirty="0"/>
          </a:p>
        </p:txBody>
      </p:sp>
      <p:sp>
        <p:nvSpPr>
          <p:cNvPr id="20" name="Shape 18"/>
          <p:cNvSpPr/>
          <p:nvPr/>
        </p:nvSpPr>
        <p:spPr>
          <a:xfrm>
            <a:off x="502920" y="4175759"/>
            <a:ext cx="2124075" cy="685800"/>
          </a:xfrm>
          <a:prstGeom prst="roundRect">
            <a:avLst>
              <a:gd name="adj" fmla="val 11111"/>
            </a:avLst>
          </a:prstGeom>
          <a:solidFill>
            <a:srgbClr val="191919"/>
          </a:solidFill>
          <a:ln/>
        </p:spPr>
      </p:sp>
      <p:sp>
        <p:nvSpPr>
          <p:cNvPr id="21" name="Shape 19"/>
          <p:cNvSpPr/>
          <p:nvPr/>
        </p:nvSpPr>
        <p:spPr>
          <a:xfrm>
            <a:off x="1412200" y="4251959"/>
            <a:ext cx="304800" cy="304800"/>
          </a:xfrm>
          <a:prstGeom prst="roundRect">
            <a:avLst>
              <a:gd name="adj" fmla="val 50000"/>
            </a:avLst>
          </a:prstGeom>
          <a:solidFill>
            <a:srgbClr val="6366F1">
              <a:alpha val="20000"/>
            </a:srgbClr>
          </a:solidFill>
          <a:ln/>
        </p:spPr>
      </p:sp>
      <p:sp>
        <p:nvSpPr>
          <p:cNvPr id="22" name="Text 20"/>
          <p:cNvSpPr/>
          <p:nvPr/>
        </p:nvSpPr>
        <p:spPr>
          <a:xfrm>
            <a:off x="1496020" y="4290059"/>
            <a:ext cx="133350" cy="228600"/>
          </a:xfrm>
          <a:prstGeom prst="rect">
            <a:avLst/>
          </a:prstGeom>
          <a:noFill/>
          <a:ln/>
        </p:spPr>
        <p:txBody>
          <a:bodyPr wrap="square" lIns="0" tIns="0" rIns="0" bIns="0" rtlCol="0" anchor="ctr"/>
          <a:lstStyle/>
          <a:p>
            <a:pPr algn="ctr">
              <a:lnSpc>
                <a:spcPct val="130000"/>
              </a:lnSpc>
            </a:pPr>
            <a:r>
              <a:rPr lang="en-US" sz="1200" b="1" dirty="0">
                <a:solidFill>
                  <a:srgbClr val="6366F1"/>
                </a:solidFill>
                <a:latin typeface="Liter" pitchFamily="34" charset="0"/>
                <a:ea typeface="Liter" pitchFamily="34" charset="-122"/>
                <a:cs typeface="Liter" pitchFamily="34" charset="-120"/>
              </a:rPr>
              <a:t>1</a:t>
            </a:r>
            <a:endParaRPr lang="en-US" sz="1600" dirty="0"/>
          </a:p>
        </p:txBody>
      </p:sp>
      <p:sp>
        <p:nvSpPr>
          <p:cNvPr id="23" name="Text 21"/>
          <p:cNvSpPr/>
          <p:nvPr/>
        </p:nvSpPr>
        <p:spPr>
          <a:xfrm>
            <a:off x="545782" y="4594859"/>
            <a:ext cx="2038350" cy="190500"/>
          </a:xfrm>
          <a:prstGeom prst="rect">
            <a:avLst/>
          </a:prstGeom>
          <a:noFill/>
          <a:ln/>
        </p:spPr>
        <p:txBody>
          <a:bodyPr wrap="square" lIns="0" tIns="0" rIns="0" bIns="0" rtlCol="0" anchor="ctr"/>
          <a:lstStyle/>
          <a:p>
            <a:pPr algn="ctr">
              <a:lnSpc>
                <a:spcPct val="120000"/>
              </a:lnSpc>
            </a:pPr>
            <a:r>
              <a:rPr lang="en-US" sz="1050" dirty="0">
                <a:solidFill>
                  <a:srgbClr val="EFEFEF"/>
                </a:solidFill>
                <a:latin typeface="Liter" pitchFamily="34" charset="0"/>
                <a:ea typeface="Liter" pitchFamily="34" charset="-122"/>
                <a:cs typeface="Liter" pitchFamily="34" charset="-120"/>
              </a:rPr>
              <a:t>Human asks questions</a:t>
            </a:r>
            <a:endParaRPr lang="en-US" sz="1600" dirty="0"/>
          </a:p>
        </p:txBody>
      </p:sp>
      <p:sp>
        <p:nvSpPr>
          <p:cNvPr id="24" name="Shape 22"/>
          <p:cNvSpPr/>
          <p:nvPr/>
        </p:nvSpPr>
        <p:spPr>
          <a:xfrm>
            <a:off x="2702481" y="4175759"/>
            <a:ext cx="2124075" cy="685800"/>
          </a:xfrm>
          <a:prstGeom prst="roundRect">
            <a:avLst>
              <a:gd name="adj" fmla="val 11111"/>
            </a:avLst>
          </a:prstGeom>
          <a:solidFill>
            <a:srgbClr val="191919"/>
          </a:solidFill>
          <a:ln/>
        </p:spPr>
      </p:sp>
      <p:sp>
        <p:nvSpPr>
          <p:cNvPr id="25" name="Shape 23"/>
          <p:cNvSpPr/>
          <p:nvPr/>
        </p:nvSpPr>
        <p:spPr>
          <a:xfrm>
            <a:off x="3611761" y="4251959"/>
            <a:ext cx="304800" cy="304800"/>
          </a:xfrm>
          <a:prstGeom prst="roundRect">
            <a:avLst>
              <a:gd name="adj" fmla="val 50000"/>
            </a:avLst>
          </a:prstGeom>
          <a:solidFill>
            <a:srgbClr val="6366F1">
              <a:alpha val="20000"/>
            </a:srgbClr>
          </a:solidFill>
          <a:ln/>
        </p:spPr>
      </p:sp>
      <p:sp>
        <p:nvSpPr>
          <p:cNvPr id="26" name="Text 24"/>
          <p:cNvSpPr/>
          <p:nvPr/>
        </p:nvSpPr>
        <p:spPr>
          <a:xfrm>
            <a:off x="3681770" y="4290059"/>
            <a:ext cx="161925" cy="228600"/>
          </a:xfrm>
          <a:prstGeom prst="rect">
            <a:avLst/>
          </a:prstGeom>
          <a:noFill/>
          <a:ln/>
        </p:spPr>
        <p:txBody>
          <a:bodyPr wrap="square" lIns="0" tIns="0" rIns="0" bIns="0" rtlCol="0" anchor="ctr"/>
          <a:lstStyle/>
          <a:p>
            <a:pPr algn="ctr">
              <a:lnSpc>
                <a:spcPct val="130000"/>
              </a:lnSpc>
            </a:pPr>
            <a:r>
              <a:rPr lang="en-US" sz="1200" b="1" dirty="0">
                <a:solidFill>
                  <a:srgbClr val="6366F1"/>
                </a:solidFill>
                <a:latin typeface="Liter" pitchFamily="34" charset="0"/>
                <a:ea typeface="Liter" pitchFamily="34" charset="-122"/>
                <a:cs typeface="Liter" pitchFamily="34" charset="-120"/>
              </a:rPr>
              <a:t>2</a:t>
            </a:r>
            <a:endParaRPr lang="en-US" sz="1600" dirty="0"/>
          </a:p>
        </p:txBody>
      </p:sp>
      <p:sp>
        <p:nvSpPr>
          <p:cNvPr id="27" name="Text 25"/>
          <p:cNvSpPr/>
          <p:nvPr/>
        </p:nvSpPr>
        <p:spPr>
          <a:xfrm>
            <a:off x="2745343" y="4594859"/>
            <a:ext cx="2038350" cy="190500"/>
          </a:xfrm>
          <a:prstGeom prst="rect">
            <a:avLst/>
          </a:prstGeom>
          <a:noFill/>
          <a:ln/>
        </p:spPr>
        <p:txBody>
          <a:bodyPr wrap="square" lIns="0" tIns="0" rIns="0" bIns="0" rtlCol="0" anchor="ctr"/>
          <a:lstStyle/>
          <a:p>
            <a:pPr algn="ctr">
              <a:lnSpc>
                <a:spcPct val="120000"/>
              </a:lnSpc>
            </a:pPr>
            <a:r>
              <a:rPr lang="en-US" sz="1050" dirty="0">
                <a:solidFill>
                  <a:srgbClr val="EFEFEF"/>
                </a:solidFill>
                <a:latin typeface="Liter" pitchFamily="34" charset="0"/>
                <a:ea typeface="Liter" pitchFamily="34" charset="-122"/>
                <a:cs typeface="Liter" pitchFamily="34" charset="-120"/>
              </a:rPr>
              <a:t>Machine responds</a:t>
            </a:r>
            <a:endParaRPr lang="en-US" sz="1600" dirty="0"/>
          </a:p>
        </p:txBody>
      </p:sp>
      <p:sp>
        <p:nvSpPr>
          <p:cNvPr id="28" name="Shape 26"/>
          <p:cNvSpPr/>
          <p:nvPr/>
        </p:nvSpPr>
        <p:spPr>
          <a:xfrm>
            <a:off x="4902161" y="4175759"/>
            <a:ext cx="2124075" cy="685800"/>
          </a:xfrm>
          <a:prstGeom prst="roundRect">
            <a:avLst>
              <a:gd name="adj" fmla="val 11111"/>
            </a:avLst>
          </a:prstGeom>
          <a:solidFill>
            <a:srgbClr val="191919"/>
          </a:solidFill>
          <a:ln/>
        </p:spPr>
      </p:sp>
      <p:sp>
        <p:nvSpPr>
          <p:cNvPr id="29" name="Shape 27"/>
          <p:cNvSpPr/>
          <p:nvPr/>
        </p:nvSpPr>
        <p:spPr>
          <a:xfrm>
            <a:off x="5811441" y="4251959"/>
            <a:ext cx="304800" cy="304800"/>
          </a:xfrm>
          <a:prstGeom prst="roundRect">
            <a:avLst>
              <a:gd name="adj" fmla="val 50000"/>
            </a:avLst>
          </a:prstGeom>
          <a:solidFill>
            <a:srgbClr val="6366F1">
              <a:alpha val="20000"/>
            </a:srgbClr>
          </a:solidFill>
          <a:ln/>
        </p:spPr>
      </p:sp>
      <p:sp>
        <p:nvSpPr>
          <p:cNvPr id="30" name="Text 28"/>
          <p:cNvSpPr/>
          <p:nvPr/>
        </p:nvSpPr>
        <p:spPr>
          <a:xfrm>
            <a:off x="5880735" y="4290059"/>
            <a:ext cx="161925" cy="228600"/>
          </a:xfrm>
          <a:prstGeom prst="rect">
            <a:avLst/>
          </a:prstGeom>
          <a:noFill/>
          <a:ln/>
        </p:spPr>
        <p:txBody>
          <a:bodyPr wrap="square" lIns="0" tIns="0" rIns="0" bIns="0" rtlCol="0" anchor="ctr"/>
          <a:lstStyle/>
          <a:p>
            <a:pPr algn="ctr">
              <a:lnSpc>
                <a:spcPct val="130000"/>
              </a:lnSpc>
            </a:pPr>
            <a:r>
              <a:rPr lang="en-US" sz="1200" b="1" dirty="0">
                <a:solidFill>
                  <a:srgbClr val="6366F1"/>
                </a:solidFill>
                <a:latin typeface="Liter" pitchFamily="34" charset="0"/>
                <a:ea typeface="Liter" pitchFamily="34" charset="-122"/>
                <a:cs typeface="Liter" pitchFamily="34" charset="-120"/>
              </a:rPr>
              <a:t>3</a:t>
            </a:r>
            <a:endParaRPr lang="en-US" sz="1600" dirty="0"/>
          </a:p>
        </p:txBody>
      </p:sp>
      <p:sp>
        <p:nvSpPr>
          <p:cNvPr id="31" name="Text 29"/>
          <p:cNvSpPr/>
          <p:nvPr/>
        </p:nvSpPr>
        <p:spPr>
          <a:xfrm>
            <a:off x="4945023" y="4594859"/>
            <a:ext cx="2038350" cy="190500"/>
          </a:xfrm>
          <a:prstGeom prst="rect">
            <a:avLst/>
          </a:prstGeom>
          <a:noFill/>
          <a:ln/>
        </p:spPr>
        <p:txBody>
          <a:bodyPr wrap="square" lIns="0" tIns="0" rIns="0" bIns="0" rtlCol="0" anchor="ctr"/>
          <a:lstStyle/>
          <a:p>
            <a:pPr algn="ctr">
              <a:lnSpc>
                <a:spcPct val="120000"/>
              </a:lnSpc>
            </a:pPr>
            <a:r>
              <a:rPr lang="en-US" sz="1050" dirty="0">
                <a:solidFill>
                  <a:srgbClr val="EFEFEF"/>
                </a:solidFill>
                <a:latin typeface="Liter" pitchFamily="34" charset="0"/>
                <a:ea typeface="Liter" pitchFamily="34" charset="-122"/>
                <a:cs typeface="Liter" pitchFamily="34" charset="-120"/>
              </a:rPr>
              <a:t>Human can't tell difference</a:t>
            </a:r>
            <a:endParaRPr lang="en-US" sz="1600" dirty="0"/>
          </a:p>
        </p:txBody>
      </p:sp>
      <p:sp>
        <p:nvSpPr>
          <p:cNvPr id="32" name="Shape 30"/>
          <p:cNvSpPr/>
          <p:nvPr/>
        </p:nvSpPr>
        <p:spPr>
          <a:xfrm>
            <a:off x="7303770" y="1108710"/>
            <a:ext cx="4503420" cy="1798320"/>
          </a:xfrm>
          <a:prstGeom prst="roundRect">
            <a:avLst>
              <a:gd name="adj" fmla="val 6356"/>
            </a:avLst>
          </a:prstGeom>
          <a:gradFill rotWithShape="1" flip="none">
            <a:gsLst>
              <a:gs pos="0">
                <a:srgbClr val="6366F1">
                  <a:alpha val="20000"/>
                </a:srgbClr>
              </a:gs>
              <a:gs pos="100000">
                <a:srgbClr val="6366F1">
                  <a:alpha val="5000"/>
                </a:srgbClr>
              </a:gs>
            </a:gsLst>
            <a:lin ang="2700000" scaled="1"/>
          </a:gradFill>
          <a:ln w="10160">
            <a:solidFill>
              <a:srgbClr val="6366F1"/>
            </a:solidFill>
            <a:prstDash val="solid"/>
          </a:ln>
        </p:spPr>
      </p:sp>
      <p:sp>
        <p:nvSpPr>
          <p:cNvPr id="33" name="Shape 31"/>
          <p:cNvSpPr/>
          <p:nvPr/>
        </p:nvSpPr>
        <p:spPr>
          <a:xfrm>
            <a:off x="7469505" y="1264920"/>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6366F1"/>
          </a:solidFill>
          <a:ln/>
        </p:spPr>
      </p:sp>
      <p:sp>
        <p:nvSpPr>
          <p:cNvPr id="34" name="Text 32"/>
          <p:cNvSpPr/>
          <p:nvPr/>
        </p:nvSpPr>
        <p:spPr>
          <a:xfrm>
            <a:off x="7736205" y="1226820"/>
            <a:ext cx="1809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Real-World Example</a:t>
            </a:r>
            <a:endParaRPr lang="en-US" sz="1600" dirty="0"/>
          </a:p>
        </p:txBody>
      </p:sp>
      <p:sp>
        <p:nvSpPr>
          <p:cNvPr id="35" name="Shape 33"/>
          <p:cNvSpPr/>
          <p:nvPr/>
        </p:nvSpPr>
        <p:spPr>
          <a:xfrm>
            <a:off x="7421880" y="1569720"/>
            <a:ext cx="4267200" cy="1219200"/>
          </a:xfrm>
          <a:prstGeom prst="roundRect">
            <a:avLst>
              <a:gd name="adj" fmla="val 6250"/>
            </a:avLst>
          </a:prstGeom>
          <a:solidFill>
            <a:srgbClr val="191919"/>
          </a:solidFill>
          <a:ln/>
        </p:spPr>
      </p:sp>
      <p:sp>
        <p:nvSpPr>
          <p:cNvPr id="36" name="Text 34"/>
          <p:cNvSpPr/>
          <p:nvPr/>
        </p:nvSpPr>
        <p:spPr>
          <a:xfrm>
            <a:off x="7536180" y="1684020"/>
            <a:ext cx="4124325" cy="266700"/>
          </a:xfrm>
          <a:prstGeom prst="rect">
            <a:avLst/>
          </a:prstGeom>
          <a:noFill/>
          <a:ln/>
        </p:spPr>
        <p:txBody>
          <a:bodyPr wrap="square" lIns="0" tIns="0" rIns="0" bIns="0" rtlCol="0" anchor="ctr"/>
          <a:lstStyle/>
          <a:p>
            <a:pPr>
              <a:lnSpc>
                <a:spcPct val="130000"/>
              </a:lnSpc>
            </a:pPr>
            <a:r>
              <a:rPr lang="en-US" sz="1350" b="1" dirty="0">
                <a:solidFill>
                  <a:srgbClr val="6366F1"/>
                </a:solidFill>
                <a:latin typeface="Liter" pitchFamily="34" charset="0"/>
                <a:ea typeface="Liter" pitchFamily="34" charset="-122"/>
                <a:cs typeface="Liter" pitchFamily="34" charset="-120"/>
              </a:rPr>
              <a:t>Modern Chatbots</a:t>
            </a:r>
            <a:endParaRPr lang="en-US" sz="1600" dirty="0"/>
          </a:p>
        </p:txBody>
      </p:sp>
      <p:sp>
        <p:nvSpPr>
          <p:cNvPr id="37" name="Text 35"/>
          <p:cNvSpPr/>
          <p:nvPr/>
        </p:nvSpPr>
        <p:spPr>
          <a:xfrm>
            <a:off x="7536180" y="1988820"/>
            <a:ext cx="41148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Today's AI chatbots like ChatGPT can hold conversations so natural that many people can't tell they're talking to a machine. Turing's dream is becoming reality!</a:t>
            </a:r>
            <a:endParaRPr lang="en-US" sz="1600" dirty="0"/>
          </a:p>
        </p:txBody>
      </p:sp>
      <p:sp>
        <p:nvSpPr>
          <p:cNvPr id="38" name="Shape 36"/>
          <p:cNvSpPr/>
          <p:nvPr/>
        </p:nvSpPr>
        <p:spPr>
          <a:xfrm>
            <a:off x="7303770" y="2990851"/>
            <a:ext cx="4503420" cy="1264920"/>
          </a:xfrm>
          <a:prstGeom prst="roundRect">
            <a:avLst>
              <a:gd name="adj" fmla="val 9036"/>
            </a:avLst>
          </a:prstGeom>
          <a:solidFill>
            <a:srgbClr val="262626"/>
          </a:solidFill>
          <a:ln w="10160">
            <a:solidFill>
              <a:srgbClr val="333333"/>
            </a:solidFill>
            <a:prstDash val="solid"/>
          </a:ln>
        </p:spPr>
      </p:sp>
      <p:sp>
        <p:nvSpPr>
          <p:cNvPr id="39" name="Text 37"/>
          <p:cNvSpPr/>
          <p:nvPr/>
        </p:nvSpPr>
        <p:spPr>
          <a:xfrm>
            <a:off x="7421880" y="3108959"/>
            <a:ext cx="43529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 Simple Explanation</a:t>
            </a:r>
            <a:endParaRPr lang="en-US" sz="1600" dirty="0"/>
          </a:p>
        </p:txBody>
      </p:sp>
      <p:sp>
        <p:nvSpPr>
          <p:cNvPr id="40" name="Text 38"/>
          <p:cNvSpPr/>
          <p:nvPr/>
        </p:nvSpPr>
        <p:spPr>
          <a:xfrm>
            <a:off x="7421880" y="3451859"/>
            <a:ext cx="43434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Turing's question was simple but powerful. He suggested we shouldn't ask "Can machines think?" but rather "Can machines act intelligently?" This practical approach shaped AI forever.</a:t>
            </a:r>
            <a:endParaRPr lang="en-US" sz="1600" dirty="0"/>
          </a:p>
        </p:txBody>
      </p:sp>
      <p:sp>
        <p:nvSpPr>
          <p:cNvPr id="41" name="Shape 39"/>
          <p:cNvSpPr/>
          <p:nvPr/>
        </p:nvSpPr>
        <p:spPr>
          <a:xfrm>
            <a:off x="7303770" y="4339592"/>
            <a:ext cx="4503420" cy="1874520"/>
          </a:xfrm>
          <a:prstGeom prst="roundRect">
            <a:avLst>
              <a:gd name="adj" fmla="val 6098"/>
            </a:avLst>
          </a:prstGeom>
          <a:solidFill>
            <a:srgbClr val="262626"/>
          </a:solidFill>
          <a:ln w="10160">
            <a:solidFill>
              <a:srgbClr val="333333"/>
            </a:solidFill>
            <a:prstDash val="solid"/>
          </a:ln>
        </p:spPr>
      </p:sp>
      <p:sp>
        <p:nvSpPr>
          <p:cNvPr id="42" name="Shape 40"/>
          <p:cNvSpPr/>
          <p:nvPr/>
        </p:nvSpPr>
        <p:spPr>
          <a:xfrm>
            <a:off x="7456408" y="4505325"/>
            <a:ext cx="150019" cy="171450"/>
          </a:xfrm>
          <a:custGeom>
            <a:avLst/>
            <a:gdLst/>
            <a:ahLst/>
            <a:cxnLst/>
            <a:rect l="l" t="t" r="r" b="b"/>
            <a:pathLst>
              <a:path w="150019" h="171450">
                <a:moveTo>
                  <a:pt x="21431" y="10716"/>
                </a:moveTo>
                <a:cubicBezTo>
                  <a:pt x="9611" y="10716"/>
                  <a:pt x="0" y="20326"/>
                  <a:pt x="0" y="32147"/>
                </a:cubicBezTo>
                <a:lnTo>
                  <a:pt x="0" y="139303"/>
                </a:lnTo>
                <a:cubicBezTo>
                  <a:pt x="0" y="151124"/>
                  <a:pt x="9611" y="160734"/>
                  <a:pt x="21431" y="160734"/>
                </a:cubicBezTo>
                <a:lnTo>
                  <a:pt x="128588" y="160734"/>
                </a:lnTo>
                <a:cubicBezTo>
                  <a:pt x="140408" y="160734"/>
                  <a:pt x="150019" y="151124"/>
                  <a:pt x="150019" y="139303"/>
                </a:cubicBezTo>
                <a:lnTo>
                  <a:pt x="150019" y="32147"/>
                </a:lnTo>
                <a:cubicBezTo>
                  <a:pt x="150019" y="20326"/>
                  <a:pt x="140408" y="10716"/>
                  <a:pt x="128588" y="10716"/>
                </a:cubicBezTo>
                <a:lnTo>
                  <a:pt x="21431" y="10716"/>
                </a:lnTo>
                <a:close/>
                <a:moveTo>
                  <a:pt x="42863" y="37505"/>
                </a:moveTo>
                <a:cubicBezTo>
                  <a:pt x="51734" y="37505"/>
                  <a:pt x="58936" y="44707"/>
                  <a:pt x="58936" y="53578"/>
                </a:cubicBezTo>
                <a:cubicBezTo>
                  <a:pt x="58936" y="62449"/>
                  <a:pt x="51734" y="69652"/>
                  <a:pt x="42863" y="69652"/>
                </a:cubicBezTo>
                <a:cubicBezTo>
                  <a:pt x="33991" y="69652"/>
                  <a:pt x="26789" y="62449"/>
                  <a:pt x="26789" y="53578"/>
                </a:cubicBezTo>
                <a:cubicBezTo>
                  <a:pt x="26789" y="44707"/>
                  <a:pt x="33991" y="37505"/>
                  <a:pt x="42863" y="37505"/>
                </a:cubicBezTo>
                <a:close/>
                <a:moveTo>
                  <a:pt x="91083" y="75009"/>
                </a:moveTo>
                <a:cubicBezTo>
                  <a:pt x="93896" y="75009"/>
                  <a:pt x="96474" y="76483"/>
                  <a:pt x="97948" y="78860"/>
                </a:cubicBezTo>
                <a:lnTo>
                  <a:pt x="127415" y="127081"/>
                </a:lnTo>
                <a:cubicBezTo>
                  <a:pt x="128922" y="129559"/>
                  <a:pt x="128989" y="132673"/>
                  <a:pt x="127583" y="135218"/>
                </a:cubicBezTo>
                <a:cubicBezTo>
                  <a:pt x="126176" y="137763"/>
                  <a:pt x="123464" y="139303"/>
                  <a:pt x="120551" y="139303"/>
                </a:cubicBezTo>
                <a:lnTo>
                  <a:pt x="29468" y="139303"/>
                </a:lnTo>
                <a:cubicBezTo>
                  <a:pt x="26488" y="139303"/>
                  <a:pt x="23708" y="137629"/>
                  <a:pt x="22335" y="134983"/>
                </a:cubicBezTo>
                <a:cubicBezTo>
                  <a:pt x="20962" y="132338"/>
                  <a:pt x="21163" y="129123"/>
                  <a:pt x="22871" y="126679"/>
                </a:cubicBezTo>
                <a:lnTo>
                  <a:pt x="41624" y="99890"/>
                </a:lnTo>
                <a:cubicBezTo>
                  <a:pt x="43130" y="97747"/>
                  <a:pt x="45575" y="96474"/>
                  <a:pt x="48220" y="96474"/>
                </a:cubicBezTo>
                <a:cubicBezTo>
                  <a:pt x="50866" y="96474"/>
                  <a:pt x="53310" y="97747"/>
                  <a:pt x="54817" y="99890"/>
                </a:cubicBezTo>
                <a:lnTo>
                  <a:pt x="63658" y="112548"/>
                </a:lnTo>
                <a:lnTo>
                  <a:pt x="84218" y="78894"/>
                </a:lnTo>
                <a:cubicBezTo>
                  <a:pt x="85692" y="76516"/>
                  <a:pt x="88270" y="75043"/>
                  <a:pt x="91083" y="75043"/>
                </a:cubicBezTo>
                <a:close/>
              </a:path>
            </a:pathLst>
          </a:custGeom>
          <a:solidFill>
            <a:srgbClr val="6366F1"/>
          </a:solidFill>
          <a:ln/>
        </p:spPr>
      </p:sp>
      <p:sp>
        <p:nvSpPr>
          <p:cNvPr id="43" name="Text 41"/>
          <p:cNvSpPr/>
          <p:nvPr/>
        </p:nvSpPr>
        <p:spPr>
          <a:xfrm>
            <a:off x="7640955" y="4457700"/>
            <a:ext cx="41338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Visual</a:t>
            </a:r>
            <a:endParaRPr lang="en-US" sz="1600" dirty="0"/>
          </a:p>
        </p:txBody>
      </p:sp>
      <p:sp>
        <p:nvSpPr>
          <p:cNvPr id="44" name="Shape 42"/>
          <p:cNvSpPr/>
          <p:nvPr/>
        </p:nvSpPr>
        <p:spPr>
          <a:xfrm>
            <a:off x="7421880" y="4800600"/>
            <a:ext cx="4267200" cy="609600"/>
          </a:xfrm>
          <a:prstGeom prst="roundRect">
            <a:avLst>
              <a:gd name="adj" fmla="val 12500"/>
            </a:avLst>
          </a:prstGeom>
          <a:solidFill>
            <a:srgbClr val="191919"/>
          </a:solidFill>
          <a:ln/>
        </p:spPr>
      </p:sp>
      <p:sp>
        <p:nvSpPr>
          <p:cNvPr id="45" name="Text 43"/>
          <p:cNvSpPr/>
          <p:nvPr/>
        </p:nvSpPr>
        <p:spPr>
          <a:xfrm>
            <a:off x="7498080" y="48768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Diagram:</a:t>
            </a:r>
            <a:endParaRPr lang="en-US" sz="1600" dirty="0"/>
          </a:p>
        </p:txBody>
      </p:sp>
      <p:sp>
        <p:nvSpPr>
          <p:cNvPr id="46" name="Text 44"/>
          <p:cNvSpPr/>
          <p:nvPr/>
        </p:nvSpPr>
        <p:spPr>
          <a:xfrm>
            <a:off x="7498080" y="51054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Human → Question → AI → Answer → Human confused!</a:t>
            </a:r>
            <a:endParaRPr lang="en-US" sz="1600" dirty="0"/>
          </a:p>
        </p:txBody>
      </p:sp>
      <p:sp>
        <p:nvSpPr>
          <p:cNvPr id="47" name="Shape 45"/>
          <p:cNvSpPr/>
          <p:nvPr/>
        </p:nvSpPr>
        <p:spPr>
          <a:xfrm>
            <a:off x="7421880" y="5486400"/>
            <a:ext cx="4267200" cy="609600"/>
          </a:xfrm>
          <a:prstGeom prst="roundRect">
            <a:avLst>
              <a:gd name="adj" fmla="val 12500"/>
            </a:avLst>
          </a:prstGeom>
          <a:solidFill>
            <a:srgbClr val="191919"/>
          </a:solidFill>
          <a:ln/>
        </p:spPr>
      </p:sp>
      <p:sp>
        <p:nvSpPr>
          <p:cNvPr id="48" name="Text 46"/>
          <p:cNvSpPr/>
          <p:nvPr/>
        </p:nvSpPr>
        <p:spPr>
          <a:xfrm>
            <a:off x="7498080" y="55626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Image:</a:t>
            </a:r>
            <a:endParaRPr lang="en-US" sz="1600" dirty="0"/>
          </a:p>
        </p:txBody>
      </p:sp>
      <p:sp>
        <p:nvSpPr>
          <p:cNvPr id="49" name="Text 47"/>
          <p:cNvSpPr/>
          <p:nvPr/>
        </p:nvSpPr>
        <p:spPr>
          <a:xfrm>
            <a:off x="7498080" y="57912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Portrait of Alan Turing</a:t>
            </a:r>
            <a:endParaRPr lang="en-US" sz="16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91919"/>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6366F1">
              <a:alpha val="20000"/>
            </a:srgbClr>
          </a:solidFill>
          <a:ln/>
        </p:spPr>
      </p:sp>
      <p:sp>
        <p:nvSpPr>
          <p:cNvPr id="3" name="Text 1"/>
          <p:cNvSpPr/>
          <p:nvPr/>
        </p:nvSpPr>
        <p:spPr>
          <a:xfrm>
            <a:off x="491847" y="533400"/>
            <a:ext cx="333375" cy="266700"/>
          </a:xfrm>
          <a:prstGeom prst="rect">
            <a:avLst/>
          </a:prstGeom>
          <a:noFill/>
          <a:ln/>
        </p:spPr>
        <p:txBody>
          <a:bodyPr wrap="square" lIns="0" tIns="0" rIns="0" bIns="0" rtlCol="0" anchor="ctr"/>
          <a:lstStyle/>
          <a:p>
            <a:pPr>
              <a:lnSpc>
                <a:spcPct val="120000"/>
              </a:lnSpc>
            </a:pPr>
            <a:r>
              <a:rPr lang="en-US" sz="1500" b="1" dirty="0">
                <a:solidFill>
                  <a:srgbClr val="6366F1"/>
                </a:solidFill>
                <a:latin typeface="Liter" pitchFamily="34" charset="0"/>
                <a:ea typeface="Liter" pitchFamily="34" charset="-122"/>
                <a:cs typeface="Liter" pitchFamily="34" charset="-120"/>
              </a:rPr>
              <a:t>06</a:t>
            </a:r>
            <a:endParaRPr lang="en-US" sz="1600" dirty="0"/>
          </a:p>
        </p:txBody>
      </p:sp>
      <p:sp>
        <p:nvSpPr>
          <p:cNvPr id="4" name="Text 2"/>
          <p:cNvSpPr/>
          <p:nvPr/>
        </p:nvSpPr>
        <p:spPr>
          <a:xfrm>
            <a:off x="952500" y="381000"/>
            <a:ext cx="5114925" cy="190500"/>
          </a:xfrm>
          <a:prstGeom prst="rect">
            <a:avLst/>
          </a:prstGeom>
          <a:noFill/>
          <a:ln/>
        </p:spPr>
        <p:txBody>
          <a:bodyPr wrap="square" lIns="0" tIns="0" rIns="0" bIns="0" rtlCol="0" anchor="ctr"/>
          <a:lstStyle/>
          <a:p>
            <a:pPr>
              <a:lnSpc>
                <a:spcPct val="120000"/>
              </a:lnSpc>
            </a:pPr>
            <a:r>
              <a:rPr lang="en-US" sz="1050" b="1" spc="53" kern="0" dirty="0">
                <a:solidFill>
                  <a:srgbClr val="6366F1"/>
                </a:solidFill>
                <a:latin typeface="Liter" pitchFamily="34" charset="0"/>
                <a:ea typeface="Liter" pitchFamily="34" charset="-122"/>
                <a:cs typeface="Liter" pitchFamily="34" charset="-120"/>
              </a:rPr>
              <a:t>History of AI</a:t>
            </a:r>
            <a:endParaRPr lang="en-US" sz="1600" dirty="0"/>
          </a:p>
        </p:txBody>
      </p:sp>
      <p:sp>
        <p:nvSpPr>
          <p:cNvPr id="5" name="Text 3"/>
          <p:cNvSpPr/>
          <p:nvPr/>
        </p:nvSpPr>
        <p:spPr>
          <a:xfrm>
            <a:off x="952500" y="571500"/>
            <a:ext cx="521970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Birth of AI – The 1950s Revolution</a:t>
            </a:r>
            <a:endParaRPr lang="en-US" sz="1600" dirty="0"/>
          </a:p>
        </p:txBody>
      </p:sp>
      <p:sp>
        <p:nvSpPr>
          <p:cNvPr id="6" name="Shape 4"/>
          <p:cNvSpPr/>
          <p:nvPr/>
        </p:nvSpPr>
        <p:spPr>
          <a:xfrm>
            <a:off x="384810" y="1108710"/>
            <a:ext cx="6760845" cy="2065020"/>
          </a:xfrm>
          <a:prstGeom prst="roundRect">
            <a:avLst>
              <a:gd name="adj" fmla="val 5535"/>
            </a:avLst>
          </a:prstGeom>
          <a:solidFill>
            <a:srgbClr val="262626"/>
          </a:solidFill>
          <a:ln w="10160">
            <a:solidFill>
              <a:srgbClr val="333333"/>
            </a:solidFill>
            <a:prstDash val="solid"/>
          </a:ln>
        </p:spPr>
      </p:sp>
      <p:sp>
        <p:nvSpPr>
          <p:cNvPr id="7" name="Shape 5"/>
          <p:cNvSpPr/>
          <p:nvPr/>
        </p:nvSpPr>
        <p:spPr>
          <a:xfrm>
            <a:off x="502920" y="1226823"/>
            <a:ext cx="381000" cy="381000"/>
          </a:xfrm>
          <a:prstGeom prst="roundRect">
            <a:avLst>
              <a:gd name="adj" fmla="val 20000"/>
            </a:avLst>
          </a:prstGeom>
          <a:solidFill>
            <a:srgbClr val="6366F1">
              <a:alpha val="20000"/>
            </a:srgbClr>
          </a:solidFill>
          <a:ln/>
        </p:spPr>
      </p:sp>
      <p:sp>
        <p:nvSpPr>
          <p:cNvPr id="8" name="Shape 6"/>
          <p:cNvSpPr/>
          <p:nvPr/>
        </p:nvSpPr>
        <p:spPr>
          <a:xfrm>
            <a:off x="598170" y="1322073"/>
            <a:ext cx="190500" cy="190500"/>
          </a:xfrm>
          <a:custGeom>
            <a:avLst/>
            <a:gdLst/>
            <a:ahLst/>
            <a:cxnLst/>
            <a:rect l="l" t="t" r="r" b="b"/>
            <a:pathLst>
              <a:path w="190500" h="190500">
                <a:moveTo>
                  <a:pt x="88813" y="1898"/>
                </a:moveTo>
                <a:cubicBezTo>
                  <a:pt x="92720" y="-633"/>
                  <a:pt x="97780" y="-633"/>
                  <a:pt x="101687" y="1898"/>
                </a:cubicBezTo>
                <a:lnTo>
                  <a:pt x="185031" y="55476"/>
                </a:lnTo>
                <a:cubicBezTo>
                  <a:pt x="189458" y="58341"/>
                  <a:pt x="191505" y="63773"/>
                  <a:pt x="190016" y="68833"/>
                </a:cubicBezTo>
                <a:cubicBezTo>
                  <a:pt x="188528" y="73893"/>
                  <a:pt x="183877" y="77391"/>
                  <a:pt x="178594" y="77391"/>
                </a:cubicBezTo>
                <a:lnTo>
                  <a:pt x="166688" y="77391"/>
                </a:lnTo>
                <a:lnTo>
                  <a:pt x="166688" y="154781"/>
                </a:lnTo>
                <a:lnTo>
                  <a:pt x="185738" y="169069"/>
                </a:lnTo>
                <a:cubicBezTo>
                  <a:pt x="188751" y="171301"/>
                  <a:pt x="190500" y="174836"/>
                  <a:pt x="190500" y="178594"/>
                </a:cubicBezTo>
                <a:cubicBezTo>
                  <a:pt x="190500" y="185179"/>
                  <a:pt x="185179" y="190500"/>
                  <a:pt x="178594" y="190500"/>
                </a:cubicBezTo>
                <a:lnTo>
                  <a:pt x="11906" y="190500"/>
                </a:lnTo>
                <a:cubicBezTo>
                  <a:pt x="5321" y="190500"/>
                  <a:pt x="0" y="185179"/>
                  <a:pt x="0" y="178594"/>
                </a:cubicBezTo>
                <a:cubicBezTo>
                  <a:pt x="0" y="174836"/>
                  <a:pt x="1749" y="171301"/>
                  <a:pt x="4763" y="169069"/>
                </a:cubicBezTo>
                <a:lnTo>
                  <a:pt x="23812" y="154781"/>
                </a:lnTo>
                <a:lnTo>
                  <a:pt x="23812" y="154781"/>
                </a:lnTo>
                <a:lnTo>
                  <a:pt x="23812" y="77391"/>
                </a:lnTo>
                <a:lnTo>
                  <a:pt x="11906" y="77391"/>
                </a:lnTo>
                <a:cubicBezTo>
                  <a:pt x="6623" y="77391"/>
                  <a:pt x="1972" y="73893"/>
                  <a:pt x="484" y="68833"/>
                </a:cubicBezTo>
                <a:cubicBezTo>
                  <a:pt x="-1005" y="63773"/>
                  <a:pt x="1042" y="58303"/>
                  <a:pt x="5469" y="55476"/>
                </a:cubicBezTo>
                <a:lnTo>
                  <a:pt x="88813" y="1898"/>
                </a:lnTo>
                <a:close/>
                <a:moveTo>
                  <a:pt x="125016" y="77391"/>
                </a:moveTo>
                <a:lnTo>
                  <a:pt x="125016" y="154781"/>
                </a:lnTo>
                <a:lnTo>
                  <a:pt x="148828" y="154781"/>
                </a:lnTo>
                <a:lnTo>
                  <a:pt x="148828" y="77391"/>
                </a:lnTo>
                <a:lnTo>
                  <a:pt x="125016" y="77391"/>
                </a:lnTo>
                <a:close/>
                <a:moveTo>
                  <a:pt x="83344" y="154781"/>
                </a:moveTo>
                <a:lnTo>
                  <a:pt x="107156" y="154781"/>
                </a:lnTo>
                <a:lnTo>
                  <a:pt x="107156" y="77391"/>
                </a:lnTo>
                <a:lnTo>
                  <a:pt x="83344" y="77391"/>
                </a:lnTo>
                <a:lnTo>
                  <a:pt x="83344" y="154781"/>
                </a:lnTo>
                <a:close/>
                <a:moveTo>
                  <a:pt x="41672" y="77391"/>
                </a:moveTo>
                <a:lnTo>
                  <a:pt x="41672" y="154781"/>
                </a:lnTo>
                <a:lnTo>
                  <a:pt x="65484" y="154781"/>
                </a:lnTo>
                <a:lnTo>
                  <a:pt x="65484" y="77391"/>
                </a:lnTo>
                <a:lnTo>
                  <a:pt x="41672" y="77391"/>
                </a:lnTo>
                <a:close/>
              </a:path>
            </a:pathLst>
          </a:custGeom>
          <a:solidFill>
            <a:srgbClr val="6366F1"/>
          </a:solidFill>
          <a:ln/>
        </p:spPr>
      </p:sp>
      <p:sp>
        <p:nvSpPr>
          <p:cNvPr id="9" name="Text 7"/>
          <p:cNvSpPr/>
          <p:nvPr/>
        </p:nvSpPr>
        <p:spPr>
          <a:xfrm>
            <a:off x="998220" y="1283973"/>
            <a:ext cx="2981325"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The Dartmouth Conference (1956)</a:t>
            </a:r>
            <a:endParaRPr lang="en-US" sz="1600" dirty="0"/>
          </a:p>
        </p:txBody>
      </p:sp>
      <p:sp>
        <p:nvSpPr>
          <p:cNvPr id="10" name="Text 8"/>
          <p:cNvSpPr/>
          <p:nvPr/>
        </p:nvSpPr>
        <p:spPr>
          <a:xfrm>
            <a:off x="502920" y="1684023"/>
            <a:ext cx="6600825"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 group of scientists met at Dartmouth College and officially coined the term </a:t>
            </a:r>
            <a:pPr>
              <a:lnSpc>
                <a:spcPct val="130000"/>
              </a:lnSpc>
            </a:pPr>
            <a:r>
              <a:rPr lang="en-US" sz="1200" b="1" dirty="0">
                <a:solidFill>
                  <a:srgbClr val="6366F1"/>
                </a:solidFill>
                <a:latin typeface="Liter" pitchFamily="34" charset="0"/>
                <a:ea typeface="Liter" pitchFamily="34" charset="-122"/>
                <a:cs typeface="Liter" pitchFamily="34" charset="-120"/>
              </a:rPr>
              <a:t>"Artificial Intelligence"</a:t>
            </a:r>
            <a:pPr>
              <a:lnSpc>
                <a:spcPct val="130000"/>
              </a:lnSpc>
            </a:pPr>
            <a:r>
              <a:rPr lang="en-US" sz="1200" dirty="0">
                <a:solidFill>
                  <a:srgbClr val="EFEFEF"/>
                </a:solidFill>
                <a:latin typeface="Liter" pitchFamily="34" charset="0"/>
                <a:ea typeface="Liter" pitchFamily="34" charset="-122"/>
                <a:cs typeface="Liter" pitchFamily="34" charset="-120"/>
              </a:rPr>
              <a:t>. They believed machines could be made to simulate human learning and intelligence.</a:t>
            </a:r>
            <a:endParaRPr lang="en-US" sz="1600" dirty="0"/>
          </a:p>
        </p:txBody>
      </p:sp>
      <p:sp>
        <p:nvSpPr>
          <p:cNvPr id="11" name="Shape 9"/>
          <p:cNvSpPr/>
          <p:nvPr/>
        </p:nvSpPr>
        <p:spPr>
          <a:xfrm>
            <a:off x="502920" y="2217423"/>
            <a:ext cx="3219450" cy="838200"/>
          </a:xfrm>
          <a:prstGeom prst="roundRect">
            <a:avLst>
              <a:gd name="adj" fmla="val 9091"/>
            </a:avLst>
          </a:prstGeom>
          <a:solidFill>
            <a:srgbClr val="191919"/>
          </a:solidFill>
          <a:ln/>
        </p:spPr>
      </p:sp>
      <p:sp>
        <p:nvSpPr>
          <p:cNvPr id="12" name="Text 10"/>
          <p:cNvSpPr/>
          <p:nvPr/>
        </p:nvSpPr>
        <p:spPr>
          <a:xfrm>
            <a:off x="579120" y="2293623"/>
            <a:ext cx="31337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Key People:</a:t>
            </a:r>
            <a:endParaRPr lang="en-US" sz="1600" dirty="0"/>
          </a:p>
        </p:txBody>
      </p:sp>
      <p:sp>
        <p:nvSpPr>
          <p:cNvPr id="13" name="Text 11"/>
          <p:cNvSpPr/>
          <p:nvPr/>
        </p:nvSpPr>
        <p:spPr>
          <a:xfrm>
            <a:off x="579120" y="2522223"/>
            <a:ext cx="3143250"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John McCarthy, Marvin Minsky, Claude Shannon</a:t>
            </a:r>
            <a:endParaRPr lang="en-US" sz="1600" dirty="0"/>
          </a:p>
        </p:txBody>
      </p:sp>
      <p:sp>
        <p:nvSpPr>
          <p:cNvPr id="14" name="Shape 12"/>
          <p:cNvSpPr/>
          <p:nvPr/>
        </p:nvSpPr>
        <p:spPr>
          <a:xfrm>
            <a:off x="3802380" y="2217423"/>
            <a:ext cx="3219450" cy="838200"/>
          </a:xfrm>
          <a:prstGeom prst="roundRect">
            <a:avLst>
              <a:gd name="adj" fmla="val 9091"/>
            </a:avLst>
          </a:prstGeom>
          <a:solidFill>
            <a:srgbClr val="191919"/>
          </a:solidFill>
          <a:ln/>
        </p:spPr>
      </p:sp>
      <p:sp>
        <p:nvSpPr>
          <p:cNvPr id="15" name="Text 13"/>
          <p:cNvSpPr/>
          <p:nvPr/>
        </p:nvSpPr>
        <p:spPr>
          <a:xfrm>
            <a:off x="3878580" y="2293623"/>
            <a:ext cx="31337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Their Goal:</a:t>
            </a:r>
            <a:endParaRPr lang="en-US" sz="1600" dirty="0"/>
          </a:p>
        </p:txBody>
      </p:sp>
      <p:sp>
        <p:nvSpPr>
          <p:cNvPr id="16" name="Text 14"/>
          <p:cNvSpPr/>
          <p:nvPr/>
        </p:nvSpPr>
        <p:spPr>
          <a:xfrm>
            <a:off x="3878580" y="2522223"/>
            <a:ext cx="3143250"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Make machines use language, form concepts, and solve problems</a:t>
            </a:r>
            <a:endParaRPr lang="en-US" sz="1600" dirty="0"/>
          </a:p>
        </p:txBody>
      </p:sp>
      <p:sp>
        <p:nvSpPr>
          <p:cNvPr id="17" name="Shape 15"/>
          <p:cNvSpPr/>
          <p:nvPr/>
        </p:nvSpPr>
        <p:spPr>
          <a:xfrm>
            <a:off x="384810" y="3257551"/>
            <a:ext cx="6760845" cy="1664970"/>
          </a:xfrm>
          <a:prstGeom prst="roundRect">
            <a:avLst>
              <a:gd name="adj" fmla="val 6865"/>
            </a:avLst>
          </a:prstGeom>
          <a:solidFill>
            <a:srgbClr val="262626"/>
          </a:solidFill>
          <a:ln w="10160">
            <a:solidFill>
              <a:srgbClr val="333333"/>
            </a:solidFill>
            <a:prstDash val="solid"/>
          </a:ln>
        </p:spPr>
      </p:sp>
      <p:sp>
        <p:nvSpPr>
          <p:cNvPr id="18" name="Shape 16"/>
          <p:cNvSpPr/>
          <p:nvPr/>
        </p:nvSpPr>
        <p:spPr>
          <a:xfrm>
            <a:off x="514826" y="3413759"/>
            <a:ext cx="214313" cy="190500"/>
          </a:xfrm>
          <a:custGeom>
            <a:avLst/>
            <a:gdLst/>
            <a:ahLst/>
            <a:cxnLst/>
            <a:rect l="l" t="t" r="r" b="b"/>
            <a:pathLst>
              <a:path w="214313" h="190500">
                <a:moveTo>
                  <a:pt x="115156" y="-7032"/>
                </a:moveTo>
                <a:cubicBezTo>
                  <a:pt x="113630" y="-10009"/>
                  <a:pt x="110542" y="-11906"/>
                  <a:pt x="107193" y="-11906"/>
                </a:cubicBezTo>
                <a:cubicBezTo>
                  <a:pt x="103845" y="-11906"/>
                  <a:pt x="100757" y="-10009"/>
                  <a:pt x="99231" y="-7032"/>
                </a:cubicBezTo>
                <a:lnTo>
                  <a:pt x="71847" y="46620"/>
                </a:lnTo>
                <a:lnTo>
                  <a:pt x="12353" y="56071"/>
                </a:lnTo>
                <a:cubicBezTo>
                  <a:pt x="9041" y="56592"/>
                  <a:pt x="6288" y="58936"/>
                  <a:pt x="5246" y="62136"/>
                </a:cubicBezTo>
                <a:cubicBezTo>
                  <a:pt x="4204" y="65336"/>
                  <a:pt x="5060" y="68833"/>
                  <a:pt x="7404" y="71214"/>
                </a:cubicBezTo>
                <a:lnTo>
                  <a:pt x="49969" y="113816"/>
                </a:lnTo>
                <a:lnTo>
                  <a:pt x="40593" y="173310"/>
                </a:lnTo>
                <a:cubicBezTo>
                  <a:pt x="40072" y="176622"/>
                  <a:pt x="41449" y="179970"/>
                  <a:pt x="44165" y="181942"/>
                </a:cubicBezTo>
                <a:cubicBezTo>
                  <a:pt x="46881" y="183914"/>
                  <a:pt x="50453" y="184212"/>
                  <a:pt x="53467" y="182687"/>
                </a:cubicBezTo>
                <a:lnTo>
                  <a:pt x="107193" y="155377"/>
                </a:lnTo>
                <a:lnTo>
                  <a:pt x="160883" y="182687"/>
                </a:lnTo>
                <a:cubicBezTo>
                  <a:pt x="163860" y="184212"/>
                  <a:pt x="167469" y="183914"/>
                  <a:pt x="170185" y="181942"/>
                </a:cubicBezTo>
                <a:cubicBezTo>
                  <a:pt x="172901" y="179970"/>
                  <a:pt x="174278" y="176659"/>
                  <a:pt x="173757" y="173310"/>
                </a:cubicBezTo>
                <a:lnTo>
                  <a:pt x="164343" y="113816"/>
                </a:lnTo>
                <a:lnTo>
                  <a:pt x="206908" y="71214"/>
                </a:lnTo>
                <a:cubicBezTo>
                  <a:pt x="209290" y="68833"/>
                  <a:pt x="210108" y="65336"/>
                  <a:pt x="209066" y="62136"/>
                </a:cubicBezTo>
                <a:cubicBezTo>
                  <a:pt x="208025" y="58936"/>
                  <a:pt x="205308" y="56592"/>
                  <a:pt x="201960" y="56071"/>
                </a:cubicBezTo>
                <a:lnTo>
                  <a:pt x="142503" y="46620"/>
                </a:lnTo>
                <a:lnTo>
                  <a:pt x="115156" y="-7032"/>
                </a:lnTo>
                <a:close/>
              </a:path>
            </a:pathLst>
          </a:custGeom>
          <a:solidFill>
            <a:srgbClr val="6366F1"/>
          </a:solidFill>
          <a:ln/>
        </p:spPr>
      </p:sp>
      <p:sp>
        <p:nvSpPr>
          <p:cNvPr id="19" name="Text 17"/>
          <p:cNvSpPr/>
          <p:nvPr/>
        </p:nvSpPr>
        <p:spPr>
          <a:xfrm>
            <a:off x="741045" y="3375659"/>
            <a:ext cx="6381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Early Optimism</a:t>
            </a:r>
            <a:endParaRPr lang="en-US" sz="1600" dirty="0"/>
          </a:p>
        </p:txBody>
      </p:sp>
      <p:sp>
        <p:nvSpPr>
          <p:cNvPr id="20" name="Shape 18"/>
          <p:cNvSpPr/>
          <p:nvPr/>
        </p:nvSpPr>
        <p:spPr>
          <a:xfrm>
            <a:off x="521970" y="3756659"/>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6366F1"/>
          </a:solidFill>
          <a:ln/>
        </p:spPr>
      </p:sp>
      <p:sp>
        <p:nvSpPr>
          <p:cNvPr id="21" name="Text 19"/>
          <p:cNvSpPr/>
          <p:nvPr/>
        </p:nvSpPr>
        <p:spPr>
          <a:xfrm>
            <a:off x="807720" y="3718559"/>
            <a:ext cx="356235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Scientists believed AI would be solved in a few years</a:t>
            </a:r>
            <a:endParaRPr lang="en-US" sz="1600" dirty="0"/>
          </a:p>
        </p:txBody>
      </p:sp>
      <p:sp>
        <p:nvSpPr>
          <p:cNvPr id="22" name="Shape 20"/>
          <p:cNvSpPr/>
          <p:nvPr/>
        </p:nvSpPr>
        <p:spPr>
          <a:xfrm>
            <a:off x="521970" y="4042409"/>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6366F1"/>
          </a:solidFill>
          <a:ln/>
        </p:spPr>
      </p:sp>
      <p:sp>
        <p:nvSpPr>
          <p:cNvPr id="23" name="Text 21"/>
          <p:cNvSpPr/>
          <p:nvPr/>
        </p:nvSpPr>
        <p:spPr>
          <a:xfrm>
            <a:off x="807720" y="4004309"/>
            <a:ext cx="4676775"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They thought machines could match human intelligence by the 1970s</a:t>
            </a:r>
            <a:endParaRPr lang="en-US" sz="1600" dirty="0"/>
          </a:p>
        </p:txBody>
      </p:sp>
      <p:sp>
        <p:nvSpPr>
          <p:cNvPr id="24" name="Shape 22"/>
          <p:cNvSpPr/>
          <p:nvPr/>
        </p:nvSpPr>
        <p:spPr>
          <a:xfrm>
            <a:off x="521970" y="4328159"/>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6366F1"/>
          </a:solidFill>
          <a:ln/>
        </p:spPr>
      </p:sp>
      <p:sp>
        <p:nvSpPr>
          <p:cNvPr id="25" name="Text 23"/>
          <p:cNvSpPr/>
          <p:nvPr/>
        </p:nvSpPr>
        <p:spPr>
          <a:xfrm>
            <a:off x="807720" y="4290059"/>
            <a:ext cx="40005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Government and companies invested heavily in AI research</a:t>
            </a:r>
            <a:endParaRPr lang="en-US" sz="1600" dirty="0"/>
          </a:p>
        </p:txBody>
      </p:sp>
      <p:sp>
        <p:nvSpPr>
          <p:cNvPr id="26" name="Shape 24"/>
          <p:cNvSpPr/>
          <p:nvPr/>
        </p:nvSpPr>
        <p:spPr>
          <a:xfrm>
            <a:off x="521970" y="4613909"/>
            <a:ext cx="152400" cy="152400"/>
          </a:xfrm>
          <a:custGeom>
            <a:avLst/>
            <a:gdLst/>
            <a:ahLst/>
            <a:cxnLst/>
            <a:rect l="l" t="t" r="r" b="b"/>
            <a:pathLst>
              <a:path w="152400" h="152400">
                <a:moveTo>
                  <a:pt x="76200" y="0"/>
                </a:moveTo>
                <a:cubicBezTo>
                  <a:pt x="80576" y="0"/>
                  <a:pt x="84594" y="2411"/>
                  <a:pt x="86678" y="6251"/>
                </a:cubicBezTo>
                <a:lnTo>
                  <a:pt x="150971" y="125313"/>
                </a:lnTo>
                <a:cubicBezTo>
                  <a:pt x="152966" y="129004"/>
                  <a:pt x="152876" y="133469"/>
                  <a:pt x="150733" y="137071"/>
                </a:cubicBezTo>
                <a:cubicBezTo>
                  <a:pt x="148590" y="140672"/>
                  <a:pt x="144691" y="142875"/>
                  <a:pt x="140494" y="142875"/>
                </a:cubicBezTo>
                <a:lnTo>
                  <a:pt x="11906" y="142875"/>
                </a:lnTo>
                <a:cubicBezTo>
                  <a:pt x="7709" y="142875"/>
                  <a:pt x="3840" y="140672"/>
                  <a:pt x="1667" y="137071"/>
                </a:cubicBezTo>
                <a:cubicBezTo>
                  <a:pt x="-506" y="133469"/>
                  <a:pt x="-566" y="129004"/>
                  <a:pt x="1429" y="125313"/>
                </a:cubicBezTo>
                <a:lnTo>
                  <a:pt x="65723" y="6251"/>
                </a:lnTo>
                <a:cubicBezTo>
                  <a:pt x="67806" y="2411"/>
                  <a:pt x="71824" y="0"/>
                  <a:pt x="76200" y="0"/>
                </a:cubicBezTo>
                <a:close/>
                <a:moveTo>
                  <a:pt x="76200" y="50006"/>
                </a:moveTo>
                <a:cubicBezTo>
                  <a:pt x="72241" y="50006"/>
                  <a:pt x="69056" y="53191"/>
                  <a:pt x="69056" y="57150"/>
                </a:cubicBezTo>
                <a:lnTo>
                  <a:pt x="69056" y="90488"/>
                </a:lnTo>
                <a:cubicBezTo>
                  <a:pt x="69056" y="94446"/>
                  <a:pt x="72241" y="97631"/>
                  <a:pt x="76200" y="97631"/>
                </a:cubicBezTo>
                <a:cubicBezTo>
                  <a:pt x="80159" y="97631"/>
                  <a:pt x="83344" y="94446"/>
                  <a:pt x="83344" y="90488"/>
                </a:cubicBezTo>
                <a:lnTo>
                  <a:pt x="83344" y="57150"/>
                </a:lnTo>
                <a:cubicBezTo>
                  <a:pt x="83344" y="53191"/>
                  <a:pt x="80159" y="50006"/>
                  <a:pt x="76200" y="50006"/>
                </a:cubicBezTo>
                <a:close/>
                <a:moveTo>
                  <a:pt x="84147" y="114300"/>
                </a:moveTo>
                <a:cubicBezTo>
                  <a:pt x="84328" y="111350"/>
                  <a:pt x="82857" y="108543"/>
                  <a:pt x="80328" y="107014"/>
                </a:cubicBezTo>
                <a:cubicBezTo>
                  <a:pt x="77799" y="105484"/>
                  <a:pt x="74630" y="105484"/>
                  <a:pt x="72102" y="107014"/>
                </a:cubicBezTo>
                <a:cubicBezTo>
                  <a:pt x="69573" y="108543"/>
                  <a:pt x="68102" y="111350"/>
                  <a:pt x="68282" y="114300"/>
                </a:cubicBezTo>
                <a:cubicBezTo>
                  <a:pt x="68102" y="117250"/>
                  <a:pt x="69573" y="120057"/>
                  <a:pt x="72102" y="121586"/>
                </a:cubicBezTo>
                <a:cubicBezTo>
                  <a:pt x="74630" y="123116"/>
                  <a:pt x="77799" y="123116"/>
                  <a:pt x="80328" y="121586"/>
                </a:cubicBezTo>
                <a:cubicBezTo>
                  <a:pt x="82857" y="120057"/>
                  <a:pt x="84328" y="117250"/>
                  <a:pt x="84147" y="114300"/>
                </a:cubicBezTo>
                <a:close/>
              </a:path>
            </a:pathLst>
          </a:custGeom>
          <a:solidFill>
            <a:srgbClr val="FF6900"/>
          </a:solidFill>
          <a:ln/>
        </p:spPr>
      </p:sp>
      <p:sp>
        <p:nvSpPr>
          <p:cNvPr id="27" name="Text 25"/>
          <p:cNvSpPr/>
          <p:nvPr/>
        </p:nvSpPr>
        <p:spPr>
          <a:xfrm>
            <a:off x="807720" y="4575809"/>
            <a:ext cx="43053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They underestimated how complex human intelligence really is!</a:t>
            </a:r>
            <a:endParaRPr lang="en-US" sz="1600" dirty="0"/>
          </a:p>
        </p:txBody>
      </p:sp>
      <p:sp>
        <p:nvSpPr>
          <p:cNvPr id="28" name="Shape 26"/>
          <p:cNvSpPr/>
          <p:nvPr/>
        </p:nvSpPr>
        <p:spPr>
          <a:xfrm>
            <a:off x="7303770" y="1108710"/>
            <a:ext cx="4503420" cy="1798320"/>
          </a:xfrm>
          <a:prstGeom prst="roundRect">
            <a:avLst>
              <a:gd name="adj" fmla="val 6356"/>
            </a:avLst>
          </a:prstGeom>
          <a:gradFill rotWithShape="1" flip="none">
            <a:gsLst>
              <a:gs pos="0">
                <a:srgbClr val="6366F1">
                  <a:alpha val="20000"/>
                </a:srgbClr>
              </a:gs>
              <a:gs pos="100000">
                <a:srgbClr val="6366F1">
                  <a:alpha val="5000"/>
                </a:srgbClr>
              </a:gs>
            </a:gsLst>
            <a:lin ang="2700000" scaled="1"/>
          </a:gradFill>
          <a:ln w="10160">
            <a:solidFill>
              <a:srgbClr val="6366F1"/>
            </a:solidFill>
            <a:prstDash val="solid"/>
          </a:ln>
        </p:spPr>
      </p:sp>
      <p:sp>
        <p:nvSpPr>
          <p:cNvPr id="29" name="Shape 27"/>
          <p:cNvSpPr/>
          <p:nvPr/>
        </p:nvSpPr>
        <p:spPr>
          <a:xfrm>
            <a:off x="7469505" y="1264923"/>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6366F1"/>
          </a:solidFill>
          <a:ln/>
        </p:spPr>
      </p:sp>
      <p:sp>
        <p:nvSpPr>
          <p:cNvPr id="30" name="Text 28"/>
          <p:cNvSpPr/>
          <p:nvPr/>
        </p:nvSpPr>
        <p:spPr>
          <a:xfrm>
            <a:off x="7736205" y="1226823"/>
            <a:ext cx="1809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Real-World Example</a:t>
            </a:r>
            <a:endParaRPr lang="en-US" sz="1600" dirty="0"/>
          </a:p>
        </p:txBody>
      </p:sp>
      <p:sp>
        <p:nvSpPr>
          <p:cNvPr id="31" name="Shape 29"/>
          <p:cNvSpPr/>
          <p:nvPr/>
        </p:nvSpPr>
        <p:spPr>
          <a:xfrm>
            <a:off x="7421880" y="1569723"/>
            <a:ext cx="4267200" cy="1219200"/>
          </a:xfrm>
          <a:prstGeom prst="roundRect">
            <a:avLst>
              <a:gd name="adj" fmla="val 6250"/>
            </a:avLst>
          </a:prstGeom>
          <a:solidFill>
            <a:srgbClr val="191919"/>
          </a:solidFill>
          <a:ln/>
        </p:spPr>
      </p:sp>
      <p:sp>
        <p:nvSpPr>
          <p:cNvPr id="32" name="Text 30"/>
          <p:cNvSpPr/>
          <p:nvPr/>
        </p:nvSpPr>
        <p:spPr>
          <a:xfrm>
            <a:off x="7536180" y="1684023"/>
            <a:ext cx="4124325" cy="266700"/>
          </a:xfrm>
          <a:prstGeom prst="rect">
            <a:avLst/>
          </a:prstGeom>
          <a:noFill/>
          <a:ln/>
        </p:spPr>
        <p:txBody>
          <a:bodyPr wrap="square" lIns="0" tIns="0" rIns="0" bIns="0" rtlCol="0" anchor="ctr"/>
          <a:lstStyle/>
          <a:p>
            <a:pPr>
              <a:lnSpc>
                <a:spcPct val="130000"/>
              </a:lnSpc>
            </a:pPr>
            <a:r>
              <a:rPr lang="en-US" sz="1350" b="1" dirty="0">
                <a:solidFill>
                  <a:srgbClr val="6366F1"/>
                </a:solidFill>
                <a:latin typeface="Liter" pitchFamily="34" charset="0"/>
                <a:ea typeface="Liter" pitchFamily="34" charset="-122"/>
                <a:cs typeface="Liter" pitchFamily="34" charset="-120"/>
              </a:rPr>
              <a:t>The Vision</a:t>
            </a:r>
            <a:endParaRPr lang="en-US" sz="1600" dirty="0"/>
          </a:p>
        </p:txBody>
      </p:sp>
      <p:sp>
        <p:nvSpPr>
          <p:cNvPr id="33" name="Text 31"/>
          <p:cNvSpPr/>
          <p:nvPr/>
        </p:nvSpPr>
        <p:spPr>
          <a:xfrm>
            <a:off x="7536180" y="1988823"/>
            <a:ext cx="41148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Just like the Wright brothers dreamed of flying, these scientists dreamed of thinking machines. Their conference was like the "Kitty Hawk moment" for AI!</a:t>
            </a:r>
            <a:endParaRPr lang="en-US" sz="1600" dirty="0"/>
          </a:p>
        </p:txBody>
      </p:sp>
      <p:sp>
        <p:nvSpPr>
          <p:cNvPr id="34" name="Shape 32"/>
          <p:cNvSpPr/>
          <p:nvPr/>
        </p:nvSpPr>
        <p:spPr>
          <a:xfrm>
            <a:off x="7303770" y="2990851"/>
            <a:ext cx="4503420" cy="1493520"/>
          </a:xfrm>
          <a:prstGeom prst="roundRect">
            <a:avLst>
              <a:gd name="adj" fmla="val 7653"/>
            </a:avLst>
          </a:prstGeom>
          <a:solidFill>
            <a:srgbClr val="262626"/>
          </a:solidFill>
          <a:ln w="10160">
            <a:solidFill>
              <a:srgbClr val="333333"/>
            </a:solidFill>
            <a:prstDash val="solid"/>
          </a:ln>
        </p:spPr>
      </p:sp>
      <p:sp>
        <p:nvSpPr>
          <p:cNvPr id="35" name="Text 33"/>
          <p:cNvSpPr/>
          <p:nvPr/>
        </p:nvSpPr>
        <p:spPr>
          <a:xfrm>
            <a:off x="7421880" y="3108959"/>
            <a:ext cx="43529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 Simple Explanation</a:t>
            </a:r>
            <a:endParaRPr lang="en-US" sz="1600" dirty="0"/>
          </a:p>
        </p:txBody>
      </p:sp>
      <p:sp>
        <p:nvSpPr>
          <p:cNvPr id="36" name="Text 34"/>
          <p:cNvSpPr/>
          <p:nvPr/>
        </p:nvSpPr>
        <p:spPr>
          <a:xfrm>
            <a:off x="7421880" y="3451859"/>
            <a:ext cx="4343400" cy="9144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Imagine a group of friends in 1956 saying, "Let's make computers smart!" They were incredibly optimistic, thinking they'd solve it in a summer. It took decades longer, but they started the journey.</a:t>
            </a:r>
            <a:endParaRPr lang="en-US" sz="1600" dirty="0"/>
          </a:p>
        </p:txBody>
      </p:sp>
      <p:sp>
        <p:nvSpPr>
          <p:cNvPr id="37" name="Shape 35"/>
          <p:cNvSpPr/>
          <p:nvPr/>
        </p:nvSpPr>
        <p:spPr>
          <a:xfrm>
            <a:off x="7303770" y="4568192"/>
            <a:ext cx="4503420" cy="1874520"/>
          </a:xfrm>
          <a:prstGeom prst="roundRect">
            <a:avLst>
              <a:gd name="adj" fmla="val 6098"/>
            </a:avLst>
          </a:prstGeom>
          <a:solidFill>
            <a:srgbClr val="262626"/>
          </a:solidFill>
          <a:ln w="10160">
            <a:solidFill>
              <a:srgbClr val="333333"/>
            </a:solidFill>
            <a:prstDash val="solid"/>
          </a:ln>
        </p:spPr>
      </p:sp>
      <p:sp>
        <p:nvSpPr>
          <p:cNvPr id="38" name="Shape 36"/>
          <p:cNvSpPr/>
          <p:nvPr/>
        </p:nvSpPr>
        <p:spPr>
          <a:xfrm>
            <a:off x="7456408" y="4733925"/>
            <a:ext cx="150019" cy="171450"/>
          </a:xfrm>
          <a:custGeom>
            <a:avLst/>
            <a:gdLst/>
            <a:ahLst/>
            <a:cxnLst/>
            <a:rect l="l" t="t" r="r" b="b"/>
            <a:pathLst>
              <a:path w="150019" h="171450">
                <a:moveTo>
                  <a:pt x="21431" y="10716"/>
                </a:moveTo>
                <a:cubicBezTo>
                  <a:pt x="9611" y="10716"/>
                  <a:pt x="0" y="20326"/>
                  <a:pt x="0" y="32147"/>
                </a:cubicBezTo>
                <a:lnTo>
                  <a:pt x="0" y="139303"/>
                </a:lnTo>
                <a:cubicBezTo>
                  <a:pt x="0" y="151124"/>
                  <a:pt x="9611" y="160734"/>
                  <a:pt x="21431" y="160734"/>
                </a:cubicBezTo>
                <a:lnTo>
                  <a:pt x="128588" y="160734"/>
                </a:lnTo>
                <a:cubicBezTo>
                  <a:pt x="140408" y="160734"/>
                  <a:pt x="150019" y="151124"/>
                  <a:pt x="150019" y="139303"/>
                </a:cubicBezTo>
                <a:lnTo>
                  <a:pt x="150019" y="32147"/>
                </a:lnTo>
                <a:cubicBezTo>
                  <a:pt x="150019" y="20326"/>
                  <a:pt x="140408" y="10716"/>
                  <a:pt x="128588" y="10716"/>
                </a:cubicBezTo>
                <a:lnTo>
                  <a:pt x="21431" y="10716"/>
                </a:lnTo>
                <a:close/>
                <a:moveTo>
                  <a:pt x="42863" y="37505"/>
                </a:moveTo>
                <a:cubicBezTo>
                  <a:pt x="51734" y="37505"/>
                  <a:pt x="58936" y="44707"/>
                  <a:pt x="58936" y="53578"/>
                </a:cubicBezTo>
                <a:cubicBezTo>
                  <a:pt x="58936" y="62449"/>
                  <a:pt x="51734" y="69652"/>
                  <a:pt x="42863" y="69652"/>
                </a:cubicBezTo>
                <a:cubicBezTo>
                  <a:pt x="33991" y="69652"/>
                  <a:pt x="26789" y="62449"/>
                  <a:pt x="26789" y="53578"/>
                </a:cubicBezTo>
                <a:cubicBezTo>
                  <a:pt x="26789" y="44707"/>
                  <a:pt x="33991" y="37505"/>
                  <a:pt x="42863" y="37505"/>
                </a:cubicBezTo>
                <a:close/>
                <a:moveTo>
                  <a:pt x="91083" y="75009"/>
                </a:moveTo>
                <a:cubicBezTo>
                  <a:pt x="93896" y="75009"/>
                  <a:pt x="96474" y="76483"/>
                  <a:pt x="97948" y="78860"/>
                </a:cubicBezTo>
                <a:lnTo>
                  <a:pt x="127415" y="127081"/>
                </a:lnTo>
                <a:cubicBezTo>
                  <a:pt x="128922" y="129559"/>
                  <a:pt x="128989" y="132673"/>
                  <a:pt x="127583" y="135218"/>
                </a:cubicBezTo>
                <a:cubicBezTo>
                  <a:pt x="126176" y="137763"/>
                  <a:pt x="123464" y="139303"/>
                  <a:pt x="120551" y="139303"/>
                </a:cubicBezTo>
                <a:lnTo>
                  <a:pt x="29468" y="139303"/>
                </a:lnTo>
                <a:cubicBezTo>
                  <a:pt x="26488" y="139303"/>
                  <a:pt x="23708" y="137629"/>
                  <a:pt x="22335" y="134983"/>
                </a:cubicBezTo>
                <a:cubicBezTo>
                  <a:pt x="20962" y="132338"/>
                  <a:pt x="21163" y="129123"/>
                  <a:pt x="22871" y="126679"/>
                </a:cubicBezTo>
                <a:lnTo>
                  <a:pt x="41624" y="99890"/>
                </a:lnTo>
                <a:cubicBezTo>
                  <a:pt x="43130" y="97747"/>
                  <a:pt x="45575" y="96474"/>
                  <a:pt x="48220" y="96474"/>
                </a:cubicBezTo>
                <a:cubicBezTo>
                  <a:pt x="50866" y="96474"/>
                  <a:pt x="53310" y="97747"/>
                  <a:pt x="54817" y="99890"/>
                </a:cubicBezTo>
                <a:lnTo>
                  <a:pt x="63658" y="112548"/>
                </a:lnTo>
                <a:lnTo>
                  <a:pt x="84218" y="78894"/>
                </a:lnTo>
                <a:cubicBezTo>
                  <a:pt x="85692" y="76516"/>
                  <a:pt x="88270" y="75043"/>
                  <a:pt x="91083" y="75043"/>
                </a:cubicBezTo>
                <a:close/>
              </a:path>
            </a:pathLst>
          </a:custGeom>
          <a:solidFill>
            <a:srgbClr val="6366F1"/>
          </a:solidFill>
          <a:ln/>
        </p:spPr>
      </p:sp>
      <p:sp>
        <p:nvSpPr>
          <p:cNvPr id="39" name="Text 37"/>
          <p:cNvSpPr/>
          <p:nvPr/>
        </p:nvSpPr>
        <p:spPr>
          <a:xfrm>
            <a:off x="7640955" y="4686300"/>
            <a:ext cx="41338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Visual</a:t>
            </a:r>
            <a:endParaRPr lang="en-US" sz="1600" dirty="0"/>
          </a:p>
        </p:txBody>
      </p:sp>
      <p:sp>
        <p:nvSpPr>
          <p:cNvPr id="40" name="Shape 38"/>
          <p:cNvSpPr/>
          <p:nvPr/>
        </p:nvSpPr>
        <p:spPr>
          <a:xfrm>
            <a:off x="7421880" y="5029200"/>
            <a:ext cx="4267200" cy="609600"/>
          </a:xfrm>
          <a:prstGeom prst="roundRect">
            <a:avLst>
              <a:gd name="adj" fmla="val 12500"/>
            </a:avLst>
          </a:prstGeom>
          <a:solidFill>
            <a:srgbClr val="191919"/>
          </a:solidFill>
          <a:ln/>
        </p:spPr>
      </p:sp>
      <p:sp>
        <p:nvSpPr>
          <p:cNvPr id="41" name="Text 39"/>
          <p:cNvSpPr/>
          <p:nvPr/>
        </p:nvSpPr>
        <p:spPr>
          <a:xfrm>
            <a:off x="7498080" y="51054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Diagram:</a:t>
            </a:r>
            <a:endParaRPr lang="en-US" sz="1600" dirty="0"/>
          </a:p>
        </p:txBody>
      </p:sp>
      <p:sp>
        <p:nvSpPr>
          <p:cNvPr id="42" name="Text 40"/>
          <p:cNvSpPr/>
          <p:nvPr/>
        </p:nvSpPr>
        <p:spPr>
          <a:xfrm>
            <a:off x="7498080" y="53340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1956 Conference → AI named → Research begins</a:t>
            </a:r>
            <a:endParaRPr lang="en-US" sz="1600" dirty="0"/>
          </a:p>
        </p:txBody>
      </p:sp>
      <p:sp>
        <p:nvSpPr>
          <p:cNvPr id="43" name="Shape 41"/>
          <p:cNvSpPr/>
          <p:nvPr/>
        </p:nvSpPr>
        <p:spPr>
          <a:xfrm>
            <a:off x="7421880" y="5715000"/>
            <a:ext cx="4267200" cy="609600"/>
          </a:xfrm>
          <a:prstGeom prst="roundRect">
            <a:avLst>
              <a:gd name="adj" fmla="val 12500"/>
            </a:avLst>
          </a:prstGeom>
          <a:solidFill>
            <a:srgbClr val="191919"/>
          </a:solidFill>
          <a:ln/>
        </p:spPr>
      </p:sp>
      <p:sp>
        <p:nvSpPr>
          <p:cNvPr id="44" name="Text 42"/>
          <p:cNvSpPr/>
          <p:nvPr/>
        </p:nvSpPr>
        <p:spPr>
          <a:xfrm>
            <a:off x="7498080" y="57912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Image:</a:t>
            </a:r>
            <a:endParaRPr lang="en-US" sz="1600" dirty="0"/>
          </a:p>
        </p:txBody>
      </p:sp>
      <p:sp>
        <p:nvSpPr>
          <p:cNvPr id="45" name="Text 43"/>
          <p:cNvSpPr/>
          <p:nvPr/>
        </p:nvSpPr>
        <p:spPr>
          <a:xfrm>
            <a:off x="7498080" y="60198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Vintage computers from the 1950s</a:t>
            </a:r>
            <a:endParaRPr lang="en-US" sz="16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91919"/>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6366F1">
              <a:alpha val="20000"/>
            </a:srgbClr>
          </a:solidFill>
          <a:ln/>
        </p:spPr>
      </p:sp>
      <p:sp>
        <p:nvSpPr>
          <p:cNvPr id="3" name="Text 1"/>
          <p:cNvSpPr/>
          <p:nvPr/>
        </p:nvSpPr>
        <p:spPr>
          <a:xfrm>
            <a:off x="500063" y="533400"/>
            <a:ext cx="314325" cy="266700"/>
          </a:xfrm>
          <a:prstGeom prst="rect">
            <a:avLst/>
          </a:prstGeom>
          <a:noFill/>
          <a:ln/>
        </p:spPr>
        <p:txBody>
          <a:bodyPr wrap="square" lIns="0" tIns="0" rIns="0" bIns="0" rtlCol="0" anchor="ctr"/>
          <a:lstStyle/>
          <a:p>
            <a:pPr>
              <a:lnSpc>
                <a:spcPct val="120000"/>
              </a:lnSpc>
            </a:pPr>
            <a:r>
              <a:rPr lang="en-US" sz="1500" b="1" dirty="0">
                <a:solidFill>
                  <a:srgbClr val="6366F1"/>
                </a:solidFill>
                <a:latin typeface="Liter" pitchFamily="34" charset="0"/>
                <a:ea typeface="Liter" pitchFamily="34" charset="-122"/>
                <a:cs typeface="Liter" pitchFamily="34" charset="-120"/>
              </a:rPr>
              <a:t>07</a:t>
            </a:r>
            <a:endParaRPr lang="en-US" sz="1600" dirty="0"/>
          </a:p>
        </p:txBody>
      </p:sp>
      <p:sp>
        <p:nvSpPr>
          <p:cNvPr id="4" name="Text 2"/>
          <p:cNvSpPr/>
          <p:nvPr/>
        </p:nvSpPr>
        <p:spPr>
          <a:xfrm>
            <a:off x="952500" y="381000"/>
            <a:ext cx="5972175" cy="190500"/>
          </a:xfrm>
          <a:prstGeom prst="rect">
            <a:avLst/>
          </a:prstGeom>
          <a:noFill/>
          <a:ln/>
        </p:spPr>
        <p:txBody>
          <a:bodyPr wrap="square" lIns="0" tIns="0" rIns="0" bIns="0" rtlCol="0" anchor="ctr"/>
          <a:lstStyle/>
          <a:p>
            <a:pPr>
              <a:lnSpc>
                <a:spcPct val="120000"/>
              </a:lnSpc>
            </a:pPr>
            <a:r>
              <a:rPr lang="en-US" sz="1050" b="1" spc="53" kern="0" dirty="0">
                <a:solidFill>
                  <a:srgbClr val="6366F1"/>
                </a:solidFill>
                <a:latin typeface="Liter" pitchFamily="34" charset="0"/>
                <a:ea typeface="Liter" pitchFamily="34" charset="-122"/>
                <a:cs typeface="Liter" pitchFamily="34" charset="-120"/>
              </a:rPr>
              <a:t>History of AI</a:t>
            </a:r>
            <a:endParaRPr lang="en-US" sz="1600" dirty="0"/>
          </a:p>
        </p:txBody>
      </p:sp>
      <p:sp>
        <p:nvSpPr>
          <p:cNvPr id="5" name="Text 3"/>
          <p:cNvSpPr/>
          <p:nvPr/>
        </p:nvSpPr>
        <p:spPr>
          <a:xfrm>
            <a:off x="952500" y="571500"/>
            <a:ext cx="607695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Early AI Programs and the First Chatbot</a:t>
            </a:r>
            <a:endParaRPr lang="en-US" sz="1600" dirty="0"/>
          </a:p>
        </p:txBody>
      </p:sp>
      <p:sp>
        <p:nvSpPr>
          <p:cNvPr id="6" name="Shape 4"/>
          <p:cNvSpPr/>
          <p:nvPr/>
        </p:nvSpPr>
        <p:spPr>
          <a:xfrm>
            <a:off x="384810" y="1108710"/>
            <a:ext cx="3703320" cy="2560320"/>
          </a:xfrm>
          <a:prstGeom prst="roundRect">
            <a:avLst>
              <a:gd name="adj" fmla="val 4464"/>
            </a:avLst>
          </a:prstGeom>
          <a:solidFill>
            <a:srgbClr val="262626"/>
          </a:solidFill>
          <a:ln w="10160">
            <a:solidFill>
              <a:srgbClr val="333333"/>
            </a:solidFill>
            <a:prstDash val="solid"/>
          </a:ln>
        </p:spPr>
      </p:sp>
      <p:sp>
        <p:nvSpPr>
          <p:cNvPr id="7" name="Shape 5"/>
          <p:cNvSpPr/>
          <p:nvPr/>
        </p:nvSpPr>
        <p:spPr>
          <a:xfrm>
            <a:off x="502920" y="1226823"/>
            <a:ext cx="381000" cy="381000"/>
          </a:xfrm>
          <a:prstGeom prst="roundRect">
            <a:avLst>
              <a:gd name="adj" fmla="val 20000"/>
            </a:avLst>
          </a:prstGeom>
          <a:solidFill>
            <a:srgbClr val="6366F1">
              <a:alpha val="20000"/>
            </a:srgbClr>
          </a:solidFill>
          <a:ln/>
        </p:spPr>
      </p:sp>
      <p:sp>
        <p:nvSpPr>
          <p:cNvPr id="8" name="Shape 6"/>
          <p:cNvSpPr/>
          <p:nvPr/>
        </p:nvSpPr>
        <p:spPr>
          <a:xfrm>
            <a:off x="617220" y="1341123"/>
            <a:ext cx="152400" cy="152400"/>
          </a:xfrm>
          <a:custGeom>
            <a:avLst/>
            <a:gdLst/>
            <a:ahLst/>
            <a:cxnLst/>
            <a:rect l="l" t="t" r="r" b="b"/>
            <a:pathLst>
              <a:path w="152400" h="152400">
                <a:moveTo>
                  <a:pt x="35719" y="16669"/>
                </a:moveTo>
                <a:cubicBezTo>
                  <a:pt x="35719" y="7471"/>
                  <a:pt x="43190" y="0"/>
                  <a:pt x="52388" y="0"/>
                </a:cubicBezTo>
                <a:lnTo>
                  <a:pt x="59531" y="0"/>
                </a:lnTo>
                <a:cubicBezTo>
                  <a:pt x="64800" y="0"/>
                  <a:pt x="69056" y="4256"/>
                  <a:pt x="69056" y="9525"/>
                </a:cubicBezTo>
                <a:lnTo>
                  <a:pt x="69056" y="142875"/>
                </a:lnTo>
                <a:cubicBezTo>
                  <a:pt x="69056" y="148144"/>
                  <a:pt x="64800" y="152400"/>
                  <a:pt x="59531" y="152400"/>
                </a:cubicBezTo>
                <a:lnTo>
                  <a:pt x="50006" y="152400"/>
                </a:lnTo>
                <a:cubicBezTo>
                  <a:pt x="41136" y="152400"/>
                  <a:pt x="33665" y="146328"/>
                  <a:pt x="31552" y="138113"/>
                </a:cubicBezTo>
                <a:cubicBezTo>
                  <a:pt x="31343" y="138113"/>
                  <a:pt x="31165" y="138113"/>
                  <a:pt x="30956" y="138113"/>
                </a:cubicBezTo>
                <a:cubicBezTo>
                  <a:pt x="17800" y="138113"/>
                  <a:pt x="7144" y="127456"/>
                  <a:pt x="7144" y="114300"/>
                </a:cubicBezTo>
                <a:cubicBezTo>
                  <a:pt x="7144" y="108942"/>
                  <a:pt x="8930" y="104001"/>
                  <a:pt x="11906" y="100013"/>
                </a:cubicBezTo>
                <a:cubicBezTo>
                  <a:pt x="6132" y="95667"/>
                  <a:pt x="2381" y="88761"/>
                  <a:pt x="2381" y="80962"/>
                </a:cubicBezTo>
                <a:cubicBezTo>
                  <a:pt x="2381" y="71765"/>
                  <a:pt x="7620" y="63758"/>
                  <a:pt x="15240" y="59799"/>
                </a:cubicBezTo>
                <a:cubicBezTo>
                  <a:pt x="13127" y="56227"/>
                  <a:pt x="11906" y="52060"/>
                  <a:pt x="11906" y="47625"/>
                </a:cubicBezTo>
                <a:cubicBezTo>
                  <a:pt x="11906" y="34469"/>
                  <a:pt x="22562" y="23813"/>
                  <a:pt x="35719" y="23813"/>
                </a:cubicBezTo>
                <a:lnTo>
                  <a:pt x="35719" y="16669"/>
                </a:lnTo>
                <a:close/>
                <a:moveTo>
                  <a:pt x="116681" y="16669"/>
                </a:moveTo>
                <a:lnTo>
                  <a:pt x="116681" y="23813"/>
                </a:lnTo>
                <a:cubicBezTo>
                  <a:pt x="129838" y="23813"/>
                  <a:pt x="140494" y="34469"/>
                  <a:pt x="140494" y="47625"/>
                </a:cubicBezTo>
                <a:cubicBezTo>
                  <a:pt x="140494" y="52090"/>
                  <a:pt x="139273" y="56257"/>
                  <a:pt x="137160" y="59799"/>
                </a:cubicBezTo>
                <a:cubicBezTo>
                  <a:pt x="144810" y="63758"/>
                  <a:pt x="150019" y="71735"/>
                  <a:pt x="150019" y="80962"/>
                </a:cubicBezTo>
                <a:cubicBezTo>
                  <a:pt x="150019" y="88761"/>
                  <a:pt x="146268" y="95667"/>
                  <a:pt x="140494" y="100013"/>
                </a:cubicBezTo>
                <a:cubicBezTo>
                  <a:pt x="143470" y="104001"/>
                  <a:pt x="145256" y="108942"/>
                  <a:pt x="145256" y="114300"/>
                </a:cubicBezTo>
                <a:cubicBezTo>
                  <a:pt x="145256" y="127456"/>
                  <a:pt x="134600" y="138113"/>
                  <a:pt x="121444" y="138113"/>
                </a:cubicBezTo>
                <a:cubicBezTo>
                  <a:pt x="121235" y="138113"/>
                  <a:pt x="121057" y="138113"/>
                  <a:pt x="120848" y="138113"/>
                </a:cubicBezTo>
                <a:cubicBezTo>
                  <a:pt x="118735" y="146328"/>
                  <a:pt x="111264" y="152400"/>
                  <a:pt x="102394" y="152400"/>
                </a:cubicBezTo>
                <a:lnTo>
                  <a:pt x="92869" y="152400"/>
                </a:lnTo>
                <a:cubicBezTo>
                  <a:pt x="87600" y="152400"/>
                  <a:pt x="83344" y="148144"/>
                  <a:pt x="83344" y="142875"/>
                </a:cubicBezTo>
                <a:lnTo>
                  <a:pt x="83344" y="9525"/>
                </a:lnTo>
                <a:cubicBezTo>
                  <a:pt x="83344" y="4256"/>
                  <a:pt x="87600" y="0"/>
                  <a:pt x="92869" y="0"/>
                </a:cubicBezTo>
                <a:lnTo>
                  <a:pt x="100013" y="0"/>
                </a:lnTo>
                <a:cubicBezTo>
                  <a:pt x="109210" y="0"/>
                  <a:pt x="116681" y="7471"/>
                  <a:pt x="116681" y="16669"/>
                </a:cubicBezTo>
                <a:close/>
              </a:path>
            </a:pathLst>
          </a:custGeom>
          <a:solidFill>
            <a:srgbClr val="6366F1"/>
          </a:solidFill>
          <a:ln/>
        </p:spPr>
      </p:sp>
      <p:sp>
        <p:nvSpPr>
          <p:cNvPr id="9" name="Text 7"/>
          <p:cNvSpPr/>
          <p:nvPr/>
        </p:nvSpPr>
        <p:spPr>
          <a:xfrm>
            <a:off x="960120" y="1283973"/>
            <a:ext cx="170497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Logic Theorist (1956)</a:t>
            </a:r>
            <a:endParaRPr lang="en-US" sz="1600" dirty="0"/>
          </a:p>
        </p:txBody>
      </p:sp>
      <p:sp>
        <p:nvSpPr>
          <p:cNvPr id="10" name="Text 8"/>
          <p:cNvSpPr/>
          <p:nvPr/>
        </p:nvSpPr>
        <p:spPr>
          <a:xfrm>
            <a:off x="502920" y="1684023"/>
            <a:ext cx="3543300" cy="1447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The first AI program! It could prove mathematical theorems using logical rules. Created by Allen Newell and Herbert Simon.</a:t>
            </a:r>
            <a:endParaRPr lang="en-US" sz="1600" dirty="0"/>
          </a:p>
        </p:txBody>
      </p:sp>
      <p:sp>
        <p:nvSpPr>
          <p:cNvPr id="11" name="Shape 9"/>
          <p:cNvSpPr/>
          <p:nvPr/>
        </p:nvSpPr>
        <p:spPr>
          <a:xfrm>
            <a:off x="502920" y="3211832"/>
            <a:ext cx="3467100" cy="342900"/>
          </a:xfrm>
          <a:prstGeom prst="roundRect">
            <a:avLst>
              <a:gd name="adj" fmla="val 22222"/>
            </a:avLst>
          </a:prstGeom>
          <a:solidFill>
            <a:srgbClr val="191919"/>
          </a:solidFill>
          <a:ln/>
        </p:spPr>
      </p:sp>
      <p:sp>
        <p:nvSpPr>
          <p:cNvPr id="12" name="Text 10"/>
          <p:cNvSpPr/>
          <p:nvPr/>
        </p:nvSpPr>
        <p:spPr>
          <a:xfrm>
            <a:off x="579120" y="3288032"/>
            <a:ext cx="33813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Achievement: Proved 38 of 52 theorems</a:t>
            </a:r>
            <a:endParaRPr lang="en-US" sz="1600" dirty="0"/>
          </a:p>
        </p:txBody>
      </p:sp>
      <p:sp>
        <p:nvSpPr>
          <p:cNvPr id="13" name="Shape 11"/>
          <p:cNvSpPr/>
          <p:nvPr/>
        </p:nvSpPr>
        <p:spPr>
          <a:xfrm>
            <a:off x="4245531" y="1108710"/>
            <a:ext cx="3703320" cy="2560320"/>
          </a:xfrm>
          <a:prstGeom prst="roundRect">
            <a:avLst>
              <a:gd name="adj" fmla="val 4464"/>
            </a:avLst>
          </a:prstGeom>
          <a:solidFill>
            <a:srgbClr val="262626"/>
          </a:solidFill>
          <a:ln w="10160">
            <a:solidFill>
              <a:srgbClr val="333333"/>
            </a:solidFill>
            <a:prstDash val="solid"/>
          </a:ln>
        </p:spPr>
      </p:sp>
      <p:sp>
        <p:nvSpPr>
          <p:cNvPr id="14" name="Shape 12"/>
          <p:cNvSpPr/>
          <p:nvPr/>
        </p:nvSpPr>
        <p:spPr>
          <a:xfrm>
            <a:off x="4363641" y="1226823"/>
            <a:ext cx="381000" cy="381000"/>
          </a:xfrm>
          <a:prstGeom prst="roundRect">
            <a:avLst>
              <a:gd name="adj" fmla="val 20000"/>
            </a:avLst>
          </a:prstGeom>
          <a:solidFill>
            <a:srgbClr val="6366F1">
              <a:alpha val="20000"/>
            </a:srgbClr>
          </a:solidFill>
          <a:ln/>
        </p:spPr>
      </p:sp>
      <p:sp>
        <p:nvSpPr>
          <p:cNvPr id="15" name="Shape 13"/>
          <p:cNvSpPr/>
          <p:nvPr/>
        </p:nvSpPr>
        <p:spPr>
          <a:xfrm>
            <a:off x="4477941" y="1341123"/>
            <a:ext cx="152400" cy="152400"/>
          </a:xfrm>
          <a:custGeom>
            <a:avLst/>
            <a:gdLst/>
            <a:ahLst/>
            <a:cxnLst/>
            <a:rect l="l" t="t" r="r" b="b"/>
            <a:pathLst>
              <a:path w="152400" h="152400">
                <a:moveTo>
                  <a:pt x="66675" y="0"/>
                </a:moveTo>
                <a:cubicBezTo>
                  <a:pt x="77182" y="0"/>
                  <a:pt x="85725" y="6400"/>
                  <a:pt x="85725" y="14288"/>
                </a:cubicBezTo>
                <a:cubicBezTo>
                  <a:pt x="85725" y="17383"/>
                  <a:pt x="84415" y="20241"/>
                  <a:pt x="82153" y="22592"/>
                </a:cubicBezTo>
                <a:cubicBezTo>
                  <a:pt x="80189" y="24646"/>
                  <a:pt x="78581" y="27146"/>
                  <a:pt x="78581" y="30004"/>
                </a:cubicBezTo>
                <a:cubicBezTo>
                  <a:pt x="78581" y="34469"/>
                  <a:pt x="82213" y="38100"/>
                  <a:pt x="86678" y="38100"/>
                </a:cubicBezTo>
                <a:lnTo>
                  <a:pt x="100013" y="38100"/>
                </a:lnTo>
                <a:cubicBezTo>
                  <a:pt x="107900" y="38100"/>
                  <a:pt x="114300" y="44500"/>
                  <a:pt x="114300" y="52388"/>
                </a:cubicBezTo>
                <a:lnTo>
                  <a:pt x="114300" y="65723"/>
                </a:lnTo>
                <a:cubicBezTo>
                  <a:pt x="114300" y="70187"/>
                  <a:pt x="117931" y="73819"/>
                  <a:pt x="122396" y="73819"/>
                </a:cubicBezTo>
                <a:cubicBezTo>
                  <a:pt x="125224" y="73819"/>
                  <a:pt x="127754" y="72211"/>
                  <a:pt x="129808" y="70247"/>
                </a:cubicBezTo>
                <a:cubicBezTo>
                  <a:pt x="132159" y="68014"/>
                  <a:pt x="135017" y="66675"/>
                  <a:pt x="138113" y="66675"/>
                </a:cubicBezTo>
                <a:cubicBezTo>
                  <a:pt x="146000" y="66675"/>
                  <a:pt x="152400" y="75218"/>
                  <a:pt x="152400" y="85725"/>
                </a:cubicBezTo>
                <a:cubicBezTo>
                  <a:pt x="152400" y="96232"/>
                  <a:pt x="146000" y="104775"/>
                  <a:pt x="138113" y="104775"/>
                </a:cubicBezTo>
                <a:cubicBezTo>
                  <a:pt x="135017" y="104775"/>
                  <a:pt x="132130" y="103465"/>
                  <a:pt x="129808" y="101203"/>
                </a:cubicBezTo>
                <a:cubicBezTo>
                  <a:pt x="127754" y="99239"/>
                  <a:pt x="125254" y="97631"/>
                  <a:pt x="122396" y="97631"/>
                </a:cubicBezTo>
                <a:cubicBezTo>
                  <a:pt x="117931" y="97631"/>
                  <a:pt x="114300" y="101263"/>
                  <a:pt x="114300" y="105728"/>
                </a:cubicBezTo>
                <a:lnTo>
                  <a:pt x="114300" y="138113"/>
                </a:lnTo>
                <a:cubicBezTo>
                  <a:pt x="114300" y="146000"/>
                  <a:pt x="107900" y="152400"/>
                  <a:pt x="100013" y="152400"/>
                </a:cubicBezTo>
                <a:lnTo>
                  <a:pt x="83106" y="152400"/>
                </a:lnTo>
                <a:cubicBezTo>
                  <a:pt x="79296" y="152400"/>
                  <a:pt x="76200" y="149304"/>
                  <a:pt x="76200" y="145494"/>
                </a:cubicBezTo>
                <a:cubicBezTo>
                  <a:pt x="76200" y="142756"/>
                  <a:pt x="77926" y="140345"/>
                  <a:pt x="80129" y="138708"/>
                </a:cubicBezTo>
                <a:cubicBezTo>
                  <a:pt x="83582" y="136118"/>
                  <a:pt x="85725" y="132546"/>
                  <a:pt x="85725" y="128588"/>
                </a:cubicBezTo>
                <a:cubicBezTo>
                  <a:pt x="85725" y="120700"/>
                  <a:pt x="77182" y="114300"/>
                  <a:pt x="66675" y="114300"/>
                </a:cubicBezTo>
                <a:cubicBezTo>
                  <a:pt x="56168" y="114300"/>
                  <a:pt x="47625" y="120700"/>
                  <a:pt x="47625" y="128588"/>
                </a:cubicBezTo>
                <a:cubicBezTo>
                  <a:pt x="47625" y="132546"/>
                  <a:pt x="49768" y="136118"/>
                  <a:pt x="53221" y="138708"/>
                </a:cubicBezTo>
                <a:cubicBezTo>
                  <a:pt x="55424" y="140345"/>
                  <a:pt x="57150" y="142726"/>
                  <a:pt x="57150" y="145494"/>
                </a:cubicBezTo>
                <a:cubicBezTo>
                  <a:pt x="57150" y="149304"/>
                  <a:pt x="54054" y="152400"/>
                  <a:pt x="50244" y="152400"/>
                </a:cubicBezTo>
                <a:lnTo>
                  <a:pt x="14288" y="152400"/>
                </a:lnTo>
                <a:cubicBezTo>
                  <a:pt x="6400" y="152400"/>
                  <a:pt x="0" y="146000"/>
                  <a:pt x="0" y="138113"/>
                </a:cubicBezTo>
                <a:lnTo>
                  <a:pt x="0" y="102156"/>
                </a:lnTo>
                <a:cubicBezTo>
                  <a:pt x="0" y="98346"/>
                  <a:pt x="3096" y="95250"/>
                  <a:pt x="6906" y="95250"/>
                </a:cubicBezTo>
                <a:cubicBezTo>
                  <a:pt x="9644" y="95250"/>
                  <a:pt x="12055" y="96976"/>
                  <a:pt x="13692" y="99179"/>
                </a:cubicBezTo>
                <a:cubicBezTo>
                  <a:pt x="16282" y="102632"/>
                  <a:pt x="19854" y="104775"/>
                  <a:pt x="23813" y="104775"/>
                </a:cubicBezTo>
                <a:cubicBezTo>
                  <a:pt x="31700" y="104775"/>
                  <a:pt x="38100" y="96232"/>
                  <a:pt x="38100" y="85725"/>
                </a:cubicBezTo>
                <a:cubicBezTo>
                  <a:pt x="38100" y="75218"/>
                  <a:pt x="31700" y="66675"/>
                  <a:pt x="23813" y="66675"/>
                </a:cubicBezTo>
                <a:cubicBezTo>
                  <a:pt x="19854" y="66675"/>
                  <a:pt x="16282" y="68818"/>
                  <a:pt x="13692" y="72271"/>
                </a:cubicBezTo>
                <a:cubicBezTo>
                  <a:pt x="12055" y="74474"/>
                  <a:pt x="9674" y="76200"/>
                  <a:pt x="6906" y="76200"/>
                </a:cubicBezTo>
                <a:cubicBezTo>
                  <a:pt x="3096" y="76200"/>
                  <a:pt x="0" y="73104"/>
                  <a:pt x="0" y="69294"/>
                </a:cubicBezTo>
                <a:lnTo>
                  <a:pt x="0" y="52388"/>
                </a:lnTo>
                <a:cubicBezTo>
                  <a:pt x="0" y="44500"/>
                  <a:pt x="6400" y="38100"/>
                  <a:pt x="14288" y="38100"/>
                </a:cubicBezTo>
                <a:lnTo>
                  <a:pt x="46673" y="38100"/>
                </a:lnTo>
                <a:cubicBezTo>
                  <a:pt x="51137" y="38100"/>
                  <a:pt x="54769" y="34469"/>
                  <a:pt x="54769" y="30004"/>
                </a:cubicBezTo>
                <a:cubicBezTo>
                  <a:pt x="54769" y="27176"/>
                  <a:pt x="53161" y="24646"/>
                  <a:pt x="51197" y="22592"/>
                </a:cubicBezTo>
                <a:cubicBezTo>
                  <a:pt x="48964" y="20241"/>
                  <a:pt x="47625" y="17383"/>
                  <a:pt x="47625" y="14288"/>
                </a:cubicBezTo>
                <a:cubicBezTo>
                  <a:pt x="47625" y="6400"/>
                  <a:pt x="56168" y="0"/>
                  <a:pt x="66675" y="0"/>
                </a:cubicBezTo>
                <a:close/>
              </a:path>
            </a:pathLst>
          </a:custGeom>
          <a:solidFill>
            <a:srgbClr val="6366F1"/>
          </a:solidFill>
          <a:ln/>
        </p:spPr>
      </p:sp>
      <p:sp>
        <p:nvSpPr>
          <p:cNvPr id="16" name="Text 14"/>
          <p:cNvSpPr/>
          <p:nvPr/>
        </p:nvSpPr>
        <p:spPr>
          <a:xfrm>
            <a:off x="4820841" y="1283973"/>
            <a:ext cx="23717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General Problem Solver (1957)</a:t>
            </a:r>
            <a:endParaRPr lang="en-US" sz="1600" dirty="0"/>
          </a:p>
        </p:txBody>
      </p:sp>
      <p:sp>
        <p:nvSpPr>
          <p:cNvPr id="17" name="Text 15"/>
          <p:cNvSpPr/>
          <p:nvPr/>
        </p:nvSpPr>
        <p:spPr>
          <a:xfrm>
            <a:off x="4363641" y="1684023"/>
            <a:ext cx="3543300" cy="1447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Could solve different types of problems by breaking them into smaller steps. It tried to mimic how humans think through problems.</a:t>
            </a:r>
            <a:endParaRPr lang="en-US" sz="1600" dirty="0"/>
          </a:p>
        </p:txBody>
      </p:sp>
      <p:sp>
        <p:nvSpPr>
          <p:cNvPr id="18" name="Shape 16"/>
          <p:cNvSpPr/>
          <p:nvPr/>
        </p:nvSpPr>
        <p:spPr>
          <a:xfrm>
            <a:off x="4363641" y="3211832"/>
            <a:ext cx="3467100" cy="342900"/>
          </a:xfrm>
          <a:prstGeom prst="roundRect">
            <a:avLst>
              <a:gd name="adj" fmla="val 22222"/>
            </a:avLst>
          </a:prstGeom>
          <a:solidFill>
            <a:srgbClr val="191919"/>
          </a:solidFill>
          <a:ln/>
        </p:spPr>
      </p:sp>
      <p:sp>
        <p:nvSpPr>
          <p:cNvPr id="19" name="Text 17"/>
          <p:cNvSpPr/>
          <p:nvPr/>
        </p:nvSpPr>
        <p:spPr>
          <a:xfrm>
            <a:off x="4439841" y="3288032"/>
            <a:ext cx="33813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Innovation: First general-purpose AI</a:t>
            </a:r>
            <a:endParaRPr lang="en-US" sz="1600" dirty="0"/>
          </a:p>
        </p:txBody>
      </p:sp>
      <p:sp>
        <p:nvSpPr>
          <p:cNvPr id="20" name="Shape 18"/>
          <p:cNvSpPr/>
          <p:nvPr/>
        </p:nvSpPr>
        <p:spPr>
          <a:xfrm>
            <a:off x="8106371" y="1108710"/>
            <a:ext cx="3703320" cy="2560320"/>
          </a:xfrm>
          <a:prstGeom prst="roundRect">
            <a:avLst>
              <a:gd name="adj" fmla="val 4464"/>
            </a:avLst>
          </a:prstGeom>
          <a:solidFill>
            <a:srgbClr val="262626"/>
          </a:solidFill>
          <a:ln w="10160">
            <a:solidFill>
              <a:srgbClr val="333333"/>
            </a:solidFill>
            <a:prstDash val="solid"/>
          </a:ln>
        </p:spPr>
      </p:sp>
      <p:sp>
        <p:nvSpPr>
          <p:cNvPr id="21" name="Shape 19"/>
          <p:cNvSpPr/>
          <p:nvPr/>
        </p:nvSpPr>
        <p:spPr>
          <a:xfrm>
            <a:off x="8224481" y="1226823"/>
            <a:ext cx="381000" cy="381000"/>
          </a:xfrm>
          <a:prstGeom prst="roundRect">
            <a:avLst>
              <a:gd name="adj" fmla="val 20000"/>
            </a:avLst>
          </a:prstGeom>
          <a:solidFill>
            <a:srgbClr val="6366F1">
              <a:alpha val="20000"/>
            </a:srgbClr>
          </a:solidFill>
          <a:ln/>
        </p:spPr>
      </p:sp>
      <p:sp>
        <p:nvSpPr>
          <p:cNvPr id="22" name="Shape 20"/>
          <p:cNvSpPr/>
          <p:nvPr/>
        </p:nvSpPr>
        <p:spPr>
          <a:xfrm>
            <a:off x="8329256" y="1341123"/>
            <a:ext cx="171450" cy="152400"/>
          </a:xfrm>
          <a:custGeom>
            <a:avLst/>
            <a:gdLst/>
            <a:ahLst/>
            <a:cxnLst/>
            <a:rect l="l" t="t" r="r" b="b"/>
            <a:pathLst>
              <a:path w="171450" h="152400">
                <a:moveTo>
                  <a:pt x="114300" y="42863"/>
                </a:moveTo>
                <a:cubicBezTo>
                  <a:pt x="114300" y="71795"/>
                  <a:pt x="88702" y="95250"/>
                  <a:pt x="57150" y="95250"/>
                </a:cubicBezTo>
                <a:cubicBezTo>
                  <a:pt x="49203" y="95250"/>
                  <a:pt x="41642" y="93762"/>
                  <a:pt x="34766" y="91083"/>
                </a:cubicBezTo>
                <a:lnTo>
                  <a:pt x="10478" y="103942"/>
                </a:lnTo>
                <a:cubicBezTo>
                  <a:pt x="7709" y="105400"/>
                  <a:pt x="4316" y="104894"/>
                  <a:pt x="2084" y="102691"/>
                </a:cubicBezTo>
                <a:cubicBezTo>
                  <a:pt x="-149" y="100489"/>
                  <a:pt x="-655" y="97066"/>
                  <a:pt x="833" y="94298"/>
                </a:cubicBezTo>
                <a:lnTo>
                  <a:pt x="11430" y="74295"/>
                </a:lnTo>
                <a:cubicBezTo>
                  <a:pt x="4256" y="65544"/>
                  <a:pt x="0" y="54650"/>
                  <a:pt x="0" y="42863"/>
                </a:cubicBezTo>
                <a:cubicBezTo>
                  <a:pt x="0" y="13930"/>
                  <a:pt x="25598" y="-9525"/>
                  <a:pt x="57150" y="-9525"/>
                </a:cubicBezTo>
                <a:cubicBezTo>
                  <a:pt x="88702" y="-9525"/>
                  <a:pt x="114300" y="13930"/>
                  <a:pt x="114300" y="42863"/>
                </a:cubicBezTo>
                <a:close/>
                <a:moveTo>
                  <a:pt x="114300" y="152400"/>
                </a:moveTo>
                <a:cubicBezTo>
                  <a:pt x="86291" y="152400"/>
                  <a:pt x="62984" y="133916"/>
                  <a:pt x="58103" y="109537"/>
                </a:cubicBezTo>
                <a:cubicBezTo>
                  <a:pt x="93821" y="109091"/>
                  <a:pt x="124867" y="83671"/>
                  <a:pt x="128290" y="49203"/>
                </a:cubicBezTo>
                <a:cubicBezTo>
                  <a:pt x="153085" y="54918"/>
                  <a:pt x="171450" y="75486"/>
                  <a:pt x="171450" y="100013"/>
                </a:cubicBezTo>
                <a:cubicBezTo>
                  <a:pt x="171450" y="111800"/>
                  <a:pt x="167194" y="122694"/>
                  <a:pt x="160020" y="131445"/>
                </a:cubicBezTo>
                <a:lnTo>
                  <a:pt x="170617" y="151448"/>
                </a:lnTo>
                <a:cubicBezTo>
                  <a:pt x="172075" y="154216"/>
                  <a:pt x="171569" y="157609"/>
                  <a:pt x="169366" y="159841"/>
                </a:cubicBezTo>
                <a:cubicBezTo>
                  <a:pt x="167164" y="162074"/>
                  <a:pt x="163741" y="162580"/>
                  <a:pt x="160973" y="161092"/>
                </a:cubicBezTo>
                <a:lnTo>
                  <a:pt x="136684" y="148233"/>
                </a:lnTo>
                <a:cubicBezTo>
                  <a:pt x="129808" y="150912"/>
                  <a:pt x="122247" y="152400"/>
                  <a:pt x="114300" y="152400"/>
                </a:cubicBezTo>
                <a:close/>
              </a:path>
            </a:pathLst>
          </a:custGeom>
          <a:solidFill>
            <a:srgbClr val="6366F1"/>
          </a:solidFill>
          <a:ln/>
        </p:spPr>
      </p:sp>
      <p:sp>
        <p:nvSpPr>
          <p:cNvPr id="23" name="Text 21"/>
          <p:cNvSpPr/>
          <p:nvPr/>
        </p:nvSpPr>
        <p:spPr>
          <a:xfrm>
            <a:off x="8681681" y="1283973"/>
            <a:ext cx="10858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ELIZA (1966)</a:t>
            </a:r>
            <a:endParaRPr lang="en-US" sz="1600" dirty="0"/>
          </a:p>
        </p:txBody>
      </p:sp>
      <p:sp>
        <p:nvSpPr>
          <p:cNvPr id="24" name="Text 22"/>
          <p:cNvSpPr/>
          <p:nvPr/>
        </p:nvSpPr>
        <p:spPr>
          <a:xfrm>
            <a:off x="8224481" y="1684023"/>
            <a:ext cx="3543300" cy="1447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The world's first chatbot! Created by Joseph Weizenbaum at MIT. It simulated a therapist by matching keywords and responding with questions.</a:t>
            </a:r>
            <a:endParaRPr lang="en-US" sz="1600" dirty="0"/>
          </a:p>
        </p:txBody>
      </p:sp>
      <p:sp>
        <p:nvSpPr>
          <p:cNvPr id="25" name="Shape 23"/>
          <p:cNvSpPr/>
          <p:nvPr/>
        </p:nvSpPr>
        <p:spPr>
          <a:xfrm>
            <a:off x="8224481" y="3211832"/>
            <a:ext cx="3467100" cy="342900"/>
          </a:xfrm>
          <a:prstGeom prst="roundRect">
            <a:avLst>
              <a:gd name="adj" fmla="val 22222"/>
            </a:avLst>
          </a:prstGeom>
          <a:solidFill>
            <a:srgbClr val="191919"/>
          </a:solidFill>
          <a:ln/>
        </p:spPr>
      </p:sp>
      <p:sp>
        <p:nvSpPr>
          <p:cNvPr id="26" name="Text 24"/>
          <p:cNvSpPr/>
          <p:nvPr/>
        </p:nvSpPr>
        <p:spPr>
          <a:xfrm>
            <a:off x="8300681" y="3288032"/>
            <a:ext cx="33813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Impact: Showed AI could converse with humans</a:t>
            </a:r>
            <a:endParaRPr lang="en-US" sz="1600" dirty="0"/>
          </a:p>
        </p:txBody>
      </p:sp>
      <p:sp>
        <p:nvSpPr>
          <p:cNvPr id="27" name="Shape 25"/>
          <p:cNvSpPr/>
          <p:nvPr/>
        </p:nvSpPr>
        <p:spPr>
          <a:xfrm>
            <a:off x="384810" y="3832860"/>
            <a:ext cx="7560945" cy="2636520"/>
          </a:xfrm>
          <a:prstGeom prst="roundRect">
            <a:avLst>
              <a:gd name="adj" fmla="val 4335"/>
            </a:avLst>
          </a:prstGeom>
          <a:gradFill rotWithShape="1" flip="none">
            <a:gsLst>
              <a:gs pos="0">
                <a:srgbClr val="6366F1">
                  <a:alpha val="20000"/>
                </a:srgbClr>
              </a:gs>
              <a:gs pos="100000">
                <a:srgbClr val="6366F1">
                  <a:alpha val="5000"/>
                </a:srgbClr>
              </a:gs>
            </a:gsLst>
            <a:lin ang="2700000" scaled="1"/>
          </a:gradFill>
          <a:ln w="10160">
            <a:solidFill>
              <a:srgbClr val="6366F1"/>
            </a:solidFill>
            <a:prstDash val="solid"/>
          </a:ln>
        </p:spPr>
      </p:sp>
      <p:sp>
        <p:nvSpPr>
          <p:cNvPr id="28" name="Shape 26"/>
          <p:cNvSpPr/>
          <p:nvPr/>
        </p:nvSpPr>
        <p:spPr>
          <a:xfrm>
            <a:off x="550545" y="3989073"/>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6366F1"/>
          </a:solidFill>
          <a:ln/>
        </p:spPr>
      </p:sp>
      <p:sp>
        <p:nvSpPr>
          <p:cNvPr id="29" name="Text 27"/>
          <p:cNvSpPr/>
          <p:nvPr/>
        </p:nvSpPr>
        <p:spPr>
          <a:xfrm>
            <a:off x="817245" y="3950973"/>
            <a:ext cx="1809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Real-World Example</a:t>
            </a:r>
            <a:endParaRPr lang="en-US" sz="1600" dirty="0"/>
          </a:p>
        </p:txBody>
      </p:sp>
      <p:sp>
        <p:nvSpPr>
          <p:cNvPr id="30" name="Shape 28"/>
          <p:cNvSpPr/>
          <p:nvPr/>
        </p:nvSpPr>
        <p:spPr>
          <a:xfrm>
            <a:off x="502920" y="4293873"/>
            <a:ext cx="7324725" cy="1295400"/>
          </a:xfrm>
          <a:prstGeom prst="roundRect">
            <a:avLst>
              <a:gd name="adj" fmla="val 5882"/>
            </a:avLst>
          </a:prstGeom>
          <a:solidFill>
            <a:srgbClr val="191919"/>
          </a:solidFill>
          <a:ln/>
        </p:spPr>
      </p:sp>
      <p:sp>
        <p:nvSpPr>
          <p:cNvPr id="31" name="Text 29"/>
          <p:cNvSpPr/>
          <p:nvPr/>
        </p:nvSpPr>
        <p:spPr>
          <a:xfrm>
            <a:off x="617220" y="4408173"/>
            <a:ext cx="7181850" cy="266700"/>
          </a:xfrm>
          <a:prstGeom prst="rect">
            <a:avLst/>
          </a:prstGeom>
          <a:noFill/>
          <a:ln/>
        </p:spPr>
        <p:txBody>
          <a:bodyPr wrap="square" lIns="0" tIns="0" rIns="0" bIns="0" rtlCol="0" anchor="ctr"/>
          <a:lstStyle/>
          <a:p>
            <a:pPr>
              <a:lnSpc>
                <a:spcPct val="130000"/>
              </a:lnSpc>
            </a:pPr>
            <a:r>
              <a:rPr lang="en-US" sz="1350" b="1" dirty="0">
                <a:solidFill>
                  <a:srgbClr val="6366F1"/>
                </a:solidFill>
                <a:latin typeface="Liter" pitchFamily="34" charset="0"/>
                <a:ea typeface="Liter" pitchFamily="34" charset="-122"/>
                <a:cs typeface="Liter" pitchFamily="34" charset="-120"/>
              </a:rPr>
              <a:t>ELIZA in Action</a:t>
            </a:r>
            <a:endParaRPr lang="en-US" sz="1600" dirty="0"/>
          </a:p>
        </p:txBody>
      </p:sp>
      <p:sp>
        <p:nvSpPr>
          <p:cNvPr id="32" name="Text 30"/>
          <p:cNvSpPr/>
          <p:nvPr/>
        </p:nvSpPr>
        <p:spPr>
          <a:xfrm>
            <a:off x="617220" y="4712973"/>
            <a:ext cx="7172325"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Human: "I'm feeling sad today."</a:t>
            </a:r>
            <a:endParaRPr lang="en-US" sz="1600" dirty="0"/>
          </a:p>
          <a:p>
            <a:pPr>
              <a:lnSpc>
                <a:spcPct val="130000"/>
              </a:lnSpc>
            </a:pPr>
            <a:r>
              <a:rPr lang="en-US" sz="1200" dirty="0">
                <a:solidFill>
                  <a:srgbClr val="EFEFEF"/>
                </a:solidFill>
                <a:latin typeface="Liter" pitchFamily="34" charset="0"/>
                <a:ea typeface="Liter" pitchFamily="34" charset="-122"/>
                <a:cs typeface="Liter" pitchFamily="34" charset="-120"/>
              </a:rPr>
              <a:t>ELIZA: "Why do you think you're feeling sad today?"</a:t>
            </a:r>
            <a:endParaRPr lang="en-US" sz="1600" dirty="0"/>
          </a:p>
        </p:txBody>
      </p:sp>
      <p:sp>
        <p:nvSpPr>
          <p:cNvPr id="33" name="Text 31"/>
          <p:cNvSpPr/>
          <p:nvPr/>
        </p:nvSpPr>
        <p:spPr>
          <a:xfrm>
            <a:off x="617220" y="5246373"/>
            <a:ext cx="7172325"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Simple, but people were amazed! It was the great-great-grandparent of Siri, Alexa, and ChatGPT.</a:t>
            </a:r>
            <a:endParaRPr lang="en-US" sz="1600" dirty="0"/>
          </a:p>
        </p:txBody>
      </p:sp>
      <p:sp>
        <p:nvSpPr>
          <p:cNvPr id="34" name="Shape 32"/>
          <p:cNvSpPr/>
          <p:nvPr/>
        </p:nvSpPr>
        <p:spPr>
          <a:xfrm>
            <a:off x="8106371" y="3832860"/>
            <a:ext cx="3703320" cy="2636520"/>
          </a:xfrm>
          <a:prstGeom prst="roundRect">
            <a:avLst>
              <a:gd name="adj" fmla="val 4335"/>
            </a:avLst>
          </a:prstGeom>
          <a:solidFill>
            <a:srgbClr val="262626"/>
          </a:solidFill>
          <a:ln w="10160">
            <a:solidFill>
              <a:srgbClr val="333333"/>
            </a:solidFill>
            <a:prstDash val="solid"/>
          </a:ln>
        </p:spPr>
      </p:sp>
      <p:sp>
        <p:nvSpPr>
          <p:cNvPr id="35" name="Text 33"/>
          <p:cNvSpPr/>
          <p:nvPr/>
        </p:nvSpPr>
        <p:spPr>
          <a:xfrm>
            <a:off x="8224481" y="3950973"/>
            <a:ext cx="35528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 Simple Explanation</a:t>
            </a:r>
            <a:endParaRPr lang="en-US" sz="1600" dirty="0"/>
          </a:p>
        </p:txBody>
      </p:sp>
      <p:sp>
        <p:nvSpPr>
          <p:cNvPr id="36" name="Text 34"/>
          <p:cNvSpPr/>
          <p:nvPr/>
        </p:nvSpPr>
        <p:spPr>
          <a:xfrm>
            <a:off x="8224481" y="4293873"/>
            <a:ext cx="3543300" cy="20574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These early programs were like baby steps. They proved computers could do more than just math—they could reason, solve problems, and even chat! It was the beginning of something huge.</a:t>
            </a:r>
            <a:endParaRPr lang="en-US" sz="16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91919"/>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6366F1">
              <a:alpha val="20000"/>
            </a:srgbClr>
          </a:solidFill>
          <a:ln/>
        </p:spPr>
      </p:sp>
      <p:sp>
        <p:nvSpPr>
          <p:cNvPr id="3" name="Text 1"/>
          <p:cNvSpPr/>
          <p:nvPr/>
        </p:nvSpPr>
        <p:spPr>
          <a:xfrm>
            <a:off x="490299" y="533400"/>
            <a:ext cx="333375" cy="266700"/>
          </a:xfrm>
          <a:prstGeom prst="rect">
            <a:avLst/>
          </a:prstGeom>
          <a:noFill/>
          <a:ln/>
        </p:spPr>
        <p:txBody>
          <a:bodyPr wrap="square" lIns="0" tIns="0" rIns="0" bIns="0" rtlCol="0" anchor="ctr"/>
          <a:lstStyle/>
          <a:p>
            <a:pPr>
              <a:lnSpc>
                <a:spcPct val="120000"/>
              </a:lnSpc>
            </a:pPr>
            <a:r>
              <a:rPr lang="en-US" sz="1500" b="1" dirty="0">
                <a:solidFill>
                  <a:srgbClr val="6366F1"/>
                </a:solidFill>
                <a:latin typeface="Liter" pitchFamily="34" charset="0"/>
                <a:ea typeface="Liter" pitchFamily="34" charset="-122"/>
                <a:cs typeface="Liter" pitchFamily="34" charset="-120"/>
              </a:rPr>
              <a:t>08</a:t>
            </a:r>
            <a:endParaRPr lang="en-US" sz="1600" dirty="0"/>
          </a:p>
        </p:txBody>
      </p:sp>
      <p:sp>
        <p:nvSpPr>
          <p:cNvPr id="4" name="Text 2"/>
          <p:cNvSpPr/>
          <p:nvPr/>
        </p:nvSpPr>
        <p:spPr>
          <a:xfrm>
            <a:off x="952500" y="381000"/>
            <a:ext cx="4143375" cy="190500"/>
          </a:xfrm>
          <a:prstGeom prst="rect">
            <a:avLst/>
          </a:prstGeom>
          <a:noFill/>
          <a:ln/>
        </p:spPr>
        <p:txBody>
          <a:bodyPr wrap="square" lIns="0" tIns="0" rIns="0" bIns="0" rtlCol="0" anchor="ctr"/>
          <a:lstStyle/>
          <a:p>
            <a:pPr>
              <a:lnSpc>
                <a:spcPct val="120000"/>
              </a:lnSpc>
            </a:pPr>
            <a:r>
              <a:rPr lang="en-US" sz="1050" b="1" spc="53" kern="0" dirty="0">
                <a:solidFill>
                  <a:srgbClr val="6366F1"/>
                </a:solidFill>
                <a:latin typeface="Liter" pitchFamily="34" charset="0"/>
                <a:ea typeface="Liter" pitchFamily="34" charset="-122"/>
                <a:cs typeface="Liter" pitchFamily="34" charset="-120"/>
              </a:rPr>
              <a:t>History of AI</a:t>
            </a:r>
            <a:endParaRPr lang="en-US" sz="1600" dirty="0"/>
          </a:p>
        </p:txBody>
      </p:sp>
      <p:sp>
        <p:nvSpPr>
          <p:cNvPr id="5" name="Text 3"/>
          <p:cNvSpPr/>
          <p:nvPr/>
        </p:nvSpPr>
        <p:spPr>
          <a:xfrm>
            <a:off x="952500" y="571500"/>
            <a:ext cx="424815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AI Winters and Comebacks</a:t>
            </a:r>
            <a:endParaRPr lang="en-US" sz="1600" dirty="0"/>
          </a:p>
        </p:txBody>
      </p:sp>
      <p:sp>
        <p:nvSpPr>
          <p:cNvPr id="6" name="Shape 4"/>
          <p:cNvSpPr/>
          <p:nvPr/>
        </p:nvSpPr>
        <p:spPr>
          <a:xfrm>
            <a:off x="384810" y="1108710"/>
            <a:ext cx="6760845" cy="2465070"/>
          </a:xfrm>
          <a:prstGeom prst="roundRect">
            <a:avLst>
              <a:gd name="adj" fmla="val 4637"/>
            </a:avLst>
          </a:prstGeom>
          <a:solidFill>
            <a:srgbClr val="262626"/>
          </a:solidFill>
          <a:ln w="10160">
            <a:solidFill>
              <a:srgbClr val="333333"/>
            </a:solidFill>
            <a:prstDash val="solid"/>
          </a:ln>
        </p:spPr>
      </p:sp>
      <p:sp>
        <p:nvSpPr>
          <p:cNvPr id="7" name="Shape 5"/>
          <p:cNvSpPr/>
          <p:nvPr/>
        </p:nvSpPr>
        <p:spPr>
          <a:xfrm>
            <a:off x="526732" y="1264923"/>
            <a:ext cx="190500" cy="190500"/>
          </a:xfrm>
          <a:custGeom>
            <a:avLst/>
            <a:gdLst/>
            <a:ahLst/>
            <a:cxnLst/>
            <a:rect l="l" t="t" r="r" b="b"/>
            <a:pathLst>
              <a:path w="190500" h="190500">
                <a:moveTo>
                  <a:pt x="107231" y="0"/>
                </a:moveTo>
                <a:cubicBezTo>
                  <a:pt x="107231" y="-6586"/>
                  <a:pt x="101910" y="-11906"/>
                  <a:pt x="95324" y="-11906"/>
                </a:cubicBezTo>
                <a:cubicBezTo>
                  <a:pt x="88739" y="-11906"/>
                  <a:pt x="83418" y="-6586"/>
                  <a:pt x="83418" y="0"/>
                </a:cubicBezTo>
                <a:lnTo>
                  <a:pt x="83418" y="23106"/>
                </a:lnTo>
                <a:lnTo>
                  <a:pt x="77837" y="17525"/>
                </a:lnTo>
                <a:cubicBezTo>
                  <a:pt x="74340" y="14027"/>
                  <a:pt x="68684" y="14027"/>
                  <a:pt x="65224" y="17525"/>
                </a:cubicBezTo>
                <a:cubicBezTo>
                  <a:pt x="61764" y="21022"/>
                  <a:pt x="61726" y="26677"/>
                  <a:pt x="65224" y="30138"/>
                </a:cubicBezTo>
                <a:lnTo>
                  <a:pt x="83455" y="48369"/>
                </a:lnTo>
                <a:lnTo>
                  <a:pt x="83455" y="74637"/>
                </a:lnTo>
                <a:lnTo>
                  <a:pt x="60685" y="61503"/>
                </a:lnTo>
                <a:lnTo>
                  <a:pt x="54025" y="36612"/>
                </a:lnTo>
                <a:cubicBezTo>
                  <a:pt x="52760" y="31849"/>
                  <a:pt x="47848" y="29021"/>
                  <a:pt x="43086" y="30287"/>
                </a:cubicBezTo>
                <a:cubicBezTo>
                  <a:pt x="38323" y="31552"/>
                  <a:pt x="35458" y="36463"/>
                  <a:pt x="36723" y="41225"/>
                </a:cubicBezTo>
                <a:lnTo>
                  <a:pt x="38770" y="48853"/>
                </a:lnTo>
                <a:lnTo>
                  <a:pt x="18790" y="37319"/>
                </a:lnTo>
                <a:cubicBezTo>
                  <a:pt x="13097" y="34044"/>
                  <a:pt x="5804" y="35979"/>
                  <a:pt x="2530" y="41672"/>
                </a:cubicBezTo>
                <a:cubicBezTo>
                  <a:pt x="-744" y="47365"/>
                  <a:pt x="1191" y="54657"/>
                  <a:pt x="6883" y="57931"/>
                </a:cubicBezTo>
                <a:lnTo>
                  <a:pt x="26863" y="69466"/>
                </a:lnTo>
                <a:lnTo>
                  <a:pt x="19236" y="71512"/>
                </a:lnTo>
                <a:cubicBezTo>
                  <a:pt x="14474" y="72777"/>
                  <a:pt x="11646" y="77688"/>
                  <a:pt x="12911" y="82451"/>
                </a:cubicBezTo>
                <a:cubicBezTo>
                  <a:pt x="14176" y="87213"/>
                  <a:pt x="19087" y="90041"/>
                  <a:pt x="23850" y="88776"/>
                </a:cubicBezTo>
                <a:lnTo>
                  <a:pt x="48741" y="82116"/>
                </a:lnTo>
                <a:lnTo>
                  <a:pt x="71512" y="95250"/>
                </a:lnTo>
                <a:lnTo>
                  <a:pt x="48741" y="108384"/>
                </a:lnTo>
                <a:lnTo>
                  <a:pt x="23850" y="101724"/>
                </a:lnTo>
                <a:cubicBezTo>
                  <a:pt x="19087" y="100459"/>
                  <a:pt x="14176" y="103287"/>
                  <a:pt x="12911" y="108049"/>
                </a:cubicBezTo>
                <a:cubicBezTo>
                  <a:pt x="11646" y="112812"/>
                  <a:pt x="14474" y="117723"/>
                  <a:pt x="19236" y="118988"/>
                </a:cubicBezTo>
                <a:lnTo>
                  <a:pt x="26863" y="121034"/>
                </a:lnTo>
                <a:lnTo>
                  <a:pt x="6883" y="132569"/>
                </a:lnTo>
                <a:cubicBezTo>
                  <a:pt x="1191" y="135843"/>
                  <a:pt x="-744" y="143135"/>
                  <a:pt x="2530" y="148828"/>
                </a:cubicBezTo>
                <a:cubicBezTo>
                  <a:pt x="5804" y="154521"/>
                  <a:pt x="13097" y="156493"/>
                  <a:pt x="18790" y="153181"/>
                </a:cubicBezTo>
                <a:lnTo>
                  <a:pt x="38770" y="141647"/>
                </a:lnTo>
                <a:lnTo>
                  <a:pt x="36723" y="149275"/>
                </a:lnTo>
                <a:cubicBezTo>
                  <a:pt x="35458" y="154037"/>
                  <a:pt x="38286" y="158948"/>
                  <a:pt x="43049" y="160213"/>
                </a:cubicBezTo>
                <a:cubicBezTo>
                  <a:pt x="47811" y="161479"/>
                  <a:pt x="52722" y="158651"/>
                  <a:pt x="53987" y="153888"/>
                </a:cubicBezTo>
                <a:lnTo>
                  <a:pt x="60647" y="128997"/>
                </a:lnTo>
                <a:lnTo>
                  <a:pt x="83418" y="115863"/>
                </a:lnTo>
                <a:lnTo>
                  <a:pt x="83418" y="142131"/>
                </a:lnTo>
                <a:lnTo>
                  <a:pt x="65187" y="160362"/>
                </a:lnTo>
                <a:cubicBezTo>
                  <a:pt x="61689" y="163860"/>
                  <a:pt x="61689" y="169515"/>
                  <a:pt x="65187" y="172975"/>
                </a:cubicBezTo>
                <a:cubicBezTo>
                  <a:pt x="68684" y="176436"/>
                  <a:pt x="74340" y="176473"/>
                  <a:pt x="77800" y="172975"/>
                </a:cubicBezTo>
                <a:lnTo>
                  <a:pt x="83381" y="167394"/>
                </a:lnTo>
                <a:lnTo>
                  <a:pt x="83381" y="190500"/>
                </a:lnTo>
                <a:cubicBezTo>
                  <a:pt x="83381" y="197086"/>
                  <a:pt x="88702" y="202406"/>
                  <a:pt x="95287" y="202406"/>
                </a:cubicBezTo>
                <a:cubicBezTo>
                  <a:pt x="101873" y="202406"/>
                  <a:pt x="107193" y="197086"/>
                  <a:pt x="107193" y="190500"/>
                </a:cubicBezTo>
                <a:lnTo>
                  <a:pt x="107193" y="167394"/>
                </a:lnTo>
                <a:lnTo>
                  <a:pt x="112775" y="172975"/>
                </a:lnTo>
                <a:cubicBezTo>
                  <a:pt x="116272" y="176473"/>
                  <a:pt x="121927" y="176473"/>
                  <a:pt x="125388" y="172975"/>
                </a:cubicBezTo>
                <a:cubicBezTo>
                  <a:pt x="128848" y="169478"/>
                  <a:pt x="128885" y="163823"/>
                  <a:pt x="125388" y="160362"/>
                </a:cubicBezTo>
                <a:lnTo>
                  <a:pt x="107156" y="142131"/>
                </a:lnTo>
                <a:lnTo>
                  <a:pt x="107156" y="115863"/>
                </a:lnTo>
                <a:lnTo>
                  <a:pt x="129927" y="128997"/>
                </a:lnTo>
                <a:lnTo>
                  <a:pt x="136587" y="153888"/>
                </a:lnTo>
                <a:cubicBezTo>
                  <a:pt x="137852" y="158651"/>
                  <a:pt x="142763" y="161479"/>
                  <a:pt x="147526" y="160213"/>
                </a:cubicBezTo>
                <a:cubicBezTo>
                  <a:pt x="152288" y="158948"/>
                  <a:pt x="155116" y="154037"/>
                  <a:pt x="153851" y="149275"/>
                </a:cubicBezTo>
                <a:lnTo>
                  <a:pt x="151805" y="141647"/>
                </a:lnTo>
                <a:lnTo>
                  <a:pt x="171785" y="153181"/>
                </a:lnTo>
                <a:cubicBezTo>
                  <a:pt x="177478" y="156456"/>
                  <a:pt x="184770" y="154521"/>
                  <a:pt x="188044" y="148828"/>
                </a:cubicBezTo>
                <a:cubicBezTo>
                  <a:pt x="191319" y="143135"/>
                  <a:pt x="189384" y="135843"/>
                  <a:pt x="183691" y="132569"/>
                </a:cubicBezTo>
                <a:lnTo>
                  <a:pt x="163711" y="121034"/>
                </a:lnTo>
                <a:lnTo>
                  <a:pt x="171338" y="118988"/>
                </a:lnTo>
                <a:cubicBezTo>
                  <a:pt x="176101" y="117723"/>
                  <a:pt x="178929" y="112812"/>
                  <a:pt x="177664" y="108049"/>
                </a:cubicBezTo>
                <a:cubicBezTo>
                  <a:pt x="176399" y="103287"/>
                  <a:pt x="171487" y="100459"/>
                  <a:pt x="166725" y="101724"/>
                </a:cubicBezTo>
                <a:lnTo>
                  <a:pt x="141833" y="108384"/>
                </a:lnTo>
                <a:lnTo>
                  <a:pt x="119062" y="95250"/>
                </a:lnTo>
                <a:lnTo>
                  <a:pt x="141833" y="82116"/>
                </a:lnTo>
                <a:lnTo>
                  <a:pt x="166725" y="88776"/>
                </a:lnTo>
                <a:cubicBezTo>
                  <a:pt x="171487" y="90041"/>
                  <a:pt x="176399" y="87213"/>
                  <a:pt x="177664" y="82451"/>
                </a:cubicBezTo>
                <a:cubicBezTo>
                  <a:pt x="178929" y="77688"/>
                  <a:pt x="176101" y="72777"/>
                  <a:pt x="171338" y="71512"/>
                </a:cubicBezTo>
                <a:lnTo>
                  <a:pt x="163711" y="69466"/>
                </a:lnTo>
                <a:lnTo>
                  <a:pt x="183691" y="57931"/>
                </a:lnTo>
                <a:cubicBezTo>
                  <a:pt x="189384" y="54657"/>
                  <a:pt x="191356" y="47365"/>
                  <a:pt x="188044" y="41672"/>
                </a:cubicBezTo>
                <a:cubicBezTo>
                  <a:pt x="184733" y="35979"/>
                  <a:pt x="177478" y="34044"/>
                  <a:pt x="171785" y="37319"/>
                </a:cubicBezTo>
                <a:lnTo>
                  <a:pt x="151805" y="48853"/>
                </a:lnTo>
                <a:lnTo>
                  <a:pt x="153851" y="41225"/>
                </a:lnTo>
                <a:cubicBezTo>
                  <a:pt x="155116" y="36463"/>
                  <a:pt x="152288" y="31552"/>
                  <a:pt x="147526" y="30287"/>
                </a:cubicBezTo>
                <a:cubicBezTo>
                  <a:pt x="142763" y="29021"/>
                  <a:pt x="137852" y="31849"/>
                  <a:pt x="136587" y="36612"/>
                </a:cubicBezTo>
                <a:lnTo>
                  <a:pt x="129927" y="61503"/>
                </a:lnTo>
                <a:lnTo>
                  <a:pt x="107156" y="74637"/>
                </a:lnTo>
                <a:lnTo>
                  <a:pt x="107156" y="48369"/>
                </a:lnTo>
                <a:lnTo>
                  <a:pt x="125388" y="30138"/>
                </a:lnTo>
                <a:cubicBezTo>
                  <a:pt x="128885" y="26640"/>
                  <a:pt x="128885" y="20985"/>
                  <a:pt x="125388" y="17525"/>
                </a:cubicBezTo>
                <a:cubicBezTo>
                  <a:pt x="121890" y="14064"/>
                  <a:pt x="116235" y="14027"/>
                  <a:pt x="112775" y="17525"/>
                </a:cubicBezTo>
                <a:lnTo>
                  <a:pt x="107193" y="23106"/>
                </a:lnTo>
                <a:lnTo>
                  <a:pt x="107193" y="0"/>
                </a:lnTo>
                <a:close/>
              </a:path>
            </a:pathLst>
          </a:custGeom>
          <a:solidFill>
            <a:srgbClr val="51A2FF"/>
          </a:solidFill>
          <a:ln/>
        </p:spPr>
      </p:sp>
      <p:sp>
        <p:nvSpPr>
          <p:cNvPr id="8" name="Text 6"/>
          <p:cNvSpPr/>
          <p:nvPr/>
        </p:nvSpPr>
        <p:spPr>
          <a:xfrm>
            <a:off x="741045" y="1226823"/>
            <a:ext cx="6381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What is an "AI Winter"?</a:t>
            </a:r>
            <a:endParaRPr lang="en-US" sz="1600" dirty="0"/>
          </a:p>
        </p:txBody>
      </p:sp>
      <p:sp>
        <p:nvSpPr>
          <p:cNvPr id="9" name="Text 7"/>
          <p:cNvSpPr/>
          <p:nvPr/>
        </p:nvSpPr>
        <p:spPr>
          <a:xfrm>
            <a:off x="502920" y="1569723"/>
            <a:ext cx="6600825"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An </a:t>
            </a:r>
            <a:pPr>
              <a:lnSpc>
                <a:spcPct val="130000"/>
              </a:lnSpc>
            </a:pPr>
            <a:r>
              <a:rPr lang="en-US" sz="1200" b="1" dirty="0">
                <a:solidFill>
                  <a:srgbClr val="6366F1"/>
                </a:solidFill>
                <a:latin typeface="Liter" pitchFamily="34" charset="0"/>
                <a:ea typeface="Liter" pitchFamily="34" charset="-122"/>
                <a:cs typeface="Liter" pitchFamily="34" charset="-120"/>
              </a:rPr>
              <a:t>AI Winter</a:t>
            </a:r>
            <a:pPr>
              <a:lnSpc>
                <a:spcPct val="130000"/>
              </a:lnSpc>
            </a:pPr>
            <a:r>
              <a:rPr lang="en-US" sz="1200" dirty="0">
                <a:solidFill>
                  <a:srgbClr val="EFEFEF"/>
                </a:solidFill>
                <a:latin typeface="Liter" pitchFamily="34" charset="0"/>
                <a:ea typeface="Liter" pitchFamily="34" charset="-122"/>
                <a:cs typeface="Liter" pitchFamily="34" charset="-120"/>
              </a:rPr>
              <a:t> is a period when AI progress slowed down, funding was cut, and people lost interest because results didn't match the hype.</a:t>
            </a:r>
            <a:endParaRPr lang="en-US" sz="1600" dirty="0"/>
          </a:p>
        </p:txBody>
      </p:sp>
      <p:sp>
        <p:nvSpPr>
          <p:cNvPr id="10" name="Shape 8"/>
          <p:cNvSpPr/>
          <p:nvPr/>
        </p:nvSpPr>
        <p:spPr>
          <a:xfrm>
            <a:off x="502920" y="2103123"/>
            <a:ext cx="6524625" cy="647700"/>
          </a:xfrm>
          <a:prstGeom prst="roundRect">
            <a:avLst>
              <a:gd name="adj" fmla="val 11765"/>
            </a:avLst>
          </a:prstGeom>
          <a:solidFill>
            <a:srgbClr val="191919"/>
          </a:solidFill>
          <a:ln/>
        </p:spPr>
      </p:sp>
      <p:sp>
        <p:nvSpPr>
          <p:cNvPr id="11" name="Text 9"/>
          <p:cNvSpPr/>
          <p:nvPr/>
        </p:nvSpPr>
        <p:spPr>
          <a:xfrm>
            <a:off x="579120" y="2179323"/>
            <a:ext cx="64484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First AI Winter (1970s-1980s)</a:t>
            </a:r>
            <a:endParaRPr lang="en-US" sz="1600" dirty="0"/>
          </a:p>
        </p:txBody>
      </p:sp>
      <p:sp>
        <p:nvSpPr>
          <p:cNvPr id="12" name="Text 10"/>
          <p:cNvSpPr/>
          <p:nvPr/>
        </p:nvSpPr>
        <p:spPr>
          <a:xfrm>
            <a:off x="579120" y="2446023"/>
            <a:ext cx="64484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Computers were too slow and expensive. AI couldn't deliver on big promises.</a:t>
            </a:r>
            <a:endParaRPr lang="en-US" sz="1600" dirty="0"/>
          </a:p>
        </p:txBody>
      </p:sp>
      <p:sp>
        <p:nvSpPr>
          <p:cNvPr id="13" name="Shape 11"/>
          <p:cNvSpPr/>
          <p:nvPr/>
        </p:nvSpPr>
        <p:spPr>
          <a:xfrm>
            <a:off x="502920" y="2807973"/>
            <a:ext cx="6524625" cy="647700"/>
          </a:xfrm>
          <a:prstGeom prst="roundRect">
            <a:avLst>
              <a:gd name="adj" fmla="val 11765"/>
            </a:avLst>
          </a:prstGeom>
          <a:solidFill>
            <a:srgbClr val="191919"/>
          </a:solidFill>
          <a:ln/>
        </p:spPr>
      </p:sp>
      <p:sp>
        <p:nvSpPr>
          <p:cNvPr id="14" name="Text 12"/>
          <p:cNvSpPr/>
          <p:nvPr/>
        </p:nvSpPr>
        <p:spPr>
          <a:xfrm>
            <a:off x="579120" y="2884173"/>
            <a:ext cx="64484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Second AI Winter (Late 1980s-1990s)</a:t>
            </a:r>
            <a:endParaRPr lang="en-US" sz="1600" dirty="0"/>
          </a:p>
        </p:txBody>
      </p:sp>
      <p:sp>
        <p:nvSpPr>
          <p:cNvPr id="15" name="Text 13"/>
          <p:cNvSpPr/>
          <p:nvPr/>
        </p:nvSpPr>
        <p:spPr>
          <a:xfrm>
            <a:off x="579120" y="3150873"/>
            <a:ext cx="64484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Expert systems failed to live up to expectations. Funding dried up again.</a:t>
            </a:r>
            <a:endParaRPr lang="en-US" sz="1600" dirty="0"/>
          </a:p>
        </p:txBody>
      </p:sp>
      <p:sp>
        <p:nvSpPr>
          <p:cNvPr id="16" name="Shape 14"/>
          <p:cNvSpPr/>
          <p:nvPr/>
        </p:nvSpPr>
        <p:spPr>
          <a:xfrm>
            <a:off x="384810" y="3657601"/>
            <a:ext cx="6760845" cy="1664970"/>
          </a:xfrm>
          <a:prstGeom prst="roundRect">
            <a:avLst>
              <a:gd name="adj" fmla="val 6865"/>
            </a:avLst>
          </a:prstGeom>
          <a:solidFill>
            <a:srgbClr val="262626"/>
          </a:solidFill>
          <a:ln w="10160">
            <a:solidFill>
              <a:srgbClr val="333333"/>
            </a:solidFill>
            <a:prstDash val="solid"/>
          </a:ln>
        </p:spPr>
      </p:sp>
      <p:sp>
        <p:nvSpPr>
          <p:cNvPr id="17" name="Shape 15"/>
          <p:cNvSpPr/>
          <p:nvPr/>
        </p:nvSpPr>
        <p:spPr>
          <a:xfrm>
            <a:off x="514826" y="3813809"/>
            <a:ext cx="214313" cy="190500"/>
          </a:xfrm>
          <a:custGeom>
            <a:avLst/>
            <a:gdLst/>
            <a:ahLst/>
            <a:cxnLst/>
            <a:rect l="l" t="t" r="r" b="b"/>
            <a:pathLst>
              <a:path w="214313" h="190500">
                <a:moveTo>
                  <a:pt x="66303" y="-3758"/>
                </a:moveTo>
                <a:cubicBezTo>
                  <a:pt x="69056" y="-4911"/>
                  <a:pt x="72182" y="-4576"/>
                  <a:pt x="74675" y="-2939"/>
                </a:cubicBezTo>
                <a:lnTo>
                  <a:pt x="107342" y="18715"/>
                </a:lnTo>
                <a:lnTo>
                  <a:pt x="140010" y="-2939"/>
                </a:lnTo>
                <a:cubicBezTo>
                  <a:pt x="142503" y="-4576"/>
                  <a:pt x="145628" y="-4874"/>
                  <a:pt x="148382" y="-3758"/>
                </a:cubicBezTo>
                <a:cubicBezTo>
                  <a:pt x="151135" y="-2642"/>
                  <a:pt x="153070" y="-186"/>
                  <a:pt x="153665" y="2716"/>
                </a:cubicBezTo>
                <a:lnTo>
                  <a:pt x="161441" y="41114"/>
                </a:lnTo>
                <a:lnTo>
                  <a:pt x="199839" y="48890"/>
                </a:lnTo>
                <a:cubicBezTo>
                  <a:pt x="202741" y="49485"/>
                  <a:pt x="205197" y="51495"/>
                  <a:pt x="206313" y="54211"/>
                </a:cubicBezTo>
                <a:cubicBezTo>
                  <a:pt x="207429" y="56927"/>
                  <a:pt x="207132" y="60089"/>
                  <a:pt x="205494" y="62582"/>
                </a:cubicBezTo>
                <a:lnTo>
                  <a:pt x="183840" y="95250"/>
                </a:lnTo>
                <a:lnTo>
                  <a:pt x="205494" y="127918"/>
                </a:lnTo>
                <a:cubicBezTo>
                  <a:pt x="207132" y="130411"/>
                  <a:pt x="207429" y="133536"/>
                  <a:pt x="206313" y="136289"/>
                </a:cubicBezTo>
                <a:cubicBezTo>
                  <a:pt x="205197" y="139043"/>
                  <a:pt x="202741" y="141052"/>
                  <a:pt x="199839" y="141610"/>
                </a:cubicBezTo>
                <a:lnTo>
                  <a:pt x="161404" y="149349"/>
                </a:lnTo>
                <a:lnTo>
                  <a:pt x="153665" y="187784"/>
                </a:lnTo>
                <a:cubicBezTo>
                  <a:pt x="153070" y="190686"/>
                  <a:pt x="151061" y="193142"/>
                  <a:pt x="148344" y="194258"/>
                </a:cubicBezTo>
                <a:cubicBezTo>
                  <a:pt x="145628" y="195374"/>
                  <a:pt x="142466" y="195076"/>
                  <a:pt x="139973" y="193439"/>
                </a:cubicBezTo>
                <a:lnTo>
                  <a:pt x="107305" y="171785"/>
                </a:lnTo>
                <a:lnTo>
                  <a:pt x="74637" y="193439"/>
                </a:lnTo>
                <a:cubicBezTo>
                  <a:pt x="72144" y="195076"/>
                  <a:pt x="69019" y="195374"/>
                  <a:pt x="66266" y="194258"/>
                </a:cubicBezTo>
                <a:cubicBezTo>
                  <a:pt x="63512" y="193142"/>
                  <a:pt x="61503" y="190686"/>
                  <a:pt x="60945" y="187784"/>
                </a:cubicBezTo>
                <a:lnTo>
                  <a:pt x="53206" y="149349"/>
                </a:lnTo>
                <a:lnTo>
                  <a:pt x="14771" y="141573"/>
                </a:lnTo>
                <a:cubicBezTo>
                  <a:pt x="11869" y="140977"/>
                  <a:pt x="9413" y="138968"/>
                  <a:pt x="8297" y="136252"/>
                </a:cubicBezTo>
                <a:cubicBezTo>
                  <a:pt x="7181" y="133536"/>
                  <a:pt x="7479" y="130373"/>
                  <a:pt x="9116" y="127881"/>
                </a:cubicBezTo>
                <a:lnTo>
                  <a:pt x="30770" y="95250"/>
                </a:lnTo>
                <a:lnTo>
                  <a:pt x="9116" y="62582"/>
                </a:lnTo>
                <a:cubicBezTo>
                  <a:pt x="7479" y="60089"/>
                  <a:pt x="7181" y="56964"/>
                  <a:pt x="8297" y="54211"/>
                </a:cubicBezTo>
                <a:cubicBezTo>
                  <a:pt x="9413" y="51457"/>
                  <a:pt x="11869" y="49448"/>
                  <a:pt x="14771" y="48890"/>
                </a:cubicBezTo>
                <a:lnTo>
                  <a:pt x="53206" y="41151"/>
                </a:lnTo>
                <a:lnTo>
                  <a:pt x="60982" y="2716"/>
                </a:lnTo>
                <a:cubicBezTo>
                  <a:pt x="61578" y="-186"/>
                  <a:pt x="63587" y="-2642"/>
                  <a:pt x="66303" y="-3758"/>
                </a:cubicBezTo>
                <a:close/>
                <a:moveTo>
                  <a:pt x="77242" y="95250"/>
                </a:moveTo>
                <a:cubicBezTo>
                  <a:pt x="77242" y="84563"/>
                  <a:pt x="82943" y="74687"/>
                  <a:pt x="92199" y="69343"/>
                </a:cubicBezTo>
                <a:cubicBezTo>
                  <a:pt x="101455" y="64000"/>
                  <a:pt x="112858" y="64000"/>
                  <a:pt x="122113" y="69343"/>
                </a:cubicBezTo>
                <a:cubicBezTo>
                  <a:pt x="131369" y="74687"/>
                  <a:pt x="137071" y="84563"/>
                  <a:pt x="137071" y="95250"/>
                </a:cubicBezTo>
                <a:cubicBezTo>
                  <a:pt x="137071" y="111760"/>
                  <a:pt x="123666" y="125164"/>
                  <a:pt x="107156" y="125164"/>
                </a:cubicBezTo>
                <a:cubicBezTo>
                  <a:pt x="90646" y="125164"/>
                  <a:pt x="77242" y="111760"/>
                  <a:pt x="77242" y="95250"/>
                </a:cubicBezTo>
                <a:close/>
                <a:moveTo>
                  <a:pt x="154930" y="95250"/>
                </a:moveTo>
                <a:cubicBezTo>
                  <a:pt x="154930" y="68883"/>
                  <a:pt x="133523" y="47476"/>
                  <a:pt x="107156" y="47476"/>
                </a:cubicBezTo>
                <a:cubicBezTo>
                  <a:pt x="80789" y="47476"/>
                  <a:pt x="59382" y="68883"/>
                  <a:pt x="59382" y="95250"/>
                </a:cubicBezTo>
                <a:cubicBezTo>
                  <a:pt x="59382" y="112318"/>
                  <a:pt x="68488" y="128089"/>
                  <a:pt x="83269" y="136623"/>
                </a:cubicBezTo>
                <a:cubicBezTo>
                  <a:pt x="98051" y="145157"/>
                  <a:pt x="116262" y="145157"/>
                  <a:pt x="131043" y="136623"/>
                </a:cubicBezTo>
                <a:cubicBezTo>
                  <a:pt x="145824" y="128089"/>
                  <a:pt x="154930" y="112318"/>
                  <a:pt x="154930" y="95250"/>
                </a:cubicBezTo>
                <a:close/>
              </a:path>
            </a:pathLst>
          </a:custGeom>
          <a:solidFill>
            <a:srgbClr val="F0B100"/>
          </a:solidFill>
          <a:ln/>
        </p:spPr>
      </p:sp>
      <p:sp>
        <p:nvSpPr>
          <p:cNvPr id="18" name="Text 16"/>
          <p:cNvSpPr/>
          <p:nvPr/>
        </p:nvSpPr>
        <p:spPr>
          <a:xfrm>
            <a:off x="741045" y="3775709"/>
            <a:ext cx="6381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Why AI Came Back Stronger</a:t>
            </a:r>
            <a:endParaRPr lang="en-US" sz="1600" dirty="0"/>
          </a:p>
        </p:txBody>
      </p:sp>
      <p:sp>
        <p:nvSpPr>
          <p:cNvPr id="19" name="Shape 17"/>
          <p:cNvSpPr/>
          <p:nvPr/>
        </p:nvSpPr>
        <p:spPr>
          <a:xfrm>
            <a:off x="521970" y="4156709"/>
            <a:ext cx="152400" cy="152400"/>
          </a:xfrm>
          <a:custGeom>
            <a:avLst/>
            <a:gdLst/>
            <a:ahLst/>
            <a:cxnLst/>
            <a:rect l="l" t="t" r="r" b="b"/>
            <a:pathLst>
              <a:path w="152400" h="152400">
                <a:moveTo>
                  <a:pt x="52388" y="7144"/>
                </a:moveTo>
                <a:cubicBezTo>
                  <a:pt x="52388" y="3185"/>
                  <a:pt x="49203" y="0"/>
                  <a:pt x="45244" y="0"/>
                </a:cubicBezTo>
                <a:cubicBezTo>
                  <a:pt x="41285" y="0"/>
                  <a:pt x="38100" y="3185"/>
                  <a:pt x="38100" y="7144"/>
                </a:cubicBezTo>
                <a:lnTo>
                  <a:pt x="38100" y="19050"/>
                </a:lnTo>
                <a:cubicBezTo>
                  <a:pt x="27593" y="19050"/>
                  <a:pt x="19050" y="27593"/>
                  <a:pt x="19050" y="38100"/>
                </a:cubicBezTo>
                <a:lnTo>
                  <a:pt x="7144" y="38100"/>
                </a:lnTo>
                <a:cubicBezTo>
                  <a:pt x="3185" y="38100"/>
                  <a:pt x="0" y="41285"/>
                  <a:pt x="0" y="45244"/>
                </a:cubicBezTo>
                <a:cubicBezTo>
                  <a:pt x="0" y="49203"/>
                  <a:pt x="3185" y="52388"/>
                  <a:pt x="7144" y="52388"/>
                </a:cubicBezTo>
                <a:lnTo>
                  <a:pt x="19050" y="52388"/>
                </a:lnTo>
                <a:lnTo>
                  <a:pt x="19050" y="69056"/>
                </a:lnTo>
                <a:lnTo>
                  <a:pt x="7144" y="69056"/>
                </a:lnTo>
                <a:cubicBezTo>
                  <a:pt x="3185" y="69056"/>
                  <a:pt x="0" y="72241"/>
                  <a:pt x="0" y="76200"/>
                </a:cubicBezTo>
                <a:cubicBezTo>
                  <a:pt x="0" y="80159"/>
                  <a:pt x="3185" y="83344"/>
                  <a:pt x="7144" y="83344"/>
                </a:cubicBezTo>
                <a:lnTo>
                  <a:pt x="19050" y="83344"/>
                </a:lnTo>
                <a:lnTo>
                  <a:pt x="19050" y="100013"/>
                </a:lnTo>
                <a:lnTo>
                  <a:pt x="7144" y="100013"/>
                </a:lnTo>
                <a:cubicBezTo>
                  <a:pt x="3185" y="100013"/>
                  <a:pt x="0" y="103197"/>
                  <a:pt x="0" y="107156"/>
                </a:cubicBezTo>
                <a:cubicBezTo>
                  <a:pt x="0" y="111115"/>
                  <a:pt x="3185" y="114300"/>
                  <a:pt x="7144" y="114300"/>
                </a:cubicBezTo>
                <a:lnTo>
                  <a:pt x="19050" y="114300"/>
                </a:lnTo>
                <a:cubicBezTo>
                  <a:pt x="19050" y="124807"/>
                  <a:pt x="27593" y="133350"/>
                  <a:pt x="38100" y="133350"/>
                </a:cubicBezTo>
                <a:lnTo>
                  <a:pt x="38100" y="145256"/>
                </a:lnTo>
                <a:cubicBezTo>
                  <a:pt x="38100" y="149215"/>
                  <a:pt x="41285" y="152400"/>
                  <a:pt x="45244" y="152400"/>
                </a:cubicBezTo>
                <a:cubicBezTo>
                  <a:pt x="49203" y="152400"/>
                  <a:pt x="52388" y="149215"/>
                  <a:pt x="52388" y="145256"/>
                </a:cubicBezTo>
                <a:lnTo>
                  <a:pt x="52388" y="133350"/>
                </a:lnTo>
                <a:lnTo>
                  <a:pt x="69056" y="133350"/>
                </a:lnTo>
                <a:lnTo>
                  <a:pt x="69056" y="145256"/>
                </a:lnTo>
                <a:cubicBezTo>
                  <a:pt x="69056" y="149215"/>
                  <a:pt x="72241" y="152400"/>
                  <a:pt x="76200" y="152400"/>
                </a:cubicBezTo>
                <a:cubicBezTo>
                  <a:pt x="80159" y="152400"/>
                  <a:pt x="83344" y="149215"/>
                  <a:pt x="83344" y="145256"/>
                </a:cubicBezTo>
                <a:lnTo>
                  <a:pt x="83344" y="133350"/>
                </a:lnTo>
                <a:lnTo>
                  <a:pt x="100013" y="133350"/>
                </a:lnTo>
                <a:lnTo>
                  <a:pt x="100013" y="145256"/>
                </a:lnTo>
                <a:cubicBezTo>
                  <a:pt x="100013" y="149215"/>
                  <a:pt x="103197" y="152400"/>
                  <a:pt x="107156" y="152400"/>
                </a:cubicBezTo>
                <a:cubicBezTo>
                  <a:pt x="111115" y="152400"/>
                  <a:pt x="114300" y="149215"/>
                  <a:pt x="114300" y="145256"/>
                </a:cubicBezTo>
                <a:lnTo>
                  <a:pt x="114300" y="133350"/>
                </a:lnTo>
                <a:cubicBezTo>
                  <a:pt x="124807" y="133350"/>
                  <a:pt x="133350" y="124807"/>
                  <a:pt x="133350" y="114300"/>
                </a:cubicBezTo>
                <a:lnTo>
                  <a:pt x="145256" y="114300"/>
                </a:lnTo>
                <a:cubicBezTo>
                  <a:pt x="149215" y="114300"/>
                  <a:pt x="152400" y="111115"/>
                  <a:pt x="152400" y="107156"/>
                </a:cubicBezTo>
                <a:cubicBezTo>
                  <a:pt x="152400" y="103197"/>
                  <a:pt x="149215" y="100013"/>
                  <a:pt x="145256" y="100013"/>
                </a:cubicBezTo>
                <a:lnTo>
                  <a:pt x="133350" y="100013"/>
                </a:lnTo>
                <a:lnTo>
                  <a:pt x="133350" y="83344"/>
                </a:lnTo>
                <a:lnTo>
                  <a:pt x="145256" y="83344"/>
                </a:lnTo>
                <a:cubicBezTo>
                  <a:pt x="149215" y="83344"/>
                  <a:pt x="152400" y="80159"/>
                  <a:pt x="152400" y="76200"/>
                </a:cubicBezTo>
                <a:cubicBezTo>
                  <a:pt x="152400" y="72241"/>
                  <a:pt x="149215" y="69056"/>
                  <a:pt x="145256" y="69056"/>
                </a:cubicBezTo>
                <a:lnTo>
                  <a:pt x="133350" y="69056"/>
                </a:lnTo>
                <a:lnTo>
                  <a:pt x="133350" y="52388"/>
                </a:lnTo>
                <a:lnTo>
                  <a:pt x="145256" y="52388"/>
                </a:lnTo>
                <a:cubicBezTo>
                  <a:pt x="149215" y="52388"/>
                  <a:pt x="152400" y="49203"/>
                  <a:pt x="152400" y="45244"/>
                </a:cubicBezTo>
                <a:cubicBezTo>
                  <a:pt x="152400" y="41285"/>
                  <a:pt x="149215" y="38100"/>
                  <a:pt x="145256" y="38100"/>
                </a:cubicBezTo>
                <a:lnTo>
                  <a:pt x="133350" y="38100"/>
                </a:lnTo>
                <a:cubicBezTo>
                  <a:pt x="133350" y="27593"/>
                  <a:pt x="124807" y="19050"/>
                  <a:pt x="114300" y="19050"/>
                </a:cubicBezTo>
                <a:lnTo>
                  <a:pt x="114300" y="7144"/>
                </a:lnTo>
                <a:cubicBezTo>
                  <a:pt x="114300" y="3185"/>
                  <a:pt x="111115" y="0"/>
                  <a:pt x="107156" y="0"/>
                </a:cubicBezTo>
                <a:cubicBezTo>
                  <a:pt x="103197" y="0"/>
                  <a:pt x="100013" y="3185"/>
                  <a:pt x="100013" y="7144"/>
                </a:cubicBezTo>
                <a:lnTo>
                  <a:pt x="100013" y="19050"/>
                </a:lnTo>
                <a:lnTo>
                  <a:pt x="83344" y="19050"/>
                </a:lnTo>
                <a:lnTo>
                  <a:pt x="83344" y="7144"/>
                </a:lnTo>
                <a:cubicBezTo>
                  <a:pt x="83344" y="3185"/>
                  <a:pt x="80159" y="0"/>
                  <a:pt x="76200" y="0"/>
                </a:cubicBezTo>
                <a:cubicBezTo>
                  <a:pt x="72241" y="0"/>
                  <a:pt x="69056" y="3185"/>
                  <a:pt x="69056" y="7144"/>
                </a:cubicBezTo>
                <a:lnTo>
                  <a:pt x="69056" y="19050"/>
                </a:lnTo>
                <a:lnTo>
                  <a:pt x="52388" y="19050"/>
                </a:lnTo>
                <a:lnTo>
                  <a:pt x="52388" y="7144"/>
                </a:lnTo>
                <a:close/>
                <a:moveTo>
                  <a:pt x="47625" y="38100"/>
                </a:moveTo>
                <a:lnTo>
                  <a:pt x="104775" y="38100"/>
                </a:lnTo>
                <a:cubicBezTo>
                  <a:pt x="110044" y="38100"/>
                  <a:pt x="114300" y="42356"/>
                  <a:pt x="114300" y="47625"/>
                </a:cubicBezTo>
                <a:lnTo>
                  <a:pt x="114300" y="104775"/>
                </a:lnTo>
                <a:cubicBezTo>
                  <a:pt x="114300" y="110044"/>
                  <a:pt x="110044" y="114300"/>
                  <a:pt x="104775" y="114300"/>
                </a:cubicBezTo>
                <a:lnTo>
                  <a:pt x="47625" y="114300"/>
                </a:lnTo>
                <a:cubicBezTo>
                  <a:pt x="42356" y="114300"/>
                  <a:pt x="38100" y="110044"/>
                  <a:pt x="38100" y="104775"/>
                </a:cubicBezTo>
                <a:lnTo>
                  <a:pt x="38100" y="47625"/>
                </a:lnTo>
                <a:cubicBezTo>
                  <a:pt x="38100" y="42356"/>
                  <a:pt x="42356" y="38100"/>
                  <a:pt x="47625" y="38100"/>
                </a:cubicBezTo>
                <a:close/>
                <a:moveTo>
                  <a:pt x="52388" y="52388"/>
                </a:moveTo>
                <a:lnTo>
                  <a:pt x="52388" y="100013"/>
                </a:lnTo>
                <a:lnTo>
                  <a:pt x="100013" y="100013"/>
                </a:lnTo>
                <a:lnTo>
                  <a:pt x="100013" y="52388"/>
                </a:lnTo>
                <a:lnTo>
                  <a:pt x="52388" y="52388"/>
                </a:lnTo>
                <a:close/>
              </a:path>
            </a:pathLst>
          </a:custGeom>
          <a:solidFill>
            <a:srgbClr val="6366F1"/>
          </a:solidFill>
          <a:ln/>
        </p:spPr>
      </p:sp>
      <p:sp>
        <p:nvSpPr>
          <p:cNvPr id="20" name="Text 18"/>
          <p:cNvSpPr/>
          <p:nvPr/>
        </p:nvSpPr>
        <p:spPr>
          <a:xfrm>
            <a:off x="807720" y="4118609"/>
            <a:ext cx="49625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More Powerful Computers:</a:t>
            </a:r>
            <a:pPr>
              <a:lnSpc>
                <a:spcPct val="130000"/>
              </a:lnSpc>
            </a:pPr>
            <a:r>
              <a:rPr lang="en-US" sz="1200" dirty="0">
                <a:solidFill>
                  <a:srgbClr val="EFEFEF"/>
                </a:solidFill>
                <a:latin typeface="Liter" pitchFamily="34" charset="0"/>
                <a:ea typeface="Liter" pitchFamily="34" charset="-122"/>
                <a:cs typeface="Liter" pitchFamily="34" charset="-120"/>
              </a:rPr>
              <a:t> Processors became thousands of times faster</a:t>
            </a:r>
            <a:endParaRPr lang="en-US" sz="1600" dirty="0"/>
          </a:p>
        </p:txBody>
      </p:sp>
      <p:sp>
        <p:nvSpPr>
          <p:cNvPr id="21" name="Shape 19"/>
          <p:cNvSpPr/>
          <p:nvPr/>
        </p:nvSpPr>
        <p:spPr>
          <a:xfrm>
            <a:off x="531495" y="4442459"/>
            <a:ext cx="133350" cy="152400"/>
          </a:xfrm>
          <a:custGeom>
            <a:avLst/>
            <a:gdLst/>
            <a:ahLst/>
            <a:cxnLst/>
            <a:rect l="l" t="t" r="r" b="b"/>
            <a:pathLst>
              <a:path w="133350" h="152400">
                <a:moveTo>
                  <a:pt x="133350" y="61258"/>
                </a:moveTo>
                <a:cubicBezTo>
                  <a:pt x="128945" y="64175"/>
                  <a:pt x="123885" y="66526"/>
                  <a:pt x="118616" y="68401"/>
                </a:cubicBezTo>
                <a:cubicBezTo>
                  <a:pt x="104626" y="73402"/>
                  <a:pt x="86261" y="76200"/>
                  <a:pt x="66675" y="76200"/>
                </a:cubicBezTo>
                <a:cubicBezTo>
                  <a:pt x="47089" y="76200"/>
                  <a:pt x="28694" y="73372"/>
                  <a:pt x="14734" y="68401"/>
                </a:cubicBezTo>
                <a:cubicBezTo>
                  <a:pt x="9495" y="66526"/>
                  <a:pt x="4405" y="64175"/>
                  <a:pt x="0" y="61258"/>
                </a:cubicBezTo>
                <a:lnTo>
                  <a:pt x="0" y="85725"/>
                </a:lnTo>
                <a:cubicBezTo>
                  <a:pt x="0" y="98881"/>
                  <a:pt x="29855" y="109537"/>
                  <a:pt x="66675" y="109537"/>
                </a:cubicBezTo>
                <a:cubicBezTo>
                  <a:pt x="103495" y="109537"/>
                  <a:pt x="133350" y="98881"/>
                  <a:pt x="133350" y="85725"/>
                </a:cubicBezTo>
                <a:lnTo>
                  <a:pt x="133350" y="61258"/>
                </a:lnTo>
                <a:close/>
                <a:moveTo>
                  <a:pt x="133350" y="38100"/>
                </a:moveTo>
                <a:lnTo>
                  <a:pt x="133350" y="23813"/>
                </a:lnTo>
                <a:cubicBezTo>
                  <a:pt x="133350" y="10656"/>
                  <a:pt x="103495" y="0"/>
                  <a:pt x="66675" y="0"/>
                </a:cubicBezTo>
                <a:cubicBezTo>
                  <a:pt x="29855" y="0"/>
                  <a:pt x="0" y="10656"/>
                  <a:pt x="0" y="23813"/>
                </a:cubicBezTo>
                <a:lnTo>
                  <a:pt x="0" y="38100"/>
                </a:lnTo>
                <a:cubicBezTo>
                  <a:pt x="0" y="51256"/>
                  <a:pt x="29855" y="61912"/>
                  <a:pt x="66675" y="61912"/>
                </a:cubicBezTo>
                <a:cubicBezTo>
                  <a:pt x="103495" y="61912"/>
                  <a:pt x="133350" y="51256"/>
                  <a:pt x="133350" y="38100"/>
                </a:cubicBezTo>
                <a:close/>
                <a:moveTo>
                  <a:pt x="118616" y="116026"/>
                </a:moveTo>
                <a:cubicBezTo>
                  <a:pt x="104656" y="120997"/>
                  <a:pt x="86291" y="123825"/>
                  <a:pt x="66675" y="123825"/>
                </a:cubicBezTo>
                <a:cubicBezTo>
                  <a:pt x="47059" y="123825"/>
                  <a:pt x="28694" y="120997"/>
                  <a:pt x="14734" y="116026"/>
                </a:cubicBezTo>
                <a:cubicBezTo>
                  <a:pt x="9495" y="114151"/>
                  <a:pt x="4405" y="111800"/>
                  <a:pt x="0" y="108883"/>
                </a:cubicBezTo>
                <a:lnTo>
                  <a:pt x="0" y="128588"/>
                </a:lnTo>
                <a:cubicBezTo>
                  <a:pt x="0" y="141744"/>
                  <a:pt x="29855" y="152400"/>
                  <a:pt x="66675" y="152400"/>
                </a:cubicBezTo>
                <a:cubicBezTo>
                  <a:pt x="103495" y="152400"/>
                  <a:pt x="133350" y="141744"/>
                  <a:pt x="133350" y="128588"/>
                </a:cubicBezTo>
                <a:lnTo>
                  <a:pt x="133350" y="108883"/>
                </a:lnTo>
                <a:cubicBezTo>
                  <a:pt x="128945" y="111800"/>
                  <a:pt x="123885" y="114151"/>
                  <a:pt x="118616" y="116026"/>
                </a:cubicBezTo>
                <a:close/>
              </a:path>
            </a:pathLst>
          </a:custGeom>
          <a:solidFill>
            <a:srgbClr val="6366F1"/>
          </a:solidFill>
          <a:ln/>
        </p:spPr>
      </p:sp>
      <p:sp>
        <p:nvSpPr>
          <p:cNvPr id="22" name="Text 20"/>
          <p:cNvSpPr/>
          <p:nvPr/>
        </p:nvSpPr>
        <p:spPr>
          <a:xfrm>
            <a:off x="807720" y="4404359"/>
            <a:ext cx="434340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Big Data:</a:t>
            </a:r>
            <a:pPr>
              <a:lnSpc>
                <a:spcPct val="130000"/>
              </a:lnSpc>
            </a:pPr>
            <a:r>
              <a:rPr lang="en-US" sz="1200" dirty="0">
                <a:solidFill>
                  <a:srgbClr val="EFEFEF"/>
                </a:solidFill>
                <a:latin typeface="Liter" pitchFamily="34" charset="0"/>
                <a:ea typeface="Liter" pitchFamily="34" charset="-122"/>
                <a:cs typeface="Liter" pitchFamily="34" charset="-120"/>
              </a:rPr>
              <a:t> Internet created massive amounts of data to learn from</a:t>
            </a:r>
            <a:endParaRPr lang="en-US" sz="1600" dirty="0"/>
          </a:p>
        </p:txBody>
      </p:sp>
      <p:sp>
        <p:nvSpPr>
          <p:cNvPr id="23" name="Shape 21"/>
          <p:cNvSpPr/>
          <p:nvPr/>
        </p:nvSpPr>
        <p:spPr>
          <a:xfrm>
            <a:off x="512445" y="4728209"/>
            <a:ext cx="171450" cy="152400"/>
          </a:xfrm>
          <a:custGeom>
            <a:avLst/>
            <a:gdLst/>
            <a:ahLst/>
            <a:cxnLst/>
            <a:rect l="l" t="t" r="r" b="b"/>
            <a:pathLst>
              <a:path w="171450" h="152400">
                <a:moveTo>
                  <a:pt x="107394" y="357"/>
                </a:moveTo>
                <a:cubicBezTo>
                  <a:pt x="102334" y="-1101"/>
                  <a:pt x="97066" y="1845"/>
                  <a:pt x="95607" y="6906"/>
                </a:cubicBezTo>
                <a:lnTo>
                  <a:pt x="57507" y="140256"/>
                </a:lnTo>
                <a:cubicBezTo>
                  <a:pt x="56049" y="145316"/>
                  <a:pt x="58995" y="150584"/>
                  <a:pt x="64056" y="152043"/>
                </a:cubicBezTo>
                <a:cubicBezTo>
                  <a:pt x="69116" y="153501"/>
                  <a:pt x="74384" y="150555"/>
                  <a:pt x="75843" y="145494"/>
                </a:cubicBezTo>
                <a:lnTo>
                  <a:pt x="113943" y="12144"/>
                </a:lnTo>
                <a:cubicBezTo>
                  <a:pt x="115401" y="7084"/>
                  <a:pt x="112455" y="1816"/>
                  <a:pt x="107394" y="357"/>
                </a:cubicBezTo>
                <a:close/>
                <a:moveTo>
                  <a:pt x="126623" y="40868"/>
                </a:moveTo>
                <a:cubicBezTo>
                  <a:pt x="122902" y="44589"/>
                  <a:pt x="122902" y="50631"/>
                  <a:pt x="126623" y="54352"/>
                </a:cubicBezTo>
                <a:lnTo>
                  <a:pt x="148471" y="76200"/>
                </a:lnTo>
                <a:lnTo>
                  <a:pt x="126623" y="98048"/>
                </a:lnTo>
                <a:cubicBezTo>
                  <a:pt x="122902" y="101769"/>
                  <a:pt x="122902" y="107811"/>
                  <a:pt x="126623" y="111532"/>
                </a:cubicBezTo>
                <a:cubicBezTo>
                  <a:pt x="130344" y="115253"/>
                  <a:pt x="136386" y="115253"/>
                  <a:pt x="140107" y="111532"/>
                </a:cubicBezTo>
                <a:lnTo>
                  <a:pt x="168682" y="82957"/>
                </a:lnTo>
                <a:cubicBezTo>
                  <a:pt x="172403" y="79236"/>
                  <a:pt x="172403" y="73194"/>
                  <a:pt x="168682" y="69473"/>
                </a:cubicBezTo>
                <a:lnTo>
                  <a:pt x="140107" y="40898"/>
                </a:lnTo>
                <a:cubicBezTo>
                  <a:pt x="136386" y="37177"/>
                  <a:pt x="130344" y="37177"/>
                  <a:pt x="126623" y="40898"/>
                </a:cubicBezTo>
                <a:close/>
                <a:moveTo>
                  <a:pt x="44857" y="40868"/>
                </a:moveTo>
                <a:cubicBezTo>
                  <a:pt x="41136" y="37147"/>
                  <a:pt x="35094" y="37147"/>
                  <a:pt x="31373" y="40868"/>
                </a:cubicBezTo>
                <a:lnTo>
                  <a:pt x="2798" y="69443"/>
                </a:lnTo>
                <a:cubicBezTo>
                  <a:pt x="-923" y="73164"/>
                  <a:pt x="-923" y="79206"/>
                  <a:pt x="2798" y="82927"/>
                </a:cubicBezTo>
                <a:lnTo>
                  <a:pt x="31373" y="111502"/>
                </a:lnTo>
                <a:cubicBezTo>
                  <a:pt x="35094" y="115223"/>
                  <a:pt x="41136" y="115223"/>
                  <a:pt x="44857" y="111502"/>
                </a:cubicBezTo>
                <a:cubicBezTo>
                  <a:pt x="48578" y="107781"/>
                  <a:pt x="48578" y="101739"/>
                  <a:pt x="44857" y="98018"/>
                </a:cubicBezTo>
                <a:lnTo>
                  <a:pt x="23009" y="76200"/>
                </a:lnTo>
                <a:lnTo>
                  <a:pt x="44827" y="54352"/>
                </a:lnTo>
                <a:cubicBezTo>
                  <a:pt x="48548" y="50631"/>
                  <a:pt x="48548" y="44589"/>
                  <a:pt x="44827" y="40868"/>
                </a:cubicBezTo>
                <a:close/>
              </a:path>
            </a:pathLst>
          </a:custGeom>
          <a:solidFill>
            <a:srgbClr val="6366F1"/>
          </a:solidFill>
          <a:ln/>
        </p:spPr>
      </p:sp>
      <p:sp>
        <p:nvSpPr>
          <p:cNvPr id="24" name="Text 22"/>
          <p:cNvSpPr/>
          <p:nvPr/>
        </p:nvSpPr>
        <p:spPr>
          <a:xfrm>
            <a:off x="807720" y="4690109"/>
            <a:ext cx="44672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Better Algorithms:</a:t>
            </a:r>
            <a:pPr>
              <a:lnSpc>
                <a:spcPct val="130000"/>
              </a:lnSpc>
            </a:pPr>
            <a:r>
              <a:rPr lang="en-US" sz="1200" dirty="0">
                <a:solidFill>
                  <a:srgbClr val="EFEFEF"/>
                </a:solidFill>
                <a:latin typeface="Liter" pitchFamily="34" charset="0"/>
                <a:ea typeface="Liter" pitchFamily="34" charset="-122"/>
                <a:cs typeface="Liter" pitchFamily="34" charset="-120"/>
              </a:rPr>
              <a:t> Scientists developed smarter learning methods</a:t>
            </a:r>
            <a:endParaRPr lang="en-US" sz="1600" dirty="0"/>
          </a:p>
        </p:txBody>
      </p:sp>
      <p:sp>
        <p:nvSpPr>
          <p:cNvPr id="25" name="Shape 23"/>
          <p:cNvSpPr/>
          <p:nvPr/>
        </p:nvSpPr>
        <p:spPr>
          <a:xfrm>
            <a:off x="550545" y="5013959"/>
            <a:ext cx="95250" cy="152400"/>
          </a:xfrm>
          <a:custGeom>
            <a:avLst/>
            <a:gdLst/>
            <a:ahLst/>
            <a:cxnLst/>
            <a:rect l="l" t="t" r="r" b="b"/>
            <a:pathLst>
              <a:path w="95250" h="152400">
                <a:moveTo>
                  <a:pt x="40481" y="7144"/>
                </a:moveTo>
                <a:cubicBezTo>
                  <a:pt x="40481" y="3185"/>
                  <a:pt x="43666" y="0"/>
                  <a:pt x="47625" y="0"/>
                </a:cubicBezTo>
                <a:cubicBezTo>
                  <a:pt x="51584" y="0"/>
                  <a:pt x="54769" y="3185"/>
                  <a:pt x="54769" y="7144"/>
                </a:cubicBezTo>
                <a:lnTo>
                  <a:pt x="54769" y="19050"/>
                </a:lnTo>
                <a:lnTo>
                  <a:pt x="71438" y="19050"/>
                </a:lnTo>
                <a:cubicBezTo>
                  <a:pt x="76706" y="19050"/>
                  <a:pt x="80962" y="23306"/>
                  <a:pt x="80962" y="28575"/>
                </a:cubicBezTo>
                <a:cubicBezTo>
                  <a:pt x="80962" y="33844"/>
                  <a:pt x="76706" y="38100"/>
                  <a:pt x="71438" y="38100"/>
                </a:cubicBezTo>
                <a:lnTo>
                  <a:pt x="37237" y="38100"/>
                </a:lnTo>
                <a:cubicBezTo>
                  <a:pt x="29825" y="38100"/>
                  <a:pt x="23813" y="44113"/>
                  <a:pt x="23813" y="51524"/>
                </a:cubicBezTo>
                <a:cubicBezTo>
                  <a:pt x="23813" y="58222"/>
                  <a:pt x="28724" y="63877"/>
                  <a:pt x="35332" y="64830"/>
                </a:cubicBezTo>
                <a:lnTo>
                  <a:pt x="62597" y="68729"/>
                </a:lnTo>
                <a:cubicBezTo>
                  <a:pt x="78611" y="71021"/>
                  <a:pt x="90488" y="84713"/>
                  <a:pt x="90488" y="100876"/>
                </a:cubicBezTo>
                <a:cubicBezTo>
                  <a:pt x="90488" y="118824"/>
                  <a:pt x="75932" y="133350"/>
                  <a:pt x="58013" y="133350"/>
                </a:cubicBezTo>
                <a:lnTo>
                  <a:pt x="54769" y="133350"/>
                </a:lnTo>
                <a:lnTo>
                  <a:pt x="54769" y="145256"/>
                </a:lnTo>
                <a:cubicBezTo>
                  <a:pt x="54769" y="149215"/>
                  <a:pt x="51584" y="152400"/>
                  <a:pt x="47625" y="152400"/>
                </a:cubicBezTo>
                <a:cubicBezTo>
                  <a:pt x="43666" y="152400"/>
                  <a:pt x="40481" y="149215"/>
                  <a:pt x="40481" y="145256"/>
                </a:cubicBezTo>
                <a:lnTo>
                  <a:pt x="40481" y="133350"/>
                </a:lnTo>
                <a:lnTo>
                  <a:pt x="19050" y="133350"/>
                </a:lnTo>
                <a:cubicBezTo>
                  <a:pt x="13781" y="133350"/>
                  <a:pt x="9525" y="129094"/>
                  <a:pt x="9525" y="123825"/>
                </a:cubicBezTo>
                <a:cubicBezTo>
                  <a:pt x="9525" y="118556"/>
                  <a:pt x="13781" y="114300"/>
                  <a:pt x="19050" y="114300"/>
                </a:cubicBezTo>
                <a:lnTo>
                  <a:pt x="58013" y="114300"/>
                </a:lnTo>
                <a:cubicBezTo>
                  <a:pt x="65425" y="114300"/>
                  <a:pt x="71438" y="108287"/>
                  <a:pt x="71438" y="100876"/>
                </a:cubicBezTo>
                <a:cubicBezTo>
                  <a:pt x="71438" y="94178"/>
                  <a:pt x="66526" y="88523"/>
                  <a:pt x="59918" y="87570"/>
                </a:cubicBezTo>
                <a:lnTo>
                  <a:pt x="32653" y="83671"/>
                </a:lnTo>
                <a:cubicBezTo>
                  <a:pt x="16639" y="81409"/>
                  <a:pt x="4763" y="67687"/>
                  <a:pt x="4763" y="51524"/>
                </a:cubicBezTo>
                <a:cubicBezTo>
                  <a:pt x="4763" y="33605"/>
                  <a:pt x="19318" y="19050"/>
                  <a:pt x="37237" y="19050"/>
                </a:cubicBezTo>
                <a:lnTo>
                  <a:pt x="40481" y="19050"/>
                </a:lnTo>
                <a:lnTo>
                  <a:pt x="40481" y="7144"/>
                </a:lnTo>
                <a:close/>
              </a:path>
            </a:pathLst>
          </a:custGeom>
          <a:solidFill>
            <a:srgbClr val="6366F1"/>
          </a:solidFill>
          <a:ln/>
        </p:spPr>
      </p:sp>
      <p:sp>
        <p:nvSpPr>
          <p:cNvPr id="26" name="Text 24"/>
          <p:cNvSpPr/>
          <p:nvPr/>
        </p:nvSpPr>
        <p:spPr>
          <a:xfrm>
            <a:off x="807720" y="4975859"/>
            <a:ext cx="48958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More Investment:</a:t>
            </a:r>
            <a:pPr>
              <a:lnSpc>
                <a:spcPct val="130000"/>
              </a:lnSpc>
            </a:pPr>
            <a:r>
              <a:rPr lang="en-US" sz="1200" dirty="0">
                <a:solidFill>
                  <a:srgbClr val="EFEFEF"/>
                </a:solidFill>
                <a:latin typeface="Liter" pitchFamily="34" charset="0"/>
                <a:ea typeface="Liter" pitchFamily="34" charset="-122"/>
                <a:cs typeface="Liter" pitchFamily="34" charset="-120"/>
              </a:rPr>
              <a:t> Companies like Google and Microsoft invested billions</a:t>
            </a:r>
            <a:endParaRPr lang="en-US" sz="1600" dirty="0"/>
          </a:p>
        </p:txBody>
      </p:sp>
      <p:sp>
        <p:nvSpPr>
          <p:cNvPr id="27" name="Shape 25"/>
          <p:cNvSpPr/>
          <p:nvPr/>
        </p:nvSpPr>
        <p:spPr>
          <a:xfrm>
            <a:off x="7303770" y="1108710"/>
            <a:ext cx="4503420" cy="1798320"/>
          </a:xfrm>
          <a:prstGeom prst="roundRect">
            <a:avLst>
              <a:gd name="adj" fmla="val 6356"/>
            </a:avLst>
          </a:prstGeom>
          <a:gradFill rotWithShape="1" flip="none">
            <a:gsLst>
              <a:gs pos="0">
                <a:srgbClr val="6366F1">
                  <a:alpha val="20000"/>
                </a:srgbClr>
              </a:gs>
              <a:gs pos="100000">
                <a:srgbClr val="6366F1">
                  <a:alpha val="5000"/>
                </a:srgbClr>
              </a:gs>
            </a:gsLst>
            <a:lin ang="2700000" scaled="1"/>
          </a:gradFill>
          <a:ln w="10160">
            <a:solidFill>
              <a:srgbClr val="6366F1"/>
            </a:solidFill>
            <a:prstDash val="solid"/>
          </a:ln>
        </p:spPr>
      </p:sp>
      <p:sp>
        <p:nvSpPr>
          <p:cNvPr id="28" name="Shape 26"/>
          <p:cNvSpPr/>
          <p:nvPr/>
        </p:nvSpPr>
        <p:spPr>
          <a:xfrm>
            <a:off x="7469505" y="1264923"/>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6366F1"/>
          </a:solidFill>
          <a:ln/>
        </p:spPr>
      </p:sp>
      <p:sp>
        <p:nvSpPr>
          <p:cNvPr id="29" name="Text 27"/>
          <p:cNvSpPr/>
          <p:nvPr/>
        </p:nvSpPr>
        <p:spPr>
          <a:xfrm>
            <a:off x="7736205" y="1226823"/>
            <a:ext cx="1809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Real-World Example</a:t>
            </a:r>
            <a:endParaRPr lang="en-US" sz="1600" dirty="0"/>
          </a:p>
        </p:txBody>
      </p:sp>
      <p:sp>
        <p:nvSpPr>
          <p:cNvPr id="30" name="Shape 28"/>
          <p:cNvSpPr/>
          <p:nvPr/>
        </p:nvSpPr>
        <p:spPr>
          <a:xfrm>
            <a:off x="7421880" y="1569723"/>
            <a:ext cx="4267200" cy="1219200"/>
          </a:xfrm>
          <a:prstGeom prst="roundRect">
            <a:avLst>
              <a:gd name="adj" fmla="val 6250"/>
            </a:avLst>
          </a:prstGeom>
          <a:solidFill>
            <a:srgbClr val="191919"/>
          </a:solidFill>
          <a:ln/>
        </p:spPr>
      </p:sp>
      <p:sp>
        <p:nvSpPr>
          <p:cNvPr id="31" name="Text 29"/>
          <p:cNvSpPr/>
          <p:nvPr/>
        </p:nvSpPr>
        <p:spPr>
          <a:xfrm>
            <a:off x="7536180" y="1684023"/>
            <a:ext cx="4124325" cy="266700"/>
          </a:xfrm>
          <a:prstGeom prst="rect">
            <a:avLst/>
          </a:prstGeom>
          <a:noFill/>
          <a:ln/>
        </p:spPr>
        <p:txBody>
          <a:bodyPr wrap="square" lIns="0" tIns="0" rIns="0" bIns="0" rtlCol="0" anchor="ctr"/>
          <a:lstStyle/>
          <a:p>
            <a:pPr>
              <a:lnSpc>
                <a:spcPct val="130000"/>
              </a:lnSpc>
            </a:pPr>
            <a:r>
              <a:rPr lang="en-US" sz="1350" b="1" dirty="0">
                <a:solidFill>
                  <a:srgbClr val="6366F1"/>
                </a:solidFill>
                <a:latin typeface="Liter" pitchFamily="34" charset="0"/>
                <a:ea typeface="Liter" pitchFamily="34" charset="-122"/>
                <a:cs typeface="Liter" pitchFamily="34" charset="-120"/>
              </a:rPr>
              <a:t>The Phoenix Story</a:t>
            </a:r>
            <a:endParaRPr lang="en-US" sz="1600" dirty="0"/>
          </a:p>
        </p:txBody>
      </p:sp>
      <p:sp>
        <p:nvSpPr>
          <p:cNvPr id="32" name="Text 30"/>
          <p:cNvSpPr/>
          <p:nvPr/>
        </p:nvSpPr>
        <p:spPr>
          <a:xfrm>
            <a:off x="7536180" y="1988823"/>
            <a:ext cx="41148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Just like a phoenix rises from ashes, AI kept coming back stronger. Each winter taught scientists valuable lessons about what works and what doesn't.</a:t>
            </a:r>
            <a:endParaRPr lang="en-US" sz="1600" dirty="0"/>
          </a:p>
        </p:txBody>
      </p:sp>
      <p:sp>
        <p:nvSpPr>
          <p:cNvPr id="33" name="Shape 31"/>
          <p:cNvSpPr/>
          <p:nvPr/>
        </p:nvSpPr>
        <p:spPr>
          <a:xfrm>
            <a:off x="7303770" y="2990851"/>
            <a:ext cx="4503420" cy="1264920"/>
          </a:xfrm>
          <a:prstGeom prst="roundRect">
            <a:avLst>
              <a:gd name="adj" fmla="val 9036"/>
            </a:avLst>
          </a:prstGeom>
          <a:solidFill>
            <a:srgbClr val="262626"/>
          </a:solidFill>
          <a:ln w="10160">
            <a:solidFill>
              <a:srgbClr val="333333"/>
            </a:solidFill>
            <a:prstDash val="solid"/>
          </a:ln>
        </p:spPr>
      </p:sp>
      <p:sp>
        <p:nvSpPr>
          <p:cNvPr id="34" name="Text 32"/>
          <p:cNvSpPr/>
          <p:nvPr/>
        </p:nvSpPr>
        <p:spPr>
          <a:xfrm>
            <a:off x="7421880" y="3108959"/>
            <a:ext cx="43529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 Simple Explanation</a:t>
            </a:r>
            <a:endParaRPr lang="en-US" sz="1600" dirty="0"/>
          </a:p>
        </p:txBody>
      </p:sp>
      <p:sp>
        <p:nvSpPr>
          <p:cNvPr id="35" name="Text 33"/>
          <p:cNvSpPr/>
          <p:nvPr/>
        </p:nvSpPr>
        <p:spPr>
          <a:xfrm>
            <a:off x="7421880" y="3451859"/>
            <a:ext cx="43434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Think of AI winters like hibernation. Bears sleep in winter but wake up stronger in spring. AI did the same—rested, learned, and came back with better technology!</a:t>
            </a:r>
            <a:endParaRPr lang="en-US" sz="1600" dirty="0"/>
          </a:p>
        </p:txBody>
      </p:sp>
      <p:sp>
        <p:nvSpPr>
          <p:cNvPr id="36" name="Shape 34"/>
          <p:cNvSpPr/>
          <p:nvPr/>
        </p:nvSpPr>
        <p:spPr>
          <a:xfrm>
            <a:off x="7303770" y="4339592"/>
            <a:ext cx="4503420" cy="2103120"/>
          </a:xfrm>
          <a:prstGeom prst="roundRect">
            <a:avLst>
              <a:gd name="adj" fmla="val 5435"/>
            </a:avLst>
          </a:prstGeom>
          <a:solidFill>
            <a:srgbClr val="262626"/>
          </a:solidFill>
          <a:ln w="10160">
            <a:solidFill>
              <a:srgbClr val="333333"/>
            </a:solidFill>
            <a:prstDash val="solid"/>
          </a:ln>
        </p:spPr>
      </p:sp>
      <p:sp>
        <p:nvSpPr>
          <p:cNvPr id="37" name="Shape 35"/>
          <p:cNvSpPr/>
          <p:nvPr/>
        </p:nvSpPr>
        <p:spPr>
          <a:xfrm>
            <a:off x="7456408" y="4505325"/>
            <a:ext cx="150019" cy="171450"/>
          </a:xfrm>
          <a:custGeom>
            <a:avLst/>
            <a:gdLst/>
            <a:ahLst/>
            <a:cxnLst/>
            <a:rect l="l" t="t" r="r" b="b"/>
            <a:pathLst>
              <a:path w="150019" h="171450">
                <a:moveTo>
                  <a:pt x="21431" y="10716"/>
                </a:moveTo>
                <a:cubicBezTo>
                  <a:pt x="9611" y="10716"/>
                  <a:pt x="0" y="20326"/>
                  <a:pt x="0" y="32147"/>
                </a:cubicBezTo>
                <a:lnTo>
                  <a:pt x="0" y="139303"/>
                </a:lnTo>
                <a:cubicBezTo>
                  <a:pt x="0" y="151124"/>
                  <a:pt x="9611" y="160734"/>
                  <a:pt x="21431" y="160734"/>
                </a:cubicBezTo>
                <a:lnTo>
                  <a:pt x="128588" y="160734"/>
                </a:lnTo>
                <a:cubicBezTo>
                  <a:pt x="140408" y="160734"/>
                  <a:pt x="150019" y="151124"/>
                  <a:pt x="150019" y="139303"/>
                </a:cubicBezTo>
                <a:lnTo>
                  <a:pt x="150019" y="32147"/>
                </a:lnTo>
                <a:cubicBezTo>
                  <a:pt x="150019" y="20326"/>
                  <a:pt x="140408" y="10716"/>
                  <a:pt x="128588" y="10716"/>
                </a:cubicBezTo>
                <a:lnTo>
                  <a:pt x="21431" y="10716"/>
                </a:lnTo>
                <a:close/>
                <a:moveTo>
                  <a:pt x="42863" y="37505"/>
                </a:moveTo>
                <a:cubicBezTo>
                  <a:pt x="51734" y="37505"/>
                  <a:pt x="58936" y="44707"/>
                  <a:pt x="58936" y="53578"/>
                </a:cubicBezTo>
                <a:cubicBezTo>
                  <a:pt x="58936" y="62449"/>
                  <a:pt x="51734" y="69652"/>
                  <a:pt x="42863" y="69652"/>
                </a:cubicBezTo>
                <a:cubicBezTo>
                  <a:pt x="33991" y="69652"/>
                  <a:pt x="26789" y="62449"/>
                  <a:pt x="26789" y="53578"/>
                </a:cubicBezTo>
                <a:cubicBezTo>
                  <a:pt x="26789" y="44707"/>
                  <a:pt x="33991" y="37505"/>
                  <a:pt x="42863" y="37505"/>
                </a:cubicBezTo>
                <a:close/>
                <a:moveTo>
                  <a:pt x="91083" y="75009"/>
                </a:moveTo>
                <a:cubicBezTo>
                  <a:pt x="93896" y="75009"/>
                  <a:pt x="96474" y="76483"/>
                  <a:pt x="97948" y="78860"/>
                </a:cubicBezTo>
                <a:lnTo>
                  <a:pt x="127415" y="127081"/>
                </a:lnTo>
                <a:cubicBezTo>
                  <a:pt x="128922" y="129559"/>
                  <a:pt x="128989" y="132673"/>
                  <a:pt x="127583" y="135218"/>
                </a:cubicBezTo>
                <a:cubicBezTo>
                  <a:pt x="126176" y="137763"/>
                  <a:pt x="123464" y="139303"/>
                  <a:pt x="120551" y="139303"/>
                </a:cubicBezTo>
                <a:lnTo>
                  <a:pt x="29468" y="139303"/>
                </a:lnTo>
                <a:cubicBezTo>
                  <a:pt x="26488" y="139303"/>
                  <a:pt x="23708" y="137629"/>
                  <a:pt x="22335" y="134983"/>
                </a:cubicBezTo>
                <a:cubicBezTo>
                  <a:pt x="20962" y="132338"/>
                  <a:pt x="21163" y="129123"/>
                  <a:pt x="22871" y="126679"/>
                </a:cubicBezTo>
                <a:lnTo>
                  <a:pt x="41624" y="99890"/>
                </a:lnTo>
                <a:cubicBezTo>
                  <a:pt x="43130" y="97747"/>
                  <a:pt x="45575" y="96474"/>
                  <a:pt x="48220" y="96474"/>
                </a:cubicBezTo>
                <a:cubicBezTo>
                  <a:pt x="50866" y="96474"/>
                  <a:pt x="53310" y="97747"/>
                  <a:pt x="54817" y="99890"/>
                </a:cubicBezTo>
                <a:lnTo>
                  <a:pt x="63658" y="112548"/>
                </a:lnTo>
                <a:lnTo>
                  <a:pt x="84218" y="78894"/>
                </a:lnTo>
                <a:cubicBezTo>
                  <a:pt x="85692" y="76516"/>
                  <a:pt x="88270" y="75043"/>
                  <a:pt x="91083" y="75043"/>
                </a:cubicBezTo>
                <a:close/>
              </a:path>
            </a:pathLst>
          </a:custGeom>
          <a:solidFill>
            <a:srgbClr val="6366F1"/>
          </a:solidFill>
          <a:ln/>
        </p:spPr>
      </p:sp>
      <p:sp>
        <p:nvSpPr>
          <p:cNvPr id="38" name="Text 36"/>
          <p:cNvSpPr/>
          <p:nvPr/>
        </p:nvSpPr>
        <p:spPr>
          <a:xfrm>
            <a:off x="7640955" y="4457700"/>
            <a:ext cx="41338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Visual</a:t>
            </a:r>
            <a:endParaRPr lang="en-US" sz="1600" dirty="0"/>
          </a:p>
        </p:txBody>
      </p:sp>
      <p:sp>
        <p:nvSpPr>
          <p:cNvPr id="39" name="Shape 37"/>
          <p:cNvSpPr/>
          <p:nvPr/>
        </p:nvSpPr>
        <p:spPr>
          <a:xfrm>
            <a:off x="7421880" y="4800600"/>
            <a:ext cx="4267200" cy="838200"/>
          </a:xfrm>
          <a:prstGeom prst="roundRect">
            <a:avLst>
              <a:gd name="adj" fmla="val 9091"/>
            </a:avLst>
          </a:prstGeom>
          <a:solidFill>
            <a:srgbClr val="191919"/>
          </a:solidFill>
          <a:ln/>
        </p:spPr>
      </p:sp>
      <p:sp>
        <p:nvSpPr>
          <p:cNvPr id="40" name="Text 38"/>
          <p:cNvSpPr/>
          <p:nvPr/>
        </p:nvSpPr>
        <p:spPr>
          <a:xfrm>
            <a:off x="7498080" y="48768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Diagram:</a:t>
            </a:r>
            <a:endParaRPr lang="en-US" sz="1600" dirty="0"/>
          </a:p>
        </p:txBody>
      </p:sp>
      <p:sp>
        <p:nvSpPr>
          <p:cNvPr id="41" name="Text 39"/>
          <p:cNvSpPr/>
          <p:nvPr/>
        </p:nvSpPr>
        <p:spPr>
          <a:xfrm>
            <a:off x="7498080" y="5105400"/>
            <a:ext cx="4191000"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Timeline: Boom → Winter → Boom → Winter → Current Boom</a:t>
            </a:r>
            <a:endParaRPr lang="en-US" sz="1600" dirty="0"/>
          </a:p>
        </p:txBody>
      </p:sp>
      <p:sp>
        <p:nvSpPr>
          <p:cNvPr id="42" name="Shape 40"/>
          <p:cNvSpPr/>
          <p:nvPr/>
        </p:nvSpPr>
        <p:spPr>
          <a:xfrm>
            <a:off x="7421880" y="5715000"/>
            <a:ext cx="4267200" cy="609600"/>
          </a:xfrm>
          <a:prstGeom prst="roundRect">
            <a:avLst>
              <a:gd name="adj" fmla="val 12500"/>
            </a:avLst>
          </a:prstGeom>
          <a:solidFill>
            <a:srgbClr val="191919"/>
          </a:solidFill>
          <a:ln/>
        </p:spPr>
      </p:sp>
      <p:sp>
        <p:nvSpPr>
          <p:cNvPr id="43" name="Text 41"/>
          <p:cNvSpPr/>
          <p:nvPr/>
        </p:nvSpPr>
        <p:spPr>
          <a:xfrm>
            <a:off x="7498080" y="57912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Image:</a:t>
            </a:r>
            <a:endParaRPr lang="en-US" sz="1600" dirty="0"/>
          </a:p>
        </p:txBody>
      </p:sp>
      <p:sp>
        <p:nvSpPr>
          <p:cNvPr id="44" name="Text 42"/>
          <p:cNvSpPr/>
          <p:nvPr/>
        </p:nvSpPr>
        <p:spPr>
          <a:xfrm>
            <a:off x="7498080" y="60198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Graph showing AI progress over decades</a:t>
            </a:r>
            <a:endParaRPr lang="en-US" sz="16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91919"/>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6366F1">
              <a:alpha val="20000"/>
            </a:srgbClr>
          </a:solidFill>
          <a:ln/>
        </p:spPr>
      </p:sp>
      <p:sp>
        <p:nvSpPr>
          <p:cNvPr id="3" name="Text 1"/>
          <p:cNvSpPr/>
          <p:nvPr/>
        </p:nvSpPr>
        <p:spPr>
          <a:xfrm>
            <a:off x="491847" y="533400"/>
            <a:ext cx="333375" cy="266700"/>
          </a:xfrm>
          <a:prstGeom prst="rect">
            <a:avLst/>
          </a:prstGeom>
          <a:noFill/>
          <a:ln/>
        </p:spPr>
        <p:txBody>
          <a:bodyPr wrap="square" lIns="0" tIns="0" rIns="0" bIns="0" rtlCol="0" anchor="ctr"/>
          <a:lstStyle/>
          <a:p>
            <a:pPr>
              <a:lnSpc>
                <a:spcPct val="120000"/>
              </a:lnSpc>
            </a:pPr>
            <a:r>
              <a:rPr lang="en-US" sz="1500" b="1" dirty="0">
                <a:solidFill>
                  <a:srgbClr val="6366F1"/>
                </a:solidFill>
                <a:latin typeface="Liter" pitchFamily="34" charset="0"/>
                <a:ea typeface="Liter" pitchFamily="34" charset="-122"/>
                <a:cs typeface="Liter" pitchFamily="34" charset="-120"/>
              </a:rPr>
              <a:t>09</a:t>
            </a:r>
            <a:endParaRPr lang="en-US" sz="1600" dirty="0"/>
          </a:p>
        </p:txBody>
      </p:sp>
      <p:sp>
        <p:nvSpPr>
          <p:cNvPr id="4" name="Text 2"/>
          <p:cNvSpPr/>
          <p:nvPr/>
        </p:nvSpPr>
        <p:spPr>
          <a:xfrm>
            <a:off x="952500" y="381000"/>
            <a:ext cx="6734175" cy="190500"/>
          </a:xfrm>
          <a:prstGeom prst="rect">
            <a:avLst/>
          </a:prstGeom>
          <a:noFill/>
          <a:ln/>
        </p:spPr>
        <p:txBody>
          <a:bodyPr wrap="square" lIns="0" tIns="0" rIns="0" bIns="0" rtlCol="0" anchor="ctr"/>
          <a:lstStyle/>
          <a:p>
            <a:pPr>
              <a:lnSpc>
                <a:spcPct val="120000"/>
              </a:lnSpc>
            </a:pPr>
            <a:r>
              <a:rPr lang="en-US" sz="1050" b="1" spc="53" kern="0" dirty="0">
                <a:solidFill>
                  <a:srgbClr val="6366F1"/>
                </a:solidFill>
                <a:latin typeface="Liter" pitchFamily="34" charset="0"/>
                <a:ea typeface="Liter" pitchFamily="34" charset="-122"/>
                <a:cs typeface="Liter" pitchFamily="34" charset="-120"/>
              </a:rPr>
              <a:t>History of AI</a:t>
            </a:r>
            <a:endParaRPr lang="en-US" sz="1600" dirty="0"/>
          </a:p>
        </p:txBody>
      </p:sp>
      <p:sp>
        <p:nvSpPr>
          <p:cNvPr id="5" name="Text 3"/>
          <p:cNvSpPr/>
          <p:nvPr/>
        </p:nvSpPr>
        <p:spPr>
          <a:xfrm>
            <a:off x="952500" y="571500"/>
            <a:ext cx="683895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Modern AI Era – From Deep Blue to ChatGPT</a:t>
            </a:r>
            <a:endParaRPr lang="en-US" sz="1600" dirty="0"/>
          </a:p>
        </p:txBody>
      </p:sp>
      <p:sp>
        <p:nvSpPr>
          <p:cNvPr id="6" name="Shape 4"/>
          <p:cNvSpPr/>
          <p:nvPr/>
        </p:nvSpPr>
        <p:spPr>
          <a:xfrm>
            <a:off x="384810" y="1108710"/>
            <a:ext cx="5646420" cy="1312545"/>
          </a:xfrm>
          <a:prstGeom prst="roundRect">
            <a:avLst>
              <a:gd name="adj" fmla="val 8708"/>
            </a:avLst>
          </a:prstGeom>
          <a:solidFill>
            <a:srgbClr val="262626"/>
          </a:solidFill>
          <a:ln w="10160">
            <a:solidFill>
              <a:srgbClr val="333333"/>
            </a:solidFill>
            <a:prstDash val="solid"/>
          </a:ln>
        </p:spPr>
      </p:sp>
      <p:sp>
        <p:nvSpPr>
          <p:cNvPr id="7" name="Shape 5"/>
          <p:cNvSpPr/>
          <p:nvPr/>
        </p:nvSpPr>
        <p:spPr>
          <a:xfrm>
            <a:off x="502920" y="1226823"/>
            <a:ext cx="381000" cy="381000"/>
          </a:xfrm>
          <a:prstGeom prst="roundRect">
            <a:avLst>
              <a:gd name="adj" fmla="val 20000"/>
            </a:avLst>
          </a:prstGeom>
          <a:solidFill>
            <a:srgbClr val="2B7FFF">
              <a:alpha val="20000"/>
            </a:srgbClr>
          </a:solidFill>
          <a:ln/>
        </p:spPr>
      </p:sp>
      <p:sp>
        <p:nvSpPr>
          <p:cNvPr id="8" name="Text 6"/>
          <p:cNvSpPr/>
          <p:nvPr/>
        </p:nvSpPr>
        <p:spPr>
          <a:xfrm>
            <a:off x="532686" y="1303023"/>
            <a:ext cx="400050" cy="228600"/>
          </a:xfrm>
          <a:prstGeom prst="rect">
            <a:avLst/>
          </a:prstGeom>
          <a:noFill/>
          <a:ln/>
        </p:spPr>
        <p:txBody>
          <a:bodyPr wrap="square" lIns="0" tIns="0" rIns="0" bIns="0" rtlCol="0" anchor="ctr"/>
          <a:lstStyle/>
          <a:p>
            <a:pPr>
              <a:lnSpc>
                <a:spcPct val="130000"/>
              </a:lnSpc>
            </a:pPr>
            <a:r>
              <a:rPr lang="en-US" sz="1200" b="1" dirty="0">
                <a:solidFill>
                  <a:srgbClr val="2B7FFF"/>
                </a:solidFill>
                <a:latin typeface="Liter" pitchFamily="34" charset="0"/>
                <a:ea typeface="Liter" pitchFamily="34" charset="-122"/>
                <a:cs typeface="Liter" pitchFamily="34" charset="-120"/>
              </a:rPr>
              <a:t>1997</a:t>
            </a:r>
            <a:endParaRPr lang="en-US" sz="1600" dirty="0"/>
          </a:p>
        </p:txBody>
      </p:sp>
      <p:sp>
        <p:nvSpPr>
          <p:cNvPr id="9" name="Text 7"/>
          <p:cNvSpPr/>
          <p:nvPr/>
        </p:nvSpPr>
        <p:spPr>
          <a:xfrm>
            <a:off x="960120" y="1283973"/>
            <a:ext cx="262890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Deep Blue Beats Chess Champion</a:t>
            </a:r>
            <a:endParaRPr lang="en-US" sz="1600" dirty="0"/>
          </a:p>
        </p:txBody>
      </p:sp>
      <p:sp>
        <p:nvSpPr>
          <p:cNvPr id="10" name="Text 8"/>
          <p:cNvSpPr/>
          <p:nvPr/>
        </p:nvSpPr>
        <p:spPr>
          <a:xfrm>
            <a:off x="502920" y="1684023"/>
            <a:ext cx="5486400"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IBM's Deep Blue defeated world chess champion Garry Kasparov. It could evaluate 200 million chess positions per second!</a:t>
            </a:r>
            <a:endParaRPr lang="en-US" sz="1600" dirty="0"/>
          </a:p>
        </p:txBody>
      </p:sp>
      <p:sp>
        <p:nvSpPr>
          <p:cNvPr id="11" name="Shape 9"/>
          <p:cNvSpPr/>
          <p:nvPr/>
        </p:nvSpPr>
        <p:spPr>
          <a:xfrm>
            <a:off x="6156960" y="1108710"/>
            <a:ext cx="5646420" cy="1312545"/>
          </a:xfrm>
          <a:prstGeom prst="roundRect">
            <a:avLst>
              <a:gd name="adj" fmla="val 8708"/>
            </a:avLst>
          </a:prstGeom>
          <a:solidFill>
            <a:srgbClr val="262626"/>
          </a:solidFill>
          <a:ln w="10160">
            <a:solidFill>
              <a:srgbClr val="333333"/>
            </a:solidFill>
            <a:prstDash val="solid"/>
          </a:ln>
        </p:spPr>
      </p:sp>
      <p:sp>
        <p:nvSpPr>
          <p:cNvPr id="12" name="Shape 10"/>
          <p:cNvSpPr/>
          <p:nvPr/>
        </p:nvSpPr>
        <p:spPr>
          <a:xfrm>
            <a:off x="6275070" y="1226823"/>
            <a:ext cx="381000" cy="381000"/>
          </a:xfrm>
          <a:prstGeom prst="roundRect">
            <a:avLst>
              <a:gd name="adj" fmla="val 20000"/>
            </a:avLst>
          </a:prstGeom>
          <a:solidFill>
            <a:srgbClr val="00C950">
              <a:alpha val="20000"/>
            </a:srgbClr>
          </a:solidFill>
          <a:ln/>
        </p:spPr>
      </p:sp>
      <p:sp>
        <p:nvSpPr>
          <p:cNvPr id="13" name="Text 11"/>
          <p:cNvSpPr/>
          <p:nvPr/>
        </p:nvSpPr>
        <p:spPr>
          <a:xfrm>
            <a:off x="6311622" y="1303023"/>
            <a:ext cx="381000" cy="228600"/>
          </a:xfrm>
          <a:prstGeom prst="rect">
            <a:avLst/>
          </a:prstGeom>
          <a:noFill/>
          <a:ln/>
        </p:spPr>
        <p:txBody>
          <a:bodyPr wrap="square" lIns="0" tIns="0" rIns="0" bIns="0" rtlCol="0" anchor="ctr"/>
          <a:lstStyle/>
          <a:p>
            <a:pPr>
              <a:lnSpc>
                <a:spcPct val="130000"/>
              </a:lnSpc>
            </a:pPr>
            <a:r>
              <a:rPr lang="en-US" sz="1200" b="1" dirty="0">
                <a:solidFill>
                  <a:srgbClr val="00C950"/>
                </a:solidFill>
                <a:latin typeface="Liter" pitchFamily="34" charset="0"/>
                <a:ea typeface="Liter" pitchFamily="34" charset="-122"/>
                <a:cs typeface="Liter" pitchFamily="34" charset="-120"/>
              </a:rPr>
              <a:t>2011</a:t>
            </a:r>
            <a:endParaRPr lang="en-US" sz="1600" dirty="0"/>
          </a:p>
        </p:txBody>
      </p:sp>
      <p:sp>
        <p:nvSpPr>
          <p:cNvPr id="14" name="Text 12"/>
          <p:cNvSpPr/>
          <p:nvPr/>
        </p:nvSpPr>
        <p:spPr>
          <a:xfrm>
            <a:off x="6732270" y="1283973"/>
            <a:ext cx="189547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Watson Wins Jeopardy!</a:t>
            </a:r>
            <a:endParaRPr lang="en-US" sz="1600" dirty="0"/>
          </a:p>
        </p:txBody>
      </p:sp>
      <p:sp>
        <p:nvSpPr>
          <p:cNvPr id="15" name="Text 13"/>
          <p:cNvSpPr/>
          <p:nvPr/>
        </p:nvSpPr>
        <p:spPr>
          <a:xfrm>
            <a:off x="6275070" y="1684023"/>
            <a:ext cx="5486400"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IBM Watson defeated human champions on the quiz show Jeopardy!, understanding complex language and trivia questions.</a:t>
            </a:r>
            <a:endParaRPr lang="en-US" sz="1600" dirty="0"/>
          </a:p>
        </p:txBody>
      </p:sp>
      <p:sp>
        <p:nvSpPr>
          <p:cNvPr id="16" name="Shape 14"/>
          <p:cNvSpPr/>
          <p:nvPr/>
        </p:nvSpPr>
        <p:spPr>
          <a:xfrm>
            <a:off x="384810" y="2538772"/>
            <a:ext cx="5646420" cy="1312545"/>
          </a:xfrm>
          <a:prstGeom prst="roundRect">
            <a:avLst>
              <a:gd name="adj" fmla="val 8708"/>
            </a:avLst>
          </a:prstGeom>
          <a:solidFill>
            <a:srgbClr val="262626"/>
          </a:solidFill>
          <a:ln w="10160">
            <a:solidFill>
              <a:srgbClr val="333333"/>
            </a:solidFill>
            <a:prstDash val="solid"/>
          </a:ln>
        </p:spPr>
      </p:sp>
      <p:sp>
        <p:nvSpPr>
          <p:cNvPr id="17" name="Shape 15"/>
          <p:cNvSpPr/>
          <p:nvPr/>
        </p:nvSpPr>
        <p:spPr>
          <a:xfrm>
            <a:off x="502920" y="2656880"/>
            <a:ext cx="381000" cy="381000"/>
          </a:xfrm>
          <a:prstGeom prst="roundRect">
            <a:avLst>
              <a:gd name="adj" fmla="val 20000"/>
            </a:avLst>
          </a:prstGeom>
          <a:solidFill>
            <a:srgbClr val="AD46FF">
              <a:alpha val="20000"/>
            </a:srgbClr>
          </a:solidFill>
          <a:ln/>
        </p:spPr>
      </p:sp>
      <p:sp>
        <p:nvSpPr>
          <p:cNvPr id="18" name="Text 16"/>
          <p:cNvSpPr/>
          <p:nvPr/>
        </p:nvSpPr>
        <p:spPr>
          <a:xfrm>
            <a:off x="524470" y="2733080"/>
            <a:ext cx="409575" cy="228600"/>
          </a:xfrm>
          <a:prstGeom prst="rect">
            <a:avLst/>
          </a:prstGeom>
          <a:noFill/>
          <a:ln/>
        </p:spPr>
        <p:txBody>
          <a:bodyPr wrap="square" lIns="0" tIns="0" rIns="0" bIns="0" rtlCol="0" anchor="ctr"/>
          <a:lstStyle/>
          <a:p>
            <a:pPr>
              <a:lnSpc>
                <a:spcPct val="130000"/>
              </a:lnSpc>
            </a:pPr>
            <a:r>
              <a:rPr lang="en-US" sz="1200" b="1" dirty="0">
                <a:solidFill>
                  <a:srgbClr val="AD46FF"/>
                </a:solidFill>
                <a:latin typeface="Liter" pitchFamily="34" charset="0"/>
                <a:ea typeface="Liter" pitchFamily="34" charset="-122"/>
                <a:cs typeface="Liter" pitchFamily="34" charset="-120"/>
              </a:rPr>
              <a:t>2016</a:t>
            </a:r>
            <a:endParaRPr lang="en-US" sz="1600" dirty="0"/>
          </a:p>
        </p:txBody>
      </p:sp>
      <p:sp>
        <p:nvSpPr>
          <p:cNvPr id="19" name="Text 17"/>
          <p:cNvSpPr/>
          <p:nvPr/>
        </p:nvSpPr>
        <p:spPr>
          <a:xfrm>
            <a:off x="960120" y="2714030"/>
            <a:ext cx="24193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AlphaGo Defeats Go Champion</a:t>
            </a:r>
            <a:endParaRPr lang="en-US" sz="1600" dirty="0"/>
          </a:p>
        </p:txBody>
      </p:sp>
      <p:sp>
        <p:nvSpPr>
          <p:cNvPr id="20" name="Text 18"/>
          <p:cNvSpPr/>
          <p:nvPr/>
        </p:nvSpPr>
        <p:spPr>
          <a:xfrm>
            <a:off x="502920" y="3114080"/>
            <a:ext cx="5486400"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Google's AlphaGo beat world champion Lee Sedol at Go, a game with more possible moves than atoms in the universe!</a:t>
            </a:r>
            <a:endParaRPr lang="en-US" sz="1600" dirty="0"/>
          </a:p>
        </p:txBody>
      </p:sp>
      <p:sp>
        <p:nvSpPr>
          <p:cNvPr id="21" name="Shape 19"/>
          <p:cNvSpPr/>
          <p:nvPr/>
        </p:nvSpPr>
        <p:spPr>
          <a:xfrm>
            <a:off x="6156960" y="2538772"/>
            <a:ext cx="5646420" cy="1312545"/>
          </a:xfrm>
          <a:prstGeom prst="roundRect">
            <a:avLst>
              <a:gd name="adj" fmla="val 8708"/>
            </a:avLst>
          </a:prstGeom>
          <a:solidFill>
            <a:srgbClr val="262626"/>
          </a:solidFill>
          <a:ln w="10160">
            <a:solidFill>
              <a:srgbClr val="333333"/>
            </a:solidFill>
            <a:prstDash val="solid"/>
          </a:ln>
        </p:spPr>
      </p:sp>
      <p:sp>
        <p:nvSpPr>
          <p:cNvPr id="22" name="Shape 20"/>
          <p:cNvSpPr/>
          <p:nvPr/>
        </p:nvSpPr>
        <p:spPr>
          <a:xfrm>
            <a:off x="6275070" y="2656880"/>
            <a:ext cx="381000" cy="381000"/>
          </a:xfrm>
          <a:prstGeom prst="roundRect">
            <a:avLst>
              <a:gd name="adj" fmla="val 20000"/>
            </a:avLst>
          </a:prstGeom>
          <a:solidFill>
            <a:srgbClr val="6366F1">
              <a:alpha val="20000"/>
            </a:srgbClr>
          </a:solidFill>
          <a:ln/>
        </p:spPr>
      </p:sp>
      <p:sp>
        <p:nvSpPr>
          <p:cNvPr id="23" name="Text 21"/>
          <p:cNvSpPr/>
          <p:nvPr/>
        </p:nvSpPr>
        <p:spPr>
          <a:xfrm>
            <a:off x="6284119" y="2733080"/>
            <a:ext cx="438150" cy="228600"/>
          </a:xfrm>
          <a:prstGeom prst="rect">
            <a:avLst/>
          </a:prstGeom>
          <a:noFill/>
          <a:ln/>
        </p:spPr>
        <p:txBody>
          <a:bodyPr wrap="square" lIns="0" tIns="0" rIns="0" bIns="0" rtlCol="0" anchor="ctr"/>
          <a:lstStyle/>
          <a:p>
            <a:pPr>
              <a:lnSpc>
                <a:spcPct val="130000"/>
              </a:lnSpc>
            </a:pPr>
            <a:r>
              <a:rPr lang="en-US" sz="1200" b="1" dirty="0">
                <a:solidFill>
                  <a:srgbClr val="6366F1"/>
                </a:solidFill>
                <a:latin typeface="Liter" pitchFamily="34" charset="0"/>
                <a:ea typeface="Liter" pitchFamily="34" charset="-122"/>
                <a:cs typeface="Liter" pitchFamily="34" charset="-120"/>
              </a:rPr>
              <a:t>2022</a:t>
            </a:r>
            <a:endParaRPr lang="en-US" sz="1600" dirty="0"/>
          </a:p>
        </p:txBody>
      </p:sp>
      <p:sp>
        <p:nvSpPr>
          <p:cNvPr id="24" name="Text 22"/>
          <p:cNvSpPr/>
          <p:nvPr/>
        </p:nvSpPr>
        <p:spPr>
          <a:xfrm>
            <a:off x="6732270" y="2714030"/>
            <a:ext cx="15716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ChatGPT Goes Viral</a:t>
            </a:r>
            <a:endParaRPr lang="en-US" sz="1600" dirty="0"/>
          </a:p>
        </p:txBody>
      </p:sp>
      <p:sp>
        <p:nvSpPr>
          <p:cNvPr id="25" name="Text 23"/>
          <p:cNvSpPr/>
          <p:nvPr/>
        </p:nvSpPr>
        <p:spPr>
          <a:xfrm>
            <a:off x="6275070" y="3114080"/>
            <a:ext cx="5486400"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OpenAI released ChatGPT, reaching 100 million users in just 2 months—the fastest-growing app in history!</a:t>
            </a:r>
            <a:endParaRPr lang="en-US" sz="1600" dirty="0"/>
          </a:p>
        </p:txBody>
      </p:sp>
      <p:sp>
        <p:nvSpPr>
          <p:cNvPr id="26" name="Shape 24"/>
          <p:cNvSpPr/>
          <p:nvPr/>
        </p:nvSpPr>
        <p:spPr>
          <a:xfrm>
            <a:off x="384810" y="3968828"/>
            <a:ext cx="11418570" cy="1388745"/>
          </a:xfrm>
          <a:prstGeom prst="roundRect">
            <a:avLst>
              <a:gd name="adj" fmla="val 8230"/>
            </a:avLst>
          </a:prstGeom>
          <a:gradFill rotWithShape="1" flip="none">
            <a:gsLst>
              <a:gs pos="0">
                <a:srgbClr val="6366F1">
                  <a:alpha val="20000"/>
                </a:srgbClr>
              </a:gs>
              <a:gs pos="100000">
                <a:srgbClr val="6366F1">
                  <a:alpha val="5000"/>
                </a:srgbClr>
              </a:gs>
            </a:gsLst>
            <a:lin ang="2700000" scaled="1"/>
          </a:gradFill>
          <a:ln w="10160">
            <a:solidFill>
              <a:srgbClr val="6366F1"/>
            </a:solidFill>
            <a:prstDash val="solid"/>
          </a:ln>
        </p:spPr>
      </p:sp>
      <p:sp>
        <p:nvSpPr>
          <p:cNvPr id="27" name="Shape 25"/>
          <p:cNvSpPr/>
          <p:nvPr/>
        </p:nvSpPr>
        <p:spPr>
          <a:xfrm>
            <a:off x="526732" y="4125041"/>
            <a:ext cx="190500" cy="190500"/>
          </a:xfrm>
          <a:custGeom>
            <a:avLst/>
            <a:gdLst/>
            <a:ahLst/>
            <a:cxnLst/>
            <a:rect l="l" t="t" r="r" b="b"/>
            <a:pathLst>
              <a:path w="190500" h="190500">
                <a:moveTo>
                  <a:pt x="47625" y="119063"/>
                </a:moveTo>
                <a:lnTo>
                  <a:pt x="9116" y="119063"/>
                </a:lnTo>
                <a:cubicBezTo>
                  <a:pt x="-149" y="119063"/>
                  <a:pt x="-5842" y="108979"/>
                  <a:pt x="-1079" y="101017"/>
                </a:cubicBezTo>
                <a:lnTo>
                  <a:pt x="18604" y="68200"/>
                </a:lnTo>
                <a:cubicBezTo>
                  <a:pt x="21841" y="62805"/>
                  <a:pt x="27645" y="59531"/>
                  <a:pt x="33933" y="59531"/>
                </a:cubicBezTo>
                <a:lnTo>
                  <a:pt x="69279" y="59531"/>
                </a:lnTo>
                <a:cubicBezTo>
                  <a:pt x="97594" y="11571"/>
                  <a:pt x="139824" y="9153"/>
                  <a:pt x="168064" y="13283"/>
                </a:cubicBezTo>
                <a:cubicBezTo>
                  <a:pt x="172827" y="13990"/>
                  <a:pt x="176547" y="17711"/>
                  <a:pt x="177217" y="22436"/>
                </a:cubicBezTo>
                <a:cubicBezTo>
                  <a:pt x="181347" y="50676"/>
                  <a:pt x="178929" y="92906"/>
                  <a:pt x="130969" y="121221"/>
                </a:cubicBezTo>
                <a:lnTo>
                  <a:pt x="130969" y="156567"/>
                </a:lnTo>
                <a:cubicBezTo>
                  <a:pt x="130969" y="162855"/>
                  <a:pt x="127695" y="168659"/>
                  <a:pt x="122300" y="171896"/>
                </a:cubicBezTo>
                <a:lnTo>
                  <a:pt x="89483" y="191579"/>
                </a:lnTo>
                <a:cubicBezTo>
                  <a:pt x="81558" y="196342"/>
                  <a:pt x="71438" y="190612"/>
                  <a:pt x="71438" y="181384"/>
                </a:cubicBezTo>
                <a:lnTo>
                  <a:pt x="71438" y="142875"/>
                </a:lnTo>
                <a:cubicBezTo>
                  <a:pt x="71438" y="129741"/>
                  <a:pt x="60759" y="119063"/>
                  <a:pt x="47625" y="119063"/>
                </a:cubicBezTo>
                <a:lnTo>
                  <a:pt x="47588" y="119063"/>
                </a:lnTo>
                <a:close/>
                <a:moveTo>
                  <a:pt x="148828" y="59531"/>
                </a:moveTo>
                <a:cubicBezTo>
                  <a:pt x="148828" y="49674"/>
                  <a:pt x="140826" y="41672"/>
                  <a:pt x="130969" y="41672"/>
                </a:cubicBezTo>
                <a:cubicBezTo>
                  <a:pt x="121112" y="41672"/>
                  <a:pt x="113109" y="49674"/>
                  <a:pt x="113109" y="59531"/>
                </a:cubicBezTo>
                <a:cubicBezTo>
                  <a:pt x="113109" y="69388"/>
                  <a:pt x="121112" y="77391"/>
                  <a:pt x="130969" y="77391"/>
                </a:cubicBezTo>
                <a:cubicBezTo>
                  <a:pt x="140826" y="77391"/>
                  <a:pt x="148828" y="69388"/>
                  <a:pt x="148828" y="59531"/>
                </a:cubicBezTo>
                <a:close/>
              </a:path>
            </a:pathLst>
          </a:custGeom>
          <a:solidFill>
            <a:srgbClr val="6366F1"/>
          </a:solidFill>
          <a:ln/>
        </p:spPr>
      </p:sp>
      <p:sp>
        <p:nvSpPr>
          <p:cNvPr id="28" name="Text 26"/>
          <p:cNvSpPr/>
          <p:nvPr/>
        </p:nvSpPr>
        <p:spPr>
          <a:xfrm>
            <a:off x="817245" y="4086941"/>
            <a:ext cx="1990725"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The Speed of Progress</a:t>
            </a:r>
            <a:endParaRPr lang="en-US" sz="1600" dirty="0"/>
          </a:p>
        </p:txBody>
      </p:sp>
      <p:sp>
        <p:nvSpPr>
          <p:cNvPr id="29" name="Shape 27"/>
          <p:cNvSpPr/>
          <p:nvPr/>
        </p:nvSpPr>
        <p:spPr>
          <a:xfrm>
            <a:off x="502920" y="4429841"/>
            <a:ext cx="2714625" cy="647700"/>
          </a:xfrm>
          <a:prstGeom prst="roundRect">
            <a:avLst>
              <a:gd name="adj" fmla="val 11765"/>
            </a:avLst>
          </a:prstGeom>
          <a:solidFill>
            <a:srgbClr val="191919"/>
          </a:solidFill>
          <a:ln/>
        </p:spPr>
      </p:sp>
      <p:sp>
        <p:nvSpPr>
          <p:cNvPr id="30" name="Text 28"/>
          <p:cNvSpPr/>
          <p:nvPr/>
        </p:nvSpPr>
        <p:spPr>
          <a:xfrm>
            <a:off x="521970" y="4506041"/>
            <a:ext cx="2676525" cy="304800"/>
          </a:xfrm>
          <a:prstGeom prst="rect">
            <a:avLst/>
          </a:prstGeom>
          <a:noFill/>
          <a:ln/>
        </p:spPr>
        <p:txBody>
          <a:bodyPr wrap="square" lIns="0" tIns="0" rIns="0" bIns="0" rtlCol="0" anchor="ctr"/>
          <a:lstStyle/>
          <a:p>
            <a:pPr algn="ctr">
              <a:lnSpc>
                <a:spcPct val="110000"/>
              </a:lnSpc>
            </a:pPr>
            <a:r>
              <a:rPr lang="en-US" sz="1800" b="1" dirty="0">
                <a:solidFill>
                  <a:srgbClr val="6366F1"/>
                </a:solidFill>
                <a:latin typeface="Liter" pitchFamily="34" charset="0"/>
                <a:ea typeface="Liter" pitchFamily="34" charset="-122"/>
                <a:cs typeface="Liter" pitchFamily="34" charset="-120"/>
              </a:rPr>
              <a:t>1997</a:t>
            </a:r>
            <a:endParaRPr lang="en-US" sz="1600" dirty="0"/>
          </a:p>
        </p:txBody>
      </p:sp>
      <p:sp>
        <p:nvSpPr>
          <p:cNvPr id="31" name="Text 29"/>
          <p:cNvSpPr/>
          <p:nvPr/>
        </p:nvSpPr>
        <p:spPr>
          <a:xfrm>
            <a:off x="545782" y="4810720"/>
            <a:ext cx="2628900" cy="190500"/>
          </a:xfrm>
          <a:prstGeom prst="rect">
            <a:avLst/>
          </a:prstGeom>
          <a:noFill/>
          <a:ln/>
        </p:spPr>
        <p:txBody>
          <a:bodyPr wrap="square" lIns="0" tIns="0" rIns="0" bIns="0" rtlCol="0" anchor="ctr"/>
          <a:lstStyle/>
          <a:p>
            <a:pPr algn="ctr">
              <a:lnSpc>
                <a:spcPct val="120000"/>
              </a:lnSpc>
            </a:pPr>
            <a:r>
              <a:rPr lang="en-US" sz="1050" dirty="0">
                <a:solidFill>
                  <a:srgbClr val="8F8F8F"/>
                </a:solidFill>
                <a:latin typeface="Liter" pitchFamily="34" charset="0"/>
                <a:ea typeface="Liter" pitchFamily="34" charset="-122"/>
                <a:cs typeface="Liter" pitchFamily="34" charset="-120"/>
              </a:rPr>
              <a:t>Chess mastered</a:t>
            </a:r>
            <a:endParaRPr lang="en-US" sz="1600" dirty="0"/>
          </a:p>
        </p:txBody>
      </p:sp>
      <p:sp>
        <p:nvSpPr>
          <p:cNvPr id="32" name="Shape 30"/>
          <p:cNvSpPr/>
          <p:nvPr/>
        </p:nvSpPr>
        <p:spPr>
          <a:xfrm>
            <a:off x="3328035" y="4429841"/>
            <a:ext cx="2714625" cy="647700"/>
          </a:xfrm>
          <a:prstGeom prst="roundRect">
            <a:avLst>
              <a:gd name="adj" fmla="val 11765"/>
            </a:avLst>
          </a:prstGeom>
          <a:solidFill>
            <a:srgbClr val="191919"/>
          </a:solidFill>
          <a:ln/>
        </p:spPr>
      </p:sp>
      <p:sp>
        <p:nvSpPr>
          <p:cNvPr id="33" name="Text 31"/>
          <p:cNvSpPr/>
          <p:nvPr/>
        </p:nvSpPr>
        <p:spPr>
          <a:xfrm>
            <a:off x="3347085" y="4506041"/>
            <a:ext cx="2676525" cy="304800"/>
          </a:xfrm>
          <a:prstGeom prst="rect">
            <a:avLst/>
          </a:prstGeom>
          <a:noFill/>
          <a:ln/>
        </p:spPr>
        <p:txBody>
          <a:bodyPr wrap="square" lIns="0" tIns="0" rIns="0" bIns="0" rtlCol="0" anchor="ctr"/>
          <a:lstStyle/>
          <a:p>
            <a:pPr algn="ctr">
              <a:lnSpc>
                <a:spcPct val="110000"/>
              </a:lnSpc>
            </a:pPr>
            <a:r>
              <a:rPr lang="en-US" sz="1800" b="1" dirty="0">
                <a:solidFill>
                  <a:srgbClr val="6366F1"/>
                </a:solidFill>
                <a:latin typeface="Liter" pitchFamily="34" charset="0"/>
                <a:ea typeface="Liter" pitchFamily="34" charset="-122"/>
                <a:cs typeface="Liter" pitchFamily="34" charset="-120"/>
              </a:rPr>
              <a:t>2011</a:t>
            </a:r>
            <a:endParaRPr lang="en-US" sz="1600" dirty="0"/>
          </a:p>
        </p:txBody>
      </p:sp>
      <p:sp>
        <p:nvSpPr>
          <p:cNvPr id="34" name="Text 32"/>
          <p:cNvSpPr/>
          <p:nvPr/>
        </p:nvSpPr>
        <p:spPr>
          <a:xfrm>
            <a:off x="3370897" y="4810720"/>
            <a:ext cx="2628900" cy="190500"/>
          </a:xfrm>
          <a:prstGeom prst="rect">
            <a:avLst/>
          </a:prstGeom>
          <a:noFill/>
          <a:ln/>
        </p:spPr>
        <p:txBody>
          <a:bodyPr wrap="square" lIns="0" tIns="0" rIns="0" bIns="0" rtlCol="0" anchor="ctr"/>
          <a:lstStyle/>
          <a:p>
            <a:pPr algn="ctr">
              <a:lnSpc>
                <a:spcPct val="120000"/>
              </a:lnSpc>
            </a:pPr>
            <a:r>
              <a:rPr lang="en-US" sz="1050" dirty="0">
                <a:solidFill>
                  <a:srgbClr val="8F8F8F"/>
                </a:solidFill>
                <a:latin typeface="Liter" pitchFamily="34" charset="0"/>
                <a:ea typeface="Liter" pitchFamily="34" charset="-122"/>
                <a:cs typeface="Liter" pitchFamily="34" charset="-120"/>
              </a:rPr>
              <a:t>Language understood</a:t>
            </a:r>
            <a:endParaRPr lang="en-US" sz="1600" dirty="0"/>
          </a:p>
        </p:txBody>
      </p:sp>
      <p:sp>
        <p:nvSpPr>
          <p:cNvPr id="35" name="Shape 33"/>
          <p:cNvSpPr/>
          <p:nvPr/>
        </p:nvSpPr>
        <p:spPr>
          <a:xfrm>
            <a:off x="6153150" y="4429841"/>
            <a:ext cx="2714625" cy="647700"/>
          </a:xfrm>
          <a:prstGeom prst="roundRect">
            <a:avLst>
              <a:gd name="adj" fmla="val 11765"/>
            </a:avLst>
          </a:prstGeom>
          <a:solidFill>
            <a:srgbClr val="191919"/>
          </a:solidFill>
          <a:ln/>
        </p:spPr>
      </p:sp>
      <p:sp>
        <p:nvSpPr>
          <p:cNvPr id="36" name="Text 34"/>
          <p:cNvSpPr/>
          <p:nvPr/>
        </p:nvSpPr>
        <p:spPr>
          <a:xfrm>
            <a:off x="6172200" y="4506041"/>
            <a:ext cx="2676525" cy="304800"/>
          </a:xfrm>
          <a:prstGeom prst="rect">
            <a:avLst/>
          </a:prstGeom>
          <a:noFill/>
          <a:ln/>
        </p:spPr>
        <p:txBody>
          <a:bodyPr wrap="square" lIns="0" tIns="0" rIns="0" bIns="0" rtlCol="0" anchor="ctr"/>
          <a:lstStyle/>
          <a:p>
            <a:pPr algn="ctr">
              <a:lnSpc>
                <a:spcPct val="110000"/>
              </a:lnSpc>
            </a:pPr>
            <a:r>
              <a:rPr lang="en-US" sz="1800" b="1" dirty="0">
                <a:solidFill>
                  <a:srgbClr val="6366F1"/>
                </a:solidFill>
                <a:latin typeface="Liter" pitchFamily="34" charset="0"/>
                <a:ea typeface="Liter" pitchFamily="34" charset="-122"/>
                <a:cs typeface="Liter" pitchFamily="34" charset="-120"/>
              </a:rPr>
              <a:t>2016</a:t>
            </a:r>
            <a:endParaRPr lang="en-US" sz="1600" dirty="0"/>
          </a:p>
        </p:txBody>
      </p:sp>
      <p:sp>
        <p:nvSpPr>
          <p:cNvPr id="37" name="Text 35"/>
          <p:cNvSpPr/>
          <p:nvPr/>
        </p:nvSpPr>
        <p:spPr>
          <a:xfrm>
            <a:off x="6196013" y="4810720"/>
            <a:ext cx="2628900" cy="190500"/>
          </a:xfrm>
          <a:prstGeom prst="rect">
            <a:avLst/>
          </a:prstGeom>
          <a:noFill/>
          <a:ln/>
        </p:spPr>
        <p:txBody>
          <a:bodyPr wrap="square" lIns="0" tIns="0" rIns="0" bIns="0" rtlCol="0" anchor="ctr"/>
          <a:lstStyle/>
          <a:p>
            <a:pPr algn="ctr">
              <a:lnSpc>
                <a:spcPct val="120000"/>
              </a:lnSpc>
            </a:pPr>
            <a:r>
              <a:rPr lang="en-US" sz="1050" dirty="0">
                <a:solidFill>
                  <a:srgbClr val="8F8F8F"/>
                </a:solidFill>
                <a:latin typeface="Liter" pitchFamily="34" charset="0"/>
                <a:ea typeface="Liter" pitchFamily="34" charset="-122"/>
                <a:cs typeface="Liter" pitchFamily="34" charset="-120"/>
              </a:rPr>
              <a:t>Complex games won</a:t>
            </a:r>
            <a:endParaRPr lang="en-US" sz="1600" dirty="0"/>
          </a:p>
        </p:txBody>
      </p:sp>
      <p:sp>
        <p:nvSpPr>
          <p:cNvPr id="38" name="Shape 36"/>
          <p:cNvSpPr/>
          <p:nvPr/>
        </p:nvSpPr>
        <p:spPr>
          <a:xfrm>
            <a:off x="8978265" y="4429841"/>
            <a:ext cx="2714625" cy="647700"/>
          </a:xfrm>
          <a:prstGeom prst="roundRect">
            <a:avLst>
              <a:gd name="adj" fmla="val 11765"/>
            </a:avLst>
          </a:prstGeom>
          <a:solidFill>
            <a:srgbClr val="191919"/>
          </a:solidFill>
          <a:ln/>
        </p:spPr>
      </p:sp>
      <p:sp>
        <p:nvSpPr>
          <p:cNvPr id="39" name="Text 37"/>
          <p:cNvSpPr/>
          <p:nvPr/>
        </p:nvSpPr>
        <p:spPr>
          <a:xfrm>
            <a:off x="8997315" y="4506041"/>
            <a:ext cx="2676525" cy="304800"/>
          </a:xfrm>
          <a:prstGeom prst="rect">
            <a:avLst/>
          </a:prstGeom>
          <a:noFill/>
          <a:ln/>
        </p:spPr>
        <p:txBody>
          <a:bodyPr wrap="square" lIns="0" tIns="0" rIns="0" bIns="0" rtlCol="0" anchor="ctr"/>
          <a:lstStyle/>
          <a:p>
            <a:pPr algn="ctr">
              <a:lnSpc>
                <a:spcPct val="110000"/>
              </a:lnSpc>
            </a:pPr>
            <a:r>
              <a:rPr lang="en-US" sz="1800" b="1" dirty="0">
                <a:solidFill>
                  <a:srgbClr val="6366F1"/>
                </a:solidFill>
                <a:latin typeface="Liter" pitchFamily="34" charset="0"/>
                <a:ea typeface="Liter" pitchFamily="34" charset="-122"/>
                <a:cs typeface="Liter" pitchFamily="34" charset="-120"/>
              </a:rPr>
              <a:t>2022</a:t>
            </a:r>
            <a:endParaRPr lang="en-US" sz="1600" dirty="0"/>
          </a:p>
        </p:txBody>
      </p:sp>
      <p:sp>
        <p:nvSpPr>
          <p:cNvPr id="40" name="Text 38"/>
          <p:cNvSpPr/>
          <p:nvPr/>
        </p:nvSpPr>
        <p:spPr>
          <a:xfrm>
            <a:off x="9021128" y="4810720"/>
            <a:ext cx="2628900" cy="190500"/>
          </a:xfrm>
          <a:prstGeom prst="rect">
            <a:avLst/>
          </a:prstGeom>
          <a:noFill/>
          <a:ln/>
        </p:spPr>
        <p:txBody>
          <a:bodyPr wrap="square" lIns="0" tIns="0" rIns="0" bIns="0" rtlCol="0" anchor="ctr"/>
          <a:lstStyle/>
          <a:p>
            <a:pPr algn="ctr">
              <a:lnSpc>
                <a:spcPct val="120000"/>
              </a:lnSpc>
            </a:pPr>
            <a:r>
              <a:rPr lang="en-US" sz="1050" dirty="0">
                <a:solidFill>
                  <a:srgbClr val="8F8F8F"/>
                </a:solidFill>
                <a:latin typeface="Liter" pitchFamily="34" charset="0"/>
                <a:ea typeface="Liter" pitchFamily="34" charset="-122"/>
                <a:cs typeface="Liter" pitchFamily="34" charset="-120"/>
              </a:rPr>
              <a:t>Everyone uses AI</a:t>
            </a:r>
            <a:endParaRPr lang="en-US" sz="1600" dirty="0"/>
          </a:p>
        </p:txBody>
      </p:sp>
      <p:sp>
        <p:nvSpPr>
          <p:cNvPr id="41" name="Shape 39"/>
          <p:cNvSpPr/>
          <p:nvPr/>
        </p:nvSpPr>
        <p:spPr>
          <a:xfrm>
            <a:off x="384810" y="5436869"/>
            <a:ext cx="11418570" cy="1036320"/>
          </a:xfrm>
          <a:prstGeom prst="roundRect">
            <a:avLst>
              <a:gd name="adj" fmla="val 11029"/>
            </a:avLst>
          </a:prstGeom>
          <a:solidFill>
            <a:srgbClr val="262626"/>
          </a:solidFill>
          <a:ln w="10160">
            <a:solidFill>
              <a:srgbClr val="333333"/>
            </a:solidFill>
            <a:prstDash val="solid"/>
          </a:ln>
        </p:spPr>
      </p:sp>
      <p:sp>
        <p:nvSpPr>
          <p:cNvPr id="42" name="Text 40"/>
          <p:cNvSpPr/>
          <p:nvPr/>
        </p:nvSpPr>
        <p:spPr>
          <a:xfrm>
            <a:off x="502920" y="5554982"/>
            <a:ext cx="1126807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 Simple Explanation</a:t>
            </a:r>
            <a:endParaRPr lang="en-US" sz="1600" dirty="0"/>
          </a:p>
        </p:txBody>
      </p:sp>
      <p:sp>
        <p:nvSpPr>
          <p:cNvPr id="43" name="Text 41"/>
          <p:cNvSpPr/>
          <p:nvPr/>
        </p:nvSpPr>
        <p:spPr>
          <a:xfrm>
            <a:off x="502920" y="5897882"/>
            <a:ext cx="11258550"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Each milestone showed AI getting closer to human-level intelligence. From chess to conversation, AI went from specialized tasks to general abilities that anyone can use. The future is happening now!</a:t>
            </a:r>
            <a:endParaRPr lang="en-US" sz="16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91919"/>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6366F1">
              <a:alpha val="20000"/>
            </a:srgbClr>
          </a:solidFill>
          <a:ln/>
        </p:spPr>
      </p:sp>
      <p:sp>
        <p:nvSpPr>
          <p:cNvPr id="3" name="Text 1"/>
          <p:cNvSpPr/>
          <p:nvPr/>
        </p:nvSpPr>
        <p:spPr>
          <a:xfrm>
            <a:off x="510659" y="533400"/>
            <a:ext cx="295275" cy="266700"/>
          </a:xfrm>
          <a:prstGeom prst="rect">
            <a:avLst/>
          </a:prstGeom>
          <a:noFill/>
          <a:ln/>
        </p:spPr>
        <p:txBody>
          <a:bodyPr wrap="square" lIns="0" tIns="0" rIns="0" bIns="0" rtlCol="0" anchor="ctr"/>
          <a:lstStyle/>
          <a:p>
            <a:pPr>
              <a:lnSpc>
                <a:spcPct val="120000"/>
              </a:lnSpc>
            </a:pPr>
            <a:r>
              <a:rPr lang="en-US" sz="1500" b="1" dirty="0">
                <a:solidFill>
                  <a:srgbClr val="6366F1"/>
                </a:solidFill>
                <a:latin typeface="Liter" pitchFamily="34" charset="0"/>
                <a:ea typeface="Liter" pitchFamily="34" charset="-122"/>
                <a:cs typeface="Liter" pitchFamily="34" charset="-120"/>
              </a:rPr>
              <a:t>10</a:t>
            </a:r>
            <a:endParaRPr lang="en-US" sz="1600" dirty="0"/>
          </a:p>
        </p:txBody>
      </p:sp>
      <p:sp>
        <p:nvSpPr>
          <p:cNvPr id="4" name="Text 2"/>
          <p:cNvSpPr/>
          <p:nvPr/>
        </p:nvSpPr>
        <p:spPr>
          <a:xfrm>
            <a:off x="952500" y="381000"/>
            <a:ext cx="4286250" cy="190500"/>
          </a:xfrm>
          <a:prstGeom prst="rect">
            <a:avLst/>
          </a:prstGeom>
          <a:noFill/>
          <a:ln/>
        </p:spPr>
        <p:txBody>
          <a:bodyPr wrap="square" lIns="0" tIns="0" rIns="0" bIns="0" rtlCol="0" anchor="ctr"/>
          <a:lstStyle/>
          <a:p>
            <a:pPr>
              <a:lnSpc>
                <a:spcPct val="120000"/>
              </a:lnSpc>
            </a:pPr>
            <a:r>
              <a:rPr lang="en-US" sz="1050" b="1" spc="53" kern="0" dirty="0">
                <a:solidFill>
                  <a:srgbClr val="6366F1"/>
                </a:solidFill>
                <a:latin typeface="Liter" pitchFamily="34" charset="0"/>
                <a:ea typeface="Liter" pitchFamily="34" charset="-122"/>
                <a:cs typeface="Liter" pitchFamily="34" charset="-120"/>
              </a:rPr>
              <a:t>Components of AI</a:t>
            </a:r>
            <a:endParaRPr lang="en-US" sz="1600" dirty="0"/>
          </a:p>
        </p:txBody>
      </p:sp>
      <p:sp>
        <p:nvSpPr>
          <p:cNvPr id="5" name="Text 3"/>
          <p:cNvSpPr/>
          <p:nvPr/>
        </p:nvSpPr>
        <p:spPr>
          <a:xfrm>
            <a:off x="952500" y="571500"/>
            <a:ext cx="4391025"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Five Core Components of AI</a:t>
            </a:r>
            <a:endParaRPr lang="en-US" sz="1600" dirty="0"/>
          </a:p>
        </p:txBody>
      </p:sp>
      <p:sp>
        <p:nvSpPr>
          <p:cNvPr id="6" name="Shape 4"/>
          <p:cNvSpPr/>
          <p:nvPr/>
        </p:nvSpPr>
        <p:spPr>
          <a:xfrm>
            <a:off x="384810" y="1108710"/>
            <a:ext cx="6760845" cy="1007745"/>
          </a:xfrm>
          <a:prstGeom prst="roundRect">
            <a:avLst>
              <a:gd name="adj" fmla="val 11342"/>
            </a:avLst>
          </a:prstGeom>
          <a:solidFill>
            <a:srgbClr val="262626"/>
          </a:solidFill>
          <a:ln w="10160">
            <a:solidFill>
              <a:srgbClr val="333333"/>
            </a:solidFill>
            <a:prstDash val="solid"/>
          </a:ln>
        </p:spPr>
      </p:sp>
      <p:sp>
        <p:nvSpPr>
          <p:cNvPr id="7" name="Shape 5"/>
          <p:cNvSpPr/>
          <p:nvPr/>
        </p:nvSpPr>
        <p:spPr>
          <a:xfrm>
            <a:off x="464820" y="1383032"/>
            <a:ext cx="457200" cy="457200"/>
          </a:xfrm>
          <a:prstGeom prst="roundRect">
            <a:avLst>
              <a:gd name="adj" fmla="val 25000"/>
            </a:avLst>
          </a:prstGeom>
          <a:solidFill>
            <a:srgbClr val="2B7FFF">
              <a:alpha val="20000"/>
            </a:srgbClr>
          </a:solidFill>
          <a:ln/>
        </p:spPr>
      </p:sp>
      <p:sp>
        <p:nvSpPr>
          <p:cNvPr id="8" name="Shape 6"/>
          <p:cNvSpPr/>
          <p:nvPr/>
        </p:nvSpPr>
        <p:spPr>
          <a:xfrm>
            <a:off x="586264" y="1516382"/>
            <a:ext cx="214313" cy="190500"/>
          </a:xfrm>
          <a:custGeom>
            <a:avLst/>
            <a:gdLst/>
            <a:ahLst/>
            <a:cxnLst/>
            <a:rect l="l" t="t" r="r" b="b"/>
            <a:pathLst>
              <a:path w="214313" h="190500">
                <a:moveTo>
                  <a:pt x="17859" y="72851"/>
                </a:moveTo>
                <a:lnTo>
                  <a:pt x="95696" y="104887"/>
                </a:lnTo>
                <a:cubicBezTo>
                  <a:pt x="99343" y="106375"/>
                  <a:pt x="103212" y="107156"/>
                  <a:pt x="107156" y="107156"/>
                </a:cubicBezTo>
                <a:cubicBezTo>
                  <a:pt x="111100" y="107156"/>
                  <a:pt x="114970" y="106375"/>
                  <a:pt x="118616" y="104887"/>
                </a:cubicBezTo>
                <a:lnTo>
                  <a:pt x="208806" y="67754"/>
                </a:lnTo>
                <a:cubicBezTo>
                  <a:pt x="212154" y="66377"/>
                  <a:pt x="214313" y="63140"/>
                  <a:pt x="214313" y="59531"/>
                </a:cubicBezTo>
                <a:cubicBezTo>
                  <a:pt x="214313" y="55922"/>
                  <a:pt x="212154" y="52685"/>
                  <a:pt x="208806" y="51308"/>
                </a:cubicBezTo>
                <a:lnTo>
                  <a:pt x="118616" y="14176"/>
                </a:lnTo>
                <a:cubicBezTo>
                  <a:pt x="114970" y="12688"/>
                  <a:pt x="111100" y="11906"/>
                  <a:pt x="107156" y="11906"/>
                </a:cubicBezTo>
                <a:cubicBezTo>
                  <a:pt x="103212" y="11906"/>
                  <a:pt x="99343" y="12688"/>
                  <a:pt x="95696" y="14176"/>
                </a:cubicBezTo>
                <a:lnTo>
                  <a:pt x="5507" y="51308"/>
                </a:lnTo>
                <a:cubicBezTo>
                  <a:pt x="2158" y="52685"/>
                  <a:pt x="0" y="55922"/>
                  <a:pt x="0" y="59531"/>
                </a:cubicBezTo>
                <a:lnTo>
                  <a:pt x="0" y="169664"/>
                </a:lnTo>
                <a:cubicBezTo>
                  <a:pt x="0" y="174613"/>
                  <a:pt x="3981" y="178594"/>
                  <a:pt x="8930" y="178594"/>
                </a:cubicBezTo>
                <a:cubicBezTo>
                  <a:pt x="13878" y="178594"/>
                  <a:pt x="17859" y="174613"/>
                  <a:pt x="17859" y="169664"/>
                </a:cubicBezTo>
                <a:lnTo>
                  <a:pt x="17859" y="72851"/>
                </a:lnTo>
                <a:close/>
                <a:moveTo>
                  <a:pt x="35719" y="99529"/>
                </a:moveTo>
                <a:lnTo>
                  <a:pt x="35719" y="142875"/>
                </a:lnTo>
                <a:cubicBezTo>
                  <a:pt x="35719" y="162595"/>
                  <a:pt x="67717" y="178594"/>
                  <a:pt x="107156" y="178594"/>
                </a:cubicBezTo>
                <a:cubicBezTo>
                  <a:pt x="146596" y="178594"/>
                  <a:pt x="178594" y="162595"/>
                  <a:pt x="178594" y="142875"/>
                </a:cubicBezTo>
                <a:lnTo>
                  <a:pt x="178594" y="99492"/>
                </a:lnTo>
                <a:lnTo>
                  <a:pt x="125425" y="121407"/>
                </a:lnTo>
                <a:cubicBezTo>
                  <a:pt x="119621" y="123788"/>
                  <a:pt x="113444" y="125016"/>
                  <a:pt x="107156" y="125016"/>
                </a:cubicBezTo>
                <a:cubicBezTo>
                  <a:pt x="100868" y="125016"/>
                  <a:pt x="94692" y="123788"/>
                  <a:pt x="88888" y="121407"/>
                </a:cubicBezTo>
                <a:lnTo>
                  <a:pt x="35719" y="99492"/>
                </a:lnTo>
                <a:close/>
              </a:path>
            </a:pathLst>
          </a:custGeom>
          <a:solidFill>
            <a:srgbClr val="2B7FFF"/>
          </a:solidFill>
          <a:ln/>
        </p:spPr>
      </p:sp>
      <p:sp>
        <p:nvSpPr>
          <p:cNvPr id="9" name="Text 7"/>
          <p:cNvSpPr/>
          <p:nvPr/>
        </p:nvSpPr>
        <p:spPr>
          <a:xfrm>
            <a:off x="1036320" y="1363982"/>
            <a:ext cx="58102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1. Learning</a:t>
            </a:r>
            <a:endParaRPr lang="en-US" sz="1600" dirty="0"/>
          </a:p>
        </p:txBody>
      </p:sp>
      <p:sp>
        <p:nvSpPr>
          <p:cNvPr id="10" name="Text 8"/>
          <p:cNvSpPr/>
          <p:nvPr/>
        </p:nvSpPr>
        <p:spPr>
          <a:xfrm>
            <a:off x="1036320" y="1630682"/>
            <a:ext cx="58007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AI gets smarter by studying data and experience</a:t>
            </a:r>
            <a:endParaRPr lang="en-US" sz="1600" dirty="0"/>
          </a:p>
        </p:txBody>
      </p:sp>
      <p:sp>
        <p:nvSpPr>
          <p:cNvPr id="11" name="Shape 9"/>
          <p:cNvSpPr/>
          <p:nvPr/>
        </p:nvSpPr>
        <p:spPr>
          <a:xfrm>
            <a:off x="6892290" y="1535432"/>
            <a:ext cx="152400" cy="152400"/>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rgbClr val="6366F1"/>
          </a:solidFill>
          <a:ln/>
        </p:spPr>
      </p:sp>
      <p:sp>
        <p:nvSpPr>
          <p:cNvPr id="12" name="Shape 10"/>
          <p:cNvSpPr/>
          <p:nvPr/>
        </p:nvSpPr>
        <p:spPr>
          <a:xfrm>
            <a:off x="384810" y="2198369"/>
            <a:ext cx="6760845" cy="1007745"/>
          </a:xfrm>
          <a:prstGeom prst="roundRect">
            <a:avLst>
              <a:gd name="adj" fmla="val 11342"/>
            </a:avLst>
          </a:prstGeom>
          <a:solidFill>
            <a:srgbClr val="262626"/>
          </a:solidFill>
          <a:ln w="10160">
            <a:solidFill>
              <a:srgbClr val="333333"/>
            </a:solidFill>
            <a:prstDash val="solid"/>
          </a:ln>
        </p:spPr>
      </p:sp>
      <p:sp>
        <p:nvSpPr>
          <p:cNvPr id="13" name="Shape 11"/>
          <p:cNvSpPr/>
          <p:nvPr/>
        </p:nvSpPr>
        <p:spPr>
          <a:xfrm>
            <a:off x="464820" y="2472691"/>
            <a:ext cx="457200" cy="457200"/>
          </a:xfrm>
          <a:prstGeom prst="roundRect">
            <a:avLst>
              <a:gd name="adj" fmla="val 25000"/>
            </a:avLst>
          </a:prstGeom>
          <a:solidFill>
            <a:srgbClr val="00C950">
              <a:alpha val="20000"/>
            </a:srgbClr>
          </a:solidFill>
          <a:ln/>
        </p:spPr>
      </p:sp>
      <p:sp>
        <p:nvSpPr>
          <p:cNvPr id="14" name="Shape 12"/>
          <p:cNvSpPr/>
          <p:nvPr/>
        </p:nvSpPr>
        <p:spPr>
          <a:xfrm>
            <a:off x="598170" y="2606041"/>
            <a:ext cx="190500" cy="190500"/>
          </a:xfrm>
          <a:custGeom>
            <a:avLst/>
            <a:gdLst/>
            <a:ahLst/>
            <a:cxnLst/>
            <a:rect l="l" t="t" r="r" b="b"/>
            <a:pathLst>
              <a:path w="190500" h="190500">
                <a:moveTo>
                  <a:pt x="44648" y="20836"/>
                </a:moveTo>
                <a:cubicBezTo>
                  <a:pt x="44648" y="9339"/>
                  <a:pt x="53987" y="0"/>
                  <a:pt x="65484" y="0"/>
                </a:cubicBezTo>
                <a:lnTo>
                  <a:pt x="74414" y="0"/>
                </a:lnTo>
                <a:cubicBezTo>
                  <a:pt x="81000" y="0"/>
                  <a:pt x="86320" y="5321"/>
                  <a:pt x="86320" y="11906"/>
                </a:cubicBezTo>
                <a:lnTo>
                  <a:pt x="86320" y="178594"/>
                </a:lnTo>
                <a:cubicBezTo>
                  <a:pt x="86320" y="185179"/>
                  <a:pt x="81000" y="190500"/>
                  <a:pt x="74414" y="190500"/>
                </a:cubicBezTo>
                <a:lnTo>
                  <a:pt x="62508" y="190500"/>
                </a:lnTo>
                <a:cubicBezTo>
                  <a:pt x="51420" y="190500"/>
                  <a:pt x="42081" y="182910"/>
                  <a:pt x="39439" y="172641"/>
                </a:cubicBezTo>
                <a:cubicBezTo>
                  <a:pt x="39179" y="172641"/>
                  <a:pt x="38956" y="172641"/>
                  <a:pt x="38695" y="172641"/>
                </a:cubicBezTo>
                <a:cubicBezTo>
                  <a:pt x="22250" y="172641"/>
                  <a:pt x="8930" y="159321"/>
                  <a:pt x="8930" y="142875"/>
                </a:cubicBezTo>
                <a:cubicBezTo>
                  <a:pt x="8930" y="136178"/>
                  <a:pt x="11162" y="130001"/>
                  <a:pt x="14883" y="125016"/>
                </a:cubicBezTo>
                <a:cubicBezTo>
                  <a:pt x="7665" y="119583"/>
                  <a:pt x="2977" y="110951"/>
                  <a:pt x="2977" y="101203"/>
                </a:cubicBezTo>
                <a:cubicBezTo>
                  <a:pt x="2977" y="89706"/>
                  <a:pt x="9525" y="79697"/>
                  <a:pt x="19050" y="74749"/>
                </a:cubicBezTo>
                <a:cubicBezTo>
                  <a:pt x="16408" y="70284"/>
                  <a:pt x="14883" y="65075"/>
                  <a:pt x="14883" y="59531"/>
                </a:cubicBezTo>
                <a:cubicBezTo>
                  <a:pt x="14883" y="43086"/>
                  <a:pt x="28203" y="29766"/>
                  <a:pt x="44648" y="29766"/>
                </a:cubicBezTo>
                <a:lnTo>
                  <a:pt x="44648" y="20836"/>
                </a:lnTo>
                <a:close/>
                <a:moveTo>
                  <a:pt x="145852" y="20836"/>
                </a:moveTo>
                <a:lnTo>
                  <a:pt x="145852" y="29766"/>
                </a:lnTo>
                <a:cubicBezTo>
                  <a:pt x="162297" y="29766"/>
                  <a:pt x="175617" y="43086"/>
                  <a:pt x="175617" y="59531"/>
                </a:cubicBezTo>
                <a:cubicBezTo>
                  <a:pt x="175617" y="65112"/>
                  <a:pt x="174092" y="70321"/>
                  <a:pt x="171450" y="74749"/>
                </a:cubicBezTo>
                <a:cubicBezTo>
                  <a:pt x="181012" y="79697"/>
                  <a:pt x="187523" y="89669"/>
                  <a:pt x="187523" y="101203"/>
                </a:cubicBezTo>
                <a:cubicBezTo>
                  <a:pt x="187523" y="110951"/>
                  <a:pt x="182835" y="119583"/>
                  <a:pt x="175617" y="125016"/>
                </a:cubicBezTo>
                <a:cubicBezTo>
                  <a:pt x="179338" y="130001"/>
                  <a:pt x="181570" y="136178"/>
                  <a:pt x="181570" y="142875"/>
                </a:cubicBezTo>
                <a:cubicBezTo>
                  <a:pt x="181570" y="159321"/>
                  <a:pt x="168250" y="172641"/>
                  <a:pt x="151805" y="172641"/>
                </a:cubicBezTo>
                <a:cubicBezTo>
                  <a:pt x="151544" y="172641"/>
                  <a:pt x="151321" y="172641"/>
                  <a:pt x="151061" y="172641"/>
                </a:cubicBezTo>
                <a:cubicBezTo>
                  <a:pt x="148419" y="182910"/>
                  <a:pt x="139080" y="190500"/>
                  <a:pt x="127992" y="190500"/>
                </a:cubicBezTo>
                <a:lnTo>
                  <a:pt x="116086" y="190500"/>
                </a:lnTo>
                <a:cubicBezTo>
                  <a:pt x="109500" y="190500"/>
                  <a:pt x="104180" y="185179"/>
                  <a:pt x="104180" y="178594"/>
                </a:cubicBezTo>
                <a:lnTo>
                  <a:pt x="104180" y="11906"/>
                </a:lnTo>
                <a:cubicBezTo>
                  <a:pt x="104180" y="5321"/>
                  <a:pt x="109500" y="0"/>
                  <a:pt x="116086" y="0"/>
                </a:cubicBezTo>
                <a:lnTo>
                  <a:pt x="125016" y="0"/>
                </a:lnTo>
                <a:cubicBezTo>
                  <a:pt x="136513" y="0"/>
                  <a:pt x="145852" y="9339"/>
                  <a:pt x="145852" y="20836"/>
                </a:cubicBezTo>
                <a:close/>
              </a:path>
            </a:pathLst>
          </a:custGeom>
          <a:solidFill>
            <a:srgbClr val="00C950"/>
          </a:solidFill>
          <a:ln/>
        </p:spPr>
      </p:sp>
      <p:sp>
        <p:nvSpPr>
          <p:cNvPr id="15" name="Text 13"/>
          <p:cNvSpPr/>
          <p:nvPr/>
        </p:nvSpPr>
        <p:spPr>
          <a:xfrm>
            <a:off x="1036320" y="2453641"/>
            <a:ext cx="58102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2. Reasoning</a:t>
            </a:r>
            <a:endParaRPr lang="en-US" sz="1600" dirty="0"/>
          </a:p>
        </p:txBody>
      </p:sp>
      <p:sp>
        <p:nvSpPr>
          <p:cNvPr id="16" name="Text 14"/>
          <p:cNvSpPr/>
          <p:nvPr/>
        </p:nvSpPr>
        <p:spPr>
          <a:xfrm>
            <a:off x="1036320" y="2720341"/>
            <a:ext cx="58007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AI makes logical decisions using rules and logic</a:t>
            </a:r>
            <a:endParaRPr lang="en-US" sz="1600" dirty="0"/>
          </a:p>
        </p:txBody>
      </p:sp>
      <p:sp>
        <p:nvSpPr>
          <p:cNvPr id="17" name="Shape 15"/>
          <p:cNvSpPr/>
          <p:nvPr/>
        </p:nvSpPr>
        <p:spPr>
          <a:xfrm>
            <a:off x="6892290" y="2625091"/>
            <a:ext cx="152400" cy="152400"/>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rgbClr val="6366F1"/>
          </a:solidFill>
          <a:ln/>
        </p:spPr>
      </p:sp>
      <p:sp>
        <p:nvSpPr>
          <p:cNvPr id="18" name="Shape 16"/>
          <p:cNvSpPr/>
          <p:nvPr/>
        </p:nvSpPr>
        <p:spPr>
          <a:xfrm>
            <a:off x="384810" y="3288033"/>
            <a:ext cx="6760845" cy="1007745"/>
          </a:xfrm>
          <a:prstGeom prst="roundRect">
            <a:avLst>
              <a:gd name="adj" fmla="val 11342"/>
            </a:avLst>
          </a:prstGeom>
          <a:solidFill>
            <a:srgbClr val="262626"/>
          </a:solidFill>
          <a:ln w="10160">
            <a:solidFill>
              <a:srgbClr val="333333"/>
            </a:solidFill>
            <a:prstDash val="solid"/>
          </a:ln>
        </p:spPr>
      </p:sp>
      <p:sp>
        <p:nvSpPr>
          <p:cNvPr id="19" name="Shape 17"/>
          <p:cNvSpPr/>
          <p:nvPr/>
        </p:nvSpPr>
        <p:spPr>
          <a:xfrm>
            <a:off x="464820" y="3562350"/>
            <a:ext cx="457200" cy="457200"/>
          </a:xfrm>
          <a:prstGeom prst="roundRect">
            <a:avLst>
              <a:gd name="adj" fmla="val 25000"/>
            </a:avLst>
          </a:prstGeom>
          <a:solidFill>
            <a:srgbClr val="AD46FF">
              <a:alpha val="20000"/>
            </a:srgbClr>
          </a:solidFill>
          <a:ln/>
        </p:spPr>
      </p:sp>
      <p:sp>
        <p:nvSpPr>
          <p:cNvPr id="20" name="Shape 18"/>
          <p:cNvSpPr/>
          <p:nvPr/>
        </p:nvSpPr>
        <p:spPr>
          <a:xfrm>
            <a:off x="598170" y="3695700"/>
            <a:ext cx="190500" cy="190500"/>
          </a:xfrm>
          <a:custGeom>
            <a:avLst/>
            <a:gdLst/>
            <a:ahLst/>
            <a:cxnLst/>
            <a:rect l="l" t="t" r="r" b="b"/>
            <a:pathLst>
              <a:path w="190500" h="190500">
                <a:moveTo>
                  <a:pt x="83344" y="0"/>
                </a:moveTo>
                <a:cubicBezTo>
                  <a:pt x="96478" y="0"/>
                  <a:pt x="107156" y="8000"/>
                  <a:pt x="107156" y="17859"/>
                </a:cubicBezTo>
                <a:cubicBezTo>
                  <a:pt x="107156" y="21729"/>
                  <a:pt x="105519" y="25301"/>
                  <a:pt x="102691" y="28240"/>
                </a:cubicBezTo>
                <a:cubicBezTo>
                  <a:pt x="100236" y="30807"/>
                  <a:pt x="98227" y="33933"/>
                  <a:pt x="98227" y="37505"/>
                </a:cubicBezTo>
                <a:cubicBezTo>
                  <a:pt x="98227" y="43086"/>
                  <a:pt x="102766" y="47625"/>
                  <a:pt x="108347" y="47625"/>
                </a:cubicBezTo>
                <a:lnTo>
                  <a:pt x="125016" y="47625"/>
                </a:lnTo>
                <a:cubicBezTo>
                  <a:pt x="134875" y="47625"/>
                  <a:pt x="142875" y="55625"/>
                  <a:pt x="142875" y="65484"/>
                </a:cubicBezTo>
                <a:lnTo>
                  <a:pt x="142875" y="82153"/>
                </a:lnTo>
                <a:cubicBezTo>
                  <a:pt x="142875" y="87734"/>
                  <a:pt x="147414" y="92273"/>
                  <a:pt x="152995" y="92273"/>
                </a:cubicBezTo>
                <a:cubicBezTo>
                  <a:pt x="156530" y="92273"/>
                  <a:pt x="159693" y="90264"/>
                  <a:pt x="162260" y="87809"/>
                </a:cubicBezTo>
                <a:cubicBezTo>
                  <a:pt x="165199" y="85018"/>
                  <a:pt x="168771" y="83344"/>
                  <a:pt x="172641" y="83344"/>
                </a:cubicBezTo>
                <a:cubicBezTo>
                  <a:pt x="182500" y="83344"/>
                  <a:pt x="190500" y="94022"/>
                  <a:pt x="190500" y="107156"/>
                </a:cubicBezTo>
                <a:cubicBezTo>
                  <a:pt x="190500" y="120290"/>
                  <a:pt x="182500" y="130969"/>
                  <a:pt x="172641" y="130969"/>
                </a:cubicBezTo>
                <a:cubicBezTo>
                  <a:pt x="168771" y="130969"/>
                  <a:pt x="165162" y="129332"/>
                  <a:pt x="162260" y="126504"/>
                </a:cubicBezTo>
                <a:cubicBezTo>
                  <a:pt x="159693" y="124048"/>
                  <a:pt x="156567" y="122039"/>
                  <a:pt x="152995" y="122039"/>
                </a:cubicBezTo>
                <a:cubicBezTo>
                  <a:pt x="147414" y="122039"/>
                  <a:pt x="142875" y="126578"/>
                  <a:pt x="142875" y="132159"/>
                </a:cubicBezTo>
                <a:lnTo>
                  <a:pt x="142875" y="172641"/>
                </a:lnTo>
                <a:cubicBezTo>
                  <a:pt x="142875" y="182500"/>
                  <a:pt x="134875" y="190500"/>
                  <a:pt x="125016" y="190500"/>
                </a:cubicBezTo>
                <a:lnTo>
                  <a:pt x="103882" y="190500"/>
                </a:lnTo>
                <a:cubicBezTo>
                  <a:pt x="99120" y="190500"/>
                  <a:pt x="95250" y="186630"/>
                  <a:pt x="95250" y="181868"/>
                </a:cubicBezTo>
                <a:cubicBezTo>
                  <a:pt x="95250" y="178445"/>
                  <a:pt x="97408" y="175431"/>
                  <a:pt x="100161" y="173385"/>
                </a:cubicBezTo>
                <a:cubicBezTo>
                  <a:pt x="104477" y="170148"/>
                  <a:pt x="107156" y="165683"/>
                  <a:pt x="107156" y="160734"/>
                </a:cubicBezTo>
                <a:cubicBezTo>
                  <a:pt x="107156" y="150875"/>
                  <a:pt x="96478" y="142875"/>
                  <a:pt x="83344" y="142875"/>
                </a:cubicBezTo>
                <a:cubicBezTo>
                  <a:pt x="70210" y="142875"/>
                  <a:pt x="59531" y="150875"/>
                  <a:pt x="59531" y="160734"/>
                </a:cubicBezTo>
                <a:cubicBezTo>
                  <a:pt x="59531" y="165683"/>
                  <a:pt x="62210" y="170148"/>
                  <a:pt x="66526" y="173385"/>
                </a:cubicBezTo>
                <a:cubicBezTo>
                  <a:pt x="69279" y="175431"/>
                  <a:pt x="71438" y="178408"/>
                  <a:pt x="71438" y="181868"/>
                </a:cubicBezTo>
                <a:cubicBezTo>
                  <a:pt x="71438" y="186630"/>
                  <a:pt x="67568" y="190500"/>
                  <a:pt x="62805" y="190500"/>
                </a:cubicBezTo>
                <a:lnTo>
                  <a:pt x="17859" y="190500"/>
                </a:lnTo>
                <a:cubicBezTo>
                  <a:pt x="8000" y="190500"/>
                  <a:pt x="0" y="182500"/>
                  <a:pt x="0" y="172641"/>
                </a:cubicBezTo>
                <a:lnTo>
                  <a:pt x="0" y="127695"/>
                </a:lnTo>
                <a:cubicBezTo>
                  <a:pt x="0" y="122932"/>
                  <a:pt x="3870" y="119063"/>
                  <a:pt x="8632" y="119063"/>
                </a:cubicBezTo>
                <a:cubicBezTo>
                  <a:pt x="12055" y="119063"/>
                  <a:pt x="15069" y="121221"/>
                  <a:pt x="17115" y="123974"/>
                </a:cubicBezTo>
                <a:cubicBezTo>
                  <a:pt x="20352" y="128290"/>
                  <a:pt x="24817" y="130969"/>
                  <a:pt x="29766" y="130969"/>
                </a:cubicBezTo>
                <a:cubicBezTo>
                  <a:pt x="39625" y="130969"/>
                  <a:pt x="47625" y="120290"/>
                  <a:pt x="47625" y="107156"/>
                </a:cubicBezTo>
                <a:cubicBezTo>
                  <a:pt x="47625" y="94022"/>
                  <a:pt x="39625" y="83344"/>
                  <a:pt x="29766" y="83344"/>
                </a:cubicBezTo>
                <a:cubicBezTo>
                  <a:pt x="24817" y="83344"/>
                  <a:pt x="20352" y="86023"/>
                  <a:pt x="17115" y="90339"/>
                </a:cubicBezTo>
                <a:cubicBezTo>
                  <a:pt x="15069" y="93092"/>
                  <a:pt x="12092" y="95250"/>
                  <a:pt x="8632" y="95250"/>
                </a:cubicBezTo>
                <a:cubicBezTo>
                  <a:pt x="3870" y="95250"/>
                  <a:pt x="0" y="91380"/>
                  <a:pt x="0" y="86618"/>
                </a:cubicBezTo>
                <a:lnTo>
                  <a:pt x="0" y="65484"/>
                </a:lnTo>
                <a:cubicBezTo>
                  <a:pt x="0" y="55625"/>
                  <a:pt x="8000" y="47625"/>
                  <a:pt x="17859" y="47625"/>
                </a:cubicBezTo>
                <a:lnTo>
                  <a:pt x="58341" y="47625"/>
                </a:lnTo>
                <a:cubicBezTo>
                  <a:pt x="63922" y="47625"/>
                  <a:pt x="68461" y="43086"/>
                  <a:pt x="68461" y="37505"/>
                </a:cubicBezTo>
                <a:cubicBezTo>
                  <a:pt x="68461" y="33970"/>
                  <a:pt x="66452" y="30807"/>
                  <a:pt x="63996" y="28240"/>
                </a:cubicBezTo>
                <a:cubicBezTo>
                  <a:pt x="61206" y="25301"/>
                  <a:pt x="59531" y="21729"/>
                  <a:pt x="59531" y="17859"/>
                </a:cubicBezTo>
                <a:cubicBezTo>
                  <a:pt x="59531" y="8000"/>
                  <a:pt x="70210" y="0"/>
                  <a:pt x="83344" y="0"/>
                </a:cubicBezTo>
                <a:close/>
              </a:path>
            </a:pathLst>
          </a:custGeom>
          <a:solidFill>
            <a:srgbClr val="AD46FF"/>
          </a:solidFill>
          <a:ln/>
        </p:spPr>
      </p:sp>
      <p:sp>
        <p:nvSpPr>
          <p:cNvPr id="21" name="Text 19"/>
          <p:cNvSpPr/>
          <p:nvPr/>
        </p:nvSpPr>
        <p:spPr>
          <a:xfrm>
            <a:off x="1036320" y="3543300"/>
            <a:ext cx="58102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3. Problem-Solving</a:t>
            </a:r>
            <a:endParaRPr lang="en-US" sz="1600" dirty="0"/>
          </a:p>
        </p:txBody>
      </p:sp>
      <p:sp>
        <p:nvSpPr>
          <p:cNvPr id="22" name="Text 20"/>
          <p:cNvSpPr/>
          <p:nvPr/>
        </p:nvSpPr>
        <p:spPr>
          <a:xfrm>
            <a:off x="1036320" y="3810000"/>
            <a:ext cx="58007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AI breaks complex problems into smaller steps</a:t>
            </a:r>
            <a:endParaRPr lang="en-US" sz="1600" dirty="0"/>
          </a:p>
        </p:txBody>
      </p:sp>
      <p:sp>
        <p:nvSpPr>
          <p:cNvPr id="23" name="Shape 21"/>
          <p:cNvSpPr/>
          <p:nvPr/>
        </p:nvSpPr>
        <p:spPr>
          <a:xfrm>
            <a:off x="6892290" y="3714750"/>
            <a:ext cx="152400" cy="152400"/>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rgbClr val="6366F1"/>
          </a:solidFill>
          <a:ln/>
        </p:spPr>
      </p:sp>
      <p:sp>
        <p:nvSpPr>
          <p:cNvPr id="24" name="Shape 22"/>
          <p:cNvSpPr/>
          <p:nvPr/>
        </p:nvSpPr>
        <p:spPr>
          <a:xfrm>
            <a:off x="384810" y="4377692"/>
            <a:ext cx="6760845" cy="1007745"/>
          </a:xfrm>
          <a:prstGeom prst="roundRect">
            <a:avLst>
              <a:gd name="adj" fmla="val 11342"/>
            </a:avLst>
          </a:prstGeom>
          <a:solidFill>
            <a:srgbClr val="262626"/>
          </a:solidFill>
          <a:ln w="10160">
            <a:solidFill>
              <a:srgbClr val="333333"/>
            </a:solidFill>
            <a:prstDash val="solid"/>
          </a:ln>
        </p:spPr>
      </p:sp>
      <p:sp>
        <p:nvSpPr>
          <p:cNvPr id="25" name="Shape 23"/>
          <p:cNvSpPr/>
          <p:nvPr/>
        </p:nvSpPr>
        <p:spPr>
          <a:xfrm>
            <a:off x="464820" y="4652009"/>
            <a:ext cx="457200" cy="457200"/>
          </a:xfrm>
          <a:prstGeom prst="roundRect">
            <a:avLst>
              <a:gd name="adj" fmla="val 25000"/>
            </a:avLst>
          </a:prstGeom>
          <a:solidFill>
            <a:srgbClr val="F0B100">
              <a:alpha val="20000"/>
            </a:srgbClr>
          </a:solidFill>
          <a:ln/>
        </p:spPr>
      </p:sp>
      <p:sp>
        <p:nvSpPr>
          <p:cNvPr id="26" name="Shape 24"/>
          <p:cNvSpPr/>
          <p:nvPr/>
        </p:nvSpPr>
        <p:spPr>
          <a:xfrm>
            <a:off x="586264" y="4785359"/>
            <a:ext cx="214313" cy="190500"/>
          </a:xfrm>
          <a:custGeom>
            <a:avLst/>
            <a:gdLst/>
            <a:ahLst/>
            <a:cxnLst/>
            <a:rect l="l" t="t" r="r" b="b"/>
            <a:pathLst>
              <a:path w="214313" h="190500">
                <a:moveTo>
                  <a:pt x="107156" y="11906"/>
                </a:moveTo>
                <a:cubicBezTo>
                  <a:pt x="77093" y="11906"/>
                  <a:pt x="53020" y="25598"/>
                  <a:pt x="35496" y="41895"/>
                </a:cubicBezTo>
                <a:cubicBezTo>
                  <a:pt x="18083" y="58080"/>
                  <a:pt x="6437" y="77391"/>
                  <a:pt x="893" y="90674"/>
                </a:cubicBezTo>
                <a:cubicBezTo>
                  <a:pt x="-335" y="93613"/>
                  <a:pt x="-335" y="96887"/>
                  <a:pt x="893" y="99826"/>
                </a:cubicBezTo>
                <a:cubicBezTo>
                  <a:pt x="6437" y="113109"/>
                  <a:pt x="18083" y="132457"/>
                  <a:pt x="35496" y="148605"/>
                </a:cubicBezTo>
                <a:cubicBezTo>
                  <a:pt x="53020" y="164864"/>
                  <a:pt x="77093" y="178594"/>
                  <a:pt x="107156" y="178594"/>
                </a:cubicBezTo>
                <a:cubicBezTo>
                  <a:pt x="137220" y="178594"/>
                  <a:pt x="161292" y="164902"/>
                  <a:pt x="178817" y="148605"/>
                </a:cubicBezTo>
                <a:cubicBezTo>
                  <a:pt x="196230" y="132420"/>
                  <a:pt x="207876" y="113109"/>
                  <a:pt x="213420" y="99826"/>
                </a:cubicBezTo>
                <a:cubicBezTo>
                  <a:pt x="214647" y="96887"/>
                  <a:pt x="214647" y="93613"/>
                  <a:pt x="213420" y="90674"/>
                </a:cubicBezTo>
                <a:cubicBezTo>
                  <a:pt x="207876" y="77391"/>
                  <a:pt x="196230" y="58043"/>
                  <a:pt x="178817" y="41895"/>
                </a:cubicBezTo>
                <a:cubicBezTo>
                  <a:pt x="161292" y="25636"/>
                  <a:pt x="137220" y="11906"/>
                  <a:pt x="107156" y="11906"/>
                </a:cubicBezTo>
                <a:close/>
                <a:moveTo>
                  <a:pt x="53578" y="95250"/>
                </a:moveTo>
                <a:cubicBezTo>
                  <a:pt x="53578" y="65679"/>
                  <a:pt x="77586" y="41672"/>
                  <a:pt x="107156" y="41672"/>
                </a:cubicBezTo>
                <a:cubicBezTo>
                  <a:pt x="136727" y="41672"/>
                  <a:pt x="160734" y="65679"/>
                  <a:pt x="160734" y="95250"/>
                </a:cubicBezTo>
                <a:cubicBezTo>
                  <a:pt x="160734" y="124821"/>
                  <a:pt x="136727" y="148828"/>
                  <a:pt x="107156" y="148828"/>
                </a:cubicBezTo>
                <a:cubicBezTo>
                  <a:pt x="77586" y="148828"/>
                  <a:pt x="53578" y="124821"/>
                  <a:pt x="53578" y="95250"/>
                </a:cubicBezTo>
                <a:close/>
                <a:moveTo>
                  <a:pt x="107156" y="71438"/>
                </a:moveTo>
                <a:cubicBezTo>
                  <a:pt x="107156" y="84572"/>
                  <a:pt x="96478" y="95250"/>
                  <a:pt x="83344" y="95250"/>
                </a:cubicBezTo>
                <a:cubicBezTo>
                  <a:pt x="79065" y="95250"/>
                  <a:pt x="75047" y="94134"/>
                  <a:pt x="71549" y="92125"/>
                </a:cubicBezTo>
                <a:cubicBezTo>
                  <a:pt x="71177" y="96180"/>
                  <a:pt x="71512" y="100347"/>
                  <a:pt x="72628" y="104477"/>
                </a:cubicBezTo>
                <a:cubicBezTo>
                  <a:pt x="77725" y="123527"/>
                  <a:pt x="97334" y="134838"/>
                  <a:pt x="116384" y="129741"/>
                </a:cubicBezTo>
                <a:cubicBezTo>
                  <a:pt x="135434" y="124644"/>
                  <a:pt x="146745" y="105035"/>
                  <a:pt x="141647" y="85985"/>
                </a:cubicBezTo>
                <a:cubicBezTo>
                  <a:pt x="137108" y="68982"/>
                  <a:pt x="120997" y="58155"/>
                  <a:pt x="104031" y="59643"/>
                </a:cubicBezTo>
                <a:cubicBezTo>
                  <a:pt x="106003" y="63103"/>
                  <a:pt x="107156" y="67121"/>
                  <a:pt x="107156" y="71438"/>
                </a:cubicBezTo>
                <a:close/>
              </a:path>
            </a:pathLst>
          </a:custGeom>
          <a:solidFill>
            <a:srgbClr val="F0B100"/>
          </a:solidFill>
          <a:ln/>
        </p:spPr>
      </p:sp>
      <p:sp>
        <p:nvSpPr>
          <p:cNvPr id="27" name="Text 25"/>
          <p:cNvSpPr/>
          <p:nvPr/>
        </p:nvSpPr>
        <p:spPr>
          <a:xfrm>
            <a:off x="1036320" y="4632959"/>
            <a:ext cx="58102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4. Perception</a:t>
            </a:r>
            <a:endParaRPr lang="en-US" sz="1600" dirty="0"/>
          </a:p>
        </p:txBody>
      </p:sp>
      <p:sp>
        <p:nvSpPr>
          <p:cNvPr id="28" name="Text 26"/>
          <p:cNvSpPr/>
          <p:nvPr/>
        </p:nvSpPr>
        <p:spPr>
          <a:xfrm>
            <a:off x="1036320" y="4899659"/>
            <a:ext cx="58007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AI sees, hears, and understands the world</a:t>
            </a:r>
            <a:endParaRPr lang="en-US" sz="1600" dirty="0"/>
          </a:p>
        </p:txBody>
      </p:sp>
      <p:sp>
        <p:nvSpPr>
          <p:cNvPr id="29" name="Shape 27"/>
          <p:cNvSpPr/>
          <p:nvPr/>
        </p:nvSpPr>
        <p:spPr>
          <a:xfrm>
            <a:off x="6892290" y="4804409"/>
            <a:ext cx="152400" cy="152400"/>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rgbClr val="6366F1"/>
          </a:solidFill>
          <a:ln/>
        </p:spPr>
      </p:sp>
      <p:sp>
        <p:nvSpPr>
          <p:cNvPr id="30" name="Shape 28"/>
          <p:cNvSpPr/>
          <p:nvPr/>
        </p:nvSpPr>
        <p:spPr>
          <a:xfrm>
            <a:off x="384810" y="5467356"/>
            <a:ext cx="6760845" cy="1007745"/>
          </a:xfrm>
          <a:prstGeom prst="roundRect">
            <a:avLst>
              <a:gd name="adj" fmla="val 11342"/>
            </a:avLst>
          </a:prstGeom>
          <a:solidFill>
            <a:srgbClr val="262626"/>
          </a:solidFill>
          <a:ln w="10160">
            <a:solidFill>
              <a:srgbClr val="333333"/>
            </a:solidFill>
            <a:prstDash val="solid"/>
          </a:ln>
        </p:spPr>
      </p:sp>
      <p:sp>
        <p:nvSpPr>
          <p:cNvPr id="31" name="Shape 29"/>
          <p:cNvSpPr/>
          <p:nvPr/>
        </p:nvSpPr>
        <p:spPr>
          <a:xfrm>
            <a:off x="464820" y="5741668"/>
            <a:ext cx="457200" cy="457200"/>
          </a:xfrm>
          <a:prstGeom prst="roundRect">
            <a:avLst>
              <a:gd name="adj" fmla="val 25000"/>
            </a:avLst>
          </a:prstGeom>
          <a:solidFill>
            <a:srgbClr val="FB2C36">
              <a:alpha val="20000"/>
            </a:srgbClr>
          </a:solidFill>
          <a:ln/>
        </p:spPr>
      </p:sp>
      <p:sp>
        <p:nvSpPr>
          <p:cNvPr id="32" name="Shape 30"/>
          <p:cNvSpPr/>
          <p:nvPr/>
        </p:nvSpPr>
        <p:spPr>
          <a:xfrm>
            <a:off x="586264" y="5875018"/>
            <a:ext cx="214313" cy="190500"/>
          </a:xfrm>
          <a:custGeom>
            <a:avLst/>
            <a:gdLst/>
            <a:ahLst/>
            <a:cxnLst/>
            <a:rect l="l" t="t" r="r" b="b"/>
            <a:pathLst>
              <a:path w="214313" h="190500">
                <a:moveTo>
                  <a:pt x="59531" y="0"/>
                </a:moveTo>
                <a:cubicBezTo>
                  <a:pt x="66117" y="0"/>
                  <a:pt x="71438" y="5321"/>
                  <a:pt x="71438" y="11906"/>
                </a:cubicBezTo>
                <a:lnTo>
                  <a:pt x="71438" y="23812"/>
                </a:lnTo>
                <a:lnTo>
                  <a:pt x="119063" y="23812"/>
                </a:lnTo>
                <a:cubicBezTo>
                  <a:pt x="125648" y="23812"/>
                  <a:pt x="130969" y="29133"/>
                  <a:pt x="130969" y="35719"/>
                </a:cubicBezTo>
                <a:cubicBezTo>
                  <a:pt x="130969" y="42304"/>
                  <a:pt x="125648" y="47625"/>
                  <a:pt x="119063" y="47625"/>
                </a:cubicBezTo>
                <a:lnTo>
                  <a:pt x="115491" y="47625"/>
                </a:lnTo>
                <a:lnTo>
                  <a:pt x="112365" y="56220"/>
                </a:lnTo>
                <a:cubicBezTo>
                  <a:pt x="106263" y="73037"/>
                  <a:pt x="97073" y="88404"/>
                  <a:pt x="85502" y="101612"/>
                </a:cubicBezTo>
                <a:cubicBezTo>
                  <a:pt x="90785" y="104887"/>
                  <a:pt x="96292" y="107789"/>
                  <a:pt x="102022" y="110356"/>
                </a:cubicBezTo>
                <a:lnTo>
                  <a:pt x="120774" y="118690"/>
                </a:lnTo>
                <a:lnTo>
                  <a:pt x="143917" y="66601"/>
                </a:lnTo>
                <a:cubicBezTo>
                  <a:pt x="145814" y="62285"/>
                  <a:pt x="150093" y="59531"/>
                  <a:pt x="154781" y="59531"/>
                </a:cubicBezTo>
                <a:cubicBezTo>
                  <a:pt x="159469" y="59531"/>
                  <a:pt x="163748" y="62285"/>
                  <a:pt x="165646" y="66601"/>
                </a:cubicBezTo>
                <a:lnTo>
                  <a:pt x="213271" y="173757"/>
                </a:lnTo>
                <a:cubicBezTo>
                  <a:pt x="215950" y="179784"/>
                  <a:pt x="213233" y="186817"/>
                  <a:pt x="207243" y="189458"/>
                </a:cubicBezTo>
                <a:cubicBezTo>
                  <a:pt x="201253" y="192100"/>
                  <a:pt x="194183" y="189421"/>
                  <a:pt x="191542" y="183431"/>
                </a:cubicBezTo>
                <a:lnTo>
                  <a:pt x="184100" y="166688"/>
                </a:lnTo>
                <a:lnTo>
                  <a:pt x="125499" y="166688"/>
                </a:lnTo>
                <a:lnTo>
                  <a:pt x="118058" y="183431"/>
                </a:lnTo>
                <a:cubicBezTo>
                  <a:pt x="115379" y="189458"/>
                  <a:pt x="108347" y="192137"/>
                  <a:pt x="102357" y="189458"/>
                </a:cubicBezTo>
                <a:cubicBezTo>
                  <a:pt x="96366" y="186779"/>
                  <a:pt x="93650" y="179747"/>
                  <a:pt x="96329" y="173757"/>
                </a:cubicBezTo>
                <a:lnTo>
                  <a:pt x="111137" y="140457"/>
                </a:lnTo>
                <a:lnTo>
                  <a:pt x="92385" y="132122"/>
                </a:lnTo>
                <a:cubicBezTo>
                  <a:pt x="83827" y="128327"/>
                  <a:pt x="75642" y="123788"/>
                  <a:pt x="67903" y="118579"/>
                </a:cubicBezTo>
                <a:cubicBezTo>
                  <a:pt x="59978" y="124978"/>
                  <a:pt x="51308" y="130559"/>
                  <a:pt x="42044" y="135210"/>
                </a:cubicBezTo>
                <a:lnTo>
                  <a:pt x="29133" y="141610"/>
                </a:lnTo>
                <a:cubicBezTo>
                  <a:pt x="23254" y="144549"/>
                  <a:pt x="16111" y="142168"/>
                  <a:pt x="13171" y="136289"/>
                </a:cubicBezTo>
                <a:cubicBezTo>
                  <a:pt x="10232" y="130411"/>
                  <a:pt x="12613" y="123267"/>
                  <a:pt x="18492" y="120328"/>
                </a:cubicBezTo>
                <a:lnTo>
                  <a:pt x="31328" y="113891"/>
                </a:lnTo>
                <a:cubicBezTo>
                  <a:pt x="37393" y="110840"/>
                  <a:pt x="43160" y="107305"/>
                  <a:pt x="48592" y="103361"/>
                </a:cubicBezTo>
                <a:cubicBezTo>
                  <a:pt x="43458" y="98636"/>
                  <a:pt x="38621" y="93538"/>
                  <a:pt x="34119" y="88143"/>
                </a:cubicBezTo>
                <a:lnTo>
                  <a:pt x="30361" y="83604"/>
                </a:lnTo>
                <a:cubicBezTo>
                  <a:pt x="26157" y="78544"/>
                  <a:pt x="26826" y="71028"/>
                  <a:pt x="31886" y="66824"/>
                </a:cubicBezTo>
                <a:cubicBezTo>
                  <a:pt x="36947" y="62619"/>
                  <a:pt x="44462" y="63289"/>
                  <a:pt x="48667" y="68349"/>
                </a:cubicBezTo>
                <a:lnTo>
                  <a:pt x="52462" y="72889"/>
                </a:lnTo>
                <a:cubicBezTo>
                  <a:pt x="56741" y="78060"/>
                  <a:pt x="61429" y="82860"/>
                  <a:pt x="66377" y="87288"/>
                </a:cubicBezTo>
                <a:cubicBezTo>
                  <a:pt x="76609" y="75977"/>
                  <a:pt x="84683" y="62694"/>
                  <a:pt x="90004" y="48071"/>
                </a:cubicBezTo>
                <a:lnTo>
                  <a:pt x="90190" y="47625"/>
                </a:lnTo>
                <a:lnTo>
                  <a:pt x="11943" y="47625"/>
                </a:lnTo>
                <a:cubicBezTo>
                  <a:pt x="5321" y="47625"/>
                  <a:pt x="0" y="42304"/>
                  <a:pt x="0" y="35719"/>
                </a:cubicBezTo>
                <a:cubicBezTo>
                  <a:pt x="0" y="29133"/>
                  <a:pt x="5321" y="23812"/>
                  <a:pt x="11906" y="23812"/>
                </a:cubicBezTo>
                <a:lnTo>
                  <a:pt x="47625" y="23812"/>
                </a:lnTo>
                <a:lnTo>
                  <a:pt x="47625" y="11906"/>
                </a:lnTo>
                <a:cubicBezTo>
                  <a:pt x="47625" y="5321"/>
                  <a:pt x="52946" y="0"/>
                  <a:pt x="59531" y="0"/>
                </a:cubicBezTo>
                <a:close/>
                <a:moveTo>
                  <a:pt x="154781" y="100757"/>
                </a:moveTo>
                <a:lnTo>
                  <a:pt x="136066" y="142875"/>
                </a:lnTo>
                <a:lnTo>
                  <a:pt x="173496" y="142875"/>
                </a:lnTo>
                <a:lnTo>
                  <a:pt x="154781" y="100757"/>
                </a:lnTo>
                <a:close/>
              </a:path>
            </a:pathLst>
          </a:custGeom>
          <a:solidFill>
            <a:srgbClr val="FB2C36"/>
          </a:solidFill>
          <a:ln/>
        </p:spPr>
      </p:sp>
      <p:sp>
        <p:nvSpPr>
          <p:cNvPr id="33" name="Text 31"/>
          <p:cNvSpPr/>
          <p:nvPr/>
        </p:nvSpPr>
        <p:spPr>
          <a:xfrm>
            <a:off x="1036320" y="5722618"/>
            <a:ext cx="58102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5. Language Understanding</a:t>
            </a:r>
            <a:endParaRPr lang="en-US" sz="1600" dirty="0"/>
          </a:p>
        </p:txBody>
      </p:sp>
      <p:sp>
        <p:nvSpPr>
          <p:cNvPr id="34" name="Text 32"/>
          <p:cNvSpPr/>
          <p:nvPr/>
        </p:nvSpPr>
        <p:spPr>
          <a:xfrm>
            <a:off x="1036320" y="5989318"/>
            <a:ext cx="58007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AI understands and generates human language</a:t>
            </a:r>
            <a:endParaRPr lang="en-US" sz="1600" dirty="0"/>
          </a:p>
        </p:txBody>
      </p:sp>
      <p:sp>
        <p:nvSpPr>
          <p:cNvPr id="35" name="Shape 33"/>
          <p:cNvSpPr/>
          <p:nvPr/>
        </p:nvSpPr>
        <p:spPr>
          <a:xfrm>
            <a:off x="6892290" y="5894068"/>
            <a:ext cx="152400" cy="152400"/>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rgbClr val="6366F1"/>
          </a:solidFill>
          <a:ln/>
        </p:spPr>
      </p:sp>
      <p:sp>
        <p:nvSpPr>
          <p:cNvPr id="36" name="Shape 34"/>
          <p:cNvSpPr/>
          <p:nvPr/>
        </p:nvSpPr>
        <p:spPr>
          <a:xfrm>
            <a:off x="7303770" y="1108710"/>
            <a:ext cx="4503420" cy="1264920"/>
          </a:xfrm>
          <a:prstGeom prst="roundRect">
            <a:avLst>
              <a:gd name="adj" fmla="val 9036"/>
            </a:avLst>
          </a:prstGeom>
          <a:gradFill rotWithShape="1" flip="none">
            <a:gsLst>
              <a:gs pos="0">
                <a:srgbClr val="6366F1">
                  <a:alpha val="20000"/>
                </a:srgbClr>
              </a:gs>
              <a:gs pos="100000">
                <a:srgbClr val="6366F1">
                  <a:alpha val="5000"/>
                </a:srgbClr>
              </a:gs>
            </a:gsLst>
            <a:lin ang="2700000" scaled="1"/>
          </a:gradFill>
          <a:ln w="10160">
            <a:solidFill>
              <a:srgbClr val="6366F1"/>
            </a:solidFill>
            <a:prstDash val="solid"/>
          </a:ln>
        </p:spPr>
      </p:sp>
      <p:sp>
        <p:nvSpPr>
          <p:cNvPr id="37" name="Shape 35"/>
          <p:cNvSpPr/>
          <p:nvPr/>
        </p:nvSpPr>
        <p:spPr>
          <a:xfrm>
            <a:off x="7445693" y="1264923"/>
            <a:ext cx="190500" cy="190500"/>
          </a:xfrm>
          <a:custGeom>
            <a:avLst/>
            <a:gdLst/>
            <a:ahLst/>
            <a:cxnLst/>
            <a:rect l="l" t="t" r="r" b="b"/>
            <a:pathLst>
              <a:path w="190500" h="190500">
                <a:moveTo>
                  <a:pt x="83455" y="-930"/>
                </a:moveTo>
                <a:cubicBezTo>
                  <a:pt x="90822" y="-5172"/>
                  <a:pt x="99901" y="-5172"/>
                  <a:pt x="107268" y="-930"/>
                </a:cubicBezTo>
                <a:lnTo>
                  <a:pt x="172715" y="36835"/>
                </a:lnTo>
                <a:cubicBezTo>
                  <a:pt x="180082" y="41077"/>
                  <a:pt x="184621" y="48964"/>
                  <a:pt x="184621" y="57448"/>
                </a:cubicBezTo>
                <a:lnTo>
                  <a:pt x="184621" y="132978"/>
                </a:lnTo>
                <a:cubicBezTo>
                  <a:pt x="184621" y="141498"/>
                  <a:pt x="180082" y="149349"/>
                  <a:pt x="172715" y="153591"/>
                </a:cubicBezTo>
                <a:lnTo>
                  <a:pt x="107268" y="191430"/>
                </a:lnTo>
                <a:cubicBezTo>
                  <a:pt x="99901" y="195672"/>
                  <a:pt x="90822" y="195672"/>
                  <a:pt x="83455" y="191430"/>
                </a:cubicBezTo>
                <a:lnTo>
                  <a:pt x="18045" y="153665"/>
                </a:lnTo>
                <a:cubicBezTo>
                  <a:pt x="10678" y="149423"/>
                  <a:pt x="6139" y="141536"/>
                  <a:pt x="6139" y="133052"/>
                </a:cubicBezTo>
                <a:lnTo>
                  <a:pt x="6139" y="57522"/>
                </a:lnTo>
                <a:cubicBezTo>
                  <a:pt x="6139" y="49002"/>
                  <a:pt x="10678" y="41151"/>
                  <a:pt x="18045" y="36909"/>
                </a:cubicBezTo>
                <a:lnTo>
                  <a:pt x="83455" y="-930"/>
                </a:lnTo>
                <a:close/>
                <a:moveTo>
                  <a:pt x="160772" y="133015"/>
                </a:moveTo>
                <a:lnTo>
                  <a:pt x="160772" y="71214"/>
                </a:lnTo>
                <a:lnTo>
                  <a:pt x="107268" y="102096"/>
                </a:lnTo>
                <a:lnTo>
                  <a:pt x="107268" y="163897"/>
                </a:lnTo>
                <a:lnTo>
                  <a:pt x="160772" y="133015"/>
                </a:lnTo>
                <a:close/>
              </a:path>
            </a:pathLst>
          </a:custGeom>
          <a:solidFill>
            <a:srgbClr val="6366F1"/>
          </a:solidFill>
          <a:ln/>
        </p:spPr>
      </p:sp>
      <p:sp>
        <p:nvSpPr>
          <p:cNvPr id="38" name="Text 36"/>
          <p:cNvSpPr/>
          <p:nvPr/>
        </p:nvSpPr>
        <p:spPr>
          <a:xfrm>
            <a:off x="7736205" y="1226823"/>
            <a:ext cx="137160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Building Blocks</a:t>
            </a:r>
            <a:endParaRPr lang="en-US" sz="1600" dirty="0"/>
          </a:p>
        </p:txBody>
      </p:sp>
      <p:sp>
        <p:nvSpPr>
          <p:cNvPr id="39" name="Text 37"/>
          <p:cNvSpPr/>
          <p:nvPr/>
        </p:nvSpPr>
        <p:spPr>
          <a:xfrm>
            <a:off x="7421880" y="1569723"/>
            <a:ext cx="43434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Just like a house needs foundation, walls, and roof, AI needs these five components to work effectively. Each one handles a different type of intelligence.</a:t>
            </a:r>
            <a:endParaRPr lang="en-US" sz="1600" dirty="0"/>
          </a:p>
        </p:txBody>
      </p:sp>
      <p:sp>
        <p:nvSpPr>
          <p:cNvPr id="40" name="Shape 38"/>
          <p:cNvSpPr/>
          <p:nvPr/>
        </p:nvSpPr>
        <p:spPr>
          <a:xfrm>
            <a:off x="7303770" y="2457451"/>
            <a:ext cx="4503420" cy="1493520"/>
          </a:xfrm>
          <a:prstGeom prst="roundRect">
            <a:avLst>
              <a:gd name="adj" fmla="val 7653"/>
            </a:avLst>
          </a:prstGeom>
          <a:solidFill>
            <a:srgbClr val="262626"/>
          </a:solidFill>
          <a:ln w="10160">
            <a:solidFill>
              <a:srgbClr val="333333"/>
            </a:solidFill>
            <a:prstDash val="solid"/>
          </a:ln>
        </p:spPr>
      </p:sp>
      <p:sp>
        <p:nvSpPr>
          <p:cNvPr id="41" name="Text 39"/>
          <p:cNvSpPr/>
          <p:nvPr/>
        </p:nvSpPr>
        <p:spPr>
          <a:xfrm>
            <a:off x="7421880" y="2575559"/>
            <a:ext cx="43529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 Simple Explanation</a:t>
            </a:r>
            <a:endParaRPr lang="en-US" sz="1600" dirty="0"/>
          </a:p>
        </p:txBody>
      </p:sp>
      <p:sp>
        <p:nvSpPr>
          <p:cNvPr id="42" name="Text 40"/>
          <p:cNvSpPr/>
          <p:nvPr/>
        </p:nvSpPr>
        <p:spPr>
          <a:xfrm>
            <a:off x="7421880" y="2918459"/>
            <a:ext cx="4343400" cy="9144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Think of these components like your senses and brain working together. Your eyes see (perception), brain thinks (reasoning), you learn from mistakes (learning), solve puzzles (problem-solving), and understand words (language).</a:t>
            </a:r>
            <a:endParaRPr lang="en-US" sz="1600" dirty="0"/>
          </a:p>
        </p:txBody>
      </p:sp>
      <p:sp>
        <p:nvSpPr>
          <p:cNvPr id="43" name="Shape 41"/>
          <p:cNvSpPr/>
          <p:nvPr/>
        </p:nvSpPr>
        <p:spPr>
          <a:xfrm>
            <a:off x="7303770" y="4034792"/>
            <a:ext cx="4503420" cy="1874520"/>
          </a:xfrm>
          <a:prstGeom prst="roundRect">
            <a:avLst>
              <a:gd name="adj" fmla="val 6098"/>
            </a:avLst>
          </a:prstGeom>
          <a:solidFill>
            <a:srgbClr val="262626"/>
          </a:solidFill>
          <a:ln w="10160">
            <a:solidFill>
              <a:srgbClr val="333333"/>
            </a:solidFill>
            <a:prstDash val="solid"/>
          </a:ln>
        </p:spPr>
      </p:sp>
      <p:sp>
        <p:nvSpPr>
          <p:cNvPr id="44" name="Shape 42"/>
          <p:cNvSpPr/>
          <p:nvPr/>
        </p:nvSpPr>
        <p:spPr>
          <a:xfrm>
            <a:off x="7456408" y="4200525"/>
            <a:ext cx="150019" cy="171450"/>
          </a:xfrm>
          <a:custGeom>
            <a:avLst/>
            <a:gdLst/>
            <a:ahLst/>
            <a:cxnLst/>
            <a:rect l="l" t="t" r="r" b="b"/>
            <a:pathLst>
              <a:path w="150019" h="171450">
                <a:moveTo>
                  <a:pt x="21431" y="10716"/>
                </a:moveTo>
                <a:cubicBezTo>
                  <a:pt x="9611" y="10716"/>
                  <a:pt x="0" y="20326"/>
                  <a:pt x="0" y="32147"/>
                </a:cubicBezTo>
                <a:lnTo>
                  <a:pt x="0" y="139303"/>
                </a:lnTo>
                <a:cubicBezTo>
                  <a:pt x="0" y="151124"/>
                  <a:pt x="9611" y="160734"/>
                  <a:pt x="21431" y="160734"/>
                </a:cubicBezTo>
                <a:lnTo>
                  <a:pt x="128588" y="160734"/>
                </a:lnTo>
                <a:cubicBezTo>
                  <a:pt x="140408" y="160734"/>
                  <a:pt x="150019" y="151124"/>
                  <a:pt x="150019" y="139303"/>
                </a:cubicBezTo>
                <a:lnTo>
                  <a:pt x="150019" y="32147"/>
                </a:lnTo>
                <a:cubicBezTo>
                  <a:pt x="150019" y="20326"/>
                  <a:pt x="140408" y="10716"/>
                  <a:pt x="128588" y="10716"/>
                </a:cubicBezTo>
                <a:lnTo>
                  <a:pt x="21431" y="10716"/>
                </a:lnTo>
                <a:close/>
                <a:moveTo>
                  <a:pt x="42863" y="37505"/>
                </a:moveTo>
                <a:cubicBezTo>
                  <a:pt x="51734" y="37505"/>
                  <a:pt x="58936" y="44707"/>
                  <a:pt x="58936" y="53578"/>
                </a:cubicBezTo>
                <a:cubicBezTo>
                  <a:pt x="58936" y="62449"/>
                  <a:pt x="51734" y="69652"/>
                  <a:pt x="42863" y="69652"/>
                </a:cubicBezTo>
                <a:cubicBezTo>
                  <a:pt x="33991" y="69652"/>
                  <a:pt x="26789" y="62449"/>
                  <a:pt x="26789" y="53578"/>
                </a:cubicBezTo>
                <a:cubicBezTo>
                  <a:pt x="26789" y="44707"/>
                  <a:pt x="33991" y="37505"/>
                  <a:pt x="42863" y="37505"/>
                </a:cubicBezTo>
                <a:close/>
                <a:moveTo>
                  <a:pt x="91083" y="75009"/>
                </a:moveTo>
                <a:cubicBezTo>
                  <a:pt x="93896" y="75009"/>
                  <a:pt x="96474" y="76483"/>
                  <a:pt x="97948" y="78860"/>
                </a:cubicBezTo>
                <a:lnTo>
                  <a:pt x="127415" y="127081"/>
                </a:lnTo>
                <a:cubicBezTo>
                  <a:pt x="128922" y="129559"/>
                  <a:pt x="128989" y="132673"/>
                  <a:pt x="127583" y="135218"/>
                </a:cubicBezTo>
                <a:cubicBezTo>
                  <a:pt x="126176" y="137763"/>
                  <a:pt x="123464" y="139303"/>
                  <a:pt x="120551" y="139303"/>
                </a:cubicBezTo>
                <a:lnTo>
                  <a:pt x="29468" y="139303"/>
                </a:lnTo>
                <a:cubicBezTo>
                  <a:pt x="26488" y="139303"/>
                  <a:pt x="23708" y="137629"/>
                  <a:pt x="22335" y="134983"/>
                </a:cubicBezTo>
                <a:cubicBezTo>
                  <a:pt x="20962" y="132338"/>
                  <a:pt x="21163" y="129123"/>
                  <a:pt x="22871" y="126679"/>
                </a:cubicBezTo>
                <a:lnTo>
                  <a:pt x="41624" y="99890"/>
                </a:lnTo>
                <a:cubicBezTo>
                  <a:pt x="43130" y="97747"/>
                  <a:pt x="45575" y="96474"/>
                  <a:pt x="48220" y="96474"/>
                </a:cubicBezTo>
                <a:cubicBezTo>
                  <a:pt x="50866" y="96474"/>
                  <a:pt x="53310" y="97747"/>
                  <a:pt x="54817" y="99890"/>
                </a:cubicBezTo>
                <a:lnTo>
                  <a:pt x="63658" y="112548"/>
                </a:lnTo>
                <a:lnTo>
                  <a:pt x="84218" y="78894"/>
                </a:lnTo>
                <a:cubicBezTo>
                  <a:pt x="85692" y="76516"/>
                  <a:pt x="88270" y="75043"/>
                  <a:pt x="91083" y="75043"/>
                </a:cubicBezTo>
                <a:close/>
              </a:path>
            </a:pathLst>
          </a:custGeom>
          <a:solidFill>
            <a:srgbClr val="6366F1"/>
          </a:solidFill>
          <a:ln/>
        </p:spPr>
      </p:sp>
      <p:sp>
        <p:nvSpPr>
          <p:cNvPr id="45" name="Text 43"/>
          <p:cNvSpPr/>
          <p:nvPr/>
        </p:nvSpPr>
        <p:spPr>
          <a:xfrm>
            <a:off x="7640955" y="4152900"/>
            <a:ext cx="41338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Visual</a:t>
            </a:r>
            <a:endParaRPr lang="en-US" sz="1600" dirty="0"/>
          </a:p>
        </p:txBody>
      </p:sp>
      <p:sp>
        <p:nvSpPr>
          <p:cNvPr id="46" name="Shape 44"/>
          <p:cNvSpPr/>
          <p:nvPr/>
        </p:nvSpPr>
        <p:spPr>
          <a:xfrm>
            <a:off x="7421880" y="4495800"/>
            <a:ext cx="4267200" cy="609600"/>
          </a:xfrm>
          <a:prstGeom prst="roundRect">
            <a:avLst>
              <a:gd name="adj" fmla="val 12500"/>
            </a:avLst>
          </a:prstGeom>
          <a:solidFill>
            <a:srgbClr val="191919"/>
          </a:solidFill>
          <a:ln/>
        </p:spPr>
      </p:sp>
      <p:sp>
        <p:nvSpPr>
          <p:cNvPr id="47" name="Text 45"/>
          <p:cNvSpPr/>
          <p:nvPr/>
        </p:nvSpPr>
        <p:spPr>
          <a:xfrm>
            <a:off x="7498080" y="45720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Diagram:</a:t>
            </a:r>
            <a:endParaRPr lang="en-US" sz="1600" dirty="0"/>
          </a:p>
        </p:txBody>
      </p:sp>
      <p:sp>
        <p:nvSpPr>
          <p:cNvPr id="48" name="Text 46"/>
          <p:cNvSpPr/>
          <p:nvPr/>
        </p:nvSpPr>
        <p:spPr>
          <a:xfrm>
            <a:off x="7498080" y="48006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5 components connected in a circle around "AI System"</a:t>
            </a:r>
            <a:endParaRPr lang="en-US" sz="1600" dirty="0"/>
          </a:p>
        </p:txBody>
      </p:sp>
      <p:sp>
        <p:nvSpPr>
          <p:cNvPr id="49" name="Shape 47"/>
          <p:cNvSpPr/>
          <p:nvPr/>
        </p:nvSpPr>
        <p:spPr>
          <a:xfrm>
            <a:off x="7421880" y="5181600"/>
            <a:ext cx="4267200" cy="609600"/>
          </a:xfrm>
          <a:prstGeom prst="roundRect">
            <a:avLst>
              <a:gd name="adj" fmla="val 12500"/>
            </a:avLst>
          </a:prstGeom>
          <a:solidFill>
            <a:srgbClr val="191919"/>
          </a:solidFill>
          <a:ln/>
        </p:spPr>
      </p:sp>
      <p:sp>
        <p:nvSpPr>
          <p:cNvPr id="50" name="Text 48"/>
          <p:cNvSpPr/>
          <p:nvPr/>
        </p:nvSpPr>
        <p:spPr>
          <a:xfrm>
            <a:off x="7498080" y="52578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Image:</a:t>
            </a:r>
            <a:endParaRPr lang="en-US" sz="1600" dirty="0"/>
          </a:p>
        </p:txBody>
      </p:sp>
      <p:sp>
        <p:nvSpPr>
          <p:cNvPr id="51" name="Text 49"/>
          <p:cNvSpPr/>
          <p:nvPr/>
        </p:nvSpPr>
        <p:spPr>
          <a:xfrm>
            <a:off x="7498080" y="54864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Brain with different sections highlighted</a:t>
            </a:r>
            <a:endParaRPr lang="en-US" sz="16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91919"/>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2B7FFF">
              <a:alpha val="20000"/>
            </a:srgbClr>
          </a:solidFill>
          <a:ln/>
        </p:spPr>
      </p:sp>
      <p:sp>
        <p:nvSpPr>
          <p:cNvPr id="3" name="Text 1"/>
          <p:cNvSpPr/>
          <p:nvPr/>
        </p:nvSpPr>
        <p:spPr>
          <a:xfrm>
            <a:off x="533400" y="533400"/>
            <a:ext cx="247650" cy="266700"/>
          </a:xfrm>
          <a:prstGeom prst="rect">
            <a:avLst/>
          </a:prstGeom>
          <a:noFill/>
          <a:ln/>
        </p:spPr>
        <p:txBody>
          <a:bodyPr wrap="square" lIns="0" tIns="0" rIns="0" bIns="0" rtlCol="0" anchor="ctr"/>
          <a:lstStyle/>
          <a:p>
            <a:pPr>
              <a:lnSpc>
                <a:spcPct val="120000"/>
              </a:lnSpc>
            </a:pPr>
            <a:r>
              <a:rPr lang="en-US" sz="1500" b="1" dirty="0">
                <a:solidFill>
                  <a:srgbClr val="2B7FFF"/>
                </a:solidFill>
                <a:latin typeface="Liter" pitchFamily="34" charset="0"/>
                <a:ea typeface="Liter" pitchFamily="34" charset="-122"/>
                <a:cs typeface="Liter" pitchFamily="34" charset="-120"/>
              </a:rPr>
              <a:t>11</a:t>
            </a:r>
            <a:endParaRPr lang="en-US" sz="1600" dirty="0"/>
          </a:p>
        </p:txBody>
      </p:sp>
      <p:sp>
        <p:nvSpPr>
          <p:cNvPr id="4" name="Text 2"/>
          <p:cNvSpPr/>
          <p:nvPr/>
        </p:nvSpPr>
        <p:spPr>
          <a:xfrm>
            <a:off x="952500" y="381000"/>
            <a:ext cx="3524250" cy="190500"/>
          </a:xfrm>
          <a:prstGeom prst="rect">
            <a:avLst/>
          </a:prstGeom>
          <a:noFill/>
          <a:ln/>
        </p:spPr>
        <p:txBody>
          <a:bodyPr wrap="square" lIns="0" tIns="0" rIns="0" bIns="0" rtlCol="0" anchor="ctr"/>
          <a:lstStyle/>
          <a:p>
            <a:pPr>
              <a:lnSpc>
                <a:spcPct val="120000"/>
              </a:lnSpc>
            </a:pPr>
            <a:r>
              <a:rPr lang="en-US" sz="1050" b="1" spc="53" kern="0" dirty="0">
                <a:solidFill>
                  <a:srgbClr val="2B7FFF"/>
                </a:solidFill>
                <a:latin typeface="Liter" pitchFamily="34" charset="0"/>
                <a:ea typeface="Liter" pitchFamily="34" charset="-122"/>
                <a:cs typeface="Liter" pitchFamily="34" charset="-120"/>
              </a:rPr>
              <a:t>Components of AI</a:t>
            </a:r>
            <a:endParaRPr lang="en-US" sz="1600" dirty="0"/>
          </a:p>
        </p:txBody>
      </p:sp>
      <p:sp>
        <p:nvSpPr>
          <p:cNvPr id="5" name="Text 3"/>
          <p:cNvSpPr/>
          <p:nvPr/>
        </p:nvSpPr>
        <p:spPr>
          <a:xfrm>
            <a:off x="952500" y="571500"/>
            <a:ext cx="3629025"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Component 1: Learning</a:t>
            </a:r>
            <a:endParaRPr lang="en-US" sz="1600" dirty="0"/>
          </a:p>
        </p:txBody>
      </p:sp>
      <p:sp>
        <p:nvSpPr>
          <p:cNvPr id="6" name="Shape 4"/>
          <p:cNvSpPr/>
          <p:nvPr/>
        </p:nvSpPr>
        <p:spPr>
          <a:xfrm>
            <a:off x="384810" y="1108710"/>
            <a:ext cx="6760845" cy="2255520"/>
          </a:xfrm>
          <a:prstGeom prst="roundRect">
            <a:avLst>
              <a:gd name="adj" fmla="val 5068"/>
            </a:avLst>
          </a:prstGeom>
          <a:solidFill>
            <a:srgbClr val="262626"/>
          </a:solidFill>
          <a:ln w="10160">
            <a:solidFill>
              <a:srgbClr val="333333"/>
            </a:solidFill>
            <a:prstDash val="solid"/>
          </a:ln>
        </p:spPr>
      </p:sp>
      <p:sp>
        <p:nvSpPr>
          <p:cNvPr id="7" name="Shape 5"/>
          <p:cNvSpPr/>
          <p:nvPr/>
        </p:nvSpPr>
        <p:spPr>
          <a:xfrm>
            <a:off x="502920" y="1226818"/>
            <a:ext cx="457200" cy="457200"/>
          </a:xfrm>
          <a:prstGeom prst="roundRect">
            <a:avLst>
              <a:gd name="adj" fmla="val 25000"/>
            </a:avLst>
          </a:prstGeom>
          <a:solidFill>
            <a:srgbClr val="2B7FFF">
              <a:alpha val="20000"/>
            </a:srgbClr>
          </a:solidFill>
          <a:ln/>
        </p:spPr>
      </p:sp>
      <p:sp>
        <p:nvSpPr>
          <p:cNvPr id="8" name="Shape 6"/>
          <p:cNvSpPr/>
          <p:nvPr/>
        </p:nvSpPr>
        <p:spPr>
          <a:xfrm>
            <a:off x="602932" y="1341118"/>
            <a:ext cx="257175" cy="228600"/>
          </a:xfrm>
          <a:custGeom>
            <a:avLst/>
            <a:gdLst/>
            <a:ahLst/>
            <a:cxnLst/>
            <a:rect l="l" t="t" r="r" b="b"/>
            <a:pathLst>
              <a:path w="257175" h="228600">
                <a:moveTo>
                  <a:pt x="21431" y="87422"/>
                </a:moveTo>
                <a:lnTo>
                  <a:pt x="114836" y="125864"/>
                </a:lnTo>
                <a:cubicBezTo>
                  <a:pt x="119211" y="127650"/>
                  <a:pt x="123855" y="128588"/>
                  <a:pt x="128588" y="128588"/>
                </a:cubicBezTo>
                <a:cubicBezTo>
                  <a:pt x="133320" y="128588"/>
                  <a:pt x="137964" y="127650"/>
                  <a:pt x="142339" y="125864"/>
                </a:cubicBezTo>
                <a:lnTo>
                  <a:pt x="250567" y="81305"/>
                </a:lnTo>
                <a:cubicBezTo>
                  <a:pt x="254585" y="79653"/>
                  <a:pt x="257175" y="75768"/>
                  <a:pt x="257175" y="71437"/>
                </a:cubicBezTo>
                <a:cubicBezTo>
                  <a:pt x="257175" y="67107"/>
                  <a:pt x="254585" y="63222"/>
                  <a:pt x="250567" y="61570"/>
                </a:cubicBezTo>
                <a:lnTo>
                  <a:pt x="142339" y="17011"/>
                </a:lnTo>
                <a:cubicBezTo>
                  <a:pt x="137964" y="15225"/>
                  <a:pt x="133320" y="14288"/>
                  <a:pt x="128588" y="14288"/>
                </a:cubicBezTo>
                <a:cubicBezTo>
                  <a:pt x="123855" y="14288"/>
                  <a:pt x="119211" y="15225"/>
                  <a:pt x="114836" y="17011"/>
                </a:cubicBezTo>
                <a:lnTo>
                  <a:pt x="6608" y="61570"/>
                </a:lnTo>
                <a:cubicBezTo>
                  <a:pt x="2590" y="63222"/>
                  <a:pt x="0" y="67107"/>
                  <a:pt x="0" y="71438"/>
                </a:cubicBezTo>
                <a:lnTo>
                  <a:pt x="0" y="203597"/>
                </a:lnTo>
                <a:cubicBezTo>
                  <a:pt x="0" y="209535"/>
                  <a:pt x="4777" y="214313"/>
                  <a:pt x="10716" y="214313"/>
                </a:cubicBezTo>
                <a:cubicBezTo>
                  <a:pt x="16654" y="214313"/>
                  <a:pt x="21431" y="209535"/>
                  <a:pt x="21431" y="203597"/>
                </a:cubicBezTo>
                <a:lnTo>
                  <a:pt x="21431" y="87422"/>
                </a:lnTo>
                <a:close/>
                <a:moveTo>
                  <a:pt x="42863" y="119435"/>
                </a:moveTo>
                <a:lnTo>
                  <a:pt x="42863" y="171450"/>
                </a:lnTo>
                <a:cubicBezTo>
                  <a:pt x="42863" y="195114"/>
                  <a:pt x="81260" y="214313"/>
                  <a:pt x="128588" y="214313"/>
                </a:cubicBezTo>
                <a:cubicBezTo>
                  <a:pt x="175915" y="214313"/>
                  <a:pt x="214313" y="195114"/>
                  <a:pt x="214313" y="171450"/>
                </a:cubicBezTo>
                <a:lnTo>
                  <a:pt x="214313" y="119390"/>
                </a:lnTo>
                <a:lnTo>
                  <a:pt x="150510" y="145688"/>
                </a:lnTo>
                <a:cubicBezTo>
                  <a:pt x="143545" y="148545"/>
                  <a:pt x="136133" y="150019"/>
                  <a:pt x="128588" y="150019"/>
                </a:cubicBezTo>
                <a:cubicBezTo>
                  <a:pt x="121042" y="150019"/>
                  <a:pt x="113630" y="148545"/>
                  <a:pt x="106665" y="145688"/>
                </a:cubicBezTo>
                <a:lnTo>
                  <a:pt x="42863" y="119390"/>
                </a:lnTo>
                <a:close/>
              </a:path>
            </a:pathLst>
          </a:custGeom>
          <a:solidFill>
            <a:srgbClr val="2B7FFF"/>
          </a:solidFill>
          <a:ln/>
        </p:spPr>
      </p:sp>
      <p:sp>
        <p:nvSpPr>
          <p:cNvPr id="9" name="Text 7"/>
          <p:cNvSpPr/>
          <p:nvPr/>
        </p:nvSpPr>
        <p:spPr>
          <a:xfrm>
            <a:off x="1074420" y="1322068"/>
            <a:ext cx="1304925"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How AI Learns</a:t>
            </a:r>
            <a:endParaRPr lang="en-US" sz="1600" dirty="0"/>
          </a:p>
        </p:txBody>
      </p:sp>
      <p:sp>
        <p:nvSpPr>
          <p:cNvPr id="10" name="Text 8"/>
          <p:cNvSpPr/>
          <p:nvPr/>
        </p:nvSpPr>
        <p:spPr>
          <a:xfrm>
            <a:off x="502920" y="1760218"/>
            <a:ext cx="6600825"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Just like you learn from practice, </a:t>
            </a:r>
            <a:pPr>
              <a:lnSpc>
                <a:spcPct val="130000"/>
              </a:lnSpc>
            </a:pPr>
            <a:r>
              <a:rPr lang="en-US" sz="1200" b="1" dirty="0">
                <a:solidFill>
                  <a:srgbClr val="2B7FFF"/>
                </a:solidFill>
                <a:latin typeface="Liter" pitchFamily="34" charset="0"/>
                <a:ea typeface="Liter" pitchFamily="34" charset="-122"/>
                <a:cs typeface="Liter" pitchFamily="34" charset="-120"/>
              </a:rPr>
              <a:t>AI learns from data</a:t>
            </a:r>
            <a:pPr>
              <a:lnSpc>
                <a:spcPct val="130000"/>
              </a:lnSpc>
            </a:pPr>
            <a:r>
              <a:rPr lang="en-US" sz="1200" dirty="0">
                <a:solidFill>
                  <a:srgbClr val="EFEFEF"/>
                </a:solidFill>
                <a:latin typeface="Liter" pitchFamily="34" charset="0"/>
                <a:ea typeface="Liter" pitchFamily="34" charset="-122"/>
                <a:cs typeface="Liter" pitchFamily="34" charset="-120"/>
              </a:rPr>
              <a:t>. The more examples it sees, the better it gets at recognizing patterns and making predictions.</a:t>
            </a:r>
            <a:endParaRPr lang="en-US" sz="1600" dirty="0"/>
          </a:p>
        </p:txBody>
      </p:sp>
      <p:sp>
        <p:nvSpPr>
          <p:cNvPr id="11" name="Shape 9"/>
          <p:cNvSpPr/>
          <p:nvPr/>
        </p:nvSpPr>
        <p:spPr>
          <a:xfrm>
            <a:off x="502920" y="2293618"/>
            <a:ext cx="2124075" cy="952500"/>
          </a:xfrm>
          <a:prstGeom prst="roundRect">
            <a:avLst>
              <a:gd name="adj" fmla="val 8000"/>
            </a:avLst>
          </a:prstGeom>
          <a:solidFill>
            <a:srgbClr val="191919"/>
          </a:solidFill>
          <a:ln/>
        </p:spPr>
      </p:sp>
      <p:sp>
        <p:nvSpPr>
          <p:cNvPr id="12" name="Shape 10"/>
          <p:cNvSpPr/>
          <p:nvPr/>
        </p:nvSpPr>
        <p:spPr>
          <a:xfrm>
            <a:off x="1374100" y="2369818"/>
            <a:ext cx="381000" cy="381000"/>
          </a:xfrm>
          <a:prstGeom prst="roundRect">
            <a:avLst>
              <a:gd name="adj" fmla="val 50000"/>
            </a:avLst>
          </a:prstGeom>
          <a:solidFill>
            <a:srgbClr val="2B7FFF">
              <a:alpha val="20000"/>
            </a:srgbClr>
          </a:solidFill>
          <a:ln/>
        </p:spPr>
      </p:sp>
      <p:sp>
        <p:nvSpPr>
          <p:cNvPr id="13" name="Text 11"/>
          <p:cNvSpPr/>
          <p:nvPr/>
        </p:nvSpPr>
        <p:spPr>
          <a:xfrm>
            <a:off x="1496020" y="2446018"/>
            <a:ext cx="133350" cy="228600"/>
          </a:xfrm>
          <a:prstGeom prst="rect">
            <a:avLst/>
          </a:prstGeom>
          <a:noFill/>
          <a:ln/>
        </p:spPr>
        <p:txBody>
          <a:bodyPr wrap="square" lIns="0" tIns="0" rIns="0" bIns="0" rtlCol="0" anchor="ctr"/>
          <a:lstStyle/>
          <a:p>
            <a:pPr algn="ctr">
              <a:lnSpc>
                <a:spcPct val="130000"/>
              </a:lnSpc>
            </a:pPr>
            <a:r>
              <a:rPr lang="en-US" sz="1200" b="1" dirty="0">
                <a:solidFill>
                  <a:srgbClr val="2B7FFF"/>
                </a:solidFill>
                <a:latin typeface="Liter" pitchFamily="34" charset="0"/>
                <a:ea typeface="Liter" pitchFamily="34" charset="-122"/>
                <a:cs typeface="Liter" pitchFamily="34" charset="-120"/>
              </a:rPr>
              <a:t>1</a:t>
            </a:r>
            <a:endParaRPr lang="en-US" sz="1600" dirty="0"/>
          </a:p>
        </p:txBody>
      </p:sp>
      <p:sp>
        <p:nvSpPr>
          <p:cNvPr id="14" name="Text 12"/>
          <p:cNvSpPr/>
          <p:nvPr/>
        </p:nvSpPr>
        <p:spPr>
          <a:xfrm>
            <a:off x="545782" y="2788918"/>
            <a:ext cx="2038350" cy="190500"/>
          </a:xfrm>
          <a:prstGeom prst="rect">
            <a:avLst/>
          </a:prstGeom>
          <a:noFill/>
          <a:ln/>
        </p:spPr>
        <p:txBody>
          <a:bodyPr wrap="square" lIns="0" tIns="0" rIns="0" bIns="0" rtlCol="0" anchor="ctr"/>
          <a:lstStyle/>
          <a:p>
            <a:pPr algn="ctr">
              <a:lnSpc>
                <a:spcPct val="120000"/>
              </a:lnSpc>
            </a:pPr>
            <a:r>
              <a:rPr lang="en-US" sz="1050" b="1" dirty="0">
                <a:solidFill>
                  <a:srgbClr val="EFEFEF"/>
                </a:solidFill>
                <a:latin typeface="Liter" pitchFamily="34" charset="0"/>
                <a:ea typeface="Liter" pitchFamily="34" charset="-122"/>
                <a:cs typeface="Liter" pitchFamily="34" charset="-120"/>
              </a:rPr>
              <a:t>Collect Data</a:t>
            </a:r>
            <a:endParaRPr lang="en-US" sz="1600" dirty="0"/>
          </a:p>
        </p:txBody>
      </p:sp>
      <p:sp>
        <p:nvSpPr>
          <p:cNvPr id="15" name="Text 13"/>
          <p:cNvSpPr/>
          <p:nvPr/>
        </p:nvSpPr>
        <p:spPr>
          <a:xfrm>
            <a:off x="545782" y="2979418"/>
            <a:ext cx="2038350" cy="190500"/>
          </a:xfrm>
          <a:prstGeom prst="rect">
            <a:avLst/>
          </a:prstGeom>
          <a:noFill/>
          <a:ln/>
        </p:spPr>
        <p:txBody>
          <a:bodyPr wrap="square" lIns="0" tIns="0" rIns="0" bIns="0" rtlCol="0" anchor="ctr"/>
          <a:lstStyle/>
          <a:p>
            <a:pPr algn="ctr">
              <a:lnSpc>
                <a:spcPct val="120000"/>
              </a:lnSpc>
            </a:pPr>
            <a:r>
              <a:rPr lang="en-US" sz="1050" dirty="0">
                <a:solidFill>
                  <a:srgbClr val="8F8F8F"/>
                </a:solidFill>
                <a:latin typeface="Liter" pitchFamily="34" charset="0"/>
                <a:ea typeface="Liter" pitchFamily="34" charset="-122"/>
                <a:cs typeface="Liter" pitchFamily="34" charset="-120"/>
              </a:rPr>
              <a:t>Gather examples</a:t>
            </a:r>
            <a:endParaRPr lang="en-US" sz="1600" dirty="0"/>
          </a:p>
        </p:txBody>
      </p:sp>
      <p:sp>
        <p:nvSpPr>
          <p:cNvPr id="16" name="Shape 14"/>
          <p:cNvSpPr/>
          <p:nvPr/>
        </p:nvSpPr>
        <p:spPr>
          <a:xfrm>
            <a:off x="2702481" y="2293618"/>
            <a:ext cx="2124075" cy="952500"/>
          </a:xfrm>
          <a:prstGeom prst="roundRect">
            <a:avLst>
              <a:gd name="adj" fmla="val 8000"/>
            </a:avLst>
          </a:prstGeom>
          <a:solidFill>
            <a:srgbClr val="191919"/>
          </a:solidFill>
          <a:ln/>
        </p:spPr>
      </p:sp>
      <p:sp>
        <p:nvSpPr>
          <p:cNvPr id="17" name="Shape 15"/>
          <p:cNvSpPr/>
          <p:nvPr/>
        </p:nvSpPr>
        <p:spPr>
          <a:xfrm>
            <a:off x="3573661" y="2369818"/>
            <a:ext cx="381000" cy="381000"/>
          </a:xfrm>
          <a:prstGeom prst="roundRect">
            <a:avLst>
              <a:gd name="adj" fmla="val 50000"/>
            </a:avLst>
          </a:prstGeom>
          <a:solidFill>
            <a:srgbClr val="2B7FFF">
              <a:alpha val="20000"/>
            </a:srgbClr>
          </a:solidFill>
          <a:ln/>
        </p:spPr>
      </p:sp>
      <p:sp>
        <p:nvSpPr>
          <p:cNvPr id="18" name="Text 16"/>
          <p:cNvSpPr/>
          <p:nvPr/>
        </p:nvSpPr>
        <p:spPr>
          <a:xfrm>
            <a:off x="3681770" y="2446018"/>
            <a:ext cx="161925" cy="228600"/>
          </a:xfrm>
          <a:prstGeom prst="rect">
            <a:avLst/>
          </a:prstGeom>
          <a:noFill/>
          <a:ln/>
        </p:spPr>
        <p:txBody>
          <a:bodyPr wrap="square" lIns="0" tIns="0" rIns="0" bIns="0" rtlCol="0" anchor="ctr"/>
          <a:lstStyle/>
          <a:p>
            <a:pPr algn="ctr">
              <a:lnSpc>
                <a:spcPct val="130000"/>
              </a:lnSpc>
            </a:pPr>
            <a:r>
              <a:rPr lang="en-US" sz="1200" b="1" dirty="0">
                <a:solidFill>
                  <a:srgbClr val="2B7FFF"/>
                </a:solidFill>
                <a:latin typeface="Liter" pitchFamily="34" charset="0"/>
                <a:ea typeface="Liter" pitchFamily="34" charset="-122"/>
                <a:cs typeface="Liter" pitchFamily="34" charset="-120"/>
              </a:rPr>
              <a:t>2</a:t>
            </a:r>
            <a:endParaRPr lang="en-US" sz="1600" dirty="0"/>
          </a:p>
        </p:txBody>
      </p:sp>
      <p:sp>
        <p:nvSpPr>
          <p:cNvPr id="19" name="Text 17"/>
          <p:cNvSpPr/>
          <p:nvPr/>
        </p:nvSpPr>
        <p:spPr>
          <a:xfrm>
            <a:off x="2745343" y="2788918"/>
            <a:ext cx="2038350" cy="190500"/>
          </a:xfrm>
          <a:prstGeom prst="rect">
            <a:avLst/>
          </a:prstGeom>
          <a:noFill/>
          <a:ln/>
        </p:spPr>
        <p:txBody>
          <a:bodyPr wrap="square" lIns="0" tIns="0" rIns="0" bIns="0" rtlCol="0" anchor="ctr"/>
          <a:lstStyle/>
          <a:p>
            <a:pPr algn="ctr">
              <a:lnSpc>
                <a:spcPct val="120000"/>
              </a:lnSpc>
            </a:pPr>
            <a:r>
              <a:rPr lang="en-US" sz="1050" b="1" dirty="0">
                <a:solidFill>
                  <a:srgbClr val="EFEFEF"/>
                </a:solidFill>
                <a:latin typeface="Liter" pitchFamily="34" charset="0"/>
                <a:ea typeface="Liter" pitchFamily="34" charset="-122"/>
                <a:cs typeface="Liter" pitchFamily="34" charset="-120"/>
              </a:rPr>
              <a:t>Find Patterns</a:t>
            </a:r>
            <a:endParaRPr lang="en-US" sz="1600" dirty="0"/>
          </a:p>
        </p:txBody>
      </p:sp>
      <p:sp>
        <p:nvSpPr>
          <p:cNvPr id="20" name="Text 18"/>
          <p:cNvSpPr/>
          <p:nvPr/>
        </p:nvSpPr>
        <p:spPr>
          <a:xfrm>
            <a:off x="2745343" y="2979418"/>
            <a:ext cx="2038350" cy="190500"/>
          </a:xfrm>
          <a:prstGeom prst="rect">
            <a:avLst/>
          </a:prstGeom>
          <a:noFill/>
          <a:ln/>
        </p:spPr>
        <p:txBody>
          <a:bodyPr wrap="square" lIns="0" tIns="0" rIns="0" bIns="0" rtlCol="0" anchor="ctr"/>
          <a:lstStyle/>
          <a:p>
            <a:pPr algn="ctr">
              <a:lnSpc>
                <a:spcPct val="120000"/>
              </a:lnSpc>
            </a:pPr>
            <a:r>
              <a:rPr lang="en-US" sz="1050" dirty="0">
                <a:solidFill>
                  <a:srgbClr val="8F8F8F"/>
                </a:solidFill>
                <a:latin typeface="Liter" pitchFamily="34" charset="0"/>
                <a:ea typeface="Liter" pitchFamily="34" charset="-122"/>
                <a:cs typeface="Liter" pitchFamily="34" charset="-120"/>
              </a:rPr>
              <a:t>Discover rules</a:t>
            </a:r>
            <a:endParaRPr lang="en-US" sz="1600" dirty="0"/>
          </a:p>
        </p:txBody>
      </p:sp>
      <p:sp>
        <p:nvSpPr>
          <p:cNvPr id="21" name="Shape 19"/>
          <p:cNvSpPr/>
          <p:nvPr/>
        </p:nvSpPr>
        <p:spPr>
          <a:xfrm>
            <a:off x="4902161" y="2293618"/>
            <a:ext cx="2124075" cy="952500"/>
          </a:xfrm>
          <a:prstGeom prst="roundRect">
            <a:avLst>
              <a:gd name="adj" fmla="val 8000"/>
            </a:avLst>
          </a:prstGeom>
          <a:solidFill>
            <a:srgbClr val="191919"/>
          </a:solidFill>
          <a:ln/>
        </p:spPr>
      </p:sp>
      <p:sp>
        <p:nvSpPr>
          <p:cNvPr id="22" name="Shape 20"/>
          <p:cNvSpPr/>
          <p:nvPr/>
        </p:nvSpPr>
        <p:spPr>
          <a:xfrm>
            <a:off x="5773341" y="2369818"/>
            <a:ext cx="381000" cy="381000"/>
          </a:xfrm>
          <a:prstGeom prst="roundRect">
            <a:avLst>
              <a:gd name="adj" fmla="val 50000"/>
            </a:avLst>
          </a:prstGeom>
          <a:solidFill>
            <a:srgbClr val="2B7FFF">
              <a:alpha val="20000"/>
            </a:srgbClr>
          </a:solidFill>
          <a:ln/>
        </p:spPr>
      </p:sp>
      <p:sp>
        <p:nvSpPr>
          <p:cNvPr id="23" name="Text 21"/>
          <p:cNvSpPr/>
          <p:nvPr/>
        </p:nvSpPr>
        <p:spPr>
          <a:xfrm>
            <a:off x="5880735" y="2446018"/>
            <a:ext cx="161925" cy="228600"/>
          </a:xfrm>
          <a:prstGeom prst="rect">
            <a:avLst/>
          </a:prstGeom>
          <a:noFill/>
          <a:ln/>
        </p:spPr>
        <p:txBody>
          <a:bodyPr wrap="square" lIns="0" tIns="0" rIns="0" bIns="0" rtlCol="0" anchor="ctr"/>
          <a:lstStyle/>
          <a:p>
            <a:pPr algn="ctr">
              <a:lnSpc>
                <a:spcPct val="130000"/>
              </a:lnSpc>
            </a:pPr>
            <a:r>
              <a:rPr lang="en-US" sz="1200" b="1" dirty="0">
                <a:solidFill>
                  <a:srgbClr val="2B7FFF"/>
                </a:solidFill>
                <a:latin typeface="Liter" pitchFamily="34" charset="0"/>
                <a:ea typeface="Liter" pitchFamily="34" charset="-122"/>
                <a:cs typeface="Liter" pitchFamily="34" charset="-120"/>
              </a:rPr>
              <a:t>3</a:t>
            </a:r>
            <a:endParaRPr lang="en-US" sz="1600" dirty="0"/>
          </a:p>
        </p:txBody>
      </p:sp>
      <p:sp>
        <p:nvSpPr>
          <p:cNvPr id="24" name="Text 22"/>
          <p:cNvSpPr/>
          <p:nvPr/>
        </p:nvSpPr>
        <p:spPr>
          <a:xfrm>
            <a:off x="4945023" y="2788918"/>
            <a:ext cx="2038350" cy="190500"/>
          </a:xfrm>
          <a:prstGeom prst="rect">
            <a:avLst/>
          </a:prstGeom>
          <a:noFill/>
          <a:ln/>
        </p:spPr>
        <p:txBody>
          <a:bodyPr wrap="square" lIns="0" tIns="0" rIns="0" bIns="0" rtlCol="0" anchor="ctr"/>
          <a:lstStyle/>
          <a:p>
            <a:pPr algn="ctr">
              <a:lnSpc>
                <a:spcPct val="120000"/>
              </a:lnSpc>
            </a:pPr>
            <a:r>
              <a:rPr lang="en-US" sz="1050" b="1" dirty="0">
                <a:solidFill>
                  <a:srgbClr val="EFEFEF"/>
                </a:solidFill>
                <a:latin typeface="Liter" pitchFamily="34" charset="0"/>
                <a:ea typeface="Liter" pitchFamily="34" charset="-122"/>
                <a:cs typeface="Liter" pitchFamily="34" charset="-120"/>
              </a:rPr>
              <a:t>Make Predictions</a:t>
            </a:r>
            <a:endParaRPr lang="en-US" sz="1600" dirty="0"/>
          </a:p>
        </p:txBody>
      </p:sp>
      <p:sp>
        <p:nvSpPr>
          <p:cNvPr id="25" name="Text 23"/>
          <p:cNvSpPr/>
          <p:nvPr/>
        </p:nvSpPr>
        <p:spPr>
          <a:xfrm>
            <a:off x="4945023" y="2979418"/>
            <a:ext cx="2038350" cy="190500"/>
          </a:xfrm>
          <a:prstGeom prst="rect">
            <a:avLst/>
          </a:prstGeom>
          <a:noFill/>
          <a:ln/>
        </p:spPr>
        <p:txBody>
          <a:bodyPr wrap="square" lIns="0" tIns="0" rIns="0" bIns="0" rtlCol="0" anchor="ctr"/>
          <a:lstStyle/>
          <a:p>
            <a:pPr algn="ctr">
              <a:lnSpc>
                <a:spcPct val="120000"/>
              </a:lnSpc>
            </a:pPr>
            <a:r>
              <a:rPr lang="en-US" sz="1050" dirty="0">
                <a:solidFill>
                  <a:srgbClr val="8F8F8F"/>
                </a:solidFill>
                <a:latin typeface="Liter" pitchFamily="34" charset="0"/>
                <a:ea typeface="Liter" pitchFamily="34" charset="-122"/>
                <a:cs typeface="Liter" pitchFamily="34" charset="-120"/>
              </a:rPr>
              <a:t>Apply learning</a:t>
            </a:r>
            <a:endParaRPr lang="en-US" sz="1600" dirty="0"/>
          </a:p>
        </p:txBody>
      </p:sp>
      <p:sp>
        <p:nvSpPr>
          <p:cNvPr id="26" name="Shape 24"/>
          <p:cNvSpPr/>
          <p:nvPr/>
        </p:nvSpPr>
        <p:spPr>
          <a:xfrm>
            <a:off x="384810" y="3448056"/>
            <a:ext cx="6760845" cy="2065020"/>
          </a:xfrm>
          <a:prstGeom prst="roundRect">
            <a:avLst>
              <a:gd name="adj" fmla="val 5535"/>
            </a:avLst>
          </a:prstGeom>
          <a:solidFill>
            <a:srgbClr val="262626"/>
          </a:solidFill>
          <a:ln w="10160">
            <a:solidFill>
              <a:srgbClr val="333333"/>
            </a:solidFill>
            <a:prstDash val="solid"/>
          </a:ln>
        </p:spPr>
      </p:sp>
      <p:sp>
        <p:nvSpPr>
          <p:cNvPr id="27" name="Shape 25"/>
          <p:cNvSpPr/>
          <p:nvPr/>
        </p:nvSpPr>
        <p:spPr>
          <a:xfrm>
            <a:off x="538639" y="3604264"/>
            <a:ext cx="166688" cy="190500"/>
          </a:xfrm>
          <a:custGeom>
            <a:avLst/>
            <a:gdLst/>
            <a:ahLst/>
            <a:cxnLst/>
            <a:rect l="l" t="t" r="r" b="b"/>
            <a:pathLst>
              <a:path w="166688" h="190500">
                <a:moveTo>
                  <a:pt x="142875" y="190500"/>
                </a:moveTo>
                <a:lnTo>
                  <a:pt x="35719" y="190500"/>
                </a:lnTo>
                <a:cubicBezTo>
                  <a:pt x="15999" y="190500"/>
                  <a:pt x="0" y="174501"/>
                  <a:pt x="0" y="154781"/>
                </a:cubicBezTo>
                <a:lnTo>
                  <a:pt x="0" y="35719"/>
                </a:lnTo>
                <a:cubicBezTo>
                  <a:pt x="0" y="15999"/>
                  <a:pt x="15999" y="0"/>
                  <a:pt x="35719" y="0"/>
                </a:cubicBezTo>
                <a:lnTo>
                  <a:pt x="148828" y="0"/>
                </a:lnTo>
                <a:cubicBezTo>
                  <a:pt x="158688" y="0"/>
                  <a:pt x="166688" y="8000"/>
                  <a:pt x="166688" y="17859"/>
                </a:cubicBezTo>
                <a:lnTo>
                  <a:pt x="166688" y="125016"/>
                </a:lnTo>
                <a:cubicBezTo>
                  <a:pt x="166688" y="132792"/>
                  <a:pt x="161702" y="139415"/>
                  <a:pt x="154781" y="141870"/>
                </a:cubicBezTo>
                <a:lnTo>
                  <a:pt x="154781" y="166688"/>
                </a:lnTo>
                <a:cubicBezTo>
                  <a:pt x="161367" y="166688"/>
                  <a:pt x="166688" y="172008"/>
                  <a:pt x="166688" y="178594"/>
                </a:cubicBezTo>
                <a:cubicBezTo>
                  <a:pt x="166688" y="185179"/>
                  <a:pt x="161367" y="190500"/>
                  <a:pt x="154781" y="190500"/>
                </a:cubicBezTo>
                <a:lnTo>
                  <a:pt x="142875" y="190500"/>
                </a:lnTo>
                <a:close/>
                <a:moveTo>
                  <a:pt x="35719" y="142875"/>
                </a:moveTo>
                <a:cubicBezTo>
                  <a:pt x="29133" y="142875"/>
                  <a:pt x="23812" y="148196"/>
                  <a:pt x="23812" y="154781"/>
                </a:cubicBezTo>
                <a:cubicBezTo>
                  <a:pt x="23812" y="161367"/>
                  <a:pt x="29133" y="166688"/>
                  <a:pt x="35719" y="166688"/>
                </a:cubicBezTo>
                <a:lnTo>
                  <a:pt x="130969" y="166688"/>
                </a:lnTo>
                <a:lnTo>
                  <a:pt x="130969" y="142875"/>
                </a:lnTo>
                <a:lnTo>
                  <a:pt x="35719" y="142875"/>
                </a:lnTo>
                <a:close/>
                <a:moveTo>
                  <a:pt x="47625" y="56555"/>
                </a:moveTo>
                <a:cubicBezTo>
                  <a:pt x="47625" y="61503"/>
                  <a:pt x="51606" y="65484"/>
                  <a:pt x="56555" y="65484"/>
                </a:cubicBezTo>
                <a:lnTo>
                  <a:pt x="122039" y="65484"/>
                </a:lnTo>
                <a:cubicBezTo>
                  <a:pt x="126988" y="65484"/>
                  <a:pt x="130969" y="61503"/>
                  <a:pt x="130969" y="56555"/>
                </a:cubicBezTo>
                <a:cubicBezTo>
                  <a:pt x="130969" y="51606"/>
                  <a:pt x="126988" y="47625"/>
                  <a:pt x="122039" y="47625"/>
                </a:cubicBezTo>
                <a:lnTo>
                  <a:pt x="56555" y="47625"/>
                </a:lnTo>
                <a:cubicBezTo>
                  <a:pt x="51606" y="47625"/>
                  <a:pt x="47625" y="51606"/>
                  <a:pt x="47625" y="56555"/>
                </a:cubicBezTo>
                <a:close/>
                <a:moveTo>
                  <a:pt x="56555" y="83344"/>
                </a:moveTo>
                <a:cubicBezTo>
                  <a:pt x="51606" y="83344"/>
                  <a:pt x="47625" y="87325"/>
                  <a:pt x="47625" y="92273"/>
                </a:cubicBezTo>
                <a:cubicBezTo>
                  <a:pt x="47625" y="97222"/>
                  <a:pt x="51606" y="101203"/>
                  <a:pt x="56555" y="101203"/>
                </a:cubicBezTo>
                <a:lnTo>
                  <a:pt x="122039" y="101203"/>
                </a:lnTo>
                <a:cubicBezTo>
                  <a:pt x="126988" y="101203"/>
                  <a:pt x="130969" y="97222"/>
                  <a:pt x="130969" y="92273"/>
                </a:cubicBezTo>
                <a:cubicBezTo>
                  <a:pt x="130969" y="87325"/>
                  <a:pt x="126988" y="83344"/>
                  <a:pt x="122039" y="83344"/>
                </a:cubicBezTo>
                <a:lnTo>
                  <a:pt x="56555" y="83344"/>
                </a:lnTo>
                <a:close/>
              </a:path>
            </a:pathLst>
          </a:custGeom>
          <a:solidFill>
            <a:srgbClr val="2B7FFF"/>
          </a:solidFill>
          <a:ln/>
        </p:spPr>
      </p:sp>
      <p:sp>
        <p:nvSpPr>
          <p:cNvPr id="28" name="Text 26"/>
          <p:cNvSpPr/>
          <p:nvPr/>
        </p:nvSpPr>
        <p:spPr>
          <a:xfrm>
            <a:off x="741045" y="3566164"/>
            <a:ext cx="6381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Types of Learning</a:t>
            </a:r>
            <a:endParaRPr lang="en-US" sz="1600" dirty="0"/>
          </a:p>
        </p:txBody>
      </p:sp>
      <p:sp>
        <p:nvSpPr>
          <p:cNvPr id="29" name="Shape 27"/>
          <p:cNvSpPr/>
          <p:nvPr/>
        </p:nvSpPr>
        <p:spPr>
          <a:xfrm>
            <a:off x="502920" y="3947164"/>
            <a:ext cx="190500" cy="152400"/>
          </a:xfrm>
          <a:custGeom>
            <a:avLst/>
            <a:gdLst/>
            <a:ahLst/>
            <a:cxnLst/>
            <a:rect l="l" t="t" r="r" b="b"/>
            <a:pathLst>
              <a:path w="190500" h="152400">
                <a:moveTo>
                  <a:pt x="38100" y="28575"/>
                </a:moveTo>
                <a:cubicBezTo>
                  <a:pt x="38100" y="18068"/>
                  <a:pt x="46643" y="9525"/>
                  <a:pt x="57150" y="9525"/>
                </a:cubicBezTo>
                <a:lnTo>
                  <a:pt x="161925" y="9525"/>
                </a:lnTo>
                <a:cubicBezTo>
                  <a:pt x="172432" y="9525"/>
                  <a:pt x="180975" y="18068"/>
                  <a:pt x="180975" y="28575"/>
                </a:cubicBezTo>
                <a:lnTo>
                  <a:pt x="180975" y="100013"/>
                </a:lnTo>
                <a:lnTo>
                  <a:pt x="152400" y="100013"/>
                </a:lnTo>
                <a:lnTo>
                  <a:pt x="152400" y="95250"/>
                </a:lnTo>
                <a:cubicBezTo>
                  <a:pt x="152400" y="89981"/>
                  <a:pt x="148144" y="85725"/>
                  <a:pt x="142875" y="85725"/>
                </a:cubicBezTo>
                <a:lnTo>
                  <a:pt x="123825" y="85725"/>
                </a:lnTo>
                <a:cubicBezTo>
                  <a:pt x="118556" y="85725"/>
                  <a:pt x="114300" y="89981"/>
                  <a:pt x="114300" y="95250"/>
                </a:cubicBezTo>
                <a:lnTo>
                  <a:pt x="114300" y="100013"/>
                </a:lnTo>
                <a:lnTo>
                  <a:pt x="75873" y="100013"/>
                </a:lnTo>
                <a:cubicBezTo>
                  <a:pt x="79117" y="94417"/>
                  <a:pt x="80962" y="87898"/>
                  <a:pt x="80962" y="80962"/>
                </a:cubicBezTo>
                <a:cubicBezTo>
                  <a:pt x="80962" y="59918"/>
                  <a:pt x="63907" y="42863"/>
                  <a:pt x="42863" y="42863"/>
                </a:cubicBezTo>
                <a:cubicBezTo>
                  <a:pt x="41255" y="42863"/>
                  <a:pt x="39648" y="42952"/>
                  <a:pt x="38100" y="43160"/>
                </a:cubicBezTo>
                <a:lnTo>
                  <a:pt x="38100" y="28575"/>
                </a:lnTo>
                <a:close/>
                <a:moveTo>
                  <a:pt x="99120" y="133350"/>
                </a:moveTo>
                <a:cubicBezTo>
                  <a:pt x="97601" y="126147"/>
                  <a:pt x="94268" y="119628"/>
                  <a:pt x="89565" y="114300"/>
                </a:cubicBezTo>
                <a:lnTo>
                  <a:pt x="180975" y="114300"/>
                </a:lnTo>
                <a:cubicBezTo>
                  <a:pt x="180975" y="124807"/>
                  <a:pt x="172432" y="133350"/>
                  <a:pt x="161925" y="133350"/>
                </a:cubicBezTo>
                <a:lnTo>
                  <a:pt x="99120" y="133350"/>
                </a:lnTo>
                <a:close/>
                <a:moveTo>
                  <a:pt x="19050" y="80962"/>
                </a:moveTo>
                <a:cubicBezTo>
                  <a:pt x="19050" y="67820"/>
                  <a:pt x="29720" y="57150"/>
                  <a:pt x="42862" y="57150"/>
                </a:cubicBezTo>
                <a:cubicBezTo>
                  <a:pt x="56005" y="57150"/>
                  <a:pt x="66675" y="67820"/>
                  <a:pt x="66675" y="80962"/>
                </a:cubicBezTo>
                <a:cubicBezTo>
                  <a:pt x="66675" y="94105"/>
                  <a:pt x="56005" y="104775"/>
                  <a:pt x="42863" y="104775"/>
                </a:cubicBezTo>
                <a:cubicBezTo>
                  <a:pt x="29720" y="104775"/>
                  <a:pt x="19050" y="94105"/>
                  <a:pt x="19050" y="80962"/>
                </a:cubicBezTo>
                <a:close/>
                <a:moveTo>
                  <a:pt x="0" y="142875"/>
                </a:moveTo>
                <a:cubicBezTo>
                  <a:pt x="0" y="127099"/>
                  <a:pt x="12799" y="114300"/>
                  <a:pt x="28575" y="114300"/>
                </a:cubicBezTo>
                <a:lnTo>
                  <a:pt x="57150" y="114300"/>
                </a:lnTo>
                <a:cubicBezTo>
                  <a:pt x="72926" y="114300"/>
                  <a:pt x="85725" y="127099"/>
                  <a:pt x="85725" y="142875"/>
                </a:cubicBezTo>
                <a:cubicBezTo>
                  <a:pt x="85725" y="148144"/>
                  <a:pt x="81469" y="152400"/>
                  <a:pt x="76200" y="152400"/>
                </a:cubicBezTo>
                <a:lnTo>
                  <a:pt x="9525" y="152400"/>
                </a:lnTo>
                <a:cubicBezTo>
                  <a:pt x="4256" y="152400"/>
                  <a:pt x="0" y="148144"/>
                  <a:pt x="0" y="142875"/>
                </a:cubicBezTo>
                <a:close/>
              </a:path>
            </a:pathLst>
          </a:custGeom>
          <a:solidFill>
            <a:srgbClr val="2B7FFF"/>
          </a:solidFill>
          <a:ln/>
        </p:spPr>
      </p:sp>
      <p:sp>
        <p:nvSpPr>
          <p:cNvPr id="30" name="Text 28"/>
          <p:cNvSpPr/>
          <p:nvPr/>
        </p:nvSpPr>
        <p:spPr>
          <a:xfrm>
            <a:off x="807720" y="3909064"/>
            <a:ext cx="441007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Supervised Learning</a:t>
            </a:r>
            <a:endParaRPr lang="en-US" sz="1600" dirty="0"/>
          </a:p>
        </p:txBody>
      </p:sp>
      <p:sp>
        <p:nvSpPr>
          <p:cNvPr id="31" name="Text 29"/>
          <p:cNvSpPr/>
          <p:nvPr/>
        </p:nvSpPr>
        <p:spPr>
          <a:xfrm>
            <a:off x="807720" y="4137664"/>
            <a:ext cx="441007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AI learns from labeled examples (like a teacher showing answers)</a:t>
            </a:r>
            <a:endParaRPr lang="en-US" sz="1600" dirty="0"/>
          </a:p>
        </p:txBody>
      </p:sp>
      <p:sp>
        <p:nvSpPr>
          <p:cNvPr id="32" name="Shape 30"/>
          <p:cNvSpPr/>
          <p:nvPr/>
        </p:nvSpPr>
        <p:spPr>
          <a:xfrm>
            <a:off x="521970" y="4461514"/>
            <a:ext cx="152400" cy="152400"/>
          </a:xfrm>
          <a:custGeom>
            <a:avLst/>
            <a:gdLst/>
            <a:ahLst/>
            <a:cxnLst/>
            <a:rect l="l" t="t" r="r" b="b"/>
            <a:pathLst>
              <a:path w="152400" h="152400">
                <a:moveTo>
                  <a:pt x="123825" y="61912"/>
                </a:moveTo>
                <a:cubicBezTo>
                  <a:pt x="123825" y="75575"/>
                  <a:pt x="119390" y="88196"/>
                  <a:pt x="111919" y="98435"/>
                </a:cubicBezTo>
                <a:lnTo>
                  <a:pt x="149602" y="136148"/>
                </a:lnTo>
                <a:cubicBezTo>
                  <a:pt x="153323" y="139869"/>
                  <a:pt x="153323" y="145911"/>
                  <a:pt x="149602" y="149632"/>
                </a:cubicBezTo>
                <a:cubicBezTo>
                  <a:pt x="145881" y="153353"/>
                  <a:pt x="139839" y="153353"/>
                  <a:pt x="136118" y="149632"/>
                </a:cubicBezTo>
                <a:lnTo>
                  <a:pt x="98435" y="111919"/>
                </a:lnTo>
                <a:cubicBezTo>
                  <a:pt x="88196" y="119390"/>
                  <a:pt x="75575" y="123825"/>
                  <a:pt x="61912" y="123825"/>
                </a:cubicBezTo>
                <a:cubicBezTo>
                  <a:pt x="27712" y="123825"/>
                  <a:pt x="0" y="96113"/>
                  <a:pt x="0" y="61912"/>
                </a:cubicBezTo>
                <a:cubicBezTo>
                  <a:pt x="0" y="27712"/>
                  <a:pt x="27712" y="0"/>
                  <a:pt x="61912" y="0"/>
                </a:cubicBezTo>
                <a:cubicBezTo>
                  <a:pt x="96113" y="0"/>
                  <a:pt x="123825" y="27712"/>
                  <a:pt x="123825" y="61912"/>
                </a:cubicBezTo>
                <a:close/>
                <a:moveTo>
                  <a:pt x="61912" y="104775"/>
                </a:moveTo>
                <a:cubicBezTo>
                  <a:pt x="85569" y="104775"/>
                  <a:pt x="104775" y="85569"/>
                  <a:pt x="104775" y="61912"/>
                </a:cubicBezTo>
                <a:cubicBezTo>
                  <a:pt x="104775" y="38256"/>
                  <a:pt x="85569" y="19050"/>
                  <a:pt x="61912" y="19050"/>
                </a:cubicBezTo>
                <a:cubicBezTo>
                  <a:pt x="38256" y="19050"/>
                  <a:pt x="19050" y="38256"/>
                  <a:pt x="19050" y="61912"/>
                </a:cubicBezTo>
                <a:cubicBezTo>
                  <a:pt x="19050" y="85569"/>
                  <a:pt x="38256" y="104775"/>
                  <a:pt x="61912" y="104775"/>
                </a:cubicBezTo>
                <a:close/>
              </a:path>
            </a:pathLst>
          </a:custGeom>
          <a:solidFill>
            <a:srgbClr val="2B7FFF"/>
          </a:solidFill>
          <a:ln/>
        </p:spPr>
      </p:sp>
      <p:sp>
        <p:nvSpPr>
          <p:cNvPr id="33" name="Text 31"/>
          <p:cNvSpPr/>
          <p:nvPr/>
        </p:nvSpPr>
        <p:spPr>
          <a:xfrm>
            <a:off x="807720" y="4423414"/>
            <a:ext cx="38576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Unsupervised Learning</a:t>
            </a:r>
            <a:endParaRPr lang="en-US" sz="1600" dirty="0"/>
          </a:p>
        </p:txBody>
      </p:sp>
      <p:sp>
        <p:nvSpPr>
          <p:cNvPr id="34" name="Text 32"/>
          <p:cNvSpPr/>
          <p:nvPr/>
        </p:nvSpPr>
        <p:spPr>
          <a:xfrm>
            <a:off x="807720" y="4652014"/>
            <a:ext cx="38576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AI finds patterns on its own (like sorting toys by yourself)</a:t>
            </a:r>
            <a:endParaRPr lang="en-US" sz="1600" dirty="0"/>
          </a:p>
        </p:txBody>
      </p:sp>
      <p:sp>
        <p:nvSpPr>
          <p:cNvPr id="35" name="Shape 33"/>
          <p:cNvSpPr/>
          <p:nvPr/>
        </p:nvSpPr>
        <p:spPr>
          <a:xfrm>
            <a:off x="502920" y="4975864"/>
            <a:ext cx="190500" cy="152400"/>
          </a:xfrm>
          <a:custGeom>
            <a:avLst/>
            <a:gdLst/>
            <a:ahLst/>
            <a:cxnLst/>
            <a:rect l="l" t="t" r="r" b="b"/>
            <a:pathLst>
              <a:path w="190500" h="152400">
                <a:moveTo>
                  <a:pt x="133350" y="19050"/>
                </a:moveTo>
                <a:cubicBezTo>
                  <a:pt x="164902" y="19050"/>
                  <a:pt x="190500" y="44648"/>
                  <a:pt x="190500" y="76200"/>
                </a:cubicBezTo>
                <a:cubicBezTo>
                  <a:pt x="190500" y="107752"/>
                  <a:pt x="164902" y="133350"/>
                  <a:pt x="133350" y="133350"/>
                </a:cubicBezTo>
                <a:lnTo>
                  <a:pt x="57150" y="133350"/>
                </a:lnTo>
                <a:cubicBezTo>
                  <a:pt x="25598" y="133350"/>
                  <a:pt x="0" y="107752"/>
                  <a:pt x="0" y="76200"/>
                </a:cubicBezTo>
                <a:cubicBezTo>
                  <a:pt x="0" y="44648"/>
                  <a:pt x="25598" y="19050"/>
                  <a:pt x="57150" y="19050"/>
                </a:cubicBezTo>
                <a:lnTo>
                  <a:pt x="133350" y="19050"/>
                </a:lnTo>
                <a:close/>
                <a:moveTo>
                  <a:pt x="57150" y="52388"/>
                </a:moveTo>
                <a:cubicBezTo>
                  <a:pt x="53191" y="52388"/>
                  <a:pt x="50006" y="55572"/>
                  <a:pt x="50006" y="59531"/>
                </a:cubicBezTo>
                <a:lnTo>
                  <a:pt x="50006" y="69056"/>
                </a:lnTo>
                <a:lnTo>
                  <a:pt x="40481" y="69056"/>
                </a:lnTo>
                <a:cubicBezTo>
                  <a:pt x="36522" y="69056"/>
                  <a:pt x="33338" y="72241"/>
                  <a:pt x="33338" y="76200"/>
                </a:cubicBezTo>
                <a:cubicBezTo>
                  <a:pt x="33338" y="80159"/>
                  <a:pt x="36522" y="83344"/>
                  <a:pt x="40481" y="83344"/>
                </a:cubicBezTo>
                <a:lnTo>
                  <a:pt x="50006" y="83344"/>
                </a:lnTo>
                <a:lnTo>
                  <a:pt x="50006" y="92869"/>
                </a:lnTo>
                <a:cubicBezTo>
                  <a:pt x="50006" y="96828"/>
                  <a:pt x="53191" y="100013"/>
                  <a:pt x="57150" y="100013"/>
                </a:cubicBezTo>
                <a:cubicBezTo>
                  <a:pt x="61109" y="100013"/>
                  <a:pt x="64294" y="96828"/>
                  <a:pt x="64294" y="92869"/>
                </a:cubicBezTo>
                <a:lnTo>
                  <a:pt x="64294" y="83344"/>
                </a:lnTo>
                <a:lnTo>
                  <a:pt x="73819" y="83344"/>
                </a:lnTo>
                <a:cubicBezTo>
                  <a:pt x="77778" y="83344"/>
                  <a:pt x="80962" y="80159"/>
                  <a:pt x="80962" y="76200"/>
                </a:cubicBezTo>
                <a:cubicBezTo>
                  <a:pt x="80962" y="72241"/>
                  <a:pt x="77778" y="69056"/>
                  <a:pt x="73819" y="69056"/>
                </a:cubicBezTo>
                <a:lnTo>
                  <a:pt x="64294" y="69056"/>
                </a:lnTo>
                <a:lnTo>
                  <a:pt x="64294" y="59531"/>
                </a:lnTo>
                <a:cubicBezTo>
                  <a:pt x="64294" y="55572"/>
                  <a:pt x="61109" y="52388"/>
                  <a:pt x="57150" y="52388"/>
                </a:cubicBezTo>
                <a:close/>
                <a:moveTo>
                  <a:pt x="128588" y="80962"/>
                </a:moveTo>
                <a:cubicBezTo>
                  <a:pt x="123331" y="80962"/>
                  <a:pt x="119062" y="85231"/>
                  <a:pt x="119062" y="90488"/>
                </a:cubicBezTo>
                <a:cubicBezTo>
                  <a:pt x="119062" y="95744"/>
                  <a:pt x="123331" y="100013"/>
                  <a:pt x="128588" y="100013"/>
                </a:cubicBezTo>
                <a:cubicBezTo>
                  <a:pt x="133844" y="100013"/>
                  <a:pt x="138113" y="95744"/>
                  <a:pt x="138113" y="90488"/>
                </a:cubicBezTo>
                <a:cubicBezTo>
                  <a:pt x="138113" y="85231"/>
                  <a:pt x="133844" y="80962"/>
                  <a:pt x="128588" y="80962"/>
                </a:cubicBezTo>
                <a:close/>
                <a:moveTo>
                  <a:pt x="147638" y="52388"/>
                </a:moveTo>
                <a:cubicBezTo>
                  <a:pt x="142381" y="52388"/>
                  <a:pt x="138113" y="56656"/>
                  <a:pt x="138113" y="61912"/>
                </a:cubicBezTo>
                <a:cubicBezTo>
                  <a:pt x="138113" y="67169"/>
                  <a:pt x="142381" y="71438"/>
                  <a:pt x="147638" y="71438"/>
                </a:cubicBezTo>
                <a:cubicBezTo>
                  <a:pt x="152894" y="71438"/>
                  <a:pt x="157163" y="67169"/>
                  <a:pt x="157163" y="61912"/>
                </a:cubicBezTo>
                <a:cubicBezTo>
                  <a:pt x="157163" y="56656"/>
                  <a:pt x="152894" y="52388"/>
                  <a:pt x="147638" y="52388"/>
                </a:cubicBezTo>
                <a:close/>
              </a:path>
            </a:pathLst>
          </a:custGeom>
          <a:solidFill>
            <a:srgbClr val="2B7FFF"/>
          </a:solidFill>
          <a:ln/>
        </p:spPr>
      </p:sp>
      <p:sp>
        <p:nvSpPr>
          <p:cNvPr id="36" name="Text 34"/>
          <p:cNvSpPr/>
          <p:nvPr/>
        </p:nvSpPr>
        <p:spPr>
          <a:xfrm>
            <a:off x="807720" y="4937764"/>
            <a:ext cx="35909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Reinforcement Learning</a:t>
            </a:r>
            <a:endParaRPr lang="en-US" sz="1600" dirty="0"/>
          </a:p>
        </p:txBody>
      </p:sp>
      <p:sp>
        <p:nvSpPr>
          <p:cNvPr id="37" name="Text 35"/>
          <p:cNvSpPr/>
          <p:nvPr/>
        </p:nvSpPr>
        <p:spPr>
          <a:xfrm>
            <a:off x="807720" y="5166364"/>
            <a:ext cx="35909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AI learns by trial and error (like learning to ride a bike)</a:t>
            </a:r>
            <a:endParaRPr lang="en-US" sz="1600" dirty="0"/>
          </a:p>
        </p:txBody>
      </p:sp>
      <p:sp>
        <p:nvSpPr>
          <p:cNvPr id="38" name="Shape 36"/>
          <p:cNvSpPr/>
          <p:nvPr/>
        </p:nvSpPr>
        <p:spPr>
          <a:xfrm>
            <a:off x="7303770" y="1108710"/>
            <a:ext cx="4503420" cy="1798320"/>
          </a:xfrm>
          <a:prstGeom prst="roundRect">
            <a:avLst>
              <a:gd name="adj" fmla="val 6356"/>
            </a:avLst>
          </a:prstGeom>
          <a:gradFill rotWithShape="1" flip="none">
            <a:gsLst>
              <a:gs pos="0">
                <a:srgbClr val="2B7FFF">
                  <a:alpha val="20000"/>
                </a:srgbClr>
              </a:gs>
              <a:gs pos="100000">
                <a:srgbClr val="2B7FFF">
                  <a:alpha val="5000"/>
                </a:srgbClr>
              </a:gs>
            </a:gsLst>
            <a:lin ang="2700000" scaled="1"/>
          </a:gradFill>
          <a:ln w="10160">
            <a:solidFill>
              <a:srgbClr val="2B7FFF"/>
            </a:solidFill>
            <a:prstDash val="solid"/>
          </a:ln>
        </p:spPr>
      </p:sp>
      <p:sp>
        <p:nvSpPr>
          <p:cNvPr id="39" name="Shape 37"/>
          <p:cNvSpPr/>
          <p:nvPr/>
        </p:nvSpPr>
        <p:spPr>
          <a:xfrm>
            <a:off x="7469505" y="1264918"/>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2B7FFF"/>
          </a:solidFill>
          <a:ln/>
        </p:spPr>
      </p:sp>
      <p:sp>
        <p:nvSpPr>
          <p:cNvPr id="40" name="Text 38"/>
          <p:cNvSpPr/>
          <p:nvPr/>
        </p:nvSpPr>
        <p:spPr>
          <a:xfrm>
            <a:off x="7736205" y="1226818"/>
            <a:ext cx="1809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Real-World Example</a:t>
            </a:r>
            <a:endParaRPr lang="en-US" sz="1600" dirty="0"/>
          </a:p>
        </p:txBody>
      </p:sp>
      <p:sp>
        <p:nvSpPr>
          <p:cNvPr id="41" name="Shape 39"/>
          <p:cNvSpPr/>
          <p:nvPr/>
        </p:nvSpPr>
        <p:spPr>
          <a:xfrm>
            <a:off x="7421880" y="1569718"/>
            <a:ext cx="4267200" cy="1219200"/>
          </a:xfrm>
          <a:prstGeom prst="roundRect">
            <a:avLst>
              <a:gd name="adj" fmla="val 6250"/>
            </a:avLst>
          </a:prstGeom>
          <a:solidFill>
            <a:srgbClr val="191919"/>
          </a:solidFill>
          <a:ln/>
        </p:spPr>
      </p:sp>
      <p:sp>
        <p:nvSpPr>
          <p:cNvPr id="42" name="Text 40"/>
          <p:cNvSpPr/>
          <p:nvPr/>
        </p:nvSpPr>
        <p:spPr>
          <a:xfrm>
            <a:off x="7536180" y="1684018"/>
            <a:ext cx="4124325" cy="266700"/>
          </a:xfrm>
          <a:prstGeom prst="rect">
            <a:avLst/>
          </a:prstGeom>
          <a:noFill/>
          <a:ln/>
        </p:spPr>
        <p:txBody>
          <a:bodyPr wrap="square" lIns="0" tIns="0" rIns="0" bIns="0" rtlCol="0" anchor="ctr"/>
          <a:lstStyle/>
          <a:p>
            <a:pPr>
              <a:lnSpc>
                <a:spcPct val="130000"/>
              </a:lnSpc>
            </a:pPr>
            <a:r>
              <a:rPr lang="en-US" sz="1350" b="1" dirty="0">
                <a:solidFill>
                  <a:srgbClr val="2B7FFF"/>
                </a:solidFill>
                <a:latin typeface="Liter" pitchFamily="34" charset="0"/>
                <a:ea typeface="Liter" pitchFamily="34" charset="-122"/>
                <a:cs typeface="Liter" pitchFamily="34" charset="-120"/>
              </a:rPr>
              <a:t>Netflix Recommendations</a:t>
            </a:r>
            <a:endParaRPr lang="en-US" sz="1600" dirty="0"/>
          </a:p>
        </p:txBody>
      </p:sp>
      <p:sp>
        <p:nvSpPr>
          <p:cNvPr id="43" name="Text 41"/>
          <p:cNvSpPr/>
          <p:nvPr/>
        </p:nvSpPr>
        <p:spPr>
          <a:xfrm>
            <a:off x="7536180" y="1988818"/>
            <a:ext cx="41148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Netflix watches what you click, how long you watch, and what you skip. It learns your preferences and suggests shows you'll love. The more you watch, the better it gets!</a:t>
            </a:r>
            <a:endParaRPr lang="en-US" sz="1600" dirty="0"/>
          </a:p>
        </p:txBody>
      </p:sp>
      <p:sp>
        <p:nvSpPr>
          <p:cNvPr id="44" name="Shape 42"/>
          <p:cNvSpPr/>
          <p:nvPr/>
        </p:nvSpPr>
        <p:spPr>
          <a:xfrm>
            <a:off x="7303770" y="2990856"/>
            <a:ext cx="4503420" cy="1264920"/>
          </a:xfrm>
          <a:prstGeom prst="roundRect">
            <a:avLst>
              <a:gd name="adj" fmla="val 9036"/>
            </a:avLst>
          </a:prstGeom>
          <a:solidFill>
            <a:srgbClr val="262626"/>
          </a:solidFill>
          <a:ln w="10160">
            <a:solidFill>
              <a:srgbClr val="333333"/>
            </a:solidFill>
            <a:prstDash val="solid"/>
          </a:ln>
        </p:spPr>
      </p:sp>
      <p:sp>
        <p:nvSpPr>
          <p:cNvPr id="45" name="Text 43"/>
          <p:cNvSpPr/>
          <p:nvPr/>
        </p:nvSpPr>
        <p:spPr>
          <a:xfrm>
            <a:off x="7421880" y="3108964"/>
            <a:ext cx="43529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 Simple Explanation</a:t>
            </a:r>
            <a:endParaRPr lang="en-US" sz="1600" dirty="0"/>
          </a:p>
        </p:txBody>
      </p:sp>
      <p:sp>
        <p:nvSpPr>
          <p:cNvPr id="46" name="Text 44"/>
          <p:cNvSpPr/>
          <p:nvPr/>
        </p:nvSpPr>
        <p:spPr>
          <a:xfrm>
            <a:off x="7421880" y="3451864"/>
            <a:ext cx="43434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Learning is AI's superpower. Instead of programming every rule, we show AI examples and it figures out the rules itself—just like how you learned to recognize cats by seeing many cats!</a:t>
            </a:r>
            <a:endParaRPr lang="en-US" sz="1600" dirty="0"/>
          </a:p>
        </p:txBody>
      </p:sp>
      <p:sp>
        <p:nvSpPr>
          <p:cNvPr id="47" name="Shape 45"/>
          <p:cNvSpPr/>
          <p:nvPr/>
        </p:nvSpPr>
        <p:spPr>
          <a:xfrm>
            <a:off x="7303770" y="4339592"/>
            <a:ext cx="4503420" cy="1874520"/>
          </a:xfrm>
          <a:prstGeom prst="roundRect">
            <a:avLst>
              <a:gd name="adj" fmla="val 6098"/>
            </a:avLst>
          </a:prstGeom>
          <a:solidFill>
            <a:srgbClr val="262626"/>
          </a:solidFill>
          <a:ln w="10160">
            <a:solidFill>
              <a:srgbClr val="333333"/>
            </a:solidFill>
            <a:prstDash val="solid"/>
          </a:ln>
        </p:spPr>
      </p:sp>
      <p:sp>
        <p:nvSpPr>
          <p:cNvPr id="48" name="Shape 46"/>
          <p:cNvSpPr/>
          <p:nvPr/>
        </p:nvSpPr>
        <p:spPr>
          <a:xfrm>
            <a:off x="7456408" y="4505325"/>
            <a:ext cx="150019" cy="171450"/>
          </a:xfrm>
          <a:custGeom>
            <a:avLst/>
            <a:gdLst/>
            <a:ahLst/>
            <a:cxnLst/>
            <a:rect l="l" t="t" r="r" b="b"/>
            <a:pathLst>
              <a:path w="150019" h="171450">
                <a:moveTo>
                  <a:pt x="21431" y="10716"/>
                </a:moveTo>
                <a:cubicBezTo>
                  <a:pt x="9611" y="10716"/>
                  <a:pt x="0" y="20326"/>
                  <a:pt x="0" y="32147"/>
                </a:cubicBezTo>
                <a:lnTo>
                  <a:pt x="0" y="139303"/>
                </a:lnTo>
                <a:cubicBezTo>
                  <a:pt x="0" y="151124"/>
                  <a:pt x="9611" y="160734"/>
                  <a:pt x="21431" y="160734"/>
                </a:cubicBezTo>
                <a:lnTo>
                  <a:pt x="128588" y="160734"/>
                </a:lnTo>
                <a:cubicBezTo>
                  <a:pt x="140408" y="160734"/>
                  <a:pt x="150019" y="151124"/>
                  <a:pt x="150019" y="139303"/>
                </a:cubicBezTo>
                <a:lnTo>
                  <a:pt x="150019" y="32147"/>
                </a:lnTo>
                <a:cubicBezTo>
                  <a:pt x="150019" y="20326"/>
                  <a:pt x="140408" y="10716"/>
                  <a:pt x="128588" y="10716"/>
                </a:cubicBezTo>
                <a:lnTo>
                  <a:pt x="21431" y="10716"/>
                </a:lnTo>
                <a:close/>
                <a:moveTo>
                  <a:pt x="42863" y="37505"/>
                </a:moveTo>
                <a:cubicBezTo>
                  <a:pt x="51734" y="37505"/>
                  <a:pt x="58936" y="44707"/>
                  <a:pt x="58936" y="53578"/>
                </a:cubicBezTo>
                <a:cubicBezTo>
                  <a:pt x="58936" y="62449"/>
                  <a:pt x="51734" y="69652"/>
                  <a:pt x="42863" y="69652"/>
                </a:cubicBezTo>
                <a:cubicBezTo>
                  <a:pt x="33991" y="69652"/>
                  <a:pt x="26789" y="62449"/>
                  <a:pt x="26789" y="53578"/>
                </a:cubicBezTo>
                <a:cubicBezTo>
                  <a:pt x="26789" y="44707"/>
                  <a:pt x="33991" y="37505"/>
                  <a:pt x="42863" y="37505"/>
                </a:cubicBezTo>
                <a:close/>
                <a:moveTo>
                  <a:pt x="91083" y="75009"/>
                </a:moveTo>
                <a:cubicBezTo>
                  <a:pt x="93896" y="75009"/>
                  <a:pt x="96474" y="76483"/>
                  <a:pt x="97948" y="78860"/>
                </a:cubicBezTo>
                <a:lnTo>
                  <a:pt x="127415" y="127081"/>
                </a:lnTo>
                <a:cubicBezTo>
                  <a:pt x="128922" y="129559"/>
                  <a:pt x="128989" y="132673"/>
                  <a:pt x="127583" y="135218"/>
                </a:cubicBezTo>
                <a:cubicBezTo>
                  <a:pt x="126176" y="137763"/>
                  <a:pt x="123464" y="139303"/>
                  <a:pt x="120551" y="139303"/>
                </a:cubicBezTo>
                <a:lnTo>
                  <a:pt x="29468" y="139303"/>
                </a:lnTo>
                <a:cubicBezTo>
                  <a:pt x="26488" y="139303"/>
                  <a:pt x="23708" y="137629"/>
                  <a:pt x="22335" y="134983"/>
                </a:cubicBezTo>
                <a:cubicBezTo>
                  <a:pt x="20962" y="132338"/>
                  <a:pt x="21163" y="129123"/>
                  <a:pt x="22871" y="126679"/>
                </a:cubicBezTo>
                <a:lnTo>
                  <a:pt x="41624" y="99890"/>
                </a:lnTo>
                <a:cubicBezTo>
                  <a:pt x="43130" y="97747"/>
                  <a:pt x="45575" y="96474"/>
                  <a:pt x="48220" y="96474"/>
                </a:cubicBezTo>
                <a:cubicBezTo>
                  <a:pt x="50866" y="96474"/>
                  <a:pt x="53310" y="97747"/>
                  <a:pt x="54817" y="99890"/>
                </a:cubicBezTo>
                <a:lnTo>
                  <a:pt x="63658" y="112548"/>
                </a:lnTo>
                <a:lnTo>
                  <a:pt x="84218" y="78894"/>
                </a:lnTo>
                <a:cubicBezTo>
                  <a:pt x="85692" y="76516"/>
                  <a:pt x="88270" y="75043"/>
                  <a:pt x="91083" y="75043"/>
                </a:cubicBezTo>
                <a:close/>
              </a:path>
            </a:pathLst>
          </a:custGeom>
          <a:solidFill>
            <a:srgbClr val="2B7FFF"/>
          </a:solidFill>
          <a:ln/>
        </p:spPr>
      </p:sp>
      <p:sp>
        <p:nvSpPr>
          <p:cNvPr id="49" name="Text 47"/>
          <p:cNvSpPr/>
          <p:nvPr/>
        </p:nvSpPr>
        <p:spPr>
          <a:xfrm>
            <a:off x="7640955" y="4457700"/>
            <a:ext cx="41338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Visual</a:t>
            </a:r>
            <a:endParaRPr lang="en-US" sz="1600" dirty="0"/>
          </a:p>
        </p:txBody>
      </p:sp>
      <p:sp>
        <p:nvSpPr>
          <p:cNvPr id="50" name="Shape 48"/>
          <p:cNvSpPr/>
          <p:nvPr/>
        </p:nvSpPr>
        <p:spPr>
          <a:xfrm>
            <a:off x="7421880" y="4800600"/>
            <a:ext cx="4267200" cy="609600"/>
          </a:xfrm>
          <a:prstGeom prst="roundRect">
            <a:avLst>
              <a:gd name="adj" fmla="val 12500"/>
            </a:avLst>
          </a:prstGeom>
          <a:solidFill>
            <a:srgbClr val="191919"/>
          </a:solidFill>
          <a:ln/>
        </p:spPr>
      </p:sp>
      <p:sp>
        <p:nvSpPr>
          <p:cNvPr id="51" name="Text 49"/>
          <p:cNvSpPr/>
          <p:nvPr/>
        </p:nvSpPr>
        <p:spPr>
          <a:xfrm>
            <a:off x="7498080" y="48768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Diagram:</a:t>
            </a:r>
            <a:endParaRPr lang="en-US" sz="1600" dirty="0"/>
          </a:p>
        </p:txBody>
      </p:sp>
      <p:sp>
        <p:nvSpPr>
          <p:cNvPr id="52" name="Text 50"/>
          <p:cNvSpPr/>
          <p:nvPr/>
        </p:nvSpPr>
        <p:spPr>
          <a:xfrm>
            <a:off x="7498080" y="51054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Data → Pattern Recognition → Prediction</a:t>
            </a:r>
            <a:endParaRPr lang="en-US" sz="1600" dirty="0"/>
          </a:p>
        </p:txBody>
      </p:sp>
      <p:sp>
        <p:nvSpPr>
          <p:cNvPr id="53" name="Shape 51"/>
          <p:cNvSpPr/>
          <p:nvPr/>
        </p:nvSpPr>
        <p:spPr>
          <a:xfrm>
            <a:off x="7421880" y="5486400"/>
            <a:ext cx="4267200" cy="609600"/>
          </a:xfrm>
          <a:prstGeom prst="roundRect">
            <a:avLst>
              <a:gd name="adj" fmla="val 12500"/>
            </a:avLst>
          </a:prstGeom>
          <a:solidFill>
            <a:srgbClr val="191919"/>
          </a:solidFill>
          <a:ln/>
        </p:spPr>
      </p:sp>
      <p:sp>
        <p:nvSpPr>
          <p:cNvPr id="54" name="Text 52"/>
          <p:cNvSpPr/>
          <p:nvPr/>
        </p:nvSpPr>
        <p:spPr>
          <a:xfrm>
            <a:off x="7498080" y="55626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Image:</a:t>
            </a:r>
            <a:endParaRPr lang="en-US" sz="1600" dirty="0"/>
          </a:p>
        </p:txBody>
      </p:sp>
      <p:sp>
        <p:nvSpPr>
          <p:cNvPr id="55" name="Text 53"/>
          <p:cNvSpPr/>
          <p:nvPr/>
        </p:nvSpPr>
        <p:spPr>
          <a:xfrm>
            <a:off x="7498080" y="57912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Student learning from books and examples</a:t>
            </a:r>
            <a:endParaRPr lang="en-US" sz="1600" dirty="0"/>
          </a:p>
        </p:txBody>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91919"/>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00C950">
              <a:alpha val="20000"/>
            </a:srgbClr>
          </a:solidFill>
          <a:ln/>
        </p:spPr>
      </p:sp>
      <p:sp>
        <p:nvSpPr>
          <p:cNvPr id="3" name="Text 1"/>
          <p:cNvSpPr/>
          <p:nvPr/>
        </p:nvSpPr>
        <p:spPr>
          <a:xfrm>
            <a:off x="516136" y="533400"/>
            <a:ext cx="285750" cy="266700"/>
          </a:xfrm>
          <a:prstGeom prst="rect">
            <a:avLst/>
          </a:prstGeom>
          <a:noFill/>
          <a:ln/>
        </p:spPr>
        <p:txBody>
          <a:bodyPr wrap="square" lIns="0" tIns="0" rIns="0" bIns="0" rtlCol="0" anchor="ctr"/>
          <a:lstStyle/>
          <a:p>
            <a:pPr>
              <a:lnSpc>
                <a:spcPct val="120000"/>
              </a:lnSpc>
            </a:pPr>
            <a:r>
              <a:rPr lang="en-US" sz="1500" b="1" dirty="0">
                <a:solidFill>
                  <a:srgbClr val="00C950"/>
                </a:solidFill>
                <a:latin typeface="Liter" pitchFamily="34" charset="0"/>
                <a:ea typeface="Liter" pitchFamily="34" charset="-122"/>
                <a:cs typeface="Liter" pitchFamily="34" charset="-120"/>
              </a:rPr>
              <a:t>12</a:t>
            </a:r>
            <a:endParaRPr lang="en-US" sz="1600" dirty="0"/>
          </a:p>
        </p:txBody>
      </p:sp>
      <p:sp>
        <p:nvSpPr>
          <p:cNvPr id="4" name="Text 2"/>
          <p:cNvSpPr/>
          <p:nvPr/>
        </p:nvSpPr>
        <p:spPr>
          <a:xfrm>
            <a:off x="952500" y="381000"/>
            <a:ext cx="3848100" cy="190500"/>
          </a:xfrm>
          <a:prstGeom prst="rect">
            <a:avLst/>
          </a:prstGeom>
          <a:noFill/>
          <a:ln/>
        </p:spPr>
        <p:txBody>
          <a:bodyPr wrap="square" lIns="0" tIns="0" rIns="0" bIns="0" rtlCol="0" anchor="ctr"/>
          <a:lstStyle/>
          <a:p>
            <a:pPr>
              <a:lnSpc>
                <a:spcPct val="120000"/>
              </a:lnSpc>
            </a:pPr>
            <a:r>
              <a:rPr lang="en-US" sz="1050" b="1" spc="53" kern="0" dirty="0">
                <a:solidFill>
                  <a:srgbClr val="00C950"/>
                </a:solidFill>
                <a:latin typeface="Liter" pitchFamily="34" charset="0"/>
                <a:ea typeface="Liter" pitchFamily="34" charset="-122"/>
                <a:cs typeface="Liter" pitchFamily="34" charset="-120"/>
              </a:rPr>
              <a:t>Components of AI</a:t>
            </a:r>
            <a:endParaRPr lang="en-US" sz="1600" dirty="0"/>
          </a:p>
        </p:txBody>
      </p:sp>
      <p:sp>
        <p:nvSpPr>
          <p:cNvPr id="5" name="Text 3"/>
          <p:cNvSpPr/>
          <p:nvPr/>
        </p:nvSpPr>
        <p:spPr>
          <a:xfrm>
            <a:off x="952500" y="571500"/>
            <a:ext cx="3952875"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Component 2: Reasoning</a:t>
            </a:r>
            <a:endParaRPr lang="en-US" sz="1600" dirty="0"/>
          </a:p>
        </p:txBody>
      </p:sp>
      <p:sp>
        <p:nvSpPr>
          <p:cNvPr id="6" name="Shape 4"/>
          <p:cNvSpPr/>
          <p:nvPr/>
        </p:nvSpPr>
        <p:spPr>
          <a:xfrm>
            <a:off x="384810" y="1108710"/>
            <a:ext cx="6760845" cy="2522220"/>
          </a:xfrm>
          <a:prstGeom prst="roundRect">
            <a:avLst>
              <a:gd name="adj" fmla="val 4532"/>
            </a:avLst>
          </a:prstGeom>
          <a:solidFill>
            <a:srgbClr val="262626"/>
          </a:solidFill>
          <a:ln w="10160">
            <a:solidFill>
              <a:srgbClr val="333333"/>
            </a:solidFill>
            <a:prstDash val="solid"/>
          </a:ln>
        </p:spPr>
      </p:sp>
      <p:sp>
        <p:nvSpPr>
          <p:cNvPr id="7" name="Shape 5"/>
          <p:cNvSpPr/>
          <p:nvPr/>
        </p:nvSpPr>
        <p:spPr>
          <a:xfrm>
            <a:off x="502920" y="1226818"/>
            <a:ext cx="457200" cy="457200"/>
          </a:xfrm>
          <a:prstGeom prst="roundRect">
            <a:avLst>
              <a:gd name="adj" fmla="val 25000"/>
            </a:avLst>
          </a:prstGeom>
          <a:solidFill>
            <a:srgbClr val="00C950">
              <a:alpha val="20000"/>
            </a:srgbClr>
          </a:solidFill>
          <a:ln/>
        </p:spPr>
      </p:sp>
      <p:sp>
        <p:nvSpPr>
          <p:cNvPr id="8" name="Shape 6"/>
          <p:cNvSpPr/>
          <p:nvPr/>
        </p:nvSpPr>
        <p:spPr>
          <a:xfrm>
            <a:off x="617220" y="1341118"/>
            <a:ext cx="228600" cy="228600"/>
          </a:xfrm>
          <a:custGeom>
            <a:avLst/>
            <a:gdLst/>
            <a:ahLst/>
            <a:cxnLst/>
            <a:rect l="l" t="t" r="r" b="b"/>
            <a:pathLst>
              <a:path w="228600" h="228600">
                <a:moveTo>
                  <a:pt x="53578" y="25003"/>
                </a:moveTo>
                <a:cubicBezTo>
                  <a:pt x="53578" y="11207"/>
                  <a:pt x="64785" y="0"/>
                  <a:pt x="78581" y="0"/>
                </a:cubicBezTo>
                <a:lnTo>
                  <a:pt x="89297" y="0"/>
                </a:lnTo>
                <a:cubicBezTo>
                  <a:pt x="97200" y="0"/>
                  <a:pt x="103584" y="6385"/>
                  <a:pt x="103584" y="14288"/>
                </a:cubicBezTo>
                <a:lnTo>
                  <a:pt x="103584" y="214313"/>
                </a:lnTo>
                <a:cubicBezTo>
                  <a:pt x="103584" y="222215"/>
                  <a:pt x="97200" y="228600"/>
                  <a:pt x="89297" y="228600"/>
                </a:cubicBezTo>
                <a:lnTo>
                  <a:pt x="75009" y="228600"/>
                </a:lnTo>
                <a:cubicBezTo>
                  <a:pt x="61704" y="228600"/>
                  <a:pt x="50497" y="219492"/>
                  <a:pt x="47327" y="207169"/>
                </a:cubicBezTo>
                <a:cubicBezTo>
                  <a:pt x="47015" y="207169"/>
                  <a:pt x="46747" y="207169"/>
                  <a:pt x="46434" y="207169"/>
                </a:cubicBezTo>
                <a:cubicBezTo>
                  <a:pt x="26700" y="207169"/>
                  <a:pt x="10716" y="191185"/>
                  <a:pt x="10716" y="171450"/>
                </a:cubicBezTo>
                <a:cubicBezTo>
                  <a:pt x="10716" y="163413"/>
                  <a:pt x="13395" y="156002"/>
                  <a:pt x="17859" y="150019"/>
                </a:cubicBezTo>
                <a:cubicBezTo>
                  <a:pt x="9198" y="143500"/>
                  <a:pt x="3572" y="133142"/>
                  <a:pt x="3572" y="121444"/>
                </a:cubicBezTo>
                <a:cubicBezTo>
                  <a:pt x="3572" y="107647"/>
                  <a:pt x="11430" y="95637"/>
                  <a:pt x="22860" y="89699"/>
                </a:cubicBezTo>
                <a:cubicBezTo>
                  <a:pt x="19690" y="84341"/>
                  <a:pt x="17859" y="78090"/>
                  <a:pt x="17859" y="71438"/>
                </a:cubicBezTo>
                <a:cubicBezTo>
                  <a:pt x="17859" y="51703"/>
                  <a:pt x="33844" y="35719"/>
                  <a:pt x="53578" y="35719"/>
                </a:cubicBezTo>
                <a:lnTo>
                  <a:pt x="53578" y="25003"/>
                </a:lnTo>
                <a:close/>
                <a:moveTo>
                  <a:pt x="175022" y="25003"/>
                </a:moveTo>
                <a:lnTo>
                  <a:pt x="175022" y="35719"/>
                </a:lnTo>
                <a:cubicBezTo>
                  <a:pt x="194756" y="35719"/>
                  <a:pt x="210741" y="51703"/>
                  <a:pt x="210741" y="71438"/>
                </a:cubicBezTo>
                <a:cubicBezTo>
                  <a:pt x="210741" y="78135"/>
                  <a:pt x="208910" y="84386"/>
                  <a:pt x="205740" y="89699"/>
                </a:cubicBezTo>
                <a:cubicBezTo>
                  <a:pt x="217215" y="95637"/>
                  <a:pt x="225028" y="107603"/>
                  <a:pt x="225028" y="121444"/>
                </a:cubicBezTo>
                <a:cubicBezTo>
                  <a:pt x="225028" y="133142"/>
                  <a:pt x="219402" y="143500"/>
                  <a:pt x="210741" y="150019"/>
                </a:cubicBezTo>
                <a:cubicBezTo>
                  <a:pt x="215205" y="156002"/>
                  <a:pt x="217884" y="163413"/>
                  <a:pt x="217884" y="171450"/>
                </a:cubicBezTo>
                <a:cubicBezTo>
                  <a:pt x="217884" y="191185"/>
                  <a:pt x="201900" y="207169"/>
                  <a:pt x="182166" y="207169"/>
                </a:cubicBezTo>
                <a:cubicBezTo>
                  <a:pt x="181853" y="207169"/>
                  <a:pt x="181585" y="207169"/>
                  <a:pt x="181273" y="207169"/>
                </a:cubicBezTo>
                <a:cubicBezTo>
                  <a:pt x="178103" y="219492"/>
                  <a:pt x="166896" y="228600"/>
                  <a:pt x="153591" y="228600"/>
                </a:cubicBezTo>
                <a:lnTo>
                  <a:pt x="139303" y="228600"/>
                </a:lnTo>
                <a:cubicBezTo>
                  <a:pt x="131400" y="228600"/>
                  <a:pt x="125016" y="222215"/>
                  <a:pt x="125016" y="214313"/>
                </a:cubicBezTo>
                <a:lnTo>
                  <a:pt x="125016" y="14288"/>
                </a:lnTo>
                <a:cubicBezTo>
                  <a:pt x="125016" y="6385"/>
                  <a:pt x="131400" y="0"/>
                  <a:pt x="139303" y="0"/>
                </a:cubicBezTo>
                <a:lnTo>
                  <a:pt x="150019" y="0"/>
                </a:lnTo>
                <a:cubicBezTo>
                  <a:pt x="163815" y="0"/>
                  <a:pt x="175022" y="11207"/>
                  <a:pt x="175022" y="25003"/>
                </a:cubicBezTo>
                <a:close/>
              </a:path>
            </a:pathLst>
          </a:custGeom>
          <a:solidFill>
            <a:srgbClr val="00C950"/>
          </a:solidFill>
          <a:ln/>
        </p:spPr>
      </p:sp>
      <p:sp>
        <p:nvSpPr>
          <p:cNvPr id="9" name="Text 7"/>
          <p:cNvSpPr/>
          <p:nvPr/>
        </p:nvSpPr>
        <p:spPr>
          <a:xfrm>
            <a:off x="1074420" y="1322068"/>
            <a:ext cx="1457325"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How AI Reasons</a:t>
            </a:r>
            <a:endParaRPr lang="en-US" sz="1600" dirty="0"/>
          </a:p>
        </p:txBody>
      </p:sp>
      <p:sp>
        <p:nvSpPr>
          <p:cNvPr id="10" name="Text 8"/>
          <p:cNvSpPr/>
          <p:nvPr/>
        </p:nvSpPr>
        <p:spPr>
          <a:xfrm>
            <a:off x="502920" y="1760218"/>
            <a:ext cx="6600825" cy="457200"/>
          </a:xfrm>
          <a:prstGeom prst="rect">
            <a:avLst/>
          </a:prstGeom>
          <a:noFill/>
          <a:ln/>
        </p:spPr>
        <p:txBody>
          <a:bodyPr wrap="square" lIns="0" tIns="0" rIns="0" bIns="0" rtlCol="0" anchor="ctr"/>
          <a:lstStyle/>
          <a:p>
            <a:pPr>
              <a:lnSpc>
                <a:spcPct val="130000"/>
              </a:lnSpc>
            </a:pPr>
            <a:r>
              <a:rPr lang="en-US" sz="1200" b="1" dirty="0">
                <a:solidFill>
                  <a:srgbClr val="00C950"/>
                </a:solidFill>
                <a:latin typeface="Liter" pitchFamily="34" charset="0"/>
                <a:ea typeface="Liter" pitchFamily="34" charset="-122"/>
                <a:cs typeface="Liter" pitchFamily="34" charset="-120"/>
              </a:rPr>
              <a:t>Reasoning</a:t>
            </a:r>
            <a:pPr>
              <a:lnSpc>
                <a:spcPct val="130000"/>
              </a:lnSpc>
            </a:pPr>
            <a:r>
              <a:rPr lang="en-US" sz="1200" dirty="0">
                <a:solidFill>
                  <a:srgbClr val="EFEFEF"/>
                </a:solidFill>
                <a:latin typeface="Liter" pitchFamily="34" charset="0"/>
                <a:ea typeface="Liter" pitchFamily="34" charset="-122"/>
                <a:cs typeface="Liter" pitchFamily="34" charset="-120"/>
              </a:rPr>
              <a:t> is AI's ability to draw conclusions and make logical decisions. It uses rules and logic to solve problems, like a detective solving a mystery!</a:t>
            </a:r>
            <a:endParaRPr lang="en-US" sz="1600" dirty="0"/>
          </a:p>
        </p:txBody>
      </p:sp>
      <p:sp>
        <p:nvSpPr>
          <p:cNvPr id="11" name="Shape 9"/>
          <p:cNvSpPr/>
          <p:nvPr/>
        </p:nvSpPr>
        <p:spPr>
          <a:xfrm>
            <a:off x="521970" y="2293618"/>
            <a:ext cx="6505575" cy="1219200"/>
          </a:xfrm>
          <a:custGeom>
            <a:avLst/>
            <a:gdLst/>
            <a:ahLst/>
            <a:cxnLst/>
            <a:rect l="l" t="t" r="r" b="b"/>
            <a:pathLst>
              <a:path w="6505575" h="1219200">
                <a:moveTo>
                  <a:pt x="38100" y="0"/>
                </a:moveTo>
                <a:lnTo>
                  <a:pt x="6429375" y="0"/>
                </a:lnTo>
                <a:cubicBezTo>
                  <a:pt x="6471431" y="0"/>
                  <a:pt x="6505575" y="34144"/>
                  <a:pt x="6505575" y="76200"/>
                </a:cubicBezTo>
                <a:lnTo>
                  <a:pt x="6505575" y="1143000"/>
                </a:lnTo>
                <a:cubicBezTo>
                  <a:pt x="6505575" y="1185056"/>
                  <a:pt x="6471431" y="1219200"/>
                  <a:pt x="6429375" y="1219200"/>
                </a:cubicBezTo>
                <a:lnTo>
                  <a:pt x="38100" y="1219200"/>
                </a:lnTo>
                <a:cubicBezTo>
                  <a:pt x="17072" y="1219200"/>
                  <a:pt x="0" y="1202128"/>
                  <a:pt x="0" y="1181100"/>
                </a:cubicBezTo>
                <a:lnTo>
                  <a:pt x="0" y="38100"/>
                </a:lnTo>
                <a:cubicBezTo>
                  <a:pt x="0" y="17072"/>
                  <a:pt x="17072" y="0"/>
                  <a:pt x="38100" y="0"/>
                </a:cubicBezTo>
                <a:close/>
              </a:path>
            </a:pathLst>
          </a:custGeom>
          <a:solidFill>
            <a:srgbClr val="191919"/>
          </a:solidFill>
          <a:ln/>
        </p:spPr>
      </p:sp>
      <p:sp>
        <p:nvSpPr>
          <p:cNvPr id="12" name="Shape 10"/>
          <p:cNvSpPr/>
          <p:nvPr/>
        </p:nvSpPr>
        <p:spPr>
          <a:xfrm>
            <a:off x="521970" y="2293618"/>
            <a:ext cx="38100" cy="1219200"/>
          </a:xfrm>
          <a:custGeom>
            <a:avLst/>
            <a:gdLst/>
            <a:ahLst/>
            <a:cxnLst/>
            <a:rect l="l" t="t" r="r" b="b"/>
            <a:pathLst>
              <a:path w="38100" h="1219200">
                <a:moveTo>
                  <a:pt x="38100" y="0"/>
                </a:moveTo>
                <a:lnTo>
                  <a:pt x="38100" y="0"/>
                </a:lnTo>
                <a:lnTo>
                  <a:pt x="38100" y="1219200"/>
                </a:lnTo>
                <a:lnTo>
                  <a:pt x="38100" y="1219200"/>
                </a:lnTo>
                <a:cubicBezTo>
                  <a:pt x="17072" y="1219200"/>
                  <a:pt x="0" y="1202128"/>
                  <a:pt x="0" y="1181100"/>
                </a:cubicBezTo>
                <a:lnTo>
                  <a:pt x="0" y="38100"/>
                </a:lnTo>
                <a:cubicBezTo>
                  <a:pt x="0" y="17072"/>
                  <a:pt x="17072" y="0"/>
                  <a:pt x="38100" y="0"/>
                </a:cubicBezTo>
                <a:close/>
              </a:path>
            </a:pathLst>
          </a:custGeom>
          <a:solidFill>
            <a:srgbClr val="00C950"/>
          </a:solidFill>
          <a:ln/>
        </p:spPr>
      </p:sp>
      <p:sp>
        <p:nvSpPr>
          <p:cNvPr id="13" name="Text 11"/>
          <p:cNvSpPr/>
          <p:nvPr/>
        </p:nvSpPr>
        <p:spPr>
          <a:xfrm>
            <a:off x="655320" y="2407918"/>
            <a:ext cx="1724025" cy="22098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Example of AI reasoning:</a:t>
            </a:r>
            <a:endParaRPr lang="en-US" sz="1600" dirty="0"/>
          </a:p>
        </p:txBody>
      </p:sp>
      <p:sp>
        <p:nvSpPr>
          <p:cNvPr id="14" name="Text 12"/>
          <p:cNvSpPr/>
          <p:nvPr/>
        </p:nvSpPr>
        <p:spPr>
          <a:xfrm>
            <a:off x="655320" y="2712718"/>
            <a:ext cx="6334125" cy="6858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IF it rains THEN ground gets wet</a:t>
            </a:r>
            <a:endParaRPr lang="en-US" sz="1600" dirty="0"/>
          </a:p>
          <a:p>
            <a:pPr>
              <a:lnSpc>
                <a:spcPct val="130000"/>
              </a:lnSpc>
            </a:pPr>
            <a:r>
              <a:rPr lang="en-US" sz="1200" dirty="0">
                <a:solidFill>
                  <a:srgbClr val="8F8F8F"/>
                </a:solidFill>
                <a:latin typeface="Liter" pitchFamily="34" charset="0"/>
                <a:ea typeface="Liter" pitchFamily="34" charset="-122"/>
                <a:cs typeface="Liter" pitchFamily="34" charset="-120"/>
              </a:rPr>
              <a:t>IF ground is wet THEN grass grows faster</a:t>
            </a:r>
            <a:endParaRPr lang="en-US" sz="1600" dirty="0"/>
          </a:p>
          <a:p>
            <a:pPr>
              <a:lnSpc>
                <a:spcPct val="130000"/>
              </a:lnSpc>
            </a:pPr>
            <a:r>
              <a:rPr lang="en-US" sz="1200" dirty="0">
                <a:solidFill>
                  <a:srgbClr val="8F8F8F"/>
                </a:solidFill>
                <a:latin typeface="Liter" pitchFamily="34" charset="0"/>
                <a:ea typeface="Liter" pitchFamily="34" charset="-122"/>
                <a:cs typeface="Liter" pitchFamily="34" charset="-120"/>
              </a:rPr>
              <a:t>CONCLUSION: Rain helps grass grow!</a:t>
            </a:r>
            <a:endParaRPr lang="en-US" sz="1600" dirty="0"/>
          </a:p>
        </p:txBody>
      </p:sp>
      <p:sp>
        <p:nvSpPr>
          <p:cNvPr id="15" name="Shape 13"/>
          <p:cNvSpPr/>
          <p:nvPr/>
        </p:nvSpPr>
        <p:spPr>
          <a:xfrm>
            <a:off x="384810" y="3714756"/>
            <a:ext cx="6760845" cy="1779270"/>
          </a:xfrm>
          <a:prstGeom prst="roundRect">
            <a:avLst>
              <a:gd name="adj" fmla="val 6424"/>
            </a:avLst>
          </a:prstGeom>
          <a:solidFill>
            <a:srgbClr val="262626"/>
          </a:solidFill>
          <a:ln w="10160">
            <a:solidFill>
              <a:srgbClr val="333333"/>
            </a:solidFill>
            <a:prstDash val="solid"/>
          </a:ln>
        </p:spPr>
      </p:sp>
      <p:sp>
        <p:nvSpPr>
          <p:cNvPr id="16" name="Shape 14"/>
          <p:cNvSpPr/>
          <p:nvPr/>
        </p:nvSpPr>
        <p:spPr>
          <a:xfrm>
            <a:off x="502920" y="3870964"/>
            <a:ext cx="238125" cy="190500"/>
          </a:xfrm>
          <a:custGeom>
            <a:avLst/>
            <a:gdLst/>
            <a:ahLst/>
            <a:cxnLst/>
            <a:rect l="l" t="t" r="r" b="b"/>
            <a:pathLst>
              <a:path w="238125" h="190500">
                <a:moveTo>
                  <a:pt x="154744" y="78321"/>
                </a:moveTo>
                <a:cubicBezTo>
                  <a:pt x="159283" y="77093"/>
                  <a:pt x="164046" y="79251"/>
                  <a:pt x="166092" y="83455"/>
                </a:cubicBezTo>
                <a:lnTo>
                  <a:pt x="173013" y="97445"/>
                </a:lnTo>
                <a:cubicBezTo>
                  <a:pt x="176845" y="97966"/>
                  <a:pt x="180603" y="99008"/>
                  <a:pt x="184138" y="100459"/>
                </a:cubicBezTo>
                <a:lnTo>
                  <a:pt x="197160" y="91790"/>
                </a:lnTo>
                <a:cubicBezTo>
                  <a:pt x="201067" y="89185"/>
                  <a:pt x="206239" y="89706"/>
                  <a:pt x="209550" y="93018"/>
                </a:cubicBezTo>
                <a:lnTo>
                  <a:pt x="216694" y="100161"/>
                </a:lnTo>
                <a:cubicBezTo>
                  <a:pt x="220005" y="103473"/>
                  <a:pt x="220526" y="108682"/>
                  <a:pt x="217922" y="112551"/>
                </a:cubicBezTo>
                <a:lnTo>
                  <a:pt x="209252" y="125537"/>
                </a:lnTo>
                <a:cubicBezTo>
                  <a:pt x="209959" y="127285"/>
                  <a:pt x="210592" y="129108"/>
                  <a:pt x="211113" y="131006"/>
                </a:cubicBezTo>
                <a:cubicBezTo>
                  <a:pt x="211634" y="132904"/>
                  <a:pt x="211968" y="134764"/>
                  <a:pt x="212229" y="136661"/>
                </a:cubicBezTo>
                <a:lnTo>
                  <a:pt x="226256" y="143582"/>
                </a:lnTo>
                <a:cubicBezTo>
                  <a:pt x="230460" y="145666"/>
                  <a:pt x="232618" y="150428"/>
                  <a:pt x="231391" y="154930"/>
                </a:cubicBezTo>
                <a:lnTo>
                  <a:pt x="228786" y="164678"/>
                </a:lnTo>
                <a:cubicBezTo>
                  <a:pt x="227558" y="169180"/>
                  <a:pt x="223354" y="172231"/>
                  <a:pt x="218666" y="171934"/>
                </a:cubicBezTo>
                <a:lnTo>
                  <a:pt x="203039" y="170929"/>
                </a:lnTo>
                <a:cubicBezTo>
                  <a:pt x="200695" y="173943"/>
                  <a:pt x="197979" y="176733"/>
                  <a:pt x="194890" y="179115"/>
                </a:cubicBezTo>
                <a:lnTo>
                  <a:pt x="195895" y="194704"/>
                </a:lnTo>
                <a:cubicBezTo>
                  <a:pt x="196193" y="199392"/>
                  <a:pt x="193142" y="203634"/>
                  <a:pt x="188640" y="204825"/>
                </a:cubicBezTo>
                <a:lnTo>
                  <a:pt x="178891" y="207429"/>
                </a:lnTo>
                <a:cubicBezTo>
                  <a:pt x="174352" y="208657"/>
                  <a:pt x="169627" y="206499"/>
                  <a:pt x="167543" y="202295"/>
                </a:cubicBezTo>
                <a:lnTo>
                  <a:pt x="160623" y="188305"/>
                </a:lnTo>
                <a:cubicBezTo>
                  <a:pt x="156790" y="187784"/>
                  <a:pt x="153033" y="186742"/>
                  <a:pt x="149498" y="185291"/>
                </a:cubicBezTo>
                <a:lnTo>
                  <a:pt x="136475" y="193960"/>
                </a:lnTo>
                <a:cubicBezTo>
                  <a:pt x="132569" y="196565"/>
                  <a:pt x="127397" y="196044"/>
                  <a:pt x="124085" y="192732"/>
                </a:cubicBezTo>
                <a:lnTo>
                  <a:pt x="116942" y="185589"/>
                </a:lnTo>
                <a:cubicBezTo>
                  <a:pt x="113630" y="182277"/>
                  <a:pt x="113109" y="177105"/>
                  <a:pt x="115714" y="173199"/>
                </a:cubicBezTo>
                <a:lnTo>
                  <a:pt x="124383" y="160176"/>
                </a:lnTo>
                <a:cubicBezTo>
                  <a:pt x="123676" y="158428"/>
                  <a:pt x="123044" y="156604"/>
                  <a:pt x="122523" y="154707"/>
                </a:cubicBezTo>
                <a:cubicBezTo>
                  <a:pt x="122002" y="152809"/>
                  <a:pt x="121667" y="150912"/>
                  <a:pt x="121407" y="149051"/>
                </a:cubicBezTo>
                <a:lnTo>
                  <a:pt x="107379" y="142131"/>
                </a:lnTo>
                <a:cubicBezTo>
                  <a:pt x="103175" y="140047"/>
                  <a:pt x="101054" y="135285"/>
                  <a:pt x="102245" y="130783"/>
                </a:cubicBezTo>
                <a:lnTo>
                  <a:pt x="104849" y="121034"/>
                </a:lnTo>
                <a:cubicBezTo>
                  <a:pt x="106077" y="116532"/>
                  <a:pt x="110282" y="113481"/>
                  <a:pt x="114970" y="113779"/>
                </a:cubicBezTo>
                <a:lnTo>
                  <a:pt x="130559" y="114784"/>
                </a:lnTo>
                <a:cubicBezTo>
                  <a:pt x="132904" y="111770"/>
                  <a:pt x="135620" y="108979"/>
                  <a:pt x="138708" y="106598"/>
                </a:cubicBezTo>
                <a:lnTo>
                  <a:pt x="137703" y="91046"/>
                </a:lnTo>
                <a:cubicBezTo>
                  <a:pt x="137406" y="86358"/>
                  <a:pt x="140457" y="82116"/>
                  <a:pt x="144959" y="80925"/>
                </a:cubicBezTo>
                <a:lnTo>
                  <a:pt x="154707" y="78321"/>
                </a:lnTo>
                <a:close/>
                <a:moveTo>
                  <a:pt x="166836" y="126504"/>
                </a:moveTo>
                <a:cubicBezTo>
                  <a:pt x="157801" y="126514"/>
                  <a:pt x="150474" y="133858"/>
                  <a:pt x="150484" y="142894"/>
                </a:cubicBezTo>
                <a:cubicBezTo>
                  <a:pt x="150494" y="151929"/>
                  <a:pt x="157838" y="159256"/>
                  <a:pt x="166874" y="159246"/>
                </a:cubicBezTo>
                <a:cubicBezTo>
                  <a:pt x="175909" y="159236"/>
                  <a:pt x="183236" y="151892"/>
                  <a:pt x="183226" y="142856"/>
                </a:cubicBezTo>
                <a:cubicBezTo>
                  <a:pt x="183216" y="133821"/>
                  <a:pt x="175872" y="126494"/>
                  <a:pt x="166836" y="126504"/>
                </a:cubicBezTo>
                <a:close/>
                <a:moveTo>
                  <a:pt x="83679" y="-16929"/>
                </a:moveTo>
                <a:lnTo>
                  <a:pt x="93427" y="-14325"/>
                </a:lnTo>
                <a:cubicBezTo>
                  <a:pt x="97929" y="-13097"/>
                  <a:pt x="100980" y="-8855"/>
                  <a:pt x="100682" y="-4204"/>
                </a:cubicBezTo>
                <a:lnTo>
                  <a:pt x="99678" y="11348"/>
                </a:lnTo>
                <a:cubicBezTo>
                  <a:pt x="102766" y="13729"/>
                  <a:pt x="105482" y="16483"/>
                  <a:pt x="107826" y="19534"/>
                </a:cubicBezTo>
                <a:lnTo>
                  <a:pt x="123453" y="18529"/>
                </a:lnTo>
                <a:cubicBezTo>
                  <a:pt x="128104" y="18231"/>
                  <a:pt x="132345" y="21282"/>
                  <a:pt x="133573" y="25784"/>
                </a:cubicBezTo>
                <a:lnTo>
                  <a:pt x="136178" y="35533"/>
                </a:lnTo>
                <a:cubicBezTo>
                  <a:pt x="137368" y="40035"/>
                  <a:pt x="135248" y="44797"/>
                  <a:pt x="131043" y="46881"/>
                </a:cubicBezTo>
                <a:lnTo>
                  <a:pt x="117016" y="53801"/>
                </a:lnTo>
                <a:cubicBezTo>
                  <a:pt x="116756" y="55699"/>
                  <a:pt x="116384" y="57596"/>
                  <a:pt x="115900" y="59457"/>
                </a:cubicBezTo>
                <a:cubicBezTo>
                  <a:pt x="115416" y="61317"/>
                  <a:pt x="114746" y="63178"/>
                  <a:pt x="114040" y="64926"/>
                </a:cubicBezTo>
                <a:lnTo>
                  <a:pt x="122709" y="77949"/>
                </a:lnTo>
                <a:cubicBezTo>
                  <a:pt x="125313" y="81855"/>
                  <a:pt x="124792" y="87027"/>
                  <a:pt x="121481" y="90339"/>
                </a:cubicBezTo>
                <a:lnTo>
                  <a:pt x="114337" y="97482"/>
                </a:lnTo>
                <a:cubicBezTo>
                  <a:pt x="111026" y="100794"/>
                  <a:pt x="105854" y="101315"/>
                  <a:pt x="101947" y="98710"/>
                </a:cubicBezTo>
                <a:lnTo>
                  <a:pt x="88925" y="90041"/>
                </a:lnTo>
                <a:cubicBezTo>
                  <a:pt x="85390" y="91492"/>
                  <a:pt x="81632" y="92534"/>
                  <a:pt x="77800" y="93055"/>
                </a:cubicBezTo>
                <a:lnTo>
                  <a:pt x="70879" y="107045"/>
                </a:lnTo>
                <a:cubicBezTo>
                  <a:pt x="68796" y="111249"/>
                  <a:pt x="64033" y="113370"/>
                  <a:pt x="59531" y="112179"/>
                </a:cubicBezTo>
                <a:lnTo>
                  <a:pt x="49783" y="109575"/>
                </a:lnTo>
                <a:cubicBezTo>
                  <a:pt x="45244" y="108347"/>
                  <a:pt x="42230" y="104105"/>
                  <a:pt x="42528" y="99454"/>
                </a:cubicBezTo>
                <a:lnTo>
                  <a:pt x="43532" y="83865"/>
                </a:lnTo>
                <a:cubicBezTo>
                  <a:pt x="40444" y="81483"/>
                  <a:pt x="37728" y="78730"/>
                  <a:pt x="35384" y="75679"/>
                </a:cubicBezTo>
                <a:lnTo>
                  <a:pt x="19757" y="76684"/>
                </a:lnTo>
                <a:cubicBezTo>
                  <a:pt x="15106" y="76981"/>
                  <a:pt x="10864" y="73930"/>
                  <a:pt x="9637" y="69428"/>
                </a:cubicBezTo>
                <a:lnTo>
                  <a:pt x="7032" y="59680"/>
                </a:lnTo>
                <a:cubicBezTo>
                  <a:pt x="5842" y="55178"/>
                  <a:pt x="7962" y="50416"/>
                  <a:pt x="12167" y="48332"/>
                </a:cubicBezTo>
                <a:lnTo>
                  <a:pt x="26194" y="41411"/>
                </a:lnTo>
                <a:cubicBezTo>
                  <a:pt x="26454" y="39514"/>
                  <a:pt x="26826" y="37654"/>
                  <a:pt x="27310" y="35756"/>
                </a:cubicBezTo>
                <a:cubicBezTo>
                  <a:pt x="27831" y="33858"/>
                  <a:pt x="28426" y="32035"/>
                  <a:pt x="29170" y="30287"/>
                </a:cubicBezTo>
                <a:lnTo>
                  <a:pt x="20501" y="17301"/>
                </a:lnTo>
                <a:cubicBezTo>
                  <a:pt x="17897" y="13395"/>
                  <a:pt x="18417" y="8223"/>
                  <a:pt x="21729" y="4911"/>
                </a:cubicBezTo>
                <a:lnTo>
                  <a:pt x="28873" y="-2232"/>
                </a:lnTo>
                <a:cubicBezTo>
                  <a:pt x="32184" y="-5544"/>
                  <a:pt x="37356" y="-6065"/>
                  <a:pt x="41263" y="-3460"/>
                </a:cubicBezTo>
                <a:lnTo>
                  <a:pt x="54285" y="5209"/>
                </a:lnTo>
                <a:cubicBezTo>
                  <a:pt x="57820" y="3758"/>
                  <a:pt x="61578" y="2716"/>
                  <a:pt x="65410" y="2195"/>
                </a:cubicBezTo>
                <a:lnTo>
                  <a:pt x="72330" y="-11795"/>
                </a:lnTo>
                <a:cubicBezTo>
                  <a:pt x="74414" y="-15999"/>
                  <a:pt x="79139" y="-18120"/>
                  <a:pt x="83679" y="-16929"/>
                </a:cubicBezTo>
                <a:close/>
                <a:moveTo>
                  <a:pt x="71586" y="31254"/>
                </a:moveTo>
                <a:cubicBezTo>
                  <a:pt x="62551" y="31254"/>
                  <a:pt x="55215" y="38590"/>
                  <a:pt x="55215" y="47625"/>
                </a:cubicBezTo>
                <a:cubicBezTo>
                  <a:pt x="55215" y="56660"/>
                  <a:pt x="62551" y="63996"/>
                  <a:pt x="71586" y="63996"/>
                </a:cubicBezTo>
                <a:cubicBezTo>
                  <a:pt x="80622" y="63996"/>
                  <a:pt x="87957" y="56660"/>
                  <a:pt x="87957" y="47625"/>
                </a:cubicBezTo>
                <a:cubicBezTo>
                  <a:pt x="87957" y="38590"/>
                  <a:pt x="80622" y="31254"/>
                  <a:pt x="71586" y="31254"/>
                </a:cubicBezTo>
                <a:close/>
              </a:path>
            </a:pathLst>
          </a:custGeom>
          <a:solidFill>
            <a:srgbClr val="00C950"/>
          </a:solidFill>
          <a:ln/>
        </p:spPr>
      </p:sp>
      <p:sp>
        <p:nvSpPr>
          <p:cNvPr id="17" name="Text 15"/>
          <p:cNvSpPr/>
          <p:nvPr/>
        </p:nvSpPr>
        <p:spPr>
          <a:xfrm>
            <a:off x="741045" y="3832864"/>
            <a:ext cx="6381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Types of Reasoning</a:t>
            </a:r>
            <a:endParaRPr lang="en-US" sz="1600" dirty="0"/>
          </a:p>
        </p:txBody>
      </p:sp>
      <p:sp>
        <p:nvSpPr>
          <p:cNvPr id="18" name="Shape 16"/>
          <p:cNvSpPr/>
          <p:nvPr/>
        </p:nvSpPr>
        <p:spPr>
          <a:xfrm>
            <a:off x="521970" y="4213864"/>
            <a:ext cx="152400" cy="152400"/>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rgbClr val="00C950"/>
          </a:solidFill>
          <a:ln/>
        </p:spPr>
      </p:sp>
      <p:sp>
        <p:nvSpPr>
          <p:cNvPr id="19" name="Text 17"/>
          <p:cNvSpPr/>
          <p:nvPr/>
        </p:nvSpPr>
        <p:spPr>
          <a:xfrm>
            <a:off x="807720" y="4175764"/>
            <a:ext cx="613410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Deductive Reasoning</a:t>
            </a:r>
            <a:endParaRPr lang="en-US" sz="1600" dirty="0"/>
          </a:p>
        </p:txBody>
      </p:sp>
      <p:sp>
        <p:nvSpPr>
          <p:cNvPr id="20" name="Text 18"/>
          <p:cNvSpPr/>
          <p:nvPr/>
        </p:nvSpPr>
        <p:spPr>
          <a:xfrm>
            <a:off x="807720" y="4404364"/>
            <a:ext cx="613410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General rule → Specific conclusion (All birds fly. Penguin is a bird. Therefore, penguin flies.)</a:t>
            </a:r>
            <a:endParaRPr lang="en-US" sz="1600" dirty="0"/>
          </a:p>
        </p:txBody>
      </p:sp>
      <p:sp>
        <p:nvSpPr>
          <p:cNvPr id="21" name="Shape 19"/>
          <p:cNvSpPr/>
          <p:nvPr/>
        </p:nvSpPr>
        <p:spPr>
          <a:xfrm>
            <a:off x="521970" y="4728214"/>
            <a:ext cx="152400" cy="152400"/>
          </a:xfrm>
          <a:custGeom>
            <a:avLst/>
            <a:gdLst/>
            <a:ahLst/>
            <a:cxnLst/>
            <a:rect l="l" t="t" r="r" b="b"/>
            <a:pathLst>
              <a:path w="152400" h="152400">
                <a:moveTo>
                  <a:pt x="2798" y="69473"/>
                </a:moveTo>
                <a:cubicBezTo>
                  <a:pt x="-923" y="73194"/>
                  <a:pt x="-923" y="79236"/>
                  <a:pt x="2798" y="82957"/>
                </a:cubicBezTo>
                <a:lnTo>
                  <a:pt x="50423" y="130582"/>
                </a:lnTo>
                <a:cubicBezTo>
                  <a:pt x="54144" y="134303"/>
                  <a:pt x="60186" y="134303"/>
                  <a:pt x="63907" y="130582"/>
                </a:cubicBezTo>
                <a:cubicBezTo>
                  <a:pt x="67628" y="126861"/>
                  <a:pt x="67628" y="120819"/>
                  <a:pt x="63907" y="117098"/>
                </a:cubicBezTo>
                <a:lnTo>
                  <a:pt x="32534" y="85725"/>
                </a:lnTo>
                <a:lnTo>
                  <a:pt x="142875" y="85725"/>
                </a:lnTo>
                <a:cubicBezTo>
                  <a:pt x="148144" y="85725"/>
                  <a:pt x="152400" y="81469"/>
                  <a:pt x="152400" y="76200"/>
                </a:cubicBezTo>
                <a:cubicBezTo>
                  <a:pt x="152400" y="70931"/>
                  <a:pt x="148144" y="66675"/>
                  <a:pt x="142875" y="66675"/>
                </a:cubicBezTo>
                <a:lnTo>
                  <a:pt x="32534" y="66675"/>
                </a:lnTo>
                <a:lnTo>
                  <a:pt x="63907" y="35302"/>
                </a:lnTo>
                <a:cubicBezTo>
                  <a:pt x="67628" y="31581"/>
                  <a:pt x="67628" y="25539"/>
                  <a:pt x="63907" y="21818"/>
                </a:cubicBezTo>
                <a:cubicBezTo>
                  <a:pt x="60186" y="18098"/>
                  <a:pt x="54144" y="18098"/>
                  <a:pt x="50423" y="21818"/>
                </a:cubicBezTo>
                <a:lnTo>
                  <a:pt x="2798" y="69443"/>
                </a:lnTo>
                <a:close/>
              </a:path>
            </a:pathLst>
          </a:custGeom>
          <a:solidFill>
            <a:srgbClr val="00C950"/>
          </a:solidFill>
          <a:ln/>
        </p:spPr>
      </p:sp>
      <p:sp>
        <p:nvSpPr>
          <p:cNvPr id="22" name="Text 20"/>
          <p:cNvSpPr/>
          <p:nvPr/>
        </p:nvSpPr>
        <p:spPr>
          <a:xfrm>
            <a:off x="802958" y="4690114"/>
            <a:ext cx="62960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Inductive Reasoning</a:t>
            </a:r>
            <a:endParaRPr lang="en-US" sz="1600" dirty="0"/>
          </a:p>
        </p:txBody>
      </p:sp>
      <p:sp>
        <p:nvSpPr>
          <p:cNvPr id="23" name="Text 21"/>
          <p:cNvSpPr/>
          <p:nvPr/>
        </p:nvSpPr>
        <p:spPr>
          <a:xfrm>
            <a:off x="802958" y="4918714"/>
            <a:ext cx="6296025" cy="4572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Specific examples → General rule (Every swan I've seen is white. Therefore, all swans are white.)</a:t>
            </a:r>
            <a:endParaRPr lang="en-US" sz="1600" dirty="0"/>
          </a:p>
        </p:txBody>
      </p:sp>
      <p:sp>
        <p:nvSpPr>
          <p:cNvPr id="24" name="Shape 22"/>
          <p:cNvSpPr/>
          <p:nvPr/>
        </p:nvSpPr>
        <p:spPr>
          <a:xfrm>
            <a:off x="7303770" y="1108710"/>
            <a:ext cx="4503420" cy="2026920"/>
          </a:xfrm>
          <a:prstGeom prst="roundRect">
            <a:avLst>
              <a:gd name="adj" fmla="val 5639"/>
            </a:avLst>
          </a:prstGeom>
          <a:gradFill rotWithShape="1" flip="none">
            <a:gsLst>
              <a:gs pos="0">
                <a:srgbClr val="00C950">
                  <a:alpha val="20000"/>
                </a:srgbClr>
              </a:gs>
              <a:gs pos="100000">
                <a:srgbClr val="00C950">
                  <a:alpha val="5000"/>
                </a:srgbClr>
              </a:gs>
            </a:gsLst>
            <a:lin ang="2700000" scaled="1"/>
          </a:gradFill>
          <a:ln w="10160">
            <a:solidFill>
              <a:srgbClr val="00C950"/>
            </a:solidFill>
            <a:prstDash val="solid"/>
          </a:ln>
        </p:spPr>
      </p:sp>
      <p:sp>
        <p:nvSpPr>
          <p:cNvPr id="25" name="Shape 23"/>
          <p:cNvSpPr/>
          <p:nvPr/>
        </p:nvSpPr>
        <p:spPr>
          <a:xfrm>
            <a:off x="7469505" y="1264918"/>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00C950"/>
          </a:solidFill>
          <a:ln/>
        </p:spPr>
      </p:sp>
      <p:sp>
        <p:nvSpPr>
          <p:cNvPr id="26" name="Text 24"/>
          <p:cNvSpPr/>
          <p:nvPr/>
        </p:nvSpPr>
        <p:spPr>
          <a:xfrm>
            <a:off x="7736205" y="1226818"/>
            <a:ext cx="1809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Real-World Example</a:t>
            </a:r>
            <a:endParaRPr lang="en-US" sz="1600" dirty="0"/>
          </a:p>
        </p:txBody>
      </p:sp>
      <p:sp>
        <p:nvSpPr>
          <p:cNvPr id="27" name="Shape 25"/>
          <p:cNvSpPr/>
          <p:nvPr/>
        </p:nvSpPr>
        <p:spPr>
          <a:xfrm>
            <a:off x="7421880" y="1569718"/>
            <a:ext cx="4267200" cy="1447800"/>
          </a:xfrm>
          <a:prstGeom prst="roundRect">
            <a:avLst>
              <a:gd name="adj" fmla="val 5263"/>
            </a:avLst>
          </a:prstGeom>
          <a:solidFill>
            <a:srgbClr val="191919"/>
          </a:solidFill>
          <a:ln/>
        </p:spPr>
      </p:sp>
      <p:sp>
        <p:nvSpPr>
          <p:cNvPr id="28" name="Text 26"/>
          <p:cNvSpPr/>
          <p:nvPr/>
        </p:nvSpPr>
        <p:spPr>
          <a:xfrm>
            <a:off x="7536180" y="1684018"/>
            <a:ext cx="4124325" cy="266700"/>
          </a:xfrm>
          <a:prstGeom prst="rect">
            <a:avLst/>
          </a:prstGeom>
          <a:noFill/>
          <a:ln/>
        </p:spPr>
        <p:txBody>
          <a:bodyPr wrap="square" lIns="0" tIns="0" rIns="0" bIns="0" rtlCol="0" anchor="ctr"/>
          <a:lstStyle/>
          <a:p>
            <a:pPr>
              <a:lnSpc>
                <a:spcPct val="130000"/>
              </a:lnSpc>
            </a:pPr>
            <a:r>
              <a:rPr lang="en-US" sz="1350" b="1" dirty="0">
                <a:solidFill>
                  <a:srgbClr val="00C950"/>
                </a:solidFill>
                <a:latin typeface="Liter" pitchFamily="34" charset="0"/>
                <a:ea typeface="Liter" pitchFamily="34" charset="-122"/>
                <a:cs typeface="Liter" pitchFamily="34" charset="-120"/>
              </a:rPr>
              <a:t>Medical Diagnosis Systems</a:t>
            </a:r>
            <a:endParaRPr lang="en-US" sz="1600" dirty="0"/>
          </a:p>
        </p:txBody>
      </p:sp>
      <p:sp>
        <p:nvSpPr>
          <p:cNvPr id="29" name="Text 27"/>
          <p:cNvSpPr/>
          <p:nvPr/>
        </p:nvSpPr>
        <p:spPr>
          <a:xfrm>
            <a:off x="7536180" y="1988818"/>
            <a:ext cx="4114800" cy="9144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AI doctors use reasoning: IF patient has fever AND cough THEN might be flu. IF flu symptoms AND recent travel THEN test for specific strain. It chains logical steps to reach conclusions!</a:t>
            </a:r>
            <a:endParaRPr lang="en-US" sz="1600" dirty="0"/>
          </a:p>
        </p:txBody>
      </p:sp>
      <p:sp>
        <p:nvSpPr>
          <p:cNvPr id="30" name="Shape 28"/>
          <p:cNvSpPr/>
          <p:nvPr/>
        </p:nvSpPr>
        <p:spPr>
          <a:xfrm>
            <a:off x="7303770" y="3219456"/>
            <a:ext cx="4503420" cy="1264920"/>
          </a:xfrm>
          <a:prstGeom prst="roundRect">
            <a:avLst>
              <a:gd name="adj" fmla="val 9036"/>
            </a:avLst>
          </a:prstGeom>
          <a:solidFill>
            <a:srgbClr val="262626"/>
          </a:solidFill>
          <a:ln w="10160">
            <a:solidFill>
              <a:srgbClr val="333333"/>
            </a:solidFill>
            <a:prstDash val="solid"/>
          </a:ln>
        </p:spPr>
      </p:sp>
      <p:sp>
        <p:nvSpPr>
          <p:cNvPr id="31" name="Text 29"/>
          <p:cNvSpPr/>
          <p:nvPr/>
        </p:nvSpPr>
        <p:spPr>
          <a:xfrm>
            <a:off x="7421880" y="3337564"/>
            <a:ext cx="43529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 Simple Explanation</a:t>
            </a:r>
            <a:endParaRPr lang="en-US" sz="1600" dirty="0"/>
          </a:p>
        </p:txBody>
      </p:sp>
      <p:sp>
        <p:nvSpPr>
          <p:cNvPr id="32" name="Text 30"/>
          <p:cNvSpPr/>
          <p:nvPr/>
        </p:nvSpPr>
        <p:spPr>
          <a:xfrm>
            <a:off x="7421880" y="3680464"/>
            <a:ext cx="43434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Reasoning is like solving a puzzle. You take clues (data), apply rules (logic), and figure out the answer. AI does this at super speed with millions of pieces!</a:t>
            </a:r>
            <a:endParaRPr lang="en-US" sz="1600" dirty="0"/>
          </a:p>
        </p:txBody>
      </p:sp>
      <p:sp>
        <p:nvSpPr>
          <p:cNvPr id="33" name="Shape 31"/>
          <p:cNvSpPr/>
          <p:nvPr/>
        </p:nvSpPr>
        <p:spPr>
          <a:xfrm>
            <a:off x="7303770" y="4568192"/>
            <a:ext cx="4503420" cy="1874520"/>
          </a:xfrm>
          <a:prstGeom prst="roundRect">
            <a:avLst>
              <a:gd name="adj" fmla="val 6098"/>
            </a:avLst>
          </a:prstGeom>
          <a:solidFill>
            <a:srgbClr val="262626"/>
          </a:solidFill>
          <a:ln w="10160">
            <a:solidFill>
              <a:srgbClr val="333333"/>
            </a:solidFill>
            <a:prstDash val="solid"/>
          </a:ln>
        </p:spPr>
      </p:sp>
      <p:sp>
        <p:nvSpPr>
          <p:cNvPr id="34" name="Shape 32"/>
          <p:cNvSpPr/>
          <p:nvPr/>
        </p:nvSpPr>
        <p:spPr>
          <a:xfrm>
            <a:off x="7456408" y="4733925"/>
            <a:ext cx="150019" cy="171450"/>
          </a:xfrm>
          <a:custGeom>
            <a:avLst/>
            <a:gdLst/>
            <a:ahLst/>
            <a:cxnLst/>
            <a:rect l="l" t="t" r="r" b="b"/>
            <a:pathLst>
              <a:path w="150019" h="171450">
                <a:moveTo>
                  <a:pt x="21431" y="10716"/>
                </a:moveTo>
                <a:cubicBezTo>
                  <a:pt x="9611" y="10716"/>
                  <a:pt x="0" y="20326"/>
                  <a:pt x="0" y="32147"/>
                </a:cubicBezTo>
                <a:lnTo>
                  <a:pt x="0" y="139303"/>
                </a:lnTo>
                <a:cubicBezTo>
                  <a:pt x="0" y="151124"/>
                  <a:pt x="9611" y="160734"/>
                  <a:pt x="21431" y="160734"/>
                </a:cubicBezTo>
                <a:lnTo>
                  <a:pt x="128588" y="160734"/>
                </a:lnTo>
                <a:cubicBezTo>
                  <a:pt x="140408" y="160734"/>
                  <a:pt x="150019" y="151124"/>
                  <a:pt x="150019" y="139303"/>
                </a:cubicBezTo>
                <a:lnTo>
                  <a:pt x="150019" y="32147"/>
                </a:lnTo>
                <a:cubicBezTo>
                  <a:pt x="150019" y="20326"/>
                  <a:pt x="140408" y="10716"/>
                  <a:pt x="128588" y="10716"/>
                </a:cubicBezTo>
                <a:lnTo>
                  <a:pt x="21431" y="10716"/>
                </a:lnTo>
                <a:close/>
                <a:moveTo>
                  <a:pt x="42863" y="37505"/>
                </a:moveTo>
                <a:cubicBezTo>
                  <a:pt x="51734" y="37505"/>
                  <a:pt x="58936" y="44707"/>
                  <a:pt x="58936" y="53578"/>
                </a:cubicBezTo>
                <a:cubicBezTo>
                  <a:pt x="58936" y="62449"/>
                  <a:pt x="51734" y="69652"/>
                  <a:pt x="42863" y="69652"/>
                </a:cubicBezTo>
                <a:cubicBezTo>
                  <a:pt x="33991" y="69652"/>
                  <a:pt x="26789" y="62449"/>
                  <a:pt x="26789" y="53578"/>
                </a:cubicBezTo>
                <a:cubicBezTo>
                  <a:pt x="26789" y="44707"/>
                  <a:pt x="33991" y="37505"/>
                  <a:pt x="42863" y="37505"/>
                </a:cubicBezTo>
                <a:close/>
                <a:moveTo>
                  <a:pt x="91083" y="75009"/>
                </a:moveTo>
                <a:cubicBezTo>
                  <a:pt x="93896" y="75009"/>
                  <a:pt x="96474" y="76483"/>
                  <a:pt x="97948" y="78860"/>
                </a:cubicBezTo>
                <a:lnTo>
                  <a:pt x="127415" y="127081"/>
                </a:lnTo>
                <a:cubicBezTo>
                  <a:pt x="128922" y="129559"/>
                  <a:pt x="128989" y="132673"/>
                  <a:pt x="127583" y="135218"/>
                </a:cubicBezTo>
                <a:cubicBezTo>
                  <a:pt x="126176" y="137763"/>
                  <a:pt x="123464" y="139303"/>
                  <a:pt x="120551" y="139303"/>
                </a:cubicBezTo>
                <a:lnTo>
                  <a:pt x="29468" y="139303"/>
                </a:lnTo>
                <a:cubicBezTo>
                  <a:pt x="26488" y="139303"/>
                  <a:pt x="23708" y="137629"/>
                  <a:pt x="22335" y="134983"/>
                </a:cubicBezTo>
                <a:cubicBezTo>
                  <a:pt x="20962" y="132338"/>
                  <a:pt x="21163" y="129123"/>
                  <a:pt x="22871" y="126679"/>
                </a:cubicBezTo>
                <a:lnTo>
                  <a:pt x="41624" y="99890"/>
                </a:lnTo>
                <a:cubicBezTo>
                  <a:pt x="43130" y="97747"/>
                  <a:pt x="45575" y="96474"/>
                  <a:pt x="48220" y="96474"/>
                </a:cubicBezTo>
                <a:cubicBezTo>
                  <a:pt x="50866" y="96474"/>
                  <a:pt x="53310" y="97747"/>
                  <a:pt x="54817" y="99890"/>
                </a:cubicBezTo>
                <a:lnTo>
                  <a:pt x="63658" y="112548"/>
                </a:lnTo>
                <a:lnTo>
                  <a:pt x="84218" y="78894"/>
                </a:lnTo>
                <a:cubicBezTo>
                  <a:pt x="85692" y="76516"/>
                  <a:pt x="88270" y="75043"/>
                  <a:pt x="91083" y="75043"/>
                </a:cubicBezTo>
                <a:close/>
              </a:path>
            </a:pathLst>
          </a:custGeom>
          <a:solidFill>
            <a:srgbClr val="00C950"/>
          </a:solidFill>
          <a:ln/>
        </p:spPr>
      </p:sp>
      <p:sp>
        <p:nvSpPr>
          <p:cNvPr id="35" name="Text 33"/>
          <p:cNvSpPr/>
          <p:nvPr/>
        </p:nvSpPr>
        <p:spPr>
          <a:xfrm>
            <a:off x="7640955" y="4686300"/>
            <a:ext cx="41338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Visual</a:t>
            </a:r>
            <a:endParaRPr lang="en-US" sz="1600" dirty="0"/>
          </a:p>
        </p:txBody>
      </p:sp>
      <p:sp>
        <p:nvSpPr>
          <p:cNvPr id="36" name="Shape 34"/>
          <p:cNvSpPr/>
          <p:nvPr/>
        </p:nvSpPr>
        <p:spPr>
          <a:xfrm>
            <a:off x="7421880" y="5029200"/>
            <a:ext cx="4267200" cy="609600"/>
          </a:xfrm>
          <a:prstGeom prst="roundRect">
            <a:avLst>
              <a:gd name="adj" fmla="val 12500"/>
            </a:avLst>
          </a:prstGeom>
          <a:solidFill>
            <a:srgbClr val="191919"/>
          </a:solidFill>
          <a:ln/>
        </p:spPr>
      </p:sp>
      <p:sp>
        <p:nvSpPr>
          <p:cNvPr id="37" name="Text 35"/>
          <p:cNvSpPr/>
          <p:nvPr/>
        </p:nvSpPr>
        <p:spPr>
          <a:xfrm>
            <a:off x="7498080" y="51054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Diagram:</a:t>
            </a:r>
            <a:endParaRPr lang="en-US" sz="1600" dirty="0"/>
          </a:p>
        </p:txBody>
      </p:sp>
      <p:sp>
        <p:nvSpPr>
          <p:cNvPr id="38" name="Text 36"/>
          <p:cNvSpPr/>
          <p:nvPr/>
        </p:nvSpPr>
        <p:spPr>
          <a:xfrm>
            <a:off x="7498080" y="53340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Facts → Rules → Logical Conclusions</a:t>
            </a:r>
            <a:endParaRPr lang="en-US" sz="1600" dirty="0"/>
          </a:p>
        </p:txBody>
      </p:sp>
      <p:sp>
        <p:nvSpPr>
          <p:cNvPr id="39" name="Shape 37"/>
          <p:cNvSpPr/>
          <p:nvPr/>
        </p:nvSpPr>
        <p:spPr>
          <a:xfrm>
            <a:off x="7421880" y="5715000"/>
            <a:ext cx="4267200" cy="609600"/>
          </a:xfrm>
          <a:prstGeom prst="roundRect">
            <a:avLst>
              <a:gd name="adj" fmla="val 12500"/>
            </a:avLst>
          </a:prstGeom>
          <a:solidFill>
            <a:srgbClr val="191919"/>
          </a:solidFill>
          <a:ln/>
        </p:spPr>
      </p:sp>
      <p:sp>
        <p:nvSpPr>
          <p:cNvPr id="40" name="Text 38"/>
          <p:cNvSpPr/>
          <p:nvPr/>
        </p:nvSpPr>
        <p:spPr>
          <a:xfrm>
            <a:off x="7498080" y="57912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Image:</a:t>
            </a:r>
            <a:endParaRPr lang="en-US" sz="1600" dirty="0"/>
          </a:p>
        </p:txBody>
      </p:sp>
      <p:sp>
        <p:nvSpPr>
          <p:cNvPr id="41" name="Text 39"/>
          <p:cNvSpPr/>
          <p:nvPr/>
        </p:nvSpPr>
        <p:spPr>
          <a:xfrm>
            <a:off x="7498080" y="60198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Detective solving a case with clues</a:t>
            </a:r>
            <a:endParaRPr lang="en-US" sz="1600" dirty="0"/>
          </a:p>
        </p:txBody>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91919"/>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AD46FF">
              <a:alpha val="20000"/>
            </a:srgbClr>
          </a:solidFill>
          <a:ln/>
        </p:spPr>
      </p:sp>
      <p:sp>
        <p:nvSpPr>
          <p:cNvPr id="3" name="Text 1"/>
          <p:cNvSpPr/>
          <p:nvPr/>
        </p:nvSpPr>
        <p:spPr>
          <a:xfrm>
            <a:off x="515303" y="533400"/>
            <a:ext cx="285750" cy="266700"/>
          </a:xfrm>
          <a:prstGeom prst="rect">
            <a:avLst/>
          </a:prstGeom>
          <a:noFill/>
          <a:ln/>
        </p:spPr>
        <p:txBody>
          <a:bodyPr wrap="square" lIns="0" tIns="0" rIns="0" bIns="0" rtlCol="0" anchor="ctr"/>
          <a:lstStyle/>
          <a:p>
            <a:pPr>
              <a:lnSpc>
                <a:spcPct val="120000"/>
              </a:lnSpc>
            </a:pPr>
            <a:r>
              <a:rPr lang="en-US" sz="1500" b="1" dirty="0">
                <a:solidFill>
                  <a:srgbClr val="AD46FF"/>
                </a:solidFill>
                <a:latin typeface="Liter" pitchFamily="34" charset="0"/>
                <a:ea typeface="Liter" pitchFamily="34" charset="-122"/>
                <a:cs typeface="Liter" pitchFamily="34" charset="-120"/>
              </a:rPr>
              <a:t>13</a:t>
            </a:r>
            <a:endParaRPr lang="en-US" sz="1600" dirty="0"/>
          </a:p>
        </p:txBody>
      </p:sp>
      <p:sp>
        <p:nvSpPr>
          <p:cNvPr id="4" name="Text 2"/>
          <p:cNvSpPr/>
          <p:nvPr/>
        </p:nvSpPr>
        <p:spPr>
          <a:xfrm>
            <a:off x="952500" y="381000"/>
            <a:ext cx="4800600" cy="190500"/>
          </a:xfrm>
          <a:prstGeom prst="rect">
            <a:avLst/>
          </a:prstGeom>
          <a:noFill/>
          <a:ln/>
        </p:spPr>
        <p:txBody>
          <a:bodyPr wrap="square" lIns="0" tIns="0" rIns="0" bIns="0" rtlCol="0" anchor="ctr"/>
          <a:lstStyle/>
          <a:p>
            <a:pPr>
              <a:lnSpc>
                <a:spcPct val="120000"/>
              </a:lnSpc>
            </a:pPr>
            <a:r>
              <a:rPr lang="en-US" sz="1050" b="1" spc="53" kern="0" dirty="0">
                <a:solidFill>
                  <a:srgbClr val="AD46FF"/>
                </a:solidFill>
                <a:latin typeface="Liter" pitchFamily="34" charset="0"/>
                <a:ea typeface="Liter" pitchFamily="34" charset="-122"/>
                <a:cs typeface="Liter" pitchFamily="34" charset="-120"/>
              </a:rPr>
              <a:t>Components of AI</a:t>
            </a:r>
            <a:endParaRPr lang="en-US" sz="1600" dirty="0"/>
          </a:p>
        </p:txBody>
      </p:sp>
      <p:sp>
        <p:nvSpPr>
          <p:cNvPr id="5" name="Text 3"/>
          <p:cNvSpPr/>
          <p:nvPr/>
        </p:nvSpPr>
        <p:spPr>
          <a:xfrm>
            <a:off x="952500" y="571500"/>
            <a:ext cx="4905375"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Component 3: Problem-Solving</a:t>
            </a:r>
            <a:endParaRPr lang="en-US" sz="1600" dirty="0"/>
          </a:p>
        </p:txBody>
      </p:sp>
      <p:sp>
        <p:nvSpPr>
          <p:cNvPr id="6" name="Shape 4"/>
          <p:cNvSpPr/>
          <p:nvPr/>
        </p:nvSpPr>
        <p:spPr>
          <a:xfrm>
            <a:off x="384810" y="1108710"/>
            <a:ext cx="6760845" cy="2522220"/>
          </a:xfrm>
          <a:prstGeom prst="roundRect">
            <a:avLst>
              <a:gd name="adj" fmla="val 4532"/>
            </a:avLst>
          </a:prstGeom>
          <a:solidFill>
            <a:srgbClr val="262626"/>
          </a:solidFill>
          <a:ln w="10160">
            <a:solidFill>
              <a:srgbClr val="333333"/>
            </a:solidFill>
            <a:prstDash val="solid"/>
          </a:ln>
        </p:spPr>
      </p:sp>
      <p:sp>
        <p:nvSpPr>
          <p:cNvPr id="7" name="Shape 5"/>
          <p:cNvSpPr/>
          <p:nvPr/>
        </p:nvSpPr>
        <p:spPr>
          <a:xfrm>
            <a:off x="502920" y="1226818"/>
            <a:ext cx="457200" cy="457200"/>
          </a:xfrm>
          <a:prstGeom prst="roundRect">
            <a:avLst>
              <a:gd name="adj" fmla="val 25000"/>
            </a:avLst>
          </a:prstGeom>
          <a:solidFill>
            <a:srgbClr val="AD46FF">
              <a:alpha val="20000"/>
            </a:srgbClr>
          </a:solidFill>
          <a:ln/>
        </p:spPr>
      </p:sp>
      <p:sp>
        <p:nvSpPr>
          <p:cNvPr id="8" name="Shape 6"/>
          <p:cNvSpPr/>
          <p:nvPr/>
        </p:nvSpPr>
        <p:spPr>
          <a:xfrm>
            <a:off x="617220" y="1341118"/>
            <a:ext cx="228600" cy="228600"/>
          </a:xfrm>
          <a:custGeom>
            <a:avLst/>
            <a:gdLst/>
            <a:ahLst/>
            <a:cxnLst/>
            <a:rect l="l" t="t" r="r" b="b"/>
            <a:pathLst>
              <a:path w="228600" h="228600">
                <a:moveTo>
                  <a:pt x="100013" y="0"/>
                </a:moveTo>
                <a:cubicBezTo>
                  <a:pt x="115773" y="0"/>
                  <a:pt x="128588" y="9599"/>
                  <a:pt x="128588" y="21431"/>
                </a:cubicBezTo>
                <a:cubicBezTo>
                  <a:pt x="128588" y="26075"/>
                  <a:pt x="126623" y="30361"/>
                  <a:pt x="123230" y="33888"/>
                </a:cubicBezTo>
                <a:cubicBezTo>
                  <a:pt x="120283" y="36969"/>
                  <a:pt x="117872" y="40719"/>
                  <a:pt x="117872" y="45006"/>
                </a:cubicBezTo>
                <a:cubicBezTo>
                  <a:pt x="117872" y="51703"/>
                  <a:pt x="123319" y="57150"/>
                  <a:pt x="130016" y="57150"/>
                </a:cubicBezTo>
                <a:lnTo>
                  <a:pt x="150019" y="57150"/>
                </a:lnTo>
                <a:cubicBezTo>
                  <a:pt x="161851" y="57150"/>
                  <a:pt x="171450" y="66749"/>
                  <a:pt x="171450" y="78581"/>
                </a:cubicBezTo>
                <a:lnTo>
                  <a:pt x="171450" y="98584"/>
                </a:lnTo>
                <a:cubicBezTo>
                  <a:pt x="171450" y="105281"/>
                  <a:pt x="176897" y="110728"/>
                  <a:pt x="183594" y="110728"/>
                </a:cubicBezTo>
                <a:cubicBezTo>
                  <a:pt x="187836" y="110728"/>
                  <a:pt x="191631" y="108317"/>
                  <a:pt x="194712" y="105370"/>
                </a:cubicBezTo>
                <a:cubicBezTo>
                  <a:pt x="198239" y="102022"/>
                  <a:pt x="202525" y="100013"/>
                  <a:pt x="207169" y="100013"/>
                </a:cubicBezTo>
                <a:cubicBezTo>
                  <a:pt x="219001" y="100013"/>
                  <a:pt x="228600" y="112827"/>
                  <a:pt x="228600" y="128588"/>
                </a:cubicBezTo>
                <a:cubicBezTo>
                  <a:pt x="228600" y="144348"/>
                  <a:pt x="219001" y="157163"/>
                  <a:pt x="207169" y="157163"/>
                </a:cubicBezTo>
                <a:cubicBezTo>
                  <a:pt x="202525" y="157163"/>
                  <a:pt x="198194" y="155198"/>
                  <a:pt x="194712" y="151805"/>
                </a:cubicBezTo>
                <a:cubicBezTo>
                  <a:pt x="191631" y="148858"/>
                  <a:pt x="187881" y="146447"/>
                  <a:pt x="183594" y="146447"/>
                </a:cubicBezTo>
                <a:cubicBezTo>
                  <a:pt x="176897" y="146447"/>
                  <a:pt x="171450" y="151894"/>
                  <a:pt x="171450" y="158591"/>
                </a:cubicBezTo>
                <a:lnTo>
                  <a:pt x="171450" y="207169"/>
                </a:lnTo>
                <a:cubicBezTo>
                  <a:pt x="171450" y="219001"/>
                  <a:pt x="161851" y="228600"/>
                  <a:pt x="150019" y="228600"/>
                </a:cubicBezTo>
                <a:lnTo>
                  <a:pt x="124658" y="228600"/>
                </a:lnTo>
                <a:cubicBezTo>
                  <a:pt x="118943" y="228600"/>
                  <a:pt x="114300" y="223957"/>
                  <a:pt x="114300" y="218242"/>
                </a:cubicBezTo>
                <a:cubicBezTo>
                  <a:pt x="114300" y="214134"/>
                  <a:pt x="116890" y="210517"/>
                  <a:pt x="120194" y="208062"/>
                </a:cubicBezTo>
                <a:cubicBezTo>
                  <a:pt x="125373" y="204177"/>
                  <a:pt x="128588" y="198819"/>
                  <a:pt x="128588" y="192881"/>
                </a:cubicBezTo>
                <a:cubicBezTo>
                  <a:pt x="128588" y="181049"/>
                  <a:pt x="115773" y="171450"/>
                  <a:pt x="100013" y="171450"/>
                </a:cubicBezTo>
                <a:cubicBezTo>
                  <a:pt x="84252" y="171450"/>
                  <a:pt x="71438" y="181049"/>
                  <a:pt x="71438" y="192881"/>
                </a:cubicBezTo>
                <a:cubicBezTo>
                  <a:pt x="71438" y="198819"/>
                  <a:pt x="74652" y="204177"/>
                  <a:pt x="79831" y="208062"/>
                </a:cubicBezTo>
                <a:cubicBezTo>
                  <a:pt x="83135" y="210517"/>
                  <a:pt x="85725" y="214089"/>
                  <a:pt x="85725" y="218242"/>
                </a:cubicBezTo>
                <a:cubicBezTo>
                  <a:pt x="85725" y="223957"/>
                  <a:pt x="81082" y="228600"/>
                  <a:pt x="75367" y="228600"/>
                </a:cubicBezTo>
                <a:lnTo>
                  <a:pt x="21431" y="228600"/>
                </a:lnTo>
                <a:cubicBezTo>
                  <a:pt x="9599" y="228600"/>
                  <a:pt x="0" y="219001"/>
                  <a:pt x="0" y="207169"/>
                </a:cubicBezTo>
                <a:lnTo>
                  <a:pt x="0" y="153233"/>
                </a:lnTo>
                <a:cubicBezTo>
                  <a:pt x="0" y="147518"/>
                  <a:pt x="4643" y="142875"/>
                  <a:pt x="10358" y="142875"/>
                </a:cubicBezTo>
                <a:cubicBezTo>
                  <a:pt x="14466" y="142875"/>
                  <a:pt x="18083" y="145465"/>
                  <a:pt x="20538" y="148769"/>
                </a:cubicBezTo>
                <a:cubicBezTo>
                  <a:pt x="24423" y="153948"/>
                  <a:pt x="29781" y="157163"/>
                  <a:pt x="35719" y="157163"/>
                </a:cubicBezTo>
                <a:cubicBezTo>
                  <a:pt x="47551" y="157163"/>
                  <a:pt x="57150" y="144348"/>
                  <a:pt x="57150" y="128588"/>
                </a:cubicBezTo>
                <a:cubicBezTo>
                  <a:pt x="57150" y="112827"/>
                  <a:pt x="47551" y="100013"/>
                  <a:pt x="35719" y="100013"/>
                </a:cubicBezTo>
                <a:cubicBezTo>
                  <a:pt x="29781" y="100013"/>
                  <a:pt x="24423" y="103227"/>
                  <a:pt x="20538" y="108406"/>
                </a:cubicBezTo>
                <a:cubicBezTo>
                  <a:pt x="18083" y="111710"/>
                  <a:pt x="14511" y="114300"/>
                  <a:pt x="10358" y="114300"/>
                </a:cubicBezTo>
                <a:cubicBezTo>
                  <a:pt x="4643" y="114300"/>
                  <a:pt x="0" y="109657"/>
                  <a:pt x="0" y="103942"/>
                </a:cubicBezTo>
                <a:lnTo>
                  <a:pt x="0" y="78581"/>
                </a:lnTo>
                <a:cubicBezTo>
                  <a:pt x="0" y="66749"/>
                  <a:pt x="9599" y="57150"/>
                  <a:pt x="21431" y="57150"/>
                </a:cubicBezTo>
                <a:lnTo>
                  <a:pt x="70009" y="57150"/>
                </a:lnTo>
                <a:cubicBezTo>
                  <a:pt x="76706" y="57150"/>
                  <a:pt x="82153" y="51703"/>
                  <a:pt x="82153" y="45006"/>
                </a:cubicBezTo>
                <a:cubicBezTo>
                  <a:pt x="82153" y="40764"/>
                  <a:pt x="79742" y="36969"/>
                  <a:pt x="76795" y="33888"/>
                </a:cubicBezTo>
                <a:cubicBezTo>
                  <a:pt x="73447" y="30361"/>
                  <a:pt x="71438" y="26075"/>
                  <a:pt x="71438" y="21431"/>
                </a:cubicBezTo>
                <a:cubicBezTo>
                  <a:pt x="71438" y="9599"/>
                  <a:pt x="84252" y="0"/>
                  <a:pt x="100013" y="0"/>
                </a:cubicBezTo>
                <a:close/>
              </a:path>
            </a:pathLst>
          </a:custGeom>
          <a:solidFill>
            <a:srgbClr val="AD46FF"/>
          </a:solidFill>
          <a:ln/>
        </p:spPr>
      </p:sp>
      <p:sp>
        <p:nvSpPr>
          <p:cNvPr id="9" name="Text 7"/>
          <p:cNvSpPr/>
          <p:nvPr/>
        </p:nvSpPr>
        <p:spPr>
          <a:xfrm>
            <a:off x="1074420" y="1322068"/>
            <a:ext cx="213360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How AI Solves Problems</a:t>
            </a:r>
            <a:endParaRPr lang="en-US" sz="1600" dirty="0"/>
          </a:p>
        </p:txBody>
      </p:sp>
      <p:sp>
        <p:nvSpPr>
          <p:cNvPr id="10" name="Text 8"/>
          <p:cNvSpPr/>
          <p:nvPr/>
        </p:nvSpPr>
        <p:spPr>
          <a:xfrm>
            <a:off x="502920" y="1760218"/>
            <a:ext cx="6600825" cy="457200"/>
          </a:xfrm>
          <a:prstGeom prst="rect">
            <a:avLst/>
          </a:prstGeom>
          <a:noFill/>
          <a:ln/>
        </p:spPr>
        <p:txBody>
          <a:bodyPr wrap="square" lIns="0" tIns="0" rIns="0" bIns="0" rtlCol="0" anchor="ctr"/>
          <a:lstStyle/>
          <a:p>
            <a:pPr>
              <a:lnSpc>
                <a:spcPct val="130000"/>
              </a:lnSpc>
            </a:pPr>
            <a:r>
              <a:rPr lang="en-US" sz="1200" b="1" dirty="0">
                <a:solidFill>
                  <a:srgbClr val="AD46FF"/>
                </a:solidFill>
                <a:latin typeface="Liter" pitchFamily="34" charset="0"/>
                <a:ea typeface="Liter" pitchFamily="34" charset="-122"/>
                <a:cs typeface="Liter" pitchFamily="34" charset="-120"/>
              </a:rPr>
              <a:t>Problem-solving</a:t>
            </a:r>
            <a:pPr>
              <a:lnSpc>
                <a:spcPct val="130000"/>
              </a:lnSpc>
            </a:pPr>
            <a:r>
              <a:rPr lang="en-US" sz="1200" dirty="0">
                <a:solidFill>
                  <a:srgbClr val="EFEFEF"/>
                </a:solidFill>
                <a:latin typeface="Liter" pitchFamily="34" charset="0"/>
                <a:ea typeface="Liter" pitchFamily="34" charset="-122"/>
                <a:cs typeface="Liter" pitchFamily="34" charset="-120"/>
              </a:rPr>
              <a:t> means breaking big, complex problems into smaller, manageable steps. AI searches through possible solutions to find the best one.</a:t>
            </a:r>
            <a:endParaRPr lang="en-US" sz="1600" dirty="0"/>
          </a:p>
        </p:txBody>
      </p:sp>
      <p:sp>
        <p:nvSpPr>
          <p:cNvPr id="11" name="Shape 9"/>
          <p:cNvSpPr/>
          <p:nvPr/>
        </p:nvSpPr>
        <p:spPr>
          <a:xfrm>
            <a:off x="502920" y="2293618"/>
            <a:ext cx="3219450" cy="571500"/>
          </a:xfrm>
          <a:prstGeom prst="roundRect">
            <a:avLst>
              <a:gd name="adj" fmla="val 13333"/>
            </a:avLst>
          </a:prstGeom>
          <a:solidFill>
            <a:srgbClr val="191919"/>
          </a:solidFill>
          <a:ln/>
        </p:spPr>
      </p:sp>
      <p:sp>
        <p:nvSpPr>
          <p:cNvPr id="12" name="Text 10"/>
          <p:cNvSpPr/>
          <p:nvPr/>
        </p:nvSpPr>
        <p:spPr>
          <a:xfrm>
            <a:off x="579120" y="2369818"/>
            <a:ext cx="3133725" cy="190500"/>
          </a:xfrm>
          <a:prstGeom prst="rect">
            <a:avLst/>
          </a:prstGeom>
          <a:noFill/>
          <a:ln/>
        </p:spPr>
        <p:txBody>
          <a:bodyPr wrap="square" lIns="0" tIns="0" rIns="0" bIns="0" rtlCol="0" anchor="ctr"/>
          <a:lstStyle/>
          <a:p>
            <a:pPr>
              <a:lnSpc>
                <a:spcPct val="120000"/>
              </a:lnSpc>
            </a:pPr>
            <a:r>
              <a:rPr lang="en-US" sz="1050" b="1" dirty="0">
                <a:solidFill>
                  <a:srgbClr val="EFEFEF"/>
                </a:solidFill>
                <a:latin typeface="Liter" pitchFamily="34" charset="0"/>
                <a:ea typeface="Liter" pitchFamily="34" charset="-122"/>
                <a:cs typeface="Liter" pitchFamily="34" charset="-120"/>
              </a:rPr>
              <a:t>Step 1: Define Goal</a:t>
            </a:r>
            <a:endParaRPr lang="en-US" sz="1600" dirty="0"/>
          </a:p>
        </p:txBody>
      </p:sp>
      <p:sp>
        <p:nvSpPr>
          <p:cNvPr id="13" name="Text 11"/>
          <p:cNvSpPr/>
          <p:nvPr/>
        </p:nvSpPr>
        <p:spPr>
          <a:xfrm>
            <a:off x="579120" y="2598418"/>
            <a:ext cx="31337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What does success look like?</a:t>
            </a:r>
            <a:endParaRPr lang="en-US" sz="1600" dirty="0"/>
          </a:p>
        </p:txBody>
      </p:sp>
      <p:sp>
        <p:nvSpPr>
          <p:cNvPr id="14" name="Shape 12"/>
          <p:cNvSpPr/>
          <p:nvPr/>
        </p:nvSpPr>
        <p:spPr>
          <a:xfrm>
            <a:off x="3802380" y="2293618"/>
            <a:ext cx="3219450" cy="571500"/>
          </a:xfrm>
          <a:prstGeom prst="roundRect">
            <a:avLst>
              <a:gd name="adj" fmla="val 13333"/>
            </a:avLst>
          </a:prstGeom>
          <a:solidFill>
            <a:srgbClr val="191919"/>
          </a:solidFill>
          <a:ln/>
        </p:spPr>
      </p:sp>
      <p:sp>
        <p:nvSpPr>
          <p:cNvPr id="15" name="Text 13"/>
          <p:cNvSpPr/>
          <p:nvPr/>
        </p:nvSpPr>
        <p:spPr>
          <a:xfrm>
            <a:off x="3878580" y="2369818"/>
            <a:ext cx="3133725" cy="190500"/>
          </a:xfrm>
          <a:prstGeom prst="rect">
            <a:avLst/>
          </a:prstGeom>
          <a:noFill/>
          <a:ln/>
        </p:spPr>
        <p:txBody>
          <a:bodyPr wrap="square" lIns="0" tIns="0" rIns="0" bIns="0" rtlCol="0" anchor="ctr"/>
          <a:lstStyle/>
          <a:p>
            <a:pPr>
              <a:lnSpc>
                <a:spcPct val="120000"/>
              </a:lnSpc>
            </a:pPr>
            <a:r>
              <a:rPr lang="en-US" sz="1050" b="1" dirty="0">
                <a:solidFill>
                  <a:srgbClr val="EFEFEF"/>
                </a:solidFill>
                <a:latin typeface="Liter" pitchFamily="34" charset="0"/>
                <a:ea typeface="Liter" pitchFamily="34" charset="-122"/>
                <a:cs typeface="Liter" pitchFamily="34" charset="-120"/>
              </a:rPr>
              <a:t>Step 2: Explore Options</a:t>
            </a:r>
            <a:endParaRPr lang="en-US" sz="1600" dirty="0"/>
          </a:p>
        </p:txBody>
      </p:sp>
      <p:sp>
        <p:nvSpPr>
          <p:cNvPr id="16" name="Text 14"/>
          <p:cNvSpPr/>
          <p:nvPr/>
        </p:nvSpPr>
        <p:spPr>
          <a:xfrm>
            <a:off x="3878580" y="2598418"/>
            <a:ext cx="31337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What are the possible paths?</a:t>
            </a:r>
            <a:endParaRPr lang="en-US" sz="1600" dirty="0"/>
          </a:p>
        </p:txBody>
      </p:sp>
      <p:sp>
        <p:nvSpPr>
          <p:cNvPr id="17" name="Shape 15"/>
          <p:cNvSpPr/>
          <p:nvPr/>
        </p:nvSpPr>
        <p:spPr>
          <a:xfrm>
            <a:off x="502920" y="2941318"/>
            <a:ext cx="3219450" cy="571500"/>
          </a:xfrm>
          <a:prstGeom prst="roundRect">
            <a:avLst>
              <a:gd name="adj" fmla="val 13333"/>
            </a:avLst>
          </a:prstGeom>
          <a:solidFill>
            <a:srgbClr val="191919"/>
          </a:solidFill>
          <a:ln/>
        </p:spPr>
      </p:sp>
      <p:sp>
        <p:nvSpPr>
          <p:cNvPr id="18" name="Text 16"/>
          <p:cNvSpPr/>
          <p:nvPr/>
        </p:nvSpPr>
        <p:spPr>
          <a:xfrm>
            <a:off x="579120" y="3017518"/>
            <a:ext cx="3133725" cy="190500"/>
          </a:xfrm>
          <a:prstGeom prst="rect">
            <a:avLst/>
          </a:prstGeom>
          <a:noFill/>
          <a:ln/>
        </p:spPr>
        <p:txBody>
          <a:bodyPr wrap="square" lIns="0" tIns="0" rIns="0" bIns="0" rtlCol="0" anchor="ctr"/>
          <a:lstStyle/>
          <a:p>
            <a:pPr>
              <a:lnSpc>
                <a:spcPct val="120000"/>
              </a:lnSpc>
            </a:pPr>
            <a:r>
              <a:rPr lang="en-US" sz="1050" b="1" dirty="0">
                <a:solidFill>
                  <a:srgbClr val="EFEFEF"/>
                </a:solidFill>
                <a:latin typeface="Liter" pitchFamily="34" charset="0"/>
                <a:ea typeface="Liter" pitchFamily="34" charset="-122"/>
                <a:cs typeface="Liter" pitchFamily="34" charset="-120"/>
              </a:rPr>
              <a:t>Step 3: Evaluate</a:t>
            </a:r>
            <a:endParaRPr lang="en-US" sz="1600" dirty="0"/>
          </a:p>
        </p:txBody>
      </p:sp>
      <p:sp>
        <p:nvSpPr>
          <p:cNvPr id="19" name="Text 17"/>
          <p:cNvSpPr/>
          <p:nvPr/>
        </p:nvSpPr>
        <p:spPr>
          <a:xfrm>
            <a:off x="579120" y="3246118"/>
            <a:ext cx="31337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Which option is best?</a:t>
            </a:r>
            <a:endParaRPr lang="en-US" sz="1600" dirty="0"/>
          </a:p>
        </p:txBody>
      </p:sp>
      <p:sp>
        <p:nvSpPr>
          <p:cNvPr id="20" name="Shape 18"/>
          <p:cNvSpPr/>
          <p:nvPr/>
        </p:nvSpPr>
        <p:spPr>
          <a:xfrm>
            <a:off x="3802380" y="2941318"/>
            <a:ext cx="3219450" cy="571500"/>
          </a:xfrm>
          <a:prstGeom prst="roundRect">
            <a:avLst>
              <a:gd name="adj" fmla="val 13333"/>
            </a:avLst>
          </a:prstGeom>
          <a:solidFill>
            <a:srgbClr val="191919"/>
          </a:solidFill>
          <a:ln/>
        </p:spPr>
      </p:sp>
      <p:sp>
        <p:nvSpPr>
          <p:cNvPr id="21" name="Text 19"/>
          <p:cNvSpPr/>
          <p:nvPr/>
        </p:nvSpPr>
        <p:spPr>
          <a:xfrm>
            <a:off x="3878580" y="3017518"/>
            <a:ext cx="3133725" cy="190500"/>
          </a:xfrm>
          <a:prstGeom prst="rect">
            <a:avLst/>
          </a:prstGeom>
          <a:noFill/>
          <a:ln/>
        </p:spPr>
        <p:txBody>
          <a:bodyPr wrap="square" lIns="0" tIns="0" rIns="0" bIns="0" rtlCol="0" anchor="ctr"/>
          <a:lstStyle/>
          <a:p>
            <a:pPr>
              <a:lnSpc>
                <a:spcPct val="120000"/>
              </a:lnSpc>
            </a:pPr>
            <a:r>
              <a:rPr lang="en-US" sz="1050" b="1" dirty="0">
                <a:solidFill>
                  <a:srgbClr val="EFEFEF"/>
                </a:solidFill>
                <a:latin typeface="Liter" pitchFamily="34" charset="0"/>
                <a:ea typeface="Liter" pitchFamily="34" charset="-122"/>
                <a:cs typeface="Liter" pitchFamily="34" charset="-120"/>
              </a:rPr>
              <a:t>Step 4: Execute</a:t>
            </a:r>
            <a:endParaRPr lang="en-US" sz="1600" dirty="0"/>
          </a:p>
        </p:txBody>
      </p:sp>
      <p:sp>
        <p:nvSpPr>
          <p:cNvPr id="22" name="Text 20"/>
          <p:cNvSpPr/>
          <p:nvPr/>
        </p:nvSpPr>
        <p:spPr>
          <a:xfrm>
            <a:off x="3878580" y="3246118"/>
            <a:ext cx="31337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Take action and adjust</a:t>
            </a:r>
            <a:endParaRPr lang="en-US" sz="1600" dirty="0"/>
          </a:p>
        </p:txBody>
      </p:sp>
      <p:sp>
        <p:nvSpPr>
          <p:cNvPr id="23" name="Shape 21"/>
          <p:cNvSpPr/>
          <p:nvPr/>
        </p:nvSpPr>
        <p:spPr>
          <a:xfrm>
            <a:off x="384810" y="3714756"/>
            <a:ext cx="6760845" cy="2065020"/>
          </a:xfrm>
          <a:prstGeom prst="roundRect">
            <a:avLst>
              <a:gd name="adj" fmla="val 5535"/>
            </a:avLst>
          </a:prstGeom>
          <a:solidFill>
            <a:srgbClr val="262626"/>
          </a:solidFill>
          <a:ln w="10160">
            <a:solidFill>
              <a:srgbClr val="333333"/>
            </a:solidFill>
            <a:prstDash val="solid"/>
          </a:ln>
        </p:spPr>
      </p:sp>
      <p:sp>
        <p:nvSpPr>
          <p:cNvPr id="24" name="Shape 22"/>
          <p:cNvSpPr/>
          <p:nvPr/>
        </p:nvSpPr>
        <p:spPr>
          <a:xfrm>
            <a:off x="526732" y="3870964"/>
            <a:ext cx="190500" cy="190500"/>
          </a:xfrm>
          <a:custGeom>
            <a:avLst/>
            <a:gdLst/>
            <a:ahLst/>
            <a:cxnLst/>
            <a:rect l="l" t="t" r="r" b="b"/>
            <a:pathLst>
              <a:path w="190500" h="190500">
                <a:moveTo>
                  <a:pt x="154781" y="77391"/>
                </a:moveTo>
                <a:cubicBezTo>
                  <a:pt x="154781" y="94469"/>
                  <a:pt x="149237" y="110244"/>
                  <a:pt x="139898" y="123044"/>
                </a:cubicBezTo>
                <a:lnTo>
                  <a:pt x="187003" y="170185"/>
                </a:lnTo>
                <a:cubicBezTo>
                  <a:pt x="191653" y="174836"/>
                  <a:pt x="191653" y="182389"/>
                  <a:pt x="187003" y="187040"/>
                </a:cubicBezTo>
                <a:cubicBezTo>
                  <a:pt x="182352" y="191691"/>
                  <a:pt x="174799" y="191691"/>
                  <a:pt x="170148" y="187040"/>
                </a:cubicBezTo>
                <a:lnTo>
                  <a:pt x="123044" y="139898"/>
                </a:lnTo>
                <a:cubicBezTo>
                  <a:pt x="110244" y="149237"/>
                  <a:pt x="94469" y="154781"/>
                  <a:pt x="77391" y="154781"/>
                </a:cubicBezTo>
                <a:cubicBezTo>
                  <a:pt x="34640" y="154781"/>
                  <a:pt x="0" y="120142"/>
                  <a:pt x="0" y="77391"/>
                </a:cubicBezTo>
                <a:cubicBezTo>
                  <a:pt x="0" y="34640"/>
                  <a:pt x="34640" y="0"/>
                  <a:pt x="77391" y="0"/>
                </a:cubicBezTo>
                <a:cubicBezTo>
                  <a:pt x="120142" y="0"/>
                  <a:pt x="154781" y="34640"/>
                  <a:pt x="154781" y="77391"/>
                </a:cubicBezTo>
                <a:close/>
                <a:moveTo>
                  <a:pt x="77391" y="130969"/>
                </a:moveTo>
                <a:cubicBezTo>
                  <a:pt x="106961" y="130969"/>
                  <a:pt x="130969" y="106961"/>
                  <a:pt x="130969" y="77391"/>
                </a:cubicBezTo>
                <a:cubicBezTo>
                  <a:pt x="130969" y="47820"/>
                  <a:pt x="106961" y="23812"/>
                  <a:pt x="77391" y="23812"/>
                </a:cubicBezTo>
                <a:cubicBezTo>
                  <a:pt x="47820" y="23812"/>
                  <a:pt x="23813" y="47820"/>
                  <a:pt x="23812" y="77391"/>
                </a:cubicBezTo>
                <a:cubicBezTo>
                  <a:pt x="23812" y="106961"/>
                  <a:pt x="47820" y="130969"/>
                  <a:pt x="77391" y="130969"/>
                </a:cubicBezTo>
                <a:close/>
              </a:path>
            </a:pathLst>
          </a:custGeom>
          <a:solidFill>
            <a:srgbClr val="AD46FF"/>
          </a:solidFill>
          <a:ln/>
        </p:spPr>
      </p:sp>
      <p:sp>
        <p:nvSpPr>
          <p:cNvPr id="25" name="Text 23"/>
          <p:cNvSpPr/>
          <p:nvPr/>
        </p:nvSpPr>
        <p:spPr>
          <a:xfrm>
            <a:off x="741045" y="3832864"/>
            <a:ext cx="6381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Search Strategies</a:t>
            </a:r>
            <a:endParaRPr lang="en-US" sz="1600" dirty="0"/>
          </a:p>
        </p:txBody>
      </p:sp>
      <p:sp>
        <p:nvSpPr>
          <p:cNvPr id="26" name="Shape 24"/>
          <p:cNvSpPr/>
          <p:nvPr/>
        </p:nvSpPr>
        <p:spPr>
          <a:xfrm>
            <a:off x="521970" y="4213864"/>
            <a:ext cx="152400" cy="152400"/>
          </a:xfrm>
          <a:custGeom>
            <a:avLst/>
            <a:gdLst/>
            <a:ahLst/>
            <a:cxnLst/>
            <a:rect l="l" t="t" r="r" b="b"/>
            <a:pathLst>
              <a:path w="152400" h="152400">
                <a:moveTo>
                  <a:pt x="152400" y="28575"/>
                </a:moveTo>
                <a:cubicBezTo>
                  <a:pt x="152400" y="43517"/>
                  <a:pt x="134809" y="65812"/>
                  <a:pt x="127218" y="74712"/>
                </a:cubicBezTo>
                <a:cubicBezTo>
                  <a:pt x="126087" y="76021"/>
                  <a:pt x="124420" y="76527"/>
                  <a:pt x="122902" y="76200"/>
                </a:cubicBezTo>
                <a:lnTo>
                  <a:pt x="95250" y="76200"/>
                </a:lnTo>
                <a:cubicBezTo>
                  <a:pt x="89981" y="76200"/>
                  <a:pt x="85725" y="80456"/>
                  <a:pt x="85725" y="85725"/>
                </a:cubicBezTo>
                <a:cubicBezTo>
                  <a:pt x="85725" y="90994"/>
                  <a:pt x="89981" y="95250"/>
                  <a:pt x="95250" y="95250"/>
                </a:cubicBezTo>
                <a:lnTo>
                  <a:pt x="123825" y="95250"/>
                </a:lnTo>
                <a:cubicBezTo>
                  <a:pt x="139601" y="95250"/>
                  <a:pt x="152400" y="108049"/>
                  <a:pt x="152400" y="123825"/>
                </a:cubicBezTo>
                <a:cubicBezTo>
                  <a:pt x="152400" y="139601"/>
                  <a:pt x="139601" y="152400"/>
                  <a:pt x="123825" y="152400"/>
                </a:cubicBezTo>
                <a:lnTo>
                  <a:pt x="41553" y="152400"/>
                </a:lnTo>
                <a:cubicBezTo>
                  <a:pt x="44142" y="149453"/>
                  <a:pt x="47298" y="145673"/>
                  <a:pt x="50483" y="141446"/>
                </a:cubicBezTo>
                <a:cubicBezTo>
                  <a:pt x="52358" y="138946"/>
                  <a:pt x="54293" y="136208"/>
                  <a:pt x="56138" y="133350"/>
                </a:cubicBezTo>
                <a:lnTo>
                  <a:pt x="123825" y="133350"/>
                </a:lnTo>
                <a:cubicBezTo>
                  <a:pt x="129094" y="133350"/>
                  <a:pt x="133350" y="129094"/>
                  <a:pt x="133350" y="123825"/>
                </a:cubicBezTo>
                <a:cubicBezTo>
                  <a:pt x="133350" y="118556"/>
                  <a:pt x="129094" y="114300"/>
                  <a:pt x="123825" y="114300"/>
                </a:cubicBezTo>
                <a:lnTo>
                  <a:pt x="95250" y="114300"/>
                </a:lnTo>
                <a:cubicBezTo>
                  <a:pt x="79474" y="114300"/>
                  <a:pt x="66675" y="101501"/>
                  <a:pt x="66675" y="85725"/>
                </a:cubicBezTo>
                <a:cubicBezTo>
                  <a:pt x="66675" y="69949"/>
                  <a:pt x="79474" y="57150"/>
                  <a:pt x="95250" y="57150"/>
                </a:cubicBezTo>
                <a:lnTo>
                  <a:pt x="107097" y="57150"/>
                </a:lnTo>
                <a:cubicBezTo>
                  <a:pt x="100846" y="47774"/>
                  <a:pt x="95250" y="36999"/>
                  <a:pt x="95250" y="28575"/>
                </a:cubicBezTo>
                <a:cubicBezTo>
                  <a:pt x="95250" y="12799"/>
                  <a:pt x="108049" y="0"/>
                  <a:pt x="123825" y="0"/>
                </a:cubicBezTo>
                <a:cubicBezTo>
                  <a:pt x="139601" y="0"/>
                  <a:pt x="152400" y="12799"/>
                  <a:pt x="152400" y="28575"/>
                </a:cubicBezTo>
                <a:close/>
                <a:moveTo>
                  <a:pt x="34856" y="145584"/>
                </a:moveTo>
                <a:cubicBezTo>
                  <a:pt x="33724" y="146864"/>
                  <a:pt x="32712" y="147995"/>
                  <a:pt x="31849" y="148947"/>
                </a:cubicBezTo>
                <a:lnTo>
                  <a:pt x="31313" y="149543"/>
                </a:lnTo>
                <a:lnTo>
                  <a:pt x="31254" y="149483"/>
                </a:lnTo>
                <a:cubicBezTo>
                  <a:pt x="29468" y="150852"/>
                  <a:pt x="26908" y="150674"/>
                  <a:pt x="25301" y="148947"/>
                </a:cubicBezTo>
                <a:cubicBezTo>
                  <a:pt x="17800" y="140791"/>
                  <a:pt x="0" y="119807"/>
                  <a:pt x="0" y="104775"/>
                </a:cubicBezTo>
                <a:cubicBezTo>
                  <a:pt x="0" y="88999"/>
                  <a:pt x="12799" y="76200"/>
                  <a:pt x="28575" y="76200"/>
                </a:cubicBezTo>
                <a:cubicBezTo>
                  <a:pt x="44351" y="76200"/>
                  <a:pt x="57150" y="88999"/>
                  <a:pt x="57150" y="104775"/>
                </a:cubicBezTo>
                <a:cubicBezTo>
                  <a:pt x="57150" y="113705"/>
                  <a:pt x="50869" y="124718"/>
                  <a:pt x="44202" y="133916"/>
                </a:cubicBezTo>
                <a:cubicBezTo>
                  <a:pt x="41017" y="138291"/>
                  <a:pt x="37743" y="142250"/>
                  <a:pt x="35034" y="145375"/>
                </a:cubicBezTo>
                <a:lnTo>
                  <a:pt x="34856" y="145584"/>
                </a:lnTo>
                <a:close/>
                <a:moveTo>
                  <a:pt x="38100" y="104775"/>
                </a:moveTo>
                <a:cubicBezTo>
                  <a:pt x="38100" y="99518"/>
                  <a:pt x="33832" y="95250"/>
                  <a:pt x="28575" y="95250"/>
                </a:cubicBezTo>
                <a:cubicBezTo>
                  <a:pt x="23318" y="95250"/>
                  <a:pt x="19050" y="99518"/>
                  <a:pt x="19050" y="104775"/>
                </a:cubicBezTo>
                <a:cubicBezTo>
                  <a:pt x="19050" y="110032"/>
                  <a:pt x="23318" y="114300"/>
                  <a:pt x="28575" y="114300"/>
                </a:cubicBezTo>
                <a:cubicBezTo>
                  <a:pt x="33832" y="114300"/>
                  <a:pt x="38100" y="110032"/>
                  <a:pt x="38100" y="104775"/>
                </a:cubicBezTo>
                <a:close/>
                <a:moveTo>
                  <a:pt x="123825" y="38100"/>
                </a:moveTo>
                <a:cubicBezTo>
                  <a:pt x="129082" y="38100"/>
                  <a:pt x="133350" y="33832"/>
                  <a:pt x="133350" y="28575"/>
                </a:cubicBezTo>
                <a:cubicBezTo>
                  <a:pt x="133350" y="23318"/>
                  <a:pt x="129082" y="19050"/>
                  <a:pt x="123825" y="19050"/>
                </a:cubicBezTo>
                <a:cubicBezTo>
                  <a:pt x="118568" y="19050"/>
                  <a:pt x="114300" y="23318"/>
                  <a:pt x="114300" y="28575"/>
                </a:cubicBezTo>
                <a:cubicBezTo>
                  <a:pt x="114300" y="33832"/>
                  <a:pt x="118568" y="38100"/>
                  <a:pt x="123825" y="38100"/>
                </a:cubicBezTo>
                <a:close/>
              </a:path>
            </a:pathLst>
          </a:custGeom>
          <a:solidFill>
            <a:srgbClr val="AD46FF"/>
          </a:solidFill>
          <a:ln/>
        </p:spPr>
      </p:sp>
      <p:sp>
        <p:nvSpPr>
          <p:cNvPr id="27" name="Text 25"/>
          <p:cNvSpPr/>
          <p:nvPr/>
        </p:nvSpPr>
        <p:spPr>
          <a:xfrm>
            <a:off x="807720" y="4175764"/>
            <a:ext cx="354330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Breadth-First Search</a:t>
            </a:r>
            <a:endParaRPr lang="en-US" sz="1600" dirty="0"/>
          </a:p>
        </p:txBody>
      </p:sp>
      <p:sp>
        <p:nvSpPr>
          <p:cNvPr id="28" name="Text 26"/>
          <p:cNvSpPr/>
          <p:nvPr/>
        </p:nvSpPr>
        <p:spPr>
          <a:xfrm>
            <a:off x="807720" y="4404364"/>
            <a:ext cx="354330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Explore all options at each level before going deeper</a:t>
            </a:r>
            <a:endParaRPr lang="en-US" sz="1600" dirty="0"/>
          </a:p>
        </p:txBody>
      </p:sp>
      <p:sp>
        <p:nvSpPr>
          <p:cNvPr id="29" name="Shape 27"/>
          <p:cNvSpPr/>
          <p:nvPr/>
        </p:nvSpPr>
        <p:spPr>
          <a:xfrm>
            <a:off x="541020" y="4728214"/>
            <a:ext cx="114300" cy="152400"/>
          </a:xfrm>
          <a:custGeom>
            <a:avLst/>
            <a:gdLst/>
            <a:ahLst/>
            <a:cxnLst/>
            <a:rect l="l" t="t" r="r" b="b"/>
            <a:pathLst>
              <a:path w="114300" h="152400">
                <a:moveTo>
                  <a:pt x="50423" y="149602"/>
                </a:moveTo>
                <a:cubicBezTo>
                  <a:pt x="54144" y="153323"/>
                  <a:pt x="60186" y="153323"/>
                  <a:pt x="63907" y="149602"/>
                </a:cubicBezTo>
                <a:lnTo>
                  <a:pt x="111532" y="101977"/>
                </a:lnTo>
                <a:cubicBezTo>
                  <a:pt x="115253" y="98256"/>
                  <a:pt x="115253" y="92214"/>
                  <a:pt x="111532" y="88493"/>
                </a:cubicBezTo>
                <a:cubicBezTo>
                  <a:pt x="107811" y="84773"/>
                  <a:pt x="101769" y="84773"/>
                  <a:pt x="98048" y="88493"/>
                </a:cubicBezTo>
                <a:lnTo>
                  <a:pt x="66675" y="119866"/>
                </a:lnTo>
                <a:lnTo>
                  <a:pt x="66675" y="9525"/>
                </a:lnTo>
                <a:cubicBezTo>
                  <a:pt x="66675" y="4256"/>
                  <a:pt x="62419" y="0"/>
                  <a:pt x="57150" y="0"/>
                </a:cubicBezTo>
                <a:cubicBezTo>
                  <a:pt x="51881" y="0"/>
                  <a:pt x="47625" y="4256"/>
                  <a:pt x="47625" y="9525"/>
                </a:cubicBezTo>
                <a:lnTo>
                  <a:pt x="47625" y="119866"/>
                </a:lnTo>
                <a:lnTo>
                  <a:pt x="16252" y="88493"/>
                </a:lnTo>
                <a:cubicBezTo>
                  <a:pt x="12531" y="84772"/>
                  <a:pt x="6489" y="84772"/>
                  <a:pt x="2768" y="88493"/>
                </a:cubicBezTo>
                <a:cubicBezTo>
                  <a:pt x="-953" y="92214"/>
                  <a:pt x="-953" y="98256"/>
                  <a:pt x="2768" y="101977"/>
                </a:cubicBezTo>
                <a:lnTo>
                  <a:pt x="50393" y="149602"/>
                </a:lnTo>
                <a:close/>
              </a:path>
            </a:pathLst>
          </a:custGeom>
          <a:solidFill>
            <a:srgbClr val="AD46FF"/>
          </a:solidFill>
          <a:ln/>
        </p:spPr>
      </p:sp>
      <p:sp>
        <p:nvSpPr>
          <p:cNvPr id="30" name="Text 28"/>
          <p:cNvSpPr/>
          <p:nvPr/>
        </p:nvSpPr>
        <p:spPr>
          <a:xfrm>
            <a:off x="807720" y="4690114"/>
            <a:ext cx="323850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Depth-First Search</a:t>
            </a:r>
            <a:endParaRPr lang="en-US" sz="1600" dirty="0"/>
          </a:p>
        </p:txBody>
      </p:sp>
      <p:sp>
        <p:nvSpPr>
          <p:cNvPr id="31" name="Text 29"/>
          <p:cNvSpPr/>
          <p:nvPr/>
        </p:nvSpPr>
        <p:spPr>
          <a:xfrm>
            <a:off x="807720" y="4918714"/>
            <a:ext cx="323850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Go deep into one path before trying alternatives</a:t>
            </a:r>
            <a:endParaRPr lang="en-US" sz="1600" dirty="0"/>
          </a:p>
        </p:txBody>
      </p:sp>
      <p:sp>
        <p:nvSpPr>
          <p:cNvPr id="32" name="Shape 30"/>
          <p:cNvSpPr/>
          <p:nvPr/>
        </p:nvSpPr>
        <p:spPr>
          <a:xfrm>
            <a:off x="521970" y="5242564"/>
            <a:ext cx="152400" cy="152400"/>
          </a:xfrm>
          <a:custGeom>
            <a:avLst/>
            <a:gdLst/>
            <a:ahLst/>
            <a:cxnLst/>
            <a:rect l="l" t="t" r="r" b="b"/>
            <a:pathLst>
              <a:path w="152400" h="152400">
                <a:moveTo>
                  <a:pt x="133350" y="76200"/>
                </a:moveTo>
                <a:cubicBezTo>
                  <a:pt x="133350" y="44658"/>
                  <a:pt x="107742" y="19050"/>
                  <a:pt x="76200" y="19050"/>
                </a:cubicBezTo>
                <a:cubicBezTo>
                  <a:pt x="44658" y="19050"/>
                  <a:pt x="19050" y="44658"/>
                  <a:pt x="19050" y="76200"/>
                </a:cubicBezTo>
                <a:cubicBezTo>
                  <a:pt x="19050" y="107742"/>
                  <a:pt x="44658" y="133350"/>
                  <a:pt x="76200" y="133350"/>
                </a:cubicBezTo>
                <a:cubicBezTo>
                  <a:pt x="107742" y="133350"/>
                  <a:pt x="133350" y="107742"/>
                  <a:pt x="133350" y="76200"/>
                </a:cubicBezTo>
                <a:close/>
                <a:moveTo>
                  <a:pt x="0" y="76200"/>
                </a:moveTo>
                <a:cubicBezTo>
                  <a:pt x="0" y="34144"/>
                  <a:pt x="34144" y="0"/>
                  <a:pt x="76200" y="0"/>
                </a:cubicBezTo>
                <a:cubicBezTo>
                  <a:pt x="118256" y="0"/>
                  <a:pt x="152400" y="34144"/>
                  <a:pt x="152400" y="76200"/>
                </a:cubicBezTo>
                <a:cubicBezTo>
                  <a:pt x="152400" y="118256"/>
                  <a:pt x="118256" y="152400"/>
                  <a:pt x="76200" y="152400"/>
                </a:cubicBezTo>
                <a:cubicBezTo>
                  <a:pt x="34144" y="152400"/>
                  <a:pt x="0" y="118256"/>
                  <a:pt x="0" y="76200"/>
                </a:cubicBezTo>
                <a:close/>
                <a:moveTo>
                  <a:pt x="76200" y="100013"/>
                </a:moveTo>
                <a:cubicBezTo>
                  <a:pt x="89342" y="100013"/>
                  <a:pt x="100013" y="89342"/>
                  <a:pt x="100013" y="76200"/>
                </a:cubicBezTo>
                <a:cubicBezTo>
                  <a:pt x="100013" y="63058"/>
                  <a:pt x="89342" y="52388"/>
                  <a:pt x="76200" y="52388"/>
                </a:cubicBezTo>
                <a:cubicBezTo>
                  <a:pt x="63058" y="52388"/>
                  <a:pt x="52388" y="63058"/>
                  <a:pt x="52388" y="76200"/>
                </a:cubicBezTo>
                <a:cubicBezTo>
                  <a:pt x="52388" y="89342"/>
                  <a:pt x="63058" y="100013"/>
                  <a:pt x="76200" y="100013"/>
                </a:cubicBezTo>
                <a:close/>
                <a:moveTo>
                  <a:pt x="76200" y="33338"/>
                </a:moveTo>
                <a:cubicBezTo>
                  <a:pt x="99856" y="33338"/>
                  <a:pt x="119062" y="52544"/>
                  <a:pt x="119062" y="76200"/>
                </a:cubicBezTo>
                <a:cubicBezTo>
                  <a:pt x="119062" y="99856"/>
                  <a:pt x="99856" y="119062"/>
                  <a:pt x="76200" y="119062"/>
                </a:cubicBezTo>
                <a:cubicBezTo>
                  <a:pt x="52544" y="119062"/>
                  <a:pt x="33338" y="99856"/>
                  <a:pt x="33338" y="76200"/>
                </a:cubicBezTo>
                <a:cubicBezTo>
                  <a:pt x="33338" y="52544"/>
                  <a:pt x="52544" y="33338"/>
                  <a:pt x="76200" y="33338"/>
                </a:cubicBezTo>
                <a:close/>
                <a:moveTo>
                  <a:pt x="66675" y="76200"/>
                </a:moveTo>
                <a:cubicBezTo>
                  <a:pt x="66675" y="70943"/>
                  <a:pt x="70943" y="66675"/>
                  <a:pt x="76200" y="66675"/>
                </a:cubicBezTo>
                <a:cubicBezTo>
                  <a:pt x="81457" y="66675"/>
                  <a:pt x="85725" y="70943"/>
                  <a:pt x="85725" y="76200"/>
                </a:cubicBezTo>
                <a:cubicBezTo>
                  <a:pt x="85725" y="81457"/>
                  <a:pt x="81457" y="85725"/>
                  <a:pt x="76200" y="85725"/>
                </a:cubicBezTo>
                <a:cubicBezTo>
                  <a:pt x="70943" y="85725"/>
                  <a:pt x="66675" y="81457"/>
                  <a:pt x="66675" y="76200"/>
                </a:cubicBezTo>
                <a:close/>
              </a:path>
            </a:pathLst>
          </a:custGeom>
          <a:solidFill>
            <a:srgbClr val="AD46FF"/>
          </a:solidFill>
          <a:ln/>
        </p:spPr>
      </p:sp>
      <p:sp>
        <p:nvSpPr>
          <p:cNvPr id="33" name="Text 31"/>
          <p:cNvSpPr/>
          <p:nvPr/>
        </p:nvSpPr>
        <p:spPr>
          <a:xfrm>
            <a:off x="807720" y="5204464"/>
            <a:ext cx="40576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Heuristic Search</a:t>
            </a:r>
            <a:endParaRPr lang="en-US" sz="1600" dirty="0"/>
          </a:p>
        </p:txBody>
      </p:sp>
      <p:sp>
        <p:nvSpPr>
          <p:cNvPr id="34" name="Text 32"/>
          <p:cNvSpPr/>
          <p:nvPr/>
        </p:nvSpPr>
        <p:spPr>
          <a:xfrm>
            <a:off x="807720" y="5433064"/>
            <a:ext cx="405765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Use shortcuts and educated guesses to find solutions faster</a:t>
            </a:r>
            <a:endParaRPr lang="en-US" sz="1600" dirty="0"/>
          </a:p>
        </p:txBody>
      </p:sp>
      <p:sp>
        <p:nvSpPr>
          <p:cNvPr id="35" name="Shape 33"/>
          <p:cNvSpPr/>
          <p:nvPr/>
        </p:nvSpPr>
        <p:spPr>
          <a:xfrm>
            <a:off x="7303770" y="1108710"/>
            <a:ext cx="4503420" cy="2026920"/>
          </a:xfrm>
          <a:prstGeom prst="roundRect">
            <a:avLst>
              <a:gd name="adj" fmla="val 5639"/>
            </a:avLst>
          </a:prstGeom>
          <a:gradFill rotWithShape="1" flip="none">
            <a:gsLst>
              <a:gs pos="0">
                <a:srgbClr val="AD46FF">
                  <a:alpha val="20000"/>
                </a:srgbClr>
              </a:gs>
              <a:gs pos="100000">
                <a:srgbClr val="AD46FF">
                  <a:alpha val="5000"/>
                </a:srgbClr>
              </a:gs>
            </a:gsLst>
            <a:lin ang="2700000" scaled="1"/>
          </a:gradFill>
          <a:ln w="10160">
            <a:solidFill>
              <a:srgbClr val="AD46FF"/>
            </a:solidFill>
            <a:prstDash val="solid"/>
          </a:ln>
        </p:spPr>
      </p:sp>
      <p:sp>
        <p:nvSpPr>
          <p:cNvPr id="36" name="Shape 34"/>
          <p:cNvSpPr/>
          <p:nvPr/>
        </p:nvSpPr>
        <p:spPr>
          <a:xfrm>
            <a:off x="7469505" y="1264918"/>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AD46FF"/>
          </a:solidFill>
          <a:ln/>
        </p:spPr>
      </p:sp>
      <p:sp>
        <p:nvSpPr>
          <p:cNvPr id="37" name="Text 35"/>
          <p:cNvSpPr/>
          <p:nvPr/>
        </p:nvSpPr>
        <p:spPr>
          <a:xfrm>
            <a:off x="7736205" y="1226818"/>
            <a:ext cx="1809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Real-World Example</a:t>
            </a:r>
            <a:endParaRPr lang="en-US" sz="1600" dirty="0"/>
          </a:p>
        </p:txBody>
      </p:sp>
      <p:sp>
        <p:nvSpPr>
          <p:cNvPr id="38" name="Shape 36"/>
          <p:cNvSpPr/>
          <p:nvPr/>
        </p:nvSpPr>
        <p:spPr>
          <a:xfrm>
            <a:off x="7421880" y="1569718"/>
            <a:ext cx="4267200" cy="1447800"/>
          </a:xfrm>
          <a:prstGeom prst="roundRect">
            <a:avLst>
              <a:gd name="adj" fmla="val 5263"/>
            </a:avLst>
          </a:prstGeom>
          <a:solidFill>
            <a:srgbClr val="191919"/>
          </a:solidFill>
          <a:ln/>
        </p:spPr>
      </p:sp>
      <p:sp>
        <p:nvSpPr>
          <p:cNvPr id="39" name="Text 37"/>
          <p:cNvSpPr/>
          <p:nvPr/>
        </p:nvSpPr>
        <p:spPr>
          <a:xfrm>
            <a:off x="7536180" y="1684018"/>
            <a:ext cx="4124325" cy="266700"/>
          </a:xfrm>
          <a:prstGeom prst="rect">
            <a:avLst/>
          </a:prstGeom>
          <a:noFill/>
          <a:ln/>
        </p:spPr>
        <p:txBody>
          <a:bodyPr wrap="square" lIns="0" tIns="0" rIns="0" bIns="0" rtlCol="0" anchor="ctr"/>
          <a:lstStyle/>
          <a:p>
            <a:pPr>
              <a:lnSpc>
                <a:spcPct val="130000"/>
              </a:lnSpc>
            </a:pPr>
            <a:r>
              <a:rPr lang="en-US" sz="1350" b="1" dirty="0">
                <a:solidFill>
                  <a:srgbClr val="AD46FF"/>
                </a:solidFill>
                <a:latin typeface="Liter" pitchFamily="34" charset="0"/>
                <a:ea typeface="Liter" pitchFamily="34" charset="-122"/>
                <a:cs typeface="Liter" pitchFamily="34" charset="-120"/>
              </a:rPr>
              <a:t>GPS Navigation</a:t>
            </a:r>
            <a:endParaRPr lang="en-US" sz="1600" dirty="0"/>
          </a:p>
        </p:txBody>
      </p:sp>
      <p:sp>
        <p:nvSpPr>
          <p:cNvPr id="40" name="Text 38"/>
          <p:cNvSpPr/>
          <p:nvPr/>
        </p:nvSpPr>
        <p:spPr>
          <a:xfrm>
            <a:off x="7536180" y="1988818"/>
            <a:ext cx="4114800" cy="9144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Your GPS solves a complex problem: finding the fastest route. It explores thousands of possible paths, considers traffic, distance, and road conditions, then picks the optimal route in seconds!</a:t>
            </a:r>
            <a:endParaRPr lang="en-US" sz="1600" dirty="0"/>
          </a:p>
        </p:txBody>
      </p:sp>
      <p:sp>
        <p:nvSpPr>
          <p:cNvPr id="41" name="Shape 39"/>
          <p:cNvSpPr/>
          <p:nvPr/>
        </p:nvSpPr>
        <p:spPr>
          <a:xfrm>
            <a:off x="7303770" y="3219456"/>
            <a:ext cx="4503420" cy="1264920"/>
          </a:xfrm>
          <a:prstGeom prst="roundRect">
            <a:avLst>
              <a:gd name="adj" fmla="val 9036"/>
            </a:avLst>
          </a:prstGeom>
          <a:solidFill>
            <a:srgbClr val="262626"/>
          </a:solidFill>
          <a:ln w="10160">
            <a:solidFill>
              <a:srgbClr val="333333"/>
            </a:solidFill>
            <a:prstDash val="solid"/>
          </a:ln>
        </p:spPr>
      </p:sp>
      <p:sp>
        <p:nvSpPr>
          <p:cNvPr id="42" name="Text 40"/>
          <p:cNvSpPr/>
          <p:nvPr/>
        </p:nvSpPr>
        <p:spPr>
          <a:xfrm>
            <a:off x="7421880" y="3337564"/>
            <a:ext cx="43529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 Simple Explanation</a:t>
            </a:r>
            <a:endParaRPr lang="en-US" sz="1600" dirty="0"/>
          </a:p>
        </p:txBody>
      </p:sp>
      <p:sp>
        <p:nvSpPr>
          <p:cNvPr id="43" name="Text 41"/>
          <p:cNvSpPr/>
          <p:nvPr/>
        </p:nvSpPr>
        <p:spPr>
          <a:xfrm>
            <a:off x="7421880" y="3680464"/>
            <a:ext cx="43434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Problem-solving is like finding your way through a maze. AI tries different paths, learns from dead ends, and finds the quickest way to the goal. It's methodical and never gives up!</a:t>
            </a:r>
            <a:endParaRPr lang="en-US" sz="1600" dirty="0"/>
          </a:p>
        </p:txBody>
      </p:sp>
      <p:sp>
        <p:nvSpPr>
          <p:cNvPr id="44" name="Shape 42"/>
          <p:cNvSpPr/>
          <p:nvPr/>
        </p:nvSpPr>
        <p:spPr>
          <a:xfrm>
            <a:off x="7303770" y="4568192"/>
            <a:ext cx="4503420" cy="1874520"/>
          </a:xfrm>
          <a:prstGeom prst="roundRect">
            <a:avLst>
              <a:gd name="adj" fmla="val 6098"/>
            </a:avLst>
          </a:prstGeom>
          <a:solidFill>
            <a:srgbClr val="262626"/>
          </a:solidFill>
          <a:ln w="10160">
            <a:solidFill>
              <a:srgbClr val="333333"/>
            </a:solidFill>
            <a:prstDash val="solid"/>
          </a:ln>
        </p:spPr>
      </p:sp>
      <p:sp>
        <p:nvSpPr>
          <p:cNvPr id="45" name="Shape 43"/>
          <p:cNvSpPr/>
          <p:nvPr/>
        </p:nvSpPr>
        <p:spPr>
          <a:xfrm>
            <a:off x="7456408" y="4733925"/>
            <a:ext cx="150019" cy="171450"/>
          </a:xfrm>
          <a:custGeom>
            <a:avLst/>
            <a:gdLst/>
            <a:ahLst/>
            <a:cxnLst/>
            <a:rect l="l" t="t" r="r" b="b"/>
            <a:pathLst>
              <a:path w="150019" h="171450">
                <a:moveTo>
                  <a:pt x="21431" y="10716"/>
                </a:moveTo>
                <a:cubicBezTo>
                  <a:pt x="9611" y="10716"/>
                  <a:pt x="0" y="20326"/>
                  <a:pt x="0" y="32147"/>
                </a:cubicBezTo>
                <a:lnTo>
                  <a:pt x="0" y="139303"/>
                </a:lnTo>
                <a:cubicBezTo>
                  <a:pt x="0" y="151124"/>
                  <a:pt x="9611" y="160734"/>
                  <a:pt x="21431" y="160734"/>
                </a:cubicBezTo>
                <a:lnTo>
                  <a:pt x="128588" y="160734"/>
                </a:lnTo>
                <a:cubicBezTo>
                  <a:pt x="140408" y="160734"/>
                  <a:pt x="150019" y="151124"/>
                  <a:pt x="150019" y="139303"/>
                </a:cubicBezTo>
                <a:lnTo>
                  <a:pt x="150019" y="32147"/>
                </a:lnTo>
                <a:cubicBezTo>
                  <a:pt x="150019" y="20326"/>
                  <a:pt x="140408" y="10716"/>
                  <a:pt x="128588" y="10716"/>
                </a:cubicBezTo>
                <a:lnTo>
                  <a:pt x="21431" y="10716"/>
                </a:lnTo>
                <a:close/>
                <a:moveTo>
                  <a:pt x="42863" y="37505"/>
                </a:moveTo>
                <a:cubicBezTo>
                  <a:pt x="51734" y="37505"/>
                  <a:pt x="58936" y="44707"/>
                  <a:pt x="58936" y="53578"/>
                </a:cubicBezTo>
                <a:cubicBezTo>
                  <a:pt x="58936" y="62449"/>
                  <a:pt x="51734" y="69652"/>
                  <a:pt x="42863" y="69652"/>
                </a:cubicBezTo>
                <a:cubicBezTo>
                  <a:pt x="33991" y="69652"/>
                  <a:pt x="26789" y="62449"/>
                  <a:pt x="26789" y="53578"/>
                </a:cubicBezTo>
                <a:cubicBezTo>
                  <a:pt x="26789" y="44707"/>
                  <a:pt x="33991" y="37505"/>
                  <a:pt x="42863" y="37505"/>
                </a:cubicBezTo>
                <a:close/>
                <a:moveTo>
                  <a:pt x="91083" y="75009"/>
                </a:moveTo>
                <a:cubicBezTo>
                  <a:pt x="93896" y="75009"/>
                  <a:pt x="96474" y="76483"/>
                  <a:pt x="97948" y="78860"/>
                </a:cubicBezTo>
                <a:lnTo>
                  <a:pt x="127415" y="127081"/>
                </a:lnTo>
                <a:cubicBezTo>
                  <a:pt x="128922" y="129559"/>
                  <a:pt x="128989" y="132673"/>
                  <a:pt x="127583" y="135218"/>
                </a:cubicBezTo>
                <a:cubicBezTo>
                  <a:pt x="126176" y="137763"/>
                  <a:pt x="123464" y="139303"/>
                  <a:pt x="120551" y="139303"/>
                </a:cubicBezTo>
                <a:lnTo>
                  <a:pt x="29468" y="139303"/>
                </a:lnTo>
                <a:cubicBezTo>
                  <a:pt x="26488" y="139303"/>
                  <a:pt x="23708" y="137629"/>
                  <a:pt x="22335" y="134983"/>
                </a:cubicBezTo>
                <a:cubicBezTo>
                  <a:pt x="20962" y="132338"/>
                  <a:pt x="21163" y="129123"/>
                  <a:pt x="22871" y="126679"/>
                </a:cubicBezTo>
                <a:lnTo>
                  <a:pt x="41624" y="99890"/>
                </a:lnTo>
                <a:cubicBezTo>
                  <a:pt x="43130" y="97747"/>
                  <a:pt x="45575" y="96474"/>
                  <a:pt x="48220" y="96474"/>
                </a:cubicBezTo>
                <a:cubicBezTo>
                  <a:pt x="50866" y="96474"/>
                  <a:pt x="53310" y="97747"/>
                  <a:pt x="54817" y="99890"/>
                </a:cubicBezTo>
                <a:lnTo>
                  <a:pt x="63658" y="112548"/>
                </a:lnTo>
                <a:lnTo>
                  <a:pt x="84218" y="78894"/>
                </a:lnTo>
                <a:cubicBezTo>
                  <a:pt x="85692" y="76516"/>
                  <a:pt x="88270" y="75043"/>
                  <a:pt x="91083" y="75043"/>
                </a:cubicBezTo>
                <a:close/>
              </a:path>
            </a:pathLst>
          </a:custGeom>
          <a:solidFill>
            <a:srgbClr val="AD46FF"/>
          </a:solidFill>
          <a:ln/>
        </p:spPr>
      </p:sp>
      <p:sp>
        <p:nvSpPr>
          <p:cNvPr id="46" name="Text 44"/>
          <p:cNvSpPr/>
          <p:nvPr/>
        </p:nvSpPr>
        <p:spPr>
          <a:xfrm>
            <a:off x="7640955" y="4686300"/>
            <a:ext cx="41338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Visual</a:t>
            </a:r>
            <a:endParaRPr lang="en-US" sz="1600" dirty="0"/>
          </a:p>
        </p:txBody>
      </p:sp>
      <p:sp>
        <p:nvSpPr>
          <p:cNvPr id="47" name="Shape 45"/>
          <p:cNvSpPr/>
          <p:nvPr/>
        </p:nvSpPr>
        <p:spPr>
          <a:xfrm>
            <a:off x="7421880" y="5029200"/>
            <a:ext cx="4267200" cy="609600"/>
          </a:xfrm>
          <a:prstGeom prst="roundRect">
            <a:avLst>
              <a:gd name="adj" fmla="val 12500"/>
            </a:avLst>
          </a:prstGeom>
          <a:solidFill>
            <a:srgbClr val="191919"/>
          </a:solidFill>
          <a:ln/>
        </p:spPr>
      </p:sp>
      <p:sp>
        <p:nvSpPr>
          <p:cNvPr id="48" name="Text 46"/>
          <p:cNvSpPr/>
          <p:nvPr/>
        </p:nvSpPr>
        <p:spPr>
          <a:xfrm>
            <a:off x="7498080" y="51054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Diagram:</a:t>
            </a:r>
            <a:endParaRPr lang="en-US" sz="1600" dirty="0"/>
          </a:p>
        </p:txBody>
      </p:sp>
      <p:sp>
        <p:nvSpPr>
          <p:cNvPr id="49" name="Text 47"/>
          <p:cNvSpPr/>
          <p:nvPr/>
        </p:nvSpPr>
        <p:spPr>
          <a:xfrm>
            <a:off x="7498080" y="53340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Problem → Search → Evaluate → Best Solution</a:t>
            </a:r>
            <a:endParaRPr lang="en-US" sz="1600" dirty="0"/>
          </a:p>
        </p:txBody>
      </p:sp>
      <p:sp>
        <p:nvSpPr>
          <p:cNvPr id="50" name="Shape 48"/>
          <p:cNvSpPr/>
          <p:nvPr/>
        </p:nvSpPr>
        <p:spPr>
          <a:xfrm>
            <a:off x="7421880" y="5715000"/>
            <a:ext cx="4267200" cy="609600"/>
          </a:xfrm>
          <a:prstGeom prst="roundRect">
            <a:avLst>
              <a:gd name="adj" fmla="val 12500"/>
            </a:avLst>
          </a:prstGeom>
          <a:solidFill>
            <a:srgbClr val="191919"/>
          </a:solidFill>
          <a:ln/>
        </p:spPr>
      </p:sp>
      <p:sp>
        <p:nvSpPr>
          <p:cNvPr id="51" name="Text 49"/>
          <p:cNvSpPr/>
          <p:nvPr/>
        </p:nvSpPr>
        <p:spPr>
          <a:xfrm>
            <a:off x="7498080" y="57912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Image:</a:t>
            </a:r>
            <a:endParaRPr lang="en-US" sz="1600" dirty="0"/>
          </a:p>
        </p:txBody>
      </p:sp>
      <p:sp>
        <p:nvSpPr>
          <p:cNvPr id="52" name="Text 50"/>
          <p:cNvSpPr/>
          <p:nvPr/>
        </p:nvSpPr>
        <p:spPr>
          <a:xfrm>
            <a:off x="7498080" y="60198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Maze with path being solved</a:t>
            </a:r>
            <a:endParaRPr lang="en-US" sz="1600" dirty="0"/>
          </a:p>
        </p:txBody>
      </p:sp>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91919"/>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F0B100">
              <a:alpha val="20000"/>
            </a:srgbClr>
          </a:solidFill>
          <a:ln/>
        </p:spPr>
      </p:sp>
      <p:sp>
        <p:nvSpPr>
          <p:cNvPr id="3" name="Text 1"/>
          <p:cNvSpPr/>
          <p:nvPr/>
        </p:nvSpPr>
        <p:spPr>
          <a:xfrm>
            <a:off x="515303" y="533400"/>
            <a:ext cx="285750" cy="266700"/>
          </a:xfrm>
          <a:prstGeom prst="rect">
            <a:avLst/>
          </a:prstGeom>
          <a:noFill/>
          <a:ln/>
        </p:spPr>
        <p:txBody>
          <a:bodyPr wrap="square" lIns="0" tIns="0" rIns="0" bIns="0" rtlCol="0" anchor="ctr"/>
          <a:lstStyle/>
          <a:p>
            <a:pPr>
              <a:lnSpc>
                <a:spcPct val="120000"/>
              </a:lnSpc>
            </a:pPr>
            <a:r>
              <a:rPr lang="en-US" sz="1500" b="1" dirty="0">
                <a:solidFill>
                  <a:srgbClr val="F0B100"/>
                </a:solidFill>
                <a:latin typeface="Liter" pitchFamily="34" charset="0"/>
                <a:ea typeface="Liter" pitchFamily="34" charset="-122"/>
                <a:cs typeface="Liter" pitchFamily="34" charset="-120"/>
              </a:rPr>
              <a:t>14</a:t>
            </a:r>
            <a:endParaRPr lang="en-US" sz="1600" dirty="0"/>
          </a:p>
        </p:txBody>
      </p:sp>
      <p:sp>
        <p:nvSpPr>
          <p:cNvPr id="4" name="Text 2"/>
          <p:cNvSpPr/>
          <p:nvPr/>
        </p:nvSpPr>
        <p:spPr>
          <a:xfrm>
            <a:off x="952500" y="381000"/>
            <a:ext cx="3914775" cy="190500"/>
          </a:xfrm>
          <a:prstGeom prst="rect">
            <a:avLst/>
          </a:prstGeom>
          <a:noFill/>
          <a:ln/>
        </p:spPr>
        <p:txBody>
          <a:bodyPr wrap="square" lIns="0" tIns="0" rIns="0" bIns="0" rtlCol="0" anchor="ctr"/>
          <a:lstStyle/>
          <a:p>
            <a:pPr>
              <a:lnSpc>
                <a:spcPct val="120000"/>
              </a:lnSpc>
            </a:pPr>
            <a:r>
              <a:rPr lang="en-US" sz="1050" b="1" spc="53" kern="0" dirty="0">
                <a:solidFill>
                  <a:srgbClr val="F0B100"/>
                </a:solidFill>
                <a:latin typeface="Liter" pitchFamily="34" charset="0"/>
                <a:ea typeface="Liter" pitchFamily="34" charset="-122"/>
                <a:cs typeface="Liter" pitchFamily="34" charset="-120"/>
              </a:rPr>
              <a:t>Components of AI</a:t>
            </a:r>
            <a:endParaRPr lang="en-US" sz="1600" dirty="0"/>
          </a:p>
        </p:txBody>
      </p:sp>
      <p:sp>
        <p:nvSpPr>
          <p:cNvPr id="5" name="Text 3"/>
          <p:cNvSpPr/>
          <p:nvPr/>
        </p:nvSpPr>
        <p:spPr>
          <a:xfrm>
            <a:off x="952500" y="571500"/>
            <a:ext cx="401955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Component 4: Perception</a:t>
            </a:r>
            <a:endParaRPr lang="en-US" sz="1600" dirty="0"/>
          </a:p>
        </p:txBody>
      </p:sp>
      <p:sp>
        <p:nvSpPr>
          <p:cNvPr id="6" name="Shape 4"/>
          <p:cNvSpPr/>
          <p:nvPr/>
        </p:nvSpPr>
        <p:spPr>
          <a:xfrm>
            <a:off x="384810" y="1108710"/>
            <a:ext cx="6760845" cy="2598420"/>
          </a:xfrm>
          <a:prstGeom prst="roundRect">
            <a:avLst>
              <a:gd name="adj" fmla="val 4399"/>
            </a:avLst>
          </a:prstGeom>
          <a:solidFill>
            <a:srgbClr val="262626"/>
          </a:solidFill>
          <a:ln w="10160">
            <a:solidFill>
              <a:srgbClr val="333333"/>
            </a:solidFill>
            <a:prstDash val="solid"/>
          </a:ln>
        </p:spPr>
      </p:sp>
      <p:sp>
        <p:nvSpPr>
          <p:cNvPr id="7" name="Shape 5"/>
          <p:cNvSpPr/>
          <p:nvPr/>
        </p:nvSpPr>
        <p:spPr>
          <a:xfrm>
            <a:off x="502920" y="1226818"/>
            <a:ext cx="457200" cy="457200"/>
          </a:xfrm>
          <a:prstGeom prst="roundRect">
            <a:avLst>
              <a:gd name="adj" fmla="val 25000"/>
            </a:avLst>
          </a:prstGeom>
          <a:solidFill>
            <a:srgbClr val="F0B100">
              <a:alpha val="20000"/>
            </a:srgbClr>
          </a:solidFill>
          <a:ln/>
        </p:spPr>
      </p:sp>
      <p:sp>
        <p:nvSpPr>
          <p:cNvPr id="8" name="Shape 6"/>
          <p:cNvSpPr/>
          <p:nvPr/>
        </p:nvSpPr>
        <p:spPr>
          <a:xfrm>
            <a:off x="602932" y="1341118"/>
            <a:ext cx="257175" cy="228600"/>
          </a:xfrm>
          <a:custGeom>
            <a:avLst/>
            <a:gdLst/>
            <a:ahLst/>
            <a:cxnLst/>
            <a:rect l="l" t="t" r="r" b="b"/>
            <a:pathLst>
              <a:path w="257175" h="228600">
                <a:moveTo>
                  <a:pt x="128588" y="14288"/>
                </a:moveTo>
                <a:cubicBezTo>
                  <a:pt x="92512" y="14288"/>
                  <a:pt x="63624" y="30718"/>
                  <a:pt x="42595" y="50274"/>
                </a:cubicBezTo>
                <a:cubicBezTo>
                  <a:pt x="21699" y="69696"/>
                  <a:pt x="7724" y="92869"/>
                  <a:pt x="1072" y="108808"/>
                </a:cubicBezTo>
                <a:cubicBezTo>
                  <a:pt x="-402" y="112335"/>
                  <a:pt x="-402" y="116265"/>
                  <a:pt x="1072" y="119792"/>
                </a:cubicBezTo>
                <a:cubicBezTo>
                  <a:pt x="7724" y="135731"/>
                  <a:pt x="21699" y="158948"/>
                  <a:pt x="42595" y="178326"/>
                </a:cubicBezTo>
                <a:cubicBezTo>
                  <a:pt x="63624" y="197837"/>
                  <a:pt x="92512" y="214313"/>
                  <a:pt x="128588" y="214313"/>
                </a:cubicBezTo>
                <a:cubicBezTo>
                  <a:pt x="164663" y="214313"/>
                  <a:pt x="193551" y="197882"/>
                  <a:pt x="214580" y="178326"/>
                </a:cubicBezTo>
                <a:cubicBezTo>
                  <a:pt x="235476" y="158904"/>
                  <a:pt x="249451" y="135731"/>
                  <a:pt x="256103" y="119792"/>
                </a:cubicBezTo>
                <a:cubicBezTo>
                  <a:pt x="257577" y="116265"/>
                  <a:pt x="257577" y="112335"/>
                  <a:pt x="256103" y="108808"/>
                </a:cubicBezTo>
                <a:cubicBezTo>
                  <a:pt x="249451" y="92869"/>
                  <a:pt x="235476" y="69652"/>
                  <a:pt x="214580" y="50274"/>
                </a:cubicBezTo>
                <a:cubicBezTo>
                  <a:pt x="193551" y="30763"/>
                  <a:pt x="164663" y="14287"/>
                  <a:pt x="128588" y="14287"/>
                </a:cubicBezTo>
                <a:close/>
                <a:moveTo>
                  <a:pt x="64294" y="114300"/>
                </a:moveTo>
                <a:cubicBezTo>
                  <a:pt x="64294" y="78815"/>
                  <a:pt x="93103" y="50006"/>
                  <a:pt x="128588" y="50006"/>
                </a:cubicBezTo>
                <a:cubicBezTo>
                  <a:pt x="164072" y="50006"/>
                  <a:pt x="192881" y="78815"/>
                  <a:pt x="192881" y="114300"/>
                </a:cubicBezTo>
                <a:cubicBezTo>
                  <a:pt x="192881" y="149785"/>
                  <a:pt x="164072" y="178594"/>
                  <a:pt x="128588" y="178594"/>
                </a:cubicBezTo>
                <a:cubicBezTo>
                  <a:pt x="93103" y="178594"/>
                  <a:pt x="64294" y="149785"/>
                  <a:pt x="64294" y="114300"/>
                </a:cubicBezTo>
                <a:close/>
                <a:moveTo>
                  <a:pt x="128588" y="85725"/>
                </a:moveTo>
                <a:cubicBezTo>
                  <a:pt x="128588" y="101486"/>
                  <a:pt x="115773" y="114300"/>
                  <a:pt x="100013" y="114300"/>
                </a:cubicBezTo>
                <a:cubicBezTo>
                  <a:pt x="94878" y="114300"/>
                  <a:pt x="90056" y="112961"/>
                  <a:pt x="85859" y="110550"/>
                </a:cubicBezTo>
                <a:cubicBezTo>
                  <a:pt x="85412" y="115416"/>
                  <a:pt x="85814" y="120417"/>
                  <a:pt x="87154" y="125373"/>
                </a:cubicBezTo>
                <a:cubicBezTo>
                  <a:pt x="93271" y="148233"/>
                  <a:pt x="116800" y="161806"/>
                  <a:pt x="139660" y="155689"/>
                </a:cubicBezTo>
                <a:cubicBezTo>
                  <a:pt x="162520" y="149572"/>
                  <a:pt x="176093" y="126043"/>
                  <a:pt x="169977" y="103183"/>
                </a:cubicBezTo>
                <a:cubicBezTo>
                  <a:pt x="164529" y="82778"/>
                  <a:pt x="145197" y="69786"/>
                  <a:pt x="124837" y="71571"/>
                </a:cubicBezTo>
                <a:cubicBezTo>
                  <a:pt x="127203" y="75724"/>
                  <a:pt x="128588" y="80546"/>
                  <a:pt x="128588" y="85725"/>
                </a:cubicBezTo>
                <a:close/>
              </a:path>
            </a:pathLst>
          </a:custGeom>
          <a:solidFill>
            <a:srgbClr val="F0B100"/>
          </a:solidFill>
          <a:ln/>
        </p:spPr>
      </p:sp>
      <p:sp>
        <p:nvSpPr>
          <p:cNvPr id="9" name="Text 7"/>
          <p:cNvSpPr/>
          <p:nvPr/>
        </p:nvSpPr>
        <p:spPr>
          <a:xfrm>
            <a:off x="1074420" y="1322068"/>
            <a:ext cx="24193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How AI Perceives the World</a:t>
            </a:r>
            <a:endParaRPr lang="en-US" sz="1600" dirty="0"/>
          </a:p>
        </p:txBody>
      </p:sp>
      <p:sp>
        <p:nvSpPr>
          <p:cNvPr id="10" name="Text 8"/>
          <p:cNvSpPr/>
          <p:nvPr/>
        </p:nvSpPr>
        <p:spPr>
          <a:xfrm>
            <a:off x="502920" y="1760218"/>
            <a:ext cx="6600825" cy="457200"/>
          </a:xfrm>
          <a:prstGeom prst="rect">
            <a:avLst/>
          </a:prstGeom>
          <a:noFill/>
          <a:ln/>
        </p:spPr>
        <p:txBody>
          <a:bodyPr wrap="square" lIns="0" tIns="0" rIns="0" bIns="0" rtlCol="0" anchor="ctr"/>
          <a:lstStyle/>
          <a:p>
            <a:pPr>
              <a:lnSpc>
                <a:spcPct val="130000"/>
              </a:lnSpc>
            </a:pPr>
            <a:r>
              <a:rPr lang="en-US" sz="1200" b="1" dirty="0">
                <a:solidFill>
                  <a:srgbClr val="F0B100"/>
                </a:solidFill>
                <a:latin typeface="Liter" pitchFamily="34" charset="0"/>
                <a:ea typeface="Liter" pitchFamily="34" charset="-122"/>
                <a:cs typeface="Liter" pitchFamily="34" charset="-120"/>
              </a:rPr>
              <a:t>Perception</a:t>
            </a:r>
            <a:pPr>
              <a:lnSpc>
                <a:spcPct val="130000"/>
              </a:lnSpc>
            </a:pPr>
            <a:r>
              <a:rPr lang="en-US" sz="1200" dirty="0">
                <a:solidFill>
                  <a:srgbClr val="EFEFEF"/>
                </a:solidFill>
                <a:latin typeface="Liter" pitchFamily="34" charset="0"/>
                <a:ea typeface="Liter" pitchFamily="34" charset="-122"/>
                <a:cs typeface="Liter" pitchFamily="34" charset="-120"/>
              </a:rPr>
              <a:t> is how AI understands the world through sensors, cameras, and microphones. It's like giving AI eyes, ears, and touch!</a:t>
            </a:r>
            <a:endParaRPr lang="en-US" sz="1600" dirty="0"/>
          </a:p>
        </p:txBody>
      </p:sp>
      <p:sp>
        <p:nvSpPr>
          <p:cNvPr id="11" name="Shape 9"/>
          <p:cNvSpPr/>
          <p:nvPr/>
        </p:nvSpPr>
        <p:spPr>
          <a:xfrm>
            <a:off x="502920" y="2293618"/>
            <a:ext cx="3219450" cy="609600"/>
          </a:xfrm>
          <a:prstGeom prst="roundRect">
            <a:avLst>
              <a:gd name="adj" fmla="val 12500"/>
            </a:avLst>
          </a:prstGeom>
          <a:solidFill>
            <a:srgbClr val="191919"/>
          </a:solidFill>
          <a:ln/>
        </p:spPr>
      </p:sp>
      <p:sp>
        <p:nvSpPr>
          <p:cNvPr id="12" name="Shape 10"/>
          <p:cNvSpPr/>
          <p:nvPr/>
        </p:nvSpPr>
        <p:spPr>
          <a:xfrm>
            <a:off x="598170" y="2407918"/>
            <a:ext cx="152400" cy="152400"/>
          </a:xfrm>
          <a:custGeom>
            <a:avLst/>
            <a:gdLst/>
            <a:ahLst/>
            <a:cxnLst/>
            <a:rect l="l" t="t" r="r" b="b"/>
            <a:pathLst>
              <a:path w="152400" h="152400">
                <a:moveTo>
                  <a:pt x="44381" y="19288"/>
                </a:moveTo>
                <a:lnTo>
                  <a:pt x="41285" y="28575"/>
                </a:lnTo>
                <a:lnTo>
                  <a:pt x="19050" y="28575"/>
                </a:lnTo>
                <a:cubicBezTo>
                  <a:pt x="8543" y="28575"/>
                  <a:pt x="0" y="37118"/>
                  <a:pt x="0" y="47625"/>
                </a:cubicBezTo>
                <a:lnTo>
                  <a:pt x="0" y="123825"/>
                </a:lnTo>
                <a:cubicBezTo>
                  <a:pt x="0" y="134332"/>
                  <a:pt x="8543" y="142875"/>
                  <a:pt x="19050" y="142875"/>
                </a:cubicBezTo>
                <a:lnTo>
                  <a:pt x="133350" y="142875"/>
                </a:lnTo>
                <a:cubicBezTo>
                  <a:pt x="143857" y="142875"/>
                  <a:pt x="152400" y="134332"/>
                  <a:pt x="152400" y="123825"/>
                </a:cubicBezTo>
                <a:lnTo>
                  <a:pt x="152400" y="47625"/>
                </a:lnTo>
                <a:cubicBezTo>
                  <a:pt x="152400" y="37118"/>
                  <a:pt x="143857" y="28575"/>
                  <a:pt x="133350" y="28575"/>
                </a:cubicBezTo>
                <a:lnTo>
                  <a:pt x="111115" y="28575"/>
                </a:lnTo>
                <a:lnTo>
                  <a:pt x="108019" y="19288"/>
                </a:lnTo>
                <a:cubicBezTo>
                  <a:pt x="106085" y="13454"/>
                  <a:pt x="100638" y="9525"/>
                  <a:pt x="94476" y="9525"/>
                </a:cubicBezTo>
                <a:lnTo>
                  <a:pt x="57924" y="9525"/>
                </a:lnTo>
                <a:cubicBezTo>
                  <a:pt x="51762" y="9525"/>
                  <a:pt x="46315" y="13454"/>
                  <a:pt x="44381" y="19288"/>
                </a:cubicBezTo>
                <a:close/>
                <a:moveTo>
                  <a:pt x="76200" y="57150"/>
                </a:moveTo>
                <a:cubicBezTo>
                  <a:pt x="91971" y="57150"/>
                  <a:pt x="104775" y="69954"/>
                  <a:pt x="104775" y="85725"/>
                </a:cubicBezTo>
                <a:cubicBezTo>
                  <a:pt x="104775" y="101496"/>
                  <a:pt x="91971" y="114300"/>
                  <a:pt x="76200" y="114300"/>
                </a:cubicBezTo>
                <a:cubicBezTo>
                  <a:pt x="60429" y="114300"/>
                  <a:pt x="47625" y="101496"/>
                  <a:pt x="47625" y="85725"/>
                </a:cubicBezTo>
                <a:cubicBezTo>
                  <a:pt x="47625" y="69954"/>
                  <a:pt x="60429" y="57150"/>
                  <a:pt x="76200" y="57150"/>
                </a:cubicBezTo>
                <a:close/>
              </a:path>
            </a:pathLst>
          </a:custGeom>
          <a:solidFill>
            <a:srgbClr val="F0B100"/>
          </a:solidFill>
          <a:ln/>
        </p:spPr>
      </p:sp>
      <p:sp>
        <p:nvSpPr>
          <p:cNvPr id="13" name="Text 11"/>
          <p:cNvSpPr/>
          <p:nvPr/>
        </p:nvSpPr>
        <p:spPr>
          <a:xfrm>
            <a:off x="845820" y="2369818"/>
            <a:ext cx="12001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Computer Vision</a:t>
            </a:r>
            <a:endParaRPr lang="en-US" sz="1600" dirty="0"/>
          </a:p>
        </p:txBody>
      </p:sp>
      <p:sp>
        <p:nvSpPr>
          <p:cNvPr id="14" name="Text 12"/>
          <p:cNvSpPr/>
          <p:nvPr/>
        </p:nvSpPr>
        <p:spPr>
          <a:xfrm>
            <a:off x="579120" y="2636518"/>
            <a:ext cx="31337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AI sees and understands images and videos</a:t>
            </a:r>
            <a:endParaRPr lang="en-US" sz="1600" dirty="0"/>
          </a:p>
        </p:txBody>
      </p:sp>
      <p:sp>
        <p:nvSpPr>
          <p:cNvPr id="15" name="Shape 13"/>
          <p:cNvSpPr/>
          <p:nvPr/>
        </p:nvSpPr>
        <p:spPr>
          <a:xfrm>
            <a:off x="3802380" y="2293618"/>
            <a:ext cx="3219450" cy="609600"/>
          </a:xfrm>
          <a:prstGeom prst="roundRect">
            <a:avLst>
              <a:gd name="adj" fmla="val 12500"/>
            </a:avLst>
          </a:prstGeom>
          <a:solidFill>
            <a:srgbClr val="191919"/>
          </a:solidFill>
          <a:ln/>
        </p:spPr>
      </p:sp>
      <p:sp>
        <p:nvSpPr>
          <p:cNvPr id="16" name="Shape 14"/>
          <p:cNvSpPr/>
          <p:nvPr/>
        </p:nvSpPr>
        <p:spPr>
          <a:xfrm>
            <a:off x="3916680" y="2407918"/>
            <a:ext cx="114300" cy="152400"/>
          </a:xfrm>
          <a:custGeom>
            <a:avLst/>
            <a:gdLst/>
            <a:ahLst/>
            <a:cxnLst/>
            <a:rect l="l" t="t" r="r" b="b"/>
            <a:pathLst>
              <a:path w="114300" h="152400">
                <a:moveTo>
                  <a:pt x="57150" y="0"/>
                </a:moveTo>
                <a:cubicBezTo>
                  <a:pt x="41374" y="0"/>
                  <a:pt x="28575" y="12799"/>
                  <a:pt x="28575" y="28575"/>
                </a:cubicBezTo>
                <a:lnTo>
                  <a:pt x="28575" y="66675"/>
                </a:lnTo>
                <a:cubicBezTo>
                  <a:pt x="28575" y="82451"/>
                  <a:pt x="41374" y="95250"/>
                  <a:pt x="57150" y="95250"/>
                </a:cubicBezTo>
                <a:cubicBezTo>
                  <a:pt x="72926" y="95250"/>
                  <a:pt x="85725" y="82451"/>
                  <a:pt x="85725" y="66675"/>
                </a:cubicBezTo>
                <a:lnTo>
                  <a:pt x="85725" y="28575"/>
                </a:lnTo>
                <a:cubicBezTo>
                  <a:pt x="85725" y="12799"/>
                  <a:pt x="72926" y="0"/>
                  <a:pt x="57150" y="0"/>
                </a:cubicBezTo>
                <a:close/>
                <a:moveTo>
                  <a:pt x="14288" y="54769"/>
                </a:moveTo>
                <a:cubicBezTo>
                  <a:pt x="14288" y="50810"/>
                  <a:pt x="11103" y="47625"/>
                  <a:pt x="7144" y="47625"/>
                </a:cubicBezTo>
                <a:cubicBezTo>
                  <a:pt x="3185" y="47625"/>
                  <a:pt x="0" y="50810"/>
                  <a:pt x="0" y="54769"/>
                </a:cubicBezTo>
                <a:lnTo>
                  <a:pt x="0" y="66675"/>
                </a:lnTo>
                <a:cubicBezTo>
                  <a:pt x="0" y="95816"/>
                  <a:pt x="21818" y="119866"/>
                  <a:pt x="50006" y="123379"/>
                </a:cubicBezTo>
                <a:lnTo>
                  <a:pt x="50006" y="138113"/>
                </a:lnTo>
                <a:lnTo>
                  <a:pt x="35719" y="138113"/>
                </a:lnTo>
                <a:cubicBezTo>
                  <a:pt x="31760" y="138113"/>
                  <a:pt x="28575" y="141297"/>
                  <a:pt x="28575" y="145256"/>
                </a:cubicBezTo>
                <a:cubicBezTo>
                  <a:pt x="28575" y="149215"/>
                  <a:pt x="31760" y="152400"/>
                  <a:pt x="35719" y="152400"/>
                </a:cubicBezTo>
                <a:lnTo>
                  <a:pt x="78581" y="152400"/>
                </a:lnTo>
                <a:cubicBezTo>
                  <a:pt x="82540" y="152400"/>
                  <a:pt x="85725" y="149215"/>
                  <a:pt x="85725" y="145256"/>
                </a:cubicBezTo>
                <a:cubicBezTo>
                  <a:pt x="85725" y="141297"/>
                  <a:pt x="82540" y="138113"/>
                  <a:pt x="78581" y="138113"/>
                </a:cubicBezTo>
                <a:lnTo>
                  <a:pt x="64294" y="138113"/>
                </a:lnTo>
                <a:lnTo>
                  <a:pt x="64294" y="123379"/>
                </a:lnTo>
                <a:cubicBezTo>
                  <a:pt x="92482" y="119866"/>
                  <a:pt x="114300" y="95816"/>
                  <a:pt x="114300" y="66675"/>
                </a:cubicBezTo>
                <a:lnTo>
                  <a:pt x="114300" y="54769"/>
                </a:lnTo>
                <a:cubicBezTo>
                  <a:pt x="114300" y="50810"/>
                  <a:pt x="111115" y="47625"/>
                  <a:pt x="107156" y="47625"/>
                </a:cubicBezTo>
                <a:cubicBezTo>
                  <a:pt x="103197" y="47625"/>
                  <a:pt x="100013" y="50810"/>
                  <a:pt x="100013" y="54769"/>
                </a:cubicBezTo>
                <a:lnTo>
                  <a:pt x="100013" y="66675"/>
                </a:lnTo>
                <a:cubicBezTo>
                  <a:pt x="100013" y="90339"/>
                  <a:pt x="80814" y="109537"/>
                  <a:pt x="57150" y="109537"/>
                </a:cubicBezTo>
                <a:cubicBezTo>
                  <a:pt x="33486" y="109537"/>
                  <a:pt x="14288" y="90339"/>
                  <a:pt x="14288" y="66675"/>
                </a:cubicBezTo>
                <a:lnTo>
                  <a:pt x="14288" y="54769"/>
                </a:lnTo>
                <a:close/>
              </a:path>
            </a:pathLst>
          </a:custGeom>
          <a:solidFill>
            <a:srgbClr val="F0B100"/>
          </a:solidFill>
          <a:ln/>
        </p:spPr>
      </p:sp>
      <p:sp>
        <p:nvSpPr>
          <p:cNvPr id="17" name="Text 15"/>
          <p:cNvSpPr/>
          <p:nvPr/>
        </p:nvSpPr>
        <p:spPr>
          <a:xfrm>
            <a:off x="4145280" y="2369818"/>
            <a:ext cx="14192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Speech Recognition</a:t>
            </a:r>
            <a:endParaRPr lang="en-US" sz="1600" dirty="0"/>
          </a:p>
        </p:txBody>
      </p:sp>
      <p:sp>
        <p:nvSpPr>
          <p:cNvPr id="18" name="Text 16"/>
          <p:cNvSpPr/>
          <p:nvPr/>
        </p:nvSpPr>
        <p:spPr>
          <a:xfrm>
            <a:off x="3878580" y="2636518"/>
            <a:ext cx="31337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AI hears and understands spoken words</a:t>
            </a:r>
            <a:endParaRPr lang="en-US" sz="1600" dirty="0"/>
          </a:p>
        </p:txBody>
      </p:sp>
      <p:sp>
        <p:nvSpPr>
          <p:cNvPr id="19" name="Shape 17"/>
          <p:cNvSpPr/>
          <p:nvPr/>
        </p:nvSpPr>
        <p:spPr>
          <a:xfrm>
            <a:off x="502920" y="2979418"/>
            <a:ext cx="3219450" cy="609600"/>
          </a:xfrm>
          <a:prstGeom prst="roundRect">
            <a:avLst>
              <a:gd name="adj" fmla="val 12500"/>
            </a:avLst>
          </a:prstGeom>
          <a:solidFill>
            <a:srgbClr val="191919"/>
          </a:solidFill>
          <a:ln/>
        </p:spPr>
      </p:sp>
      <p:sp>
        <p:nvSpPr>
          <p:cNvPr id="20" name="Shape 18"/>
          <p:cNvSpPr/>
          <p:nvPr/>
        </p:nvSpPr>
        <p:spPr>
          <a:xfrm>
            <a:off x="598170" y="3093718"/>
            <a:ext cx="152400" cy="152400"/>
          </a:xfrm>
          <a:custGeom>
            <a:avLst/>
            <a:gdLst/>
            <a:ahLst/>
            <a:cxnLst/>
            <a:rect l="l" t="t" r="r" b="b"/>
            <a:pathLst>
              <a:path w="152400" h="152400">
                <a:moveTo>
                  <a:pt x="85725" y="9525"/>
                </a:moveTo>
                <a:cubicBezTo>
                  <a:pt x="85725" y="4256"/>
                  <a:pt x="81469" y="0"/>
                  <a:pt x="76200" y="0"/>
                </a:cubicBezTo>
                <a:cubicBezTo>
                  <a:pt x="70931" y="0"/>
                  <a:pt x="66675" y="4256"/>
                  <a:pt x="66675" y="9525"/>
                </a:cubicBezTo>
                <a:lnTo>
                  <a:pt x="66675" y="71438"/>
                </a:lnTo>
                <a:cubicBezTo>
                  <a:pt x="66675" y="74057"/>
                  <a:pt x="64532" y="76200"/>
                  <a:pt x="61912" y="76200"/>
                </a:cubicBezTo>
                <a:cubicBezTo>
                  <a:pt x="59293" y="76200"/>
                  <a:pt x="57150" y="74057"/>
                  <a:pt x="57150" y="71438"/>
                </a:cubicBezTo>
                <a:lnTo>
                  <a:pt x="57150" y="19050"/>
                </a:lnTo>
                <a:cubicBezTo>
                  <a:pt x="57150" y="13781"/>
                  <a:pt x="52894" y="9525"/>
                  <a:pt x="47625" y="9525"/>
                </a:cubicBezTo>
                <a:cubicBezTo>
                  <a:pt x="42356" y="9525"/>
                  <a:pt x="38100" y="13781"/>
                  <a:pt x="38100" y="19050"/>
                </a:cubicBezTo>
                <a:lnTo>
                  <a:pt x="38100" y="100013"/>
                </a:lnTo>
                <a:cubicBezTo>
                  <a:pt x="38100" y="100459"/>
                  <a:pt x="38100" y="100935"/>
                  <a:pt x="38130" y="101382"/>
                </a:cubicBezTo>
                <a:lnTo>
                  <a:pt x="20122" y="84237"/>
                </a:lnTo>
                <a:cubicBezTo>
                  <a:pt x="15359" y="79712"/>
                  <a:pt x="7828" y="79891"/>
                  <a:pt x="3274" y="84653"/>
                </a:cubicBezTo>
                <a:cubicBezTo>
                  <a:pt x="-1280" y="89416"/>
                  <a:pt x="-1072" y="96947"/>
                  <a:pt x="3691" y="101501"/>
                </a:cubicBezTo>
                <a:lnTo>
                  <a:pt x="37148" y="133350"/>
                </a:lnTo>
                <a:cubicBezTo>
                  <a:pt x="49976" y="145584"/>
                  <a:pt x="67032" y="152400"/>
                  <a:pt x="84773" y="152400"/>
                </a:cubicBezTo>
                <a:lnTo>
                  <a:pt x="90488" y="152400"/>
                </a:lnTo>
                <a:cubicBezTo>
                  <a:pt x="119420" y="152400"/>
                  <a:pt x="142875" y="128945"/>
                  <a:pt x="142875" y="100013"/>
                </a:cubicBezTo>
                <a:lnTo>
                  <a:pt x="142875" y="38100"/>
                </a:lnTo>
                <a:cubicBezTo>
                  <a:pt x="142875" y="32831"/>
                  <a:pt x="138619" y="28575"/>
                  <a:pt x="133350" y="28575"/>
                </a:cubicBezTo>
                <a:cubicBezTo>
                  <a:pt x="128081" y="28575"/>
                  <a:pt x="123825" y="32831"/>
                  <a:pt x="123825" y="38100"/>
                </a:cubicBezTo>
                <a:lnTo>
                  <a:pt x="123825" y="71438"/>
                </a:lnTo>
                <a:cubicBezTo>
                  <a:pt x="123825" y="74057"/>
                  <a:pt x="121682" y="76200"/>
                  <a:pt x="119062" y="76200"/>
                </a:cubicBezTo>
                <a:cubicBezTo>
                  <a:pt x="116443" y="76200"/>
                  <a:pt x="114300" y="74057"/>
                  <a:pt x="114300" y="71438"/>
                </a:cubicBezTo>
                <a:lnTo>
                  <a:pt x="114300" y="19050"/>
                </a:lnTo>
                <a:cubicBezTo>
                  <a:pt x="114300" y="13781"/>
                  <a:pt x="110044" y="9525"/>
                  <a:pt x="104775" y="9525"/>
                </a:cubicBezTo>
                <a:cubicBezTo>
                  <a:pt x="99506" y="9525"/>
                  <a:pt x="95250" y="13781"/>
                  <a:pt x="95250" y="19050"/>
                </a:cubicBezTo>
                <a:lnTo>
                  <a:pt x="95250" y="71438"/>
                </a:lnTo>
                <a:cubicBezTo>
                  <a:pt x="95250" y="74057"/>
                  <a:pt x="93107" y="76200"/>
                  <a:pt x="90488" y="76200"/>
                </a:cubicBezTo>
                <a:cubicBezTo>
                  <a:pt x="87868" y="76200"/>
                  <a:pt x="85725" y="74057"/>
                  <a:pt x="85725" y="71438"/>
                </a:cubicBezTo>
                <a:lnTo>
                  <a:pt x="85725" y="9525"/>
                </a:lnTo>
                <a:close/>
              </a:path>
            </a:pathLst>
          </a:custGeom>
          <a:solidFill>
            <a:srgbClr val="F0B100"/>
          </a:solidFill>
          <a:ln/>
        </p:spPr>
      </p:sp>
      <p:sp>
        <p:nvSpPr>
          <p:cNvPr id="21" name="Text 19"/>
          <p:cNvSpPr/>
          <p:nvPr/>
        </p:nvSpPr>
        <p:spPr>
          <a:xfrm>
            <a:off x="845820" y="3055618"/>
            <a:ext cx="10763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Touch Sensors</a:t>
            </a:r>
            <a:endParaRPr lang="en-US" sz="1600" dirty="0"/>
          </a:p>
        </p:txBody>
      </p:sp>
      <p:sp>
        <p:nvSpPr>
          <p:cNvPr id="22" name="Text 20"/>
          <p:cNvSpPr/>
          <p:nvPr/>
        </p:nvSpPr>
        <p:spPr>
          <a:xfrm>
            <a:off x="579120" y="3322318"/>
            <a:ext cx="31337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AI feels pressure, temperature, texture</a:t>
            </a:r>
            <a:endParaRPr lang="en-US" sz="1600" dirty="0"/>
          </a:p>
        </p:txBody>
      </p:sp>
      <p:sp>
        <p:nvSpPr>
          <p:cNvPr id="23" name="Shape 21"/>
          <p:cNvSpPr/>
          <p:nvPr/>
        </p:nvSpPr>
        <p:spPr>
          <a:xfrm>
            <a:off x="3802380" y="2979418"/>
            <a:ext cx="3219450" cy="609600"/>
          </a:xfrm>
          <a:prstGeom prst="roundRect">
            <a:avLst>
              <a:gd name="adj" fmla="val 12500"/>
            </a:avLst>
          </a:prstGeom>
          <a:solidFill>
            <a:srgbClr val="191919"/>
          </a:solidFill>
          <a:ln/>
        </p:spPr>
      </p:sp>
      <p:sp>
        <p:nvSpPr>
          <p:cNvPr id="24" name="Shape 22"/>
          <p:cNvSpPr/>
          <p:nvPr/>
        </p:nvSpPr>
        <p:spPr>
          <a:xfrm>
            <a:off x="3897630" y="3093718"/>
            <a:ext cx="152400" cy="152400"/>
          </a:xfrm>
          <a:custGeom>
            <a:avLst/>
            <a:gdLst/>
            <a:ahLst/>
            <a:cxnLst/>
            <a:rect l="l" t="t" r="r" b="b"/>
            <a:pathLst>
              <a:path w="152400" h="152400">
                <a:moveTo>
                  <a:pt x="152400" y="14288"/>
                </a:moveTo>
                <a:cubicBezTo>
                  <a:pt x="152400" y="10984"/>
                  <a:pt x="150703" y="7918"/>
                  <a:pt x="147876" y="6191"/>
                </a:cubicBezTo>
                <a:cubicBezTo>
                  <a:pt x="145048" y="4465"/>
                  <a:pt x="141565" y="4286"/>
                  <a:pt x="138619" y="5775"/>
                </a:cubicBezTo>
                <a:lnTo>
                  <a:pt x="104031" y="23068"/>
                </a:lnTo>
                <a:lnTo>
                  <a:pt x="50631" y="5239"/>
                </a:lnTo>
                <a:cubicBezTo>
                  <a:pt x="48220" y="4435"/>
                  <a:pt x="45631" y="4614"/>
                  <a:pt x="43369" y="5745"/>
                </a:cubicBezTo>
                <a:lnTo>
                  <a:pt x="5269" y="24795"/>
                </a:lnTo>
                <a:cubicBezTo>
                  <a:pt x="2024" y="26432"/>
                  <a:pt x="0" y="29736"/>
                  <a:pt x="0" y="33338"/>
                </a:cubicBezTo>
                <a:lnTo>
                  <a:pt x="0" y="138113"/>
                </a:lnTo>
                <a:cubicBezTo>
                  <a:pt x="0" y="141416"/>
                  <a:pt x="1697" y="144482"/>
                  <a:pt x="4524" y="146209"/>
                </a:cubicBezTo>
                <a:cubicBezTo>
                  <a:pt x="7352" y="147935"/>
                  <a:pt x="10835" y="148114"/>
                  <a:pt x="13781" y="146625"/>
                </a:cubicBezTo>
                <a:lnTo>
                  <a:pt x="48339" y="129332"/>
                </a:lnTo>
                <a:lnTo>
                  <a:pt x="101739" y="147131"/>
                </a:lnTo>
                <a:cubicBezTo>
                  <a:pt x="104150" y="147935"/>
                  <a:pt x="106740" y="147757"/>
                  <a:pt x="109002" y="146625"/>
                </a:cubicBezTo>
                <a:lnTo>
                  <a:pt x="147102" y="127575"/>
                </a:lnTo>
                <a:cubicBezTo>
                  <a:pt x="150316" y="125968"/>
                  <a:pt x="152370" y="122664"/>
                  <a:pt x="152370" y="119062"/>
                </a:cubicBezTo>
                <a:lnTo>
                  <a:pt x="152370" y="14287"/>
                </a:lnTo>
                <a:close/>
                <a:moveTo>
                  <a:pt x="57150" y="112187"/>
                </a:moveTo>
                <a:lnTo>
                  <a:pt x="57150" y="27503"/>
                </a:lnTo>
                <a:lnTo>
                  <a:pt x="95250" y="40213"/>
                </a:lnTo>
                <a:lnTo>
                  <a:pt x="95250" y="124897"/>
                </a:lnTo>
                <a:lnTo>
                  <a:pt x="57150" y="112187"/>
                </a:lnTo>
                <a:close/>
              </a:path>
            </a:pathLst>
          </a:custGeom>
          <a:solidFill>
            <a:srgbClr val="F0B100"/>
          </a:solidFill>
          <a:ln/>
        </p:spPr>
      </p:sp>
      <p:sp>
        <p:nvSpPr>
          <p:cNvPr id="25" name="Text 23"/>
          <p:cNvSpPr/>
          <p:nvPr/>
        </p:nvSpPr>
        <p:spPr>
          <a:xfrm>
            <a:off x="4145280" y="3055618"/>
            <a:ext cx="13144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Spatial Awareness</a:t>
            </a:r>
            <a:endParaRPr lang="en-US" sz="1600" dirty="0"/>
          </a:p>
        </p:txBody>
      </p:sp>
      <p:sp>
        <p:nvSpPr>
          <p:cNvPr id="26" name="Text 24"/>
          <p:cNvSpPr/>
          <p:nvPr/>
        </p:nvSpPr>
        <p:spPr>
          <a:xfrm>
            <a:off x="3878580" y="3322318"/>
            <a:ext cx="31337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AI understands distance and location</a:t>
            </a:r>
            <a:endParaRPr lang="en-US" sz="1600" dirty="0"/>
          </a:p>
        </p:txBody>
      </p:sp>
      <p:sp>
        <p:nvSpPr>
          <p:cNvPr id="27" name="Shape 25"/>
          <p:cNvSpPr/>
          <p:nvPr/>
        </p:nvSpPr>
        <p:spPr>
          <a:xfrm>
            <a:off x="384810" y="3790956"/>
            <a:ext cx="6760845" cy="1664970"/>
          </a:xfrm>
          <a:prstGeom prst="roundRect">
            <a:avLst>
              <a:gd name="adj" fmla="val 6865"/>
            </a:avLst>
          </a:prstGeom>
          <a:solidFill>
            <a:srgbClr val="262626"/>
          </a:solidFill>
          <a:ln w="10160">
            <a:solidFill>
              <a:srgbClr val="333333"/>
            </a:solidFill>
            <a:prstDash val="solid"/>
          </a:ln>
        </p:spPr>
      </p:sp>
      <p:sp>
        <p:nvSpPr>
          <p:cNvPr id="28" name="Shape 26"/>
          <p:cNvSpPr/>
          <p:nvPr/>
        </p:nvSpPr>
        <p:spPr>
          <a:xfrm>
            <a:off x="538639" y="3947164"/>
            <a:ext cx="166688" cy="190500"/>
          </a:xfrm>
          <a:custGeom>
            <a:avLst/>
            <a:gdLst/>
            <a:ahLst/>
            <a:cxnLst/>
            <a:rect l="l" t="t" r="r" b="b"/>
            <a:pathLst>
              <a:path w="166688" h="190500">
                <a:moveTo>
                  <a:pt x="23812" y="11906"/>
                </a:moveTo>
                <a:cubicBezTo>
                  <a:pt x="10678" y="11906"/>
                  <a:pt x="0" y="22585"/>
                  <a:pt x="0" y="35719"/>
                </a:cubicBezTo>
                <a:lnTo>
                  <a:pt x="0" y="154781"/>
                </a:lnTo>
                <a:cubicBezTo>
                  <a:pt x="0" y="167915"/>
                  <a:pt x="10678" y="178594"/>
                  <a:pt x="23812" y="178594"/>
                </a:cubicBezTo>
                <a:lnTo>
                  <a:pt x="142875" y="178594"/>
                </a:lnTo>
                <a:cubicBezTo>
                  <a:pt x="156009" y="178594"/>
                  <a:pt x="166688" y="167915"/>
                  <a:pt x="166688" y="154781"/>
                </a:cubicBezTo>
                <a:lnTo>
                  <a:pt x="166688" y="35719"/>
                </a:lnTo>
                <a:cubicBezTo>
                  <a:pt x="166688" y="22585"/>
                  <a:pt x="156009" y="11906"/>
                  <a:pt x="142875" y="11906"/>
                </a:cubicBezTo>
                <a:lnTo>
                  <a:pt x="23812" y="11906"/>
                </a:lnTo>
                <a:close/>
                <a:moveTo>
                  <a:pt x="47625" y="41672"/>
                </a:moveTo>
                <a:cubicBezTo>
                  <a:pt x="57482" y="41672"/>
                  <a:pt x="65484" y="49674"/>
                  <a:pt x="65484" y="59531"/>
                </a:cubicBezTo>
                <a:cubicBezTo>
                  <a:pt x="65484" y="69388"/>
                  <a:pt x="57482" y="77391"/>
                  <a:pt x="47625" y="77391"/>
                </a:cubicBezTo>
                <a:cubicBezTo>
                  <a:pt x="37768" y="77391"/>
                  <a:pt x="29766" y="69388"/>
                  <a:pt x="29766" y="59531"/>
                </a:cubicBezTo>
                <a:cubicBezTo>
                  <a:pt x="29766" y="49674"/>
                  <a:pt x="37768" y="41672"/>
                  <a:pt x="47625" y="41672"/>
                </a:cubicBezTo>
                <a:close/>
                <a:moveTo>
                  <a:pt x="101203" y="83344"/>
                </a:moveTo>
                <a:cubicBezTo>
                  <a:pt x="104329" y="83344"/>
                  <a:pt x="107193" y="84981"/>
                  <a:pt x="108831" y="87623"/>
                </a:cubicBezTo>
                <a:lnTo>
                  <a:pt x="141573" y="141201"/>
                </a:lnTo>
                <a:cubicBezTo>
                  <a:pt x="143247" y="143954"/>
                  <a:pt x="143321" y="147414"/>
                  <a:pt x="141759" y="150242"/>
                </a:cubicBezTo>
                <a:cubicBezTo>
                  <a:pt x="140196" y="153070"/>
                  <a:pt x="137182" y="154781"/>
                  <a:pt x="133945" y="154781"/>
                </a:cubicBezTo>
                <a:lnTo>
                  <a:pt x="32742" y="154781"/>
                </a:lnTo>
                <a:cubicBezTo>
                  <a:pt x="29431" y="154781"/>
                  <a:pt x="26343" y="152921"/>
                  <a:pt x="24817" y="149982"/>
                </a:cubicBezTo>
                <a:cubicBezTo>
                  <a:pt x="23292" y="147042"/>
                  <a:pt x="23515" y="143470"/>
                  <a:pt x="25412" y="140754"/>
                </a:cubicBezTo>
                <a:lnTo>
                  <a:pt x="46248" y="110989"/>
                </a:lnTo>
                <a:cubicBezTo>
                  <a:pt x="47923" y="108607"/>
                  <a:pt x="50639" y="107193"/>
                  <a:pt x="53578" y="107193"/>
                </a:cubicBezTo>
                <a:cubicBezTo>
                  <a:pt x="56517" y="107193"/>
                  <a:pt x="59234" y="108607"/>
                  <a:pt x="60908" y="110989"/>
                </a:cubicBezTo>
                <a:lnTo>
                  <a:pt x="70731" y="125053"/>
                </a:lnTo>
                <a:lnTo>
                  <a:pt x="93576" y="87660"/>
                </a:lnTo>
                <a:cubicBezTo>
                  <a:pt x="95213" y="85018"/>
                  <a:pt x="98078" y="83381"/>
                  <a:pt x="101203" y="83381"/>
                </a:cubicBezTo>
                <a:close/>
              </a:path>
            </a:pathLst>
          </a:custGeom>
          <a:solidFill>
            <a:srgbClr val="F0B100"/>
          </a:solidFill>
          <a:ln/>
        </p:spPr>
      </p:sp>
      <p:sp>
        <p:nvSpPr>
          <p:cNvPr id="29" name="Text 27"/>
          <p:cNvSpPr/>
          <p:nvPr/>
        </p:nvSpPr>
        <p:spPr>
          <a:xfrm>
            <a:off x="741045" y="3909064"/>
            <a:ext cx="6381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What AI Can Recognize</a:t>
            </a:r>
            <a:endParaRPr lang="en-US" sz="1600" dirty="0"/>
          </a:p>
        </p:txBody>
      </p:sp>
      <p:sp>
        <p:nvSpPr>
          <p:cNvPr id="30" name="Shape 28"/>
          <p:cNvSpPr/>
          <p:nvPr/>
        </p:nvSpPr>
        <p:spPr>
          <a:xfrm>
            <a:off x="521970" y="4290064"/>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F0B100"/>
          </a:solidFill>
          <a:ln/>
        </p:spPr>
      </p:sp>
      <p:sp>
        <p:nvSpPr>
          <p:cNvPr id="31" name="Text 29"/>
          <p:cNvSpPr/>
          <p:nvPr/>
        </p:nvSpPr>
        <p:spPr>
          <a:xfrm>
            <a:off x="807720" y="4251964"/>
            <a:ext cx="27241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Objects:</a:t>
            </a:r>
            <a:pPr>
              <a:lnSpc>
                <a:spcPct val="130000"/>
              </a:lnSpc>
            </a:pPr>
            <a:r>
              <a:rPr lang="en-US" sz="1200" dirty="0">
                <a:solidFill>
                  <a:srgbClr val="EFEFEF"/>
                </a:solidFill>
                <a:latin typeface="Liter" pitchFamily="34" charset="0"/>
                <a:ea typeface="Liter" pitchFamily="34" charset="-122"/>
                <a:cs typeface="Liter" pitchFamily="34" charset="-120"/>
              </a:rPr>
              <a:t> Cars, people, animals, furniture</a:t>
            </a:r>
            <a:endParaRPr lang="en-US" sz="1600" dirty="0"/>
          </a:p>
        </p:txBody>
      </p:sp>
      <p:sp>
        <p:nvSpPr>
          <p:cNvPr id="32" name="Shape 30"/>
          <p:cNvSpPr/>
          <p:nvPr/>
        </p:nvSpPr>
        <p:spPr>
          <a:xfrm>
            <a:off x="521970" y="4575814"/>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F0B100"/>
          </a:solidFill>
          <a:ln/>
        </p:spPr>
      </p:sp>
      <p:sp>
        <p:nvSpPr>
          <p:cNvPr id="33" name="Text 31"/>
          <p:cNvSpPr/>
          <p:nvPr/>
        </p:nvSpPr>
        <p:spPr>
          <a:xfrm>
            <a:off x="807720" y="4537714"/>
            <a:ext cx="28003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Faces:</a:t>
            </a:r>
            <a:pPr>
              <a:lnSpc>
                <a:spcPct val="130000"/>
              </a:lnSpc>
            </a:pPr>
            <a:r>
              <a:rPr lang="en-US" sz="1200" dirty="0">
                <a:solidFill>
                  <a:srgbClr val="EFEFEF"/>
                </a:solidFill>
                <a:latin typeface="Liter" pitchFamily="34" charset="0"/>
                <a:ea typeface="Liter" pitchFamily="34" charset="-122"/>
                <a:cs typeface="Liter" pitchFamily="34" charset="-120"/>
              </a:rPr>
              <a:t> Identity, emotions, age estimation</a:t>
            </a:r>
            <a:endParaRPr lang="en-US" sz="1600" dirty="0"/>
          </a:p>
        </p:txBody>
      </p:sp>
      <p:sp>
        <p:nvSpPr>
          <p:cNvPr id="34" name="Shape 32"/>
          <p:cNvSpPr/>
          <p:nvPr/>
        </p:nvSpPr>
        <p:spPr>
          <a:xfrm>
            <a:off x="521970" y="4861564"/>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F0B100"/>
          </a:solidFill>
          <a:ln/>
        </p:spPr>
      </p:sp>
      <p:sp>
        <p:nvSpPr>
          <p:cNvPr id="35" name="Text 33"/>
          <p:cNvSpPr/>
          <p:nvPr/>
        </p:nvSpPr>
        <p:spPr>
          <a:xfrm>
            <a:off x="807720" y="4823464"/>
            <a:ext cx="30670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Text:</a:t>
            </a:r>
            <a:pPr>
              <a:lnSpc>
                <a:spcPct val="130000"/>
              </a:lnSpc>
            </a:pPr>
            <a:r>
              <a:rPr lang="en-US" sz="1200" dirty="0">
                <a:solidFill>
                  <a:srgbClr val="EFEFEF"/>
                </a:solidFill>
                <a:latin typeface="Liter" pitchFamily="34" charset="0"/>
                <a:ea typeface="Liter" pitchFamily="34" charset="-122"/>
                <a:cs typeface="Liter" pitchFamily="34" charset="-120"/>
              </a:rPr>
              <a:t> Reading signs, documents, handwriting</a:t>
            </a:r>
            <a:endParaRPr lang="en-US" sz="1600" dirty="0"/>
          </a:p>
        </p:txBody>
      </p:sp>
      <p:sp>
        <p:nvSpPr>
          <p:cNvPr id="36" name="Shape 34"/>
          <p:cNvSpPr/>
          <p:nvPr/>
        </p:nvSpPr>
        <p:spPr>
          <a:xfrm>
            <a:off x="521970" y="5147314"/>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F0B100"/>
          </a:solidFill>
          <a:ln/>
        </p:spPr>
      </p:sp>
      <p:sp>
        <p:nvSpPr>
          <p:cNvPr id="37" name="Text 35"/>
          <p:cNvSpPr/>
          <p:nvPr/>
        </p:nvSpPr>
        <p:spPr>
          <a:xfrm>
            <a:off x="807720" y="5109214"/>
            <a:ext cx="33242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Scenes:</a:t>
            </a:r>
            <a:pPr>
              <a:lnSpc>
                <a:spcPct val="130000"/>
              </a:lnSpc>
            </a:pPr>
            <a:r>
              <a:rPr lang="en-US" sz="1200" dirty="0">
                <a:solidFill>
                  <a:srgbClr val="EFEFEF"/>
                </a:solidFill>
                <a:latin typeface="Liter" pitchFamily="34" charset="0"/>
                <a:ea typeface="Liter" pitchFamily="34" charset="-122"/>
                <a:cs typeface="Liter" pitchFamily="34" charset="-120"/>
              </a:rPr>
              <a:t> Understanding context and environment</a:t>
            </a:r>
            <a:endParaRPr lang="en-US" sz="1600" dirty="0"/>
          </a:p>
        </p:txBody>
      </p:sp>
      <p:sp>
        <p:nvSpPr>
          <p:cNvPr id="38" name="Shape 36"/>
          <p:cNvSpPr/>
          <p:nvPr/>
        </p:nvSpPr>
        <p:spPr>
          <a:xfrm>
            <a:off x="7303770" y="1108710"/>
            <a:ext cx="4503420" cy="2026920"/>
          </a:xfrm>
          <a:prstGeom prst="roundRect">
            <a:avLst>
              <a:gd name="adj" fmla="val 5639"/>
            </a:avLst>
          </a:prstGeom>
          <a:gradFill rotWithShape="1" flip="none">
            <a:gsLst>
              <a:gs pos="0">
                <a:srgbClr val="F0B100">
                  <a:alpha val="20000"/>
                </a:srgbClr>
              </a:gs>
              <a:gs pos="100000">
                <a:srgbClr val="F0B100">
                  <a:alpha val="5000"/>
                </a:srgbClr>
              </a:gs>
            </a:gsLst>
            <a:lin ang="2700000" scaled="1"/>
          </a:gradFill>
          <a:ln w="10160">
            <a:solidFill>
              <a:srgbClr val="F0B100"/>
            </a:solidFill>
            <a:prstDash val="solid"/>
          </a:ln>
        </p:spPr>
      </p:sp>
      <p:sp>
        <p:nvSpPr>
          <p:cNvPr id="39" name="Shape 37"/>
          <p:cNvSpPr/>
          <p:nvPr/>
        </p:nvSpPr>
        <p:spPr>
          <a:xfrm>
            <a:off x="7469505" y="1264918"/>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F0B100"/>
          </a:solidFill>
          <a:ln/>
        </p:spPr>
      </p:sp>
      <p:sp>
        <p:nvSpPr>
          <p:cNvPr id="40" name="Text 38"/>
          <p:cNvSpPr/>
          <p:nvPr/>
        </p:nvSpPr>
        <p:spPr>
          <a:xfrm>
            <a:off x="7736205" y="1226818"/>
            <a:ext cx="1809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Real-World Example</a:t>
            </a:r>
            <a:endParaRPr lang="en-US" sz="1600" dirty="0"/>
          </a:p>
        </p:txBody>
      </p:sp>
      <p:sp>
        <p:nvSpPr>
          <p:cNvPr id="41" name="Shape 39"/>
          <p:cNvSpPr/>
          <p:nvPr/>
        </p:nvSpPr>
        <p:spPr>
          <a:xfrm>
            <a:off x="7421880" y="1569718"/>
            <a:ext cx="4267200" cy="1447800"/>
          </a:xfrm>
          <a:prstGeom prst="roundRect">
            <a:avLst>
              <a:gd name="adj" fmla="val 5263"/>
            </a:avLst>
          </a:prstGeom>
          <a:solidFill>
            <a:srgbClr val="191919"/>
          </a:solidFill>
          <a:ln/>
        </p:spPr>
      </p:sp>
      <p:sp>
        <p:nvSpPr>
          <p:cNvPr id="42" name="Text 40"/>
          <p:cNvSpPr/>
          <p:nvPr/>
        </p:nvSpPr>
        <p:spPr>
          <a:xfrm>
            <a:off x="7536180" y="1684018"/>
            <a:ext cx="4124325" cy="266700"/>
          </a:xfrm>
          <a:prstGeom prst="rect">
            <a:avLst/>
          </a:prstGeom>
          <a:noFill/>
          <a:ln/>
        </p:spPr>
        <p:txBody>
          <a:bodyPr wrap="square" lIns="0" tIns="0" rIns="0" bIns="0" rtlCol="0" anchor="ctr"/>
          <a:lstStyle/>
          <a:p>
            <a:pPr>
              <a:lnSpc>
                <a:spcPct val="130000"/>
              </a:lnSpc>
            </a:pPr>
            <a:r>
              <a:rPr lang="en-US" sz="1350" b="1" dirty="0">
                <a:solidFill>
                  <a:srgbClr val="F0B100"/>
                </a:solidFill>
                <a:latin typeface="Liter" pitchFamily="34" charset="0"/>
                <a:ea typeface="Liter" pitchFamily="34" charset="-122"/>
                <a:cs typeface="Liter" pitchFamily="34" charset="-120"/>
              </a:rPr>
              <a:t>Self-Driving Cars</a:t>
            </a:r>
            <a:endParaRPr lang="en-US" sz="1600" dirty="0"/>
          </a:p>
        </p:txBody>
      </p:sp>
      <p:sp>
        <p:nvSpPr>
          <p:cNvPr id="43" name="Text 41"/>
          <p:cNvSpPr/>
          <p:nvPr/>
        </p:nvSpPr>
        <p:spPr>
          <a:xfrm>
            <a:off x="7536180" y="1988818"/>
            <a:ext cx="4114800" cy="9144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Self-driving cars use cameras, radar, and LiDAR to "see" the road. They recognize traffic lights, pedestrians, other cars, and road signs—processing all this information in real-time to drive safely!</a:t>
            </a:r>
            <a:endParaRPr lang="en-US" sz="1600" dirty="0"/>
          </a:p>
        </p:txBody>
      </p:sp>
      <p:sp>
        <p:nvSpPr>
          <p:cNvPr id="44" name="Shape 42"/>
          <p:cNvSpPr/>
          <p:nvPr/>
        </p:nvSpPr>
        <p:spPr>
          <a:xfrm>
            <a:off x="7303770" y="3219456"/>
            <a:ext cx="4503420" cy="1264920"/>
          </a:xfrm>
          <a:prstGeom prst="roundRect">
            <a:avLst>
              <a:gd name="adj" fmla="val 9036"/>
            </a:avLst>
          </a:prstGeom>
          <a:solidFill>
            <a:srgbClr val="262626"/>
          </a:solidFill>
          <a:ln w="10160">
            <a:solidFill>
              <a:srgbClr val="333333"/>
            </a:solidFill>
            <a:prstDash val="solid"/>
          </a:ln>
        </p:spPr>
      </p:sp>
      <p:sp>
        <p:nvSpPr>
          <p:cNvPr id="45" name="Text 43"/>
          <p:cNvSpPr/>
          <p:nvPr/>
        </p:nvSpPr>
        <p:spPr>
          <a:xfrm>
            <a:off x="7421880" y="3337564"/>
            <a:ext cx="43529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 Simple Explanation</a:t>
            </a:r>
            <a:endParaRPr lang="en-US" sz="1600" dirty="0"/>
          </a:p>
        </p:txBody>
      </p:sp>
      <p:sp>
        <p:nvSpPr>
          <p:cNvPr id="46" name="Text 44"/>
          <p:cNvSpPr/>
          <p:nvPr/>
        </p:nvSpPr>
        <p:spPr>
          <a:xfrm>
            <a:off x="7421880" y="3680464"/>
            <a:ext cx="43434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Perception is AI's way of experiencing the world. Just like you use eyes to see and ears to hear, AI uses sensors and cameras. It turns raw data into understanding!</a:t>
            </a:r>
            <a:endParaRPr lang="en-US" sz="1600" dirty="0"/>
          </a:p>
        </p:txBody>
      </p:sp>
      <p:sp>
        <p:nvSpPr>
          <p:cNvPr id="47" name="Shape 45"/>
          <p:cNvSpPr/>
          <p:nvPr/>
        </p:nvSpPr>
        <p:spPr>
          <a:xfrm>
            <a:off x="7303770" y="4568192"/>
            <a:ext cx="4503420" cy="1874520"/>
          </a:xfrm>
          <a:prstGeom prst="roundRect">
            <a:avLst>
              <a:gd name="adj" fmla="val 6098"/>
            </a:avLst>
          </a:prstGeom>
          <a:solidFill>
            <a:srgbClr val="262626"/>
          </a:solidFill>
          <a:ln w="10160">
            <a:solidFill>
              <a:srgbClr val="333333"/>
            </a:solidFill>
            <a:prstDash val="solid"/>
          </a:ln>
        </p:spPr>
      </p:sp>
      <p:sp>
        <p:nvSpPr>
          <p:cNvPr id="48" name="Shape 46"/>
          <p:cNvSpPr/>
          <p:nvPr/>
        </p:nvSpPr>
        <p:spPr>
          <a:xfrm>
            <a:off x="7456408" y="4733925"/>
            <a:ext cx="150019" cy="171450"/>
          </a:xfrm>
          <a:custGeom>
            <a:avLst/>
            <a:gdLst/>
            <a:ahLst/>
            <a:cxnLst/>
            <a:rect l="l" t="t" r="r" b="b"/>
            <a:pathLst>
              <a:path w="150019" h="171450">
                <a:moveTo>
                  <a:pt x="21431" y="10716"/>
                </a:moveTo>
                <a:cubicBezTo>
                  <a:pt x="9611" y="10716"/>
                  <a:pt x="0" y="20326"/>
                  <a:pt x="0" y="32147"/>
                </a:cubicBezTo>
                <a:lnTo>
                  <a:pt x="0" y="139303"/>
                </a:lnTo>
                <a:cubicBezTo>
                  <a:pt x="0" y="151124"/>
                  <a:pt x="9611" y="160734"/>
                  <a:pt x="21431" y="160734"/>
                </a:cubicBezTo>
                <a:lnTo>
                  <a:pt x="128588" y="160734"/>
                </a:lnTo>
                <a:cubicBezTo>
                  <a:pt x="140408" y="160734"/>
                  <a:pt x="150019" y="151124"/>
                  <a:pt x="150019" y="139303"/>
                </a:cubicBezTo>
                <a:lnTo>
                  <a:pt x="150019" y="32147"/>
                </a:lnTo>
                <a:cubicBezTo>
                  <a:pt x="150019" y="20326"/>
                  <a:pt x="140408" y="10716"/>
                  <a:pt x="128588" y="10716"/>
                </a:cubicBezTo>
                <a:lnTo>
                  <a:pt x="21431" y="10716"/>
                </a:lnTo>
                <a:close/>
                <a:moveTo>
                  <a:pt x="42863" y="37505"/>
                </a:moveTo>
                <a:cubicBezTo>
                  <a:pt x="51734" y="37505"/>
                  <a:pt x="58936" y="44707"/>
                  <a:pt x="58936" y="53578"/>
                </a:cubicBezTo>
                <a:cubicBezTo>
                  <a:pt x="58936" y="62449"/>
                  <a:pt x="51734" y="69652"/>
                  <a:pt x="42863" y="69652"/>
                </a:cubicBezTo>
                <a:cubicBezTo>
                  <a:pt x="33991" y="69652"/>
                  <a:pt x="26789" y="62449"/>
                  <a:pt x="26789" y="53578"/>
                </a:cubicBezTo>
                <a:cubicBezTo>
                  <a:pt x="26789" y="44707"/>
                  <a:pt x="33991" y="37505"/>
                  <a:pt x="42863" y="37505"/>
                </a:cubicBezTo>
                <a:close/>
                <a:moveTo>
                  <a:pt x="91083" y="75009"/>
                </a:moveTo>
                <a:cubicBezTo>
                  <a:pt x="93896" y="75009"/>
                  <a:pt x="96474" y="76483"/>
                  <a:pt x="97948" y="78860"/>
                </a:cubicBezTo>
                <a:lnTo>
                  <a:pt x="127415" y="127081"/>
                </a:lnTo>
                <a:cubicBezTo>
                  <a:pt x="128922" y="129559"/>
                  <a:pt x="128989" y="132673"/>
                  <a:pt x="127583" y="135218"/>
                </a:cubicBezTo>
                <a:cubicBezTo>
                  <a:pt x="126176" y="137763"/>
                  <a:pt x="123464" y="139303"/>
                  <a:pt x="120551" y="139303"/>
                </a:cubicBezTo>
                <a:lnTo>
                  <a:pt x="29468" y="139303"/>
                </a:lnTo>
                <a:cubicBezTo>
                  <a:pt x="26488" y="139303"/>
                  <a:pt x="23708" y="137629"/>
                  <a:pt x="22335" y="134983"/>
                </a:cubicBezTo>
                <a:cubicBezTo>
                  <a:pt x="20962" y="132338"/>
                  <a:pt x="21163" y="129123"/>
                  <a:pt x="22871" y="126679"/>
                </a:cubicBezTo>
                <a:lnTo>
                  <a:pt x="41624" y="99890"/>
                </a:lnTo>
                <a:cubicBezTo>
                  <a:pt x="43130" y="97747"/>
                  <a:pt x="45575" y="96474"/>
                  <a:pt x="48220" y="96474"/>
                </a:cubicBezTo>
                <a:cubicBezTo>
                  <a:pt x="50866" y="96474"/>
                  <a:pt x="53310" y="97747"/>
                  <a:pt x="54817" y="99890"/>
                </a:cubicBezTo>
                <a:lnTo>
                  <a:pt x="63658" y="112548"/>
                </a:lnTo>
                <a:lnTo>
                  <a:pt x="84218" y="78894"/>
                </a:lnTo>
                <a:cubicBezTo>
                  <a:pt x="85692" y="76516"/>
                  <a:pt x="88270" y="75043"/>
                  <a:pt x="91083" y="75043"/>
                </a:cubicBezTo>
                <a:close/>
              </a:path>
            </a:pathLst>
          </a:custGeom>
          <a:solidFill>
            <a:srgbClr val="F0B100"/>
          </a:solidFill>
          <a:ln/>
        </p:spPr>
      </p:sp>
      <p:sp>
        <p:nvSpPr>
          <p:cNvPr id="49" name="Text 47"/>
          <p:cNvSpPr/>
          <p:nvPr/>
        </p:nvSpPr>
        <p:spPr>
          <a:xfrm>
            <a:off x="7640955" y="4686300"/>
            <a:ext cx="41338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Visual</a:t>
            </a:r>
            <a:endParaRPr lang="en-US" sz="1600" dirty="0"/>
          </a:p>
        </p:txBody>
      </p:sp>
      <p:sp>
        <p:nvSpPr>
          <p:cNvPr id="50" name="Shape 48"/>
          <p:cNvSpPr/>
          <p:nvPr/>
        </p:nvSpPr>
        <p:spPr>
          <a:xfrm>
            <a:off x="7421880" y="5029200"/>
            <a:ext cx="4267200" cy="609600"/>
          </a:xfrm>
          <a:prstGeom prst="roundRect">
            <a:avLst>
              <a:gd name="adj" fmla="val 12500"/>
            </a:avLst>
          </a:prstGeom>
          <a:solidFill>
            <a:srgbClr val="191919"/>
          </a:solidFill>
          <a:ln/>
        </p:spPr>
      </p:sp>
      <p:sp>
        <p:nvSpPr>
          <p:cNvPr id="51" name="Text 49"/>
          <p:cNvSpPr/>
          <p:nvPr/>
        </p:nvSpPr>
        <p:spPr>
          <a:xfrm>
            <a:off x="7498080" y="51054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Diagram:</a:t>
            </a:r>
            <a:endParaRPr lang="en-US" sz="1600" dirty="0"/>
          </a:p>
        </p:txBody>
      </p:sp>
      <p:sp>
        <p:nvSpPr>
          <p:cNvPr id="52" name="Text 50"/>
          <p:cNvSpPr/>
          <p:nvPr/>
        </p:nvSpPr>
        <p:spPr>
          <a:xfrm>
            <a:off x="7498080" y="53340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Camera → Image Processing → Object Recognition</a:t>
            </a:r>
            <a:endParaRPr lang="en-US" sz="1600" dirty="0"/>
          </a:p>
        </p:txBody>
      </p:sp>
      <p:sp>
        <p:nvSpPr>
          <p:cNvPr id="53" name="Shape 51"/>
          <p:cNvSpPr/>
          <p:nvPr/>
        </p:nvSpPr>
        <p:spPr>
          <a:xfrm>
            <a:off x="7421880" y="5715000"/>
            <a:ext cx="4267200" cy="609600"/>
          </a:xfrm>
          <a:prstGeom prst="roundRect">
            <a:avLst>
              <a:gd name="adj" fmla="val 12500"/>
            </a:avLst>
          </a:prstGeom>
          <a:solidFill>
            <a:srgbClr val="191919"/>
          </a:solidFill>
          <a:ln/>
        </p:spPr>
      </p:sp>
      <p:sp>
        <p:nvSpPr>
          <p:cNvPr id="54" name="Text 52"/>
          <p:cNvSpPr/>
          <p:nvPr/>
        </p:nvSpPr>
        <p:spPr>
          <a:xfrm>
            <a:off x="7498080" y="57912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Image:</a:t>
            </a:r>
            <a:endParaRPr lang="en-US" sz="1600" dirty="0"/>
          </a:p>
        </p:txBody>
      </p:sp>
      <p:sp>
        <p:nvSpPr>
          <p:cNvPr id="55" name="Text 53"/>
          <p:cNvSpPr/>
          <p:nvPr/>
        </p:nvSpPr>
        <p:spPr>
          <a:xfrm>
            <a:off x="7498080" y="60198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Self-driving car with sensors highlighted</a:t>
            </a:r>
            <a:endParaRPr lang="en-US" sz="1600" dirty="0"/>
          </a:p>
        </p:txBody>
      </p:sp>
    </p:spTree>
  </p:cSld>
  <p:clrMapOvr>
    <a:masterClrMapping/>
  </p:clrMapOvr>
  <p:transition>
    <p:fade/>
    <p:spd val="med"/>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91919"/>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FB2C36">
              <a:alpha val="20000"/>
            </a:srgbClr>
          </a:solidFill>
          <a:ln/>
        </p:spPr>
      </p:sp>
      <p:sp>
        <p:nvSpPr>
          <p:cNvPr id="3" name="Text 1"/>
          <p:cNvSpPr/>
          <p:nvPr/>
        </p:nvSpPr>
        <p:spPr>
          <a:xfrm>
            <a:off x="516612" y="533400"/>
            <a:ext cx="285750" cy="266700"/>
          </a:xfrm>
          <a:prstGeom prst="rect">
            <a:avLst/>
          </a:prstGeom>
          <a:noFill/>
          <a:ln/>
        </p:spPr>
        <p:txBody>
          <a:bodyPr wrap="square" lIns="0" tIns="0" rIns="0" bIns="0" rtlCol="0" anchor="ctr"/>
          <a:lstStyle/>
          <a:p>
            <a:pPr>
              <a:lnSpc>
                <a:spcPct val="120000"/>
              </a:lnSpc>
            </a:pPr>
            <a:r>
              <a:rPr lang="en-US" sz="1500" b="1" dirty="0">
                <a:solidFill>
                  <a:srgbClr val="FB2C36"/>
                </a:solidFill>
                <a:latin typeface="Liter" pitchFamily="34" charset="0"/>
                <a:ea typeface="Liter" pitchFamily="34" charset="-122"/>
                <a:cs typeface="Liter" pitchFamily="34" charset="-120"/>
              </a:rPr>
              <a:t>15</a:t>
            </a:r>
            <a:endParaRPr lang="en-US" sz="1600" dirty="0"/>
          </a:p>
        </p:txBody>
      </p:sp>
      <p:sp>
        <p:nvSpPr>
          <p:cNvPr id="4" name="Text 2"/>
          <p:cNvSpPr/>
          <p:nvPr/>
        </p:nvSpPr>
        <p:spPr>
          <a:xfrm>
            <a:off x="952500" y="381000"/>
            <a:ext cx="6067425" cy="190500"/>
          </a:xfrm>
          <a:prstGeom prst="rect">
            <a:avLst/>
          </a:prstGeom>
          <a:noFill/>
          <a:ln/>
        </p:spPr>
        <p:txBody>
          <a:bodyPr wrap="square" lIns="0" tIns="0" rIns="0" bIns="0" rtlCol="0" anchor="ctr"/>
          <a:lstStyle/>
          <a:p>
            <a:pPr>
              <a:lnSpc>
                <a:spcPct val="120000"/>
              </a:lnSpc>
            </a:pPr>
            <a:r>
              <a:rPr lang="en-US" sz="1050" b="1" spc="53" kern="0" dirty="0">
                <a:solidFill>
                  <a:srgbClr val="FB2C36"/>
                </a:solidFill>
                <a:latin typeface="Liter" pitchFamily="34" charset="0"/>
                <a:ea typeface="Liter" pitchFamily="34" charset="-122"/>
                <a:cs typeface="Liter" pitchFamily="34" charset="-120"/>
              </a:rPr>
              <a:t>Components of AI</a:t>
            </a:r>
            <a:endParaRPr lang="en-US" sz="1600" dirty="0"/>
          </a:p>
        </p:txBody>
      </p:sp>
      <p:sp>
        <p:nvSpPr>
          <p:cNvPr id="5" name="Text 3"/>
          <p:cNvSpPr/>
          <p:nvPr/>
        </p:nvSpPr>
        <p:spPr>
          <a:xfrm>
            <a:off x="952500" y="571500"/>
            <a:ext cx="617220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Component 5: Language Understanding</a:t>
            </a:r>
            <a:endParaRPr lang="en-US" sz="1600" dirty="0"/>
          </a:p>
        </p:txBody>
      </p:sp>
      <p:sp>
        <p:nvSpPr>
          <p:cNvPr id="6" name="Shape 4"/>
          <p:cNvSpPr/>
          <p:nvPr/>
        </p:nvSpPr>
        <p:spPr>
          <a:xfrm>
            <a:off x="384810" y="1108710"/>
            <a:ext cx="6760845" cy="2522220"/>
          </a:xfrm>
          <a:prstGeom prst="roundRect">
            <a:avLst>
              <a:gd name="adj" fmla="val 4532"/>
            </a:avLst>
          </a:prstGeom>
          <a:solidFill>
            <a:srgbClr val="262626"/>
          </a:solidFill>
          <a:ln w="10160">
            <a:solidFill>
              <a:srgbClr val="333333"/>
            </a:solidFill>
            <a:prstDash val="solid"/>
          </a:ln>
        </p:spPr>
      </p:sp>
      <p:sp>
        <p:nvSpPr>
          <p:cNvPr id="7" name="Shape 5"/>
          <p:cNvSpPr/>
          <p:nvPr/>
        </p:nvSpPr>
        <p:spPr>
          <a:xfrm>
            <a:off x="502920" y="1226818"/>
            <a:ext cx="457200" cy="457200"/>
          </a:xfrm>
          <a:prstGeom prst="roundRect">
            <a:avLst>
              <a:gd name="adj" fmla="val 25000"/>
            </a:avLst>
          </a:prstGeom>
          <a:solidFill>
            <a:srgbClr val="FB2C36">
              <a:alpha val="20000"/>
            </a:srgbClr>
          </a:solidFill>
          <a:ln/>
        </p:spPr>
      </p:sp>
      <p:sp>
        <p:nvSpPr>
          <p:cNvPr id="8" name="Shape 6"/>
          <p:cNvSpPr/>
          <p:nvPr/>
        </p:nvSpPr>
        <p:spPr>
          <a:xfrm>
            <a:off x="602932" y="1341118"/>
            <a:ext cx="257175" cy="228600"/>
          </a:xfrm>
          <a:custGeom>
            <a:avLst/>
            <a:gdLst/>
            <a:ahLst/>
            <a:cxnLst/>
            <a:rect l="l" t="t" r="r" b="b"/>
            <a:pathLst>
              <a:path w="257175" h="228600">
                <a:moveTo>
                  <a:pt x="71438" y="0"/>
                </a:moveTo>
                <a:cubicBezTo>
                  <a:pt x="79340" y="0"/>
                  <a:pt x="85725" y="6385"/>
                  <a:pt x="85725" y="14288"/>
                </a:cubicBezTo>
                <a:lnTo>
                  <a:pt x="85725" y="28575"/>
                </a:lnTo>
                <a:lnTo>
                  <a:pt x="142875" y="28575"/>
                </a:lnTo>
                <a:cubicBezTo>
                  <a:pt x="150778" y="28575"/>
                  <a:pt x="157163" y="34960"/>
                  <a:pt x="157163" y="42863"/>
                </a:cubicBezTo>
                <a:cubicBezTo>
                  <a:pt x="157163" y="50765"/>
                  <a:pt x="150778" y="57150"/>
                  <a:pt x="142875" y="57150"/>
                </a:cubicBezTo>
                <a:lnTo>
                  <a:pt x="138589" y="57150"/>
                </a:lnTo>
                <a:lnTo>
                  <a:pt x="134838" y="67464"/>
                </a:lnTo>
                <a:cubicBezTo>
                  <a:pt x="127516" y="87645"/>
                  <a:pt x="116488" y="106085"/>
                  <a:pt x="102602" y="121935"/>
                </a:cubicBezTo>
                <a:cubicBezTo>
                  <a:pt x="108942" y="125864"/>
                  <a:pt x="115550" y="129347"/>
                  <a:pt x="122426" y="132427"/>
                </a:cubicBezTo>
                <a:lnTo>
                  <a:pt x="144929" y="142429"/>
                </a:lnTo>
                <a:lnTo>
                  <a:pt x="172700" y="79921"/>
                </a:lnTo>
                <a:cubicBezTo>
                  <a:pt x="174977" y="74741"/>
                  <a:pt x="180112" y="71438"/>
                  <a:pt x="185737" y="71438"/>
                </a:cubicBezTo>
                <a:cubicBezTo>
                  <a:pt x="191363" y="71438"/>
                  <a:pt x="196498" y="74741"/>
                  <a:pt x="198775" y="79921"/>
                </a:cubicBezTo>
                <a:lnTo>
                  <a:pt x="255925" y="208508"/>
                </a:lnTo>
                <a:cubicBezTo>
                  <a:pt x="259140" y="215741"/>
                  <a:pt x="255880" y="224180"/>
                  <a:pt x="248692" y="227350"/>
                </a:cubicBezTo>
                <a:cubicBezTo>
                  <a:pt x="241503" y="230520"/>
                  <a:pt x="233020" y="227305"/>
                  <a:pt x="229850" y="220117"/>
                </a:cubicBezTo>
                <a:lnTo>
                  <a:pt x="220920" y="200025"/>
                </a:lnTo>
                <a:lnTo>
                  <a:pt x="150599" y="200025"/>
                </a:lnTo>
                <a:lnTo>
                  <a:pt x="141669" y="220117"/>
                </a:lnTo>
                <a:cubicBezTo>
                  <a:pt x="138455" y="227350"/>
                  <a:pt x="130016" y="230565"/>
                  <a:pt x="122828" y="227350"/>
                </a:cubicBezTo>
                <a:cubicBezTo>
                  <a:pt x="115639" y="224135"/>
                  <a:pt x="112380" y="215697"/>
                  <a:pt x="115595" y="208508"/>
                </a:cubicBezTo>
                <a:lnTo>
                  <a:pt x="133365" y="168548"/>
                </a:lnTo>
                <a:lnTo>
                  <a:pt x="110862" y="158547"/>
                </a:lnTo>
                <a:cubicBezTo>
                  <a:pt x="100593" y="153992"/>
                  <a:pt x="90770" y="148545"/>
                  <a:pt x="81483" y="142295"/>
                </a:cubicBezTo>
                <a:cubicBezTo>
                  <a:pt x="71973" y="149974"/>
                  <a:pt x="61570" y="156671"/>
                  <a:pt x="50453" y="162252"/>
                </a:cubicBezTo>
                <a:lnTo>
                  <a:pt x="34960" y="169932"/>
                </a:lnTo>
                <a:cubicBezTo>
                  <a:pt x="27905" y="173459"/>
                  <a:pt x="19333" y="170602"/>
                  <a:pt x="15806" y="163547"/>
                </a:cubicBezTo>
                <a:cubicBezTo>
                  <a:pt x="12278" y="156493"/>
                  <a:pt x="15136" y="147920"/>
                  <a:pt x="22190" y="144393"/>
                </a:cubicBezTo>
                <a:lnTo>
                  <a:pt x="37594" y="136669"/>
                </a:lnTo>
                <a:cubicBezTo>
                  <a:pt x="44872" y="133008"/>
                  <a:pt x="51792" y="128766"/>
                  <a:pt x="58311" y="124033"/>
                </a:cubicBezTo>
                <a:cubicBezTo>
                  <a:pt x="52149" y="118363"/>
                  <a:pt x="46345" y="112246"/>
                  <a:pt x="40943" y="105772"/>
                </a:cubicBezTo>
                <a:lnTo>
                  <a:pt x="36433" y="100325"/>
                </a:lnTo>
                <a:cubicBezTo>
                  <a:pt x="31388" y="94253"/>
                  <a:pt x="32192" y="85234"/>
                  <a:pt x="38264" y="80189"/>
                </a:cubicBezTo>
                <a:cubicBezTo>
                  <a:pt x="44336" y="75143"/>
                  <a:pt x="53355" y="75947"/>
                  <a:pt x="58400" y="82019"/>
                </a:cubicBezTo>
                <a:lnTo>
                  <a:pt x="62954" y="87466"/>
                </a:lnTo>
                <a:cubicBezTo>
                  <a:pt x="68089" y="93672"/>
                  <a:pt x="73715" y="99432"/>
                  <a:pt x="79653" y="104745"/>
                </a:cubicBezTo>
                <a:cubicBezTo>
                  <a:pt x="91931" y="91172"/>
                  <a:pt x="101620" y="75233"/>
                  <a:pt x="108005" y="57686"/>
                </a:cubicBezTo>
                <a:lnTo>
                  <a:pt x="108228" y="57150"/>
                </a:lnTo>
                <a:lnTo>
                  <a:pt x="14332" y="57150"/>
                </a:lnTo>
                <a:cubicBezTo>
                  <a:pt x="6385" y="57150"/>
                  <a:pt x="0" y="50765"/>
                  <a:pt x="0" y="42863"/>
                </a:cubicBezTo>
                <a:cubicBezTo>
                  <a:pt x="0" y="34960"/>
                  <a:pt x="6385" y="28575"/>
                  <a:pt x="14288" y="28575"/>
                </a:cubicBezTo>
                <a:lnTo>
                  <a:pt x="57150" y="28575"/>
                </a:lnTo>
                <a:lnTo>
                  <a:pt x="57150" y="14288"/>
                </a:lnTo>
                <a:cubicBezTo>
                  <a:pt x="57150" y="6385"/>
                  <a:pt x="63535" y="0"/>
                  <a:pt x="71438" y="0"/>
                </a:cubicBezTo>
                <a:close/>
                <a:moveTo>
                  <a:pt x="185738" y="120908"/>
                </a:moveTo>
                <a:lnTo>
                  <a:pt x="163279" y="171450"/>
                </a:lnTo>
                <a:lnTo>
                  <a:pt x="208196" y="171450"/>
                </a:lnTo>
                <a:lnTo>
                  <a:pt x="185738" y="120908"/>
                </a:lnTo>
                <a:close/>
              </a:path>
            </a:pathLst>
          </a:custGeom>
          <a:solidFill>
            <a:srgbClr val="FB2C36"/>
          </a:solidFill>
          <a:ln/>
        </p:spPr>
      </p:sp>
      <p:sp>
        <p:nvSpPr>
          <p:cNvPr id="9" name="Text 7"/>
          <p:cNvSpPr/>
          <p:nvPr/>
        </p:nvSpPr>
        <p:spPr>
          <a:xfrm>
            <a:off x="1074420" y="1322068"/>
            <a:ext cx="3095625"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Natural Language Processing (NLP)</a:t>
            </a:r>
            <a:endParaRPr lang="en-US" sz="1600" dirty="0"/>
          </a:p>
        </p:txBody>
      </p:sp>
      <p:sp>
        <p:nvSpPr>
          <p:cNvPr id="10" name="Text 8"/>
          <p:cNvSpPr/>
          <p:nvPr/>
        </p:nvSpPr>
        <p:spPr>
          <a:xfrm>
            <a:off x="502920" y="1760218"/>
            <a:ext cx="6600825" cy="457200"/>
          </a:xfrm>
          <a:prstGeom prst="rect">
            <a:avLst/>
          </a:prstGeom>
          <a:noFill/>
          <a:ln/>
        </p:spPr>
        <p:txBody>
          <a:bodyPr wrap="square" lIns="0" tIns="0" rIns="0" bIns="0" rtlCol="0" anchor="ctr"/>
          <a:lstStyle/>
          <a:p>
            <a:pPr>
              <a:lnSpc>
                <a:spcPct val="130000"/>
              </a:lnSpc>
            </a:pPr>
            <a:r>
              <a:rPr lang="en-US" sz="1200" b="1" dirty="0">
                <a:solidFill>
                  <a:srgbClr val="FB2C36"/>
                </a:solidFill>
                <a:latin typeface="Liter" pitchFamily="34" charset="0"/>
                <a:ea typeface="Liter" pitchFamily="34" charset="-122"/>
                <a:cs typeface="Liter" pitchFamily="34" charset="-120"/>
              </a:rPr>
              <a:t>Language understanding</a:t>
            </a:r>
            <a:pPr>
              <a:lnSpc>
                <a:spcPct val="130000"/>
              </a:lnSpc>
            </a:pPr>
            <a:r>
              <a:rPr lang="en-US" sz="1200" dirty="0">
                <a:solidFill>
                  <a:srgbClr val="EFEFEF"/>
                </a:solidFill>
                <a:latin typeface="Liter" pitchFamily="34" charset="0"/>
                <a:ea typeface="Liter" pitchFamily="34" charset="-122"/>
                <a:cs typeface="Liter" pitchFamily="34" charset="-120"/>
              </a:rPr>
              <a:t> is how AI reads, understands, and generates human language. It's what lets you talk to Siri, ChatGPT, and Google Assistant!</a:t>
            </a:r>
            <a:endParaRPr lang="en-US" sz="1600" dirty="0"/>
          </a:p>
        </p:txBody>
      </p:sp>
      <p:sp>
        <p:nvSpPr>
          <p:cNvPr id="11" name="Shape 9"/>
          <p:cNvSpPr/>
          <p:nvPr/>
        </p:nvSpPr>
        <p:spPr>
          <a:xfrm>
            <a:off x="502920" y="2293618"/>
            <a:ext cx="3219450" cy="571500"/>
          </a:xfrm>
          <a:prstGeom prst="roundRect">
            <a:avLst>
              <a:gd name="adj" fmla="val 13333"/>
            </a:avLst>
          </a:prstGeom>
          <a:solidFill>
            <a:srgbClr val="191919"/>
          </a:solidFill>
          <a:ln/>
        </p:spPr>
      </p:sp>
      <p:sp>
        <p:nvSpPr>
          <p:cNvPr id="12" name="Text 10"/>
          <p:cNvSpPr/>
          <p:nvPr/>
        </p:nvSpPr>
        <p:spPr>
          <a:xfrm>
            <a:off x="579120" y="2369818"/>
            <a:ext cx="3133725" cy="190500"/>
          </a:xfrm>
          <a:prstGeom prst="rect">
            <a:avLst/>
          </a:prstGeom>
          <a:noFill/>
          <a:ln/>
        </p:spPr>
        <p:txBody>
          <a:bodyPr wrap="square" lIns="0" tIns="0" rIns="0" bIns="0" rtlCol="0" anchor="ctr"/>
          <a:lstStyle/>
          <a:p>
            <a:pPr>
              <a:lnSpc>
                <a:spcPct val="120000"/>
              </a:lnSpc>
            </a:pPr>
            <a:r>
              <a:rPr lang="en-US" sz="1050" b="1" dirty="0">
                <a:solidFill>
                  <a:srgbClr val="EFEFEF"/>
                </a:solidFill>
                <a:latin typeface="Liter" pitchFamily="34" charset="0"/>
                <a:ea typeface="Liter" pitchFamily="34" charset="-122"/>
                <a:cs typeface="Liter" pitchFamily="34" charset="-120"/>
              </a:rPr>
              <a:t>Understanding</a:t>
            </a:r>
            <a:endParaRPr lang="en-US" sz="1600" dirty="0"/>
          </a:p>
        </p:txBody>
      </p:sp>
      <p:sp>
        <p:nvSpPr>
          <p:cNvPr id="13" name="Text 11"/>
          <p:cNvSpPr/>
          <p:nvPr/>
        </p:nvSpPr>
        <p:spPr>
          <a:xfrm>
            <a:off x="579120" y="2598418"/>
            <a:ext cx="31337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Comprehends meaning, context, and intent</a:t>
            </a:r>
            <a:endParaRPr lang="en-US" sz="1600" dirty="0"/>
          </a:p>
        </p:txBody>
      </p:sp>
      <p:sp>
        <p:nvSpPr>
          <p:cNvPr id="14" name="Shape 12"/>
          <p:cNvSpPr/>
          <p:nvPr/>
        </p:nvSpPr>
        <p:spPr>
          <a:xfrm>
            <a:off x="3802380" y="2293618"/>
            <a:ext cx="3219450" cy="571500"/>
          </a:xfrm>
          <a:prstGeom prst="roundRect">
            <a:avLst>
              <a:gd name="adj" fmla="val 13333"/>
            </a:avLst>
          </a:prstGeom>
          <a:solidFill>
            <a:srgbClr val="191919"/>
          </a:solidFill>
          <a:ln/>
        </p:spPr>
      </p:sp>
      <p:sp>
        <p:nvSpPr>
          <p:cNvPr id="15" name="Text 13"/>
          <p:cNvSpPr/>
          <p:nvPr/>
        </p:nvSpPr>
        <p:spPr>
          <a:xfrm>
            <a:off x="3878580" y="2369818"/>
            <a:ext cx="3133725" cy="190500"/>
          </a:xfrm>
          <a:prstGeom prst="rect">
            <a:avLst/>
          </a:prstGeom>
          <a:noFill/>
          <a:ln/>
        </p:spPr>
        <p:txBody>
          <a:bodyPr wrap="square" lIns="0" tIns="0" rIns="0" bIns="0" rtlCol="0" anchor="ctr"/>
          <a:lstStyle/>
          <a:p>
            <a:pPr>
              <a:lnSpc>
                <a:spcPct val="120000"/>
              </a:lnSpc>
            </a:pPr>
            <a:r>
              <a:rPr lang="en-US" sz="1050" b="1" dirty="0">
                <a:solidFill>
                  <a:srgbClr val="EFEFEF"/>
                </a:solidFill>
                <a:latin typeface="Liter" pitchFamily="34" charset="0"/>
                <a:ea typeface="Liter" pitchFamily="34" charset="-122"/>
                <a:cs typeface="Liter" pitchFamily="34" charset="-120"/>
              </a:rPr>
              <a:t>Generation</a:t>
            </a:r>
            <a:endParaRPr lang="en-US" sz="1600" dirty="0"/>
          </a:p>
        </p:txBody>
      </p:sp>
      <p:sp>
        <p:nvSpPr>
          <p:cNvPr id="16" name="Text 14"/>
          <p:cNvSpPr/>
          <p:nvPr/>
        </p:nvSpPr>
        <p:spPr>
          <a:xfrm>
            <a:off x="3878580" y="2598418"/>
            <a:ext cx="31337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Creates human-like text and responses</a:t>
            </a:r>
            <a:endParaRPr lang="en-US" sz="1600" dirty="0"/>
          </a:p>
        </p:txBody>
      </p:sp>
      <p:sp>
        <p:nvSpPr>
          <p:cNvPr id="17" name="Shape 15"/>
          <p:cNvSpPr/>
          <p:nvPr/>
        </p:nvSpPr>
        <p:spPr>
          <a:xfrm>
            <a:off x="502920" y="2941318"/>
            <a:ext cx="3219450" cy="571500"/>
          </a:xfrm>
          <a:prstGeom prst="roundRect">
            <a:avLst>
              <a:gd name="adj" fmla="val 13333"/>
            </a:avLst>
          </a:prstGeom>
          <a:solidFill>
            <a:srgbClr val="191919"/>
          </a:solidFill>
          <a:ln/>
        </p:spPr>
      </p:sp>
      <p:sp>
        <p:nvSpPr>
          <p:cNvPr id="18" name="Text 16"/>
          <p:cNvSpPr/>
          <p:nvPr/>
        </p:nvSpPr>
        <p:spPr>
          <a:xfrm>
            <a:off x="579120" y="3017518"/>
            <a:ext cx="3133725" cy="190500"/>
          </a:xfrm>
          <a:prstGeom prst="rect">
            <a:avLst/>
          </a:prstGeom>
          <a:noFill/>
          <a:ln/>
        </p:spPr>
        <p:txBody>
          <a:bodyPr wrap="square" lIns="0" tIns="0" rIns="0" bIns="0" rtlCol="0" anchor="ctr"/>
          <a:lstStyle/>
          <a:p>
            <a:pPr>
              <a:lnSpc>
                <a:spcPct val="120000"/>
              </a:lnSpc>
            </a:pPr>
            <a:r>
              <a:rPr lang="en-US" sz="1050" b="1" dirty="0">
                <a:solidFill>
                  <a:srgbClr val="EFEFEF"/>
                </a:solidFill>
                <a:latin typeface="Liter" pitchFamily="34" charset="0"/>
                <a:ea typeface="Liter" pitchFamily="34" charset="-122"/>
                <a:cs typeface="Liter" pitchFamily="34" charset="-120"/>
              </a:rPr>
              <a:t>Translation</a:t>
            </a:r>
            <a:endParaRPr lang="en-US" sz="1600" dirty="0"/>
          </a:p>
        </p:txBody>
      </p:sp>
      <p:sp>
        <p:nvSpPr>
          <p:cNvPr id="19" name="Text 17"/>
          <p:cNvSpPr/>
          <p:nvPr/>
        </p:nvSpPr>
        <p:spPr>
          <a:xfrm>
            <a:off x="579120" y="3246118"/>
            <a:ext cx="31337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Converts between languages instantly</a:t>
            </a:r>
            <a:endParaRPr lang="en-US" sz="1600" dirty="0"/>
          </a:p>
        </p:txBody>
      </p:sp>
      <p:sp>
        <p:nvSpPr>
          <p:cNvPr id="20" name="Shape 18"/>
          <p:cNvSpPr/>
          <p:nvPr/>
        </p:nvSpPr>
        <p:spPr>
          <a:xfrm>
            <a:off x="3802380" y="2941318"/>
            <a:ext cx="3219450" cy="571500"/>
          </a:xfrm>
          <a:prstGeom prst="roundRect">
            <a:avLst>
              <a:gd name="adj" fmla="val 13333"/>
            </a:avLst>
          </a:prstGeom>
          <a:solidFill>
            <a:srgbClr val="191919"/>
          </a:solidFill>
          <a:ln/>
        </p:spPr>
      </p:sp>
      <p:sp>
        <p:nvSpPr>
          <p:cNvPr id="21" name="Text 19"/>
          <p:cNvSpPr/>
          <p:nvPr/>
        </p:nvSpPr>
        <p:spPr>
          <a:xfrm>
            <a:off x="3878580" y="3017518"/>
            <a:ext cx="3133725" cy="190500"/>
          </a:xfrm>
          <a:prstGeom prst="rect">
            <a:avLst/>
          </a:prstGeom>
          <a:noFill/>
          <a:ln/>
        </p:spPr>
        <p:txBody>
          <a:bodyPr wrap="square" lIns="0" tIns="0" rIns="0" bIns="0" rtlCol="0" anchor="ctr"/>
          <a:lstStyle/>
          <a:p>
            <a:pPr>
              <a:lnSpc>
                <a:spcPct val="120000"/>
              </a:lnSpc>
            </a:pPr>
            <a:r>
              <a:rPr lang="en-US" sz="1050" b="1" dirty="0">
                <a:solidFill>
                  <a:srgbClr val="EFEFEF"/>
                </a:solidFill>
                <a:latin typeface="Liter" pitchFamily="34" charset="0"/>
                <a:ea typeface="Liter" pitchFamily="34" charset="-122"/>
                <a:cs typeface="Liter" pitchFamily="34" charset="-120"/>
              </a:rPr>
              <a:t>Analysis</a:t>
            </a:r>
            <a:endParaRPr lang="en-US" sz="1600" dirty="0"/>
          </a:p>
        </p:txBody>
      </p:sp>
      <p:sp>
        <p:nvSpPr>
          <p:cNvPr id="22" name="Text 20"/>
          <p:cNvSpPr/>
          <p:nvPr/>
        </p:nvSpPr>
        <p:spPr>
          <a:xfrm>
            <a:off x="3878580" y="3246118"/>
            <a:ext cx="31337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Extracts information and sentiment</a:t>
            </a:r>
            <a:endParaRPr lang="en-US" sz="1600" dirty="0"/>
          </a:p>
        </p:txBody>
      </p:sp>
      <p:sp>
        <p:nvSpPr>
          <p:cNvPr id="23" name="Shape 21"/>
          <p:cNvSpPr/>
          <p:nvPr/>
        </p:nvSpPr>
        <p:spPr>
          <a:xfrm>
            <a:off x="384810" y="3714756"/>
            <a:ext cx="6760845" cy="1664970"/>
          </a:xfrm>
          <a:prstGeom prst="roundRect">
            <a:avLst>
              <a:gd name="adj" fmla="val 6865"/>
            </a:avLst>
          </a:prstGeom>
          <a:solidFill>
            <a:srgbClr val="262626"/>
          </a:solidFill>
          <a:ln w="10160">
            <a:solidFill>
              <a:srgbClr val="333333"/>
            </a:solidFill>
            <a:prstDash val="solid"/>
          </a:ln>
        </p:spPr>
      </p:sp>
      <p:sp>
        <p:nvSpPr>
          <p:cNvPr id="24" name="Shape 22"/>
          <p:cNvSpPr/>
          <p:nvPr/>
        </p:nvSpPr>
        <p:spPr>
          <a:xfrm>
            <a:off x="526732" y="3870964"/>
            <a:ext cx="190500" cy="190500"/>
          </a:xfrm>
          <a:custGeom>
            <a:avLst/>
            <a:gdLst/>
            <a:ahLst/>
            <a:cxnLst/>
            <a:rect l="l" t="t" r="r" b="b"/>
            <a:pathLst>
              <a:path w="190500" h="190500">
                <a:moveTo>
                  <a:pt x="49783" y="13506"/>
                </a:moveTo>
                <a:cubicBezTo>
                  <a:pt x="53839" y="16334"/>
                  <a:pt x="54806" y="21915"/>
                  <a:pt x="51978" y="25933"/>
                </a:cubicBezTo>
                <a:lnTo>
                  <a:pt x="31142" y="55699"/>
                </a:lnTo>
                <a:cubicBezTo>
                  <a:pt x="29617" y="57857"/>
                  <a:pt x="27236" y="59234"/>
                  <a:pt x="24594" y="59457"/>
                </a:cubicBezTo>
                <a:cubicBezTo>
                  <a:pt x="21952" y="59680"/>
                  <a:pt x="19348" y="58787"/>
                  <a:pt x="17487" y="56927"/>
                </a:cubicBezTo>
                <a:lnTo>
                  <a:pt x="2604" y="42044"/>
                </a:lnTo>
                <a:cubicBezTo>
                  <a:pt x="-856" y="38546"/>
                  <a:pt x="-856" y="32891"/>
                  <a:pt x="2604" y="29394"/>
                </a:cubicBezTo>
                <a:cubicBezTo>
                  <a:pt x="6065" y="25896"/>
                  <a:pt x="11757" y="25933"/>
                  <a:pt x="15255" y="29394"/>
                </a:cubicBezTo>
                <a:lnTo>
                  <a:pt x="22622" y="36761"/>
                </a:lnTo>
                <a:lnTo>
                  <a:pt x="37356" y="15701"/>
                </a:lnTo>
                <a:cubicBezTo>
                  <a:pt x="40184" y="11646"/>
                  <a:pt x="45765" y="10678"/>
                  <a:pt x="49783" y="13506"/>
                </a:cubicBezTo>
                <a:close/>
                <a:moveTo>
                  <a:pt x="49783" y="73037"/>
                </a:moveTo>
                <a:cubicBezTo>
                  <a:pt x="53839" y="75865"/>
                  <a:pt x="54806" y="81446"/>
                  <a:pt x="51978" y="85465"/>
                </a:cubicBezTo>
                <a:lnTo>
                  <a:pt x="31142" y="115230"/>
                </a:lnTo>
                <a:cubicBezTo>
                  <a:pt x="29617" y="117388"/>
                  <a:pt x="27236" y="118765"/>
                  <a:pt x="24594" y="118988"/>
                </a:cubicBezTo>
                <a:cubicBezTo>
                  <a:pt x="21952" y="119211"/>
                  <a:pt x="19348" y="118318"/>
                  <a:pt x="17487" y="116458"/>
                </a:cubicBezTo>
                <a:lnTo>
                  <a:pt x="2604" y="101575"/>
                </a:lnTo>
                <a:cubicBezTo>
                  <a:pt x="-893" y="98078"/>
                  <a:pt x="-893" y="92422"/>
                  <a:pt x="2604" y="88962"/>
                </a:cubicBezTo>
                <a:cubicBezTo>
                  <a:pt x="6102" y="85502"/>
                  <a:pt x="11757" y="85465"/>
                  <a:pt x="15218" y="88962"/>
                </a:cubicBezTo>
                <a:lnTo>
                  <a:pt x="22585" y="96329"/>
                </a:lnTo>
                <a:lnTo>
                  <a:pt x="37319" y="75270"/>
                </a:lnTo>
                <a:cubicBezTo>
                  <a:pt x="40146" y="71214"/>
                  <a:pt x="45727" y="70247"/>
                  <a:pt x="49746" y="73075"/>
                </a:cubicBezTo>
                <a:close/>
                <a:moveTo>
                  <a:pt x="83344" y="35719"/>
                </a:moveTo>
                <a:cubicBezTo>
                  <a:pt x="83344" y="29133"/>
                  <a:pt x="88664" y="23812"/>
                  <a:pt x="95250" y="23812"/>
                </a:cubicBezTo>
                <a:lnTo>
                  <a:pt x="178594" y="23812"/>
                </a:lnTo>
                <a:cubicBezTo>
                  <a:pt x="185179" y="23812"/>
                  <a:pt x="190500" y="29133"/>
                  <a:pt x="190500" y="35719"/>
                </a:cubicBezTo>
                <a:cubicBezTo>
                  <a:pt x="190500" y="42304"/>
                  <a:pt x="185179" y="47625"/>
                  <a:pt x="178594" y="47625"/>
                </a:cubicBezTo>
                <a:lnTo>
                  <a:pt x="95250" y="47625"/>
                </a:lnTo>
                <a:cubicBezTo>
                  <a:pt x="88664" y="47625"/>
                  <a:pt x="83344" y="42304"/>
                  <a:pt x="83344" y="35719"/>
                </a:cubicBezTo>
                <a:close/>
                <a:moveTo>
                  <a:pt x="83344" y="95250"/>
                </a:moveTo>
                <a:cubicBezTo>
                  <a:pt x="83344" y="88664"/>
                  <a:pt x="88664" y="83344"/>
                  <a:pt x="95250" y="83344"/>
                </a:cubicBezTo>
                <a:lnTo>
                  <a:pt x="178594" y="83344"/>
                </a:lnTo>
                <a:cubicBezTo>
                  <a:pt x="185179" y="83344"/>
                  <a:pt x="190500" y="88664"/>
                  <a:pt x="190500" y="95250"/>
                </a:cubicBezTo>
                <a:cubicBezTo>
                  <a:pt x="190500" y="101836"/>
                  <a:pt x="185179" y="107156"/>
                  <a:pt x="178594" y="107156"/>
                </a:cubicBezTo>
                <a:lnTo>
                  <a:pt x="95250" y="107156"/>
                </a:lnTo>
                <a:cubicBezTo>
                  <a:pt x="88664" y="107156"/>
                  <a:pt x="83344" y="101836"/>
                  <a:pt x="83344" y="95250"/>
                </a:cubicBezTo>
                <a:close/>
                <a:moveTo>
                  <a:pt x="59531" y="154781"/>
                </a:moveTo>
                <a:cubicBezTo>
                  <a:pt x="59531" y="148196"/>
                  <a:pt x="64852" y="142875"/>
                  <a:pt x="71438" y="142875"/>
                </a:cubicBezTo>
                <a:lnTo>
                  <a:pt x="178594" y="142875"/>
                </a:lnTo>
                <a:cubicBezTo>
                  <a:pt x="185179" y="142875"/>
                  <a:pt x="190500" y="148196"/>
                  <a:pt x="190500" y="154781"/>
                </a:cubicBezTo>
                <a:cubicBezTo>
                  <a:pt x="190500" y="161367"/>
                  <a:pt x="185179" y="166688"/>
                  <a:pt x="178594" y="166688"/>
                </a:cubicBezTo>
                <a:lnTo>
                  <a:pt x="71438" y="166688"/>
                </a:lnTo>
                <a:cubicBezTo>
                  <a:pt x="64852" y="166688"/>
                  <a:pt x="59531" y="161367"/>
                  <a:pt x="59531" y="154781"/>
                </a:cubicBezTo>
                <a:close/>
                <a:moveTo>
                  <a:pt x="23812" y="139898"/>
                </a:moveTo>
                <a:cubicBezTo>
                  <a:pt x="32027" y="139898"/>
                  <a:pt x="38695" y="146567"/>
                  <a:pt x="38695" y="154781"/>
                </a:cubicBezTo>
                <a:cubicBezTo>
                  <a:pt x="38695" y="162995"/>
                  <a:pt x="32027" y="169664"/>
                  <a:pt x="23812" y="169664"/>
                </a:cubicBezTo>
                <a:cubicBezTo>
                  <a:pt x="15598" y="169664"/>
                  <a:pt x="8930" y="162995"/>
                  <a:pt x="8930" y="154781"/>
                </a:cubicBezTo>
                <a:cubicBezTo>
                  <a:pt x="8930" y="146567"/>
                  <a:pt x="15598" y="139898"/>
                  <a:pt x="23812" y="139898"/>
                </a:cubicBezTo>
                <a:close/>
              </a:path>
            </a:pathLst>
          </a:custGeom>
          <a:solidFill>
            <a:srgbClr val="FB2C36"/>
          </a:solidFill>
          <a:ln/>
        </p:spPr>
      </p:sp>
      <p:sp>
        <p:nvSpPr>
          <p:cNvPr id="25" name="Text 23"/>
          <p:cNvSpPr/>
          <p:nvPr/>
        </p:nvSpPr>
        <p:spPr>
          <a:xfrm>
            <a:off x="741045" y="3832864"/>
            <a:ext cx="6381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NLP Applications</a:t>
            </a:r>
            <a:endParaRPr lang="en-US" sz="1600" dirty="0"/>
          </a:p>
        </p:txBody>
      </p:sp>
      <p:sp>
        <p:nvSpPr>
          <p:cNvPr id="26" name="Shape 24"/>
          <p:cNvSpPr/>
          <p:nvPr/>
        </p:nvSpPr>
        <p:spPr>
          <a:xfrm>
            <a:off x="502920" y="4213864"/>
            <a:ext cx="190500" cy="152400"/>
          </a:xfrm>
          <a:custGeom>
            <a:avLst/>
            <a:gdLst/>
            <a:ahLst/>
            <a:cxnLst/>
            <a:rect l="l" t="t" r="r" b="b"/>
            <a:pathLst>
              <a:path w="190500" h="152400">
                <a:moveTo>
                  <a:pt x="104775" y="0"/>
                </a:moveTo>
                <a:cubicBezTo>
                  <a:pt x="104775" y="-5269"/>
                  <a:pt x="100519" y="-9525"/>
                  <a:pt x="95250" y="-9525"/>
                </a:cubicBezTo>
                <a:cubicBezTo>
                  <a:pt x="89981" y="-9525"/>
                  <a:pt x="85725" y="-5269"/>
                  <a:pt x="85725" y="0"/>
                </a:cubicBezTo>
                <a:lnTo>
                  <a:pt x="85725" y="19050"/>
                </a:lnTo>
                <a:lnTo>
                  <a:pt x="57150" y="19050"/>
                </a:lnTo>
                <a:cubicBezTo>
                  <a:pt x="41374" y="19050"/>
                  <a:pt x="28575" y="31849"/>
                  <a:pt x="28575" y="47625"/>
                </a:cubicBezTo>
                <a:lnTo>
                  <a:pt x="28575" y="114300"/>
                </a:lnTo>
                <a:cubicBezTo>
                  <a:pt x="28575" y="130076"/>
                  <a:pt x="41374" y="142875"/>
                  <a:pt x="57150" y="142875"/>
                </a:cubicBezTo>
                <a:lnTo>
                  <a:pt x="133350" y="142875"/>
                </a:lnTo>
                <a:cubicBezTo>
                  <a:pt x="149126" y="142875"/>
                  <a:pt x="161925" y="130076"/>
                  <a:pt x="161925" y="114300"/>
                </a:cubicBezTo>
                <a:lnTo>
                  <a:pt x="161925" y="47625"/>
                </a:lnTo>
                <a:cubicBezTo>
                  <a:pt x="161925" y="31849"/>
                  <a:pt x="149126" y="19050"/>
                  <a:pt x="133350" y="19050"/>
                </a:cubicBezTo>
                <a:lnTo>
                  <a:pt x="104775" y="19050"/>
                </a:lnTo>
                <a:lnTo>
                  <a:pt x="104775" y="0"/>
                </a:lnTo>
                <a:close/>
                <a:moveTo>
                  <a:pt x="47625" y="109537"/>
                </a:moveTo>
                <a:cubicBezTo>
                  <a:pt x="47625" y="105579"/>
                  <a:pt x="50810" y="102394"/>
                  <a:pt x="54769" y="102394"/>
                </a:cubicBezTo>
                <a:lnTo>
                  <a:pt x="64294" y="102394"/>
                </a:lnTo>
                <a:cubicBezTo>
                  <a:pt x="68253" y="102394"/>
                  <a:pt x="71438" y="105579"/>
                  <a:pt x="71438" y="109537"/>
                </a:cubicBezTo>
                <a:cubicBezTo>
                  <a:pt x="71438" y="113496"/>
                  <a:pt x="68253" y="116681"/>
                  <a:pt x="64294" y="116681"/>
                </a:cubicBezTo>
                <a:lnTo>
                  <a:pt x="54769" y="116681"/>
                </a:lnTo>
                <a:cubicBezTo>
                  <a:pt x="50810" y="116681"/>
                  <a:pt x="47625" y="113496"/>
                  <a:pt x="47625" y="109537"/>
                </a:cubicBezTo>
                <a:close/>
                <a:moveTo>
                  <a:pt x="83344" y="109537"/>
                </a:moveTo>
                <a:cubicBezTo>
                  <a:pt x="83344" y="105579"/>
                  <a:pt x="86529" y="102394"/>
                  <a:pt x="90488" y="102394"/>
                </a:cubicBezTo>
                <a:lnTo>
                  <a:pt x="100013" y="102394"/>
                </a:lnTo>
                <a:cubicBezTo>
                  <a:pt x="103971" y="102394"/>
                  <a:pt x="107156" y="105579"/>
                  <a:pt x="107156" y="109537"/>
                </a:cubicBezTo>
                <a:cubicBezTo>
                  <a:pt x="107156" y="113496"/>
                  <a:pt x="103971" y="116681"/>
                  <a:pt x="100013" y="116681"/>
                </a:cubicBezTo>
                <a:lnTo>
                  <a:pt x="90488" y="116681"/>
                </a:lnTo>
                <a:cubicBezTo>
                  <a:pt x="86529" y="116681"/>
                  <a:pt x="83344" y="113496"/>
                  <a:pt x="83344" y="109537"/>
                </a:cubicBezTo>
                <a:close/>
                <a:moveTo>
                  <a:pt x="119062" y="109537"/>
                </a:moveTo>
                <a:cubicBezTo>
                  <a:pt x="119062" y="105579"/>
                  <a:pt x="122247" y="102394"/>
                  <a:pt x="126206" y="102394"/>
                </a:cubicBezTo>
                <a:lnTo>
                  <a:pt x="135731" y="102394"/>
                </a:lnTo>
                <a:cubicBezTo>
                  <a:pt x="139690" y="102394"/>
                  <a:pt x="142875" y="105579"/>
                  <a:pt x="142875" y="109537"/>
                </a:cubicBezTo>
                <a:cubicBezTo>
                  <a:pt x="142875" y="113496"/>
                  <a:pt x="139690" y="116681"/>
                  <a:pt x="135731" y="116681"/>
                </a:cubicBezTo>
                <a:lnTo>
                  <a:pt x="126206" y="116681"/>
                </a:lnTo>
                <a:cubicBezTo>
                  <a:pt x="122247" y="116681"/>
                  <a:pt x="119062" y="113496"/>
                  <a:pt x="119062" y="109537"/>
                </a:cubicBezTo>
                <a:close/>
                <a:moveTo>
                  <a:pt x="66675" y="52388"/>
                </a:moveTo>
                <a:cubicBezTo>
                  <a:pt x="74560" y="52388"/>
                  <a:pt x="80962" y="58790"/>
                  <a:pt x="80962" y="66675"/>
                </a:cubicBezTo>
                <a:cubicBezTo>
                  <a:pt x="80962" y="74560"/>
                  <a:pt x="74560" y="80962"/>
                  <a:pt x="66675" y="80962"/>
                </a:cubicBezTo>
                <a:cubicBezTo>
                  <a:pt x="58790" y="80962"/>
                  <a:pt x="52388" y="74560"/>
                  <a:pt x="52388" y="66675"/>
                </a:cubicBezTo>
                <a:cubicBezTo>
                  <a:pt x="52388" y="58790"/>
                  <a:pt x="58790" y="52388"/>
                  <a:pt x="66675" y="52388"/>
                </a:cubicBezTo>
                <a:close/>
                <a:moveTo>
                  <a:pt x="109537" y="66675"/>
                </a:moveTo>
                <a:cubicBezTo>
                  <a:pt x="109537" y="58790"/>
                  <a:pt x="115940" y="52388"/>
                  <a:pt x="123825" y="52388"/>
                </a:cubicBezTo>
                <a:cubicBezTo>
                  <a:pt x="131710" y="52388"/>
                  <a:pt x="138113" y="58790"/>
                  <a:pt x="138113" y="66675"/>
                </a:cubicBezTo>
                <a:cubicBezTo>
                  <a:pt x="138113" y="74560"/>
                  <a:pt x="131710" y="80962"/>
                  <a:pt x="123825" y="80962"/>
                </a:cubicBezTo>
                <a:cubicBezTo>
                  <a:pt x="115940" y="80962"/>
                  <a:pt x="109537" y="74560"/>
                  <a:pt x="109537" y="66675"/>
                </a:cubicBezTo>
                <a:close/>
                <a:moveTo>
                  <a:pt x="19050" y="66675"/>
                </a:moveTo>
                <a:cubicBezTo>
                  <a:pt x="19050" y="61406"/>
                  <a:pt x="14794" y="57150"/>
                  <a:pt x="9525" y="57150"/>
                </a:cubicBezTo>
                <a:cubicBezTo>
                  <a:pt x="4256" y="57150"/>
                  <a:pt x="0" y="61406"/>
                  <a:pt x="0" y="66675"/>
                </a:cubicBezTo>
                <a:lnTo>
                  <a:pt x="0" y="95250"/>
                </a:lnTo>
                <a:cubicBezTo>
                  <a:pt x="0" y="100519"/>
                  <a:pt x="4256" y="104775"/>
                  <a:pt x="9525" y="104775"/>
                </a:cubicBezTo>
                <a:cubicBezTo>
                  <a:pt x="14794" y="104775"/>
                  <a:pt x="19050" y="100519"/>
                  <a:pt x="19050" y="95250"/>
                </a:cubicBezTo>
                <a:lnTo>
                  <a:pt x="19050" y="66675"/>
                </a:lnTo>
                <a:close/>
                <a:moveTo>
                  <a:pt x="180975" y="57150"/>
                </a:moveTo>
                <a:cubicBezTo>
                  <a:pt x="175706" y="57150"/>
                  <a:pt x="171450" y="61406"/>
                  <a:pt x="171450" y="66675"/>
                </a:cubicBezTo>
                <a:lnTo>
                  <a:pt x="171450" y="95250"/>
                </a:lnTo>
                <a:cubicBezTo>
                  <a:pt x="171450" y="100519"/>
                  <a:pt x="175706" y="104775"/>
                  <a:pt x="180975" y="104775"/>
                </a:cubicBezTo>
                <a:cubicBezTo>
                  <a:pt x="186244" y="104775"/>
                  <a:pt x="190500" y="100519"/>
                  <a:pt x="190500" y="95250"/>
                </a:cubicBezTo>
                <a:lnTo>
                  <a:pt x="190500" y="66675"/>
                </a:lnTo>
                <a:cubicBezTo>
                  <a:pt x="190500" y="61406"/>
                  <a:pt x="186244" y="57150"/>
                  <a:pt x="180975" y="57150"/>
                </a:cubicBezTo>
                <a:close/>
              </a:path>
            </a:pathLst>
          </a:custGeom>
          <a:solidFill>
            <a:srgbClr val="FB2C36"/>
          </a:solidFill>
          <a:ln/>
        </p:spPr>
      </p:sp>
      <p:sp>
        <p:nvSpPr>
          <p:cNvPr id="27" name="Text 25"/>
          <p:cNvSpPr/>
          <p:nvPr/>
        </p:nvSpPr>
        <p:spPr>
          <a:xfrm>
            <a:off x="807720" y="4175764"/>
            <a:ext cx="39814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Chatbots:</a:t>
            </a:r>
            <a:pPr>
              <a:lnSpc>
                <a:spcPct val="130000"/>
              </a:lnSpc>
            </a:pPr>
            <a:r>
              <a:rPr lang="en-US" sz="1200" dirty="0">
                <a:solidFill>
                  <a:srgbClr val="EFEFEF"/>
                </a:solidFill>
                <a:latin typeface="Liter" pitchFamily="34" charset="0"/>
                <a:ea typeface="Liter" pitchFamily="34" charset="-122"/>
                <a:cs typeface="Liter" pitchFamily="34" charset="-120"/>
              </a:rPr>
              <a:t> Conversational assistants that answer questions</a:t>
            </a:r>
            <a:endParaRPr lang="en-US" sz="1600" dirty="0"/>
          </a:p>
        </p:txBody>
      </p:sp>
      <p:sp>
        <p:nvSpPr>
          <p:cNvPr id="28" name="Shape 26"/>
          <p:cNvSpPr/>
          <p:nvPr/>
        </p:nvSpPr>
        <p:spPr>
          <a:xfrm>
            <a:off x="512445" y="4499614"/>
            <a:ext cx="171450" cy="152400"/>
          </a:xfrm>
          <a:custGeom>
            <a:avLst/>
            <a:gdLst/>
            <a:ahLst/>
            <a:cxnLst/>
            <a:rect l="l" t="t" r="r" b="b"/>
            <a:pathLst>
              <a:path w="171450" h="152400">
                <a:moveTo>
                  <a:pt x="35719" y="9525"/>
                </a:moveTo>
                <a:cubicBezTo>
                  <a:pt x="21253" y="9525"/>
                  <a:pt x="9525" y="21253"/>
                  <a:pt x="9525" y="35719"/>
                </a:cubicBezTo>
                <a:lnTo>
                  <a:pt x="9525" y="85725"/>
                </a:lnTo>
                <a:cubicBezTo>
                  <a:pt x="9525" y="90994"/>
                  <a:pt x="13781" y="95250"/>
                  <a:pt x="19050" y="95250"/>
                </a:cubicBezTo>
                <a:cubicBezTo>
                  <a:pt x="24319" y="95250"/>
                  <a:pt x="28575" y="90994"/>
                  <a:pt x="28575" y="85725"/>
                </a:cubicBezTo>
                <a:lnTo>
                  <a:pt x="28575" y="66675"/>
                </a:lnTo>
                <a:lnTo>
                  <a:pt x="47625" y="66675"/>
                </a:lnTo>
                <a:lnTo>
                  <a:pt x="47625" y="85725"/>
                </a:lnTo>
                <a:cubicBezTo>
                  <a:pt x="47625" y="90994"/>
                  <a:pt x="51881" y="95250"/>
                  <a:pt x="57150" y="95250"/>
                </a:cubicBezTo>
                <a:cubicBezTo>
                  <a:pt x="62419" y="95250"/>
                  <a:pt x="66675" y="90994"/>
                  <a:pt x="66675" y="85725"/>
                </a:cubicBezTo>
                <a:lnTo>
                  <a:pt x="66675" y="35719"/>
                </a:lnTo>
                <a:cubicBezTo>
                  <a:pt x="66675" y="21253"/>
                  <a:pt x="54947" y="9525"/>
                  <a:pt x="40481" y="9525"/>
                </a:cubicBezTo>
                <a:lnTo>
                  <a:pt x="35719" y="9525"/>
                </a:lnTo>
                <a:close/>
                <a:moveTo>
                  <a:pt x="47625" y="47625"/>
                </a:moveTo>
                <a:lnTo>
                  <a:pt x="28575" y="47625"/>
                </a:lnTo>
                <a:lnTo>
                  <a:pt x="28575" y="35719"/>
                </a:lnTo>
                <a:cubicBezTo>
                  <a:pt x="28575" y="31760"/>
                  <a:pt x="31760" y="28575"/>
                  <a:pt x="35719" y="28575"/>
                </a:cubicBezTo>
                <a:lnTo>
                  <a:pt x="40481" y="28575"/>
                </a:lnTo>
                <a:cubicBezTo>
                  <a:pt x="44440" y="28575"/>
                  <a:pt x="47625" y="31760"/>
                  <a:pt x="47625" y="35719"/>
                </a:cubicBezTo>
                <a:lnTo>
                  <a:pt x="47625" y="47625"/>
                </a:lnTo>
                <a:close/>
                <a:moveTo>
                  <a:pt x="90488" y="9525"/>
                </a:moveTo>
                <a:cubicBezTo>
                  <a:pt x="85219" y="9525"/>
                  <a:pt x="80962" y="13781"/>
                  <a:pt x="80962" y="19050"/>
                </a:cubicBezTo>
                <a:lnTo>
                  <a:pt x="80962" y="85725"/>
                </a:lnTo>
                <a:cubicBezTo>
                  <a:pt x="80962" y="90994"/>
                  <a:pt x="85219" y="95250"/>
                  <a:pt x="90488" y="95250"/>
                </a:cubicBezTo>
                <a:lnTo>
                  <a:pt x="111919" y="95250"/>
                </a:lnTo>
                <a:cubicBezTo>
                  <a:pt x="126385" y="95250"/>
                  <a:pt x="138113" y="83522"/>
                  <a:pt x="138113" y="69056"/>
                </a:cubicBezTo>
                <a:cubicBezTo>
                  <a:pt x="138113" y="62032"/>
                  <a:pt x="135344" y="55662"/>
                  <a:pt x="130850" y="50959"/>
                </a:cubicBezTo>
                <a:cubicBezTo>
                  <a:pt x="133916" y="46673"/>
                  <a:pt x="135731" y="41404"/>
                  <a:pt x="135731" y="35719"/>
                </a:cubicBezTo>
                <a:cubicBezTo>
                  <a:pt x="135731" y="21253"/>
                  <a:pt x="124004" y="9525"/>
                  <a:pt x="109537" y="9525"/>
                </a:cubicBezTo>
                <a:lnTo>
                  <a:pt x="90488" y="9525"/>
                </a:lnTo>
                <a:close/>
                <a:moveTo>
                  <a:pt x="109537" y="42863"/>
                </a:moveTo>
                <a:lnTo>
                  <a:pt x="100013" y="42863"/>
                </a:lnTo>
                <a:lnTo>
                  <a:pt x="100013" y="28575"/>
                </a:lnTo>
                <a:lnTo>
                  <a:pt x="109537" y="28575"/>
                </a:lnTo>
                <a:cubicBezTo>
                  <a:pt x="113496" y="28575"/>
                  <a:pt x="116681" y="31760"/>
                  <a:pt x="116681" y="35719"/>
                </a:cubicBezTo>
                <a:cubicBezTo>
                  <a:pt x="116681" y="39678"/>
                  <a:pt x="113496" y="42863"/>
                  <a:pt x="109537" y="42863"/>
                </a:cubicBezTo>
                <a:close/>
                <a:moveTo>
                  <a:pt x="100013" y="76200"/>
                </a:moveTo>
                <a:lnTo>
                  <a:pt x="100013" y="61912"/>
                </a:lnTo>
                <a:lnTo>
                  <a:pt x="111919" y="61912"/>
                </a:lnTo>
                <a:cubicBezTo>
                  <a:pt x="115878" y="61912"/>
                  <a:pt x="119062" y="65097"/>
                  <a:pt x="119062" y="69056"/>
                </a:cubicBezTo>
                <a:cubicBezTo>
                  <a:pt x="119062" y="73015"/>
                  <a:pt x="115878" y="76200"/>
                  <a:pt x="111919" y="76200"/>
                </a:cubicBezTo>
                <a:lnTo>
                  <a:pt x="100013" y="76200"/>
                </a:lnTo>
                <a:close/>
                <a:moveTo>
                  <a:pt x="169366" y="101203"/>
                </a:moveTo>
                <a:cubicBezTo>
                  <a:pt x="172641" y="97095"/>
                  <a:pt x="171986" y="91113"/>
                  <a:pt x="167878" y="87809"/>
                </a:cubicBezTo>
                <a:cubicBezTo>
                  <a:pt x="163770" y="84505"/>
                  <a:pt x="157788" y="85189"/>
                  <a:pt x="154484" y="89297"/>
                </a:cubicBezTo>
                <a:lnTo>
                  <a:pt x="123021" y="128617"/>
                </a:lnTo>
                <a:lnTo>
                  <a:pt x="111502" y="117098"/>
                </a:lnTo>
                <a:cubicBezTo>
                  <a:pt x="107781" y="113377"/>
                  <a:pt x="101739" y="113377"/>
                  <a:pt x="98018" y="117098"/>
                </a:cubicBezTo>
                <a:cubicBezTo>
                  <a:pt x="94298" y="120819"/>
                  <a:pt x="94298" y="126861"/>
                  <a:pt x="98018" y="130582"/>
                </a:cubicBezTo>
                <a:lnTo>
                  <a:pt x="117068" y="149632"/>
                </a:lnTo>
                <a:cubicBezTo>
                  <a:pt x="118973" y="151537"/>
                  <a:pt x="121622" y="152549"/>
                  <a:pt x="124331" y="152400"/>
                </a:cubicBezTo>
                <a:cubicBezTo>
                  <a:pt x="127040" y="152251"/>
                  <a:pt x="129540" y="150941"/>
                  <a:pt x="131237" y="148828"/>
                </a:cubicBezTo>
                <a:lnTo>
                  <a:pt x="169366" y="101203"/>
                </a:lnTo>
                <a:close/>
              </a:path>
            </a:pathLst>
          </a:custGeom>
          <a:solidFill>
            <a:srgbClr val="FB2C36"/>
          </a:solidFill>
          <a:ln/>
        </p:spPr>
      </p:sp>
      <p:sp>
        <p:nvSpPr>
          <p:cNvPr id="29" name="Text 27"/>
          <p:cNvSpPr/>
          <p:nvPr/>
        </p:nvSpPr>
        <p:spPr>
          <a:xfrm>
            <a:off x="807720" y="4461514"/>
            <a:ext cx="414337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Spell Checkers:</a:t>
            </a:r>
            <a:pPr>
              <a:lnSpc>
                <a:spcPct val="130000"/>
              </a:lnSpc>
            </a:pPr>
            <a:r>
              <a:rPr lang="en-US" sz="1200" dirty="0">
                <a:solidFill>
                  <a:srgbClr val="EFEFEF"/>
                </a:solidFill>
                <a:latin typeface="Liter" pitchFamily="34" charset="0"/>
                <a:ea typeface="Liter" pitchFamily="34" charset="-122"/>
                <a:cs typeface="Liter" pitchFamily="34" charset="-120"/>
              </a:rPr>
              <a:t> Correct grammar and suggest improvements</a:t>
            </a:r>
            <a:endParaRPr lang="en-US" sz="1600" dirty="0"/>
          </a:p>
        </p:txBody>
      </p:sp>
      <p:sp>
        <p:nvSpPr>
          <p:cNvPr id="30" name="Shape 28"/>
          <p:cNvSpPr/>
          <p:nvPr/>
        </p:nvSpPr>
        <p:spPr>
          <a:xfrm>
            <a:off x="521970" y="4785364"/>
            <a:ext cx="152400" cy="152400"/>
          </a:xfrm>
          <a:custGeom>
            <a:avLst/>
            <a:gdLst/>
            <a:ahLst/>
            <a:cxnLst/>
            <a:rect l="l" t="t" r="r" b="b"/>
            <a:pathLst>
              <a:path w="152400" h="152400">
                <a:moveTo>
                  <a:pt x="104745" y="83344"/>
                </a:moveTo>
                <a:lnTo>
                  <a:pt x="47923" y="83344"/>
                </a:lnTo>
                <a:cubicBezTo>
                  <a:pt x="48786" y="102543"/>
                  <a:pt x="53042" y="120223"/>
                  <a:pt x="59085" y="133171"/>
                </a:cubicBezTo>
                <a:cubicBezTo>
                  <a:pt x="62478" y="140464"/>
                  <a:pt x="66139" y="145613"/>
                  <a:pt x="69533" y="148769"/>
                </a:cubicBezTo>
                <a:cubicBezTo>
                  <a:pt x="72866" y="151894"/>
                  <a:pt x="75158" y="152400"/>
                  <a:pt x="76349" y="152400"/>
                </a:cubicBezTo>
                <a:cubicBezTo>
                  <a:pt x="77539" y="152400"/>
                  <a:pt x="79831" y="151894"/>
                  <a:pt x="83165" y="148769"/>
                </a:cubicBezTo>
                <a:cubicBezTo>
                  <a:pt x="86558" y="145613"/>
                  <a:pt x="90220" y="140434"/>
                  <a:pt x="93613" y="133171"/>
                </a:cubicBezTo>
                <a:cubicBezTo>
                  <a:pt x="99655" y="120223"/>
                  <a:pt x="103912" y="102543"/>
                  <a:pt x="104775" y="83344"/>
                </a:cubicBezTo>
                <a:close/>
                <a:moveTo>
                  <a:pt x="47893" y="69056"/>
                </a:moveTo>
                <a:lnTo>
                  <a:pt x="104715" y="69056"/>
                </a:lnTo>
                <a:cubicBezTo>
                  <a:pt x="103882" y="49857"/>
                  <a:pt x="99626" y="32177"/>
                  <a:pt x="93583" y="19229"/>
                </a:cubicBezTo>
                <a:cubicBezTo>
                  <a:pt x="90190" y="11966"/>
                  <a:pt x="86529" y="6787"/>
                  <a:pt x="83135" y="3631"/>
                </a:cubicBezTo>
                <a:cubicBezTo>
                  <a:pt x="79802" y="506"/>
                  <a:pt x="77510" y="0"/>
                  <a:pt x="76319" y="0"/>
                </a:cubicBezTo>
                <a:cubicBezTo>
                  <a:pt x="75128" y="0"/>
                  <a:pt x="72836" y="506"/>
                  <a:pt x="69503" y="3631"/>
                </a:cubicBezTo>
                <a:cubicBezTo>
                  <a:pt x="66109" y="6787"/>
                  <a:pt x="62448" y="11966"/>
                  <a:pt x="59055" y="19229"/>
                </a:cubicBezTo>
                <a:cubicBezTo>
                  <a:pt x="53013" y="32177"/>
                  <a:pt x="48756" y="49857"/>
                  <a:pt x="47893" y="69056"/>
                </a:cubicBezTo>
                <a:close/>
                <a:moveTo>
                  <a:pt x="33605" y="69056"/>
                </a:moveTo>
                <a:cubicBezTo>
                  <a:pt x="34647" y="43577"/>
                  <a:pt x="41225" y="19913"/>
                  <a:pt x="50840" y="4376"/>
                </a:cubicBezTo>
                <a:cubicBezTo>
                  <a:pt x="23426" y="14079"/>
                  <a:pt x="3244" y="39052"/>
                  <a:pt x="446" y="69056"/>
                </a:cubicBezTo>
                <a:lnTo>
                  <a:pt x="33605" y="69056"/>
                </a:lnTo>
                <a:close/>
                <a:moveTo>
                  <a:pt x="446" y="83344"/>
                </a:moveTo>
                <a:cubicBezTo>
                  <a:pt x="3244" y="113348"/>
                  <a:pt x="23426" y="138321"/>
                  <a:pt x="50840" y="148024"/>
                </a:cubicBezTo>
                <a:cubicBezTo>
                  <a:pt x="41225" y="132487"/>
                  <a:pt x="34647" y="108823"/>
                  <a:pt x="33605" y="83344"/>
                </a:cubicBezTo>
                <a:lnTo>
                  <a:pt x="446" y="83344"/>
                </a:lnTo>
                <a:close/>
                <a:moveTo>
                  <a:pt x="119033" y="83344"/>
                </a:moveTo>
                <a:cubicBezTo>
                  <a:pt x="117991" y="108823"/>
                  <a:pt x="111413" y="132487"/>
                  <a:pt x="101798" y="148024"/>
                </a:cubicBezTo>
                <a:cubicBezTo>
                  <a:pt x="129213" y="138291"/>
                  <a:pt x="149394" y="113348"/>
                  <a:pt x="152192" y="83344"/>
                </a:cubicBezTo>
                <a:lnTo>
                  <a:pt x="119033" y="83344"/>
                </a:lnTo>
                <a:close/>
                <a:moveTo>
                  <a:pt x="152192" y="69056"/>
                </a:moveTo>
                <a:cubicBezTo>
                  <a:pt x="149394" y="39052"/>
                  <a:pt x="129213" y="14079"/>
                  <a:pt x="101798" y="4376"/>
                </a:cubicBezTo>
                <a:cubicBezTo>
                  <a:pt x="111413" y="19913"/>
                  <a:pt x="117991" y="43577"/>
                  <a:pt x="119033" y="69056"/>
                </a:cubicBezTo>
                <a:lnTo>
                  <a:pt x="152192" y="69056"/>
                </a:lnTo>
                <a:close/>
              </a:path>
            </a:pathLst>
          </a:custGeom>
          <a:solidFill>
            <a:srgbClr val="FB2C36"/>
          </a:solidFill>
          <a:ln/>
        </p:spPr>
      </p:sp>
      <p:sp>
        <p:nvSpPr>
          <p:cNvPr id="31" name="Text 29"/>
          <p:cNvSpPr/>
          <p:nvPr/>
        </p:nvSpPr>
        <p:spPr>
          <a:xfrm>
            <a:off x="807720" y="4747264"/>
            <a:ext cx="37433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Translation:</a:t>
            </a:r>
            <a:pPr>
              <a:lnSpc>
                <a:spcPct val="130000"/>
              </a:lnSpc>
            </a:pPr>
            <a:r>
              <a:rPr lang="en-US" sz="1200" dirty="0">
                <a:solidFill>
                  <a:srgbClr val="EFEFEF"/>
                </a:solidFill>
                <a:latin typeface="Liter" pitchFamily="34" charset="0"/>
                <a:ea typeface="Liter" pitchFamily="34" charset="-122"/>
                <a:cs typeface="Liter" pitchFamily="34" charset="-120"/>
              </a:rPr>
              <a:t> Google Translate converts 100+ languages</a:t>
            </a:r>
            <a:endParaRPr lang="en-US" sz="1600" dirty="0"/>
          </a:p>
        </p:txBody>
      </p:sp>
      <p:sp>
        <p:nvSpPr>
          <p:cNvPr id="32" name="Shape 30"/>
          <p:cNvSpPr/>
          <p:nvPr/>
        </p:nvSpPr>
        <p:spPr>
          <a:xfrm>
            <a:off x="521970" y="5071114"/>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49232" y="95816"/>
                </a:moveTo>
                <a:cubicBezTo>
                  <a:pt x="55305" y="104150"/>
                  <a:pt x="65127" y="109537"/>
                  <a:pt x="76200" y="109537"/>
                </a:cubicBezTo>
                <a:cubicBezTo>
                  <a:pt x="87273" y="109537"/>
                  <a:pt x="97095" y="104150"/>
                  <a:pt x="103168" y="95816"/>
                </a:cubicBezTo>
                <a:cubicBezTo>
                  <a:pt x="105489" y="92631"/>
                  <a:pt x="109954" y="91916"/>
                  <a:pt x="113139" y="94238"/>
                </a:cubicBezTo>
                <a:cubicBezTo>
                  <a:pt x="116324" y="96560"/>
                  <a:pt x="117038" y="101025"/>
                  <a:pt x="114717" y="104209"/>
                </a:cubicBezTo>
                <a:cubicBezTo>
                  <a:pt x="106055" y="116086"/>
                  <a:pt x="92035" y="123825"/>
                  <a:pt x="76200" y="123825"/>
                </a:cubicBezTo>
                <a:cubicBezTo>
                  <a:pt x="60365" y="123825"/>
                  <a:pt x="46345" y="116086"/>
                  <a:pt x="37683" y="104209"/>
                </a:cubicBezTo>
                <a:cubicBezTo>
                  <a:pt x="35362" y="101025"/>
                  <a:pt x="36076" y="96560"/>
                  <a:pt x="39261" y="94238"/>
                </a:cubicBezTo>
                <a:cubicBezTo>
                  <a:pt x="42446" y="91916"/>
                  <a:pt x="46911" y="92631"/>
                  <a:pt x="49232" y="95816"/>
                </a:cubicBezTo>
                <a:close/>
                <a:moveTo>
                  <a:pt x="42863" y="61912"/>
                </a:moveTo>
                <a:cubicBezTo>
                  <a:pt x="42863" y="56656"/>
                  <a:pt x="47131" y="52388"/>
                  <a:pt x="52388" y="52388"/>
                </a:cubicBezTo>
                <a:cubicBezTo>
                  <a:pt x="57644" y="52388"/>
                  <a:pt x="61912" y="56656"/>
                  <a:pt x="61912" y="61912"/>
                </a:cubicBezTo>
                <a:cubicBezTo>
                  <a:pt x="61912" y="67169"/>
                  <a:pt x="57644" y="71438"/>
                  <a:pt x="52388" y="71438"/>
                </a:cubicBezTo>
                <a:cubicBezTo>
                  <a:pt x="47131" y="71438"/>
                  <a:pt x="42863" y="67169"/>
                  <a:pt x="42863" y="61912"/>
                </a:cubicBezTo>
                <a:close/>
                <a:moveTo>
                  <a:pt x="100013" y="52388"/>
                </a:moveTo>
                <a:cubicBezTo>
                  <a:pt x="105269" y="52388"/>
                  <a:pt x="109537" y="56656"/>
                  <a:pt x="109537" y="61912"/>
                </a:cubicBezTo>
                <a:cubicBezTo>
                  <a:pt x="109537" y="67169"/>
                  <a:pt x="105269" y="71438"/>
                  <a:pt x="100013" y="71438"/>
                </a:cubicBezTo>
                <a:cubicBezTo>
                  <a:pt x="94756" y="71438"/>
                  <a:pt x="90488" y="67169"/>
                  <a:pt x="90488" y="61912"/>
                </a:cubicBezTo>
                <a:cubicBezTo>
                  <a:pt x="90488" y="56656"/>
                  <a:pt x="94756" y="52388"/>
                  <a:pt x="100013" y="52388"/>
                </a:cubicBezTo>
                <a:close/>
              </a:path>
            </a:pathLst>
          </a:custGeom>
          <a:solidFill>
            <a:srgbClr val="FB2C36"/>
          </a:solidFill>
          <a:ln/>
        </p:spPr>
      </p:sp>
      <p:sp>
        <p:nvSpPr>
          <p:cNvPr id="33" name="Text 31"/>
          <p:cNvSpPr/>
          <p:nvPr/>
        </p:nvSpPr>
        <p:spPr>
          <a:xfrm>
            <a:off x="807720" y="5033014"/>
            <a:ext cx="437197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Sentiment Analysis:</a:t>
            </a:r>
            <a:pPr>
              <a:lnSpc>
                <a:spcPct val="130000"/>
              </a:lnSpc>
            </a:pPr>
            <a:r>
              <a:rPr lang="en-US" sz="1200" dirty="0">
                <a:solidFill>
                  <a:srgbClr val="EFEFEF"/>
                </a:solidFill>
                <a:latin typeface="Liter" pitchFamily="34" charset="0"/>
                <a:ea typeface="Liter" pitchFamily="34" charset="-122"/>
                <a:cs typeface="Liter" pitchFamily="34" charset="-120"/>
              </a:rPr>
              <a:t> Detects emotions in text (happy, sad, angry)</a:t>
            </a:r>
            <a:endParaRPr lang="en-US" sz="1600" dirty="0"/>
          </a:p>
        </p:txBody>
      </p:sp>
      <p:sp>
        <p:nvSpPr>
          <p:cNvPr id="34" name="Shape 32"/>
          <p:cNvSpPr/>
          <p:nvPr/>
        </p:nvSpPr>
        <p:spPr>
          <a:xfrm>
            <a:off x="7303770" y="1108710"/>
            <a:ext cx="4503420" cy="2026920"/>
          </a:xfrm>
          <a:prstGeom prst="roundRect">
            <a:avLst>
              <a:gd name="adj" fmla="val 5639"/>
            </a:avLst>
          </a:prstGeom>
          <a:gradFill rotWithShape="1" flip="none">
            <a:gsLst>
              <a:gs pos="0">
                <a:srgbClr val="FB2C36">
                  <a:alpha val="20000"/>
                </a:srgbClr>
              </a:gs>
              <a:gs pos="100000">
                <a:srgbClr val="FB2C36">
                  <a:alpha val="5000"/>
                </a:srgbClr>
              </a:gs>
            </a:gsLst>
            <a:lin ang="2700000" scaled="1"/>
          </a:gradFill>
          <a:ln w="10160">
            <a:solidFill>
              <a:srgbClr val="FB2C36"/>
            </a:solidFill>
            <a:prstDash val="solid"/>
          </a:ln>
        </p:spPr>
      </p:sp>
      <p:sp>
        <p:nvSpPr>
          <p:cNvPr id="35" name="Shape 33"/>
          <p:cNvSpPr/>
          <p:nvPr/>
        </p:nvSpPr>
        <p:spPr>
          <a:xfrm>
            <a:off x="7469505" y="1264918"/>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FB2C36"/>
          </a:solidFill>
          <a:ln/>
        </p:spPr>
      </p:sp>
      <p:sp>
        <p:nvSpPr>
          <p:cNvPr id="36" name="Text 34"/>
          <p:cNvSpPr/>
          <p:nvPr/>
        </p:nvSpPr>
        <p:spPr>
          <a:xfrm>
            <a:off x="7736205" y="1226818"/>
            <a:ext cx="1809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Real-World Example</a:t>
            </a:r>
            <a:endParaRPr lang="en-US" sz="1600" dirty="0"/>
          </a:p>
        </p:txBody>
      </p:sp>
      <p:sp>
        <p:nvSpPr>
          <p:cNvPr id="37" name="Shape 35"/>
          <p:cNvSpPr/>
          <p:nvPr/>
        </p:nvSpPr>
        <p:spPr>
          <a:xfrm>
            <a:off x="7421880" y="1569718"/>
            <a:ext cx="4267200" cy="1447800"/>
          </a:xfrm>
          <a:prstGeom prst="roundRect">
            <a:avLst>
              <a:gd name="adj" fmla="val 5263"/>
            </a:avLst>
          </a:prstGeom>
          <a:solidFill>
            <a:srgbClr val="191919"/>
          </a:solidFill>
          <a:ln/>
        </p:spPr>
      </p:sp>
      <p:sp>
        <p:nvSpPr>
          <p:cNvPr id="38" name="Text 36"/>
          <p:cNvSpPr/>
          <p:nvPr/>
        </p:nvSpPr>
        <p:spPr>
          <a:xfrm>
            <a:off x="7536180" y="1684018"/>
            <a:ext cx="4124325" cy="266700"/>
          </a:xfrm>
          <a:prstGeom prst="rect">
            <a:avLst/>
          </a:prstGeom>
          <a:noFill/>
          <a:ln/>
        </p:spPr>
        <p:txBody>
          <a:bodyPr wrap="square" lIns="0" tIns="0" rIns="0" bIns="0" rtlCol="0" anchor="ctr"/>
          <a:lstStyle/>
          <a:p>
            <a:pPr>
              <a:lnSpc>
                <a:spcPct val="130000"/>
              </a:lnSpc>
            </a:pPr>
            <a:r>
              <a:rPr lang="en-US" sz="1350" b="1" dirty="0">
                <a:solidFill>
                  <a:srgbClr val="FB2C36"/>
                </a:solidFill>
                <a:latin typeface="Liter" pitchFamily="34" charset="0"/>
                <a:ea typeface="Liter" pitchFamily="34" charset="-122"/>
                <a:cs typeface="Liter" pitchFamily="34" charset="-120"/>
              </a:rPr>
              <a:t>ChatGPT Conversations</a:t>
            </a:r>
            <a:endParaRPr lang="en-US" sz="1600" dirty="0"/>
          </a:p>
        </p:txBody>
      </p:sp>
      <p:sp>
        <p:nvSpPr>
          <p:cNvPr id="39" name="Text 37"/>
          <p:cNvSpPr/>
          <p:nvPr/>
        </p:nvSpPr>
        <p:spPr>
          <a:xfrm>
            <a:off x="7536180" y="1988818"/>
            <a:ext cx="4114800" cy="9144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You type: "Explain AI like I'm 5"</a:t>
            </a:r>
            <a:endParaRPr lang="en-US" sz="1600" dirty="0"/>
          </a:p>
          <a:p>
            <a:pPr>
              <a:lnSpc>
                <a:spcPct val="130000"/>
              </a:lnSpc>
            </a:pPr>
            <a:r>
              <a:rPr lang="en-US" sz="1200" dirty="0">
                <a:solidFill>
                  <a:srgbClr val="EFEFEF"/>
                </a:solidFill>
                <a:latin typeface="Liter" pitchFamily="34" charset="0"/>
                <a:ea typeface="Liter" pitchFamily="34" charset="-122"/>
                <a:cs typeface="Liter" pitchFamily="34" charset="-120"/>
              </a:rPr>
              <a:t>ChatGPT understands your request, adjusts its language level, and creates a simple explanation. It understands context, tone, and intent!</a:t>
            </a:r>
            <a:endParaRPr lang="en-US" sz="1600" dirty="0"/>
          </a:p>
        </p:txBody>
      </p:sp>
      <p:sp>
        <p:nvSpPr>
          <p:cNvPr id="40" name="Shape 38"/>
          <p:cNvSpPr/>
          <p:nvPr/>
        </p:nvSpPr>
        <p:spPr>
          <a:xfrm>
            <a:off x="7303770" y="3219456"/>
            <a:ext cx="4503420" cy="1264920"/>
          </a:xfrm>
          <a:prstGeom prst="roundRect">
            <a:avLst>
              <a:gd name="adj" fmla="val 9036"/>
            </a:avLst>
          </a:prstGeom>
          <a:solidFill>
            <a:srgbClr val="262626"/>
          </a:solidFill>
          <a:ln w="10160">
            <a:solidFill>
              <a:srgbClr val="333333"/>
            </a:solidFill>
            <a:prstDash val="solid"/>
          </a:ln>
        </p:spPr>
      </p:sp>
      <p:sp>
        <p:nvSpPr>
          <p:cNvPr id="41" name="Text 39"/>
          <p:cNvSpPr/>
          <p:nvPr/>
        </p:nvSpPr>
        <p:spPr>
          <a:xfrm>
            <a:off x="7421880" y="3337564"/>
            <a:ext cx="43529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 Simple Explanation</a:t>
            </a:r>
            <a:endParaRPr lang="en-US" sz="1600" dirty="0"/>
          </a:p>
        </p:txBody>
      </p:sp>
      <p:sp>
        <p:nvSpPr>
          <p:cNvPr id="42" name="Text 40"/>
          <p:cNvSpPr/>
          <p:nvPr/>
        </p:nvSpPr>
        <p:spPr>
          <a:xfrm>
            <a:off x="7421880" y="3680464"/>
            <a:ext cx="43434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Language understanding is what makes AI feel human. It's the difference between a calculator (just numbers) and a friend you can chat with. AI reads between the lines!</a:t>
            </a:r>
            <a:endParaRPr lang="en-US" sz="1600" dirty="0"/>
          </a:p>
        </p:txBody>
      </p:sp>
      <p:sp>
        <p:nvSpPr>
          <p:cNvPr id="43" name="Shape 41"/>
          <p:cNvSpPr/>
          <p:nvPr/>
        </p:nvSpPr>
        <p:spPr>
          <a:xfrm>
            <a:off x="7303770" y="4568192"/>
            <a:ext cx="4503420" cy="1874520"/>
          </a:xfrm>
          <a:prstGeom prst="roundRect">
            <a:avLst>
              <a:gd name="adj" fmla="val 6098"/>
            </a:avLst>
          </a:prstGeom>
          <a:solidFill>
            <a:srgbClr val="262626"/>
          </a:solidFill>
          <a:ln w="10160">
            <a:solidFill>
              <a:srgbClr val="333333"/>
            </a:solidFill>
            <a:prstDash val="solid"/>
          </a:ln>
        </p:spPr>
      </p:sp>
      <p:sp>
        <p:nvSpPr>
          <p:cNvPr id="44" name="Shape 42"/>
          <p:cNvSpPr/>
          <p:nvPr/>
        </p:nvSpPr>
        <p:spPr>
          <a:xfrm>
            <a:off x="7456408" y="4733925"/>
            <a:ext cx="150019" cy="171450"/>
          </a:xfrm>
          <a:custGeom>
            <a:avLst/>
            <a:gdLst/>
            <a:ahLst/>
            <a:cxnLst/>
            <a:rect l="l" t="t" r="r" b="b"/>
            <a:pathLst>
              <a:path w="150019" h="171450">
                <a:moveTo>
                  <a:pt x="21431" y="10716"/>
                </a:moveTo>
                <a:cubicBezTo>
                  <a:pt x="9611" y="10716"/>
                  <a:pt x="0" y="20326"/>
                  <a:pt x="0" y="32147"/>
                </a:cubicBezTo>
                <a:lnTo>
                  <a:pt x="0" y="139303"/>
                </a:lnTo>
                <a:cubicBezTo>
                  <a:pt x="0" y="151124"/>
                  <a:pt x="9611" y="160734"/>
                  <a:pt x="21431" y="160734"/>
                </a:cubicBezTo>
                <a:lnTo>
                  <a:pt x="128588" y="160734"/>
                </a:lnTo>
                <a:cubicBezTo>
                  <a:pt x="140408" y="160734"/>
                  <a:pt x="150019" y="151124"/>
                  <a:pt x="150019" y="139303"/>
                </a:cubicBezTo>
                <a:lnTo>
                  <a:pt x="150019" y="32147"/>
                </a:lnTo>
                <a:cubicBezTo>
                  <a:pt x="150019" y="20326"/>
                  <a:pt x="140408" y="10716"/>
                  <a:pt x="128588" y="10716"/>
                </a:cubicBezTo>
                <a:lnTo>
                  <a:pt x="21431" y="10716"/>
                </a:lnTo>
                <a:close/>
                <a:moveTo>
                  <a:pt x="42863" y="37505"/>
                </a:moveTo>
                <a:cubicBezTo>
                  <a:pt x="51734" y="37505"/>
                  <a:pt x="58936" y="44707"/>
                  <a:pt x="58936" y="53578"/>
                </a:cubicBezTo>
                <a:cubicBezTo>
                  <a:pt x="58936" y="62449"/>
                  <a:pt x="51734" y="69652"/>
                  <a:pt x="42863" y="69652"/>
                </a:cubicBezTo>
                <a:cubicBezTo>
                  <a:pt x="33991" y="69652"/>
                  <a:pt x="26789" y="62449"/>
                  <a:pt x="26789" y="53578"/>
                </a:cubicBezTo>
                <a:cubicBezTo>
                  <a:pt x="26789" y="44707"/>
                  <a:pt x="33991" y="37505"/>
                  <a:pt x="42863" y="37505"/>
                </a:cubicBezTo>
                <a:close/>
                <a:moveTo>
                  <a:pt x="91083" y="75009"/>
                </a:moveTo>
                <a:cubicBezTo>
                  <a:pt x="93896" y="75009"/>
                  <a:pt x="96474" y="76483"/>
                  <a:pt x="97948" y="78860"/>
                </a:cubicBezTo>
                <a:lnTo>
                  <a:pt x="127415" y="127081"/>
                </a:lnTo>
                <a:cubicBezTo>
                  <a:pt x="128922" y="129559"/>
                  <a:pt x="128989" y="132673"/>
                  <a:pt x="127583" y="135218"/>
                </a:cubicBezTo>
                <a:cubicBezTo>
                  <a:pt x="126176" y="137763"/>
                  <a:pt x="123464" y="139303"/>
                  <a:pt x="120551" y="139303"/>
                </a:cubicBezTo>
                <a:lnTo>
                  <a:pt x="29468" y="139303"/>
                </a:lnTo>
                <a:cubicBezTo>
                  <a:pt x="26488" y="139303"/>
                  <a:pt x="23708" y="137629"/>
                  <a:pt x="22335" y="134983"/>
                </a:cubicBezTo>
                <a:cubicBezTo>
                  <a:pt x="20962" y="132338"/>
                  <a:pt x="21163" y="129123"/>
                  <a:pt x="22871" y="126679"/>
                </a:cubicBezTo>
                <a:lnTo>
                  <a:pt x="41624" y="99890"/>
                </a:lnTo>
                <a:cubicBezTo>
                  <a:pt x="43130" y="97747"/>
                  <a:pt x="45575" y="96474"/>
                  <a:pt x="48220" y="96474"/>
                </a:cubicBezTo>
                <a:cubicBezTo>
                  <a:pt x="50866" y="96474"/>
                  <a:pt x="53310" y="97747"/>
                  <a:pt x="54817" y="99890"/>
                </a:cubicBezTo>
                <a:lnTo>
                  <a:pt x="63658" y="112548"/>
                </a:lnTo>
                <a:lnTo>
                  <a:pt x="84218" y="78894"/>
                </a:lnTo>
                <a:cubicBezTo>
                  <a:pt x="85692" y="76516"/>
                  <a:pt x="88270" y="75043"/>
                  <a:pt x="91083" y="75043"/>
                </a:cubicBezTo>
                <a:close/>
              </a:path>
            </a:pathLst>
          </a:custGeom>
          <a:solidFill>
            <a:srgbClr val="FB2C36"/>
          </a:solidFill>
          <a:ln/>
        </p:spPr>
      </p:sp>
      <p:sp>
        <p:nvSpPr>
          <p:cNvPr id="45" name="Text 43"/>
          <p:cNvSpPr/>
          <p:nvPr/>
        </p:nvSpPr>
        <p:spPr>
          <a:xfrm>
            <a:off x="7640955" y="4686300"/>
            <a:ext cx="41338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Visual</a:t>
            </a:r>
            <a:endParaRPr lang="en-US" sz="1600" dirty="0"/>
          </a:p>
        </p:txBody>
      </p:sp>
      <p:sp>
        <p:nvSpPr>
          <p:cNvPr id="46" name="Shape 44"/>
          <p:cNvSpPr/>
          <p:nvPr/>
        </p:nvSpPr>
        <p:spPr>
          <a:xfrm>
            <a:off x="7421880" y="5029200"/>
            <a:ext cx="4267200" cy="609600"/>
          </a:xfrm>
          <a:prstGeom prst="roundRect">
            <a:avLst>
              <a:gd name="adj" fmla="val 12500"/>
            </a:avLst>
          </a:prstGeom>
          <a:solidFill>
            <a:srgbClr val="191919"/>
          </a:solidFill>
          <a:ln/>
        </p:spPr>
      </p:sp>
      <p:sp>
        <p:nvSpPr>
          <p:cNvPr id="47" name="Text 45"/>
          <p:cNvSpPr/>
          <p:nvPr/>
        </p:nvSpPr>
        <p:spPr>
          <a:xfrm>
            <a:off x="7498080" y="51054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Diagram:</a:t>
            </a:r>
            <a:endParaRPr lang="en-US" sz="1600" dirty="0"/>
          </a:p>
        </p:txBody>
      </p:sp>
      <p:sp>
        <p:nvSpPr>
          <p:cNvPr id="48" name="Text 46"/>
          <p:cNvSpPr/>
          <p:nvPr/>
        </p:nvSpPr>
        <p:spPr>
          <a:xfrm>
            <a:off x="7498080" y="53340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Text → Understanding → Context → Response</a:t>
            </a:r>
            <a:endParaRPr lang="en-US" sz="1600" dirty="0"/>
          </a:p>
        </p:txBody>
      </p:sp>
      <p:sp>
        <p:nvSpPr>
          <p:cNvPr id="49" name="Shape 47"/>
          <p:cNvSpPr/>
          <p:nvPr/>
        </p:nvSpPr>
        <p:spPr>
          <a:xfrm>
            <a:off x="7421880" y="5715000"/>
            <a:ext cx="4267200" cy="609600"/>
          </a:xfrm>
          <a:prstGeom prst="roundRect">
            <a:avLst>
              <a:gd name="adj" fmla="val 12500"/>
            </a:avLst>
          </a:prstGeom>
          <a:solidFill>
            <a:srgbClr val="191919"/>
          </a:solidFill>
          <a:ln/>
        </p:spPr>
      </p:sp>
      <p:sp>
        <p:nvSpPr>
          <p:cNvPr id="50" name="Text 48"/>
          <p:cNvSpPr/>
          <p:nvPr/>
        </p:nvSpPr>
        <p:spPr>
          <a:xfrm>
            <a:off x="7498080" y="57912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Image:</a:t>
            </a:r>
            <a:endParaRPr lang="en-US" sz="1600" dirty="0"/>
          </a:p>
        </p:txBody>
      </p:sp>
      <p:sp>
        <p:nvSpPr>
          <p:cNvPr id="51" name="Text 49"/>
          <p:cNvSpPr/>
          <p:nvPr/>
        </p:nvSpPr>
        <p:spPr>
          <a:xfrm>
            <a:off x="7498080" y="60198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Chat interface showing AI conversation</a:t>
            </a:r>
            <a:endParaRPr lang="en-US" sz="1600" dirty="0"/>
          </a:p>
        </p:txBody>
      </p:sp>
    </p:spTree>
  </p:cSld>
  <p:clrMapOvr>
    <a:masterClrMapping/>
  </p:clrMapOvr>
  <p:transition>
    <p:fade/>
    <p:spd val="med"/>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91919"/>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6366F1">
              <a:alpha val="20000"/>
            </a:srgbClr>
          </a:solidFill>
          <a:ln/>
        </p:spPr>
      </p:sp>
      <p:sp>
        <p:nvSpPr>
          <p:cNvPr id="3" name="Text 1"/>
          <p:cNvSpPr/>
          <p:nvPr/>
        </p:nvSpPr>
        <p:spPr>
          <a:xfrm>
            <a:off x="514469" y="533400"/>
            <a:ext cx="285750" cy="266700"/>
          </a:xfrm>
          <a:prstGeom prst="rect">
            <a:avLst/>
          </a:prstGeom>
          <a:noFill/>
          <a:ln/>
        </p:spPr>
        <p:txBody>
          <a:bodyPr wrap="square" lIns="0" tIns="0" rIns="0" bIns="0" rtlCol="0" anchor="ctr"/>
          <a:lstStyle/>
          <a:p>
            <a:pPr>
              <a:lnSpc>
                <a:spcPct val="120000"/>
              </a:lnSpc>
            </a:pPr>
            <a:r>
              <a:rPr lang="en-US" sz="1500" b="1" dirty="0">
                <a:solidFill>
                  <a:srgbClr val="6366F1"/>
                </a:solidFill>
                <a:latin typeface="Liter" pitchFamily="34" charset="0"/>
                <a:ea typeface="Liter" pitchFamily="34" charset="-122"/>
                <a:cs typeface="Liter" pitchFamily="34" charset="-120"/>
              </a:rPr>
              <a:t>16</a:t>
            </a:r>
            <a:endParaRPr lang="en-US" sz="1600" dirty="0"/>
          </a:p>
        </p:txBody>
      </p:sp>
      <p:sp>
        <p:nvSpPr>
          <p:cNvPr id="4" name="Text 2"/>
          <p:cNvSpPr/>
          <p:nvPr/>
        </p:nvSpPr>
        <p:spPr>
          <a:xfrm>
            <a:off x="952500" y="381000"/>
            <a:ext cx="3181350" cy="190500"/>
          </a:xfrm>
          <a:prstGeom prst="rect">
            <a:avLst/>
          </a:prstGeom>
          <a:noFill/>
          <a:ln/>
        </p:spPr>
        <p:txBody>
          <a:bodyPr wrap="square" lIns="0" tIns="0" rIns="0" bIns="0" rtlCol="0" anchor="ctr"/>
          <a:lstStyle/>
          <a:p>
            <a:pPr>
              <a:lnSpc>
                <a:spcPct val="120000"/>
              </a:lnSpc>
            </a:pPr>
            <a:r>
              <a:rPr lang="en-US" sz="1050" b="1" spc="53" kern="0" dirty="0">
                <a:solidFill>
                  <a:srgbClr val="6366F1"/>
                </a:solidFill>
                <a:latin typeface="Liter" pitchFamily="34" charset="0"/>
                <a:ea typeface="Liter" pitchFamily="34" charset="-122"/>
                <a:cs typeface="Liter" pitchFamily="34" charset="-120"/>
              </a:rPr>
              <a:t>Agents in AI</a:t>
            </a:r>
            <a:endParaRPr lang="en-US" sz="1600" dirty="0"/>
          </a:p>
        </p:txBody>
      </p:sp>
      <p:sp>
        <p:nvSpPr>
          <p:cNvPr id="5" name="Text 3"/>
          <p:cNvSpPr/>
          <p:nvPr/>
        </p:nvSpPr>
        <p:spPr>
          <a:xfrm>
            <a:off x="952500" y="571500"/>
            <a:ext cx="3286125"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What is an AI Agent?</a:t>
            </a:r>
            <a:endParaRPr lang="en-US" sz="1600" dirty="0"/>
          </a:p>
        </p:txBody>
      </p:sp>
      <p:sp>
        <p:nvSpPr>
          <p:cNvPr id="6" name="Shape 4"/>
          <p:cNvSpPr/>
          <p:nvPr/>
        </p:nvSpPr>
        <p:spPr>
          <a:xfrm>
            <a:off x="384810" y="1108710"/>
            <a:ext cx="6760845" cy="2407920"/>
          </a:xfrm>
          <a:prstGeom prst="roundRect">
            <a:avLst>
              <a:gd name="adj" fmla="val 4747"/>
            </a:avLst>
          </a:prstGeom>
          <a:solidFill>
            <a:srgbClr val="262626"/>
          </a:solidFill>
          <a:ln w="10160">
            <a:solidFill>
              <a:srgbClr val="333333"/>
            </a:solidFill>
            <a:prstDash val="solid"/>
          </a:ln>
        </p:spPr>
      </p:sp>
      <p:sp>
        <p:nvSpPr>
          <p:cNvPr id="7" name="Shape 5"/>
          <p:cNvSpPr/>
          <p:nvPr/>
        </p:nvSpPr>
        <p:spPr>
          <a:xfrm>
            <a:off x="502920" y="1226818"/>
            <a:ext cx="457200" cy="457200"/>
          </a:xfrm>
          <a:prstGeom prst="roundRect">
            <a:avLst>
              <a:gd name="adj" fmla="val 25000"/>
            </a:avLst>
          </a:prstGeom>
          <a:solidFill>
            <a:srgbClr val="6366F1">
              <a:alpha val="20000"/>
            </a:srgbClr>
          </a:solidFill>
          <a:ln/>
        </p:spPr>
      </p:sp>
      <p:sp>
        <p:nvSpPr>
          <p:cNvPr id="8" name="Shape 6"/>
          <p:cNvSpPr/>
          <p:nvPr/>
        </p:nvSpPr>
        <p:spPr>
          <a:xfrm>
            <a:off x="588645" y="1341118"/>
            <a:ext cx="285750" cy="228600"/>
          </a:xfrm>
          <a:custGeom>
            <a:avLst/>
            <a:gdLst/>
            <a:ahLst/>
            <a:cxnLst/>
            <a:rect l="l" t="t" r="r" b="b"/>
            <a:pathLst>
              <a:path w="285750" h="228600">
                <a:moveTo>
                  <a:pt x="157163" y="0"/>
                </a:moveTo>
                <a:cubicBezTo>
                  <a:pt x="157163" y="-7903"/>
                  <a:pt x="150778" y="-14287"/>
                  <a:pt x="142875" y="-14287"/>
                </a:cubicBezTo>
                <a:cubicBezTo>
                  <a:pt x="134972" y="-14287"/>
                  <a:pt x="128588" y="-7903"/>
                  <a:pt x="128588" y="0"/>
                </a:cubicBezTo>
                <a:lnTo>
                  <a:pt x="128588" y="28575"/>
                </a:lnTo>
                <a:lnTo>
                  <a:pt x="85725" y="28575"/>
                </a:lnTo>
                <a:cubicBezTo>
                  <a:pt x="62061" y="28575"/>
                  <a:pt x="42863" y="47774"/>
                  <a:pt x="42863" y="71438"/>
                </a:cubicBezTo>
                <a:lnTo>
                  <a:pt x="42863" y="171450"/>
                </a:lnTo>
                <a:cubicBezTo>
                  <a:pt x="42863" y="195114"/>
                  <a:pt x="62061" y="214313"/>
                  <a:pt x="85725" y="214313"/>
                </a:cubicBezTo>
                <a:lnTo>
                  <a:pt x="200025" y="214313"/>
                </a:lnTo>
                <a:cubicBezTo>
                  <a:pt x="223689" y="214313"/>
                  <a:pt x="242888" y="195114"/>
                  <a:pt x="242888" y="171450"/>
                </a:cubicBezTo>
                <a:lnTo>
                  <a:pt x="242888" y="71438"/>
                </a:lnTo>
                <a:cubicBezTo>
                  <a:pt x="242888" y="47774"/>
                  <a:pt x="223689" y="28575"/>
                  <a:pt x="200025" y="28575"/>
                </a:cubicBezTo>
                <a:lnTo>
                  <a:pt x="157163" y="28575"/>
                </a:lnTo>
                <a:lnTo>
                  <a:pt x="157163" y="0"/>
                </a:lnTo>
                <a:close/>
                <a:moveTo>
                  <a:pt x="71438" y="164306"/>
                </a:moveTo>
                <a:cubicBezTo>
                  <a:pt x="71438" y="158368"/>
                  <a:pt x="76215" y="153591"/>
                  <a:pt x="82153" y="153591"/>
                </a:cubicBezTo>
                <a:lnTo>
                  <a:pt x="96441" y="153591"/>
                </a:lnTo>
                <a:cubicBezTo>
                  <a:pt x="102379" y="153591"/>
                  <a:pt x="107156" y="158368"/>
                  <a:pt x="107156" y="164306"/>
                </a:cubicBezTo>
                <a:cubicBezTo>
                  <a:pt x="107156" y="170244"/>
                  <a:pt x="102379" y="175022"/>
                  <a:pt x="96441" y="175022"/>
                </a:cubicBezTo>
                <a:lnTo>
                  <a:pt x="82153" y="175022"/>
                </a:lnTo>
                <a:cubicBezTo>
                  <a:pt x="76215" y="175022"/>
                  <a:pt x="71438" y="170244"/>
                  <a:pt x="71438" y="164306"/>
                </a:cubicBezTo>
                <a:close/>
                <a:moveTo>
                  <a:pt x="125016" y="164306"/>
                </a:moveTo>
                <a:cubicBezTo>
                  <a:pt x="125016" y="158368"/>
                  <a:pt x="129793" y="153591"/>
                  <a:pt x="135731" y="153591"/>
                </a:cubicBezTo>
                <a:lnTo>
                  <a:pt x="150019" y="153591"/>
                </a:lnTo>
                <a:cubicBezTo>
                  <a:pt x="155957" y="153591"/>
                  <a:pt x="160734" y="158368"/>
                  <a:pt x="160734" y="164306"/>
                </a:cubicBezTo>
                <a:cubicBezTo>
                  <a:pt x="160734" y="170244"/>
                  <a:pt x="155957" y="175022"/>
                  <a:pt x="150019" y="175022"/>
                </a:cubicBezTo>
                <a:lnTo>
                  <a:pt x="135731" y="175022"/>
                </a:lnTo>
                <a:cubicBezTo>
                  <a:pt x="129793" y="175022"/>
                  <a:pt x="125016" y="170244"/>
                  <a:pt x="125016" y="164306"/>
                </a:cubicBezTo>
                <a:close/>
                <a:moveTo>
                  <a:pt x="178594" y="164306"/>
                </a:moveTo>
                <a:cubicBezTo>
                  <a:pt x="178594" y="158368"/>
                  <a:pt x="183371" y="153591"/>
                  <a:pt x="189309" y="153591"/>
                </a:cubicBezTo>
                <a:lnTo>
                  <a:pt x="203597" y="153591"/>
                </a:lnTo>
                <a:cubicBezTo>
                  <a:pt x="209535" y="153591"/>
                  <a:pt x="214313" y="158368"/>
                  <a:pt x="214313" y="164306"/>
                </a:cubicBezTo>
                <a:cubicBezTo>
                  <a:pt x="214313" y="170244"/>
                  <a:pt x="209535" y="175022"/>
                  <a:pt x="203597" y="175022"/>
                </a:cubicBezTo>
                <a:lnTo>
                  <a:pt x="189309" y="175022"/>
                </a:lnTo>
                <a:cubicBezTo>
                  <a:pt x="183371" y="175022"/>
                  <a:pt x="178594" y="170244"/>
                  <a:pt x="178594" y="164306"/>
                </a:cubicBezTo>
                <a:close/>
                <a:moveTo>
                  <a:pt x="100013" y="78581"/>
                </a:moveTo>
                <a:cubicBezTo>
                  <a:pt x="111841" y="78581"/>
                  <a:pt x="121444" y="88184"/>
                  <a:pt x="121444" y="100013"/>
                </a:cubicBezTo>
                <a:cubicBezTo>
                  <a:pt x="121444" y="111841"/>
                  <a:pt x="111841" y="121444"/>
                  <a:pt x="100013" y="121444"/>
                </a:cubicBezTo>
                <a:cubicBezTo>
                  <a:pt x="88184" y="121444"/>
                  <a:pt x="78581" y="111841"/>
                  <a:pt x="78581" y="100013"/>
                </a:cubicBezTo>
                <a:cubicBezTo>
                  <a:pt x="78581" y="88184"/>
                  <a:pt x="88184" y="78581"/>
                  <a:pt x="100013" y="78581"/>
                </a:cubicBezTo>
                <a:close/>
                <a:moveTo>
                  <a:pt x="164306" y="100013"/>
                </a:moveTo>
                <a:cubicBezTo>
                  <a:pt x="164306" y="88184"/>
                  <a:pt x="173909" y="78581"/>
                  <a:pt x="185738" y="78581"/>
                </a:cubicBezTo>
                <a:cubicBezTo>
                  <a:pt x="197566" y="78581"/>
                  <a:pt x="207169" y="88184"/>
                  <a:pt x="207169" y="100013"/>
                </a:cubicBezTo>
                <a:cubicBezTo>
                  <a:pt x="207169" y="111841"/>
                  <a:pt x="197566" y="121444"/>
                  <a:pt x="185738" y="121444"/>
                </a:cubicBezTo>
                <a:cubicBezTo>
                  <a:pt x="173909" y="121444"/>
                  <a:pt x="164306" y="111841"/>
                  <a:pt x="164306" y="100013"/>
                </a:cubicBezTo>
                <a:close/>
                <a:moveTo>
                  <a:pt x="28575" y="100013"/>
                </a:moveTo>
                <a:cubicBezTo>
                  <a:pt x="28575" y="92110"/>
                  <a:pt x="22190" y="85725"/>
                  <a:pt x="14288" y="85725"/>
                </a:cubicBezTo>
                <a:cubicBezTo>
                  <a:pt x="6385" y="85725"/>
                  <a:pt x="0" y="92110"/>
                  <a:pt x="0" y="100013"/>
                </a:cubicBezTo>
                <a:lnTo>
                  <a:pt x="0" y="142875"/>
                </a:lnTo>
                <a:cubicBezTo>
                  <a:pt x="0" y="150778"/>
                  <a:pt x="6385" y="157163"/>
                  <a:pt x="14288" y="157163"/>
                </a:cubicBezTo>
                <a:cubicBezTo>
                  <a:pt x="22190" y="157163"/>
                  <a:pt x="28575" y="150778"/>
                  <a:pt x="28575" y="142875"/>
                </a:cubicBezTo>
                <a:lnTo>
                  <a:pt x="28575" y="100013"/>
                </a:lnTo>
                <a:close/>
                <a:moveTo>
                  <a:pt x="271463" y="85725"/>
                </a:moveTo>
                <a:cubicBezTo>
                  <a:pt x="263560" y="85725"/>
                  <a:pt x="257175" y="92110"/>
                  <a:pt x="257175" y="100013"/>
                </a:cubicBezTo>
                <a:lnTo>
                  <a:pt x="257175" y="142875"/>
                </a:lnTo>
                <a:cubicBezTo>
                  <a:pt x="257175" y="150778"/>
                  <a:pt x="263560" y="157163"/>
                  <a:pt x="271463" y="157163"/>
                </a:cubicBezTo>
                <a:cubicBezTo>
                  <a:pt x="279365" y="157163"/>
                  <a:pt x="285750" y="150778"/>
                  <a:pt x="285750" y="142875"/>
                </a:cubicBezTo>
                <a:lnTo>
                  <a:pt x="285750" y="100013"/>
                </a:lnTo>
                <a:cubicBezTo>
                  <a:pt x="285750" y="92110"/>
                  <a:pt x="279365" y="85725"/>
                  <a:pt x="271463" y="85725"/>
                </a:cubicBezTo>
                <a:close/>
              </a:path>
            </a:pathLst>
          </a:custGeom>
          <a:solidFill>
            <a:srgbClr val="6366F1"/>
          </a:solidFill>
          <a:ln/>
        </p:spPr>
      </p:sp>
      <p:sp>
        <p:nvSpPr>
          <p:cNvPr id="9" name="Text 7"/>
          <p:cNvSpPr/>
          <p:nvPr/>
        </p:nvSpPr>
        <p:spPr>
          <a:xfrm>
            <a:off x="1074420" y="1322068"/>
            <a:ext cx="1533525"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Simple Definition</a:t>
            </a:r>
            <a:endParaRPr lang="en-US" sz="1600" dirty="0"/>
          </a:p>
        </p:txBody>
      </p:sp>
      <p:sp>
        <p:nvSpPr>
          <p:cNvPr id="10" name="Text 8"/>
          <p:cNvSpPr/>
          <p:nvPr/>
        </p:nvSpPr>
        <p:spPr>
          <a:xfrm>
            <a:off x="502920" y="1760218"/>
            <a:ext cx="6600825"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An </a:t>
            </a:r>
            <a:pPr>
              <a:lnSpc>
                <a:spcPct val="130000"/>
              </a:lnSpc>
            </a:pPr>
            <a:r>
              <a:rPr lang="en-US" sz="1200" b="1" dirty="0">
                <a:solidFill>
                  <a:srgbClr val="6366F1"/>
                </a:solidFill>
                <a:latin typeface="Liter" pitchFamily="34" charset="0"/>
                <a:ea typeface="Liter" pitchFamily="34" charset="-122"/>
                <a:cs typeface="Liter" pitchFamily="34" charset="-120"/>
              </a:rPr>
              <a:t>AI agent</a:t>
            </a:r>
            <a:pPr>
              <a:lnSpc>
                <a:spcPct val="130000"/>
              </a:lnSpc>
            </a:pPr>
            <a:r>
              <a:rPr lang="en-US" sz="1200" dirty="0">
                <a:solidFill>
                  <a:srgbClr val="EFEFEF"/>
                </a:solidFill>
                <a:latin typeface="Liter" pitchFamily="34" charset="0"/>
                <a:ea typeface="Liter" pitchFamily="34" charset="-122"/>
                <a:cs typeface="Liter" pitchFamily="34" charset="-120"/>
              </a:rPr>
              <a:t> is a system that can perceive its environment, make decisions, and take actions to achieve goals. Think of it as a smart robot that can act on its own!</a:t>
            </a:r>
            <a:endParaRPr lang="en-US" sz="1600" dirty="0"/>
          </a:p>
        </p:txBody>
      </p:sp>
      <p:sp>
        <p:nvSpPr>
          <p:cNvPr id="11" name="Shape 9"/>
          <p:cNvSpPr/>
          <p:nvPr/>
        </p:nvSpPr>
        <p:spPr>
          <a:xfrm>
            <a:off x="502920" y="2293618"/>
            <a:ext cx="6524625" cy="1104900"/>
          </a:xfrm>
          <a:prstGeom prst="roundRect">
            <a:avLst>
              <a:gd name="adj" fmla="val 6897"/>
            </a:avLst>
          </a:prstGeom>
          <a:solidFill>
            <a:srgbClr val="191919"/>
          </a:solidFill>
          <a:ln/>
        </p:spPr>
      </p:sp>
      <p:sp>
        <p:nvSpPr>
          <p:cNvPr id="12" name="Text 10"/>
          <p:cNvSpPr/>
          <p:nvPr/>
        </p:nvSpPr>
        <p:spPr>
          <a:xfrm>
            <a:off x="617220" y="2407918"/>
            <a:ext cx="1385888" cy="22098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The Agent Formula:</a:t>
            </a:r>
            <a:endParaRPr lang="en-US" sz="1600" dirty="0"/>
          </a:p>
        </p:txBody>
      </p:sp>
      <p:sp>
        <p:nvSpPr>
          <p:cNvPr id="13" name="Shape 11"/>
          <p:cNvSpPr/>
          <p:nvPr/>
        </p:nvSpPr>
        <p:spPr>
          <a:xfrm>
            <a:off x="2388156" y="2712718"/>
            <a:ext cx="628650" cy="571500"/>
          </a:xfrm>
          <a:prstGeom prst="roundRect">
            <a:avLst>
              <a:gd name="adj" fmla="val 13333"/>
            </a:avLst>
          </a:prstGeom>
          <a:solidFill>
            <a:srgbClr val="6366F1">
              <a:alpha val="20000"/>
            </a:srgbClr>
          </a:solidFill>
          <a:ln/>
        </p:spPr>
      </p:sp>
      <p:sp>
        <p:nvSpPr>
          <p:cNvPr id="14" name="Text 12"/>
          <p:cNvSpPr/>
          <p:nvPr/>
        </p:nvSpPr>
        <p:spPr>
          <a:xfrm>
            <a:off x="2426256" y="2788918"/>
            <a:ext cx="552450" cy="228600"/>
          </a:xfrm>
          <a:prstGeom prst="rect">
            <a:avLst/>
          </a:prstGeom>
          <a:noFill/>
          <a:ln/>
        </p:spPr>
        <p:txBody>
          <a:bodyPr wrap="square" lIns="0" tIns="0" rIns="0" bIns="0" rtlCol="0" anchor="ctr"/>
          <a:lstStyle/>
          <a:p>
            <a:pPr algn="ctr">
              <a:lnSpc>
                <a:spcPct val="130000"/>
              </a:lnSpc>
            </a:pPr>
            <a:r>
              <a:rPr lang="en-US" sz="1200" b="1" dirty="0">
                <a:solidFill>
                  <a:srgbClr val="6366F1"/>
                </a:solidFill>
                <a:latin typeface="Liter" pitchFamily="34" charset="0"/>
                <a:ea typeface="Liter" pitchFamily="34" charset="-122"/>
                <a:cs typeface="Liter" pitchFamily="34" charset="-120"/>
              </a:rPr>
              <a:t>Input</a:t>
            </a:r>
            <a:endParaRPr lang="en-US" sz="1600" dirty="0"/>
          </a:p>
        </p:txBody>
      </p:sp>
      <p:sp>
        <p:nvSpPr>
          <p:cNvPr id="15" name="Text 13"/>
          <p:cNvSpPr/>
          <p:nvPr/>
        </p:nvSpPr>
        <p:spPr>
          <a:xfrm>
            <a:off x="2431018" y="3017518"/>
            <a:ext cx="542925" cy="190500"/>
          </a:xfrm>
          <a:prstGeom prst="rect">
            <a:avLst/>
          </a:prstGeom>
          <a:noFill/>
          <a:ln/>
        </p:spPr>
        <p:txBody>
          <a:bodyPr wrap="square" lIns="0" tIns="0" rIns="0" bIns="0" rtlCol="0" anchor="ctr"/>
          <a:lstStyle/>
          <a:p>
            <a:pPr algn="ctr">
              <a:lnSpc>
                <a:spcPct val="120000"/>
              </a:lnSpc>
            </a:pPr>
            <a:r>
              <a:rPr lang="en-US" sz="1050" dirty="0">
                <a:solidFill>
                  <a:srgbClr val="8F8F8F"/>
                </a:solidFill>
                <a:latin typeface="Liter" pitchFamily="34" charset="0"/>
                <a:ea typeface="Liter" pitchFamily="34" charset="-122"/>
                <a:cs typeface="Liter" pitchFamily="34" charset="-120"/>
              </a:rPr>
              <a:t>Sensors</a:t>
            </a:r>
            <a:endParaRPr lang="en-US" sz="1600" dirty="0"/>
          </a:p>
        </p:txBody>
      </p:sp>
      <p:sp>
        <p:nvSpPr>
          <p:cNvPr id="16" name="Shape 14"/>
          <p:cNvSpPr/>
          <p:nvPr/>
        </p:nvSpPr>
        <p:spPr>
          <a:xfrm>
            <a:off x="3155394" y="2903218"/>
            <a:ext cx="190500" cy="190500"/>
          </a:xfrm>
          <a:custGeom>
            <a:avLst/>
            <a:gdLst/>
            <a:ahLst/>
            <a:cxnLst/>
            <a:rect l="l" t="t" r="r" b="b"/>
            <a:pathLst>
              <a:path w="190500" h="190500">
                <a:moveTo>
                  <a:pt x="187003" y="103659"/>
                </a:moveTo>
                <a:cubicBezTo>
                  <a:pt x="191653" y="99008"/>
                  <a:pt x="191653" y="91455"/>
                  <a:pt x="187003" y="86804"/>
                </a:cubicBezTo>
                <a:lnTo>
                  <a:pt x="127471" y="27273"/>
                </a:lnTo>
                <a:cubicBezTo>
                  <a:pt x="122820" y="22622"/>
                  <a:pt x="115267" y="22622"/>
                  <a:pt x="110617" y="27273"/>
                </a:cubicBezTo>
                <a:cubicBezTo>
                  <a:pt x="105966" y="31924"/>
                  <a:pt x="105966" y="39477"/>
                  <a:pt x="110617" y="44128"/>
                </a:cubicBezTo>
                <a:lnTo>
                  <a:pt x="149833" y="83344"/>
                </a:lnTo>
                <a:lnTo>
                  <a:pt x="11906" y="83344"/>
                </a:lnTo>
                <a:cubicBezTo>
                  <a:pt x="5321" y="83344"/>
                  <a:pt x="0" y="88664"/>
                  <a:pt x="0" y="95250"/>
                </a:cubicBezTo>
                <a:cubicBezTo>
                  <a:pt x="0" y="101836"/>
                  <a:pt x="5321" y="107156"/>
                  <a:pt x="11906" y="107156"/>
                </a:cubicBezTo>
                <a:lnTo>
                  <a:pt x="149833" y="107156"/>
                </a:lnTo>
                <a:lnTo>
                  <a:pt x="110617" y="146372"/>
                </a:lnTo>
                <a:cubicBezTo>
                  <a:pt x="105966" y="151023"/>
                  <a:pt x="105966" y="158576"/>
                  <a:pt x="110617" y="163227"/>
                </a:cubicBezTo>
                <a:cubicBezTo>
                  <a:pt x="115267" y="167878"/>
                  <a:pt x="122820" y="167878"/>
                  <a:pt x="127471" y="163227"/>
                </a:cubicBezTo>
                <a:lnTo>
                  <a:pt x="187003" y="103696"/>
                </a:lnTo>
                <a:close/>
              </a:path>
            </a:pathLst>
          </a:custGeom>
          <a:solidFill>
            <a:srgbClr val="6366F1"/>
          </a:solidFill>
          <a:ln/>
        </p:spPr>
      </p:sp>
      <p:sp>
        <p:nvSpPr>
          <p:cNvPr id="17" name="Shape 15"/>
          <p:cNvSpPr/>
          <p:nvPr/>
        </p:nvSpPr>
        <p:spPr>
          <a:xfrm>
            <a:off x="3484007" y="2712718"/>
            <a:ext cx="628650" cy="571500"/>
          </a:xfrm>
          <a:prstGeom prst="roundRect">
            <a:avLst>
              <a:gd name="adj" fmla="val 13333"/>
            </a:avLst>
          </a:prstGeom>
          <a:solidFill>
            <a:srgbClr val="6366F1">
              <a:alpha val="20000"/>
            </a:srgbClr>
          </a:solidFill>
          <a:ln/>
        </p:spPr>
      </p:sp>
      <p:sp>
        <p:nvSpPr>
          <p:cNvPr id="18" name="Text 16"/>
          <p:cNvSpPr/>
          <p:nvPr/>
        </p:nvSpPr>
        <p:spPr>
          <a:xfrm>
            <a:off x="3522107" y="2788918"/>
            <a:ext cx="552450" cy="228600"/>
          </a:xfrm>
          <a:prstGeom prst="rect">
            <a:avLst/>
          </a:prstGeom>
          <a:noFill/>
          <a:ln/>
        </p:spPr>
        <p:txBody>
          <a:bodyPr wrap="square" lIns="0" tIns="0" rIns="0" bIns="0" rtlCol="0" anchor="ctr"/>
          <a:lstStyle/>
          <a:p>
            <a:pPr algn="ctr">
              <a:lnSpc>
                <a:spcPct val="130000"/>
              </a:lnSpc>
            </a:pPr>
            <a:r>
              <a:rPr lang="en-US" sz="1200" b="1" dirty="0">
                <a:solidFill>
                  <a:srgbClr val="6366F1"/>
                </a:solidFill>
                <a:latin typeface="Liter" pitchFamily="34" charset="0"/>
                <a:ea typeface="Liter" pitchFamily="34" charset="-122"/>
                <a:cs typeface="Liter" pitchFamily="34" charset="-120"/>
              </a:rPr>
              <a:t>Decide</a:t>
            </a:r>
            <a:endParaRPr lang="en-US" sz="1600" dirty="0"/>
          </a:p>
        </p:txBody>
      </p:sp>
      <p:sp>
        <p:nvSpPr>
          <p:cNvPr id="19" name="Text 17"/>
          <p:cNvSpPr/>
          <p:nvPr/>
        </p:nvSpPr>
        <p:spPr>
          <a:xfrm>
            <a:off x="3526869" y="3017518"/>
            <a:ext cx="542925" cy="190500"/>
          </a:xfrm>
          <a:prstGeom prst="rect">
            <a:avLst/>
          </a:prstGeom>
          <a:noFill/>
          <a:ln/>
        </p:spPr>
        <p:txBody>
          <a:bodyPr wrap="square" lIns="0" tIns="0" rIns="0" bIns="0" rtlCol="0" anchor="ctr"/>
          <a:lstStyle/>
          <a:p>
            <a:pPr algn="ctr">
              <a:lnSpc>
                <a:spcPct val="120000"/>
              </a:lnSpc>
            </a:pPr>
            <a:r>
              <a:rPr lang="en-US" sz="1050" dirty="0">
                <a:solidFill>
                  <a:srgbClr val="8F8F8F"/>
                </a:solidFill>
                <a:latin typeface="Liter" pitchFamily="34" charset="0"/>
                <a:ea typeface="Liter" pitchFamily="34" charset="-122"/>
                <a:cs typeface="Liter" pitchFamily="34" charset="-120"/>
              </a:rPr>
              <a:t>Brain</a:t>
            </a:r>
            <a:endParaRPr lang="en-US" sz="1600" dirty="0"/>
          </a:p>
        </p:txBody>
      </p:sp>
      <p:sp>
        <p:nvSpPr>
          <p:cNvPr id="20" name="Shape 18"/>
          <p:cNvSpPr/>
          <p:nvPr/>
        </p:nvSpPr>
        <p:spPr>
          <a:xfrm>
            <a:off x="4248269" y="2903218"/>
            <a:ext cx="190500" cy="190500"/>
          </a:xfrm>
          <a:custGeom>
            <a:avLst/>
            <a:gdLst/>
            <a:ahLst/>
            <a:cxnLst/>
            <a:rect l="l" t="t" r="r" b="b"/>
            <a:pathLst>
              <a:path w="190500" h="190500">
                <a:moveTo>
                  <a:pt x="187003" y="103659"/>
                </a:moveTo>
                <a:cubicBezTo>
                  <a:pt x="191653" y="99008"/>
                  <a:pt x="191653" y="91455"/>
                  <a:pt x="187003" y="86804"/>
                </a:cubicBezTo>
                <a:lnTo>
                  <a:pt x="127471" y="27273"/>
                </a:lnTo>
                <a:cubicBezTo>
                  <a:pt x="122820" y="22622"/>
                  <a:pt x="115267" y="22622"/>
                  <a:pt x="110617" y="27273"/>
                </a:cubicBezTo>
                <a:cubicBezTo>
                  <a:pt x="105966" y="31924"/>
                  <a:pt x="105966" y="39477"/>
                  <a:pt x="110617" y="44128"/>
                </a:cubicBezTo>
                <a:lnTo>
                  <a:pt x="149833" y="83344"/>
                </a:lnTo>
                <a:lnTo>
                  <a:pt x="11906" y="83344"/>
                </a:lnTo>
                <a:cubicBezTo>
                  <a:pt x="5321" y="83344"/>
                  <a:pt x="0" y="88664"/>
                  <a:pt x="0" y="95250"/>
                </a:cubicBezTo>
                <a:cubicBezTo>
                  <a:pt x="0" y="101836"/>
                  <a:pt x="5321" y="107156"/>
                  <a:pt x="11906" y="107156"/>
                </a:cubicBezTo>
                <a:lnTo>
                  <a:pt x="149833" y="107156"/>
                </a:lnTo>
                <a:lnTo>
                  <a:pt x="110617" y="146372"/>
                </a:lnTo>
                <a:cubicBezTo>
                  <a:pt x="105966" y="151023"/>
                  <a:pt x="105966" y="158576"/>
                  <a:pt x="110617" y="163227"/>
                </a:cubicBezTo>
                <a:cubicBezTo>
                  <a:pt x="115267" y="167878"/>
                  <a:pt x="122820" y="167878"/>
                  <a:pt x="127471" y="163227"/>
                </a:cubicBezTo>
                <a:lnTo>
                  <a:pt x="187003" y="103696"/>
                </a:lnTo>
                <a:close/>
              </a:path>
            </a:pathLst>
          </a:custGeom>
          <a:solidFill>
            <a:srgbClr val="6366F1"/>
          </a:solidFill>
          <a:ln/>
        </p:spPr>
      </p:sp>
      <p:sp>
        <p:nvSpPr>
          <p:cNvPr id="21" name="Shape 19"/>
          <p:cNvSpPr/>
          <p:nvPr/>
        </p:nvSpPr>
        <p:spPr>
          <a:xfrm>
            <a:off x="4576882" y="2712718"/>
            <a:ext cx="561975" cy="571500"/>
          </a:xfrm>
          <a:prstGeom prst="roundRect">
            <a:avLst>
              <a:gd name="adj" fmla="val 13559"/>
            </a:avLst>
          </a:prstGeom>
          <a:solidFill>
            <a:srgbClr val="6366F1">
              <a:alpha val="20000"/>
            </a:srgbClr>
          </a:solidFill>
          <a:ln/>
        </p:spPr>
      </p:sp>
      <p:sp>
        <p:nvSpPr>
          <p:cNvPr id="22" name="Text 20"/>
          <p:cNvSpPr/>
          <p:nvPr/>
        </p:nvSpPr>
        <p:spPr>
          <a:xfrm>
            <a:off x="4614982" y="2788918"/>
            <a:ext cx="485775" cy="228600"/>
          </a:xfrm>
          <a:prstGeom prst="rect">
            <a:avLst/>
          </a:prstGeom>
          <a:noFill/>
          <a:ln/>
        </p:spPr>
        <p:txBody>
          <a:bodyPr wrap="square" lIns="0" tIns="0" rIns="0" bIns="0" rtlCol="0" anchor="ctr"/>
          <a:lstStyle/>
          <a:p>
            <a:pPr algn="ctr">
              <a:lnSpc>
                <a:spcPct val="130000"/>
              </a:lnSpc>
            </a:pPr>
            <a:r>
              <a:rPr lang="en-US" sz="1200" b="1" dirty="0">
                <a:solidFill>
                  <a:srgbClr val="6366F1"/>
                </a:solidFill>
                <a:latin typeface="Liter" pitchFamily="34" charset="0"/>
                <a:ea typeface="Liter" pitchFamily="34" charset="-122"/>
                <a:cs typeface="Liter" pitchFamily="34" charset="-120"/>
              </a:rPr>
              <a:t>Act</a:t>
            </a:r>
            <a:endParaRPr lang="en-US" sz="1600" dirty="0"/>
          </a:p>
        </p:txBody>
      </p:sp>
      <p:sp>
        <p:nvSpPr>
          <p:cNvPr id="23" name="Text 21"/>
          <p:cNvSpPr/>
          <p:nvPr/>
        </p:nvSpPr>
        <p:spPr>
          <a:xfrm>
            <a:off x="4619744" y="3017518"/>
            <a:ext cx="476250" cy="190500"/>
          </a:xfrm>
          <a:prstGeom prst="rect">
            <a:avLst/>
          </a:prstGeom>
          <a:noFill/>
          <a:ln/>
        </p:spPr>
        <p:txBody>
          <a:bodyPr wrap="square" lIns="0" tIns="0" rIns="0" bIns="0" rtlCol="0" anchor="ctr"/>
          <a:lstStyle/>
          <a:p>
            <a:pPr algn="ctr">
              <a:lnSpc>
                <a:spcPct val="120000"/>
              </a:lnSpc>
            </a:pPr>
            <a:r>
              <a:rPr lang="en-US" sz="1050" dirty="0">
                <a:solidFill>
                  <a:srgbClr val="8F8F8F"/>
                </a:solidFill>
                <a:latin typeface="Liter" pitchFamily="34" charset="0"/>
                <a:ea typeface="Liter" pitchFamily="34" charset="-122"/>
                <a:cs typeface="Liter" pitchFamily="34" charset="-120"/>
              </a:rPr>
              <a:t>Output</a:t>
            </a:r>
            <a:endParaRPr lang="en-US" sz="1600" dirty="0"/>
          </a:p>
        </p:txBody>
      </p:sp>
      <p:sp>
        <p:nvSpPr>
          <p:cNvPr id="24" name="Shape 22"/>
          <p:cNvSpPr/>
          <p:nvPr/>
        </p:nvSpPr>
        <p:spPr>
          <a:xfrm>
            <a:off x="384810" y="3600456"/>
            <a:ext cx="6760845" cy="2579370"/>
          </a:xfrm>
          <a:prstGeom prst="roundRect">
            <a:avLst>
              <a:gd name="adj" fmla="val 4431"/>
            </a:avLst>
          </a:prstGeom>
          <a:solidFill>
            <a:srgbClr val="262626"/>
          </a:solidFill>
          <a:ln w="10160">
            <a:solidFill>
              <a:srgbClr val="333333"/>
            </a:solidFill>
            <a:prstDash val="solid"/>
          </a:ln>
        </p:spPr>
      </p:sp>
      <p:sp>
        <p:nvSpPr>
          <p:cNvPr id="25" name="Shape 23"/>
          <p:cNvSpPr/>
          <p:nvPr/>
        </p:nvSpPr>
        <p:spPr>
          <a:xfrm>
            <a:off x="514826" y="3756664"/>
            <a:ext cx="214313" cy="190500"/>
          </a:xfrm>
          <a:custGeom>
            <a:avLst/>
            <a:gdLst/>
            <a:ahLst/>
            <a:cxnLst/>
            <a:rect l="l" t="t" r="r" b="b"/>
            <a:pathLst>
              <a:path w="214313" h="190500">
                <a:moveTo>
                  <a:pt x="115156" y="-7032"/>
                </a:moveTo>
                <a:cubicBezTo>
                  <a:pt x="113630" y="-10009"/>
                  <a:pt x="110542" y="-11906"/>
                  <a:pt x="107193" y="-11906"/>
                </a:cubicBezTo>
                <a:cubicBezTo>
                  <a:pt x="103845" y="-11906"/>
                  <a:pt x="100757" y="-10009"/>
                  <a:pt x="99231" y="-7032"/>
                </a:cubicBezTo>
                <a:lnTo>
                  <a:pt x="71847" y="46620"/>
                </a:lnTo>
                <a:lnTo>
                  <a:pt x="12353" y="56071"/>
                </a:lnTo>
                <a:cubicBezTo>
                  <a:pt x="9041" y="56592"/>
                  <a:pt x="6288" y="58936"/>
                  <a:pt x="5246" y="62136"/>
                </a:cubicBezTo>
                <a:cubicBezTo>
                  <a:pt x="4204" y="65336"/>
                  <a:pt x="5060" y="68833"/>
                  <a:pt x="7404" y="71214"/>
                </a:cubicBezTo>
                <a:lnTo>
                  <a:pt x="49969" y="113816"/>
                </a:lnTo>
                <a:lnTo>
                  <a:pt x="40593" y="173310"/>
                </a:lnTo>
                <a:cubicBezTo>
                  <a:pt x="40072" y="176622"/>
                  <a:pt x="41449" y="179970"/>
                  <a:pt x="44165" y="181942"/>
                </a:cubicBezTo>
                <a:cubicBezTo>
                  <a:pt x="46881" y="183914"/>
                  <a:pt x="50453" y="184212"/>
                  <a:pt x="53467" y="182687"/>
                </a:cubicBezTo>
                <a:lnTo>
                  <a:pt x="107193" y="155377"/>
                </a:lnTo>
                <a:lnTo>
                  <a:pt x="160883" y="182687"/>
                </a:lnTo>
                <a:cubicBezTo>
                  <a:pt x="163860" y="184212"/>
                  <a:pt x="167469" y="183914"/>
                  <a:pt x="170185" y="181942"/>
                </a:cubicBezTo>
                <a:cubicBezTo>
                  <a:pt x="172901" y="179970"/>
                  <a:pt x="174278" y="176659"/>
                  <a:pt x="173757" y="173310"/>
                </a:cubicBezTo>
                <a:lnTo>
                  <a:pt x="164343" y="113816"/>
                </a:lnTo>
                <a:lnTo>
                  <a:pt x="206908" y="71214"/>
                </a:lnTo>
                <a:cubicBezTo>
                  <a:pt x="209290" y="68833"/>
                  <a:pt x="210108" y="65336"/>
                  <a:pt x="209066" y="62136"/>
                </a:cubicBezTo>
                <a:cubicBezTo>
                  <a:pt x="208025" y="58936"/>
                  <a:pt x="205308" y="56592"/>
                  <a:pt x="201960" y="56071"/>
                </a:cubicBezTo>
                <a:lnTo>
                  <a:pt x="142503" y="46620"/>
                </a:lnTo>
                <a:lnTo>
                  <a:pt x="115156" y="-7032"/>
                </a:lnTo>
                <a:close/>
              </a:path>
            </a:pathLst>
          </a:custGeom>
          <a:solidFill>
            <a:srgbClr val="6366F1"/>
          </a:solidFill>
          <a:ln/>
        </p:spPr>
      </p:sp>
      <p:sp>
        <p:nvSpPr>
          <p:cNvPr id="26" name="Text 24"/>
          <p:cNvSpPr/>
          <p:nvPr/>
        </p:nvSpPr>
        <p:spPr>
          <a:xfrm>
            <a:off x="741045" y="3718564"/>
            <a:ext cx="6381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Key Characteristics</a:t>
            </a:r>
            <a:endParaRPr lang="en-US" sz="1600" dirty="0"/>
          </a:p>
        </p:txBody>
      </p:sp>
      <p:sp>
        <p:nvSpPr>
          <p:cNvPr id="27" name="Shape 25"/>
          <p:cNvSpPr/>
          <p:nvPr/>
        </p:nvSpPr>
        <p:spPr>
          <a:xfrm>
            <a:off x="512445" y="4099564"/>
            <a:ext cx="171450" cy="152400"/>
          </a:xfrm>
          <a:custGeom>
            <a:avLst/>
            <a:gdLst/>
            <a:ahLst/>
            <a:cxnLst/>
            <a:rect l="l" t="t" r="r" b="b"/>
            <a:pathLst>
              <a:path w="171450" h="152400">
                <a:moveTo>
                  <a:pt x="85725" y="9525"/>
                </a:moveTo>
                <a:cubicBezTo>
                  <a:pt x="61674" y="9525"/>
                  <a:pt x="42416" y="20479"/>
                  <a:pt x="28396" y="33516"/>
                </a:cubicBezTo>
                <a:cubicBezTo>
                  <a:pt x="14466" y="46464"/>
                  <a:pt x="5149" y="61912"/>
                  <a:pt x="714" y="72539"/>
                </a:cubicBezTo>
                <a:cubicBezTo>
                  <a:pt x="-268" y="74890"/>
                  <a:pt x="-268" y="77510"/>
                  <a:pt x="714" y="79861"/>
                </a:cubicBezTo>
                <a:cubicBezTo>
                  <a:pt x="5149" y="90488"/>
                  <a:pt x="14466" y="105966"/>
                  <a:pt x="28396" y="118884"/>
                </a:cubicBezTo>
                <a:cubicBezTo>
                  <a:pt x="42416" y="131891"/>
                  <a:pt x="61674" y="142875"/>
                  <a:pt x="85725" y="142875"/>
                </a:cubicBezTo>
                <a:cubicBezTo>
                  <a:pt x="109776" y="142875"/>
                  <a:pt x="129034" y="131921"/>
                  <a:pt x="143054" y="118884"/>
                </a:cubicBezTo>
                <a:cubicBezTo>
                  <a:pt x="156984" y="105936"/>
                  <a:pt x="166301" y="90488"/>
                  <a:pt x="170736" y="79861"/>
                </a:cubicBezTo>
                <a:cubicBezTo>
                  <a:pt x="171718" y="77510"/>
                  <a:pt x="171718" y="74890"/>
                  <a:pt x="170736" y="72539"/>
                </a:cubicBezTo>
                <a:cubicBezTo>
                  <a:pt x="166301" y="61912"/>
                  <a:pt x="156984" y="46434"/>
                  <a:pt x="143054" y="33516"/>
                </a:cubicBezTo>
                <a:cubicBezTo>
                  <a:pt x="129034" y="20509"/>
                  <a:pt x="109776" y="9525"/>
                  <a:pt x="85725" y="9525"/>
                </a:cubicBezTo>
                <a:close/>
                <a:moveTo>
                  <a:pt x="42863" y="76200"/>
                </a:moveTo>
                <a:cubicBezTo>
                  <a:pt x="42863" y="52544"/>
                  <a:pt x="62069" y="33338"/>
                  <a:pt x="85725" y="33338"/>
                </a:cubicBezTo>
                <a:cubicBezTo>
                  <a:pt x="109381" y="33338"/>
                  <a:pt x="128588" y="52544"/>
                  <a:pt x="128588" y="76200"/>
                </a:cubicBezTo>
                <a:cubicBezTo>
                  <a:pt x="128588" y="99856"/>
                  <a:pt x="109381" y="119062"/>
                  <a:pt x="85725" y="119062"/>
                </a:cubicBezTo>
                <a:cubicBezTo>
                  <a:pt x="62069" y="119062"/>
                  <a:pt x="42863" y="99856"/>
                  <a:pt x="42863" y="76200"/>
                </a:cubicBezTo>
                <a:close/>
                <a:moveTo>
                  <a:pt x="85725" y="57150"/>
                </a:moveTo>
                <a:cubicBezTo>
                  <a:pt x="85725" y="67657"/>
                  <a:pt x="77182" y="76200"/>
                  <a:pt x="66675" y="76200"/>
                </a:cubicBezTo>
                <a:cubicBezTo>
                  <a:pt x="63252" y="76200"/>
                  <a:pt x="60037" y="75307"/>
                  <a:pt x="57239" y="73700"/>
                </a:cubicBezTo>
                <a:cubicBezTo>
                  <a:pt x="56942" y="76944"/>
                  <a:pt x="57210" y="80278"/>
                  <a:pt x="58103" y="83582"/>
                </a:cubicBezTo>
                <a:cubicBezTo>
                  <a:pt x="62180" y="98822"/>
                  <a:pt x="77867" y="107871"/>
                  <a:pt x="93107" y="103793"/>
                </a:cubicBezTo>
                <a:cubicBezTo>
                  <a:pt x="108347" y="99715"/>
                  <a:pt x="117396" y="84028"/>
                  <a:pt x="113318" y="68788"/>
                </a:cubicBezTo>
                <a:cubicBezTo>
                  <a:pt x="109686" y="55185"/>
                  <a:pt x="96798" y="46524"/>
                  <a:pt x="83225" y="47714"/>
                </a:cubicBezTo>
                <a:cubicBezTo>
                  <a:pt x="84802" y="50483"/>
                  <a:pt x="85725" y="53697"/>
                  <a:pt x="85725" y="57150"/>
                </a:cubicBezTo>
                <a:close/>
              </a:path>
            </a:pathLst>
          </a:custGeom>
          <a:solidFill>
            <a:srgbClr val="6366F1"/>
          </a:solidFill>
          <a:ln/>
        </p:spPr>
      </p:sp>
      <p:sp>
        <p:nvSpPr>
          <p:cNvPr id="28" name="Text 26"/>
          <p:cNvSpPr/>
          <p:nvPr/>
        </p:nvSpPr>
        <p:spPr>
          <a:xfrm>
            <a:off x="807720" y="4061464"/>
            <a:ext cx="35242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Autonomous</a:t>
            </a:r>
            <a:endParaRPr lang="en-US" sz="1600" dirty="0"/>
          </a:p>
        </p:txBody>
      </p:sp>
      <p:sp>
        <p:nvSpPr>
          <p:cNvPr id="29" name="Text 27"/>
          <p:cNvSpPr/>
          <p:nvPr/>
        </p:nvSpPr>
        <p:spPr>
          <a:xfrm>
            <a:off x="807720" y="4290064"/>
            <a:ext cx="352425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Acts independently without constant human control</a:t>
            </a:r>
            <a:endParaRPr lang="en-US" sz="1600" dirty="0"/>
          </a:p>
        </p:txBody>
      </p:sp>
      <p:sp>
        <p:nvSpPr>
          <p:cNvPr id="30" name="Shape 28"/>
          <p:cNvSpPr/>
          <p:nvPr/>
        </p:nvSpPr>
        <p:spPr>
          <a:xfrm>
            <a:off x="521970" y="4613914"/>
            <a:ext cx="152400" cy="152400"/>
          </a:xfrm>
          <a:custGeom>
            <a:avLst/>
            <a:gdLst/>
            <a:ahLst/>
            <a:cxnLst/>
            <a:rect l="l" t="t" r="r" b="b"/>
            <a:pathLst>
              <a:path w="152400" h="152400">
                <a:moveTo>
                  <a:pt x="133350" y="76200"/>
                </a:moveTo>
                <a:cubicBezTo>
                  <a:pt x="133350" y="44658"/>
                  <a:pt x="107742" y="19050"/>
                  <a:pt x="76200" y="19050"/>
                </a:cubicBezTo>
                <a:cubicBezTo>
                  <a:pt x="44658" y="19050"/>
                  <a:pt x="19050" y="44658"/>
                  <a:pt x="19050" y="76200"/>
                </a:cubicBezTo>
                <a:cubicBezTo>
                  <a:pt x="19050" y="107742"/>
                  <a:pt x="44658" y="133350"/>
                  <a:pt x="76200" y="133350"/>
                </a:cubicBezTo>
                <a:cubicBezTo>
                  <a:pt x="107742" y="133350"/>
                  <a:pt x="133350" y="107742"/>
                  <a:pt x="133350" y="76200"/>
                </a:cubicBezTo>
                <a:close/>
                <a:moveTo>
                  <a:pt x="0" y="76200"/>
                </a:moveTo>
                <a:cubicBezTo>
                  <a:pt x="0" y="34144"/>
                  <a:pt x="34144" y="0"/>
                  <a:pt x="76200" y="0"/>
                </a:cubicBezTo>
                <a:cubicBezTo>
                  <a:pt x="118256" y="0"/>
                  <a:pt x="152400" y="34144"/>
                  <a:pt x="152400" y="76200"/>
                </a:cubicBezTo>
                <a:cubicBezTo>
                  <a:pt x="152400" y="118256"/>
                  <a:pt x="118256" y="152400"/>
                  <a:pt x="76200" y="152400"/>
                </a:cubicBezTo>
                <a:cubicBezTo>
                  <a:pt x="34144" y="152400"/>
                  <a:pt x="0" y="118256"/>
                  <a:pt x="0" y="76200"/>
                </a:cubicBezTo>
                <a:close/>
                <a:moveTo>
                  <a:pt x="76200" y="100013"/>
                </a:moveTo>
                <a:cubicBezTo>
                  <a:pt x="89342" y="100013"/>
                  <a:pt x="100013" y="89342"/>
                  <a:pt x="100013" y="76200"/>
                </a:cubicBezTo>
                <a:cubicBezTo>
                  <a:pt x="100013" y="63058"/>
                  <a:pt x="89342" y="52388"/>
                  <a:pt x="76200" y="52388"/>
                </a:cubicBezTo>
                <a:cubicBezTo>
                  <a:pt x="63058" y="52388"/>
                  <a:pt x="52388" y="63058"/>
                  <a:pt x="52388" y="76200"/>
                </a:cubicBezTo>
                <a:cubicBezTo>
                  <a:pt x="52388" y="89342"/>
                  <a:pt x="63058" y="100013"/>
                  <a:pt x="76200" y="100013"/>
                </a:cubicBezTo>
                <a:close/>
                <a:moveTo>
                  <a:pt x="76200" y="33338"/>
                </a:moveTo>
                <a:cubicBezTo>
                  <a:pt x="99856" y="33338"/>
                  <a:pt x="119062" y="52544"/>
                  <a:pt x="119062" y="76200"/>
                </a:cubicBezTo>
                <a:cubicBezTo>
                  <a:pt x="119062" y="99856"/>
                  <a:pt x="99856" y="119062"/>
                  <a:pt x="76200" y="119062"/>
                </a:cubicBezTo>
                <a:cubicBezTo>
                  <a:pt x="52544" y="119062"/>
                  <a:pt x="33338" y="99856"/>
                  <a:pt x="33338" y="76200"/>
                </a:cubicBezTo>
                <a:cubicBezTo>
                  <a:pt x="33338" y="52544"/>
                  <a:pt x="52544" y="33338"/>
                  <a:pt x="76200" y="33338"/>
                </a:cubicBezTo>
                <a:close/>
                <a:moveTo>
                  <a:pt x="66675" y="76200"/>
                </a:moveTo>
                <a:cubicBezTo>
                  <a:pt x="66675" y="70943"/>
                  <a:pt x="70943" y="66675"/>
                  <a:pt x="76200" y="66675"/>
                </a:cubicBezTo>
                <a:cubicBezTo>
                  <a:pt x="81457" y="66675"/>
                  <a:pt x="85725" y="70943"/>
                  <a:pt x="85725" y="76200"/>
                </a:cubicBezTo>
                <a:cubicBezTo>
                  <a:pt x="85725" y="81457"/>
                  <a:pt x="81457" y="85725"/>
                  <a:pt x="76200" y="85725"/>
                </a:cubicBezTo>
                <a:cubicBezTo>
                  <a:pt x="70943" y="85725"/>
                  <a:pt x="66675" y="81457"/>
                  <a:pt x="66675" y="76200"/>
                </a:cubicBezTo>
                <a:close/>
              </a:path>
            </a:pathLst>
          </a:custGeom>
          <a:solidFill>
            <a:srgbClr val="6366F1"/>
          </a:solidFill>
          <a:ln/>
        </p:spPr>
      </p:sp>
      <p:sp>
        <p:nvSpPr>
          <p:cNvPr id="31" name="Text 29"/>
          <p:cNvSpPr/>
          <p:nvPr/>
        </p:nvSpPr>
        <p:spPr>
          <a:xfrm>
            <a:off x="807720" y="4575814"/>
            <a:ext cx="22955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Goal-Oriented</a:t>
            </a:r>
            <a:endParaRPr lang="en-US" sz="1600" dirty="0"/>
          </a:p>
        </p:txBody>
      </p:sp>
      <p:sp>
        <p:nvSpPr>
          <p:cNvPr id="32" name="Text 30"/>
          <p:cNvSpPr/>
          <p:nvPr/>
        </p:nvSpPr>
        <p:spPr>
          <a:xfrm>
            <a:off x="807720" y="4804414"/>
            <a:ext cx="22955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Works toward specific objectives</a:t>
            </a:r>
            <a:endParaRPr lang="en-US" sz="1600" dirty="0"/>
          </a:p>
        </p:txBody>
      </p:sp>
      <p:sp>
        <p:nvSpPr>
          <p:cNvPr id="33" name="Shape 31"/>
          <p:cNvSpPr/>
          <p:nvPr/>
        </p:nvSpPr>
        <p:spPr>
          <a:xfrm>
            <a:off x="521970" y="5128264"/>
            <a:ext cx="152400" cy="152400"/>
          </a:xfrm>
          <a:custGeom>
            <a:avLst/>
            <a:gdLst/>
            <a:ahLst/>
            <a:cxnLst/>
            <a:rect l="l" t="t" r="r" b="b"/>
            <a:pathLst>
              <a:path w="152400" h="152400">
                <a:moveTo>
                  <a:pt x="19616" y="68014"/>
                </a:moveTo>
                <a:cubicBezTo>
                  <a:pt x="23574" y="40332"/>
                  <a:pt x="47417" y="19050"/>
                  <a:pt x="76200" y="19050"/>
                </a:cubicBezTo>
                <a:cubicBezTo>
                  <a:pt x="91976" y="19050"/>
                  <a:pt x="106263" y="25450"/>
                  <a:pt x="116622" y="35778"/>
                </a:cubicBezTo>
                <a:cubicBezTo>
                  <a:pt x="116681" y="35838"/>
                  <a:pt x="116741" y="35897"/>
                  <a:pt x="116800" y="35957"/>
                </a:cubicBezTo>
                <a:lnTo>
                  <a:pt x="119063" y="38100"/>
                </a:lnTo>
                <a:lnTo>
                  <a:pt x="104805" y="38100"/>
                </a:lnTo>
                <a:cubicBezTo>
                  <a:pt x="99536" y="38100"/>
                  <a:pt x="95280" y="42356"/>
                  <a:pt x="95280" y="47625"/>
                </a:cubicBezTo>
                <a:cubicBezTo>
                  <a:pt x="95280" y="52894"/>
                  <a:pt x="99536" y="57150"/>
                  <a:pt x="104805" y="57150"/>
                </a:cubicBezTo>
                <a:lnTo>
                  <a:pt x="142905" y="57150"/>
                </a:lnTo>
                <a:cubicBezTo>
                  <a:pt x="148173" y="57150"/>
                  <a:pt x="152430" y="52894"/>
                  <a:pt x="152430" y="47625"/>
                </a:cubicBezTo>
                <a:lnTo>
                  <a:pt x="152430" y="9525"/>
                </a:lnTo>
                <a:cubicBezTo>
                  <a:pt x="152430" y="4256"/>
                  <a:pt x="148173" y="0"/>
                  <a:pt x="142905" y="0"/>
                </a:cubicBezTo>
                <a:cubicBezTo>
                  <a:pt x="137636" y="0"/>
                  <a:pt x="133380" y="4256"/>
                  <a:pt x="133380" y="9525"/>
                </a:cubicBezTo>
                <a:lnTo>
                  <a:pt x="133380" y="25420"/>
                </a:lnTo>
                <a:lnTo>
                  <a:pt x="130016" y="22235"/>
                </a:lnTo>
                <a:cubicBezTo>
                  <a:pt x="116235" y="8513"/>
                  <a:pt x="97185" y="0"/>
                  <a:pt x="76200" y="0"/>
                </a:cubicBezTo>
                <a:cubicBezTo>
                  <a:pt x="37802" y="0"/>
                  <a:pt x="6042" y="28396"/>
                  <a:pt x="774" y="65336"/>
                </a:cubicBezTo>
                <a:cubicBezTo>
                  <a:pt x="30" y="70545"/>
                  <a:pt x="3631" y="75367"/>
                  <a:pt x="8840" y="76111"/>
                </a:cubicBezTo>
                <a:cubicBezTo>
                  <a:pt x="14049" y="76855"/>
                  <a:pt x="18871" y="73223"/>
                  <a:pt x="19616" y="68044"/>
                </a:cubicBezTo>
                <a:close/>
                <a:moveTo>
                  <a:pt x="151626" y="87064"/>
                </a:moveTo>
                <a:cubicBezTo>
                  <a:pt x="152370" y="81855"/>
                  <a:pt x="148739" y="77033"/>
                  <a:pt x="143560" y="76289"/>
                </a:cubicBezTo>
                <a:cubicBezTo>
                  <a:pt x="138380" y="75545"/>
                  <a:pt x="133529" y="79177"/>
                  <a:pt x="132784" y="84356"/>
                </a:cubicBezTo>
                <a:cubicBezTo>
                  <a:pt x="128826" y="112038"/>
                  <a:pt x="104983" y="133320"/>
                  <a:pt x="76200" y="133320"/>
                </a:cubicBezTo>
                <a:cubicBezTo>
                  <a:pt x="60424" y="133320"/>
                  <a:pt x="46137" y="126921"/>
                  <a:pt x="35778" y="116592"/>
                </a:cubicBezTo>
                <a:cubicBezTo>
                  <a:pt x="35719" y="116532"/>
                  <a:pt x="35659" y="116473"/>
                  <a:pt x="35600" y="116413"/>
                </a:cubicBezTo>
                <a:lnTo>
                  <a:pt x="33337" y="114270"/>
                </a:lnTo>
                <a:lnTo>
                  <a:pt x="47595" y="114270"/>
                </a:lnTo>
                <a:cubicBezTo>
                  <a:pt x="52864" y="114270"/>
                  <a:pt x="57120" y="110014"/>
                  <a:pt x="57120" y="104745"/>
                </a:cubicBezTo>
                <a:cubicBezTo>
                  <a:pt x="57120" y="99477"/>
                  <a:pt x="52864" y="95220"/>
                  <a:pt x="47595" y="95220"/>
                </a:cubicBezTo>
                <a:lnTo>
                  <a:pt x="9525" y="95250"/>
                </a:lnTo>
                <a:cubicBezTo>
                  <a:pt x="6995" y="95250"/>
                  <a:pt x="4554" y="96262"/>
                  <a:pt x="2768" y="98078"/>
                </a:cubicBezTo>
                <a:cubicBezTo>
                  <a:pt x="982" y="99893"/>
                  <a:pt x="-30" y="102304"/>
                  <a:pt x="0" y="104864"/>
                </a:cubicBezTo>
                <a:lnTo>
                  <a:pt x="298" y="142667"/>
                </a:lnTo>
                <a:cubicBezTo>
                  <a:pt x="327" y="147935"/>
                  <a:pt x="4643" y="152162"/>
                  <a:pt x="9912" y="152102"/>
                </a:cubicBezTo>
                <a:cubicBezTo>
                  <a:pt x="15180" y="152043"/>
                  <a:pt x="19407" y="147757"/>
                  <a:pt x="19348" y="142488"/>
                </a:cubicBezTo>
                <a:lnTo>
                  <a:pt x="19229" y="127159"/>
                </a:lnTo>
                <a:lnTo>
                  <a:pt x="22414" y="130165"/>
                </a:lnTo>
                <a:cubicBezTo>
                  <a:pt x="36195" y="143887"/>
                  <a:pt x="55215" y="152400"/>
                  <a:pt x="76200" y="152400"/>
                </a:cubicBezTo>
                <a:cubicBezTo>
                  <a:pt x="114598" y="152400"/>
                  <a:pt x="146358" y="124004"/>
                  <a:pt x="151626" y="87064"/>
                </a:cubicBezTo>
                <a:close/>
              </a:path>
            </a:pathLst>
          </a:custGeom>
          <a:solidFill>
            <a:srgbClr val="6366F1"/>
          </a:solidFill>
          <a:ln/>
        </p:spPr>
      </p:sp>
      <p:sp>
        <p:nvSpPr>
          <p:cNvPr id="34" name="Text 32"/>
          <p:cNvSpPr/>
          <p:nvPr/>
        </p:nvSpPr>
        <p:spPr>
          <a:xfrm>
            <a:off x="807720" y="5090164"/>
            <a:ext cx="254317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Reactive</a:t>
            </a:r>
            <a:endParaRPr lang="en-US" sz="1600" dirty="0"/>
          </a:p>
        </p:txBody>
      </p:sp>
      <p:sp>
        <p:nvSpPr>
          <p:cNvPr id="35" name="Text 33"/>
          <p:cNvSpPr/>
          <p:nvPr/>
        </p:nvSpPr>
        <p:spPr>
          <a:xfrm>
            <a:off x="807720" y="5318764"/>
            <a:ext cx="254317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Responds to changes in environment</a:t>
            </a:r>
            <a:endParaRPr lang="en-US" sz="1600" dirty="0"/>
          </a:p>
        </p:txBody>
      </p:sp>
      <p:sp>
        <p:nvSpPr>
          <p:cNvPr id="36" name="Shape 34"/>
          <p:cNvSpPr/>
          <p:nvPr/>
        </p:nvSpPr>
        <p:spPr>
          <a:xfrm>
            <a:off x="512445" y="5642614"/>
            <a:ext cx="171450" cy="152400"/>
          </a:xfrm>
          <a:custGeom>
            <a:avLst/>
            <a:gdLst/>
            <a:ahLst/>
            <a:cxnLst/>
            <a:rect l="l" t="t" r="r" b="b"/>
            <a:pathLst>
              <a:path w="171450" h="152400">
                <a:moveTo>
                  <a:pt x="14288" y="58281"/>
                </a:moveTo>
                <a:lnTo>
                  <a:pt x="76557" y="83909"/>
                </a:lnTo>
                <a:cubicBezTo>
                  <a:pt x="79474" y="85100"/>
                  <a:pt x="82570" y="85725"/>
                  <a:pt x="85725" y="85725"/>
                </a:cubicBezTo>
                <a:cubicBezTo>
                  <a:pt x="88880" y="85725"/>
                  <a:pt x="91976" y="85100"/>
                  <a:pt x="94893" y="83909"/>
                </a:cubicBezTo>
                <a:lnTo>
                  <a:pt x="167045" y="54203"/>
                </a:lnTo>
                <a:cubicBezTo>
                  <a:pt x="169724" y="53102"/>
                  <a:pt x="171450" y="50512"/>
                  <a:pt x="171450" y="47625"/>
                </a:cubicBezTo>
                <a:cubicBezTo>
                  <a:pt x="171450" y="44738"/>
                  <a:pt x="169724" y="42148"/>
                  <a:pt x="167045" y="41047"/>
                </a:cubicBezTo>
                <a:lnTo>
                  <a:pt x="94893" y="11341"/>
                </a:lnTo>
                <a:cubicBezTo>
                  <a:pt x="91976" y="10150"/>
                  <a:pt x="88880" y="9525"/>
                  <a:pt x="85725" y="9525"/>
                </a:cubicBezTo>
                <a:cubicBezTo>
                  <a:pt x="82570" y="9525"/>
                  <a:pt x="79474" y="10150"/>
                  <a:pt x="76557" y="11341"/>
                </a:cubicBezTo>
                <a:lnTo>
                  <a:pt x="4405" y="41047"/>
                </a:lnTo>
                <a:cubicBezTo>
                  <a:pt x="1726" y="42148"/>
                  <a:pt x="0" y="44738"/>
                  <a:pt x="0" y="47625"/>
                </a:cubicBezTo>
                <a:lnTo>
                  <a:pt x="0" y="135731"/>
                </a:lnTo>
                <a:cubicBezTo>
                  <a:pt x="0" y="139690"/>
                  <a:pt x="3185" y="142875"/>
                  <a:pt x="7144" y="142875"/>
                </a:cubicBezTo>
                <a:cubicBezTo>
                  <a:pt x="11103" y="142875"/>
                  <a:pt x="14288" y="139690"/>
                  <a:pt x="14288" y="135731"/>
                </a:cubicBezTo>
                <a:lnTo>
                  <a:pt x="14288" y="58281"/>
                </a:lnTo>
                <a:close/>
                <a:moveTo>
                  <a:pt x="28575" y="79623"/>
                </a:moveTo>
                <a:lnTo>
                  <a:pt x="28575" y="114300"/>
                </a:lnTo>
                <a:cubicBezTo>
                  <a:pt x="28575" y="130076"/>
                  <a:pt x="54173" y="142875"/>
                  <a:pt x="85725" y="142875"/>
                </a:cubicBezTo>
                <a:cubicBezTo>
                  <a:pt x="117277" y="142875"/>
                  <a:pt x="142875" y="130076"/>
                  <a:pt x="142875" y="114300"/>
                </a:cubicBezTo>
                <a:lnTo>
                  <a:pt x="142875" y="79593"/>
                </a:lnTo>
                <a:lnTo>
                  <a:pt x="100340" y="97125"/>
                </a:lnTo>
                <a:cubicBezTo>
                  <a:pt x="95696" y="99030"/>
                  <a:pt x="90755" y="100012"/>
                  <a:pt x="85725" y="100012"/>
                </a:cubicBezTo>
                <a:cubicBezTo>
                  <a:pt x="80695" y="100012"/>
                  <a:pt x="75754" y="99030"/>
                  <a:pt x="71110" y="97125"/>
                </a:cubicBezTo>
                <a:lnTo>
                  <a:pt x="28575" y="79593"/>
                </a:lnTo>
                <a:close/>
              </a:path>
            </a:pathLst>
          </a:custGeom>
          <a:solidFill>
            <a:srgbClr val="6366F1"/>
          </a:solidFill>
          <a:ln/>
        </p:spPr>
      </p:sp>
      <p:sp>
        <p:nvSpPr>
          <p:cNvPr id="37" name="Text 35"/>
          <p:cNvSpPr/>
          <p:nvPr/>
        </p:nvSpPr>
        <p:spPr>
          <a:xfrm>
            <a:off x="807720" y="5604514"/>
            <a:ext cx="212407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Adaptive</a:t>
            </a:r>
            <a:endParaRPr lang="en-US" sz="1600" dirty="0"/>
          </a:p>
        </p:txBody>
      </p:sp>
      <p:sp>
        <p:nvSpPr>
          <p:cNvPr id="38" name="Text 36"/>
          <p:cNvSpPr/>
          <p:nvPr/>
        </p:nvSpPr>
        <p:spPr>
          <a:xfrm>
            <a:off x="807720" y="5833114"/>
            <a:ext cx="212407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Learns and improves over time</a:t>
            </a:r>
            <a:endParaRPr lang="en-US" sz="1600" dirty="0"/>
          </a:p>
        </p:txBody>
      </p:sp>
      <p:sp>
        <p:nvSpPr>
          <p:cNvPr id="39" name="Shape 37"/>
          <p:cNvSpPr/>
          <p:nvPr/>
        </p:nvSpPr>
        <p:spPr>
          <a:xfrm>
            <a:off x="7303770" y="1108710"/>
            <a:ext cx="4503420" cy="1798320"/>
          </a:xfrm>
          <a:prstGeom prst="roundRect">
            <a:avLst>
              <a:gd name="adj" fmla="val 6356"/>
            </a:avLst>
          </a:prstGeom>
          <a:gradFill rotWithShape="1" flip="none">
            <a:gsLst>
              <a:gs pos="0">
                <a:srgbClr val="6366F1">
                  <a:alpha val="20000"/>
                </a:srgbClr>
              </a:gs>
              <a:gs pos="100000">
                <a:srgbClr val="6366F1">
                  <a:alpha val="5000"/>
                </a:srgbClr>
              </a:gs>
            </a:gsLst>
            <a:lin ang="2700000" scaled="1"/>
          </a:gradFill>
          <a:ln w="10160">
            <a:solidFill>
              <a:srgbClr val="6366F1"/>
            </a:solidFill>
            <a:prstDash val="solid"/>
          </a:ln>
        </p:spPr>
      </p:sp>
      <p:sp>
        <p:nvSpPr>
          <p:cNvPr id="40" name="Shape 38"/>
          <p:cNvSpPr/>
          <p:nvPr/>
        </p:nvSpPr>
        <p:spPr>
          <a:xfrm>
            <a:off x="7469505" y="1264918"/>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6366F1"/>
          </a:solidFill>
          <a:ln/>
        </p:spPr>
      </p:sp>
      <p:sp>
        <p:nvSpPr>
          <p:cNvPr id="41" name="Text 39"/>
          <p:cNvSpPr/>
          <p:nvPr/>
        </p:nvSpPr>
        <p:spPr>
          <a:xfrm>
            <a:off x="7736205" y="1226818"/>
            <a:ext cx="1809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Real-World Example</a:t>
            </a:r>
            <a:endParaRPr lang="en-US" sz="1600" dirty="0"/>
          </a:p>
        </p:txBody>
      </p:sp>
      <p:sp>
        <p:nvSpPr>
          <p:cNvPr id="42" name="Shape 40"/>
          <p:cNvSpPr/>
          <p:nvPr/>
        </p:nvSpPr>
        <p:spPr>
          <a:xfrm>
            <a:off x="7421880" y="1569718"/>
            <a:ext cx="4267200" cy="1219200"/>
          </a:xfrm>
          <a:prstGeom prst="roundRect">
            <a:avLst>
              <a:gd name="adj" fmla="val 6250"/>
            </a:avLst>
          </a:prstGeom>
          <a:solidFill>
            <a:srgbClr val="191919"/>
          </a:solidFill>
          <a:ln/>
        </p:spPr>
      </p:sp>
      <p:sp>
        <p:nvSpPr>
          <p:cNvPr id="43" name="Text 41"/>
          <p:cNvSpPr/>
          <p:nvPr/>
        </p:nvSpPr>
        <p:spPr>
          <a:xfrm>
            <a:off x="7536180" y="1684018"/>
            <a:ext cx="4124325" cy="266700"/>
          </a:xfrm>
          <a:prstGeom prst="rect">
            <a:avLst/>
          </a:prstGeom>
          <a:noFill/>
          <a:ln/>
        </p:spPr>
        <p:txBody>
          <a:bodyPr wrap="square" lIns="0" tIns="0" rIns="0" bIns="0" rtlCol="0" anchor="ctr"/>
          <a:lstStyle/>
          <a:p>
            <a:pPr>
              <a:lnSpc>
                <a:spcPct val="130000"/>
              </a:lnSpc>
            </a:pPr>
            <a:r>
              <a:rPr lang="en-US" sz="1350" b="1" dirty="0">
                <a:solidFill>
                  <a:srgbClr val="6366F1"/>
                </a:solidFill>
                <a:latin typeface="Liter" pitchFamily="34" charset="0"/>
                <a:ea typeface="Liter" pitchFamily="34" charset="-122"/>
                <a:cs typeface="Liter" pitchFamily="34" charset="-120"/>
              </a:rPr>
              <a:t>Roomba Robot Vacuum</a:t>
            </a:r>
            <a:endParaRPr lang="en-US" sz="1600" dirty="0"/>
          </a:p>
        </p:txBody>
      </p:sp>
      <p:sp>
        <p:nvSpPr>
          <p:cNvPr id="44" name="Text 42"/>
          <p:cNvSpPr/>
          <p:nvPr/>
        </p:nvSpPr>
        <p:spPr>
          <a:xfrm>
            <a:off x="7536180" y="1988818"/>
            <a:ext cx="41148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Roomba is an AI agent! It senses dirty floors (input), decides where to clean (brain), and moves to vacuum (action). It learns your home's layout and gets better over time!</a:t>
            </a:r>
            <a:endParaRPr lang="en-US" sz="1600" dirty="0"/>
          </a:p>
        </p:txBody>
      </p:sp>
      <p:sp>
        <p:nvSpPr>
          <p:cNvPr id="45" name="Shape 43"/>
          <p:cNvSpPr/>
          <p:nvPr/>
        </p:nvSpPr>
        <p:spPr>
          <a:xfrm>
            <a:off x="7303770" y="2990856"/>
            <a:ext cx="4503420" cy="1264920"/>
          </a:xfrm>
          <a:prstGeom prst="roundRect">
            <a:avLst>
              <a:gd name="adj" fmla="val 9036"/>
            </a:avLst>
          </a:prstGeom>
          <a:solidFill>
            <a:srgbClr val="262626"/>
          </a:solidFill>
          <a:ln w="10160">
            <a:solidFill>
              <a:srgbClr val="333333"/>
            </a:solidFill>
            <a:prstDash val="solid"/>
          </a:ln>
        </p:spPr>
      </p:sp>
      <p:sp>
        <p:nvSpPr>
          <p:cNvPr id="46" name="Text 44"/>
          <p:cNvSpPr/>
          <p:nvPr/>
        </p:nvSpPr>
        <p:spPr>
          <a:xfrm>
            <a:off x="7421880" y="3108964"/>
            <a:ext cx="43529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 Simple Explanation</a:t>
            </a:r>
            <a:endParaRPr lang="en-US" sz="1600" dirty="0"/>
          </a:p>
        </p:txBody>
      </p:sp>
      <p:sp>
        <p:nvSpPr>
          <p:cNvPr id="47" name="Text 45"/>
          <p:cNvSpPr/>
          <p:nvPr/>
        </p:nvSpPr>
        <p:spPr>
          <a:xfrm>
            <a:off x="7421880" y="3451864"/>
            <a:ext cx="43434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An AI agent is like a smart pet that can do tasks. It watches its surroundings (perceives), thinks about what to do (decides), and then does it (acts)—all by itself!</a:t>
            </a:r>
            <a:endParaRPr lang="en-US" sz="1600" dirty="0"/>
          </a:p>
        </p:txBody>
      </p:sp>
      <p:sp>
        <p:nvSpPr>
          <p:cNvPr id="48" name="Shape 46"/>
          <p:cNvSpPr/>
          <p:nvPr/>
        </p:nvSpPr>
        <p:spPr>
          <a:xfrm>
            <a:off x="7303770" y="4339592"/>
            <a:ext cx="4503420" cy="1874520"/>
          </a:xfrm>
          <a:prstGeom prst="roundRect">
            <a:avLst>
              <a:gd name="adj" fmla="val 6098"/>
            </a:avLst>
          </a:prstGeom>
          <a:solidFill>
            <a:srgbClr val="262626"/>
          </a:solidFill>
          <a:ln w="10160">
            <a:solidFill>
              <a:srgbClr val="333333"/>
            </a:solidFill>
            <a:prstDash val="solid"/>
          </a:ln>
        </p:spPr>
      </p:sp>
      <p:sp>
        <p:nvSpPr>
          <p:cNvPr id="49" name="Shape 47"/>
          <p:cNvSpPr/>
          <p:nvPr/>
        </p:nvSpPr>
        <p:spPr>
          <a:xfrm>
            <a:off x="7456408" y="4505325"/>
            <a:ext cx="150019" cy="171450"/>
          </a:xfrm>
          <a:custGeom>
            <a:avLst/>
            <a:gdLst/>
            <a:ahLst/>
            <a:cxnLst/>
            <a:rect l="l" t="t" r="r" b="b"/>
            <a:pathLst>
              <a:path w="150019" h="171450">
                <a:moveTo>
                  <a:pt x="21431" y="10716"/>
                </a:moveTo>
                <a:cubicBezTo>
                  <a:pt x="9611" y="10716"/>
                  <a:pt x="0" y="20326"/>
                  <a:pt x="0" y="32147"/>
                </a:cubicBezTo>
                <a:lnTo>
                  <a:pt x="0" y="139303"/>
                </a:lnTo>
                <a:cubicBezTo>
                  <a:pt x="0" y="151124"/>
                  <a:pt x="9611" y="160734"/>
                  <a:pt x="21431" y="160734"/>
                </a:cubicBezTo>
                <a:lnTo>
                  <a:pt x="128588" y="160734"/>
                </a:lnTo>
                <a:cubicBezTo>
                  <a:pt x="140408" y="160734"/>
                  <a:pt x="150019" y="151124"/>
                  <a:pt x="150019" y="139303"/>
                </a:cubicBezTo>
                <a:lnTo>
                  <a:pt x="150019" y="32147"/>
                </a:lnTo>
                <a:cubicBezTo>
                  <a:pt x="150019" y="20326"/>
                  <a:pt x="140408" y="10716"/>
                  <a:pt x="128588" y="10716"/>
                </a:cubicBezTo>
                <a:lnTo>
                  <a:pt x="21431" y="10716"/>
                </a:lnTo>
                <a:close/>
                <a:moveTo>
                  <a:pt x="42863" y="37505"/>
                </a:moveTo>
                <a:cubicBezTo>
                  <a:pt x="51734" y="37505"/>
                  <a:pt x="58936" y="44707"/>
                  <a:pt x="58936" y="53578"/>
                </a:cubicBezTo>
                <a:cubicBezTo>
                  <a:pt x="58936" y="62449"/>
                  <a:pt x="51734" y="69652"/>
                  <a:pt x="42863" y="69652"/>
                </a:cubicBezTo>
                <a:cubicBezTo>
                  <a:pt x="33991" y="69652"/>
                  <a:pt x="26789" y="62449"/>
                  <a:pt x="26789" y="53578"/>
                </a:cubicBezTo>
                <a:cubicBezTo>
                  <a:pt x="26789" y="44707"/>
                  <a:pt x="33991" y="37505"/>
                  <a:pt x="42863" y="37505"/>
                </a:cubicBezTo>
                <a:close/>
                <a:moveTo>
                  <a:pt x="91083" y="75009"/>
                </a:moveTo>
                <a:cubicBezTo>
                  <a:pt x="93896" y="75009"/>
                  <a:pt x="96474" y="76483"/>
                  <a:pt x="97948" y="78860"/>
                </a:cubicBezTo>
                <a:lnTo>
                  <a:pt x="127415" y="127081"/>
                </a:lnTo>
                <a:cubicBezTo>
                  <a:pt x="128922" y="129559"/>
                  <a:pt x="128989" y="132673"/>
                  <a:pt x="127583" y="135218"/>
                </a:cubicBezTo>
                <a:cubicBezTo>
                  <a:pt x="126176" y="137763"/>
                  <a:pt x="123464" y="139303"/>
                  <a:pt x="120551" y="139303"/>
                </a:cubicBezTo>
                <a:lnTo>
                  <a:pt x="29468" y="139303"/>
                </a:lnTo>
                <a:cubicBezTo>
                  <a:pt x="26488" y="139303"/>
                  <a:pt x="23708" y="137629"/>
                  <a:pt x="22335" y="134983"/>
                </a:cubicBezTo>
                <a:cubicBezTo>
                  <a:pt x="20962" y="132338"/>
                  <a:pt x="21163" y="129123"/>
                  <a:pt x="22871" y="126679"/>
                </a:cubicBezTo>
                <a:lnTo>
                  <a:pt x="41624" y="99890"/>
                </a:lnTo>
                <a:cubicBezTo>
                  <a:pt x="43130" y="97747"/>
                  <a:pt x="45575" y="96474"/>
                  <a:pt x="48220" y="96474"/>
                </a:cubicBezTo>
                <a:cubicBezTo>
                  <a:pt x="50866" y="96474"/>
                  <a:pt x="53310" y="97747"/>
                  <a:pt x="54817" y="99890"/>
                </a:cubicBezTo>
                <a:lnTo>
                  <a:pt x="63658" y="112548"/>
                </a:lnTo>
                <a:lnTo>
                  <a:pt x="84218" y="78894"/>
                </a:lnTo>
                <a:cubicBezTo>
                  <a:pt x="85692" y="76516"/>
                  <a:pt x="88270" y="75043"/>
                  <a:pt x="91083" y="75043"/>
                </a:cubicBezTo>
                <a:close/>
              </a:path>
            </a:pathLst>
          </a:custGeom>
          <a:solidFill>
            <a:srgbClr val="6366F1"/>
          </a:solidFill>
          <a:ln/>
        </p:spPr>
      </p:sp>
      <p:sp>
        <p:nvSpPr>
          <p:cNvPr id="50" name="Text 48"/>
          <p:cNvSpPr/>
          <p:nvPr/>
        </p:nvSpPr>
        <p:spPr>
          <a:xfrm>
            <a:off x="7640955" y="4457700"/>
            <a:ext cx="41338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Visual</a:t>
            </a:r>
            <a:endParaRPr lang="en-US" sz="1600" dirty="0"/>
          </a:p>
        </p:txBody>
      </p:sp>
      <p:sp>
        <p:nvSpPr>
          <p:cNvPr id="51" name="Shape 49"/>
          <p:cNvSpPr/>
          <p:nvPr/>
        </p:nvSpPr>
        <p:spPr>
          <a:xfrm>
            <a:off x="7421880" y="4800600"/>
            <a:ext cx="4267200" cy="609600"/>
          </a:xfrm>
          <a:prstGeom prst="roundRect">
            <a:avLst>
              <a:gd name="adj" fmla="val 12500"/>
            </a:avLst>
          </a:prstGeom>
          <a:solidFill>
            <a:srgbClr val="191919"/>
          </a:solidFill>
          <a:ln/>
        </p:spPr>
      </p:sp>
      <p:sp>
        <p:nvSpPr>
          <p:cNvPr id="52" name="Text 50"/>
          <p:cNvSpPr/>
          <p:nvPr/>
        </p:nvSpPr>
        <p:spPr>
          <a:xfrm>
            <a:off x="7498080" y="48768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Diagram:</a:t>
            </a:r>
            <a:endParaRPr lang="en-US" sz="1600" dirty="0"/>
          </a:p>
        </p:txBody>
      </p:sp>
      <p:sp>
        <p:nvSpPr>
          <p:cNvPr id="53" name="Text 51"/>
          <p:cNvSpPr/>
          <p:nvPr/>
        </p:nvSpPr>
        <p:spPr>
          <a:xfrm>
            <a:off x="7498080" y="51054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Environment → Sensors → AI Brain → Actuators → Action</a:t>
            </a:r>
            <a:endParaRPr lang="en-US" sz="1600" dirty="0"/>
          </a:p>
        </p:txBody>
      </p:sp>
      <p:sp>
        <p:nvSpPr>
          <p:cNvPr id="54" name="Shape 52"/>
          <p:cNvSpPr/>
          <p:nvPr/>
        </p:nvSpPr>
        <p:spPr>
          <a:xfrm>
            <a:off x="7421880" y="5486400"/>
            <a:ext cx="4267200" cy="609600"/>
          </a:xfrm>
          <a:prstGeom prst="roundRect">
            <a:avLst>
              <a:gd name="adj" fmla="val 12500"/>
            </a:avLst>
          </a:prstGeom>
          <a:solidFill>
            <a:srgbClr val="191919"/>
          </a:solidFill>
          <a:ln/>
        </p:spPr>
      </p:sp>
      <p:sp>
        <p:nvSpPr>
          <p:cNvPr id="55" name="Text 53"/>
          <p:cNvSpPr/>
          <p:nvPr/>
        </p:nvSpPr>
        <p:spPr>
          <a:xfrm>
            <a:off x="7498080" y="55626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Image:</a:t>
            </a:r>
            <a:endParaRPr lang="en-US" sz="1600" dirty="0"/>
          </a:p>
        </p:txBody>
      </p:sp>
      <p:sp>
        <p:nvSpPr>
          <p:cNvPr id="56" name="Text 54"/>
          <p:cNvSpPr/>
          <p:nvPr/>
        </p:nvSpPr>
        <p:spPr>
          <a:xfrm>
            <a:off x="7498080" y="57912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Friendly robot with sensors highlighted</a:t>
            </a:r>
            <a:endParaRPr lang="en-US" sz="1600" dirty="0"/>
          </a:p>
        </p:txBody>
      </p:sp>
    </p:spTree>
  </p:cSld>
  <p:clrMapOvr>
    <a:masterClrMapping/>
  </p:clrMapOvr>
  <p:transition>
    <p:fade/>
    <p:spd val="med"/>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91919"/>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6366F1">
              <a:alpha val="20000"/>
            </a:srgbClr>
          </a:solidFill>
          <a:ln/>
        </p:spPr>
      </p:sp>
      <p:sp>
        <p:nvSpPr>
          <p:cNvPr id="3" name="Text 1"/>
          <p:cNvSpPr/>
          <p:nvPr/>
        </p:nvSpPr>
        <p:spPr>
          <a:xfrm>
            <a:off x="522684" y="533400"/>
            <a:ext cx="266700" cy="266700"/>
          </a:xfrm>
          <a:prstGeom prst="rect">
            <a:avLst/>
          </a:prstGeom>
          <a:noFill/>
          <a:ln/>
        </p:spPr>
        <p:txBody>
          <a:bodyPr wrap="square" lIns="0" tIns="0" rIns="0" bIns="0" rtlCol="0" anchor="ctr"/>
          <a:lstStyle/>
          <a:p>
            <a:pPr>
              <a:lnSpc>
                <a:spcPct val="120000"/>
              </a:lnSpc>
            </a:pPr>
            <a:r>
              <a:rPr lang="en-US" sz="1500" b="1" dirty="0">
                <a:solidFill>
                  <a:srgbClr val="6366F1"/>
                </a:solidFill>
                <a:latin typeface="Liter" pitchFamily="34" charset="0"/>
                <a:ea typeface="Liter" pitchFamily="34" charset="-122"/>
                <a:cs typeface="Liter" pitchFamily="34" charset="-120"/>
              </a:rPr>
              <a:t>17</a:t>
            </a:r>
            <a:endParaRPr lang="en-US" sz="1600" dirty="0"/>
          </a:p>
        </p:txBody>
      </p:sp>
      <p:sp>
        <p:nvSpPr>
          <p:cNvPr id="4" name="Text 2"/>
          <p:cNvSpPr/>
          <p:nvPr/>
        </p:nvSpPr>
        <p:spPr>
          <a:xfrm>
            <a:off x="952500" y="381000"/>
            <a:ext cx="3200400" cy="190500"/>
          </a:xfrm>
          <a:prstGeom prst="rect">
            <a:avLst/>
          </a:prstGeom>
          <a:noFill/>
          <a:ln/>
        </p:spPr>
        <p:txBody>
          <a:bodyPr wrap="square" lIns="0" tIns="0" rIns="0" bIns="0" rtlCol="0" anchor="ctr"/>
          <a:lstStyle/>
          <a:p>
            <a:pPr>
              <a:lnSpc>
                <a:spcPct val="120000"/>
              </a:lnSpc>
            </a:pPr>
            <a:r>
              <a:rPr lang="en-US" sz="1050" b="1" spc="53" kern="0" dirty="0">
                <a:solidFill>
                  <a:srgbClr val="6366F1"/>
                </a:solidFill>
                <a:latin typeface="Liter" pitchFamily="34" charset="0"/>
                <a:ea typeface="Liter" pitchFamily="34" charset="-122"/>
                <a:cs typeface="Liter" pitchFamily="34" charset="-120"/>
              </a:rPr>
              <a:t>Agents in AI</a:t>
            </a:r>
            <a:endParaRPr lang="en-US" sz="1600" dirty="0"/>
          </a:p>
        </p:txBody>
      </p:sp>
      <p:sp>
        <p:nvSpPr>
          <p:cNvPr id="5" name="Text 3"/>
          <p:cNvSpPr/>
          <p:nvPr/>
        </p:nvSpPr>
        <p:spPr>
          <a:xfrm>
            <a:off x="952500" y="571500"/>
            <a:ext cx="3305175"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How AI Agents Work</a:t>
            </a:r>
            <a:endParaRPr lang="en-US" sz="1600" dirty="0"/>
          </a:p>
        </p:txBody>
      </p:sp>
      <p:sp>
        <p:nvSpPr>
          <p:cNvPr id="6" name="Shape 4"/>
          <p:cNvSpPr/>
          <p:nvPr/>
        </p:nvSpPr>
        <p:spPr>
          <a:xfrm>
            <a:off x="384810" y="1108710"/>
            <a:ext cx="6760845" cy="3893820"/>
          </a:xfrm>
          <a:prstGeom prst="roundRect">
            <a:avLst>
              <a:gd name="adj" fmla="val 2935"/>
            </a:avLst>
          </a:prstGeom>
          <a:solidFill>
            <a:srgbClr val="262626"/>
          </a:solidFill>
          <a:ln w="10160">
            <a:solidFill>
              <a:srgbClr val="333333"/>
            </a:solidFill>
            <a:prstDash val="solid"/>
          </a:ln>
        </p:spPr>
      </p:sp>
      <p:sp>
        <p:nvSpPr>
          <p:cNvPr id="7" name="Shape 5"/>
          <p:cNvSpPr/>
          <p:nvPr/>
        </p:nvSpPr>
        <p:spPr>
          <a:xfrm>
            <a:off x="502920" y="1264918"/>
            <a:ext cx="238125" cy="190500"/>
          </a:xfrm>
          <a:custGeom>
            <a:avLst/>
            <a:gdLst/>
            <a:ahLst/>
            <a:cxnLst/>
            <a:rect l="l" t="t" r="r" b="b"/>
            <a:pathLst>
              <a:path w="238125" h="190500">
                <a:moveTo>
                  <a:pt x="154744" y="78321"/>
                </a:moveTo>
                <a:cubicBezTo>
                  <a:pt x="159283" y="77093"/>
                  <a:pt x="164046" y="79251"/>
                  <a:pt x="166092" y="83455"/>
                </a:cubicBezTo>
                <a:lnTo>
                  <a:pt x="173013" y="97445"/>
                </a:lnTo>
                <a:cubicBezTo>
                  <a:pt x="176845" y="97966"/>
                  <a:pt x="180603" y="99008"/>
                  <a:pt x="184138" y="100459"/>
                </a:cubicBezTo>
                <a:lnTo>
                  <a:pt x="197160" y="91790"/>
                </a:lnTo>
                <a:cubicBezTo>
                  <a:pt x="201067" y="89185"/>
                  <a:pt x="206239" y="89706"/>
                  <a:pt x="209550" y="93018"/>
                </a:cubicBezTo>
                <a:lnTo>
                  <a:pt x="216694" y="100161"/>
                </a:lnTo>
                <a:cubicBezTo>
                  <a:pt x="220005" y="103473"/>
                  <a:pt x="220526" y="108682"/>
                  <a:pt x="217922" y="112551"/>
                </a:cubicBezTo>
                <a:lnTo>
                  <a:pt x="209252" y="125537"/>
                </a:lnTo>
                <a:cubicBezTo>
                  <a:pt x="209959" y="127285"/>
                  <a:pt x="210592" y="129108"/>
                  <a:pt x="211113" y="131006"/>
                </a:cubicBezTo>
                <a:cubicBezTo>
                  <a:pt x="211634" y="132904"/>
                  <a:pt x="211968" y="134764"/>
                  <a:pt x="212229" y="136661"/>
                </a:cubicBezTo>
                <a:lnTo>
                  <a:pt x="226256" y="143582"/>
                </a:lnTo>
                <a:cubicBezTo>
                  <a:pt x="230460" y="145666"/>
                  <a:pt x="232618" y="150428"/>
                  <a:pt x="231391" y="154930"/>
                </a:cubicBezTo>
                <a:lnTo>
                  <a:pt x="228786" y="164678"/>
                </a:lnTo>
                <a:cubicBezTo>
                  <a:pt x="227558" y="169180"/>
                  <a:pt x="223354" y="172231"/>
                  <a:pt x="218666" y="171934"/>
                </a:cubicBezTo>
                <a:lnTo>
                  <a:pt x="203039" y="170929"/>
                </a:lnTo>
                <a:cubicBezTo>
                  <a:pt x="200695" y="173943"/>
                  <a:pt x="197979" y="176733"/>
                  <a:pt x="194890" y="179115"/>
                </a:cubicBezTo>
                <a:lnTo>
                  <a:pt x="195895" y="194704"/>
                </a:lnTo>
                <a:cubicBezTo>
                  <a:pt x="196193" y="199392"/>
                  <a:pt x="193142" y="203634"/>
                  <a:pt x="188640" y="204825"/>
                </a:cubicBezTo>
                <a:lnTo>
                  <a:pt x="178891" y="207429"/>
                </a:lnTo>
                <a:cubicBezTo>
                  <a:pt x="174352" y="208657"/>
                  <a:pt x="169627" y="206499"/>
                  <a:pt x="167543" y="202295"/>
                </a:cubicBezTo>
                <a:lnTo>
                  <a:pt x="160623" y="188305"/>
                </a:lnTo>
                <a:cubicBezTo>
                  <a:pt x="156790" y="187784"/>
                  <a:pt x="153033" y="186742"/>
                  <a:pt x="149498" y="185291"/>
                </a:cubicBezTo>
                <a:lnTo>
                  <a:pt x="136475" y="193960"/>
                </a:lnTo>
                <a:cubicBezTo>
                  <a:pt x="132569" y="196565"/>
                  <a:pt x="127397" y="196044"/>
                  <a:pt x="124085" y="192732"/>
                </a:cubicBezTo>
                <a:lnTo>
                  <a:pt x="116942" y="185589"/>
                </a:lnTo>
                <a:cubicBezTo>
                  <a:pt x="113630" y="182277"/>
                  <a:pt x="113109" y="177105"/>
                  <a:pt x="115714" y="173199"/>
                </a:cubicBezTo>
                <a:lnTo>
                  <a:pt x="124383" y="160176"/>
                </a:lnTo>
                <a:cubicBezTo>
                  <a:pt x="123676" y="158428"/>
                  <a:pt x="123044" y="156604"/>
                  <a:pt x="122523" y="154707"/>
                </a:cubicBezTo>
                <a:cubicBezTo>
                  <a:pt x="122002" y="152809"/>
                  <a:pt x="121667" y="150912"/>
                  <a:pt x="121407" y="149051"/>
                </a:cubicBezTo>
                <a:lnTo>
                  <a:pt x="107379" y="142131"/>
                </a:lnTo>
                <a:cubicBezTo>
                  <a:pt x="103175" y="140047"/>
                  <a:pt x="101054" y="135285"/>
                  <a:pt x="102245" y="130783"/>
                </a:cubicBezTo>
                <a:lnTo>
                  <a:pt x="104849" y="121034"/>
                </a:lnTo>
                <a:cubicBezTo>
                  <a:pt x="106077" y="116532"/>
                  <a:pt x="110282" y="113481"/>
                  <a:pt x="114970" y="113779"/>
                </a:cubicBezTo>
                <a:lnTo>
                  <a:pt x="130559" y="114784"/>
                </a:lnTo>
                <a:cubicBezTo>
                  <a:pt x="132904" y="111770"/>
                  <a:pt x="135620" y="108979"/>
                  <a:pt x="138708" y="106598"/>
                </a:cubicBezTo>
                <a:lnTo>
                  <a:pt x="137703" y="91046"/>
                </a:lnTo>
                <a:cubicBezTo>
                  <a:pt x="137406" y="86358"/>
                  <a:pt x="140457" y="82116"/>
                  <a:pt x="144959" y="80925"/>
                </a:cubicBezTo>
                <a:lnTo>
                  <a:pt x="154707" y="78321"/>
                </a:lnTo>
                <a:close/>
                <a:moveTo>
                  <a:pt x="166836" y="126504"/>
                </a:moveTo>
                <a:cubicBezTo>
                  <a:pt x="157801" y="126514"/>
                  <a:pt x="150474" y="133858"/>
                  <a:pt x="150484" y="142894"/>
                </a:cubicBezTo>
                <a:cubicBezTo>
                  <a:pt x="150494" y="151929"/>
                  <a:pt x="157838" y="159256"/>
                  <a:pt x="166874" y="159246"/>
                </a:cubicBezTo>
                <a:cubicBezTo>
                  <a:pt x="175909" y="159236"/>
                  <a:pt x="183236" y="151892"/>
                  <a:pt x="183226" y="142856"/>
                </a:cubicBezTo>
                <a:cubicBezTo>
                  <a:pt x="183216" y="133821"/>
                  <a:pt x="175872" y="126494"/>
                  <a:pt x="166836" y="126504"/>
                </a:cubicBezTo>
                <a:close/>
                <a:moveTo>
                  <a:pt x="83679" y="-16929"/>
                </a:moveTo>
                <a:lnTo>
                  <a:pt x="93427" y="-14325"/>
                </a:lnTo>
                <a:cubicBezTo>
                  <a:pt x="97929" y="-13097"/>
                  <a:pt x="100980" y="-8855"/>
                  <a:pt x="100682" y="-4204"/>
                </a:cubicBezTo>
                <a:lnTo>
                  <a:pt x="99678" y="11348"/>
                </a:lnTo>
                <a:cubicBezTo>
                  <a:pt x="102766" y="13729"/>
                  <a:pt x="105482" y="16483"/>
                  <a:pt x="107826" y="19534"/>
                </a:cubicBezTo>
                <a:lnTo>
                  <a:pt x="123453" y="18529"/>
                </a:lnTo>
                <a:cubicBezTo>
                  <a:pt x="128104" y="18231"/>
                  <a:pt x="132345" y="21282"/>
                  <a:pt x="133573" y="25784"/>
                </a:cubicBezTo>
                <a:lnTo>
                  <a:pt x="136178" y="35533"/>
                </a:lnTo>
                <a:cubicBezTo>
                  <a:pt x="137368" y="40035"/>
                  <a:pt x="135248" y="44797"/>
                  <a:pt x="131043" y="46881"/>
                </a:cubicBezTo>
                <a:lnTo>
                  <a:pt x="117016" y="53801"/>
                </a:lnTo>
                <a:cubicBezTo>
                  <a:pt x="116756" y="55699"/>
                  <a:pt x="116384" y="57596"/>
                  <a:pt x="115900" y="59457"/>
                </a:cubicBezTo>
                <a:cubicBezTo>
                  <a:pt x="115416" y="61317"/>
                  <a:pt x="114746" y="63178"/>
                  <a:pt x="114040" y="64926"/>
                </a:cubicBezTo>
                <a:lnTo>
                  <a:pt x="122709" y="77949"/>
                </a:lnTo>
                <a:cubicBezTo>
                  <a:pt x="125313" y="81855"/>
                  <a:pt x="124792" y="87027"/>
                  <a:pt x="121481" y="90339"/>
                </a:cubicBezTo>
                <a:lnTo>
                  <a:pt x="114337" y="97482"/>
                </a:lnTo>
                <a:cubicBezTo>
                  <a:pt x="111026" y="100794"/>
                  <a:pt x="105854" y="101315"/>
                  <a:pt x="101947" y="98710"/>
                </a:cubicBezTo>
                <a:lnTo>
                  <a:pt x="88925" y="90041"/>
                </a:lnTo>
                <a:cubicBezTo>
                  <a:pt x="85390" y="91492"/>
                  <a:pt x="81632" y="92534"/>
                  <a:pt x="77800" y="93055"/>
                </a:cubicBezTo>
                <a:lnTo>
                  <a:pt x="70879" y="107045"/>
                </a:lnTo>
                <a:cubicBezTo>
                  <a:pt x="68796" y="111249"/>
                  <a:pt x="64033" y="113370"/>
                  <a:pt x="59531" y="112179"/>
                </a:cubicBezTo>
                <a:lnTo>
                  <a:pt x="49783" y="109575"/>
                </a:lnTo>
                <a:cubicBezTo>
                  <a:pt x="45244" y="108347"/>
                  <a:pt x="42230" y="104105"/>
                  <a:pt x="42528" y="99454"/>
                </a:cubicBezTo>
                <a:lnTo>
                  <a:pt x="43532" y="83865"/>
                </a:lnTo>
                <a:cubicBezTo>
                  <a:pt x="40444" y="81483"/>
                  <a:pt x="37728" y="78730"/>
                  <a:pt x="35384" y="75679"/>
                </a:cubicBezTo>
                <a:lnTo>
                  <a:pt x="19757" y="76684"/>
                </a:lnTo>
                <a:cubicBezTo>
                  <a:pt x="15106" y="76981"/>
                  <a:pt x="10864" y="73930"/>
                  <a:pt x="9637" y="69428"/>
                </a:cubicBezTo>
                <a:lnTo>
                  <a:pt x="7032" y="59680"/>
                </a:lnTo>
                <a:cubicBezTo>
                  <a:pt x="5842" y="55178"/>
                  <a:pt x="7962" y="50416"/>
                  <a:pt x="12167" y="48332"/>
                </a:cubicBezTo>
                <a:lnTo>
                  <a:pt x="26194" y="41411"/>
                </a:lnTo>
                <a:cubicBezTo>
                  <a:pt x="26454" y="39514"/>
                  <a:pt x="26826" y="37654"/>
                  <a:pt x="27310" y="35756"/>
                </a:cubicBezTo>
                <a:cubicBezTo>
                  <a:pt x="27831" y="33858"/>
                  <a:pt x="28426" y="32035"/>
                  <a:pt x="29170" y="30287"/>
                </a:cubicBezTo>
                <a:lnTo>
                  <a:pt x="20501" y="17301"/>
                </a:lnTo>
                <a:cubicBezTo>
                  <a:pt x="17897" y="13395"/>
                  <a:pt x="18417" y="8223"/>
                  <a:pt x="21729" y="4911"/>
                </a:cubicBezTo>
                <a:lnTo>
                  <a:pt x="28873" y="-2232"/>
                </a:lnTo>
                <a:cubicBezTo>
                  <a:pt x="32184" y="-5544"/>
                  <a:pt x="37356" y="-6065"/>
                  <a:pt x="41263" y="-3460"/>
                </a:cubicBezTo>
                <a:lnTo>
                  <a:pt x="54285" y="5209"/>
                </a:lnTo>
                <a:cubicBezTo>
                  <a:pt x="57820" y="3758"/>
                  <a:pt x="61578" y="2716"/>
                  <a:pt x="65410" y="2195"/>
                </a:cubicBezTo>
                <a:lnTo>
                  <a:pt x="72330" y="-11795"/>
                </a:lnTo>
                <a:cubicBezTo>
                  <a:pt x="74414" y="-15999"/>
                  <a:pt x="79139" y="-18120"/>
                  <a:pt x="83679" y="-16929"/>
                </a:cubicBezTo>
                <a:close/>
                <a:moveTo>
                  <a:pt x="71586" y="31254"/>
                </a:moveTo>
                <a:cubicBezTo>
                  <a:pt x="62551" y="31254"/>
                  <a:pt x="55215" y="38590"/>
                  <a:pt x="55215" y="47625"/>
                </a:cubicBezTo>
                <a:cubicBezTo>
                  <a:pt x="55215" y="56660"/>
                  <a:pt x="62551" y="63996"/>
                  <a:pt x="71586" y="63996"/>
                </a:cubicBezTo>
                <a:cubicBezTo>
                  <a:pt x="80622" y="63996"/>
                  <a:pt x="87957" y="56660"/>
                  <a:pt x="87957" y="47625"/>
                </a:cubicBezTo>
                <a:cubicBezTo>
                  <a:pt x="87957" y="38590"/>
                  <a:pt x="80622" y="31254"/>
                  <a:pt x="71586" y="31254"/>
                </a:cubicBezTo>
                <a:close/>
              </a:path>
            </a:pathLst>
          </a:custGeom>
          <a:solidFill>
            <a:srgbClr val="6366F1"/>
          </a:solidFill>
          <a:ln/>
        </p:spPr>
      </p:sp>
      <p:sp>
        <p:nvSpPr>
          <p:cNvPr id="8" name="Text 6"/>
          <p:cNvSpPr/>
          <p:nvPr/>
        </p:nvSpPr>
        <p:spPr>
          <a:xfrm>
            <a:off x="741045" y="1226818"/>
            <a:ext cx="6381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The Agent Cycle</a:t>
            </a:r>
            <a:endParaRPr lang="en-US" sz="1600" dirty="0"/>
          </a:p>
        </p:txBody>
      </p:sp>
      <p:sp>
        <p:nvSpPr>
          <p:cNvPr id="9" name="Shape 7"/>
          <p:cNvSpPr/>
          <p:nvPr/>
        </p:nvSpPr>
        <p:spPr>
          <a:xfrm>
            <a:off x="502920" y="1626868"/>
            <a:ext cx="457200" cy="457200"/>
          </a:xfrm>
          <a:prstGeom prst="roundRect">
            <a:avLst>
              <a:gd name="adj" fmla="val 25000"/>
            </a:avLst>
          </a:prstGeom>
          <a:solidFill>
            <a:srgbClr val="2B7FFF">
              <a:alpha val="20000"/>
            </a:srgbClr>
          </a:solidFill>
          <a:ln/>
        </p:spPr>
      </p:sp>
      <p:sp>
        <p:nvSpPr>
          <p:cNvPr id="10" name="Text 8"/>
          <p:cNvSpPr/>
          <p:nvPr/>
        </p:nvSpPr>
        <p:spPr>
          <a:xfrm>
            <a:off x="701040" y="1741168"/>
            <a:ext cx="133350" cy="228600"/>
          </a:xfrm>
          <a:prstGeom prst="rect">
            <a:avLst/>
          </a:prstGeom>
          <a:noFill/>
          <a:ln/>
        </p:spPr>
        <p:txBody>
          <a:bodyPr wrap="square" lIns="0" tIns="0" rIns="0" bIns="0" rtlCol="0" anchor="ctr"/>
          <a:lstStyle/>
          <a:p>
            <a:pPr>
              <a:lnSpc>
                <a:spcPct val="130000"/>
              </a:lnSpc>
            </a:pPr>
            <a:r>
              <a:rPr lang="en-US" sz="1200" b="1" dirty="0">
                <a:solidFill>
                  <a:srgbClr val="2B7FFF"/>
                </a:solidFill>
                <a:latin typeface="Liter" pitchFamily="34" charset="0"/>
                <a:ea typeface="Liter" pitchFamily="34" charset="-122"/>
                <a:cs typeface="Liter" pitchFamily="34" charset="-120"/>
              </a:rPr>
              <a:t>1</a:t>
            </a:r>
            <a:endParaRPr lang="en-US" sz="1600" dirty="0"/>
          </a:p>
        </p:txBody>
      </p:sp>
      <p:sp>
        <p:nvSpPr>
          <p:cNvPr id="11" name="Shape 9"/>
          <p:cNvSpPr/>
          <p:nvPr/>
        </p:nvSpPr>
        <p:spPr>
          <a:xfrm>
            <a:off x="1074420" y="1569718"/>
            <a:ext cx="5953125" cy="571500"/>
          </a:xfrm>
          <a:prstGeom prst="roundRect">
            <a:avLst>
              <a:gd name="adj" fmla="val 13333"/>
            </a:avLst>
          </a:prstGeom>
          <a:solidFill>
            <a:srgbClr val="191919"/>
          </a:solidFill>
          <a:ln/>
        </p:spPr>
      </p:sp>
      <p:sp>
        <p:nvSpPr>
          <p:cNvPr id="12" name="Text 10"/>
          <p:cNvSpPr/>
          <p:nvPr/>
        </p:nvSpPr>
        <p:spPr>
          <a:xfrm>
            <a:off x="1150620" y="1645918"/>
            <a:ext cx="58769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PERCEIVE</a:t>
            </a:r>
            <a:endParaRPr lang="en-US" sz="1600" dirty="0"/>
          </a:p>
        </p:txBody>
      </p:sp>
      <p:sp>
        <p:nvSpPr>
          <p:cNvPr id="13" name="Text 11"/>
          <p:cNvSpPr/>
          <p:nvPr/>
        </p:nvSpPr>
        <p:spPr>
          <a:xfrm>
            <a:off x="1150620" y="1874518"/>
            <a:ext cx="5867400"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Agent uses sensors to gather information about the environment</a:t>
            </a:r>
            <a:endParaRPr lang="en-US" sz="1600" dirty="0"/>
          </a:p>
        </p:txBody>
      </p:sp>
      <p:sp>
        <p:nvSpPr>
          <p:cNvPr id="14" name="Shape 12"/>
          <p:cNvSpPr/>
          <p:nvPr/>
        </p:nvSpPr>
        <p:spPr>
          <a:xfrm>
            <a:off x="3692843" y="2217418"/>
            <a:ext cx="142875" cy="190500"/>
          </a:xfrm>
          <a:custGeom>
            <a:avLst/>
            <a:gdLst/>
            <a:ahLst/>
            <a:cxnLst/>
            <a:rect l="l" t="t" r="r" b="b"/>
            <a:pathLst>
              <a:path w="142875" h="190500">
                <a:moveTo>
                  <a:pt x="63029" y="187003"/>
                </a:moveTo>
                <a:cubicBezTo>
                  <a:pt x="67680" y="191653"/>
                  <a:pt x="75233" y="191653"/>
                  <a:pt x="79883" y="187003"/>
                </a:cubicBezTo>
                <a:lnTo>
                  <a:pt x="139415" y="127471"/>
                </a:lnTo>
                <a:cubicBezTo>
                  <a:pt x="144066" y="122820"/>
                  <a:pt x="144066" y="115267"/>
                  <a:pt x="139415" y="110617"/>
                </a:cubicBezTo>
                <a:cubicBezTo>
                  <a:pt x="134764" y="105966"/>
                  <a:pt x="127211" y="105966"/>
                  <a:pt x="122560" y="110617"/>
                </a:cubicBezTo>
                <a:lnTo>
                  <a:pt x="83344" y="149833"/>
                </a:lnTo>
                <a:lnTo>
                  <a:pt x="83344" y="11906"/>
                </a:lnTo>
                <a:cubicBezTo>
                  <a:pt x="83344" y="5321"/>
                  <a:pt x="78023" y="0"/>
                  <a:pt x="71438" y="0"/>
                </a:cubicBezTo>
                <a:cubicBezTo>
                  <a:pt x="64852" y="0"/>
                  <a:pt x="59531" y="5321"/>
                  <a:pt x="59531" y="11906"/>
                </a:cubicBezTo>
                <a:lnTo>
                  <a:pt x="59531" y="149833"/>
                </a:lnTo>
                <a:lnTo>
                  <a:pt x="20315" y="110617"/>
                </a:lnTo>
                <a:cubicBezTo>
                  <a:pt x="15664" y="105966"/>
                  <a:pt x="8111" y="105966"/>
                  <a:pt x="3460" y="110617"/>
                </a:cubicBezTo>
                <a:cubicBezTo>
                  <a:pt x="-1191" y="115267"/>
                  <a:pt x="-1191" y="122820"/>
                  <a:pt x="3460" y="127471"/>
                </a:cubicBezTo>
                <a:lnTo>
                  <a:pt x="62992" y="187003"/>
                </a:lnTo>
                <a:close/>
              </a:path>
            </a:pathLst>
          </a:custGeom>
          <a:solidFill>
            <a:srgbClr val="6366F1"/>
          </a:solidFill>
          <a:ln/>
        </p:spPr>
      </p:sp>
      <p:sp>
        <p:nvSpPr>
          <p:cNvPr id="15" name="Shape 13"/>
          <p:cNvSpPr/>
          <p:nvPr/>
        </p:nvSpPr>
        <p:spPr>
          <a:xfrm>
            <a:off x="502920" y="2541268"/>
            <a:ext cx="457200" cy="457200"/>
          </a:xfrm>
          <a:prstGeom prst="roundRect">
            <a:avLst>
              <a:gd name="adj" fmla="val 25000"/>
            </a:avLst>
          </a:prstGeom>
          <a:solidFill>
            <a:srgbClr val="00C950">
              <a:alpha val="20000"/>
            </a:srgbClr>
          </a:solidFill>
          <a:ln/>
        </p:spPr>
      </p:sp>
      <p:sp>
        <p:nvSpPr>
          <p:cNvPr id="16" name="Text 14"/>
          <p:cNvSpPr/>
          <p:nvPr/>
        </p:nvSpPr>
        <p:spPr>
          <a:xfrm>
            <a:off x="687229" y="2655568"/>
            <a:ext cx="161925" cy="228600"/>
          </a:xfrm>
          <a:prstGeom prst="rect">
            <a:avLst/>
          </a:prstGeom>
          <a:noFill/>
          <a:ln/>
        </p:spPr>
        <p:txBody>
          <a:bodyPr wrap="square" lIns="0" tIns="0" rIns="0" bIns="0" rtlCol="0" anchor="ctr"/>
          <a:lstStyle/>
          <a:p>
            <a:pPr>
              <a:lnSpc>
                <a:spcPct val="130000"/>
              </a:lnSpc>
            </a:pPr>
            <a:r>
              <a:rPr lang="en-US" sz="1200" b="1" dirty="0">
                <a:solidFill>
                  <a:srgbClr val="00C950"/>
                </a:solidFill>
                <a:latin typeface="Liter" pitchFamily="34" charset="0"/>
                <a:ea typeface="Liter" pitchFamily="34" charset="-122"/>
                <a:cs typeface="Liter" pitchFamily="34" charset="-120"/>
              </a:rPr>
              <a:t>2</a:t>
            </a:r>
            <a:endParaRPr lang="en-US" sz="1600" dirty="0"/>
          </a:p>
        </p:txBody>
      </p:sp>
      <p:sp>
        <p:nvSpPr>
          <p:cNvPr id="17" name="Shape 15"/>
          <p:cNvSpPr/>
          <p:nvPr/>
        </p:nvSpPr>
        <p:spPr>
          <a:xfrm>
            <a:off x="1074420" y="2484118"/>
            <a:ext cx="5953125" cy="571500"/>
          </a:xfrm>
          <a:prstGeom prst="roundRect">
            <a:avLst>
              <a:gd name="adj" fmla="val 13333"/>
            </a:avLst>
          </a:prstGeom>
          <a:solidFill>
            <a:srgbClr val="191919"/>
          </a:solidFill>
          <a:ln/>
        </p:spPr>
      </p:sp>
      <p:sp>
        <p:nvSpPr>
          <p:cNvPr id="18" name="Text 16"/>
          <p:cNvSpPr/>
          <p:nvPr/>
        </p:nvSpPr>
        <p:spPr>
          <a:xfrm>
            <a:off x="1150620" y="2560318"/>
            <a:ext cx="58769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THINK</a:t>
            </a:r>
            <a:endParaRPr lang="en-US" sz="1600" dirty="0"/>
          </a:p>
        </p:txBody>
      </p:sp>
      <p:sp>
        <p:nvSpPr>
          <p:cNvPr id="19" name="Text 17"/>
          <p:cNvSpPr/>
          <p:nvPr/>
        </p:nvSpPr>
        <p:spPr>
          <a:xfrm>
            <a:off x="1150620" y="2788918"/>
            <a:ext cx="5867400"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Agent processes information and decides what to do</a:t>
            </a:r>
            <a:endParaRPr lang="en-US" sz="1600" dirty="0"/>
          </a:p>
        </p:txBody>
      </p:sp>
      <p:sp>
        <p:nvSpPr>
          <p:cNvPr id="20" name="Shape 18"/>
          <p:cNvSpPr/>
          <p:nvPr/>
        </p:nvSpPr>
        <p:spPr>
          <a:xfrm>
            <a:off x="3692843" y="3131818"/>
            <a:ext cx="142875" cy="190500"/>
          </a:xfrm>
          <a:custGeom>
            <a:avLst/>
            <a:gdLst/>
            <a:ahLst/>
            <a:cxnLst/>
            <a:rect l="l" t="t" r="r" b="b"/>
            <a:pathLst>
              <a:path w="142875" h="190500">
                <a:moveTo>
                  <a:pt x="63029" y="187003"/>
                </a:moveTo>
                <a:cubicBezTo>
                  <a:pt x="67680" y="191653"/>
                  <a:pt x="75233" y="191653"/>
                  <a:pt x="79883" y="187003"/>
                </a:cubicBezTo>
                <a:lnTo>
                  <a:pt x="139415" y="127471"/>
                </a:lnTo>
                <a:cubicBezTo>
                  <a:pt x="144066" y="122820"/>
                  <a:pt x="144066" y="115267"/>
                  <a:pt x="139415" y="110617"/>
                </a:cubicBezTo>
                <a:cubicBezTo>
                  <a:pt x="134764" y="105966"/>
                  <a:pt x="127211" y="105966"/>
                  <a:pt x="122560" y="110617"/>
                </a:cubicBezTo>
                <a:lnTo>
                  <a:pt x="83344" y="149833"/>
                </a:lnTo>
                <a:lnTo>
                  <a:pt x="83344" y="11906"/>
                </a:lnTo>
                <a:cubicBezTo>
                  <a:pt x="83344" y="5321"/>
                  <a:pt x="78023" y="0"/>
                  <a:pt x="71438" y="0"/>
                </a:cubicBezTo>
                <a:cubicBezTo>
                  <a:pt x="64852" y="0"/>
                  <a:pt x="59531" y="5321"/>
                  <a:pt x="59531" y="11906"/>
                </a:cubicBezTo>
                <a:lnTo>
                  <a:pt x="59531" y="149833"/>
                </a:lnTo>
                <a:lnTo>
                  <a:pt x="20315" y="110617"/>
                </a:lnTo>
                <a:cubicBezTo>
                  <a:pt x="15664" y="105966"/>
                  <a:pt x="8111" y="105966"/>
                  <a:pt x="3460" y="110617"/>
                </a:cubicBezTo>
                <a:cubicBezTo>
                  <a:pt x="-1191" y="115267"/>
                  <a:pt x="-1191" y="122820"/>
                  <a:pt x="3460" y="127471"/>
                </a:cubicBezTo>
                <a:lnTo>
                  <a:pt x="62992" y="187003"/>
                </a:lnTo>
                <a:close/>
              </a:path>
            </a:pathLst>
          </a:custGeom>
          <a:solidFill>
            <a:srgbClr val="6366F1"/>
          </a:solidFill>
          <a:ln/>
        </p:spPr>
      </p:sp>
      <p:sp>
        <p:nvSpPr>
          <p:cNvPr id="21" name="Shape 19"/>
          <p:cNvSpPr/>
          <p:nvPr/>
        </p:nvSpPr>
        <p:spPr>
          <a:xfrm>
            <a:off x="502920" y="3455668"/>
            <a:ext cx="457200" cy="457200"/>
          </a:xfrm>
          <a:prstGeom prst="roundRect">
            <a:avLst>
              <a:gd name="adj" fmla="val 25000"/>
            </a:avLst>
          </a:prstGeom>
          <a:solidFill>
            <a:srgbClr val="AD46FF">
              <a:alpha val="20000"/>
            </a:srgbClr>
          </a:solidFill>
          <a:ln/>
        </p:spPr>
      </p:sp>
      <p:sp>
        <p:nvSpPr>
          <p:cNvPr id="22" name="Text 20"/>
          <p:cNvSpPr/>
          <p:nvPr/>
        </p:nvSpPr>
        <p:spPr>
          <a:xfrm>
            <a:off x="686514" y="3569968"/>
            <a:ext cx="161925" cy="228600"/>
          </a:xfrm>
          <a:prstGeom prst="rect">
            <a:avLst/>
          </a:prstGeom>
          <a:noFill/>
          <a:ln/>
        </p:spPr>
        <p:txBody>
          <a:bodyPr wrap="square" lIns="0" tIns="0" rIns="0" bIns="0" rtlCol="0" anchor="ctr"/>
          <a:lstStyle/>
          <a:p>
            <a:pPr>
              <a:lnSpc>
                <a:spcPct val="130000"/>
              </a:lnSpc>
            </a:pPr>
            <a:r>
              <a:rPr lang="en-US" sz="1200" b="1" dirty="0">
                <a:solidFill>
                  <a:srgbClr val="AD46FF"/>
                </a:solidFill>
                <a:latin typeface="Liter" pitchFamily="34" charset="0"/>
                <a:ea typeface="Liter" pitchFamily="34" charset="-122"/>
                <a:cs typeface="Liter" pitchFamily="34" charset="-120"/>
              </a:rPr>
              <a:t>3</a:t>
            </a:r>
            <a:endParaRPr lang="en-US" sz="1600" dirty="0"/>
          </a:p>
        </p:txBody>
      </p:sp>
      <p:sp>
        <p:nvSpPr>
          <p:cNvPr id="23" name="Shape 21"/>
          <p:cNvSpPr/>
          <p:nvPr/>
        </p:nvSpPr>
        <p:spPr>
          <a:xfrm>
            <a:off x="1074420" y="3398518"/>
            <a:ext cx="5953125" cy="571500"/>
          </a:xfrm>
          <a:prstGeom prst="roundRect">
            <a:avLst>
              <a:gd name="adj" fmla="val 13333"/>
            </a:avLst>
          </a:prstGeom>
          <a:solidFill>
            <a:srgbClr val="191919"/>
          </a:solidFill>
          <a:ln/>
        </p:spPr>
      </p:sp>
      <p:sp>
        <p:nvSpPr>
          <p:cNvPr id="24" name="Text 22"/>
          <p:cNvSpPr/>
          <p:nvPr/>
        </p:nvSpPr>
        <p:spPr>
          <a:xfrm>
            <a:off x="1150620" y="3474718"/>
            <a:ext cx="58769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ACT</a:t>
            </a:r>
            <a:endParaRPr lang="en-US" sz="1600" dirty="0"/>
          </a:p>
        </p:txBody>
      </p:sp>
      <p:sp>
        <p:nvSpPr>
          <p:cNvPr id="25" name="Text 23"/>
          <p:cNvSpPr/>
          <p:nvPr/>
        </p:nvSpPr>
        <p:spPr>
          <a:xfrm>
            <a:off x="1150620" y="3703318"/>
            <a:ext cx="5867400"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Agent takes action through actuators or output mechanisms</a:t>
            </a:r>
            <a:endParaRPr lang="en-US" sz="1600" dirty="0"/>
          </a:p>
        </p:txBody>
      </p:sp>
      <p:sp>
        <p:nvSpPr>
          <p:cNvPr id="26" name="Shape 24"/>
          <p:cNvSpPr/>
          <p:nvPr/>
        </p:nvSpPr>
        <p:spPr>
          <a:xfrm>
            <a:off x="3692843" y="4046218"/>
            <a:ext cx="142875" cy="190500"/>
          </a:xfrm>
          <a:custGeom>
            <a:avLst/>
            <a:gdLst/>
            <a:ahLst/>
            <a:cxnLst/>
            <a:rect l="l" t="t" r="r" b="b"/>
            <a:pathLst>
              <a:path w="142875" h="190500">
                <a:moveTo>
                  <a:pt x="63029" y="187003"/>
                </a:moveTo>
                <a:cubicBezTo>
                  <a:pt x="67680" y="191653"/>
                  <a:pt x="75233" y="191653"/>
                  <a:pt x="79883" y="187003"/>
                </a:cubicBezTo>
                <a:lnTo>
                  <a:pt x="139415" y="127471"/>
                </a:lnTo>
                <a:cubicBezTo>
                  <a:pt x="144066" y="122820"/>
                  <a:pt x="144066" y="115267"/>
                  <a:pt x="139415" y="110617"/>
                </a:cubicBezTo>
                <a:cubicBezTo>
                  <a:pt x="134764" y="105966"/>
                  <a:pt x="127211" y="105966"/>
                  <a:pt x="122560" y="110617"/>
                </a:cubicBezTo>
                <a:lnTo>
                  <a:pt x="83344" y="149833"/>
                </a:lnTo>
                <a:lnTo>
                  <a:pt x="83344" y="11906"/>
                </a:lnTo>
                <a:cubicBezTo>
                  <a:pt x="83344" y="5321"/>
                  <a:pt x="78023" y="0"/>
                  <a:pt x="71438" y="0"/>
                </a:cubicBezTo>
                <a:cubicBezTo>
                  <a:pt x="64852" y="0"/>
                  <a:pt x="59531" y="5321"/>
                  <a:pt x="59531" y="11906"/>
                </a:cubicBezTo>
                <a:lnTo>
                  <a:pt x="59531" y="149833"/>
                </a:lnTo>
                <a:lnTo>
                  <a:pt x="20315" y="110617"/>
                </a:lnTo>
                <a:cubicBezTo>
                  <a:pt x="15664" y="105966"/>
                  <a:pt x="8111" y="105966"/>
                  <a:pt x="3460" y="110617"/>
                </a:cubicBezTo>
                <a:cubicBezTo>
                  <a:pt x="-1191" y="115267"/>
                  <a:pt x="-1191" y="122820"/>
                  <a:pt x="3460" y="127471"/>
                </a:cubicBezTo>
                <a:lnTo>
                  <a:pt x="62992" y="187003"/>
                </a:lnTo>
                <a:close/>
              </a:path>
            </a:pathLst>
          </a:custGeom>
          <a:solidFill>
            <a:srgbClr val="6366F1"/>
          </a:solidFill>
          <a:ln/>
        </p:spPr>
      </p:sp>
      <p:sp>
        <p:nvSpPr>
          <p:cNvPr id="27" name="Shape 25"/>
          <p:cNvSpPr/>
          <p:nvPr/>
        </p:nvSpPr>
        <p:spPr>
          <a:xfrm>
            <a:off x="502920" y="4370068"/>
            <a:ext cx="457200" cy="457200"/>
          </a:xfrm>
          <a:prstGeom prst="roundRect">
            <a:avLst>
              <a:gd name="adj" fmla="val 25000"/>
            </a:avLst>
          </a:prstGeom>
          <a:solidFill>
            <a:srgbClr val="F0B100">
              <a:alpha val="20000"/>
            </a:srgbClr>
          </a:solidFill>
          <a:ln/>
        </p:spPr>
      </p:sp>
      <p:sp>
        <p:nvSpPr>
          <p:cNvPr id="28" name="Text 26"/>
          <p:cNvSpPr/>
          <p:nvPr/>
        </p:nvSpPr>
        <p:spPr>
          <a:xfrm>
            <a:off x="686633" y="4484368"/>
            <a:ext cx="161925" cy="228600"/>
          </a:xfrm>
          <a:prstGeom prst="rect">
            <a:avLst/>
          </a:prstGeom>
          <a:noFill/>
          <a:ln/>
        </p:spPr>
        <p:txBody>
          <a:bodyPr wrap="square" lIns="0" tIns="0" rIns="0" bIns="0" rtlCol="0" anchor="ctr"/>
          <a:lstStyle/>
          <a:p>
            <a:pPr>
              <a:lnSpc>
                <a:spcPct val="130000"/>
              </a:lnSpc>
            </a:pPr>
            <a:r>
              <a:rPr lang="en-US" sz="1200" b="1" dirty="0">
                <a:solidFill>
                  <a:srgbClr val="F0B100"/>
                </a:solidFill>
                <a:latin typeface="Liter" pitchFamily="34" charset="0"/>
                <a:ea typeface="Liter" pitchFamily="34" charset="-122"/>
                <a:cs typeface="Liter" pitchFamily="34" charset="-120"/>
              </a:rPr>
              <a:t>4</a:t>
            </a:r>
            <a:endParaRPr lang="en-US" sz="1600" dirty="0"/>
          </a:p>
        </p:txBody>
      </p:sp>
      <p:sp>
        <p:nvSpPr>
          <p:cNvPr id="29" name="Shape 27"/>
          <p:cNvSpPr/>
          <p:nvPr/>
        </p:nvSpPr>
        <p:spPr>
          <a:xfrm>
            <a:off x="1074420" y="4312918"/>
            <a:ext cx="5953125" cy="571500"/>
          </a:xfrm>
          <a:prstGeom prst="roundRect">
            <a:avLst>
              <a:gd name="adj" fmla="val 13333"/>
            </a:avLst>
          </a:prstGeom>
          <a:solidFill>
            <a:srgbClr val="191919"/>
          </a:solidFill>
          <a:ln/>
        </p:spPr>
      </p:sp>
      <p:sp>
        <p:nvSpPr>
          <p:cNvPr id="30" name="Text 28"/>
          <p:cNvSpPr/>
          <p:nvPr/>
        </p:nvSpPr>
        <p:spPr>
          <a:xfrm>
            <a:off x="1150620" y="4389118"/>
            <a:ext cx="58769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LEARN</a:t>
            </a:r>
            <a:endParaRPr lang="en-US" sz="1600" dirty="0"/>
          </a:p>
        </p:txBody>
      </p:sp>
      <p:sp>
        <p:nvSpPr>
          <p:cNvPr id="31" name="Text 29"/>
          <p:cNvSpPr/>
          <p:nvPr/>
        </p:nvSpPr>
        <p:spPr>
          <a:xfrm>
            <a:off x="1150620" y="4617718"/>
            <a:ext cx="5867400"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Agent learns from results and improves future decisions</a:t>
            </a:r>
            <a:endParaRPr lang="en-US" sz="1600" dirty="0"/>
          </a:p>
        </p:txBody>
      </p:sp>
      <p:sp>
        <p:nvSpPr>
          <p:cNvPr id="32" name="Shape 30"/>
          <p:cNvSpPr/>
          <p:nvPr/>
        </p:nvSpPr>
        <p:spPr>
          <a:xfrm>
            <a:off x="7303770" y="1108710"/>
            <a:ext cx="4503420" cy="2522220"/>
          </a:xfrm>
          <a:prstGeom prst="roundRect">
            <a:avLst>
              <a:gd name="adj" fmla="val 4532"/>
            </a:avLst>
          </a:prstGeom>
          <a:solidFill>
            <a:srgbClr val="262626"/>
          </a:solidFill>
          <a:ln w="10160">
            <a:solidFill>
              <a:srgbClr val="333333"/>
            </a:solidFill>
            <a:prstDash val="solid"/>
          </a:ln>
        </p:spPr>
      </p:sp>
      <p:sp>
        <p:nvSpPr>
          <p:cNvPr id="33" name="Shape 31"/>
          <p:cNvSpPr/>
          <p:nvPr/>
        </p:nvSpPr>
        <p:spPr>
          <a:xfrm>
            <a:off x="7445693" y="1264918"/>
            <a:ext cx="190500" cy="190500"/>
          </a:xfrm>
          <a:custGeom>
            <a:avLst/>
            <a:gdLst/>
            <a:ahLst/>
            <a:cxnLst/>
            <a:rect l="l" t="t" r="r" b="b"/>
            <a:pathLst>
              <a:path w="190500" h="190500">
                <a:moveTo>
                  <a:pt x="86506" y="1935"/>
                </a:moveTo>
                <a:cubicBezTo>
                  <a:pt x="92050" y="-633"/>
                  <a:pt x="98450" y="-633"/>
                  <a:pt x="103994" y="1935"/>
                </a:cubicBezTo>
                <a:lnTo>
                  <a:pt x="185328" y="39514"/>
                </a:lnTo>
                <a:cubicBezTo>
                  <a:pt x="188491" y="40965"/>
                  <a:pt x="190500" y="44128"/>
                  <a:pt x="190500" y="47625"/>
                </a:cubicBezTo>
                <a:cubicBezTo>
                  <a:pt x="190500" y="51122"/>
                  <a:pt x="188491" y="54285"/>
                  <a:pt x="185328" y="55736"/>
                </a:cubicBezTo>
                <a:lnTo>
                  <a:pt x="103994" y="93315"/>
                </a:lnTo>
                <a:cubicBezTo>
                  <a:pt x="98450" y="95883"/>
                  <a:pt x="92050" y="95883"/>
                  <a:pt x="86506" y="93315"/>
                </a:cubicBezTo>
                <a:lnTo>
                  <a:pt x="5172" y="55736"/>
                </a:lnTo>
                <a:cubicBezTo>
                  <a:pt x="2009" y="54248"/>
                  <a:pt x="0" y="51085"/>
                  <a:pt x="0" y="47625"/>
                </a:cubicBezTo>
                <a:cubicBezTo>
                  <a:pt x="0" y="44165"/>
                  <a:pt x="2009" y="40965"/>
                  <a:pt x="5172" y="39514"/>
                </a:cubicBezTo>
                <a:lnTo>
                  <a:pt x="86506" y="1935"/>
                </a:lnTo>
                <a:close/>
                <a:moveTo>
                  <a:pt x="17897" y="81260"/>
                </a:moveTo>
                <a:lnTo>
                  <a:pt x="79028" y="109500"/>
                </a:lnTo>
                <a:cubicBezTo>
                  <a:pt x="89334" y="114263"/>
                  <a:pt x="101203" y="114263"/>
                  <a:pt x="111509" y="109500"/>
                </a:cubicBezTo>
                <a:lnTo>
                  <a:pt x="172641" y="81260"/>
                </a:lnTo>
                <a:lnTo>
                  <a:pt x="185328" y="87139"/>
                </a:lnTo>
                <a:cubicBezTo>
                  <a:pt x="188491" y="88590"/>
                  <a:pt x="190500" y="91753"/>
                  <a:pt x="190500" y="95250"/>
                </a:cubicBezTo>
                <a:cubicBezTo>
                  <a:pt x="190500" y="98747"/>
                  <a:pt x="188491" y="101910"/>
                  <a:pt x="185328" y="103361"/>
                </a:cubicBezTo>
                <a:lnTo>
                  <a:pt x="103994" y="140940"/>
                </a:lnTo>
                <a:cubicBezTo>
                  <a:pt x="98450" y="143508"/>
                  <a:pt x="92050" y="143508"/>
                  <a:pt x="86506" y="140940"/>
                </a:cubicBezTo>
                <a:lnTo>
                  <a:pt x="5172" y="103361"/>
                </a:lnTo>
                <a:cubicBezTo>
                  <a:pt x="2009" y="101873"/>
                  <a:pt x="0" y="98710"/>
                  <a:pt x="0" y="95250"/>
                </a:cubicBezTo>
                <a:cubicBezTo>
                  <a:pt x="0" y="91790"/>
                  <a:pt x="2009" y="88590"/>
                  <a:pt x="5172" y="87139"/>
                </a:cubicBezTo>
                <a:lnTo>
                  <a:pt x="17859" y="81260"/>
                </a:lnTo>
                <a:close/>
                <a:moveTo>
                  <a:pt x="5172" y="134764"/>
                </a:moveTo>
                <a:lnTo>
                  <a:pt x="17859" y="128885"/>
                </a:lnTo>
                <a:lnTo>
                  <a:pt x="78991" y="157125"/>
                </a:lnTo>
                <a:cubicBezTo>
                  <a:pt x="89297" y="161888"/>
                  <a:pt x="101166" y="161888"/>
                  <a:pt x="111472" y="157125"/>
                </a:cubicBezTo>
                <a:lnTo>
                  <a:pt x="172603" y="128885"/>
                </a:lnTo>
                <a:lnTo>
                  <a:pt x="185291" y="134764"/>
                </a:lnTo>
                <a:cubicBezTo>
                  <a:pt x="188454" y="136215"/>
                  <a:pt x="190463" y="139378"/>
                  <a:pt x="190463" y="142875"/>
                </a:cubicBezTo>
                <a:cubicBezTo>
                  <a:pt x="190463" y="146372"/>
                  <a:pt x="188454" y="149535"/>
                  <a:pt x="185291" y="150986"/>
                </a:cubicBezTo>
                <a:lnTo>
                  <a:pt x="103956" y="188565"/>
                </a:lnTo>
                <a:cubicBezTo>
                  <a:pt x="98413" y="191133"/>
                  <a:pt x="92013" y="191133"/>
                  <a:pt x="86469" y="188565"/>
                </a:cubicBezTo>
                <a:lnTo>
                  <a:pt x="5172" y="150986"/>
                </a:lnTo>
                <a:cubicBezTo>
                  <a:pt x="2009" y="149498"/>
                  <a:pt x="0" y="146335"/>
                  <a:pt x="0" y="142875"/>
                </a:cubicBezTo>
                <a:cubicBezTo>
                  <a:pt x="0" y="139415"/>
                  <a:pt x="2009" y="136215"/>
                  <a:pt x="5172" y="134764"/>
                </a:cubicBezTo>
                <a:close/>
              </a:path>
            </a:pathLst>
          </a:custGeom>
          <a:solidFill>
            <a:srgbClr val="6366F1"/>
          </a:solidFill>
          <a:ln/>
        </p:spPr>
      </p:sp>
      <p:sp>
        <p:nvSpPr>
          <p:cNvPr id="34" name="Text 32"/>
          <p:cNvSpPr/>
          <p:nvPr/>
        </p:nvSpPr>
        <p:spPr>
          <a:xfrm>
            <a:off x="7660005" y="1226818"/>
            <a:ext cx="4124325"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Agent Architecture</a:t>
            </a:r>
            <a:endParaRPr lang="en-US" sz="1600" dirty="0"/>
          </a:p>
        </p:txBody>
      </p:sp>
      <p:sp>
        <p:nvSpPr>
          <p:cNvPr id="35" name="Shape 33"/>
          <p:cNvSpPr/>
          <p:nvPr/>
        </p:nvSpPr>
        <p:spPr>
          <a:xfrm>
            <a:off x="7421880" y="1569718"/>
            <a:ext cx="4267200" cy="609600"/>
          </a:xfrm>
          <a:prstGeom prst="roundRect">
            <a:avLst>
              <a:gd name="adj" fmla="val 12500"/>
            </a:avLst>
          </a:prstGeom>
          <a:solidFill>
            <a:srgbClr val="191919"/>
          </a:solidFill>
          <a:ln/>
        </p:spPr>
      </p:sp>
      <p:sp>
        <p:nvSpPr>
          <p:cNvPr id="36" name="Text 34"/>
          <p:cNvSpPr/>
          <p:nvPr/>
        </p:nvSpPr>
        <p:spPr>
          <a:xfrm>
            <a:off x="7498080" y="1645918"/>
            <a:ext cx="419100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Sensors (Input)</a:t>
            </a:r>
            <a:endParaRPr lang="en-US" sz="1600" dirty="0"/>
          </a:p>
        </p:txBody>
      </p:sp>
      <p:sp>
        <p:nvSpPr>
          <p:cNvPr id="37" name="Text 35"/>
          <p:cNvSpPr/>
          <p:nvPr/>
        </p:nvSpPr>
        <p:spPr>
          <a:xfrm>
            <a:off x="7498080" y="1912618"/>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Cameras, microphones, keyboards, temperature sensors</a:t>
            </a:r>
            <a:endParaRPr lang="en-US" sz="1600" dirty="0"/>
          </a:p>
        </p:txBody>
      </p:sp>
      <p:sp>
        <p:nvSpPr>
          <p:cNvPr id="38" name="Shape 36"/>
          <p:cNvSpPr/>
          <p:nvPr/>
        </p:nvSpPr>
        <p:spPr>
          <a:xfrm>
            <a:off x="7421880" y="2236468"/>
            <a:ext cx="4267200" cy="609600"/>
          </a:xfrm>
          <a:prstGeom prst="roundRect">
            <a:avLst>
              <a:gd name="adj" fmla="val 12500"/>
            </a:avLst>
          </a:prstGeom>
          <a:solidFill>
            <a:srgbClr val="191919"/>
          </a:solidFill>
          <a:ln/>
        </p:spPr>
      </p:sp>
      <p:sp>
        <p:nvSpPr>
          <p:cNvPr id="39" name="Text 37"/>
          <p:cNvSpPr/>
          <p:nvPr/>
        </p:nvSpPr>
        <p:spPr>
          <a:xfrm>
            <a:off x="7498080" y="2312668"/>
            <a:ext cx="419100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Processing (Brain)</a:t>
            </a:r>
            <a:endParaRPr lang="en-US" sz="1600" dirty="0"/>
          </a:p>
        </p:txBody>
      </p:sp>
      <p:sp>
        <p:nvSpPr>
          <p:cNvPr id="40" name="Text 38"/>
          <p:cNvSpPr/>
          <p:nvPr/>
        </p:nvSpPr>
        <p:spPr>
          <a:xfrm>
            <a:off x="7498080" y="2579368"/>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AI algorithms, decision-making logic, knowledge base</a:t>
            </a:r>
            <a:endParaRPr lang="en-US" sz="1600" dirty="0"/>
          </a:p>
        </p:txBody>
      </p:sp>
      <p:sp>
        <p:nvSpPr>
          <p:cNvPr id="41" name="Shape 39"/>
          <p:cNvSpPr/>
          <p:nvPr/>
        </p:nvSpPr>
        <p:spPr>
          <a:xfrm>
            <a:off x="7421880" y="2903218"/>
            <a:ext cx="4267200" cy="609600"/>
          </a:xfrm>
          <a:prstGeom prst="roundRect">
            <a:avLst>
              <a:gd name="adj" fmla="val 12500"/>
            </a:avLst>
          </a:prstGeom>
          <a:solidFill>
            <a:srgbClr val="191919"/>
          </a:solidFill>
          <a:ln/>
        </p:spPr>
      </p:sp>
      <p:sp>
        <p:nvSpPr>
          <p:cNvPr id="42" name="Text 40"/>
          <p:cNvSpPr/>
          <p:nvPr/>
        </p:nvSpPr>
        <p:spPr>
          <a:xfrm>
            <a:off x="7498080" y="2979418"/>
            <a:ext cx="419100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Actuators (Output)</a:t>
            </a:r>
            <a:endParaRPr lang="en-US" sz="1600" dirty="0"/>
          </a:p>
        </p:txBody>
      </p:sp>
      <p:sp>
        <p:nvSpPr>
          <p:cNvPr id="43" name="Text 41"/>
          <p:cNvSpPr/>
          <p:nvPr/>
        </p:nvSpPr>
        <p:spPr>
          <a:xfrm>
            <a:off x="7498080" y="3246118"/>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Motors, speakers, screens, robotic arms</a:t>
            </a:r>
            <a:endParaRPr lang="en-US" sz="1600" dirty="0"/>
          </a:p>
        </p:txBody>
      </p:sp>
      <p:sp>
        <p:nvSpPr>
          <p:cNvPr id="44" name="Shape 42"/>
          <p:cNvSpPr/>
          <p:nvPr/>
        </p:nvSpPr>
        <p:spPr>
          <a:xfrm>
            <a:off x="7303770" y="3714756"/>
            <a:ext cx="4503420" cy="1569720"/>
          </a:xfrm>
          <a:prstGeom prst="roundRect">
            <a:avLst>
              <a:gd name="adj" fmla="val 7282"/>
            </a:avLst>
          </a:prstGeom>
          <a:gradFill rotWithShape="1" flip="none">
            <a:gsLst>
              <a:gs pos="0">
                <a:srgbClr val="6366F1">
                  <a:alpha val="20000"/>
                </a:srgbClr>
              </a:gs>
              <a:gs pos="100000">
                <a:srgbClr val="6366F1">
                  <a:alpha val="5000"/>
                </a:srgbClr>
              </a:gs>
            </a:gsLst>
            <a:lin ang="2700000" scaled="1"/>
          </a:gradFill>
          <a:ln w="10160">
            <a:solidFill>
              <a:srgbClr val="6366F1"/>
            </a:solidFill>
            <a:prstDash val="solid"/>
          </a:ln>
        </p:spPr>
      </p:sp>
      <p:sp>
        <p:nvSpPr>
          <p:cNvPr id="45" name="Shape 43"/>
          <p:cNvSpPr/>
          <p:nvPr/>
        </p:nvSpPr>
        <p:spPr>
          <a:xfrm>
            <a:off x="7469505" y="3870964"/>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6366F1"/>
          </a:solidFill>
          <a:ln/>
        </p:spPr>
      </p:sp>
      <p:sp>
        <p:nvSpPr>
          <p:cNvPr id="46" name="Text 44"/>
          <p:cNvSpPr/>
          <p:nvPr/>
        </p:nvSpPr>
        <p:spPr>
          <a:xfrm>
            <a:off x="7736205" y="3832864"/>
            <a:ext cx="1809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Real-World Example</a:t>
            </a:r>
            <a:endParaRPr lang="en-US" sz="1600" dirty="0"/>
          </a:p>
        </p:txBody>
      </p:sp>
      <p:sp>
        <p:nvSpPr>
          <p:cNvPr id="47" name="Shape 45"/>
          <p:cNvSpPr/>
          <p:nvPr/>
        </p:nvSpPr>
        <p:spPr>
          <a:xfrm>
            <a:off x="7421880" y="4175764"/>
            <a:ext cx="4267200" cy="990600"/>
          </a:xfrm>
          <a:prstGeom prst="roundRect">
            <a:avLst>
              <a:gd name="adj" fmla="val 7692"/>
            </a:avLst>
          </a:prstGeom>
          <a:solidFill>
            <a:srgbClr val="191919"/>
          </a:solidFill>
          <a:ln/>
        </p:spPr>
      </p:sp>
      <p:sp>
        <p:nvSpPr>
          <p:cNvPr id="48" name="Text 46"/>
          <p:cNvSpPr/>
          <p:nvPr/>
        </p:nvSpPr>
        <p:spPr>
          <a:xfrm>
            <a:off x="7536180" y="4290064"/>
            <a:ext cx="4124325" cy="266700"/>
          </a:xfrm>
          <a:prstGeom prst="rect">
            <a:avLst/>
          </a:prstGeom>
          <a:noFill/>
          <a:ln/>
        </p:spPr>
        <p:txBody>
          <a:bodyPr wrap="square" lIns="0" tIns="0" rIns="0" bIns="0" rtlCol="0" anchor="ctr"/>
          <a:lstStyle/>
          <a:p>
            <a:pPr>
              <a:lnSpc>
                <a:spcPct val="130000"/>
              </a:lnSpc>
            </a:pPr>
            <a:r>
              <a:rPr lang="en-US" sz="1350" b="1" dirty="0">
                <a:solidFill>
                  <a:srgbClr val="6366F1"/>
                </a:solidFill>
                <a:latin typeface="Liter" pitchFamily="34" charset="0"/>
                <a:ea typeface="Liter" pitchFamily="34" charset="-122"/>
                <a:cs typeface="Liter" pitchFamily="34" charset="-120"/>
              </a:rPr>
              <a:t>Smart Thermostat</a:t>
            </a:r>
            <a:endParaRPr lang="en-US" sz="1600" dirty="0"/>
          </a:p>
        </p:txBody>
      </p:sp>
      <p:sp>
        <p:nvSpPr>
          <p:cNvPr id="49" name="Text 47"/>
          <p:cNvSpPr/>
          <p:nvPr/>
        </p:nvSpPr>
        <p:spPr>
          <a:xfrm>
            <a:off x="7536180" y="4594864"/>
            <a:ext cx="4114800"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senses temperature → decides if heating/cooling needed → adjusts temperature → learns your preferences over time</a:t>
            </a:r>
            <a:endParaRPr lang="en-US" sz="1600" dirty="0"/>
          </a:p>
        </p:txBody>
      </p:sp>
      <p:sp>
        <p:nvSpPr>
          <p:cNvPr id="50" name="Shape 48"/>
          <p:cNvSpPr/>
          <p:nvPr/>
        </p:nvSpPr>
        <p:spPr>
          <a:xfrm>
            <a:off x="7303770" y="5368292"/>
            <a:ext cx="4503420" cy="1264920"/>
          </a:xfrm>
          <a:prstGeom prst="roundRect">
            <a:avLst>
              <a:gd name="adj" fmla="val 9036"/>
            </a:avLst>
          </a:prstGeom>
          <a:solidFill>
            <a:srgbClr val="262626"/>
          </a:solidFill>
          <a:ln w="10160">
            <a:solidFill>
              <a:srgbClr val="333333"/>
            </a:solidFill>
            <a:prstDash val="solid"/>
          </a:ln>
        </p:spPr>
      </p:sp>
      <p:sp>
        <p:nvSpPr>
          <p:cNvPr id="51" name="Text 49"/>
          <p:cNvSpPr/>
          <p:nvPr/>
        </p:nvSpPr>
        <p:spPr>
          <a:xfrm>
            <a:off x="7421880" y="5486400"/>
            <a:ext cx="43529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 Simple Explanation</a:t>
            </a:r>
            <a:endParaRPr lang="en-US" sz="1600" dirty="0"/>
          </a:p>
        </p:txBody>
      </p:sp>
      <p:sp>
        <p:nvSpPr>
          <p:cNvPr id="52" name="Text 50"/>
          <p:cNvSpPr/>
          <p:nvPr/>
        </p:nvSpPr>
        <p:spPr>
          <a:xfrm>
            <a:off x="7421880" y="5829300"/>
            <a:ext cx="43434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The agent cycle is like your morning routine: You check the weather (perceive), decide what to wear (think), put on clothes (act), and remember if you were comfortable (learn).</a:t>
            </a:r>
            <a:endParaRPr lang="en-US" sz="1600" dirty="0"/>
          </a:p>
        </p:txBody>
      </p:sp>
    </p:spTree>
  </p:cSld>
  <p:clrMapOvr>
    <a:masterClrMapping/>
  </p:clrMapOvr>
  <p:transition>
    <p:fade/>
    <p:spd val="med"/>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91919"/>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6366F1">
              <a:alpha val="20000"/>
            </a:srgbClr>
          </a:solidFill>
          <a:ln/>
        </p:spPr>
      </p:sp>
      <p:sp>
        <p:nvSpPr>
          <p:cNvPr id="3" name="Text 1"/>
          <p:cNvSpPr/>
          <p:nvPr/>
        </p:nvSpPr>
        <p:spPr>
          <a:xfrm>
            <a:off x="512921" y="533400"/>
            <a:ext cx="285750" cy="266700"/>
          </a:xfrm>
          <a:prstGeom prst="rect">
            <a:avLst/>
          </a:prstGeom>
          <a:noFill/>
          <a:ln/>
        </p:spPr>
        <p:txBody>
          <a:bodyPr wrap="square" lIns="0" tIns="0" rIns="0" bIns="0" rtlCol="0" anchor="ctr"/>
          <a:lstStyle/>
          <a:p>
            <a:pPr>
              <a:lnSpc>
                <a:spcPct val="120000"/>
              </a:lnSpc>
            </a:pPr>
            <a:r>
              <a:rPr lang="en-US" sz="1500" b="1" dirty="0">
                <a:solidFill>
                  <a:srgbClr val="6366F1"/>
                </a:solidFill>
                <a:latin typeface="Liter" pitchFamily="34" charset="0"/>
                <a:ea typeface="Liter" pitchFamily="34" charset="-122"/>
                <a:cs typeface="Liter" pitchFamily="34" charset="-120"/>
              </a:rPr>
              <a:t>18</a:t>
            </a:r>
            <a:endParaRPr lang="en-US" sz="1600" dirty="0"/>
          </a:p>
        </p:txBody>
      </p:sp>
      <p:sp>
        <p:nvSpPr>
          <p:cNvPr id="4" name="Text 2"/>
          <p:cNvSpPr/>
          <p:nvPr/>
        </p:nvSpPr>
        <p:spPr>
          <a:xfrm>
            <a:off x="952500" y="381000"/>
            <a:ext cx="6496050" cy="190500"/>
          </a:xfrm>
          <a:prstGeom prst="rect">
            <a:avLst/>
          </a:prstGeom>
          <a:noFill/>
          <a:ln/>
        </p:spPr>
        <p:txBody>
          <a:bodyPr wrap="square" lIns="0" tIns="0" rIns="0" bIns="0" rtlCol="0" anchor="ctr"/>
          <a:lstStyle/>
          <a:p>
            <a:pPr>
              <a:lnSpc>
                <a:spcPct val="120000"/>
              </a:lnSpc>
            </a:pPr>
            <a:r>
              <a:rPr lang="en-US" sz="1050" b="1" spc="53" kern="0" dirty="0">
                <a:solidFill>
                  <a:srgbClr val="6366F1"/>
                </a:solidFill>
                <a:latin typeface="Liter" pitchFamily="34" charset="0"/>
                <a:ea typeface="Liter" pitchFamily="34" charset="-122"/>
                <a:cs typeface="Liter" pitchFamily="34" charset="-120"/>
              </a:rPr>
              <a:t>Agents in AI</a:t>
            </a:r>
            <a:endParaRPr lang="en-US" sz="1600" dirty="0"/>
          </a:p>
        </p:txBody>
      </p:sp>
      <p:sp>
        <p:nvSpPr>
          <p:cNvPr id="5" name="Text 3"/>
          <p:cNvSpPr/>
          <p:nvPr/>
        </p:nvSpPr>
        <p:spPr>
          <a:xfrm>
            <a:off x="952500" y="571500"/>
            <a:ext cx="6600825"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Types of AI Agents – From Simple to Smart</a:t>
            </a:r>
            <a:endParaRPr lang="en-US" sz="1600" dirty="0"/>
          </a:p>
        </p:txBody>
      </p:sp>
      <p:sp>
        <p:nvSpPr>
          <p:cNvPr id="6" name="Shape 4"/>
          <p:cNvSpPr/>
          <p:nvPr/>
        </p:nvSpPr>
        <p:spPr>
          <a:xfrm>
            <a:off x="384810" y="1108710"/>
            <a:ext cx="3722370" cy="2065020"/>
          </a:xfrm>
          <a:prstGeom prst="roundRect">
            <a:avLst>
              <a:gd name="adj" fmla="val 5535"/>
            </a:avLst>
          </a:prstGeom>
          <a:solidFill>
            <a:srgbClr val="262626"/>
          </a:solidFill>
          <a:ln w="10160">
            <a:solidFill>
              <a:srgbClr val="333333"/>
            </a:solidFill>
            <a:prstDash val="solid"/>
          </a:ln>
        </p:spPr>
      </p:sp>
      <p:sp>
        <p:nvSpPr>
          <p:cNvPr id="7" name="Shape 5"/>
          <p:cNvSpPr/>
          <p:nvPr/>
        </p:nvSpPr>
        <p:spPr>
          <a:xfrm>
            <a:off x="502920" y="1226818"/>
            <a:ext cx="304800" cy="304800"/>
          </a:xfrm>
          <a:prstGeom prst="roundRect">
            <a:avLst>
              <a:gd name="adj" fmla="val 25000"/>
            </a:avLst>
          </a:prstGeom>
          <a:solidFill>
            <a:srgbClr val="2B7FFF">
              <a:alpha val="20000"/>
            </a:srgbClr>
          </a:solidFill>
          <a:ln/>
        </p:spPr>
      </p:sp>
      <p:sp>
        <p:nvSpPr>
          <p:cNvPr id="8" name="Text 6"/>
          <p:cNvSpPr/>
          <p:nvPr/>
        </p:nvSpPr>
        <p:spPr>
          <a:xfrm>
            <a:off x="624840" y="1264918"/>
            <a:ext cx="133350" cy="228600"/>
          </a:xfrm>
          <a:prstGeom prst="rect">
            <a:avLst/>
          </a:prstGeom>
          <a:noFill/>
          <a:ln/>
        </p:spPr>
        <p:txBody>
          <a:bodyPr wrap="square" lIns="0" tIns="0" rIns="0" bIns="0" rtlCol="0" anchor="ctr"/>
          <a:lstStyle/>
          <a:p>
            <a:pPr>
              <a:lnSpc>
                <a:spcPct val="130000"/>
              </a:lnSpc>
            </a:pPr>
            <a:r>
              <a:rPr lang="en-US" sz="1200" b="1" dirty="0">
                <a:solidFill>
                  <a:srgbClr val="2B7FFF"/>
                </a:solidFill>
                <a:latin typeface="Liter" pitchFamily="34" charset="0"/>
                <a:ea typeface="Liter" pitchFamily="34" charset="-122"/>
                <a:cs typeface="Liter" pitchFamily="34" charset="-120"/>
              </a:rPr>
              <a:t>1</a:t>
            </a:r>
            <a:endParaRPr lang="en-US" sz="1600" dirty="0"/>
          </a:p>
        </p:txBody>
      </p:sp>
      <p:sp>
        <p:nvSpPr>
          <p:cNvPr id="9" name="Text 7"/>
          <p:cNvSpPr/>
          <p:nvPr/>
        </p:nvSpPr>
        <p:spPr>
          <a:xfrm>
            <a:off x="883920" y="1264918"/>
            <a:ext cx="99060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Simple Reflex</a:t>
            </a:r>
            <a:endParaRPr lang="en-US" sz="1600" dirty="0"/>
          </a:p>
        </p:txBody>
      </p:sp>
      <p:sp>
        <p:nvSpPr>
          <p:cNvPr id="10" name="Text 8"/>
          <p:cNvSpPr/>
          <p:nvPr/>
        </p:nvSpPr>
        <p:spPr>
          <a:xfrm>
            <a:off x="502920" y="1607818"/>
            <a:ext cx="3552825" cy="1028700"/>
          </a:xfrm>
          <a:prstGeom prst="rect">
            <a:avLst/>
          </a:prstGeom>
          <a:noFill/>
          <a:ln/>
        </p:spPr>
        <p:txBody>
          <a:bodyPr wrap="square" lIns="0" tIns="0" rIns="0" bIns="0" rtlCol="0" anchor="ctr"/>
          <a:lstStyle/>
          <a:p>
            <a:pPr>
              <a:lnSpc>
                <a:spcPct val="130000"/>
              </a:lnSpc>
            </a:pPr>
            <a:r>
              <a:rPr lang="en-US" sz="1050" dirty="0">
                <a:solidFill>
                  <a:srgbClr val="EFEFEF"/>
                </a:solidFill>
                <a:latin typeface="Liter" pitchFamily="34" charset="0"/>
                <a:ea typeface="Liter" pitchFamily="34" charset="-122"/>
                <a:cs typeface="Liter" pitchFamily="34" charset="-120"/>
              </a:rPr>
              <a:t>Acts on current input only using fixed rules. No memory or learning.</a:t>
            </a:r>
            <a:endParaRPr lang="en-US" sz="1600" dirty="0"/>
          </a:p>
        </p:txBody>
      </p:sp>
      <p:sp>
        <p:nvSpPr>
          <p:cNvPr id="11" name="Shape 9"/>
          <p:cNvSpPr/>
          <p:nvPr/>
        </p:nvSpPr>
        <p:spPr>
          <a:xfrm>
            <a:off x="502920" y="2708914"/>
            <a:ext cx="3486150" cy="342900"/>
          </a:xfrm>
          <a:prstGeom prst="roundRect">
            <a:avLst>
              <a:gd name="adj" fmla="val 11111"/>
            </a:avLst>
          </a:prstGeom>
          <a:solidFill>
            <a:srgbClr val="191919"/>
          </a:solidFill>
          <a:ln/>
        </p:spPr>
      </p:sp>
      <p:sp>
        <p:nvSpPr>
          <p:cNvPr id="12" name="Text 10"/>
          <p:cNvSpPr/>
          <p:nvPr/>
        </p:nvSpPr>
        <p:spPr>
          <a:xfrm>
            <a:off x="579120" y="2785114"/>
            <a:ext cx="34004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Example: Traffic lights</a:t>
            </a:r>
            <a:endParaRPr lang="en-US" sz="1600" dirty="0"/>
          </a:p>
        </p:txBody>
      </p:sp>
      <p:sp>
        <p:nvSpPr>
          <p:cNvPr id="13" name="Shape 11"/>
          <p:cNvSpPr/>
          <p:nvPr/>
        </p:nvSpPr>
        <p:spPr>
          <a:xfrm>
            <a:off x="4232910" y="1108710"/>
            <a:ext cx="3722370" cy="2065020"/>
          </a:xfrm>
          <a:prstGeom prst="roundRect">
            <a:avLst>
              <a:gd name="adj" fmla="val 5535"/>
            </a:avLst>
          </a:prstGeom>
          <a:solidFill>
            <a:srgbClr val="262626"/>
          </a:solidFill>
          <a:ln w="10160">
            <a:solidFill>
              <a:srgbClr val="333333"/>
            </a:solidFill>
            <a:prstDash val="solid"/>
          </a:ln>
        </p:spPr>
      </p:sp>
      <p:sp>
        <p:nvSpPr>
          <p:cNvPr id="14" name="Shape 12"/>
          <p:cNvSpPr/>
          <p:nvPr/>
        </p:nvSpPr>
        <p:spPr>
          <a:xfrm>
            <a:off x="4351020" y="1226818"/>
            <a:ext cx="304800" cy="304800"/>
          </a:xfrm>
          <a:prstGeom prst="roundRect">
            <a:avLst>
              <a:gd name="adj" fmla="val 25000"/>
            </a:avLst>
          </a:prstGeom>
          <a:solidFill>
            <a:srgbClr val="00C950">
              <a:alpha val="20000"/>
            </a:srgbClr>
          </a:solidFill>
          <a:ln/>
        </p:spPr>
      </p:sp>
      <p:sp>
        <p:nvSpPr>
          <p:cNvPr id="15" name="Text 13"/>
          <p:cNvSpPr/>
          <p:nvPr/>
        </p:nvSpPr>
        <p:spPr>
          <a:xfrm>
            <a:off x="4459129" y="1264918"/>
            <a:ext cx="161925" cy="228600"/>
          </a:xfrm>
          <a:prstGeom prst="rect">
            <a:avLst/>
          </a:prstGeom>
          <a:noFill/>
          <a:ln/>
        </p:spPr>
        <p:txBody>
          <a:bodyPr wrap="square" lIns="0" tIns="0" rIns="0" bIns="0" rtlCol="0" anchor="ctr"/>
          <a:lstStyle/>
          <a:p>
            <a:pPr>
              <a:lnSpc>
                <a:spcPct val="130000"/>
              </a:lnSpc>
            </a:pPr>
            <a:r>
              <a:rPr lang="en-US" sz="1200" b="1" dirty="0">
                <a:solidFill>
                  <a:srgbClr val="00C950"/>
                </a:solidFill>
                <a:latin typeface="Liter" pitchFamily="34" charset="0"/>
                <a:ea typeface="Liter" pitchFamily="34" charset="-122"/>
                <a:cs typeface="Liter" pitchFamily="34" charset="-120"/>
              </a:rPr>
              <a:t>2</a:t>
            </a:r>
            <a:endParaRPr lang="en-US" sz="1600" dirty="0"/>
          </a:p>
        </p:txBody>
      </p:sp>
      <p:sp>
        <p:nvSpPr>
          <p:cNvPr id="16" name="Text 14"/>
          <p:cNvSpPr/>
          <p:nvPr/>
        </p:nvSpPr>
        <p:spPr>
          <a:xfrm>
            <a:off x="4732020" y="1264918"/>
            <a:ext cx="98107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Model-Based</a:t>
            </a:r>
            <a:endParaRPr lang="en-US" sz="1600" dirty="0"/>
          </a:p>
        </p:txBody>
      </p:sp>
      <p:sp>
        <p:nvSpPr>
          <p:cNvPr id="17" name="Text 15"/>
          <p:cNvSpPr/>
          <p:nvPr/>
        </p:nvSpPr>
        <p:spPr>
          <a:xfrm>
            <a:off x="4351020" y="1607818"/>
            <a:ext cx="3552825" cy="1028700"/>
          </a:xfrm>
          <a:prstGeom prst="rect">
            <a:avLst/>
          </a:prstGeom>
          <a:noFill/>
          <a:ln/>
        </p:spPr>
        <p:txBody>
          <a:bodyPr wrap="square" lIns="0" tIns="0" rIns="0" bIns="0" rtlCol="0" anchor="ctr"/>
          <a:lstStyle/>
          <a:p>
            <a:pPr>
              <a:lnSpc>
                <a:spcPct val="130000"/>
              </a:lnSpc>
            </a:pPr>
            <a:r>
              <a:rPr lang="en-US" sz="1050" dirty="0">
                <a:solidFill>
                  <a:srgbClr val="EFEFEF"/>
                </a:solidFill>
                <a:latin typeface="Liter" pitchFamily="34" charset="0"/>
                <a:ea typeface="Liter" pitchFamily="34" charset="-122"/>
                <a:cs typeface="Liter" pitchFamily="34" charset="-120"/>
              </a:rPr>
              <a:t>Keeps track of past events using internal memory. Can handle partially observable environments.</a:t>
            </a:r>
            <a:endParaRPr lang="en-US" sz="1600" dirty="0"/>
          </a:p>
        </p:txBody>
      </p:sp>
      <p:sp>
        <p:nvSpPr>
          <p:cNvPr id="18" name="Shape 16"/>
          <p:cNvSpPr/>
          <p:nvPr/>
        </p:nvSpPr>
        <p:spPr>
          <a:xfrm>
            <a:off x="4351020" y="2708914"/>
            <a:ext cx="3486150" cy="342900"/>
          </a:xfrm>
          <a:prstGeom prst="roundRect">
            <a:avLst>
              <a:gd name="adj" fmla="val 11111"/>
            </a:avLst>
          </a:prstGeom>
          <a:solidFill>
            <a:srgbClr val="191919"/>
          </a:solidFill>
          <a:ln/>
        </p:spPr>
      </p:sp>
      <p:sp>
        <p:nvSpPr>
          <p:cNvPr id="19" name="Text 17"/>
          <p:cNvSpPr/>
          <p:nvPr/>
        </p:nvSpPr>
        <p:spPr>
          <a:xfrm>
            <a:off x="4427220" y="2785114"/>
            <a:ext cx="34004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Example: Robot vacuum</a:t>
            </a:r>
            <a:endParaRPr lang="en-US" sz="1600" dirty="0"/>
          </a:p>
        </p:txBody>
      </p:sp>
      <p:sp>
        <p:nvSpPr>
          <p:cNvPr id="20" name="Shape 18"/>
          <p:cNvSpPr/>
          <p:nvPr/>
        </p:nvSpPr>
        <p:spPr>
          <a:xfrm>
            <a:off x="8081010" y="1108710"/>
            <a:ext cx="3722370" cy="2065020"/>
          </a:xfrm>
          <a:prstGeom prst="roundRect">
            <a:avLst>
              <a:gd name="adj" fmla="val 5535"/>
            </a:avLst>
          </a:prstGeom>
          <a:solidFill>
            <a:srgbClr val="262626"/>
          </a:solidFill>
          <a:ln w="10160">
            <a:solidFill>
              <a:srgbClr val="333333"/>
            </a:solidFill>
            <a:prstDash val="solid"/>
          </a:ln>
        </p:spPr>
      </p:sp>
      <p:sp>
        <p:nvSpPr>
          <p:cNvPr id="21" name="Shape 19"/>
          <p:cNvSpPr/>
          <p:nvPr/>
        </p:nvSpPr>
        <p:spPr>
          <a:xfrm>
            <a:off x="8199120" y="1226818"/>
            <a:ext cx="304800" cy="304800"/>
          </a:xfrm>
          <a:prstGeom prst="roundRect">
            <a:avLst>
              <a:gd name="adj" fmla="val 25000"/>
            </a:avLst>
          </a:prstGeom>
          <a:solidFill>
            <a:srgbClr val="AD46FF">
              <a:alpha val="20000"/>
            </a:srgbClr>
          </a:solidFill>
          <a:ln/>
        </p:spPr>
      </p:sp>
      <p:sp>
        <p:nvSpPr>
          <p:cNvPr id="22" name="Text 20"/>
          <p:cNvSpPr/>
          <p:nvPr/>
        </p:nvSpPr>
        <p:spPr>
          <a:xfrm>
            <a:off x="8306514" y="1264918"/>
            <a:ext cx="161925" cy="228600"/>
          </a:xfrm>
          <a:prstGeom prst="rect">
            <a:avLst/>
          </a:prstGeom>
          <a:noFill/>
          <a:ln/>
        </p:spPr>
        <p:txBody>
          <a:bodyPr wrap="square" lIns="0" tIns="0" rIns="0" bIns="0" rtlCol="0" anchor="ctr"/>
          <a:lstStyle/>
          <a:p>
            <a:pPr>
              <a:lnSpc>
                <a:spcPct val="130000"/>
              </a:lnSpc>
            </a:pPr>
            <a:r>
              <a:rPr lang="en-US" sz="1200" b="1" dirty="0">
                <a:solidFill>
                  <a:srgbClr val="AD46FF"/>
                </a:solidFill>
                <a:latin typeface="Liter" pitchFamily="34" charset="0"/>
                <a:ea typeface="Liter" pitchFamily="34" charset="-122"/>
                <a:cs typeface="Liter" pitchFamily="34" charset="-120"/>
              </a:rPr>
              <a:t>3</a:t>
            </a:r>
            <a:endParaRPr lang="en-US" sz="1600" dirty="0"/>
          </a:p>
        </p:txBody>
      </p:sp>
      <p:sp>
        <p:nvSpPr>
          <p:cNvPr id="23" name="Text 21"/>
          <p:cNvSpPr/>
          <p:nvPr/>
        </p:nvSpPr>
        <p:spPr>
          <a:xfrm>
            <a:off x="8580120" y="1264918"/>
            <a:ext cx="8572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Goal-Based</a:t>
            </a:r>
            <a:endParaRPr lang="en-US" sz="1600" dirty="0"/>
          </a:p>
        </p:txBody>
      </p:sp>
      <p:sp>
        <p:nvSpPr>
          <p:cNvPr id="24" name="Text 22"/>
          <p:cNvSpPr/>
          <p:nvPr/>
        </p:nvSpPr>
        <p:spPr>
          <a:xfrm>
            <a:off x="8199120" y="1607818"/>
            <a:ext cx="3552825" cy="1028700"/>
          </a:xfrm>
          <a:prstGeom prst="rect">
            <a:avLst/>
          </a:prstGeom>
          <a:noFill/>
          <a:ln/>
        </p:spPr>
        <p:txBody>
          <a:bodyPr wrap="square" lIns="0" tIns="0" rIns="0" bIns="0" rtlCol="0" anchor="ctr"/>
          <a:lstStyle/>
          <a:p>
            <a:pPr>
              <a:lnSpc>
                <a:spcPct val="130000"/>
              </a:lnSpc>
            </a:pPr>
            <a:r>
              <a:rPr lang="en-US" sz="1050" dirty="0">
                <a:solidFill>
                  <a:srgbClr val="EFEFEF"/>
                </a:solidFill>
                <a:latin typeface="Liter" pitchFamily="34" charset="0"/>
                <a:ea typeface="Liter" pitchFamily="34" charset="-122"/>
                <a:cs typeface="Liter" pitchFamily="34" charset="-120"/>
              </a:rPr>
              <a:t>Has specific goals and plans actions to achieve them. Thinks about the future.</a:t>
            </a:r>
            <a:endParaRPr lang="en-US" sz="1600" dirty="0"/>
          </a:p>
        </p:txBody>
      </p:sp>
      <p:sp>
        <p:nvSpPr>
          <p:cNvPr id="25" name="Shape 23"/>
          <p:cNvSpPr/>
          <p:nvPr/>
        </p:nvSpPr>
        <p:spPr>
          <a:xfrm>
            <a:off x="8199120" y="2708914"/>
            <a:ext cx="3486150" cy="342900"/>
          </a:xfrm>
          <a:prstGeom prst="roundRect">
            <a:avLst>
              <a:gd name="adj" fmla="val 11111"/>
            </a:avLst>
          </a:prstGeom>
          <a:solidFill>
            <a:srgbClr val="191919"/>
          </a:solidFill>
          <a:ln/>
        </p:spPr>
      </p:sp>
      <p:sp>
        <p:nvSpPr>
          <p:cNvPr id="26" name="Text 24"/>
          <p:cNvSpPr/>
          <p:nvPr/>
        </p:nvSpPr>
        <p:spPr>
          <a:xfrm>
            <a:off x="8275320" y="2785114"/>
            <a:ext cx="34004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Example: GPS navigation</a:t>
            </a:r>
            <a:endParaRPr lang="en-US" sz="1600" dirty="0"/>
          </a:p>
        </p:txBody>
      </p:sp>
      <p:sp>
        <p:nvSpPr>
          <p:cNvPr id="27" name="Shape 25"/>
          <p:cNvSpPr/>
          <p:nvPr/>
        </p:nvSpPr>
        <p:spPr>
          <a:xfrm>
            <a:off x="384810" y="3291842"/>
            <a:ext cx="3722370" cy="2065020"/>
          </a:xfrm>
          <a:prstGeom prst="roundRect">
            <a:avLst>
              <a:gd name="adj" fmla="val 5535"/>
            </a:avLst>
          </a:prstGeom>
          <a:solidFill>
            <a:srgbClr val="262626"/>
          </a:solidFill>
          <a:ln w="10160">
            <a:solidFill>
              <a:srgbClr val="333333"/>
            </a:solidFill>
            <a:prstDash val="solid"/>
          </a:ln>
        </p:spPr>
      </p:sp>
      <p:sp>
        <p:nvSpPr>
          <p:cNvPr id="28" name="Shape 26"/>
          <p:cNvSpPr/>
          <p:nvPr/>
        </p:nvSpPr>
        <p:spPr>
          <a:xfrm>
            <a:off x="502920" y="3409950"/>
            <a:ext cx="304800" cy="304800"/>
          </a:xfrm>
          <a:prstGeom prst="roundRect">
            <a:avLst>
              <a:gd name="adj" fmla="val 25000"/>
            </a:avLst>
          </a:prstGeom>
          <a:solidFill>
            <a:srgbClr val="F0B100">
              <a:alpha val="20000"/>
            </a:srgbClr>
          </a:solidFill>
          <a:ln/>
        </p:spPr>
      </p:sp>
      <p:sp>
        <p:nvSpPr>
          <p:cNvPr id="29" name="Text 27"/>
          <p:cNvSpPr/>
          <p:nvPr/>
        </p:nvSpPr>
        <p:spPr>
          <a:xfrm>
            <a:off x="610433" y="3448050"/>
            <a:ext cx="161925" cy="228600"/>
          </a:xfrm>
          <a:prstGeom prst="rect">
            <a:avLst/>
          </a:prstGeom>
          <a:noFill/>
          <a:ln/>
        </p:spPr>
        <p:txBody>
          <a:bodyPr wrap="square" lIns="0" tIns="0" rIns="0" bIns="0" rtlCol="0" anchor="ctr"/>
          <a:lstStyle/>
          <a:p>
            <a:pPr>
              <a:lnSpc>
                <a:spcPct val="130000"/>
              </a:lnSpc>
            </a:pPr>
            <a:r>
              <a:rPr lang="en-US" sz="1200" b="1" dirty="0">
                <a:solidFill>
                  <a:srgbClr val="F0B100"/>
                </a:solidFill>
                <a:latin typeface="Liter" pitchFamily="34" charset="0"/>
                <a:ea typeface="Liter" pitchFamily="34" charset="-122"/>
                <a:cs typeface="Liter" pitchFamily="34" charset="-120"/>
              </a:rPr>
              <a:t>4</a:t>
            </a:r>
            <a:endParaRPr lang="en-US" sz="1600" dirty="0"/>
          </a:p>
        </p:txBody>
      </p:sp>
      <p:sp>
        <p:nvSpPr>
          <p:cNvPr id="30" name="Text 28"/>
          <p:cNvSpPr/>
          <p:nvPr/>
        </p:nvSpPr>
        <p:spPr>
          <a:xfrm>
            <a:off x="883920" y="3448050"/>
            <a:ext cx="95250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Utility-Based</a:t>
            </a:r>
            <a:endParaRPr lang="en-US" sz="1600" dirty="0"/>
          </a:p>
        </p:txBody>
      </p:sp>
      <p:sp>
        <p:nvSpPr>
          <p:cNvPr id="31" name="Text 29"/>
          <p:cNvSpPr/>
          <p:nvPr/>
        </p:nvSpPr>
        <p:spPr>
          <a:xfrm>
            <a:off x="502920" y="3790950"/>
            <a:ext cx="3552825" cy="1028700"/>
          </a:xfrm>
          <a:prstGeom prst="rect">
            <a:avLst/>
          </a:prstGeom>
          <a:noFill/>
          <a:ln/>
        </p:spPr>
        <p:txBody>
          <a:bodyPr wrap="square" lIns="0" tIns="0" rIns="0" bIns="0" rtlCol="0" anchor="ctr"/>
          <a:lstStyle/>
          <a:p>
            <a:pPr>
              <a:lnSpc>
                <a:spcPct val="130000"/>
              </a:lnSpc>
            </a:pPr>
            <a:r>
              <a:rPr lang="en-US" sz="1050" dirty="0">
                <a:solidFill>
                  <a:srgbClr val="EFEFEF"/>
                </a:solidFill>
                <a:latin typeface="Liter" pitchFamily="34" charset="0"/>
                <a:ea typeface="Liter" pitchFamily="34" charset="-122"/>
                <a:cs typeface="Liter" pitchFamily="34" charset="-120"/>
              </a:rPr>
              <a:t>Not just reaches goals, but finds the BEST way considering multiple factors like cost, time, and risk.</a:t>
            </a:r>
            <a:endParaRPr lang="en-US" sz="1600" dirty="0"/>
          </a:p>
        </p:txBody>
      </p:sp>
      <p:sp>
        <p:nvSpPr>
          <p:cNvPr id="32" name="Shape 30"/>
          <p:cNvSpPr/>
          <p:nvPr/>
        </p:nvSpPr>
        <p:spPr>
          <a:xfrm>
            <a:off x="502920" y="4892046"/>
            <a:ext cx="3486150" cy="342900"/>
          </a:xfrm>
          <a:prstGeom prst="roundRect">
            <a:avLst>
              <a:gd name="adj" fmla="val 11111"/>
            </a:avLst>
          </a:prstGeom>
          <a:solidFill>
            <a:srgbClr val="191919"/>
          </a:solidFill>
          <a:ln/>
        </p:spPr>
      </p:sp>
      <p:sp>
        <p:nvSpPr>
          <p:cNvPr id="33" name="Text 31"/>
          <p:cNvSpPr/>
          <p:nvPr/>
        </p:nvSpPr>
        <p:spPr>
          <a:xfrm>
            <a:off x="579120" y="4968246"/>
            <a:ext cx="34004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Example: Financial advisors</a:t>
            </a:r>
            <a:endParaRPr lang="en-US" sz="1600" dirty="0"/>
          </a:p>
        </p:txBody>
      </p:sp>
      <p:sp>
        <p:nvSpPr>
          <p:cNvPr id="34" name="Shape 32"/>
          <p:cNvSpPr/>
          <p:nvPr/>
        </p:nvSpPr>
        <p:spPr>
          <a:xfrm>
            <a:off x="4232910" y="3291842"/>
            <a:ext cx="3722370" cy="2065020"/>
          </a:xfrm>
          <a:prstGeom prst="roundRect">
            <a:avLst>
              <a:gd name="adj" fmla="val 5535"/>
            </a:avLst>
          </a:prstGeom>
          <a:solidFill>
            <a:srgbClr val="262626"/>
          </a:solidFill>
          <a:ln w="10160">
            <a:solidFill>
              <a:srgbClr val="333333"/>
            </a:solidFill>
            <a:prstDash val="solid"/>
          </a:ln>
        </p:spPr>
      </p:sp>
      <p:sp>
        <p:nvSpPr>
          <p:cNvPr id="35" name="Shape 33"/>
          <p:cNvSpPr/>
          <p:nvPr/>
        </p:nvSpPr>
        <p:spPr>
          <a:xfrm>
            <a:off x="4351020" y="3409950"/>
            <a:ext cx="304800" cy="304800"/>
          </a:xfrm>
          <a:prstGeom prst="roundRect">
            <a:avLst>
              <a:gd name="adj" fmla="val 25000"/>
            </a:avLst>
          </a:prstGeom>
          <a:solidFill>
            <a:srgbClr val="FB2C36">
              <a:alpha val="20000"/>
            </a:srgbClr>
          </a:solidFill>
          <a:ln/>
        </p:spPr>
      </p:sp>
      <p:sp>
        <p:nvSpPr>
          <p:cNvPr id="36" name="Text 34"/>
          <p:cNvSpPr/>
          <p:nvPr/>
        </p:nvSpPr>
        <p:spPr>
          <a:xfrm>
            <a:off x="4459486" y="3448050"/>
            <a:ext cx="161925" cy="228600"/>
          </a:xfrm>
          <a:prstGeom prst="rect">
            <a:avLst/>
          </a:prstGeom>
          <a:noFill/>
          <a:ln/>
        </p:spPr>
        <p:txBody>
          <a:bodyPr wrap="square" lIns="0" tIns="0" rIns="0" bIns="0" rtlCol="0" anchor="ctr"/>
          <a:lstStyle/>
          <a:p>
            <a:pPr>
              <a:lnSpc>
                <a:spcPct val="130000"/>
              </a:lnSpc>
            </a:pPr>
            <a:r>
              <a:rPr lang="en-US" sz="1200" b="1" dirty="0">
                <a:solidFill>
                  <a:srgbClr val="FB2C36"/>
                </a:solidFill>
                <a:latin typeface="Liter" pitchFamily="34" charset="0"/>
                <a:ea typeface="Liter" pitchFamily="34" charset="-122"/>
                <a:cs typeface="Liter" pitchFamily="34" charset="-120"/>
              </a:rPr>
              <a:t>5</a:t>
            </a:r>
            <a:endParaRPr lang="en-US" sz="1600" dirty="0"/>
          </a:p>
        </p:txBody>
      </p:sp>
      <p:sp>
        <p:nvSpPr>
          <p:cNvPr id="37" name="Text 35"/>
          <p:cNvSpPr/>
          <p:nvPr/>
        </p:nvSpPr>
        <p:spPr>
          <a:xfrm>
            <a:off x="4732020" y="3448050"/>
            <a:ext cx="6667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Learning</a:t>
            </a:r>
            <a:endParaRPr lang="en-US" sz="1600" dirty="0"/>
          </a:p>
        </p:txBody>
      </p:sp>
      <p:sp>
        <p:nvSpPr>
          <p:cNvPr id="38" name="Text 36"/>
          <p:cNvSpPr/>
          <p:nvPr/>
        </p:nvSpPr>
        <p:spPr>
          <a:xfrm>
            <a:off x="4351020" y="3790950"/>
            <a:ext cx="3552825" cy="1028700"/>
          </a:xfrm>
          <a:prstGeom prst="rect">
            <a:avLst/>
          </a:prstGeom>
          <a:noFill/>
          <a:ln/>
        </p:spPr>
        <p:txBody>
          <a:bodyPr wrap="square" lIns="0" tIns="0" rIns="0" bIns="0" rtlCol="0" anchor="ctr"/>
          <a:lstStyle/>
          <a:p>
            <a:pPr>
              <a:lnSpc>
                <a:spcPct val="130000"/>
              </a:lnSpc>
            </a:pPr>
            <a:r>
              <a:rPr lang="en-US" sz="1050" dirty="0">
                <a:solidFill>
                  <a:srgbClr val="EFEFEF"/>
                </a:solidFill>
                <a:latin typeface="Liter" pitchFamily="34" charset="0"/>
                <a:ea typeface="Liter" pitchFamily="34" charset="-122"/>
                <a:cs typeface="Liter" pitchFamily="34" charset="-120"/>
              </a:rPr>
              <a:t>Improves performance over time through experience. Adapts to new situations.</a:t>
            </a:r>
            <a:endParaRPr lang="en-US" sz="1600" dirty="0"/>
          </a:p>
        </p:txBody>
      </p:sp>
      <p:sp>
        <p:nvSpPr>
          <p:cNvPr id="39" name="Shape 37"/>
          <p:cNvSpPr/>
          <p:nvPr/>
        </p:nvSpPr>
        <p:spPr>
          <a:xfrm>
            <a:off x="4351020" y="4892046"/>
            <a:ext cx="3486150" cy="342900"/>
          </a:xfrm>
          <a:prstGeom prst="roundRect">
            <a:avLst>
              <a:gd name="adj" fmla="val 11111"/>
            </a:avLst>
          </a:prstGeom>
          <a:solidFill>
            <a:srgbClr val="191919"/>
          </a:solidFill>
          <a:ln/>
        </p:spPr>
      </p:sp>
      <p:sp>
        <p:nvSpPr>
          <p:cNvPr id="40" name="Text 38"/>
          <p:cNvSpPr/>
          <p:nvPr/>
        </p:nvSpPr>
        <p:spPr>
          <a:xfrm>
            <a:off x="4427220" y="4968246"/>
            <a:ext cx="34004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Example: AI chatbots</a:t>
            </a:r>
            <a:endParaRPr lang="en-US" sz="1600" dirty="0"/>
          </a:p>
        </p:txBody>
      </p:sp>
      <p:sp>
        <p:nvSpPr>
          <p:cNvPr id="41" name="Shape 39"/>
          <p:cNvSpPr/>
          <p:nvPr/>
        </p:nvSpPr>
        <p:spPr>
          <a:xfrm>
            <a:off x="8081010" y="3291842"/>
            <a:ext cx="3722370" cy="2065020"/>
          </a:xfrm>
          <a:prstGeom prst="roundRect">
            <a:avLst>
              <a:gd name="adj" fmla="val 5535"/>
            </a:avLst>
          </a:prstGeom>
          <a:gradFill rotWithShape="1" flip="none">
            <a:gsLst>
              <a:gs pos="0">
                <a:srgbClr val="6366F1">
                  <a:alpha val="20000"/>
                </a:srgbClr>
              </a:gs>
              <a:gs pos="100000">
                <a:srgbClr val="6366F1">
                  <a:alpha val="5000"/>
                </a:srgbClr>
              </a:gs>
            </a:gsLst>
            <a:lin ang="2700000" scaled="1"/>
          </a:gradFill>
          <a:ln w="10160">
            <a:solidFill>
              <a:srgbClr val="6366F1"/>
            </a:solidFill>
            <a:prstDash val="solid"/>
          </a:ln>
        </p:spPr>
      </p:sp>
      <p:sp>
        <p:nvSpPr>
          <p:cNvPr id="42" name="Shape 40"/>
          <p:cNvSpPr/>
          <p:nvPr/>
        </p:nvSpPr>
        <p:spPr>
          <a:xfrm>
            <a:off x="8237220" y="3448050"/>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6366F1"/>
          </a:solidFill>
          <a:ln/>
        </p:spPr>
      </p:sp>
      <p:sp>
        <p:nvSpPr>
          <p:cNvPr id="43" name="Text 41"/>
          <p:cNvSpPr/>
          <p:nvPr/>
        </p:nvSpPr>
        <p:spPr>
          <a:xfrm>
            <a:off x="8465820" y="3409950"/>
            <a:ext cx="144780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Real-World Example</a:t>
            </a:r>
            <a:endParaRPr lang="en-US" sz="1600" dirty="0"/>
          </a:p>
        </p:txBody>
      </p:sp>
      <p:sp>
        <p:nvSpPr>
          <p:cNvPr id="44" name="Text 42"/>
          <p:cNvSpPr/>
          <p:nvPr/>
        </p:nvSpPr>
        <p:spPr>
          <a:xfrm>
            <a:off x="8199120" y="3714750"/>
            <a:ext cx="3552825" cy="1524000"/>
          </a:xfrm>
          <a:prstGeom prst="rect">
            <a:avLst/>
          </a:prstGeom>
          <a:noFill/>
          <a:ln/>
        </p:spPr>
        <p:txBody>
          <a:bodyPr wrap="square" lIns="0" tIns="0" rIns="0" bIns="0" rtlCol="0" anchor="ctr"/>
          <a:lstStyle/>
          <a:p>
            <a:pPr>
              <a:lnSpc>
                <a:spcPct val="130000"/>
              </a:lnSpc>
            </a:pPr>
            <a:r>
              <a:rPr lang="en-US" sz="1050" dirty="0">
                <a:solidFill>
                  <a:srgbClr val="EFEFEF"/>
                </a:solidFill>
                <a:latin typeface="Liter" pitchFamily="34" charset="0"/>
                <a:ea typeface="Liter" pitchFamily="34" charset="-122"/>
                <a:cs typeface="Liter" pitchFamily="34" charset="-120"/>
              </a:rPr>
              <a:t>A self-driving car uses ALL these agent types: reflex for braking, model-based for tracking surroundings, goal-based for reaching destination, utility-based for choosing safest route, and learning to improve over time!</a:t>
            </a:r>
            <a:endParaRPr lang="en-US" sz="1600" dirty="0"/>
          </a:p>
        </p:txBody>
      </p:sp>
      <p:sp>
        <p:nvSpPr>
          <p:cNvPr id="45" name="Shape 43"/>
          <p:cNvSpPr/>
          <p:nvPr/>
        </p:nvSpPr>
        <p:spPr>
          <a:xfrm>
            <a:off x="384810" y="5436874"/>
            <a:ext cx="11418570" cy="1036320"/>
          </a:xfrm>
          <a:prstGeom prst="roundRect">
            <a:avLst>
              <a:gd name="adj" fmla="val 11029"/>
            </a:avLst>
          </a:prstGeom>
          <a:solidFill>
            <a:srgbClr val="262626"/>
          </a:solidFill>
          <a:ln w="10160">
            <a:solidFill>
              <a:srgbClr val="333333"/>
            </a:solidFill>
            <a:prstDash val="solid"/>
          </a:ln>
        </p:spPr>
      </p:sp>
      <p:sp>
        <p:nvSpPr>
          <p:cNvPr id="46" name="Text 44"/>
          <p:cNvSpPr/>
          <p:nvPr/>
        </p:nvSpPr>
        <p:spPr>
          <a:xfrm>
            <a:off x="502920" y="5554982"/>
            <a:ext cx="1126807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 Simple Explanation</a:t>
            </a:r>
            <a:endParaRPr lang="en-US" sz="1600" dirty="0"/>
          </a:p>
        </p:txBody>
      </p:sp>
      <p:sp>
        <p:nvSpPr>
          <p:cNvPr id="47" name="Text 45"/>
          <p:cNvSpPr/>
          <p:nvPr/>
        </p:nvSpPr>
        <p:spPr>
          <a:xfrm>
            <a:off x="502920" y="5897882"/>
            <a:ext cx="11258550"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Think of agent types like levels in a video game. Simple reflex is Level 1 (basic reactions), and learning agents are Level 5 (super smart). Each level adds more intelligence and capability!</a:t>
            </a:r>
            <a:endParaRPr lang="en-US" sz="1600" dirty="0"/>
          </a:p>
        </p:txBody>
      </p:sp>
    </p:spTree>
  </p:cSld>
  <p:clrMapOvr>
    <a:masterClrMapping/>
  </p:clrMapOvr>
  <p:transition>
    <p:fade/>
    <p:spd val="med"/>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91919"/>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6366F1">
              <a:alpha val="20000"/>
            </a:srgbClr>
          </a:solidFill>
          <a:ln/>
        </p:spPr>
      </p:sp>
      <p:sp>
        <p:nvSpPr>
          <p:cNvPr id="3" name="Text 1"/>
          <p:cNvSpPr/>
          <p:nvPr/>
        </p:nvSpPr>
        <p:spPr>
          <a:xfrm>
            <a:off x="514469" y="533400"/>
            <a:ext cx="285750" cy="266700"/>
          </a:xfrm>
          <a:prstGeom prst="rect">
            <a:avLst/>
          </a:prstGeom>
          <a:noFill/>
          <a:ln/>
        </p:spPr>
        <p:txBody>
          <a:bodyPr wrap="square" lIns="0" tIns="0" rIns="0" bIns="0" rtlCol="0" anchor="ctr"/>
          <a:lstStyle/>
          <a:p>
            <a:pPr>
              <a:lnSpc>
                <a:spcPct val="120000"/>
              </a:lnSpc>
            </a:pPr>
            <a:r>
              <a:rPr lang="en-US" sz="1500" b="1" dirty="0">
                <a:solidFill>
                  <a:srgbClr val="6366F1"/>
                </a:solidFill>
                <a:latin typeface="Liter" pitchFamily="34" charset="0"/>
                <a:ea typeface="Liter" pitchFamily="34" charset="-122"/>
                <a:cs typeface="Liter" pitchFamily="34" charset="-120"/>
              </a:rPr>
              <a:t>19</a:t>
            </a:r>
            <a:endParaRPr lang="en-US" sz="1600" dirty="0"/>
          </a:p>
        </p:txBody>
      </p:sp>
      <p:sp>
        <p:nvSpPr>
          <p:cNvPr id="4" name="Text 2"/>
          <p:cNvSpPr/>
          <p:nvPr/>
        </p:nvSpPr>
        <p:spPr>
          <a:xfrm>
            <a:off x="952500" y="381000"/>
            <a:ext cx="3314700" cy="190500"/>
          </a:xfrm>
          <a:prstGeom prst="rect">
            <a:avLst/>
          </a:prstGeom>
          <a:noFill/>
          <a:ln/>
        </p:spPr>
        <p:txBody>
          <a:bodyPr wrap="square" lIns="0" tIns="0" rIns="0" bIns="0" rtlCol="0" anchor="ctr"/>
          <a:lstStyle/>
          <a:p>
            <a:pPr>
              <a:lnSpc>
                <a:spcPct val="120000"/>
              </a:lnSpc>
            </a:pPr>
            <a:r>
              <a:rPr lang="en-US" sz="1050" b="1" spc="53" kern="0" dirty="0">
                <a:solidFill>
                  <a:srgbClr val="6366F1"/>
                </a:solidFill>
                <a:latin typeface="Liter" pitchFamily="34" charset="0"/>
                <a:ea typeface="Liter" pitchFamily="34" charset="-122"/>
                <a:cs typeface="Liter" pitchFamily="34" charset="-120"/>
              </a:rPr>
              <a:t>Agents in AI</a:t>
            </a:r>
            <a:endParaRPr lang="en-US" sz="1600" dirty="0"/>
          </a:p>
        </p:txBody>
      </p:sp>
      <p:sp>
        <p:nvSpPr>
          <p:cNvPr id="5" name="Text 3"/>
          <p:cNvSpPr/>
          <p:nvPr/>
        </p:nvSpPr>
        <p:spPr>
          <a:xfrm>
            <a:off x="952500" y="571500"/>
            <a:ext cx="3419475"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Real-World AI Agents</a:t>
            </a:r>
            <a:endParaRPr lang="en-US" sz="1600" dirty="0"/>
          </a:p>
        </p:txBody>
      </p:sp>
      <p:sp>
        <p:nvSpPr>
          <p:cNvPr id="6" name="Shape 4"/>
          <p:cNvSpPr/>
          <p:nvPr/>
        </p:nvSpPr>
        <p:spPr>
          <a:xfrm>
            <a:off x="384810" y="1108710"/>
            <a:ext cx="3722370" cy="2065020"/>
          </a:xfrm>
          <a:prstGeom prst="roundRect">
            <a:avLst>
              <a:gd name="adj" fmla="val 5535"/>
            </a:avLst>
          </a:prstGeom>
          <a:solidFill>
            <a:srgbClr val="262626"/>
          </a:solidFill>
          <a:ln w="10160">
            <a:solidFill>
              <a:srgbClr val="333333"/>
            </a:solidFill>
            <a:prstDash val="solid"/>
          </a:ln>
        </p:spPr>
      </p:sp>
      <p:sp>
        <p:nvSpPr>
          <p:cNvPr id="7" name="Shape 5"/>
          <p:cNvSpPr/>
          <p:nvPr/>
        </p:nvSpPr>
        <p:spPr>
          <a:xfrm>
            <a:off x="502920" y="1226818"/>
            <a:ext cx="381000" cy="381000"/>
          </a:xfrm>
          <a:prstGeom prst="roundRect">
            <a:avLst>
              <a:gd name="adj" fmla="val 20000"/>
            </a:avLst>
          </a:prstGeom>
          <a:solidFill>
            <a:srgbClr val="2B7FFF">
              <a:alpha val="20000"/>
            </a:srgbClr>
          </a:solidFill>
          <a:ln/>
        </p:spPr>
      </p:sp>
      <p:sp>
        <p:nvSpPr>
          <p:cNvPr id="8" name="Shape 6"/>
          <p:cNvSpPr/>
          <p:nvPr/>
        </p:nvSpPr>
        <p:spPr>
          <a:xfrm>
            <a:off x="636270" y="1341118"/>
            <a:ext cx="114300" cy="152400"/>
          </a:xfrm>
          <a:custGeom>
            <a:avLst/>
            <a:gdLst/>
            <a:ahLst/>
            <a:cxnLst/>
            <a:rect l="l" t="t" r="r" b="b"/>
            <a:pathLst>
              <a:path w="114300" h="152400">
                <a:moveTo>
                  <a:pt x="57150" y="0"/>
                </a:moveTo>
                <a:cubicBezTo>
                  <a:pt x="41374" y="0"/>
                  <a:pt x="28575" y="12799"/>
                  <a:pt x="28575" y="28575"/>
                </a:cubicBezTo>
                <a:lnTo>
                  <a:pt x="28575" y="66675"/>
                </a:lnTo>
                <a:cubicBezTo>
                  <a:pt x="28575" y="82451"/>
                  <a:pt x="41374" y="95250"/>
                  <a:pt x="57150" y="95250"/>
                </a:cubicBezTo>
                <a:cubicBezTo>
                  <a:pt x="72926" y="95250"/>
                  <a:pt x="85725" y="82451"/>
                  <a:pt x="85725" y="66675"/>
                </a:cubicBezTo>
                <a:lnTo>
                  <a:pt x="85725" y="28575"/>
                </a:lnTo>
                <a:cubicBezTo>
                  <a:pt x="85725" y="12799"/>
                  <a:pt x="72926" y="0"/>
                  <a:pt x="57150" y="0"/>
                </a:cubicBezTo>
                <a:close/>
                <a:moveTo>
                  <a:pt x="14288" y="54769"/>
                </a:moveTo>
                <a:cubicBezTo>
                  <a:pt x="14288" y="50810"/>
                  <a:pt x="11103" y="47625"/>
                  <a:pt x="7144" y="47625"/>
                </a:cubicBezTo>
                <a:cubicBezTo>
                  <a:pt x="3185" y="47625"/>
                  <a:pt x="0" y="50810"/>
                  <a:pt x="0" y="54769"/>
                </a:cubicBezTo>
                <a:lnTo>
                  <a:pt x="0" y="66675"/>
                </a:lnTo>
                <a:cubicBezTo>
                  <a:pt x="0" y="95816"/>
                  <a:pt x="21818" y="119866"/>
                  <a:pt x="50006" y="123379"/>
                </a:cubicBezTo>
                <a:lnTo>
                  <a:pt x="50006" y="138113"/>
                </a:lnTo>
                <a:lnTo>
                  <a:pt x="35719" y="138113"/>
                </a:lnTo>
                <a:cubicBezTo>
                  <a:pt x="31760" y="138113"/>
                  <a:pt x="28575" y="141297"/>
                  <a:pt x="28575" y="145256"/>
                </a:cubicBezTo>
                <a:cubicBezTo>
                  <a:pt x="28575" y="149215"/>
                  <a:pt x="31760" y="152400"/>
                  <a:pt x="35719" y="152400"/>
                </a:cubicBezTo>
                <a:lnTo>
                  <a:pt x="78581" y="152400"/>
                </a:lnTo>
                <a:cubicBezTo>
                  <a:pt x="82540" y="152400"/>
                  <a:pt x="85725" y="149215"/>
                  <a:pt x="85725" y="145256"/>
                </a:cubicBezTo>
                <a:cubicBezTo>
                  <a:pt x="85725" y="141297"/>
                  <a:pt x="82540" y="138113"/>
                  <a:pt x="78581" y="138113"/>
                </a:cubicBezTo>
                <a:lnTo>
                  <a:pt x="64294" y="138113"/>
                </a:lnTo>
                <a:lnTo>
                  <a:pt x="64294" y="123379"/>
                </a:lnTo>
                <a:cubicBezTo>
                  <a:pt x="92482" y="119866"/>
                  <a:pt x="114300" y="95816"/>
                  <a:pt x="114300" y="66675"/>
                </a:cubicBezTo>
                <a:lnTo>
                  <a:pt x="114300" y="54769"/>
                </a:lnTo>
                <a:cubicBezTo>
                  <a:pt x="114300" y="50810"/>
                  <a:pt x="111115" y="47625"/>
                  <a:pt x="107156" y="47625"/>
                </a:cubicBezTo>
                <a:cubicBezTo>
                  <a:pt x="103197" y="47625"/>
                  <a:pt x="100013" y="50810"/>
                  <a:pt x="100013" y="54769"/>
                </a:cubicBezTo>
                <a:lnTo>
                  <a:pt x="100013" y="66675"/>
                </a:lnTo>
                <a:cubicBezTo>
                  <a:pt x="100013" y="90339"/>
                  <a:pt x="80814" y="109537"/>
                  <a:pt x="57150" y="109537"/>
                </a:cubicBezTo>
                <a:cubicBezTo>
                  <a:pt x="33486" y="109537"/>
                  <a:pt x="14288" y="90339"/>
                  <a:pt x="14288" y="66675"/>
                </a:cubicBezTo>
                <a:lnTo>
                  <a:pt x="14288" y="54769"/>
                </a:lnTo>
                <a:close/>
              </a:path>
            </a:pathLst>
          </a:custGeom>
          <a:solidFill>
            <a:srgbClr val="2B7FFF"/>
          </a:solidFill>
          <a:ln/>
        </p:spPr>
      </p:sp>
      <p:sp>
        <p:nvSpPr>
          <p:cNvPr id="9" name="Text 7"/>
          <p:cNvSpPr/>
          <p:nvPr/>
        </p:nvSpPr>
        <p:spPr>
          <a:xfrm>
            <a:off x="960120" y="1283968"/>
            <a:ext cx="140017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Virtual Assistants</a:t>
            </a:r>
            <a:endParaRPr lang="en-US" sz="1600" dirty="0"/>
          </a:p>
        </p:txBody>
      </p:sp>
      <p:sp>
        <p:nvSpPr>
          <p:cNvPr id="10" name="Text 8"/>
          <p:cNvSpPr/>
          <p:nvPr/>
        </p:nvSpPr>
        <p:spPr>
          <a:xfrm>
            <a:off x="502920" y="1684018"/>
            <a:ext cx="3562350" cy="9525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Siri, Alexa, and Google Assistant understand voice commands, answer questions, and control smart devices.</a:t>
            </a:r>
            <a:endParaRPr lang="en-US" sz="1600" dirty="0"/>
          </a:p>
        </p:txBody>
      </p:sp>
      <p:sp>
        <p:nvSpPr>
          <p:cNvPr id="11" name="Shape 9"/>
          <p:cNvSpPr/>
          <p:nvPr/>
        </p:nvSpPr>
        <p:spPr>
          <a:xfrm>
            <a:off x="502920" y="2708914"/>
            <a:ext cx="3486150" cy="342900"/>
          </a:xfrm>
          <a:prstGeom prst="roundRect">
            <a:avLst>
              <a:gd name="adj" fmla="val 11111"/>
            </a:avLst>
          </a:prstGeom>
          <a:solidFill>
            <a:srgbClr val="191919"/>
          </a:solidFill>
          <a:ln/>
        </p:spPr>
      </p:sp>
      <p:sp>
        <p:nvSpPr>
          <p:cNvPr id="12" name="Text 10"/>
          <p:cNvSpPr/>
          <p:nvPr/>
        </p:nvSpPr>
        <p:spPr>
          <a:xfrm>
            <a:off x="579120" y="2785114"/>
            <a:ext cx="34004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Type: Learning Agent</a:t>
            </a:r>
            <a:endParaRPr lang="en-US" sz="1600" dirty="0"/>
          </a:p>
        </p:txBody>
      </p:sp>
      <p:sp>
        <p:nvSpPr>
          <p:cNvPr id="13" name="Shape 11"/>
          <p:cNvSpPr/>
          <p:nvPr/>
        </p:nvSpPr>
        <p:spPr>
          <a:xfrm>
            <a:off x="4232910" y="1108710"/>
            <a:ext cx="3722370" cy="2065020"/>
          </a:xfrm>
          <a:prstGeom prst="roundRect">
            <a:avLst>
              <a:gd name="adj" fmla="val 5535"/>
            </a:avLst>
          </a:prstGeom>
          <a:solidFill>
            <a:srgbClr val="262626"/>
          </a:solidFill>
          <a:ln w="10160">
            <a:solidFill>
              <a:srgbClr val="333333"/>
            </a:solidFill>
            <a:prstDash val="solid"/>
          </a:ln>
        </p:spPr>
      </p:sp>
      <p:sp>
        <p:nvSpPr>
          <p:cNvPr id="14" name="Shape 12"/>
          <p:cNvSpPr/>
          <p:nvPr/>
        </p:nvSpPr>
        <p:spPr>
          <a:xfrm>
            <a:off x="4351020" y="1226818"/>
            <a:ext cx="381000" cy="381000"/>
          </a:xfrm>
          <a:prstGeom prst="roundRect">
            <a:avLst>
              <a:gd name="adj" fmla="val 20000"/>
            </a:avLst>
          </a:prstGeom>
          <a:solidFill>
            <a:srgbClr val="00C950">
              <a:alpha val="20000"/>
            </a:srgbClr>
          </a:solidFill>
          <a:ln/>
        </p:spPr>
      </p:sp>
      <p:sp>
        <p:nvSpPr>
          <p:cNvPr id="15" name="Shape 13"/>
          <p:cNvSpPr/>
          <p:nvPr/>
        </p:nvSpPr>
        <p:spPr>
          <a:xfrm>
            <a:off x="4455795" y="1341118"/>
            <a:ext cx="171450" cy="152400"/>
          </a:xfrm>
          <a:custGeom>
            <a:avLst/>
            <a:gdLst/>
            <a:ahLst/>
            <a:cxnLst/>
            <a:rect l="l" t="t" r="r" b="b"/>
            <a:pathLst>
              <a:path w="171450" h="152400">
                <a:moveTo>
                  <a:pt x="114300" y="42863"/>
                </a:moveTo>
                <a:cubicBezTo>
                  <a:pt x="114300" y="71795"/>
                  <a:pt x="88702" y="95250"/>
                  <a:pt x="57150" y="95250"/>
                </a:cubicBezTo>
                <a:cubicBezTo>
                  <a:pt x="49203" y="95250"/>
                  <a:pt x="41642" y="93762"/>
                  <a:pt x="34766" y="91083"/>
                </a:cubicBezTo>
                <a:lnTo>
                  <a:pt x="10478" y="103942"/>
                </a:lnTo>
                <a:cubicBezTo>
                  <a:pt x="7709" y="105400"/>
                  <a:pt x="4316" y="104894"/>
                  <a:pt x="2084" y="102691"/>
                </a:cubicBezTo>
                <a:cubicBezTo>
                  <a:pt x="-149" y="100489"/>
                  <a:pt x="-655" y="97066"/>
                  <a:pt x="833" y="94298"/>
                </a:cubicBezTo>
                <a:lnTo>
                  <a:pt x="11430" y="74295"/>
                </a:lnTo>
                <a:cubicBezTo>
                  <a:pt x="4256" y="65544"/>
                  <a:pt x="0" y="54650"/>
                  <a:pt x="0" y="42863"/>
                </a:cubicBezTo>
                <a:cubicBezTo>
                  <a:pt x="0" y="13930"/>
                  <a:pt x="25598" y="-9525"/>
                  <a:pt x="57150" y="-9525"/>
                </a:cubicBezTo>
                <a:cubicBezTo>
                  <a:pt x="88702" y="-9525"/>
                  <a:pt x="114300" y="13930"/>
                  <a:pt x="114300" y="42863"/>
                </a:cubicBezTo>
                <a:close/>
                <a:moveTo>
                  <a:pt x="114300" y="152400"/>
                </a:moveTo>
                <a:cubicBezTo>
                  <a:pt x="86291" y="152400"/>
                  <a:pt x="62984" y="133916"/>
                  <a:pt x="58103" y="109537"/>
                </a:cubicBezTo>
                <a:cubicBezTo>
                  <a:pt x="93821" y="109091"/>
                  <a:pt x="124867" y="83671"/>
                  <a:pt x="128290" y="49203"/>
                </a:cubicBezTo>
                <a:cubicBezTo>
                  <a:pt x="153085" y="54918"/>
                  <a:pt x="171450" y="75486"/>
                  <a:pt x="171450" y="100013"/>
                </a:cubicBezTo>
                <a:cubicBezTo>
                  <a:pt x="171450" y="111800"/>
                  <a:pt x="167194" y="122694"/>
                  <a:pt x="160020" y="131445"/>
                </a:cubicBezTo>
                <a:lnTo>
                  <a:pt x="170617" y="151448"/>
                </a:lnTo>
                <a:cubicBezTo>
                  <a:pt x="172075" y="154216"/>
                  <a:pt x="171569" y="157609"/>
                  <a:pt x="169366" y="159841"/>
                </a:cubicBezTo>
                <a:cubicBezTo>
                  <a:pt x="167164" y="162074"/>
                  <a:pt x="163741" y="162580"/>
                  <a:pt x="160973" y="161092"/>
                </a:cubicBezTo>
                <a:lnTo>
                  <a:pt x="136684" y="148233"/>
                </a:lnTo>
                <a:cubicBezTo>
                  <a:pt x="129808" y="150912"/>
                  <a:pt x="122247" y="152400"/>
                  <a:pt x="114300" y="152400"/>
                </a:cubicBezTo>
                <a:close/>
              </a:path>
            </a:pathLst>
          </a:custGeom>
          <a:solidFill>
            <a:srgbClr val="00C950"/>
          </a:solidFill>
          <a:ln/>
        </p:spPr>
      </p:sp>
      <p:sp>
        <p:nvSpPr>
          <p:cNvPr id="16" name="Text 14"/>
          <p:cNvSpPr/>
          <p:nvPr/>
        </p:nvSpPr>
        <p:spPr>
          <a:xfrm>
            <a:off x="4808220" y="1283968"/>
            <a:ext cx="18097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Customer Service Bots</a:t>
            </a:r>
            <a:endParaRPr lang="en-US" sz="1600" dirty="0"/>
          </a:p>
        </p:txBody>
      </p:sp>
      <p:sp>
        <p:nvSpPr>
          <p:cNvPr id="17" name="Text 15"/>
          <p:cNvSpPr/>
          <p:nvPr/>
        </p:nvSpPr>
        <p:spPr>
          <a:xfrm>
            <a:off x="4351020" y="1684018"/>
            <a:ext cx="3562350" cy="9525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Chatbots on websites answer questions 24/7, handle complaints, and guide users through processes.</a:t>
            </a:r>
            <a:endParaRPr lang="en-US" sz="1600" dirty="0"/>
          </a:p>
        </p:txBody>
      </p:sp>
      <p:sp>
        <p:nvSpPr>
          <p:cNvPr id="18" name="Shape 16"/>
          <p:cNvSpPr/>
          <p:nvPr/>
        </p:nvSpPr>
        <p:spPr>
          <a:xfrm>
            <a:off x="4351020" y="2708914"/>
            <a:ext cx="3486150" cy="342900"/>
          </a:xfrm>
          <a:prstGeom prst="roundRect">
            <a:avLst>
              <a:gd name="adj" fmla="val 11111"/>
            </a:avLst>
          </a:prstGeom>
          <a:solidFill>
            <a:srgbClr val="191919"/>
          </a:solidFill>
          <a:ln/>
        </p:spPr>
      </p:sp>
      <p:sp>
        <p:nvSpPr>
          <p:cNvPr id="19" name="Text 17"/>
          <p:cNvSpPr/>
          <p:nvPr/>
        </p:nvSpPr>
        <p:spPr>
          <a:xfrm>
            <a:off x="4427220" y="2785114"/>
            <a:ext cx="34004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Type: Learning Agent</a:t>
            </a:r>
            <a:endParaRPr lang="en-US" sz="1600" dirty="0"/>
          </a:p>
        </p:txBody>
      </p:sp>
      <p:sp>
        <p:nvSpPr>
          <p:cNvPr id="20" name="Shape 18"/>
          <p:cNvSpPr/>
          <p:nvPr/>
        </p:nvSpPr>
        <p:spPr>
          <a:xfrm>
            <a:off x="8081010" y="1108710"/>
            <a:ext cx="3722370" cy="2065020"/>
          </a:xfrm>
          <a:prstGeom prst="roundRect">
            <a:avLst>
              <a:gd name="adj" fmla="val 5535"/>
            </a:avLst>
          </a:prstGeom>
          <a:solidFill>
            <a:srgbClr val="262626"/>
          </a:solidFill>
          <a:ln w="10160">
            <a:solidFill>
              <a:srgbClr val="333333"/>
            </a:solidFill>
            <a:prstDash val="solid"/>
          </a:ln>
        </p:spPr>
      </p:sp>
      <p:sp>
        <p:nvSpPr>
          <p:cNvPr id="21" name="Shape 19"/>
          <p:cNvSpPr/>
          <p:nvPr/>
        </p:nvSpPr>
        <p:spPr>
          <a:xfrm>
            <a:off x="8199120" y="1226818"/>
            <a:ext cx="381000" cy="381000"/>
          </a:xfrm>
          <a:prstGeom prst="roundRect">
            <a:avLst>
              <a:gd name="adj" fmla="val 20000"/>
            </a:avLst>
          </a:prstGeom>
          <a:solidFill>
            <a:srgbClr val="AD46FF">
              <a:alpha val="20000"/>
            </a:srgbClr>
          </a:solidFill>
          <a:ln/>
        </p:spPr>
      </p:sp>
      <p:sp>
        <p:nvSpPr>
          <p:cNvPr id="22" name="Shape 20"/>
          <p:cNvSpPr/>
          <p:nvPr/>
        </p:nvSpPr>
        <p:spPr>
          <a:xfrm>
            <a:off x="8294370" y="1341118"/>
            <a:ext cx="190500" cy="152400"/>
          </a:xfrm>
          <a:custGeom>
            <a:avLst/>
            <a:gdLst/>
            <a:ahLst/>
            <a:cxnLst/>
            <a:rect l="l" t="t" r="r" b="b"/>
            <a:pathLst>
              <a:path w="190500" h="152400">
                <a:moveTo>
                  <a:pt x="7144" y="-4762"/>
                </a:moveTo>
                <a:cubicBezTo>
                  <a:pt x="3185" y="-4762"/>
                  <a:pt x="0" y="-1578"/>
                  <a:pt x="0" y="2381"/>
                </a:cubicBezTo>
                <a:cubicBezTo>
                  <a:pt x="0" y="6340"/>
                  <a:pt x="3185" y="9525"/>
                  <a:pt x="7144" y="9525"/>
                </a:cubicBezTo>
                <a:lnTo>
                  <a:pt x="20628" y="9525"/>
                </a:lnTo>
                <a:cubicBezTo>
                  <a:pt x="21788" y="9525"/>
                  <a:pt x="22771" y="10358"/>
                  <a:pt x="22979" y="11490"/>
                </a:cubicBezTo>
                <a:lnTo>
                  <a:pt x="38487" y="96709"/>
                </a:lnTo>
                <a:cubicBezTo>
                  <a:pt x="40332" y="106888"/>
                  <a:pt x="49203" y="114300"/>
                  <a:pt x="59561" y="114300"/>
                </a:cubicBezTo>
                <a:lnTo>
                  <a:pt x="135731" y="114300"/>
                </a:lnTo>
                <a:cubicBezTo>
                  <a:pt x="139690" y="114300"/>
                  <a:pt x="142875" y="111115"/>
                  <a:pt x="142875" y="107156"/>
                </a:cubicBezTo>
                <a:cubicBezTo>
                  <a:pt x="142875" y="103197"/>
                  <a:pt x="139690" y="100013"/>
                  <a:pt x="135731" y="100013"/>
                </a:cubicBezTo>
                <a:lnTo>
                  <a:pt x="59561" y="100013"/>
                </a:lnTo>
                <a:cubicBezTo>
                  <a:pt x="56108" y="100013"/>
                  <a:pt x="53161" y="97542"/>
                  <a:pt x="52536" y="94149"/>
                </a:cubicBezTo>
                <a:lnTo>
                  <a:pt x="51018" y="85725"/>
                </a:lnTo>
                <a:lnTo>
                  <a:pt x="141387" y="85725"/>
                </a:lnTo>
                <a:cubicBezTo>
                  <a:pt x="150555" y="85725"/>
                  <a:pt x="158413" y="79206"/>
                  <a:pt x="160109" y="70187"/>
                </a:cubicBezTo>
                <a:lnTo>
                  <a:pt x="169337" y="20806"/>
                </a:lnTo>
                <a:cubicBezTo>
                  <a:pt x="170438" y="14942"/>
                  <a:pt x="165943" y="9525"/>
                  <a:pt x="159960" y="9525"/>
                </a:cubicBezTo>
                <a:lnTo>
                  <a:pt x="37118" y="9525"/>
                </a:lnTo>
                <a:lnTo>
                  <a:pt x="36999" y="8930"/>
                </a:lnTo>
                <a:cubicBezTo>
                  <a:pt x="35570" y="1012"/>
                  <a:pt x="28664" y="-4762"/>
                  <a:pt x="20598" y="-4762"/>
                </a:cubicBezTo>
                <a:lnTo>
                  <a:pt x="7144" y="-4762"/>
                </a:lnTo>
                <a:close/>
                <a:moveTo>
                  <a:pt x="61912" y="152400"/>
                </a:moveTo>
                <a:cubicBezTo>
                  <a:pt x="69798" y="152400"/>
                  <a:pt x="76200" y="145998"/>
                  <a:pt x="76200" y="138113"/>
                </a:cubicBezTo>
                <a:cubicBezTo>
                  <a:pt x="76200" y="130227"/>
                  <a:pt x="69798" y="123825"/>
                  <a:pt x="61912" y="123825"/>
                </a:cubicBezTo>
                <a:cubicBezTo>
                  <a:pt x="54027" y="123825"/>
                  <a:pt x="47625" y="130227"/>
                  <a:pt x="47625" y="138113"/>
                </a:cubicBezTo>
                <a:cubicBezTo>
                  <a:pt x="47625" y="145998"/>
                  <a:pt x="54027" y="152400"/>
                  <a:pt x="61912" y="152400"/>
                </a:cubicBezTo>
                <a:close/>
                <a:moveTo>
                  <a:pt x="128588" y="152400"/>
                </a:moveTo>
                <a:cubicBezTo>
                  <a:pt x="136473" y="152400"/>
                  <a:pt x="142875" y="145998"/>
                  <a:pt x="142875" y="138113"/>
                </a:cubicBezTo>
                <a:cubicBezTo>
                  <a:pt x="142875" y="130227"/>
                  <a:pt x="136473" y="123825"/>
                  <a:pt x="128588" y="123825"/>
                </a:cubicBezTo>
                <a:cubicBezTo>
                  <a:pt x="120702" y="123825"/>
                  <a:pt x="114300" y="130227"/>
                  <a:pt x="114300" y="138113"/>
                </a:cubicBezTo>
                <a:cubicBezTo>
                  <a:pt x="114300" y="145998"/>
                  <a:pt x="120702" y="152400"/>
                  <a:pt x="128588" y="152400"/>
                </a:cubicBezTo>
                <a:close/>
              </a:path>
            </a:pathLst>
          </a:custGeom>
          <a:solidFill>
            <a:srgbClr val="AD46FF"/>
          </a:solidFill>
          <a:ln/>
        </p:spPr>
      </p:sp>
      <p:sp>
        <p:nvSpPr>
          <p:cNvPr id="23" name="Text 21"/>
          <p:cNvSpPr/>
          <p:nvPr/>
        </p:nvSpPr>
        <p:spPr>
          <a:xfrm>
            <a:off x="8656320" y="1283968"/>
            <a:ext cx="21145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Recommendation Systems</a:t>
            </a:r>
            <a:endParaRPr lang="en-US" sz="1600" dirty="0"/>
          </a:p>
        </p:txBody>
      </p:sp>
      <p:sp>
        <p:nvSpPr>
          <p:cNvPr id="24" name="Text 22"/>
          <p:cNvSpPr/>
          <p:nvPr/>
        </p:nvSpPr>
        <p:spPr>
          <a:xfrm>
            <a:off x="8199120" y="1684018"/>
            <a:ext cx="3562350" cy="9525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Netflix, Amazon, and Spotify suggest content based on your preferences and behavior.</a:t>
            </a:r>
            <a:endParaRPr lang="en-US" sz="1600" dirty="0"/>
          </a:p>
        </p:txBody>
      </p:sp>
      <p:sp>
        <p:nvSpPr>
          <p:cNvPr id="25" name="Shape 23"/>
          <p:cNvSpPr/>
          <p:nvPr/>
        </p:nvSpPr>
        <p:spPr>
          <a:xfrm>
            <a:off x="8199120" y="2708914"/>
            <a:ext cx="3486150" cy="342900"/>
          </a:xfrm>
          <a:prstGeom prst="roundRect">
            <a:avLst>
              <a:gd name="adj" fmla="val 11111"/>
            </a:avLst>
          </a:prstGeom>
          <a:solidFill>
            <a:srgbClr val="191919"/>
          </a:solidFill>
          <a:ln/>
        </p:spPr>
      </p:sp>
      <p:sp>
        <p:nvSpPr>
          <p:cNvPr id="26" name="Text 24"/>
          <p:cNvSpPr/>
          <p:nvPr/>
        </p:nvSpPr>
        <p:spPr>
          <a:xfrm>
            <a:off x="8275320" y="2785114"/>
            <a:ext cx="34004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Type: Utility-Based Agent</a:t>
            </a:r>
            <a:endParaRPr lang="en-US" sz="1600" dirty="0"/>
          </a:p>
        </p:txBody>
      </p:sp>
      <p:sp>
        <p:nvSpPr>
          <p:cNvPr id="27" name="Shape 25"/>
          <p:cNvSpPr/>
          <p:nvPr/>
        </p:nvSpPr>
        <p:spPr>
          <a:xfrm>
            <a:off x="384810" y="3291842"/>
            <a:ext cx="3722370" cy="2065020"/>
          </a:xfrm>
          <a:prstGeom prst="roundRect">
            <a:avLst>
              <a:gd name="adj" fmla="val 5535"/>
            </a:avLst>
          </a:prstGeom>
          <a:solidFill>
            <a:srgbClr val="262626"/>
          </a:solidFill>
          <a:ln w="10160">
            <a:solidFill>
              <a:srgbClr val="333333"/>
            </a:solidFill>
            <a:prstDash val="solid"/>
          </a:ln>
        </p:spPr>
      </p:sp>
      <p:sp>
        <p:nvSpPr>
          <p:cNvPr id="28" name="Shape 26"/>
          <p:cNvSpPr/>
          <p:nvPr/>
        </p:nvSpPr>
        <p:spPr>
          <a:xfrm>
            <a:off x="502920" y="3409950"/>
            <a:ext cx="381000" cy="381000"/>
          </a:xfrm>
          <a:prstGeom prst="roundRect">
            <a:avLst>
              <a:gd name="adj" fmla="val 20000"/>
            </a:avLst>
          </a:prstGeom>
          <a:solidFill>
            <a:srgbClr val="F0B100">
              <a:alpha val="20000"/>
            </a:srgbClr>
          </a:solidFill>
          <a:ln/>
        </p:spPr>
      </p:sp>
      <p:sp>
        <p:nvSpPr>
          <p:cNvPr id="29" name="Shape 27"/>
          <p:cNvSpPr/>
          <p:nvPr/>
        </p:nvSpPr>
        <p:spPr>
          <a:xfrm>
            <a:off x="598170" y="3524250"/>
            <a:ext cx="190500" cy="152400"/>
          </a:xfrm>
          <a:custGeom>
            <a:avLst/>
            <a:gdLst/>
            <a:ahLst/>
            <a:cxnLst/>
            <a:rect l="l" t="t" r="r" b="b"/>
            <a:pathLst>
              <a:path w="190500" h="152400">
                <a:moveTo>
                  <a:pt x="104775" y="0"/>
                </a:moveTo>
                <a:cubicBezTo>
                  <a:pt x="104775" y="-5269"/>
                  <a:pt x="100519" y="-9525"/>
                  <a:pt x="95250" y="-9525"/>
                </a:cubicBezTo>
                <a:cubicBezTo>
                  <a:pt x="89981" y="-9525"/>
                  <a:pt x="85725" y="-5269"/>
                  <a:pt x="85725" y="0"/>
                </a:cubicBezTo>
                <a:lnTo>
                  <a:pt x="85725" y="19050"/>
                </a:lnTo>
                <a:lnTo>
                  <a:pt x="57150" y="19050"/>
                </a:lnTo>
                <a:cubicBezTo>
                  <a:pt x="41374" y="19050"/>
                  <a:pt x="28575" y="31849"/>
                  <a:pt x="28575" y="47625"/>
                </a:cubicBezTo>
                <a:lnTo>
                  <a:pt x="28575" y="114300"/>
                </a:lnTo>
                <a:cubicBezTo>
                  <a:pt x="28575" y="130076"/>
                  <a:pt x="41374" y="142875"/>
                  <a:pt x="57150" y="142875"/>
                </a:cubicBezTo>
                <a:lnTo>
                  <a:pt x="133350" y="142875"/>
                </a:lnTo>
                <a:cubicBezTo>
                  <a:pt x="149126" y="142875"/>
                  <a:pt x="161925" y="130076"/>
                  <a:pt x="161925" y="114300"/>
                </a:cubicBezTo>
                <a:lnTo>
                  <a:pt x="161925" y="47625"/>
                </a:lnTo>
                <a:cubicBezTo>
                  <a:pt x="161925" y="31849"/>
                  <a:pt x="149126" y="19050"/>
                  <a:pt x="133350" y="19050"/>
                </a:cubicBezTo>
                <a:lnTo>
                  <a:pt x="104775" y="19050"/>
                </a:lnTo>
                <a:lnTo>
                  <a:pt x="104775" y="0"/>
                </a:lnTo>
                <a:close/>
                <a:moveTo>
                  <a:pt x="47625" y="109537"/>
                </a:moveTo>
                <a:cubicBezTo>
                  <a:pt x="47625" y="105579"/>
                  <a:pt x="50810" y="102394"/>
                  <a:pt x="54769" y="102394"/>
                </a:cubicBezTo>
                <a:lnTo>
                  <a:pt x="64294" y="102394"/>
                </a:lnTo>
                <a:cubicBezTo>
                  <a:pt x="68253" y="102394"/>
                  <a:pt x="71438" y="105579"/>
                  <a:pt x="71438" y="109537"/>
                </a:cubicBezTo>
                <a:cubicBezTo>
                  <a:pt x="71438" y="113496"/>
                  <a:pt x="68253" y="116681"/>
                  <a:pt x="64294" y="116681"/>
                </a:cubicBezTo>
                <a:lnTo>
                  <a:pt x="54769" y="116681"/>
                </a:lnTo>
                <a:cubicBezTo>
                  <a:pt x="50810" y="116681"/>
                  <a:pt x="47625" y="113496"/>
                  <a:pt x="47625" y="109537"/>
                </a:cubicBezTo>
                <a:close/>
                <a:moveTo>
                  <a:pt x="83344" y="109537"/>
                </a:moveTo>
                <a:cubicBezTo>
                  <a:pt x="83344" y="105579"/>
                  <a:pt x="86529" y="102394"/>
                  <a:pt x="90488" y="102394"/>
                </a:cubicBezTo>
                <a:lnTo>
                  <a:pt x="100013" y="102394"/>
                </a:lnTo>
                <a:cubicBezTo>
                  <a:pt x="103971" y="102394"/>
                  <a:pt x="107156" y="105579"/>
                  <a:pt x="107156" y="109537"/>
                </a:cubicBezTo>
                <a:cubicBezTo>
                  <a:pt x="107156" y="113496"/>
                  <a:pt x="103971" y="116681"/>
                  <a:pt x="100013" y="116681"/>
                </a:cubicBezTo>
                <a:lnTo>
                  <a:pt x="90488" y="116681"/>
                </a:lnTo>
                <a:cubicBezTo>
                  <a:pt x="86529" y="116681"/>
                  <a:pt x="83344" y="113496"/>
                  <a:pt x="83344" y="109537"/>
                </a:cubicBezTo>
                <a:close/>
                <a:moveTo>
                  <a:pt x="119062" y="109537"/>
                </a:moveTo>
                <a:cubicBezTo>
                  <a:pt x="119062" y="105579"/>
                  <a:pt x="122247" y="102394"/>
                  <a:pt x="126206" y="102394"/>
                </a:cubicBezTo>
                <a:lnTo>
                  <a:pt x="135731" y="102394"/>
                </a:lnTo>
                <a:cubicBezTo>
                  <a:pt x="139690" y="102394"/>
                  <a:pt x="142875" y="105579"/>
                  <a:pt x="142875" y="109537"/>
                </a:cubicBezTo>
                <a:cubicBezTo>
                  <a:pt x="142875" y="113496"/>
                  <a:pt x="139690" y="116681"/>
                  <a:pt x="135731" y="116681"/>
                </a:cubicBezTo>
                <a:lnTo>
                  <a:pt x="126206" y="116681"/>
                </a:lnTo>
                <a:cubicBezTo>
                  <a:pt x="122247" y="116681"/>
                  <a:pt x="119062" y="113496"/>
                  <a:pt x="119062" y="109537"/>
                </a:cubicBezTo>
                <a:close/>
                <a:moveTo>
                  <a:pt x="66675" y="52388"/>
                </a:moveTo>
                <a:cubicBezTo>
                  <a:pt x="74560" y="52388"/>
                  <a:pt x="80962" y="58790"/>
                  <a:pt x="80962" y="66675"/>
                </a:cubicBezTo>
                <a:cubicBezTo>
                  <a:pt x="80962" y="74560"/>
                  <a:pt x="74560" y="80962"/>
                  <a:pt x="66675" y="80962"/>
                </a:cubicBezTo>
                <a:cubicBezTo>
                  <a:pt x="58790" y="80962"/>
                  <a:pt x="52388" y="74560"/>
                  <a:pt x="52388" y="66675"/>
                </a:cubicBezTo>
                <a:cubicBezTo>
                  <a:pt x="52388" y="58790"/>
                  <a:pt x="58790" y="52388"/>
                  <a:pt x="66675" y="52388"/>
                </a:cubicBezTo>
                <a:close/>
                <a:moveTo>
                  <a:pt x="109537" y="66675"/>
                </a:moveTo>
                <a:cubicBezTo>
                  <a:pt x="109537" y="58790"/>
                  <a:pt x="115940" y="52388"/>
                  <a:pt x="123825" y="52388"/>
                </a:cubicBezTo>
                <a:cubicBezTo>
                  <a:pt x="131710" y="52388"/>
                  <a:pt x="138113" y="58790"/>
                  <a:pt x="138113" y="66675"/>
                </a:cubicBezTo>
                <a:cubicBezTo>
                  <a:pt x="138113" y="74560"/>
                  <a:pt x="131710" y="80962"/>
                  <a:pt x="123825" y="80962"/>
                </a:cubicBezTo>
                <a:cubicBezTo>
                  <a:pt x="115940" y="80962"/>
                  <a:pt x="109537" y="74560"/>
                  <a:pt x="109537" y="66675"/>
                </a:cubicBezTo>
                <a:close/>
                <a:moveTo>
                  <a:pt x="19050" y="66675"/>
                </a:moveTo>
                <a:cubicBezTo>
                  <a:pt x="19050" y="61406"/>
                  <a:pt x="14794" y="57150"/>
                  <a:pt x="9525" y="57150"/>
                </a:cubicBezTo>
                <a:cubicBezTo>
                  <a:pt x="4256" y="57150"/>
                  <a:pt x="0" y="61406"/>
                  <a:pt x="0" y="66675"/>
                </a:cubicBezTo>
                <a:lnTo>
                  <a:pt x="0" y="95250"/>
                </a:lnTo>
                <a:cubicBezTo>
                  <a:pt x="0" y="100519"/>
                  <a:pt x="4256" y="104775"/>
                  <a:pt x="9525" y="104775"/>
                </a:cubicBezTo>
                <a:cubicBezTo>
                  <a:pt x="14794" y="104775"/>
                  <a:pt x="19050" y="100519"/>
                  <a:pt x="19050" y="95250"/>
                </a:cubicBezTo>
                <a:lnTo>
                  <a:pt x="19050" y="66675"/>
                </a:lnTo>
                <a:close/>
                <a:moveTo>
                  <a:pt x="180975" y="57150"/>
                </a:moveTo>
                <a:cubicBezTo>
                  <a:pt x="175706" y="57150"/>
                  <a:pt x="171450" y="61406"/>
                  <a:pt x="171450" y="66675"/>
                </a:cubicBezTo>
                <a:lnTo>
                  <a:pt x="171450" y="95250"/>
                </a:lnTo>
                <a:cubicBezTo>
                  <a:pt x="171450" y="100519"/>
                  <a:pt x="175706" y="104775"/>
                  <a:pt x="180975" y="104775"/>
                </a:cubicBezTo>
                <a:cubicBezTo>
                  <a:pt x="186244" y="104775"/>
                  <a:pt x="190500" y="100519"/>
                  <a:pt x="190500" y="95250"/>
                </a:cubicBezTo>
                <a:lnTo>
                  <a:pt x="190500" y="66675"/>
                </a:lnTo>
                <a:cubicBezTo>
                  <a:pt x="190500" y="61406"/>
                  <a:pt x="186244" y="57150"/>
                  <a:pt x="180975" y="57150"/>
                </a:cubicBezTo>
                <a:close/>
              </a:path>
            </a:pathLst>
          </a:custGeom>
          <a:solidFill>
            <a:srgbClr val="F0B100"/>
          </a:solidFill>
          <a:ln/>
        </p:spPr>
      </p:sp>
      <p:sp>
        <p:nvSpPr>
          <p:cNvPr id="30" name="Text 28"/>
          <p:cNvSpPr/>
          <p:nvPr/>
        </p:nvSpPr>
        <p:spPr>
          <a:xfrm>
            <a:off x="960120" y="3467100"/>
            <a:ext cx="162877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Autonomous Robots</a:t>
            </a:r>
            <a:endParaRPr lang="en-US" sz="1600" dirty="0"/>
          </a:p>
        </p:txBody>
      </p:sp>
      <p:sp>
        <p:nvSpPr>
          <p:cNvPr id="31" name="Text 29"/>
          <p:cNvSpPr/>
          <p:nvPr/>
        </p:nvSpPr>
        <p:spPr>
          <a:xfrm>
            <a:off x="502920" y="3867150"/>
            <a:ext cx="3562350" cy="9525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Warehouse robots, delivery drones, and robot vacuums navigate environments and complete tasks.</a:t>
            </a:r>
            <a:endParaRPr lang="en-US" sz="1600" dirty="0"/>
          </a:p>
        </p:txBody>
      </p:sp>
      <p:sp>
        <p:nvSpPr>
          <p:cNvPr id="32" name="Shape 30"/>
          <p:cNvSpPr/>
          <p:nvPr/>
        </p:nvSpPr>
        <p:spPr>
          <a:xfrm>
            <a:off x="502920" y="4892046"/>
            <a:ext cx="3486150" cy="342900"/>
          </a:xfrm>
          <a:prstGeom prst="roundRect">
            <a:avLst>
              <a:gd name="adj" fmla="val 11111"/>
            </a:avLst>
          </a:prstGeom>
          <a:solidFill>
            <a:srgbClr val="191919"/>
          </a:solidFill>
          <a:ln/>
        </p:spPr>
      </p:sp>
      <p:sp>
        <p:nvSpPr>
          <p:cNvPr id="33" name="Text 31"/>
          <p:cNvSpPr/>
          <p:nvPr/>
        </p:nvSpPr>
        <p:spPr>
          <a:xfrm>
            <a:off x="579120" y="4968246"/>
            <a:ext cx="34004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Type: Model-Based Agent</a:t>
            </a:r>
            <a:endParaRPr lang="en-US" sz="1600" dirty="0"/>
          </a:p>
        </p:txBody>
      </p:sp>
      <p:sp>
        <p:nvSpPr>
          <p:cNvPr id="34" name="Shape 32"/>
          <p:cNvSpPr/>
          <p:nvPr/>
        </p:nvSpPr>
        <p:spPr>
          <a:xfrm>
            <a:off x="4232910" y="3291842"/>
            <a:ext cx="3722370" cy="2065020"/>
          </a:xfrm>
          <a:prstGeom prst="roundRect">
            <a:avLst>
              <a:gd name="adj" fmla="val 5535"/>
            </a:avLst>
          </a:prstGeom>
          <a:solidFill>
            <a:srgbClr val="262626"/>
          </a:solidFill>
          <a:ln w="10160">
            <a:solidFill>
              <a:srgbClr val="333333"/>
            </a:solidFill>
            <a:prstDash val="solid"/>
          </a:ln>
        </p:spPr>
      </p:sp>
      <p:sp>
        <p:nvSpPr>
          <p:cNvPr id="35" name="Shape 33"/>
          <p:cNvSpPr/>
          <p:nvPr/>
        </p:nvSpPr>
        <p:spPr>
          <a:xfrm>
            <a:off x="4351020" y="3409950"/>
            <a:ext cx="381000" cy="381000"/>
          </a:xfrm>
          <a:prstGeom prst="roundRect">
            <a:avLst>
              <a:gd name="adj" fmla="val 20000"/>
            </a:avLst>
          </a:prstGeom>
          <a:solidFill>
            <a:srgbClr val="FB2C36">
              <a:alpha val="20000"/>
            </a:srgbClr>
          </a:solidFill>
          <a:ln/>
        </p:spPr>
      </p:sp>
      <p:sp>
        <p:nvSpPr>
          <p:cNvPr id="36" name="Shape 34"/>
          <p:cNvSpPr/>
          <p:nvPr/>
        </p:nvSpPr>
        <p:spPr>
          <a:xfrm>
            <a:off x="4465320" y="3524250"/>
            <a:ext cx="152400" cy="152400"/>
          </a:xfrm>
          <a:custGeom>
            <a:avLst/>
            <a:gdLst/>
            <a:ahLst/>
            <a:cxnLst/>
            <a:rect l="l" t="t" r="r" b="b"/>
            <a:pathLst>
              <a:path w="152400" h="152400">
                <a:moveTo>
                  <a:pt x="40243" y="34945"/>
                </a:moveTo>
                <a:lnTo>
                  <a:pt x="32474" y="57150"/>
                </a:lnTo>
                <a:lnTo>
                  <a:pt x="119926" y="57150"/>
                </a:lnTo>
                <a:lnTo>
                  <a:pt x="112157" y="34945"/>
                </a:lnTo>
                <a:cubicBezTo>
                  <a:pt x="110817" y="31135"/>
                  <a:pt x="107216" y="28575"/>
                  <a:pt x="103168" y="28575"/>
                </a:cubicBezTo>
                <a:lnTo>
                  <a:pt x="49232" y="28575"/>
                </a:lnTo>
                <a:cubicBezTo>
                  <a:pt x="45184" y="28575"/>
                  <a:pt x="41583" y="31135"/>
                  <a:pt x="40243" y="34945"/>
                </a:cubicBezTo>
                <a:close/>
                <a:moveTo>
                  <a:pt x="11787" y="58579"/>
                </a:moveTo>
                <a:lnTo>
                  <a:pt x="22265" y="28664"/>
                </a:lnTo>
                <a:cubicBezTo>
                  <a:pt x="26283" y="17205"/>
                  <a:pt x="37088" y="9525"/>
                  <a:pt x="49232" y="9525"/>
                </a:cubicBezTo>
                <a:lnTo>
                  <a:pt x="103168" y="9525"/>
                </a:lnTo>
                <a:cubicBezTo>
                  <a:pt x="115312" y="9525"/>
                  <a:pt x="126117" y="17205"/>
                  <a:pt x="130135" y="28664"/>
                </a:cubicBezTo>
                <a:lnTo>
                  <a:pt x="140613" y="58579"/>
                </a:lnTo>
                <a:cubicBezTo>
                  <a:pt x="147518" y="61436"/>
                  <a:pt x="152400" y="68253"/>
                  <a:pt x="152400" y="76200"/>
                </a:cubicBezTo>
                <a:lnTo>
                  <a:pt x="152400" y="133350"/>
                </a:lnTo>
                <a:cubicBezTo>
                  <a:pt x="152400" y="138619"/>
                  <a:pt x="148144" y="142875"/>
                  <a:pt x="142875" y="142875"/>
                </a:cubicBezTo>
                <a:lnTo>
                  <a:pt x="133350" y="142875"/>
                </a:lnTo>
                <a:cubicBezTo>
                  <a:pt x="128081" y="142875"/>
                  <a:pt x="123825" y="138619"/>
                  <a:pt x="123825" y="133350"/>
                </a:cubicBezTo>
                <a:lnTo>
                  <a:pt x="123825" y="123825"/>
                </a:lnTo>
                <a:lnTo>
                  <a:pt x="28575" y="123825"/>
                </a:lnTo>
                <a:lnTo>
                  <a:pt x="28575" y="133350"/>
                </a:lnTo>
                <a:cubicBezTo>
                  <a:pt x="28575" y="138619"/>
                  <a:pt x="24319" y="142875"/>
                  <a:pt x="19050" y="142875"/>
                </a:cubicBezTo>
                <a:lnTo>
                  <a:pt x="9525" y="142875"/>
                </a:lnTo>
                <a:cubicBezTo>
                  <a:pt x="4256" y="142875"/>
                  <a:pt x="0" y="138619"/>
                  <a:pt x="0" y="133350"/>
                </a:cubicBezTo>
                <a:lnTo>
                  <a:pt x="0" y="76200"/>
                </a:lnTo>
                <a:cubicBezTo>
                  <a:pt x="0" y="68253"/>
                  <a:pt x="4882" y="61436"/>
                  <a:pt x="11787" y="58579"/>
                </a:cubicBezTo>
                <a:close/>
                <a:moveTo>
                  <a:pt x="38100" y="90488"/>
                </a:moveTo>
                <a:cubicBezTo>
                  <a:pt x="38100" y="85231"/>
                  <a:pt x="33832" y="80962"/>
                  <a:pt x="28575" y="80962"/>
                </a:cubicBezTo>
                <a:cubicBezTo>
                  <a:pt x="23318" y="80962"/>
                  <a:pt x="19050" y="85231"/>
                  <a:pt x="19050" y="90488"/>
                </a:cubicBezTo>
                <a:cubicBezTo>
                  <a:pt x="19050" y="95744"/>
                  <a:pt x="23318" y="100013"/>
                  <a:pt x="28575" y="100013"/>
                </a:cubicBezTo>
                <a:cubicBezTo>
                  <a:pt x="33832" y="100013"/>
                  <a:pt x="38100" y="95744"/>
                  <a:pt x="38100" y="90488"/>
                </a:cubicBezTo>
                <a:close/>
                <a:moveTo>
                  <a:pt x="123825" y="100013"/>
                </a:moveTo>
                <a:cubicBezTo>
                  <a:pt x="129082" y="100013"/>
                  <a:pt x="133350" y="95744"/>
                  <a:pt x="133350" y="90488"/>
                </a:cubicBezTo>
                <a:cubicBezTo>
                  <a:pt x="133350" y="85231"/>
                  <a:pt x="129082" y="80962"/>
                  <a:pt x="123825" y="80962"/>
                </a:cubicBezTo>
                <a:cubicBezTo>
                  <a:pt x="118568" y="80962"/>
                  <a:pt x="114300" y="85231"/>
                  <a:pt x="114300" y="90488"/>
                </a:cubicBezTo>
                <a:cubicBezTo>
                  <a:pt x="114300" y="95744"/>
                  <a:pt x="118568" y="100013"/>
                  <a:pt x="123825" y="100013"/>
                </a:cubicBezTo>
                <a:close/>
              </a:path>
            </a:pathLst>
          </a:custGeom>
          <a:solidFill>
            <a:srgbClr val="FB2C36"/>
          </a:solidFill>
          <a:ln/>
        </p:spPr>
      </p:sp>
      <p:sp>
        <p:nvSpPr>
          <p:cNvPr id="37" name="Text 35"/>
          <p:cNvSpPr/>
          <p:nvPr/>
        </p:nvSpPr>
        <p:spPr>
          <a:xfrm>
            <a:off x="4808220" y="3467100"/>
            <a:ext cx="137160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Self-Driving Cars</a:t>
            </a:r>
            <a:endParaRPr lang="en-US" sz="1600" dirty="0"/>
          </a:p>
        </p:txBody>
      </p:sp>
      <p:sp>
        <p:nvSpPr>
          <p:cNvPr id="38" name="Text 36"/>
          <p:cNvSpPr/>
          <p:nvPr/>
        </p:nvSpPr>
        <p:spPr>
          <a:xfrm>
            <a:off x="4351020" y="3867150"/>
            <a:ext cx="3562350" cy="9525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Tesla Autopilot and Waymo vehicles perceive roads, make driving decisions, and navigate safely.</a:t>
            </a:r>
            <a:endParaRPr lang="en-US" sz="1600" dirty="0"/>
          </a:p>
        </p:txBody>
      </p:sp>
      <p:sp>
        <p:nvSpPr>
          <p:cNvPr id="39" name="Shape 37"/>
          <p:cNvSpPr/>
          <p:nvPr/>
        </p:nvSpPr>
        <p:spPr>
          <a:xfrm>
            <a:off x="4351020" y="4892046"/>
            <a:ext cx="3486150" cy="342900"/>
          </a:xfrm>
          <a:prstGeom prst="roundRect">
            <a:avLst>
              <a:gd name="adj" fmla="val 11111"/>
            </a:avLst>
          </a:prstGeom>
          <a:solidFill>
            <a:srgbClr val="191919"/>
          </a:solidFill>
          <a:ln/>
        </p:spPr>
      </p:sp>
      <p:sp>
        <p:nvSpPr>
          <p:cNvPr id="40" name="Text 38"/>
          <p:cNvSpPr/>
          <p:nvPr/>
        </p:nvSpPr>
        <p:spPr>
          <a:xfrm>
            <a:off x="4427220" y="4968246"/>
            <a:ext cx="34004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Type: Multi-type Agent</a:t>
            </a:r>
            <a:endParaRPr lang="en-US" sz="1600" dirty="0"/>
          </a:p>
        </p:txBody>
      </p:sp>
      <p:sp>
        <p:nvSpPr>
          <p:cNvPr id="41" name="Shape 39"/>
          <p:cNvSpPr/>
          <p:nvPr/>
        </p:nvSpPr>
        <p:spPr>
          <a:xfrm>
            <a:off x="8081010" y="3291842"/>
            <a:ext cx="3722370" cy="2065020"/>
          </a:xfrm>
          <a:prstGeom prst="roundRect">
            <a:avLst>
              <a:gd name="adj" fmla="val 5535"/>
            </a:avLst>
          </a:prstGeom>
          <a:gradFill rotWithShape="1" flip="none">
            <a:gsLst>
              <a:gs pos="0">
                <a:srgbClr val="6366F1">
                  <a:alpha val="20000"/>
                </a:srgbClr>
              </a:gs>
              <a:gs pos="100000">
                <a:srgbClr val="6366F1">
                  <a:alpha val="5000"/>
                </a:srgbClr>
              </a:gs>
            </a:gsLst>
            <a:lin ang="2700000" scaled="1"/>
          </a:gradFill>
          <a:ln w="10160">
            <a:solidFill>
              <a:srgbClr val="6366F1"/>
            </a:solidFill>
            <a:prstDash val="solid"/>
          </a:ln>
        </p:spPr>
      </p:sp>
      <p:sp>
        <p:nvSpPr>
          <p:cNvPr id="42" name="Shape 40"/>
          <p:cNvSpPr/>
          <p:nvPr/>
        </p:nvSpPr>
        <p:spPr>
          <a:xfrm>
            <a:off x="8237220" y="3448050"/>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6366F1"/>
          </a:solidFill>
          <a:ln/>
        </p:spPr>
      </p:sp>
      <p:sp>
        <p:nvSpPr>
          <p:cNvPr id="43" name="Text 41"/>
          <p:cNvSpPr/>
          <p:nvPr/>
        </p:nvSpPr>
        <p:spPr>
          <a:xfrm>
            <a:off x="8465820" y="3409950"/>
            <a:ext cx="144780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Real-World Example</a:t>
            </a:r>
            <a:endParaRPr lang="en-US" sz="1600" dirty="0"/>
          </a:p>
        </p:txBody>
      </p:sp>
      <p:sp>
        <p:nvSpPr>
          <p:cNvPr id="44" name="Text 42"/>
          <p:cNvSpPr/>
          <p:nvPr/>
        </p:nvSpPr>
        <p:spPr>
          <a:xfrm>
            <a:off x="8199120" y="3714750"/>
            <a:ext cx="3552825" cy="1524000"/>
          </a:xfrm>
          <a:prstGeom prst="rect">
            <a:avLst/>
          </a:prstGeom>
          <a:noFill/>
          <a:ln/>
        </p:spPr>
        <p:txBody>
          <a:bodyPr wrap="square" lIns="0" tIns="0" rIns="0" bIns="0" rtlCol="0" anchor="ctr"/>
          <a:lstStyle/>
          <a:p>
            <a:pPr>
              <a:lnSpc>
                <a:spcPct val="130000"/>
              </a:lnSpc>
            </a:pPr>
            <a:r>
              <a:rPr lang="en-US" sz="1050" dirty="0">
                <a:solidFill>
                  <a:srgbClr val="EFEFEF"/>
                </a:solidFill>
                <a:latin typeface="Liter" pitchFamily="34" charset="0"/>
                <a:ea typeface="Liter" pitchFamily="34" charset="-122"/>
                <a:cs typeface="Liter" pitchFamily="34" charset="-120"/>
              </a:rPr>
              <a:t>Amazon's warehouse has thousands of robots that work together! They communicate, avoid collisions, and optimize routes to deliver packages faster than humans could alone.</a:t>
            </a:r>
            <a:endParaRPr lang="en-US" sz="1600" dirty="0"/>
          </a:p>
        </p:txBody>
      </p:sp>
      <p:sp>
        <p:nvSpPr>
          <p:cNvPr id="45" name="Shape 43"/>
          <p:cNvSpPr/>
          <p:nvPr/>
        </p:nvSpPr>
        <p:spPr>
          <a:xfrm>
            <a:off x="384810" y="5436874"/>
            <a:ext cx="11418570" cy="1036320"/>
          </a:xfrm>
          <a:prstGeom prst="roundRect">
            <a:avLst>
              <a:gd name="adj" fmla="val 11029"/>
            </a:avLst>
          </a:prstGeom>
          <a:solidFill>
            <a:srgbClr val="262626"/>
          </a:solidFill>
          <a:ln w="10160">
            <a:solidFill>
              <a:srgbClr val="333333"/>
            </a:solidFill>
            <a:prstDash val="solid"/>
          </a:ln>
        </p:spPr>
      </p:sp>
      <p:sp>
        <p:nvSpPr>
          <p:cNvPr id="46" name="Text 44"/>
          <p:cNvSpPr/>
          <p:nvPr/>
        </p:nvSpPr>
        <p:spPr>
          <a:xfrm>
            <a:off x="502920" y="5554982"/>
            <a:ext cx="1126807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 Simple Explanation</a:t>
            </a:r>
            <a:endParaRPr lang="en-US" sz="1600" dirty="0"/>
          </a:p>
        </p:txBody>
      </p:sp>
      <p:sp>
        <p:nvSpPr>
          <p:cNvPr id="47" name="Text 45"/>
          <p:cNvSpPr/>
          <p:nvPr/>
        </p:nvSpPr>
        <p:spPr>
          <a:xfrm>
            <a:off x="502920" y="5897882"/>
            <a:ext cx="11258550"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AI agents are all around you! From the moment you ask Alexa about the weather to when Netflix suggests your next binge-watch, agents are working behind the scenes to make your life easier.</a:t>
            </a:r>
            <a:endParaRPr lang="en-US" sz="1600" dirty="0"/>
          </a:p>
        </p:txBody>
      </p:sp>
    </p:spTree>
  </p:cSld>
  <p:clrMapOvr>
    <a:masterClrMapping/>
  </p:clrMapOvr>
  <p:transition>
    <p:fade/>
    <p:spd val="med"/>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91919"/>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6366F1">
              <a:alpha val="20000"/>
            </a:srgbClr>
          </a:solidFill>
          <a:ln/>
        </p:spPr>
      </p:sp>
      <p:sp>
        <p:nvSpPr>
          <p:cNvPr id="3" name="Text 1"/>
          <p:cNvSpPr/>
          <p:nvPr/>
        </p:nvSpPr>
        <p:spPr>
          <a:xfrm>
            <a:off x="493395" y="533400"/>
            <a:ext cx="323850" cy="266700"/>
          </a:xfrm>
          <a:prstGeom prst="rect">
            <a:avLst/>
          </a:prstGeom>
          <a:noFill/>
          <a:ln/>
        </p:spPr>
        <p:txBody>
          <a:bodyPr wrap="square" lIns="0" tIns="0" rIns="0" bIns="0" rtlCol="0" anchor="ctr"/>
          <a:lstStyle/>
          <a:p>
            <a:pPr>
              <a:lnSpc>
                <a:spcPct val="120000"/>
              </a:lnSpc>
            </a:pPr>
            <a:r>
              <a:rPr lang="en-US" sz="1500" b="1" dirty="0">
                <a:solidFill>
                  <a:srgbClr val="6366F1"/>
                </a:solidFill>
                <a:latin typeface="Liter" pitchFamily="34" charset="0"/>
                <a:ea typeface="Liter" pitchFamily="34" charset="-122"/>
                <a:cs typeface="Liter" pitchFamily="34" charset="-120"/>
              </a:rPr>
              <a:t>20</a:t>
            </a:r>
            <a:endParaRPr lang="en-US" sz="1600" dirty="0"/>
          </a:p>
        </p:txBody>
      </p:sp>
      <p:sp>
        <p:nvSpPr>
          <p:cNvPr id="4" name="Text 2"/>
          <p:cNvSpPr/>
          <p:nvPr/>
        </p:nvSpPr>
        <p:spPr>
          <a:xfrm>
            <a:off x="952500" y="381000"/>
            <a:ext cx="4457700" cy="190500"/>
          </a:xfrm>
          <a:prstGeom prst="rect">
            <a:avLst/>
          </a:prstGeom>
          <a:noFill/>
          <a:ln/>
        </p:spPr>
        <p:txBody>
          <a:bodyPr wrap="square" lIns="0" tIns="0" rIns="0" bIns="0" rtlCol="0" anchor="ctr"/>
          <a:lstStyle/>
          <a:p>
            <a:pPr>
              <a:lnSpc>
                <a:spcPct val="120000"/>
              </a:lnSpc>
            </a:pPr>
            <a:r>
              <a:rPr lang="en-US" sz="1050" b="1" spc="53" kern="0" dirty="0">
                <a:solidFill>
                  <a:srgbClr val="6366F1"/>
                </a:solidFill>
                <a:latin typeface="Liter" pitchFamily="34" charset="0"/>
                <a:ea typeface="Liter" pitchFamily="34" charset="-122"/>
                <a:cs typeface="Liter" pitchFamily="34" charset="-120"/>
              </a:rPr>
              <a:t>Agent Technology</a:t>
            </a:r>
            <a:endParaRPr lang="en-US" sz="1600" dirty="0"/>
          </a:p>
        </p:txBody>
      </p:sp>
      <p:sp>
        <p:nvSpPr>
          <p:cNvPr id="5" name="Text 3"/>
          <p:cNvSpPr/>
          <p:nvPr/>
        </p:nvSpPr>
        <p:spPr>
          <a:xfrm>
            <a:off x="952500" y="571500"/>
            <a:ext cx="4562475"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How Agents Learn and Adapt</a:t>
            </a:r>
            <a:endParaRPr lang="en-US" sz="1600" dirty="0"/>
          </a:p>
        </p:txBody>
      </p:sp>
      <p:sp>
        <p:nvSpPr>
          <p:cNvPr id="6" name="Shape 4"/>
          <p:cNvSpPr/>
          <p:nvPr/>
        </p:nvSpPr>
        <p:spPr>
          <a:xfrm>
            <a:off x="384810" y="1108710"/>
            <a:ext cx="6760845" cy="2522220"/>
          </a:xfrm>
          <a:prstGeom prst="roundRect">
            <a:avLst>
              <a:gd name="adj" fmla="val 4532"/>
            </a:avLst>
          </a:prstGeom>
          <a:solidFill>
            <a:srgbClr val="262626"/>
          </a:solidFill>
          <a:ln w="10160">
            <a:solidFill>
              <a:srgbClr val="333333"/>
            </a:solidFill>
            <a:prstDash val="solid"/>
          </a:ln>
        </p:spPr>
      </p:sp>
      <p:sp>
        <p:nvSpPr>
          <p:cNvPr id="7" name="Shape 5"/>
          <p:cNvSpPr/>
          <p:nvPr/>
        </p:nvSpPr>
        <p:spPr>
          <a:xfrm>
            <a:off x="526732" y="1264918"/>
            <a:ext cx="190500" cy="190500"/>
          </a:xfrm>
          <a:custGeom>
            <a:avLst/>
            <a:gdLst/>
            <a:ahLst/>
            <a:cxnLst/>
            <a:rect l="l" t="t" r="r" b="b"/>
            <a:pathLst>
              <a:path w="190500" h="190500">
                <a:moveTo>
                  <a:pt x="44648" y="20836"/>
                </a:moveTo>
                <a:cubicBezTo>
                  <a:pt x="44648" y="9339"/>
                  <a:pt x="53987" y="0"/>
                  <a:pt x="65484" y="0"/>
                </a:cubicBezTo>
                <a:lnTo>
                  <a:pt x="74414" y="0"/>
                </a:lnTo>
                <a:cubicBezTo>
                  <a:pt x="81000" y="0"/>
                  <a:pt x="86320" y="5321"/>
                  <a:pt x="86320" y="11906"/>
                </a:cubicBezTo>
                <a:lnTo>
                  <a:pt x="86320" y="178594"/>
                </a:lnTo>
                <a:cubicBezTo>
                  <a:pt x="86320" y="185179"/>
                  <a:pt x="81000" y="190500"/>
                  <a:pt x="74414" y="190500"/>
                </a:cubicBezTo>
                <a:lnTo>
                  <a:pt x="62508" y="190500"/>
                </a:lnTo>
                <a:cubicBezTo>
                  <a:pt x="51420" y="190500"/>
                  <a:pt x="42081" y="182910"/>
                  <a:pt x="39439" y="172641"/>
                </a:cubicBezTo>
                <a:cubicBezTo>
                  <a:pt x="39179" y="172641"/>
                  <a:pt x="38956" y="172641"/>
                  <a:pt x="38695" y="172641"/>
                </a:cubicBezTo>
                <a:cubicBezTo>
                  <a:pt x="22250" y="172641"/>
                  <a:pt x="8930" y="159321"/>
                  <a:pt x="8930" y="142875"/>
                </a:cubicBezTo>
                <a:cubicBezTo>
                  <a:pt x="8930" y="136178"/>
                  <a:pt x="11162" y="130001"/>
                  <a:pt x="14883" y="125016"/>
                </a:cubicBezTo>
                <a:cubicBezTo>
                  <a:pt x="7665" y="119583"/>
                  <a:pt x="2977" y="110951"/>
                  <a:pt x="2977" y="101203"/>
                </a:cubicBezTo>
                <a:cubicBezTo>
                  <a:pt x="2977" y="89706"/>
                  <a:pt x="9525" y="79697"/>
                  <a:pt x="19050" y="74749"/>
                </a:cubicBezTo>
                <a:cubicBezTo>
                  <a:pt x="16408" y="70284"/>
                  <a:pt x="14883" y="65075"/>
                  <a:pt x="14883" y="59531"/>
                </a:cubicBezTo>
                <a:cubicBezTo>
                  <a:pt x="14883" y="43086"/>
                  <a:pt x="28203" y="29766"/>
                  <a:pt x="44648" y="29766"/>
                </a:cubicBezTo>
                <a:lnTo>
                  <a:pt x="44648" y="20836"/>
                </a:lnTo>
                <a:close/>
                <a:moveTo>
                  <a:pt x="145852" y="20836"/>
                </a:moveTo>
                <a:lnTo>
                  <a:pt x="145852" y="29766"/>
                </a:lnTo>
                <a:cubicBezTo>
                  <a:pt x="162297" y="29766"/>
                  <a:pt x="175617" y="43086"/>
                  <a:pt x="175617" y="59531"/>
                </a:cubicBezTo>
                <a:cubicBezTo>
                  <a:pt x="175617" y="65112"/>
                  <a:pt x="174092" y="70321"/>
                  <a:pt x="171450" y="74749"/>
                </a:cubicBezTo>
                <a:cubicBezTo>
                  <a:pt x="181012" y="79697"/>
                  <a:pt x="187523" y="89669"/>
                  <a:pt x="187523" y="101203"/>
                </a:cubicBezTo>
                <a:cubicBezTo>
                  <a:pt x="187523" y="110951"/>
                  <a:pt x="182835" y="119583"/>
                  <a:pt x="175617" y="125016"/>
                </a:cubicBezTo>
                <a:cubicBezTo>
                  <a:pt x="179338" y="130001"/>
                  <a:pt x="181570" y="136178"/>
                  <a:pt x="181570" y="142875"/>
                </a:cubicBezTo>
                <a:cubicBezTo>
                  <a:pt x="181570" y="159321"/>
                  <a:pt x="168250" y="172641"/>
                  <a:pt x="151805" y="172641"/>
                </a:cubicBezTo>
                <a:cubicBezTo>
                  <a:pt x="151544" y="172641"/>
                  <a:pt x="151321" y="172641"/>
                  <a:pt x="151061" y="172641"/>
                </a:cubicBezTo>
                <a:cubicBezTo>
                  <a:pt x="148419" y="182910"/>
                  <a:pt x="139080" y="190500"/>
                  <a:pt x="127992" y="190500"/>
                </a:cubicBezTo>
                <a:lnTo>
                  <a:pt x="116086" y="190500"/>
                </a:lnTo>
                <a:cubicBezTo>
                  <a:pt x="109500" y="190500"/>
                  <a:pt x="104180" y="185179"/>
                  <a:pt x="104180" y="178594"/>
                </a:cubicBezTo>
                <a:lnTo>
                  <a:pt x="104180" y="11906"/>
                </a:lnTo>
                <a:cubicBezTo>
                  <a:pt x="104180" y="5321"/>
                  <a:pt x="109500" y="0"/>
                  <a:pt x="116086" y="0"/>
                </a:cubicBezTo>
                <a:lnTo>
                  <a:pt x="125016" y="0"/>
                </a:lnTo>
                <a:cubicBezTo>
                  <a:pt x="136513" y="0"/>
                  <a:pt x="145852" y="9339"/>
                  <a:pt x="145852" y="20836"/>
                </a:cubicBezTo>
                <a:close/>
              </a:path>
            </a:pathLst>
          </a:custGeom>
          <a:solidFill>
            <a:srgbClr val="6366F1"/>
          </a:solidFill>
          <a:ln/>
        </p:spPr>
      </p:sp>
      <p:sp>
        <p:nvSpPr>
          <p:cNvPr id="8" name="Text 6"/>
          <p:cNvSpPr/>
          <p:nvPr/>
        </p:nvSpPr>
        <p:spPr>
          <a:xfrm>
            <a:off x="741045" y="1226818"/>
            <a:ext cx="6381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Key Technologies Behind Agents</a:t>
            </a:r>
            <a:endParaRPr lang="en-US" sz="1600" dirty="0"/>
          </a:p>
        </p:txBody>
      </p:sp>
      <p:sp>
        <p:nvSpPr>
          <p:cNvPr id="9" name="Shape 7"/>
          <p:cNvSpPr/>
          <p:nvPr/>
        </p:nvSpPr>
        <p:spPr>
          <a:xfrm>
            <a:off x="502920" y="1569718"/>
            <a:ext cx="6524625" cy="609600"/>
          </a:xfrm>
          <a:prstGeom prst="roundRect">
            <a:avLst>
              <a:gd name="adj" fmla="val 12500"/>
            </a:avLst>
          </a:prstGeom>
          <a:solidFill>
            <a:srgbClr val="191919"/>
          </a:solidFill>
          <a:ln/>
        </p:spPr>
      </p:sp>
      <p:sp>
        <p:nvSpPr>
          <p:cNvPr id="10" name="Shape 8"/>
          <p:cNvSpPr/>
          <p:nvPr/>
        </p:nvSpPr>
        <p:spPr>
          <a:xfrm>
            <a:off x="588645" y="1684018"/>
            <a:ext cx="171450" cy="152400"/>
          </a:xfrm>
          <a:custGeom>
            <a:avLst/>
            <a:gdLst/>
            <a:ahLst/>
            <a:cxnLst/>
            <a:rect l="l" t="t" r="r" b="b"/>
            <a:pathLst>
              <a:path w="171450" h="152400">
                <a:moveTo>
                  <a:pt x="73819" y="26194"/>
                </a:moveTo>
                <a:lnTo>
                  <a:pt x="97631" y="26194"/>
                </a:lnTo>
                <a:lnTo>
                  <a:pt x="97631" y="40481"/>
                </a:lnTo>
                <a:lnTo>
                  <a:pt x="73819" y="40481"/>
                </a:lnTo>
                <a:lnTo>
                  <a:pt x="73819" y="26194"/>
                </a:lnTo>
                <a:close/>
                <a:moveTo>
                  <a:pt x="71438" y="9525"/>
                </a:moveTo>
                <a:cubicBezTo>
                  <a:pt x="63550" y="9525"/>
                  <a:pt x="57150" y="15925"/>
                  <a:pt x="57150" y="23813"/>
                </a:cubicBezTo>
                <a:lnTo>
                  <a:pt x="57150" y="42863"/>
                </a:lnTo>
                <a:cubicBezTo>
                  <a:pt x="57150" y="50750"/>
                  <a:pt x="63550" y="57150"/>
                  <a:pt x="71438" y="57150"/>
                </a:cubicBezTo>
                <a:lnTo>
                  <a:pt x="76200" y="57150"/>
                </a:lnTo>
                <a:lnTo>
                  <a:pt x="76200" y="66675"/>
                </a:lnTo>
                <a:lnTo>
                  <a:pt x="9525" y="66675"/>
                </a:lnTo>
                <a:cubicBezTo>
                  <a:pt x="4256" y="66675"/>
                  <a:pt x="0" y="70931"/>
                  <a:pt x="0" y="76200"/>
                </a:cubicBezTo>
                <a:cubicBezTo>
                  <a:pt x="0" y="81469"/>
                  <a:pt x="4256" y="85725"/>
                  <a:pt x="9525" y="85725"/>
                </a:cubicBezTo>
                <a:lnTo>
                  <a:pt x="38100" y="85725"/>
                </a:lnTo>
                <a:lnTo>
                  <a:pt x="38100" y="95250"/>
                </a:lnTo>
                <a:lnTo>
                  <a:pt x="33338" y="95250"/>
                </a:lnTo>
                <a:cubicBezTo>
                  <a:pt x="25450" y="95250"/>
                  <a:pt x="19050" y="101650"/>
                  <a:pt x="19050" y="109537"/>
                </a:cubicBezTo>
                <a:lnTo>
                  <a:pt x="19050" y="128588"/>
                </a:lnTo>
                <a:cubicBezTo>
                  <a:pt x="19050" y="136475"/>
                  <a:pt x="25450" y="142875"/>
                  <a:pt x="33338" y="142875"/>
                </a:cubicBezTo>
                <a:lnTo>
                  <a:pt x="61912" y="142875"/>
                </a:lnTo>
                <a:cubicBezTo>
                  <a:pt x="69800" y="142875"/>
                  <a:pt x="76200" y="136475"/>
                  <a:pt x="76200" y="128588"/>
                </a:cubicBezTo>
                <a:lnTo>
                  <a:pt x="76200" y="109537"/>
                </a:lnTo>
                <a:cubicBezTo>
                  <a:pt x="76200" y="101650"/>
                  <a:pt x="69800" y="95250"/>
                  <a:pt x="61912" y="95250"/>
                </a:cubicBezTo>
                <a:lnTo>
                  <a:pt x="57150" y="95250"/>
                </a:lnTo>
                <a:lnTo>
                  <a:pt x="57150" y="85725"/>
                </a:lnTo>
                <a:lnTo>
                  <a:pt x="114300" y="85725"/>
                </a:lnTo>
                <a:lnTo>
                  <a:pt x="114300" y="95250"/>
                </a:lnTo>
                <a:lnTo>
                  <a:pt x="109537" y="95250"/>
                </a:lnTo>
                <a:cubicBezTo>
                  <a:pt x="101650" y="95250"/>
                  <a:pt x="95250" y="101650"/>
                  <a:pt x="95250" y="109537"/>
                </a:cubicBezTo>
                <a:lnTo>
                  <a:pt x="95250" y="128588"/>
                </a:lnTo>
                <a:cubicBezTo>
                  <a:pt x="95250" y="136475"/>
                  <a:pt x="101650" y="142875"/>
                  <a:pt x="109537" y="142875"/>
                </a:cubicBezTo>
                <a:lnTo>
                  <a:pt x="138113" y="142875"/>
                </a:lnTo>
                <a:cubicBezTo>
                  <a:pt x="146000" y="142875"/>
                  <a:pt x="152400" y="136475"/>
                  <a:pt x="152400" y="128588"/>
                </a:cubicBezTo>
                <a:lnTo>
                  <a:pt x="152400" y="109537"/>
                </a:lnTo>
                <a:cubicBezTo>
                  <a:pt x="152400" y="101650"/>
                  <a:pt x="146000" y="95250"/>
                  <a:pt x="138113" y="95250"/>
                </a:cubicBezTo>
                <a:lnTo>
                  <a:pt x="133350" y="95250"/>
                </a:lnTo>
                <a:lnTo>
                  <a:pt x="133350" y="85725"/>
                </a:lnTo>
                <a:lnTo>
                  <a:pt x="161925" y="85725"/>
                </a:lnTo>
                <a:cubicBezTo>
                  <a:pt x="167194" y="85725"/>
                  <a:pt x="171450" y="81469"/>
                  <a:pt x="171450" y="76200"/>
                </a:cubicBezTo>
                <a:cubicBezTo>
                  <a:pt x="171450" y="70931"/>
                  <a:pt x="167194" y="66675"/>
                  <a:pt x="161925" y="66675"/>
                </a:cubicBezTo>
                <a:lnTo>
                  <a:pt x="95250" y="66675"/>
                </a:lnTo>
                <a:lnTo>
                  <a:pt x="95250" y="57150"/>
                </a:lnTo>
                <a:lnTo>
                  <a:pt x="100013" y="57150"/>
                </a:lnTo>
                <a:cubicBezTo>
                  <a:pt x="107900" y="57150"/>
                  <a:pt x="114300" y="50750"/>
                  <a:pt x="114300" y="42863"/>
                </a:cubicBezTo>
                <a:lnTo>
                  <a:pt x="114300" y="23813"/>
                </a:lnTo>
                <a:cubicBezTo>
                  <a:pt x="114300" y="15925"/>
                  <a:pt x="107900" y="9525"/>
                  <a:pt x="100013" y="9525"/>
                </a:cubicBezTo>
                <a:lnTo>
                  <a:pt x="71438" y="9525"/>
                </a:lnTo>
                <a:close/>
                <a:moveTo>
                  <a:pt x="133350" y="111919"/>
                </a:moveTo>
                <a:lnTo>
                  <a:pt x="135731" y="111919"/>
                </a:lnTo>
                <a:lnTo>
                  <a:pt x="135731" y="126206"/>
                </a:lnTo>
                <a:lnTo>
                  <a:pt x="111919" y="126206"/>
                </a:lnTo>
                <a:lnTo>
                  <a:pt x="111919" y="111919"/>
                </a:lnTo>
                <a:lnTo>
                  <a:pt x="133350" y="111919"/>
                </a:lnTo>
                <a:close/>
                <a:moveTo>
                  <a:pt x="57150" y="111919"/>
                </a:moveTo>
                <a:lnTo>
                  <a:pt x="59531" y="111919"/>
                </a:lnTo>
                <a:lnTo>
                  <a:pt x="59531" y="126206"/>
                </a:lnTo>
                <a:lnTo>
                  <a:pt x="35719" y="126206"/>
                </a:lnTo>
                <a:lnTo>
                  <a:pt x="35719" y="111919"/>
                </a:lnTo>
                <a:lnTo>
                  <a:pt x="57150" y="111919"/>
                </a:lnTo>
                <a:close/>
              </a:path>
            </a:pathLst>
          </a:custGeom>
          <a:solidFill>
            <a:srgbClr val="6366F1"/>
          </a:solidFill>
          <a:ln/>
        </p:spPr>
      </p:sp>
      <p:sp>
        <p:nvSpPr>
          <p:cNvPr id="11" name="Text 9"/>
          <p:cNvSpPr/>
          <p:nvPr/>
        </p:nvSpPr>
        <p:spPr>
          <a:xfrm>
            <a:off x="845820" y="1645918"/>
            <a:ext cx="12001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Neural Networks</a:t>
            </a:r>
            <a:endParaRPr lang="en-US" sz="1600" dirty="0"/>
          </a:p>
        </p:txBody>
      </p:sp>
      <p:sp>
        <p:nvSpPr>
          <p:cNvPr id="12" name="Text 10"/>
          <p:cNvSpPr/>
          <p:nvPr/>
        </p:nvSpPr>
        <p:spPr>
          <a:xfrm>
            <a:off x="579120" y="1912618"/>
            <a:ext cx="6438900"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Brain-inspired systems that learn patterns from data. Like having artificial neurons that fire and connect!</a:t>
            </a:r>
            <a:endParaRPr lang="en-US" sz="1600" dirty="0"/>
          </a:p>
        </p:txBody>
      </p:sp>
      <p:sp>
        <p:nvSpPr>
          <p:cNvPr id="13" name="Shape 11"/>
          <p:cNvSpPr/>
          <p:nvPr/>
        </p:nvSpPr>
        <p:spPr>
          <a:xfrm>
            <a:off x="502920" y="2236468"/>
            <a:ext cx="6524625" cy="609600"/>
          </a:xfrm>
          <a:prstGeom prst="roundRect">
            <a:avLst>
              <a:gd name="adj" fmla="val 12500"/>
            </a:avLst>
          </a:prstGeom>
          <a:solidFill>
            <a:srgbClr val="191919"/>
          </a:solidFill>
          <a:ln/>
        </p:spPr>
      </p:sp>
      <p:sp>
        <p:nvSpPr>
          <p:cNvPr id="14" name="Shape 12"/>
          <p:cNvSpPr/>
          <p:nvPr/>
        </p:nvSpPr>
        <p:spPr>
          <a:xfrm>
            <a:off x="579120" y="2350768"/>
            <a:ext cx="190500" cy="152400"/>
          </a:xfrm>
          <a:custGeom>
            <a:avLst/>
            <a:gdLst/>
            <a:ahLst/>
            <a:cxnLst/>
            <a:rect l="l" t="t" r="r" b="b"/>
            <a:pathLst>
              <a:path w="190500" h="152400">
                <a:moveTo>
                  <a:pt x="133350" y="19050"/>
                </a:moveTo>
                <a:cubicBezTo>
                  <a:pt x="164902" y="19050"/>
                  <a:pt x="190500" y="44648"/>
                  <a:pt x="190500" y="76200"/>
                </a:cubicBezTo>
                <a:cubicBezTo>
                  <a:pt x="190500" y="107752"/>
                  <a:pt x="164902" y="133350"/>
                  <a:pt x="133350" y="133350"/>
                </a:cubicBezTo>
                <a:lnTo>
                  <a:pt x="57150" y="133350"/>
                </a:lnTo>
                <a:cubicBezTo>
                  <a:pt x="25598" y="133350"/>
                  <a:pt x="0" y="107752"/>
                  <a:pt x="0" y="76200"/>
                </a:cubicBezTo>
                <a:cubicBezTo>
                  <a:pt x="0" y="44648"/>
                  <a:pt x="25598" y="19050"/>
                  <a:pt x="57150" y="19050"/>
                </a:cubicBezTo>
                <a:lnTo>
                  <a:pt x="133350" y="19050"/>
                </a:lnTo>
                <a:close/>
                <a:moveTo>
                  <a:pt x="57150" y="52388"/>
                </a:moveTo>
                <a:cubicBezTo>
                  <a:pt x="53191" y="52388"/>
                  <a:pt x="50006" y="55572"/>
                  <a:pt x="50006" y="59531"/>
                </a:cubicBezTo>
                <a:lnTo>
                  <a:pt x="50006" y="69056"/>
                </a:lnTo>
                <a:lnTo>
                  <a:pt x="40481" y="69056"/>
                </a:lnTo>
                <a:cubicBezTo>
                  <a:pt x="36522" y="69056"/>
                  <a:pt x="33338" y="72241"/>
                  <a:pt x="33338" y="76200"/>
                </a:cubicBezTo>
                <a:cubicBezTo>
                  <a:pt x="33338" y="80159"/>
                  <a:pt x="36522" y="83344"/>
                  <a:pt x="40481" y="83344"/>
                </a:cubicBezTo>
                <a:lnTo>
                  <a:pt x="50006" y="83344"/>
                </a:lnTo>
                <a:lnTo>
                  <a:pt x="50006" y="92869"/>
                </a:lnTo>
                <a:cubicBezTo>
                  <a:pt x="50006" y="96828"/>
                  <a:pt x="53191" y="100013"/>
                  <a:pt x="57150" y="100013"/>
                </a:cubicBezTo>
                <a:cubicBezTo>
                  <a:pt x="61109" y="100013"/>
                  <a:pt x="64294" y="96828"/>
                  <a:pt x="64294" y="92869"/>
                </a:cubicBezTo>
                <a:lnTo>
                  <a:pt x="64294" y="83344"/>
                </a:lnTo>
                <a:lnTo>
                  <a:pt x="73819" y="83344"/>
                </a:lnTo>
                <a:cubicBezTo>
                  <a:pt x="77778" y="83344"/>
                  <a:pt x="80962" y="80159"/>
                  <a:pt x="80962" y="76200"/>
                </a:cubicBezTo>
                <a:cubicBezTo>
                  <a:pt x="80962" y="72241"/>
                  <a:pt x="77778" y="69056"/>
                  <a:pt x="73819" y="69056"/>
                </a:cubicBezTo>
                <a:lnTo>
                  <a:pt x="64294" y="69056"/>
                </a:lnTo>
                <a:lnTo>
                  <a:pt x="64294" y="59531"/>
                </a:lnTo>
                <a:cubicBezTo>
                  <a:pt x="64294" y="55572"/>
                  <a:pt x="61109" y="52388"/>
                  <a:pt x="57150" y="52388"/>
                </a:cubicBezTo>
                <a:close/>
                <a:moveTo>
                  <a:pt x="128588" y="80962"/>
                </a:moveTo>
                <a:cubicBezTo>
                  <a:pt x="123331" y="80962"/>
                  <a:pt x="119062" y="85231"/>
                  <a:pt x="119062" y="90488"/>
                </a:cubicBezTo>
                <a:cubicBezTo>
                  <a:pt x="119062" y="95744"/>
                  <a:pt x="123331" y="100013"/>
                  <a:pt x="128588" y="100013"/>
                </a:cubicBezTo>
                <a:cubicBezTo>
                  <a:pt x="133844" y="100013"/>
                  <a:pt x="138113" y="95744"/>
                  <a:pt x="138113" y="90488"/>
                </a:cubicBezTo>
                <a:cubicBezTo>
                  <a:pt x="138113" y="85231"/>
                  <a:pt x="133844" y="80962"/>
                  <a:pt x="128588" y="80962"/>
                </a:cubicBezTo>
                <a:close/>
                <a:moveTo>
                  <a:pt x="147638" y="52388"/>
                </a:moveTo>
                <a:cubicBezTo>
                  <a:pt x="142381" y="52388"/>
                  <a:pt x="138113" y="56656"/>
                  <a:pt x="138113" y="61912"/>
                </a:cubicBezTo>
                <a:cubicBezTo>
                  <a:pt x="138113" y="67169"/>
                  <a:pt x="142381" y="71438"/>
                  <a:pt x="147638" y="71438"/>
                </a:cubicBezTo>
                <a:cubicBezTo>
                  <a:pt x="152894" y="71438"/>
                  <a:pt x="157163" y="67169"/>
                  <a:pt x="157163" y="61912"/>
                </a:cubicBezTo>
                <a:cubicBezTo>
                  <a:pt x="157163" y="56656"/>
                  <a:pt x="152894" y="52388"/>
                  <a:pt x="147638" y="52388"/>
                </a:cubicBezTo>
                <a:close/>
              </a:path>
            </a:pathLst>
          </a:custGeom>
          <a:solidFill>
            <a:srgbClr val="6366F1"/>
          </a:solidFill>
          <a:ln/>
        </p:spPr>
      </p:sp>
      <p:sp>
        <p:nvSpPr>
          <p:cNvPr id="15" name="Text 13"/>
          <p:cNvSpPr/>
          <p:nvPr/>
        </p:nvSpPr>
        <p:spPr>
          <a:xfrm>
            <a:off x="845820" y="2312668"/>
            <a:ext cx="16859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Reinforcement Learning</a:t>
            </a:r>
            <a:endParaRPr lang="en-US" sz="1600" dirty="0"/>
          </a:p>
        </p:txBody>
      </p:sp>
      <p:sp>
        <p:nvSpPr>
          <p:cNvPr id="16" name="Text 14"/>
          <p:cNvSpPr/>
          <p:nvPr/>
        </p:nvSpPr>
        <p:spPr>
          <a:xfrm>
            <a:off x="579120" y="2579368"/>
            <a:ext cx="6438900"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Agents learn by trying actions and getting rewards or penalties. Like training a dog with treats!</a:t>
            </a:r>
            <a:endParaRPr lang="en-US" sz="1600" dirty="0"/>
          </a:p>
        </p:txBody>
      </p:sp>
      <p:sp>
        <p:nvSpPr>
          <p:cNvPr id="17" name="Shape 15"/>
          <p:cNvSpPr/>
          <p:nvPr/>
        </p:nvSpPr>
        <p:spPr>
          <a:xfrm>
            <a:off x="502920" y="2903218"/>
            <a:ext cx="6524625" cy="609600"/>
          </a:xfrm>
          <a:prstGeom prst="roundRect">
            <a:avLst>
              <a:gd name="adj" fmla="val 12500"/>
            </a:avLst>
          </a:prstGeom>
          <a:solidFill>
            <a:srgbClr val="191919"/>
          </a:solidFill>
          <a:ln/>
        </p:spPr>
      </p:sp>
      <p:sp>
        <p:nvSpPr>
          <p:cNvPr id="18" name="Shape 16"/>
          <p:cNvSpPr/>
          <p:nvPr/>
        </p:nvSpPr>
        <p:spPr>
          <a:xfrm>
            <a:off x="579120" y="3017518"/>
            <a:ext cx="190500" cy="152400"/>
          </a:xfrm>
          <a:custGeom>
            <a:avLst/>
            <a:gdLst/>
            <a:ahLst/>
            <a:cxnLst/>
            <a:rect l="l" t="t" r="r" b="b"/>
            <a:pathLst>
              <a:path w="190500" h="152400">
                <a:moveTo>
                  <a:pt x="95250" y="4763"/>
                </a:moveTo>
                <a:cubicBezTo>
                  <a:pt x="112335" y="4763"/>
                  <a:pt x="126206" y="18634"/>
                  <a:pt x="126206" y="35719"/>
                </a:cubicBezTo>
                <a:cubicBezTo>
                  <a:pt x="126206" y="52804"/>
                  <a:pt x="112335" y="66675"/>
                  <a:pt x="95250" y="66675"/>
                </a:cubicBezTo>
                <a:cubicBezTo>
                  <a:pt x="78165" y="66675"/>
                  <a:pt x="64294" y="52804"/>
                  <a:pt x="64294" y="35719"/>
                </a:cubicBezTo>
                <a:cubicBezTo>
                  <a:pt x="64294" y="18634"/>
                  <a:pt x="78165" y="4763"/>
                  <a:pt x="95250" y="4763"/>
                </a:cubicBezTo>
                <a:close/>
                <a:moveTo>
                  <a:pt x="28575" y="26194"/>
                </a:moveTo>
                <a:cubicBezTo>
                  <a:pt x="40403" y="26194"/>
                  <a:pt x="50006" y="35797"/>
                  <a:pt x="50006" y="47625"/>
                </a:cubicBezTo>
                <a:cubicBezTo>
                  <a:pt x="50006" y="59453"/>
                  <a:pt x="40403" y="69056"/>
                  <a:pt x="28575" y="69056"/>
                </a:cubicBezTo>
                <a:cubicBezTo>
                  <a:pt x="16747" y="69056"/>
                  <a:pt x="7144" y="59453"/>
                  <a:pt x="7144" y="47625"/>
                </a:cubicBezTo>
                <a:cubicBezTo>
                  <a:pt x="7144" y="35797"/>
                  <a:pt x="16747" y="26194"/>
                  <a:pt x="28575" y="26194"/>
                </a:cubicBezTo>
                <a:close/>
                <a:moveTo>
                  <a:pt x="0" y="123825"/>
                </a:moveTo>
                <a:cubicBezTo>
                  <a:pt x="0" y="102781"/>
                  <a:pt x="17056" y="85725"/>
                  <a:pt x="38100" y="85725"/>
                </a:cubicBezTo>
                <a:cubicBezTo>
                  <a:pt x="41910" y="85725"/>
                  <a:pt x="45601" y="86291"/>
                  <a:pt x="49084" y="87332"/>
                </a:cubicBezTo>
                <a:cubicBezTo>
                  <a:pt x="39291" y="98286"/>
                  <a:pt x="33338" y="112752"/>
                  <a:pt x="33338" y="128588"/>
                </a:cubicBezTo>
                <a:lnTo>
                  <a:pt x="33338" y="133350"/>
                </a:lnTo>
                <a:cubicBezTo>
                  <a:pt x="33338" y="136743"/>
                  <a:pt x="34052" y="139958"/>
                  <a:pt x="35332" y="142875"/>
                </a:cubicBezTo>
                <a:lnTo>
                  <a:pt x="9525" y="142875"/>
                </a:lnTo>
                <a:cubicBezTo>
                  <a:pt x="4256" y="142875"/>
                  <a:pt x="0" y="138619"/>
                  <a:pt x="0" y="133350"/>
                </a:cubicBezTo>
                <a:lnTo>
                  <a:pt x="0" y="123825"/>
                </a:lnTo>
                <a:close/>
                <a:moveTo>
                  <a:pt x="155168" y="142875"/>
                </a:moveTo>
                <a:cubicBezTo>
                  <a:pt x="156448" y="139958"/>
                  <a:pt x="157163" y="136743"/>
                  <a:pt x="157163" y="133350"/>
                </a:cubicBezTo>
                <a:lnTo>
                  <a:pt x="157163" y="128588"/>
                </a:lnTo>
                <a:cubicBezTo>
                  <a:pt x="157163" y="112752"/>
                  <a:pt x="151209" y="98286"/>
                  <a:pt x="141416" y="87332"/>
                </a:cubicBezTo>
                <a:cubicBezTo>
                  <a:pt x="144899" y="86291"/>
                  <a:pt x="148590" y="85725"/>
                  <a:pt x="152400" y="85725"/>
                </a:cubicBezTo>
                <a:cubicBezTo>
                  <a:pt x="173444" y="85725"/>
                  <a:pt x="190500" y="102781"/>
                  <a:pt x="190500" y="123825"/>
                </a:cubicBezTo>
                <a:lnTo>
                  <a:pt x="190500" y="133350"/>
                </a:lnTo>
                <a:cubicBezTo>
                  <a:pt x="190500" y="138619"/>
                  <a:pt x="186244" y="142875"/>
                  <a:pt x="180975" y="142875"/>
                </a:cubicBezTo>
                <a:lnTo>
                  <a:pt x="155168" y="142875"/>
                </a:lnTo>
                <a:close/>
                <a:moveTo>
                  <a:pt x="140494" y="47625"/>
                </a:moveTo>
                <a:cubicBezTo>
                  <a:pt x="140494" y="35797"/>
                  <a:pt x="150097" y="26194"/>
                  <a:pt x="161925" y="26194"/>
                </a:cubicBezTo>
                <a:cubicBezTo>
                  <a:pt x="173753" y="26194"/>
                  <a:pt x="183356" y="35797"/>
                  <a:pt x="183356" y="47625"/>
                </a:cubicBezTo>
                <a:cubicBezTo>
                  <a:pt x="183356" y="59453"/>
                  <a:pt x="173753" y="69056"/>
                  <a:pt x="161925" y="69056"/>
                </a:cubicBezTo>
                <a:cubicBezTo>
                  <a:pt x="150097" y="69056"/>
                  <a:pt x="140494" y="59453"/>
                  <a:pt x="140494" y="47625"/>
                </a:cubicBezTo>
                <a:close/>
                <a:moveTo>
                  <a:pt x="47625" y="128588"/>
                </a:moveTo>
                <a:cubicBezTo>
                  <a:pt x="47625" y="102275"/>
                  <a:pt x="68937" y="80962"/>
                  <a:pt x="95250" y="80962"/>
                </a:cubicBezTo>
                <a:cubicBezTo>
                  <a:pt x="121563" y="80962"/>
                  <a:pt x="142875" y="102275"/>
                  <a:pt x="142875" y="128588"/>
                </a:cubicBezTo>
                <a:lnTo>
                  <a:pt x="142875" y="133350"/>
                </a:lnTo>
                <a:cubicBezTo>
                  <a:pt x="142875" y="138619"/>
                  <a:pt x="138619" y="142875"/>
                  <a:pt x="133350" y="142875"/>
                </a:cubicBezTo>
                <a:lnTo>
                  <a:pt x="57150" y="142875"/>
                </a:lnTo>
                <a:cubicBezTo>
                  <a:pt x="51881" y="142875"/>
                  <a:pt x="47625" y="138619"/>
                  <a:pt x="47625" y="133350"/>
                </a:cubicBezTo>
                <a:lnTo>
                  <a:pt x="47625" y="128588"/>
                </a:lnTo>
                <a:close/>
              </a:path>
            </a:pathLst>
          </a:custGeom>
          <a:solidFill>
            <a:srgbClr val="6366F1"/>
          </a:solidFill>
          <a:ln/>
        </p:spPr>
      </p:sp>
      <p:sp>
        <p:nvSpPr>
          <p:cNvPr id="19" name="Text 17"/>
          <p:cNvSpPr/>
          <p:nvPr/>
        </p:nvSpPr>
        <p:spPr>
          <a:xfrm>
            <a:off x="845820" y="2979418"/>
            <a:ext cx="15049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Multi-Agent Systems</a:t>
            </a:r>
            <a:endParaRPr lang="en-US" sz="1600" dirty="0"/>
          </a:p>
        </p:txBody>
      </p:sp>
      <p:sp>
        <p:nvSpPr>
          <p:cNvPr id="20" name="Text 18"/>
          <p:cNvSpPr/>
          <p:nvPr/>
        </p:nvSpPr>
        <p:spPr>
          <a:xfrm>
            <a:off x="579120" y="3246118"/>
            <a:ext cx="6438900"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Multiple agents work together, sharing information and coordinating actions like a team.</a:t>
            </a:r>
            <a:endParaRPr lang="en-US" sz="1600" dirty="0"/>
          </a:p>
        </p:txBody>
      </p:sp>
      <p:sp>
        <p:nvSpPr>
          <p:cNvPr id="21" name="Shape 19"/>
          <p:cNvSpPr/>
          <p:nvPr/>
        </p:nvSpPr>
        <p:spPr>
          <a:xfrm>
            <a:off x="384810" y="3714756"/>
            <a:ext cx="6760845" cy="2255520"/>
          </a:xfrm>
          <a:prstGeom prst="roundRect">
            <a:avLst>
              <a:gd name="adj" fmla="val 5068"/>
            </a:avLst>
          </a:prstGeom>
          <a:solidFill>
            <a:srgbClr val="262626"/>
          </a:solidFill>
          <a:ln w="10160">
            <a:solidFill>
              <a:srgbClr val="333333"/>
            </a:solidFill>
            <a:prstDash val="solid"/>
          </a:ln>
        </p:spPr>
      </p:sp>
      <p:sp>
        <p:nvSpPr>
          <p:cNvPr id="22" name="Shape 20"/>
          <p:cNvSpPr/>
          <p:nvPr/>
        </p:nvSpPr>
        <p:spPr>
          <a:xfrm>
            <a:off x="526732" y="3870964"/>
            <a:ext cx="190500" cy="190500"/>
          </a:xfrm>
          <a:custGeom>
            <a:avLst/>
            <a:gdLst/>
            <a:ahLst/>
            <a:cxnLst/>
            <a:rect l="l" t="t" r="r" b="b"/>
            <a:pathLst>
              <a:path w="190500" h="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6366F1"/>
          </a:solidFill>
          <a:ln/>
        </p:spPr>
      </p:sp>
      <p:sp>
        <p:nvSpPr>
          <p:cNvPr id="23" name="Text 21"/>
          <p:cNvSpPr/>
          <p:nvPr/>
        </p:nvSpPr>
        <p:spPr>
          <a:xfrm>
            <a:off x="741045" y="3832864"/>
            <a:ext cx="6381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How Agents Improve</a:t>
            </a:r>
            <a:endParaRPr lang="en-US" sz="1600" dirty="0"/>
          </a:p>
        </p:txBody>
      </p:sp>
      <p:sp>
        <p:nvSpPr>
          <p:cNvPr id="24" name="Shape 22"/>
          <p:cNvSpPr/>
          <p:nvPr/>
        </p:nvSpPr>
        <p:spPr>
          <a:xfrm>
            <a:off x="502920" y="4175764"/>
            <a:ext cx="3219450" cy="800100"/>
          </a:xfrm>
          <a:prstGeom prst="roundRect">
            <a:avLst>
              <a:gd name="adj" fmla="val 9524"/>
            </a:avLst>
          </a:prstGeom>
          <a:solidFill>
            <a:srgbClr val="191919"/>
          </a:solidFill>
          <a:ln/>
        </p:spPr>
      </p:sp>
      <p:sp>
        <p:nvSpPr>
          <p:cNvPr id="25" name="Shape 23"/>
          <p:cNvSpPr/>
          <p:nvPr/>
        </p:nvSpPr>
        <p:spPr>
          <a:xfrm>
            <a:off x="2014538" y="4251964"/>
            <a:ext cx="200025" cy="228600"/>
          </a:xfrm>
          <a:custGeom>
            <a:avLst/>
            <a:gdLst/>
            <a:ahLst/>
            <a:cxnLst/>
            <a:rect l="l" t="t" r="r" b="b"/>
            <a:pathLst>
              <a:path w="200025" h="228600">
                <a:moveTo>
                  <a:pt x="200025" y="91886"/>
                </a:moveTo>
                <a:cubicBezTo>
                  <a:pt x="193417" y="96262"/>
                  <a:pt x="185827" y="99789"/>
                  <a:pt x="177924" y="102602"/>
                </a:cubicBezTo>
                <a:cubicBezTo>
                  <a:pt x="156939" y="110103"/>
                  <a:pt x="129391" y="114300"/>
                  <a:pt x="100013" y="114300"/>
                </a:cubicBezTo>
                <a:cubicBezTo>
                  <a:pt x="70634" y="114300"/>
                  <a:pt x="43041" y="110058"/>
                  <a:pt x="22101" y="102602"/>
                </a:cubicBezTo>
                <a:cubicBezTo>
                  <a:pt x="14243" y="99789"/>
                  <a:pt x="6608" y="96262"/>
                  <a:pt x="0" y="91886"/>
                </a:cubicBezTo>
                <a:lnTo>
                  <a:pt x="0" y="128588"/>
                </a:lnTo>
                <a:cubicBezTo>
                  <a:pt x="0" y="148322"/>
                  <a:pt x="44782" y="164306"/>
                  <a:pt x="100013" y="164306"/>
                </a:cubicBezTo>
                <a:cubicBezTo>
                  <a:pt x="155243" y="164306"/>
                  <a:pt x="200025" y="148322"/>
                  <a:pt x="200025" y="128588"/>
                </a:cubicBezTo>
                <a:lnTo>
                  <a:pt x="200025" y="91886"/>
                </a:lnTo>
                <a:close/>
                <a:moveTo>
                  <a:pt x="200025" y="57150"/>
                </a:moveTo>
                <a:lnTo>
                  <a:pt x="200025" y="35719"/>
                </a:lnTo>
                <a:cubicBezTo>
                  <a:pt x="200025" y="15984"/>
                  <a:pt x="155243" y="0"/>
                  <a:pt x="100013" y="0"/>
                </a:cubicBezTo>
                <a:cubicBezTo>
                  <a:pt x="44782" y="0"/>
                  <a:pt x="0" y="15984"/>
                  <a:pt x="0" y="35719"/>
                </a:cubicBezTo>
                <a:lnTo>
                  <a:pt x="0" y="57150"/>
                </a:lnTo>
                <a:cubicBezTo>
                  <a:pt x="0" y="76885"/>
                  <a:pt x="44782" y="92869"/>
                  <a:pt x="100013" y="92869"/>
                </a:cubicBezTo>
                <a:cubicBezTo>
                  <a:pt x="155243" y="92869"/>
                  <a:pt x="200025" y="76885"/>
                  <a:pt x="200025" y="57150"/>
                </a:cubicBezTo>
                <a:close/>
                <a:moveTo>
                  <a:pt x="177924" y="174040"/>
                </a:moveTo>
                <a:cubicBezTo>
                  <a:pt x="156984" y="181496"/>
                  <a:pt x="129436" y="185738"/>
                  <a:pt x="100013" y="185738"/>
                </a:cubicBezTo>
                <a:cubicBezTo>
                  <a:pt x="70589" y="185738"/>
                  <a:pt x="43041" y="181496"/>
                  <a:pt x="22101" y="174040"/>
                </a:cubicBezTo>
                <a:cubicBezTo>
                  <a:pt x="14243" y="171227"/>
                  <a:pt x="6608" y="167700"/>
                  <a:pt x="0" y="163324"/>
                </a:cubicBezTo>
                <a:lnTo>
                  <a:pt x="0" y="192881"/>
                </a:lnTo>
                <a:cubicBezTo>
                  <a:pt x="0" y="212616"/>
                  <a:pt x="44782" y="228600"/>
                  <a:pt x="100013" y="228600"/>
                </a:cubicBezTo>
                <a:cubicBezTo>
                  <a:pt x="155243" y="228600"/>
                  <a:pt x="200025" y="212616"/>
                  <a:pt x="200025" y="192881"/>
                </a:cubicBezTo>
                <a:lnTo>
                  <a:pt x="200025" y="163324"/>
                </a:lnTo>
                <a:cubicBezTo>
                  <a:pt x="193417" y="167700"/>
                  <a:pt x="185827" y="171227"/>
                  <a:pt x="177924" y="174040"/>
                </a:cubicBezTo>
                <a:close/>
              </a:path>
            </a:pathLst>
          </a:custGeom>
          <a:solidFill>
            <a:srgbClr val="6366F1"/>
          </a:solidFill>
          <a:ln/>
        </p:spPr>
      </p:sp>
      <p:sp>
        <p:nvSpPr>
          <p:cNvPr id="26" name="Text 24"/>
          <p:cNvSpPr/>
          <p:nvPr/>
        </p:nvSpPr>
        <p:spPr>
          <a:xfrm>
            <a:off x="545782" y="4518664"/>
            <a:ext cx="3133725" cy="190500"/>
          </a:xfrm>
          <a:prstGeom prst="rect">
            <a:avLst/>
          </a:prstGeom>
          <a:noFill/>
          <a:ln/>
        </p:spPr>
        <p:txBody>
          <a:bodyPr wrap="square" lIns="0" tIns="0" rIns="0" bIns="0" rtlCol="0" anchor="ctr"/>
          <a:lstStyle/>
          <a:p>
            <a:pPr algn="ctr">
              <a:lnSpc>
                <a:spcPct val="120000"/>
              </a:lnSpc>
            </a:pPr>
            <a:r>
              <a:rPr lang="en-US" sz="1050" b="1" dirty="0">
                <a:solidFill>
                  <a:srgbClr val="EFEFEF"/>
                </a:solidFill>
                <a:latin typeface="Liter" pitchFamily="34" charset="0"/>
                <a:ea typeface="Liter" pitchFamily="34" charset="-122"/>
                <a:cs typeface="Liter" pitchFamily="34" charset="-120"/>
              </a:rPr>
              <a:t>More Data</a:t>
            </a:r>
            <a:endParaRPr lang="en-US" sz="1600" dirty="0"/>
          </a:p>
        </p:txBody>
      </p:sp>
      <p:sp>
        <p:nvSpPr>
          <p:cNvPr id="27" name="Text 25"/>
          <p:cNvSpPr/>
          <p:nvPr/>
        </p:nvSpPr>
        <p:spPr>
          <a:xfrm>
            <a:off x="545782" y="4709164"/>
            <a:ext cx="3133725" cy="190500"/>
          </a:xfrm>
          <a:prstGeom prst="rect">
            <a:avLst/>
          </a:prstGeom>
          <a:noFill/>
          <a:ln/>
        </p:spPr>
        <p:txBody>
          <a:bodyPr wrap="square" lIns="0" tIns="0" rIns="0" bIns="0" rtlCol="0" anchor="ctr"/>
          <a:lstStyle/>
          <a:p>
            <a:pPr algn="ctr">
              <a:lnSpc>
                <a:spcPct val="120000"/>
              </a:lnSpc>
            </a:pPr>
            <a:r>
              <a:rPr lang="en-US" sz="1050" dirty="0">
                <a:solidFill>
                  <a:srgbClr val="8F8F8F"/>
                </a:solidFill>
                <a:latin typeface="Liter" pitchFamily="34" charset="0"/>
                <a:ea typeface="Liter" pitchFamily="34" charset="-122"/>
                <a:cs typeface="Liter" pitchFamily="34" charset="-120"/>
              </a:rPr>
              <a:t>Better training examples</a:t>
            </a:r>
            <a:endParaRPr lang="en-US" sz="1600" dirty="0"/>
          </a:p>
        </p:txBody>
      </p:sp>
      <p:sp>
        <p:nvSpPr>
          <p:cNvPr id="28" name="Shape 26"/>
          <p:cNvSpPr/>
          <p:nvPr/>
        </p:nvSpPr>
        <p:spPr>
          <a:xfrm>
            <a:off x="3802380" y="4175764"/>
            <a:ext cx="3219450" cy="800100"/>
          </a:xfrm>
          <a:prstGeom prst="roundRect">
            <a:avLst>
              <a:gd name="adj" fmla="val 9524"/>
            </a:avLst>
          </a:prstGeom>
          <a:solidFill>
            <a:srgbClr val="191919"/>
          </a:solidFill>
          <a:ln/>
        </p:spPr>
      </p:sp>
      <p:sp>
        <p:nvSpPr>
          <p:cNvPr id="29" name="Shape 27"/>
          <p:cNvSpPr/>
          <p:nvPr/>
        </p:nvSpPr>
        <p:spPr>
          <a:xfrm>
            <a:off x="5299710" y="4251964"/>
            <a:ext cx="228600" cy="228600"/>
          </a:xfrm>
          <a:custGeom>
            <a:avLst/>
            <a:gdLst/>
            <a:ahLst/>
            <a:cxnLst/>
            <a:rect l="l" t="t" r="r" b="b"/>
            <a:pathLst>
              <a:path w="228600" h="228600">
                <a:moveTo>
                  <a:pt x="29423" y="102022"/>
                </a:moveTo>
                <a:cubicBezTo>
                  <a:pt x="35362" y="60499"/>
                  <a:pt x="71125" y="28575"/>
                  <a:pt x="114300" y="28575"/>
                </a:cubicBezTo>
                <a:cubicBezTo>
                  <a:pt x="137964" y="28575"/>
                  <a:pt x="159395" y="38174"/>
                  <a:pt x="174933" y="53667"/>
                </a:cubicBezTo>
                <a:cubicBezTo>
                  <a:pt x="175022" y="53757"/>
                  <a:pt x="175111" y="53846"/>
                  <a:pt x="175200" y="53935"/>
                </a:cubicBezTo>
                <a:lnTo>
                  <a:pt x="178594" y="57150"/>
                </a:lnTo>
                <a:lnTo>
                  <a:pt x="157207" y="57150"/>
                </a:lnTo>
                <a:cubicBezTo>
                  <a:pt x="149304" y="57150"/>
                  <a:pt x="142920" y="63535"/>
                  <a:pt x="142920" y="71438"/>
                </a:cubicBezTo>
                <a:cubicBezTo>
                  <a:pt x="142920" y="79340"/>
                  <a:pt x="149304" y="85725"/>
                  <a:pt x="157207" y="85725"/>
                </a:cubicBezTo>
                <a:lnTo>
                  <a:pt x="214357" y="85725"/>
                </a:lnTo>
                <a:cubicBezTo>
                  <a:pt x="222260" y="85725"/>
                  <a:pt x="228645" y="79340"/>
                  <a:pt x="228645" y="71438"/>
                </a:cubicBezTo>
                <a:lnTo>
                  <a:pt x="228645" y="14288"/>
                </a:lnTo>
                <a:cubicBezTo>
                  <a:pt x="228645" y="6385"/>
                  <a:pt x="222260" y="0"/>
                  <a:pt x="214357" y="0"/>
                </a:cubicBezTo>
                <a:cubicBezTo>
                  <a:pt x="206454" y="0"/>
                  <a:pt x="200070" y="6385"/>
                  <a:pt x="200070" y="14288"/>
                </a:cubicBezTo>
                <a:lnTo>
                  <a:pt x="200070" y="38130"/>
                </a:lnTo>
                <a:lnTo>
                  <a:pt x="195024" y="33352"/>
                </a:lnTo>
                <a:cubicBezTo>
                  <a:pt x="174352" y="12769"/>
                  <a:pt x="145777" y="0"/>
                  <a:pt x="114300" y="0"/>
                </a:cubicBezTo>
                <a:cubicBezTo>
                  <a:pt x="56704" y="0"/>
                  <a:pt x="9064" y="42595"/>
                  <a:pt x="1161" y="98003"/>
                </a:cubicBezTo>
                <a:cubicBezTo>
                  <a:pt x="45" y="105817"/>
                  <a:pt x="5447" y="113050"/>
                  <a:pt x="13261" y="114166"/>
                </a:cubicBezTo>
                <a:cubicBezTo>
                  <a:pt x="21074" y="115282"/>
                  <a:pt x="28307" y="109835"/>
                  <a:pt x="29423" y="102066"/>
                </a:cubicBezTo>
                <a:close/>
                <a:moveTo>
                  <a:pt x="227439" y="130597"/>
                </a:moveTo>
                <a:cubicBezTo>
                  <a:pt x="228555" y="122783"/>
                  <a:pt x="223108" y="115550"/>
                  <a:pt x="215339" y="114434"/>
                </a:cubicBezTo>
                <a:cubicBezTo>
                  <a:pt x="207571" y="113318"/>
                  <a:pt x="200293" y="118765"/>
                  <a:pt x="199177" y="126534"/>
                </a:cubicBezTo>
                <a:cubicBezTo>
                  <a:pt x="193238" y="168057"/>
                  <a:pt x="157475" y="199980"/>
                  <a:pt x="114300" y="199980"/>
                </a:cubicBezTo>
                <a:cubicBezTo>
                  <a:pt x="90636" y="199980"/>
                  <a:pt x="69205" y="190381"/>
                  <a:pt x="53667" y="174888"/>
                </a:cubicBezTo>
                <a:cubicBezTo>
                  <a:pt x="53578" y="174799"/>
                  <a:pt x="53489" y="174709"/>
                  <a:pt x="53400" y="174620"/>
                </a:cubicBezTo>
                <a:lnTo>
                  <a:pt x="50006" y="171405"/>
                </a:lnTo>
                <a:lnTo>
                  <a:pt x="71393" y="171405"/>
                </a:lnTo>
                <a:cubicBezTo>
                  <a:pt x="79296" y="171405"/>
                  <a:pt x="85680" y="165021"/>
                  <a:pt x="85680" y="157118"/>
                </a:cubicBezTo>
                <a:cubicBezTo>
                  <a:pt x="85680" y="149215"/>
                  <a:pt x="79296" y="142830"/>
                  <a:pt x="71393" y="142830"/>
                </a:cubicBezTo>
                <a:lnTo>
                  <a:pt x="14288" y="142875"/>
                </a:lnTo>
                <a:cubicBezTo>
                  <a:pt x="10492" y="142875"/>
                  <a:pt x="6831" y="144393"/>
                  <a:pt x="4152" y="147117"/>
                </a:cubicBezTo>
                <a:cubicBezTo>
                  <a:pt x="1473" y="149840"/>
                  <a:pt x="-45" y="153457"/>
                  <a:pt x="0" y="157296"/>
                </a:cubicBezTo>
                <a:lnTo>
                  <a:pt x="446" y="214000"/>
                </a:lnTo>
                <a:cubicBezTo>
                  <a:pt x="491" y="221903"/>
                  <a:pt x="6965" y="228243"/>
                  <a:pt x="14868" y="228154"/>
                </a:cubicBezTo>
                <a:cubicBezTo>
                  <a:pt x="22771" y="228064"/>
                  <a:pt x="29111" y="221635"/>
                  <a:pt x="29021" y="213732"/>
                </a:cubicBezTo>
                <a:lnTo>
                  <a:pt x="28843" y="190738"/>
                </a:lnTo>
                <a:lnTo>
                  <a:pt x="33620" y="195248"/>
                </a:lnTo>
                <a:cubicBezTo>
                  <a:pt x="54293" y="215831"/>
                  <a:pt x="82823" y="228600"/>
                  <a:pt x="114300" y="228600"/>
                </a:cubicBezTo>
                <a:cubicBezTo>
                  <a:pt x="171896" y="228600"/>
                  <a:pt x="219536" y="186005"/>
                  <a:pt x="227439" y="130597"/>
                </a:cubicBezTo>
                <a:close/>
              </a:path>
            </a:pathLst>
          </a:custGeom>
          <a:solidFill>
            <a:srgbClr val="6366F1"/>
          </a:solidFill>
          <a:ln/>
        </p:spPr>
      </p:sp>
      <p:sp>
        <p:nvSpPr>
          <p:cNvPr id="30" name="Text 28"/>
          <p:cNvSpPr/>
          <p:nvPr/>
        </p:nvSpPr>
        <p:spPr>
          <a:xfrm>
            <a:off x="3845243" y="4518664"/>
            <a:ext cx="3133725" cy="190500"/>
          </a:xfrm>
          <a:prstGeom prst="rect">
            <a:avLst/>
          </a:prstGeom>
          <a:noFill/>
          <a:ln/>
        </p:spPr>
        <p:txBody>
          <a:bodyPr wrap="square" lIns="0" tIns="0" rIns="0" bIns="0" rtlCol="0" anchor="ctr"/>
          <a:lstStyle/>
          <a:p>
            <a:pPr algn="ctr">
              <a:lnSpc>
                <a:spcPct val="120000"/>
              </a:lnSpc>
            </a:pPr>
            <a:r>
              <a:rPr lang="en-US" sz="1050" b="1" dirty="0">
                <a:solidFill>
                  <a:srgbClr val="EFEFEF"/>
                </a:solidFill>
                <a:latin typeface="Liter" pitchFamily="34" charset="0"/>
                <a:ea typeface="Liter" pitchFamily="34" charset="-122"/>
                <a:cs typeface="Liter" pitchFamily="34" charset="-120"/>
              </a:rPr>
              <a:t>Feedback Loops</a:t>
            </a:r>
            <a:endParaRPr lang="en-US" sz="1600" dirty="0"/>
          </a:p>
        </p:txBody>
      </p:sp>
      <p:sp>
        <p:nvSpPr>
          <p:cNvPr id="31" name="Text 29"/>
          <p:cNvSpPr/>
          <p:nvPr/>
        </p:nvSpPr>
        <p:spPr>
          <a:xfrm>
            <a:off x="3845243" y="4709164"/>
            <a:ext cx="3133725" cy="190500"/>
          </a:xfrm>
          <a:prstGeom prst="rect">
            <a:avLst/>
          </a:prstGeom>
          <a:noFill/>
          <a:ln/>
        </p:spPr>
        <p:txBody>
          <a:bodyPr wrap="square" lIns="0" tIns="0" rIns="0" bIns="0" rtlCol="0" anchor="ctr"/>
          <a:lstStyle/>
          <a:p>
            <a:pPr algn="ctr">
              <a:lnSpc>
                <a:spcPct val="120000"/>
              </a:lnSpc>
            </a:pPr>
            <a:r>
              <a:rPr lang="en-US" sz="1050" dirty="0">
                <a:solidFill>
                  <a:srgbClr val="8F8F8F"/>
                </a:solidFill>
                <a:latin typeface="Liter" pitchFamily="34" charset="0"/>
                <a:ea typeface="Liter" pitchFamily="34" charset="-122"/>
                <a:cs typeface="Liter" pitchFamily="34" charset="-120"/>
              </a:rPr>
              <a:t>Learn from mistakes</a:t>
            </a:r>
            <a:endParaRPr lang="en-US" sz="1600" dirty="0"/>
          </a:p>
        </p:txBody>
      </p:sp>
      <p:sp>
        <p:nvSpPr>
          <p:cNvPr id="32" name="Shape 30"/>
          <p:cNvSpPr/>
          <p:nvPr/>
        </p:nvSpPr>
        <p:spPr>
          <a:xfrm>
            <a:off x="502920" y="5052064"/>
            <a:ext cx="3219450" cy="800100"/>
          </a:xfrm>
          <a:prstGeom prst="roundRect">
            <a:avLst>
              <a:gd name="adj" fmla="val 9524"/>
            </a:avLst>
          </a:prstGeom>
          <a:solidFill>
            <a:srgbClr val="191919"/>
          </a:solidFill>
          <a:ln/>
        </p:spPr>
      </p:sp>
      <p:sp>
        <p:nvSpPr>
          <p:cNvPr id="33" name="Shape 31"/>
          <p:cNvSpPr/>
          <p:nvPr/>
        </p:nvSpPr>
        <p:spPr>
          <a:xfrm>
            <a:off x="1971675" y="5128264"/>
            <a:ext cx="285750" cy="228600"/>
          </a:xfrm>
          <a:custGeom>
            <a:avLst/>
            <a:gdLst/>
            <a:ahLst/>
            <a:cxnLst/>
            <a:rect l="l" t="t" r="r" b="b"/>
            <a:pathLst>
              <a:path w="285750" h="228600">
                <a:moveTo>
                  <a:pt x="185693" y="93985"/>
                </a:moveTo>
                <a:cubicBezTo>
                  <a:pt x="191140" y="92512"/>
                  <a:pt x="196855" y="95101"/>
                  <a:pt x="199311" y="100146"/>
                </a:cubicBezTo>
                <a:lnTo>
                  <a:pt x="207615" y="116934"/>
                </a:lnTo>
                <a:cubicBezTo>
                  <a:pt x="212214" y="117559"/>
                  <a:pt x="216724" y="118809"/>
                  <a:pt x="220965" y="120551"/>
                </a:cubicBezTo>
                <a:lnTo>
                  <a:pt x="236592" y="110148"/>
                </a:lnTo>
                <a:cubicBezTo>
                  <a:pt x="241280" y="107022"/>
                  <a:pt x="247486" y="107647"/>
                  <a:pt x="251460" y="111621"/>
                </a:cubicBezTo>
                <a:lnTo>
                  <a:pt x="260033" y="120194"/>
                </a:lnTo>
                <a:cubicBezTo>
                  <a:pt x="264006" y="124167"/>
                  <a:pt x="264631" y="130418"/>
                  <a:pt x="261506" y="135062"/>
                </a:cubicBezTo>
                <a:lnTo>
                  <a:pt x="251103" y="150644"/>
                </a:lnTo>
                <a:cubicBezTo>
                  <a:pt x="251951" y="152742"/>
                  <a:pt x="252710" y="154930"/>
                  <a:pt x="253335" y="157207"/>
                </a:cubicBezTo>
                <a:cubicBezTo>
                  <a:pt x="253960" y="159484"/>
                  <a:pt x="254362" y="161717"/>
                  <a:pt x="254675" y="163994"/>
                </a:cubicBezTo>
                <a:lnTo>
                  <a:pt x="271507" y="172298"/>
                </a:lnTo>
                <a:cubicBezTo>
                  <a:pt x="276552" y="174799"/>
                  <a:pt x="279142" y="180514"/>
                  <a:pt x="277669" y="185916"/>
                </a:cubicBezTo>
                <a:lnTo>
                  <a:pt x="274543" y="197614"/>
                </a:lnTo>
                <a:cubicBezTo>
                  <a:pt x="273070" y="203016"/>
                  <a:pt x="268025" y="206678"/>
                  <a:pt x="262399" y="206320"/>
                </a:cubicBezTo>
                <a:lnTo>
                  <a:pt x="243647" y="205115"/>
                </a:lnTo>
                <a:cubicBezTo>
                  <a:pt x="240834" y="208731"/>
                  <a:pt x="237574" y="212080"/>
                  <a:pt x="233869" y="214938"/>
                </a:cubicBezTo>
                <a:lnTo>
                  <a:pt x="235074" y="233645"/>
                </a:lnTo>
                <a:cubicBezTo>
                  <a:pt x="235431" y="239271"/>
                  <a:pt x="231770" y="244361"/>
                  <a:pt x="226368" y="245790"/>
                </a:cubicBezTo>
                <a:lnTo>
                  <a:pt x="214670" y="248915"/>
                </a:lnTo>
                <a:cubicBezTo>
                  <a:pt x="209223" y="250388"/>
                  <a:pt x="203552" y="247799"/>
                  <a:pt x="201052" y="242754"/>
                </a:cubicBezTo>
                <a:lnTo>
                  <a:pt x="192747" y="225966"/>
                </a:lnTo>
                <a:cubicBezTo>
                  <a:pt x="188149" y="225341"/>
                  <a:pt x="183639" y="224091"/>
                  <a:pt x="179397" y="222349"/>
                </a:cubicBezTo>
                <a:lnTo>
                  <a:pt x="163770" y="232752"/>
                </a:lnTo>
                <a:cubicBezTo>
                  <a:pt x="159082" y="235878"/>
                  <a:pt x="152876" y="235253"/>
                  <a:pt x="148903" y="231279"/>
                </a:cubicBezTo>
                <a:lnTo>
                  <a:pt x="140330" y="222706"/>
                </a:lnTo>
                <a:cubicBezTo>
                  <a:pt x="136356" y="218733"/>
                  <a:pt x="135731" y="212527"/>
                  <a:pt x="138857" y="207838"/>
                </a:cubicBezTo>
                <a:lnTo>
                  <a:pt x="149260" y="192212"/>
                </a:lnTo>
                <a:cubicBezTo>
                  <a:pt x="148411" y="190113"/>
                  <a:pt x="147652" y="187925"/>
                  <a:pt x="147027" y="185648"/>
                </a:cubicBezTo>
                <a:cubicBezTo>
                  <a:pt x="146402" y="183371"/>
                  <a:pt x="146000" y="181094"/>
                  <a:pt x="145688" y="178862"/>
                </a:cubicBezTo>
                <a:lnTo>
                  <a:pt x="128855" y="170557"/>
                </a:lnTo>
                <a:cubicBezTo>
                  <a:pt x="123810" y="168057"/>
                  <a:pt x="121265" y="162342"/>
                  <a:pt x="122694" y="156939"/>
                </a:cubicBezTo>
                <a:lnTo>
                  <a:pt x="125819" y="145241"/>
                </a:lnTo>
                <a:cubicBezTo>
                  <a:pt x="127293" y="139839"/>
                  <a:pt x="132338" y="136178"/>
                  <a:pt x="137964" y="136535"/>
                </a:cubicBezTo>
                <a:lnTo>
                  <a:pt x="156671" y="137740"/>
                </a:lnTo>
                <a:cubicBezTo>
                  <a:pt x="159484" y="134124"/>
                  <a:pt x="162744" y="130775"/>
                  <a:pt x="166449" y="127918"/>
                </a:cubicBezTo>
                <a:lnTo>
                  <a:pt x="165244" y="109255"/>
                </a:lnTo>
                <a:cubicBezTo>
                  <a:pt x="164887" y="103629"/>
                  <a:pt x="168548" y="98539"/>
                  <a:pt x="173950" y="97110"/>
                </a:cubicBezTo>
                <a:lnTo>
                  <a:pt x="185648" y="93985"/>
                </a:lnTo>
                <a:close/>
                <a:moveTo>
                  <a:pt x="200204" y="151805"/>
                </a:moveTo>
                <a:cubicBezTo>
                  <a:pt x="189361" y="151817"/>
                  <a:pt x="180568" y="160630"/>
                  <a:pt x="180581" y="171472"/>
                </a:cubicBezTo>
                <a:cubicBezTo>
                  <a:pt x="180593" y="182315"/>
                  <a:pt x="189406" y="191108"/>
                  <a:pt x="200248" y="191095"/>
                </a:cubicBezTo>
                <a:cubicBezTo>
                  <a:pt x="211091" y="191083"/>
                  <a:pt x="219884" y="182270"/>
                  <a:pt x="219871" y="171428"/>
                </a:cubicBezTo>
                <a:cubicBezTo>
                  <a:pt x="219859" y="160585"/>
                  <a:pt x="211046" y="151792"/>
                  <a:pt x="200204" y="151805"/>
                </a:cubicBezTo>
                <a:close/>
                <a:moveTo>
                  <a:pt x="100414" y="-20315"/>
                </a:moveTo>
                <a:lnTo>
                  <a:pt x="112112" y="-17190"/>
                </a:lnTo>
                <a:cubicBezTo>
                  <a:pt x="117515" y="-15716"/>
                  <a:pt x="121176" y="-10626"/>
                  <a:pt x="120819" y="-5045"/>
                </a:cubicBezTo>
                <a:lnTo>
                  <a:pt x="119613" y="13618"/>
                </a:lnTo>
                <a:cubicBezTo>
                  <a:pt x="123319" y="16475"/>
                  <a:pt x="126578" y="19779"/>
                  <a:pt x="129391" y="23440"/>
                </a:cubicBezTo>
                <a:lnTo>
                  <a:pt x="148144" y="22235"/>
                </a:lnTo>
                <a:cubicBezTo>
                  <a:pt x="153725" y="21878"/>
                  <a:pt x="158814" y="25539"/>
                  <a:pt x="160288" y="30941"/>
                </a:cubicBezTo>
                <a:lnTo>
                  <a:pt x="163413" y="42639"/>
                </a:lnTo>
                <a:cubicBezTo>
                  <a:pt x="164842" y="48042"/>
                  <a:pt x="162297" y="53757"/>
                  <a:pt x="157252" y="56257"/>
                </a:cubicBezTo>
                <a:lnTo>
                  <a:pt x="140419" y="64562"/>
                </a:lnTo>
                <a:cubicBezTo>
                  <a:pt x="140107" y="66839"/>
                  <a:pt x="139660" y="69116"/>
                  <a:pt x="139080" y="71348"/>
                </a:cubicBezTo>
                <a:cubicBezTo>
                  <a:pt x="138499" y="73581"/>
                  <a:pt x="137696" y="75813"/>
                  <a:pt x="136847" y="77912"/>
                </a:cubicBezTo>
                <a:lnTo>
                  <a:pt x="147251" y="93538"/>
                </a:lnTo>
                <a:cubicBezTo>
                  <a:pt x="150376" y="98227"/>
                  <a:pt x="149751" y="104433"/>
                  <a:pt x="145777" y="108406"/>
                </a:cubicBezTo>
                <a:lnTo>
                  <a:pt x="137205" y="116979"/>
                </a:lnTo>
                <a:cubicBezTo>
                  <a:pt x="133231" y="120953"/>
                  <a:pt x="127025" y="121578"/>
                  <a:pt x="122337" y="118452"/>
                </a:cubicBezTo>
                <a:lnTo>
                  <a:pt x="106710" y="108049"/>
                </a:lnTo>
                <a:cubicBezTo>
                  <a:pt x="102468" y="109791"/>
                  <a:pt x="97959" y="111041"/>
                  <a:pt x="93360" y="111666"/>
                </a:cubicBezTo>
                <a:lnTo>
                  <a:pt x="85055" y="128454"/>
                </a:lnTo>
                <a:cubicBezTo>
                  <a:pt x="82555" y="133499"/>
                  <a:pt x="76840" y="136044"/>
                  <a:pt x="71438" y="134615"/>
                </a:cubicBezTo>
                <a:lnTo>
                  <a:pt x="59740" y="131490"/>
                </a:lnTo>
                <a:cubicBezTo>
                  <a:pt x="54293" y="130016"/>
                  <a:pt x="50676" y="124926"/>
                  <a:pt x="51033" y="119345"/>
                </a:cubicBezTo>
                <a:lnTo>
                  <a:pt x="52239" y="100638"/>
                </a:lnTo>
                <a:cubicBezTo>
                  <a:pt x="48533" y="97780"/>
                  <a:pt x="45274" y="94476"/>
                  <a:pt x="42461" y="90815"/>
                </a:cubicBezTo>
                <a:lnTo>
                  <a:pt x="23708" y="92020"/>
                </a:lnTo>
                <a:cubicBezTo>
                  <a:pt x="18127" y="92378"/>
                  <a:pt x="13037" y="88716"/>
                  <a:pt x="11564" y="83314"/>
                </a:cubicBezTo>
                <a:lnTo>
                  <a:pt x="8439" y="71616"/>
                </a:lnTo>
                <a:cubicBezTo>
                  <a:pt x="7010" y="66214"/>
                  <a:pt x="9555" y="60499"/>
                  <a:pt x="14600" y="57998"/>
                </a:cubicBezTo>
                <a:lnTo>
                  <a:pt x="31433" y="49694"/>
                </a:lnTo>
                <a:cubicBezTo>
                  <a:pt x="31745" y="47417"/>
                  <a:pt x="32192" y="45184"/>
                  <a:pt x="32772" y="42907"/>
                </a:cubicBezTo>
                <a:cubicBezTo>
                  <a:pt x="33397" y="40630"/>
                  <a:pt x="34111" y="38442"/>
                  <a:pt x="35004" y="36344"/>
                </a:cubicBezTo>
                <a:lnTo>
                  <a:pt x="24601" y="20762"/>
                </a:lnTo>
                <a:cubicBezTo>
                  <a:pt x="21476" y="16073"/>
                  <a:pt x="22101" y="9867"/>
                  <a:pt x="26075" y="5894"/>
                </a:cubicBezTo>
                <a:lnTo>
                  <a:pt x="34647" y="-2679"/>
                </a:lnTo>
                <a:cubicBezTo>
                  <a:pt x="38621" y="-6653"/>
                  <a:pt x="44827" y="-7278"/>
                  <a:pt x="49515" y="-4152"/>
                </a:cubicBezTo>
                <a:lnTo>
                  <a:pt x="65142" y="6251"/>
                </a:lnTo>
                <a:cubicBezTo>
                  <a:pt x="69384" y="4509"/>
                  <a:pt x="73893" y="3259"/>
                  <a:pt x="78492" y="2634"/>
                </a:cubicBezTo>
                <a:lnTo>
                  <a:pt x="86797" y="-14154"/>
                </a:lnTo>
                <a:cubicBezTo>
                  <a:pt x="89297" y="-19199"/>
                  <a:pt x="94967" y="-21744"/>
                  <a:pt x="100414" y="-20315"/>
                </a:cubicBezTo>
                <a:close/>
                <a:moveTo>
                  <a:pt x="85904" y="37505"/>
                </a:moveTo>
                <a:cubicBezTo>
                  <a:pt x="75061" y="37505"/>
                  <a:pt x="66258" y="46307"/>
                  <a:pt x="66258" y="57150"/>
                </a:cubicBezTo>
                <a:cubicBezTo>
                  <a:pt x="66258" y="67993"/>
                  <a:pt x="75061" y="76795"/>
                  <a:pt x="85904" y="76795"/>
                </a:cubicBezTo>
                <a:cubicBezTo>
                  <a:pt x="96746" y="76795"/>
                  <a:pt x="105549" y="67993"/>
                  <a:pt x="105549" y="57150"/>
                </a:cubicBezTo>
                <a:cubicBezTo>
                  <a:pt x="105549" y="46307"/>
                  <a:pt x="96746" y="37505"/>
                  <a:pt x="85904" y="37505"/>
                </a:cubicBezTo>
                <a:close/>
              </a:path>
            </a:pathLst>
          </a:custGeom>
          <a:solidFill>
            <a:srgbClr val="6366F1"/>
          </a:solidFill>
          <a:ln/>
        </p:spPr>
      </p:sp>
      <p:sp>
        <p:nvSpPr>
          <p:cNvPr id="34" name="Text 32"/>
          <p:cNvSpPr/>
          <p:nvPr/>
        </p:nvSpPr>
        <p:spPr>
          <a:xfrm>
            <a:off x="545782" y="5394964"/>
            <a:ext cx="3133725" cy="190500"/>
          </a:xfrm>
          <a:prstGeom prst="rect">
            <a:avLst/>
          </a:prstGeom>
          <a:noFill/>
          <a:ln/>
        </p:spPr>
        <p:txBody>
          <a:bodyPr wrap="square" lIns="0" tIns="0" rIns="0" bIns="0" rtlCol="0" anchor="ctr"/>
          <a:lstStyle/>
          <a:p>
            <a:pPr algn="ctr">
              <a:lnSpc>
                <a:spcPct val="120000"/>
              </a:lnSpc>
            </a:pPr>
            <a:r>
              <a:rPr lang="en-US" sz="1050" b="1" dirty="0">
                <a:solidFill>
                  <a:srgbClr val="EFEFEF"/>
                </a:solidFill>
                <a:latin typeface="Liter" pitchFamily="34" charset="0"/>
                <a:ea typeface="Liter" pitchFamily="34" charset="-122"/>
                <a:cs typeface="Liter" pitchFamily="34" charset="-120"/>
              </a:rPr>
              <a:t>Better Algorithms</a:t>
            </a:r>
            <a:endParaRPr lang="en-US" sz="1600" dirty="0"/>
          </a:p>
        </p:txBody>
      </p:sp>
      <p:sp>
        <p:nvSpPr>
          <p:cNvPr id="35" name="Text 33"/>
          <p:cNvSpPr/>
          <p:nvPr/>
        </p:nvSpPr>
        <p:spPr>
          <a:xfrm>
            <a:off x="545782" y="5585464"/>
            <a:ext cx="3133725" cy="190500"/>
          </a:xfrm>
          <a:prstGeom prst="rect">
            <a:avLst/>
          </a:prstGeom>
          <a:noFill/>
          <a:ln/>
        </p:spPr>
        <p:txBody>
          <a:bodyPr wrap="square" lIns="0" tIns="0" rIns="0" bIns="0" rtlCol="0" anchor="ctr"/>
          <a:lstStyle/>
          <a:p>
            <a:pPr algn="ctr">
              <a:lnSpc>
                <a:spcPct val="120000"/>
              </a:lnSpc>
            </a:pPr>
            <a:r>
              <a:rPr lang="en-US" sz="1050" dirty="0">
                <a:solidFill>
                  <a:srgbClr val="8F8F8F"/>
                </a:solidFill>
                <a:latin typeface="Liter" pitchFamily="34" charset="0"/>
                <a:ea typeface="Liter" pitchFamily="34" charset="-122"/>
                <a:cs typeface="Liter" pitchFamily="34" charset="-120"/>
              </a:rPr>
              <a:t>Smarter decision-making</a:t>
            </a:r>
            <a:endParaRPr lang="en-US" sz="1600" dirty="0"/>
          </a:p>
        </p:txBody>
      </p:sp>
      <p:sp>
        <p:nvSpPr>
          <p:cNvPr id="36" name="Shape 34"/>
          <p:cNvSpPr/>
          <p:nvPr/>
        </p:nvSpPr>
        <p:spPr>
          <a:xfrm>
            <a:off x="3802380" y="5052064"/>
            <a:ext cx="3219450" cy="800100"/>
          </a:xfrm>
          <a:prstGeom prst="roundRect">
            <a:avLst>
              <a:gd name="adj" fmla="val 9524"/>
            </a:avLst>
          </a:prstGeom>
          <a:solidFill>
            <a:srgbClr val="191919"/>
          </a:solidFill>
          <a:ln/>
        </p:spPr>
      </p:sp>
      <p:sp>
        <p:nvSpPr>
          <p:cNvPr id="37" name="Shape 35"/>
          <p:cNvSpPr/>
          <p:nvPr/>
        </p:nvSpPr>
        <p:spPr>
          <a:xfrm>
            <a:off x="5299710" y="5128264"/>
            <a:ext cx="228600" cy="228600"/>
          </a:xfrm>
          <a:custGeom>
            <a:avLst/>
            <a:gdLst/>
            <a:ahLst/>
            <a:cxnLst/>
            <a:rect l="l" t="t" r="r" b="b"/>
            <a:pathLst>
              <a:path w="228600" h="228600">
                <a:moveTo>
                  <a:pt x="78581" y="10716"/>
                </a:moveTo>
                <a:cubicBezTo>
                  <a:pt x="78581" y="4777"/>
                  <a:pt x="73804" y="0"/>
                  <a:pt x="67866" y="0"/>
                </a:cubicBezTo>
                <a:cubicBezTo>
                  <a:pt x="61927" y="0"/>
                  <a:pt x="57150" y="4777"/>
                  <a:pt x="57150" y="10716"/>
                </a:cubicBezTo>
                <a:lnTo>
                  <a:pt x="57150" y="28575"/>
                </a:lnTo>
                <a:cubicBezTo>
                  <a:pt x="41389" y="28575"/>
                  <a:pt x="28575" y="41389"/>
                  <a:pt x="28575" y="57150"/>
                </a:cubicBezTo>
                <a:lnTo>
                  <a:pt x="10716" y="57150"/>
                </a:lnTo>
                <a:cubicBezTo>
                  <a:pt x="4777" y="57150"/>
                  <a:pt x="0" y="61927"/>
                  <a:pt x="0" y="67866"/>
                </a:cubicBezTo>
                <a:cubicBezTo>
                  <a:pt x="0" y="73804"/>
                  <a:pt x="4777" y="78581"/>
                  <a:pt x="10716" y="78581"/>
                </a:cubicBezTo>
                <a:lnTo>
                  <a:pt x="28575" y="78581"/>
                </a:lnTo>
                <a:lnTo>
                  <a:pt x="28575" y="103584"/>
                </a:lnTo>
                <a:lnTo>
                  <a:pt x="10716" y="103584"/>
                </a:lnTo>
                <a:cubicBezTo>
                  <a:pt x="4777" y="103584"/>
                  <a:pt x="0" y="108362"/>
                  <a:pt x="0" y="114300"/>
                </a:cubicBezTo>
                <a:cubicBezTo>
                  <a:pt x="0" y="120238"/>
                  <a:pt x="4777" y="125016"/>
                  <a:pt x="10716" y="125016"/>
                </a:cubicBezTo>
                <a:lnTo>
                  <a:pt x="28575" y="125016"/>
                </a:lnTo>
                <a:lnTo>
                  <a:pt x="28575" y="150019"/>
                </a:lnTo>
                <a:lnTo>
                  <a:pt x="10716" y="150019"/>
                </a:lnTo>
                <a:cubicBezTo>
                  <a:pt x="4777" y="150019"/>
                  <a:pt x="0" y="154796"/>
                  <a:pt x="0" y="160734"/>
                </a:cubicBezTo>
                <a:cubicBezTo>
                  <a:pt x="0" y="166673"/>
                  <a:pt x="4777" y="171450"/>
                  <a:pt x="10716" y="171450"/>
                </a:cubicBezTo>
                <a:lnTo>
                  <a:pt x="28575" y="171450"/>
                </a:lnTo>
                <a:cubicBezTo>
                  <a:pt x="28575" y="187211"/>
                  <a:pt x="41389" y="200025"/>
                  <a:pt x="57150" y="200025"/>
                </a:cubicBezTo>
                <a:lnTo>
                  <a:pt x="57150" y="217884"/>
                </a:lnTo>
                <a:cubicBezTo>
                  <a:pt x="57150" y="223823"/>
                  <a:pt x="61927" y="228600"/>
                  <a:pt x="67866" y="228600"/>
                </a:cubicBezTo>
                <a:cubicBezTo>
                  <a:pt x="73804" y="228600"/>
                  <a:pt x="78581" y="223823"/>
                  <a:pt x="78581" y="217884"/>
                </a:cubicBezTo>
                <a:lnTo>
                  <a:pt x="78581" y="200025"/>
                </a:lnTo>
                <a:lnTo>
                  <a:pt x="103584" y="200025"/>
                </a:lnTo>
                <a:lnTo>
                  <a:pt x="103584" y="217884"/>
                </a:lnTo>
                <a:cubicBezTo>
                  <a:pt x="103584" y="223823"/>
                  <a:pt x="108362" y="228600"/>
                  <a:pt x="114300" y="228600"/>
                </a:cubicBezTo>
                <a:cubicBezTo>
                  <a:pt x="120238" y="228600"/>
                  <a:pt x="125016" y="223823"/>
                  <a:pt x="125016" y="217884"/>
                </a:cubicBezTo>
                <a:lnTo>
                  <a:pt x="125016" y="200025"/>
                </a:lnTo>
                <a:lnTo>
                  <a:pt x="150019" y="200025"/>
                </a:lnTo>
                <a:lnTo>
                  <a:pt x="150019" y="217884"/>
                </a:lnTo>
                <a:cubicBezTo>
                  <a:pt x="150019" y="223823"/>
                  <a:pt x="154796" y="228600"/>
                  <a:pt x="160734" y="228600"/>
                </a:cubicBezTo>
                <a:cubicBezTo>
                  <a:pt x="166673" y="228600"/>
                  <a:pt x="171450" y="223823"/>
                  <a:pt x="171450" y="217884"/>
                </a:cubicBezTo>
                <a:lnTo>
                  <a:pt x="171450" y="200025"/>
                </a:lnTo>
                <a:cubicBezTo>
                  <a:pt x="187211" y="200025"/>
                  <a:pt x="200025" y="187211"/>
                  <a:pt x="200025" y="171450"/>
                </a:cubicBezTo>
                <a:lnTo>
                  <a:pt x="217884" y="171450"/>
                </a:lnTo>
                <a:cubicBezTo>
                  <a:pt x="223823" y="171450"/>
                  <a:pt x="228600" y="166673"/>
                  <a:pt x="228600" y="160734"/>
                </a:cubicBezTo>
                <a:cubicBezTo>
                  <a:pt x="228600" y="154796"/>
                  <a:pt x="223823" y="150019"/>
                  <a:pt x="217884" y="150019"/>
                </a:cubicBezTo>
                <a:lnTo>
                  <a:pt x="200025" y="150019"/>
                </a:lnTo>
                <a:lnTo>
                  <a:pt x="200025" y="125016"/>
                </a:lnTo>
                <a:lnTo>
                  <a:pt x="217884" y="125016"/>
                </a:lnTo>
                <a:cubicBezTo>
                  <a:pt x="223823" y="125016"/>
                  <a:pt x="228600" y="120238"/>
                  <a:pt x="228600" y="114300"/>
                </a:cubicBezTo>
                <a:cubicBezTo>
                  <a:pt x="228600" y="108362"/>
                  <a:pt x="223823" y="103584"/>
                  <a:pt x="217884" y="103584"/>
                </a:cubicBezTo>
                <a:lnTo>
                  <a:pt x="200025" y="103584"/>
                </a:lnTo>
                <a:lnTo>
                  <a:pt x="200025" y="78581"/>
                </a:lnTo>
                <a:lnTo>
                  <a:pt x="217884" y="78581"/>
                </a:lnTo>
                <a:cubicBezTo>
                  <a:pt x="223823" y="78581"/>
                  <a:pt x="228600" y="73804"/>
                  <a:pt x="228600" y="67866"/>
                </a:cubicBezTo>
                <a:cubicBezTo>
                  <a:pt x="228600" y="61927"/>
                  <a:pt x="223823" y="57150"/>
                  <a:pt x="217884" y="57150"/>
                </a:cubicBezTo>
                <a:lnTo>
                  <a:pt x="200025" y="57150"/>
                </a:lnTo>
                <a:cubicBezTo>
                  <a:pt x="200025" y="41389"/>
                  <a:pt x="187211" y="28575"/>
                  <a:pt x="171450" y="28575"/>
                </a:cubicBezTo>
                <a:lnTo>
                  <a:pt x="171450" y="10716"/>
                </a:lnTo>
                <a:cubicBezTo>
                  <a:pt x="171450" y="4777"/>
                  <a:pt x="166673" y="0"/>
                  <a:pt x="160734" y="0"/>
                </a:cubicBezTo>
                <a:cubicBezTo>
                  <a:pt x="154796" y="0"/>
                  <a:pt x="150019" y="4777"/>
                  <a:pt x="150019" y="10716"/>
                </a:cubicBezTo>
                <a:lnTo>
                  <a:pt x="150019" y="28575"/>
                </a:lnTo>
                <a:lnTo>
                  <a:pt x="125016" y="28575"/>
                </a:lnTo>
                <a:lnTo>
                  <a:pt x="125016" y="10716"/>
                </a:lnTo>
                <a:cubicBezTo>
                  <a:pt x="125016" y="4777"/>
                  <a:pt x="120238" y="0"/>
                  <a:pt x="114300" y="0"/>
                </a:cubicBezTo>
                <a:cubicBezTo>
                  <a:pt x="108362" y="0"/>
                  <a:pt x="103584" y="4777"/>
                  <a:pt x="103584" y="10716"/>
                </a:cubicBezTo>
                <a:lnTo>
                  <a:pt x="103584" y="28575"/>
                </a:lnTo>
                <a:lnTo>
                  <a:pt x="78581" y="28575"/>
                </a:lnTo>
                <a:lnTo>
                  <a:pt x="78581" y="10716"/>
                </a:lnTo>
                <a:close/>
                <a:moveTo>
                  <a:pt x="71438" y="57150"/>
                </a:moveTo>
                <a:lnTo>
                  <a:pt x="157163" y="57150"/>
                </a:lnTo>
                <a:cubicBezTo>
                  <a:pt x="165065" y="57150"/>
                  <a:pt x="171450" y="63535"/>
                  <a:pt x="171450" y="71438"/>
                </a:cubicBezTo>
                <a:lnTo>
                  <a:pt x="171450" y="157163"/>
                </a:lnTo>
                <a:cubicBezTo>
                  <a:pt x="171450" y="165065"/>
                  <a:pt x="165065" y="171450"/>
                  <a:pt x="157163" y="171450"/>
                </a:cubicBezTo>
                <a:lnTo>
                  <a:pt x="71438" y="171450"/>
                </a:lnTo>
                <a:cubicBezTo>
                  <a:pt x="63535" y="171450"/>
                  <a:pt x="57150" y="165065"/>
                  <a:pt x="57150" y="157163"/>
                </a:cubicBezTo>
                <a:lnTo>
                  <a:pt x="57150" y="71438"/>
                </a:lnTo>
                <a:cubicBezTo>
                  <a:pt x="57150" y="63535"/>
                  <a:pt x="63535" y="57150"/>
                  <a:pt x="71438" y="57150"/>
                </a:cubicBezTo>
                <a:close/>
                <a:moveTo>
                  <a:pt x="78581" y="78581"/>
                </a:moveTo>
                <a:lnTo>
                  <a:pt x="78581" y="150019"/>
                </a:lnTo>
                <a:lnTo>
                  <a:pt x="150019" y="150019"/>
                </a:lnTo>
                <a:lnTo>
                  <a:pt x="150019" y="78581"/>
                </a:lnTo>
                <a:lnTo>
                  <a:pt x="78581" y="78581"/>
                </a:lnTo>
                <a:close/>
              </a:path>
            </a:pathLst>
          </a:custGeom>
          <a:solidFill>
            <a:srgbClr val="6366F1"/>
          </a:solidFill>
          <a:ln/>
        </p:spPr>
      </p:sp>
      <p:sp>
        <p:nvSpPr>
          <p:cNvPr id="38" name="Text 36"/>
          <p:cNvSpPr/>
          <p:nvPr/>
        </p:nvSpPr>
        <p:spPr>
          <a:xfrm>
            <a:off x="3845243" y="5394964"/>
            <a:ext cx="3133725" cy="190500"/>
          </a:xfrm>
          <a:prstGeom prst="rect">
            <a:avLst/>
          </a:prstGeom>
          <a:noFill/>
          <a:ln/>
        </p:spPr>
        <p:txBody>
          <a:bodyPr wrap="square" lIns="0" tIns="0" rIns="0" bIns="0" rtlCol="0" anchor="ctr"/>
          <a:lstStyle/>
          <a:p>
            <a:pPr algn="ctr">
              <a:lnSpc>
                <a:spcPct val="120000"/>
              </a:lnSpc>
            </a:pPr>
            <a:r>
              <a:rPr lang="en-US" sz="1050" b="1" dirty="0">
                <a:solidFill>
                  <a:srgbClr val="EFEFEF"/>
                </a:solidFill>
                <a:latin typeface="Liter" pitchFamily="34" charset="0"/>
                <a:ea typeface="Liter" pitchFamily="34" charset="-122"/>
                <a:cs typeface="Liter" pitchFamily="34" charset="-120"/>
              </a:rPr>
              <a:t>Faster Hardware</a:t>
            </a:r>
            <a:endParaRPr lang="en-US" sz="1600" dirty="0"/>
          </a:p>
        </p:txBody>
      </p:sp>
      <p:sp>
        <p:nvSpPr>
          <p:cNvPr id="39" name="Text 37"/>
          <p:cNvSpPr/>
          <p:nvPr/>
        </p:nvSpPr>
        <p:spPr>
          <a:xfrm>
            <a:off x="3845243" y="5585464"/>
            <a:ext cx="3133725" cy="190500"/>
          </a:xfrm>
          <a:prstGeom prst="rect">
            <a:avLst/>
          </a:prstGeom>
          <a:noFill/>
          <a:ln/>
        </p:spPr>
        <p:txBody>
          <a:bodyPr wrap="square" lIns="0" tIns="0" rIns="0" bIns="0" rtlCol="0" anchor="ctr"/>
          <a:lstStyle/>
          <a:p>
            <a:pPr algn="ctr">
              <a:lnSpc>
                <a:spcPct val="120000"/>
              </a:lnSpc>
            </a:pPr>
            <a:r>
              <a:rPr lang="en-US" sz="1050" dirty="0">
                <a:solidFill>
                  <a:srgbClr val="8F8F8F"/>
                </a:solidFill>
                <a:latin typeface="Liter" pitchFamily="34" charset="0"/>
                <a:ea typeface="Liter" pitchFamily="34" charset="-122"/>
                <a:cs typeface="Liter" pitchFamily="34" charset="-120"/>
              </a:rPr>
              <a:t>Quicker processing</a:t>
            </a:r>
            <a:endParaRPr lang="en-US" sz="1600" dirty="0"/>
          </a:p>
        </p:txBody>
      </p:sp>
      <p:sp>
        <p:nvSpPr>
          <p:cNvPr id="40" name="Shape 38"/>
          <p:cNvSpPr/>
          <p:nvPr/>
        </p:nvSpPr>
        <p:spPr>
          <a:xfrm>
            <a:off x="7303770" y="1108710"/>
            <a:ext cx="4503420" cy="1798320"/>
          </a:xfrm>
          <a:prstGeom prst="roundRect">
            <a:avLst>
              <a:gd name="adj" fmla="val 6356"/>
            </a:avLst>
          </a:prstGeom>
          <a:gradFill rotWithShape="1" flip="none">
            <a:gsLst>
              <a:gs pos="0">
                <a:srgbClr val="6366F1">
                  <a:alpha val="20000"/>
                </a:srgbClr>
              </a:gs>
              <a:gs pos="100000">
                <a:srgbClr val="6366F1">
                  <a:alpha val="5000"/>
                </a:srgbClr>
              </a:gs>
            </a:gsLst>
            <a:lin ang="2700000" scaled="1"/>
          </a:gradFill>
          <a:ln w="10160">
            <a:solidFill>
              <a:srgbClr val="6366F1"/>
            </a:solidFill>
            <a:prstDash val="solid"/>
          </a:ln>
        </p:spPr>
      </p:sp>
      <p:sp>
        <p:nvSpPr>
          <p:cNvPr id="41" name="Shape 39"/>
          <p:cNvSpPr/>
          <p:nvPr/>
        </p:nvSpPr>
        <p:spPr>
          <a:xfrm>
            <a:off x="7469505" y="1264918"/>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6366F1"/>
          </a:solidFill>
          <a:ln/>
        </p:spPr>
      </p:sp>
      <p:sp>
        <p:nvSpPr>
          <p:cNvPr id="42" name="Text 40"/>
          <p:cNvSpPr/>
          <p:nvPr/>
        </p:nvSpPr>
        <p:spPr>
          <a:xfrm>
            <a:off x="7736205" y="1226818"/>
            <a:ext cx="1809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Real-World Example</a:t>
            </a:r>
            <a:endParaRPr lang="en-US" sz="1600" dirty="0"/>
          </a:p>
        </p:txBody>
      </p:sp>
      <p:sp>
        <p:nvSpPr>
          <p:cNvPr id="43" name="Shape 41"/>
          <p:cNvSpPr/>
          <p:nvPr/>
        </p:nvSpPr>
        <p:spPr>
          <a:xfrm>
            <a:off x="7421880" y="1569718"/>
            <a:ext cx="4267200" cy="1219200"/>
          </a:xfrm>
          <a:prstGeom prst="roundRect">
            <a:avLst>
              <a:gd name="adj" fmla="val 6250"/>
            </a:avLst>
          </a:prstGeom>
          <a:solidFill>
            <a:srgbClr val="191919"/>
          </a:solidFill>
          <a:ln/>
        </p:spPr>
      </p:sp>
      <p:sp>
        <p:nvSpPr>
          <p:cNvPr id="44" name="Text 42"/>
          <p:cNvSpPr/>
          <p:nvPr/>
        </p:nvSpPr>
        <p:spPr>
          <a:xfrm>
            <a:off x="7536180" y="1684018"/>
            <a:ext cx="4124325" cy="266700"/>
          </a:xfrm>
          <a:prstGeom prst="rect">
            <a:avLst/>
          </a:prstGeom>
          <a:noFill/>
          <a:ln/>
        </p:spPr>
        <p:txBody>
          <a:bodyPr wrap="square" lIns="0" tIns="0" rIns="0" bIns="0" rtlCol="0" anchor="ctr"/>
          <a:lstStyle/>
          <a:p>
            <a:pPr>
              <a:lnSpc>
                <a:spcPct val="130000"/>
              </a:lnSpc>
            </a:pPr>
            <a:r>
              <a:rPr lang="en-US" sz="1350" b="1" dirty="0">
                <a:solidFill>
                  <a:srgbClr val="6366F1"/>
                </a:solidFill>
                <a:latin typeface="Liter" pitchFamily="34" charset="0"/>
                <a:ea typeface="Liter" pitchFamily="34" charset="-122"/>
                <a:cs typeface="Liter" pitchFamily="34" charset="-120"/>
              </a:rPr>
              <a:t>Game-Playing AI</a:t>
            </a:r>
            <a:endParaRPr lang="en-US" sz="1600" dirty="0"/>
          </a:p>
        </p:txBody>
      </p:sp>
      <p:sp>
        <p:nvSpPr>
          <p:cNvPr id="45" name="Text 43"/>
          <p:cNvSpPr/>
          <p:nvPr/>
        </p:nvSpPr>
        <p:spPr>
          <a:xfrm>
            <a:off x="7536180" y="1988818"/>
            <a:ext cx="41148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AlphaGo played millions of games against itself, learning from wins and losses. It discovered strategies humans never thought of! This is reinforcement learning in action.</a:t>
            </a:r>
            <a:endParaRPr lang="en-US" sz="1600" dirty="0"/>
          </a:p>
        </p:txBody>
      </p:sp>
      <p:sp>
        <p:nvSpPr>
          <p:cNvPr id="46" name="Shape 44"/>
          <p:cNvSpPr/>
          <p:nvPr/>
        </p:nvSpPr>
        <p:spPr>
          <a:xfrm>
            <a:off x="7303770" y="2990856"/>
            <a:ext cx="4503420" cy="1264920"/>
          </a:xfrm>
          <a:prstGeom prst="roundRect">
            <a:avLst>
              <a:gd name="adj" fmla="val 9036"/>
            </a:avLst>
          </a:prstGeom>
          <a:solidFill>
            <a:srgbClr val="262626"/>
          </a:solidFill>
          <a:ln w="10160">
            <a:solidFill>
              <a:srgbClr val="333333"/>
            </a:solidFill>
            <a:prstDash val="solid"/>
          </a:ln>
        </p:spPr>
      </p:sp>
      <p:sp>
        <p:nvSpPr>
          <p:cNvPr id="47" name="Text 45"/>
          <p:cNvSpPr/>
          <p:nvPr/>
        </p:nvSpPr>
        <p:spPr>
          <a:xfrm>
            <a:off x="7421880" y="3108964"/>
            <a:ext cx="43529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 Simple Explanation</a:t>
            </a:r>
            <a:endParaRPr lang="en-US" sz="1600" dirty="0"/>
          </a:p>
        </p:txBody>
      </p:sp>
      <p:sp>
        <p:nvSpPr>
          <p:cNvPr id="48" name="Text 46"/>
          <p:cNvSpPr/>
          <p:nvPr/>
        </p:nvSpPr>
        <p:spPr>
          <a:xfrm>
            <a:off x="7421880" y="3451864"/>
            <a:ext cx="43434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Agent technology is like giving AI a growth mindset. Instead of being stuck with what it knows, agents constantly learn, adapt, and get better—just like you do when practicing a new skill!</a:t>
            </a:r>
            <a:endParaRPr lang="en-US" sz="1600" dirty="0"/>
          </a:p>
        </p:txBody>
      </p:sp>
      <p:sp>
        <p:nvSpPr>
          <p:cNvPr id="49" name="Shape 47"/>
          <p:cNvSpPr/>
          <p:nvPr/>
        </p:nvSpPr>
        <p:spPr>
          <a:xfrm>
            <a:off x="7303770" y="4339592"/>
            <a:ext cx="4503420" cy="1874520"/>
          </a:xfrm>
          <a:prstGeom prst="roundRect">
            <a:avLst>
              <a:gd name="adj" fmla="val 6098"/>
            </a:avLst>
          </a:prstGeom>
          <a:solidFill>
            <a:srgbClr val="262626"/>
          </a:solidFill>
          <a:ln w="10160">
            <a:solidFill>
              <a:srgbClr val="333333"/>
            </a:solidFill>
            <a:prstDash val="solid"/>
          </a:ln>
        </p:spPr>
      </p:sp>
      <p:sp>
        <p:nvSpPr>
          <p:cNvPr id="50" name="Shape 48"/>
          <p:cNvSpPr/>
          <p:nvPr/>
        </p:nvSpPr>
        <p:spPr>
          <a:xfrm>
            <a:off x="7456408" y="4505325"/>
            <a:ext cx="150019" cy="171450"/>
          </a:xfrm>
          <a:custGeom>
            <a:avLst/>
            <a:gdLst/>
            <a:ahLst/>
            <a:cxnLst/>
            <a:rect l="l" t="t" r="r" b="b"/>
            <a:pathLst>
              <a:path w="150019" h="171450">
                <a:moveTo>
                  <a:pt x="21431" y="10716"/>
                </a:moveTo>
                <a:cubicBezTo>
                  <a:pt x="9611" y="10716"/>
                  <a:pt x="0" y="20326"/>
                  <a:pt x="0" y="32147"/>
                </a:cubicBezTo>
                <a:lnTo>
                  <a:pt x="0" y="139303"/>
                </a:lnTo>
                <a:cubicBezTo>
                  <a:pt x="0" y="151124"/>
                  <a:pt x="9611" y="160734"/>
                  <a:pt x="21431" y="160734"/>
                </a:cubicBezTo>
                <a:lnTo>
                  <a:pt x="128588" y="160734"/>
                </a:lnTo>
                <a:cubicBezTo>
                  <a:pt x="140408" y="160734"/>
                  <a:pt x="150019" y="151124"/>
                  <a:pt x="150019" y="139303"/>
                </a:cubicBezTo>
                <a:lnTo>
                  <a:pt x="150019" y="32147"/>
                </a:lnTo>
                <a:cubicBezTo>
                  <a:pt x="150019" y="20326"/>
                  <a:pt x="140408" y="10716"/>
                  <a:pt x="128588" y="10716"/>
                </a:cubicBezTo>
                <a:lnTo>
                  <a:pt x="21431" y="10716"/>
                </a:lnTo>
                <a:close/>
                <a:moveTo>
                  <a:pt x="42863" y="37505"/>
                </a:moveTo>
                <a:cubicBezTo>
                  <a:pt x="51734" y="37505"/>
                  <a:pt x="58936" y="44707"/>
                  <a:pt x="58936" y="53578"/>
                </a:cubicBezTo>
                <a:cubicBezTo>
                  <a:pt x="58936" y="62449"/>
                  <a:pt x="51734" y="69652"/>
                  <a:pt x="42863" y="69652"/>
                </a:cubicBezTo>
                <a:cubicBezTo>
                  <a:pt x="33991" y="69652"/>
                  <a:pt x="26789" y="62449"/>
                  <a:pt x="26789" y="53578"/>
                </a:cubicBezTo>
                <a:cubicBezTo>
                  <a:pt x="26789" y="44707"/>
                  <a:pt x="33991" y="37505"/>
                  <a:pt x="42863" y="37505"/>
                </a:cubicBezTo>
                <a:close/>
                <a:moveTo>
                  <a:pt x="91083" y="75009"/>
                </a:moveTo>
                <a:cubicBezTo>
                  <a:pt x="93896" y="75009"/>
                  <a:pt x="96474" y="76483"/>
                  <a:pt x="97948" y="78860"/>
                </a:cubicBezTo>
                <a:lnTo>
                  <a:pt x="127415" y="127081"/>
                </a:lnTo>
                <a:cubicBezTo>
                  <a:pt x="128922" y="129559"/>
                  <a:pt x="128989" y="132673"/>
                  <a:pt x="127583" y="135218"/>
                </a:cubicBezTo>
                <a:cubicBezTo>
                  <a:pt x="126176" y="137763"/>
                  <a:pt x="123464" y="139303"/>
                  <a:pt x="120551" y="139303"/>
                </a:cubicBezTo>
                <a:lnTo>
                  <a:pt x="29468" y="139303"/>
                </a:lnTo>
                <a:cubicBezTo>
                  <a:pt x="26488" y="139303"/>
                  <a:pt x="23708" y="137629"/>
                  <a:pt x="22335" y="134983"/>
                </a:cubicBezTo>
                <a:cubicBezTo>
                  <a:pt x="20962" y="132338"/>
                  <a:pt x="21163" y="129123"/>
                  <a:pt x="22871" y="126679"/>
                </a:cubicBezTo>
                <a:lnTo>
                  <a:pt x="41624" y="99890"/>
                </a:lnTo>
                <a:cubicBezTo>
                  <a:pt x="43130" y="97747"/>
                  <a:pt x="45575" y="96474"/>
                  <a:pt x="48220" y="96474"/>
                </a:cubicBezTo>
                <a:cubicBezTo>
                  <a:pt x="50866" y="96474"/>
                  <a:pt x="53310" y="97747"/>
                  <a:pt x="54817" y="99890"/>
                </a:cubicBezTo>
                <a:lnTo>
                  <a:pt x="63658" y="112548"/>
                </a:lnTo>
                <a:lnTo>
                  <a:pt x="84218" y="78894"/>
                </a:lnTo>
                <a:cubicBezTo>
                  <a:pt x="85692" y="76516"/>
                  <a:pt x="88270" y="75043"/>
                  <a:pt x="91083" y="75043"/>
                </a:cubicBezTo>
                <a:close/>
              </a:path>
            </a:pathLst>
          </a:custGeom>
          <a:solidFill>
            <a:srgbClr val="6366F1"/>
          </a:solidFill>
          <a:ln/>
        </p:spPr>
      </p:sp>
      <p:sp>
        <p:nvSpPr>
          <p:cNvPr id="51" name="Text 49"/>
          <p:cNvSpPr/>
          <p:nvPr/>
        </p:nvSpPr>
        <p:spPr>
          <a:xfrm>
            <a:off x="7640955" y="4457700"/>
            <a:ext cx="41338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Visual</a:t>
            </a:r>
            <a:endParaRPr lang="en-US" sz="1600" dirty="0"/>
          </a:p>
        </p:txBody>
      </p:sp>
      <p:sp>
        <p:nvSpPr>
          <p:cNvPr id="52" name="Shape 50"/>
          <p:cNvSpPr/>
          <p:nvPr/>
        </p:nvSpPr>
        <p:spPr>
          <a:xfrm>
            <a:off x="7421880" y="4800600"/>
            <a:ext cx="4267200" cy="609600"/>
          </a:xfrm>
          <a:prstGeom prst="roundRect">
            <a:avLst>
              <a:gd name="adj" fmla="val 12500"/>
            </a:avLst>
          </a:prstGeom>
          <a:solidFill>
            <a:srgbClr val="191919"/>
          </a:solidFill>
          <a:ln/>
        </p:spPr>
      </p:sp>
      <p:sp>
        <p:nvSpPr>
          <p:cNvPr id="53" name="Text 51"/>
          <p:cNvSpPr/>
          <p:nvPr/>
        </p:nvSpPr>
        <p:spPr>
          <a:xfrm>
            <a:off x="7498080" y="48768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Diagram:</a:t>
            </a:r>
            <a:endParaRPr lang="en-US" sz="1600" dirty="0"/>
          </a:p>
        </p:txBody>
      </p:sp>
      <p:sp>
        <p:nvSpPr>
          <p:cNvPr id="54" name="Text 52"/>
          <p:cNvSpPr/>
          <p:nvPr/>
        </p:nvSpPr>
        <p:spPr>
          <a:xfrm>
            <a:off x="7498080" y="51054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Agent → Action → Feedback → Learning → Better Action</a:t>
            </a:r>
            <a:endParaRPr lang="en-US" sz="1600" dirty="0"/>
          </a:p>
        </p:txBody>
      </p:sp>
      <p:sp>
        <p:nvSpPr>
          <p:cNvPr id="55" name="Shape 53"/>
          <p:cNvSpPr/>
          <p:nvPr/>
        </p:nvSpPr>
        <p:spPr>
          <a:xfrm>
            <a:off x="7421880" y="5486400"/>
            <a:ext cx="4267200" cy="609600"/>
          </a:xfrm>
          <a:prstGeom prst="roundRect">
            <a:avLst>
              <a:gd name="adj" fmla="val 12500"/>
            </a:avLst>
          </a:prstGeom>
          <a:solidFill>
            <a:srgbClr val="191919"/>
          </a:solidFill>
          <a:ln/>
        </p:spPr>
      </p:sp>
      <p:sp>
        <p:nvSpPr>
          <p:cNvPr id="56" name="Text 54"/>
          <p:cNvSpPr/>
          <p:nvPr/>
        </p:nvSpPr>
        <p:spPr>
          <a:xfrm>
            <a:off x="7498080" y="55626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Image:</a:t>
            </a:r>
            <a:endParaRPr lang="en-US" sz="1600" dirty="0"/>
          </a:p>
        </p:txBody>
      </p:sp>
      <p:sp>
        <p:nvSpPr>
          <p:cNvPr id="57" name="Text 55"/>
          <p:cNvSpPr/>
          <p:nvPr/>
        </p:nvSpPr>
        <p:spPr>
          <a:xfrm>
            <a:off x="7498080" y="57912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Neural network visualization</a:t>
            </a:r>
            <a:endParaRPr lang="en-US" sz="1600" dirty="0"/>
          </a:p>
        </p:txBody>
      </p:sp>
    </p:spTree>
  </p:cSld>
  <p:clrMapOvr>
    <a:masterClrMapping/>
  </p:clrMapOvr>
  <p:transition>
    <p:fade/>
    <p:spd val="med"/>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91919"/>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FB2C36">
              <a:alpha val="20000"/>
            </a:srgbClr>
          </a:solidFill>
          <a:ln/>
        </p:spPr>
      </p:sp>
      <p:sp>
        <p:nvSpPr>
          <p:cNvPr id="3" name="Text 1"/>
          <p:cNvSpPr/>
          <p:nvPr/>
        </p:nvSpPr>
        <p:spPr>
          <a:xfrm>
            <a:off x="516136" y="533400"/>
            <a:ext cx="285750" cy="266700"/>
          </a:xfrm>
          <a:prstGeom prst="rect">
            <a:avLst/>
          </a:prstGeom>
          <a:noFill/>
          <a:ln/>
        </p:spPr>
        <p:txBody>
          <a:bodyPr wrap="square" lIns="0" tIns="0" rIns="0" bIns="0" rtlCol="0" anchor="ctr"/>
          <a:lstStyle/>
          <a:p>
            <a:pPr>
              <a:lnSpc>
                <a:spcPct val="120000"/>
              </a:lnSpc>
            </a:pPr>
            <a:r>
              <a:rPr lang="en-US" sz="1500" b="1" dirty="0">
                <a:solidFill>
                  <a:srgbClr val="FB2C36"/>
                </a:solidFill>
                <a:latin typeface="Liter" pitchFamily="34" charset="0"/>
                <a:ea typeface="Liter" pitchFamily="34" charset="-122"/>
                <a:cs typeface="Liter" pitchFamily="34" charset="-120"/>
              </a:rPr>
              <a:t>21</a:t>
            </a:r>
            <a:endParaRPr lang="en-US" sz="1600" dirty="0"/>
          </a:p>
        </p:txBody>
      </p:sp>
      <p:sp>
        <p:nvSpPr>
          <p:cNvPr id="4" name="Text 2"/>
          <p:cNvSpPr/>
          <p:nvPr/>
        </p:nvSpPr>
        <p:spPr>
          <a:xfrm>
            <a:off x="952500" y="381000"/>
            <a:ext cx="4648200" cy="190500"/>
          </a:xfrm>
          <a:prstGeom prst="rect">
            <a:avLst/>
          </a:prstGeom>
          <a:noFill/>
          <a:ln/>
        </p:spPr>
        <p:txBody>
          <a:bodyPr wrap="square" lIns="0" tIns="0" rIns="0" bIns="0" rtlCol="0" anchor="ctr"/>
          <a:lstStyle/>
          <a:p>
            <a:pPr>
              <a:lnSpc>
                <a:spcPct val="120000"/>
              </a:lnSpc>
            </a:pPr>
            <a:r>
              <a:rPr lang="en-US" sz="1050" b="1" spc="53" kern="0" dirty="0">
                <a:solidFill>
                  <a:srgbClr val="FB2C36"/>
                </a:solidFill>
                <a:latin typeface="Liter" pitchFamily="34" charset="0"/>
                <a:ea typeface="Liter" pitchFamily="34" charset="-122"/>
                <a:cs typeface="Liter" pitchFamily="34" charset="-120"/>
              </a:rPr>
              <a:t>Applications of AI</a:t>
            </a:r>
            <a:endParaRPr lang="en-US" sz="1600" dirty="0"/>
          </a:p>
        </p:txBody>
      </p:sp>
      <p:sp>
        <p:nvSpPr>
          <p:cNvPr id="5" name="Text 3"/>
          <p:cNvSpPr/>
          <p:nvPr/>
        </p:nvSpPr>
        <p:spPr>
          <a:xfrm>
            <a:off x="952500" y="571500"/>
            <a:ext cx="4752975"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AI in Healthcare – Saving Lives</a:t>
            </a:r>
            <a:endParaRPr lang="en-US" sz="1600" dirty="0"/>
          </a:p>
        </p:txBody>
      </p:sp>
      <p:sp>
        <p:nvSpPr>
          <p:cNvPr id="6" name="Shape 4"/>
          <p:cNvSpPr/>
          <p:nvPr/>
        </p:nvSpPr>
        <p:spPr>
          <a:xfrm>
            <a:off x="384810" y="1108710"/>
            <a:ext cx="6760845" cy="2579370"/>
          </a:xfrm>
          <a:prstGeom prst="roundRect">
            <a:avLst>
              <a:gd name="adj" fmla="val 4431"/>
            </a:avLst>
          </a:prstGeom>
          <a:solidFill>
            <a:srgbClr val="262626"/>
          </a:solidFill>
          <a:ln w="10160">
            <a:solidFill>
              <a:srgbClr val="333333"/>
            </a:solidFill>
            <a:prstDash val="solid"/>
          </a:ln>
        </p:spPr>
      </p:sp>
      <p:sp>
        <p:nvSpPr>
          <p:cNvPr id="7" name="Shape 5"/>
          <p:cNvSpPr/>
          <p:nvPr/>
        </p:nvSpPr>
        <p:spPr>
          <a:xfrm>
            <a:off x="526732" y="1264918"/>
            <a:ext cx="190500" cy="190500"/>
          </a:xfrm>
          <a:custGeom>
            <a:avLst/>
            <a:gdLst/>
            <a:ahLst/>
            <a:cxnLst/>
            <a:rect l="l" t="t" r="r" b="b"/>
            <a:pathLst>
              <a:path w="190500" h="190500">
                <a:moveTo>
                  <a:pt x="95250" y="40146"/>
                </a:moveTo>
                <a:lnTo>
                  <a:pt x="89669" y="32407"/>
                </a:lnTo>
                <a:cubicBezTo>
                  <a:pt x="80367" y="19534"/>
                  <a:pt x="65447" y="11906"/>
                  <a:pt x="49523" y="11906"/>
                </a:cubicBezTo>
                <a:cubicBezTo>
                  <a:pt x="22175" y="11906"/>
                  <a:pt x="0" y="34082"/>
                  <a:pt x="0" y="61429"/>
                </a:cubicBezTo>
                <a:lnTo>
                  <a:pt x="0" y="62396"/>
                </a:lnTo>
                <a:cubicBezTo>
                  <a:pt x="0" y="71177"/>
                  <a:pt x="2307" y="80256"/>
                  <a:pt x="6176" y="89297"/>
                </a:cubicBezTo>
                <a:lnTo>
                  <a:pt x="45616" y="89297"/>
                </a:lnTo>
                <a:cubicBezTo>
                  <a:pt x="46806" y="89297"/>
                  <a:pt x="47885" y="88590"/>
                  <a:pt x="48369" y="87474"/>
                </a:cubicBezTo>
                <a:lnTo>
                  <a:pt x="60201" y="59085"/>
                </a:lnTo>
                <a:cubicBezTo>
                  <a:pt x="61578" y="55811"/>
                  <a:pt x="64777" y="53653"/>
                  <a:pt x="68312" y="53578"/>
                </a:cubicBezTo>
                <a:cubicBezTo>
                  <a:pt x="71847" y="53504"/>
                  <a:pt x="75121" y="55587"/>
                  <a:pt x="76572" y="58824"/>
                </a:cubicBezTo>
                <a:lnTo>
                  <a:pt x="95659" y="101203"/>
                </a:lnTo>
                <a:lnTo>
                  <a:pt x="111063" y="70396"/>
                </a:lnTo>
                <a:cubicBezTo>
                  <a:pt x="112588" y="67382"/>
                  <a:pt x="115677" y="65447"/>
                  <a:pt x="119063" y="65447"/>
                </a:cubicBezTo>
                <a:cubicBezTo>
                  <a:pt x="122448" y="65447"/>
                  <a:pt x="125537" y="67345"/>
                  <a:pt x="127062" y="70396"/>
                </a:cubicBezTo>
                <a:lnTo>
                  <a:pt x="135694" y="87623"/>
                </a:lnTo>
                <a:cubicBezTo>
                  <a:pt x="136215" y="88627"/>
                  <a:pt x="137220" y="89260"/>
                  <a:pt x="138373" y="89260"/>
                </a:cubicBezTo>
                <a:lnTo>
                  <a:pt x="184361" y="89260"/>
                </a:lnTo>
                <a:cubicBezTo>
                  <a:pt x="188268" y="80218"/>
                  <a:pt x="190537" y="71140"/>
                  <a:pt x="190537" y="62359"/>
                </a:cubicBezTo>
                <a:lnTo>
                  <a:pt x="190537" y="61392"/>
                </a:lnTo>
                <a:cubicBezTo>
                  <a:pt x="190500" y="34082"/>
                  <a:pt x="168325" y="11906"/>
                  <a:pt x="140977" y="11906"/>
                </a:cubicBezTo>
                <a:cubicBezTo>
                  <a:pt x="125090" y="11906"/>
                  <a:pt x="110133" y="19534"/>
                  <a:pt x="100831" y="32407"/>
                </a:cubicBezTo>
                <a:lnTo>
                  <a:pt x="95250" y="40109"/>
                </a:lnTo>
                <a:close/>
                <a:moveTo>
                  <a:pt x="174724" y="107156"/>
                </a:moveTo>
                <a:lnTo>
                  <a:pt x="138336" y="107156"/>
                </a:lnTo>
                <a:cubicBezTo>
                  <a:pt x="130448" y="107156"/>
                  <a:pt x="123230" y="102691"/>
                  <a:pt x="119695" y="95622"/>
                </a:cubicBezTo>
                <a:lnTo>
                  <a:pt x="119063" y="94357"/>
                </a:lnTo>
                <a:lnTo>
                  <a:pt x="103250" y="126020"/>
                </a:lnTo>
                <a:cubicBezTo>
                  <a:pt x="101724" y="129108"/>
                  <a:pt x="98524" y="131043"/>
                  <a:pt x="95064" y="130969"/>
                </a:cubicBezTo>
                <a:cubicBezTo>
                  <a:pt x="91604" y="130894"/>
                  <a:pt x="88516" y="128848"/>
                  <a:pt x="87102" y="125723"/>
                </a:cubicBezTo>
                <a:lnTo>
                  <a:pt x="68759" y="84981"/>
                </a:lnTo>
                <a:lnTo>
                  <a:pt x="64852" y="94357"/>
                </a:lnTo>
                <a:cubicBezTo>
                  <a:pt x="61615" y="102133"/>
                  <a:pt x="54025" y="107193"/>
                  <a:pt x="45616" y="107193"/>
                </a:cubicBezTo>
                <a:lnTo>
                  <a:pt x="15776" y="107193"/>
                </a:lnTo>
                <a:cubicBezTo>
                  <a:pt x="33338" y="134652"/>
                  <a:pt x="61540" y="159916"/>
                  <a:pt x="79177" y="173385"/>
                </a:cubicBezTo>
                <a:cubicBezTo>
                  <a:pt x="83790" y="176882"/>
                  <a:pt x="89446" y="178631"/>
                  <a:pt x="95213" y="178631"/>
                </a:cubicBezTo>
                <a:cubicBezTo>
                  <a:pt x="100980" y="178631"/>
                  <a:pt x="106673" y="176919"/>
                  <a:pt x="111249" y="173385"/>
                </a:cubicBezTo>
                <a:cubicBezTo>
                  <a:pt x="128960" y="159879"/>
                  <a:pt x="157163" y="134615"/>
                  <a:pt x="174724" y="107156"/>
                </a:cubicBezTo>
                <a:close/>
              </a:path>
            </a:pathLst>
          </a:custGeom>
          <a:solidFill>
            <a:srgbClr val="FB2C36"/>
          </a:solidFill>
          <a:ln/>
        </p:spPr>
      </p:sp>
      <p:sp>
        <p:nvSpPr>
          <p:cNvPr id="8" name="Text 6"/>
          <p:cNvSpPr/>
          <p:nvPr/>
        </p:nvSpPr>
        <p:spPr>
          <a:xfrm>
            <a:off x="741045" y="1226818"/>
            <a:ext cx="6381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How AI Helps Doctors</a:t>
            </a:r>
            <a:endParaRPr lang="en-US" sz="1600" dirty="0"/>
          </a:p>
        </p:txBody>
      </p:sp>
      <p:sp>
        <p:nvSpPr>
          <p:cNvPr id="9" name="Shape 7"/>
          <p:cNvSpPr/>
          <p:nvPr/>
        </p:nvSpPr>
        <p:spPr>
          <a:xfrm>
            <a:off x="521970" y="1607818"/>
            <a:ext cx="152400" cy="152400"/>
          </a:xfrm>
          <a:custGeom>
            <a:avLst/>
            <a:gdLst/>
            <a:ahLst/>
            <a:cxnLst/>
            <a:rect l="l" t="t" r="r" b="b"/>
            <a:pathLst>
              <a:path w="152400" h="152400">
                <a:moveTo>
                  <a:pt x="0" y="19050"/>
                </a:moveTo>
                <a:cubicBezTo>
                  <a:pt x="0" y="13781"/>
                  <a:pt x="4256" y="9525"/>
                  <a:pt x="9525" y="9525"/>
                </a:cubicBezTo>
                <a:lnTo>
                  <a:pt x="142875" y="9525"/>
                </a:lnTo>
                <a:cubicBezTo>
                  <a:pt x="148144" y="9525"/>
                  <a:pt x="152400" y="13781"/>
                  <a:pt x="152400" y="19050"/>
                </a:cubicBezTo>
                <a:cubicBezTo>
                  <a:pt x="152400" y="24319"/>
                  <a:pt x="148144" y="28575"/>
                  <a:pt x="142875" y="28575"/>
                </a:cubicBezTo>
                <a:lnTo>
                  <a:pt x="142875" y="123825"/>
                </a:lnTo>
                <a:cubicBezTo>
                  <a:pt x="148144" y="123825"/>
                  <a:pt x="152400" y="128081"/>
                  <a:pt x="152400" y="133350"/>
                </a:cubicBezTo>
                <a:cubicBezTo>
                  <a:pt x="152400" y="138619"/>
                  <a:pt x="148144" y="142875"/>
                  <a:pt x="142875" y="142875"/>
                </a:cubicBezTo>
                <a:lnTo>
                  <a:pt x="9525" y="142875"/>
                </a:lnTo>
                <a:cubicBezTo>
                  <a:pt x="4256" y="142875"/>
                  <a:pt x="0" y="138619"/>
                  <a:pt x="0" y="133350"/>
                </a:cubicBezTo>
                <a:cubicBezTo>
                  <a:pt x="0" y="128081"/>
                  <a:pt x="4256" y="123825"/>
                  <a:pt x="9525" y="123825"/>
                </a:cubicBezTo>
                <a:lnTo>
                  <a:pt x="9525" y="28575"/>
                </a:lnTo>
                <a:cubicBezTo>
                  <a:pt x="4256" y="28575"/>
                  <a:pt x="0" y="24319"/>
                  <a:pt x="0" y="19050"/>
                </a:cubicBezTo>
                <a:close/>
                <a:moveTo>
                  <a:pt x="83344" y="35719"/>
                </a:moveTo>
                <a:cubicBezTo>
                  <a:pt x="83344" y="31760"/>
                  <a:pt x="80159" y="28575"/>
                  <a:pt x="76200" y="28575"/>
                </a:cubicBezTo>
                <a:cubicBezTo>
                  <a:pt x="72241" y="28575"/>
                  <a:pt x="69056" y="31760"/>
                  <a:pt x="69056" y="35719"/>
                </a:cubicBezTo>
                <a:lnTo>
                  <a:pt x="69056" y="40481"/>
                </a:lnTo>
                <a:lnTo>
                  <a:pt x="50006" y="40481"/>
                </a:lnTo>
                <a:cubicBezTo>
                  <a:pt x="46047" y="40481"/>
                  <a:pt x="42863" y="43666"/>
                  <a:pt x="42863" y="47625"/>
                </a:cubicBezTo>
                <a:cubicBezTo>
                  <a:pt x="42863" y="51584"/>
                  <a:pt x="46047" y="54769"/>
                  <a:pt x="50006" y="54769"/>
                </a:cubicBezTo>
                <a:lnTo>
                  <a:pt x="69056" y="54769"/>
                </a:lnTo>
                <a:lnTo>
                  <a:pt x="69056" y="69056"/>
                </a:lnTo>
                <a:lnTo>
                  <a:pt x="45244" y="69056"/>
                </a:lnTo>
                <a:cubicBezTo>
                  <a:pt x="41285" y="69056"/>
                  <a:pt x="38100" y="72241"/>
                  <a:pt x="38100" y="76200"/>
                </a:cubicBezTo>
                <a:cubicBezTo>
                  <a:pt x="38100" y="80159"/>
                  <a:pt x="41285" y="83344"/>
                  <a:pt x="45244" y="83344"/>
                </a:cubicBezTo>
                <a:lnTo>
                  <a:pt x="69056" y="83344"/>
                </a:lnTo>
                <a:lnTo>
                  <a:pt x="69056" y="97631"/>
                </a:lnTo>
                <a:lnTo>
                  <a:pt x="50006" y="97631"/>
                </a:lnTo>
                <a:cubicBezTo>
                  <a:pt x="46047" y="97631"/>
                  <a:pt x="42863" y="100816"/>
                  <a:pt x="42863" y="104775"/>
                </a:cubicBezTo>
                <a:cubicBezTo>
                  <a:pt x="42863" y="108734"/>
                  <a:pt x="46047" y="111919"/>
                  <a:pt x="50006" y="111919"/>
                </a:cubicBezTo>
                <a:lnTo>
                  <a:pt x="69056" y="111919"/>
                </a:lnTo>
                <a:lnTo>
                  <a:pt x="69056" y="116681"/>
                </a:lnTo>
                <a:cubicBezTo>
                  <a:pt x="69056" y="120640"/>
                  <a:pt x="72241" y="123825"/>
                  <a:pt x="76200" y="123825"/>
                </a:cubicBezTo>
                <a:cubicBezTo>
                  <a:pt x="80159" y="123825"/>
                  <a:pt x="83344" y="120640"/>
                  <a:pt x="83344" y="116681"/>
                </a:cubicBezTo>
                <a:lnTo>
                  <a:pt x="83344" y="111919"/>
                </a:lnTo>
                <a:lnTo>
                  <a:pt x="102394" y="111919"/>
                </a:lnTo>
                <a:cubicBezTo>
                  <a:pt x="106353" y="111919"/>
                  <a:pt x="109537" y="108734"/>
                  <a:pt x="109537" y="104775"/>
                </a:cubicBezTo>
                <a:cubicBezTo>
                  <a:pt x="109537" y="100816"/>
                  <a:pt x="106353" y="97631"/>
                  <a:pt x="102394" y="97631"/>
                </a:cubicBezTo>
                <a:lnTo>
                  <a:pt x="83344" y="97631"/>
                </a:lnTo>
                <a:lnTo>
                  <a:pt x="83344" y="83344"/>
                </a:lnTo>
                <a:lnTo>
                  <a:pt x="107156" y="83344"/>
                </a:lnTo>
                <a:cubicBezTo>
                  <a:pt x="111115" y="83344"/>
                  <a:pt x="114300" y="80159"/>
                  <a:pt x="114300" y="76200"/>
                </a:cubicBezTo>
                <a:cubicBezTo>
                  <a:pt x="114300" y="72241"/>
                  <a:pt x="111115" y="69056"/>
                  <a:pt x="107156" y="69056"/>
                </a:cubicBezTo>
                <a:lnTo>
                  <a:pt x="83344" y="69056"/>
                </a:lnTo>
                <a:lnTo>
                  <a:pt x="83344" y="54769"/>
                </a:lnTo>
                <a:lnTo>
                  <a:pt x="102394" y="54769"/>
                </a:lnTo>
                <a:cubicBezTo>
                  <a:pt x="106353" y="54769"/>
                  <a:pt x="109537" y="51584"/>
                  <a:pt x="109537" y="47625"/>
                </a:cubicBezTo>
                <a:cubicBezTo>
                  <a:pt x="109537" y="43666"/>
                  <a:pt x="106353" y="40481"/>
                  <a:pt x="102394" y="40481"/>
                </a:cubicBezTo>
                <a:lnTo>
                  <a:pt x="83344" y="40481"/>
                </a:lnTo>
                <a:lnTo>
                  <a:pt x="83344" y="35719"/>
                </a:lnTo>
                <a:close/>
              </a:path>
            </a:pathLst>
          </a:custGeom>
          <a:solidFill>
            <a:srgbClr val="FB2C36"/>
          </a:solidFill>
          <a:ln/>
        </p:spPr>
      </p:sp>
      <p:sp>
        <p:nvSpPr>
          <p:cNvPr id="10" name="Text 8"/>
          <p:cNvSpPr/>
          <p:nvPr/>
        </p:nvSpPr>
        <p:spPr>
          <a:xfrm>
            <a:off x="807720" y="1569718"/>
            <a:ext cx="42862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Medical Imaging</a:t>
            </a:r>
            <a:endParaRPr lang="en-US" sz="1600" dirty="0"/>
          </a:p>
        </p:txBody>
      </p:sp>
      <p:sp>
        <p:nvSpPr>
          <p:cNvPr id="11" name="Text 9"/>
          <p:cNvSpPr/>
          <p:nvPr/>
        </p:nvSpPr>
        <p:spPr>
          <a:xfrm>
            <a:off x="807720" y="1798318"/>
            <a:ext cx="428625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AI analyzes X-rays, MRIs, and CT scans to detect diseases early</a:t>
            </a:r>
            <a:endParaRPr lang="en-US" sz="1600" dirty="0"/>
          </a:p>
        </p:txBody>
      </p:sp>
      <p:sp>
        <p:nvSpPr>
          <p:cNvPr id="12" name="Shape 10"/>
          <p:cNvSpPr/>
          <p:nvPr/>
        </p:nvSpPr>
        <p:spPr>
          <a:xfrm>
            <a:off x="521970" y="2122168"/>
            <a:ext cx="152400" cy="152400"/>
          </a:xfrm>
          <a:custGeom>
            <a:avLst/>
            <a:gdLst/>
            <a:ahLst/>
            <a:cxnLst/>
            <a:rect l="l" t="t" r="r" b="b"/>
            <a:pathLst>
              <a:path w="152400" h="152400">
                <a:moveTo>
                  <a:pt x="19050" y="33338"/>
                </a:moveTo>
                <a:cubicBezTo>
                  <a:pt x="19050" y="25450"/>
                  <a:pt x="25450" y="19050"/>
                  <a:pt x="33338" y="19050"/>
                </a:cubicBezTo>
                <a:cubicBezTo>
                  <a:pt x="41225" y="19050"/>
                  <a:pt x="47625" y="25450"/>
                  <a:pt x="47625" y="33338"/>
                </a:cubicBezTo>
                <a:lnTo>
                  <a:pt x="47625" y="66675"/>
                </a:lnTo>
                <a:lnTo>
                  <a:pt x="19050" y="66675"/>
                </a:lnTo>
                <a:lnTo>
                  <a:pt x="19050" y="33338"/>
                </a:lnTo>
                <a:close/>
                <a:moveTo>
                  <a:pt x="52388" y="109537"/>
                </a:moveTo>
                <a:cubicBezTo>
                  <a:pt x="52388" y="95042"/>
                  <a:pt x="57775" y="81796"/>
                  <a:pt x="66675" y="71735"/>
                </a:cubicBezTo>
                <a:lnTo>
                  <a:pt x="66675" y="33338"/>
                </a:lnTo>
                <a:cubicBezTo>
                  <a:pt x="66675" y="14913"/>
                  <a:pt x="51762" y="0"/>
                  <a:pt x="33338" y="0"/>
                </a:cubicBezTo>
                <a:cubicBezTo>
                  <a:pt x="14913" y="0"/>
                  <a:pt x="0" y="14913"/>
                  <a:pt x="0" y="33338"/>
                </a:cubicBezTo>
                <a:lnTo>
                  <a:pt x="0" y="119062"/>
                </a:lnTo>
                <a:cubicBezTo>
                  <a:pt x="0" y="137487"/>
                  <a:pt x="14913" y="152400"/>
                  <a:pt x="33338" y="152400"/>
                </a:cubicBezTo>
                <a:cubicBezTo>
                  <a:pt x="44440" y="152400"/>
                  <a:pt x="54263" y="146983"/>
                  <a:pt x="60335" y="138619"/>
                </a:cubicBezTo>
                <a:cubicBezTo>
                  <a:pt x="55275" y="130106"/>
                  <a:pt x="52388" y="120164"/>
                  <a:pt x="52388" y="109537"/>
                </a:cubicBezTo>
                <a:close/>
                <a:moveTo>
                  <a:pt x="71646" y="129600"/>
                </a:moveTo>
                <a:cubicBezTo>
                  <a:pt x="73015" y="132189"/>
                  <a:pt x="76498" y="132487"/>
                  <a:pt x="78581" y="130403"/>
                </a:cubicBezTo>
                <a:lnTo>
                  <a:pt x="130403" y="78581"/>
                </a:lnTo>
                <a:cubicBezTo>
                  <a:pt x="132487" y="76498"/>
                  <a:pt x="132189" y="73015"/>
                  <a:pt x="129600" y="71646"/>
                </a:cubicBezTo>
                <a:cubicBezTo>
                  <a:pt x="123617" y="68461"/>
                  <a:pt x="116800" y="66675"/>
                  <a:pt x="109537" y="66675"/>
                </a:cubicBezTo>
                <a:cubicBezTo>
                  <a:pt x="85874" y="66675"/>
                  <a:pt x="66675" y="85874"/>
                  <a:pt x="66675" y="109537"/>
                </a:cubicBezTo>
                <a:cubicBezTo>
                  <a:pt x="66675" y="116771"/>
                  <a:pt x="68461" y="123617"/>
                  <a:pt x="71646" y="129600"/>
                </a:cubicBezTo>
                <a:close/>
                <a:moveTo>
                  <a:pt x="88672" y="140494"/>
                </a:moveTo>
                <a:cubicBezTo>
                  <a:pt x="86588" y="142577"/>
                  <a:pt x="86886" y="146060"/>
                  <a:pt x="89475" y="147429"/>
                </a:cubicBezTo>
                <a:cubicBezTo>
                  <a:pt x="95458" y="150614"/>
                  <a:pt x="102275" y="152400"/>
                  <a:pt x="109537" y="152400"/>
                </a:cubicBezTo>
                <a:cubicBezTo>
                  <a:pt x="133201" y="152400"/>
                  <a:pt x="152400" y="133201"/>
                  <a:pt x="152400" y="109537"/>
                </a:cubicBezTo>
                <a:cubicBezTo>
                  <a:pt x="152400" y="102304"/>
                  <a:pt x="150614" y="95458"/>
                  <a:pt x="147429" y="89475"/>
                </a:cubicBezTo>
                <a:cubicBezTo>
                  <a:pt x="146060" y="86886"/>
                  <a:pt x="142577" y="86588"/>
                  <a:pt x="140494" y="88672"/>
                </a:cubicBezTo>
                <a:lnTo>
                  <a:pt x="88672" y="140494"/>
                </a:lnTo>
                <a:close/>
              </a:path>
            </a:pathLst>
          </a:custGeom>
          <a:solidFill>
            <a:srgbClr val="FB2C36"/>
          </a:solidFill>
          <a:ln/>
        </p:spPr>
      </p:sp>
      <p:sp>
        <p:nvSpPr>
          <p:cNvPr id="13" name="Text 11"/>
          <p:cNvSpPr/>
          <p:nvPr/>
        </p:nvSpPr>
        <p:spPr>
          <a:xfrm>
            <a:off x="807720" y="2084068"/>
            <a:ext cx="43529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Drug Discovery</a:t>
            </a:r>
            <a:endParaRPr lang="en-US" sz="1600" dirty="0"/>
          </a:p>
        </p:txBody>
      </p:sp>
      <p:sp>
        <p:nvSpPr>
          <p:cNvPr id="14" name="Text 12"/>
          <p:cNvSpPr/>
          <p:nvPr/>
        </p:nvSpPr>
        <p:spPr>
          <a:xfrm>
            <a:off x="807720" y="2312668"/>
            <a:ext cx="43529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Speeds up development of new medicines from years to months</a:t>
            </a:r>
            <a:endParaRPr lang="en-US" sz="1600" dirty="0"/>
          </a:p>
        </p:txBody>
      </p:sp>
      <p:sp>
        <p:nvSpPr>
          <p:cNvPr id="15" name="Shape 13"/>
          <p:cNvSpPr/>
          <p:nvPr/>
        </p:nvSpPr>
        <p:spPr>
          <a:xfrm>
            <a:off x="531495" y="2636518"/>
            <a:ext cx="133350" cy="152400"/>
          </a:xfrm>
          <a:custGeom>
            <a:avLst/>
            <a:gdLst/>
            <a:ahLst/>
            <a:cxnLst/>
            <a:rect l="l" t="t" r="r" b="b"/>
            <a:pathLst>
              <a:path w="133350" h="152400">
                <a:moveTo>
                  <a:pt x="66675" y="2381"/>
                </a:moveTo>
                <a:cubicBezTo>
                  <a:pt x="46961" y="2381"/>
                  <a:pt x="30956" y="18386"/>
                  <a:pt x="30956" y="38100"/>
                </a:cubicBezTo>
                <a:cubicBezTo>
                  <a:pt x="30956" y="57814"/>
                  <a:pt x="46961" y="73819"/>
                  <a:pt x="66675" y="73819"/>
                </a:cubicBezTo>
                <a:cubicBezTo>
                  <a:pt x="86389" y="73819"/>
                  <a:pt x="102394" y="57814"/>
                  <a:pt x="102394" y="38100"/>
                </a:cubicBezTo>
                <a:cubicBezTo>
                  <a:pt x="102394" y="18386"/>
                  <a:pt x="86389" y="2381"/>
                  <a:pt x="66675" y="2381"/>
                </a:cubicBezTo>
                <a:close/>
                <a:moveTo>
                  <a:pt x="84534" y="95488"/>
                </a:moveTo>
                <a:cubicBezTo>
                  <a:pt x="82927" y="95339"/>
                  <a:pt x="81260" y="95250"/>
                  <a:pt x="79593" y="95250"/>
                </a:cubicBezTo>
                <a:lnTo>
                  <a:pt x="53727" y="95250"/>
                </a:lnTo>
                <a:cubicBezTo>
                  <a:pt x="52060" y="95250"/>
                  <a:pt x="50423" y="95339"/>
                  <a:pt x="48786" y="95488"/>
                </a:cubicBezTo>
                <a:lnTo>
                  <a:pt x="48786" y="115580"/>
                </a:lnTo>
                <a:cubicBezTo>
                  <a:pt x="53697" y="117842"/>
                  <a:pt x="57120" y="122813"/>
                  <a:pt x="57120" y="128558"/>
                </a:cubicBezTo>
                <a:cubicBezTo>
                  <a:pt x="57120" y="136446"/>
                  <a:pt x="50721" y="142845"/>
                  <a:pt x="42833" y="142845"/>
                </a:cubicBezTo>
                <a:cubicBezTo>
                  <a:pt x="34945" y="142845"/>
                  <a:pt x="28545" y="136446"/>
                  <a:pt x="28545" y="128558"/>
                </a:cubicBezTo>
                <a:cubicBezTo>
                  <a:pt x="28545" y="122783"/>
                  <a:pt x="31968" y="117812"/>
                  <a:pt x="36880" y="115580"/>
                </a:cubicBezTo>
                <a:lnTo>
                  <a:pt x="36880" y="98197"/>
                </a:lnTo>
                <a:cubicBezTo>
                  <a:pt x="18157" y="105073"/>
                  <a:pt x="4763" y="123111"/>
                  <a:pt x="4763" y="144244"/>
                </a:cubicBezTo>
                <a:cubicBezTo>
                  <a:pt x="4763" y="148739"/>
                  <a:pt x="8424" y="152400"/>
                  <a:pt x="12918" y="152400"/>
                </a:cubicBezTo>
                <a:lnTo>
                  <a:pt x="120402" y="152400"/>
                </a:lnTo>
                <a:cubicBezTo>
                  <a:pt x="124897" y="152400"/>
                  <a:pt x="128558" y="148739"/>
                  <a:pt x="128558" y="144244"/>
                </a:cubicBezTo>
                <a:cubicBezTo>
                  <a:pt x="128558" y="123111"/>
                  <a:pt x="115163" y="105102"/>
                  <a:pt x="96411" y="98227"/>
                </a:cubicBezTo>
                <a:lnTo>
                  <a:pt x="96411" y="109359"/>
                </a:lnTo>
                <a:cubicBezTo>
                  <a:pt x="103346" y="111800"/>
                  <a:pt x="108317" y="118437"/>
                  <a:pt x="108317" y="126206"/>
                </a:cubicBezTo>
                <a:lnTo>
                  <a:pt x="108317" y="135731"/>
                </a:lnTo>
                <a:cubicBezTo>
                  <a:pt x="108317" y="139005"/>
                  <a:pt x="105638" y="141684"/>
                  <a:pt x="102364" y="141684"/>
                </a:cubicBezTo>
                <a:cubicBezTo>
                  <a:pt x="99090" y="141684"/>
                  <a:pt x="96411" y="139005"/>
                  <a:pt x="96411" y="135731"/>
                </a:cubicBezTo>
                <a:lnTo>
                  <a:pt x="96411" y="126206"/>
                </a:lnTo>
                <a:cubicBezTo>
                  <a:pt x="96411" y="122932"/>
                  <a:pt x="93732" y="120253"/>
                  <a:pt x="90458" y="120253"/>
                </a:cubicBezTo>
                <a:cubicBezTo>
                  <a:pt x="87184" y="120253"/>
                  <a:pt x="84505" y="122932"/>
                  <a:pt x="84505" y="126206"/>
                </a:cubicBezTo>
                <a:lnTo>
                  <a:pt x="84505" y="135731"/>
                </a:lnTo>
                <a:cubicBezTo>
                  <a:pt x="84505" y="139005"/>
                  <a:pt x="81826" y="141684"/>
                  <a:pt x="78551" y="141684"/>
                </a:cubicBezTo>
                <a:cubicBezTo>
                  <a:pt x="75277" y="141684"/>
                  <a:pt x="72598" y="139005"/>
                  <a:pt x="72598" y="135731"/>
                </a:cubicBezTo>
                <a:lnTo>
                  <a:pt x="72598" y="126206"/>
                </a:lnTo>
                <a:cubicBezTo>
                  <a:pt x="72598" y="118437"/>
                  <a:pt x="77569" y="111829"/>
                  <a:pt x="84505" y="109359"/>
                </a:cubicBezTo>
                <a:lnTo>
                  <a:pt x="84505" y="95488"/>
                </a:lnTo>
                <a:close/>
              </a:path>
            </a:pathLst>
          </a:custGeom>
          <a:solidFill>
            <a:srgbClr val="FB2C36"/>
          </a:solidFill>
          <a:ln/>
        </p:spPr>
      </p:sp>
      <p:sp>
        <p:nvSpPr>
          <p:cNvPr id="16" name="Text 14"/>
          <p:cNvSpPr/>
          <p:nvPr/>
        </p:nvSpPr>
        <p:spPr>
          <a:xfrm>
            <a:off x="807720" y="2598418"/>
            <a:ext cx="48482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Personalized Treatment</a:t>
            </a:r>
            <a:endParaRPr lang="en-US" sz="1600" dirty="0"/>
          </a:p>
        </p:txBody>
      </p:sp>
      <p:sp>
        <p:nvSpPr>
          <p:cNvPr id="17" name="Text 15"/>
          <p:cNvSpPr/>
          <p:nvPr/>
        </p:nvSpPr>
        <p:spPr>
          <a:xfrm>
            <a:off x="807720" y="2827018"/>
            <a:ext cx="48482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Creates custom treatment plans based on patient's genetics and history</a:t>
            </a:r>
            <a:endParaRPr lang="en-US" sz="1600" dirty="0"/>
          </a:p>
        </p:txBody>
      </p:sp>
      <p:sp>
        <p:nvSpPr>
          <p:cNvPr id="18" name="Shape 16"/>
          <p:cNvSpPr/>
          <p:nvPr/>
        </p:nvSpPr>
        <p:spPr>
          <a:xfrm>
            <a:off x="512445" y="3150868"/>
            <a:ext cx="171450" cy="152400"/>
          </a:xfrm>
          <a:custGeom>
            <a:avLst/>
            <a:gdLst/>
            <a:ahLst/>
            <a:cxnLst/>
            <a:rect l="l" t="t" r="r" b="b"/>
            <a:pathLst>
              <a:path w="171450" h="152400">
                <a:moveTo>
                  <a:pt x="19050" y="9525"/>
                </a:moveTo>
                <a:cubicBezTo>
                  <a:pt x="8543" y="9525"/>
                  <a:pt x="0" y="18068"/>
                  <a:pt x="0" y="28575"/>
                </a:cubicBezTo>
                <a:lnTo>
                  <a:pt x="0" y="114300"/>
                </a:lnTo>
                <a:cubicBezTo>
                  <a:pt x="0" y="124807"/>
                  <a:pt x="8543" y="133350"/>
                  <a:pt x="19050" y="133350"/>
                </a:cubicBezTo>
                <a:lnTo>
                  <a:pt x="20032" y="133350"/>
                </a:lnTo>
                <a:cubicBezTo>
                  <a:pt x="23128" y="144334"/>
                  <a:pt x="33248" y="152400"/>
                  <a:pt x="45244" y="152400"/>
                </a:cubicBezTo>
                <a:cubicBezTo>
                  <a:pt x="57239" y="152400"/>
                  <a:pt x="67330" y="144334"/>
                  <a:pt x="70455" y="133350"/>
                </a:cubicBezTo>
                <a:lnTo>
                  <a:pt x="100995" y="133350"/>
                </a:lnTo>
                <a:cubicBezTo>
                  <a:pt x="104090" y="144334"/>
                  <a:pt x="114211" y="152400"/>
                  <a:pt x="126206" y="152400"/>
                </a:cubicBezTo>
                <a:cubicBezTo>
                  <a:pt x="138202" y="152400"/>
                  <a:pt x="148292" y="144334"/>
                  <a:pt x="151418" y="133350"/>
                </a:cubicBezTo>
                <a:lnTo>
                  <a:pt x="152400" y="133350"/>
                </a:lnTo>
                <a:cubicBezTo>
                  <a:pt x="162907" y="133350"/>
                  <a:pt x="171450" y="124807"/>
                  <a:pt x="171450" y="114300"/>
                </a:cubicBezTo>
                <a:lnTo>
                  <a:pt x="171450" y="70634"/>
                </a:lnTo>
                <a:cubicBezTo>
                  <a:pt x="171450" y="65574"/>
                  <a:pt x="169456" y="60722"/>
                  <a:pt x="165884" y="57150"/>
                </a:cubicBezTo>
                <a:lnTo>
                  <a:pt x="152400" y="43666"/>
                </a:lnTo>
                <a:cubicBezTo>
                  <a:pt x="148828" y="40094"/>
                  <a:pt x="143976" y="38100"/>
                  <a:pt x="138916" y="38100"/>
                </a:cubicBezTo>
                <a:lnTo>
                  <a:pt x="123825" y="38100"/>
                </a:lnTo>
                <a:lnTo>
                  <a:pt x="123825" y="28575"/>
                </a:lnTo>
                <a:cubicBezTo>
                  <a:pt x="123825" y="18068"/>
                  <a:pt x="115282" y="9525"/>
                  <a:pt x="104775" y="9525"/>
                </a:cubicBezTo>
                <a:lnTo>
                  <a:pt x="19050" y="9525"/>
                </a:lnTo>
                <a:close/>
                <a:moveTo>
                  <a:pt x="152400" y="70634"/>
                </a:moveTo>
                <a:lnTo>
                  <a:pt x="152400" y="85725"/>
                </a:lnTo>
                <a:lnTo>
                  <a:pt x="123825" y="85725"/>
                </a:lnTo>
                <a:lnTo>
                  <a:pt x="123825" y="57150"/>
                </a:lnTo>
                <a:lnTo>
                  <a:pt x="138916" y="57150"/>
                </a:lnTo>
                <a:lnTo>
                  <a:pt x="152400" y="70634"/>
                </a:lnTo>
                <a:close/>
                <a:moveTo>
                  <a:pt x="45244" y="114300"/>
                </a:moveTo>
                <a:cubicBezTo>
                  <a:pt x="51815" y="114300"/>
                  <a:pt x="57150" y="119635"/>
                  <a:pt x="57150" y="126206"/>
                </a:cubicBezTo>
                <a:cubicBezTo>
                  <a:pt x="57150" y="132777"/>
                  <a:pt x="51815" y="138113"/>
                  <a:pt x="45244" y="138113"/>
                </a:cubicBezTo>
                <a:cubicBezTo>
                  <a:pt x="38673" y="138113"/>
                  <a:pt x="33338" y="132777"/>
                  <a:pt x="33338" y="126206"/>
                </a:cubicBezTo>
                <a:cubicBezTo>
                  <a:pt x="33338" y="119635"/>
                  <a:pt x="38673" y="114300"/>
                  <a:pt x="45244" y="114300"/>
                </a:cubicBezTo>
                <a:close/>
                <a:moveTo>
                  <a:pt x="114300" y="126206"/>
                </a:moveTo>
                <a:cubicBezTo>
                  <a:pt x="114300" y="119635"/>
                  <a:pt x="119635" y="114300"/>
                  <a:pt x="126206" y="114300"/>
                </a:cubicBezTo>
                <a:cubicBezTo>
                  <a:pt x="132777" y="114300"/>
                  <a:pt x="138113" y="119635"/>
                  <a:pt x="138113" y="126206"/>
                </a:cubicBezTo>
                <a:cubicBezTo>
                  <a:pt x="138113" y="132777"/>
                  <a:pt x="132777" y="138113"/>
                  <a:pt x="126206" y="138113"/>
                </a:cubicBezTo>
                <a:cubicBezTo>
                  <a:pt x="119635" y="138113"/>
                  <a:pt x="114300" y="132777"/>
                  <a:pt x="114300" y="126206"/>
                </a:cubicBezTo>
                <a:close/>
                <a:moveTo>
                  <a:pt x="52388" y="40481"/>
                </a:moveTo>
                <a:cubicBezTo>
                  <a:pt x="52388" y="37862"/>
                  <a:pt x="54531" y="35719"/>
                  <a:pt x="57150" y="35719"/>
                </a:cubicBezTo>
                <a:lnTo>
                  <a:pt x="66675" y="35719"/>
                </a:lnTo>
                <a:cubicBezTo>
                  <a:pt x="69294" y="35719"/>
                  <a:pt x="71438" y="37862"/>
                  <a:pt x="71438" y="40481"/>
                </a:cubicBezTo>
                <a:lnTo>
                  <a:pt x="71438" y="52388"/>
                </a:lnTo>
                <a:lnTo>
                  <a:pt x="83344" y="52388"/>
                </a:lnTo>
                <a:cubicBezTo>
                  <a:pt x="85963" y="52388"/>
                  <a:pt x="88106" y="54531"/>
                  <a:pt x="88106" y="57150"/>
                </a:cubicBezTo>
                <a:lnTo>
                  <a:pt x="88106" y="66675"/>
                </a:lnTo>
                <a:cubicBezTo>
                  <a:pt x="88106" y="69294"/>
                  <a:pt x="85963" y="71438"/>
                  <a:pt x="83344" y="71438"/>
                </a:cubicBezTo>
                <a:lnTo>
                  <a:pt x="71438" y="71438"/>
                </a:lnTo>
                <a:lnTo>
                  <a:pt x="71438" y="83344"/>
                </a:lnTo>
                <a:cubicBezTo>
                  <a:pt x="71438" y="85963"/>
                  <a:pt x="69294" y="88106"/>
                  <a:pt x="66675" y="88106"/>
                </a:cubicBezTo>
                <a:lnTo>
                  <a:pt x="57150" y="88106"/>
                </a:lnTo>
                <a:cubicBezTo>
                  <a:pt x="54531" y="88106"/>
                  <a:pt x="52388" y="85963"/>
                  <a:pt x="52388" y="83344"/>
                </a:cubicBezTo>
                <a:lnTo>
                  <a:pt x="52388" y="71438"/>
                </a:lnTo>
                <a:lnTo>
                  <a:pt x="40481" y="71438"/>
                </a:lnTo>
                <a:cubicBezTo>
                  <a:pt x="37862" y="71438"/>
                  <a:pt x="35719" y="69294"/>
                  <a:pt x="35719" y="66675"/>
                </a:cubicBezTo>
                <a:lnTo>
                  <a:pt x="35719" y="57150"/>
                </a:lnTo>
                <a:cubicBezTo>
                  <a:pt x="35719" y="54531"/>
                  <a:pt x="37862" y="52388"/>
                  <a:pt x="40481" y="52388"/>
                </a:cubicBezTo>
                <a:lnTo>
                  <a:pt x="52388" y="52388"/>
                </a:lnTo>
                <a:lnTo>
                  <a:pt x="52388" y="40481"/>
                </a:lnTo>
                <a:close/>
              </a:path>
            </a:pathLst>
          </a:custGeom>
          <a:solidFill>
            <a:srgbClr val="FB2C36"/>
          </a:solidFill>
          <a:ln/>
        </p:spPr>
      </p:sp>
      <p:sp>
        <p:nvSpPr>
          <p:cNvPr id="19" name="Text 17"/>
          <p:cNvSpPr/>
          <p:nvPr/>
        </p:nvSpPr>
        <p:spPr>
          <a:xfrm>
            <a:off x="807720" y="3112768"/>
            <a:ext cx="47815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Early Detection</a:t>
            </a:r>
            <a:endParaRPr lang="en-US" sz="1600" dirty="0"/>
          </a:p>
        </p:txBody>
      </p:sp>
      <p:sp>
        <p:nvSpPr>
          <p:cNvPr id="20" name="Text 18"/>
          <p:cNvSpPr/>
          <p:nvPr/>
        </p:nvSpPr>
        <p:spPr>
          <a:xfrm>
            <a:off x="807720" y="3341368"/>
            <a:ext cx="478155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Identifies cancer, diabetes, and heart disease before symptoms appear</a:t>
            </a:r>
            <a:endParaRPr lang="en-US" sz="1600" dirty="0"/>
          </a:p>
        </p:txBody>
      </p:sp>
      <p:sp>
        <p:nvSpPr>
          <p:cNvPr id="21" name="Shape 19"/>
          <p:cNvSpPr/>
          <p:nvPr/>
        </p:nvSpPr>
        <p:spPr>
          <a:xfrm>
            <a:off x="384810" y="3771896"/>
            <a:ext cx="6760845" cy="1417320"/>
          </a:xfrm>
          <a:prstGeom prst="roundRect">
            <a:avLst>
              <a:gd name="adj" fmla="val 8065"/>
            </a:avLst>
          </a:prstGeom>
          <a:solidFill>
            <a:srgbClr val="262626"/>
          </a:solidFill>
          <a:ln w="10160">
            <a:solidFill>
              <a:srgbClr val="333333"/>
            </a:solidFill>
            <a:prstDash val="solid"/>
          </a:ln>
        </p:spPr>
      </p:sp>
      <p:sp>
        <p:nvSpPr>
          <p:cNvPr id="22" name="Text 20"/>
          <p:cNvSpPr/>
          <p:nvPr/>
        </p:nvSpPr>
        <p:spPr>
          <a:xfrm>
            <a:off x="502920" y="3890014"/>
            <a:ext cx="6619875"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Impact Statistics</a:t>
            </a:r>
            <a:endParaRPr lang="en-US" sz="1600" dirty="0"/>
          </a:p>
        </p:txBody>
      </p:sp>
      <p:sp>
        <p:nvSpPr>
          <p:cNvPr id="23" name="Shape 21"/>
          <p:cNvSpPr/>
          <p:nvPr/>
        </p:nvSpPr>
        <p:spPr>
          <a:xfrm>
            <a:off x="502920" y="4232914"/>
            <a:ext cx="2124075" cy="838200"/>
          </a:xfrm>
          <a:prstGeom prst="roundRect">
            <a:avLst>
              <a:gd name="adj" fmla="val 9091"/>
            </a:avLst>
          </a:prstGeom>
          <a:solidFill>
            <a:srgbClr val="191919"/>
          </a:solidFill>
          <a:ln/>
        </p:spPr>
      </p:sp>
      <p:sp>
        <p:nvSpPr>
          <p:cNvPr id="24" name="Text 22"/>
          <p:cNvSpPr/>
          <p:nvPr/>
        </p:nvSpPr>
        <p:spPr>
          <a:xfrm>
            <a:off x="521970" y="4309114"/>
            <a:ext cx="2085975" cy="304800"/>
          </a:xfrm>
          <a:prstGeom prst="rect">
            <a:avLst/>
          </a:prstGeom>
          <a:noFill/>
          <a:ln/>
        </p:spPr>
        <p:txBody>
          <a:bodyPr wrap="square" lIns="0" tIns="0" rIns="0" bIns="0" rtlCol="0" anchor="ctr"/>
          <a:lstStyle/>
          <a:p>
            <a:pPr algn="ctr">
              <a:lnSpc>
                <a:spcPct val="110000"/>
              </a:lnSpc>
            </a:pPr>
            <a:r>
              <a:rPr lang="en-US" sz="1800" b="1" dirty="0">
                <a:solidFill>
                  <a:srgbClr val="FB2C36"/>
                </a:solidFill>
                <a:latin typeface="Liter" pitchFamily="34" charset="0"/>
                <a:ea typeface="Liter" pitchFamily="34" charset="-122"/>
                <a:cs typeface="Liter" pitchFamily="34" charset="-120"/>
              </a:rPr>
              <a:t>95%</a:t>
            </a:r>
            <a:endParaRPr lang="en-US" sz="1600" dirty="0"/>
          </a:p>
        </p:txBody>
      </p:sp>
      <p:sp>
        <p:nvSpPr>
          <p:cNvPr id="25" name="Text 23"/>
          <p:cNvSpPr/>
          <p:nvPr/>
        </p:nvSpPr>
        <p:spPr>
          <a:xfrm>
            <a:off x="545782" y="4613802"/>
            <a:ext cx="2038350" cy="190500"/>
          </a:xfrm>
          <a:prstGeom prst="rect">
            <a:avLst/>
          </a:prstGeom>
          <a:noFill/>
          <a:ln/>
        </p:spPr>
        <p:txBody>
          <a:bodyPr wrap="square" lIns="0" tIns="0" rIns="0" bIns="0" rtlCol="0" anchor="ctr"/>
          <a:lstStyle/>
          <a:p>
            <a:pPr algn="ctr">
              <a:lnSpc>
                <a:spcPct val="120000"/>
              </a:lnSpc>
            </a:pPr>
            <a:r>
              <a:rPr lang="en-US" sz="1050" dirty="0">
                <a:solidFill>
                  <a:srgbClr val="8F8F8F"/>
                </a:solidFill>
                <a:latin typeface="Liter" pitchFamily="34" charset="0"/>
                <a:ea typeface="Liter" pitchFamily="34" charset="-122"/>
                <a:cs typeface="Liter" pitchFamily="34" charset="-120"/>
              </a:rPr>
              <a:t>Accuracy in skin cancer detection</a:t>
            </a:r>
            <a:endParaRPr lang="en-US" sz="1600" dirty="0"/>
          </a:p>
        </p:txBody>
      </p:sp>
      <p:sp>
        <p:nvSpPr>
          <p:cNvPr id="26" name="Shape 24"/>
          <p:cNvSpPr/>
          <p:nvPr/>
        </p:nvSpPr>
        <p:spPr>
          <a:xfrm>
            <a:off x="2702481" y="4232914"/>
            <a:ext cx="2124075" cy="838200"/>
          </a:xfrm>
          <a:prstGeom prst="roundRect">
            <a:avLst>
              <a:gd name="adj" fmla="val 9091"/>
            </a:avLst>
          </a:prstGeom>
          <a:solidFill>
            <a:srgbClr val="191919"/>
          </a:solidFill>
          <a:ln/>
        </p:spPr>
      </p:sp>
      <p:sp>
        <p:nvSpPr>
          <p:cNvPr id="27" name="Text 25"/>
          <p:cNvSpPr/>
          <p:nvPr/>
        </p:nvSpPr>
        <p:spPr>
          <a:xfrm>
            <a:off x="2721531" y="4309114"/>
            <a:ext cx="2085975" cy="304800"/>
          </a:xfrm>
          <a:prstGeom prst="rect">
            <a:avLst/>
          </a:prstGeom>
          <a:noFill/>
          <a:ln/>
        </p:spPr>
        <p:txBody>
          <a:bodyPr wrap="square" lIns="0" tIns="0" rIns="0" bIns="0" rtlCol="0" anchor="ctr"/>
          <a:lstStyle/>
          <a:p>
            <a:pPr algn="ctr">
              <a:lnSpc>
                <a:spcPct val="110000"/>
              </a:lnSpc>
            </a:pPr>
            <a:r>
              <a:rPr lang="en-US" sz="1800" b="1" dirty="0">
                <a:solidFill>
                  <a:srgbClr val="FB2C36"/>
                </a:solidFill>
                <a:latin typeface="Liter" pitchFamily="34" charset="0"/>
                <a:ea typeface="Liter" pitchFamily="34" charset="-122"/>
                <a:cs typeface="Liter" pitchFamily="34" charset="-120"/>
              </a:rPr>
              <a:t>50%</a:t>
            </a:r>
            <a:endParaRPr lang="en-US" sz="1600" dirty="0"/>
          </a:p>
        </p:txBody>
      </p:sp>
      <p:sp>
        <p:nvSpPr>
          <p:cNvPr id="28" name="Text 26"/>
          <p:cNvSpPr/>
          <p:nvPr/>
        </p:nvSpPr>
        <p:spPr>
          <a:xfrm>
            <a:off x="2745343" y="4613802"/>
            <a:ext cx="2038350" cy="190500"/>
          </a:xfrm>
          <a:prstGeom prst="rect">
            <a:avLst/>
          </a:prstGeom>
          <a:noFill/>
          <a:ln/>
        </p:spPr>
        <p:txBody>
          <a:bodyPr wrap="square" lIns="0" tIns="0" rIns="0" bIns="0" rtlCol="0" anchor="ctr"/>
          <a:lstStyle/>
          <a:p>
            <a:pPr algn="ctr">
              <a:lnSpc>
                <a:spcPct val="120000"/>
              </a:lnSpc>
            </a:pPr>
            <a:r>
              <a:rPr lang="en-US" sz="1050" dirty="0">
                <a:solidFill>
                  <a:srgbClr val="8F8F8F"/>
                </a:solidFill>
                <a:latin typeface="Liter" pitchFamily="34" charset="0"/>
                <a:ea typeface="Liter" pitchFamily="34" charset="-122"/>
                <a:cs typeface="Liter" pitchFamily="34" charset="-120"/>
              </a:rPr>
              <a:t>Faster drug discovery</a:t>
            </a:r>
            <a:endParaRPr lang="en-US" sz="1600" dirty="0"/>
          </a:p>
        </p:txBody>
      </p:sp>
      <p:sp>
        <p:nvSpPr>
          <p:cNvPr id="29" name="Shape 27"/>
          <p:cNvSpPr/>
          <p:nvPr/>
        </p:nvSpPr>
        <p:spPr>
          <a:xfrm>
            <a:off x="4902161" y="4232914"/>
            <a:ext cx="2124075" cy="838200"/>
          </a:xfrm>
          <a:prstGeom prst="roundRect">
            <a:avLst>
              <a:gd name="adj" fmla="val 9091"/>
            </a:avLst>
          </a:prstGeom>
          <a:solidFill>
            <a:srgbClr val="191919"/>
          </a:solidFill>
          <a:ln/>
        </p:spPr>
      </p:sp>
      <p:sp>
        <p:nvSpPr>
          <p:cNvPr id="30" name="Text 28"/>
          <p:cNvSpPr/>
          <p:nvPr/>
        </p:nvSpPr>
        <p:spPr>
          <a:xfrm>
            <a:off x="4921211" y="4309114"/>
            <a:ext cx="2085975" cy="304800"/>
          </a:xfrm>
          <a:prstGeom prst="rect">
            <a:avLst/>
          </a:prstGeom>
          <a:noFill/>
          <a:ln/>
        </p:spPr>
        <p:txBody>
          <a:bodyPr wrap="square" lIns="0" tIns="0" rIns="0" bIns="0" rtlCol="0" anchor="ctr"/>
          <a:lstStyle/>
          <a:p>
            <a:pPr algn="ctr">
              <a:lnSpc>
                <a:spcPct val="110000"/>
              </a:lnSpc>
            </a:pPr>
            <a:r>
              <a:rPr lang="en-US" sz="1800" b="1" dirty="0">
                <a:solidFill>
                  <a:srgbClr val="FB2C36"/>
                </a:solidFill>
                <a:latin typeface="Liter" pitchFamily="34" charset="0"/>
                <a:ea typeface="Liter" pitchFamily="34" charset="-122"/>
                <a:cs typeface="Liter" pitchFamily="34" charset="-120"/>
              </a:rPr>
              <a:t>1,250+</a:t>
            </a:r>
            <a:endParaRPr lang="en-US" sz="1600" dirty="0"/>
          </a:p>
        </p:txBody>
      </p:sp>
      <p:sp>
        <p:nvSpPr>
          <p:cNvPr id="31" name="Text 29"/>
          <p:cNvSpPr/>
          <p:nvPr/>
        </p:nvSpPr>
        <p:spPr>
          <a:xfrm>
            <a:off x="4945023" y="4613802"/>
            <a:ext cx="2038350" cy="381000"/>
          </a:xfrm>
          <a:prstGeom prst="rect">
            <a:avLst/>
          </a:prstGeom>
          <a:noFill/>
          <a:ln/>
        </p:spPr>
        <p:txBody>
          <a:bodyPr wrap="square" lIns="0" tIns="0" rIns="0" bIns="0" rtlCol="0" anchor="ctr"/>
          <a:lstStyle/>
          <a:p>
            <a:pPr algn="ctr">
              <a:lnSpc>
                <a:spcPct val="120000"/>
              </a:lnSpc>
            </a:pPr>
            <a:r>
              <a:rPr lang="en-US" sz="1050" dirty="0">
                <a:solidFill>
                  <a:srgbClr val="8F8F8F"/>
                </a:solidFill>
                <a:latin typeface="Liter" pitchFamily="34" charset="0"/>
                <a:ea typeface="Liter" pitchFamily="34" charset="-122"/>
                <a:cs typeface="Liter" pitchFamily="34" charset="-120"/>
              </a:rPr>
              <a:t>FDA-approved AI medical devices</a:t>
            </a:r>
            <a:endParaRPr lang="en-US" sz="1600" dirty="0"/>
          </a:p>
        </p:txBody>
      </p:sp>
      <p:sp>
        <p:nvSpPr>
          <p:cNvPr id="32" name="Shape 30"/>
          <p:cNvSpPr/>
          <p:nvPr/>
        </p:nvSpPr>
        <p:spPr>
          <a:xfrm>
            <a:off x="7303770" y="1108710"/>
            <a:ext cx="4503420" cy="1798320"/>
          </a:xfrm>
          <a:prstGeom prst="roundRect">
            <a:avLst>
              <a:gd name="adj" fmla="val 6356"/>
            </a:avLst>
          </a:prstGeom>
          <a:gradFill rotWithShape="1" flip="none">
            <a:gsLst>
              <a:gs pos="0">
                <a:srgbClr val="FB2C36">
                  <a:alpha val="20000"/>
                </a:srgbClr>
              </a:gs>
              <a:gs pos="100000">
                <a:srgbClr val="FB2C36">
                  <a:alpha val="5000"/>
                </a:srgbClr>
              </a:gs>
            </a:gsLst>
            <a:lin ang="2700000" scaled="1"/>
          </a:gradFill>
          <a:ln w="10160">
            <a:solidFill>
              <a:srgbClr val="FB2C36"/>
            </a:solidFill>
            <a:prstDash val="solid"/>
          </a:ln>
        </p:spPr>
      </p:sp>
      <p:sp>
        <p:nvSpPr>
          <p:cNvPr id="33" name="Shape 31"/>
          <p:cNvSpPr/>
          <p:nvPr/>
        </p:nvSpPr>
        <p:spPr>
          <a:xfrm>
            <a:off x="7469505" y="1264918"/>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FB2C36"/>
          </a:solidFill>
          <a:ln/>
        </p:spPr>
      </p:sp>
      <p:sp>
        <p:nvSpPr>
          <p:cNvPr id="34" name="Text 32"/>
          <p:cNvSpPr/>
          <p:nvPr/>
        </p:nvSpPr>
        <p:spPr>
          <a:xfrm>
            <a:off x="7736205" y="1226818"/>
            <a:ext cx="1809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Real-World Example</a:t>
            </a:r>
            <a:endParaRPr lang="en-US" sz="1600" dirty="0"/>
          </a:p>
        </p:txBody>
      </p:sp>
      <p:sp>
        <p:nvSpPr>
          <p:cNvPr id="35" name="Shape 33"/>
          <p:cNvSpPr/>
          <p:nvPr/>
        </p:nvSpPr>
        <p:spPr>
          <a:xfrm>
            <a:off x="7421880" y="1569718"/>
            <a:ext cx="4267200" cy="1219200"/>
          </a:xfrm>
          <a:prstGeom prst="roundRect">
            <a:avLst>
              <a:gd name="adj" fmla="val 6250"/>
            </a:avLst>
          </a:prstGeom>
          <a:solidFill>
            <a:srgbClr val="191919"/>
          </a:solidFill>
          <a:ln/>
        </p:spPr>
      </p:sp>
      <p:sp>
        <p:nvSpPr>
          <p:cNvPr id="36" name="Text 34"/>
          <p:cNvSpPr/>
          <p:nvPr/>
        </p:nvSpPr>
        <p:spPr>
          <a:xfrm>
            <a:off x="7536180" y="1684018"/>
            <a:ext cx="4124325" cy="266700"/>
          </a:xfrm>
          <a:prstGeom prst="rect">
            <a:avLst/>
          </a:prstGeom>
          <a:noFill/>
          <a:ln/>
        </p:spPr>
        <p:txBody>
          <a:bodyPr wrap="square" lIns="0" tIns="0" rIns="0" bIns="0" rtlCol="0" anchor="ctr"/>
          <a:lstStyle/>
          <a:p>
            <a:pPr>
              <a:lnSpc>
                <a:spcPct val="130000"/>
              </a:lnSpc>
            </a:pPr>
            <a:r>
              <a:rPr lang="en-US" sz="1350" b="1" dirty="0">
                <a:solidFill>
                  <a:srgbClr val="FB2C36"/>
                </a:solidFill>
                <a:latin typeface="Liter" pitchFamily="34" charset="0"/>
                <a:ea typeface="Liter" pitchFamily="34" charset="-122"/>
                <a:cs typeface="Liter" pitchFamily="34" charset="-120"/>
              </a:rPr>
              <a:t>AI Detects Eye Disease</a:t>
            </a:r>
            <a:endParaRPr lang="en-US" sz="1600" dirty="0"/>
          </a:p>
        </p:txBody>
      </p:sp>
      <p:sp>
        <p:nvSpPr>
          <p:cNvPr id="37" name="Text 35"/>
          <p:cNvSpPr/>
          <p:nvPr/>
        </p:nvSpPr>
        <p:spPr>
          <a:xfrm>
            <a:off x="7536180" y="1988818"/>
            <a:ext cx="41148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Google's AI can detect diabetic eye disease by analyzing retina photos. It works as well as expert doctors and helps in areas where specialists are scarce. AI is saving sight!</a:t>
            </a:r>
            <a:endParaRPr lang="en-US" sz="1600" dirty="0"/>
          </a:p>
        </p:txBody>
      </p:sp>
      <p:sp>
        <p:nvSpPr>
          <p:cNvPr id="38" name="Shape 36"/>
          <p:cNvSpPr/>
          <p:nvPr/>
        </p:nvSpPr>
        <p:spPr>
          <a:xfrm>
            <a:off x="7303770" y="2990856"/>
            <a:ext cx="4503420" cy="1264920"/>
          </a:xfrm>
          <a:prstGeom prst="roundRect">
            <a:avLst>
              <a:gd name="adj" fmla="val 9036"/>
            </a:avLst>
          </a:prstGeom>
          <a:solidFill>
            <a:srgbClr val="262626"/>
          </a:solidFill>
          <a:ln w="10160">
            <a:solidFill>
              <a:srgbClr val="333333"/>
            </a:solidFill>
            <a:prstDash val="solid"/>
          </a:ln>
        </p:spPr>
      </p:sp>
      <p:sp>
        <p:nvSpPr>
          <p:cNvPr id="39" name="Text 37"/>
          <p:cNvSpPr/>
          <p:nvPr/>
        </p:nvSpPr>
        <p:spPr>
          <a:xfrm>
            <a:off x="7421880" y="3108964"/>
            <a:ext cx="43529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 Simple Explanation</a:t>
            </a:r>
            <a:endParaRPr lang="en-US" sz="1600" dirty="0"/>
          </a:p>
        </p:txBody>
      </p:sp>
      <p:sp>
        <p:nvSpPr>
          <p:cNvPr id="40" name="Text 38"/>
          <p:cNvSpPr/>
          <p:nvPr/>
        </p:nvSpPr>
        <p:spPr>
          <a:xfrm>
            <a:off x="7421880" y="3451864"/>
            <a:ext cx="43434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AI is like having a super-doctor assistant who never gets tired, has seen millions of cases, and can spot tiny details humans might miss. It helps doctors help you better!</a:t>
            </a:r>
            <a:endParaRPr lang="en-US" sz="1600" dirty="0"/>
          </a:p>
        </p:txBody>
      </p:sp>
      <p:sp>
        <p:nvSpPr>
          <p:cNvPr id="41" name="Shape 39"/>
          <p:cNvSpPr/>
          <p:nvPr/>
        </p:nvSpPr>
        <p:spPr>
          <a:xfrm>
            <a:off x="7303770" y="4339601"/>
            <a:ext cx="4503420" cy="1874520"/>
          </a:xfrm>
          <a:prstGeom prst="roundRect">
            <a:avLst>
              <a:gd name="adj" fmla="val 6098"/>
            </a:avLst>
          </a:prstGeom>
          <a:solidFill>
            <a:srgbClr val="262626"/>
          </a:solidFill>
          <a:ln w="10160">
            <a:solidFill>
              <a:srgbClr val="333333"/>
            </a:solidFill>
            <a:prstDash val="solid"/>
          </a:ln>
        </p:spPr>
      </p:sp>
      <p:sp>
        <p:nvSpPr>
          <p:cNvPr id="42" name="Shape 40"/>
          <p:cNvSpPr/>
          <p:nvPr/>
        </p:nvSpPr>
        <p:spPr>
          <a:xfrm>
            <a:off x="7456408" y="4505325"/>
            <a:ext cx="150019" cy="171450"/>
          </a:xfrm>
          <a:custGeom>
            <a:avLst/>
            <a:gdLst/>
            <a:ahLst/>
            <a:cxnLst/>
            <a:rect l="l" t="t" r="r" b="b"/>
            <a:pathLst>
              <a:path w="150019" h="171450">
                <a:moveTo>
                  <a:pt x="21431" y="10716"/>
                </a:moveTo>
                <a:cubicBezTo>
                  <a:pt x="9611" y="10716"/>
                  <a:pt x="0" y="20326"/>
                  <a:pt x="0" y="32147"/>
                </a:cubicBezTo>
                <a:lnTo>
                  <a:pt x="0" y="139303"/>
                </a:lnTo>
                <a:cubicBezTo>
                  <a:pt x="0" y="151124"/>
                  <a:pt x="9611" y="160734"/>
                  <a:pt x="21431" y="160734"/>
                </a:cubicBezTo>
                <a:lnTo>
                  <a:pt x="128588" y="160734"/>
                </a:lnTo>
                <a:cubicBezTo>
                  <a:pt x="140408" y="160734"/>
                  <a:pt x="150019" y="151124"/>
                  <a:pt x="150019" y="139303"/>
                </a:cubicBezTo>
                <a:lnTo>
                  <a:pt x="150019" y="32147"/>
                </a:lnTo>
                <a:cubicBezTo>
                  <a:pt x="150019" y="20326"/>
                  <a:pt x="140408" y="10716"/>
                  <a:pt x="128588" y="10716"/>
                </a:cubicBezTo>
                <a:lnTo>
                  <a:pt x="21431" y="10716"/>
                </a:lnTo>
                <a:close/>
                <a:moveTo>
                  <a:pt x="42863" y="37505"/>
                </a:moveTo>
                <a:cubicBezTo>
                  <a:pt x="51734" y="37505"/>
                  <a:pt x="58936" y="44707"/>
                  <a:pt x="58936" y="53578"/>
                </a:cubicBezTo>
                <a:cubicBezTo>
                  <a:pt x="58936" y="62449"/>
                  <a:pt x="51734" y="69652"/>
                  <a:pt x="42863" y="69652"/>
                </a:cubicBezTo>
                <a:cubicBezTo>
                  <a:pt x="33991" y="69652"/>
                  <a:pt x="26789" y="62449"/>
                  <a:pt x="26789" y="53578"/>
                </a:cubicBezTo>
                <a:cubicBezTo>
                  <a:pt x="26789" y="44707"/>
                  <a:pt x="33991" y="37505"/>
                  <a:pt x="42863" y="37505"/>
                </a:cubicBezTo>
                <a:close/>
                <a:moveTo>
                  <a:pt x="91083" y="75009"/>
                </a:moveTo>
                <a:cubicBezTo>
                  <a:pt x="93896" y="75009"/>
                  <a:pt x="96474" y="76483"/>
                  <a:pt x="97948" y="78860"/>
                </a:cubicBezTo>
                <a:lnTo>
                  <a:pt x="127415" y="127081"/>
                </a:lnTo>
                <a:cubicBezTo>
                  <a:pt x="128922" y="129559"/>
                  <a:pt x="128989" y="132673"/>
                  <a:pt x="127583" y="135218"/>
                </a:cubicBezTo>
                <a:cubicBezTo>
                  <a:pt x="126176" y="137763"/>
                  <a:pt x="123464" y="139303"/>
                  <a:pt x="120551" y="139303"/>
                </a:cubicBezTo>
                <a:lnTo>
                  <a:pt x="29468" y="139303"/>
                </a:lnTo>
                <a:cubicBezTo>
                  <a:pt x="26488" y="139303"/>
                  <a:pt x="23708" y="137629"/>
                  <a:pt x="22335" y="134983"/>
                </a:cubicBezTo>
                <a:cubicBezTo>
                  <a:pt x="20962" y="132338"/>
                  <a:pt x="21163" y="129123"/>
                  <a:pt x="22871" y="126679"/>
                </a:cubicBezTo>
                <a:lnTo>
                  <a:pt x="41624" y="99890"/>
                </a:lnTo>
                <a:cubicBezTo>
                  <a:pt x="43130" y="97747"/>
                  <a:pt x="45575" y="96474"/>
                  <a:pt x="48220" y="96474"/>
                </a:cubicBezTo>
                <a:cubicBezTo>
                  <a:pt x="50866" y="96474"/>
                  <a:pt x="53310" y="97747"/>
                  <a:pt x="54817" y="99890"/>
                </a:cubicBezTo>
                <a:lnTo>
                  <a:pt x="63658" y="112548"/>
                </a:lnTo>
                <a:lnTo>
                  <a:pt x="84218" y="78894"/>
                </a:lnTo>
                <a:cubicBezTo>
                  <a:pt x="85692" y="76516"/>
                  <a:pt x="88270" y="75043"/>
                  <a:pt x="91083" y="75043"/>
                </a:cubicBezTo>
                <a:close/>
              </a:path>
            </a:pathLst>
          </a:custGeom>
          <a:solidFill>
            <a:srgbClr val="FB2C36"/>
          </a:solidFill>
          <a:ln/>
        </p:spPr>
      </p:sp>
      <p:sp>
        <p:nvSpPr>
          <p:cNvPr id="43" name="Text 41"/>
          <p:cNvSpPr/>
          <p:nvPr/>
        </p:nvSpPr>
        <p:spPr>
          <a:xfrm>
            <a:off x="7640955" y="4457700"/>
            <a:ext cx="41338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Visual</a:t>
            </a:r>
            <a:endParaRPr lang="en-US" sz="1600" dirty="0"/>
          </a:p>
        </p:txBody>
      </p:sp>
      <p:sp>
        <p:nvSpPr>
          <p:cNvPr id="44" name="Shape 42"/>
          <p:cNvSpPr/>
          <p:nvPr/>
        </p:nvSpPr>
        <p:spPr>
          <a:xfrm>
            <a:off x="7421880" y="4800600"/>
            <a:ext cx="4267200" cy="609600"/>
          </a:xfrm>
          <a:prstGeom prst="roundRect">
            <a:avLst>
              <a:gd name="adj" fmla="val 12500"/>
            </a:avLst>
          </a:prstGeom>
          <a:solidFill>
            <a:srgbClr val="191919"/>
          </a:solidFill>
          <a:ln/>
        </p:spPr>
      </p:sp>
      <p:sp>
        <p:nvSpPr>
          <p:cNvPr id="45" name="Text 43"/>
          <p:cNvSpPr/>
          <p:nvPr/>
        </p:nvSpPr>
        <p:spPr>
          <a:xfrm>
            <a:off x="7498080" y="48768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Diagram:</a:t>
            </a:r>
            <a:endParaRPr lang="en-US" sz="1600" dirty="0"/>
          </a:p>
        </p:txBody>
      </p:sp>
      <p:sp>
        <p:nvSpPr>
          <p:cNvPr id="46" name="Text 44"/>
          <p:cNvSpPr/>
          <p:nvPr/>
        </p:nvSpPr>
        <p:spPr>
          <a:xfrm>
            <a:off x="7498080" y="51054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Patient Data → AI Analysis → Diagnosis → Treatment</a:t>
            </a:r>
            <a:endParaRPr lang="en-US" sz="1600" dirty="0"/>
          </a:p>
        </p:txBody>
      </p:sp>
      <p:sp>
        <p:nvSpPr>
          <p:cNvPr id="47" name="Shape 45"/>
          <p:cNvSpPr/>
          <p:nvPr/>
        </p:nvSpPr>
        <p:spPr>
          <a:xfrm>
            <a:off x="7421880" y="5486400"/>
            <a:ext cx="4267200" cy="609600"/>
          </a:xfrm>
          <a:prstGeom prst="roundRect">
            <a:avLst>
              <a:gd name="adj" fmla="val 12500"/>
            </a:avLst>
          </a:prstGeom>
          <a:solidFill>
            <a:srgbClr val="191919"/>
          </a:solidFill>
          <a:ln/>
        </p:spPr>
      </p:sp>
      <p:sp>
        <p:nvSpPr>
          <p:cNvPr id="48" name="Text 46"/>
          <p:cNvSpPr/>
          <p:nvPr/>
        </p:nvSpPr>
        <p:spPr>
          <a:xfrm>
            <a:off x="7498080" y="55626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Image:</a:t>
            </a:r>
            <a:endParaRPr lang="en-US" sz="1600" dirty="0"/>
          </a:p>
        </p:txBody>
      </p:sp>
      <p:sp>
        <p:nvSpPr>
          <p:cNvPr id="49" name="Text 47"/>
          <p:cNvSpPr/>
          <p:nvPr/>
        </p:nvSpPr>
        <p:spPr>
          <a:xfrm>
            <a:off x="7498080" y="57912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Doctor using AI to analyze medical scan</a:t>
            </a:r>
            <a:endParaRPr lang="en-US" sz="1600" dirty="0"/>
          </a:p>
        </p:txBody>
      </p:sp>
    </p:spTree>
  </p:cSld>
  <p:clrMapOvr>
    <a:masterClrMapping/>
  </p:clrMapOvr>
  <p:transition>
    <p:fade/>
    <p:spd val="med"/>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91919"/>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2B7FFF">
              <a:alpha val="20000"/>
            </a:srgbClr>
          </a:solidFill>
          <a:ln/>
        </p:spPr>
      </p:sp>
      <p:sp>
        <p:nvSpPr>
          <p:cNvPr id="3" name="Text 1"/>
          <p:cNvSpPr/>
          <p:nvPr/>
        </p:nvSpPr>
        <p:spPr>
          <a:xfrm>
            <a:off x="498872" y="533400"/>
            <a:ext cx="314325" cy="266700"/>
          </a:xfrm>
          <a:prstGeom prst="rect">
            <a:avLst/>
          </a:prstGeom>
          <a:noFill/>
          <a:ln/>
        </p:spPr>
        <p:txBody>
          <a:bodyPr wrap="square" lIns="0" tIns="0" rIns="0" bIns="0" rtlCol="0" anchor="ctr"/>
          <a:lstStyle/>
          <a:p>
            <a:pPr>
              <a:lnSpc>
                <a:spcPct val="120000"/>
              </a:lnSpc>
            </a:pPr>
            <a:r>
              <a:rPr lang="en-US" sz="1500" b="1" dirty="0">
                <a:solidFill>
                  <a:srgbClr val="2B7FFF"/>
                </a:solidFill>
                <a:latin typeface="Liter" pitchFamily="34" charset="0"/>
                <a:ea typeface="Liter" pitchFamily="34" charset="-122"/>
                <a:cs typeface="Liter" pitchFamily="34" charset="-120"/>
              </a:rPr>
              <a:t>22</a:t>
            </a:r>
            <a:endParaRPr lang="en-US" sz="1600" dirty="0"/>
          </a:p>
        </p:txBody>
      </p:sp>
      <p:sp>
        <p:nvSpPr>
          <p:cNvPr id="4" name="Text 2"/>
          <p:cNvSpPr/>
          <p:nvPr/>
        </p:nvSpPr>
        <p:spPr>
          <a:xfrm>
            <a:off x="952500" y="381000"/>
            <a:ext cx="5953125" cy="190500"/>
          </a:xfrm>
          <a:prstGeom prst="rect">
            <a:avLst/>
          </a:prstGeom>
          <a:noFill/>
          <a:ln/>
        </p:spPr>
        <p:txBody>
          <a:bodyPr wrap="square" lIns="0" tIns="0" rIns="0" bIns="0" rtlCol="0" anchor="ctr"/>
          <a:lstStyle/>
          <a:p>
            <a:pPr>
              <a:lnSpc>
                <a:spcPct val="120000"/>
              </a:lnSpc>
            </a:pPr>
            <a:r>
              <a:rPr lang="en-US" sz="1050" b="1" spc="53" kern="0" dirty="0">
                <a:solidFill>
                  <a:srgbClr val="2B7FFF"/>
                </a:solidFill>
                <a:latin typeface="Liter" pitchFamily="34" charset="0"/>
                <a:ea typeface="Liter" pitchFamily="34" charset="-122"/>
                <a:cs typeface="Liter" pitchFamily="34" charset="-120"/>
              </a:rPr>
              <a:t>Applications of AI</a:t>
            </a:r>
            <a:endParaRPr lang="en-US" sz="1600" dirty="0"/>
          </a:p>
        </p:txBody>
      </p:sp>
      <p:sp>
        <p:nvSpPr>
          <p:cNvPr id="5" name="Text 3"/>
          <p:cNvSpPr/>
          <p:nvPr/>
        </p:nvSpPr>
        <p:spPr>
          <a:xfrm>
            <a:off x="952500" y="571500"/>
            <a:ext cx="605790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AI in Education – Personalized Learning</a:t>
            </a:r>
            <a:endParaRPr lang="en-US" sz="1600" dirty="0"/>
          </a:p>
        </p:txBody>
      </p:sp>
      <p:sp>
        <p:nvSpPr>
          <p:cNvPr id="6" name="Shape 4"/>
          <p:cNvSpPr/>
          <p:nvPr/>
        </p:nvSpPr>
        <p:spPr>
          <a:xfrm>
            <a:off x="384810" y="1108710"/>
            <a:ext cx="6760845" cy="2579370"/>
          </a:xfrm>
          <a:prstGeom prst="roundRect">
            <a:avLst>
              <a:gd name="adj" fmla="val 4431"/>
            </a:avLst>
          </a:prstGeom>
          <a:solidFill>
            <a:srgbClr val="262626"/>
          </a:solidFill>
          <a:ln w="10160">
            <a:solidFill>
              <a:srgbClr val="333333"/>
            </a:solidFill>
            <a:prstDash val="solid"/>
          </a:ln>
        </p:spPr>
      </p:sp>
      <p:sp>
        <p:nvSpPr>
          <p:cNvPr id="7" name="Shape 5"/>
          <p:cNvSpPr/>
          <p:nvPr/>
        </p:nvSpPr>
        <p:spPr>
          <a:xfrm>
            <a:off x="514826" y="1264927"/>
            <a:ext cx="214313" cy="190500"/>
          </a:xfrm>
          <a:custGeom>
            <a:avLst/>
            <a:gdLst/>
            <a:ahLst/>
            <a:cxnLst/>
            <a:rect l="l" t="t" r="r" b="b"/>
            <a:pathLst>
              <a:path w="214313" h="190500">
                <a:moveTo>
                  <a:pt x="17859" y="72851"/>
                </a:moveTo>
                <a:lnTo>
                  <a:pt x="95696" y="104887"/>
                </a:lnTo>
                <a:cubicBezTo>
                  <a:pt x="99343" y="106375"/>
                  <a:pt x="103212" y="107156"/>
                  <a:pt x="107156" y="107156"/>
                </a:cubicBezTo>
                <a:cubicBezTo>
                  <a:pt x="111100" y="107156"/>
                  <a:pt x="114970" y="106375"/>
                  <a:pt x="118616" y="104887"/>
                </a:cubicBezTo>
                <a:lnTo>
                  <a:pt x="208806" y="67754"/>
                </a:lnTo>
                <a:cubicBezTo>
                  <a:pt x="212154" y="66377"/>
                  <a:pt x="214313" y="63140"/>
                  <a:pt x="214313" y="59531"/>
                </a:cubicBezTo>
                <a:cubicBezTo>
                  <a:pt x="214313" y="55922"/>
                  <a:pt x="212154" y="52685"/>
                  <a:pt x="208806" y="51308"/>
                </a:cubicBezTo>
                <a:lnTo>
                  <a:pt x="118616" y="14176"/>
                </a:lnTo>
                <a:cubicBezTo>
                  <a:pt x="114970" y="12688"/>
                  <a:pt x="111100" y="11906"/>
                  <a:pt x="107156" y="11906"/>
                </a:cubicBezTo>
                <a:cubicBezTo>
                  <a:pt x="103212" y="11906"/>
                  <a:pt x="99343" y="12688"/>
                  <a:pt x="95696" y="14176"/>
                </a:cubicBezTo>
                <a:lnTo>
                  <a:pt x="5507" y="51308"/>
                </a:lnTo>
                <a:cubicBezTo>
                  <a:pt x="2158" y="52685"/>
                  <a:pt x="0" y="55922"/>
                  <a:pt x="0" y="59531"/>
                </a:cubicBezTo>
                <a:lnTo>
                  <a:pt x="0" y="169664"/>
                </a:lnTo>
                <a:cubicBezTo>
                  <a:pt x="0" y="174613"/>
                  <a:pt x="3981" y="178594"/>
                  <a:pt x="8930" y="178594"/>
                </a:cubicBezTo>
                <a:cubicBezTo>
                  <a:pt x="13878" y="178594"/>
                  <a:pt x="17859" y="174613"/>
                  <a:pt x="17859" y="169664"/>
                </a:cubicBezTo>
                <a:lnTo>
                  <a:pt x="17859" y="72851"/>
                </a:lnTo>
                <a:close/>
                <a:moveTo>
                  <a:pt x="35719" y="99529"/>
                </a:moveTo>
                <a:lnTo>
                  <a:pt x="35719" y="142875"/>
                </a:lnTo>
                <a:cubicBezTo>
                  <a:pt x="35719" y="162595"/>
                  <a:pt x="67717" y="178594"/>
                  <a:pt x="107156" y="178594"/>
                </a:cubicBezTo>
                <a:cubicBezTo>
                  <a:pt x="146596" y="178594"/>
                  <a:pt x="178594" y="162595"/>
                  <a:pt x="178594" y="142875"/>
                </a:cubicBezTo>
                <a:lnTo>
                  <a:pt x="178594" y="99492"/>
                </a:lnTo>
                <a:lnTo>
                  <a:pt x="125425" y="121407"/>
                </a:lnTo>
                <a:cubicBezTo>
                  <a:pt x="119621" y="123788"/>
                  <a:pt x="113444" y="125016"/>
                  <a:pt x="107156" y="125016"/>
                </a:cubicBezTo>
                <a:cubicBezTo>
                  <a:pt x="100868" y="125016"/>
                  <a:pt x="94692" y="123788"/>
                  <a:pt x="88888" y="121407"/>
                </a:cubicBezTo>
                <a:lnTo>
                  <a:pt x="35719" y="99492"/>
                </a:lnTo>
                <a:close/>
              </a:path>
            </a:pathLst>
          </a:custGeom>
          <a:solidFill>
            <a:srgbClr val="2B7FFF"/>
          </a:solidFill>
          <a:ln/>
        </p:spPr>
      </p:sp>
      <p:sp>
        <p:nvSpPr>
          <p:cNvPr id="8" name="Text 6"/>
          <p:cNvSpPr/>
          <p:nvPr/>
        </p:nvSpPr>
        <p:spPr>
          <a:xfrm>
            <a:off x="741045" y="1226827"/>
            <a:ext cx="6381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How AI Transforms Learning</a:t>
            </a:r>
            <a:endParaRPr lang="en-US" sz="1600" dirty="0"/>
          </a:p>
        </p:txBody>
      </p:sp>
      <p:sp>
        <p:nvSpPr>
          <p:cNvPr id="9" name="Shape 7"/>
          <p:cNvSpPr/>
          <p:nvPr/>
        </p:nvSpPr>
        <p:spPr>
          <a:xfrm>
            <a:off x="502920" y="1607827"/>
            <a:ext cx="190500" cy="152400"/>
          </a:xfrm>
          <a:custGeom>
            <a:avLst/>
            <a:gdLst/>
            <a:ahLst/>
            <a:cxnLst/>
            <a:rect l="l" t="t" r="r" b="b"/>
            <a:pathLst>
              <a:path w="190500" h="152400">
                <a:moveTo>
                  <a:pt x="76349" y="2381"/>
                </a:moveTo>
                <a:cubicBezTo>
                  <a:pt x="96063" y="2381"/>
                  <a:pt x="112068" y="18386"/>
                  <a:pt x="112068" y="38100"/>
                </a:cubicBezTo>
                <a:cubicBezTo>
                  <a:pt x="112068" y="57814"/>
                  <a:pt x="96063" y="73819"/>
                  <a:pt x="76349" y="73819"/>
                </a:cubicBezTo>
                <a:cubicBezTo>
                  <a:pt x="56635" y="73819"/>
                  <a:pt x="40630" y="57814"/>
                  <a:pt x="40630" y="38100"/>
                </a:cubicBezTo>
                <a:cubicBezTo>
                  <a:pt x="40630" y="18386"/>
                  <a:pt x="56635" y="2381"/>
                  <a:pt x="76349" y="2381"/>
                </a:cubicBezTo>
                <a:close/>
                <a:moveTo>
                  <a:pt x="67479" y="90488"/>
                </a:moveTo>
                <a:lnTo>
                  <a:pt x="85159" y="90488"/>
                </a:lnTo>
                <a:lnTo>
                  <a:pt x="85606" y="90488"/>
                </a:lnTo>
                <a:cubicBezTo>
                  <a:pt x="81766" y="98465"/>
                  <a:pt x="83284" y="107811"/>
                  <a:pt x="89029" y="114151"/>
                </a:cubicBezTo>
                <a:cubicBezTo>
                  <a:pt x="83016" y="120789"/>
                  <a:pt x="81647" y="130760"/>
                  <a:pt x="86231" y="138976"/>
                </a:cubicBezTo>
                <a:lnTo>
                  <a:pt x="92928" y="151001"/>
                </a:lnTo>
                <a:cubicBezTo>
                  <a:pt x="93196" y="151477"/>
                  <a:pt x="93494" y="151954"/>
                  <a:pt x="93791" y="152400"/>
                </a:cubicBezTo>
                <a:lnTo>
                  <a:pt x="23247" y="152400"/>
                </a:lnTo>
                <a:cubicBezTo>
                  <a:pt x="18365" y="152400"/>
                  <a:pt x="14407" y="148441"/>
                  <a:pt x="14407" y="143560"/>
                </a:cubicBezTo>
                <a:cubicBezTo>
                  <a:pt x="14407" y="114240"/>
                  <a:pt x="38160" y="90487"/>
                  <a:pt x="67479" y="90487"/>
                </a:cubicBezTo>
                <a:close/>
                <a:moveTo>
                  <a:pt x="128766" y="73700"/>
                </a:moveTo>
                <a:cubicBezTo>
                  <a:pt x="128766" y="69741"/>
                  <a:pt x="131951" y="66556"/>
                  <a:pt x="135910" y="66556"/>
                </a:cubicBezTo>
                <a:lnTo>
                  <a:pt x="150197" y="66556"/>
                </a:lnTo>
                <a:cubicBezTo>
                  <a:pt x="154156" y="66556"/>
                  <a:pt x="157341" y="69741"/>
                  <a:pt x="157341" y="73700"/>
                </a:cubicBezTo>
                <a:lnTo>
                  <a:pt x="157341" y="75515"/>
                </a:lnTo>
                <a:cubicBezTo>
                  <a:pt x="157341" y="81141"/>
                  <a:pt x="164515" y="85279"/>
                  <a:pt x="169396" y="82481"/>
                </a:cubicBezTo>
                <a:lnTo>
                  <a:pt x="170884" y="81617"/>
                </a:lnTo>
                <a:cubicBezTo>
                  <a:pt x="174337" y="79623"/>
                  <a:pt x="178772" y="80843"/>
                  <a:pt x="180707" y="84326"/>
                </a:cubicBezTo>
                <a:lnTo>
                  <a:pt x="187375" y="96292"/>
                </a:lnTo>
                <a:cubicBezTo>
                  <a:pt x="189220" y="99626"/>
                  <a:pt x="188149" y="103793"/>
                  <a:pt x="184934" y="105817"/>
                </a:cubicBezTo>
                <a:lnTo>
                  <a:pt x="183535" y="106680"/>
                </a:lnTo>
                <a:cubicBezTo>
                  <a:pt x="178713" y="109686"/>
                  <a:pt x="178713" y="118556"/>
                  <a:pt x="183535" y="121593"/>
                </a:cubicBezTo>
                <a:lnTo>
                  <a:pt x="184904" y="122456"/>
                </a:lnTo>
                <a:cubicBezTo>
                  <a:pt x="188119" y="124480"/>
                  <a:pt x="189220" y="128647"/>
                  <a:pt x="187375" y="131981"/>
                </a:cubicBezTo>
                <a:lnTo>
                  <a:pt x="180677" y="144006"/>
                </a:lnTo>
                <a:cubicBezTo>
                  <a:pt x="178743" y="147489"/>
                  <a:pt x="174308" y="148739"/>
                  <a:pt x="170855" y="146715"/>
                </a:cubicBezTo>
                <a:lnTo>
                  <a:pt x="169396" y="145852"/>
                </a:lnTo>
                <a:cubicBezTo>
                  <a:pt x="164515" y="143024"/>
                  <a:pt x="157341" y="147191"/>
                  <a:pt x="157341" y="152817"/>
                </a:cubicBezTo>
                <a:lnTo>
                  <a:pt x="157341" y="154632"/>
                </a:lnTo>
                <a:cubicBezTo>
                  <a:pt x="157341" y="158591"/>
                  <a:pt x="154156" y="161776"/>
                  <a:pt x="150197" y="161776"/>
                </a:cubicBezTo>
                <a:lnTo>
                  <a:pt x="135910" y="161776"/>
                </a:lnTo>
                <a:cubicBezTo>
                  <a:pt x="131951" y="161776"/>
                  <a:pt x="128766" y="158591"/>
                  <a:pt x="128766" y="154632"/>
                </a:cubicBezTo>
                <a:lnTo>
                  <a:pt x="128766" y="152876"/>
                </a:lnTo>
                <a:cubicBezTo>
                  <a:pt x="128766" y="147221"/>
                  <a:pt x="121563" y="143054"/>
                  <a:pt x="116651" y="145881"/>
                </a:cubicBezTo>
                <a:lnTo>
                  <a:pt x="115223" y="146715"/>
                </a:lnTo>
                <a:cubicBezTo>
                  <a:pt x="111770" y="148709"/>
                  <a:pt x="107365" y="147489"/>
                  <a:pt x="105400" y="144006"/>
                </a:cubicBezTo>
                <a:lnTo>
                  <a:pt x="98673" y="131981"/>
                </a:lnTo>
                <a:cubicBezTo>
                  <a:pt x="96828" y="128647"/>
                  <a:pt x="97899" y="124450"/>
                  <a:pt x="101144" y="122426"/>
                </a:cubicBezTo>
                <a:lnTo>
                  <a:pt x="102453" y="121622"/>
                </a:lnTo>
                <a:cubicBezTo>
                  <a:pt x="107305" y="118616"/>
                  <a:pt x="107305" y="109686"/>
                  <a:pt x="102453" y="106680"/>
                </a:cubicBezTo>
                <a:lnTo>
                  <a:pt x="101114" y="105847"/>
                </a:lnTo>
                <a:cubicBezTo>
                  <a:pt x="97869" y="103823"/>
                  <a:pt x="96798" y="99626"/>
                  <a:pt x="98643" y="96292"/>
                </a:cubicBezTo>
                <a:lnTo>
                  <a:pt x="105341" y="84296"/>
                </a:lnTo>
                <a:cubicBezTo>
                  <a:pt x="107275" y="80814"/>
                  <a:pt x="111710" y="79593"/>
                  <a:pt x="115133" y="81588"/>
                </a:cubicBezTo>
                <a:lnTo>
                  <a:pt x="116562" y="82421"/>
                </a:lnTo>
                <a:cubicBezTo>
                  <a:pt x="121474" y="85249"/>
                  <a:pt x="128677" y="81082"/>
                  <a:pt x="128677" y="75426"/>
                </a:cubicBezTo>
                <a:lnTo>
                  <a:pt x="128677" y="73670"/>
                </a:lnTo>
                <a:close/>
                <a:moveTo>
                  <a:pt x="158502" y="114240"/>
                </a:moveTo>
                <a:cubicBezTo>
                  <a:pt x="158502" y="105698"/>
                  <a:pt x="151566" y="98762"/>
                  <a:pt x="143024" y="98762"/>
                </a:cubicBezTo>
                <a:cubicBezTo>
                  <a:pt x="134481" y="98762"/>
                  <a:pt x="127546" y="105698"/>
                  <a:pt x="127546" y="114240"/>
                </a:cubicBezTo>
                <a:cubicBezTo>
                  <a:pt x="127546" y="122783"/>
                  <a:pt x="134481" y="129719"/>
                  <a:pt x="143024" y="129719"/>
                </a:cubicBezTo>
                <a:cubicBezTo>
                  <a:pt x="151566" y="129719"/>
                  <a:pt x="158502" y="122783"/>
                  <a:pt x="158502" y="114240"/>
                </a:cubicBezTo>
                <a:close/>
              </a:path>
            </a:pathLst>
          </a:custGeom>
          <a:solidFill>
            <a:srgbClr val="2B7FFF"/>
          </a:solidFill>
          <a:ln/>
        </p:spPr>
      </p:sp>
      <p:sp>
        <p:nvSpPr>
          <p:cNvPr id="10" name="Text 8"/>
          <p:cNvSpPr/>
          <p:nvPr/>
        </p:nvSpPr>
        <p:spPr>
          <a:xfrm>
            <a:off x="807720" y="1569727"/>
            <a:ext cx="41243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Adaptive Learning</a:t>
            </a:r>
            <a:endParaRPr lang="en-US" sz="1600" dirty="0"/>
          </a:p>
        </p:txBody>
      </p:sp>
      <p:sp>
        <p:nvSpPr>
          <p:cNvPr id="11" name="Text 9"/>
          <p:cNvSpPr/>
          <p:nvPr/>
        </p:nvSpPr>
        <p:spPr>
          <a:xfrm>
            <a:off x="807720" y="1798327"/>
            <a:ext cx="41243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Adjusts difficulty and pace based on each student's progress</a:t>
            </a:r>
            <a:endParaRPr lang="en-US" sz="1600" dirty="0"/>
          </a:p>
        </p:txBody>
      </p:sp>
      <p:sp>
        <p:nvSpPr>
          <p:cNvPr id="12" name="Shape 10"/>
          <p:cNvSpPr/>
          <p:nvPr/>
        </p:nvSpPr>
        <p:spPr>
          <a:xfrm>
            <a:off x="502920" y="2122177"/>
            <a:ext cx="190500" cy="152400"/>
          </a:xfrm>
          <a:custGeom>
            <a:avLst/>
            <a:gdLst/>
            <a:ahLst/>
            <a:cxnLst/>
            <a:rect l="l" t="t" r="r" b="b"/>
            <a:pathLst>
              <a:path w="190500" h="152400">
                <a:moveTo>
                  <a:pt x="104775" y="0"/>
                </a:moveTo>
                <a:cubicBezTo>
                  <a:pt x="104775" y="-5269"/>
                  <a:pt x="100519" y="-9525"/>
                  <a:pt x="95250" y="-9525"/>
                </a:cubicBezTo>
                <a:cubicBezTo>
                  <a:pt x="89981" y="-9525"/>
                  <a:pt x="85725" y="-5269"/>
                  <a:pt x="85725" y="0"/>
                </a:cubicBezTo>
                <a:lnTo>
                  <a:pt x="85725" y="19050"/>
                </a:lnTo>
                <a:lnTo>
                  <a:pt x="57150" y="19050"/>
                </a:lnTo>
                <a:cubicBezTo>
                  <a:pt x="41374" y="19050"/>
                  <a:pt x="28575" y="31849"/>
                  <a:pt x="28575" y="47625"/>
                </a:cubicBezTo>
                <a:lnTo>
                  <a:pt x="28575" y="114300"/>
                </a:lnTo>
                <a:cubicBezTo>
                  <a:pt x="28575" y="130076"/>
                  <a:pt x="41374" y="142875"/>
                  <a:pt x="57150" y="142875"/>
                </a:cubicBezTo>
                <a:lnTo>
                  <a:pt x="133350" y="142875"/>
                </a:lnTo>
                <a:cubicBezTo>
                  <a:pt x="149126" y="142875"/>
                  <a:pt x="161925" y="130076"/>
                  <a:pt x="161925" y="114300"/>
                </a:cubicBezTo>
                <a:lnTo>
                  <a:pt x="161925" y="47625"/>
                </a:lnTo>
                <a:cubicBezTo>
                  <a:pt x="161925" y="31849"/>
                  <a:pt x="149126" y="19050"/>
                  <a:pt x="133350" y="19050"/>
                </a:cubicBezTo>
                <a:lnTo>
                  <a:pt x="104775" y="19050"/>
                </a:lnTo>
                <a:lnTo>
                  <a:pt x="104775" y="0"/>
                </a:lnTo>
                <a:close/>
                <a:moveTo>
                  <a:pt x="47625" y="109537"/>
                </a:moveTo>
                <a:cubicBezTo>
                  <a:pt x="47625" y="105579"/>
                  <a:pt x="50810" y="102394"/>
                  <a:pt x="54769" y="102394"/>
                </a:cubicBezTo>
                <a:lnTo>
                  <a:pt x="64294" y="102394"/>
                </a:lnTo>
                <a:cubicBezTo>
                  <a:pt x="68253" y="102394"/>
                  <a:pt x="71438" y="105579"/>
                  <a:pt x="71438" y="109537"/>
                </a:cubicBezTo>
                <a:cubicBezTo>
                  <a:pt x="71438" y="113496"/>
                  <a:pt x="68253" y="116681"/>
                  <a:pt x="64294" y="116681"/>
                </a:cubicBezTo>
                <a:lnTo>
                  <a:pt x="54769" y="116681"/>
                </a:lnTo>
                <a:cubicBezTo>
                  <a:pt x="50810" y="116681"/>
                  <a:pt x="47625" y="113496"/>
                  <a:pt x="47625" y="109537"/>
                </a:cubicBezTo>
                <a:close/>
                <a:moveTo>
                  <a:pt x="83344" y="109537"/>
                </a:moveTo>
                <a:cubicBezTo>
                  <a:pt x="83344" y="105579"/>
                  <a:pt x="86529" y="102394"/>
                  <a:pt x="90488" y="102394"/>
                </a:cubicBezTo>
                <a:lnTo>
                  <a:pt x="100013" y="102394"/>
                </a:lnTo>
                <a:cubicBezTo>
                  <a:pt x="103971" y="102394"/>
                  <a:pt x="107156" y="105579"/>
                  <a:pt x="107156" y="109537"/>
                </a:cubicBezTo>
                <a:cubicBezTo>
                  <a:pt x="107156" y="113496"/>
                  <a:pt x="103971" y="116681"/>
                  <a:pt x="100013" y="116681"/>
                </a:cubicBezTo>
                <a:lnTo>
                  <a:pt x="90488" y="116681"/>
                </a:lnTo>
                <a:cubicBezTo>
                  <a:pt x="86529" y="116681"/>
                  <a:pt x="83344" y="113496"/>
                  <a:pt x="83344" y="109537"/>
                </a:cubicBezTo>
                <a:close/>
                <a:moveTo>
                  <a:pt x="119062" y="109537"/>
                </a:moveTo>
                <a:cubicBezTo>
                  <a:pt x="119062" y="105579"/>
                  <a:pt x="122247" y="102394"/>
                  <a:pt x="126206" y="102394"/>
                </a:cubicBezTo>
                <a:lnTo>
                  <a:pt x="135731" y="102394"/>
                </a:lnTo>
                <a:cubicBezTo>
                  <a:pt x="139690" y="102394"/>
                  <a:pt x="142875" y="105579"/>
                  <a:pt x="142875" y="109537"/>
                </a:cubicBezTo>
                <a:cubicBezTo>
                  <a:pt x="142875" y="113496"/>
                  <a:pt x="139690" y="116681"/>
                  <a:pt x="135731" y="116681"/>
                </a:cubicBezTo>
                <a:lnTo>
                  <a:pt x="126206" y="116681"/>
                </a:lnTo>
                <a:cubicBezTo>
                  <a:pt x="122247" y="116681"/>
                  <a:pt x="119062" y="113496"/>
                  <a:pt x="119062" y="109537"/>
                </a:cubicBezTo>
                <a:close/>
                <a:moveTo>
                  <a:pt x="66675" y="52388"/>
                </a:moveTo>
                <a:cubicBezTo>
                  <a:pt x="74560" y="52388"/>
                  <a:pt x="80962" y="58790"/>
                  <a:pt x="80962" y="66675"/>
                </a:cubicBezTo>
                <a:cubicBezTo>
                  <a:pt x="80962" y="74560"/>
                  <a:pt x="74560" y="80962"/>
                  <a:pt x="66675" y="80962"/>
                </a:cubicBezTo>
                <a:cubicBezTo>
                  <a:pt x="58790" y="80962"/>
                  <a:pt x="52388" y="74560"/>
                  <a:pt x="52388" y="66675"/>
                </a:cubicBezTo>
                <a:cubicBezTo>
                  <a:pt x="52388" y="58790"/>
                  <a:pt x="58790" y="52388"/>
                  <a:pt x="66675" y="52388"/>
                </a:cubicBezTo>
                <a:close/>
                <a:moveTo>
                  <a:pt x="109537" y="66675"/>
                </a:moveTo>
                <a:cubicBezTo>
                  <a:pt x="109537" y="58790"/>
                  <a:pt x="115940" y="52388"/>
                  <a:pt x="123825" y="52388"/>
                </a:cubicBezTo>
                <a:cubicBezTo>
                  <a:pt x="131710" y="52388"/>
                  <a:pt x="138113" y="58790"/>
                  <a:pt x="138113" y="66675"/>
                </a:cubicBezTo>
                <a:cubicBezTo>
                  <a:pt x="138113" y="74560"/>
                  <a:pt x="131710" y="80962"/>
                  <a:pt x="123825" y="80962"/>
                </a:cubicBezTo>
                <a:cubicBezTo>
                  <a:pt x="115940" y="80962"/>
                  <a:pt x="109537" y="74560"/>
                  <a:pt x="109537" y="66675"/>
                </a:cubicBezTo>
                <a:close/>
                <a:moveTo>
                  <a:pt x="19050" y="66675"/>
                </a:moveTo>
                <a:cubicBezTo>
                  <a:pt x="19050" y="61406"/>
                  <a:pt x="14794" y="57150"/>
                  <a:pt x="9525" y="57150"/>
                </a:cubicBezTo>
                <a:cubicBezTo>
                  <a:pt x="4256" y="57150"/>
                  <a:pt x="0" y="61406"/>
                  <a:pt x="0" y="66675"/>
                </a:cubicBezTo>
                <a:lnTo>
                  <a:pt x="0" y="95250"/>
                </a:lnTo>
                <a:cubicBezTo>
                  <a:pt x="0" y="100519"/>
                  <a:pt x="4256" y="104775"/>
                  <a:pt x="9525" y="104775"/>
                </a:cubicBezTo>
                <a:cubicBezTo>
                  <a:pt x="14794" y="104775"/>
                  <a:pt x="19050" y="100519"/>
                  <a:pt x="19050" y="95250"/>
                </a:cubicBezTo>
                <a:lnTo>
                  <a:pt x="19050" y="66675"/>
                </a:lnTo>
                <a:close/>
                <a:moveTo>
                  <a:pt x="180975" y="57150"/>
                </a:moveTo>
                <a:cubicBezTo>
                  <a:pt x="175706" y="57150"/>
                  <a:pt x="171450" y="61406"/>
                  <a:pt x="171450" y="66675"/>
                </a:cubicBezTo>
                <a:lnTo>
                  <a:pt x="171450" y="95250"/>
                </a:lnTo>
                <a:cubicBezTo>
                  <a:pt x="171450" y="100519"/>
                  <a:pt x="175706" y="104775"/>
                  <a:pt x="180975" y="104775"/>
                </a:cubicBezTo>
                <a:cubicBezTo>
                  <a:pt x="186244" y="104775"/>
                  <a:pt x="190500" y="100519"/>
                  <a:pt x="190500" y="95250"/>
                </a:cubicBezTo>
                <a:lnTo>
                  <a:pt x="190500" y="66675"/>
                </a:lnTo>
                <a:cubicBezTo>
                  <a:pt x="190500" y="61406"/>
                  <a:pt x="186244" y="57150"/>
                  <a:pt x="180975" y="57150"/>
                </a:cubicBezTo>
                <a:close/>
              </a:path>
            </a:pathLst>
          </a:custGeom>
          <a:solidFill>
            <a:srgbClr val="2B7FFF"/>
          </a:solidFill>
          <a:ln/>
        </p:spPr>
      </p:sp>
      <p:sp>
        <p:nvSpPr>
          <p:cNvPr id="13" name="Text 11"/>
          <p:cNvSpPr/>
          <p:nvPr/>
        </p:nvSpPr>
        <p:spPr>
          <a:xfrm>
            <a:off x="807720" y="2084077"/>
            <a:ext cx="44291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Virtual Tutors</a:t>
            </a:r>
            <a:endParaRPr lang="en-US" sz="1600" dirty="0"/>
          </a:p>
        </p:txBody>
      </p:sp>
      <p:sp>
        <p:nvSpPr>
          <p:cNvPr id="14" name="Text 12"/>
          <p:cNvSpPr/>
          <p:nvPr/>
        </p:nvSpPr>
        <p:spPr>
          <a:xfrm>
            <a:off x="807720" y="2312677"/>
            <a:ext cx="44291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AI tutors available 24/7 to answer questions and explain concepts</a:t>
            </a:r>
            <a:endParaRPr lang="en-US" sz="1600" dirty="0"/>
          </a:p>
        </p:txBody>
      </p:sp>
      <p:sp>
        <p:nvSpPr>
          <p:cNvPr id="15" name="Shape 13"/>
          <p:cNvSpPr/>
          <p:nvPr/>
        </p:nvSpPr>
        <p:spPr>
          <a:xfrm>
            <a:off x="521970" y="2636527"/>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2B7FFF"/>
          </a:solidFill>
          <a:ln/>
        </p:spPr>
      </p:sp>
      <p:sp>
        <p:nvSpPr>
          <p:cNvPr id="16" name="Text 14"/>
          <p:cNvSpPr/>
          <p:nvPr/>
        </p:nvSpPr>
        <p:spPr>
          <a:xfrm>
            <a:off x="807720" y="2598427"/>
            <a:ext cx="415290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Automated Grading</a:t>
            </a:r>
            <a:endParaRPr lang="en-US" sz="1600" dirty="0"/>
          </a:p>
        </p:txBody>
      </p:sp>
      <p:sp>
        <p:nvSpPr>
          <p:cNvPr id="17" name="Text 15"/>
          <p:cNvSpPr/>
          <p:nvPr/>
        </p:nvSpPr>
        <p:spPr>
          <a:xfrm>
            <a:off x="807720" y="2827027"/>
            <a:ext cx="415290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Instantly grades assignments and provides detailed feedback</a:t>
            </a:r>
            <a:endParaRPr lang="en-US" sz="1600" dirty="0"/>
          </a:p>
        </p:txBody>
      </p:sp>
      <p:sp>
        <p:nvSpPr>
          <p:cNvPr id="18" name="Shape 16"/>
          <p:cNvSpPr/>
          <p:nvPr/>
        </p:nvSpPr>
        <p:spPr>
          <a:xfrm>
            <a:off x="521970" y="3150877"/>
            <a:ext cx="152400" cy="152400"/>
          </a:xfrm>
          <a:custGeom>
            <a:avLst/>
            <a:gdLst/>
            <a:ahLst/>
            <a:cxnLst/>
            <a:rect l="l" t="t" r="r" b="b"/>
            <a:pathLst>
              <a:path w="152400" h="152400">
                <a:moveTo>
                  <a:pt x="0" y="76200"/>
                </a:moveTo>
                <a:cubicBezTo>
                  <a:pt x="0" y="34144"/>
                  <a:pt x="34144" y="0"/>
                  <a:pt x="76200" y="0"/>
                </a:cubicBezTo>
                <a:cubicBezTo>
                  <a:pt x="118256" y="0"/>
                  <a:pt x="152400" y="34144"/>
                  <a:pt x="152400" y="76200"/>
                </a:cubicBezTo>
                <a:cubicBezTo>
                  <a:pt x="152400" y="118256"/>
                  <a:pt x="118256" y="152400"/>
                  <a:pt x="76200" y="152400"/>
                </a:cubicBezTo>
                <a:cubicBezTo>
                  <a:pt x="34144" y="152400"/>
                  <a:pt x="0" y="118256"/>
                  <a:pt x="0" y="76200"/>
                </a:cubicBezTo>
                <a:close/>
                <a:moveTo>
                  <a:pt x="48071" y="50572"/>
                </a:moveTo>
                <a:cubicBezTo>
                  <a:pt x="44440" y="49024"/>
                  <a:pt x="40243" y="50691"/>
                  <a:pt x="38695" y="54322"/>
                </a:cubicBezTo>
                <a:cubicBezTo>
                  <a:pt x="37148" y="57954"/>
                  <a:pt x="38814" y="62151"/>
                  <a:pt x="42446" y="63698"/>
                </a:cubicBezTo>
                <a:lnTo>
                  <a:pt x="45988" y="65216"/>
                </a:lnTo>
                <a:cubicBezTo>
                  <a:pt x="51137" y="67419"/>
                  <a:pt x="56465" y="69056"/>
                  <a:pt x="61942" y="70068"/>
                </a:cubicBezTo>
                <a:lnTo>
                  <a:pt x="61942" y="84981"/>
                </a:lnTo>
                <a:cubicBezTo>
                  <a:pt x="61942" y="86261"/>
                  <a:pt x="61734" y="87541"/>
                  <a:pt x="61317" y="88731"/>
                </a:cubicBezTo>
                <a:lnTo>
                  <a:pt x="52774" y="114360"/>
                </a:lnTo>
                <a:cubicBezTo>
                  <a:pt x="51524" y="118110"/>
                  <a:pt x="53548" y="122158"/>
                  <a:pt x="57299" y="123408"/>
                </a:cubicBezTo>
                <a:cubicBezTo>
                  <a:pt x="61049" y="124658"/>
                  <a:pt x="65097" y="122634"/>
                  <a:pt x="66348" y="118884"/>
                </a:cubicBezTo>
                <a:lnTo>
                  <a:pt x="73610" y="97095"/>
                </a:lnTo>
                <a:cubicBezTo>
                  <a:pt x="73997" y="95964"/>
                  <a:pt x="75039" y="95190"/>
                  <a:pt x="76230" y="95190"/>
                </a:cubicBezTo>
                <a:cubicBezTo>
                  <a:pt x="77420" y="95190"/>
                  <a:pt x="78492" y="95964"/>
                  <a:pt x="78849" y="97095"/>
                </a:cubicBezTo>
                <a:lnTo>
                  <a:pt x="86112" y="118884"/>
                </a:lnTo>
                <a:cubicBezTo>
                  <a:pt x="87362" y="122634"/>
                  <a:pt x="91410" y="124658"/>
                  <a:pt x="95161" y="123408"/>
                </a:cubicBezTo>
                <a:cubicBezTo>
                  <a:pt x="98911" y="122158"/>
                  <a:pt x="100905" y="118170"/>
                  <a:pt x="99655" y="114419"/>
                </a:cubicBezTo>
                <a:lnTo>
                  <a:pt x="91113" y="88791"/>
                </a:lnTo>
                <a:cubicBezTo>
                  <a:pt x="90696" y="87570"/>
                  <a:pt x="90488" y="86320"/>
                  <a:pt x="90488" y="85040"/>
                </a:cubicBezTo>
                <a:lnTo>
                  <a:pt x="90488" y="70128"/>
                </a:lnTo>
                <a:cubicBezTo>
                  <a:pt x="95964" y="69086"/>
                  <a:pt x="101292" y="67479"/>
                  <a:pt x="106442" y="65276"/>
                </a:cubicBezTo>
                <a:lnTo>
                  <a:pt x="109984" y="63758"/>
                </a:lnTo>
                <a:cubicBezTo>
                  <a:pt x="113615" y="62210"/>
                  <a:pt x="115282" y="58013"/>
                  <a:pt x="113734" y="54382"/>
                </a:cubicBezTo>
                <a:cubicBezTo>
                  <a:pt x="112187" y="50750"/>
                  <a:pt x="107990" y="49084"/>
                  <a:pt x="104358" y="50631"/>
                </a:cubicBezTo>
                <a:lnTo>
                  <a:pt x="100816" y="52090"/>
                </a:lnTo>
                <a:cubicBezTo>
                  <a:pt x="93047" y="55424"/>
                  <a:pt x="84683" y="57150"/>
                  <a:pt x="76200" y="57150"/>
                </a:cubicBezTo>
                <a:cubicBezTo>
                  <a:pt x="67717" y="57150"/>
                  <a:pt x="59382" y="55424"/>
                  <a:pt x="51584" y="52090"/>
                </a:cubicBezTo>
                <a:lnTo>
                  <a:pt x="48042" y="50572"/>
                </a:lnTo>
                <a:close/>
                <a:moveTo>
                  <a:pt x="76200" y="47625"/>
                </a:moveTo>
                <a:cubicBezTo>
                  <a:pt x="82771" y="47625"/>
                  <a:pt x="88106" y="42290"/>
                  <a:pt x="88106" y="35719"/>
                </a:cubicBezTo>
                <a:cubicBezTo>
                  <a:pt x="88106" y="29148"/>
                  <a:pt x="82771" y="23813"/>
                  <a:pt x="76200" y="23813"/>
                </a:cubicBezTo>
                <a:cubicBezTo>
                  <a:pt x="69629" y="23813"/>
                  <a:pt x="64294" y="29148"/>
                  <a:pt x="64294" y="35719"/>
                </a:cubicBezTo>
                <a:cubicBezTo>
                  <a:pt x="64294" y="42290"/>
                  <a:pt x="69629" y="47625"/>
                  <a:pt x="76200" y="47625"/>
                </a:cubicBezTo>
                <a:close/>
              </a:path>
            </a:pathLst>
          </a:custGeom>
          <a:solidFill>
            <a:srgbClr val="2B7FFF"/>
          </a:solidFill>
          <a:ln/>
        </p:spPr>
      </p:sp>
      <p:sp>
        <p:nvSpPr>
          <p:cNvPr id="19" name="Text 17"/>
          <p:cNvSpPr/>
          <p:nvPr/>
        </p:nvSpPr>
        <p:spPr>
          <a:xfrm>
            <a:off x="807720" y="3112777"/>
            <a:ext cx="44672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Accessibility</a:t>
            </a:r>
            <a:endParaRPr lang="en-US" sz="1600" dirty="0"/>
          </a:p>
        </p:txBody>
      </p:sp>
      <p:sp>
        <p:nvSpPr>
          <p:cNvPr id="20" name="Text 18"/>
          <p:cNvSpPr/>
          <p:nvPr/>
        </p:nvSpPr>
        <p:spPr>
          <a:xfrm>
            <a:off x="807720" y="3341377"/>
            <a:ext cx="44672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Helps students with disabilities through voice-to-text, translations</a:t>
            </a:r>
            <a:endParaRPr lang="en-US" sz="1600" dirty="0"/>
          </a:p>
        </p:txBody>
      </p:sp>
      <p:sp>
        <p:nvSpPr>
          <p:cNvPr id="21" name="Shape 19"/>
          <p:cNvSpPr/>
          <p:nvPr/>
        </p:nvSpPr>
        <p:spPr>
          <a:xfrm>
            <a:off x="384810" y="3771896"/>
            <a:ext cx="6760845" cy="2255520"/>
          </a:xfrm>
          <a:prstGeom prst="roundRect">
            <a:avLst>
              <a:gd name="adj" fmla="val 5068"/>
            </a:avLst>
          </a:prstGeom>
          <a:solidFill>
            <a:srgbClr val="262626"/>
          </a:solidFill>
          <a:ln w="10160">
            <a:solidFill>
              <a:srgbClr val="333333"/>
            </a:solidFill>
            <a:prstDash val="solid"/>
          </a:ln>
        </p:spPr>
      </p:sp>
      <p:sp>
        <p:nvSpPr>
          <p:cNvPr id="22" name="Text 20"/>
          <p:cNvSpPr/>
          <p:nvPr/>
        </p:nvSpPr>
        <p:spPr>
          <a:xfrm>
            <a:off x="502920" y="3890014"/>
            <a:ext cx="6619875"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Benefits for Students</a:t>
            </a:r>
            <a:endParaRPr lang="en-US" sz="1600" dirty="0"/>
          </a:p>
        </p:txBody>
      </p:sp>
      <p:sp>
        <p:nvSpPr>
          <p:cNvPr id="23" name="Shape 21"/>
          <p:cNvSpPr/>
          <p:nvPr/>
        </p:nvSpPr>
        <p:spPr>
          <a:xfrm>
            <a:off x="502920" y="4232914"/>
            <a:ext cx="3219450" cy="800100"/>
          </a:xfrm>
          <a:prstGeom prst="roundRect">
            <a:avLst>
              <a:gd name="adj" fmla="val 9524"/>
            </a:avLst>
          </a:prstGeom>
          <a:solidFill>
            <a:srgbClr val="191919"/>
          </a:solidFill>
          <a:ln/>
        </p:spPr>
      </p:sp>
      <p:sp>
        <p:nvSpPr>
          <p:cNvPr id="24" name="Shape 22"/>
          <p:cNvSpPr/>
          <p:nvPr/>
        </p:nvSpPr>
        <p:spPr>
          <a:xfrm>
            <a:off x="2000250" y="4309114"/>
            <a:ext cx="228600" cy="228600"/>
          </a:xfrm>
          <a:custGeom>
            <a:avLst/>
            <a:gdLst/>
            <a:ahLst/>
            <a:cxnLst/>
            <a:rect l="l" t="t" r="r" b="b"/>
            <a:pathLst>
              <a:path w="228600" h="228600">
                <a:moveTo>
                  <a:pt x="114300" y="0"/>
                </a:moveTo>
                <a:cubicBezTo>
                  <a:pt x="177384" y="0"/>
                  <a:pt x="228600" y="51216"/>
                  <a:pt x="228600" y="114300"/>
                </a:cubicBezTo>
                <a:cubicBezTo>
                  <a:pt x="228600" y="177384"/>
                  <a:pt x="177384" y="228600"/>
                  <a:pt x="114300" y="228600"/>
                </a:cubicBezTo>
                <a:cubicBezTo>
                  <a:pt x="51216" y="228600"/>
                  <a:pt x="0" y="177384"/>
                  <a:pt x="0" y="114300"/>
                </a:cubicBezTo>
                <a:cubicBezTo>
                  <a:pt x="0" y="51216"/>
                  <a:pt x="51216" y="0"/>
                  <a:pt x="114300" y="0"/>
                </a:cubicBezTo>
                <a:close/>
                <a:moveTo>
                  <a:pt x="103584" y="53578"/>
                </a:moveTo>
                <a:lnTo>
                  <a:pt x="103584" y="114300"/>
                </a:lnTo>
                <a:cubicBezTo>
                  <a:pt x="103584" y="117872"/>
                  <a:pt x="105370" y="121221"/>
                  <a:pt x="108362" y="123230"/>
                </a:cubicBezTo>
                <a:lnTo>
                  <a:pt x="151224" y="151805"/>
                </a:lnTo>
                <a:cubicBezTo>
                  <a:pt x="156136" y="155109"/>
                  <a:pt x="162788" y="153769"/>
                  <a:pt x="166092" y="148813"/>
                </a:cubicBezTo>
                <a:cubicBezTo>
                  <a:pt x="169396" y="143857"/>
                  <a:pt x="168057" y="137249"/>
                  <a:pt x="163101" y="133945"/>
                </a:cubicBezTo>
                <a:lnTo>
                  <a:pt x="125016" y="108585"/>
                </a:lnTo>
                <a:lnTo>
                  <a:pt x="125016" y="53578"/>
                </a:lnTo>
                <a:cubicBezTo>
                  <a:pt x="125016" y="47640"/>
                  <a:pt x="120238" y="42863"/>
                  <a:pt x="114300" y="42863"/>
                </a:cubicBezTo>
                <a:cubicBezTo>
                  <a:pt x="108362" y="42863"/>
                  <a:pt x="103584" y="47640"/>
                  <a:pt x="103584" y="53578"/>
                </a:cubicBezTo>
                <a:close/>
              </a:path>
            </a:pathLst>
          </a:custGeom>
          <a:solidFill>
            <a:srgbClr val="2B7FFF"/>
          </a:solidFill>
          <a:ln/>
        </p:spPr>
      </p:sp>
      <p:sp>
        <p:nvSpPr>
          <p:cNvPr id="25" name="Text 23"/>
          <p:cNvSpPr/>
          <p:nvPr/>
        </p:nvSpPr>
        <p:spPr>
          <a:xfrm>
            <a:off x="545782" y="4575814"/>
            <a:ext cx="3133725" cy="190500"/>
          </a:xfrm>
          <a:prstGeom prst="rect">
            <a:avLst/>
          </a:prstGeom>
          <a:noFill/>
          <a:ln/>
        </p:spPr>
        <p:txBody>
          <a:bodyPr wrap="square" lIns="0" tIns="0" rIns="0" bIns="0" rtlCol="0" anchor="ctr"/>
          <a:lstStyle/>
          <a:p>
            <a:pPr algn="ctr">
              <a:lnSpc>
                <a:spcPct val="120000"/>
              </a:lnSpc>
            </a:pPr>
            <a:r>
              <a:rPr lang="en-US" sz="1050" b="1" dirty="0">
                <a:solidFill>
                  <a:srgbClr val="EFEFEF"/>
                </a:solidFill>
                <a:latin typeface="Liter" pitchFamily="34" charset="0"/>
                <a:ea typeface="Liter" pitchFamily="34" charset="-122"/>
                <a:cs typeface="Liter" pitchFamily="34" charset="-120"/>
              </a:rPr>
              <a:t>Learn at Your Pace</a:t>
            </a:r>
            <a:endParaRPr lang="en-US" sz="1600" dirty="0"/>
          </a:p>
        </p:txBody>
      </p:sp>
      <p:sp>
        <p:nvSpPr>
          <p:cNvPr id="26" name="Text 24"/>
          <p:cNvSpPr/>
          <p:nvPr/>
        </p:nvSpPr>
        <p:spPr>
          <a:xfrm>
            <a:off x="545782" y="4766314"/>
            <a:ext cx="3133725" cy="190500"/>
          </a:xfrm>
          <a:prstGeom prst="rect">
            <a:avLst/>
          </a:prstGeom>
          <a:noFill/>
          <a:ln/>
        </p:spPr>
        <p:txBody>
          <a:bodyPr wrap="square" lIns="0" tIns="0" rIns="0" bIns="0" rtlCol="0" anchor="ctr"/>
          <a:lstStyle/>
          <a:p>
            <a:pPr algn="ctr">
              <a:lnSpc>
                <a:spcPct val="120000"/>
              </a:lnSpc>
            </a:pPr>
            <a:r>
              <a:rPr lang="en-US" sz="1050" dirty="0">
                <a:solidFill>
                  <a:srgbClr val="8F8F8F"/>
                </a:solidFill>
                <a:latin typeface="Liter" pitchFamily="34" charset="0"/>
                <a:ea typeface="Liter" pitchFamily="34" charset="-122"/>
                <a:cs typeface="Liter" pitchFamily="34" charset="-120"/>
              </a:rPr>
              <a:t>No pressure, no rushing</a:t>
            </a:r>
            <a:endParaRPr lang="en-US" sz="1600" dirty="0"/>
          </a:p>
        </p:txBody>
      </p:sp>
      <p:sp>
        <p:nvSpPr>
          <p:cNvPr id="27" name="Shape 25"/>
          <p:cNvSpPr/>
          <p:nvPr/>
        </p:nvSpPr>
        <p:spPr>
          <a:xfrm>
            <a:off x="3802380" y="4232914"/>
            <a:ext cx="3219450" cy="800100"/>
          </a:xfrm>
          <a:prstGeom prst="roundRect">
            <a:avLst>
              <a:gd name="adj" fmla="val 9524"/>
            </a:avLst>
          </a:prstGeom>
          <a:solidFill>
            <a:srgbClr val="191919"/>
          </a:solidFill>
          <a:ln/>
        </p:spPr>
      </p:sp>
      <p:sp>
        <p:nvSpPr>
          <p:cNvPr id="28" name="Shape 26"/>
          <p:cNvSpPr/>
          <p:nvPr/>
        </p:nvSpPr>
        <p:spPr>
          <a:xfrm>
            <a:off x="5299710" y="4309114"/>
            <a:ext cx="228600" cy="228600"/>
          </a:xfrm>
          <a:custGeom>
            <a:avLst/>
            <a:gdLst/>
            <a:ahLst/>
            <a:cxnLst/>
            <a:rect l="l" t="t" r="r" b="b"/>
            <a:pathLst>
              <a:path w="228600" h="228600">
                <a:moveTo>
                  <a:pt x="200025" y="114300"/>
                </a:moveTo>
                <a:cubicBezTo>
                  <a:pt x="200025" y="66987"/>
                  <a:pt x="161613" y="28575"/>
                  <a:pt x="114300" y="28575"/>
                </a:cubicBezTo>
                <a:cubicBezTo>
                  <a:pt x="66987" y="28575"/>
                  <a:pt x="28575" y="66987"/>
                  <a:pt x="28575" y="114300"/>
                </a:cubicBezTo>
                <a:cubicBezTo>
                  <a:pt x="28575" y="161613"/>
                  <a:pt x="66987" y="200025"/>
                  <a:pt x="114300" y="200025"/>
                </a:cubicBezTo>
                <a:cubicBezTo>
                  <a:pt x="161613" y="200025"/>
                  <a:pt x="200025" y="161613"/>
                  <a:pt x="200025" y="114300"/>
                </a:cubicBezTo>
                <a:close/>
                <a:moveTo>
                  <a:pt x="0" y="114300"/>
                </a:moveTo>
                <a:cubicBezTo>
                  <a:pt x="0" y="51216"/>
                  <a:pt x="51216" y="0"/>
                  <a:pt x="114300" y="0"/>
                </a:cubicBezTo>
                <a:cubicBezTo>
                  <a:pt x="177384" y="0"/>
                  <a:pt x="228600" y="51216"/>
                  <a:pt x="228600" y="114300"/>
                </a:cubicBezTo>
                <a:cubicBezTo>
                  <a:pt x="228600" y="177384"/>
                  <a:pt x="177384" y="228600"/>
                  <a:pt x="114300" y="228600"/>
                </a:cubicBezTo>
                <a:cubicBezTo>
                  <a:pt x="51216" y="228600"/>
                  <a:pt x="0" y="177384"/>
                  <a:pt x="0" y="114300"/>
                </a:cubicBezTo>
                <a:close/>
                <a:moveTo>
                  <a:pt x="114300" y="150019"/>
                </a:moveTo>
                <a:cubicBezTo>
                  <a:pt x="134014" y="150019"/>
                  <a:pt x="150019" y="134014"/>
                  <a:pt x="150019" y="114300"/>
                </a:cubicBezTo>
                <a:cubicBezTo>
                  <a:pt x="150019" y="94586"/>
                  <a:pt x="134014" y="78581"/>
                  <a:pt x="114300" y="78581"/>
                </a:cubicBezTo>
                <a:cubicBezTo>
                  <a:pt x="94586" y="78581"/>
                  <a:pt x="78581" y="94586"/>
                  <a:pt x="78581" y="114300"/>
                </a:cubicBezTo>
                <a:cubicBezTo>
                  <a:pt x="78581" y="134014"/>
                  <a:pt x="94586" y="150019"/>
                  <a:pt x="114300" y="150019"/>
                </a:cubicBezTo>
                <a:close/>
                <a:moveTo>
                  <a:pt x="114300" y="50006"/>
                </a:moveTo>
                <a:cubicBezTo>
                  <a:pt x="149785" y="50006"/>
                  <a:pt x="178594" y="78815"/>
                  <a:pt x="178594" y="114300"/>
                </a:cubicBezTo>
                <a:cubicBezTo>
                  <a:pt x="178594" y="149785"/>
                  <a:pt x="149785" y="178594"/>
                  <a:pt x="114300" y="178594"/>
                </a:cubicBezTo>
                <a:cubicBezTo>
                  <a:pt x="78815" y="178594"/>
                  <a:pt x="50006" y="149785"/>
                  <a:pt x="50006" y="114300"/>
                </a:cubicBezTo>
                <a:cubicBezTo>
                  <a:pt x="50006" y="78815"/>
                  <a:pt x="78815" y="50006"/>
                  <a:pt x="114300" y="50006"/>
                </a:cubicBezTo>
                <a:close/>
                <a:moveTo>
                  <a:pt x="100013" y="114300"/>
                </a:moveTo>
                <a:cubicBezTo>
                  <a:pt x="100013" y="106415"/>
                  <a:pt x="106415" y="100013"/>
                  <a:pt x="114300" y="100013"/>
                </a:cubicBezTo>
                <a:cubicBezTo>
                  <a:pt x="122185" y="100013"/>
                  <a:pt x="128588" y="106415"/>
                  <a:pt x="128588" y="114300"/>
                </a:cubicBezTo>
                <a:cubicBezTo>
                  <a:pt x="128588" y="122185"/>
                  <a:pt x="122185" y="128588"/>
                  <a:pt x="114300" y="128588"/>
                </a:cubicBezTo>
                <a:cubicBezTo>
                  <a:pt x="106415" y="128588"/>
                  <a:pt x="100013" y="122185"/>
                  <a:pt x="100013" y="114300"/>
                </a:cubicBezTo>
                <a:close/>
              </a:path>
            </a:pathLst>
          </a:custGeom>
          <a:solidFill>
            <a:srgbClr val="2B7FFF"/>
          </a:solidFill>
          <a:ln/>
        </p:spPr>
      </p:sp>
      <p:sp>
        <p:nvSpPr>
          <p:cNvPr id="29" name="Text 27"/>
          <p:cNvSpPr/>
          <p:nvPr/>
        </p:nvSpPr>
        <p:spPr>
          <a:xfrm>
            <a:off x="3845243" y="4575814"/>
            <a:ext cx="3133725" cy="190500"/>
          </a:xfrm>
          <a:prstGeom prst="rect">
            <a:avLst/>
          </a:prstGeom>
          <a:noFill/>
          <a:ln/>
        </p:spPr>
        <p:txBody>
          <a:bodyPr wrap="square" lIns="0" tIns="0" rIns="0" bIns="0" rtlCol="0" anchor="ctr"/>
          <a:lstStyle/>
          <a:p>
            <a:pPr algn="ctr">
              <a:lnSpc>
                <a:spcPct val="120000"/>
              </a:lnSpc>
            </a:pPr>
            <a:r>
              <a:rPr lang="en-US" sz="1050" b="1" dirty="0">
                <a:solidFill>
                  <a:srgbClr val="EFEFEF"/>
                </a:solidFill>
                <a:latin typeface="Liter" pitchFamily="34" charset="0"/>
                <a:ea typeface="Liter" pitchFamily="34" charset="-122"/>
                <a:cs typeface="Liter" pitchFamily="34" charset="-120"/>
              </a:rPr>
              <a:t>Personalized Content</a:t>
            </a:r>
            <a:endParaRPr lang="en-US" sz="1600" dirty="0"/>
          </a:p>
        </p:txBody>
      </p:sp>
      <p:sp>
        <p:nvSpPr>
          <p:cNvPr id="30" name="Text 28"/>
          <p:cNvSpPr/>
          <p:nvPr/>
        </p:nvSpPr>
        <p:spPr>
          <a:xfrm>
            <a:off x="3845243" y="4766314"/>
            <a:ext cx="3133725" cy="190500"/>
          </a:xfrm>
          <a:prstGeom prst="rect">
            <a:avLst/>
          </a:prstGeom>
          <a:noFill/>
          <a:ln/>
        </p:spPr>
        <p:txBody>
          <a:bodyPr wrap="square" lIns="0" tIns="0" rIns="0" bIns="0" rtlCol="0" anchor="ctr"/>
          <a:lstStyle/>
          <a:p>
            <a:pPr algn="ctr">
              <a:lnSpc>
                <a:spcPct val="120000"/>
              </a:lnSpc>
            </a:pPr>
            <a:r>
              <a:rPr lang="en-US" sz="1050" dirty="0">
                <a:solidFill>
                  <a:srgbClr val="8F8F8F"/>
                </a:solidFill>
                <a:latin typeface="Liter" pitchFamily="34" charset="0"/>
                <a:ea typeface="Liter" pitchFamily="34" charset="-122"/>
                <a:cs typeface="Liter" pitchFamily="34" charset="-120"/>
              </a:rPr>
              <a:t>Matches your style</a:t>
            </a:r>
            <a:endParaRPr lang="en-US" sz="1600" dirty="0"/>
          </a:p>
        </p:txBody>
      </p:sp>
      <p:sp>
        <p:nvSpPr>
          <p:cNvPr id="31" name="Shape 29"/>
          <p:cNvSpPr/>
          <p:nvPr/>
        </p:nvSpPr>
        <p:spPr>
          <a:xfrm>
            <a:off x="502920" y="5109214"/>
            <a:ext cx="3219450" cy="800100"/>
          </a:xfrm>
          <a:prstGeom prst="roundRect">
            <a:avLst>
              <a:gd name="adj" fmla="val 9524"/>
            </a:avLst>
          </a:prstGeom>
          <a:solidFill>
            <a:srgbClr val="191919"/>
          </a:solidFill>
          <a:ln/>
        </p:spPr>
      </p:sp>
      <p:sp>
        <p:nvSpPr>
          <p:cNvPr id="32" name="Shape 30"/>
          <p:cNvSpPr/>
          <p:nvPr/>
        </p:nvSpPr>
        <p:spPr>
          <a:xfrm>
            <a:off x="2000250" y="5185414"/>
            <a:ext cx="228600" cy="228600"/>
          </a:xfrm>
          <a:custGeom>
            <a:avLst/>
            <a:gdLst/>
            <a:ahLst/>
            <a:cxnLst/>
            <a:rect l="l" t="t" r="r" b="b"/>
            <a:pathLst>
              <a:path w="228600" h="228600">
                <a:moveTo>
                  <a:pt x="28575" y="28575"/>
                </a:moveTo>
                <a:cubicBezTo>
                  <a:pt x="28575" y="20672"/>
                  <a:pt x="22190" y="14288"/>
                  <a:pt x="14288" y="14288"/>
                </a:cubicBezTo>
                <a:cubicBezTo>
                  <a:pt x="6385" y="14288"/>
                  <a:pt x="0" y="20672"/>
                  <a:pt x="0" y="28575"/>
                </a:cubicBezTo>
                <a:lnTo>
                  <a:pt x="0" y="178594"/>
                </a:lnTo>
                <a:cubicBezTo>
                  <a:pt x="0" y="198328"/>
                  <a:pt x="15984" y="214313"/>
                  <a:pt x="35719" y="214313"/>
                </a:cubicBezTo>
                <a:lnTo>
                  <a:pt x="214313" y="214313"/>
                </a:lnTo>
                <a:cubicBezTo>
                  <a:pt x="222215" y="214313"/>
                  <a:pt x="228600" y="207928"/>
                  <a:pt x="228600" y="200025"/>
                </a:cubicBezTo>
                <a:cubicBezTo>
                  <a:pt x="228600" y="192122"/>
                  <a:pt x="222215" y="185738"/>
                  <a:pt x="214313" y="185738"/>
                </a:cubicBezTo>
                <a:lnTo>
                  <a:pt x="35719" y="185738"/>
                </a:lnTo>
                <a:cubicBezTo>
                  <a:pt x="31790" y="185738"/>
                  <a:pt x="28575" y="182523"/>
                  <a:pt x="28575" y="178594"/>
                </a:cubicBezTo>
                <a:lnTo>
                  <a:pt x="28575" y="28575"/>
                </a:lnTo>
                <a:close/>
                <a:moveTo>
                  <a:pt x="210116" y="67241"/>
                </a:moveTo>
                <a:cubicBezTo>
                  <a:pt x="215697" y="61659"/>
                  <a:pt x="215697" y="52596"/>
                  <a:pt x="210116" y="47015"/>
                </a:cubicBezTo>
                <a:cubicBezTo>
                  <a:pt x="204534" y="41434"/>
                  <a:pt x="195471" y="41434"/>
                  <a:pt x="189890" y="47015"/>
                </a:cubicBezTo>
                <a:lnTo>
                  <a:pt x="142875" y="94074"/>
                </a:lnTo>
                <a:lnTo>
                  <a:pt x="117247" y="68491"/>
                </a:lnTo>
                <a:cubicBezTo>
                  <a:pt x="111666" y="62910"/>
                  <a:pt x="102602" y="62910"/>
                  <a:pt x="97021" y="68491"/>
                </a:cubicBezTo>
                <a:lnTo>
                  <a:pt x="54159" y="111353"/>
                </a:lnTo>
                <a:cubicBezTo>
                  <a:pt x="48578" y="116934"/>
                  <a:pt x="48578" y="125998"/>
                  <a:pt x="54159" y="131579"/>
                </a:cubicBezTo>
                <a:cubicBezTo>
                  <a:pt x="59740" y="137160"/>
                  <a:pt x="68803" y="137160"/>
                  <a:pt x="74384" y="131579"/>
                </a:cubicBezTo>
                <a:lnTo>
                  <a:pt x="107156" y="98807"/>
                </a:lnTo>
                <a:lnTo>
                  <a:pt x="132784" y="124435"/>
                </a:lnTo>
                <a:cubicBezTo>
                  <a:pt x="138366" y="130016"/>
                  <a:pt x="147429" y="130016"/>
                  <a:pt x="153010" y="124435"/>
                </a:cubicBezTo>
                <a:lnTo>
                  <a:pt x="210160" y="67285"/>
                </a:lnTo>
                <a:close/>
              </a:path>
            </a:pathLst>
          </a:custGeom>
          <a:solidFill>
            <a:srgbClr val="2B7FFF"/>
          </a:solidFill>
          <a:ln/>
        </p:spPr>
      </p:sp>
      <p:sp>
        <p:nvSpPr>
          <p:cNvPr id="33" name="Text 31"/>
          <p:cNvSpPr/>
          <p:nvPr/>
        </p:nvSpPr>
        <p:spPr>
          <a:xfrm>
            <a:off x="545782" y="5452114"/>
            <a:ext cx="3133725" cy="190500"/>
          </a:xfrm>
          <a:prstGeom prst="rect">
            <a:avLst/>
          </a:prstGeom>
          <a:noFill/>
          <a:ln/>
        </p:spPr>
        <p:txBody>
          <a:bodyPr wrap="square" lIns="0" tIns="0" rIns="0" bIns="0" rtlCol="0" anchor="ctr"/>
          <a:lstStyle/>
          <a:p>
            <a:pPr algn="ctr">
              <a:lnSpc>
                <a:spcPct val="120000"/>
              </a:lnSpc>
            </a:pPr>
            <a:r>
              <a:rPr lang="en-US" sz="1050" b="1" dirty="0">
                <a:solidFill>
                  <a:srgbClr val="EFEFEF"/>
                </a:solidFill>
                <a:latin typeface="Liter" pitchFamily="34" charset="0"/>
                <a:ea typeface="Liter" pitchFamily="34" charset="-122"/>
                <a:cs typeface="Liter" pitchFamily="34" charset="-120"/>
              </a:rPr>
              <a:t>Track Progress</a:t>
            </a:r>
            <a:endParaRPr lang="en-US" sz="1600" dirty="0"/>
          </a:p>
        </p:txBody>
      </p:sp>
      <p:sp>
        <p:nvSpPr>
          <p:cNvPr id="34" name="Text 32"/>
          <p:cNvSpPr/>
          <p:nvPr/>
        </p:nvSpPr>
        <p:spPr>
          <a:xfrm>
            <a:off x="545782" y="5642614"/>
            <a:ext cx="3133725" cy="190500"/>
          </a:xfrm>
          <a:prstGeom prst="rect">
            <a:avLst/>
          </a:prstGeom>
          <a:noFill/>
          <a:ln/>
        </p:spPr>
        <p:txBody>
          <a:bodyPr wrap="square" lIns="0" tIns="0" rIns="0" bIns="0" rtlCol="0" anchor="ctr"/>
          <a:lstStyle/>
          <a:p>
            <a:pPr algn="ctr">
              <a:lnSpc>
                <a:spcPct val="120000"/>
              </a:lnSpc>
            </a:pPr>
            <a:r>
              <a:rPr lang="en-US" sz="1050" dirty="0">
                <a:solidFill>
                  <a:srgbClr val="8F8F8F"/>
                </a:solidFill>
                <a:latin typeface="Liter" pitchFamily="34" charset="0"/>
                <a:ea typeface="Liter" pitchFamily="34" charset="-122"/>
                <a:cs typeface="Liter" pitchFamily="34" charset="-120"/>
              </a:rPr>
              <a:t>See improvement over time</a:t>
            </a:r>
            <a:endParaRPr lang="en-US" sz="1600" dirty="0"/>
          </a:p>
        </p:txBody>
      </p:sp>
      <p:sp>
        <p:nvSpPr>
          <p:cNvPr id="35" name="Shape 33"/>
          <p:cNvSpPr/>
          <p:nvPr/>
        </p:nvSpPr>
        <p:spPr>
          <a:xfrm>
            <a:off x="3802380" y="5109214"/>
            <a:ext cx="3219450" cy="800100"/>
          </a:xfrm>
          <a:prstGeom prst="roundRect">
            <a:avLst>
              <a:gd name="adj" fmla="val 9524"/>
            </a:avLst>
          </a:prstGeom>
          <a:solidFill>
            <a:srgbClr val="191919"/>
          </a:solidFill>
          <a:ln/>
        </p:spPr>
      </p:sp>
      <p:sp>
        <p:nvSpPr>
          <p:cNvPr id="36" name="Shape 34"/>
          <p:cNvSpPr/>
          <p:nvPr/>
        </p:nvSpPr>
        <p:spPr>
          <a:xfrm>
            <a:off x="5299710" y="5185414"/>
            <a:ext cx="228600" cy="228600"/>
          </a:xfrm>
          <a:custGeom>
            <a:avLst/>
            <a:gdLst/>
            <a:ahLst/>
            <a:cxnLst/>
            <a:rect l="l" t="t" r="r" b="b"/>
            <a:pathLst>
              <a:path w="228600" h="228600">
                <a:moveTo>
                  <a:pt x="157118" y="125016"/>
                </a:moveTo>
                <a:lnTo>
                  <a:pt x="71884" y="125016"/>
                </a:lnTo>
                <a:cubicBezTo>
                  <a:pt x="73179" y="153814"/>
                  <a:pt x="79564" y="180335"/>
                  <a:pt x="88627" y="199757"/>
                </a:cubicBezTo>
                <a:cubicBezTo>
                  <a:pt x="93717" y="210696"/>
                  <a:pt x="99209" y="218420"/>
                  <a:pt x="104299" y="223153"/>
                </a:cubicBezTo>
                <a:cubicBezTo>
                  <a:pt x="109299" y="227841"/>
                  <a:pt x="112737" y="228600"/>
                  <a:pt x="114523" y="228600"/>
                </a:cubicBezTo>
                <a:cubicBezTo>
                  <a:pt x="116309" y="228600"/>
                  <a:pt x="119747" y="227841"/>
                  <a:pt x="124748" y="223153"/>
                </a:cubicBezTo>
                <a:cubicBezTo>
                  <a:pt x="129838" y="218420"/>
                  <a:pt x="135329" y="210651"/>
                  <a:pt x="140419" y="199757"/>
                </a:cubicBezTo>
                <a:cubicBezTo>
                  <a:pt x="149483" y="180335"/>
                  <a:pt x="155868" y="153814"/>
                  <a:pt x="157162" y="125016"/>
                </a:cubicBezTo>
                <a:close/>
                <a:moveTo>
                  <a:pt x="71839" y="103584"/>
                </a:moveTo>
                <a:lnTo>
                  <a:pt x="157073" y="103584"/>
                </a:lnTo>
                <a:cubicBezTo>
                  <a:pt x="155823" y="74786"/>
                  <a:pt x="149438" y="48265"/>
                  <a:pt x="140375" y="28843"/>
                </a:cubicBezTo>
                <a:cubicBezTo>
                  <a:pt x="135285" y="17949"/>
                  <a:pt x="129793" y="10180"/>
                  <a:pt x="124703" y="5447"/>
                </a:cubicBezTo>
                <a:cubicBezTo>
                  <a:pt x="119702" y="759"/>
                  <a:pt x="116265" y="0"/>
                  <a:pt x="114479" y="0"/>
                </a:cubicBezTo>
                <a:cubicBezTo>
                  <a:pt x="112693" y="0"/>
                  <a:pt x="109255" y="759"/>
                  <a:pt x="104254" y="5447"/>
                </a:cubicBezTo>
                <a:cubicBezTo>
                  <a:pt x="99164" y="10180"/>
                  <a:pt x="93672" y="17949"/>
                  <a:pt x="88582" y="28843"/>
                </a:cubicBezTo>
                <a:cubicBezTo>
                  <a:pt x="79519" y="48265"/>
                  <a:pt x="73134" y="74786"/>
                  <a:pt x="71839" y="103584"/>
                </a:cubicBezTo>
                <a:close/>
                <a:moveTo>
                  <a:pt x="50408" y="103584"/>
                </a:moveTo>
                <a:cubicBezTo>
                  <a:pt x="51971" y="65365"/>
                  <a:pt x="61838" y="29870"/>
                  <a:pt x="76260" y="6563"/>
                </a:cubicBezTo>
                <a:cubicBezTo>
                  <a:pt x="35138" y="21119"/>
                  <a:pt x="4867" y="58579"/>
                  <a:pt x="670" y="103584"/>
                </a:cubicBezTo>
                <a:lnTo>
                  <a:pt x="50408" y="103584"/>
                </a:lnTo>
                <a:close/>
                <a:moveTo>
                  <a:pt x="670" y="125016"/>
                </a:moveTo>
                <a:cubicBezTo>
                  <a:pt x="4867" y="170021"/>
                  <a:pt x="35138" y="207481"/>
                  <a:pt x="76260" y="222037"/>
                </a:cubicBezTo>
                <a:cubicBezTo>
                  <a:pt x="61838" y="198730"/>
                  <a:pt x="51971" y="163235"/>
                  <a:pt x="50408" y="125016"/>
                </a:cubicBezTo>
                <a:lnTo>
                  <a:pt x="670" y="125016"/>
                </a:lnTo>
                <a:close/>
                <a:moveTo>
                  <a:pt x="178549" y="125016"/>
                </a:moveTo>
                <a:cubicBezTo>
                  <a:pt x="176986" y="163235"/>
                  <a:pt x="167119" y="198730"/>
                  <a:pt x="152698" y="222037"/>
                </a:cubicBezTo>
                <a:cubicBezTo>
                  <a:pt x="193819" y="207437"/>
                  <a:pt x="224091" y="170021"/>
                  <a:pt x="228287" y="125016"/>
                </a:cubicBezTo>
                <a:lnTo>
                  <a:pt x="178549" y="125016"/>
                </a:lnTo>
                <a:close/>
                <a:moveTo>
                  <a:pt x="228287" y="103584"/>
                </a:moveTo>
                <a:cubicBezTo>
                  <a:pt x="224091" y="58579"/>
                  <a:pt x="193819" y="21119"/>
                  <a:pt x="152698" y="6563"/>
                </a:cubicBezTo>
                <a:cubicBezTo>
                  <a:pt x="167119" y="29870"/>
                  <a:pt x="176986" y="65365"/>
                  <a:pt x="178549" y="103584"/>
                </a:cubicBezTo>
                <a:lnTo>
                  <a:pt x="228287" y="103584"/>
                </a:lnTo>
                <a:close/>
              </a:path>
            </a:pathLst>
          </a:custGeom>
          <a:solidFill>
            <a:srgbClr val="2B7FFF"/>
          </a:solidFill>
          <a:ln/>
        </p:spPr>
      </p:sp>
      <p:sp>
        <p:nvSpPr>
          <p:cNvPr id="37" name="Text 35"/>
          <p:cNvSpPr/>
          <p:nvPr/>
        </p:nvSpPr>
        <p:spPr>
          <a:xfrm>
            <a:off x="3845243" y="5452114"/>
            <a:ext cx="3133725" cy="190500"/>
          </a:xfrm>
          <a:prstGeom prst="rect">
            <a:avLst/>
          </a:prstGeom>
          <a:noFill/>
          <a:ln/>
        </p:spPr>
        <p:txBody>
          <a:bodyPr wrap="square" lIns="0" tIns="0" rIns="0" bIns="0" rtlCol="0" anchor="ctr"/>
          <a:lstStyle/>
          <a:p>
            <a:pPr algn="ctr">
              <a:lnSpc>
                <a:spcPct val="120000"/>
              </a:lnSpc>
            </a:pPr>
            <a:r>
              <a:rPr lang="en-US" sz="1050" b="1" dirty="0">
                <a:solidFill>
                  <a:srgbClr val="EFEFEF"/>
                </a:solidFill>
                <a:latin typeface="Liter" pitchFamily="34" charset="0"/>
                <a:ea typeface="Liter" pitchFamily="34" charset="-122"/>
                <a:cs typeface="Liter" pitchFamily="34" charset="-120"/>
              </a:rPr>
              <a:t>Global Access</a:t>
            </a:r>
            <a:endParaRPr lang="en-US" sz="1600" dirty="0"/>
          </a:p>
        </p:txBody>
      </p:sp>
      <p:sp>
        <p:nvSpPr>
          <p:cNvPr id="38" name="Text 36"/>
          <p:cNvSpPr/>
          <p:nvPr/>
        </p:nvSpPr>
        <p:spPr>
          <a:xfrm>
            <a:off x="3845243" y="5642614"/>
            <a:ext cx="3133725" cy="190500"/>
          </a:xfrm>
          <a:prstGeom prst="rect">
            <a:avLst/>
          </a:prstGeom>
          <a:noFill/>
          <a:ln/>
        </p:spPr>
        <p:txBody>
          <a:bodyPr wrap="square" lIns="0" tIns="0" rIns="0" bIns="0" rtlCol="0" anchor="ctr"/>
          <a:lstStyle/>
          <a:p>
            <a:pPr algn="ctr">
              <a:lnSpc>
                <a:spcPct val="120000"/>
              </a:lnSpc>
            </a:pPr>
            <a:r>
              <a:rPr lang="en-US" sz="1050" dirty="0">
                <a:solidFill>
                  <a:srgbClr val="8F8F8F"/>
                </a:solidFill>
                <a:latin typeface="Liter" pitchFamily="34" charset="0"/>
                <a:ea typeface="Liter" pitchFamily="34" charset="-122"/>
                <a:cs typeface="Liter" pitchFamily="34" charset="-120"/>
              </a:rPr>
              <a:t>Quality education anywhere</a:t>
            </a:r>
            <a:endParaRPr lang="en-US" sz="1600" dirty="0"/>
          </a:p>
        </p:txBody>
      </p:sp>
      <p:sp>
        <p:nvSpPr>
          <p:cNvPr id="39" name="Shape 37"/>
          <p:cNvSpPr/>
          <p:nvPr/>
        </p:nvSpPr>
        <p:spPr>
          <a:xfrm>
            <a:off x="7303770" y="1108710"/>
            <a:ext cx="4503420" cy="2026920"/>
          </a:xfrm>
          <a:prstGeom prst="roundRect">
            <a:avLst>
              <a:gd name="adj" fmla="val 5639"/>
            </a:avLst>
          </a:prstGeom>
          <a:gradFill rotWithShape="1" flip="none">
            <a:gsLst>
              <a:gs pos="0">
                <a:srgbClr val="2B7FFF">
                  <a:alpha val="20000"/>
                </a:srgbClr>
              </a:gs>
              <a:gs pos="100000">
                <a:srgbClr val="2B7FFF">
                  <a:alpha val="5000"/>
                </a:srgbClr>
              </a:gs>
            </a:gsLst>
            <a:lin ang="2700000" scaled="1"/>
          </a:gradFill>
          <a:ln w="10160">
            <a:solidFill>
              <a:srgbClr val="2B7FFF"/>
            </a:solidFill>
            <a:prstDash val="solid"/>
          </a:ln>
        </p:spPr>
      </p:sp>
      <p:sp>
        <p:nvSpPr>
          <p:cNvPr id="40" name="Shape 38"/>
          <p:cNvSpPr/>
          <p:nvPr/>
        </p:nvSpPr>
        <p:spPr>
          <a:xfrm>
            <a:off x="7469505" y="1264927"/>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2B7FFF"/>
          </a:solidFill>
          <a:ln/>
        </p:spPr>
      </p:sp>
      <p:sp>
        <p:nvSpPr>
          <p:cNvPr id="41" name="Text 39"/>
          <p:cNvSpPr/>
          <p:nvPr/>
        </p:nvSpPr>
        <p:spPr>
          <a:xfrm>
            <a:off x="7736205" y="1226827"/>
            <a:ext cx="1809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Real-World Example</a:t>
            </a:r>
            <a:endParaRPr lang="en-US" sz="1600" dirty="0"/>
          </a:p>
        </p:txBody>
      </p:sp>
      <p:sp>
        <p:nvSpPr>
          <p:cNvPr id="42" name="Shape 40"/>
          <p:cNvSpPr/>
          <p:nvPr/>
        </p:nvSpPr>
        <p:spPr>
          <a:xfrm>
            <a:off x="7421880" y="1569727"/>
            <a:ext cx="4267200" cy="1447800"/>
          </a:xfrm>
          <a:prstGeom prst="roundRect">
            <a:avLst>
              <a:gd name="adj" fmla="val 5263"/>
            </a:avLst>
          </a:prstGeom>
          <a:solidFill>
            <a:srgbClr val="191919"/>
          </a:solidFill>
          <a:ln/>
        </p:spPr>
      </p:sp>
      <p:sp>
        <p:nvSpPr>
          <p:cNvPr id="43" name="Text 41"/>
          <p:cNvSpPr/>
          <p:nvPr/>
        </p:nvSpPr>
        <p:spPr>
          <a:xfrm>
            <a:off x="7536180" y="1684027"/>
            <a:ext cx="4124325" cy="266700"/>
          </a:xfrm>
          <a:prstGeom prst="rect">
            <a:avLst/>
          </a:prstGeom>
          <a:noFill/>
          <a:ln/>
        </p:spPr>
        <p:txBody>
          <a:bodyPr wrap="square" lIns="0" tIns="0" rIns="0" bIns="0" rtlCol="0" anchor="ctr"/>
          <a:lstStyle/>
          <a:p>
            <a:pPr>
              <a:lnSpc>
                <a:spcPct val="130000"/>
              </a:lnSpc>
            </a:pPr>
            <a:r>
              <a:rPr lang="en-US" sz="1350" b="1" dirty="0">
                <a:solidFill>
                  <a:srgbClr val="2B7FFF"/>
                </a:solidFill>
                <a:latin typeface="Liter" pitchFamily="34" charset="0"/>
                <a:ea typeface="Liter" pitchFamily="34" charset="-122"/>
                <a:cs typeface="Liter" pitchFamily="34" charset="-120"/>
              </a:rPr>
              <a:t>Duolingo Language App</a:t>
            </a:r>
            <a:endParaRPr lang="en-US" sz="1600" dirty="0"/>
          </a:p>
        </p:txBody>
      </p:sp>
      <p:sp>
        <p:nvSpPr>
          <p:cNvPr id="44" name="Text 42"/>
          <p:cNvSpPr/>
          <p:nvPr/>
        </p:nvSpPr>
        <p:spPr>
          <a:xfrm>
            <a:off x="7536180" y="1988827"/>
            <a:ext cx="4114800" cy="9144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Duolingo uses AI to adapt lessons to your learning speed. If you struggle with verbs, it gives more practice. If you're advanced, it skips basics. It's like having a personal language tutor!</a:t>
            </a:r>
            <a:endParaRPr lang="en-US" sz="1600" dirty="0"/>
          </a:p>
        </p:txBody>
      </p:sp>
      <p:sp>
        <p:nvSpPr>
          <p:cNvPr id="45" name="Shape 43"/>
          <p:cNvSpPr/>
          <p:nvPr/>
        </p:nvSpPr>
        <p:spPr>
          <a:xfrm>
            <a:off x="7303770" y="3219446"/>
            <a:ext cx="4503420" cy="1264920"/>
          </a:xfrm>
          <a:prstGeom prst="roundRect">
            <a:avLst>
              <a:gd name="adj" fmla="val 9036"/>
            </a:avLst>
          </a:prstGeom>
          <a:solidFill>
            <a:srgbClr val="262626"/>
          </a:solidFill>
          <a:ln w="10160">
            <a:solidFill>
              <a:srgbClr val="333333"/>
            </a:solidFill>
            <a:prstDash val="solid"/>
          </a:ln>
        </p:spPr>
      </p:sp>
      <p:sp>
        <p:nvSpPr>
          <p:cNvPr id="46" name="Text 44"/>
          <p:cNvSpPr/>
          <p:nvPr/>
        </p:nvSpPr>
        <p:spPr>
          <a:xfrm>
            <a:off x="7421880" y="3337564"/>
            <a:ext cx="43529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 Simple Explanation</a:t>
            </a:r>
            <a:endParaRPr lang="en-US" sz="1600" dirty="0"/>
          </a:p>
        </p:txBody>
      </p:sp>
      <p:sp>
        <p:nvSpPr>
          <p:cNvPr id="47" name="Text 45"/>
          <p:cNvSpPr/>
          <p:nvPr/>
        </p:nvSpPr>
        <p:spPr>
          <a:xfrm>
            <a:off x="7421880" y="3680464"/>
            <a:ext cx="43434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AI in education is like having a personal tutor who knows exactly what you need. It watches how you learn, adapts to your style, and helps you master subjects at your own pace.</a:t>
            </a:r>
            <a:endParaRPr lang="en-US" sz="1600" dirty="0"/>
          </a:p>
        </p:txBody>
      </p:sp>
      <p:sp>
        <p:nvSpPr>
          <p:cNvPr id="48" name="Shape 46"/>
          <p:cNvSpPr/>
          <p:nvPr/>
        </p:nvSpPr>
        <p:spPr>
          <a:xfrm>
            <a:off x="7303770" y="4568201"/>
            <a:ext cx="4503420" cy="2103120"/>
          </a:xfrm>
          <a:prstGeom prst="roundRect">
            <a:avLst>
              <a:gd name="adj" fmla="val 5435"/>
            </a:avLst>
          </a:prstGeom>
          <a:solidFill>
            <a:srgbClr val="262626"/>
          </a:solidFill>
          <a:ln w="10160">
            <a:solidFill>
              <a:srgbClr val="333333"/>
            </a:solidFill>
            <a:prstDash val="solid"/>
          </a:ln>
        </p:spPr>
      </p:sp>
      <p:sp>
        <p:nvSpPr>
          <p:cNvPr id="49" name="Shape 47"/>
          <p:cNvSpPr/>
          <p:nvPr/>
        </p:nvSpPr>
        <p:spPr>
          <a:xfrm>
            <a:off x="7456408" y="4733925"/>
            <a:ext cx="150019" cy="171450"/>
          </a:xfrm>
          <a:custGeom>
            <a:avLst/>
            <a:gdLst/>
            <a:ahLst/>
            <a:cxnLst/>
            <a:rect l="l" t="t" r="r" b="b"/>
            <a:pathLst>
              <a:path w="150019" h="171450">
                <a:moveTo>
                  <a:pt x="21431" y="10716"/>
                </a:moveTo>
                <a:cubicBezTo>
                  <a:pt x="9611" y="10716"/>
                  <a:pt x="0" y="20326"/>
                  <a:pt x="0" y="32147"/>
                </a:cubicBezTo>
                <a:lnTo>
                  <a:pt x="0" y="139303"/>
                </a:lnTo>
                <a:cubicBezTo>
                  <a:pt x="0" y="151124"/>
                  <a:pt x="9611" y="160734"/>
                  <a:pt x="21431" y="160734"/>
                </a:cubicBezTo>
                <a:lnTo>
                  <a:pt x="128588" y="160734"/>
                </a:lnTo>
                <a:cubicBezTo>
                  <a:pt x="140408" y="160734"/>
                  <a:pt x="150019" y="151124"/>
                  <a:pt x="150019" y="139303"/>
                </a:cubicBezTo>
                <a:lnTo>
                  <a:pt x="150019" y="32147"/>
                </a:lnTo>
                <a:cubicBezTo>
                  <a:pt x="150019" y="20326"/>
                  <a:pt x="140408" y="10716"/>
                  <a:pt x="128588" y="10716"/>
                </a:cubicBezTo>
                <a:lnTo>
                  <a:pt x="21431" y="10716"/>
                </a:lnTo>
                <a:close/>
                <a:moveTo>
                  <a:pt x="42863" y="37505"/>
                </a:moveTo>
                <a:cubicBezTo>
                  <a:pt x="51734" y="37505"/>
                  <a:pt x="58936" y="44707"/>
                  <a:pt x="58936" y="53578"/>
                </a:cubicBezTo>
                <a:cubicBezTo>
                  <a:pt x="58936" y="62449"/>
                  <a:pt x="51734" y="69652"/>
                  <a:pt x="42863" y="69652"/>
                </a:cubicBezTo>
                <a:cubicBezTo>
                  <a:pt x="33991" y="69652"/>
                  <a:pt x="26789" y="62449"/>
                  <a:pt x="26789" y="53578"/>
                </a:cubicBezTo>
                <a:cubicBezTo>
                  <a:pt x="26789" y="44707"/>
                  <a:pt x="33991" y="37505"/>
                  <a:pt x="42863" y="37505"/>
                </a:cubicBezTo>
                <a:close/>
                <a:moveTo>
                  <a:pt x="91083" y="75009"/>
                </a:moveTo>
                <a:cubicBezTo>
                  <a:pt x="93896" y="75009"/>
                  <a:pt x="96474" y="76483"/>
                  <a:pt x="97948" y="78860"/>
                </a:cubicBezTo>
                <a:lnTo>
                  <a:pt x="127415" y="127081"/>
                </a:lnTo>
                <a:cubicBezTo>
                  <a:pt x="128922" y="129559"/>
                  <a:pt x="128989" y="132673"/>
                  <a:pt x="127583" y="135218"/>
                </a:cubicBezTo>
                <a:cubicBezTo>
                  <a:pt x="126176" y="137763"/>
                  <a:pt x="123464" y="139303"/>
                  <a:pt x="120551" y="139303"/>
                </a:cubicBezTo>
                <a:lnTo>
                  <a:pt x="29468" y="139303"/>
                </a:lnTo>
                <a:cubicBezTo>
                  <a:pt x="26488" y="139303"/>
                  <a:pt x="23708" y="137629"/>
                  <a:pt x="22335" y="134983"/>
                </a:cubicBezTo>
                <a:cubicBezTo>
                  <a:pt x="20962" y="132338"/>
                  <a:pt x="21163" y="129123"/>
                  <a:pt x="22871" y="126679"/>
                </a:cubicBezTo>
                <a:lnTo>
                  <a:pt x="41624" y="99890"/>
                </a:lnTo>
                <a:cubicBezTo>
                  <a:pt x="43130" y="97747"/>
                  <a:pt x="45575" y="96474"/>
                  <a:pt x="48220" y="96474"/>
                </a:cubicBezTo>
                <a:cubicBezTo>
                  <a:pt x="50866" y="96474"/>
                  <a:pt x="53310" y="97747"/>
                  <a:pt x="54817" y="99890"/>
                </a:cubicBezTo>
                <a:lnTo>
                  <a:pt x="63658" y="112548"/>
                </a:lnTo>
                <a:lnTo>
                  <a:pt x="84218" y="78894"/>
                </a:lnTo>
                <a:cubicBezTo>
                  <a:pt x="85692" y="76516"/>
                  <a:pt x="88270" y="75043"/>
                  <a:pt x="91083" y="75043"/>
                </a:cubicBezTo>
                <a:close/>
              </a:path>
            </a:pathLst>
          </a:custGeom>
          <a:solidFill>
            <a:srgbClr val="2B7FFF"/>
          </a:solidFill>
          <a:ln/>
        </p:spPr>
      </p:sp>
      <p:sp>
        <p:nvSpPr>
          <p:cNvPr id="50" name="Text 48"/>
          <p:cNvSpPr/>
          <p:nvPr/>
        </p:nvSpPr>
        <p:spPr>
          <a:xfrm>
            <a:off x="7640955" y="4686300"/>
            <a:ext cx="41338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Visual</a:t>
            </a:r>
            <a:endParaRPr lang="en-US" sz="1600" dirty="0"/>
          </a:p>
        </p:txBody>
      </p:sp>
      <p:sp>
        <p:nvSpPr>
          <p:cNvPr id="51" name="Shape 49"/>
          <p:cNvSpPr/>
          <p:nvPr/>
        </p:nvSpPr>
        <p:spPr>
          <a:xfrm>
            <a:off x="7421880" y="5029200"/>
            <a:ext cx="4267200" cy="838200"/>
          </a:xfrm>
          <a:prstGeom prst="roundRect">
            <a:avLst>
              <a:gd name="adj" fmla="val 9091"/>
            </a:avLst>
          </a:prstGeom>
          <a:solidFill>
            <a:srgbClr val="191919"/>
          </a:solidFill>
          <a:ln/>
        </p:spPr>
      </p:sp>
      <p:sp>
        <p:nvSpPr>
          <p:cNvPr id="52" name="Text 50"/>
          <p:cNvSpPr/>
          <p:nvPr/>
        </p:nvSpPr>
        <p:spPr>
          <a:xfrm>
            <a:off x="7498080" y="51054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Diagram:</a:t>
            </a:r>
            <a:endParaRPr lang="en-US" sz="1600" dirty="0"/>
          </a:p>
        </p:txBody>
      </p:sp>
      <p:sp>
        <p:nvSpPr>
          <p:cNvPr id="53" name="Text 51"/>
          <p:cNvSpPr/>
          <p:nvPr/>
        </p:nvSpPr>
        <p:spPr>
          <a:xfrm>
            <a:off x="7498080" y="5334000"/>
            <a:ext cx="4191000"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Student → AI Assessment → Personalized Lesson → Progress</a:t>
            </a:r>
            <a:endParaRPr lang="en-US" sz="1600" dirty="0"/>
          </a:p>
        </p:txBody>
      </p:sp>
      <p:sp>
        <p:nvSpPr>
          <p:cNvPr id="54" name="Shape 52"/>
          <p:cNvSpPr/>
          <p:nvPr/>
        </p:nvSpPr>
        <p:spPr>
          <a:xfrm>
            <a:off x="7421880" y="5943600"/>
            <a:ext cx="4267200" cy="609600"/>
          </a:xfrm>
          <a:prstGeom prst="roundRect">
            <a:avLst>
              <a:gd name="adj" fmla="val 12500"/>
            </a:avLst>
          </a:prstGeom>
          <a:solidFill>
            <a:srgbClr val="191919"/>
          </a:solidFill>
          <a:ln/>
        </p:spPr>
      </p:sp>
      <p:sp>
        <p:nvSpPr>
          <p:cNvPr id="55" name="Text 53"/>
          <p:cNvSpPr/>
          <p:nvPr/>
        </p:nvSpPr>
        <p:spPr>
          <a:xfrm>
            <a:off x="7498080" y="60198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Image:</a:t>
            </a:r>
            <a:endParaRPr lang="en-US" sz="1600" dirty="0"/>
          </a:p>
        </p:txBody>
      </p:sp>
      <p:sp>
        <p:nvSpPr>
          <p:cNvPr id="56" name="Text 54"/>
          <p:cNvSpPr/>
          <p:nvPr/>
        </p:nvSpPr>
        <p:spPr>
          <a:xfrm>
            <a:off x="7498080" y="62484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Student using AI learning app on tablet</a:t>
            </a:r>
            <a:endParaRPr lang="en-US" sz="1600" dirty="0"/>
          </a:p>
        </p:txBody>
      </p:sp>
    </p:spTree>
  </p:cSld>
  <p:clrMapOvr>
    <a:masterClrMapping/>
  </p:clrMapOvr>
  <p:transition>
    <p:fade/>
    <p:spd val="med"/>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91919"/>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00C950">
              <a:alpha val="20000"/>
            </a:srgbClr>
          </a:solidFill>
          <a:ln/>
        </p:spPr>
      </p:sp>
      <p:sp>
        <p:nvSpPr>
          <p:cNvPr id="3" name="Text 1"/>
          <p:cNvSpPr/>
          <p:nvPr/>
        </p:nvSpPr>
        <p:spPr>
          <a:xfrm>
            <a:off x="498038" y="533400"/>
            <a:ext cx="314325" cy="266700"/>
          </a:xfrm>
          <a:prstGeom prst="rect">
            <a:avLst/>
          </a:prstGeom>
          <a:noFill/>
          <a:ln/>
        </p:spPr>
        <p:txBody>
          <a:bodyPr wrap="square" lIns="0" tIns="0" rIns="0" bIns="0" rtlCol="0" anchor="ctr"/>
          <a:lstStyle/>
          <a:p>
            <a:pPr>
              <a:lnSpc>
                <a:spcPct val="120000"/>
              </a:lnSpc>
            </a:pPr>
            <a:r>
              <a:rPr lang="en-US" sz="1500" b="1" dirty="0">
                <a:solidFill>
                  <a:srgbClr val="00C950"/>
                </a:solidFill>
                <a:latin typeface="Liter" pitchFamily="34" charset="0"/>
                <a:ea typeface="Liter" pitchFamily="34" charset="-122"/>
                <a:cs typeface="Liter" pitchFamily="34" charset="-120"/>
              </a:rPr>
              <a:t>23</a:t>
            </a:r>
            <a:endParaRPr lang="en-US" sz="1600" dirty="0"/>
          </a:p>
        </p:txBody>
      </p:sp>
      <p:sp>
        <p:nvSpPr>
          <p:cNvPr id="4" name="Text 2"/>
          <p:cNvSpPr/>
          <p:nvPr/>
        </p:nvSpPr>
        <p:spPr>
          <a:xfrm>
            <a:off x="952500" y="381000"/>
            <a:ext cx="3895725" cy="190500"/>
          </a:xfrm>
          <a:prstGeom prst="rect">
            <a:avLst/>
          </a:prstGeom>
          <a:noFill/>
          <a:ln/>
        </p:spPr>
        <p:txBody>
          <a:bodyPr wrap="square" lIns="0" tIns="0" rIns="0" bIns="0" rtlCol="0" anchor="ctr"/>
          <a:lstStyle/>
          <a:p>
            <a:pPr>
              <a:lnSpc>
                <a:spcPct val="120000"/>
              </a:lnSpc>
            </a:pPr>
            <a:r>
              <a:rPr lang="en-US" sz="1050" b="1" spc="53" kern="0" dirty="0">
                <a:solidFill>
                  <a:srgbClr val="00C950"/>
                </a:solidFill>
                <a:latin typeface="Liter" pitchFamily="34" charset="0"/>
                <a:ea typeface="Liter" pitchFamily="34" charset="-122"/>
                <a:cs typeface="Liter" pitchFamily="34" charset="-120"/>
              </a:rPr>
              <a:t>Applications of AI</a:t>
            </a:r>
            <a:endParaRPr lang="en-US" sz="1600" dirty="0"/>
          </a:p>
        </p:txBody>
      </p:sp>
      <p:sp>
        <p:nvSpPr>
          <p:cNvPr id="5" name="Text 3"/>
          <p:cNvSpPr/>
          <p:nvPr/>
        </p:nvSpPr>
        <p:spPr>
          <a:xfrm>
            <a:off x="952500" y="571500"/>
            <a:ext cx="400050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AI in Banking and Finance</a:t>
            </a:r>
            <a:endParaRPr lang="en-US" sz="1600" dirty="0"/>
          </a:p>
        </p:txBody>
      </p:sp>
      <p:sp>
        <p:nvSpPr>
          <p:cNvPr id="6" name="Shape 4"/>
          <p:cNvSpPr/>
          <p:nvPr/>
        </p:nvSpPr>
        <p:spPr>
          <a:xfrm>
            <a:off x="384810" y="1108710"/>
            <a:ext cx="6760845" cy="2579370"/>
          </a:xfrm>
          <a:prstGeom prst="roundRect">
            <a:avLst>
              <a:gd name="adj" fmla="val 4431"/>
            </a:avLst>
          </a:prstGeom>
          <a:solidFill>
            <a:srgbClr val="262626"/>
          </a:solidFill>
          <a:ln w="10160">
            <a:solidFill>
              <a:srgbClr val="333333"/>
            </a:solidFill>
            <a:prstDash val="solid"/>
          </a:ln>
        </p:spPr>
      </p:sp>
      <p:sp>
        <p:nvSpPr>
          <p:cNvPr id="7" name="Shape 5"/>
          <p:cNvSpPr/>
          <p:nvPr/>
        </p:nvSpPr>
        <p:spPr>
          <a:xfrm>
            <a:off x="526732" y="1264927"/>
            <a:ext cx="190500" cy="190500"/>
          </a:xfrm>
          <a:custGeom>
            <a:avLst/>
            <a:gdLst/>
            <a:ahLst/>
            <a:cxnLst/>
            <a:rect l="l" t="t" r="r" b="b"/>
            <a:pathLst>
              <a:path w="190500" h="190500">
                <a:moveTo>
                  <a:pt x="101166" y="7516"/>
                </a:moveTo>
                <a:cubicBezTo>
                  <a:pt x="97520" y="5432"/>
                  <a:pt x="93018" y="5432"/>
                  <a:pt x="89334" y="7516"/>
                </a:cubicBezTo>
                <a:lnTo>
                  <a:pt x="5990" y="55141"/>
                </a:lnTo>
                <a:cubicBezTo>
                  <a:pt x="1302" y="57820"/>
                  <a:pt x="-1005" y="63326"/>
                  <a:pt x="372" y="68535"/>
                </a:cubicBezTo>
                <a:cubicBezTo>
                  <a:pt x="1749" y="73744"/>
                  <a:pt x="6511" y="77391"/>
                  <a:pt x="11906" y="77391"/>
                </a:cubicBezTo>
                <a:lnTo>
                  <a:pt x="23812" y="77391"/>
                </a:lnTo>
                <a:lnTo>
                  <a:pt x="23812" y="154781"/>
                </a:lnTo>
                <a:lnTo>
                  <a:pt x="23812" y="154781"/>
                </a:lnTo>
                <a:lnTo>
                  <a:pt x="4762" y="169069"/>
                </a:lnTo>
                <a:cubicBezTo>
                  <a:pt x="1749" y="171301"/>
                  <a:pt x="0" y="174836"/>
                  <a:pt x="0" y="178594"/>
                </a:cubicBezTo>
                <a:cubicBezTo>
                  <a:pt x="0" y="185179"/>
                  <a:pt x="5321" y="190500"/>
                  <a:pt x="11906" y="190500"/>
                </a:cubicBezTo>
                <a:lnTo>
                  <a:pt x="178594" y="190500"/>
                </a:lnTo>
                <a:cubicBezTo>
                  <a:pt x="185179" y="190500"/>
                  <a:pt x="190500" y="185179"/>
                  <a:pt x="190500" y="178594"/>
                </a:cubicBezTo>
                <a:cubicBezTo>
                  <a:pt x="190500" y="174836"/>
                  <a:pt x="188751" y="171301"/>
                  <a:pt x="185738" y="169069"/>
                </a:cubicBezTo>
                <a:lnTo>
                  <a:pt x="166688" y="154781"/>
                </a:lnTo>
                <a:lnTo>
                  <a:pt x="166688" y="77391"/>
                </a:lnTo>
                <a:lnTo>
                  <a:pt x="178594" y="77391"/>
                </a:lnTo>
                <a:cubicBezTo>
                  <a:pt x="183989" y="77391"/>
                  <a:pt x="188714" y="73744"/>
                  <a:pt x="190091" y="68535"/>
                </a:cubicBezTo>
                <a:cubicBezTo>
                  <a:pt x="191467" y="63326"/>
                  <a:pt x="189161" y="57820"/>
                  <a:pt x="184472" y="55141"/>
                </a:cubicBezTo>
                <a:lnTo>
                  <a:pt x="101129" y="7516"/>
                </a:lnTo>
                <a:close/>
                <a:moveTo>
                  <a:pt x="148828" y="77391"/>
                </a:moveTo>
                <a:lnTo>
                  <a:pt x="148828" y="154781"/>
                </a:lnTo>
                <a:lnTo>
                  <a:pt x="125016" y="154781"/>
                </a:lnTo>
                <a:lnTo>
                  <a:pt x="125016" y="77391"/>
                </a:lnTo>
                <a:lnTo>
                  <a:pt x="148828" y="77391"/>
                </a:lnTo>
                <a:close/>
                <a:moveTo>
                  <a:pt x="107156" y="77391"/>
                </a:moveTo>
                <a:lnTo>
                  <a:pt x="107156" y="154781"/>
                </a:lnTo>
                <a:lnTo>
                  <a:pt x="83344" y="154781"/>
                </a:lnTo>
                <a:lnTo>
                  <a:pt x="83344" y="77391"/>
                </a:lnTo>
                <a:lnTo>
                  <a:pt x="107156" y="77391"/>
                </a:lnTo>
                <a:close/>
                <a:moveTo>
                  <a:pt x="65484" y="77391"/>
                </a:moveTo>
                <a:lnTo>
                  <a:pt x="65484" y="154781"/>
                </a:lnTo>
                <a:lnTo>
                  <a:pt x="41672" y="154781"/>
                </a:lnTo>
                <a:lnTo>
                  <a:pt x="41672" y="77391"/>
                </a:lnTo>
                <a:lnTo>
                  <a:pt x="65484" y="77391"/>
                </a:lnTo>
                <a:close/>
                <a:moveTo>
                  <a:pt x="95250" y="35719"/>
                </a:moveTo>
                <a:cubicBezTo>
                  <a:pt x="101821" y="35719"/>
                  <a:pt x="107156" y="41054"/>
                  <a:pt x="107156" y="47625"/>
                </a:cubicBezTo>
                <a:cubicBezTo>
                  <a:pt x="107156" y="54196"/>
                  <a:pt x="101821" y="59531"/>
                  <a:pt x="95250" y="59531"/>
                </a:cubicBezTo>
                <a:cubicBezTo>
                  <a:pt x="88679" y="59531"/>
                  <a:pt x="83344" y="54196"/>
                  <a:pt x="83344" y="47625"/>
                </a:cubicBezTo>
                <a:cubicBezTo>
                  <a:pt x="83344" y="41054"/>
                  <a:pt x="88679" y="35719"/>
                  <a:pt x="95250" y="35719"/>
                </a:cubicBezTo>
                <a:close/>
              </a:path>
            </a:pathLst>
          </a:custGeom>
          <a:solidFill>
            <a:srgbClr val="00C950"/>
          </a:solidFill>
          <a:ln/>
        </p:spPr>
      </p:sp>
      <p:sp>
        <p:nvSpPr>
          <p:cNvPr id="8" name="Text 6"/>
          <p:cNvSpPr/>
          <p:nvPr/>
        </p:nvSpPr>
        <p:spPr>
          <a:xfrm>
            <a:off x="741045" y="1226827"/>
            <a:ext cx="6381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How AI Protects Your Money</a:t>
            </a:r>
            <a:endParaRPr lang="en-US" sz="1600" dirty="0"/>
          </a:p>
        </p:txBody>
      </p:sp>
      <p:sp>
        <p:nvSpPr>
          <p:cNvPr id="9" name="Shape 7"/>
          <p:cNvSpPr/>
          <p:nvPr/>
        </p:nvSpPr>
        <p:spPr>
          <a:xfrm>
            <a:off x="521970" y="1607827"/>
            <a:ext cx="152400" cy="152400"/>
          </a:xfrm>
          <a:custGeom>
            <a:avLst/>
            <a:gdLst/>
            <a:ahLst/>
            <a:cxnLst/>
            <a:rect l="l" t="t" r="r" b="b"/>
            <a:pathLst>
              <a:path w="152400" h="152400">
                <a:moveTo>
                  <a:pt x="76200" y="0"/>
                </a:moveTo>
                <a:cubicBezTo>
                  <a:pt x="77569" y="0"/>
                  <a:pt x="78938" y="298"/>
                  <a:pt x="80189" y="863"/>
                </a:cubicBezTo>
                <a:lnTo>
                  <a:pt x="136267" y="24646"/>
                </a:lnTo>
                <a:cubicBezTo>
                  <a:pt x="142815" y="27414"/>
                  <a:pt x="147697" y="33873"/>
                  <a:pt x="147667" y="41672"/>
                </a:cubicBezTo>
                <a:cubicBezTo>
                  <a:pt x="147518" y="71199"/>
                  <a:pt x="135374" y="125224"/>
                  <a:pt x="84088" y="149781"/>
                </a:cubicBezTo>
                <a:cubicBezTo>
                  <a:pt x="79117" y="152162"/>
                  <a:pt x="73343" y="152162"/>
                  <a:pt x="68372" y="149781"/>
                </a:cubicBezTo>
                <a:cubicBezTo>
                  <a:pt x="17056" y="125224"/>
                  <a:pt x="4941" y="71199"/>
                  <a:pt x="4792" y="41672"/>
                </a:cubicBezTo>
                <a:cubicBezTo>
                  <a:pt x="4762" y="33873"/>
                  <a:pt x="9644" y="27414"/>
                  <a:pt x="16192" y="24646"/>
                </a:cubicBezTo>
                <a:lnTo>
                  <a:pt x="72241" y="863"/>
                </a:lnTo>
                <a:cubicBezTo>
                  <a:pt x="73491" y="298"/>
                  <a:pt x="74831" y="0"/>
                  <a:pt x="76200" y="0"/>
                </a:cubicBezTo>
                <a:close/>
                <a:moveTo>
                  <a:pt x="76200" y="19883"/>
                </a:moveTo>
                <a:lnTo>
                  <a:pt x="76200" y="132427"/>
                </a:lnTo>
                <a:cubicBezTo>
                  <a:pt x="117277" y="112544"/>
                  <a:pt x="128320" y="68491"/>
                  <a:pt x="128588" y="42118"/>
                </a:cubicBezTo>
                <a:lnTo>
                  <a:pt x="76200" y="19913"/>
                </a:lnTo>
                <a:lnTo>
                  <a:pt x="76200" y="19913"/>
                </a:lnTo>
                <a:close/>
              </a:path>
            </a:pathLst>
          </a:custGeom>
          <a:solidFill>
            <a:srgbClr val="00C950"/>
          </a:solidFill>
          <a:ln/>
        </p:spPr>
      </p:sp>
      <p:sp>
        <p:nvSpPr>
          <p:cNvPr id="10" name="Text 8"/>
          <p:cNvSpPr/>
          <p:nvPr/>
        </p:nvSpPr>
        <p:spPr>
          <a:xfrm>
            <a:off x="807720" y="1569727"/>
            <a:ext cx="425767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Fraud Detection</a:t>
            </a:r>
            <a:endParaRPr lang="en-US" sz="1600" dirty="0"/>
          </a:p>
        </p:txBody>
      </p:sp>
      <p:sp>
        <p:nvSpPr>
          <p:cNvPr id="11" name="Text 9"/>
          <p:cNvSpPr/>
          <p:nvPr/>
        </p:nvSpPr>
        <p:spPr>
          <a:xfrm>
            <a:off x="807720" y="1798327"/>
            <a:ext cx="425767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Monitors transactions 24/7 to spot suspicious activity instantly</a:t>
            </a:r>
            <a:endParaRPr lang="en-US" sz="1600" dirty="0"/>
          </a:p>
        </p:txBody>
      </p:sp>
      <p:sp>
        <p:nvSpPr>
          <p:cNvPr id="12" name="Shape 10"/>
          <p:cNvSpPr/>
          <p:nvPr/>
        </p:nvSpPr>
        <p:spPr>
          <a:xfrm>
            <a:off x="521970" y="2122177"/>
            <a:ext cx="152400" cy="152400"/>
          </a:xfrm>
          <a:custGeom>
            <a:avLst/>
            <a:gdLst/>
            <a:ahLst/>
            <a:cxnLst/>
            <a:rect l="l" t="t" r="r" b="b"/>
            <a:pathLst>
              <a:path w="152400" h="152400">
                <a:moveTo>
                  <a:pt x="19050" y="19050"/>
                </a:moveTo>
                <a:cubicBezTo>
                  <a:pt x="19050" y="13781"/>
                  <a:pt x="14794" y="9525"/>
                  <a:pt x="9525" y="9525"/>
                </a:cubicBezTo>
                <a:cubicBezTo>
                  <a:pt x="4256" y="9525"/>
                  <a:pt x="0" y="13781"/>
                  <a:pt x="0" y="19050"/>
                </a:cubicBezTo>
                <a:lnTo>
                  <a:pt x="0" y="119062"/>
                </a:lnTo>
                <a:cubicBezTo>
                  <a:pt x="0" y="132219"/>
                  <a:pt x="10656" y="142875"/>
                  <a:pt x="23813" y="142875"/>
                </a:cubicBezTo>
                <a:lnTo>
                  <a:pt x="142875" y="142875"/>
                </a:lnTo>
                <a:cubicBezTo>
                  <a:pt x="148144" y="142875"/>
                  <a:pt x="152400" y="138619"/>
                  <a:pt x="152400" y="133350"/>
                </a:cubicBezTo>
                <a:cubicBezTo>
                  <a:pt x="152400" y="128081"/>
                  <a:pt x="148144" y="123825"/>
                  <a:pt x="142875" y="123825"/>
                </a:cubicBezTo>
                <a:lnTo>
                  <a:pt x="23813" y="123825"/>
                </a:lnTo>
                <a:cubicBezTo>
                  <a:pt x="21193" y="123825"/>
                  <a:pt x="19050" y="121682"/>
                  <a:pt x="19050" y="119062"/>
                </a:cubicBezTo>
                <a:lnTo>
                  <a:pt x="19050" y="19050"/>
                </a:lnTo>
                <a:close/>
                <a:moveTo>
                  <a:pt x="140077" y="44827"/>
                </a:moveTo>
                <a:cubicBezTo>
                  <a:pt x="143798" y="41106"/>
                  <a:pt x="143798" y="35064"/>
                  <a:pt x="140077" y="31343"/>
                </a:cubicBezTo>
                <a:cubicBezTo>
                  <a:pt x="136356" y="27622"/>
                  <a:pt x="130314" y="27622"/>
                  <a:pt x="126593" y="31343"/>
                </a:cubicBezTo>
                <a:lnTo>
                  <a:pt x="95250" y="62716"/>
                </a:lnTo>
                <a:lnTo>
                  <a:pt x="78165" y="45660"/>
                </a:lnTo>
                <a:cubicBezTo>
                  <a:pt x="74444" y="41940"/>
                  <a:pt x="68401" y="41940"/>
                  <a:pt x="64681" y="45660"/>
                </a:cubicBezTo>
                <a:lnTo>
                  <a:pt x="36106" y="74235"/>
                </a:lnTo>
                <a:cubicBezTo>
                  <a:pt x="32385" y="77956"/>
                  <a:pt x="32385" y="83999"/>
                  <a:pt x="36106" y="87719"/>
                </a:cubicBezTo>
                <a:cubicBezTo>
                  <a:pt x="39826" y="91440"/>
                  <a:pt x="45869" y="91440"/>
                  <a:pt x="49590" y="87719"/>
                </a:cubicBezTo>
                <a:lnTo>
                  <a:pt x="71438" y="65871"/>
                </a:lnTo>
                <a:lnTo>
                  <a:pt x="88523" y="82957"/>
                </a:lnTo>
                <a:cubicBezTo>
                  <a:pt x="92244" y="86678"/>
                  <a:pt x="98286" y="86678"/>
                  <a:pt x="102007" y="82957"/>
                </a:cubicBezTo>
                <a:lnTo>
                  <a:pt x="140107" y="44857"/>
                </a:lnTo>
                <a:close/>
              </a:path>
            </a:pathLst>
          </a:custGeom>
          <a:solidFill>
            <a:srgbClr val="00C950"/>
          </a:solidFill>
          <a:ln/>
        </p:spPr>
      </p:sp>
      <p:sp>
        <p:nvSpPr>
          <p:cNvPr id="13" name="Text 11"/>
          <p:cNvSpPr/>
          <p:nvPr/>
        </p:nvSpPr>
        <p:spPr>
          <a:xfrm>
            <a:off x="807720" y="2084077"/>
            <a:ext cx="44672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Algorithmic Trading</a:t>
            </a:r>
            <a:endParaRPr lang="en-US" sz="1600" dirty="0"/>
          </a:p>
        </p:txBody>
      </p:sp>
      <p:sp>
        <p:nvSpPr>
          <p:cNvPr id="14" name="Text 12"/>
          <p:cNvSpPr/>
          <p:nvPr/>
        </p:nvSpPr>
        <p:spPr>
          <a:xfrm>
            <a:off x="807720" y="2312677"/>
            <a:ext cx="44672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Makes investment decisions in milliseconds based on market data</a:t>
            </a:r>
            <a:endParaRPr lang="en-US" sz="1600" dirty="0"/>
          </a:p>
        </p:txBody>
      </p:sp>
      <p:sp>
        <p:nvSpPr>
          <p:cNvPr id="15" name="Shape 13"/>
          <p:cNvSpPr/>
          <p:nvPr/>
        </p:nvSpPr>
        <p:spPr>
          <a:xfrm>
            <a:off x="521970" y="2636527"/>
            <a:ext cx="152400" cy="152400"/>
          </a:xfrm>
          <a:custGeom>
            <a:avLst/>
            <a:gdLst/>
            <a:ahLst/>
            <a:cxnLst/>
            <a:rect l="l" t="t" r="r" b="b"/>
            <a:pathLst>
              <a:path w="152400" h="152400">
                <a:moveTo>
                  <a:pt x="0" y="38100"/>
                </a:moveTo>
                <a:lnTo>
                  <a:pt x="0" y="47625"/>
                </a:lnTo>
                <a:lnTo>
                  <a:pt x="152400" y="47625"/>
                </a:lnTo>
                <a:lnTo>
                  <a:pt x="152400" y="38100"/>
                </a:lnTo>
                <a:cubicBezTo>
                  <a:pt x="152400" y="27593"/>
                  <a:pt x="143857" y="19050"/>
                  <a:pt x="133350" y="19050"/>
                </a:cubicBezTo>
                <a:lnTo>
                  <a:pt x="19050" y="19050"/>
                </a:lnTo>
                <a:cubicBezTo>
                  <a:pt x="8543" y="19050"/>
                  <a:pt x="0" y="27593"/>
                  <a:pt x="0" y="38100"/>
                </a:cubicBezTo>
                <a:close/>
                <a:moveTo>
                  <a:pt x="0" y="61912"/>
                </a:moveTo>
                <a:lnTo>
                  <a:pt x="0" y="114300"/>
                </a:lnTo>
                <a:cubicBezTo>
                  <a:pt x="0" y="124807"/>
                  <a:pt x="8543" y="133350"/>
                  <a:pt x="19050" y="133350"/>
                </a:cubicBezTo>
                <a:lnTo>
                  <a:pt x="133350" y="133350"/>
                </a:lnTo>
                <a:cubicBezTo>
                  <a:pt x="143857" y="133350"/>
                  <a:pt x="152400" y="124807"/>
                  <a:pt x="152400" y="114300"/>
                </a:cubicBezTo>
                <a:lnTo>
                  <a:pt x="152400" y="61912"/>
                </a:lnTo>
                <a:lnTo>
                  <a:pt x="0" y="61912"/>
                </a:lnTo>
                <a:close/>
                <a:moveTo>
                  <a:pt x="19050" y="107156"/>
                </a:moveTo>
                <a:cubicBezTo>
                  <a:pt x="19050" y="103197"/>
                  <a:pt x="22235" y="100013"/>
                  <a:pt x="26194" y="100013"/>
                </a:cubicBezTo>
                <a:lnTo>
                  <a:pt x="40481" y="100013"/>
                </a:lnTo>
                <a:cubicBezTo>
                  <a:pt x="44440" y="100013"/>
                  <a:pt x="47625" y="103197"/>
                  <a:pt x="47625" y="107156"/>
                </a:cubicBezTo>
                <a:cubicBezTo>
                  <a:pt x="47625" y="111115"/>
                  <a:pt x="44440" y="114300"/>
                  <a:pt x="40481" y="114300"/>
                </a:cubicBezTo>
                <a:lnTo>
                  <a:pt x="26194" y="114300"/>
                </a:lnTo>
                <a:cubicBezTo>
                  <a:pt x="22235" y="114300"/>
                  <a:pt x="19050" y="111115"/>
                  <a:pt x="19050" y="107156"/>
                </a:cubicBezTo>
                <a:close/>
                <a:moveTo>
                  <a:pt x="61912" y="107156"/>
                </a:moveTo>
                <a:cubicBezTo>
                  <a:pt x="61912" y="103197"/>
                  <a:pt x="65097" y="100013"/>
                  <a:pt x="69056" y="100013"/>
                </a:cubicBezTo>
                <a:lnTo>
                  <a:pt x="88106" y="100013"/>
                </a:lnTo>
                <a:cubicBezTo>
                  <a:pt x="92065" y="100013"/>
                  <a:pt x="95250" y="103197"/>
                  <a:pt x="95250" y="107156"/>
                </a:cubicBezTo>
                <a:cubicBezTo>
                  <a:pt x="95250" y="111115"/>
                  <a:pt x="92065" y="114300"/>
                  <a:pt x="88106" y="114300"/>
                </a:cubicBezTo>
                <a:lnTo>
                  <a:pt x="69056" y="114300"/>
                </a:lnTo>
                <a:cubicBezTo>
                  <a:pt x="65097" y="114300"/>
                  <a:pt x="61912" y="111115"/>
                  <a:pt x="61912" y="107156"/>
                </a:cubicBezTo>
                <a:close/>
              </a:path>
            </a:pathLst>
          </a:custGeom>
          <a:solidFill>
            <a:srgbClr val="00C950"/>
          </a:solidFill>
          <a:ln/>
        </p:spPr>
      </p:sp>
      <p:sp>
        <p:nvSpPr>
          <p:cNvPr id="16" name="Text 14"/>
          <p:cNvSpPr/>
          <p:nvPr/>
        </p:nvSpPr>
        <p:spPr>
          <a:xfrm>
            <a:off x="807720" y="2598427"/>
            <a:ext cx="43243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Credit Scoring</a:t>
            </a:r>
            <a:endParaRPr lang="en-US" sz="1600" dirty="0"/>
          </a:p>
        </p:txBody>
      </p:sp>
      <p:sp>
        <p:nvSpPr>
          <p:cNvPr id="17" name="Text 15"/>
          <p:cNvSpPr/>
          <p:nvPr/>
        </p:nvSpPr>
        <p:spPr>
          <a:xfrm>
            <a:off x="807720" y="2827027"/>
            <a:ext cx="432435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Evaluates loan applications more fairly using diverse data points</a:t>
            </a:r>
            <a:endParaRPr lang="en-US" sz="1600" dirty="0"/>
          </a:p>
        </p:txBody>
      </p:sp>
      <p:sp>
        <p:nvSpPr>
          <p:cNvPr id="18" name="Shape 16"/>
          <p:cNvSpPr/>
          <p:nvPr/>
        </p:nvSpPr>
        <p:spPr>
          <a:xfrm>
            <a:off x="512445" y="3150877"/>
            <a:ext cx="171450" cy="152400"/>
          </a:xfrm>
          <a:custGeom>
            <a:avLst/>
            <a:gdLst/>
            <a:ahLst/>
            <a:cxnLst/>
            <a:rect l="l" t="t" r="r" b="b"/>
            <a:pathLst>
              <a:path w="171450" h="152400">
                <a:moveTo>
                  <a:pt x="114300" y="42863"/>
                </a:moveTo>
                <a:cubicBezTo>
                  <a:pt x="114300" y="71795"/>
                  <a:pt x="88702" y="95250"/>
                  <a:pt x="57150" y="95250"/>
                </a:cubicBezTo>
                <a:cubicBezTo>
                  <a:pt x="49203" y="95250"/>
                  <a:pt x="41642" y="93762"/>
                  <a:pt x="34766" y="91083"/>
                </a:cubicBezTo>
                <a:lnTo>
                  <a:pt x="10478" y="103942"/>
                </a:lnTo>
                <a:cubicBezTo>
                  <a:pt x="7709" y="105400"/>
                  <a:pt x="4316" y="104894"/>
                  <a:pt x="2084" y="102691"/>
                </a:cubicBezTo>
                <a:cubicBezTo>
                  <a:pt x="-149" y="100489"/>
                  <a:pt x="-655" y="97066"/>
                  <a:pt x="833" y="94298"/>
                </a:cubicBezTo>
                <a:lnTo>
                  <a:pt x="11430" y="74295"/>
                </a:lnTo>
                <a:cubicBezTo>
                  <a:pt x="4256" y="65544"/>
                  <a:pt x="0" y="54650"/>
                  <a:pt x="0" y="42863"/>
                </a:cubicBezTo>
                <a:cubicBezTo>
                  <a:pt x="0" y="13930"/>
                  <a:pt x="25598" y="-9525"/>
                  <a:pt x="57150" y="-9525"/>
                </a:cubicBezTo>
                <a:cubicBezTo>
                  <a:pt x="88702" y="-9525"/>
                  <a:pt x="114300" y="13930"/>
                  <a:pt x="114300" y="42863"/>
                </a:cubicBezTo>
                <a:close/>
                <a:moveTo>
                  <a:pt x="114300" y="152400"/>
                </a:moveTo>
                <a:cubicBezTo>
                  <a:pt x="86291" y="152400"/>
                  <a:pt x="62984" y="133916"/>
                  <a:pt x="58103" y="109537"/>
                </a:cubicBezTo>
                <a:cubicBezTo>
                  <a:pt x="93821" y="109091"/>
                  <a:pt x="124867" y="83671"/>
                  <a:pt x="128290" y="49203"/>
                </a:cubicBezTo>
                <a:cubicBezTo>
                  <a:pt x="153085" y="54918"/>
                  <a:pt x="171450" y="75486"/>
                  <a:pt x="171450" y="100013"/>
                </a:cubicBezTo>
                <a:cubicBezTo>
                  <a:pt x="171450" y="111800"/>
                  <a:pt x="167194" y="122694"/>
                  <a:pt x="160020" y="131445"/>
                </a:cubicBezTo>
                <a:lnTo>
                  <a:pt x="170617" y="151448"/>
                </a:lnTo>
                <a:cubicBezTo>
                  <a:pt x="172075" y="154216"/>
                  <a:pt x="171569" y="157609"/>
                  <a:pt x="169366" y="159841"/>
                </a:cubicBezTo>
                <a:cubicBezTo>
                  <a:pt x="167164" y="162074"/>
                  <a:pt x="163741" y="162580"/>
                  <a:pt x="160973" y="161092"/>
                </a:cubicBezTo>
                <a:lnTo>
                  <a:pt x="136684" y="148233"/>
                </a:lnTo>
                <a:cubicBezTo>
                  <a:pt x="129808" y="150912"/>
                  <a:pt x="122247" y="152400"/>
                  <a:pt x="114300" y="152400"/>
                </a:cubicBezTo>
                <a:close/>
              </a:path>
            </a:pathLst>
          </a:custGeom>
          <a:solidFill>
            <a:srgbClr val="00C950"/>
          </a:solidFill>
          <a:ln/>
        </p:spPr>
      </p:sp>
      <p:sp>
        <p:nvSpPr>
          <p:cNvPr id="19" name="Text 17"/>
          <p:cNvSpPr/>
          <p:nvPr/>
        </p:nvSpPr>
        <p:spPr>
          <a:xfrm>
            <a:off x="807720" y="3112777"/>
            <a:ext cx="437197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Customer Service</a:t>
            </a:r>
            <a:endParaRPr lang="en-US" sz="1600" dirty="0"/>
          </a:p>
        </p:txBody>
      </p:sp>
      <p:sp>
        <p:nvSpPr>
          <p:cNvPr id="20" name="Text 18"/>
          <p:cNvSpPr/>
          <p:nvPr/>
        </p:nvSpPr>
        <p:spPr>
          <a:xfrm>
            <a:off x="807720" y="3341377"/>
            <a:ext cx="437197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Chatbots handle account questions, transfers, and basic banking</a:t>
            </a:r>
            <a:endParaRPr lang="en-US" sz="1600" dirty="0"/>
          </a:p>
        </p:txBody>
      </p:sp>
      <p:sp>
        <p:nvSpPr>
          <p:cNvPr id="21" name="Shape 19"/>
          <p:cNvSpPr/>
          <p:nvPr/>
        </p:nvSpPr>
        <p:spPr>
          <a:xfrm>
            <a:off x="384810" y="3771896"/>
            <a:ext cx="6760845" cy="1379220"/>
          </a:xfrm>
          <a:prstGeom prst="roundRect">
            <a:avLst>
              <a:gd name="adj" fmla="val 8287"/>
            </a:avLst>
          </a:prstGeom>
          <a:solidFill>
            <a:srgbClr val="262626"/>
          </a:solidFill>
          <a:ln w="10160">
            <a:solidFill>
              <a:srgbClr val="333333"/>
            </a:solidFill>
            <a:prstDash val="solid"/>
          </a:ln>
        </p:spPr>
      </p:sp>
      <p:sp>
        <p:nvSpPr>
          <p:cNvPr id="22" name="Text 20"/>
          <p:cNvSpPr/>
          <p:nvPr/>
        </p:nvSpPr>
        <p:spPr>
          <a:xfrm>
            <a:off x="502920" y="3890014"/>
            <a:ext cx="6619875"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Benefits</a:t>
            </a:r>
            <a:endParaRPr lang="en-US" sz="1600" dirty="0"/>
          </a:p>
        </p:txBody>
      </p:sp>
      <p:sp>
        <p:nvSpPr>
          <p:cNvPr id="23" name="Shape 21"/>
          <p:cNvSpPr/>
          <p:nvPr/>
        </p:nvSpPr>
        <p:spPr>
          <a:xfrm>
            <a:off x="502920" y="4232914"/>
            <a:ext cx="3219450" cy="800100"/>
          </a:xfrm>
          <a:prstGeom prst="roundRect">
            <a:avLst>
              <a:gd name="adj" fmla="val 9524"/>
            </a:avLst>
          </a:prstGeom>
          <a:solidFill>
            <a:srgbClr val="191919"/>
          </a:solidFill>
          <a:ln/>
        </p:spPr>
      </p:sp>
      <p:sp>
        <p:nvSpPr>
          <p:cNvPr id="24" name="Text 22"/>
          <p:cNvSpPr/>
          <p:nvPr/>
        </p:nvSpPr>
        <p:spPr>
          <a:xfrm>
            <a:off x="579120" y="4309114"/>
            <a:ext cx="31432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For Banks</a:t>
            </a:r>
            <a:endParaRPr lang="en-US" sz="1600" dirty="0"/>
          </a:p>
        </p:txBody>
      </p:sp>
      <p:sp>
        <p:nvSpPr>
          <p:cNvPr id="25" name="Text 23"/>
          <p:cNvSpPr/>
          <p:nvPr/>
        </p:nvSpPr>
        <p:spPr>
          <a:xfrm>
            <a:off x="579120" y="4575814"/>
            <a:ext cx="3133725" cy="3810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Reduced fraud losses, faster processing, better customer service</a:t>
            </a:r>
            <a:endParaRPr lang="en-US" sz="1600" dirty="0"/>
          </a:p>
        </p:txBody>
      </p:sp>
      <p:sp>
        <p:nvSpPr>
          <p:cNvPr id="26" name="Shape 24"/>
          <p:cNvSpPr/>
          <p:nvPr/>
        </p:nvSpPr>
        <p:spPr>
          <a:xfrm>
            <a:off x="3802380" y="4232914"/>
            <a:ext cx="3219450" cy="800100"/>
          </a:xfrm>
          <a:prstGeom prst="roundRect">
            <a:avLst>
              <a:gd name="adj" fmla="val 9524"/>
            </a:avLst>
          </a:prstGeom>
          <a:solidFill>
            <a:srgbClr val="191919"/>
          </a:solidFill>
          <a:ln/>
        </p:spPr>
      </p:sp>
      <p:sp>
        <p:nvSpPr>
          <p:cNvPr id="27" name="Text 25"/>
          <p:cNvSpPr/>
          <p:nvPr/>
        </p:nvSpPr>
        <p:spPr>
          <a:xfrm>
            <a:off x="3878580" y="4309114"/>
            <a:ext cx="31432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For Customers</a:t>
            </a:r>
            <a:endParaRPr lang="en-US" sz="1600" dirty="0"/>
          </a:p>
        </p:txBody>
      </p:sp>
      <p:sp>
        <p:nvSpPr>
          <p:cNvPr id="28" name="Text 26"/>
          <p:cNvSpPr/>
          <p:nvPr/>
        </p:nvSpPr>
        <p:spPr>
          <a:xfrm>
            <a:off x="3878580" y="4575814"/>
            <a:ext cx="3133725" cy="3810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Safer accounts, instant service, personalized financial advice</a:t>
            </a:r>
            <a:endParaRPr lang="en-US" sz="1600" dirty="0"/>
          </a:p>
        </p:txBody>
      </p:sp>
      <p:sp>
        <p:nvSpPr>
          <p:cNvPr id="29" name="Shape 27"/>
          <p:cNvSpPr/>
          <p:nvPr/>
        </p:nvSpPr>
        <p:spPr>
          <a:xfrm>
            <a:off x="7303770" y="1108710"/>
            <a:ext cx="4503420" cy="1798320"/>
          </a:xfrm>
          <a:prstGeom prst="roundRect">
            <a:avLst>
              <a:gd name="adj" fmla="val 6356"/>
            </a:avLst>
          </a:prstGeom>
          <a:gradFill rotWithShape="1" flip="none">
            <a:gsLst>
              <a:gs pos="0">
                <a:srgbClr val="00C950">
                  <a:alpha val="20000"/>
                </a:srgbClr>
              </a:gs>
              <a:gs pos="100000">
                <a:srgbClr val="00C950">
                  <a:alpha val="5000"/>
                </a:srgbClr>
              </a:gs>
            </a:gsLst>
            <a:lin ang="2700000" scaled="1"/>
          </a:gradFill>
          <a:ln w="10160">
            <a:solidFill>
              <a:srgbClr val="00C950"/>
            </a:solidFill>
            <a:prstDash val="solid"/>
          </a:ln>
        </p:spPr>
      </p:sp>
      <p:sp>
        <p:nvSpPr>
          <p:cNvPr id="30" name="Shape 28"/>
          <p:cNvSpPr/>
          <p:nvPr/>
        </p:nvSpPr>
        <p:spPr>
          <a:xfrm>
            <a:off x="7469505" y="1264927"/>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00C950"/>
          </a:solidFill>
          <a:ln/>
        </p:spPr>
      </p:sp>
      <p:sp>
        <p:nvSpPr>
          <p:cNvPr id="31" name="Text 29"/>
          <p:cNvSpPr/>
          <p:nvPr/>
        </p:nvSpPr>
        <p:spPr>
          <a:xfrm>
            <a:off x="7736205" y="1226827"/>
            <a:ext cx="1809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Real-World Example</a:t>
            </a:r>
            <a:endParaRPr lang="en-US" sz="1600" dirty="0"/>
          </a:p>
        </p:txBody>
      </p:sp>
      <p:sp>
        <p:nvSpPr>
          <p:cNvPr id="32" name="Shape 30"/>
          <p:cNvSpPr/>
          <p:nvPr/>
        </p:nvSpPr>
        <p:spPr>
          <a:xfrm>
            <a:off x="7421880" y="1569727"/>
            <a:ext cx="4267200" cy="1219200"/>
          </a:xfrm>
          <a:prstGeom prst="roundRect">
            <a:avLst>
              <a:gd name="adj" fmla="val 6250"/>
            </a:avLst>
          </a:prstGeom>
          <a:solidFill>
            <a:srgbClr val="191919"/>
          </a:solidFill>
          <a:ln/>
        </p:spPr>
      </p:sp>
      <p:sp>
        <p:nvSpPr>
          <p:cNvPr id="33" name="Text 31"/>
          <p:cNvSpPr/>
          <p:nvPr/>
        </p:nvSpPr>
        <p:spPr>
          <a:xfrm>
            <a:off x="7536180" y="1684027"/>
            <a:ext cx="4124325" cy="266700"/>
          </a:xfrm>
          <a:prstGeom prst="rect">
            <a:avLst/>
          </a:prstGeom>
          <a:noFill/>
          <a:ln/>
        </p:spPr>
        <p:txBody>
          <a:bodyPr wrap="square" lIns="0" tIns="0" rIns="0" bIns="0" rtlCol="0" anchor="ctr"/>
          <a:lstStyle/>
          <a:p>
            <a:pPr>
              <a:lnSpc>
                <a:spcPct val="130000"/>
              </a:lnSpc>
            </a:pPr>
            <a:r>
              <a:rPr lang="en-US" sz="1350" b="1" dirty="0">
                <a:solidFill>
                  <a:srgbClr val="00C950"/>
                </a:solidFill>
                <a:latin typeface="Liter" pitchFamily="34" charset="0"/>
                <a:ea typeface="Liter" pitchFamily="34" charset="-122"/>
                <a:cs typeface="Liter" pitchFamily="34" charset="-120"/>
              </a:rPr>
              <a:t>PayPal Fraud Detection</a:t>
            </a:r>
            <a:endParaRPr lang="en-US" sz="1600" dirty="0"/>
          </a:p>
        </p:txBody>
      </p:sp>
      <p:sp>
        <p:nvSpPr>
          <p:cNvPr id="34" name="Text 32"/>
          <p:cNvSpPr/>
          <p:nvPr/>
        </p:nvSpPr>
        <p:spPr>
          <a:xfrm>
            <a:off x="7536180" y="1988827"/>
            <a:ext cx="41148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PayPal's AI analyzes billions of transactions, detecting fraud in real-time. It saved customers $1.5 billion in fraudulent transactions last year alone!</a:t>
            </a:r>
            <a:endParaRPr lang="en-US" sz="1600" dirty="0"/>
          </a:p>
        </p:txBody>
      </p:sp>
      <p:sp>
        <p:nvSpPr>
          <p:cNvPr id="35" name="Shape 33"/>
          <p:cNvSpPr/>
          <p:nvPr/>
        </p:nvSpPr>
        <p:spPr>
          <a:xfrm>
            <a:off x="7303770" y="2990846"/>
            <a:ext cx="4503420" cy="1264920"/>
          </a:xfrm>
          <a:prstGeom prst="roundRect">
            <a:avLst>
              <a:gd name="adj" fmla="val 9036"/>
            </a:avLst>
          </a:prstGeom>
          <a:solidFill>
            <a:srgbClr val="262626"/>
          </a:solidFill>
          <a:ln w="10160">
            <a:solidFill>
              <a:srgbClr val="333333"/>
            </a:solidFill>
            <a:prstDash val="solid"/>
          </a:ln>
        </p:spPr>
      </p:sp>
      <p:sp>
        <p:nvSpPr>
          <p:cNvPr id="36" name="Text 34"/>
          <p:cNvSpPr/>
          <p:nvPr/>
        </p:nvSpPr>
        <p:spPr>
          <a:xfrm>
            <a:off x="7421880" y="3108964"/>
            <a:ext cx="43529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 Simple Explanation</a:t>
            </a:r>
            <a:endParaRPr lang="en-US" sz="1600" dirty="0"/>
          </a:p>
        </p:txBody>
      </p:sp>
      <p:sp>
        <p:nvSpPr>
          <p:cNvPr id="37" name="Text 35"/>
          <p:cNvSpPr/>
          <p:nvPr/>
        </p:nvSpPr>
        <p:spPr>
          <a:xfrm>
            <a:off x="7421880" y="3451864"/>
            <a:ext cx="43434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AI in banking is like having a super-security guard who watches every transaction, knows every trick criminals use, and protects your money around the clock.</a:t>
            </a:r>
            <a:endParaRPr lang="en-US" sz="1600" dirty="0"/>
          </a:p>
        </p:txBody>
      </p:sp>
      <p:sp>
        <p:nvSpPr>
          <p:cNvPr id="38" name="Shape 36"/>
          <p:cNvSpPr/>
          <p:nvPr/>
        </p:nvSpPr>
        <p:spPr>
          <a:xfrm>
            <a:off x="7303770" y="4339601"/>
            <a:ext cx="4503420" cy="1874520"/>
          </a:xfrm>
          <a:prstGeom prst="roundRect">
            <a:avLst>
              <a:gd name="adj" fmla="val 6098"/>
            </a:avLst>
          </a:prstGeom>
          <a:solidFill>
            <a:srgbClr val="262626"/>
          </a:solidFill>
          <a:ln w="10160">
            <a:solidFill>
              <a:srgbClr val="333333"/>
            </a:solidFill>
            <a:prstDash val="solid"/>
          </a:ln>
        </p:spPr>
      </p:sp>
      <p:sp>
        <p:nvSpPr>
          <p:cNvPr id="39" name="Shape 37"/>
          <p:cNvSpPr/>
          <p:nvPr/>
        </p:nvSpPr>
        <p:spPr>
          <a:xfrm>
            <a:off x="7456408" y="4505325"/>
            <a:ext cx="150019" cy="171450"/>
          </a:xfrm>
          <a:custGeom>
            <a:avLst/>
            <a:gdLst/>
            <a:ahLst/>
            <a:cxnLst/>
            <a:rect l="l" t="t" r="r" b="b"/>
            <a:pathLst>
              <a:path w="150019" h="171450">
                <a:moveTo>
                  <a:pt x="21431" y="10716"/>
                </a:moveTo>
                <a:cubicBezTo>
                  <a:pt x="9611" y="10716"/>
                  <a:pt x="0" y="20326"/>
                  <a:pt x="0" y="32147"/>
                </a:cubicBezTo>
                <a:lnTo>
                  <a:pt x="0" y="139303"/>
                </a:lnTo>
                <a:cubicBezTo>
                  <a:pt x="0" y="151124"/>
                  <a:pt x="9611" y="160734"/>
                  <a:pt x="21431" y="160734"/>
                </a:cubicBezTo>
                <a:lnTo>
                  <a:pt x="128588" y="160734"/>
                </a:lnTo>
                <a:cubicBezTo>
                  <a:pt x="140408" y="160734"/>
                  <a:pt x="150019" y="151124"/>
                  <a:pt x="150019" y="139303"/>
                </a:cubicBezTo>
                <a:lnTo>
                  <a:pt x="150019" y="32147"/>
                </a:lnTo>
                <a:cubicBezTo>
                  <a:pt x="150019" y="20326"/>
                  <a:pt x="140408" y="10716"/>
                  <a:pt x="128588" y="10716"/>
                </a:cubicBezTo>
                <a:lnTo>
                  <a:pt x="21431" y="10716"/>
                </a:lnTo>
                <a:close/>
                <a:moveTo>
                  <a:pt x="42863" y="37505"/>
                </a:moveTo>
                <a:cubicBezTo>
                  <a:pt x="51734" y="37505"/>
                  <a:pt x="58936" y="44707"/>
                  <a:pt x="58936" y="53578"/>
                </a:cubicBezTo>
                <a:cubicBezTo>
                  <a:pt x="58936" y="62449"/>
                  <a:pt x="51734" y="69652"/>
                  <a:pt x="42863" y="69652"/>
                </a:cubicBezTo>
                <a:cubicBezTo>
                  <a:pt x="33991" y="69652"/>
                  <a:pt x="26789" y="62449"/>
                  <a:pt x="26789" y="53578"/>
                </a:cubicBezTo>
                <a:cubicBezTo>
                  <a:pt x="26789" y="44707"/>
                  <a:pt x="33991" y="37505"/>
                  <a:pt x="42863" y="37505"/>
                </a:cubicBezTo>
                <a:close/>
                <a:moveTo>
                  <a:pt x="91083" y="75009"/>
                </a:moveTo>
                <a:cubicBezTo>
                  <a:pt x="93896" y="75009"/>
                  <a:pt x="96474" y="76483"/>
                  <a:pt x="97948" y="78860"/>
                </a:cubicBezTo>
                <a:lnTo>
                  <a:pt x="127415" y="127081"/>
                </a:lnTo>
                <a:cubicBezTo>
                  <a:pt x="128922" y="129559"/>
                  <a:pt x="128989" y="132673"/>
                  <a:pt x="127583" y="135218"/>
                </a:cubicBezTo>
                <a:cubicBezTo>
                  <a:pt x="126176" y="137763"/>
                  <a:pt x="123464" y="139303"/>
                  <a:pt x="120551" y="139303"/>
                </a:cubicBezTo>
                <a:lnTo>
                  <a:pt x="29468" y="139303"/>
                </a:lnTo>
                <a:cubicBezTo>
                  <a:pt x="26488" y="139303"/>
                  <a:pt x="23708" y="137629"/>
                  <a:pt x="22335" y="134983"/>
                </a:cubicBezTo>
                <a:cubicBezTo>
                  <a:pt x="20962" y="132338"/>
                  <a:pt x="21163" y="129123"/>
                  <a:pt x="22871" y="126679"/>
                </a:cubicBezTo>
                <a:lnTo>
                  <a:pt x="41624" y="99890"/>
                </a:lnTo>
                <a:cubicBezTo>
                  <a:pt x="43130" y="97747"/>
                  <a:pt x="45575" y="96474"/>
                  <a:pt x="48220" y="96474"/>
                </a:cubicBezTo>
                <a:cubicBezTo>
                  <a:pt x="50866" y="96474"/>
                  <a:pt x="53310" y="97747"/>
                  <a:pt x="54817" y="99890"/>
                </a:cubicBezTo>
                <a:lnTo>
                  <a:pt x="63658" y="112548"/>
                </a:lnTo>
                <a:lnTo>
                  <a:pt x="84218" y="78894"/>
                </a:lnTo>
                <a:cubicBezTo>
                  <a:pt x="85692" y="76516"/>
                  <a:pt x="88270" y="75043"/>
                  <a:pt x="91083" y="75043"/>
                </a:cubicBezTo>
                <a:close/>
              </a:path>
            </a:pathLst>
          </a:custGeom>
          <a:solidFill>
            <a:srgbClr val="00C950"/>
          </a:solidFill>
          <a:ln/>
        </p:spPr>
      </p:sp>
      <p:sp>
        <p:nvSpPr>
          <p:cNvPr id="40" name="Text 38"/>
          <p:cNvSpPr/>
          <p:nvPr/>
        </p:nvSpPr>
        <p:spPr>
          <a:xfrm>
            <a:off x="7640955" y="4457700"/>
            <a:ext cx="41338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Visual</a:t>
            </a:r>
            <a:endParaRPr lang="en-US" sz="1600" dirty="0"/>
          </a:p>
        </p:txBody>
      </p:sp>
      <p:sp>
        <p:nvSpPr>
          <p:cNvPr id="41" name="Shape 39"/>
          <p:cNvSpPr/>
          <p:nvPr/>
        </p:nvSpPr>
        <p:spPr>
          <a:xfrm>
            <a:off x="7421880" y="4800600"/>
            <a:ext cx="4267200" cy="609600"/>
          </a:xfrm>
          <a:prstGeom prst="roundRect">
            <a:avLst>
              <a:gd name="adj" fmla="val 12500"/>
            </a:avLst>
          </a:prstGeom>
          <a:solidFill>
            <a:srgbClr val="191919"/>
          </a:solidFill>
          <a:ln/>
        </p:spPr>
      </p:sp>
      <p:sp>
        <p:nvSpPr>
          <p:cNvPr id="42" name="Text 40"/>
          <p:cNvSpPr/>
          <p:nvPr/>
        </p:nvSpPr>
        <p:spPr>
          <a:xfrm>
            <a:off x="7498080" y="48768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Diagram:</a:t>
            </a:r>
            <a:endParaRPr lang="en-US" sz="1600" dirty="0"/>
          </a:p>
        </p:txBody>
      </p:sp>
      <p:sp>
        <p:nvSpPr>
          <p:cNvPr id="43" name="Text 41"/>
          <p:cNvSpPr/>
          <p:nvPr/>
        </p:nvSpPr>
        <p:spPr>
          <a:xfrm>
            <a:off x="7498080" y="51054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Transaction → AI Analysis → Safe or Fraud Alert</a:t>
            </a:r>
            <a:endParaRPr lang="en-US" sz="1600" dirty="0"/>
          </a:p>
        </p:txBody>
      </p:sp>
      <p:sp>
        <p:nvSpPr>
          <p:cNvPr id="44" name="Shape 42"/>
          <p:cNvSpPr/>
          <p:nvPr/>
        </p:nvSpPr>
        <p:spPr>
          <a:xfrm>
            <a:off x="7421880" y="5486400"/>
            <a:ext cx="4267200" cy="609600"/>
          </a:xfrm>
          <a:prstGeom prst="roundRect">
            <a:avLst>
              <a:gd name="adj" fmla="val 12500"/>
            </a:avLst>
          </a:prstGeom>
          <a:solidFill>
            <a:srgbClr val="191919"/>
          </a:solidFill>
          <a:ln/>
        </p:spPr>
      </p:sp>
      <p:sp>
        <p:nvSpPr>
          <p:cNvPr id="45" name="Text 43"/>
          <p:cNvSpPr/>
          <p:nvPr/>
        </p:nvSpPr>
        <p:spPr>
          <a:xfrm>
            <a:off x="7498080" y="55626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Image:</a:t>
            </a:r>
            <a:endParaRPr lang="en-US" sz="1600" dirty="0"/>
          </a:p>
        </p:txBody>
      </p:sp>
      <p:sp>
        <p:nvSpPr>
          <p:cNvPr id="46" name="Text 44"/>
          <p:cNvSpPr/>
          <p:nvPr/>
        </p:nvSpPr>
        <p:spPr>
          <a:xfrm>
            <a:off x="7498080" y="57912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Banking app with AI security features</a:t>
            </a:r>
            <a:endParaRPr lang="en-US" sz="1600" dirty="0"/>
          </a:p>
        </p:txBody>
      </p:sp>
    </p:spTree>
  </p:cSld>
  <p:clrMapOvr>
    <a:masterClrMapping/>
  </p:clrMapOvr>
  <p:transition>
    <p:fade/>
    <p:spd val="med"/>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91919"/>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AD46FF">
              <a:alpha val="20000"/>
            </a:srgbClr>
          </a:solidFill>
          <a:ln/>
        </p:spPr>
      </p:sp>
      <p:sp>
        <p:nvSpPr>
          <p:cNvPr id="3" name="Text 1"/>
          <p:cNvSpPr/>
          <p:nvPr/>
        </p:nvSpPr>
        <p:spPr>
          <a:xfrm>
            <a:off x="498157" y="533400"/>
            <a:ext cx="314325" cy="266700"/>
          </a:xfrm>
          <a:prstGeom prst="rect">
            <a:avLst/>
          </a:prstGeom>
          <a:noFill/>
          <a:ln/>
        </p:spPr>
        <p:txBody>
          <a:bodyPr wrap="square" lIns="0" tIns="0" rIns="0" bIns="0" rtlCol="0" anchor="ctr"/>
          <a:lstStyle/>
          <a:p>
            <a:pPr>
              <a:lnSpc>
                <a:spcPct val="120000"/>
              </a:lnSpc>
            </a:pPr>
            <a:r>
              <a:rPr lang="en-US" sz="1500" b="1" dirty="0">
                <a:solidFill>
                  <a:srgbClr val="AD46FF"/>
                </a:solidFill>
                <a:latin typeface="Liter" pitchFamily="34" charset="0"/>
                <a:ea typeface="Liter" pitchFamily="34" charset="-122"/>
                <a:cs typeface="Liter" pitchFamily="34" charset="-120"/>
              </a:rPr>
              <a:t>24</a:t>
            </a:r>
            <a:endParaRPr lang="en-US" sz="1600" dirty="0"/>
          </a:p>
        </p:txBody>
      </p:sp>
      <p:sp>
        <p:nvSpPr>
          <p:cNvPr id="4" name="Text 2"/>
          <p:cNvSpPr/>
          <p:nvPr/>
        </p:nvSpPr>
        <p:spPr>
          <a:xfrm>
            <a:off x="952500" y="381000"/>
            <a:ext cx="7153275" cy="190500"/>
          </a:xfrm>
          <a:prstGeom prst="rect">
            <a:avLst/>
          </a:prstGeom>
          <a:noFill/>
          <a:ln/>
        </p:spPr>
        <p:txBody>
          <a:bodyPr wrap="square" lIns="0" tIns="0" rIns="0" bIns="0" rtlCol="0" anchor="ctr"/>
          <a:lstStyle/>
          <a:p>
            <a:pPr>
              <a:lnSpc>
                <a:spcPct val="120000"/>
              </a:lnSpc>
            </a:pPr>
            <a:r>
              <a:rPr lang="en-US" sz="1050" b="1" spc="53" kern="0" dirty="0">
                <a:solidFill>
                  <a:srgbClr val="AD46FF"/>
                </a:solidFill>
                <a:latin typeface="Liter" pitchFamily="34" charset="0"/>
                <a:ea typeface="Liter" pitchFamily="34" charset="-122"/>
                <a:cs typeface="Liter" pitchFamily="34" charset="-120"/>
              </a:rPr>
              <a:t>Applications of AI</a:t>
            </a:r>
            <a:endParaRPr lang="en-US" sz="1600" dirty="0"/>
          </a:p>
        </p:txBody>
      </p:sp>
      <p:sp>
        <p:nvSpPr>
          <p:cNvPr id="5" name="Text 3"/>
          <p:cNvSpPr/>
          <p:nvPr/>
        </p:nvSpPr>
        <p:spPr>
          <a:xfrm>
            <a:off x="952500" y="571500"/>
            <a:ext cx="725805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AI in Gaming – Creating Immersive Experiences</a:t>
            </a:r>
            <a:endParaRPr lang="en-US" sz="1600" dirty="0"/>
          </a:p>
        </p:txBody>
      </p:sp>
      <p:sp>
        <p:nvSpPr>
          <p:cNvPr id="6" name="Shape 4"/>
          <p:cNvSpPr/>
          <p:nvPr/>
        </p:nvSpPr>
        <p:spPr>
          <a:xfrm>
            <a:off x="384810" y="1108710"/>
            <a:ext cx="6760845" cy="2579370"/>
          </a:xfrm>
          <a:prstGeom prst="roundRect">
            <a:avLst>
              <a:gd name="adj" fmla="val 4431"/>
            </a:avLst>
          </a:prstGeom>
          <a:solidFill>
            <a:srgbClr val="262626"/>
          </a:solidFill>
          <a:ln w="10160">
            <a:solidFill>
              <a:srgbClr val="333333"/>
            </a:solidFill>
            <a:prstDash val="solid"/>
          </a:ln>
        </p:spPr>
      </p:sp>
      <p:sp>
        <p:nvSpPr>
          <p:cNvPr id="7" name="Shape 5"/>
          <p:cNvSpPr/>
          <p:nvPr/>
        </p:nvSpPr>
        <p:spPr>
          <a:xfrm>
            <a:off x="502920" y="1264927"/>
            <a:ext cx="238125" cy="190500"/>
          </a:xfrm>
          <a:custGeom>
            <a:avLst/>
            <a:gdLst/>
            <a:ahLst/>
            <a:cxnLst/>
            <a:rect l="l" t="t" r="r" b="b"/>
            <a:pathLst>
              <a:path w="238125" h="190500">
                <a:moveTo>
                  <a:pt x="166688" y="23812"/>
                </a:moveTo>
                <a:cubicBezTo>
                  <a:pt x="206127" y="23812"/>
                  <a:pt x="238125" y="55811"/>
                  <a:pt x="238125" y="95250"/>
                </a:cubicBezTo>
                <a:cubicBezTo>
                  <a:pt x="238125" y="134689"/>
                  <a:pt x="206127" y="166688"/>
                  <a:pt x="166688" y="166688"/>
                </a:cubicBezTo>
                <a:lnTo>
                  <a:pt x="71438" y="166688"/>
                </a:lnTo>
                <a:cubicBezTo>
                  <a:pt x="31998" y="166688"/>
                  <a:pt x="0" y="134689"/>
                  <a:pt x="0" y="95250"/>
                </a:cubicBezTo>
                <a:cubicBezTo>
                  <a:pt x="0" y="55811"/>
                  <a:pt x="31998" y="23812"/>
                  <a:pt x="71438" y="23812"/>
                </a:cubicBezTo>
                <a:lnTo>
                  <a:pt x="166688" y="23812"/>
                </a:lnTo>
                <a:close/>
                <a:moveTo>
                  <a:pt x="71438" y="65484"/>
                </a:moveTo>
                <a:cubicBezTo>
                  <a:pt x="66489" y="65484"/>
                  <a:pt x="62508" y="69466"/>
                  <a:pt x="62508" y="74414"/>
                </a:cubicBezTo>
                <a:lnTo>
                  <a:pt x="62508" y="86320"/>
                </a:lnTo>
                <a:lnTo>
                  <a:pt x="50602" y="86320"/>
                </a:lnTo>
                <a:cubicBezTo>
                  <a:pt x="45653" y="86320"/>
                  <a:pt x="41672" y="90301"/>
                  <a:pt x="41672" y="95250"/>
                </a:cubicBezTo>
                <a:cubicBezTo>
                  <a:pt x="41672" y="100199"/>
                  <a:pt x="45653" y="104180"/>
                  <a:pt x="50602" y="104180"/>
                </a:cubicBezTo>
                <a:lnTo>
                  <a:pt x="62508" y="104180"/>
                </a:lnTo>
                <a:lnTo>
                  <a:pt x="62508" y="116086"/>
                </a:lnTo>
                <a:cubicBezTo>
                  <a:pt x="62508" y="121034"/>
                  <a:pt x="66489" y="125016"/>
                  <a:pt x="71438" y="125016"/>
                </a:cubicBezTo>
                <a:cubicBezTo>
                  <a:pt x="76386" y="125016"/>
                  <a:pt x="80367" y="121034"/>
                  <a:pt x="80367" y="116086"/>
                </a:cubicBezTo>
                <a:lnTo>
                  <a:pt x="80367" y="104180"/>
                </a:lnTo>
                <a:lnTo>
                  <a:pt x="92273" y="104180"/>
                </a:lnTo>
                <a:cubicBezTo>
                  <a:pt x="97222" y="104180"/>
                  <a:pt x="101203" y="100199"/>
                  <a:pt x="101203" y="95250"/>
                </a:cubicBezTo>
                <a:cubicBezTo>
                  <a:pt x="101203" y="90301"/>
                  <a:pt x="97222" y="86320"/>
                  <a:pt x="92273" y="86320"/>
                </a:cubicBezTo>
                <a:lnTo>
                  <a:pt x="80367" y="86320"/>
                </a:lnTo>
                <a:lnTo>
                  <a:pt x="80367" y="74414"/>
                </a:lnTo>
                <a:cubicBezTo>
                  <a:pt x="80367" y="69466"/>
                  <a:pt x="76386" y="65484"/>
                  <a:pt x="71438" y="65484"/>
                </a:cubicBezTo>
                <a:close/>
                <a:moveTo>
                  <a:pt x="160734" y="101203"/>
                </a:moveTo>
                <a:cubicBezTo>
                  <a:pt x="154163" y="101203"/>
                  <a:pt x="148828" y="106538"/>
                  <a:pt x="148828" y="113109"/>
                </a:cubicBezTo>
                <a:cubicBezTo>
                  <a:pt x="148828" y="119681"/>
                  <a:pt x="154163" y="125016"/>
                  <a:pt x="160734" y="125016"/>
                </a:cubicBezTo>
                <a:cubicBezTo>
                  <a:pt x="167306" y="125016"/>
                  <a:pt x="172641" y="119681"/>
                  <a:pt x="172641" y="113109"/>
                </a:cubicBezTo>
                <a:cubicBezTo>
                  <a:pt x="172641" y="106538"/>
                  <a:pt x="167306" y="101203"/>
                  <a:pt x="160734" y="101203"/>
                </a:cubicBezTo>
                <a:close/>
                <a:moveTo>
                  <a:pt x="184547" y="65484"/>
                </a:moveTo>
                <a:cubicBezTo>
                  <a:pt x="177976" y="65484"/>
                  <a:pt x="172641" y="70819"/>
                  <a:pt x="172641" y="77391"/>
                </a:cubicBezTo>
                <a:cubicBezTo>
                  <a:pt x="172641" y="83962"/>
                  <a:pt x="177976" y="89297"/>
                  <a:pt x="184547" y="89297"/>
                </a:cubicBezTo>
                <a:cubicBezTo>
                  <a:pt x="191118" y="89297"/>
                  <a:pt x="196453" y="83962"/>
                  <a:pt x="196453" y="77391"/>
                </a:cubicBezTo>
                <a:cubicBezTo>
                  <a:pt x="196453" y="70819"/>
                  <a:pt x="191118" y="65484"/>
                  <a:pt x="184547" y="65484"/>
                </a:cubicBezTo>
                <a:close/>
              </a:path>
            </a:pathLst>
          </a:custGeom>
          <a:solidFill>
            <a:srgbClr val="AD46FF"/>
          </a:solidFill>
          <a:ln/>
        </p:spPr>
      </p:sp>
      <p:sp>
        <p:nvSpPr>
          <p:cNvPr id="8" name="Text 6"/>
          <p:cNvSpPr/>
          <p:nvPr/>
        </p:nvSpPr>
        <p:spPr>
          <a:xfrm>
            <a:off x="741045" y="1226827"/>
            <a:ext cx="6381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How AI Enhances Games</a:t>
            </a:r>
            <a:endParaRPr lang="en-US" sz="1600" dirty="0"/>
          </a:p>
        </p:txBody>
      </p:sp>
      <p:sp>
        <p:nvSpPr>
          <p:cNvPr id="9" name="Shape 7"/>
          <p:cNvSpPr/>
          <p:nvPr/>
        </p:nvSpPr>
        <p:spPr>
          <a:xfrm>
            <a:off x="502920" y="1607827"/>
            <a:ext cx="190500" cy="152400"/>
          </a:xfrm>
          <a:custGeom>
            <a:avLst/>
            <a:gdLst/>
            <a:ahLst/>
            <a:cxnLst/>
            <a:rect l="l" t="t" r="r" b="b"/>
            <a:pathLst>
              <a:path w="190500" h="152400">
                <a:moveTo>
                  <a:pt x="104775" y="0"/>
                </a:moveTo>
                <a:cubicBezTo>
                  <a:pt x="104775" y="-5269"/>
                  <a:pt x="100519" y="-9525"/>
                  <a:pt x="95250" y="-9525"/>
                </a:cubicBezTo>
                <a:cubicBezTo>
                  <a:pt x="89981" y="-9525"/>
                  <a:pt x="85725" y="-5269"/>
                  <a:pt x="85725" y="0"/>
                </a:cubicBezTo>
                <a:lnTo>
                  <a:pt x="85725" y="19050"/>
                </a:lnTo>
                <a:lnTo>
                  <a:pt x="57150" y="19050"/>
                </a:lnTo>
                <a:cubicBezTo>
                  <a:pt x="41374" y="19050"/>
                  <a:pt x="28575" y="31849"/>
                  <a:pt x="28575" y="47625"/>
                </a:cubicBezTo>
                <a:lnTo>
                  <a:pt x="28575" y="114300"/>
                </a:lnTo>
                <a:cubicBezTo>
                  <a:pt x="28575" y="130076"/>
                  <a:pt x="41374" y="142875"/>
                  <a:pt x="57150" y="142875"/>
                </a:cubicBezTo>
                <a:lnTo>
                  <a:pt x="133350" y="142875"/>
                </a:lnTo>
                <a:cubicBezTo>
                  <a:pt x="149126" y="142875"/>
                  <a:pt x="161925" y="130076"/>
                  <a:pt x="161925" y="114300"/>
                </a:cubicBezTo>
                <a:lnTo>
                  <a:pt x="161925" y="47625"/>
                </a:lnTo>
                <a:cubicBezTo>
                  <a:pt x="161925" y="31849"/>
                  <a:pt x="149126" y="19050"/>
                  <a:pt x="133350" y="19050"/>
                </a:cubicBezTo>
                <a:lnTo>
                  <a:pt x="104775" y="19050"/>
                </a:lnTo>
                <a:lnTo>
                  <a:pt x="104775" y="0"/>
                </a:lnTo>
                <a:close/>
                <a:moveTo>
                  <a:pt x="47625" y="109537"/>
                </a:moveTo>
                <a:cubicBezTo>
                  <a:pt x="47625" y="105579"/>
                  <a:pt x="50810" y="102394"/>
                  <a:pt x="54769" y="102394"/>
                </a:cubicBezTo>
                <a:lnTo>
                  <a:pt x="64294" y="102394"/>
                </a:lnTo>
                <a:cubicBezTo>
                  <a:pt x="68253" y="102394"/>
                  <a:pt x="71438" y="105579"/>
                  <a:pt x="71438" y="109537"/>
                </a:cubicBezTo>
                <a:cubicBezTo>
                  <a:pt x="71438" y="113496"/>
                  <a:pt x="68253" y="116681"/>
                  <a:pt x="64294" y="116681"/>
                </a:cubicBezTo>
                <a:lnTo>
                  <a:pt x="54769" y="116681"/>
                </a:lnTo>
                <a:cubicBezTo>
                  <a:pt x="50810" y="116681"/>
                  <a:pt x="47625" y="113496"/>
                  <a:pt x="47625" y="109537"/>
                </a:cubicBezTo>
                <a:close/>
                <a:moveTo>
                  <a:pt x="83344" y="109537"/>
                </a:moveTo>
                <a:cubicBezTo>
                  <a:pt x="83344" y="105579"/>
                  <a:pt x="86529" y="102394"/>
                  <a:pt x="90488" y="102394"/>
                </a:cubicBezTo>
                <a:lnTo>
                  <a:pt x="100013" y="102394"/>
                </a:lnTo>
                <a:cubicBezTo>
                  <a:pt x="103971" y="102394"/>
                  <a:pt x="107156" y="105579"/>
                  <a:pt x="107156" y="109537"/>
                </a:cubicBezTo>
                <a:cubicBezTo>
                  <a:pt x="107156" y="113496"/>
                  <a:pt x="103971" y="116681"/>
                  <a:pt x="100013" y="116681"/>
                </a:cubicBezTo>
                <a:lnTo>
                  <a:pt x="90488" y="116681"/>
                </a:lnTo>
                <a:cubicBezTo>
                  <a:pt x="86529" y="116681"/>
                  <a:pt x="83344" y="113496"/>
                  <a:pt x="83344" y="109537"/>
                </a:cubicBezTo>
                <a:close/>
                <a:moveTo>
                  <a:pt x="119062" y="109537"/>
                </a:moveTo>
                <a:cubicBezTo>
                  <a:pt x="119062" y="105579"/>
                  <a:pt x="122247" y="102394"/>
                  <a:pt x="126206" y="102394"/>
                </a:cubicBezTo>
                <a:lnTo>
                  <a:pt x="135731" y="102394"/>
                </a:lnTo>
                <a:cubicBezTo>
                  <a:pt x="139690" y="102394"/>
                  <a:pt x="142875" y="105579"/>
                  <a:pt x="142875" y="109537"/>
                </a:cubicBezTo>
                <a:cubicBezTo>
                  <a:pt x="142875" y="113496"/>
                  <a:pt x="139690" y="116681"/>
                  <a:pt x="135731" y="116681"/>
                </a:cubicBezTo>
                <a:lnTo>
                  <a:pt x="126206" y="116681"/>
                </a:lnTo>
                <a:cubicBezTo>
                  <a:pt x="122247" y="116681"/>
                  <a:pt x="119062" y="113496"/>
                  <a:pt x="119062" y="109537"/>
                </a:cubicBezTo>
                <a:close/>
                <a:moveTo>
                  <a:pt x="66675" y="52388"/>
                </a:moveTo>
                <a:cubicBezTo>
                  <a:pt x="74560" y="52388"/>
                  <a:pt x="80962" y="58790"/>
                  <a:pt x="80962" y="66675"/>
                </a:cubicBezTo>
                <a:cubicBezTo>
                  <a:pt x="80962" y="74560"/>
                  <a:pt x="74560" y="80962"/>
                  <a:pt x="66675" y="80962"/>
                </a:cubicBezTo>
                <a:cubicBezTo>
                  <a:pt x="58790" y="80962"/>
                  <a:pt x="52388" y="74560"/>
                  <a:pt x="52388" y="66675"/>
                </a:cubicBezTo>
                <a:cubicBezTo>
                  <a:pt x="52388" y="58790"/>
                  <a:pt x="58790" y="52388"/>
                  <a:pt x="66675" y="52388"/>
                </a:cubicBezTo>
                <a:close/>
                <a:moveTo>
                  <a:pt x="109537" y="66675"/>
                </a:moveTo>
                <a:cubicBezTo>
                  <a:pt x="109537" y="58790"/>
                  <a:pt x="115940" y="52388"/>
                  <a:pt x="123825" y="52388"/>
                </a:cubicBezTo>
                <a:cubicBezTo>
                  <a:pt x="131710" y="52388"/>
                  <a:pt x="138113" y="58790"/>
                  <a:pt x="138113" y="66675"/>
                </a:cubicBezTo>
                <a:cubicBezTo>
                  <a:pt x="138113" y="74560"/>
                  <a:pt x="131710" y="80962"/>
                  <a:pt x="123825" y="80962"/>
                </a:cubicBezTo>
                <a:cubicBezTo>
                  <a:pt x="115940" y="80962"/>
                  <a:pt x="109537" y="74560"/>
                  <a:pt x="109537" y="66675"/>
                </a:cubicBezTo>
                <a:close/>
                <a:moveTo>
                  <a:pt x="19050" y="66675"/>
                </a:moveTo>
                <a:cubicBezTo>
                  <a:pt x="19050" y="61406"/>
                  <a:pt x="14794" y="57150"/>
                  <a:pt x="9525" y="57150"/>
                </a:cubicBezTo>
                <a:cubicBezTo>
                  <a:pt x="4256" y="57150"/>
                  <a:pt x="0" y="61406"/>
                  <a:pt x="0" y="66675"/>
                </a:cubicBezTo>
                <a:lnTo>
                  <a:pt x="0" y="95250"/>
                </a:lnTo>
                <a:cubicBezTo>
                  <a:pt x="0" y="100519"/>
                  <a:pt x="4256" y="104775"/>
                  <a:pt x="9525" y="104775"/>
                </a:cubicBezTo>
                <a:cubicBezTo>
                  <a:pt x="14794" y="104775"/>
                  <a:pt x="19050" y="100519"/>
                  <a:pt x="19050" y="95250"/>
                </a:cubicBezTo>
                <a:lnTo>
                  <a:pt x="19050" y="66675"/>
                </a:lnTo>
                <a:close/>
                <a:moveTo>
                  <a:pt x="180975" y="57150"/>
                </a:moveTo>
                <a:cubicBezTo>
                  <a:pt x="175706" y="57150"/>
                  <a:pt x="171450" y="61406"/>
                  <a:pt x="171450" y="66675"/>
                </a:cubicBezTo>
                <a:lnTo>
                  <a:pt x="171450" y="95250"/>
                </a:lnTo>
                <a:cubicBezTo>
                  <a:pt x="171450" y="100519"/>
                  <a:pt x="175706" y="104775"/>
                  <a:pt x="180975" y="104775"/>
                </a:cubicBezTo>
                <a:cubicBezTo>
                  <a:pt x="186244" y="104775"/>
                  <a:pt x="190500" y="100519"/>
                  <a:pt x="190500" y="95250"/>
                </a:cubicBezTo>
                <a:lnTo>
                  <a:pt x="190500" y="66675"/>
                </a:lnTo>
                <a:cubicBezTo>
                  <a:pt x="190500" y="61406"/>
                  <a:pt x="186244" y="57150"/>
                  <a:pt x="180975" y="57150"/>
                </a:cubicBezTo>
                <a:close/>
              </a:path>
            </a:pathLst>
          </a:custGeom>
          <a:solidFill>
            <a:srgbClr val="AD46FF"/>
          </a:solidFill>
          <a:ln/>
        </p:spPr>
      </p:sp>
      <p:sp>
        <p:nvSpPr>
          <p:cNvPr id="10" name="Text 8"/>
          <p:cNvSpPr/>
          <p:nvPr/>
        </p:nvSpPr>
        <p:spPr>
          <a:xfrm>
            <a:off x="807720" y="1569727"/>
            <a:ext cx="47339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Smart NPCs</a:t>
            </a:r>
            <a:endParaRPr lang="en-US" sz="1600" dirty="0"/>
          </a:p>
        </p:txBody>
      </p:sp>
      <p:sp>
        <p:nvSpPr>
          <p:cNvPr id="11" name="Text 9"/>
          <p:cNvSpPr/>
          <p:nvPr/>
        </p:nvSpPr>
        <p:spPr>
          <a:xfrm>
            <a:off x="807720" y="1798327"/>
            <a:ext cx="47339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Non-player characters behave realistically, adapting to your strategies</a:t>
            </a:r>
            <a:endParaRPr lang="en-US" sz="1600" dirty="0"/>
          </a:p>
        </p:txBody>
      </p:sp>
      <p:sp>
        <p:nvSpPr>
          <p:cNvPr id="12" name="Shape 10"/>
          <p:cNvSpPr/>
          <p:nvPr/>
        </p:nvSpPr>
        <p:spPr>
          <a:xfrm>
            <a:off x="521970" y="2122177"/>
            <a:ext cx="152400" cy="152400"/>
          </a:xfrm>
          <a:custGeom>
            <a:avLst/>
            <a:gdLst/>
            <a:ahLst/>
            <a:cxnLst/>
            <a:rect l="l" t="t" r="r" b="b"/>
            <a:pathLst>
              <a:path w="152400" h="152400">
                <a:moveTo>
                  <a:pt x="152400" y="14288"/>
                </a:moveTo>
                <a:cubicBezTo>
                  <a:pt x="152400" y="10984"/>
                  <a:pt x="150703" y="7918"/>
                  <a:pt x="147876" y="6191"/>
                </a:cubicBezTo>
                <a:cubicBezTo>
                  <a:pt x="145048" y="4465"/>
                  <a:pt x="141565" y="4286"/>
                  <a:pt x="138619" y="5775"/>
                </a:cubicBezTo>
                <a:lnTo>
                  <a:pt x="104031" y="23068"/>
                </a:lnTo>
                <a:lnTo>
                  <a:pt x="50631" y="5239"/>
                </a:lnTo>
                <a:cubicBezTo>
                  <a:pt x="48220" y="4435"/>
                  <a:pt x="45631" y="4614"/>
                  <a:pt x="43369" y="5745"/>
                </a:cubicBezTo>
                <a:lnTo>
                  <a:pt x="5269" y="24795"/>
                </a:lnTo>
                <a:cubicBezTo>
                  <a:pt x="2024" y="26432"/>
                  <a:pt x="0" y="29736"/>
                  <a:pt x="0" y="33338"/>
                </a:cubicBezTo>
                <a:lnTo>
                  <a:pt x="0" y="138113"/>
                </a:lnTo>
                <a:cubicBezTo>
                  <a:pt x="0" y="141416"/>
                  <a:pt x="1697" y="144482"/>
                  <a:pt x="4524" y="146209"/>
                </a:cubicBezTo>
                <a:cubicBezTo>
                  <a:pt x="7352" y="147935"/>
                  <a:pt x="10835" y="148114"/>
                  <a:pt x="13781" y="146625"/>
                </a:cubicBezTo>
                <a:lnTo>
                  <a:pt x="48339" y="129332"/>
                </a:lnTo>
                <a:lnTo>
                  <a:pt x="101739" y="147131"/>
                </a:lnTo>
                <a:cubicBezTo>
                  <a:pt x="104150" y="147935"/>
                  <a:pt x="106740" y="147757"/>
                  <a:pt x="109002" y="146625"/>
                </a:cubicBezTo>
                <a:lnTo>
                  <a:pt x="147102" y="127575"/>
                </a:lnTo>
                <a:cubicBezTo>
                  <a:pt x="150316" y="125968"/>
                  <a:pt x="152370" y="122664"/>
                  <a:pt x="152370" y="119062"/>
                </a:cubicBezTo>
                <a:lnTo>
                  <a:pt x="152370" y="14287"/>
                </a:lnTo>
                <a:close/>
                <a:moveTo>
                  <a:pt x="57150" y="112187"/>
                </a:moveTo>
                <a:lnTo>
                  <a:pt x="57150" y="27503"/>
                </a:lnTo>
                <a:lnTo>
                  <a:pt x="95250" y="40213"/>
                </a:lnTo>
                <a:lnTo>
                  <a:pt x="95250" y="124897"/>
                </a:lnTo>
                <a:lnTo>
                  <a:pt x="57150" y="112187"/>
                </a:lnTo>
                <a:close/>
              </a:path>
            </a:pathLst>
          </a:custGeom>
          <a:solidFill>
            <a:srgbClr val="AD46FF"/>
          </a:solidFill>
          <a:ln/>
        </p:spPr>
      </p:sp>
      <p:sp>
        <p:nvSpPr>
          <p:cNvPr id="13" name="Text 11"/>
          <p:cNvSpPr/>
          <p:nvPr/>
        </p:nvSpPr>
        <p:spPr>
          <a:xfrm>
            <a:off x="807720" y="2084077"/>
            <a:ext cx="42481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Procedural Generation</a:t>
            </a:r>
            <a:endParaRPr lang="en-US" sz="1600" dirty="0"/>
          </a:p>
        </p:txBody>
      </p:sp>
      <p:sp>
        <p:nvSpPr>
          <p:cNvPr id="14" name="Text 12"/>
          <p:cNvSpPr/>
          <p:nvPr/>
        </p:nvSpPr>
        <p:spPr>
          <a:xfrm>
            <a:off x="807720" y="2312677"/>
            <a:ext cx="424815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Creates infinite unique worlds, levels, and quests automatically</a:t>
            </a:r>
            <a:endParaRPr lang="en-US" sz="1600" dirty="0"/>
          </a:p>
        </p:txBody>
      </p:sp>
      <p:sp>
        <p:nvSpPr>
          <p:cNvPr id="15" name="Shape 13"/>
          <p:cNvSpPr/>
          <p:nvPr/>
        </p:nvSpPr>
        <p:spPr>
          <a:xfrm>
            <a:off x="521970" y="2636527"/>
            <a:ext cx="152400" cy="152400"/>
          </a:xfrm>
          <a:custGeom>
            <a:avLst/>
            <a:gdLst/>
            <a:ahLst/>
            <a:cxnLst/>
            <a:rect l="l" t="t" r="r" b="b"/>
            <a:pathLst>
              <a:path w="152400" h="152400">
                <a:moveTo>
                  <a:pt x="9525" y="19050"/>
                </a:moveTo>
                <a:cubicBezTo>
                  <a:pt x="4256" y="19050"/>
                  <a:pt x="0" y="23306"/>
                  <a:pt x="0" y="28575"/>
                </a:cubicBezTo>
                <a:cubicBezTo>
                  <a:pt x="0" y="33844"/>
                  <a:pt x="4256" y="38100"/>
                  <a:pt x="9525" y="38100"/>
                </a:cubicBezTo>
                <a:lnTo>
                  <a:pt x="35332" y="38100"/>
                </a:lnTo>
                <a:cubicBezTo>
                  <a:pt x="38993" y="46524"/>
                  <a:pt x="47387" y="52388"/>
                  <a:pt x="57150" y="52388"/>
                </a:cubicBezTo>
                <a:cubicBezTo>
                  <a:pt x="66913" y="52388"/>
                  <a:pt x="75307" y="46524"/>
                  <a:pt x="78968" y="38100"/>
                </a:cubicBezTo>
                <a:lnTo>
                  <a:pt x="142875" y="38100"/>
                </a:lnTo>
                <a:cubicBezTo>
                  <a:pt x="148144" y="38100"/>
                  <a:pt x="152400" y="33844"/>
                  <a:pt x="152400" y="28575"/>
                </a:cubicBezTo>
                <a:cubicBezTo>
                  <a:pt x="152400" y="23306"/>
                  <a:pt x="148144" y="19050"/>
                  <a:pt x="142875" y="19050"/>
                </a:cubicBezTo>
                <a:lnTo>
                  <a:pt x="78968" y="19050"/>
                </a:lnTo>
                <a:cubicBezTo>
                  <a:pt x="75307" y="10626"/>
                  <a:pt x="66913" y="4763"/>
                  <a:pt x="57150" y="4763"/>
                </a:cubicBezTo>
                <a:cubicBezTo>
                  <a:pt x="47387" y="4763"/>
                  <a:pt x="38993" y="10626"/>
                  <a:pt x="35332" y="19050"/>
                </a:cubicBezTo>
                <a:lnTo>
                  <a:pt x="9525" y="19050"/>
                </a:lnTo>
                <a:close/>
                <a:moveTo>
                  <a:pt x="9525" y="66675"/>
                </a:moveTo>
                <a:cubicBezTo>
                  <a:pt x="4256" y="66675"/>
                  <a:pt x="0" y="70931"/>
                  <a:pt x="0" y="76200"/>
                </a:cubicBezTo>
                <a:cubicBezTo>
                  <a:pt x="0" y="81469"/>
                  <a:pt x="4256" y="85725"/>
                  <a:pt x="9525" y="85725"/>
                </a:cubicBezTo>
                <a:lnTo>
                  <a:pt x="82957" y="85725"/>
                </a:lnTo>
                <a:cubicBezTo>
                  <a:pt x="86618" y="94149"/>
                  <a:pt x="95012" y="100013"/>
                  <a:pt x="104775" y="100013"/>
                </a:cubicBezTo>
                <a:cubicBezTo>
                  <a:pt x="114538" y="100013"/>
                  <a:pt x="122932" y="94149"/>
                  <a:pt x="126593" y="85725"/>
                </a:cubicBezTo>
                <a:lnTo>
                  <a:pt x="142875" y="85725"/>
                </a:lnTo>
                <a:cubicBezTo>
                  <a:pt x="148144" y="85725"/>
                  <a:pt x="152400" y="81469"/>
                  <a:pt x="152400" y="76200"/>
                </a:cubicBezTo>
                <a:cubicBezTo>
                  <a:pt x="152400" y="70931"/>
                  <a:pt x="148144" y="66675"/>
                  <a:pt x="142875" y="66675"/>
                </a:cubicBezTo>
                <a:lnTo>
                  <a:pt x="126593" y="66675"/>
                </a:lnTo>
                <a:cubicBezTo>
                  <a:pt x="122932" y="58251"/>
                  <a:pt x="114538" y="52388"/>
                  <a:pt x="104775" y="52388"/>
                </a:cubicBezTo>
                <a:cubicBezTo>
                  <a:pt x="95012" y="52388"/>
                  <a:pt x="86618" y="58251"/>
                  <a:pt x="82957" y="66675"/>
                </a:cubicBezTo>
                <a:lnTo>
                  <a:pt x="9525" y="66675"/>
                </a:lnTo>
                <a:close/>
                <a:moveTo>
                  <a:pt x="9525" y="114300"/>
                </a:moveTo>
                <a:cubicBezTo>
                  <a:pt x="4256" y="114300"/>
                  <a:pt x="0" y="118556"/>
                  <a:pt x="0" y="123825"/>
                </a:cubicBezTo>
                <a:cubicBezTo>
                  <a:pt x="0" y="129094"/>
                  <a:pt x="4256" y="133350"/>
                  <a:pt x="9525" y="133350"/>
                </a:cubicBezTo>
                <a:lnTo>
                  <a:pt x="25807" y="133350"/>
                </a:lnTo>
                <a:cubicBezTo>
                  <a:pt x="29468" y="141774"/>
                  <a:pt x="37862" y="147638"/>
                  <a:pt x="47625" y="147638"/>
                </a:cubicBezTo>
                <a:cubicBezTo>
                  <a:pt x="57388" y="147638"/>
                  <a:pt x="65782" y="141774"/>
                  <a:pt x="69443" y="133350"/>
                </a:cubicBezTo>
                <a:lnTo>
                  <a:pt x="142875" y="133350"/>
                </a:lnTo>
                <a:cubicBezTo>
                  <a:pt x="148144" y="133350"/>
                  <a:pt x="152400" y="129094"/>
                  <a:pt x="152400" y="123825"/>
                </a:cubicBezTo>
                <a:cubicBezTo>
                  <a:pt x="152400" y="118556"/>
                  <a:pt x="148144" y="114300"/>
                  <a:pt x="142875" y="114300"/>
                </a:cubicBezTo>
                <a:lnTo>
                  <a:pt x="69443" y="114300"/>
                </a:lnTo>
                <a:cubicBezTo>
                  <a:pt x="65782" y="105876"/>
                  <a:pt x="57388" y="100013"/>
                  <a:pt x="47625" y="100013"/>
                </a:cubicBezTo>
                <a:cubicBezTo>
                  <a:pt x="37862" y="100013"/>
                  <a:pt x="29468" y="105876"/>
                  <a:pt x="25807" y="114300"/>
                </a:cubicBezTo>
                <a:lnTo>
                  <a:pt x="9525" y="114300"/>
                </a:lnTo>
                <a:close/>
              </a:path>
            </a:pathLst>
          </a:custGeom>
          <a:solidFill>
            <a:srgbClr val="AD46FF"/>
          </a:solidFill>
          <a:ln/>
        </p:spPr>
      </p:sp>
      <p:sp>
        <p:nvSpPr>
          <p:cNvPr id="16" name="Text 14"/>
          <p:cNvSpPr/>
          <p:nvPr/>
        </p:nvSpPr>
        <p:spPr>
          <a:xfrm>
            <a:off x="807720" y="2598427"/>
            <a:ext cx="40576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Dynamic Difficulty</a:t>
            </a:r>
            <a:endParaRPr lang="en-US" sz="1600" dirty="0"/>
          </a:p>
        </p:txBody>
      </p:sp>
      <p:sp>
        <p:nvSpPr>
          <p:cNvPr id="17" name="Text 15"/>
          <p:cNvSpPr/>
          <p:nvPr/>
        </p:nvSpPr>
        <p:spPr>
          <a:xfrm>
            <a:off x="807720" y="2827027"/>
            <a:ext cx="405765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Adjusts game challenge based on your skill level in real-time</a:t>
            </a:r>
            <a:endParaRPr lang="en-US" sz="1600" dirty="0"/>
          </a:p>
        </p:txBody>
      </p:sp>
      <p:sp>
        <p:nvSpPr>
          <p:cNvPr id="18" name="Shape 16"/>
          <p:cNvSpPr/>
          <p:nvPr/>
        </p:nvSpPr>
        <p:spPr>
          <a:xfrm>
            <a:off x="512445" y="3150877"/>
            <a:ext cx="171450" cy="152400"/>
          </a:xfrm>
          <a:custGeom>
            <a:avLst/>
            <a:gdLst/>
            <a:ahLst/>
            <a:cxnLst/>
            <a:rect l="l" t="t" r="r" b="b"/>
            <a:pathLst>
              <a:path w="171450" h="152400">
                <a:moveTo>
                  <a:pt x="57150" y="28575"/>
                </a:moveTo>
                <a:cubicBezTo>
                  <a:pt x="57150" y="12799"/>
                  <a:pt x="69949" y="0"/>
                  <a:pt x="85725" y="0"/>
                </a:cubicBezTo>
                <a:cubicBezTo>
                  <a:pt x="101501" y="0"/>
                  <a:pt x="114300" y="12799"/>
                  <a:pt x="114300" y="28575"/>
                </a:cubicBezTo>
                <a:lnTo>
                  <a:pt x="114300" y="29647"/>
                </a:lnTo>
                <a:cubicBezTo>
                  <a:pt x="114300" y="34320"/>
                  <a:pt x="110520" y="38100"/>
                  <a:pt x="105847" y="38100"/>
                </a:cubicBezTo>
                <a:lnTo>
                  <a:pt x="65633" y="38100"/>
                </a:lnTo>
                <a:cubicBezTo>
                  <a:pt x="60960" y="38100"/>
                  <a:pt x="57180" y="34320"/>
                  <a:pt x="57180" y="29647"/>
                </a:cubicBezTo>
                <a:lnTo>
                  <a:pt x="57180" y="28575"/>
                </a:lnTo>
                <a:close/>
                <a:moveTo>
                  <a:pt x="160020" y="32385"/>
                </a:moveTo>
                <a:cubicBezTo>
                  <a:pt x="163175" y="36582"/>
                  <a:pt x="162312" y="42565"/>
                  <a:pt x="158115" y="45720"/>
                </a:cubicBezTo>
                <a:lnTo>
                  <a:pt x="129004" y="67538"/>
                </a:lnTo>
                <a:cubicBezTo>
                  <a:pt x="130582" y="70187"/>
                  <a:pt x="131772" y="73104"/>
                  <a:pt x="132517" y="76200"/>
                </a:cubicBezTo>
                <a:lnTo>
                  <a:pt x="161925" y="76200"/>
                </a:lnTo>
                <a:cubicBezTo>
                  <a:pt x="167194" y="76200"/>
                  <a:pt x="171450" y="80456"/>
                  <a:pt x="171450" y="85725"/>
                </a:cubicBezTo>
                <a:cubicBezTo>
                  <a:pt x="171450" y="90994"/>
                  <a:pt x="167194" y="95250"/>
                  <a:pt x="161925" y="95250"/>
                </a:cubicBezTo>
                <a:lnTo>
                  <a:pt x="133350" y="95250"/>
                </a:lnTo>
                <a:lnTo>
                  <a:pt x="133350" y="104775"/>
                </a:lnTo>
                <a:cubicBezTo>
                  <a:pt x="133350" y="105549"/>
                  <a:pt x="133320" y="106353"/>
                  <a:pt x="133290" y="107126"/>
                </a:cubicBezTo>
                <a:lnTo>
                  <a:pt x="158115" y="125730"/>
                </a:lnTo>
                <a:cubicBezTo>
                  <a:pt x="162312" y="128885"/>
                  <a:pt x="163175" y="134868"/>
                  <a:pt x="160020" y="139065"/>
                </a:cubicBezTo>
                <a:cubicBezTo>
                  <a:pt x="156865" y="143262"/>
                  <a:pt x="150882" y="144125"/>
                  <a:pt x="146685" y="140970"/>
                </a:cubicBezTo>
                <a:lnTo>
                  <a:pt x="127903" y="126891"/>
                </a:lnTo>
                <a:cubicBezTo>
                  <a:pt x="120997" y="140047"/>
                  <a:pt x="108109" y="149572"/>
                  <a:pt x="92869" y="151864"/>
                </a:cubicBezTo>
                <a:lnTo>
                  <a:pt x="92869" y="83344"/>
                </a:lnTo>
                <a:cubicBezTo>
                  <a:pt x="92869" y="79385"/>
                  <a:pt x="89684" y="76200"/>
                  <a:pt x="85725" y="76200"/>
                </a:cubicBezTo>
                <a:cubicBezTo>
                  <a:pt x="81766" y="76200"/>
                  <a:pt x="78581" y="79385"/>
                  <a:pt x="78581" y="83344"/>
                </a:cubicBezTo>
                <a:lnTo>
                  <a:pt x="78581" y="151864"/>
                </a:lnTo>
                <a:cubicBezTo>
                  <a:pt x="63341" y="149572"/>
                  <a:pt x="50453" y="140047"/>
                  <a:pt x="43547" y="126891"/>
                </a:cubicBezTo>
                <a:lnTo>
                  <a:pt x="24765" y="140970"/>
                </a:lnTo>
                <a:cubicBezTo>
                  <a:pt x="20568" y="144125"/>
                  <a:pt x="14585" y="143262"/>
                  <a:pt x="11430" y="139065"/>
                </a:cubicBezTo>
                <a:cubicBezTo>
                  <a:pt x="8275" y="134868"/>
                  <a:pt x="9138" y="128885"/>
                  <a:pt x="13335" y="125730"/>
                </a:cubicBezTo>
                <a:lnTo>
                  <a:pt x="38160" y="107126"/>
                </a:lnTo>
                <a:cubicBezTo>
                  <a:pt x="38130" y="106353"/>
                  <a:pt x="38100" y="105579"/>
                  <a:pt x="38100" y="104775"/>
                </a:cubicBezTo>
                <a:lnTo>
                  <a:pt x="38100" y="95250"/>
                </a:lnTo>
                <a:lnTo>
                  <a:pt x="9525" y="95250"/>
                </a:lnTo>
                <a:cubicBezTo>
                  <a:pt x="4256" y="95250"/>
                  <a:pt x="0" y="90994"/>
                  <a:pt x="0" y="85725"/>
                </a:cubicBezTo>
                <a:cubicBezTo>
                  <a:pt x="0" y="80456"/>
                  <a:pt x="4256" y="76200"/>
                  <a:pt x="9525" y="76200"/>
                </a:cubicBezTo>
                <a:lnTo>
                  <a:pt x="38933" y="76200"/>
                </a:lnTo>
                <a:cubicBezTo>
                  <a:pt x="39678" y="73104"/>
                  <a:pt x="40868" y="70187"/>
                  <a:pt x="42446" y="67538"/>
                </a:cubicBezTo>
                <a:lnTo>
                  <a:pt x="13335" y="45720"/>
                </a:lnTo>
                <a:cubicBezTo>
                  <a:pt x="9138" y="42565"/>
                  <a:pt x="8275" y="36582"/>
                  <a:pt x="11430" y="32385"/>
                </a:cubicBezTo>
                <a:cubicBezTo>
                  <a:pt x="14585" y="28188"/>
                  <a:pt x="20568" y="27325"/>
                  <a:pt x="24765" y="30480"/>
                </a:cubicBezTo>
                <a:lnTo>
                  <a:pt x="57150" y="54769"/>
                </a:lnTo>
                <a:cubicBezTo>
                  <a:pt x="60811" y="53251"/>
                  <a:pt x="64830" y="52388"/>
                  <a:pt x="69056" y="52388"/>
                </a:cubicBezTo>
                <a:lnTo>
                  <a:pt x="102394" y="52388"/>
                </a:lnTo>
                <a:cubicBezTo>
                  <a:pt x="106620" y="52388"/>
                  <a:pt x="110639" y="53221"/>
                  <a:pt x="114300" y="54769"/>
                </a:cubicBezTo>
                <a:lnTo>
                  <a:pt x="146685" y="30480"/>
                </a:lnTo>
                <a:cubicBezTo>
                  <a:pt x="150882" y="27325"/>
                  <a:pt x="156865" y="28188"/>
                  <a:pt x="160020" y="32385"/>
                </a:cubicBezTo>
                <a:close/>
              </a:path>
            </a:pathLst>
          </a:custGeom>
          <a:solidFill>
            <a:srgbClr val="AD46FF"/>
          </a:solidFill>
          <a:ln/>
        </p:spPr>
      </p:sp>
      <p:sp>
        <p:nvSpPr>
          <p:cNvPr id="19" name="Text 17"/>
          <p:cNvSpPr/>
          <p:nvPr/>
        </p:nvSpPr>
        <p:spPr>
          <a:xfrm>
            <a:off x="807720" y="3112777"/>
            <a:ext cx="450532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Game Testing</a:t>
            </a:r>
            <a:endParaRPr lang="en-US" sz="1600" dirty="0"/>
          </a:p>
        </p:txBody>
      </p:sp>
      <p:sp>
        <p:nvSpPr>
          <p:cNvPr id="20" name="Text 18"/>
          <p:cNvSpPr/>
          <p:nvPr/>
        </p:nvSpPr>
        <p:spPr>
          <a:xfrm>
            <a:off x="807720" y="3341377"/>
            <a:ext cx="4505325"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AI plays games thousands of times to find bugs and balance issues</a:t>
            </a:r>
            <a:endParaRPr lang="en-US" sz="1600" dirty="0"/>
          </a:p>
        </p:txBody>
      </p:sp>
      <p:sp>
        <p:nvSpPr>
          <p:cNvPr id="21" name="Shape 19"/>
          <p:cNvSpPr/>
          <p:nvPr/>
        </p:nvSpPr>
        <p:spPr>
          <a:xfrm>
            <a:off x="384810" y="3771896"/>
            <a:ext cx="6760845" cy="1874520"/>
          </a:xfrm>
          <a:prstGeom prst="roundRect">
            <a:avLst>
              <a:gd name="adj" fmla="val 6098"/>
            </a:avLst>
          </a:prstGeom>
          <a:solidFill>
            <a:srgbClr val="262626"/>
          </a:solidFill>
          <a:ln w="10160">
            <a:solidFill>
              <a:srgbClr val="333333"/>
            </a:solidFill>
            <a:prstDash val="solid"/>
          </a:ln>
        </p:spPr>
      </p:sp>
      <p:sp>
        <p:nvSpPr>
          <p:cNvPr id="22" name="Text 20"/>
          <p:cNvSpPr/>
          <p:nvPr/>
        </p:nvSpPr>
        <p:spPr>
          <a:xfrm>
            <a:off x="502920" y="3890014"/>
            <a:ext cx="6619875"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Popular Examples</a:t>
            </a:r>
            <a:endParaRPr lang="en-US" sz="1600" dirty="0"/>
          </a:p>
        </p:txBody>
      </p:sp>
      <p:sp>
        <p:nvSpPr>
          <p:cNvPr id="23" name="Shape 21"/>
          <p:cNvSpPr/>
          <p:nvPr/>
        </p:nvSpPr>
        <p:spPr>
          <a:xfrm>
            <a:off x="502920" y="4232914"/>
            <a:ext cx="3219450" cy="609600"/>
          </a:xfrm>
          <a:prstGeom prst="roundRect">
            <a:avLst>
              <a:gd name="adj" fmla="val 12500"/>
            </a:avLst>
          </a:prstGeom>
          <a:solidFill>
            <a:srgbClr val="191919"/>
          </a:solidFill>
          <a:ln/>
        </p:spPr>
      </p:sp>
      <p:sp>
        <p:nvSpPr>
          <p:cNvPr id="24" name="Text 22"/>
          <p:cNvSpPr/>
          <p:nvPr/>
        </p:nvSpPr>
        <p:spPr>
          <a:xfrm>
            <a:off x="579120" y="4309114"/>
            <a:ext cx="31432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The Last of Us</a:t>
            </a:r>
            <a:endParaRPr lang="en-US" sz="1600" dirty="0"/>
          </a:p>
        </p:txBody>
      </p:sp>
      <p:sp>
        <p:nvSpPr>
          <p:cNvPr id="25" name="Text 23"/>
          <p:cNvSpPr/>
          <p:nvPr/>
        </p:nvSpPr>
        <p:spPr>
          <a:xfrm>
            <a:off x="579120" y="4575814"/>
            <a:ext cx="31337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Enemies coordinate and communicate</a:t>
            </a:r>
            <a:endParaRPr lang="en-US" sz="1600" dirty="0"/>
          </a:p>
        </p:txBody>
      </p:sp>
      <p:sp>
        <p:nvSpPr>
          <p:cNvPr id="26" name="Shape 24"/>
          <p:cNvSpPr/>
          <p:nvPr/>
        </p:nvSpPr>
        <p:spPr>
          <a:xfrm>
            <a:off x="3802380" y="4232914"/>
            <a:ext cx="3219450" cy="609600"/>
          </a:xfrm>
          <a:prstGeom prst="roundRect">
            <a:avLst>
              <a:gd name="adj" fmla="val 12500"/>
            </a:avLst>
          </a:prstGeom>
          <a:solidFill>
            <a:srgbClr val="191919"/>
          </a:solidFill>
          <a:ln/>
        </p:spPr>
      </p:sp>
      <p:sp>
        <p:nvSpPr>
          <p:cNvPr id="27" name="Text 25"/>
          <p:cNvSpPr/>
          <p:nvPr/>
        </p:nvSpPr>
        <p:spPr>
          <a:xfrm>
            <a:off x="3878580" y="4309114"/>
            <a:ext cx="31432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No Man's Sky</a:t>
            </a:r>
            <a:endParaRPr lang="en-US" sz="1600" dirty="0"/>
          </a:p>
        </p:txBody>
      </p:sp>
      <p:sp>
        <p:nvSpPr>
          <p:cNvPr id="28" name="Text 26"/>
          <p:cNvSpPr/>
          <p:nvPr/>
        </p:nvSpPr>
        <p:spPr>
          <a:xfrm>
            <a:off x="3878580" y="4575814"/>
            <a:ext cx="31337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18 quintillion planets generated by AI</a:t>
            </a:r>
            <a:endParaRPr lang="en-US" sz="1600" dirty="0"/>
          </a:p>
        </p:txBody>
      </p:sp>
      <p:sp>
        <p:nvSpPr>
          <p:cNvPr id="29" name="Shape 27"/>
          <p:cNvSpPr/>
          <p:nvPr/>
        </p:nvSpPr>
        <p:spPr>
          <a:xfrm>
            <a:off x="502920" y="4918714"/>
            <a:ext cx="3219450" cy="609600"/>
          </a:xfrm>
          <a:prstGeom prst="roundRect">
            <a:avLst>
              <a:gd name="adj" fmla="val 12500"/>
            </a:avLst>
          </a:prstGeom>
          <a:solidFill>
            <a:srgbClr val="191919"/>
          </a:solidFill>
          <a:ln/>
        </p:spPr>
      </p:sp>
      <p:sp>
        <p:nvSpPr>
          <p:cNvPr id="30" name="Text 28"/>
          <p:cNvSpPr/>
          <p:nvPr/>
        </p:nvSpPr>
        <p:spPr>
          <a:xfrm>
            <a:off x="579120" y="4994914"/>
            <a:ext cx="31432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Minecraft</a:t>
            </a:r>
            <a:endParaRPr lang="en-US" sz="1600" dirty="0"/>
          </a:p>
        </p:txBody>
      </p:sp>
      <p:sp>
        <p:nvSpPr>
          <p:cNvPr id="31" name="Text 29"/>
          <p:cNvSpPr/>
          <p:nvPr/>
        </p:nvSpPr>
        <p:spPr>
          <a:xfrm>
            <a:off x="579120" y="5261614"/>
            <a:ext cx="31337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AI creates unique worlds every time</a:t>
            </a:r>
            <a:endParaRPr lang="en-US" sz="1600" dirty="0"/>
          </a:p>
        </p:txBody>
      </p:sp>
      <p:sp>
        <p:nvSpPr>
          <p:cNvPr id="32" name="Shape 30"/>
          <p:cNvSpPr/>
          <p:nvPr/>
        </p:nvSpPr>
        <p:spPr>
          <a:xfrm>
            <a:off x="3802380" y="4918714"/>
            <a:ext cx="3219450" cy="609600"/>
          </a:xfrm>
          <a:prstGeom prst="roundRect">
            <a:avLst>
              <a:gd name="adj" fmla="val 12500"/>
            </a:avLst>
          </a:prstGeom>
          <a:solidFill>
            <a:srgbClr val="191919"/>
          </a:solidFill>
          <a:ln/>
        </p:spPr>
      </p:sp>
      <p:sp>
        <p:nvSpPr>
          <p:cNvPr id="33" name="Text 31"/>
          <p:cNvSpPr/>
          <p:nvPr/>
        </p:nvSpPr>
        <p:spPr>
          <a:xfrm>
            <a:off x="3878580" y="4994914"/>
            <a:ext cx="31432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FIFA/NBA Games</a:t>
            </a:r>
            <a:endParaRPr lang="en-US" sz="1600" dirty="0"/>
          </a:p>
        </p:txBody>
      </p:sp>
      <p:sp>
        <p:nvSpPr>
          <p:cNvPr id="34" name="Text 32"/>
          <p:cNvSpPr/>
          <p:nvPr/>
        </p:nvSpPr>
        <p:spPr>
          <a:xfrm>
            <a:off x="3878580" y="5261614"/>
            <a:ext cx="31337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AI controls realistic player behavior</a:t>
            </a:r>
            <a:endParaRPr lang="en-US" sz="1600" dirty="0"/>
          </a:p>
        </p:txBody>
      </p:sp>
      <p:sp>
        <p:nvSpPr>
          <p:cNvPr id="35" name="Shape 33"/>
          <p:cNvSpPr/>
          <p:nvPr/>
        </p:nvSpPr>
        <p:spPr>
          <a:xfrm>
            <a:off x="7303770" y="1108710"/>
            <a:ext cx="4503420" cy="2026920"/>
          </a:xfrm>
          <a:prstGeom prst="roundRect">
            <a:avLst>
              <a:gd name="adj" fmla="val 5639"/>
            </a:avLst>
          </a:prstGeom>
          <a:gradFill rotWithShape="1" flip="none">
            <a:gsLst>
              <a:gs pos="0">
                <a:srgbClr val="AD46FF">
                  <a:alpha val="20000"/>
                </a:srgbClr>
              </a:gs>
              <a:gs pos="100000">
                <a:srgbClr val="AD46FF">
                  <a:alpha val="5000"/>
                </a:srgbClr>
              </a:gs>
            </a:gsLst>
            <a:lin ang="2700000" scaled="1"/>
          </a:gradFill>
          <a:ln w="10160">
            <a:solidFill>
              <a:srgbClr val="AD46FF"/>
            </a:solidFill>
            <a:prstDash val="solid"/>
          </a:ln>
        </p:spPr>
      </p:sp>
      <p:sp>
        <p:nvSpPr>
          <p:cNvPr id="36" name="Shape 34"/>
          <p:cNvSpPr/>
          <p:nvPr/>
        </p:nvSpPr>
        <p:spPr>
          <a:xfrm>
            <a:off x="7469505" y="1264927"/>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AD46FF"/>
          </a:solidFill>
          <a:ln/>
        </p:spPr>
      </p:sp>
      <p:sp>
        <p:nvSpPr>
          <p:cNvPr id="37" name="Text 35"/>
          <p:cNvSpPr/>
          <p:nvPr/>
        </p:nvSpPr>
        <p:spPr>
          <a:xfrm>
            <a:off x="7736205" y="1226827"/>
            <a:ext cx="1809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Real-World Example</a:t>
            </a:r>
            <a:endParaRPr lang="en-US" sz="1600" dirty="0"/>
          </a:p>
        </p:txBody>
      </p:sp>
      <p:sp>
        <p:nvSpPr>
          <p:cNvPr id="38" name="Shape 36"/>
          <p:cNvSpPr/>
          <p:nvPr/>
        </p:nvSpPr>
        <p:spPr>
          <a:xfrm>
            <a:off x="7421880" y="1569727"/>
            <a:ext cx="4267200" cy="1447800"/>
          </a:xfrm>
          <a:prstGeom prst="roundRect">
            <a:avLst>
              <a:gd name="adj" fmla="val 5263"/>
            </a:avLst>
          </a:prstGeom>
          <a:solidFill>
            <a:srgbClr val="191919"/>
          </a:solidFill>
          <a:ln/>
        </p:spPr>
      </p:sp>
      <p:sp>
        <p:nvSpPr>
          <p:cNvPr id="39" name="Text 37"/>
          <p:cNvSpPr/>
          <p:nvPr/>
        </p:nvSpPr>
        <p:spPr>
          <a:xfrm>
            <a:off x="7536180" y="1684027"/>
            <a:ext cx="4124325" cy="266700"/>
          </a:xfrm>
          <a:prstGeom prst="rect">
            <a:avLst/>
          </a:prstGeom>
          <a:noFill/>
          <a:ln/>
        </p:spPr>
        <p:txBody>
          <a:bodyPr wrap="square" lIns="0" tIns="0" rIns="0" bIns="0" rtlCol="0" anchor="ctr"/>
          <a:lstStyle/>
          <a:p>
            <a:pPr>
              <a:lnSpc>
                <a:spcPct val="130000"/>
              </a:lnSpc>
            </a:pPr>
            <a:r>
              <a:rPr lang="en-US" sz="1350" b="1" dirty="0">
                <a:solidFill>
                  <a:srgbClr val="AD46FF"/>
                </a:solidFill>
                <a:latin typeface="Liter" pitchFamily="34" charset="0"/>
                <a:ea typeface="Liter" pitchFamily="34" charset="-122"/>
                <a:cs typeface="Liter" pitchFamily="34" charset="-120"/>
              </a:rPr>
              <a:t>AlphaStar in StarCraft II</a:t>
            </a:r>
            <a:endParaRPr lang="en-US" sz="1600" dirty="0"/>
          </a:p>
        </p:txBody>
      </p:sp>
      <p:sp>
        <p:nvSpPr>
          <p:cNvPr id="40" name="Text 38"/>
          <p:cNvSpPr/>
          <p:nvPr/>
        </p:nvSpPr>
        <p:spPr>
          <a:xfrm>
            <a:off x="7536180" y="1988827"/>
            <a:ext cx="4114800" cy="9144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DeepMind's AI mastered the complex strategy game StarCraft II, defeating professional players. It learned strategies humans never discovered, showing AI's creative problem-solving in games!</a:t>
            </a:r>
            <a:endParaRPr lang="en-US" sz="1600" dirty="0"/>
          </a:p>
        </p:txBody>
      </p:sp>
      <p:sp>
        <p:nvSpPr>
          <p:cNvPr id="41" name="Shape 39"/>
          <p:cNvSpPr/>
          <p:nvPr/>
        </p:nvSpPr>
        <p:spPr>
          <a:xfrm>
            <a:off x="7303770" y="3219446"/>
            <a:ext cx="4503420" cy="1264920"/>
          </a:xfrm>
          <a:prstGeom prst="roundRect">
            <a:avLst>
              <a:gd name="adj" fmla="val 9036"/>
            </a:avLst>
          </a:prstGeom>
          <a:solidFill>
            <a:srgbClr val="262626"/>
          </a:solidFill>
          <a:ln w="10160">
            <a:solidFill>
              <a:srgbClr val="333333"/>
            </a:solidFill>
            <a:prstDash val="solid"/>
          </a:ln>
        </p:spPr>
      </p:sp>
      <p:sp>
        <p:nvSpPr>
          <p:cNvPr id="42" name="Text 40"/>
          <p:cNvSpPr/>
          <p:nvPr/>
        </p:nvSpPr>
        <p:spPr>
          <a:xfrm>
            <a:off x="7421880" y="3337564"/>
            <a:ext cx="43529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 Simple Explanation</a:t>
            </a:r>
            <a:endParaRPr lang="en-US" sz="1600" dirty="0"/>
          </a:p>
        </p:txBody>
      </p:sp>
      <p:sp>
        <p:nvSpPr>
          <p:cNvPr id="43" name="Text 41"/>
          <p:cNvSpPr/>
          <p:nvPr/>
        </p:nvSpPr>
        <p:spPr>
          <a:xfrm>
            <a:off x="7421880" y="3680464"/>
            <a:ext cx="43434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AI in gaming is like having a super-smart opponent who learns your moves, adapts to your style, and keeps the game challenging and fun every time you play!</a:t>
            </a:r>
            <a:endParaRPr lang="en-US" sz="1600" dirty="0"/>
          </a:p>
        </p:txBody>
      </p:sp>
      <p:sp>
        <p:nvSpPr>
          <p:cNvPr id="44" name="Shape 42"/>
          <p:cNvSpPr/>
          <p:nvPr/>
        </p:nvSpPr>
        <p:spPr>
          <a:xfrm>
            <a:off x="7303770" y="4568201"/>
            <a:ext cx="4503420" cy="1874520"/>
          </a:xfrm>
          <a:prstGeom prst="roundRect">
            <a:avLst>
              <a:gd name="adj" fmla="val 6098"/>
            </a:avLst>
          </a:prstGeom>
          <a:solidFill>
            <a:srgbClr val="262626"/>
          </a:solidFill>
          <a:ln w="10160">
            <a:solidFill>
              <a:srgbClr val="333333"/>
            </a:solidFill>
            <a:prstDash val="solid"/>
          </a:ln>
        </p:spPr>
      </p:sp>
      <p:sp>
        <p:nvSpPr>
          <p:cNvPr id="45" name="Shape 43"/>
          <p:cNvSpPr/>
          <p:nvPr/>
        </p:nvSpPr>
        <p:spPr>
          <a:xfrm>
            <a:off x="7456408" y="4733925"/>
            <a:ext cx="150019" cy="171450"/>
          </a:xfrm>
          <a:custGeom>
            <a:avLst/>
            <a:gdLst/>
            <a:ahLst/>
            <a:cxnLst/>
            <a:rect l="l" t="t" r="r" b="b"/>
            <a:pathLst>
              <a:path w="150019" h="171450">
                <a:moveTo>
                  <a:pt x="21431" y="10716"/>
                </a:moveTo>
                <a:cubicBezTo>
                  <a:pt x="9611" y="10716"/>
                  <a:pt x="0" y="20326"/>
                  <a:pt x="0" y="32147"/>
                </a:cubicBezTo>
                <a:lnTo>
                  <a:pt x="0" y="139303"/>
                </a:lnTo>
                <a:cubicBezTo>
                  <a:pt x="0" y="151124"/>
                  <a:pt x="9611" y="160734"/>
                  <a:pt x="21431" y="160734"/>
                </a:cubicBezTo>
                <a:lnTo>
                  <a:pt x="128588" y="160734"/>
                </a:lnTo>
                <a:cubicBezTo>
                  <a:pt x="140408" y="160734"/>
                  <a:pt x="150019" y="151124"/>
                  <a:pt x="150019" y="139303"/>
                </a:cubicBezTo>
                <a:lnTo>
                  <a:pt x="150019" y="32147"/>
                </a:lnTo>
                <a:cubicBezTo>
                  <a:pt x="150019" y="20326"/>
                  <a:pt x="140408" y="10716"/>
                  <a:pt x="128588" y="10716"/>
                </a:cubicBezTo>
                <a:lnTo>
                  <a:pt x="21431" y="10716"/>
                </a:lnTo>
                <a:close/>
                <a:moveTo>
                  <a:pt x="42863" y="37505"/>
                </a:moveTo>
                <a:cubicBezTo>
                  <a:pt x="51734" y="37505"/>
                  <a:pt x="58936" y="44707"/>
                  <a:pt x="58936" y="53578"/>
                </a:cubicBezTo>
                <a:cubicBezTo>
                  <a:pt x="58936" y="62449"/>
                  <a:pt x="51734" y="69652"/>
                  <a:pt x="42863" y="69652"/>
                </a:cubicBezTo>
                <a:cubicBezTo>
                  <a:pt x="33991" y="69652"/>
                  <a:pt x="26789" y="62449"/>
                  <a:pt x="26789" y="53578"/>
                </a:cubicBezTo>
                <a:cubicBezTo>
                  <a:pt x="26789" y="44707"/>
                  <a:pt x="33991" y="37505"/>
                  <a:pt x="42863" y="37505"/>
                </a:cubicBezTo>
                <a:close/>
                <a:moveTo>
                  <a:pt x="91083" y="75009"/>
                </a:moveTo>
                <a:cubicBezTo>
                  <a:pt x="93896" y="75009"/>
                  <a:pt x="96474" y="76483"/>
                  <a:pt x="97948" y="78860"/>
                </a:cubicBezTo>
                <a:lnTo>
                  <a:pt x="127415" y="127081"/>
                </a:lnTo>
                <a:cubicBezTo>
                  <a:pt x="128922" y="129559"/>
                  <a:pt x="128989" y="132673"/>
                  <a:pt x="127583" y="135218"/>
                </a:cubicBezTo>
                <a:cubicBezTo>
                  <a:pt x="126176" y="137763"/>
                  <a:pt x="123464" y="139303"/>
                  <a:pt x="120551" y="139303"/>
                </a:cubicBezTo>
                <a:lnTo>
                  <a:pt x="29468" y="139303"/>
                </a:lnTo>
                <a:cubicBezTo>
                  <a:pt x="26488" y="139303"/>
                  <a:pt x="23708" y="137629"/>
                  <a:pt x="22335" y="134983"/>
                </a:cubicBezTo>
                <a:cubicBezTo>
                  <a:pt x="20962" y="132338"/>
                  <a:pt x="21163" y="129123"/>
                  <a:pt x="22871" y="126679"/>
                </a:cubicBezTo>
                <a:lnTo>
                  <a:pt x="41624" y="99890"/>
                </a:lnTo>
                <a:cubicBezTo>
                  <a:pt x="43130" y="97747"/>
                  <a:pt x="45575" y="96474"/>
                  <a:pt x="48220" y="96474"/>
                </a:cubicBezTo>
                <a:cubicBezTo>
                  <a:pt x="50866" y="96474"/>
                  <a:pt x="53310" y="97747"/>
                  <a:pt x="54817" y="99890"/>
                </a:cubicBezTo>
                <a:lnTo>
                  <a:pt x="63658" y="112548"/>
                </a:lnTo>
                <a:lnTo>
                  <a:pt x="84218" y="78894"/>
                </a:lnTo>
                <a:cubicBezTo>
                  <a:pt x="85692" y="76516"/>
                  <a:pt x="88270" y="75043"/>
                  <a:pt x="91083" y="75043"/>
                </a:cubicBezTo>
                <a:close/>
              </a:path>
            </a:pathLst>
          </a:custGeom>
          <a:solidFill>
            <a:srgbClr val="AD46FF"/>
          </a:solidFill>
          <a:ln/>
        </p:spPr>
      </p:sp>
      <p:sp>
        <p:nvSpPr>
          <p:cNvPr id="46" name="Text 44"/>
          <p:cNvSpPr/>
          <p:nvPr/>
        </p:nvSpPr>
        <p:spPr>
          <a:xfrm>
            <a:off x="7640955" y="4686300"/>
            <a:ext cx="41338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Visual</a:t>
            </a:r>
            <a:endParaRPr lang="en-US" sz="1600" dirty="0"/>
          </a:p>
        </p:txBody>
      </p:sp>
      <p:sp>
        <p:nvSpPr>
          <p:cNvPr id="47" name="Shape 45"/>
          <p:cNvSpPr/>
          <p:nvPr/>
        </p:nvSpPr>
        <p:spPr>
          <a:xfrm>
            <a:off x="7421880" y="5029200"/>
            <a:ext cx="4267200" cy="609600"/>
          </a:xfrm>
          <a:prstGeom prst="roundRect">
            <a:avLst>
              <a:gd name="adj" fmla="val 12500"/>
            </a:avLst>
          </a:prstGeom>
          <a:solidFill>
            <a:srgbClr val="191919"/>
          </a:solidFill>
          <a:ln/>
        </p:spPr>
      </p:sp>
      <p:sp>
        <p:nvSpPr>
          <p:cNvPr id="48" name="Text 46"/>
          <p:cNvSpPr/>
          <p:nvPr/>
        </p:nvSpPr>
        <p:spPr>
          <a:xfrm>
            <a:off x="7498080" y="51054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Diagram:</a:t>
            </a:r>
            <a:endParaRPr lang="en-US" sz="1600" dirty="0"/>
          </a:p>
        </p:txBody>
      </p:sp>
      <p:sp>
        <p:nvSpPr>
          <p:cNvPr id="49" name="Text 47"/>
          <p:cNvSpPr/>
          <p:nvPr/>
        </p:nvSpPr>
        <p:spPr>
          <a:xfrm>
            <a:off x="7498080" y="53340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Player Action → AI Adapts → New Challenge → Fun!</a:t>
            </a:r>
            <a:endParaRPr lang="en-US" sz="1600" dirty="0"/>
          </a:p>
        </p:txBody>
      </p:sp>
      <p:sp>
        <p:nvSpPr>
          <p:cNvPr id="50" name="Shape 48"/>
          <p:cNvSpPr/>
          <p:nvPr/>
        </p:nvSpPr>
        <p:spPr>
          <a:xfrm>
            <a:off x="7421880" y="5715000"/>
            <a:ext cx="4267200" cy="609600"/>
          </a:xfrm>
          <a:prstGeom prst="roundRect">
            <a:avLst>
              <a:gd name="adj" fmla="val 12500"/>
            </a:avLst>
          </a:prstGeom>
          <a:solidFill>
            <a:srgbClr val="191919"/>
          </a:solidFill>
          <a:ln/>
        </p:spPr>
      </p:sp>
      <p:sp>
        <p:nvSpPr>
          <p:cNvPr id="51" name="Text 49"/>
          <p:cNvSpPr/>
          <p:nvPr/>
        </p:nvSpPr>
        <p:spPr>
          <a:xfrm>
            <a:off x="7498080" y="57912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Image:</a:t>
            </a:r>
            <a:endParaRPr lang="en-US" sz="1600" dirty="0"/>
          </a:p>
        </p:txBody>
      </p:sp>
      <p:sp>
        <p:nvSpPr>
          <p:cNvPr id="52" name="Text 50"/>
          <p:cNvSpPr/>
          <p:nvPr/>
        </p:nvSpPr>
        <p:spPr>
          <a:xfrm>
            <a:off x="7498080" y="60198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Gaming scene with AI-controlled characters</a:t>
            </a:r>
            <a:endParaRPr lang="en-US" sz="1600" dirty="0"/>
          </a:p>
        </p:txBody>
      </p:sp>
    </p:spTree>
  </p:cSld>
  <p:clrMapOvr>
    <a:masterClrMapping/>
  </p:clrMapOvr>
  <p:transition>
    <p:fade/>
    <p:spd val="med"/>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91919"/>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F0B100">
              <a:alpha val="20000"/>
            </a:srgbClr>
          </a:solidFill>
          <a:ln/>
        </p:spPr>
      </p:sp>
      <p:sp>
        <p:nvSpPr>
          <p:cNvPr id="3" name="Text 1"/>
          <p:cNvSpPr/>
          <p:nvPr/>
        </p:nvSpPr>
        <p:spPr>
          <a:xfrm>
            <a:off x="499348" y="533400"/>
            <a:ext cx="314325" cy="266700"/>
          </a:xfrm>
          <a:prstGeom prst="rect">
            <a:avLst/>
          </a:prstGeom>
          <a:noFill/>
          <a:ln/>
        </p:spPr>
        <p:txBody>
          <a:bodyPr wrap="square" lIns="0" tIns="0" rIns="0" bIns="0" rtlCol="0" anchor="ctr"/>
          <a:lstStyle/>
          <a:p>
            <a:pPr>
              <a:lnSpc>
                <a:spcPct val="120000"/>
              </a:lnSpc>
            </a:pPr>
            <a:r>
              <a:rPr lang="en-US" sz="1500" b="1" dirty="0">
                <a:solidFill>
                  <a:srgbClr val="F0B100"/>
                </a:solidFill>
                <a:latin typeface="Liter" pitchFamily="34" charset="0"/>
                <a:ea typeface="Liter" pitchFamily="34" charset="-122"/>
                <a:cs typeface="Liter" pitchFamily="34" charset="-120"/>
              </a:rPr>
              <a:t>25</a:t>
            </a:r>
            <a:endParaRPr lang="en-US" sz="1600" dirty="0"/>
          </a:p>
        </p:txBody>
      </p:sp>
      <p:sp>
        <p:nvSpPr>
          <p:cNvPr id="4" name="Text 2"/>
          <p:cNvSpPr/>
          <p:nvPr/>
        </p:nvSpPr>
        <p:spPr>
          <a:xfrm>
            <a:off x="952500" y="381000"/>
            <a:ext cx="6562725" cy="190500"/>
          </a:xfrm>
          <a:prstGeom prst="rect">
            <a:avLst/>
          </a:prstGeom>
          <a:noFill/>
          <a:ln/>
        </p:spPr>
        <p:txBody>
          <a:bodyPr wrap="square" lIns="0" tIns="0" rIns="0" bIns="0" rtlCol="0" anchor="ctr"/>
          <a:lstStyle/>
          <a:p>
            <a:pPr>
              <a:lnSpc>
                <a:spcPct val="120000"/>
              </a:lnSpc>
            </a:pPr>
            <a:r>
              <a:rPr lang="en-US" sz="1050" b="1" spc="53" kern="0" dirty="0">
                <a:solidFill>
                  <a:srgbClr val="F0B100"/>
                </a:solidFill>
                <a:latin typeface="Liter" pitchFamily="34" charset="0"/>
                <a:ea typeface="Liter" pitchFamily="34" charset="-122"/>
                <a:cs typeface="Liter" pitchFamily="34" charset="-120"/>
              </a:rPr>
              <a:t>Applications of AI</a:t>
            </a:r>
            <a:endParaRPr lang="en-US" sz="1600" dirty="0"/>
          </a:p>
        </p:txBody>
      </p:sp>
      <p:sp>
        <p:nvSpPr>
          <p:cNvPr id="5" name="Text 3"/>
          <p:cNvSpPr/>
          <p:nvPr/>
        </p:nvSpPr>
        <p:spPr>
          <a:xfrm>
            <a:off x="952500" y="571500"/>
            <a:ext cx="666750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AI in Smart Devices – Your Intelligent Home</a:t>
            </a:r>
            <a:endParaRPr lang="en-US" sz="1600" dirty="0"/>
          </a:p>
        </p:txBody>
      </p:sp>
      <p:sp>
        <p:nvSpPr>
          <p:cNvPr id="6" name="Shape 4"/>
          <p:cNvSpPr/>
          <p:nvPr/>
        </p:nvSpPr>
        <p:spPr>
          <a:xfrm>
            <a:off x="384810" y="1108710"/>
            <a:ext cx="6760845" cy="2579370"/>
          </a:xfrm>
          <a:prstGeom prst="roundRect">
            <a:avLst>
              <a:gd name="adj" fmla="val 4431"/>
            </a:avLst>
          </a:prstGeom>
          <a:solidFill>
            <a:srgbClr val="262626"/>
          </a:solidFill>
          <a:ln w="10160">
            <a:solidFill>
              <a:srgbClr val="333333"/>
            </a:solidFill>
            <a:prstDash val="solid"/>
          </a:ln>
        </p:spPr>
      </p:sp>
      <p:sp>
        <p:nvSpPr>
          <p:cNvPr id="7" name="Shape 5"/>
          <p:cNvSpPr/>
          <p:nvPr/>
        </p:nvSpPr>
        <p:spPr>
          <a:xfrm>
            <a:off x="526732" y="1264927"/>
            <a:ext cx="190500" cy="190500"/>
          </a:xfrm>
          <a:custGeom>
            <a:avLst/>
            <a:gdLst/>
            <a:ahLst/>
            <a:cxnLst/>
            <a:rect l="l" t="t" r="r" b="b"/>
            <a:pathLst>
              <a:path w="190500" h="190500">
                <a:moveTo>
                  <a:pt x="103361" y="3200"/>
                </a:moveTo>
                <a:cubicBezTo>
                  <a:pt x="98785" y="-1042"/>
                  <a:pt x="91715" y="-1042"/>
                  <a:pt x="87176" y="3200"/>
                </a:cubicBezTo>
                <a:lnTo>
                  <a:pt x="3832" y="80590"/>
                </a:lnTo>
                <a:cubicBezTo>
                  <a:pt x="260" y="83939"/>
                  <a:pt x="-930" y="89111"/>
                  <a:pt x="856" y="93650"/>
                </a:cubicBezTo>
                <a:cubicBezTo>
                  <a:pt x="2642" y="98189"/>
                  <a:pt x="6995" y="101203"/>
                  <a:pt x="11906" y="101203"/>
                </a:cubicBezTo>
                <a:lnTo>
                  <a:pt x="17859" y="101203"/>
                </a:lnTo>
                <a:lnTo>
                  <a:pt x="17859" y="166688"/>
                </a:lnTo>
                <a:cubicBezTo>
                  <a:pt x="17859" y="179822"/>
                  <a:pt x="28538" y="190500"/>
                  <a:pt x="41672" y="190500"/>
                </a:cubicBezTo>
                <a:lnTo>
                  <a:pt x="148828" y="190500"/>
                </a:lnTo>
                <a:cubicBezTo>
                  <a:pt x="161962" y="190500"/>
                  <a:pt x="172641" y="179822"/>
                  <a:pt x="172641" y="166688"/>
                </a:cubicBezTo>
                <a:lnTo>
                  <a:pt x="172641" y="101203"/>
                </a:lnTo>
                <a:lnTo>
                  <a:pt x="178594" y="101203"/>
                </a:lnTo>
                <a:cubicBezTo>
                  <a:pt x="183505" y="101203"/>
                  <a:pt x="187896" y="98189"/>
                  <a:pt x="189681" y="93650"/>
                </a:cubicBezTo>
                <a:cubicBezTo>
                  <a:pt x="191467" y="89111"/>
                  <a:pt x="190277" y="83902"/>
                  <a:pt x="186705" y="80590"/>
                </a:cubicBezTo>
                <a:lnTo>
                  <a:pt x="103361" y="3200"/>
                </a:lnTo>
                <a:close/>
                <a:moveTo>
                  <a:pt x="89297" y="119063"/>
                </a:moveTo>
                <a:lnTo>
                  <a:pt x="101203" y="119063"/>
                </a:lnTo>
                <a:cubicBezTo>
                  <a:pt x="111063" y="119063"/>
                  <a:pt x="119063" y="127062"/>
                  <a:pt x="119063" y="136922"/>
                </a:cubicBezTo>
                <a:lnTo>
                  <a:pt x="119063" y="172641"/>
                </a:lnTo>
                <a:lnTo>
                  <a:pt x="71438" y="172641"/>
                </a:lnTo>
                <a:lnTo>
                  <a:pt x="71438" y="136922"/>
                </a:lnTo>
                <a:cubicBezTo>
                  <a:pt x="71438" y="127062"/>
                  <a:pt x="79437" y="119063"/>
                  <a:pt x="89297" y="119063"/>
                </a:cubicBezTo>
                <a:close/>
              </a:path>
            </a:pathLst>
          </a:custGeom>
          <a:solidFill>
            <a:srgbClr val="F0B100"/>
          </a:solidFill>
          <a:ln/>
        </p:spPr>
      </p:sp>
      <p:sp>
        <p:nvSpPr>
          <p:cNvPr id="8" name="Text 6"/>
          <p:cNvSpPr/>
          <p:nvPr/>
        </p:nvSpPr>
        <p:spPr>
          <a:xfrm>
            <a:off x="741045" y="1226827"/>
            <a:ext cx="6381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Smart Devices You Use Daily</a:t>
            </a:r>
            <a:endParaRPr lang="en-US" sz="1600" dirty="0"/>
          </a:p>
        </p:txBody>
      </p:sp>
      <p:sp>
        <p:nvSpPr>
          <p:cNvPr id="9" name="Shape 7"/>
          <p:cNvSpPr/>
          <p:nvPr/>
        </p:nvSpPr>
        <p:spPr>
          <a:xfrm>
            <a:off x="502920" y="1607827"/>
            <a:ext cx="190500" cy="152400"/>
          </a:xfrm>
          <a:custGeom>
            <a:avLst/>
            <a:gdLst/>
            <a:ahLst/>
            <a:cxnLst/>
            <a:rect l="l" t="t" r="r" b="b"/>
            <a:pathLst>
              <a:path w="190500" h="152400">
                <a:moveTo>
                  <a:pt x="158829" y="9674"/>
                </a:moveTo>
                <a:cubicBezTo>
                  <a:pt x="155764" y="7174"/>
                  <a:pt x="151269" y="7650"/>
                  <a:pt x="148769" y="10716"/>
                </a:cubicBezTo>
                <a:cubicBezTo>
                  <a:pt x="146268" y="13781"/>
                  <a:pt x="146745" y="18276"/>
                  <a:pt x="149810" y="20776"/>
                </a:cubicBezTo>
                <a:cubicBezTo>
                  <a:pt x="165943" y="33873"/>
                  <a:pt x="176212" y="53816"/>
                  <a:pt x="176212" y="76200"/>
                </a:cubicBezTo>
                <a:cubicBezTo>
                  <a:pt x="176212" y="98584"/>
                  <a:pt x="165943" y="118527"/>
                  <a:pt x="149810" y="131653"/>
                </a:cubicBezTo>
                <a:cubicBezTo>
                  <a:pt x="146745" y="134154"/>
                  <a:pt x="146298" y="138648"/>
                  <a:pt x="148769" y="141714"/>
                </a:cubicBezTo>
                <a:cubicBezTo>
                  <a:pt x="151239" y="144780"/>
                  <a:pt x="155764" y="145226"/>
                  <a:pt x="158829" y="142756"/>
                </a:cubicBezTo>
                <a:cubicBezTo>
                  <a:pt x="178147" y="127010"/>
                  <a:pt x="190500" y="103049"/>
                  <a:pt x="190500" y="76200"/>
                </a:cubicBezTo>
                <a:cubicBezTo>
                  <a:pt x="190500" y="49351"/>
                  <a:pt x="178147" y="25360"/>
                  <a:pt x="158829" y="9674"/>
                </a:cubicBezTo>
                <a:close/>
                <a:moveTo>
                  <a:pt x="140821" y="31849"/>
                </a:moveTo>
                <a:cubicBezTo>
                  <a:pt x="137755" y="29349"/>
                  <a:pt x="133261" y="29825"/>
                  <a:pt x="130760" y="32891"/>
                </a:cubicBezTo>
                <a:cubicBezTo>
                  <a:pt x="128260" y="35957"/>
                  <a:pt x="128736" y="40451"/>
                  <a:pt x="131802" y="42952"/>
                </a:cubicBezTo>
                <a:cubicBezTo>
                  <a:pt x="141476" y="50810"/>
                  <a:pt x="147638" y="62776"/>
                  <a:pt x="147638" y="76200"/>
                </a:cubicBezTo>
                <a:cubicBezTo>
                  <a:pt x="147638" y="89624"/>
                  <a:pt x="141476" y="101590"/>
                  <a:pt x="131802" y="109478"/>
                </a:cubicBezTo>
                <a:cubicBezTo>
                  <a:pt x="128736" y="111978"/>
                  <a:pt x="128290" y="116473"/>
                  <a:pt x="130760" y="119539"/>
                </a:cubicBezTo>
                <a:cubicBezTo>
                  <a:pt x="133231" y="122605"/>
                  <a:pt x="137755" y="123051"/>
                  <a:pt x="140821" y="120581"/>
                </a:cubicBezTo>
                <a:cubicBezTo>
                  <a:pt x="153680" y="110103"/>
                  <a:pt x="161925" y="94119"/>
                  <a:pt x="161925" y="76230"/>
                </a:cubicBezTo>
                <a:cubicBezTo>
                  <a:pt x="161925" y="58341"/>
                  <a:pt x="153680" y="42356"/>
                  <a:pt x="140821" y="31879"/>
                </a:cubicBezTo>
                <a:close/>
                <a:moveTo>
                  <a:pt x="122813" y="54025"/>
                </a:moveTo>
                <a:cubicBezTo>
                  <a:pt x="119747" y="51524"/>
                  <a:pt x="115253" y="52001"/>
                  <a:pt x="112752" y="55066"/>
                </a:cubicBezTo>
                <a:cubicBezTo>
                  <a:pt x="110252" y="58132"/>
                  <a:pt x="110728" y="62627"/>
                  <a:pt x="113794" y="65127"/>
                </a:cubicBezTo>
                <a:cubicBezTo>
                  <a:pt x="117009" y="67747"/>
                  <a:pt x="119062" y="71735"/>
                  <a:pt x="119062" y="76200"/>
                </a:cubicBezTo>
                <a:cubicBezTo>
                  <a:pt x="119062" y="80665"/>
                  <a:pt x="117009" y="84653"/>
                  <a:pt x="113794" y="87303"/>
                </a:cubicBezTo>
                <a:cubicBezTo>
                  <a:pt x="110728" y="89803"/>
                  <a:pt x="110282" y="94298"/>
                  <a:pt x="112752" y="97363"/>
                </a:cubicBezTo>
                <a:cubicBezTo>
                  <a:pt x="115223" y="100429"/>
                  <a:pt x="119747" y="100876"/>
                  <a:pt x="122813" y="98405"/>
                </a:cubicBezTo>
                <a:cubicBezTo>
                  <a:pt x="129213" y="93137"/>
                  <a:pt x="133350" y="85159"/>
                  <a:pt x="133350" y="76200"/>
                </a:cubicBezTo>
                <a:cubicBezTo>
                  <a:pt x="133350" y="67241"/>
                  <a:pt x="129213" y="59263"/>
                  <a:pt x="122813" y="54025"/>
                </a:cubicBezTo>
                <a:close/>
                <a:moveTo>
                  <a:pt x="23813" y="104775"/>
                </a:moveTo>
                <a:lnTo>
                  <a:pt x="38100" y="104775"/>
                </a:lnTo>
                <a:lnTo>
                  <a:pt x="78016" y="140256"/>
                </a:lnTo>
                <a:cubicBezTo>
                  <a:pt x="79921" y="141952"/>
                  <a:pt x="82361" y="142875"/>
                  <a:pt x="84892" y="142875"/>
                </a:cubicBezTo>
                <a:cubicBezTo>
                  <a:pt x="90607" y="142875"/>
                  <a:pt x="95250" y="138232"/>
                  <a:pt x="95250" y="132517"/>
                </a:cubicBezTo>
                <a:lnTo>
                  <a:pt x="95250" y="19883"/>
                </a:lnTo>
                <a:cubicBezTo>
                  <a:pt x="95250" y="14168"/>
                  <a:pt x="90607" y="9525"/>
                  <a:pt x="84892" y="9525"/>
                </a:cubicBezTo>
                <a:cubicBezTo>
                  <a:pt x="82361" y="9525"/>
                  <a:pt x="79921" y="10448"/>
                  <a:pt x="78016" y="12144"/>
                </a:cubicBezTo>
                <a:lnTo>
                  <a:pt x="38100" y="47625"/>
                </a:lnTo>
                <a:lnTo>
                  <a:pt x="23813" y="47625"/>
                </a:lnTo>
                <a:cubicBezTo>
                  <a:pt x="15925" y="47625"/>
                  <a:pt x="9525" y="54025"/>
                  <a:pt x="9525" y="61912"/>
                </a:cubicBezTo>
                <a:lnTo>
                  <a:pt x="9525" y="90488"/>
                </a:lnTo>
                <a:cubicBezTo>
                  <a:pt x="9525" y="98375"/>
                  <a:pt x="15925" y="104775"/>
                  <a:pt x="23813" y="104775"/>
                </a:cubicBezTo>
                <a:close/>
              </a:path>
            </a:pathLst>
          </a:custGeom>
          <a:solidFill>
            <a:srgbClr val="F0B100"/>
          </a:solidFill>
          <a:ln/>
        </p:spPr>
      </p:sp>
      <p:sp>
        <p:nvSpPr>
          <p:cNvPr id="10" name="Text 8"/>
          <p:cNvSpPr/>
          <p:nvPr/>
        </p:nvSpPr>
        <p:spPr>
          <a:xfrm>
            <a:off x="807720" y="1569727"/>
            <a:ext cx="48958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Smart Speakers</a:t>
            </a:r>
            <a:endParaRPr lang="en-US" sz="1600" dirty="0"/>
          </a:p>
        </p:txBody>
      </p:sp>
      <p:sp>
        <p:nvSpPr>
          <p:cNvPr id="11" name="Text 9"/>
          <p:cNvSpPr/>
          <p:nvPr/>
        </p:nvSpPr>
        <p:spPr>
          <a:xfrm>
            <a:off x="807720" y="1798327"/>
            <a:ext cx="489585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Alexa, Google Home play music, answer questions, control other devices</a:t>
            </a:r>
            <a:endParaRPr lang="en-US" sz="1600" dirty="0"/>
          </a:p>
        </p:txBody>
      </p:sp>
      <p:sp>
        <p:nvSpPr>
          <p:cNvPr id="12" name="Shape 10"/>
          <p:cNvSpPr/>
          <p:nvPr/>
        </p:nvSpPr>
        <p:spPr>
          <a:xfrm>
            <a:off x="550545" y="2122177"/>
            <a:ext cx="95250" cy="152400"/>
          </a:xfrm>
          <a:custGeom>
            <a:avLst/>
            <a:gdLst/>
            <a:ahLst/>
            <a:cxnLst/>
            <a:rect l="l" t="t" r="r" b="b"/>
            <a:pathLst>
              <a:path w="95250" h="152400">
                <a:moveTo>
                  <a:pt x="47625" y="0"/>
                </a:moveTo>
                <a:cubicBezTo>
                  <a:pt x="31849" y="0"/>
                  <a:pt x="19050" y="12799"/>
                  <a:pt x="19050" y="28575"/>
                </a:cubicBezTo>
                <a:lnTo>
                  <a:pt x="19050" y="77599"/>
                </a:lnTo>
                <a:cubicBezTo>
                  <a:pt x="10269" y="85427"/>
                  <a:pt x="4763" y="96857"/>
                  <a:pt x="4763" y="109537"/>
                </a:cubicBezTo>
                <a:cubicBezTo>
                  <a:pt x="4763" y="133201"/>
                  <a:pt x="23961" y="152400"/>
                  <a:pt x="47625" y="152400"/>
                </a:cubicBezTo>
                <a:cubicBezTo>
                  <a:pt x="71289" y="152400"/>
                  <a:pt x="90488" y="133201"/>
                  <a:pt x="90488" y="109537"/>
                </a:cubicBezTo>
                <a:cubicBezTo>
                  <a:pt x="90488" y="96857"/>
                  <a:pt x="84981" y="85427"/>
                  <a:pt x="76200" y="77599"/>
                </a:cubicBezTo>
                <a:lnTo>
                  <a:pt x="76200" y="28575"/>
                </a:lnTo>
                <a:cubicBezTo>
                  <a:pt x="76200" y="12799"/>
                  <a:pt x="63401" y="0"/>
                  <a:pt x="47625" y="0"/>
                </a:cubicBezTo>
                <a:close/>
                <a:moveTo>
                  <a:pt x="66675" y="109537"/>
                </a:moveTo>
                <a:cubicBezTo>
                  <a:pt x="66675" y="120045"/>
                  <a:pt x="58132" y="128588"/>
                  <a:pt x="47625" y="128588"/>
                </a:cubicBezTo>
                <a:cubicBezTo>
                  <a:pt x="37118" y="128588"/>
                  <a:pt x="28575" y="120045"/>
                  <a:pt x="28575" y="109537"/>
                </a:cubicBezTo>
                <a:cubicBezTo>
                  <a:pt x="28575" y="101531"/>
                  <a:pt x="33486" y="94684"/>
                  <a:pt x="40481" y="91886"/>
                </a:cubicBezTo>
                <a:lnTo>
                  <a:pt x="40481" y="64294"/>
                </a:lnTo>
                <a:cubicBezTo>
                  <a:pt x="40481" y="60335"/>
                  <a:pt x="43666" y="57150"/>
                  <a:pt x="47625" y="57150"/>
                </a:cubicBezTo>
                <a:cubicBezTo>
                  <a:pt x="51584" y="57150"/>
                  <a:pt x="54769" y="60335"/>
                  <a:pt x="54769" y="64294"/>
                </a:cubicBezTo>
                <a:lnTo>
                  <a:pt x="54769" y="91886"/>
                </a:lnTo>
                <a:cubicBezTo>
                  <a:pt x="61764" y="94714"/>
                  <a:pt x="66675" y="101560"/>
                  <a:pt x="66675" y="109537"/>
                </a:cubicBezTo>
                <a:close/>
              </a:path>
            </a:pathLst>
          </a:custGeom>
          <a:solidFill>
            <a:srgbClr val="F0B100"/>
          </a:solidFill>
          <a:ln/>
        </p:spPr>
      </p:sp>
      <p:sp>
        <p:nvSpPr>
          <p:cNvPr id="13" name="Text 11"/>
          <p:cNvSpPr/>
          <p:nvPr/>
        </p:nvSpPr>
        <p:spPr>
          <a:xfrm>
            <a:off x="807720" y="2084077"/>
            <a:ext cx="445770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Smart Thermostats</a:t>
            </a:r>
            <a:endParaRPr lang="en-US" sz="1600" dirty="0"/>
          </a:p>
        </p:txBody>
      </p:sp>
      <p:sp>
        <p:nvSpPr>
          <p:cNvPr id="14" name="Text 12"/>
          <p:cNvSpPr/>
          <p:nvPr/>
        </p:nvSpPr>
        <p:spPr>
          <a:xfrm>
            <a:off x="807720" y="2312677"/>
            <a:ext cx="445770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Nest learns your schedule and adjusts temperature to save energy</a:t>
            </a:r>
            <a:endParaRPr lang="en-US" sz="1600" dirty="0"/>
          </a:p>
        </p:txBody>
      </p:sp>
      <p:sp>
        <p:nvSpPr>
          <p:cNvPr id="15" name="Shape 13"/>
          <p:cNvSpPr/>
          <p:nvPr/>
        </p:nvSpPr>
        <p:spPr>
          <a:xfrm>
            <a:off x="512445" y="2636527"/>
            <a:ext cx="171450" cy="152400"/>
          </a:xfrm>
          <a:custGeom>
            <a:avLst/>
            <a:gdLst/>
            <a:ahLst/>
            <a:cxnLst/>
            <a:rect l="l" t="t" r="r" b="b"/>
            <a:pathLst>
              <a:path w="171450" h="152400">
                <a:moveTo>
                  <a:pt x="28575" y="19050"/>
                </a:moveTo>
                <a:cubicBezTo>
                  <a:pt x="18068" y="19050"/>
                  <a:pt x="9525" y="27593"/>
                  <a:pt x="9525" y="38100"/>
                </a:cubicBezTo>
                <a:lnTo>
                  <a:pt x="9525" y="114300"/>
                </a:lnTo>
                <a:cubicBezTo>
                  <a:pt x="9525" y="124807"/>
                  <a:pt x="18068" y="133350"/>
                  <a:pt x="28575" y="133350"/>
                </a:cubicBezTo>
                <a:lnTo>
                  <a:pt x="104775" y="133350"/>
                </a:lnTo>
                <a:cubicBezTo>
                  <a:pt x="115282" y="133350"/>
                  <a:pt x="123825" y="124807"/>
                  <a:pt x="123825" y="114300"/>
                </a:cubicBezTo>
                <a:lnTo>
                  <a:pt x="123825" y="38100"/>
                </a:lnTo>
                <a:cubicBezTo>
                  <a:pt x="123825" y="27593"/>
                  <a:pt x="115282" y="19050"/>
                  <a:pt x="104775" y="19050"/>
                </a:cubicBezTo>
                <a:lnTo>
                  <a:pt x="28575" y="19050"/>
                </a:lnTo>
                <a:close/>
                <a:moveTo>
                  <a:pt x="138113" y="100013"/>
                </a:moveTo>
                <a:lnTo>
                  <a:pt x="159990" y="117515"/>
                </a:lnTo>
                <a:cubicBezTo>
                  <a:pt x="161240" y="118527"/>
                  <a:pt x="162788" y="119062"/>
                  <a:pt x="164396" y="119062"/>
                </a:cubicBezTo>
                <a:cubicBezTo>
                  <a:pt x="168295" y="119062"/>
                  <a:pt x="171450" y="115907"/>
                  <a:pt x="171450" y="112008"/>
                </a:cubicBezTo>
                <a:lnTo>
                  <a:pt x="171450" y="40392"/>
                </a:lnTo>
                <a:cubicBezTo>
                  <a:pt x="171450" y="36493"/>
                  <a:pt x="168295" y="33338"/>
                  <a:pt x="164396" y="33338"/>
                </a:cubicBezTo>
                <a:cubicBezTo>
                  <a:pt x="162788" y="33338"/>
                  <a:pt x="161240" y="33873"/>
                  <a:pt x="159990" y="34885"/>
                </a:cubicBezTo>
                <a:lnTo>
                  <a:pt x="138113" y="52388"/>
                </a:lnTo>
                <a:lnTo>
                  <a:pt x="138113" y="100013"/>
                </a:lnTo>
                <a:close/>
              </a:path>
            </a:pathLst>
          </a:custGeom>
          <a:solidFill>
            <a:srgbClr val="F0B100"/>
          </a:solidFill>
          <a:ln/>
        </p:spPr>
      </p:sp>
      <p:sp>
        <p:nvSpPr>
          <p:cNvPr id="16" name="Text 14"/>
          <p:cNvSpPr/>
          <p:nvPr/>
        </p:nvSpPr>
        <p:spPr>
          <a:xfrm>
            <a:off x="807720" y="2598427"/>
            <a:ext cx="403860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Security Cameras</a:t>
            </a:r>
            <a:endParaRPr lang="en-US" sz="1600" dirty="0"/>
          </a:p>
        </p:txBody>
      </p:sp>
      <p:sp>
        <p:nvSpPr>
          <p:cNvPr id="17" name="Text 15"/>
          <p:cNvSpPr/>
          <p:nvPr/>
        </p:nvSpPr>
        <p:spPr>
          <a:xfrm>
            <a:off x="807720" y="2827027"/>
            <a:ext cx="403860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Ring cameras detect people, packages, and unusual activity</a:t>
            </a:r>
            <a:endParaRPr lang="en-US" sz="1600" dirty="0"/>
          </a:p>
        </p:txBody>
      </p:sp>
      <p:sp>
        <p:nvSpPr>
          <p:cNvPr id="18" name="Shape 16"/>
          <p:cNvSpPr/>
          <p:nvPr/>
        </p:nvSpPr>
        <p:spPr>
          <a:xfrm>
            <a:off x="521970" y="3150877"/>
            <a:ext cx="152400" cy="152400"/>
          </a:xfrm>
          <a:custGeom>
            <a:avLst/>
            <a:gdLst/>
            <a:ahLst/>
            <a:cxnLst/>
            <a:rect l="l" t="t" r="r" b="b"/>
            <a:pathLst>
              <a:path w="152400" h="152400">
                <a:moveTo>
                  <a:pt x="76200" y="32117"/>
                </a:moveTo>
                <a:lnTo>
                  <a:pt x="71735" y="25926"/>
                </a:lnTo>
                <a:cubicBezTo>
                  <a:pt x="64294" y="15627"/>
                  <a:pt x="52358" y="9525"/>
                  <a:pt x="39618" y="9525"/>
                </a:cubicBezTo>
                <a:cubicBezTo>
                  <a:pt x="17740" y="9525"/>
                  <a:pt x="0" y="27265"/>
                  <a:pt x="0" y="49143"/>
                </a:cubicBezTo>
                <a:lnTo>
                  <a:pt x="0" y="49917"/>
                </a:lnTo>
                <a:cubicBezTo>
                  <a:pt x="0" y="56942"/>
                  <a:pt x="1845" y="64204"/>
                  <a:pt x="4941" y="71438"/>
                </a:cubicBezTo>
                <a:lnTo>
                  <a:pt x="36493" y="71438"/>
                </a:lnTo>
                <a:cubicBezTo>
                  <a:pt x="37445" y="71438"/>
                  <a:pt x="38308" y="70872"/>
                  <a:pt x="38695" y="69979"/>
                </a:cubicBezTo>
                <a:lnTo>
                  <a:pt x="48161" y="47268"/>
                </a:lnTo>
                <a:cubicBezTo>
                  <a:pt x="49262" y="44648"/>
                  <a:pt x="51822" y="42922"/>
                  <a:pt x="54650" y="42863"/>
                </a:cubicBezTo>
                <a:cubicBezTo>
                  <a:pt x="57477" y="42803"/>
                  <a:pt x="60097" y="44470"/>
                  <a:pt x="61258" y="47059"/>
                </a:cubicBezTo>
                <a:lnTo>
                  <a:pt x="76527" y="80962"/>
                </a:lnTo>
                <a:lnTo>
                  <a:pt x="88850" y="56317"/>
                </a:lnTo>
                <a:cubicBezTo>
                  <a:pt x="90071" y="53906"/>
                  <a:pt x="92541" y="52358"/>
                  <a:pt x="95250" y="52358"/>
                </a:cubicBezTo>
                <a:cubicBezTo>
                  <a:pt x="97959" y="52358"/>
                  <a:pt x="100429" y="53876"/>
                  <a:pt x="101650" y="56317"/>
                </a:cubicBezTo>
                <a:lnTo>
                  <a:pt x="108555" y="70098"/>
                </a:lnTo>
                <a:cubicBezTo>
                  <a:pt x="108972" y="70902"/>
                  <a:pt x="109776" y="71408"/>
                  <a:pt x="110698" y="71408"/>
                </a:cubicBezTo>
                <a:lnTo>
                  <a:pt x="147489" y="71408"/>
                </a:lnTo>
                <a:cubicBezTo>
                  <a:pt x="150614" y="64175"/>
                  <a:pt x="152430" y="56912"/>
                  <a:pt x="152430" y="49887"/>
                </a:cubicBezTo>
                <a:lnTo>
                  <a:pt x="152430" y="49113"/>
                </a:lnTo>
                <a:cubicBezTo>
                  <a:pt x="152400" y="27265"/>
                  <a:pt x="134660" y="9525"/>
                  <a:pt x="112782" y="9525"/>
                </a:cubicBezTo>
                <a:cubicBezTo>
                  <a:pt x="100072" y="9525"/>
                  <a:pt x="88106" y="15627"/>
                  <a:pt x="80665" y="25926"/>
                </a:cubicBezTo>
                <a:lnTo>
                  <a:pt x="76200" y="32087"/>
                </a:lnTo>
                <a:close/>
                <a:moveTo>
                  <a:pt x="139779" y="85725"/>
                </a:moveTo>
                <a:lnTo>
                  <a:pt x="110669" y="85725"/>
                </a:lnTo>
                <a:cubicBezTo>
                  <a:pt x="104358" y="85725"/>
                  <a:pt x="98584" y="82153"/>
                  <a:pt x="95756" y="76498"/>
                </a:cubicBezTo>
                <a:lnTo>
                  <a:pt x="95250" y="75486"/>
                </a:lnTo>
                <a:lnTo>
                  <a:pt x="82600" y="100816"/>
                </a:lnTo>
                <a:cubicBezTo>
                  <a:pt x="81379" y="103287"/>
                  <a:pt x="78819" y="104835"/>
                  <a:pt x="76051" y="104775"/>
                </a:cubicBezTo>
                <a:cubicBezTo>
                  <a:pt x="73283" y="104715"/>
                  <a:pt x="70812" y="103078"/>
                  <a:pt x="69681" y="100578"/>
                </a:cubicBezTo>
                <a:lnTo>
                  <a:pt x="55007" y="67985"/>
                </a:lnTo>
                <a:lnTo>
                  <a:pt x="51881" y="75486"/>
                </a:lnTo>
                <a:cubicBezTo>
                  <a:pt x="49292" y="81707"/>
                  <a:pt x="43220" y="85755"/>
                  <a:pt x="36493" y="85755"/>
                </a:cubicBezTo>
                <a:lnTo>
                  <a:pt x="12621" y="85755"/>
                </a:lnTo>
                <a:cubicBezTo>
                  <a:pt x="26670" y="107722"/>
                  <a:pt x="49232" y="127933"/>
                  <a:pt x="63341" y="138708"/>
                </a:cubicBezTo>
                <a:cubicBezTo>
                  <a:pt x="67032" y="141506"/>
                  <a:pt x="71557" y="142905"/>
                  <a:pt x="76170" y="142905"/>
                </a:cubicBezTo>
                <a:cubicBezTo>
                  <a:pt x="80784" y="142905"/>
                  <a:pt x="85338" y="141536"/>
                  <a:pt x="88999" y="138708"/>
                </a:cubicBezTo>
                <a:cubicBezTo>
                  <a:pt x="103168" y="127903"/>
                  <a:pt x="125730" y="107692"/>
                  <a:pt x="139779" y="85725"/>
                </a:cubicBezTo>
                <a:close/>
              </a:path>
            </a:pathLst>
          </a:custGeom>
          <a:solidFill>
            <a:srgbClr val="F0B100"/>
          </a:solidFill>
          <a:ln/>
        </p:spPr>
      </p:sp>
      <p:sp>
        <p:nvSpPr>
          <p:cNvPr id="19" name="Text 17"/>
          <p:cNvSpPr/>
          <p:nvPr/>
        </p:nvSpPr>
        <p:spPr>
          <a:xfrm>
            <a:off x="807720" y="3112777"/>
            <a:ext cx="466725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Fitness Trackers</a:t>
            </a:r>
            <a:endParaRPr lang="en-US" sz="1600" dirty="0"/>
          </a:p>
        </p:txBody>
      </p:sp>
      <p:sp>
        <p:nvSpPr>
          <p:cNvPr id="20" name="Text 18"/>
          <p:cNvSpPr/>
          <p:nvPr/>
        </p:nvSpPr>
        <p:spPr>
          <a:xfrm>
            <a:off x="807720" y="3341377"/>
            <a:ext cx="4667250" cy="228600"/>
          </a:xfrm>
          <a:prstGeom prst="rect">
            <a:avLst/>
          </a:prstGeom>
          <a:noFill/>
          <a:ln/>
        </p:spPr>
        <p:txBody>
          <a:bodyPr wrap="square" lIns="0" tIns="0" rIns="0" bIns="0" rtlCol="0" anchor="ctr"/>
          <a:lstStyle/>
          <a:p>
            <a:pPr>
              <a:lnSpc>
                <a:spcPct val="130000"/>
              </a:lnSpc>
            </a:pPr>
            <a:r>
              <a:rPr lang="en-US" sz="1200" dirty="0">
                <a:solidFill>
                  <a:srgbClr val="8F8F8F"/>
                </a:solidFill>
                <a:latin typeface="Liter" pitchFamily="34" charset="0"/>
                <a:ea typeface="Liter" pitchFamily="34" charset="-122"/>
                <a:cs typeface="Liter" pitchFamily="34" charset="-120"/>
              </a:rPr>
              <a:t>Fitbit and Apple Watch monitor health, suggest workouts, track sleep</a:t>
            </a:r>
            <a:endParaRPr lang="en-US" sz="1600" dirty="0"/>
          </a:p>
        </p:txBody>
      </p:sp>
      <p:sp>
        <p:nvSpPr>
          <p:cNvPr id="21" name="Shape 19"/>
          <p:cNvSpPr/>
          <p:nvPr/>
        </p:nvSpPr>
        <p:spPr>
          <a:xfrm>
            <a:off x="384810" y="3771896"/>
            <a:ext cx="6760845" cy="1379220"/>
          </a:xfrm>
          <a:prstGeom prst="roundRect">
            <a:avLst>
              <a:gd name="adj" fmla="val 8287"/>
            </a:avLst>
          </a:prstGeom>
          <a:solidFill>
            <a:srgbClr val="262626"/>
          </a:solidFill>
          <a:ln w="10160">
            <a:solidFill>
              <a:srgbClr val="333333"/>
            </a:solidFill>
            <a:prstDash val="solid"/>
          </a:ln>
        </p:spPr>
      </p:sp>
      <p:sp>
        <p:nvSpPr>
          <p:cNvPr id="22" name="Text 20"/>
          <p:cNvSpPr/>
          <p:nvPr/>
        </p:nvSpPr>
        <p:spPr>
          <a:xfrm>
            <a:off x="502920" y="3890014"/>
            <a:ext cx="6619875"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Benefits of Smart Homes</a:t>
            </a:r>
            <a:endParaRPr lang="en-US" sz="1600" dirty="0"/>
          </a:p>
        </p:txBody>
      </p:sp>
      <p:sp>
        <p:nvSpPr>
          <p:cNvPr id="23" name="Shape 21"/>
          <p:cNvSpPr/>
          <p:nvPr/>
        </p:nvSpPr>
        <p:spPr>
          <a:xfrm>
            <a:off x="502920" y="4232914"/>
            <a:ext cx="2124075" cy="800100"/>
          </a:xfrm>
          <a:prstGeom prst="roundRect">
            <a:avLst>
              <a:gd name="adj" fmla="val 9524"/>
            </a:avLst>
          </a:prstGeom>
          <a:solidFill>
            <a:srgbClr val="191919"/>
          </a:solidFill>
          <a:ln/>
        </p:spPr>
      </p:sp>
      <p:sp>
        <p:nvSpPr>
          <p:cNvPr id="24" name="Shape 22"/>
          <p:cNvSpPr/>
          <p:nvPr/>
        </p:nvSpPr>
        <p:spPr>
          <a:xfrm>
            <a:off x="1464588" y="4309114"/>
            <a:ext cx="200025" cy="228600"/>
          </a:xfrm>
          <a:custGeom>
            <a:avLst/>
            <a:gdLst/>
            <a:ahLst/>
            <a:cxnLst/>
            <a:rect l="l" t="t" r="r" b="b"/>
            <a:pathLst>
              <a:path w="200025" h="228600">
                <a:moveTo>
                  <a:pt x="151269" y="-4420"/>
                </a:moveTo>
                <a:cubicBezTo>
                  <a:pt x="156582" y="-580"/>
                  <a:pt x="158547" y="6385"/>
                  <a:pt x="156136" y="12457"/>
                </a:cubicBezTo>
                <a:lnTo>
                  <a:pt x="121131" y="100013"/>
                </a:lnTo>
                <a:lnTo>
                  <a:pt x="185738" y="100013"/>
                </a:lnTo>
                <a:cubicBezTo>
                  <a:pt x="191765" y="100013"/>
                  <a:pt x="197123" y="103763"/>
                  <a:pt x="199177" y="109433"/>
                </a:cubicBezTo>
                <a:cubicBezTo>
                  <a:pt x="201231" y="115104"/>
                  <a:pt x="199489" y="121444"/>
                  <a:pt x="194890" y="125284"/>
                </a:cubicBezTo>
                <a:lnTo>
                  <a:pt x="66303" y="232440"/>
                </a:lnTo>
                <a:cubicBezTo>
                  <a:pt x="61258" y="236637"/>
                  <a:pt x="54069" y="236860"/>
                  <a:pt x="48756" y="233020"/>
                </a:cubicBezTo>
                <a:cubicBezTo>
                  <a:pt x="43443" y="229180"/>
                  <a:pt x="41478" y="222215"/>
                  <a:pt x="43889" y="216143"/>
                </a:cubicBezTo>
                <a:lnTo>
                  <a:pt x="78894" y="128588"/>
                </a:lnTo>
                <a:lnTo>
                  <a:pt x="14288" y="128588"/>
                </a:lnTo>
                <a:cubicBezTo>
                  <a:pt x="8260" y="128588"/>
                  <a:pt x="2902" y="124837"/>
                  <a:pt x="848" y="119167"/>
                </a:cubicBezTo>
                <a:cubicBezTo>
                  <a:pt x="-1206" y="113496"/>
                  <a:pt x="536" y="107156"/>
                  <a:pt x="5135" y="103316"/>
                </a:cubicBezTo>
                <a:lnTo>
                  <a:pt x="133722" y="-3840"/>
                </a:lnTo>
                <a:cubicBezTo>
                  <a:pt x="138767" y="-8037"/>
                  <a:pt x="145956" y="-8260"/>
                  <a:pt x="151269" y="-4420"/>
                </a:cubicBezTo>
                <a:close/>
              </a:path>
            </a:pathLst>
          </a:custGeom>
          <a:solidFill>
            <a:srgbClr val="F0B100"/>
          </a:solidFill>
          <a:ln/>
        </p:spPr>
      </p:sp>
      <p:sp>
        <p:nvSpPr>
          <p:cNvPr id="25" name="Text 23"/>
          <p:cNvSpPr/>
          <p:nvPr/>
        </p:nvSpPr>
        <p:spPr>
          <a:xfrm>
            <a:off x="545782" y="4575814"/>
            <a:ext cx="2038350" cy="190500"/>
          </a:xfrm>
          <a:prstGeom prst="rect">
            <a:avLst/>
          </a:prstGeom>
          <a:noFill/>
          <a:ln/>
        </p:spPr>
        <p:txBody>
          <a:bodyPr wrap="square" lIns="0" tIns="0" rIns="0" bIns="0" rtlCol="0" anchor="ctr"/>
          <a:lstStyle/>
          <a:p>
            <a:pPr algn="ctr">
              <a:lnSpc>
                <a:spcPct val="120000"/>
              </a:lnSpc>
            </a:pPr>
            <a:r>
              <a:rPr lang="en-US" sz="1050" b="1" dirty="0">
                <a:solidFill>
                  <a:srgbClr val="EFEFEF"/>
                </a:solidFill>
                <a:latin typeface="Liter" pitchFamily="34" charset="0"/>
                <a:ea typeface="Liter" pitchFamily="34" charset="-122"/>
                <a:cs typeface="Liter" pitchFamily="34" charset="-120"/>
              </a:rPr>
              <a:t>Convenience</a:t>
            </a:r>
            <a:endParaRPr lang="en-US" sz="1600" dirty="0"/>
          </a:p>
        </p:txBody>
      </p:sp>
      <p:sp>
        <p:nvSpPr>
          <p:cNvPr id="26" name="Text 24"/>
          <p:cNvSpPr/>
          <p:nvPr/>
        </p:nvSpPr>
        <p:spPr>
          <a:xfrm>
            <a:off x="545782" y="4766314"/>
            <a:ext cx="2038350" cy="190500"/>
          </a:xfrm>
          <a:prstGeom prst="rect">
            <a:avLst/>
          </a:prstGeom>
          <a:noFill/>
          <a:ln/>
        </p:spPr>
        <p:txBody>
          <a:bodyPr wrap="square" lIns="0" tIns="0" rIns="0" bIns="0" rtlCol="0" anchor="ctr"/>
          <a:lstStyle/>
          <a:p>
            <a:pPr algn="ctr">
              <a:lnSpc>
                <a:spcPct val="120000"/>
              </a:lnSpc>
            </a:pPr>
            <a:r>
              <a:rPr lang="en-US" sz="1050" dirty="0">
                <a:solidFill>
                  <a:srgbClr val="8F8F8F"/>
                </a:solidFill>
                <a:latin typeface="Liter" pitchFamily="34" charset="0"/>
                <a:ea typeface="Liter" pitchFamily="34" charset="-122"/>
                <a:cs typeface="Liter" pitchFamily="34" charset="-120"/>
              </a:rPr>
              <a:t>Control everything with voice</a:t>
            </a:r>
            <a:endParaRPr lang="en-US" sz="1600" dirty="0"/>
          </a:p>
        </p:txBody>
      </p:sp>
      <p:sp>
        <p:nvSpPr>
          <p:cNvPr id="27" name="Shape 25"/>
          <p:cNvSpPr/>
          <p:nvPr/>
        </p:nvSpPr>
        <p:spPr>
          <a:xfrm>
            <a:off x="2702481" y="4232914"/>
            <a:ext cx="2124075" cy="800100"/>
          </a:xfrm>
          <a:prstGeom prst="roundRect">
            <a:avLst>
              <a:gd name="adj" fmla="val 9524"/>
            </a:avLst>
          </a:prstGeom>
          <a:solidFill>
            <a:srgbClr val="191919"/>
          </a:solidFill>
          <a:ln/>
        </p:spPr>
      </p:sp>
      <p:sp>
        <p:nvSpPr>
          <p:cNvPr id="28" name="Shape 26"/>
          <p:cNvSpPr/>
          <p:nvPr/>
        </p:nvSpPr>
        <p:spPr>
          <a:xfrm>
            <a:off x="3649861" y="4309114"/>
            <a:ext cx="228600" cy="228600"/>
          </a:xfrm>
          <a:custGeom>
            <a:avLst/>
            <a:gdLst/>
            <a:ahLst/>
            <a:cxnLst/>
            <a:rect l="l" t="t" r="r" b="b"/>
            <a:pathLst>
              <a:path w="228600" h="228600">
                <a:moveTo>
                  <a:pt x="210428" y="2991"/>
                </a:moveTo>
                <a:cubicBezTo>
                  <a:pt x="213286" y="268"/>
                  <a:pt x="217438" y="-714"/>
                  <a:pt x="221278" y="536"/>
                </a:cubicBezTo>
                <a:cubicBezTo>
                  <a:pt x="225653" y="2009"/>
                  <a:pt x="228600" y="6117"/>
                  <a:pt x="228600" y="10716"/>
                </a:cubicBezTo>
                <a:lnTo>
                  <a:pt x="228600" y="94164"/>
                </a:lnTo>
                <a:cubicBezTo>
                  <a:pt x="228600" y="152742"/>
                  <a:pt x="180335" y="200025"/>
                  <a:pt x="121980" y="200025"/>
                </a:cubicBezTo>
                <a:cubicBezTo>
                  <a:pt x="87600" y="200025"/>
                  <a:pt x="57954" y="177924"/>
                  <a:pt x="47193" y="147027"/>
                </a:cubicBezTo>
                <a:cubicBezTo>
                  <a:pt x="31388" y="160779"/>
                  <a:pt x="21431" y="181005"/>
                  <a:pt x="21431" y="203597"/>
                </a:cubicBezTo>
                <a:cubicBezTo>
                  <a:pt x="21431" y="209535"/>
                  <a:pt x="16654" y="214313"/>
                  <a:pt x="10716" y="214313"/>
                </a:cubicBezTo>
                <a:cubicBezTo>
                  <a:pt x="4777" y="214313"/>
                  <a:pt x="0" y="209535"/>
                  <a:pt x="0" y="203597"/>
                </a:cubicBezTo>
                <a:cubicBezTo>
                  <a:pt x="0" y="170155"/>
                  <a:pt x="17056" y="140687"/>
                  <a:pt x="42907" y="123364"/>
                </a:cubicBezTo>
                <a:cubicBezTo>
                  <a:pt x="58668" y="112827"/>
                  <a:pt x="77465" y="107156"/>
                  <a:pt x="96441" y="107156"/>
                </a:cubicBezTo>
                <a:lnTo>
                  <a:pt x="132159" y="107156"/>
                </a:lnTo>
                <a:cubicBezTo>
                  <a:pt x="138098" y="107156"/>
                  <a:pt x="142875" y="102379"/>
                  <a:pt x="142875" y="96441"/>
                </a:cubicBezTo>
                <a:cubicBezTo>
                  <a:pt x="142875" y="90502"/>
                  <a:pt x="138098" y="85725"/>
                  <a:pt x="132159" y="85725"/>
                </a:cubicBezTo>
                <a:lnTo>
                  <a:pt x="96441" y="85725"/>
                </a:lnTo>
                <a:cubicBezTo>
                  <a:pt x="78715" y="85725"/>
                  <a:pt x="61927" y="89654"/>
                  <a:pt x="46881" y="96664"/>
                </a:cubicBezTo>
                <a:cubicBezTo>
                  <a:pt x="57284" y="65410"/>
                  <a:pt x="86707" y="42863"/>
                  <a:pt x="121444" y="42863"/>
                </a:cubicBezTo>
                <a:cubicBezTo>
                  <a:pt x="151090" y="42863"/>
                  <a:pt x="173147" y="32995"/>
                  <a:pt x="187836" y="23217"/>
                </a:cubicBezTo>
                <a:cubicBezTo>
                  <a:pt x="196408" y="17502"/>
                  <a:pt x="203686" y="10671"/>
                  <a:pt x="210473" y="2991"/>
                </a:cubicBezTo>
                <a:close/>
              </a:path>
            </a:pathLst>
          </a:custGeom>
          <a:solidFill>
            <a:srgbClr val="F0B100"/>
          </a:solidFill>
          <a:ln/>
        </p:spPr>
      </p:sp>
      <p:sp>
        <p:nvSpPr>
          <p:cNvPr id="29" name="Text 27"/>
          <p:cNvSpPr/>
          <p:nvPr/>
        </p:nvSpPr>
        <p:spPr>
          <a:xfrm>
            <a:off x="2745343" y="4575814"/>
            <a:ext cx="2038350" cy="190500"/>
          </a:xfrm>
          <a:prstGeom prst="rect">
            <a:avLst/>
          </a:prstGeom>
          <a:noFill/>
          <a:ln/>
        </p:spPr>
        <p:txBody>
          <a:bodyPr wrap="square" lIns="0" tIns="0" rIns="0" bIns="0" rtlCol="0" anchor="ctr"/>
          <a:lstStyle/>
          <a:p>
            <a:pPr algn="ctr">
              <a:lnSpc>
                <a:spcPct val="120000"/>
              </a:lnSpc>
            </a:pPr>
            <a:r>
              <a:rPr lang="en-US" sz="1050" b="1" dirty="0">
                <a:solidFill>
                  <a:srgbClr val="EFEFEF"/>
                </a:solidFill>
                <a:latin typeface="Liter" pitchFamily="34" charset="0"/>
                <a:ea typeface="Liter" pitchFamily="34" charset="-122"/>
                <a:cs typeface="Liter" pitchFamily="34" charset="-120"/>
              </a:rPr>
              <a:t>Energy Saving</a:t>
            </a:r>
            <a:endParaRPr lang="en-US" sz="1600" dirty="0"/>
          </a:p>
        </p:txBody>
      </p:sp>
      <p:sp>
        <p:nvSpPr>
          <p:cNvPr id="30" name="Text 28"/>
          <p:cNvSpPr/>
          <p:nvPr/>
        </p:nvSpPr>
        <p:spPr>
          <a:xfrm>
            <a:off x="2745343" y="4766314"/>
            <a:ext cx="2038350" cy="190500"/>
          </a:xfrm>
          <a:prstGeom prst="rect">
            <a:avLst/>
          </a:prstGeom>
          <a:noFill/>
          <a:ln/>
        </p:spPr>
        <p:txBody>
          <a:bodyPr wrap="square" lIns="0" tIns="0" rIns="0" bIns="0" rtlCol="0" anchor="ctr"/>
          <a:lstStyle/>
          <a:p>
            <a:pPr algn="ctr">
              <a:lnSpc>
                <a:spcPct val="120000"/>
              </a:lnSpc>
            </a:pPr>
            <a:r>
              <a:rPr lang="en-US" sz="1050" dirty="0">
                <a:solidFill>
                  <a:srgbClr val="8F8F8F"/>
                </a:solidFill>
                <a:latin typeface="Liter" pitchFamily="34" charset="0"/>
                <a:ea typeface="Liter" pitchFamily="34" charset="-122"/>
                <a:cs typeface="Liter" pitchFamily="34" charset="-120"/>
              </a:rPr>
              <a:t>Reduce bills by 20-30%</a:t>
            </a:r>
            <a:endParaRPr lang="en-US" sz="1600" dirty="0"/>
          </a:p>
        </p:txBody>
      </p:sp>
      <p:sp>
        <p:nvSpPr>
          <p:cNvPr id="31" name="Shape 29"/>
          <p:cNvSpPr/>
          <p:nvPr/>
        </p:nvSpPr>
        <p:spPr>
          <a:xfrm>
            <a:off x="4902161" y="4232914"/>
            <a:ext cx="2124075" cy="800100"/>
          </a:xfrm>
          <a:prstGeom prst="roundRect">
            <a:avLst>
              <a:gd name="adj" fmla="val 9524"/>
            </a:avLst>
          </a:prstGeom>
          <a:solidFill>
            <a:srgbClr val="191919"/>
          </a:solidFill>
          <a:ln/>
        </p:spPr>
      </p:sp>
      <p:sp>
        <p:nvSpPr>
          <p:cNvPr id="32" name="Shape 30"/>
          <p:cNvSpPr/>
          <p:nvPr/>
        </p:nvSpPr>
        <p:spPr>
          <a:xfrm>
            <a:off x="5849541" y="4309114"/>
            <a:ext cx="228600" cy="228600"/>
          </a:xfrm>
          <a:custGeom>
            <a:avLst/>
            <a:gdLst/>
            <a:ahLst/>
            <a:cxnLst/>
            <a:rect l="l" t="t" r="r" b="b"/>
            <a:pathLst>
              <a:path w="228600" h="228600">
                <a:moveTo>
                  <a:pt x="114300" y="0"/>
                </a:moveTo>
                <a:cubicBezTo>
                  <a:pt x="116354" y="0"/>
                  <a:pt x="118408" y="446"/>
                  <a:pt x="120283" y="1295"/>
                </a:cubicBezTo>
                <a:lnTo>
                  <a:pt x="204401" y="36969"/>
                </a:lnTo>
                <a:cubicBezTo>
                  <a:pt x="214223" y="41121"/>
                  <a:pt x="221546" y="50810"/>
                  <a:pt x="221501" y="62508"/>
                </a:cubicBezTo>
                <a:cubicBezTo>
                  <a:pt x="221278" y="106799"/>
                  <a:pt x="203061" y="187836"/>
                  <a:pt x="126132" y="224671"/>
                </a:cubicBezTo>
                <a:cubicBezTo>
                  <a:pt x="118676" y="228243"/>
                  <a:pt x="110014" y="228243"/>
                  <a:pt x="102557" y="224671"/>
                </a:cubicBezTo>
                <a:cubicBezTo>
                  <a:pt x="25584" y="187836"/>
                  <a:pt x="7412" y="106799"/>
                  <a:pt x="7188" y="62508"/>
                </a:cubicBezTo>
                <a:cubicBezTo>
                  <a:pt x="7144" y="50810"/>
                  <a:pt x="14466" y="41121"/>
                  <a:pt x="24289" y="36969"/>
                </a:cubicBezTo>
                <a:lnTo>
                  <a:pt x="108362" y="1295"/>
                </a:lnTo>
                <a:cubicBezTo>
                  <a:pt x="110237" y="446"/>
                  <a:pt x="112246" y="0"/>
                  <a:pt x="114300" y="0"/>
                </a:cubicBezTo>
                <a:close/>
                <a:moveTo>
                  <a:pt x="114300" y="29825"/>
                </a:moveTo>
                <a:lnTo>
                  <a:pt x="114300" y="198641"/>
                </a:lnTo>
                <a:cubicBezTo>
                  <a:pt x="175915" y="168816"/>
                  <a:pt x="192479" y="102736"/>
                  <a:pt x="192881" y="63178"/>
                </a:cubicBezTo>
                <a:lnTo>
                  <a:pt x="114300" y="29870"/>
                </a:lnTo>
                <a:lnTo>
                  <a:pt x="114300" y="29870"/>
                </a:lnTo>
                <a:close/>
              </a:path>
            </a:pathLst>
          </a:custGeom>
          <a:solidFill>
            <a:srgbClr val="F0B100"/>
          </a:solidFill>
          <a:ln/>
        </p:spPr>
      </p:sp>
      <p:sp>
        <p:nvSpPr>
          <p:cNvPr id="33" name="Text 31"/>
          <p:cNvSpPr/>
          <p:nvPr/>
        </p:nvSpPr>
        <p:spPr>
          <a:xfrm>
            <a:off x="4945023" y="4575814"/>
            <a:ext cx="2038350" cy="190500"/>
          </a:xfrm>
          <a:prstGeom prst="rect">
            <a:avLst/>
          </a:prstGeom>
          <a:noFill/>
          <a:ln/>
        </p:spPr>
        <p:txBody>
          <a:bodyPr wrap="square" lIns="0" tIns="0" rIns="0" bIns="0" rtlCol="0" anchor="ctr"/>
          <a:lstStyle/>
          <a:p>
            <a:pPr algn="ctr">
              <a:lnSpc>
                <a:spcPct val="120000"/>
              </a:lnSpc>
            </a:pPr>
            <a:r>
              <a:rPr lang="en-US" sz="1050" b="1" dirty="0">
                <a:solidFill>
                  <a:srgbClr val="EFEFEF"/>
                </a:solidFill>
                <a:latin typeface="Liter" pitchFamily="34" charset="0"/>
                <a:ea typeface="Liter" pitchFamily="34" charset="-122"/>
                <a:cs typeface="Liter" pitchFamily="34" charset="-120"/>
              </a:rPr>
              <a:t>Security</a:t>
            </a:r>
            <a:endParaRPr lang="en-US" sz="1600" dirty="0"/>
          </a:p>
        </p:txBody>
      </p:sp>
      <p:sp>
        <p:nvSpPr>
          <p:cNvPr id="34" name="Text 32"/>
          <p:cNvSpPr/>
          <p:nvPr/>
        </p:nvSpPr>
        <p:spPr>
          <a:xfrm>
            <a:off x="4945023" y="4766314"/>
            <a:ext cx="2038350" cy="190500"/>
          </a:xfrm>
          <a:prstGeom prst="rect">
            <a:avLst/>
          </a:prstGeom>
          <a:noFill/>
          <a:ln/>
        </p:spPr>
        <p:txBody>
          <a:bodyPr wrap="square" lIns="0" tIns="0" rIns="0" bIns="0" rtlCol="0" anchor="ctr"/>
          <a:lstStyle/>
          <a:p>
            <a:pPr algn="ctr">
              <a:lnSpc>
                <a:spcPct val="120000"/>
              </a:lnSpc>
            </a:pPr>
            <a:r>
              <a:rPr lang="en-US" sz="1050" dirty="0">
                <a:solidFill>
                  <a:srgbClr val="8F8F8F"/>
                </a:solidFill>
                <a:latin typeface="Liter" pitchFamily="34" charset="0"/>
                <a:ea typeface="Liter" pitchFamily="34" charset="-122"/>
                <a:cs typeface="Liter" pitchFamily="34" charset="-120"/>
              </a:rPr>
              <a:t>Monitor home 24/7</a:t>
            </a:r>
            <a:endParaRPr lang="en-US" sz="1600" dirty="0"/>
          </a:p>
        </p:txBody>
      </p:sp>
      <p:sp>
        <p:nvSpPr>
          <p:cNvPr id="35" name="Shape 33"/>
          <p:cNvSpPr/>
          <p:nvPr/>
        </p:nvSpPr>
        <p:spPr>
          <a:xfrm>
            <a:off x="7303770" y="1108710"/>
            <a:ext cx="4503420" cy="1798320"/>
          </a:xfrm>
          <a:prstGeom prst="roundRect">
            <a:avLst>
              <a:gd name="adj" fmla="val 6356"/>
            </a:avLst>
          </a:prstGeom>
          <a:gradFill rotWithShape="1" flip="none">
            <a:gsLst>
              <a:gs pos="0">
                <a:srgbClr val="F0B100">
                  <a:alpha val="20000"/>
                </a:srgbClr>
              </a:gs>
              <a:gs pos="100000">
                <a:srgbClr val="F0B100">
                  <a:alpha val="5000"/>
                </a:srgbClr>
              </a:gs>
            </a:gsLst>
            <a:lin ang="2700000" scaled="1"/>
          </a:gradFill>
          <a:ln w="10160">
            <a:solidFill>
              <a:srgbClr val="F0B100"/>
            </a:solidFill>
            <a:prstDash val="solid"/>
          </a:ln>
        </p:spPr>
      </p:sp>
      <p:sp>
        <p:nvSpPr>
          <p:cNvPr id="36" name="Shape 34"/>
          <p:cNvSpPr/>
          <p:nvPr/>
        </p:nvSpPr>
        <p:spPr>
          <a:xfrm>
            <a:off x="7469505" y="1264927"/>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F0B100"/>
          </a:solidFill>
          <a:ln/>
        </p:spPr>
      </p:sp>
      <p:sp>
        <p:nvSpPr>
          <p:cNvPr id="37" name="Text 35"/>
          <p:cNvSpPr/>
          <p:nvPr/>
        </p:nvSpPr>
        <p:spPr>
          <a:xfrm>
            <a:off x="7736205" y="1226827"/>
            <a:ext cx="1809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Real-World Example</a:t>
            </a:r>
            <a:endParaRPr lang="en-US" sz="1600" dirty="0"/>
          </a:p>
        </p:txBody>
      </p:sp>
      <p:sp>
        <p:nvSpPr>
          <p:cNvPr id="38" name="Shape 36"/>
          <p:cNvSpPr/>
          <p:nvPr/>
        </p:nvSpPr>
        <p:spPr>
          <a:xfrm>
            <a:off x="7421880" y="1569727"/>
            <a:ext cx="4267200" cy="1219200"/>
          </a:xfrm>
          <a:prstGeom prst="roundRect">
            <a:avLst>
              <a:gd name="adj" fmla="val 6250"/>
            </a:avLst>
          </a:prstGeom>
          <a:solidFill>
            <a:srgbClr val="191919"/>
          </a:solidFill>
          <a:ln/>
        </p:spPr>
      </p:sp>
      <p:sp>
        <p:nvSpPr>
          <p:cNvPr id="39" name="Text 37"/>
          <p:cNvSpPr/>
          <p:nvPr/>
        </p:nvSpPr>
        <p:spPr>
          <a:xfrm>
            <a:off x="7536180" y="1684027"/>
            <a:ext cx="4124325" cy="266700"/>
          </a:xfrm>
          <a:prstGeom prst="rect">
            <a:avLst/>
          </a:prstGeom>
          <a:noFill/>
          <a:ln/>
        </p:spPr>
        <p:txBody>
          <a:bodyPr wrap="square" lIns="0" tIns="0" rIns="0" bIns="0" rtlCol="0" anchor="ctr"/>
          <a:lstStyle/>
          <a:p>
            <a:pPr>
              <a:lnSpc>
                <a:spcPct val="130000"/>
              </a:lnSpc>
            </a:pPr>
            <a:r>
              <a:rPr lang="en-US" sz="1350" b="1" dirty="0">
                <a:solidFill>
                  <a:srgbClr val="F0B100"/>
                </a:solidFill>
                <a:latin typeface="Liter" pitchFamily="34" charset="0"/>
                <a:ea typeface="Liter" pitchFamily="34" charset="-122"/>
                <a:cs typeface="Liter" pitchFamily="34" charset="-120"/>
              </a:rPr>
              <a:t>Smart Home Routine</a:t>
            </a:r>
            <a:endParaRPr lang="en-US" sz="1600" dirty="0"/>
          </a:p>
        </p:txBody>
      </p:sp>
      <p:sp>
        <p:nvSpPr>
          <p:cNvPr id="40" name="Text 38"/>
          <p:cNvSpPr/>
          <p:nvPr/>
        </p:nvSpPr>
        <p:spPr>
          <a:xfrm>
            <a:off x="7536180" y="1988827"/>
            <a:ext cx="41148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Say "Good morning" and your AI assistant: turns on lights, starts coffee, reads news, adjusts thermostat, and checks your calendar. It's like having a personal butler!</a:t>
            </a:r>
            <a:endParaRPr lang="en-US" sz="1600" dirty="0"/>
          </a:p>
        </p:txBody>
      </p:sp>
      <p:sp>
        <p:nvSpPr>
          <p:cNvPr id="41" name="Shape 39"/>
          <p:cNvSpPr/>
          <p:nvPr/>
        </p:nvSpPr>
        <p:spPr>
          <a:xfrm>
            <a:off x="7303770" y="2990846"/>
            <a:ext cx="4503420" cy="1264920"/>
          </a:xfrm>
          <a:prstGeom prst="roundRect">
            <a:avLst>
              <a:gd name="adj" fmla="val 9036"/>
            </a:avLst>
          </a:prstGeom>
          <a:solidFill>
            <a:srgbClr val="262626"/>
          </a:solidFill>
          <a:ln w="10160">
            <a:solidFill>
              <a:srgbClr val="333333"/>
            </a:solidFill>
            <a:prstDash val="solid"/>
          </a:ln>
        </p:spPr>
      </p:sp>
      <p:sp>
        <p:nvSpPr>
          <p:cNvPr id="42" name="Text 40"/>
          <p:cNvSpPr/>
          <p:nvPr/>
        </p:nvSpPr>
        <p:spPr>
          <a:xfrm>
            <a:off x="7421880" y="3108964"/>
            <a:ext cx="43529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 Simple Explanation</a:t>
            </a:r>
            <a:endParaRPr lang="en-US" sz="1600" dirty="0"/>
          </a:p>
        </p:txBody>
      </p:sp>
      <p:sp>
        <p:nvSpPr>
          <p:cNvPr id="43" name="Text 41"/>
          <p:cNvSpPr/>
          <p:nvPr/>
        </p:nvSpPr>
        <p:spPr>
          <a:xfrm>
            <a:off x="7421880" y="3451864"/>
            <a:ext cx="43434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Smart devices are like giving your home a brain. They learn your habits, anticipate your needs, and make life more comfortable—all while saving energy and keeping you safe!</a:t>
            </a:r>
            <a:endParaRPr lang="en-US" sz="1600" dirty="0"/>
          </a:p>
        </p:txBody>
      </p:sp>
      <p:sp>
        <p:nvSpPr>
          <p:cNvPr id="44" name="Shape 42"/>
          <p:cNvSpPr/>
          <p:nvPr/>
        </p:nvSpPr>
        <p:spPr>
          <a:xfrm>
            <a:off x="7303770" y="4339601"/>
            <a:ext cx="4503420" cy="1874520"/>
          </a:xfrm>
          <a:prstGeom prst="roundRect">
            <a:avLst>
              <a:gd name="adj" fmla="val 6098"/>
            </a:avLst>
          </a:prstGeom>
          <a:solidFill>
            <a:srgbClr val="262626"/>
          </a:solidFill>
          <a:ln w="10160">
            <a:solidFill>
              <a:srgbClr val="333333"/>
            </a:solidFill>
            <a:prstDash val="solid"/>
          </a:ln>
        </p:spPr>
      </p:sp>
      <p:sp>
        <p:nvSpPr>
          <p:cNvPr id="45" name="Shape 43"/>
          <p:cNvSpPr/>
          <p:nvPr/>
        </p:nvSpPr>
        <p:spPr>
          <a:xfrm>
            <a:off x="7456408" y="4505325"/>
            <a:ext cx="150019" cy="171450"/>
          </a:xfrm>
          <a:custGeom>
            <a:avLst/>
            <a:gdLst/>
            <a:ahLst/>
            <a:cxnLst/>
            <a:rect l="l" t="t" r="r" b="b"/>
            <a:pathLst>
              <a:path w="150019" h="171450">
                <a:moveTo>
                  <a:pt x="21431" y="10716"/>
                </a:moveTo>
                <a:cubicBezTo>
                  <a:pt x="9611" y="10716"/>
                  <a:pt x="0" y="20326"/>
                  <a:pt x="0" y="32147"/>
                </a:cubicBezTo>
                <a:lnTo>
                  <a:pt x="0" y="139303"/>
                </a:lnTo>
                <a:cubicBezTo>
                  <a:pt x="0" y="151124"/>
                  <a:pt x="9611" y="160734"/>
                  <a:pt x="21431" y="160734"/>
                </a:cubicBezTo>
                <a:lnTo>
                  <a:pt x="128588" y="160734"/>
                </a:lnTo>
                <a:cubicBezTo>
                  <a:pt x="140408" y="160734"/>
                  <a:pt x="150019" y="151124"/>
                  <a:pt x="150019" y="139303"/>
                </a:cubicBezTo>
                <a:lnTo>
                  <a:pt x="150019" y="32147"/>
                </a:lnTo>
                <a:cubicBezTo>
                  <a:pt x="150019" y="20326"/>
                  <a:pt x="140408" y="10716"/>
                  <a:pt x="128588" y="10716"/>
                </a:cubicBezTo>
                <a:lnTo>
                  <a:pt x="21431" y="10716"/>
                </a:lnTo>
                <a:close/>
                <a:moveTo>
                  <a:pt x="42863" y="37505"/>
                </a:moveTo>
                <a:cubicBezTo>
                  <a:pt x="51734" y="37505"/>
                  <a:pt x="58936" y="44707"/>
                  <a:pt x="58936" y="53578"/>
                </a:cubicBezTo>
                <a:cubicBezTo>
                  <a:pt x="58936" y="62449"/>
                  <a:pt x="51734" y="69652"/>
                  <a:pt x="42863" y="69652"/>
                </a:cubicBezTo>
                <a:cubicBezTo>
                  <a:pt x="33991" y="69652"/>
                  <a:pt x="26789" y="62449"/>
                  <a:pt x="26789" y="53578"/>
                </a:cubicBezTo>
                <a:cubicBezTo>
                  <a:pt x="26789" y="44707"/>
                  <a:pt x="33991" y="37505"/>
                  <a:pt x="42863" y="37505"/>
                </a:cubicBezTo>
                <a:close/>
                <a:moveTo>
                  <a:pt x="91083" y="75009"/>
                </a:moveTo>
                <a:cubicBezTo>
                  <a:pt x="93896" y="75009"/>
                  <a:pt x="96474" y="76483"/>
                  <a:pt x="97948" y="78860"/>
                </a:cubicBezTo>
                <a:lnTo>
                  <a:pt x="127415" y="127081"/>
                </a:lnTo>
                <a:cubicBezTo>
                  <a:pt x="128922" y="129559"/>
                  <a:pt x="128989" y="132673"/>
                  <a:pt x="127583" y="135218"/>
                </a:cubicBezTo>
                <a:cubicBezTo>
                  <a:pt x="126176" y="137763"/>
                  <a:pt x="123464" y="139303"/>
                  <a:pt x="120551" y="139303"/>
                </a:cubicBezTo>
                <a:lnTo>
                  <a:pt x="29468" y="139303"/>
                </a:lnTo>
                <a:cubicBezTo>
                  <a:pt x="26488" y="139303"/>
                  <a:pt x="23708" y="137629"/>
                  <a:pt x="22335" y="134983"/>
                </a:cubicBezTo>
                <a:cubicBezTo>
                  <a:pt x="20962" y="132338"/>
                  <a:pt x="21163" y="129123"/>
                  <a:pt x="22871" y="126679"/>
                </a:cubicBezTo>
                <a:lnTo>
                  <a:pt x="41624" y="99890"/>
                </a:lnTo>
                <a:cubicBezTo>
                  <a:pt x="43130" y="97747"/>
                  <a:pt x="45575" y="96474"/>
                  <a:pt x="48220" y="96474"/>
                </a:cubicBezTo>
                <a:cubicBezTo>
                  <a:pt x="50866" y="96474"/>
                  <a:pt x="53310" y="97747"/>
                  <a:pt x="54817" y="99890"/>
                </a:cubicBezTo>
                <a:lnTo>
                  <a:pt x="63658" y="112548"/>
                </a:lnTo>
                <a:lnTo>
                  <a:pt x="84218" y="78894"/>
                </a:lnTo>
                <a:cubicBezTo>
                  <a:pt x="85692" y="76516"/>
                  <a:pt x="88270" y="75043"/>
                  <a:pt x="91083" y="75043"/>
                </a:cubicBezTo>
                <a:close/>
              </a:path>
            </a:pathLst>
          </a:custGeom>
          <a:solidFill>
            <a:srgbClr val="F0B100"/>
          </a:solidFill>
          <a:ln/>
        </p:spPr>
      </p:sp>
      <p:sp>
        <p:nvSpPr>
          <p:cNvPr id="46" name="Text 44"/>
          <p:cNvSpPr/>
          <p:nvPr/>
        </p:nvSpPr>
        <p:spPr>
          <a:xfrm>
            <a:off x="7640955" y="4457700"/>
            <a:ext cx="41338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Visual</a:t>
            </a:r>
            <a:endParaRPr lang="en-US" sz="1600" dirty="0"/>
          </a:p>
        </p:txBody>
      </p:sp>
      <p:sp>
        <p:nvSpPr>
          <p:cNvPr id="47" name="Shape 45"/>
          <p:cNvSpPr/>
          <p:nvPr/>
        </p:nvSpPr>
        <p:spPr>
          <a:xfrm>
            <a:off x="7421880" y="4800600"/>
            <a:ext cx="4267200" cy="609600"/>
          </a:xfrm>
          <a:prstGeom prst="roundRect">
            <a:avLst>
              <a:gd name="adj" fmla="val 12500"/>
            </a:avLst>
          </a:prstGeom>
          <a:solidFill>
            <a:srgbClr val="191919"/>
          </a:solidFill>
          <a:ln/>
        </p:spPr>
      </p:sp>
      <p:sp>
        <p:nvSpPr>
          <p:cNvPr id="48" name="Text 46"/>
          <p:cNvSpPr/>
          <p:nvPr/>
        </p:nvSpPr>
        <p:spPr>
          <a:xfrm>
            <a:off x="7498080" y="48768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Diagram:</a:t>
            </a:r>
            <a:endParaRPr lang="en-US" sz="1600" dirty="0"/>
          </a:p>
        </p:txBody>
      </p:sp>
      <p:sp>
        <p:nvSpPr>
          <p:cNvPr id="49" name="Text 47"/>
          <p:cNvSpPr/>
          <p:nvPr/>
        </p:nvSpPr>
        <p:spPr>
          <a:xfrm>
            <a:off x="7498080" y="51054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Voice Command → AI Hub → Smart Devices Respond</a:t>
            </a:r>
            <a:endParaRPr lang="en-US" sz="1600" dirty="0"/>
          </a:p>
        </p:txBody>
      </p:sp>
      <p:sp>
        <p:nvSpPr>
          <p:cNvPr id="50" name="Shape 48"/>
          <p:cNvSpPr/>
          <p:nvPr/>
        </p:nvSpPr>
        <p:spPr>
          <a:xfrm>
            <a:off x="7421880" y="5486400"/>
            <a:ext cx="4267200" cy="609600"/>
          </a:xfrm>
          <a:prstGeom prst="roundRect">
            <a:avLst>
              <a:gd name="adj" fmla="val 12500"/>
            </a:avLst>
          </a:prstGeom>
          <a:solidFill>
            <a:srgbClr val="191919"/>
          </a:solidFill>
          <a:ln/>
        </p:spPr>
      </p:sp>
      <p:sp>
        <p:nvSpPr>
          <p:cNvPr id="51" name="Text 49"/>
          <p:cNvSpPr/>
          <p:nvPr/>
        </p:nvSpPr>
        <p:spPr>
          <a:xfrm>
            <a:off x="7498080" y="55626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Image:</a:t>
            </a:r>
            <a:endParaRPr lang="en-US" sz="1600" dirty="0"/>
          </a:p>
        </p:txBody>
      </p:sp>
      <p:sp>
        <p:nvSpPr>
          <p:cNvPr id="52" name="Text 50"/>
          <p:cNvSpPr/>
          <p:nvPr/>
        </p:nvSpPr>
        <p:spPr>
          <a:xfrm>
            <a:off x="7498080" y="57912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Modern smart home with connected devices</a:t>
            </a:r>
            <a:endParaRPr lang="en-US" sz="1600" dirty="0"/>
          </a:p>
        </p:txBody>
      </p:sp>
    </p:spTree>
  </p:cSld>
  <p:clrMapOvr>
    <a:masterClrMapping/>
  </p:clrMapOvr>
  <p:transition>
    <p:fade/>
    <p:spd val="med"/>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91919"/>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6366F1">
              <a:alpha val="20000"/>
            </a:srgbClr>
          </a:solidFill>
          <a:ln/>
        </p:spPr>
      </p:sp>
      <p:sp>
        <p:nvSpPr>
          <p:cNvPr id="3" name="Text 1"/>
          <p:cNvSpPr/>
          <p:nvPr/>
        </p:nvSpPr>
        <p:spPr>
          <a:xfrm>
            <a:off x="497205" y="533400"/>
            <a:ext cx="323850" cy="266700"/>
          </a:xfrm>
          <a:prstGeom prst="rect">
            <a:avLst/>
          </a:prstGeom>
          <a:noFill/>
          <a:ln/>
        </p:spPr>
        <p:txBody>
          <a:bodyPr wrap="square" lIns="0" tIns="0" rIns="0" bIns="0" rtlCol="0" anchor="ctr"/>
          <a:lstStyle/>
          <a:p>
            <a:pPr>
              <a:lnSpc>
                <a:spcPct val="120000"/>
              </a:lnSpc>
            </a:pPr>
            <a:r>
              <a:rPr lang="en-US" sz="1500" b="1" dirty="0">
                <a:solidFill>
                  <a:srgbClr val="6366F1"/>
                </a:solidFill>
                <a:latin typeface="Liter" pitchFamily="34" charset="0"/>
                <a:ea typeface="Liter" pitchFamily="34" charset="-122"/>
                <a:cs typeface="Liter" pitchFamily="34" charset="-120"/>
              </a:rPr>
              <a:t>26</a:t>
            </a:r>
            <a:endParaRPr lang="en-US" sz="1600" dirty="0"/>
          </a:p>
        </p:txBody>
      </p:sp>
      <p:sp>
        <p:nvSpPr>
          <p:cNvPr id="4" name="Text 2"/>
          <p:cNvSpPr/>
          <p:nvPr/>
        </p:nvSpPr>
        <p:spPr>
          <a:xfrm>
            <a:off x="952500" y="381000"/>
            <a:ext cx="4581525" cy="190500"/>
          </a:xfrm>
          <a:prstGeom prst="rect">
            <a:avLst/>
          </a:prstGeom>
          <a:noFill/>
          <a:ln/>
        </p:spPr>
        <p:txBody>
          <a:bodyPr wrap="square" lIns="0" tIns="0" rIns="0" bIns="0" rtlCol="0" anchor="ctr"/>
          <a:lstStyle/>
          <a:p>
            <a:pPr>
              <a:lnSpc>
                <a:spcPct val="120000"/>
              </a:lnSpc>
            </a:pPr>
            <a:r>
              <a:rPr lang="en-US" sz="1050" b="1" spc="53" kern="0" dirty="0">
                <a:solidFill>
                  <a:srgbClr val="6366F1"/>
                </a:solidFill>
                <a:latin typeface="Liter" pitchFamily="34" charset="0"/>
                <a:ea typeface="Liter" pitchFamily="34" charset="-122"/>
                <a:cs typeface="Liter" pitchFamily="34" charset="-120"/>
              </a:rPr>
              <a:t>Future of AI</a:t>
            </a:r>
            <a:endParaRPr lang="en-US" sz="1600" dirty="0"/>
          </a:p>
        </p:txBody>
      </p:sp>
      <p:sp>
        <p:nvSpPr>
          <p:cNvPr id="5" name="Text 3"/>
          <p:cNvSpPr/>
          <p:nvPr/>
        </p:nvSpPr>
        <p:spPr>
          <a:xfrm>
            <a:off x="952500" y="571500"/>
            <a:ext cx="4686300"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Amazing Opportunities Ahead</a:t>
            </a:r>
            <a:endParaRPr lang="en-US" sz="1600" dirty="0"/>
          </a:p>
        </p:txBody>
      </p:sp>
      <p:sp>
        <p:nvSpPr>
          <p:cNvPr id="6" name="Shape 4"/>
          <p:cNvSpPr/>
          <p:nvPr/>
        </p:nvSpPr>
        <p:spPr>
          <a:xfrm>
            <a:off x="384810" y="1108710"/>
            <a:ext cx="3722370" cy="2065020"/>
          </a:xfrm>
          <a:prstGeom prst="roundRect">
            <a:avLst>
              <a:gd name="adj" fmla="val 5535"/>
            </a:avLst>
          </a:prstGeom>
          <a:solidFill>
            <a:srgbClr val="262626"/>
          </a:solidFill>
          <a:ln w="10160">
            <a:solidFill>
              <a:srgbClr val="333333"/>
            </a:solidFill>
            <a:prstDash val="solid"/>
          </a:ln>
        </p:spPr>
      </p:sp>
      <p:sp>
        <p:nvSpPr>
          <p:cNvPr id="7" name="Shape 5"/>
          <p:cNvSpPr/>
          <p:nvPr/>
        </p:nvSpPr>
        <p:spPr>
          <a:xfrm>
            <a:off x="502920" y="1226827"/>
            <a:ext cx="381000" cy="381000"/>
          </a:xfrm>
          <a:prstGeom prst="roundRect">
            <a:avLst>
              <a:gd name="adj" fmla="val 20000"/>
            </a:avLst>
          </a:prstGeom>
          <a:solidFill>
            <a:srgbClr val="00C950">
              <a:alpha val="20000"/>
            </a:srgbClr>
          </a:solidFill>
          <a:ln/>
        </p:spPr>
      </p:sp>
      <p:sp>
        <p:nvSpPr>
          <p:cNvPr id="8" name="Shape 6"/>
          <p:cNvSpPr/>
          <p:nvPr/>
        </p:nvSpPr>
        <p:spPr>
          <a:xfrm>
            <a:off x="617220" y="1341127"/>
            <a:ext cx="152400" cy="152400"/>
          </a:xfrm>
          <a:custGeom>
            <a:avLst/>
            <a:gdLst/>
            <a:ahLst/>
            <a:cxnLst/>
            <a:rect l="l" t="t" r="r" b="b"/>
            <a:pathLst>
              <a:path w="152400" h="152400">
                <a:moveTo>
                  <a:pt x="140285" y="1994"/>
                </a:moveTo>
                <a:cubicBezTo>
                  <a:pt x="142190" y="179"/>
                  <a:pt x="144959" y="-476"/>
                  <a:pt x="147518" y="357"/>
                </a:cubicBezTo>
                <a:cubicBezTo>
                  <a:pt x="150435" y="1339"/>
                  <a:pt x="152400" y="4078"/>
                  <a:pt x="152400" y="7144"/>
                </a:cubicBezTo>
                <a:lnTo>
                  <a:pt x="152400" y="62776"/>
                </a:lnTo>
                <a:cubicBezTo>
                  <a:pt x="152400" y="101828"/>
                  <a:pt x="120223" y="133350"/>
                  <a:pt x="81320" y="133350"/>
                </a:cubicBezTo>
                <a:cubicBezTo>
                  <a:pt x="58400" y="133350"/>
                  <a:pt x="38636" y="118616"/>
                  <a:pt x="31462" y="98018"/>
                </a:cubicBezTo>
                <a:cubicBezTo>
                  <a:pt x="20925" y="107186"/>
                  <a:pt x="14287" y="120670"/>
                  <a:pt x="14287" y="135731"/>
                </a:cubicBezTo>
                <a:cubicBezTo>
                  <a:pt x="14287" y="139690"/>
                  <a:pt x="11103" y="142875"/>
                  <a:pt x="7144" y="142875"/>
                </a:cubicBezTo>
                <a:cubicBezTo>
                  <a:pt x="3185" y="142875"/>
                  <a:pt x="0" y="139690"/>
                  <a:pt x="0" y="135731"/>
                </a:cubicBezTo>
                <a:cubicBezTo>
                  <a:pt x="0" y="113437"/>
                  <a:pt x="11370" y="93791"/>
                  <a:pt x="28605" y="82242"/>
                </a:cubicBezTo>
                <a:cubicBezTo>
                  <a:pt x="39112" y="75218"/>
                  <a:pt x="51643" y="71438"/>
                  <a:pt x="64294" y="71438"/>
                </a:cubicBezTo>
                <a:lnTo>
                  <a:pt x="88106" y="71438"/>
                </a:lnTo>
                <a:cubicBezTo>
                  <a:pt x="92065" y="71438"/>
                  <a:pt x="95250" y="68253"/>
                  <a:pt x="95250" y="64294"/>
                </a:cubicBezTo>
                <a:cubicBezTo>
                  <a:pt x="95250" y="60335"/>
                  <a:pt x="92065" y="57150"/>
                  <a:pt x="88106" y="57150"/>
                </a:cubicBezTo>
                <a:lnTo>
                  <a:pt x="64294" y="57150"/>
                </a:lnTo>
                <a:cubicBezTo>
                  <a:pt x="52477" y="57150"/>
                  <a:pt x="41285" y="59769"/>
                  <a:pt x="31254" y="64443"/>
                </a:cubicBezTo>
                <a:cubicBezTo>
                  <a:pt x="38189" y="43607"/>
                  <a:pt x="57805" y="28575"/>
                  <a:pt x="80962" y="28575"/>
                </a:cubicBezTo>
                <a:cubicBezTo>
                  <a:pt x="100727" y="28575"/>
                  <a:pt x="115431" y="21997"/>
                  <a:pt x="125224" y="15478"/>
                </a:cubicBezTo>
                <a:cubicBezTo>
                  <a:pt x="130939" y="11668"/>
                  <a:pt x="135791" y="7114"/>
                  <a:pt x="140315" y="1994"/>
                </a:cubicBezTo>
                <a:close/>
              </a:path>
            </a:pathLst>
          </a:custGeom>
          <a:solidFill>
            <a:srgbClr val="00C950"/>
          </a:solidFill>
          <a:ln/>
        </p:spPr>
      </p:sp>
      <p:sp>
        <p:nvSpPr>
          <p:cNvPr id="9" name="Text 7"/>
          <p:cNvSpPr/>
          <p:nvPr/>
        </p:nvSpPr>
        <p:spPr>
          <a:xfrm>
            <a:off x="960120" y="1283977"/>
            <a:ext cx="128587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Climate Change</a:t>
            </a:r>
            <a:endParaRPr lang="en-US" sz="1600" dirty="0"/>
          </a:p>
        </p:txBody>
      </p:sp>
      <p:sp>
        <p:nvSpPr>
          <p:cNvPr id="10" name="Text 8"/>
          <p:cNvSpPr/>
          <p:nvPr/>
        </p:nvSpPr>
        <p:spPr>
          <a:xfrm>
            <a:off x="502920" y="1684027"/>
            <a:ext cx="3562350" cy="9525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AI optimizes energy use, predicts weather patterns, and develops clean energy solutions to combat global warming.</a:t>
            </a:r>
            <a:endParaRPr lang="en-US" sz="1600" dirty="0"/>
          </a:p>
        </p:txBody>
      </p:sp>
      <p:sp>
        <p:nvSpPr>
          <p:cNvPr id="11" name="Shape 9"/>
          <p:cNvSpPr/>
          <p:nvPr/>
        </p:nvSpPr>
        <p:spPr>
          <a:xfrm>
            <a:off x="502920" y="2708914"/>
            <a:ext cx="3486150" cy="342900"/>
          </a:xfrm>
          <a:prstGeom prst="roundRect">
            <a:avLst>
              <a:gd name="adj" fmla="val 11111"/>
            </a:avLst>
          </a:prstGeom>
          <a:solidFill>
            <a:srgbClr val="191919"/>
          </a:solidFill>
          <a:ln/>
        </p:spPr>
      </p:sp>
      <p:sp>
        <p:nvSpPr>
          <p:cNvPr id="12" name="Text 10"/>
          <p:cNvSpPr/>
          <p:nvPr/>
        </p:nvSpPr>
        <p:spPr>
          <a:xfrm>
            <a:off x="579120" y="2785114"/>
            <a:ext cx="34004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Impact: Could reduce emissions by 15%</a:t>
            </a:r>
            <a:endParaRPr lang="en-US" sz="1600" dirty="0"/>
          </a:p>
        </p:txBody>
      </p:sp>
      <p:sp>
        <p:nvSpPr>
          <p:cNvPr id="13" name="Shape 11"/>
          <p:cNvSpPr/>
          <p:nvPr/>
        </p:nvSpPr>
        <p:spPr>
          <a:xfrm>
            <a:off x="4232910" y="1108710"/>
            <a:ext cx="3722370" cy="2065020"/>
          </a:xfrm>
          <a:prstGeom prst="roundRect">
            <a:avLst>
              <a:gd name="adj" fmla="val 5535"/>
            </a:avLst>
          </a:prstGeom>
          <a:solidFill>
            <a:srgbClr val="262626"/>
          </a:solidFill>
          <a:ln w="10160">
            <a:solidFill>
              <a:srgbClr val="333333"/>
            </a:solidFill>
            <a:prstDash val="solid"/>
          </a:ln>
        </p:spPr>
      </p:sp>
      <p:sp>
        <p:nvSpPr>
          <p:cNvPr id="14" name="Shape 12"/>
          <p:cNvSpPr/>
          <p:nvPr/>
        </p:nvSpPr>
        <p:spPr>
          <a:xfrm>
            <a:off x="4351020" y="1226827"/>
            <a:ext cx="381000" cy="381000"/>
          </a:xfrm>
          <a:prstGeom prst="roundRect">
            <a:avLst>
              <a:gd name="adj" fmla="val 20000"/>
            </a:avLst>
          </a:prstGeom>
          <a:solidFill>
            <a:srgbClr val="2B7FFF">
              <a:alpha val="20000"/>
            </a:srgbClr>
          </a:solidFill>
          <a:ln/>
        </p:spPr>
      </p:sp>
      <p:sp>
        <p:nvSpPr>
          <p:cNvPr id="15" name="Shape 13"/>
          <p:cNvSpPr/>
          <p:nvPr/>
        </p:nvSpPr>
        <p:spPr>
          <a:xfrm>
            <a:off x="4474845" y="1341127"/>
            <a:ext cx="133350" cy="152400"/>
          </a:xfrm>
          <a:custGeom>
            <a:avLst/>
            <a:gdLst/>
            <a:ahLst/>
            <a:cxnLst/>
            <a:rect l="l" t="t" r="r" b="b"/>
            <a:pathLst>
              <a:path w="133350" h="152400">
                <a:moveTo>
                  <a:pt x="85725" y="0"/>
                </a:moveTo>
                <a:lnTo>
                  <a:pt x="38100" y="0"/>
                </a:lnTo>
                <a:cubicBezTo>
                  <a:pt x="32831" y="0"/>
                  <a:pt x="28575" y="4256"/>
                  <a:pt x="28575" y="9525"/>
                </a:cubicBezTo>
                <a:cubicBezTo>
                  <a:pt x="28575" y="14794"/>
                  <a:pt x="32831" y="19050"/>
                  <a:pt x="38100" y="19050"/>
                </a:cubicBezTo>
                <a:lnTo>
                  <a:pt x="38100" y="64145"/>
                </a:lnTo>
                <a:lnTo>
                  <a:pt x="2232" y="126891"/>
                </a:lnTo>
                <a:cubicBezTo>
                  <a:pt x="774" y="129480"/>
                  <a:pt x="0" y="132368"/>
                  <a:pt x="0" y="135344"/>
                </a:cubicBezTo>
                <a:cubicBezTo>
                  <a:pt x="0" y="144780"/>
                  <a:pt x="7620" y="152400"/>
                  <a:pt x="17056" y="152400"/>
                </a:cubicBezTo>
                <a:lnTo>
                  <a:pt x="116294" y="152400"/>
                </a:lnTo>
                <a:cubicBezTo>
                  <a:pt x="125700" y="152400"/>
                  <a:pt x="133350" y="144780"/>
                  <a:pt x="133350" y="135344"/>
                </a:cubicBezTo>
                <a:cubicBezTo>
                  <a:pt x="133350" y="132368"/>
                  <a:pt x="132576" y="129451"/>
                  <a:pt x="131118" y="126891"/>
                </a:cubicBezTo>
                <a:lnTo>
                  <a:pt x="95250" y="64145"/>
                </a:lnTo>
                <a:lnTo>
                  <a:pt x="95250" y="19050"/>
                </a:lnTo>
                <a:cubicBezTo>
                  <a:pt x="100519" y="19050"/>
                  <a:pt x="104775" y="14794"/>
                  <a:pt x="104775" y="9525"/>
                </a:cubicBezTo>
                <a:cubicBezTo>
                  <a:pt x="104775" y="4256"/>
                  <a:pt x="100519" y="0"/>
                  <a:pt x="95250" y="0"/>
                </a:cubicBezTo>
                <a:lnTo>
                  <a:pt x="85725" y="0"/>
                </a:lnTo>
                <a:close/>
                <a:moveTo>
                  <a:pt x="57150" y="64145"/>
                </a:moveTo>
                <a:lnTo>
                  <a:pt x="57150" y="19050"/>
                </a:lnTo>
                <a:lnTo>
                  <a:pt x="76200" y="19050"/>
                </a:lnTo>
                <a:lnTo>
                  <a:pt x="76200" y="64145"/>
                </a:lnTo>
                <a:cubicBezTo>
                  <a:pt x="76200" y="67449"/>
                  <a:pt x="77063" y="70723"/>
                  <a:pt x="78700" y="73610"/>
                </a:cubicBezTo>
                <a:lnTo>
                  <a:pt x="91083" y="95250"/>
                </a:lnTo>
                <a:lnTo>
                  <a:pt x="42267" y="95250"/>
                </a:lnTo>
                <a:lnTo>
                  <a:pt x="54650" y="73610"/>
                </a:lnTo>
                <a:cubicBezTo>
                  <a:pt x="56287" y="70723"/>
                  <a:pt x="57150" y="67479"/>
                  <a:pt x="57150" y="64145"/>
                </a:cubicBezTo>
                <a:close/>
              </a:path>
            </a:pathLst>
          </a:custGeom>
          <a:solidFill>
            <a:srgbClr val="2B7FFF"/>
          </a:solidFill>
          <a:ln/>
        </p:spPr>
      </p:sp>
      <p:sp>
        <p:nvSpPr>
          <p:cNvPr id="16" name="Text 14"/>
          <p:cNvSpPr/>
          <p:nvPr/>
        </p:nvSpPr>
        <p:spPr>
          <a:xfrm>
            <a:off x="4808220" y="1283977"/>
            <a:ext cx="15430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Scientific Research</a:t>
            </a:r>
            <a:endParaRPr lang="en-US" sz="1600" dirty="0"/>
          </a:p>
        </p:txBody>
      </p:sp>
      <p:sp>
        <p:nvSpPr>
          <p:cNvPr id="17" name="Text 15"/>
          <p:cNvSpPr/>
          <p:nvPr/>
        </p:nvSpPr>
        <p:spPr>
          <a:xfrm>
            <a:off x="4351020" y="1684027"/>
            <a:ext cx="3562350" cy="9525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Accelerates discoveries in medicine, physics, and materials science by analyzing data humans can't process.</a:t>
            </a:r>
            <a:endParaRPr lang="en-US" sz="1600" dirty="0"/>
          </a:p>
        </p:txBody>
      </p:sp>
      <p:sp>
        <p:nvSpPr>
          <p:cNvPr id="18" name="Shape 16"/>
          <p:cNvSpPr/>
          <p:nvPr/>
        </p:nvSpPr>
        <p:spPr>
          <a:xfrm>
            <a:off x="4351020" y="2708914"/>
            <a:ext cx="3486150" cy="342900"/>
          </a:xfrm>
          <a:prstGeom prst="roundRect">
            <a:avLst>
              <a:gd name="adj" fmla="val 11111"/>
            </a:avLst>
          </a:prstGeom>
          <a:solidFill>
            <a:srgbClr val="191919"/>
          </a:solidFill>
          <a:ln/>
        </p:spPr>
      </p:sp>
      <p:sp>
        <p:nvSpPr>
          <p:cNvPr id="19" name="Text 17"/>
          <p:cNvSpPr/>
          <p:nvPr/>
        </p:nvSpPr>
        <p:spPr>
          <a:xfrm>
            <a:off x="4427220" y="2785114"/>
            <a:ext cx="34004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Impact: 10x faster breakthroughs</a:t>
            </a:r>
            <a:endParaRPr lang="en-US" sz="1600" dirty="0"/>
          </a:p>
        </p:txBody>
      </p:sp>
      <p:sp>
        <p:nvSpPr>
          <p:cNvPr id="20" name="Shape 18"/>
          <p:cNvSpPr/>
          <p:nvPr/>
        </p:nvSpPr>
        <p:spPr>
          <a:xfrm>
            <a:off x="8081010" y="1108710"/>
            <a:ext cx="3722370" cy="2065020"/>
          </a:xfrm>
          <a:prstGeom prst="roundRect">
            <a:avLst>
              <a:gd name="adj" fmla="val 5535"/>
            </a:avLst>
          </a:prstGeom>
          <a:solidFill>
            <a:srgbClr val="262626"/>
          </a:solidFill>
          <a:ln w="10160">
            <a:solidFill>
              <a:srgbClr val="333333"/>
            </a:solidFill>
            <a:prstDash val="solid"/>
          </a:ln>
        </p:spPr>
      </p:sp>
      <p:sp>
        <p:nvSpPr>
          <p:cNvPr id="21" name="Shape 19"/>
          <p:cNvSpPr/>
          <p:nvPr/>
        </p:nvSpPr>
        <p:spPr>
          <a:xfrm>
            <a:off x="8199120" y="1226827"/>
            <a:ext cx="381000" cy="381000"/>
          </a:xfrm>
          <a:prstGeom prst="roundRect">
            <a:avLst>
              <a:gd name="adj" fmla="val 20000"/>
            </a:avLst>
          </a:prstGeom>
          <a:solidFill>
            <a:srgbClr val="AD46FF">
              <a:alpha val="20000"/>
            </a:srgbClr>
          </a:solidFill>
          <a:ln/>
        </p:spPr>
      </p:sp>
      <p:sp>
        <p:nvSpPr>
          <p:cNvPr id="22" name="Shape 20"/>
          <p:cNvSpPr/>
          <p:nvPr/>
        </p:nvSpPr>
        <p:spPr>
          <a:xfrm>
            <a:off x="8313420" y="1341127"/>
            <a:ext cx="152400" cy="152400"/>
          </a:xfrm>
          <a:custGeom>
            <a:avLst/>
            <a:gdLst/>
            <a:ahLst/>
            <a:cxnLst/>
            <a:rect l="l" t="t" r="r" b="b"/>
            <a:pathLst>
              <a:path w="152400" h="152400">
                <a:moveTo>
                  <a:pt x="0" y="76200"/>
                </a:moveTo>
                <a:cubicBezTo>
                  <a:pt x="0" y="34144"/>
                  <a:pt x="34144" y="0"/>
                  <a:pt x="76200" y="0"/>
                </a:cubicBezTo>
                <a:cubicBezTo>
                  <a:pt x="118256" y="0"/>
                  <a:pt x="152400" y="34144"/>
                  <a:pt x="152400" y="76200"/>
                </a:cubicBezTo>
                <a:cubicBezTo>
                  <a:pt x="152400" y="118256"/>
                  <a:pt x="118256" y="152400"/>
                  <a:pt x="76200" y="152400"/>
                </a:cubicBezTo>
                <a:cubicBezTo>
                  <a:pt x="34144" y="152400"/>
                  <a:pt x="0" y="118256"/>
                  <a:pt x="0" y="76200"/>
                </a:cubicBezTo>
                <a:close/>
                <a:moveTo>
                  <a:pt x="48071" y="50572"/>
                </a:moveTo>
                <a:cubicBezTo>
                  <a:pt x="44440" y="49024"/>
                  <a:pt x="40243" y="50691"/>
                  <a:pt x="38695" y="54322"/>
                </a:cubicBezTo>
                <a:cubicBezTo>
                  <a:pt x="37148" y="57954"/>
                  <a:pt x="38814" y="62151"/>
                  <a:pt x="42446" y="63698"/>
                </a:cubicBezTo>
                <a:lnTo>
                  <a:pt x="45988" y="65216"/>
                </a:lnTo>
                <a:cubicBezTo>
                  <a:pt x="51137" y="67419"/>
                  <a:pt x="56465" y="69056"/>
                  <a:pt x="61942" y="70068"/>
                </a:cubicBezTo>
                <a:lnTo>
                  <a:pt x="61942" y="84981"/>
                </a:lnTo>
                <a:cubicBezTo>
                  <a:pt x="61942" y="86261"/>
                  <a:pt x="61734" y="87541"/>
                  <a:pt x="61317" y="88731"/>
                </a:cubicBezTo>
                <a:lnTo>
                  <a:pt x="52774" y="114360"/>
                </a:lnTo>
                <a:cubicBezTo>
                  <a:pt x="51524" y="118110"/>
                  <a:pt x="53548" y="122158"/>
                  <a:pt x="57299" y="123408"/>
                </a:cubicBezTo>
                <a:cubicBezTo>
                  <a:pt x="61049" y="124658"/>
                  <a:pt x="65097" y="122634"/>
                  <a:pt x="66348" y="118884"/>
                </a:cubicBezTo>
                <a:lnTo>
                  <a:pt x="73610" y="97095"/>
                </a:lnTo>
                <a:cubicBezTo>
                  <a:pt x="73997" y="95964"/>
                  <a:pt x="75039" y="95190"/>
                  <a:pt x="76230" y="95190"/>
                </a:cubicBezTo>
                <a:cubicBezTo>
                  <a:pt x="77420" y="95190"/>
                  <a:pt x="78492" y="95964"/>
                  <a:pt x="78849" y="97095"/>
                </a:cubicBezTo>
                <a:lnTo>
                  <a:pt x="86112" y="118884"/>
                </a:lnTo>
                <a:cubicBezTo>
                  <a:pt x="87362" y="122634"/>
                  <a:pt x="91410" y="124658"/>
                  <a:pt x="95161" y="123408"/>
                </a:cubicBezTo>
                <a:cubicBezTo>
                  <a:pt x="98911" y="122158"/>
                  <a:pt x="100905" y="118170"/>
                  <a:pt x="99655" y="114419"/>
                </a:cubicBezTo>
                <a:lnTo>
                  <a:pt x="91113" y="88791"/>
                </a:lnTo>
                <a:cubicBezTo>
                  <a:pt x="90696" y="87570"/>
                  <a:pt x="90488" y="86320"/>
                  <a:pt x="90488" y="85040"/>
                </a:cubicBezTo>
                <a:lnTo>
                  <a:pt x="90488" y="70128"/>
                </a:lnTo>
                <a:cubicBezTo>
                  <a:pt x="95964" y="69086"/>
                  <a:pt x="101292" y="67479"/>
                  <a:pt x="106442" y="65276"/>
                </a:cubicBezTo>
                <a:lnTo>
                  <a:pt x="109984" y="63758"/>
                </a:lnTo>
                <a:cubicBezTo>
                  <a:pt x="113615" y="62210"/>
                  <a:pt x="115282" y="58013"/>
                  <a:pt x="113734" y="54382"/>
                </a:cubicBezTo>
                <a:cubicBezTo>
                  <a:pt x="112187" y="50750"/>
                  <a:pt x="107990" y="49084"/>
                  <a:pt x="104358" y="50631"/>
                </a:cubicBezTo>
                <a:lnTo>
                  <a:pt x="100816" y="52090"/>
                </a:lnTo>
                <a:cubicBezTo>
                  <a:pt x="93047" y="55424"/>
                  <a:pt x="84683" y="57150"/>
                  <a:pt x="76200" y="57150"/>
                </a:cubicBezTo>
                <a:cubicBezTo>
                  <a:pt x="67717" y="57150"/>
                  <a:pt x="59382" y="55424"/>
                  <a:pt x="51584" y="52090"/>
                </a:cubicBezTo>
                <a:lnTo>
                  <a:pt x="48042" y="50572"/>
                </a:lnTo>
                <a:close/>
                <a:moveTo>
                  <a:pt x="76200" y="47625"/>
                </a:moveTo>
                <a:cubicBezTo>
                  <a:pt x="82771" y="47625"/>
                  <a:pt x="88106" y="42290"/>
                  <a:pt x="88106" y="35719"/>
                </a:cubicBezTo>
                <a:cubicBezTo>
                  <a:pt x="88106" y="29148"/>
                  <a:pt x="82771" y="23813"/>
                  <a:pt x="76200" y="23813"/>
                </a:cubicBezTo>
                <a:cubicBezTo>
                  <a:pt x="69629" y="23813"/>
                  <a:pt x="64294" y="29148"/>
                  <a:pt x="64294" y="35719"/>
                </a:cubicBezTo>
                <a:cubicBezTo>
                  <a:pt x="64294" y="42290"/>
                  <a:pt x="69629" y="47625"/>
                  <a:pt x="76200" y="47625"/>
                </a:cubicBezTo>
                <a:close/>
              </a:path>
            </a:pathLst>
          </a:custGeom>
          <a:solidFill>
            <a:srgbClr val="AD46FF"/>
          </a:solidFill>
          <a:ln/>
        </p:spPr>
      </p:sp>
      <p:sp>
        <p:nvSpPr>
          <p:cNvPr id="23" name="Text 21"/>
          <p:cNvSpPr/>
          <p:nvPr/>
        </p:nvSpPr>
        <p:spPr>
          <a:xfrm>
            <a:off x="8656320" y="1283977"/>
            <a:ext cx="10477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Accessibility</a:t>
            </a:r>
            <a:endParaRPr lang="en-US" sz="1600" dirty="0"/>
          </a:p>
        </p:txBody>
      </p:sp>
      <p:sp>
        <p:nvSpPr>
          <p:cNvPr id="24" name="Text 22"/>
          <p:cNvSpPr/>
          <p:nvPr/>
        </p:nvSpPr>
        <p:spPr>
          <a:xfrm>
            <a:off x="8199120" y="1684027"/>
            <a:ext cx="3562350" cy="9525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Helps people with disabilities through real-time translation, prosthetics, and assistive technologies.</a:t>
            </a:r>
            <a:endParaRPr lang="en-US" sz="1600" dirty="0"/>
          </a:p>
        </p:txBody>
      </p:sp>
      <p:sp>
        <p:nvSpPr>
          <p:cNvPr id="25" name="Shape 23"/>
          <p:cNvSpPr/>
          <p:nvPr/>
        </p:nvSpPr>
        <p:spPr>
          <a:xfrm>
            <a:off x="8199120" y="2708914"/>
            <a:ext cx="3486150" cy="342900"/>
          </a:xfrm>
          <a:prstGeom prst="roundRect">
            <a:avLst>
              <a:gd name="adj" fmla="val 11111"/>
            </a:avLst>
          </a:prstGeom>
          <a:solidFill>
            <a:srgbClr val="191919"/>
          </a:solidFill>
          <a:ln/>
        </p:spPr>
      </p:sp>
      <p:sp>
        <p:nvSpPr>
          <p:cNvPr id="26" name="Text 24"/>
          <p:cNvSpPr/>
          <p:nvPr/>
        </p:nvSpPr>
        <p:spPr>
          <a:xfrm>
            <a:off x="8275320" y="2785114"/>
            <a:ext cx="34004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Impact: Empower 1 billion people</a:t>
            </a:r>
            <a:endParaRPr lang="en-US" sz="1600" dirty="0"/>
          </a:p>
        </p:txBody>
      </p:sp>
      <p:sp>
        <p:nvSpPr>
          <p:cNvPr id="27" name="Shape 25"/>
          <p:cNvSpPr/>
          <p:nvPr/>
        </p:nvSpPr>
        <p:spPr>
          <a:xfrm>
            <a:off x="384810" y="3291851"/>
            <a:ext cx="3722370" cy="2065020"/>
          </a:xfrm>
          <a:prstGeom prst="roundRect">
            <a:avLst>
              <a:gd name="adj" fmla="val 5535"/>
            </a:avLst>
          </a:prstGeom>
          <a:solidFill>
            <a:srgbClr val="262626"/>
          </a:solidFill>
          <a:ln w="10160">
            <a:solidFill>
              <a:srgbClr val="333333"/>
            </a:solidFill>
            <a:prstDash val="solid"/>
          </a:ln>
        </p:spPr>
      </p:sp>
      <p:sp>
        <p:nvSpPr>
          <p:cNvPr id="28" name="Shape 26"/>
          <p:cNvSpPr/>
          <p:nvPr/>
        </p:nvSpPr>
        <p:spPr>
          <a:xfrm>
            <a:off x="502920" y="3409950"/>
            <a:ext cx="381000" cy="381000"/>
          </a:xfrm>
          <a:prstGeom prst="roundRect">
            <a:avLst>
              <a:gd name="adj" fmla="val 20000"/>
            </a:avLst>
          </a:prstGeom>
          <a:solidFill>
            <a:srgbClr val="F0B100">
              <a:alpha val="20000"/>
            </a:srgbClr>
          </a:solidFill>
          <a:ln/>
        </p:spPr>
      </p:sp>
      <p:sp>
        <p:nvSpPr>
          <p:cNvPr id="29" name="Shape 27"/>
          <p:cNvSpPr/>
          <p:nvPr/>
        </p:nvSpPr>
        <p:spPr>
          <a:xfrm>
            <a:off x="617220" y="3524250"/>
            <a:ext cx="152400" cy="152400"/>
          </a:xfrm>
          <a:custGeom>
            <a:avLst/>
            <a:gdLst/>
            <a:ahLst/>
            <a:cxnLst/>
            <a:rect l="l" t="t" r="r" b="b"/>
            <a:pathLst>
              <a:path w="152400" h="152400">
                <a:moveTo>
                  <a:pt x="59531" y="14288"/>
                </a:moveTo>
                <a:lnTo>
                  <a:pt x="92869" y="14288"/>
                </a:lnTo>
                <a:cubicBezTo>
                  <a:pt x="94178" y="14288"/>
                  <a:pt x="95250" y="15359"/>
                  <a:pt x="95250" y="16669"/>
                </a:cubicBezTo>
                <a:lnTo>
                  <a:pt x="95250" y="28575"/>
                </a:lnTo>
                <a:lnTo>
                  <a:pt x="57150" y="28575"/>
                </a:lnTo>
                <a:lnTo>
                  <a:pt x="57150" y="16669"/>
                </a:lnTo>
                <a:cubicBezTo>
                  <a:pt x="57150" y="15359"/>
                  <a:pt x="58222" y="14288"/>
                  <a:pt x="59531" y="14288"/>
                </a:cubicBezTo>
                <a:close/>
                <a:moveTo>
                  <a:pt x="42863" y="16669"/>
                </a:moveTo>
                <a:lnTo>
                  <a:pt x="42863" y="28575"/>
                </a:lnTo>
                <a:lnTo>
                  <a:pt x="19050" y="28575"/>
                </a:lnTo>
                <a:cubicBezTo>
                  <a:pt x="8543" y="28575"/>
                  <a:pt x="0" y="37118"/>
                  <a:pt x="0" y="47625"/>
                </a:cubicBezTo>
                <a:lnTo>
                  <a:pt x="0" y="76200"/>
                </a:lnTo>
                <a:lnTo>
                  <a:pt x="152400" y="76200"/>
                </a:lnTo>
                <a:lnTo>
                  <a:pt x="152400" y="47625"/>
                </a:lnTo>
                <a:cubicBezTo>
                  <a:pt x="152400" y="37118"/>
                  <a:pt x="143857" y="28575"/>
                  <a:pt x="133350" y="28575"/>
                </a:cubicBezTo>
                <a:lnTo>
                  <a:pt x="109537" y="28575"/>
                </a:lnTo>
                <a:lnTo>
                  <a:pt x="109537" y="16669"/>
                </a:lnTo>
                <a:cubicBezTo>
                  <a:pt x="109537" y="7471"/>
                  <a:pt x="102066" y="0"/>
                  <a:pt x="92869" y="0"/>
                </a:cubicBezTo>
                <a:lnTo>
                  <a:pt x="59531" y="0"/>
                </a:lnTo>
                <a:cubicBezTo>
                  <a:pt x="50334" y="0"/>
                  <a:pt x="42863" y="7471"/>
                  <a:pt x="42863" y="16669"/>
                </a:cubicBezTo>
                <a:close/>
                <a:moveTo>
                  <a:pt x="152400" y="90488"/>
                </a:moveTo>
                <a:lnTo>
                  <a:pt x="95250" y="90488"/>
                </a:lnTo>
                <a:lnTo>
                  <a:pt x="95250" y="95250"/>
                </a:lnTo>
                <a:cubicBezTo>
                  <a:pt x="95250" y="100519"/>
                  <a:pt x="90994" y="104775"/>
                  <a:pt x="85725" y="104775"/>
                </a:cubicBezTo>
                <a:lnTo>
                  <a:pt x="66675" y="104775"/>
                </a:lnTo>
                <a:cubicBezTo>
                  <a:pt x="61406" y="104775"/>
                  <a:pt x="57150" y="100519"/>
                  <a:pt x="57150" y="95250"/>
                </a:cubicBezTo>
                <a:lnTo>
                  <a:pt x="57150" y="90488"/>
                </a:lnTo>
                <a:lnTo>
                  <a:pt x="0" y="90488"/>
                </a:lnTo>
                <a:lnTo>
                  <a:pt x="0" y="123825"/>
                </a:lnTo>
                <a:cubicBezTo>
                  <a:pt x="0" y="134332"/>
                  <a:pt x="8543" y="142875"/>
                  <a:pt x="19050" y="142875"/>
                </a:cubicBezTo>
                <a:lnTo>
                  <a:pt x="133350" y="142875"/>
                </a:lnTo>
                <a:cubicBezTo>
                  <a:pt x="143857" y="142875"/>
                  <a:pt x="152400" y="134332"/>
                  <a:pt x="152400" y="123825"/>
                </a:cubicBezTo>
                <a:lnTo>
                  <a:pt x="152400" y="90488"/>
                </a:lnTo>
                <a:close/>
              </a:path>
            </a:pathLst>
          </a:custGeom>
          <a:solidFill>
            <a:srgbClr val="F0B100"/>
          </a:solidFill>
          <a:ln/>
        </p:spPr>
      </p:sp>
      <p:sp>
        <p:nvSpPr>
          <p:cNvPr id="30" name="Text 28"/>
          <p:cNvSpPr/>
          <p:nvPr/>
        </p:nvSpPr>
        <p:spPr>
          <a:xfrm>
            <a:off x="960120" y="3467100"/>
            <a:ext cx="83820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New Jobs</a:t>
            </a:r>
            <a:endParaRPr lang="en-US" sz="1600" dirty="0"/>
          </a:p>
        </p:txBody>
      </p:sp>
      <p:sp>
        <p:nvSpPr>
          <p:cNvPr id="31" name="Text 29"/>
          <p:cNvSpPr/>
          <p:nvPr/>
        </p:nvSpPr>
        <p:spPr>
          <a:xfrm>
            <a:off x="502920" y="3867150"/>
            <a:ext cx="3562350" cy="9525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Creates entirely new career fields: AI trainers, ethicists, robot coordinators, and human-AI interaction designers.</a:t>
            </a:r>
            <a:endParaRPr lang="en-US" sz="1600" dirty="0"/>
          </a:p>
        </p:txBody>
      </p:sp>
      <p:sp>
        <p:nvSpPr>
          <p:cNvPr id="32" name="Shape 30"/>
          <p:cNvSpPr/>
          <p:nvPr/>
        </p:nvSpPr>
        <p:spPr>
          <a:xfrm>
            <a:off x="502920" y="4892036"/>
            <a:ext cx="3486150" cy="342900"/>
          </a:xfrm>
          <a:prstGeom prst="roundRect">
            <a:avLst>
              <a:gd name="adj" fmla="val 11111"/>
            </a:avLst>
          </a:prstGeom>
          <a:solidFill>
            <a:srgbClr val="191919"/>
          </a:solidFill>
          <a:ln/>
        </p:spPr>
      </p:sp>
      <p:sp>
        <p:nvSpPr>
          <p:cNvPr id="33" name="Text 31"/>
          <p:cNvSpPr/>
          <p:nvPr/>
        </p:nvSpPr>
        <p:spPr>
          <a:xfrm>
            <a:off x="579120" y="4968236"/>
            <a:ext cx="34004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Impact: 97 million new jobs by 2025</a:t>
            </a:r>
            <a:endParaRPr lang="en-US" sz="1600" dirty="0"/>
          </a:p>
        </p:txBody>
      </p:sp>
      <p:sp>
        <p:nvSpPr>
          <p:cNvPr id="34" name="Shape 32"/>
          <p:cNvSpPr/>
          <p:nvPr/>
        </p:nvSpPr>
        <p:spPr>
          <a:xfrm>
            <a:off x="4232910" y="3291851"/>
            <a:ext cx="3722370" cy="2065020"/>
          </a:xfrm>
          <a:prstGeom prst="roundRect">
            <a:avLst>
              <a:gd name="adj" fmla="val 5535"/>
            </a:avLst>
          </a:prstGeom>
          <a:solidFill>
            <a:srgbClr val="262626"/>
          </a:solidFill>
          <a:ln w="10160">
            <a:solidFill>
              <a:srgbClr val="333333"/>
            </a:solidFill>
            <a:prstDash val="solid"/>
          </a:ln>
        </p:spPr>
      </p:sp>
      <p:sp>
        <p:nvSpPr>
          <p:cNvPr id="35" name="Shape 33"/>
          <p:cNvSpPr/>
          <p:nvPr/>
        </p:nvSpPr>
        <p:spPr>
          <a:xfrm>
            <a:off x="4351020" y="3409950"/>
            <a:ext cx="381000" cy="381000"/>
          </a:xfrm>
          <a:prstGeom prst="roundRect">
            <a:avLst>
              <a:gd name="adj" fmla="val 20000"/>
            </a:avLst>
          </a:prstGeom>
          <a:solidFill>
            <a:srgbClr val="FB2C36">
              <a:alpha val="20000"/>
            </a:srgbClr>
          </a:solidFill>
          <a:ln/>
        </p:spPr>
      </p:sp>
      <p:sp>
        <p:nvSpPr>
          <p:cNvPr id="36" name="Shape 34"/>
          <p:cNvSpPr/>
          <p:nvPr/>
        </p:nvSpPr>
        <p:spPr>
          <a:xfrm>
            <a:off x="4465320" y="3524250"/>
            <a:ext cx="152400" cy="152400"/>
          </a:xfrm>
          <a:custGeom>
            <a:avLst/>
            <a:gdLst/>
            <a:ahLst/>
            <a:cxnLst/>
            <a:rect l="l" t="t" r="r" b="b"/>
            <a:pathLst>
              <a:path w="152400" h="152400">
                <a:moveTo>
                  <a:pt x="152400" y="76200"/>
                </a:moveTo>
                <a:cubicBezTo>
                  <a:pt x="152400" y="76468"/>
                  <a:pt x="152400" y="76736"/>
                  <a:pt x="152400" y="77004"/>
                </a:cubicBezTo>
                <a:cubicBezTo>
                  <a:pt x="152281" y="87868"/>
                  <a:pt x="142399" y="95250"/>
                  <a:pt x="131534" y="95250"/>
                </a:cubicBezTo>
                <a:lnTo>
                  <a:pt x="102394" y="95250"/>
                </a:lnTo>
                <a:cubicBezTo>
                  <a:pt x="94506" y="95250"/>
                  <a:pt x="88106" y="101650"/>
                  <a:pt x="88106" y="109537"/>
                </a:cubicBezTo>
                <a:cubicBezTo>
                  <a:pt x="88106" y="110550"/>
                  <a:pt x="88225" y="111532"/>
                  <a:pt x="88404" y="112484"/>
                </a:cubicBezTo>
                <a:cubicBezTo>
                  <a:pt x="89029" y="115520"/>
                  <a:pt x="90339" y="118437"/>
                  <a:pt x="91619" y="121384"/>
                </a:cubicBezTo>
                <a:cubicBezTo>
                  <a:pt x="93434" y="125492"/>
                  <a:pt x="95220" y="129570"/>
                  <a:pt x="95220" y="133886"/>
                </a:cubicBezTo>
                <a:cubicBezTo>
                  <a:pt x="95220" y="143351"/>
                  <a:pt x="88791" y="151954"/>
                  <a:pt x="79325" y="152340"/>
                </a:cubicBezTo>
                <a:cubicBezTo>
                  <a:pt x="78284" y="152370"/>
                  <a:pt x="77242" y="152400"/>
                  <a:pt x="76170" y="152400"/>
                </a:cubicBezTo>
                <a:cubicBezTo>
                  <a:pt x="34082" y="152400"/>
                  <a:pt x="-30" y="118289"/>
                  <a:pt x="-30" y="76200"/>
                </a:cubicBezTo>
                <a:cubicBezTo>
                  <a:pt x="-30" y="34111"/>
                  <a:pt x="34111" y="0"/>
                  <a:pt x="76200" y="0"/>
                </a:cubicBezTo>
                <a:cubicBezTo>
                  <a:pt x="118289" y="0"/>
                  <a:pt x="152400" y="34111"/>
                  <a:pt x="152400" y="76200"/>
                </a:cubicBezTo>
                <a:close/>
                <a:moveTo>
                  <a:pt x="38100" y="85725"/>
                </a:moveTo>
                <a:cubicBezTo>
                  <a:pt x="38100" y="80468"/>
                  <a:pt x="33832" y="76200"/>
                  <a:pt x="28575" y="76200"/>
                </a:cubicBezTo>
                <a:cubicBezTo>
                  <a:pt x="23318" y="76200"/>
                  <a:pt x="19050" y="80468"/>
                  <a:pt x="19050" y="85725"/>
                </a:cubicBezTo>
                <a:cubicBezTo>
                  <a:pt x="19050" y="90982"/>
                  <a:pt x="23318" y="95250"/>
                  <a:pt x="28575" y="95250"/>
                </a:cubicBezTo>
                <a:cubicBezTo>
                  <a:pt x="33832" y="95250"/>
                  <a:pt x="38100" y="90982"/>
                  <a:pt x="38100" y="85725"/>
                </a:cubicBezTo>
                <a:close/>
                <a:moveTo>
                  <a:pt x="38100" y="57150"/>
                </a:moveTo>
                <a:cubicBezTo>
                  <a:pt x="43357" y="57150"/>
                  <a:pt x="47625" y="52882"/>
                  <a:pt x="47625" y="47625"/>
                </a:cubicBezTo>
                <a:cubicBezTo>
                  <a:pt x="47625" y="42368"/>
                  <a:pt x="43357" y="38100"/>
                  <a:pt x="38100" y="38100"/>
                </a:cubicBezTo>
                <a:cubicBezTo>
                  <a:pt x="32843" y="38100"/>
                  <a:pt x="28575" y="42368"/>
                  <a:pt x="28575" y="47625"/>
                </a:cubicBezTo>
                <a:cubicBezTo>
                  <a:pt x="28575" y="52882"/>
                  <a:pt x="32843" y="57150"/>
                  <a:pt x="38100" y="57150"/>
                </a:cubicBezTo>
                <a:close/>
                <a:moveTo>
                  <a:pt x="85725" y="28575"/>
                </a:moveTo>
                <a:cubicBezTo>
                  <a:pt x="85725" y="23318"/>
                  <a:pt x="81457" y="19050"/>
                  <a:pt x="76200" y="19050"/>
                </a:cubicBezTo>
                <a:cubicBezTo>
                  <a:pt x="70943" y="19050"/>
                  <a:pt x="66675" y="23318"/>
                  <a:pt x="66675" y="28575"/>
                </a:cubicBezTo>
                <a:cubicBezTo>
                  <a:pt x="66675" y="33832"/>
                  <a:pt x="70943" y="38100"/>
                  <a:pt x="76200" y="38100"/>
                </a:cubicBezTo>
                <a:cubicBezTo>
                  <a:pt x="81457" y="38100"/>
                  <a:pt x="85725" y="33832"/>
                  <a:pt x="85725" y="28575"/>
                </a:cubicBezTo>
                <a:close/>
                <a:moveTo>
                  <a:pt x="114300" y="57150"/>
                </a:moveTo>
                <a:cubicBezTo>
                  <a:pt x="119557" y="57150"/>
                  <a:pt x="123825" y="52882"/>
                  <a:pt x="123825" y="47625"/>
                </a:cubicBezTo>
                <a:cubicBezTo>
                  <a:pt x="123825" y="42368"/>
                  <a:pt x="119557" y="38100"/>
                  <a:pt x="114300" y="38100"/>
                </a:cubicBezTo>
                <a:cubicBezTo>
                  <a:pt x="109043" y="38100"/>
                  <a:pt x="104775" y="42368"/>
                  <a:pt x="104775" y="47625"/>
                </a:cubicBezTo>
                <a:cubicBezTo>
                  <a:pt x="104775" y="52882"/>
                  <a:pt x="109043" y="57150"/>
                  <a:pt x="114300" y="57150"/>
                </a:cubicBezTo>
                <a:close/>
              </a:path>
            </a:pathLst>
          </a:custGeom>
          <a:solidFill>
            <a:srgbClr val="FB2C36"/>
          </a:solidFill>
          <a:ln/>
        </p:spPr>
      </p:sp>
      <p:sp>
        <p:nvSpPr>
          <p:cNvPr id="37" name="Text 35"/>
          <p:cNvSpPr/>
          <p:nvPr/>
        </p:nvSpPr>
        <p:spPr>
          <a:xfrm>
            <a:off x="4808220" y="3467100"/>
            <a:ext cx="140017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Human Creativity</a:t>
            </a:r>
            <a:endParaRPr lang="en-US" sz="1600" dirty="0"/>
          </a:p>
        </p:txBody>
      </p:sp>
      <p:sp>
        <p:nvSpPr>
          <p:cNvPr id="38" name="Text 36"/>
          <p:cNvSpPr/>
          <p:nvPr/>
        </p:nvSpPr>
        <p:spPr>
          <a:xfrm>
            <a:off x="4351020" y="3867150"/>
            <a:ext cx="3562350" cy="9525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AI tools enhance artistic expression, helping musicians, writers, and artists create in new ways.</a:t>
            </a:r>
            <a:endParaRPr lang="en-US" sz="1600" dirty="0"/>
          </a:p>
        </p:txBody>
      </p:sp>
      <p:sp>
        <p:nvSpPr>
          <p:cNvPr id="39" name="Shape 37"/>
          <p:cNvSpPr/>
          <p:nvPr/>
        </p:nvSpPr>
        <p:spPr>
          <a:xfrm>
            <a:off x="4351020" y="4892036"/>
            <a:ext cx="3486150" cy="342900"/>
          </a:xfrm>
          <a:prstGeom prst="roundRect">
            <a:avLst>
              <a:gd name="adj" fmla="val 11111"/>
            </a:avLst>
          </a:prstGeom>
          <a:solidFill>
            <a:srgbClr val="191919"/>
          </a:solidFill>
          <a:ln/>
        </p:spPr>
      </p:sp>
      <p:sp>
        <p:nvSpPr>
          <p:cNvPr id="40" name="Text 38"/>
          <p:cNvSpPr/>
          <p:nvPr/>
        </p:nvSpPr>
        <p:spPr>
          <a:xfrm>
            <a:off x="4427220" y="4968236"/>
            <a:ext cx="340042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Impact: New art forms emerge</a:t>
            </a:r>
            <a:endParaRPr lang="en-US" sz="1600" dirty="0"/>
          </a:p>
        </p:txBody>
      </p:sp>
      <p:sp>
        <p:nvSpPr>
          <p:cNvPr id="41" name="Shape 39"/>
          <p:cNvSpPr/>
          <p:nvPr/>
        </p:nvSpPr>
        <p:spPr>
          <a:xfrm>
            <a:off x="8081010" y="3291851"/>
            <a:ext cx="3722370" cy="2065020"/>
          </a:xfrm>
          <a:prstGeom prst="roundRect">
            <a:avLst>
              <a:gd name="adj" fmla="val 5535"/>
            </a:avLst>
          </a:prstGeom>
          <a:gradFill rotWithShape="1" flip="none">
            <a:gsLst>
              <a:gs pos="0">
                <a:srgbClr val="6366F1">
                  <a:alpha val="20000"/>
                </a:srgbClr>
              </a:gs>
              <a:gs pos="100000">
                <a:srgbClr val="6366F1">
                  <a:alpha val="5000"/>
                </a:srgbClr>
              </a:gs>
            </a:gsLst>
            <a:lin ang="2700000" scaled="1"/>
          </a:gradFill>
          <a:ln w="10160">
            <a:solidFill>
              <a:srgbClr val="6366F1"/>
            </a:solidFill>
            <a:prstDash val="solid"/>
          </a:ln>
        </p:spPr>
      </p:sp>
      <p:sp>
        <p:nvSpPr>
          <p:cNvPr id="42" name="Shape 40"/>
          <p:cNvSpPr/>
          <p:nvPr/>
        </p:nvSpPr>
        <p:spPr>
          <a:xfrm>
            <a:off x="8218170" y="3448050"/>
            <a:ext cx="152400" cy="152400"/>
          </a:xfrm>
          <a:custGeom>
            <a:avLst/>
            <a:gdLst/>
            <a:ahLst/>
            <a:cxnLst/>
            <a:rect l="l" t="t" r="r" b="b"/>
            <a:pathLst>
              <a:path w="152400" h="152400">
                <a:moveTo>
                  <a:pt x="38100" y="95250"/>
                </a:moveTo>
                <a:lnTo>
                  <a:pt x="7293" y="95250"/>
                </a:lnTo>
                <a:cubicBezTo>
                  <a:pt x="-119" y="95250"/>
                  <a:pt x="-4673" y="87184"/>
                  <a:pt x="-863" y="80814"/>
                </a:cubicBezTo>
                <a:lnTo>
                  <a:pt x="14883" y="54560"/>
                </a:lnTo>
                <a:cubicBezTo>
                  <a:pt x="17472" y="50244"/>
                  <a:pt x="22116" y="47625"/>
                  <a:pt x="27146" y="47625"/>
                </a:cubicBezTo>
                <a:lnTo>
                  <a:pt x="55424" y="47625"/>
                </a:lnTo>
                <a:cubicBezTo>
                  <a:pt x="78075" y="9257"/>
                  <a:pt x="111859" y="7322"/>
                  <a:pt x="134451" y="10626"/>
                </a:cubicBezTo>
                <a:cubicBezTo>
                  <a:pt x="138261" y="11192"/>
                  <a:pt x="141238" y="14168"/>
                  <a:pt x="141774" y="17949"/>
                </a:cubicBezTo>
                <a:cubicBezTo>
                  <a:pt x="145078" y="40541"/>
                  <a:pt x="143143" y="74325"/>
                  <a:pt x="104775" y="96976"/>
                </a:cubicBezTo>
                <a:lnTo>
                  <a:pt x="104775" y="125254"/>
                </a:lnTo>
                <a:cubicBezTo>
                  <a:pt x="104775" y="130284"/>
                  <a:pt x="102156" y="134928"/>
                  <a:pt x="97840" y="137517"/>
                </a:cubicBezTo>
                <a:lnTo>
                  <a:pt x="71586" y="153263"/>
                </a:lnTo>
                <a:cubicBezTo>
                  <a:pt x="65246" y="157073"/>
                  <a:pt x="57150" y="152489"/>
                  <a:pt x="57150" y="145107"/>
                </a:cubicBezTo>
                <a:lnTo>
                  <a:pt x="57150" y="114300"/>
                </a:lnTo>
                <a:cubicBezTo>
                  <a:pt x="57150" y="103793"/>
                  <a:pt x="48607" y="95250"/>
                  <a:pt x="38100" y="95250"/>
                </a:cubicBezTo>
                <a:lnTo>
                  <a:pt x="38070" y="95250"/>
                </a:lnTo>
                <a:close/>
                <a:moveTo>
                  <a:pt x="119062" y="47625"/>
                </a:moveTo>
                <a:cubicBezTo>
                  <a:pt x="119062" y="39740"/>
                  <a:pt x="112660" y="33338"/>
                  <a:pt x="104775" y="33338"/>
                </a:cubicBezTo>
                <a:cubicBezTo>
                  <a:pt x="96890" y="33338"/>
                  <a:pt x="90488" y="39740"/>
                  <a:pt x="90488" y="47625"/>
                </a:cubicBezTo>
                <a:cubicBezTo>
                  <a:pt x="90488" y="55510"/>
                  <a:pt x="96890" y="61912"/>
                  <a:pt x="104775" y="61912"/>
                </a:cubicBezTo>
                <a:cubicBezTo>
                  <a:pt x="112660" y="61912"/>
                  <a:pt x="119062" y="55510"/>
                  <a:pt x="119062" y="47625"/>
                </a:cubicBezTo>
                <a:close/>
              </a:path>
            </a:pathLst>
          </a:custGeom>
          <a:solidFill>
            <a:srgbClr val="6366F1"/>
          </a:solidFill>
          <a:ln/>
        </p:spPr>
      </p:sp>
      <p:sp>
        <p:nvSpPr>
          <p:cNvPr id="43" name="Text 41"/>
          <p:cNvSpPr/>
          <p:nvPr/>
        </p:nvSpPr>
        <p:spPr>
          <a:xfrm>
            <a:off x="8465820" y="3409950"/>
            <a:ext cx="144780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Real-World Example</a:t>
            </a:r>
            <a:endParaRPr lang="en-US" sz="1600" dirty="0"/>
          </a:p>
        </p:txBody>
      </p:sp>
      <p:sp>
        <p:nvSpPr>
          <p:cNvPr id="44" name="Text 42"/>
          <p:cNvSpPr/>
          <p:nvPr/>
        </p:nvSpPr>
        <p:spPr>
          <a:xfrm>
            <a:off x="8199120" y="3714750"/>
            <a:ext cx="3552825" cy="1524000"/>
          </a:xfrm>
          <a:prstGeom prst="rect">
            <a:avLst/>
          </a:prstGeom>
          <a:noFill/>
          <a:ln/>
        </p:spPr>
        <p:txBody>
          <a:bodyPr wrap="square" lIns="0" tIns="0" rIns="0" bIns="0" rtlCol="0" anchor="ctr"/>
          <a:lstStyle/>
          <a:p>
            <a:pPr>
              <a:lnSpc>
                <a:spcPct val="130000"/>
              </a:lnSpc>
            </a:pPr>
            <a:r>
              <a:rPr lang="en-US" sz="1050" dirty="0">
                <a:solidFill>
                  <a:srgbClr val="EFEFEF"/>
                </a:solidFill>
                <a:latin typeface="Liter" pitchFamily="34" charset="0"/>
                <a:ea typeface="Liter" pitchFamily="34" charset="-122"/>
                <a:cs typeface="Liter" pitchFamily="34" charset="-120"/>
              </a:rPr>
              <a:t>DeepMind's AlphaFold solved the 50-year-old protein folding problem, potentially revolutionizing drug discovery and understanding diseases. AI is solving problems that stumped humans for decades!</a:t>
            </a:r>
            <a:endParaRPr lang="en-US" sz="1600" dirty="0"/>
          </a:p>
        </p:txBody>
      </p:sp>
      <p:sp>
        <p:nvSpPr>
          <p:cNvPr id="45" name="Shape 43"/>
          <p:cNvSpPr/>
          <p:nvPr/>
        </p:nvSpPr>
        <p:spPr>
          <a:xfrm>
            <a:off x="384810" y="5436874"/>
            <a:ext cx="11418570" cy="1036320"/>
          </a:xfrm>
          <a:prstGeom prst="roundRect">
            <a:avLst>
              <a:gd name="adj" fmla="val 11029"/>
            </a:avLst>
          </a:prstGeom>
          <a:solidFill>
            <a:srgbClr val="262626"/>
          </a:solidFill>
          <a:ln w="10160">
            <a:solidFill>
              <a:srgbClr val="333333"/>
            </a:solidFill>
            <a:prstDash val="solid"/>
          </a:ln>
        </p:spPr>
      </p:sp>
      <p:sp>
        <p:nvSpPr>
          <p:cNvPr id="46" name="Text 44"/>
          <p:cNvSpPr/>
          <p:nvPr/>
        </p:nvSpPr>
        <p:spPr>
          <a:xfrm>
            <a:off x="502920" y="5554991"/>
            <a:ext cx="1126807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 Simple Explanation</a:t>
            </a:r>
            <a:endParaRPr lang="en-US" sz="1600" dirty="0"/>
          </a:p>
        </p:txBody>
      </p:sp>
      <p:sp>
        <p:nvSpPr>
          <p:cNvPr id="47" name="Text 45"/>
          <p:cNvSpPr/>
          <p:nvPr/>
        </p:nvSpPr>
        <p:spPr>
          <a:xfrm>
            <a:off x="502920" y="5897891"/>
            <a:ext cx="11258550"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The future of AI is incredibly bright! We're looking at solving climate change, curing diseases, creating new jobs, and making the world more accessible. AI isn't just technology—it's a tool for human progress.</a:t>
            </a:r>
            <a:endParaRPr lang="en-US" sz="1600" dirty="0"/>
          </a:p>
        </p:txBody>
      </p:sp>
    </p:spTree>
  </p:cSld>
  <p:clrMapOvr>
    <a:masterClrMapping/>
  </p:clrMapOvr>
  <p:transition>
    <p:fade/>
    <p:spd val="med"/>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91919"/>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FB2C36">
              <a:alpha val="20000"/>
            </a:srgbClr>
          </a:solidFill>
          <a:ln/>
        </p:spPr>
      </p:sp>
      <p:sp>
        <p:nvSpPr>
          <p:cNvPr id="3" name="Text 1"/>
          <p:cNvSpPr/>
          <p:nvPr/>
        </p:nvSpPr>
        <p:spPr>
          <a:xfrm>
            <a:off x="505420" y="533400"/>
            <a:ext cx="304800" cy="266700"/>
          </a:xfrm>
          <a:prstGeom prst="rect">
            <a:avLst/>
          </a:prstGeom>
          <a:noFill/>
          <a:ln/>
        </p:spPr>
        <p:txBody>
          <a:bodyPr wrap="square" lIns="0" tIns="0" rIns="0" bIns="0" rtlCol="0" anchor="ctr"/>
          <a:lstStyle/>
          <a:p>
            <a:pPr>
              <a:lnSpc>
                <a:spcPct val="120000"/>
              </a:lnSpc>
            </a:pPr>
            <a:r>
              <a:rPr lang="en-US" sz="1500" b="1" dirty="0">
                <a:solidFill>
                  <a:srgbClr val="FB2C36"/>
                </a:solidFill>
                <a:latin typeface="Liter" pitchFamily="34" charset="0"/>
                <a:ea typeface="Liter" pitchFamily="34" charset="-122"/>
                <a:cs typeface="Liter" pitchFamily="34" charset="-120"/>
              </a:rPr>
              <a:t>27</a:t>
            </a:r>
            <a:endParaRPr lang="en-US" sz="1600" dirty="0"/>
          </a:p>
        </p:txBody>
      </p:sp>
      <p:sp>
        <p:nvSpPr>
          <p:cNvPr id="4" name="Text 2"/>
          <p:cNvSpPr/>
          <p:nvPr/>
        </p:nvSpPr>
        <p:spPr>
          <a:xfrm>
            <a:off x="952500" y="381000"/>
            <a:ext cx="4286250" cy="190500"/>
          </a:xfrm>
          <a:prstGeom prst="rect">
            <a:avLst/>
          </a:prstGeom>
          <a:noFill/>
          <a:ln/>
        </p:spPr>
        <p:txBody>
          <a:bodyPr wrap="square" lIns="0" tIns="0" rIns="0" bIns="0" rtlCol="0" anchor="ctr"/>
          <a:lstStyle/>
          <a:p>
            <a:pPr>
              <a:lnSpc>
                <a:spcPct val="120000"/>
              </a:lnSpc>
            </a:pPr>
            <a:r>
              <a:rPr lang="en-US" sz="1050" b="1" spc="53" kern="0" dirty="0">
                <a:solidFill>
                  <a:srgbClr val="FB2C36"/>
                </a:solidFill>
                <a:latin typeface="Liter" pitchFamily="34" charset="0"/>
                <a:ea typeface="Liter" pitchFamily="34" charset="-122"/>
                <a:cs typeface="Liter" pitchFamily="34" charset="-120"/>
              </a:rPr>
              <a:t>Future of AI</a:t>
            </a:r>
            <a:endParaRPr lang="en-US" sz="1600" dirty="0"/>
          </a:p>
        </p:txBody>
      </p:sp>
      <p:sp>
        <p:nvSpPr>
          <p:cNvPr id="5" name="Text 3"/>
          <p:cNvSpPr/>
          <p:nvPr/>
        </p:nvSpPr>
        <p:spPr>
          <a:xfrm>
            <a:off x="952500" y="571500"/>
            <a:ext cx="4391025"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AI Challenges and Concerns</a:t>
            </a:r>
            <a:endParaRPr lang="en-US" sz="1600" dirty="0"/>
          </a:p>
        </p:txBody>
      </p:sp>
      <p:sp>
        <p:nvSpPr>
          <p:cNvPr id="6" name="Shape 4"/>
          <p:cNvSpPr/>
          <p:nvPr/>
        </p:nvSpPr>
        <p:spPr>
          <a:xfrm>
            <a:off x="384810" y="1108710"/>
            <a:ext cx="6760845" cy="3188970"/>
          </a:xfrm>
          <a:prstGeom prst="roundRect">
            <a:avLst>
              <a:gd name="adj" fmla="val 3584"/>
            </a:avLst>
          </a:prstGeom>
          <a:solidFill>
            <a:srgbClr val="262626"/>
          </a:solidFill>
          <a:ln w="10160">
            <a:solidFill>
              <a:srgbClr val="333333"/>
            </a:solidFill>
            <a:prstDash val="solid"/>
          </a:ln>
        </p:spPr>
      </p:sp>
      <p:sp>
        <p:nvSpPr>
          <p:cNvPr id="7" name="Shape 5"/>
          <p:cNvSpPr/>
          <p:nvPr/>
        </p:nvSpPr>
        <p:spPr>
          <a:xfrm>
            <a:off x="526732" y="1264927"/>
            <a:ext cx="190500" cy="190500"/>
          </a:xfrm>
          <a:custGeom>
            <a:avLst/>
            <a:gdLst/>
            <a:ahLst/>
            <a:cxnLst/>
            <a:rect l="l" t="t" r="r" b="b"/>
            <a:pathLst>
              <a:path w="190500" h="190500">
                <a:moveTo>
                  <a:pt x="95250" y="0"/>
                </a:moveTo>
                <a:cubicBezTo>
                  <a:pt x="100719" y="0"/>
                  <a:pt x="105742" y="3014"/>
                  <a:pt x="108347" y="7813"/>
                </a:cubicBezTo>
                <a:lnTo>
                  <a:pt x="188714" y="156642"/>
                </a:lnTo>
                <a:cubicBezTo>
                  <a:pt x="191207" y="161255"/>
                  <a:pt x="191095" y="166836"/>
                  <a:pt x="188416" y="171338"/>
                </a:cubicBezTo>
                <a:cubicBezTo>
                  <a:pt x="185737" y="175840"/>
                  <a:pt x="180863" y="178594"/>
                  <a:pt x="175617" y="178594"/>
                </a:cubicBezTo>
                <a:lnTo>
                  <a:pt x="14883" y="178594"/>
                </a:lnTo>
                <a:cubicBezTo>
                  <a:pt x="9637" y="178594"/>
                  <a:pt x="4800" y="175840"/>
                  <a:pt x="2084" y="171338"/>
                </a:cubicBezTo>
                <a:cubicBezTo>
                  <a:pt x="-633" y="166836"/>
                  <a:pt x="-707" y="161255"/>
                  <a:pt x="1786" y="156642"/>
                </a:cubicBezTo>
                <a:lnTo>
                  <a:pt x="82153" y="7813"/>
                </a:lnTo>
                <a:cubicBezTo>
                  <a:pt x="84758" y="3014"/>
                  <a:pt x="89781" y="0"/>
                  <a:pt x="95250" y="0"/>
                </a:cubicBezTo>
                <a:close/>
                <a:moveTo>
                  <a:pt x="95250" y="62508"/>
                </a:moveTo>
                <a:cubicBezTo>
                  <a:pt x="90301" y="62508"/>
                  <a:pt x="86320" y="66489"/>
                  <a:pt x="86320" y="71438"/>
                </a:cubicBezTo>
                <a:lnTo>
                  <a:pt x="86320" y="113109"/>
                </a:lnTo>
                <a:cubicBezTo>
                  <a:pt x="86320" y="118058"/>
                  <a:pt x="90301" y="122039"/>
                  <a:pt x="95250" y="122039"/>
                </a:cubicBezTo>
                <a:cubicBezTo>
                  <a:pt x="100199" y="122039"/>
                  <a:pt x="104180" y="118058"/>
                  <a:pt x="104180" y="113109"/>
                </a:cubicBezTo>
                <a:lnTo>
                  <a:pt x="104180" y="71438"/>
                </a:lnTo>
                <a:cubicBezTo>
                  <a:pt x="104180" y="66489"/>
                  <a:pt x="100199" y="62508"/>
                  <a:pt x="95250" y="62508"/>
                </a:cubicBezTo>
                <a:close/>
                <a:moveTo>
                  <a:pt x="105184" y="142875"/>
                </a:moveTo>
                <a:cubicBezTo>
                  <a:pt x="105410" y="139188"/>
                  <a:pt x="103571" y="135679"/>
                  <a:pt x="100410" y="133767"/>
                </a:cubicBezTo>
                <a:cubicBezTo>
                  <a:pt x="97249" y="131855"/>
                  <a:pt x="93288" y="131855"/>
                  <a:pt x="90127" y="133767"/>
                </a:cubicBezTo>
                <a:cubicBezTo>
                  <a:pt x="86966" y="135679"/>
                  <a:pt x="85127" y="139188"/>
                  <a:pt x="85353" y="142875"/>
                </a:cubicBezTo>
                <a:cubicBezTo>
                  <a:pt x="85127" y="146562"/>
                  <a:pt x="86966" y="150071"/>
                  <a:pt x="90127" y="151983"/>
                </a:cubicBezTo>
                <a:cubicBezTo>
                  <a:pt x="93288" y="153895"/>
                  <a:pt x="97249" y="153895"/>
                  <a:pt x="100410" y="151983"/>
                </a:cubicBezTo>
                <a:cubicBezTo>
                  <a:pt x="103571" y="150071"/>
                  <a:pt x="105410" y="146562"/>
                  <a:pt x="105184" y="142875"/>
                </a:cubicBezTo>
                <a:close/>
              </a:path>
            </a:pathLst>
          </a:custGeom>
          <a:solidFill>
            <a:srgbClr val="FB2C36"/>
          </a:solidFill>
          <a:ln/>
        </p:spPr>
      </p:sp>
      <p:sp>
        <p:nvSpPr>
          <p:cNvPr id="8" name="Text 6"/>
          <p:cNvSpPr/>
          <p:nvPr/>
        </p:nvSpPr>
        <p:spPr>
          <a:xfrm>
            <a:off x="741045" y="1226827"/>
            <a:ext cx="6381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Important Challenges We Must Address</a:t>
            </a:r>
            <a:endParaRPr lang="en-US" sz="1600" dirty="0"/>
          </a:p>
        </p:txBody>
      </p:sp>
      <p:sp>
        <p:nvSpPr>
          <p:cNvPr id="9" name="Shape 7"/>
          <p:cNvSpPr/>
          <p:nvPr/>
        </p:nvSpPr>
        <p:spPr>
          <a:xfrm>
            <a:off x="502920" y="1569727"/>
            <a:ext cx="6524625" cy="609600"/>
          </a:xfrm>
          <a:prstGeom prst="roundRect">
            <a:avLst>
              <a:gd name="adj" fmla="val 12500"/>
            </a:avLst>
          </a:prstGeom>
          <a:solidFill>
            <a:srgbClr val="191919"/>
          </a:solidFill>
          <a:ln/>
        </p:spPr>
      </p:sp>
      <p:sp>
        <p:nvSpPr>
          <p:cNvPr id="10" name="Shape 8"/>
          <p:cNvSpPr/>
          <p:nvPr/>
        </p:nvSpPr>
        <p:spPr>
          <a:xfrm>
            <a:off x="598170" y="1684027"/>
            <a:ext cx="152400" cy="152400"/>
          </a:xfrm>
          <a:custGeom>
            <a:avLst/>
            <a:gdLst/>
            <a:ahLst/>
            <a:cxnLst/>
            <a:rect l="l" t="t" r="r" b="b"/>
            <a:pathLst>
              <a:path w="152400" h="152400">
                <a:moveTo>
                  <a:pt x="59531" y="14288"/>
                </a:moveTo>
                <a:lnTo>
                  <a:pt x="92869" y="14288"/>
                </a:lnTo>
                <a:cubicBezTo>
                  <a:pt x="94178" y="14288"/>
                  <a:pt x="95250" y="15359"/>
                  <a:pt x="95250" y="16669"/>
                </a:cubicBezTo>
                <a:lnTo>
                  <a:pt x="95250" y="28575"/>
                </a:lnTo>
                <a:lnTo>
                  <a:pt x="57150" y="28575"/>
                </a:lnTo>
                <a:lnTo>
                  <a:pt x="57150" y="16669"/>
                </a:lnTo>
                <a:cubicBezTo>
                  <a:pt x="57150" y="15359"/>
                  <a:pt x="58222" y="14288"/>
                  <a:pt x="59531" y="14288"/>
                </a:cubicBezTo>
                <a:close/>
                <a:moveTo>
                  <a:pt x="42863" y="16669"/>
                </a:moveTo>
                <a:lnTo>
                  <a:pt x="42863" y="28575"/>
                </a:lnTo>
                <a:lnTo>
                  <a:pt x="19050" y="28575"/>
                </a:lnTo>
                <a:cubicBezTo>
                  <a:pt x="8543" y="28575"/>
                  <a:pt x="0" y="37118"/>
                  <a:pt x="0" y="47625"/>
                </a:cubicBezTo>
                <a:lnTo>
                  <a:pt x="0" y="76200"/>
                </a:lnTo>
                <a:lnTo>
                  <a:pt x="152400" y="76200"/>
                </a:lnTo>
                <a:lnTo>
                  <a:pt x="152400" y="47625"/>
                </a:lnTo>
                <a:cubicBezTo>
                  <a:pt x="152400" y="37118"/>
                  <a:pt x="143857" y="28575"/>
                  <a:pt x="133350" y="28575"/>
                </a:cubicBezTo>
                <a:lnTo>
                  <a:pt x="109537" y="28575"/>
                </a:lnTo>
                <a:lnTo>
                  <a:pt x="109537" y="16669"/>
                </a:lnTo>
                <a:cubicBezTo>
                  <a:pt x="109537" y="7471"/>
                  <a:pt x="102066" y="0"/>
                  <a:pt x="92869" y="0"/>
                </a:cubicBezTo>
                <a:lnTo>
                  <a:pt x="59531" y="0"/>
                </a:lnTo>
                <a:cubicBezTo>
                  <a:pt x="50334" y="0"/>
                  <a:pt x="42863" y="7471"/>
                  <a:pt x="42863" y="16669"/>
                </a:cubicBezTo>
                <a:close/>
                <a:moveTo>
                  <a:pt x="152400" y="90488"/>
                </a:moveTo>
                <a:lnTo>
                  <a:pt x="95250" y="90488"/>
                </a:lnTo>
                <a:lnTo>
                  <a:pt x="95250" y="95250"/>
                </a:lnTo>
                <a:cubicBezTo>
                  <a:pt x="95250" y="100519"/>
                  <a:pt x="90994" y="104775"/>
                  <a:pt x="85725" y="104775"/>
                </a:cubicBezTo>
                <a:lnTo>
                  <a:pt x="66675" y="104775"/>
                </a:lnTo>
                <a:cubicBezTo>
                  <a:pt x="61406" y="104775"/>
                  <a:pt x="57150" y="100519"/>
                  <a:pt x="57150" y="95250"/>
                </a:cubicBezTo>
                <a:lnTo>
                  <a:pt x="57150" y="90488"/>
                </a:lnTo>
                <a:lnTo>
                  <a:pt x="0" y="90488"/>
                </a:lnTo>
                <a:lnTo>
                  <a:pt x="0" y="123825"/>
                </a:lnTo>
                <a:cubicBezTo>
                  <a:pt x="0" y="134332"/>
                  <a:pt x="8543" y="142875"/>
                  <a:pt x="19050" y="142875"/>
                </a:cubicBezTo>
                <a:lnTo>
                  <a:pt x="133350" y="142875"/>
                </a:lnTo>
                <a:cubicBezTo>
                  <a:pt x="143857" y="142875"/>
                  <a:pt x="152400" y="134332"/>
                  <a:pt x="152400" y="123825"/>
                </a:cubicBezTo>
                <a:lnTo>
                  <a:pt x="152400" y="90488"/>
                </a:lnTo>
                <a:close/>
              </a:path>
            </a:pathLst>
          </a:custGeom>
          <a:solidFill>
            <a:srgbClr val="FB2C36"/>
          </a:solidFill>
          <a:ln/>
        </p:spPr>
      </p:sp>
      <p:sp>
        <p:nvSpPr>
          <p:cNvPr id="11" name="Text 9"/>
          <p:cNvSpPr/>
          <p:nvPr/>
        </p:nvSpPr>
        <p:spPr>
          <a:xfrm>
            <a:off x="845820" y="1645927"/>
            <a:ext cx="128587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Job Displacement</a:t>
            </a:r>
            <a:endParaRPr lang="en-US" sz="1600" dirty="0"/>
          </a:p>
        </p:txBody>
      </p:sp>
      <p:sp>
        <p:nvSpPr>
          <p:cNvPr id="12" name="Text 10"/>
          <p:cNvSpPr/>
          <p:nvPr/>
        </p:nvSpPr>
        <p:spPr>
          <a:xfrm>
            <a:off x="579120" y="1912627"/>
            <a:ext cx="6438900"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Some jobs may be automated, requiring workforce retraining and new skills</a:t>
            </a:r>
            <a:endParaRPr lang="en-US" sz="1600" dirty="0"/>
          </a:p>
        </p:txBody>
      </p:sp>
      <p:sp>
        <p:nvSpPr>
          <p:cNvPr id="13" name="Shape 11"/>
          <p:cNvSpPr/>
          <p:nvPr/>
        </p:nvSpPr>
        <p:spPr>
          <a:xfrm>
            <a:off x="502920" y="2236477"/>
            <a:ext cx="6524625" cy="609600"/>
          </a:xfrm>
          <a:prstGeom prst="roundRect">
            <a:avLst>
              <a:gd name="adj" fmla="val 12500"/>
            </a:avLst>
          </a:prstGeom>
          <a:solidFill>
            <a:srgbClr val="191919"/>
          </a:solidFill>
          <a:ln/>
        </p:spPr>
      </p:sp>
      <p:sp>
        <p:nvSpPr>
          <p:cNvPr id="14" name="Shape 12"/>
          <p:cNvSpPr/>
          <p:nvPr/>
        </p:nvSpPr>
        <p:spPr>
          <a:xfrm>
            <a:off x="607695" y="2350777"/>
            <a:ext cx="133350" cy="152400"/>
          </a:xfrm>
          <a:custGeom>
            <a:avLst/>
            <a:gdLst/>
            <a:ahLst/>
            <a:cxnLst/>
            <a:rect l="l" t="t" r="r" b="b"/>
            <a:pathLst>
              <a:path w="133350" h="152400">
                <a:moveTo>
                  <a:pt x="50899" y="-4762"/>
                </a:moveTo>
                <a:cubicBezTo>
                  <a:pt x="40065" y="-4762"/>
                  <a:pt x="33695" y="12591"/>
                  <a:pt x="30569" y="28575"/>
                </a:cubicBezTo>
                <a:lnTo>
                  <a:pt x="21431" y="28575"/>
                </a:lnTo>
                <a:cubicBezTo>
                  <a:pt x="17472" y="28575"/>
                  <a:pt x="14288" y="31760"/>
                  <a:pt x="14288" y="35719"/>
                </a:cubicBezTo>
                <a:cubicBezTo>
                  <a:pt x="14288" y="39678"/>
                  <a:pt x="17472" y="42863"/>
                  <a:pt x="21431" y="42863"/>
                </a:cubicBezTo>
                <a:lnTo>
                  <a:pt x="28575" y="42863"/>
                </a:lnTo>
                <a:lnTo>
                  <a:pt x="28575" y="52388"/>
                </a:lnTo>
                <a:cubicBezTo>
                  <a:pt x="28575" y="57448"/>
                  <a:pt x="29557" y="62270"/>
                  <a:pt x="31343" y="66675"/>
                </a:cubicBezTo>
                <a:lnTo>
                  <a:pt x="28575" y="66675"/>
                </a:lnTo>
                <a:lnTo>
                  <a:pt x="28575" y="66675"/>
                </a:lnTo>
                <a:lnTo>
                  <a:pt x="22473" y="66675"/>
                </a:lnTo>
                <a:cubicBezTo>
                  <a:pt x="17949" y="66675"/>
                  <a:pt x="14288" y="70336"/>
                  <a:pt x="14288" y="74861"/>
                </a:cubicBezTo>
                <a:cubicBezTo>
                  <a:pt x="14288" y="75754"/>
                  <a:pt x="14436" y="76617"/>
                  <a:pt x="14704" y="77450"/>
                </a:cubicBezTo>
                <a:lnTo>
                  <a:pt x="23306" y="103227"/>
                </a:lnTo>
                <a:cubicBezTo>
                  <a:pt x="11966" y="112990"/>
                  <a:pt x="4763" y="127427"/>
                  <a:pt x="4763" y="143560"/>
                </a:cubicBezTo>
                <a:cubicBezTo>
                  <a:pt x="4763" y="148441"/>
                  <a:pt x="8721" y="152400"/>
                  <a:pt x="13603" y="152400"/>
                </a:cubicBezTo>
                <a:lnTo>
                  <a:pt x="119747" y="152400"/>
                </a:lnTo>
                <a:cubicBezTo>
                  <a:pt x="124629" y="152400"/>
                  <a:pt x="128588" y="148441"/>
                  <a:pt x="128588" y="143560"/>
                </a:cubicBezTo>
                <a:cubicBezTo>
                  <a:pt x="128588" y="127427"/>
                  <a:pt x="121384" y="112990"/>
                  <a:pt x="110044" y="103257"/>
                </a:cubicBezTo>
                <a:lnTo>
                  <a:pt x="118646" y="77480"/>
                </a:lnTo>
                <a:cubicBezTo>
                  <a:pt x="118914" y="76646"/>
                  <a:pt x="119062" y="75783"/>
                  <a:pt x="119062" y="74890"/>
                </a:cubicBezTo>
                <a:cubicBezTo>
                  <a:pt x="119062" y="70366"/>
                  <a:pt x="115401" y="66705"/>
                  <a:pt x="110877" y="66705"/>
                </a:cubicBezTo>
                <a:lnTo>
                  <a:pt x="104775" y="66705"/>
                </a:lnTo>
                <a:lnTo>
                  <a:pt x="104775" y="66705"/>
                </a:lnTo>
                <a:lnTo>
                  <a:pt x="102007" y="66705"/>
                </a:lnTo>
                <a:cubicBezTo>
                  <a:pt x="103793" y="62299"/>
                  <a:pt x="104775" y="57477"/>
                  <a:pt x="104775" y="52417"/>
                </a:cubicBezTo>
                <a:lnTo>
                  <a:pt x="104775" y="42892"/>
                </a:lnTo>
                <a:lnTo>
                  <a:pt x="111919" y="42892"/>
                </a:lnTo>
                <a:cubicBezTo>
                  <a:pt x="115878" y="42892"/>
                  <a:pt x="119062" y="39707"/>
                  <a:pt x="119062" y="35749"/>
                </a:cubicBezTo>
                <a:cubicBezTo>
                  <a:pt x="119062" y="31790"/>
                  <a:pt x="115878" y="28605"/>
                  <a:pt x="111919" y="28605"/>
                </a:cubicBezTo>
                <a:lnTo>
                  <a:pt x="102781" y="28605"/>
                </a:lnTo>
                <a:cubicBezTo>
                  <a:pt x="99685" y="12621"/>
                  <a:pt x="93285" y="-4733"/>
                  <a:pt x="82451" y="-4733"/>
                </a:cubicBezTo>
                <a:cubicBezTo>
                  <a:pt x="79593" y="-4733"/>
                  <a:pt x="76795" y="-3572"/>
                  <a:pt x="74265" y="-2292"/>
                </a:cubicBezTo>
                <a:cubicBezTo>
                  <a:pt x="71824" y="-1072"/>
                  <a:pt x="68788" y="30"/>
                  <a:pt x="66675" y="30"/>
                </a:cubicBezTo>
                <a:cubicBezTo>
                  <a:pt x="64562" y="30"/>
                  <a:pt x="61526" y="-1072"/>
                  <a:pt x="59085" y="-2292"/>
                </a:cubicBezTo>
                <a:cubicBezTo>
                  <a:pt x="56555" y="-3602"/>
                  <a:pt x="53757" y="-4762"/>
                  <a:pt x="50899" y="-4762"/>
                </a:cubicBezTo>
                <a:close/>
                <a:moveTo>
                  <a:pt x="78790" y="139422"/>
                </a:moveTo>
                <a:lnTo>
                  <a:pt x="71408" y="118318"/>
                </a:lnTo>
                <a:lnTo>
                  <a:pt x="79712" y="108645"/>
                </a:lnTo>
                <a:cubicBezTo>
                  <a:pt x="80516" y="107692"/>
                  <a:pt x="80962" y="106501"/>
                  <a:pt x="80962" y="105251"/>
                </a:cubicBezTo>
                <a:cubicBezTo>
                  <a:pt x="80962" y="102364"/>
                  <a:pt x="78641" y="100042"/>
                  <a:pt x="75754" y="100042"/>
                </a:cubicBezTo>
                <a:lnTo>
                  <a:pt x="57596" y="100042"/>
                </a:lnTo>
                <a:cubicBezTo>
                  <a:pt x="54709" y="100042"/>
                  <a:pt x="52387" y="102364"/>
                  <a:pt x="52387" y="105251"/>
                </a:cubicBezTo>
                <a:cubicBezTo>
                  <a:pt x="52387" y="106501"/>
                  <a:pt x="52834" y="107692"/>
                  <a:pt x="53638" y="108645"/>
                </a:cubicBezTo>
                <a:lnTo>
                  <a:pt x="61942" y="118318"/>
                </a:lnTo>
                <a:lnTo>
                  <a:pt x="54560" y="139422"/>
                </a:lnTo>
                <a:lnTo>
                  <a:pt x="37594" y="85725"/>
                </a:lnTo>
                <a:lnTo>
                  <a:pt x="48220" y="85725"/>
                </a:lnTo>
                <a:cubicBezTo>
                  <a:pt x="53697" y="88761"/>
                  <a:pt x="59978" y="90488"/>
                  <a:pt x="66675" y="90488"/>
                </a:cubicBezTo>
                <a:cubicBezTo>
                  <a:pt x="73372" y="90488"/>
                  <a:pt x="79653" y="88761"/>
                  <a:pt x="85130" y="85725"/>
                </a:cubicBezTo>
                <a:lnTo>
                  <a:pt x="95756" y="85725"/>
                </a:lnTo>
                <a:lnTo>
                  <a:pt x="78790" y="139422"/>
                </a:lnTo>
                <a:close/>
                <a:moveTo>
                  <a:pt x="66675" y="76200"/>
                </a:moveTo>
                <a:cubicBezTo>
                  <a:pt x="56346" y="76200"/>
                  <a:pt x="47565" y="69622"/>
                  <a:pt x="44261" y="60424"/>
                </a:cubicBezTo>
                <a:cubicBezTo>
                  <a:pt x="45958" y="61377"/>
                  <a:pt x="47923" y="61912"/>
                  <a:pt x="50006" y="61912"/>
                </a:cubicBezTo>
                <a:lnTo>
                  <a:pt x="53697" y="61912"/>
                </a:lnTo>
                <a:cubicBezTo>
                  <a:pt x="58609" y="61912"/>
                  <a:pt x="62954" y="58757"/>
                  <a:pt x="64502" y="54114"/>
                </a:cubicBezTo>
                <a:cubicBezTo>
                  <a:pt x="65187" y="52030"/>
                  <a:pt x="68134" y="52030"/>
                  <a:pt x="68818" y="54114"/>
                </a:cubicBezTo>
                <a:cubicBezTo>
                  <a:pt x="70366" y="58757"/>
                  <a:pt x="74741" y="61912"/>
                  <a:pt x="79623" y="61912"/>
                </a:cubicBezTo>
                <a:lnTo>
                  <a:pt x="83314" y="61912"/>
                </a:lnTo>
                <a:cubicBezTo>
                  <a:pt x="85398" y="61912"/>
                  <a:pt x="87362" y="61377"/>
                  <a:pt x="89059" y="60424"/>
                </a:cubicBezTo>
                <a:cubicBezTo>
                  <a:pt x="85755" y="69622"/>
                  <a:pt x="76974" y="76200"/>
                  <a:pt x="66645" y="76200"/>
                </a:cubicBezTo>
                <a:close/>
              </a:path>
            </a:pathLst>
          </a:custGeom>
          <a:solidFill>
            <a:srgbClr val="FB2C36"/>
          </a:solidFill>
          <a:ln/>
        </p:spPr>
      </p:sp>
      <p:sp>
        <p:nvSpPr>
          <p:cNvPr id="15" name="Text 13"/>
          <p:cNvSpPr/>
          <p:nvPr/>
        </p:nvSpPr>
        <p:spPr>
          <a:xfrm>
            <a:off x="845820" y="2312677"/>
            <a:ext cx="124777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Privacy Concerns</a:t>
            </a:r>
            <a:endParaRPr lang="en-US" sz="1600" dirty="0"/>
          </a:p>
        </p:txBody>
      </p:sp>
      <p:sp>
        <p:nvSpPr>
          <p:cNvPr id="16" name="Text 14"/>
          <p:cNvSpPr/>
          <p:nvPr/>
        </p:nvSpPr>
        <p:spPr>
          <a:xfrm>
            <a:off x="579120" y="2579377"/>
            <a:ext cx="6438900"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AI collects vast amounts of personal data, raising privacy questions</a:t>
            </a:r>
            <a:endParaRPr lang="en-US" sz="1600" dirty="0"/>
          </a:p>
        </p:txBody>
      </p:sp>
      <p:sp>
        <p:nvSpPr>
          <p:cNvPr id="17" name="Shape 15"/>
          <p:cNvSpPr/>
          <p:nvPr/>
        </p:nvSpPr>
        <p:spPr>
          <a:xfrm>
            <a:off x="502920" y="2903227"/>
            <a:ext cx="6524625" cy="609600"/>
          </a:xfrm>
          <a:prstGeom prst="roundRect">
            <a:avLst>
              <a:gd name="adj" fmla="val 12500"/>
            </a:avLst>
          </a:prstGeom>
          <a:solidFill>
            <a:srgbClr val="191919"/>
          </a:solidFill>
          <a:ln/>
        </p:spPr>
      </p:sp>
      <p:sp>
        <p:nvSpPr>
          <p:cNvPr id="18" name="Shape 16"/>
          <p:cNvSpPr/>
          <p:nvPr/>
        </p:nvSpPr>
        <p:spPr>
          <a:xfrm>
            <a:off x="579120" y="3017527"/>
            <a:ext cx="190500" cy="152400"/>
          </a:xfrm>
          <a:custGeom>
            <a:avLst/>
            <a:gdLst/>
            <a:ahLst/>
            <a:cxnLst/>
            <a:rect l="l" t="t" r="r" b="b"/>
            <a:pathLst>
              <a:path w="190500" h="152400">
                <a:moveTo>
                  <a:pt x="114300" y="9525"/>
                </a:moveTo>
                <a:lnTo>
                  <a:pt x="152400" y="9525"/>
                </a:lnTo>
                <a:cubicBezTo>
                  <a:pt x="157669" y="9525"/>
                  <a:pt x="161925" y="13781"/>
                  <a:pt x="161925" y="19050"/>
                </a:cubicBezTo>
                <a:cubicBezTo>
                  <a:pt x="161925" y="24319"/>
                  <a:pt x="157669" y="28575"/>
                  <a:pt x="152400" y="28575"/>
                </a:cubicBezTo>
                <a:lnTo>
                  <a:pt x="118586" y="28575"/>
                </a:lnTo>
                <a:cubicBezTo>
                  <a:pt x="117038" y="36255"/>
                  <a:pt x="111770" y="42595"/>
                  <a:pt x="104775" y="45631"/>
                </a:cubicBezTo>
                <a:lnTo>
                  <a:pt x="104775" y="133350"/>
                </a:lnTo>
                <a:lnTo>
                  <a:pt x="152400" y="133350"/>
                </a:lnTo>
                <a:cubicBezTo>
                  <a:pt x="157669" y="133350"/>
                  <a:pt x="161925" y="137606"/>
                  <a:pt x="161925" y="142875"/>
                </a:cubicBezTo>
                <a:cubicBezTo>
                  <a:pt x="161925" y="148144"/>
                  <a:pt x="157669" y="152400"/>
                  <a:pt x="152400" y="152400"/>
                </a:cubicBezTo>
                <a:lnTo>
                  <a:pt x="38100" y="152400"/>
                </a:lnTo>
                <a:cubicBezTo>
                  <a:pt x="32831" y="152400"/>
                  <a:pt x="28575" y="148144"/>
                  <a:pt x="28575" y="142875"/>
                </a:cubicBezTo>
                <a:cubicBezTo>
                  <a:pt x="28575" y="137606"/>
                  <a:pt x="32831" y="133350"/>
                  <a:pt x="38100" y="133350"/>
                </a:cubicBezTo>
                <a:lnTo>
                  <a:pt x="85725" y="133350"/>
                </a:lnTo>
                <a:lnTo>
                  <a:pt x="85725" y="45631"/>
                </a:lnTo>
                <a:cubicBezTo>
                  <a:pt x="78730" y="42565"/>
                  <a:pt x="73462" y="36225"/>
                  <a:pt x="71914" y="28575"/>
                </a:cubicBezTo>
                <a:lnTo>
                  <a:pt x="38100" y="28575"/>
                </a:lnTo>
                <a:cubicBezTo>
                  <a:pt x="32831" y="28575"/>
                  <a:pt x="28575" y="24319"/>
                  <a:pt x="28575" y="19050"/>
                </a:cubicBezTo>
                <a:cubicBezTo>
                  <a:pt x="28575" y="13781"/>
                  <a:pt x="32831" y="9525"/>
                  <a:pt x="38100" y="9525"/>
                </a:cubicBezTo>
                <a:lnTo>
                  <a:pt x="76200" y="9525"/>
                </a:lnTo>
                <a:cubicBezTo>
                  <a:pt x="80546" y="3750"/>
                  <a:pt x="87451" y="0"/>
                  <a:pt x="95250" y="0"/>
                </a:cubicBezTo>
                <a:cubicBezTo>
                  <a:pt x="103049" y="0"/>
                  <a:pt x="109954" y="3750"/>
                  <a:pt x="114300" y="9525"/>
                </a:cubicBezTo>
                <a:close/>
                <a:moveTo>
                  <a:pt x="130850" y="95250"/>
                </a:moveTo>
                <a:lnTo>
                  <a:pt x="173950" y="95250"/>
                </a:lnTo>
                <a:lnTo>
                  <a:pt x="152400" y="58281"/>
                </a:lnTo>
                <a:lnTo>
                  <a:pt x="130850" y="95250"/>
                </a:lnTo>
                <a:close/>
                <a:moveTo>
                  <a:pt x="152400" y="123825"/>
                </a:moveTo>
                <a:cubicBezTo>
                  <a:pt x="133677" y="123825"/>
                  <a:pt x="118110" y="113705"/>
                  <a:pt x="114895" y="100340"/>
                </a:cubicBezTo>
                <a:cubicBezTo>
                  <a:pt x="114121" y="97066"/>
                  <a:pt x="115193" y="93702"/>
                  <a:pt x="116890" y="90785"/>
                </a:cubicBezTo>
                <a:lnTo>
                  <a:pt x="145226" y="42208"/>
                </a:lnTo>
                <a:cubicBezTo>
                  <a:pt x="146715" y="39648"/>
                  <a:pt x="149453" y="38100"/>
                  <a:pt x="152400" y="38100"/>
                </a:cubicBezTo>
                <a:cubicBezTo>
                  <a:pt x="155347" y="38100"/>
                  <a:pt x="158085" y="39678"/>
                  <a:pt x="159574" y="42208"/>
                </a:cubicBezTo>
                <a:lnTo>
                  <a:pt x="187910" y="90785"/>
                </a:lnTo>
                <a:cubicBezTo>
                  <a:pt x="189607" y="93702"/>
                  <a:pt x="190679" y="97066"/>
                  <a:pt x="189905" y="100340"/>
                </a:cubicBezTo>
                <a:cubicBezTo>
                  <a:pt x="186690" y="113675"/>
                  <a:pt x="171123" y="123825"/>
                  <a:pt x="152400" y="123825"/>
                </a:cubicBezTo>
                <a:close/>
                <a:moveTo>
                  <a:pt x="37743" y="58281"/>
                </a:moveTo>
                <a:lnTo>
                  <a:pt x="16193" y="95250"/>
                </a:lnTo>
                <a:lnTo>
                  <a:pt x="59323" y="95250"/>
                </a:lnTo>
                <a:lnTo>
                  <a:pt x="37743" y="58281"/>
                </a:lnTo>
                <a:close/>
                <a:moveTo>
                  <a:pt x="268" y="100340"/>
                </a:moveTo>
                <a:cubicBezTo>
                  <a:pt x="-506" y="97066"/>
                  <a:pt x="566" y="93702"/>
                  <a:pt x="2262" y="90785"/>
                </a:cubicBezTo>
                <a:lnTo>
                  <a:pt x="30599" y="42208"/>
                </a:lnTo>
                <a:cubicBezTo>
                  <a:pt x="32087" y="39648"/>
                  <a:pt x="34826" y="38100"/>
                  <a:pt x="37773" y="38100"/>
                </a:cubicBezTo>
                <a:cubicBezTo>
                  <a:pt x="40719" y="38100"/>
                  <a:pt x="43458" y="39678"/>
                  <a:pt x="44946" y="42208"/>
                </a:cubicBezTo>
                <a:lnTo>
                  <a:pt x="73283" y="90785"/>
                </a:lnTo>
                <a:cubicBezTo>
                  <a:pt x="74980" y="93702"/>
                  <a:pt x="76051" y="97066"/>
                  <a:pt x="75277" y="100340"/>
                </a:cubicBezTo>
                <a:cubicBezTo>
                  <a:pt x="72063" y="113675"/>
                  <a:pt x="56495" y="123825"/>
                  <a:pt x="37773" y="123825"/>
                </a:cubicBezTo>
                <a:cubicBezTo>
                  <a:pt x="19050" y="123825"/>
                  <a:pt x="3483" y="113705"/>
                  <a:pt x="268" y="100340"/>
                </a:cubicBezTo>
                <a:close/>
              </a:path>
            </a:pathLst>
          </a:custGeom>
          <a:solidFill>
            <a:srgbClr val="FB2C36"/>
          </a:solidFill>
          <a:ln/>
        </p:spPr>
      </p:sp>
      <p:sp>
        <p:nvSpPr>
          <p:cNvPr id="19" name="Text 17"/>
          <p:cNvSpPr/>
          <p:nvPr/>
        </p:nvSpPr>
        <p:spPr>
          <a:xfrm>
            <a:off x="845820" y="2979427"/>
            <a:ext cx="685800"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Bias in AI</a:t>
            </a:r>
            <a:endParaRPr lang="en-US" sz="1600" dirty="0"/>
          </a:p>
        </p:txBody>
      </p:sp>
      <p:sp>
        <p:nvSpPr>
          <p:cNvPr id="20" name="Text 18"/>
          <p:cNvSpPr/>
          <p:nvPr/>
        </p:nvSpPr>
        <p:spPr>
          <a:xfrm>
            <a:off x="579120" y="3246127"/>
            <a:ext cx="6438900"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AI can inherit biases from training data, leading to unfair decisions</a:t>
            </a:r>
            <a:endParaRPr lang="en-US" sz="1600" dirty="0"/>
          </a:p>
        </p:txBody>
      </p:sp>
      <p:sp>
        <p:nvSpPr>
          <p:cNvPr id="21" name="Shape 19"/>
          <p:cNvSpPr/>
          <p:nvPr/>
        </p:nvSpPr>
        <p:spPr>
          <a:xfrm>
            <a:off x="502920" y="3569977"/>
            <a:ext cx="6524625" cy="609600"/>
          </a:xfrm>
          <a:prstGeom prst="roundRect">
            <a:avLst>
              <a:gd name="adj" fmla="val 12500"/>
            </a:avLst>
          </a:prstGeom>
          <a:solidFill>
            <a:srgbClr val="191919"/>
          </a:solidFill>
          <a:ln/>
        </p:spPr>
      </p:sp>
      <p:sp>
        <p:nvSpPr>
          <p:cNvPr id="22" name="Shape 20"/>
          <p:cNvSpPr/>
          <p:nvPr/>
        </p:nvSpPr>
        <p:spPr>
          <a:xfrm>
            <a:off x="598170" y="3684277"/>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76200" y="52388"/>
                </a:moveTo>
                <a:cubicBezTo>
                  <a:pt x="70931" y="52388"/>
                  <a:pt x="66675" y="56644"/>
                  <a:pt x="66675" y="61912"/>
                </a:cubicBezTo>
                <a:cubicBezTo>
                  <a:pt x="66675" y="65871"/>
                  <a:pt x="63490" y="69056"/>
                  <a:pt x="59531" y="69056"/>
                </a:cubicBezTo>
                <a:cubicBezTo>
                  <a:pt x="55572" y="69056"/>
                  <a:pt x="52388" y="65871"/>
                  <a:pt x="52388" y="61912"/>
                </a:cubicBezTo>
                <a:cubicBezTo>
                  <a:pt x="52388" y="48756"/>
                  <a:pt x="63044" y="38100"/>
                  <a:pt x="76200" y="38100"/>
                </a:cubicBezTo>
                <a:cubicBezTo>
                  <a:pt x="89356" y="38100"/>
                  <a:pt x="100013" y="48756"/>
                  <a:pt x="100013" y="61912"/>
                </a:cubicBezTo>
                <a:cubicBezTo>
                  <a:pt x="100013" y="75962"/>
                  <a:pt x="89297" y="81915"/>
                  <a:pt x="83344" y="84088"/>
                </a:cubicBezTo>
                <a:lnTo>
                  <a:pt x="83344" y="85219"/>
                </a:lnTo>
                <a:cubicBezTo>
                  <a:pt x="83344" y="89178"/>
                  <a:pt x="80159" y="92363"/>
                  <a:pt x="76200" y="92363"/>
                </a:cubicBezTo>
                <a:cubicBezTo>
                  <a:pt x="72241" y="92363"/>
                  <a:pt x="69056" y="89178"/>
                  <a:pt x="69056" y="85219"/>
                </a:cubicBezTo>
                <a:lnTo>
                  <a:pt x="69056" y="82808"/>
                </a:lnTo>
                <a:cubicBezTo>
                  <a:pt x="69056" y="76706"/>
                  <a:pt x="73462" y="72330"/>
                  <a:pt x="78016" y="70842"/>
                </a:cubicBezTo>
                <a:cubicBezTo>
                  <a:pt x="79921" y="70217"/>
                  <a:pt x="81945" y="69205"/>
                  <a:pt x="83433" y="67776"/>
                </a:cubicBezTo>
                <a:cubicBezTo>
                  <a:pt x="84713" y="66526"/>
                  <a:pt x="85725" y="64800"/>
                  <a:pt x="85725" y="61942"/>
                </a:cubicBezTo>
                <a:cubicBezTo>
                  <a:pt x="85725" y="56674"/>
                  <a:pt x="81469" y="52417"/>
                  <a:pt x="76200" y="52417"/>
                </a:cubicBezTo>
                <a:close/>
                <a:moveTo>
                  <a:pt x="66675" y="109537"/>
                </a:moveTo>
                <a:cubicBezTo>
                  <a:pt x="66675" y="104281"/>
                  <a:pt x="70943" y="100013"/>
                  <a:pt x="76200" y="100013"/>
                </a:cubicBezTo>
                <a:cubicBezTo>
                  <a:pt x="81457" y="100013"/>
                  <a:pt x="85725" y="104281"/>
                  <a:pt x="85725" y="109537"/>
                </a:cubicBezTo>
                <a:cubicBezTo>
                  <a:pt x="85725" y="114794"/>
                  <a:pt x="81457" y="119062"/>
                  <a:pt x="76200" y="119062"/>
                </a:cubicBezTo>
                <a:cubicBezTo>
                  <a:pt x="70943" y="119062"/>
                  <a:pt x="66675" y="114794"/>
                  <a:pt x="66675" y="109537"/>
                </a:cubicBezTo>
                <a:close/>
              </a:path>
            </a:pathLst>
          </a:custGeom>
          <a:solidFill>
            <a:srgbClr val="FB2C36"/>
          </a:solidFill>
          <a:ln/>
        </p:spPr>
      </p:sp>
      <p:sp>
        <p:nvSpPr>
          <p:cNvPr id="23" name="Text 21"/>
          <p:cNvSpPr/>
          <p:nvPr/>
        </p:nvSpPr>
        <p:spPr>
          <a:xfrm>
            <a:off x="845820" y="3646177"/>
            <a:ext cx="1247775" cy="228600"/>
          </a:xfrm>
          <a:prstGeom prst="rect">
            <a:avLst/>
          </a:prstGeom>
          <a:noFill/>
          <a:ln/>
        </p:spPr>
        <p:txBody>
          <a:bodyPr wrap="square" lIns="0" tIns="0" rIns="0" bIns="0" rtlCol="0" anchor="ctr"/>
          <a:lstStyle/>
          <a:p>
            <a:pPr>
              <a:lnSpc>
                <a:spcPct val="130000"/>
              </a:lnSpc>
            </a:pPr>
            <a:r>
              <a:rPr lang="en-US" sz="1200" b="1" dirty="0">
                <a:solidFill>
                  <a:srgbClr val="EFEFEF"/>
                </a:solidFill>
                <a:latin typeface="Liter" pitchFamily="34" charset="0"/>
                <a:ea typeface="Liter" pitchFamily="34" charset="-122"/>
                <a:cs typeface="Liter" pitchFamily="34" charset="-120"/>
              </a:rPr>
              <a:t>Ethical Questions</a:t>
            </a:r>
            <a:endParaRPr lang="en-US" sz="1600" dirty="0"/>
          </a:p>
        </p:txBody>
      </p:sp>
      <p:sp>
        <p:nvSpPr>
          <p:cNvPr id="24" name="Text 22"/>
          <p:cNvSpPr/>
          <p:nvPr/>
        </p:nvSpPr>
        <p:spPr>
          <a:xfrm>
            <a:off x="579120" y="3912877"/>
            <a:ext cx="6438900"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Who is responsible when AI makes mistakes? How do we ensure fairness?</a:t>
            </a:r>
            <a:endParaRPr lang="en-US" sz="1600" dirty="0"/>
          </a:p>
        </p:txBody>
      </p:sp>
      <p:sp>
        <p:nvSpPr>
          <p:cNvPr id="25" name="Shape 23"/>
          <p:cNvSpPr/>
          <p:nvPr/>
        </p:nvSpPr>
        <p:spPr>
          <a:xfrm>
            <a:off x="384810" y="4381496"/>
            <a:ext cx="6760845" cy="1112520"/>
          </a:xfrm>
          <a:prstGeom prst="roundRect">
            <a:avLst>
              <a:gd name="adj" fmla="val 10274"/>
            </a:avLst>
          </a:prstGeom>
          <a:solidFill>
            <a:srgbClr val="262626"/>
          </a:solidFill>
          <a:ln w="10160">
            <a:solidFill>
              <a:srgbClr val="333333"/>
            </a:solidFill>
            <a:prstDash val="solid"/>
          </a:ln>
        </p:spPr>
      </p:sp>
      <p:sp>
        <p:nvSpPr>
          <p:cNvPr id="26" name="Text 24"/>
          <p:cNvSpPr/>
          <p:nvPr/>
        </p:nvSpPr>
        <p:spPr>
          <a:xfrm>
            <a:off x="502920" y="4499614"/>
            <a:ext cx="6619875"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Solutions Being Developed</a:t>
            </a:r>
            <a:endParaRPr lang="en-US" sz="1600" dirty="0"/>
          </a:p>
        </p:txBody>
      </p:sp>
      <p:sp>
        <p:nvSpPr>
          <p:cNvPr id="27" name="Shape 25"/>
          <p:cNvSpPr/>
          <p:nvPr/>
        </p:nvSpPr>
        <p:spPr>
          <a:xfrm>
            <a:off x="521970" y="4880614"/>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00C950"/>
          </a:solidFill>
          <a:ln/>
        </p:spPr>
      </p:sp>
      <p:sp>
        <p:nvSpPr>
          <p:cNvPr id="28" name="Text 26"/>
          <p:cNvSpPr/>
          <p:nvPr/>
        </p:nvSpPr>
        <p:spPr>
          <a:xfrm>
            <a:off x="769620" y="4842514"/>
            <a:ext cx="28575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AI regulation and governance frameworks</a:t>
            </a:r>
            <a:endParaRPr lang="en-US" sz="1600" dirty="0"/>
          </a:p>
        </p:txBody>
      </p:sp>
      <p:sp>
        <p:nvSpPr>
          <p:cNvPr id="29" name="Shape 27"/>
          <p:cNvSpPr/>
          <p:nvPr/>
        </p:nvSpPr>
        <p:spPr>
          <a:xfrm>
            <a:off x="3821430" y="4880614"/>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00C950"/>
          </a:solidFill>
          <a:ln/>
        </p:spPr>
      </p:sp>
      <p:sp>
        <p:nvSpPr>
          <p:cNvPr id="30" name="Text 28"/>
          <p:cNvSpPr/>
          <p:nvPr/>
        </p:nvSpPr>
        <p:spPr>
          <a:xfrm>
            <a:off x="4069080" y="4842514"/>
            <a:ext cx="2733675"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Transparent and explainable AI systems</a:t>
            </a:r>
            <a:endParaRPr lang="en-US" sz="1600" dirty="0"/>
          </a:p>
        </p:txBody>
      </p:sp>
      <p:sp>
        <p:nvSpPr>
          <p:cNvPr id="31" name="Shape 29"/>
          <p:cNvSpPr/>
          <p:nvPr/>
        </p:nvSpPr>
        <p:spPr>
          <a:xfrm>
            <a:off x="521970" y="5185414"/>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00C950"/>
          </a:solidFill>
          <a:ln/>
        </p:spPr>
      </p:sp>
      <p:sp>
        <p:nvSpPr>
          <p:cNvPr id="32" name="Text 30"/>
          <p:cNvSpPr/>
          <p:nvPr/>
        </p:nvSpPr>
        <p:spPr>
          <a:xfrm>
            <a:off x="769620" y="5147314"/>
            <a:ext cx="241935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Diverse training data to reduce bias</a:t>
            </a:r>
            <a:endParaRPr lang="en-US" sz="1600" dirty="0"/>
          </a:p>
        </p:txBody>
      </p:sp>
      <p:sp>
        <p:nvSpPr>
          <p:cNvPr id="33" name="Shape 31"/>
          <p:cNvSpPr/>
          <p:nvPr/>
        </p:nvSpPr>
        <p:spPr>
          <a:xfrm>
            <a:off x="3821430" y="5185414"/>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00C950"/>
          </a:solidFill>
          <a:ln/>
        </p:spPr>
      </p:sp>
      <p:sp>
        <p:nvSpPr>
          <p:cNvPr id="34" name="Text 32"/>
          <p:cNvSpPr/>
          <p:nvPr/>
        </p:nvSpPr>
        <p:spPr>
          <a:xfrm>
            <a:off x="4069080" y="5147314"/>
            <a:ext cx="234315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Education and reskilling programs</a:t>
            </a:r>
            <a:endParaRPr lang="en-US" sz="1600" dirty="0"/>
          </a:p>
        </p:txBody>
      </p:sp>
      <p:sp>
        <p:nvSpPr>
          <p:cNvPr id="35" name="Shape 33"/>
          <p:cNvSpPr/>
          <p:nvPr/>
        </p:nvSpPr>
        <p:spPr>
          <a:xfrm>
            <a:off x="7303770" y="1108710"/>
            <a:ext cx="4503420" cy="1798320"/>
          </a:xfrm>
          <a:prstGeom prst="roundRect">
            <a:avLst>
              <a:gd name="adj" fmla="val 6356"/>
            </a:avLst>
          </a:prstGeom>
          <a:gradFill rotWithShape="1" flip="none">
            <a:gsLst>
              <a:gs pos="0">
                <a:srgbClr val="FB2C36">
                  <a:alpha val="20000"/>
                </a:srgbClr>
              </a:gs>
              <a:gs pos="100000">
                <a:srgbClr val="FB2C36">
                  <a:alpha val="5000"/>
                </a:srgbClr>
              </a:gs>
            </a:gsLst>
            <a:lin ang="2700000" scaled="1"/>
          </a:gradFill>
          <a:ln w="10160">
            <a:solidFill>
              <a:srgbClr val="FB2C36"/>
            </a:solidFill>
            <a:prstDash val="solid"/>
          </a:ln>
        </p:spPr>
      </p:sp>
      <p:sp>
        <p:nvSpPr>
          <p:cNvPr id="36" name="Shape 34"/>
          <p:cNvSpPr/>
          <p:nvPr/>
        </p:nvSpPr>
        <p:spPr>
          <a:xfrm>
            <a:off x="7469505" y="1264927"/>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FB2C36"/>
          </a:solidFill>
          <a:ln/>
        </p:spPr>
      </p:sp>
      <p:sp>
        <p:nvSpPr>
          <p:cNvPr id="37" name="Text 35"/>
          <p:cNvSpPr/>
          <p:nvPr/>
        </p:nvSpPr>
        <p:spPr>
          <a:xfrm>
            <a:off x="7736205" y="1226827"/>
            <a:ext cx="1809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Real-World Example</a:t>
            </a:r>
            <a:endParaRPr lang="en-US" sz="1600" dirty="0"/>
          </a:p>
        </p:txBody>
      </p:sp>
      <p:sp>
        <p:nvSpPr>
          <p:cNvPr id="38" name="Shape 36"/>
          <p:cNvSpPr/>
          <p:nvPr/>
        </p:nvSpPr>
        <p:spPr>
          <a:xfrm>
            <a:off x="7421880" y="1569727"/>
            <a:ext cx="4267200" cy="1219200"/>
          </a:xfrm>
          <a:prstGeom prst="roundRect">
            <a:avLst>
              <a:gd name="adj" fmla="val 6250"/>
            </a:avLst>
          </a:prstGeom>
          <a:solidFill>
            <a:srgbClr val="191919"/>
          </a:solidFill>
          <a:ln/>
        </p:spPr>
      </p:sp>
      <p:sp>
        <p:nvSpPr>
          <p:cNvPr id="39" name="Text 37"/>
          <p:cNvSpPr/>
          <p:nvPr/>
        </p:nvSpPr>
        <p:spPr>
          <a:xfrm>
            <a:off x="7536180" y="1684027"/>
            <a:ext cx="4124325" cy="266700"/>
          </a:xfrm>
          <a:prstGeom prst="rect">
            <a:avLst/>
          </a:prstGeom>
          <a:noFill/>
          <a:ln/>
        </p:spPr>
        <p:txBody>
          <a:bodyPr wrap="square" lIns="0" tIns="0" rIns="0" bIns="0" rtlCol="0" anchor="ctr"/>
          <a:lstStyle/>
          <a:p>
            <a:pPr>
              <a:lnSpc>
                <a:spcPct val="130000"/>
              </a:lnSpc>
            </a:pPr>
            <a:r>
              <a:rPr lang="en-US" sz="1350" b="1" dirty="0">
                <a:solidFill>
                  <a:srgbClr val="FB2C36"/>
                </a:solidFill>
                <a:latin typeface="Liter" pitchFamily="34" charset="0"/>
                <a:ea typeface="Liter" pitchFamily="34" charset="-122"/>
                <a:cs typeface="Liter" pitchFamily="34" charset="-120"/>
              </a:rPr>
              <a:t>Facial Recognition Bias</a:t>
            </a:r>
            <a:endParaRPr lang="en-US" sz="1600" dirty="0"/>
          </a:p>
        </p:txBody>
      </p:sp>
      <p:sp>
        <p:nvSpPr>
          <p:cNvPr id="40" name="Text 38"/>
          <p:cNvSpPr/>
          <p:nvPr/>
        </p:nvSpPr>
        <p:spPr>
          <a:xfrm>
            <a:off x="7536180" y="1988827"/>
            <a:ext cx="41148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Some facial recognition systems had higher error rates for people with darker skin. This showed why diverse training data and testing is crucial for fair AI.</a:t>
            </a:r>
            <a:endParaRPr lang="en-US" sz="1600" dirty="0"/>
          </a:p>
        </p:txBody>
      </p:sp>
      <p:sp>
        <p:nvSpPr>
          <p:cNvPr id="41" name="Shape 39"/>
          <p:cNvSpPr/>
          <p:nvPr/>
        </p:nvSpPr>
        <p:spPr>
          <a:xfrm>
            <a:off x="7303770" y="2990846"/>
            <a:ext cx="4503420" cy="1264920"/>
          </a:xfrm>
          <a:prstGeom prst="roundRect">
            <a:avLst>
              <a:gd name="adj" fmla="val 9036"/>
            </a:avLst>
          </a:prstGeom>
          <a:solidFill>
            <a:srgbClr val="262626"/>
          </a:solidFill>
          <a:ln w="10160">
            <a:solidFill>
              <a:srgbClr val="333333"/>
            </a:solidFill>
            <a:prstDash val="solid"/>
          </a:ln>
        </p:spPr>
      </p:sp>
      <p:sp>
        <p:nvSpPr>
          <p:cNvPr id="42" name="Text 40"/>
          <p:cNvSpPr/>
          <p:nvPr/>
        </p:nvSpPr>
        <p:spPr>
          <a:xfrm>
            <a:off x="7421880" y="3108964"/>
            <a:ext cx="43529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 Simple Explanation</a:t>
            </a:r>
            <a:endParaRPr lang="en-US" sz="1600" dirty="0"/>
          </a:p>
        </p:txBody>
      </p:sp>
      <p:sp>
        <p:nvSpPr>
          <p:cNvPr id="43" name="Text 41"/>
          <p:cNvSpPr/>
          <p:nvPr/>
        </p:nvSpPr>
        <p:spPr>
          <a:xfrm>
            <a:off x="7421880" y="3451864"/>
            <a:ext cx="434340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Every powerful tool has risks. AI is no different. The key is to develop AI responsibly, with proper rules and safeguards, ensuring it benefits everyone fairly.</a:t>
            </a:r>
            <a:endParaRPr lang="en-US" sz="1600" dirty="0"/>
          </a:p>
        </p:txBody>
      </p:sp>
      <p:sp>
        <p:nvSpPr>
          <p:cNvPr id="44" name="Shape 42"/>
          <p:cNvSpPr/>
          <p:nvPr/>
        </p:nvSpPr>
        <p:spPr>
          <a:xfrm>
            <a:off x="7303770" y="4339601"/>
            <a:ext cx="4503420" cy="1874520"/>
          </a:xfrm>
          <a:prstGeom prst="roundRect">
            <a:avLst>
              <a:gd name="adj" fmla="val 6098"/>
            </a:avLst>
          </a:prstGeom>
          <a:solidFill>
            <a:srgbClr val="262626"/>
          </a:solidFill>
          <a:ln w="10160">
            <a:solidFill>
              <a:srgbClr val="333333"/>
            </a:solidFill>
            <a:prstDash val="solid"/>
          </a:ln>
        </p:spPr>
      </p:sp>
      <p:sp>
        <p:nvSpPr>
          <p:cNvPr id="45" name="Shape 43"/>
          <p:cNvSpPr/>
          <p:nvPr/>
        </p:nvSpPr>
        <p:spPr>
          <a:xfrm>
            <a:off x="7456408" y="4505325"/>
            <a:ext cx="150019" cy="171450"/>
          </a:xfrm>
          <a:custGeom>
            <a:avLst/>
            <a:gdLst/>
            <a:ahLst/>
            <a:cxnLst/>
            <a:rect l="l" t="t" r="r" b="b"/>
            <a:pathLst>
              <a:path w="150019" h="171450">
                <a:moveTo>
                  <a:pt x="21431" y="10716"/>
                </a:moveTo>
                <a:cubicBezTo>
                  <a:pt x="9611" y="10716"/>
                  <a:pt x="0" y="20326"/>
                  <a:pt x="0" y="32147"/>
                </a:cubicBezTo>
                <a:lnTo>
                  <a:pt x="0" y="139303"/>
                </a:lnTo>
                <a:cubicBezTo>
                  <a:pt x="0" y="151124"/>
                  <a:pt x="9611" y="160734"/>
                  <a:pt x="21431" y="160734"/>
                </a:cubicBezTo>
                <a:lnTo>
                  <a:pt x="128588" y="160734"/>
                </a:lnTo>
                <a:cubicBezTo>
                  <a:pt x="140408" y="160734"/>
                  <a:pt x="150019" y="151124"/>
                  <a:pt x="150019" y="139303"/>
                </a:cubicBezTo>
                <a:lnTo>
                  <a:pt x="150019" y="32147"/>
                </a:lnTo>
                <a:cubicBezTo>
                  <a:pt x="150019" y="20326"/>
                  <a:pt x="140408" y="10716"/>
                  <a:pt x="128588" y="10716"/>
                </a:cubicBezTo>
                <a:lnTo>
                  <a:pt x="21431" y="10716"/>
                </a:lnTo>
                <a:close/>
                <a:moveTo>
                  <a:pt x="42863" y="37505"/>
                </a:moveTo>
                <a:cubicBezTo>
                  <a:pt x="51734" y="37505"/>
                  <a:pt x="58936" y="44707"/>
                  <a:pt x="58936" y="53578"/>
                </a:cubicBezTo>
                <a:cubicBezTo>
                  <a:pt x="58936" y="62449"/>
                  <a:pt x="51734" y="69652"/>
                  <a:pt x="42863" y="69652"/>
                </a:cubicBezTo>
                <a:cubicBezTo>
                  <a:pt x="33991" y="69652"/>
                  <a:pt x="26789" y="62449"/>
                  <a:pt x="26789" y="53578"/>
                </a:cubicBezTo>
                <a:cubicBezTo>
                  <a:pt x="26789" y="44707"/>
                  <a:pt x="33991" y="37505"/>
                  <a:pt x="42863" y="37505"/>
                </a:cubicBezTo>
                <a:close/>
                <a:moveTo>
                  <a:pt x="91083" y="75009"/>
                </a:moveTo>
                <a:cubicBezTo>
                  <a:pt x="93896" y="75009"/>
                  <a:pt x="96474" y="76483"/>
                  <a:pt x="97948" y="78860"/>
                </a:cubicBezTo>
                <a:lnTo>
                  <a:pt x="127415" y="127081"/>
                </a:lnTo>
                <a:cubicBezTo>
                  <a:pt x="128922" y="129559"/>
                  <a:pt x="128989" y="132673"/>
                  <a:pt x="127583" y="135218"/>
                </a:cubicBezTo>
                <a:cubicBezTo>
                  <a:pt x="126176" y="137763"/>
                  <a:pt x="123464" y="139303"/>
                  <a:pt x="120551" y="139303"/>
                </a:cubicBezTo>
                <a:lnTo>
                  <a:pt x="29468" y="139303"/>
                </a:lnTo>
                <a:cubicBezTo>
                  <a:pt x="26488" y="139303"/>
                  <a:pt x="23708" y="137629"/>
                  <a:pt x="22335" y="134983"/>
                </a:cubicBezTo>
                <a:cubicBezTo>
                  <a:pt x="20962" y="132338"/>
                  <a:pt x="21163" y="129123"/>
                  <a:pt x="22871" y="126679"/>
                </a:cubicBezTo>
                <a:lnTo>
                  <a:pt x="41624" y="99890"/>
                </a:lnTo>
                <a:cubicBezTo>
                  <a:pt x="43130" y="97747"/>
                  <a:pt x="45575" y="96474"/>
                  <a:pt x="48220" y="96474"/>
                </a:cubicBezTo>
                <a:cubicBezTo>
                  <a:pt x="50866" y="96474"/>
                  <a:pt x="53310" y="97747"/>
                  <a:pt x="54817" y="99890"/>
                </a:cubicBezTo>
                <a:lnTo>
                  <a:pt x="63658" y="112548"/>
                </a:lnTo>
                <a:lnTo>
                  <a:pt x="84218" y="78894"/>
                </a:lnTo>
                <a:cubicBezTo>
                  <a:pt x="85692" y="76516"/>
                  <a:pt x="88270" y="75043"/>
                  <a:pt x="91083" y="75043"/>
                </a:cubicBezTo>
                <a:close/>
              </a:path>
            </a:pathLst>
          </a:custGeom>
          <a:solidFill>
            <a:srgbClr val="FB2C36"/>
          </a:solidFill>
          <a:ln/>
        </p:spPr>
      </p:sp>
      <p:sp>
        <p:nvSpPr>
          <p:cNvPr id="46" name="Text 44"/>
          <p:cNvSpPr/>
          <p:nvPr/>
        </p:nvSpPr>
        <p:spPr>
          <a:xfrm>
            <a:off x="7640955" y="4457700"/>
            <a:ext cx="41338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Visual</a:t>
            </a:r>
            <a:endParaRPr lang="en-US" sz="1600" dirty="0"/>
          </a:p>
        </p:txBody>
      </p:sp>
      <p:sp>
        <p:nvSpPr>
          <p:cNvPr id="47" name="Shape 45"/>
          <p:cNvSpPr/>
          <p:nvPr/>
        </p:nvSpPr>
        <p:spPr>
          <a:xfrm>
            <a:off x="7421880" y="4800600"/>
            <a:ext cx="4267200" cy="609600"/>
          </a:xfrm>
          <a:prstGeom prst="roundRect">
            <a:avLst>
              <a:gd name="adj" fmla="val 12500"/>
            </a:avLst>
          </a:prstGeom>
          <a:solidFill>
            <a:srgbClr val="191919"/>
          </a:solidFill>
          <a:ln/>
        </p:spPr>
      </p:sp>
      <p:sp>
        <p:nvSpPr>
          <p:cNvPr id="48" name="Text 46"/>
          <p:cNvSpPr/>
          <p:nvPr/>
        </p:nvSpPr>
        <p:spPr>
          <a:xfrm>
            <a:off x="7498080" y="48768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Diagram:</a:t>
            </a:r>
            <a:endParaRPr lang="en-US" sz="1600" dirty="0"/>
          </a:p>
        </p:txBody>
      </p:sp>
      <p:sp>
        <p:nvSpPr>
          <p:cNvPr id="49" name="Text 47"/>
          <p:cNvSpPr/>
          <p:nvPr/>
        </p:nvSpPr>
        <p:spPr>
          <a:xfrm>
            <a:off x="7498080" y="51054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AI Power → Responsibility → Ethics → Fairness</a:t>
            </a:r>
            <a:endParaRPr lang="en-US" sz="1600" dirty="0"/>
          </a:p>
        </p:txBody>
      </p:sp>
      <p:sp>
        <p:nvSpPr>
          <p:cNvPr id="50" name="Shape 48"/>
          <p:cNvSpPr/>
          <p:nvPr/>
        </p:nvSpPr>
        <p:spPr>
          <a:xfrm>
            <a:off x="7421880" y="5486400"/>
            <a:ext cx="4267200" cy="609600"/>
          </a:xfrm>
          <a:prstGeom prst="roundRect">
            <a:avLst>
              <a:gd name="adj" fmla="val 12500"/>
            </a:avLst>
          </a:prstGeom>
          <a:solidFill>
            <a:srgbClr val="191919"/>
          </a:solidFill>
          <a:ln/>
        </p:spPr>
      </p:sp>
      <p:sp>
        <p:nvSpPr>
          <p:cNvPr id="51" name="Text 49"/>
          <p:cNvSpPr/>
          <p:nvPr/>
        </p:nvSpPr>
        <p:spPr>
          <a:xfrm>
            <a:off x="7498080" y="5562600"/>
            <a:ext cx="4181475" cy="190500"/>
          </a:xfrm>
          <a:prstGeom prst="rect">
            <a:avLst/>
          </a:prstGeom>
          <a:noFill/>
          <a:ln/>
        </p:spPr>
        <p:txBody>
          <a:bodyPr wrap="square" lIns="0" tIns="0" rIns="0" bIns="0" rtlCol="0" anchor="ctr"/>
          <a:lstStyle/>
          <a:p>
            <a:pPr>
              <a:lnSpc>
                <a:spcPct val="120000"/>
              </a:lnSpc>
            </a:pPr>
            <a:r>
              <a:rPr lang="en-US" sz="1050" dirty="0">
                <a:solidFill>
                  <a:srgbClr val="8F8F8F"/>
                </a:solidFill>
                <a:latin typeface="Liter" pitchFamily="34" charset="0"/>
                <a:ea typeface="Liter" pitchFamily="34" charset="-122"/>
                <a:cs typeface="Liter" pitchFamily="34" charset="-120"/>
              </a:rPr>
              <a:t>Image:</a:t>
            </a:r>
            <a:endParaRPr lang="en-US" sz="1600" dirty="0"/>
          </a:p>
        </p:txBody>
      </p:sp>
      <p:sp>
        <p:nvSpPr>
          <p:cNvPr id="52" name="Text 50"/>
          <p:cNvSpPr/>
          <p:nvPr/>
        </p:nvSpPr>
        <p:spPr>
          <a:xfrm>
            <a:off x="7498080" y="5791200"/>
            <a:ext cx="41910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Balance scale showing AI benefits vs risks</a:t>
            </a:r>
            <a:endParaRPr lang="en-US" sz="1600" dirty="0"/>
          </a:p>
        </p:txBody>
      </p:sp>
    </p:spTree>
  </p:cSld>
  <p:clrMapOvr>
    <a:masterClrMapping/>
  </p:clrMapOvr>
  <p:transition>
    <p:fade/>
    <p:spd val="med"/>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91919"/>
        </a:solidFill>
      </p:bgPr>
    </p:bg>
    <p:spTree>
      <p:nvGrpSpPr>
        <p:cNvPr id="1" name=""/>
        <p:cNvGrpSpPr/>
        <p:nvPr/>
      </p:nvGrpSpPr>
      <p:grpSpPr>
        <a:xfrm>
          <a:off x="0" y="0"/>
          <a:ext cx="0" cy="0"/>
          <a:chOff x="0" y="0"/>
          <a:chExt cx="0" cy="0"/>
        </a:xfrm>
      </p:grpSpPr>
      <p:sp>
        <p:nvSpPr>
          <p:cNvPr id="2" name="Shape 0"/>
          <p:cNvSpPr/>
          <p:nvPr/>
        </p:nvSpPr>
        <p:spPr>
          <a:xfrm>
            <a:off x="381000" y="438150"/>
            <a:ext cx="457200" cy="457200"/>
          </a:xfrm>
          <a:prstGeom prst="roundRect">
            <a:avLst>
              <a:gd name="adj" fmla="val 25000"/>
            </a:avLst>
          </a:prstGeom>
          <a:solidFill>
            <a:srgbClr val="FF6900">
              <a:alpha val="20000"/>
            </a:srgbClr>
          </a:solidFill>
          <a:ln/>
        </p:spPr>
      </p:sp>
      <p:sp>
        <p:nvSpPr>
          <p:cNvPr id="3" name="Text 1"/>
          <p:cNvSpPr/>
          <p:nvPr/>
        </p:nvSpPr>
        <p:spPr>
          <a:xfrm>
            <a:off x="495776" y="533400"/>
            <a:ext cx="323850" cy="266700"/>
          </a:xfrm>
          <a:prstGeom prst="rect">
            <a:avLst/>
          </a:prstGeom>
          <a:noFill/>
          <a:ln/>
        </p:spPr>
        <p:txBody>
          <a:bodyPr wrap="square" lIns="0" tIns="0" rIns="0" bIns="0" rtlCol="0" anchor="ctr"/>
          <a:lstStyle/>
          <a:p>
            <a:pPr>
              <a:lnSpc>
                <a:spcPct val="120000"/>
              </a:lnSpc>
            </a:pPr>
            <a:r>
              <a:rPr lang="en-US" sz="1500" b="1" dirty="0">
                <a:solidFill>
                  <a:srgbClr val="FF6900"/>
                </a:solidFill>
                <a:latin typeface="Liter" pitchFamily="34" charset="0"/>
                <a:ea typeface="Liter" pitchFamily="34" charset="-122"/>
                <a:cs typeface="Liter" pitchFamily="34" charset="-120"/>
              </a:rPr>
              <a:t>28</a:t>
            </a:r>
            <a:endParaRPr lang="en-US" sz="1600" dirty="0"/>
          </a:p>
        </p:txBody>
      </p:sp>
      <p:sp>
        <p:nvSpPr>
          <p:cNvPr id="4" name="Text 2"/>
          <p:cNvSpPr/>
          <p:nvPr/>
        </p:nvSpPr>
        <p:spPr>
          <a:xfrm>
            <a:off x="952500" y="381000"/>
            <a:ext cx="5638800" cy="190500"/>
          </a:xfrm>
          <a:prstGeom prst="rect">
            <a:avLst/>
          </a:prstGeom>
          <a:noFill/>
          <a:ln/>
        </p:spPr>
        <p:txBody>
          <a:bodyPr wrap="square" lIns="0" tIns="0" rIns="0" bIns="0" rtlCol="0" anchor="ctr"/>
          <a:lstStyle/>
          <a:p>
            <a:pPr>
              <a:lnSpc>
                <a:spcPct val="120000"/>
              </a:lnSpc>
            </a:pPr>
            <a:r>
              <a:rPr lang="en-US" sz="1050" b="1" spc="53" kern="0" dirty="0">
                <a:solidFill>
                  <a:srgbClr val="FF6900"/>
                </a:solidFill>
                <a:latin typeface="Liter" pitchFamily="34" charset="0"/>
                <a:ea typeface="Liter" pitchFamily="34" charset="-122"/>
                <a:cs typeface="Liter" pitchFamily="34" charset="-120"/>
              </a:rPr>
              <a:t>Future of AI</a:t>
            </a:r>
            <a:endParaRPr lang="en-US" sz="1600" dirty="0"/>
          </a:p>
        </p:txBody>
      </p:sp>
      <p:sp>
        <p:nvSpPr>
          <p:cNvPr id="5" name="Text 3"/>
          <p:cNvSpPr/>
          <p:nvPr/>
        </p:nvSpPr>
        <p:spPr>
          <a:xfrm>
            <a:off x="952500" y="571500"/>
            <a:ext cx="5743575" cy="381000"/>
          </a:xfrm>
          <a:prstGeom prst="rect">
            <a:avLst/>
          </a:prstGeom>
          <a:noFill/>
          <a:ln/>
        </p:spPr>
        <p:txBody>
          <a:bodyPr wrap="square" lIns="0" tIns="0" rIns="0" bIns="0" rtlCol="0" anchor="ctr"/>
          <a:lstStyle/>
          <a:p>
            <a:pPr>
              <a:lnSpc>
                <a:spcPct val="90000"/>
              </a:lnSpc>
            </a:pPr>
            <a:r>
              <a:rPr lang="en-US" sz="2700" b="1" dirty="0">
                <a:solidFill>
                  <a:srgbClr val="EFEFEF"/>
                </a:solidFill>
                <a:latin typeface="Liter" pitchFamily="34" charset="0"/>
                <a:ea typeface="Liter" pitchFamily="34" charset="-122"/>
                <a:cs typeface="Liter" pitchFamily="34" charset="-120"/>
              </a:rPr>
              <a:t>AI and Jobs – Will Robots Take Over?</a:t>
            </a:r>
            <a:endParaRPr lang="en-US" sz="1600" dirty="0"/>
          </a:p>
        </p:txBody>
      </p:sp>
      <p:sp>
        <p:nvSpPr>
          <p:cNvPr id="6" name="Shape 4"/>
          <p:cNvSpPr/>
          <p:nvPr/>
        </p:nvSpPr>
        <p:spPr>
          <a:xfrm>
            <a:off x="384810" y="1108710"/>
            <a:ext cx="5627370" cy="1664970"/>
          </a:xfrm>
          <a:prstGeom prst="roundRect">
            <a:avLst>
              <a:gd name="adj" fmla="val 6865"/>
            </a:avLst>
          </a:prstGeom>
          <a:solidFill>
            <a:srgbClr val="262626"/>
          </a:solidFill>
          <a:ln w="10160">
            <a:solidFill>
              <a:srgbClr val="333333"/>
            </a:solidFill>
            <a:prstDash val="solid"/>
          </a:ln>
        </p:spPr>
      </p:sp>
      <p:sp>
        <p:nvSpPr>
          <p:cNvPr id="7" name="Shape 5"/>
          <p:cNvSpPr/>
          <p:nvPr/>
        </p:nvSpPr>
        <p:spPr>
          <a:xfrm>
            <a:off x="502920" y="1264927"/>
            <a:ext cx="238125" cy="190500"/>
          </a:xfrm>
          <a:custGeom>
            <a:avLst/>
            <a:gdLst/>
            <a:ahLst/>
            <a:cxnLst/>
            <a:rect l="l" t="t" r="r" b="b"/>
            <a:pathLst>
              <a:path w="238125" h="190500">
                <a:moveTo>
                  <a:pt x="130969" y="0"/>
                </a:moveTo>
                <a:cubicBezTo>
                  <a:pt x="130969" y="-6586"/>
                  <a:pt x="125648" y="-11906"/>
                  <a:pt x="119063" y="-11906"/>
                </a:cubicBezTo>
                <a:cubicBezTo>
                  <a:pt x="112477" y="-11906"/>
                  <a:pt x="107156" y="-6586"/>
                  <a:pt x="107156" y="0"/>
                </a:cubicBezTo>
                <a:lnTo>
                  <a:pt x="107156" y="23812"/>
                </a:lnTo>
                <a:lnTo>
                  <a:pt x="71438" y="23812"/>
                </a:lnTo>
                <a:cubicBezTo>
                  <a:pt x="51718" y="23812"/>
                  <a:pt x="35719" y="39812"/>
                  <a:pt x="35719" y="59531"/>
                </a:cubicBezTo>
                <a:lnTo>
                  <a:pt x="35719" y="142875"/>
                </a:lnTo>
                <a:cubicBezTo>
                  <a:pt x="35719" y="162595"/>
                  <a:pt x="51718" y="178594"/>
                  <a:pt x="71438" y="178594"/>
                </a:cubicBezTo>
                <a:lnTo>
                  <a:pt x="166688" y="178594"/>
                </a:lnTo>
                <a:cubicBezTo>
                  <a:pt x="186407" y="178594"/>
                  <a:pt x="202406" y="162595"/>
                  <a:pt x="202406" y="142875"/>
                </a:cubicBezTo>
                <a:lnTo>
                  <a:pt x="202406" y="59531"/>
                </a:lnTo>
                <a:cubicBezTo>
                  <a:pt x="202406" y="39812"/>
                  <a:pt x="186407" y="23812"/>
                  <a:pt x="166688" y="23812"/>
                </a:cubicBezTo>
                <a:lnTo>
                  <a:pt x="130969" y="23812"/>
                </a:lnTo>
                <a:lnTo>
                  <a:pt x="130969" y="0"/>
                </a:lnTo>
                <a:close/>
                <a:moveTo>
                  <a:pt x="59531" y="136922"/>
                </a:moveTo>
                <a:cubicBezTo>
                  <a:pt x="59531" y="131973"/>
                  <a:pt x="63512" y="127992"/>
                  <a:pt x="68461" y="127992"/>
                </a:cubicBezTo>
                <a:lnTo>
                  <a:pt x="80367" y="127992"/>
                </a:lnTo>
                <a:cubicBezTo>
                  <a:pt x="85316" y="127992"/>
                  <a:pt x="89297" y="131973"/>
                  <a:pt x="89297" y="136922"/>
                </a:cubicBezTo>
                <a:cubicBezTo>
                  <a:pt x="89297" y="141870"/>
                  <a:pt x="85316" y="145852"/>
                  <a:pt x="80367" y="145852"/>
                </a:cubicBezTo>
                <a:lnTo>
                  <a:pt x="68461" y="145852"/>
                </a:lnTo>
                <a:cubicBezTo>
                  <a:pt x="63512" y="145852"/>
                  <a:pt x="59531" y="141870"/>
                  <a:pt x="59531" y="136922"/>
                </a:cubicBezTo>
                <a:close/>
                <a:moveTo>
                  <a:pt x="104180" y="136922"/>
                </a:moveTo>
                <a:cubicBezTo>
                  <a:pt x="104180" y="131973"/>
                  <a:pt x="108161" y="127992"/>
                  <a:pt x="113109" y="127992"/>
                </a:cubicBezTo>
                <a:lnTo>
                  <a:pt x="125016" y="127992"/>
                </a:lnTo>
                <a:cubicBezTo>
                  <a:pt x="129964" y="127992"/>
                  <a:pt x="133945" y="131973"/>
                  <a:pt x="133945" y="136922"/>
                </a:cubicBezTo>
                <a:cubicBezTo>
                  <a:pt x="133945" y="141870"/>
                  <a:pt x="129964" y="145852"/>
                  <a:pt x="125016" y="145852"/>
                </a:cubicBezTo>
                <a:lnTo>
                  <a:pt x="113109" y="145852"/>
                </a:lnTo>
                <a:cubicBezTo>
                  <a:pt x="108161" y="145852"/>
                  <a:pt x="104180" y="141870"/>
                  <a:pt x="104180" y="136922"/>
                </a:cubicBezTo>
                <a:close/>
                <a:moveTo>
                  <a:pt x="148828" y="136922"/>
                </a:moveTo>
                <a:cubicBezTo>
                  <a:pt x="148828" y="131973"/>
                  <a:pt x="152809" y="127992"/>
                  <a:pt x="157758" y="127992"/>
                </a:cubicBezTo>
                <a:lnTo>
                  <a:pt x="169664" y="127992"/>
                </a:lnTo>
                <a:cubicBezTo>
                  <a:pt x="174613" y="127992"/>
                  <a:pt x="178594" y="131973"/>
                  <a:pt x="178594" y="136922"/>
                </a:cubicBezTo>
                <a:cubicBezTo>
                  <a:pt x="178594" y="141870"/>
                  <a:pt x="174613" y="145852"/>
                  <a:pt x="169664" y="145852"/>
                </a:cubicBezTo>
                <a:lnTo>
                  <a:pt x="157758" y="145852"/>
                </a:lnTo>
                <a:cubicBezTo>
                  <a:pt x="152809" y="145852"/>
                  <a:pt x="148828" y="141870"/>
                  <a:pt x="148828" y="136922"/>
                </a:cubicBezTo>
                <a:close/>
                <a:moveTo>
                  <a:pt x="83344" y="65484"/>
                </a:moveTo>
                <a:cubicBezTo>
                  <a:pt x="93201" y="65484"/>
                  <a:pt x="101203" y="73487"/>
                  <a:pt x="101203" y="83344"/>
                </a:cubicBezTo>
                <a:cubicBezTo>
                  <a:pt x="101203" y="93201"/>
                  <a:pt x="93201" y="101203"/>
                  <a:pt x="83344" y="101203"/>
                </a:cubicBezTo>
                <a:cubicBezTo>
                  <a:pt x="73487" y="101203"/>
                  <a:pt x="65484" y="93201"/>
                  <a:pt x="65484" y="83344"/>
                </a:cubicBezTo>
                <a:cubicBezTo>
                  <a:pt x="65484" y="73487"/>
                  <a:pt x="73487" y="65484"/>
                  <a:pt x="83344" y="65484"/>
                </a:cubicBezTo>
                <a:close/>
                <a:moveTo>
                  <a:pt x="136922" y="83344"/>
                </a:moveTo>
                <a:cubicBezTo>
                  <a:pt x="136922" y="73487"/>
                  <a:pt x="144924" y="65484"/>
                  <a:pt x="154781" y="65484"/>
                </a:cubicBezTo>
                <a:cubicBezTo>
                  <a:pt x="164638" y="65484"/>
                  <a:pt x="172641" y="73487"/>
                  <a:pt x="172641" y="83344"/>
                </a:cubicBezTo>
                <a:cubicBezTo>
                  <a:pt x="172641" y="93201"/>
                  <a:pt x="164638" y="101203"/>
                  <a:pt x="154781" y="101203"/>
                </a:cubicBezTo>
                <a:cubicBezTo>
                  <a:pt x="144924" y="101203"/>
                  <a:pt x="136922" y="93201"/>
                  <a:pt x="136922" y="83344"/>
                </a:cubicBezTo>
                <a:close/>
                <a:moveTo>
                  <a:pt x="23812" y="83344"/>
                </a:moveTo>
                <a:cubicBezTo>
                  <a:pt x="23812" y="76758"/>
                  <a:pt x="18492" y="71438"/>
                  <a:pt x="11906" y="71438"/>
                </a:cubicBezTo>
                <a:cubicBezTo>
                  <a:pt x="5321" y="71438"/>
                  <a:pt x="0" y="76758"/>
                  <a:pt x="0" y="83344"/>
                </a:cubicBezTo>
                <a:lnTo>
                  <a:pt x="0" y="119063"/>
                </a:lnTo>
                <a:cubicBezTo>
                  <a:pt x="0" y="125648"/>
                  <a:pt x="5321" y="130969"/>
                  <a:pt x="11906" y="130969"/>
                </a:cubicBezTo>
                <a:cubicBezTo>
                  <a:pt x="18492" y="130969"/>
                  <a:pt x="23812" y="125648"/>
                  <a:pt x="23812" y="119063"/>
                </a:cubicBezTo>
                <a:lnTo>
                  <a:pt x="23812" y="83344"/>
                </a:lnTo>
                <a:close/>
                <a:moveTo>
                  <a:pt x="226219" y="71438"/>
                </a:moveTo>
                <a:cubicBezTo>
                  <a:pt x="219633" y="71438"/>
                  <a:pt x="214313" y="76758"/>
                  <a:pt x="214313" y="83344"/>
                </a:cubicBezTo>
                <a:lnTo>
                  <a:pt x="214313" y="119063"/>
                </a:lnTo>
                <a:cubicBezTo>
                  <a:pt x="214313" y="125648"/>
                  <a:pt x="219633" y="130969"/>
                  <a:pt x="226219" y="130969"/>
                </a:cubicBezTo>
                <a:cubicBezTo>
                  <a:pt x="232804" y="130969"/>
                  <a:pt x="238125" y="125648"/>
                  <a:pt x="238125" y="119063"/>
                </a:cubicBezTo>
                <a:lnTo>
                  <a:pt x="238125" y="83344"/>
                </a:lnTo>
                <a:cubicBezTo>
                  <a:pt x="238125" y="76758"/>
                  <a:pt x="232804" y="71438"/>
                  <a:pt x="226219" y="71438"/>
                </a:cubicBezTo>
                <a:close/>
              </a:path>
            </a:pathLst>
          </a:custGeom>
          <a:solidFill>
            <a:srgbClr val="FB2C36"/>
          </a:solidFill>
          <a:ln/>
        </p:spPr>
      </p:sp>
      <p:sp>
        <p:nvSpPr>
          <p:cNvPr id="8" name="Text 6"/>
          <p:cNvSpPr/>
          <p:nvPr/>
        </p:nvSpPr>
        <p:spPr>
          <a:xfrm>
            <a:off x="817245" y="1226827"/>
            <a:ext cx="1990725"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Jobs AI May Automate</a:t>
            </a:r>
            <a:endParaRPr lang="en-US" sz="1600" dirty="0"/>
          </a:p>
        </p:txBody>
      </p:sp>
      <p:sp>
        <p:nvSpPr>
          <p:cNvPr id="9" name="Shape 7"/>
          <p:cNvSpPr/>
          <p:nvPr/>
        </p:nvSpPr>
        <p:spPr>
          <a:xfrm>
            <a:off x="521970" y="1607827"/>
            <a:ext cx="152400" cy="152400"/>
          </a:xfrm>
          <a:custGeom>
            <a:avLst/>
            <a:gdLst/>
            <a:ahLst/>
            <a:cxnLst/>
            <a:rect l="l" t="t" r="r" b="b"/>
            <a:pathLst>
              <a:path w="152400" h="152400">
                <a:moveTo>
                  <a:pt x="28575" y="0"/>
                </a:moveTo>
                <a:cubicBezTo>
                  <a:pt x="18068" y="0"/>
                  <a:pt x="9525" y="8543"/>
                  <a:pt x="9525" y="19050"/>
                </a:cubicBezTo>
                <a:cubicBezTo>
                  <a:pt x="9525" y="29557"/>
                  <a:pt x="18068" y="38100"/>
                  <a:pt x="28575" y="38100"/>
                </a:cubicBezTo>
                <a:lnTo>
                  <a:pt x="42863" y="38100"/>
                </a:lnTo>
                <a:lnTo>
                  <a:pt x="42863" y="47625"/>
                </a:lnTo>
                <a:lnTo>
                  <a:pt x="25896" y="47625"/>
                </a:lnTo>
                <a:cubicBezTo>
                  <a:pt x="16490" y="47625"/>
                  <a:pt x="8483" y="54501"/>
                  <a:pt x="7054" y="63818"/>
                </a:cubicBezTo>
                <a:lnTo>
                  <a:pt x="327" y="108377"/>
                </a:lnTo>
                <a:cubicBezTo>
                  <a:pt x="119" y="109776"/>
                  <a:pt x="0" y="111204"/>
                  <a:pt x="0" y="112633"/>
                </a:cubicBezTo>
                <a:lnTo>
                  <a:pt x="0" y="133350"/>
                </a:lnTo>
                <a:cubicBezTo>
                  <a:pt x="0" y="143857"/>
                  <a:pt x="8543" y="152400"/>
                  <a:pt x="19050" y="152400"/>
                </a:cubicBezTo>
                <a:lnTo>
                  <a:pt x="133350" y="152400"/>
                </a:lnTo>
                <a:cubicBezTo>
                  <a:pt x="143857" y="152400"/>
                  <a:pt x="152400" y="143857"/>
                  <a:pt x="152400" y="133350"/>
                </a:cubicBezTo>
                <a:lnTo>
                  <a:pt x="152400" y="112633"/>
                </a:lnTo>
                <a:cubicBezTo>
                  <a:pt x="152400" y="111204"/>
                  <a:pt x="152281" y="109776"/>
                  <a:pt x="152073" y="108347"/>
                </a:cubicBezTo>
                <a:lnTo>
                  <a:pt x="145316" y="63818"/>
                </a:lnTo>
                <a:cubicBezTo>
                  <a:pt x="143917" y="54501"/>
                  <a:pt x="135910" y="47625"/>
                  <a:pt x="126504" y="47625"/>
                </a:cubicBezTo>
                <a:lnTo>
                  <a:pt x="61912" y="47625"/>
                </a:lnTo>
                <a:lnTo>
                  <a:pt x="61912" y="38100"/>
                </a:lnTo>
                <a:lnTo>
                  <a:pt x="76200" y="38100"/>
                </a:lnTo>
                <a:cubicBezTo>
                  <a:pt x="86707" y="38100"/>
                  <a:pt x="95250" y="29557"/>
                  <a:pt x="95250" y="19050"/>
                </a:cubicBezTo>
                <a:cubicBezTo>
                  <a:pt x="95250" y="8543"/>
                  <a:pt x="86707" y="0"/>
                  <a:pt x="76200" y="0"/>
                </a:cubicBezTo>
                <a:lnTo>
                  <a:pt x="28575" y="0"/>
                </a:lnTo>
                <a:close/>
                <a:moveTo>
                  <a:pt x="28575" y="14288"/>
                </a:moveTo>
                <a:lnTo>
                  <a:pt x="76200" y="14288"/>
                </a:lnTo>
                <a:cubicBezTo>
                  <a:pt x="78819" y="14288"/>
                  <a:pt x="80962" y="16431"/>
                  <a:pt x="80962" y="19050"/>
                </a:cubicBezTo>
                <a:cubicBezTo>
                  <a:pt x="80962" y="21669"/>
                  <a:pt x="78819" y="23813"/>
                  <a:pt x="76200" y="23813"/>
                </a:cubicBezTo>
                <a:lnTo>
                  <a:pt x="28575" y="23813"/>
                </a:lnTo>
                <a:cubicBezTo>
                  <a:pt x="25956" y="23813"/>
                  <a:pt x="23813" y="21669"/>
                  <a:pt x="23813" y="19050"/>
                </a:cubicBezTo>
                <a:cubicBezTo>
                  <a:pt x="23813" y="16431"/>
                  <a:pt x="25956" y="14288"/>
                  <a:pt x="28575" y="14288"/>
                </a:cubicBezTo>
                <a:close/>
                <a:moveTo>
                  <a:pt x="19050" y="126206"/>
                </a:moveTo>
                <a:cubicBezTo>
                  <a:pt x="19050" y="122247"/>
                  <a:pt x="22235" y="119062"/>
                  <a:pt x="26194" y="119062"/>
                </a:cubicBezTo>
                <a:lnTo>
                  <a:pt x="126206" y="119062"/>
                </a:lnTo>
                <a:cubicBezTo>
                  <a:pt x="130165" y="119062"/>
                  <a:pt x="133350" y="122247"/>
                  <a:pt x="133350" y="126206"/>
                </a:cubicBezTo>
                <a:cubicBezTo>
                  <a:pt x="133350" y="130165"/>
                  <a:pt x="130165" y="133350"/>
                  <a:pt x="126206" y="133350"/>
                </a:cubicBezTo>
                <a:lnTo>
                  <a:pt x="26194" y="133350"/>
                </a:lnTo>
                <a:cubicBezTo>
                  <a:pt x="22235" y="133350"/>
                  <a:pt x="19050" y="130165"/>
                  <a:pt x="19050" y="126206"/>
                </a:cubicBezTo>
                <a:close/>
                <a:moveTo>
                  <a:pt x="33338" y="78581"/>
                </a:moveTo>
                <a:cubicBezTo>
                  <a:pt x="29395" y="78581"/>
                  <a:pt x="26194" y="75380"/>
                  <a:pt x="26194" y="71438"/>
                </a:cubicBezTo>
                <a:cubicBezTo>
                  <a:pt x="26194" y="67495"/>
                  <a:pt x="29395" y="64294"/>
                  <a:pt x="33338" y="64294"/>
                </a:cubicBezTo>
                <a:cubicBezTo>
                  <a:pt x="37280" y="64294"/>
                  <a:pt x="40481" y="67495"/>
                  <a:pt x="40481" y="71438"/>
                </a:cubicBezTo>
                <a:cubicBezTo>
                  <a:pt x="40481" y="75380"/>
                  <a:pt x="37280" y="78581"/>
                  <a:pt x="33338" y="78581"/>
                </a:cubicBezTo>
                <a:close/>
                <a:moveTo>
                  <a:pt x="69056" y="71438"/>
                </a:moveTo>
                <a:cubicBezTo>
                  <a:pt x="69056" y="75380"/>
                  <a:pt x="65855" y="78581"/>
                  <a:pt x="61912" y="78581"/>
                </a:cubicBezTo>
                <a:cubicBezTo>
                  <a:pt x="57970" y="78581"/>
                  <a:pt x="54769" y="75380"/>
                  <a:pt x="54769" y="71438"/>
                </a:cubicBezTo>
                <a:cubicBezTo>
                  <a:pt x="54769" y="67495"/>
                  <a:pt x="57970" y="64294"/>
                  <a:pt x="61912" y="64294"/>
                </a:cubicBezTo>
                <a:cubicBezTo>
                  <a:pt x="65855" y="64294"/>
                  <a:pt x="69056" y="67495"/>
                  <a:pt x="69056" y="71438"/>
                </a:cubicBezTo>
                <a:close/>
                <a:moveTo>
                  <a:pt x="47625" y="102394"/>
                </a:moveTo>
                <a:cubicBezTo>
                  <a:pt x="43682" y="102394"/>
                  <a:pt x="40481" y="99193"/>
                  <a:pt x="40481" y="95250"/>
                </a:cubicBezTo>
                <a:cubicBezTo>
                  <a:pt x="40481" y="91307"/>
                  <a:pt x="43682" y="88106"/>
                  <a:pt x="47625" y="88106"/>
                </a:cubicBezTo>
                <a:cubicBezTo>
                  <a:pt x="51568" y="88106"/>
                  <a:pt x="54769" y="91307"/>
                  <a:pt x="54769" y="95250"/>
                </a:cubicBezTo>
                <a:cubicBezTo>
                  <a:pt x="54769" y="99193"/>
                  <a:pt x="51568" y="102394"/>
                  <a:pt x="47625" y="102394"/>
                </a:cubicBezTo>
                <a:close/>
                <a:moveTo>
                  <a:pt x="97631" y="71438"/>
                </a:moveTo>
                <a:cubicBezTo>
                  <a:pt x="97631" y="75380"/>
                  <a:pt x="94430" y="78581"/>
                  <a:pt x="90488" y="78581"/>
                </a:cubicBezTo>
                <a:cubicBezTo>
                  <a:pt x="86545" y="78581"/>
                  <a:pt x="83344" y="75380"/>
                  <a:pt x="83344" y="71438"/>
                </a:cubicBezTo>
                <a:cubicBezTo>
                  <a:pt x="83344" y="67495"/>
                  <a:pt x="86545" y="64294"/>
                  <a:pt x="90488" y="64294"/>
                </a:cubicBezTo>
                <a:cubicBezTo>
                  <a:pt x="94430" y="64294"/>
                  <a:pt x="97631" y="67495"/>
                  <a:pt x="97631" y="71438"/>
                </a:cubicBezTo>
                <a:close/>
                <a:moveTo>
                  <a:pt x="76200" y="102394"/>
                </a:moveTo>
                <a:cubicBezTo>
                  <a:pt x="72257" y="102394"/>
                  <a:pt x="69056" y="99193"/>
                  <a:pt x="69056" y="95250"/>
                </a:cubicBezTo>
                <a:cubicBezTo>
                  <a:pt x="69056" y="91307"/>
                  <a:pt x="72257" y="88106"/>
                  <a:pt x="76200" y="88106"/>
                </a:cubicBezTo>
                <a:cubicBezTo>
                  <a:pt x="80143" y="88106"/>
                  <a:pt x="83344" y="91307"/>
                  <a:pt x="83344" y="95250"/>
                </a:cubicBezTo>
                <a:cubicBezTo>
                  <a:pt x="83344" y="99193"/>
                  <a:pt x="80143" y="102394"/>
                  <a:pt x="76200" y="102394"/>
                </a:cubicBezTo>
                <a:close/>
                <a:moveTo>
                  <a:pt x="126206" y="71438"/>
                </a:moveTo>
                <a:cubicBezTo>
                  <a:pt x="126206" y="75380"/>
                  <a:pt x="123005" y="78581"/>
                  <a:pt x="119062" y="78581"/>
                </a:cubicBezTo>
                <a:cubicBezTo>
                  <a:pt x="115120" y="78581"/>
                  <a:pt x="111919" y="75380"/>
                  <a:pt x="111919" y="71438"/>
                </a:cubicBezTo>
                <a:cubicBezTo>
                  <a:pt x="111919" y="67495"/>
                  <a:pt x="115120" y="64294"/>
                  <a:pt x="119062" y="64294"/>
                </a:cubicBezTo>
                <a:cubicBezTo>
                  <a:pt x="123005" y="64294"/>
                  <a:pt x="126206" y="67495"/>
                  <a:pt x="126206" y="71438"/>
                </a:cubicBezTo>
                <a:close/>
                <a:moveTo>
                  <a:pt x="104775" y="102394"/>
                </a:moveTo>
                <a:cubicBezTo>
                  <a:pt x="100832" y="102394"/>
                  <a:pt x="97631" y="99193"/>
                  <a:pt x="97631" y="95250"/>
                </a:cubicBezTo>
                <a:cubicBezTo>
                  <a:pt x="97631" y="91307"/>
                  <a:pt x="100832" y="88106"/>
                  <a:pt x="104775" y="88106"/>
                </a:cubicBezTo>
                <a:cubicBezTo>
                  <a:pt x="108718" y="88106"/>
                  <a:pt x="111919" y="91307"/>
                  <a:pt x="111919" y="95250"/>
                </a:cubicBezTo>
                <a:cubicBezTo>
                  <a:pt x="111919" y="99193"/>
                  <a:pt x="108718" y="102394"/>
                  <a:pt x="104775" y="102394"/>
                </a:cubicBezTo>
                <a:close/>
              </a:path>
            </a:pathLst>
          </a:custGeom>
          <a:solidFill>
            <a:srgbClr val="FB2C36"/>
          </a:solidFill>
          <a:ln/>
        </p:spPr>
      </p:sp>
      <p:sp>
        <p:nvSpPr>
          <p:cNvPr id="10" name="Text 8"/>
          <p:cNvSpPr/>
          <p:nvPr/>
        </p:nvSpPr>
        <p:spPr>
          <a:xfrm>
            <a:off x="769620" y="1569727"/>
            <a:ext cx="2162175"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Cashiers and checkout workers</a:t>
            </a:r>
            <a:endParaRPr lang="en-US" sz="1600" dirty="0"/>
          </a:p>
        </p:txBody>
      </p:sp>
      <p:sp>
        <p:nvSpPr>
          <p:cNvPr id="11" name="Shape 9"/>
          <p:cNvSpPr/>
          <p:nvPr/>
        </p:nvSpPr>
        <p:spPr>
          <a:xfrm>
            <a:off x="512445" y="1893577"/>
            <a:ext cx="171450" cy="152400"/>
          </a:xfrm>
          <a:custGeom>
            <a:avLst/>
            <a:gdLst/>
            <a:ahLst/>
            <a:cxnLst/>
            <a:rect l="l" t="t" r="r" b="b"/>
            <a:pathLst>
              <a:path w="171450" h="152400">
                <a:moveTo>
                  <a:pt x="0" y="28575"/>
                </a:moveTo>
                <a:cubicBezTo>
                  <a:pt x="0" y="18068"/>
                  <a:pt x="8543" y="9525"/>
                  <a:pt x="19050" y="9525"/>
                </a:cubicBezTo>
                <a:lnTo>
                  <a:pt x="104775" y="9525"/>
                </a:lnTo>
                <a:cubicBezTo>
                  <a:pt x="115282" y="9525"/>
                  <a:pt x="123825" y="18068"/>
                  <a:pt x="123825" y="28575"/>
                </a:cubicBezTo>
                <a:lnTo>
                  <a:pt x="123825" y="38100"/>
                </a:lnTo>
                <a:lnTo>
                  <a:pt x="138916" y="38100"/>
                </a:lnTo>
                <a:cubicBezTo>
                  <a:pt x="143976" y="38100"/>
                  <a:pt x="148828" y="40094"/>
                  <a:pt x="152400" y="43666"/>
                </a:cubicBezTo>
                <a:lnTo>
                  <a:pt x="165884" y="57150"/>
                </a:lnTo>
                <a:cubicBezTo>
                  <a:pt x="169456" y="60722"/>
                  <a:pt x="171450" y="65574"/>
                  <a:pt x="171450" y="70634"/>
                </a:cubicBezTo>
                <a:lnTo>
                  <a:pt x="171450" y="114300"/>
                </a:lnTo>
                <a:cubicBezTo>
                  <a:pt x="171450" y="124807"/>
                  <a:pt x="162907" y="133350"/>
                  <a:pt x="152400" y="133350"/>
                </a:cubicBezTo>
                <a:lnTo>
                  <a:pt x="151418" y="133350"/>
                </a:lnTo>
                <a:cubicBezTo>
                  <a:pt x="148322" y="144334"/>
                  <a:pt x="138202" y="152400"/>
                  <a:pt x="126206" y="152400"/>
                </a:cubicBezTo>
                <a:cubicBezTo>
                  <a:pt x="114211" y="152400"/>
                  <a:pt x="104120" y="144334"/>
                  <a:pt x="100995" y="133350"/>
                </a:cubicBezTo>
                <a:lnTo>
                  <a:pt x="70455" y="133350"/>
                </a:lnTo>
                <a:cubicBezTo>
                  <a:pt x="67360" y="144334"/>
                  <a:pt x="57239" y="152400"/>
                  <a:pt x="45244" y="152400"/>
                </a:cubicBezTo>
                <a:cubicBezTo>
                  <a:pt x="33248" y="152400"/>
                  <a:pt x="23158" y="144334"/>
                  <a:pt x="20032" y="133350"/>
                </a:cubicBezTo>
                <a:lnTo>
                  <a:pt x="19050" y="133350"/>
                </a:lnTo>
                <a:cubicBezTo>
                  <a:pt x="8543" y="133350"/>
                  <a:pt x="0" y="124807"/>
                  <a:pt x="0" y="114300"/>
                </a:cubicBezTo>
                <a:lnTo>
                  <a:pt x="0" y="28575"/>
                </a:lnTo>
                <a:close/>
                <a:moveTo>
                  <a:pt x="152400" y="85725"/>
                </a:moveTo>
                <a:lnTo>
                  <a:pt x="152400" y="70634"/>
                </a:lnTo>
                <a:lnTo>
                  <a:pt x="138916" y="57150"/>
                </a:lnTo>
                <a:lnTo>
                  <a:pt x="123825" y="57150"/>
                </a:lnTo>
                <a:lnTo>
                  <a:pt x="123825" y="85725"/>
                </a:lnTo>
                <a:lnTo>
                  <a:pt x="152400" y="85725"/>
                </a:lnTo>
                <a:close/>
                <a:moveTo>
                  <a:pt x="57150" y="126206"/>
                </a:moveTo>
                <a:cubicBezTo>
                  <a:pt x="57150" y="119635"/>
                  <a:pt x="51815" y="114300"/>
                  <a:pt x="45244" y="114300"/>
                </a:cubicBezTo>
                <a:cubicBezTo>
                  <a:pt x="38673" y="114300"/>
                  <a:pt x="33338" y="119635"/>
                  <a:pt x="33338" y="126206"/>
                </a:cubicBezTo>
                <a:cubicBezTo>
                  <a:pt x="33338" y="132777"/>
                  <a:pt x="38673" y="138113"/>
                  <a:pt x="45244" y="138113"/>
                </a:cubicBezTo>
                <a:cubicBezTo>
                  <a:pt x="51815" y="138113"/>
                  <a:pt x="57150" y="132777"/>
                  <a:pt x="57150" y="126206"/>
                </a:cubicBezTo>
                <a:close/>
                <a:moveTo>
                  <a:pt x="126206" y="138113"/>
                </a:moveTo>
                <a:cubicBezTo>
                  <a:pt x="132777" y="138113"/>
                  <a:pt x="138113" y="132777"/>
                  <a:pt x="138113" y="126206"/>
                </a:cubicBezTo>
                <a:cubicBezTo>
                  <a:pt x="138113" y="119635"/>
                  <a:pt x="132777" y="114300"/>
                  <a:pt x="126206" y="114300"/>
                </a:cubicBezTo>
                <a:cubicBezTo>
                  <a:pt x="119635" y="114300"/>
                  <a:pt x="114300" y="119635"/>
                  <a:pt x="114300" y="126206"/>
                </a:cubicBezTo>
                <a:cubicBezTo>
                  <a:pt x="114300" y="132777"/>
                  <a:pt x="119635" y="138113"/>
                  <a:pt x="126206" y="138113"/>
                </a:cubicBezTo>
                <a:close/>
              </a:path>
            </a:pathLst>
          </a:custGeom>
          <a:solidFill>
            <a:srgbClr val="FB2C36"/>
          </a:solidFill>
          <a:ln/>
        </p:spPr>
      </p:sp>
      <p:sp>
        <p:nvSpPr>
          <p:cNvPr id="12" name="Text 10"/>
          <p:cNvSpPr/>
          <p:nvPr/>
        </p:nvSpPr>
        <p:spPr>
          <a:xfrm>
            <a:off x="769620" y="1855477"/>
            <a:ext cx="1952625"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Delivery drivers (eventually)</a:t>
            </a:r>
            <a:endParaRPr lang="en-US" sz="1600" dirty="0"/>
          </a:p>
        </p:txBody>
      </p:sp>
      <p:sp>
        <p:nvSpPr>
          <p:cNvPr id="13" name="Shape 11"/>
          <p:cNvSpPr/>
          <p:nvPr/>
        </p:nvSpPr>
        <p:spPr>
          <a:xfrm>
            <a:off x="521970" y="2179327"/>
            <a:ext cx="152400" cy="152400"/>
          </a:xfrm>
          <a:custGeom>
            <a:avLst/>
            <a:gdLst/>
            <a:ahLst/>
            <a:cxnLst/>
            <a:rect l="l" t="t" r="r" b="b"/>
            <a:pathLst>
              <a:path w="152400" h="152400">
                <a:moveTo>
                  <a:pt x="47685" y="7441"/>
                </a:moveTo>
                <a:cubicBezTo>
                  <a:pt x="45333" y="1816"/>
                  <a:pt x="39201" y="-1161"/>
                  <a:pt x="33367" y="417"/>
                </a:cubicBezTo>
                <a:lnTo>
                  <a:pt x="31730" y="863"/>
                </a:lnTo>
                <a:cubicBezTo>
                  <a:pt x="12502" y="6102"/>
                  <a:pt x="-3929" y="24735"/>
                  <a:pt x="863" y="47417"/>
                </a:cubicBezTo>
                <a:cubicBezTo>
                  <a:pt x="11906" y="99506"/>
                  <a:pt x="52894" y="140494"/>
                  <a:pt x="104983" y="151537"/>
                </a:cubicBezTo>
                <a:cubicBezTo>
                  <a:pt x="127695" y="156359"/>
                  <a:pt x="146298" y="139898"/>
                  <a:pt x="151537" y="120670"/>
                </a:cubicBezTo>
                <a:lnTo>
                  <a:pt x="151983" y="119033"/>
                </a:lnTo>
                <a:cubicBezTo>
                  <a:pt x="153591" y="113169"/>
                  <a:pt x="150584" y="107037"/>
                  <a:pt x="144988" y="104715"/>
                </a:cubicBezTo>
                <a:lnTo>
                  <a:pt x="116026" y="92660"/>
                </a:lnTo>
                <a:cubicBezTo>
                  <a:pt x="111115" y="90607"/>
                  <a:pt x="105430" y="92035"/>
                  <a:pt x="102037" y="96173"/>
                </a:cubicBezTo>
                <a:lnTo>
                  <a:pt x="90547" y="110222"/>
                </a:lnTo>
                <a:cubicBezTo>
                  <a:pt x="69622" y="99834"/>
                  <a:pt x="52774" y="82451"/>
                  <a:pt x="43101" y="61109"/>
                </a:cubicBezTo>
                <a:lnTo>
                  <a:pt x="56257" y="50393"/>
                </a:lnTo>
                <a:cubicBezTo>
                  <a:pt x="60394" y="47030"/>
                  <a:pt x="61793" y="41344"/>
                  <a:pt x="59769" y="36403"/>
                </a:cubicBezTo>
                <a:lnTo>
                  <a:pt x="47685" y="7441"/>
                </a:lnTo>
                <a:close/>
              </a:path>
            </a:pathLst>
          </a:custGeom>
          <a:solidFill>
            <a:srgbClr val="FB2C36"/>
          </a:solidFill>
          <a:ln/>
        </p:spPr>
      </p:sp>
      <p:sp>
        <p:nvSpPr>
          <p:cNvPr id="14" name="Text 12"/>
          <p:cNvSpPr/>
          <p:nvPr/>
        </p:nvSpPr>
        <p:spPr>
          <a:xfrm>
            <a:off x="769620" y="2141227"/>
            <a:ext cx="1628775"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Basic customer service</a:t>
            </a:r>
            <a:endParaRPr lang="en-US" sz="1600" dirty="0"/>
          </a:p>
        </p:txBody>
      </p:sp>
      <p:sp>
        <p:nvSpPr>
          <p:cNvPr id="15" name="Shape 13"/>
          <p:cNvSpPr/>
          <p:nvPr/>
        </p:nvSpPr>
        <p:spPr>
          <a:xfrm>
            <a:off x="541020" y="2465077"/>
            <a:ext cx="114300" cy="152400"/>
          </a:xfrm>
          <a:custGeom>
            <a:avLst/>
            <a:gdLst/>
            <a:ahLst/>
            <a:cxnLst/>
            <a:rect l="l" t="t" r="r" b="b"/>
            <a:pathLst>
              <a:path w="114300" h="152400">
                <a:moveTo>
                  <a:pt x="0" y="19050"/>
                </a:moveTo>
                <a:cubicBezTo>
                  <a:pt x="0" y="8543"/>
                  <a:pt x="8543" y="0"/>
                  <a:pt x="19050" y="0"/>
                </a:cubicBezTo>
                <a:lnTo>
                  <a:pt x="63550" y="0"/>
                </a:lnTo>
                <a:cubicBezTo>
                  <a:pt x="68610" y="0"/>
                  <a:pt x="73462" y="1994"/>
                  <a:pt x="77033" y="5566"/>
                </a:cubicBezTo>
                <a:lnTo>
                  <a:pt x="108734" y="37296"/>
                </a:lnTo>
                <a:cubicBezTo>
                  <a:pt x="112306" y="40868"/>
                  <a:pt x="114300" y="45720"/>
                  <a:pt x="114300" y="50780"/>
                </a:cubicBezTo>
                <a:lnTo>
                  <a:pt x="114300" y="133350"/>
                </a:lnTo>
                <a:cubicBezTo>
                  <a:pt x="114300" y="143857"/>
                  <a:pt x="105757" y="152400"/>
                  <a:pt x="95250" y="152400"/>
                </a:cubicBezTo>
                <a:lnTo>
                  <a:pt x="19050" y="152400"/>
                </a:lnTo>
                <a:cubicBezTo>
                  <a:pt x="8543" y="152400"/>
                  <a:pt x="0" y="143857"/>
                  <a:pt x="0" y="133350"/>
                </a:cubicBezTo>
                <a:lnTo>
                  <a:pt x="0" y="19050"/>
                </a:lnTo>
                <a:close/>
                <a:moveTo>
                  <a:pt x="61912" y="17413"/>
                </a:moveTo>
                <a:lnTo>
                  <a:pt x="61912" y="45244"/>
                </a:lnTo>
                <a:cubicBezTo>
                  <a:pt x="61912" y="49203"/>
                  <a:pt x="65097" y="52388"/>
                  <a:pt x="69056" y="52388"/>
                </a:cubicBezTo>
                <a:lnTo>
                  <a:pt x="96887" y="52388"/>
                </a:lnTo>
                <a:lnTo>
                  <a:pt x="61912" y="17413"/>
                </a:lnTo>
                <a:close/>
                <a:moveTo>
                  <a:pt x="35719" y="76200"/>
                </a:moveTo>
                <a:cubicBezTo>
                  <a:pt x="31760" y="76200"/>
                  <a:pt x="28575" y="79385"/>
                  <a:pt x="28575" y="83344"/>
                </a:cubicBezTo>
                <a:cubicBezTo>
                  <a:pt x="28575" y="87303"/>
                  <a:pt x="31760" y="90488"/>
                  <a:pt x="35719" y="90488"/>
                </a:cubicBezTo>
                <a:lnTo>
                  <a:pt x="78581" y="90488"/>
                </a:lnTo>
                <a:cubicBezTo>
                  <a:pt x="82540" y="90488"/>
                  <a:pt x="85725" y="87303"/>
                  <a:pt x="85725" y="83344"/>
                </a:cubicBezTo>
                <a:cubicBezTo>
                  <a:pt x="85725" y="79385"/>
                  <a:pt x="82540" y="76200"/>
                  <a:pt x="78581" y="76200"/>
                </a:cubicBezTo>
                <a:lnTo>
                  <a:pt x="35719" y="76200"/>
                </a:lnTo>
                <a:close/>
                <a:moveTo>
                  <a:pt x="35719" y="104775"/>
                </a:moveTo>
                <a:cubicBezTo>
                  <a:pt x="31760" y="104775"/>
                  <a:pt x="28575" y="107960"/>
                  <a:pt x="28575" y="111919"/>
                </a:cubicBezTo>
                <a:cubicBezTo>
                  <a:pt x="28575" y="115878"/>
                  <a:pt x="31760" y="119062"/>
                  <a:pt x="35719" y="119062"/>
                </a:cubicBezTo>
                <a:lnTo>
                  <a:pt x="78581" y="119062"/>
                </a:lnTo>
                <a:cubicBezTo>
                  <a:pt x="82540" y="119062"/>
                  <a:pt x="85725" y="115878"/>
                  <a:pt x="85725" y="111919"/>
                </a:cubicBezTo>
                <a:cubicBezTo>
                  <a:pt x="85725" y="107960"/>
                  <a:pt x="82540" y="104775"/>
                  <a:pt x="78581" y="104775"/>
                </a:cubicBezTo>
                <a:lnTo>
                  <a:pt x="35719" y="104775"/>
                </a:lnTo>
                <a:close/>
              </a:path>
            </a:pathLst>
          </a:custGeom>
          <a:solidFill>
            <a:srgbClr val="FB2C36"/>
          </a:solidFill>
          <a:ln/>
        </p:spPr>
      </p:sp>
      <p:sp>
        <p:nvSpPr>
          <p:cNvPr id="16" name="Text 14"/>
          <p:cNvSpPr/>
          <p:nvPr/>
        </p:nvSpPr>
        <p:spPr>
          <a:xfrm>
            <a:off x="769620" y="2426977"/>
            <a:ext cx="230505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Data entry and routine paperwork</a:t>
            </a:r>
            <a:endParaRPr lang="en-US" sz="1600" dirty="0"/>
          </a:p>
        </p:txBody>
      </p:sp>
      <p:sp>
        <p:nvSpPr>
          <p:cNvPr id="17" name="Shape 15"/>
          <p:cNvSpPr/>
          <p:nvPr/>
        </p:nvSpPr>
        <p:spPr>
          <a:xfrm>
            <a:off x="384810" y="2857496"/>
            <a:ext cx="5627370" cy="1664970"/>
          </a:xfrm>
          <a:prstGeom prst="roundRect">
            <a:avLst>
              <a:gd name="adj" fmla="val 6865"/>
            </a:avLst>
          </a:prstGeom>
          <a:solidFill>
            <a:srgbClr val="262626"/>
          </a:solidFill>
          <a:ln w="10160">
            <a:solidFill>
              <a:srgbClr val="333333"/>
            </a:solidFill>
            <a:prstDash val="solid"/>
          </a:ln>
        </p:spPr>
      </p:sp>
      <p:sp>
        <p:nvSpPr>
          <p:cNvPr id="18" name="Shape 16"/>
          <p:cNvSpPr/>
          <p:nvPr/>
        </p:nvSpPr>
        <p:spPr>
          <a:xfrm>
            <a:off x="502920" y="3013714"/>
            <a:ext cx="238125" cy="190500"/>
          </a:xfrm>
          <a:custGeom>
            <a:avLst/>
            <a:gdLst/>
            <a:ahLst/>
            <a:cxnLst/>
            <a:rect l="l" t="t" r="r" b="b"/>
            <a:pathLst>
              <a:path w="238125" h="190500">
                <a:moveTo>
                  <a:pt x="50602" y="47625"/>
                </a:moveTo>
                <a:cubicBezTo>
                  <a:pt x="50602" y="22983"/>
                  <a:pt x="70608" y="2977"/>
                  <a:pt x="95250" y="2977"/>
                </a:cubicBezTo>
                <a:cubicBezTo>
                  <a:pt x="119892" y="2977"/>
                  <a:pt x="139898" y="22983"/>
                  <a:pt x="139898" y="47625"/>
                </a:cubicBezTo>
                <a:cubicBezTo>
                  <a:pt x="139898" y="72267"/>
                  <a:pt x="119892" y="92273"/>
                  <a:pt x="95250" y="92273"/>
                </a:cubicBezTo>
                <a:cubicBezTo>
                  <a:pt x="70608" y="92273"/>
                  <a:pt x="50602" y="72267"/>
                  <a:pt x="50602" y="47625"/>
                </a:cubicBezTo>
                <a:close/>
                <a:moveTo>
                  <a:pt x="17859" y="179450"/>
                </a:moveTo>
                <a:cubicBezTo>
                  <a:pt x="17859" y="142801"/>
                  <a:pt x="47551" y="113109"/>
                  <a:pt x="84200" y="113109"/>
                </a:cubicBezTo>
                <a:lnTo>
                  <a:pt x="106300" y="113109"/>
                </a:lnTo>
                <a:cubicBezTo>
                  <a:pt x="142949" y="113109"/>
                  <a:pt x="172641" y="142801"/>
                  <a:pt x="172641" y="179450"/>
                </a:cubicBezTo>
                <a:cubicBezTo>
                  <a:pt x="172641" y="185551"/>
                  <a:pt x="167692" y="190500"/>
                  <a:pt x="161590" y="190500"/>
                </a:cubicBezTo>
                <a:lnTo>
                  <a:pt x="28910" y="190500"/>
                </a:lnTo>
                <a:cubicBezTo>
                  <a:pt x="22808" y="190500"/>
                  <a:pt x="17859" y="185551"/>
                  <a:pt x="17859" y="179450"/>
                </a:cubicBezTo>
                <a:close/>
                <a:moveTo>
                  <a:pt x="202406" y="35719"/>
                </a:moveTo>
                <a:cubicBezTo>
                  <a:pt x="207355" y="35719"/>
                  <a:pt x="211336" y="39700"/>
                  <a:pt x="211336" y="44648"/>
                </a:cubicBezTo>
                <a:lnTo>
                  <a:pt x="211336" y="62508"/>
                </a:lnTo>
                <a:lnTo>
                  <a:pt x="229195" y="62508"/>
                </a:lnTo>
                <a:cubicBezTo>
                  <a:pt x="234144" y="62508"/>
                  <a:pt x="238125" y="66489"/>
                  <a:pt x="238125" y="71438"/>
                </a:cubicBezTo>
                <a:cubicBezTo>
                  <a:pt x="238125" y="76386"/>
                  <a:pt x="234144" y="80367"/>
                  <a:pt x="229195" y="80367"/>
                </a:cubicBezTo>
                <a:lnTo>
                  <a:pt x="211336" y="80367"/>
                </a:lnTo>
                <a:lnTo>
                  <a:pt x="211336" y="98227"/>
                </a:lnTo>
                <a:cubicBezTo>
                  <a:pt x="211336" y="103175"/>
                  <a:pt x="207355" y="107156"/>
                  <a:pt x="202406" y="107156"/>
                </a:cubicBezTo>
                <a:cubicBezTo>
                  <a:pt x="197458" y="107156"/>
                  <a:pt x="193477" y="103175"/>
                  <a:pt x="193477" y="98227"/>
                </a:cubicBezTo>
                <a:lnTo>
                  <a:pt x="193477" y="80367"/>
                </a:lnTo>
                <a:lnTo>
                  <a:pt x="175617" y="80367"/>
                </a:lnTo>
                <a:cubicBezTo>
                  <a:pt x="170669" y="80367"/>
                  <a:pt x="166688" y="76386"/>
                  <a:pt x="166688" y="71438"/>
                </a:cubicBezTo>
                <a:cubicBezTo>
                  <a:pt x="166688" y="66489"/>
                  <a:pt x="170669" y="62508"/>
                  <a:pt x="175617" y="62508"/>
                </a:cubicBezTo>
                <a:lnTo>
                  <a:pt x="193477" y="62508"/>
                </a:lnTo>
                <a:lnTo>
                  <a:pt x="193477" y="44648"/>
                </a:lnTo>
                <a:cubicBezTo>
                  <a:pt x="193477" y="39700"/>
                  <a:pt x="197458" y="35719"/>
                  <a:pt x="202406" y="35719"/>
                </a:cubicBezTo>
                <a:close/>
              </a:path>
            </a:pathLst>
          </a:custGeom>
          <a:solidFill>
            <a:srgbClr val="00C950"/>
          </a:solidFill>
          <a:ln/>
        </p:spPr>
      </p:sp>
      <p:sp>
        <p:nvSpPr>
          <p:cNvPr id="19" name="Text 17"/>
          <p:cNvSpPr/>
          <p:nvPr/>
        </p:nvSpPr>
        <p:spPr>
          <a:xfrm>
            <a:off x="817245" y="2975614"/>
            <a:ext cx="1838325"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New Jobs AI Creates</a:t>
            </a:r>
            <a:endParaRPr lang="en-US" sz="1600" dirty="0"/>
          </a:p>
        </p:txBody>
      </p:sp>
      <p:sp>
        <p:nvSpPr>
          <p:cNvPr id="20" name="Shape 18"/>
          <p:cNvSpPr/>
          <p:nvPr/>
        </p:nvSpPr>
        <p:spPr>
          <a:xfrm>
            <a:off x="502920" y="3356614"/>
            <a:ext cx="190500" cy="152400"/>
          </a:xfrm>
          <a:custGeom>
            <a:avLst/>
            <a:gdLst/>
            <a:ahLst/>
            <a:cxnLst/>
            <a:rect l="l" t="t" r="r" b="b"/>
            <a:pathLst>
              <a:path w="190500" h="152400">
                <a:moveTo>
                  <a:pt x="38100" y="28575"/>
                </a:moveTo>
                <a:cubicBezTo>
                  <a:pt x="38100" y="18068"/>
                  <a:pt x="46643" y="9525"/>
                  <a:pt x="57150" y="9525"/>
                </a:cubicBezTo>
                <a:lnTo>
                  <a:pt x="161925" y="9525"/>
                </a:lnTo>
                <a:cubicBezTo>
                  <a:pt x="172432" y="9525"/>
                  <a:pt x="180975" y="18068"/>
                  <a:pt x="180975" y="28575"/>
                </a:cubicBezTo>
                <a:lnTo>
                  <a:pt x="180975" y="100013"/>
                </a:lnTo>
                <a:lnTo>
                  <a:pt x="152400" y="100013"/>
                </a:lnTo>
                <a:lnTo>
                  <a:pt x="152400" y="95250"/>
                </a:lnTo>
                <a:cubicBezTo>
                  <a:pt x="152400" y="89981"/>
                  <a:pt x="148144" y="85725"/>
                  <a:pt x="142875" y="85725"/>
                </a:cubicBezTo>
                <a:lnTo>
                  <a:pt x="123825" y="85725"/>
                </a:lnTo>
                <a:cubicBezTo>
                  <a:pt x="118556" y="85725"/>
                  <a:pt x="114300" y="89981"/>
                  <a:pt x="114300" y="95250"/>
                </a:cubicBezTo>
                <a:lnTo>
                  <a:pt x="114300" y="100013"/>
                </a:lnTo>
                <a:lnTo>
                  <a:pt x="75873" y="100013"/>
                </a:lnTo>
                <a:cubicBezTo>
                  <a:pt x="79117" y="94417"/>
                  <a:pt x="80962" y="87898"/>
                  <a:pt x="80962" y="80962"/>
                </a:cubicBezTo>
                <a:cubicBezTo>
                  <a:pt x="80962" y="59918"/>
                  <a:pt x="63907" y="42863"/>
                  <a:pt x="42863" y="42863"/>
                </a:cubicBezTo>
                <a:cubicBezTo>
                  <a:pt x="41255" y="42863"/>
                  <a:pt x="39648" y="42952"/>
                  <a:pt x="38100" y="43160"/>
                </a:cubicBezTo>
                <a:lnTo>
                  <a:pt x="38100" y="28575"/>
                </a:lnTo>
                <a:close/>
                <a:moveTo>
                  <a:pt x="99120" y="133350"/>
                </a:moveTo>
                <a:cubicBezTo>
                  <a:pt x="97601" y="126147"/>
                  <a:pt x="94268" y="119628"/>
                  <a:pt x="89565" y="114300"/>
                </a:cubicBezTo>
                <a:lnTo>
                  <a:pt x="180975" y="114300"/>
                </a:lnTo>
                <a:cubicBezTo>
                  <a:pt x="180975" y="124807"/>
                  <a:pt x="172432" y="133350"/>
                  <a:pt x="161925" y="133350"/>
                </a:cubicBezTo>
                <a:lnTo>
                  <a:pt x="99120" y="133350"/>
                </a:lnTo>
                <a:close/>
                <a:moveTo>
                  <a:pt x="19050" y="80962"/>
                </a:moveTo>
                <a:cubicBezTo>
                  <a:pt x="19050" y="67820"/>
                  <a:pt x="29720" y="57150"/>
                  <a:pt x="42862" y="57150"/>
                </a:cubicBezTo>
                <a:cubicBezTo>
                  <a:pt x="56005" y="57150"/>
                  <a:pt x="66675" y="67820"/>
                  <a:pt x="66675" y="80962"/>
                </a:cubicBezTo>
                <a:cubicBezTo>
                  <a:pt x="66675" y="94105"/>
                  <a:pt x="56005" y="104775"/>
                  <a:pt x="42863" y="104775"/>
                </a:cubicBezTo>
                <a:cubicBezTo>
                  <a:pt x="29720" y="104775"/>
                  <a:pt x="19050" y="94105"/>
                  <a:pt x="19050" y="80962"/>
                </a:cubicBezTo>
                <a:close/>
                <a:moveTo>
                  <a:pt x="0" y="142875"/>
                </a:moveTo>
                <a:cubicBezTo>
                  <a:pt x="0" y="127099"/>
                  <a:pt x="12799" y="114300"/>
                  <a:pt x="28575" y="114300"/>
                </a:cubicBezTo>
                <a:lnTo>
                  <a:pt x="57150" y="114300"/>
                </a:lnTo>
                <a:cubicBezTo>
                  <a:pt x="72926" y="114300"/>
                  <a:pt x="85725" y="127099"/>
                  <a:pt x="85725" y="142875"/>
                </a:cubicBezTo>
                <a:cubicBezTo>
                  <a:pt x="85725" y="148144"/>
                  <a:pt x="81469" y="152400"/>
                  <a:pt x="76200" y="152400"/>
                </a:cubicBezTo>
                <a:lnTo>
                  <a:pt x="9525" y="152400"/>
                </a:lnTo>
                <a:cubicBezTo>
                  <a:pt x="4256" y="152400"/>
                  <a:pt x="0" y="148144"/>
                  <a:pt x="0" y="142875"/>
                </a:cubicBezTo>
                <a:close/>
              </a:path>
            </a:pathLst>
          </a:custGeom>
          <a:solidFill>
            <a:srgbClr val="00C950"/>
          </a:solidFill>
          <a:ln/>
        </p:spPr>
      </p:sp>
      <p:sp>
        <p:nvSpPr>
          <p:cNvPr id="21" name="Text 19"/>
          <p:cNvSpPr/>
          <p:nvPr/>
        </p:nvSpPr>
        <p:spPr>
          <a:xfrm>
            <a:off x="769620" y="3318514"/>
            <a:ext cx="165735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AI trainers and teachers</a:t>
            </a:r>
            <a:endParaRPr lang="en-US" sz="1600" dirty="0"/>
          </a:p>
        </p:txBody>
      </p:sp>
      <p:sp>
        <p:nvSpPr>
          <p:cNvPr id="22" name="Shape 20"/>
          <p:cNvSpPr/>
          <p:nvPr/>
        </p:nvSpPr>
        <p:spPr>
          <a:xfrm>
            <a:off x="521970" y="3642364"/>
            <a:ext cx="152400" cy="152400"/>
          </a:xfrm>
          <a:custGeom>
            <a:avLst/>
            <a:gdLst/>
            <a:ahLst/>
            <a:cxnLst/>
            <a:rect l="l" t="t" r="r" b="b"/>
            <a:pathLst>
              <a:path w="152400" h="152400">
                <a:moveTo>
                  <a:pt x="76200" y="0"/>
                </a:moveTo>
                <a:cubicBezTo>
                  <a:pt x="77569" y="0"/>
                  <a:pt x="78938" y="298"/>
                  <a:pt x="80189" y="863"/>
                </a:cubicBezTo>
                <a:lnTo>
                  <a:pt x="136267" y="24646"/>
                </a:lnTo>
                <a:cubicBezTo>
                  <a:pt x="142815" y="27414"/>
                  <a:pt x="147697" y="33873"/>
                  <a:pt x="147667" y="41672"/>
                </a:cubicBezTo>
                <a:cubicBezTo>
                  <a:pt x="147518" y="71199"/>
                  <a:pt x="135374" y="125224"/>
                  <a:pt x="84088" y="149781"/>
                </a:cubicBezTo>
                <a:cubicBezTo>
                  <a:pt x="79117" y="152162"/>
                  <a:pt x="73343" y="152162"/>
                  <a:pt x="68372" y="149781"/>
                </a:cubicBezTo>
                <a:cubicBezTo>
                  <a:pt x="17056" y="125224"/>
                  <a:pt x="4941" y="71199"/>
                  <a:pt x="4792" y="41672"/>
                </a:cubicBezTo>
                <a:cubicBezTo>
                  <a:pt x="4762" y="33873"/>
                  <a:pt x="9644" y="27414"/>
                  <a:pt x="16192" y="24646"/>
                </a:cubicBezTo>
                <a:lnTo>
                  <a:pt x="72241" y="863"/>
                </a:lnTo>
                <a:cubicBezTo>
                  <a:pt x="73491" y="298"/>
                  <a:pt x="74831" y="0"/>
                  <a:pt x="76200" y="0"/>
                </a:cubicBezTo>
                <a:close/>
                <a:moveTo>
                  <a:pt x="76200" y="19883"/>
                </a:moveTo>
                <a:lnTo>
                  <a:pt x="76200" y="132427"/>
                </a:lnTo>
                <a:cubicBezTo>
                  <a:pt x="117277" y="112544"/>
                  <a:pt x="128320" y="68491"/>
                  <a:pt x="128588" y="42118"/>
                </a:cubicBezTo>
                <a:lnTo>
                  <a:pt x="76200" y="19913"/>
                </a:lnTo>
                <a:lnTo>
                  <a:pt x="76200" y="19913"/>
                </a:lnTo>
                <a:close/>
              </a:path>
            </a:pathLst>
          </a:custGeom>
          <a:solidFill>
            <a:srgbClr val="00C950"/>
          </a:solidFill>
          <a:ln/>
        </p:spPr>
      </p:sp>
      <p:sp>
        <p:nvSpPr>
          <p:cNvPr id="23" name="Text 21"/>
          <p:cNvSpPr/>
          <p:nvPr/>
        </p:nvSpPr>
        <p:spPr>
          <a:xfrm>
            <a:off x="769620" y="3604264"/>
            <a:ext cx="1400175"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AI ethics specialists</a:t>
            </a:r>
            <a:endParaRPr lang="en-US" sz="1600" dirty="0"/>
          </a:p>
        </p:txBody>
      </p:sp>
      <p:sp>
        <p:nvSpPr>
          <p:cNvPr id="24" name="Shape 22"/>
          <p:cNvSpPr/>
          <p:nvPr/>
        </p:nvSpPr>
        <p:spPr>
          <a:xfrm>
            <a:off x="512445" y="3928114"/>
            <a:ext cx="171450" cy="152400"/>
          </a:xfrm>
          <a:custGeom>
            <a:avLst/>
            <a:gdLst/>
            <a:ahLst/>
            <a:cxnLst/>
            <a:rect l="l" t="t" r="r" b="b"/>
            <a:pathLst>
              <a:path w="171450" h="152400">
                <a:moveTo>
                  <a:pt x="66705" y="28902"/>
                </a:moveTo>
                <a:lnTo>
                  <a:pt x="66705" y="43666"/>
                </a:lnTo>
                <a:lnTo>
                  <a:pt x="66854" y="43815"/>
                </a:lnTo>
                <a:cubicBezTo>
                  <a:pt x="68788" y="19288"/>
                  <a:pt x="89297" y="0"/>
                  <a:pt x="114330" y="0"/>
                </a:cubicBezTo>
                <a:cubicBezTo>
                  <a:pt x="120313" y="0"/>
                  <a:pt x="126057" y="1101"/>
                  <a:pt x="131326" y="3125"/>
                </a:cubicBezTo>
                <a:cubicBezTo>
                  <a:pt x="134303" y="4256"/>
                  <a:pt x="134838" y="8037"/>
                  <a:pt x="132606" y="10299"/>
                </a:cubicBezTo>
                <a:lnTo>
                  <a:pt x="106204" y="36701"/>
                </a:lnTo>
                <a:cubicBezTo>
                  <a:pt x="105311" y="37594"/>
                  <a:pt x="104805" y="38814"/>
                  <a:pt x="104805" y="40065"/>
                </a:cubicBezTo>
                <a:lnTo>
                  <a:pt x="104805" y="52388"/>
                </a:lnTo>
                <a:cubicBezTo>
                  <a:pt x="104805" y="55007"/>
                  <a:pt x="106948" y="57150"/>
                  <a:pt x="109567" y="57150"/>
                </a:cubicBezTo>
                <a:lnTo>
                  <a:pt x="121890" y="57150"/>
                </a:lnTo>
                <a:cubicBezTo>
                  <a:pt x="123140" y="57150"/>
                  <a:pt x="124361" y="56644"/>
                  <a:pt x="125254" y="55751"/>
                </a:cubicBezTo>
                <a:lnTo>
                  <a:pt x="151656" y="29349"/>
                </a:lnTo>
                <a:cubicBezTo>
                  <a:pt x="153918" y="27087"/>
                  <a:pt x="157698" y="27652"/>
                  <a:pt x="158829" y="30629"/>
                </a:cubicBezTo>
                <a:cubicBezTo>
                  <a:pt x="160853" y="35897"/>
                  <a:pt x="161955" y="41642"/>
                  <a:pt x="161955" y="47625"/>
                </a:cubicBezTo>
                <a:cubicBezTo>
                  <a:pt x="161955" y="65663"/>
                  <a:pt x="151924" y="81379"/>
                  <a:pt x="137100" y="89446"/>
                </a:cubicBezTo>
                <a:lnTo>
                  <a:pt x="161359" y="113705"/>
                </a:lnTo>
                <a:cubicBezTo>
                  <a:pt x="166926" y="119271"/>
                  <a:pt x="166926" y="128320"/>
                  <a:pt x="161359" y="133916"/>
                </a:cubicBezTo>
                <a:lnTo>
                  <a:pt x="143470" y="151805"/>
                </a:lnTo>
                <a:cubicBezTo>
                  <a:pt x="137904" y="157371"/>
                  <a:pt x="128855" y="157371"/>
                  <a:pt x="123259" y="151805"/>
                </a:cubicBezTo>
                <a:lnTo>
                  <a:pt x="85755" y="114300"/>
                </a:lnTo>
                <a:cubicBezTo>
                  <a:pt x="77599" y="106144"/>
                  <a:pt x="75754" y="94089"/>
                  <a:pt x="80248" y="84147"/>
                </a:cubicBezTo>
                <a:lnTo>
                  <a:pt x="53251" y="57150"/>
                </a:lnTo>
                <a:lnTo>
                  <a:pt x="38487" y="57150"/>
                </a:lnTo>
                <a:cubicBezTo>
                  <a:pt x="35302" y="57150"/>
                  <a:pt x="32325" y="55572"/>
                  <a:pt x="30569" y="52923"/>
                </a:cubicBezTo>
                <a:lnTo>
                  <a:pt x="6965" y="17532"/>
                </a:lnTo>
                <a:cubicBezTo>
                  <a:pt x="5715" y="15657"/>
                  <a:pt x="5953" y="13127"/>
                  <a:pt x="7560" y="11519"/>
                </a:cubicBezTo>
                <a:lnTo>
                  <a:pt x="21074" y="-1994"/>
                </a:lnTo>
                <a:cubicBezTo>
                  <a:pt x="22681" y="-3602"/>
                  <a:pt x="25182" y="-3840"/>
                  <a:pt x="27087" y="-2590"/>
                </a:cubicBezTo>
                <a:lnTo>
                  <a:pt x="62478" y="20985"/>
                </a:lnTo>
                <a:cubicBezTo>
                  <a:pt x="65127" y="22741"/>
                  <a:pt x="66705" y="25718"/>
                  <a:pt x="66705" y="28902"/>
                </a:cubicBezTo>
                <a:close/>
                <a:moveTo>
                  <a:pt x="64175" y="88285"/>
                </a:moveTo>
                <a:cubicBezTo>
                  <a:pt x="62299" y="99298"/>
                  <a:pt x="64889" y="110936"/>
                  <a:pt x="72033" y="120253"/>
                </a:cubicBezTo>
                <a:lnTo>
                  <a:pt x="43755" y="148501"/>
                </a:lnTo>
                <a:cubicBezTo>
                  <a:pt x="35391" y="156865"/>
                  <a:pt x="21818" y="156865"/>
                  <a:pt x="13454" y="148501"/>
                </a:cubicBezTo>
                <a:cubicBezTo>
                  <a:pt x="5090" y="140137"/>
                  <a:pt x="5090" y="126563"/>
                  <a:pt x="13454" y="118199"/>
                </a:cubicBezTo>
                <a:lnTo>
                  <a:pt x="53757" y="77897"/>
                </a:lnTo>
                <a:lnTo>
                  <a:pt x="64175" y="88315"/>
                </a:lnTo>
                <a:close/>
              </a:path>
            </a:pathLst>
          </a:custGeom>
          <a:solidFill>
            <a:srgbClr val="00C950"/>
          </a:solidFill>
          <a:ln/>
        </p:spPr>
      </p:sp>
      <p:sp>
        <p:nvSpPr>
          <p:cNvPr id="25" name="Text 23"/>
          <p:cNvSpPr/>
          <p:nvPr/>
        </p:nvSpPr>
        <p:spPr>
          <a:xfrm>
            <a:off x="769620" y="3890014"/>
            <a:ext cx="2181225"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Robot maintenance technicians</a:t>
            </a:r>
            <a:endParaRPr lang="en-US" sz="1600" dirty="0"/>
          </a:p>
        </p:txBody>
      </p:sp>
      <p:sp>
        <p:nvSpPr>
          <p:cNvPr id="26" name="Shape 24"/>
          <p:cNvSpPr/>
          <p:nvPr/>
        </p:nvSpPr>
        <p:spPr>
          <a:xfrm>
            <a:off x="521970" y="4213864"/>
            <a:ext cx="152400" cy="152400"/>
          </a:xfrm>
          <a:custGeom>
            <a:avLst/>
            <a:gdLst/>
            <a:ahLst/>
            <a:cxnLst/>
            <a:rect l="l" t="t" r="r" b="b"/>
            <a:pathLst>
              <a:path w="152400" h="152400">
                <a:moveTo>
                  <a:pt x="35719" y="16669"/>
                </a:moveTo>
                <a:cubicBezTo>
                  <a:pt x="35719" y="7471"/>
                  <a:pt x="43190" y="0"/>
                  <a:pt x="52388" y="0"/>
                </a:cubicBezTo>
                <a:lnTo>
                  <a:pt x="59531" y="0"/>
                </a:lnTo>
                <a:cubicBezTo>
                  <a:pt x="64800" y="0"/>
                  <a:pt x="69056" y="4256"/>
                  <a:pt x="69056" y="9525"/>
                </a:cubicBezTo>
                <a:lnTo>
                  <a:pt x="69056" y="142875"/>
                </a:lnTo>
                <a:cubicBezTo>
                  <a:pt x="69056" y="148144"/>
                  <a:pt x="64800" y="152400"/>
                  <a:pt x="59531" y="152400"/>
                </a:cubicBezTo>
                <a:lnTo>
                  <a:pt x="50006" y="152400"/>
                </a:lnTo>
                <a:cubicBezTo>
                  <a:pt x="41136" y="152400"/>
                  <a:pt x="33665" y="146328"/>
                  <a:pt x="31552" y="138113"/>
                </a:cubicBezTo>
                <a:cubicBezTo>
                  <a:pt x="31343" y="138113"/>
                  <a:pt x="31165" y="138113"/>
                  <a:pt x="30956" y="138113"/>
                </a:cubicBezTo>
                <a:cubicBezTo>
                  <a:pt x="17800" y="138113"/>
                  <a:pt x="7144" y="127456"/>
                  <a:pt x="7144" y="114300"/>
                </a:cubicBezTo>
                <a:cubicBezTo>
                  <a:pt x="7144" y="108942"/>
                  <a:pt x="8930" y="104001"/>
                  <a:pt x="11906" y="100013"/>
                </a:cubicBezTo>
                <a:cubicBezTo>
                  <a:pt x="6132" y="95667"/>
                  <a:pt x="2381" y="88761"/>
                  <a:pt x="2381" y="80962"/>
                </a:cubicBezTo>
                <a:cubicBezTo>
                  <a:pt x="2381" y="71765"/>
                  <a:pt x="7620" y="63758"/>
                  <a:pt x="15240" y="59799"/>
                </a:cubicBezTo>
                <a:cubicBezTo>
                  <a:pt x="13127" y="56227"/>
                  <a:pt x="11906" y="52060"/>
                  <a:pt x="11906" y="47625"/>
                </a:cubicBezTo>
                <a:cubicBezTo>
                  <a:pt x="11906" y="34469"/>
                  <a:pt x="22562" y="23813"/>
                  <a:pt x="35719" y="23813"/>
                </a:cubicBezTo>
                <a:lnTo>
                  <a:pt x="35719" y="16669"/>
                </a:lnTo>
                <a:close/>
                <a:moveTo>
                  <a:pt x="116681" y="16669"/>
                </a:moveTo>
                <a:lnTo>
                  <a:pt x="116681" y="23813"/>
                </a:lnTo>
                <a:cubicBezTo>
                  <a:pt x="129838" y="23813"/>
                  <a:pt x="140494" y="34469"/>
                  <a:pt x="140494" y="47625"/>
                </a:cubicBezTo>
                <a:cubicBezTo>
                  <a:pt x="140494" y="52090"/>
                  <a:pt x="139273" y="56257"/>
                  <a:pt x="137160" y="59799"/>
                </a:cubicBezTo>
                <a:cubicBezTo>
                  <a:pt x="144810" y="63758"/>
                  <a:pt x="150019" y="71735"/>
                  <a:pt x="150019" y="80962"/>
                </a:cubicBezTo>
                <a:cubicBezTo>
                  <a:pt x="150019" y="88761"/>
                  <a:pt x="146268" y="95667"/>
                  <a:pt x="140494" y="100013"/>
                </a:cubicBezTo>
                <a:cubicBezTo>
                  <a:pt x="143470" y="104001"/>
                  <a:pt x="145256" y="108942"/>
                  <a:pt x="145256" y="114300"/>
                </a:cubicBezTo>
                <a:cubicBezTo>
                  <a:pt x="145256" y="127456"/>
                  <a:pt x="134600" y="138113"/>
                  <a:pt x="121444" y="138113"/>
                </a:cubicBezTo>
                <a:cubicBezTo>
                  <a:pt x="121235" y="138113"/>
                  <a:pt x="121057" y="138113"/>
                  <a:pt x="120848" y="138113"/>
                </a:cubicBezTo>
                <a:cubicBezTo>
                  <a:pt x="118735" y="146328"/>
                  <a:pt x="111264" y="152400"/>
                  <a:pt x="102394" y="152400"/>
                </a:cubicBezTo>
                <a:lnTo>
                  <a:pt x="92869" y="152400"/>
                </a:lnTo>
                <a:cubicBezTo>
                  <a:pt x="87600" y="152400"/>
                  <a:pt x="83344" y="148144"/>
                  <a:pt x="83344" y="142875"/>
                </a:cubicBezTo>
                <a:lnTo>
                  <a:pt x="83344" y="9525"/>
                </a:lnTo>
                <a:cubicBezTo>
                  <a:pt x="83344" y="4256"/>
                  <a:pt x="87600" y="0"/>
                  <a:pt x="92869" y="0"/>
                </a:cubicBezTo>
                <a:lnTo>
                  <a:pt x="100013" y="0"/>
                </a:lnTo>
                <a:cubicBezTo>
                  <a:pt x="109210" y="0"/>
                  <a:pt x="116681" y="7471"/>
                  <a:pt x="116681" y="16669"/>
                </a:cubicBezTo>
                <a:close/>
              </a:path>
            </a:pathLst>
          </a:custGeom>
          <a:solidFill>
            <a:srgbClr val="00C950"/>
          </a:solidFill>
          <a:ln/>
        </p:spPr>
      </p:sp>
      <p:sp>
        <p:nvSpPr>
          <p:cNvPr id="27" name="Text 25"/>
          <p:cNvSpPr/>
          <p:nvPr/>
        </p:nvSpPr>
        <p:spPr>
          <a:xfrm>
            <a:off x="769620" y="4175764"/>
            <a:ext cx="22098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Human-AI interaction designers</a:t>
            </a:r>
            <a:endParaRPr lang="en-US" sz="1600" dirty="0"/>
          </a:p>
        </p:txBody>
      </p:sp>
      <p:sp>
        <p:nvSpPr>
          <p:cNvPr id="28" name="Shape 26"/>
          <p:cNvSpPr/>
          <p:nvPr/>
        </p:nvSpPr>
        <p:spPr>
          <a:xfrm>
            <a:off x="6176010" y="1108710"/>
            <a:ext cx="5627370" cy="1798320"/>
          </a:xfrm>
          <a:prstGeom prst="roundRect">
            <a:avLst>
              <a:gd name="adj" fmla="val 6356"/>
            </a:avLst>
          </a:prstGeom>
          <a:gradFill rotWithShape="1" flip="none">
            <a:gsLst>
              <a:gs pos="0">
                <a:srgbClr val="6366F1">
                  <a:alpha val="20000"/>
                </a:srgbClr>
              </a:gs>
              <a:gs pos="100000">
                <a:srgbClr val="6366F1">
                  <a:alpha val="5000"/>
                </a:srgbClr>
              </a:gs>
            </a:gsLst>
            <a:lin ang="2700000" scaled="1"/>
          </a:gradFill>
          <a:ln w="10160">
            <a:solidFill>
              <a:srgbClr val="6366F1"/>
            </a:solidFill>
            <a:prstDash val="solid"/>
          </a:ln>
        </p:spPr>
      </p:sp>
      <p:sp>
        <p:nvSpPr>
          <p:cNvPr id="29" name="Shape 27"/>
          <p:cNvSpPr/>
          <p:nvPr/>
        </p:nvSpPr>
        <p:spPr>
          <a:xfrm>
            <a:off x="6341745" y="1264927"/>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6366F1"/>
          </a:solidFill>
          <a:ln/>
        </p:spPr>
      </p:sp>
      <p:sp>
        <p:nvSpPr>
          <p:cNvPr id="30" name="Text 28"/>
          <p:cNvSpPr/>
          <p:nvPr/>
        </p:nvSpPr>
        <p:spPr>
          <a:xfrm>
            <a:off x="6608445" y="1226827"/>
            <a:ext cx="180975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Real-World Example</a:t>
            </a:r>
            <a:endParaRPr lang="en-US" sz="1600" dirty="0"/>
          </a:p>
        </p:txBody>
      </p:sp>
      <p:sp>
        <p:nvSpPr>
          <p:cNvPr id="31" name="Shape 29"/>
          <p:cNvSpPr/>
          <p:nvPr/>
        </p:nvSpPr>
        <p:spPr>
          <a:xfrm>
            <a:off x="6294120" y="1569727"/>
            <a:ext cx="5391150" cy="1219200"/>
          </a:xfrm>
          <a:prstGeom prst="roundRect">
            <a:avLst>
              <a:gd name="adj" fmla="val 6250"/>
            </a:avLst>
          </a:prstGeom>
          <a:solidFill>
            <a:srgbClr val="191919"/>
          </a:solidFill>
          <a:ln/>
        </p:spPr>
      </p:sp>
      <p:sp>
        <p:nvSpPr>
          <p:cNvPr id="32" name="Text 30"/>
          <p:cNvSpPr/>
          <p:nvPr/>
        </p:nvSpPr>
        <p:spPr>
          <a:xfrm>
            <a:off x="6408420" y="1684027"/>
            <a:ext cx="5248275" cy="266700"/>
          </a:xfrm>
          <a:prstGeom prst="rect">
            <a:avLst/>
          </a:prstGeom>
          <a:noFill/>
          <a:ln/>
        </p:spPr>
        <p:txBody>
          <a:bodyPr wrap="square" lIns="0" tIns="0" rIns="0" bIns="0" rtlCol="0" anchor="ctr"/>
          <a:lstStyle/>
          <a:p>
            <a:pPr>
              <a:lnSpc>
                <a:spcPct val="130000"/>
              </a:lnSpc>
            </a:pPr>
            <a:r>
              <a:rPr lang="en-US" sz="1350" b="1" dirty="0">
                <a:solidFill>
                  <a:srgbClr val="6366F1"/>
                </a:solidFill>
                <a:latin typeface="Liter" pitchFamily="34" charset="0"/>
                <a:ea typeface="Liter" pitchFamily="34" charset="-122"/>
                <a:cs typeface="Liter" pitchFamily="34" charset="-120"/>
              </a:rPr>
              <a:t>The ATM Story</a:t>
            </a:r>
            <a:endParaRPr lang="en-US" sz="1600" dirty="0"/>
          </a:p>
        </p:txBody>
      </p:sp>
      <p:sp>
        <p:nvSpPr>
          <p:cNvPr id="33" name="Text 31"/>
          <p:cNvSpPr/>
          <p:nvPr/>
        </p:nvSpPr>
        <p:spPr>
          <a:xfrm>
            <a:off x="6408420" y="1988827"/>
            <a:ext cx="523875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When ATMs were invented, people feared bank tellers would lose jobs. Instead, banks opened more branches, and tellers focused on complex customer needs. Technology created more jobs than it replaced!</a:t>
            </a:r>
            <a:endParaRPr lang="en-US" sz="1600" dirty="0"/>
          </a:p>
        </p:txBody>
      </p:sp>
      <p:sp>
        <p:nvSpPr>
          <p:cNvPr id="34" name="Shape 32"/>
          <p:cNvSpPr/>
          <p:nvPr/>
        </p:nvSpPr>
        <p:spPr>
          <a:xfrm>
            <a:off x="6176010" y="2990846"/>
            <a:ext cx="5627370" cy="1664970"/>
          </a:xfrm>
          <a:prstGeom prst="roundRect">
            <a:avLst>
              <a:gd name="adj" fmla="val 6865"/>
            </a:avLst>
          </a:prstGeom>
          <a:solidFill>
            <a:srgbClr val="262626"/>
          </a:solidFill>
          <a:ln w="10160">
            <a:solidFill>
              <a:srgbClr val="333333"/>
            </a:solidFill>
            <a:prstDash val="solid"/>
          </a:ln>
        </p:spPr>
      </p:sp>
      <p:sp>
        <p:nvSpPr>
          <p:cNvPr id="35" name="Text 33"/>
          <p:cNvSpPr/>
          <p:nvPr/>
        </p:nvSpPr>
        <p:spPr>
          <a:xfrm>
            <a:off x="6294120" y="3108964"/>
            <a:ext cx="547687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Skills for the AI Era</a:t>
            </a:r>
            <a:endParaRPr lang="en-US" sz="1600" dirty="0"/>
          </a:p>
        </p:txBody>
      </p:sp>
      <p:sp>
        <p:nvSpPr>
          <p:cNvPr id="36" name="Shape 34"/>
          <p:cNvSpPr/>
          <p:nvPr/>
        </p:nvSpPr>
        <p:spPr>
          <a:xfrm>
            <a:off x="6313170" y="3489964"/>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6366F1"/>
          </a:solidFill>
          <a:ln/>
        </p:spPr>
      </p:sp>
      <p:sp>
        <p:nvSpPr>
          <p:cNvPr id="37" name="Text 35"/>
          <p:cNvSpPr/>
          <p:nvPr/>
        </p:nvSpPr>
        <p:spPr>
          <a:xfrm>
            <a:off x="6560820" y="3451864"/>
            <a:ext cx="253365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Critical thinking and problem-solving</a:t>
            </a:r>
            <a:endParaRPr lang="en-US" sz="1600" dirty="0"/>
          </a:p>
        </p:txBody>
      </p:sp>
      <p:sp>
        <p:nvSpPr>
          <p:cNvPr id="38" name="Shape 36"/>
          <p:cNvSpPr/>
          <p:nvPr/>
        </p:nvSpPr>
        <p:spPr>
          <a:xfrm>
            <a:off x="6313170" y="3775714"/>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6366F1"/>
          </a:solidFill>
          <a:ln/>
        </p:spPr>
      </p:sp>
      <p:sp>
        <p:nvSpPr>
          <p:cNvPr id="39" name="Text 37"/>
          <p:cNvSpPr/>
          <p:nvPr/>
        </p:nvSpPr>
        <p:spPr>
          <a:xfrm>
            <a:off x="6560820" y="3737614"/>
            <a:ext cx="173355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Creativity and innovation</a:t>
            </a:r>
            <a:endParaRPr lang="en-US" sz="1600" dirty="0"/>
          </a:p>
        </p:txBody>
      </p:sp>
      <p:sp>
        <p:nvSpPr>
          <p:cNvPr id="40" name="Shape 38"/>
          <p:cNvSpPr/>
          <p:nvPr/>
        </p:nvSpPr>
        <p:spPr>
          <a:xfrm>
            <a:off x="6313170" y="4061464"/>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6366F1"/>
          </a:solidFill>
          <a:ln/>
        </p:spPr>
      </p:sp>
      <p:sp>
        <p:nvSpPr>
          <p:cNvPr id="41" name="Text 39"/>
          <p:cNvSpPr/>
          <p:nvPr/>
        </p:nvSpPr>
        <p:spPr>
          <a:xfrm>
            <a:off x="6560820" y="4023364"/>
            <a:ext cx="156210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Emotional intelligence</a:t>
            </a:r>
            <a:endParaRPr lang="en-US" sz="1600" dirty="0"/>
          </a:p>
        </p:txBody>
      </p:sp>
      <p:sp>
        <p:nvSpPr>
          <p:cNvPr id="42" name="Shape 40"/>
          <p:cNvSpPr/>
          <p:nvPr/>
        </p:nvSpPr>
        <p:spPr>
          <a:xfrm>
            <a:off x="6313170" y="4347214"/>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6366F1"/>
          </a:solidFill>
          <a:ln/>
        </p:spPr>
      </p:sp>
      <p:sp>
        <p:nvSpPr>
          <p:cNvPr id="43" name="Text 41"/>
          <p:cNvSpPr/>
          <p:nvPr/>
        </p:nvSpPr>
        <p:spPr>
          <a:xfrm>
            <a:off x="6560820" y="4309114"/>
            <a:ext cx="1771650" cy="2286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Lifelong learning mindset</a:t>
            </a:r>
            <a:endParaRPr lang="en-US" sz="1600" dirty="0"/>
          </a:p>
        </p:txBody>
      </p:sp>
      <p:sp>
        <p:nvSpPr>
          <p:cNvPr id="44" name="Shape 42"/>
          <p:cNvSpPr/>
          <p:nvPr/>
        </p:nvSpPr>
        <p:spPr>
          <a:xfrm>
            <a:off x="6176010" y="4739651"/>
            <a:ext cx="5627370" cy="1264920"/>
          </a:xfrm>
          <a:prstGeom prst="roundRect">
            <a:avLst>
              <a:gd name="adj" fmla="val 9036"/>
            </a:avLst>
          </a:prstGeom>
          <a:solidFill>
            <a:srgbClr val="262626"/>
          </a:solidFill>
          <a:ln w="10160">
            <a:solidFill>
              <a:srgbClr val="333333"/>
            </a:solidFill>
            <a:prstDash val="solid"/>
          </a:ln>
        </p:spPr>
      </p:sp>
      <p:sp>
        <p:nvSpPr>
          <p:cNvPr id="45" name="Text 43"/>
          <p:cNvSpPr/>
          <p:nvPr/>
        </p:nvSpPr>
        <p:spPr>
          <a:xfrm>
            <a:off x="6294120" y="4857750"/>
            <a:ext cx="547687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 Simple Explanation</a:t>
            </a:r>
            <a:endParaRPr lang="en-US" sz="1600" dirty="0"/>
          </a:p>
        </p:txBody>
      </p:sp>
      <p:sp>
        <p:nvSpPr>
          <p:cNvPr id="46" name="Text 44"/>
          <p:cNvSpPr/>
          <p:nvPr/>
        </p:nvSpPr>
        <p:spPr>
          <a:xfrm>
            <a:off x="6294120" y="5200650"/>
            <a:ext cx="546735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History shows technology creates more jobs than it destroys. The key is to stay adaptable, keep learning, and focus on skills that make us uniquely human—creativity, empathy, and complex problem-solving.</a:t>
            </a:r>
            <a:endParaRPr lang="en-US" sz="1600" dirty="0"/>
          </a:p>
        </p:txBody>
      </p:sp>
    </p:spTree>
  </p:cSld>
  <p:clrMapOvr>
    <a:masterClrMapping/>
  </p:clrMapOvr>
  <p:transition>
    <p:fade/>
    <p:spd val="med"/>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91919"/>
        </a:solidFill>
      </p:bgPr>
    </p:bg>
    <p:spTree>
      <p:nvGrpSpPr>
        <p:cNvPr id="1" name=""/>
        <p:cNvGrpSpPr/>
        <p:nvPr/>
      </p:nvGrpSpPr>
      <p:grpSpPr>
        <a:xfrm>
          <a:off x="0" y="0"/>
          <a:ext cx="0" cy="0"/>
          <a:chOff x="0" y="0"/>
          <a:chExt cx="0" cy="0"/>
        </a:xfrm>
      </p:grpSpPr>
      <p:pic>
        <p:nvPicPr>
          <p:cNvPr id="2" name="Image 0" descr="https://statics.moonshot.cn/kimi-ppt/html-gen/static/image-error.png">    </p:cNvPr>
          <p:cNvPicPr>
            <a:picLocks noChangeAspect="1"/>
          </p:cNvPicPr>
          <p:nvPr/>
        </p:nvPicPr>
        <p:blipFill>
          <a:blip r:embed="rId1">
            <a:alphaModFix amt="30000"/>
          </a:blip>
          <a:stretch>
            <a:fillRect/>
          </a:stretch>
        </p:blipFill>
        <p:spPr>
          <a:xfrm>
            <a:off x="0" y="0"/>
            <a:ext cx="12192000" cy="6858000"/>
          </a:xfrm>
          <a:prstGeom prst="roundRect">
            <a:avLst>
              <a:gd name="adj" fmla="val 0"/>
            </a:avLst>
          </a:prstGeom>
        </p:spPr>
      </p:pic>
      <p:sp>
        <p:nvSpPr>
          <p:cNvPr id="3" name="Shape 0"/>
          <p:cNvSpPr/>
          <p:nvPr/>
        </p:nvSpPr>
        <p:spPr>
          <a:xfrm>
            <a:off x="0" y="0"/>
            <a:ext cx="12192000" cy="6858000"/>
          </a:xfrm>
          <a:prstGeom prst="roundRect">
            <a:avLst>
              <a:gd name="adj" fmla="val 0"/>
            </a:avLst>
          </a:prstGeom>
          <a:gradFill rotWithShape="1" flip="none">
            <a:gsLst>
              <a:gs pos="0">
                <a:srgbClr val="191919">
                  <a:alpha val="95000"/>
                </a:srgbClr>
              </a:gs>
              <a:gs pos="50000">
                <a:srgbClr val="191919">
                  <a:alpha val="90000"/>
                </a:srgbClr>
              </a:gs>
              <a:gs pos="100000">
                <a:srgbClr val="6366F1">
                  <a:alpha val="20000"/>
                </a:srgbClr>
              </a:gs>
            </a:gsLst>
            <a:lin ang="2700000" scaled="1"/>
          </a:gradFill>
          <a:ln/>
        </p:spPr>
      </p:sp>
      <p:sp>
        <p:nvSpPr>
          <p:cNvPr id="4" name="Shape 1"/>
          <p:cNvSpPr/>
          <p:nvPr/>
        </p:nvSpPr>
        <p:spPr>
          <a:xfrm>
            <a:off x="384810" y="384810"/>
            <a:ext cx="4284345" cy="388620"/>
          </a:xfrm>
          <a:prstGeom prst="roundRect">
            <a:avLst>
              <a:gd name="adj" fmla="val 19608"/>
            </a:avLst>
          </a:prstGeom>
          <a:solidFill>
            <a:srgbClr val="6366F1">
              <a:alpha val="20000"/>
            </a:srgbClr>
          </a:solidFill>
          <a:ln w="10160">
            <a:solidFill>
              <a:srgbClr val="6366F1"/>
            </a:solidFill>
            <a:prstDash val="solid"/>
          </a:ln>
        </p:spPr>
      </p:sp>
      <p:sp>
        <p:nvSpPr>
          <p:cNvPr id="5" name="Text 2"/>
          <p:cNvSpPr/>
          <p:nvPr/>
        </p:nvSpPr>
        <p:spPr>
          <a:xfrm>
            <a:off x="541020" y="464827"/>
            <a:ext cx="4050268" cy="220980"/>
          </a:xfrm>
          <a:prstGeom prst="rect">
            <a:avLst/>
          </a:prstGeom>
          <a:noFill/>
          <a:ln/>
        </p:spPr>
        <p:txBody>
          <a:bodyPr wrap="square" lIns="0" tIns="0" rIns="0" bIns="0" rtlCol="0" anchor="ctr"/>
          <a:lstStyle/>
          <a:p>
            <a:pPr>
              <a:lnSpc>
                <a:spcPct val="130000"/>
              </a:lnSpc>
            </a:pPr>
            <a:r>
              <a:rPr lang="en-US" sz="1200" b="1" spc="60" kern="0" dirty="0">
                <a:solidFill>
                  <a:srgbClr val="6366F1"/>
                </a:solidFill>
                <a:latin typeface="Liter" pitchFamily="34" charset="0"/>
                <a:ea typeface="Liter" pitchFamily="34" charset="-122"/>
                <a:cs typeface="Liter" pitchFamily="34" charset="-120"/>
              </a:rPr>
              <a:t>CONGRATULATIONS! YOU'VE COMPLETED WEEK 01</a:t>
            </a:r>
            <a:endParaRPr lang="en-US" sz="1600" dirty="0"/>
          </a:p>
        </p:txBody>
      </p:sp>
      <p:sp>
        <p:nvSpPr>
          <p:cNvPr id="6" name="Text 3"/>
          <p:cNvSpPr/>
          <p:nvPr/>
        </p:nvSpPr>
        <p:spPr>
          <a:xfrm>
            <a:off x="381000" y="929636"/>
            <a:ext cx="11658600" cy="457200"/>
          </a:xfrm>
          <a:prstGeom prst="rect">
            <a:avLst/>
          </a:prstGeom>
          <a:noFill/>
          <a:ln/>
        </p:spPr>
        <p:txBody>
          <a:bodyPr wrap="square" lIns="0" tIns="0" rIns="0" bIns="0" rtlCol="0" anchor="ctr"/>
          <a:lstStyle/>
          <a:p>
            <a:pPr>
              <a:lnSpc>
                <a:spcPct val="80000"/>
              </a:lnSpc>
            </a:pPr>
            <a:r>
              <a:rPr lang="en-US" sz="3600" b="1" dirty="0">
                <a:solidFill>
                  <a:srgbClr val="EFEFEF"/>
                </a:solidFill>
                <a:latin typeface="Liter" pitchFamily="34" charset="0"/>
                <a:ea typeface="Liter" pitchFamily="34" charset="-122"/>
                <a:cs typeface="Liter" pitchFamily="34" charset="-120"/>
              </a:rPr>
              <a:t>What You Learned</a:t>
            </a:r>
            <a:endParaRPr lang="en-US" sz="1600" dirty="0"/>
          </a:p>
        </p:txBody>
      </p:sp>
      <p:sp>
        <p:nvSpPr>
          <p:cNvPr id="7" name="Shape 4"/>
          <p:cNvSpPr/>
          <p:nvPr/>
        </p:nvSpPr>
        <p:spPr>
          <a:xfrm>
            <a:off x="381000" y="1501136"/>
            <a:ext cx="1219200" cy="57150"/>
          </a:xfrm>
          <a:prstGeom prst="roundRect">
            <a:avLst>
              <a:gd name="adj" fmla="val 0"/>
            </a:avLst>
          </a:prstGeom>
          <a:solidFill>
            <a:srgbClr val="6366F1"/>
          </a:solidFill>
          <a:ln/>
        </p:spPr>
      </p:sp>
      <p:sp>
        <p:nvSpPr>
          <p:cNvPr id="8" name="Shape 5"/>
          <p:cNvSpPr/>
          <p:nvPr/>
        </p:nvSpPr>
        <p:spPr>
          <a:xfrm>
            <a:off x="384810" y="1638296"/>
            <a:ext cx="3722370" cy="1931670"/>
          </a:xfrm>
          <a:prstGeom prst="roundRect">
            <a:avLst>
              <a:gd name="adj" fmla="val 5917"/>
            </a:avLst>
          </a:prstGeom>
          <a:solidFill>
            <a:srgbClr val="262626">
              <a:alpha val="90196"/>
            </a:srgbClr>
          </a:solidFill>
          <a:ln w="10160">
            <a:solidFill>
              <a:srgbClr val="333333"/>
            </a:solidFill>
            <a:prstDash val="solid"/>
          </a:ln>
        </p:spPr>
      </p:sp>
      <p:sp>
        <p:nvSpPr>
          <p:cNvPr id="9" name="Shape 6"/>
          <p:cNvSpPr/>
          <p:nvPr/>
        </p:nvSpPr>
        <p:spPr>
          <a:xfrm>
            <a:off x="502920" y="1756414"/>
            <a:ext cx="381000" cy="381000"/>
          </a:xfrm>
          <a:prstGeom prst="roundRect">
            <a:avLst>
              <a:gd name="adj" fmla="val 20000"/>
            </a:avLst>
          </a:prstGeom>
          <a:solidFill>
            <a:srgbClr val="2B7FFF">
              <a:alpha val="20000"/>
            </a:srgbClr>
          </a:solidFill>
          <a:ln/>
        </p:spPr>
      </p:sp>
      <p:sp>
        <p:nvSpPr>
          <p:cNvPr id="10" name="Shape 7"/>
          <p:cNvSpPr/>
          <p:nvPr/>
        </p:nvSpPr>
        <p:spPr>
          <a:xfrm>
            <a:off x="617220" y="1870714"/>
            <a:ext cx="152400" cy="152400"/>
          </a:xfrm>
          <a:custGeom>
            <a:avLst/>
            <a:gdLst/>
            <a:ahLst/>
            <a:cxnLst/>
            <a:rect l="l" t="t" r="r" b="b"/>
            <a:pathLst>
              <a:path w="152400" h="152400">
                <a:moveTo>
                  <a:pt x="35719" y="16669"/>
                </a:moveTo>
                <a:cubicBezTo>
                  <a:pt x="35719" y="7471"/>
                  <a:pt x="43190" y="0"/>
                  <a:pt x="52388" y="0"/>
                </a:cubicBezTo>
                <a:lnTo>
                  <a:pt x="59531" y="0"/>
                </a:lnTo>
                <a:cubicBezTo>
                  <a:pt x="64800" y="0"/>
                  <a:pt x="69056" y="4256"/>
                  <a:pt x="69056" y="9525"/>
                </a:cubicBezTo>
                <a:lnTo>
                  <a:pt x="69056" y="142875"/>
                </a:lnTo>
                <a:cubicBezTo>
                  <a:pt x="69056" y="148144"/>
                  <a:pt x="64800" y="152400"/>
                  <a:pt x="59531" y="152400"/>
                </a:cubicBezTo>
                <a:lnTo>
                  <a:pt x="50006" y="152400"/>
                </a:lnTo>
                <a:cubicBezTo>
                  <a:pt x="41136" y="152400"/>
                  <a:pt x="33665" y="146328"/>
                  <a:pt x="31552" y="138113"/>
                </a:cubicBezTo>
                <a:cubicBezTo>
                  <a:pt x="31343" y="138113"/>
                  <a:pt x="31165" y="138113"/>
                  <a:pt x="30956" y="138113"/>
                </a:cubicBezTo>
                <a:cubicBezTo>
                  <a:pt x="17800" y="138113"/>
                  <a:pt x="7144" y="127456"/>
                  <a:pt x="7144" y="114300"/>
                </a:cubicBezTo>
                <a:cubicBezTo>
                  <a:pt x="7144" y="108942"/>
                  <a:pt x="8930" y="104001"/>
                  <a:pt x="11906" y="100013"/>
                </a:cubicBezTo>
                <a:cubicBezTo>
                  <a:pt x="6132" y="95667"/>
                  <a:pt x="2381" y="88761"/>
                  <a:pt x="2381" y="80962"/>
                </a:cubicBezTo>
                <a:cubicBezTo>
                  <a:pt x="2381" y="71765"/>
                  <a:pt x="7620" y="63758"/>
                  <a:pt x="15240" y="59799"/>
                </a:cubicBezTo>
                <a:cubicBezTo>
                  <a:pt x="13127" y="56227"/>
                  <a:pt x="11906" y="52060"/>
                  <a:pt x="11906" y="47625"/>
                </a:cubicBezTo>
                <a:cubicBezTo>
                  <a:pt x="11906" y="34469"/>
                  <a:pt x="22562" y="23813"/>
                  <a:pt x="35719" y="23813"/>
                </a:cubicBezTo>
                <a:lnTo>
                  <a:pt x="35719" y="16669"/>
                </a:lnTo>
                <a:close/>
                <a:moveTo>
                  <a:pt x="116681" y="16669"/>
                </a:moveTo>
                <a:lnTo>
                  <a:pt x="116681" y="23813"/>
                </a:lnTo>
                <a:cubicBezTo>
                  <a:pt x="129838" y="23813"/>
                  <a:pt x="140494" y="34469"/>
                  <a:pt x="140494" y="47625"/>
                </a:cubicBezTo>
                <a:cubicBezTo>
                  <a:pt x="140494" y="52090"/>
                  <a:pt x="139273" y="56257"/>
                  <a:pt x="137160" y="59799"/>
                </a:cubicBezTo>
                <a:cubicBezTo>
                  <a:pt x="144810" y="63758"/>
                  <a:pt x="150019" y="71735"/>
                  <a:pt x="150019" y="80962"/>
                </a:cubicBezTo>
                <a:cubicBezTo>
                  <a:pt x="150019" y="88761"/>
                  <a:pt x="146268" y="95667"/>
                  <a:pt x="140494" y="100013"/>
                </a:cubicBezTo>
                <a:cubicBezTo>
                  <a:pt x="143470" y="104001"/>
                  <a:pt x="145256" y="108942"/>
                  <a:pt x="145256" y="114300"/>
                </a:cubicBezTo>
                <a:cubicBezTo>
                  <a:pt x="145256" y="127456"/>
                  <a:pt x="134600" y="138113"/>
                  <a:pt x="121444" y="138113"/>
                </a:cubicBezTo>
                <a:cubicBezTo>
                  <a:pt x="121235" y="138113"/>
                  <a:pt x="121057" y="138113"/>
                  <a:pt x="120848" y="138113"/>
                </a:cubicBezTo>
                <a:cubicBezTo>
                  <a:pt x="118735" y="146328"/>
                  <a:pt x="111264" y="152400"/>
                  <a:pt x="102394" y="152400"/>
                </a:cubicBezTo>
                <a:lnTo>
                  <a:pt x="92869" y="152400"/>
                </a:lnTo>
                <a:cubicBezTo>
                  <a:pt x="87600" y="152400"/>
                  <a:pt x="83344" y="148144"/>
                  <a:pt x="83344" y="142875"/>
                </a:cubicBezTo>
                <a:lnTo>
                  <a:pt x="83344" y="9525"/>
                </a:lnTo>
                <a:cubicBezTo>
                  <a:pt x="83344" y="4256"/>
                  <a:pt x="87600" y="0"/>
                  <a:pt x="92869" y="0"/>
                </a:cubicBezTo>
                <a:lnTo>
                  <a:pt x="100013" y="0"/>
                </a:lnTo>
                <a:cubicBezTo>
                  <a:pt x="109210" y="0"/>
                  <a:pt x="116681" y="7471"/>
                  <a:pt x="116681" y="16669"/>
                </a:cubicBezTo>
                <a:close/>
              </a:path>
            </a:pathLst>
          </a:custGeom>
          <a:solidFill>
            <a:srgbClr val="2B7FFF"/>
          </a:solidFill>
          <a:ln/>
        </p:spPr>
      </p:sp>
      <p:sp>
        <p:nvSpPr>
          <p:cNvPr id="11" name="Text 8"/>
          <p:cNvSpPr/>
          <p:nvPr/>
        </p:nvSpPr>
        <p:spPr>
          <a:xfrm>
            <a:off x="960120" y="1813564"/>
            <a:ext cx="8477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What is AI</a:t>
            </a:r>
            <a:endParaRPr lang="en-US" sz="1600" dirty="0"/>
          </a:p>
        </p:txBody>
      </p:sp>
      <p:sp>
        <p:nvSpPr>
          <p:cNvPr id="12" name="Text 9"/>
          <p:cNvSpPr/>
          <p:nvPr/>
        </p:nvSpPr>
        <p:spPr>
          <a:xfrm>
            <a:off x="502920" y="2213614"/>
            <a:ext cx="356235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AI is when machines can perform tasks that need human intelligence. You learned the simple definition and why it matters.</a:t>
            </a:r>
            <a:endParaRPr lang="en-US" sz="1600" dirty="0"/>
          </a:p>
        </p:txBody>
      </p:sp>
      <p:sp>
        <p:nvSpPr>
          <p:cNvPr id="13" name="Shape 10"/>
          <p:cNvSpPr/>
          <p:nvPr/>
        </p:nvSpPr>
        <p:spPr>
          <a:xfrm>
            <a:off x="4232910" y="1638296"/>
            <a:ext cx="3722370" cy="1931670"/>
          </a:xfrm>
          <a:prstGeom prst="roundRect">
            <a:avLst>
              <a:gd name="adj" fmla="val 5917"/>
            </a:avLst>
          </a:prstGeom>
          <a:solidFill>
            <a:srgbClr val="262626">
              <a:alpha val="90196"/>
            </a:srgbClr>
          </a:solidFill>
          <a:ln w="10160">
            <a:solidFill>
              <a:srgbClr val="333333"/>
            </a:solidFill>
            <a:prstDash val="solid"/>
          </a:ln>
        </p:spPr>
      </p:sp>
      <p:sp>
        <p:nvSpPr>
          <p:cNvPr id="14" name="Shape 11"/>
          <p:cNvSpPr/>
          <p:nvPr/>
        </p:nvSpPr>
        <p:spPr>
          <a:xfrm>
            <a:off x="4351020" y="1756414"/>
            <a:ext cx="381000" cy="381000"/>
          </a:xfrm>
          <a:prstGeom prst="roundRect">
            <a:avLst>
              <a:gd name="adj" fmla="val 20000"/>
            </a:avLst>
          </a:prstGeom>
          <a:solidFill>
            <a:srgbClr val="00C950">
              <a:alpha val="20000"/>
            </a:srgbClr>
          </a:solidFill>
          <a:ln/>
        </p:spPr>
      </p:sp>
      <p:sp>
        <p:nvSpPr>
          <p:cNvPr id="15" name="Shape 12"/>
          <p:cNvSpPr/>
          <p:nvPr/>
        </p:nvSpPr>
        <p:spPr>
          <a:xfrm>
            <a:off x="4455795" y="1870714"/>
            <a:ext cx="171450" cy="152400"/>
          </a:xfrm>
          <a:custGeom>
            <a:avLst/>
            <a:gdLst/>
            <a:ahLst/>
            <a:cxnLst/>
            <a:rect l="l" t="t" r="r" b="b"/>
            <a:pathLst>
              <a:path w="171450" h="152400">
                <a:moveTo>
                  <a:pt x="85725" y="19050"/>
                </a:moveTo>
                <a:cubicBezTo>
                  <a:pt x="117277" y="19050"/>
                  <a:pt x="142875" y="44648"/>
                  <a:pt x="142875" y="76200"/>
                </a:cubicBezTo>
                <a:cubicBezTo>
                  <a:pt x="142875" y="107752"/>
                  <a:pt x="117277" y="133350"/>
                  <a:pt x="85725" y="133350"/>
                </a:cubicBezTo>
                <a:cubicBezTo>
                  <a:pt x="66318" y="133350"/>
                  <a:pt x="49143" y="123676"/>
                  <a:pt x="38814" y="108853"/>
                </a:cubicBezTo>
                <a:cubicBezTo>
                  <a:pt x="35808" y="104537"/>
                  <a:pt x="29855" y="103495"/>
                  <a:pt x="25539" y="106501"/>
                </a:cubicBezTo>
                <a:cubicBezTo>
                  <a:pt x="21223" y="109508"/>
                  <a:pt x="20181" y="115461"/>
                  <a:pt x="23187" y="119777"/>
                </a:cubicBezTo>
                <a:cubicBezTo>
                  <a:pt x="36939" y="139482"/>
                  <a:pt x="59829" y="152400"/>
                  <a:pt x="85725" y="152400"/>
                </a:cubicBezTo>
                <a:cubicBezTo>
                  <a:pt x="127814" y="152400"/>
                  <a:pt x="161925" y="118289"/>
                  <a:pt x="161925" y="76200"/>
                </a:cubicBezTo>
                <a:cubicBezTo>
                  <a:pt x="161925" y="34111"/>
                  <a:pt x="127814" y="0"/>
                  <a:pt x="85725" y="0"/>
                </a:cubicBezTo>
                <a:cubicBezTo>
                  <a:pt x="60216" y="0"/>
                  <a:pt x="37654" y="12531"/>
                  <a:pt x="23813" y="31760"/>
                </a:cubicBezTo>
                <a:lnTo>
                  <a:pt x="23813" y="23813"/>
                </a:lnTo>
                <a:cubicBezTo>
                  <a:pt x="23813" y="18544"/>
                  <a:pt x="19556" y="14288"/>
                  <a:pt x="14288" y="14288"/>
                </a:cubicBezTo>
                <a:cubicBezTo>
                  <a:pt x="9019" y="14288"/>
                  <a:pt x="4763" y="18544"/>
                  <a:pt x="4763" y="23813"/>
                </a:cubicBezTo>
                <a:lnTo>
                  <a:pt x="4763" y="57150"/>
                </a:lnTo>
                <a:cubicBezTo>
                  <a:pt x="4763" y="62419"/>
                  <a:pt x="9019" y="66675"/>
                  <a:pt x="14288" y="66675"/>
                </a:cubicBezTo>
                <a:lnTo>
                  <a:pt x="21610" y="66675"/>
                </a:lnTo>
                <a:cubicBezTo>
                  <a:pt x="21759" y="66675"/>
                  <a:pt x="21908" y="66675"/>
                  <a:pt x="22056" y="66675"/>
                </a:cubicBezTo>
                <a:lnTo>
                  <a:pt x="47655" y="66675"/>
                </a:lnTo>
                <a:cubicBezTo>
                  <a:pt x="52923" y="66675"/>
                  <a:pt x="57180" y="62419"/>
                  <a:pt x="57180" y="57150"/>
                </a:cubicBezTo>
                <a:cubicBezTo>
                  <a:pt x="57180" y="51881"/>
                  <a:pt x="52923" y="47625"/>
                  <a:pt x="47655" y="47625"/>
                </a:cubicBezTo>
                <a:lnTo>
                  <a:pt x="36255" y="47625"/>
                </a:lnTo>
                <a:cubicBezTo>
                  <a:pt x="46107" y="30540"/>
                  <a:pt x="64591" y="19050"/>
                  <a:pt x="85725" y="19050"/>
                </a:cubicBezTo>
                <a:close/>
                <a:moveTo>
                  <a:pt x="92869" y="45244"/>
                </a:moveTo>
                <a:cubicBezTo>
                  <a:pt x="92869" y="41285"/>
                  <a:pt x="89684" y="38100"/>
                  <a:pt x="85725" y="38100"/>
                </a:cubicBezTo>
                <a:cubicBezTo>
                  <a:pt x="81766" y="38100"/>
                  <a:pt x="78581" y="41285"/>
                  <a:pt x="78581" y="45244"/>
                </a:cubicBezTo>
                <a:lnTo>
                  <a:pt x="78581" y="76200"/>
                </a:lnTo>
                <a:cubicBezTo>
                  <a:pt x="78581" y="78105"/>
                  <a:pt x="79325" y="79921"/>
                  <a:pt x="80665" y="81260"/>
                </a:cubicBezTo>
                <a:lnTo>
                  <a:pt x="102096" y="102691"/>
                </a:lnTo>
                <a:cubicBezTo>
                  <a:pt x="104894" y="105489"/>
                  <a:pt x="109418" y="105489"/>
                  <a:pt x="112187" y="102691"/>
                </a:cubicBezTo>
                <a:cubicBezTo>
                  <a:pt x="114955" y="99893"/>
                  <a:pt x="114985" y="95369"/>
                  <a:pt x="112187" y="92601"/>
                </a:cubicBezTo>
                <a:lnTo>
                  <a:pt x="92839" y="73253"/>
                </a:lnTo>
                <a:lnTo>
                  <a:pt x="92839" y="45244"/>
                </a:lnTo>
                <a:close/>
              </a:path>
            </a:pathLst>
          </a:custGeom>
          <a:solidFill>
            <a:srgbClr val="00C950"/>
          </a:solidFill>
          <a:ln/>
        </p:spPr>
      </p:sp>
      <p:sp>
        <p:nvSpPr>
          <p:cNvPr id="16" name="Text 13"/>
          <p:cNvSpPr/>
          <p:nvPr/>
        </p:nvSpPr>
        <p:spPr>
          <a:xfrm>
            <a:off x="4808220" y="1813564"/>
            <a:ext cx="101917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History of AI</a:t>
            </a:r>
            <a:endParaRPr lang="en-US" sz="1600" dirty="0"/>
          </a:p>
        </p:txBody>
      </p:sp>
      <p:sp>
        <p:nvSpPr>
          <p:cNvPr id="17" name="Text 14"/>
          <p:cNvSpPr/>
          <p:nvPr/>
        </p:nvSpPr>
        <p:spPr>
          <a:xfrm>
            <a:off x="4351020" y="2213614"/>
            <a:ext cx="356235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From Alan Turing's question in 1950 to ChatGPT in 2022. You saw how AI went from dream to daily reality.</a:t>
            </a:r>
            <a:endParaRPr lang="en-US" sz="1600" dirty="0"/>
          </a:p>
        </p:txBody>
      </p:sp>
      <p:sp>
        <p:nvSpPr>
          <p:cNvPr id="18" name="Shape 15"/>
          <p:cNvSpPr/>
          <p:nvPr/>
        </p:nvSpPr>
        <p:spPr>
          <a:xfrm>
            <a:off x="8081010" y="1638296"/>
            <a:ext cx="3722370" cy="1931670"/>
          </a:xfrm>
          <a:prstGeom prst="roundRect">
            <a:avLst>
              <a:gd name="adj" fmla="val 5917"/>
            </a:avLst>
          </a:prstGeom>
          <a:solidFill>
            <a:srgbClr val="262626">
              <a:alpha val="90196"/>
            </a:srgbClr>
          </a:solidFill>
          <a:ln w="10160">
            <a:solidFill>
              <a:srgbClr val="333333"/>
            </a:solidFill>
            <a:prstDash val="solid"/>
          </a:ln>
        </p:spPr>
      </p:sp>
      <p:sp>
        <p:nvSpPr>
          <p:cNvPr id="19" name="Shape 16"/>
          <p:cNvSpPr/>
          <p:nvPr/>
        </p:nvSpPr>
        <p:spPr>
          <a:xfrm>
            <a:off x="8199120" y="1756414"/>
            <a:ext cx="381000" cy="381000"/>
          </a:xfrm>
          <a:prstGeom prst="roundRect">
            <a:avLst>
              <a:gd name="adj" fmla="val 20000"/>
            </a:avLst>
          </a:prstGeom>
          <a:solidFill>
            <a:srgbClr val="AD46FF">
              <a:alpha val="20000"/>
            </a:srgbClr>
          </a:solidFill>
          <a:ln/>
        </p:spPr>
      </p:sp>
      <p:sp>
        <p:nvSpPr>
          <p:cNvPr id="20" name="Shape 17"/>
          <p:cNvSpPr/>
          <p:nvPr/>
        </p:nvSpPr>
        <p:spPr>
          <a:xfrm>
            <a:off x="8294370" y="1870714"/>
            <a:ext cx="190500" cy="152400"/>
          </a:xfrm>
          <a:custGeom>
            <a:avLst/>
            <a:gdLst/>
            <a:ahLst/>
            <a:cxnLst/>
            <a:rect l="l" t="t" r="r" b="b"/>
            <a:pathLst>
              <a:path w="190500" h="152400">
                <a:moveTo>
                  <a:pt x="123795" y="62657"/>
                </a:moveTo>
                <a:cubicBezTo>
                  <a:pt x="127427" y="61674"/>
                  <a:pt x="131237" y="63401"/>
                  <a:pt x="132874" y="66764"/>
                </a:cubicBezTo>
                <a:lnTo>
                  <a:pt x="138410" y="77956"/>
                </a:lnTo>
                <a:cubicBezTo>
                  <a:pt x="141476" y="78373"/>
                  <a:pt x="144482" y="79206"/>
                  <a:pt x="147310" y="80367"/>
                </a:cubicBezTo>
                <a:lnTo>
                  <a:pt x="157728" y="73432"/>
                </a:lnTo>
                <a:cubicBezTo>
                  <a:pt x="160853" y="71348"/>
                  <a:pt x="164991" y="71765"/>
                  <a:pt x="167640" y="74414"/>
                </a:cubicBezTo>
                <a:lnTo>
                  <a:pt x="173355" y="80129"/>
                </a:lnTo>
                <a:cubicBezTo>
                  <a:pt x="176004" y="82778"/>
                  <a:pt x="176421" y="86945"/>
                  <a:pt x="174337" y="90041"/>
                </a:cubicBezTo>
                <a:lnTo>
                  <a:pt x="167402" y="100429"/>
                </a:lnTo>
                <a:cubicBezTo>
                  <a:pt x="167967" y="101828"/>
                  <a:pt x="168473" y="103287"/>
                  <a:pt x="168890" y="104805"/>
                </a:cubicBezTo>
                <a:cubicBezTo>
                  <a:pt x="169307" y="106323"/>
                  <a:pt x="169575" y="107811"/>
                  <a:pt x="169783" y="109329"/>
                </a:cubicBezTo>
                <a:lnTo>
                  <a:pt x="181005" y="114866"/>
                </a:lnTo>
                <a:cubicBezTo>
                  <a:pt x="184368" y="116532"/>
                  <a:pt x="186095" y="120342"/>
                  <a:pt x="185112" y="123944"/>
                </a:cubicBezTo>
                <a:lnTo>
                  <a:pt x="183029" y="131743"/>
                </a:lnTo>
                <a:cubicBezTo>
                  <a:pt x="182047" y="135344"/>
                  <a:pt x="178683" y="137785"/>
                  <a:pt x="174933" y="137547"/>
                </a:cubicBezTo>
                <a:lnTo>
                  <a:pt x="162431" y="136743"/>
                </a:lnTo>
                <a:cubicBezTo>
                  <a:pt x="160556" y="139154"/>
                  <a:pt x="158383" y="141387"/>
                  <a:pt x="155912" y="143292"/>
                </a:cubicBezTo>
                <a:lnTo>
                  <a:pt x="156716" y="155764"/>
                </a:lnTo>
                <a:cubicBezTo>
                  <a:pt x="156954" y="159514"/>
                  <a:pt x="154513" y="162907"/>
                  <a:pt x="150912" y="163860"/>
                </a:cubicBezTo>
                <a:lnTo>
                  <a:pt x="143113" y="165943"/>
                </a:lnTo>
                <a:cubicBezTo>
                  <a:pt x="139482" y="166926"/>
                  <a:pt x="135701" y="165199"/>
                  <a:pt x="134035" y="161836"/>
                </a:cubicBezTo>
                <a:lnTo>
                  <a:pt x="128498" y="150644"/>
                </a:lnTo>
                <a:cubicBezTo>
                  <a:pt x="125432" y="150227"/>
                  <a:pt x="122426" y="149394"/>
                  <a:pt x="119598" y="148233"/>
                </a:cubicBezTo>
                <a:lnTo>
                  <a:pt x="109180" y="155168"/>
                </a:lnTo>
                <a:cubicBezTo>
                  <a:pt x="106055" y="157252"/>
                  <a:pt x="101918" y="156835"/>
                  <a:pt x="99268" y="154186"/>
                </a:cubicBezTo>
                <a:lnTo>
                  <a:pt x="93553" y="148471"/>
                </a:lnTo>
                <a:cubicBezTo>
                  <a:pt x="90904" y="145822"/>
                  <a:pt x="90488" y="141684"/>
                  <a:pt x="92571" y="138559"/>
                </a:cubicBezTo>
                <a:lnTo>
                  <a:pt x="99506" y="128141"/>
                </a:lnTo>
                <a:cubicBezTo>
                  <a:pt x="98941" y="126742"/>
                  <a:pt x="98435" y="125284"/>
                  <a:pt x="98018" y="123765"/>
                </a:cubicBezTo>
                <a:cubicBezTo>
                  <a:pt x="97601" y="122247"/>
                  <a:pt x="97334" y="120729"/>
                  <a:pt x="97125" y="119241"/>
                </a:cubicBezTo>
                <a:lnTo>
                  <a:pt x="85904" y="113705"/>
                </a:lnTo>
                <a:cubicBezTo>
                  <a:pt x="82540" y="112038"/>
                  <a:pt x="80843" y="108228"/>
                  <a:pt x="81796" y="104626"/>
                </a:cubicBezTo>
                <a:lnTo>
                  <a:pt x="83880" y="96828"/>
                </a:lnTo>
                <a:cubicBezTo>
                  <a:pt x="84862" y="93226"/>
                  <a:pt x="88225" y="90785"/>
                  <a:pt x="91976" y="91023"/>
                </a:cubicBezTo>
                <a:lnTo>
                  <a:pt x="104448" y="91827"/>
                </a:lnTo>
                <a:cubicBezTo>
                  <a:pt x="106323" y="89416"/>
                  <a:pt x="108496" y="87184"/>
                  <a:pt x="110966" y="85279"/>
                </a:cubicBezTo>
                <a:lnTo>
                  <a:pt x="110163" y="72836"/>
                </a:lnTo>
                <a:cubicBezTo>
                  <a:pt x="109924" y="69086"/>
                  <a:pt x="112365" y="65693"/>
                  <a:pt x="115967" y="64740"/>
                </a:cubicBezTo>
                <a:lnTo>
                  <a:pt x="123765" y="62657"/>
                </a:lnTo>
                <a:close/>
                <a:moveTo>
                  <a:pt x="133469" y="101203"/>
                </a:moveTo>
                <a:cubicBezTo>
                  <a:pt x="126241" y="101211"/>
                  <a:pt x="120379" y="107087"/>
                  <a:pt x="120387" y="114315"/>
                </a:cubicBezTo>
                <a:cubicBezTo>
                  <a:pt x="120395" y="121543"/>
                  <a:pt x="126270" y="127405"/>
                  <a:pt x="133499" y="127397"/>
                </a:cubicBezTo>
                <a:cubicBezTo>
                  <a:pt x="140727" y="127389"/>
                  <a:pt x="146589" y="121513"/>
                  <a:pt x="146581" y="114285"/>
                </a:cubicBezTo>
                <a:cubicBezTo>
                  <a:pt x="146573" y="107057"/>
                  <a:pt x="140697" y="101195"/>
                  <a:pt x="133469" y="101203"/>
                </a:cubicBezTo>
                <a:close/>
                <a:moveTo>
                  <a:pt x="66943" y="-13543"/>
                </a:moveTo>
                <a:lnTo>
                  <a:pt x="74741" y="-11460"/>
                </a:lnTo>
                <a:cubicBezTo>
                  <a:pt x="78343" y="-10477"/>
                  <a:pt x="80784" y="-7084"/>
                  <a:pt x="80546" y="-3364"/>
                </a:cubicBezTo>
                <a:lnTo>
                  <a:pt x="79742" y="9079"/>
                </a:lnTo>
                <a:cubicBezTo>
                  <a:pt x="82213" y="10984"/>
                  <a:pt x="84386" y="13186"/>
                  <a:pt x="86261" y="15627"/>
                </a:cubicBezTo>
                <a:lnTo>
                  <a:pt x="98762" y="14823"/>
                </a:lnTo>
                <a:cubicBezTo>
                  <a:pt x="102483" y="14585"/>
                  <a:pt x="105876" y="17026"/>
                  <a:pt x="106859" y="20628"/>
                </a:cubicBezTo>
                <a:lnTo>
                  <a:pt x="108942" y="28426"/>
                </a:lnTo>
                <a:cubicBezTo>
                  <a:pt x="109895" y="32028"/>
                  <a:pt x="108198" y="35838"/>
                  <a:pt x="104835" y="37505"/>
                </a:cubicBezTo>
                <a:lnTo>
                  <a:pt x="93613" y="43041"/>
                </a:lnTo>
                <a:cubicBezTo>
                  <a:pt x="93405" y="44559"/>
                  <a:pt x="93107" y="46077"/>
                  <a:pt x="92720" y="47565"/>
                </a:cubicBezTo>
                <a:cubicBezTo>
                  <a:pt x="92333" y="49054"/>
                  <a:pt x="91797" y="50542"/>
                  <a:pt x="91232" y="51941"/>
                </a:cubicBezTo>
                <a:lnTo>
                  <a:pt x="98167" y="62359"/>
                </a:lnTo>
                <a:cubicBezTo>
                  <a:pt x="100251" y="65484"/>
                  <a:pt x="99834" y="69622"/>
                  <a:pt x="97185" y="72271"/>
                </a:cubicBezTo>
                <a:lnTo>
                  <a:pt x="91470" y="77986"/>
                </a:lnTo>
                <a:cubicBezTo>
                  <a:pt x="88821" y="80635"/>
                  <a:pt x="84683" y="81052"/>
                  <a:pt x="81558" y="78968"/>
                </a:cubicBezTo>
                <a:lnTo>
                  <a:pt x="71140" y="72033"/>
                </a:lnTo>
                <a:cubicBezTo>
                  <a:pt x="68312" y="73194"/>
                  <a:pt x="65306" y="74027"/>
                  <a:pt x="62240" y="74444"/>
                </a:cubicBezTo>
                <a:lnTo>
                  <a:pt x="56704" y="85636"/>
                </a:lnTo>
                <a:cubicBezTo>
                  <a:pt x="55037" y="88999"/>
                  <a:pt x="51227" y="90696"/>
                  <a:pt x="47625" y="89743"/>
                </a:cubicBezTo>
                <a:lnTo>
                  <a:pt x="39826" y="87660"/>
                </a:lnTo>
                <a:cubicBezTo>
                  <a:pt x="36195" y="86678"/>
                  <a:pt x="33784" y="83284"/>
                  <a:pt x="34022" y="79564"/>
                </a:cubicBezTo>
                <a:lnTo>
                  <a:pt x="34826" y="67092"/>
                </a:lnTo>
                <a:cubicBezTo>
                  <a:pt x="32355" y="65187"/>
                  <a:pt x="30182" y="62984"/>
                  <a:pt x="28307" y="60543"/>
                </a:cubicBezTo>
                <a:lnTo>
                  <a:pt x="15806" y="61347"/>
                </a:lnTo>
                <a:cubicBezTo>
                  <a:pt x="12085" y="61585"/>
                  <a:pt x="8692" y="59144"/>
                  <a:pt x="7709" y="55543"/>
                </a:cubicBezTo>
                <a:lnTo>
                  <a:pt x="5626" y="47744"/>
                </a:lnTo>
                <a:cubicBezTo>
                  <a:pt x="4673" y="44142"/>
                  <a:pt x="6370" y="40332"/>
                  <a:pt x="9733" y="38666"/>
                </a:cubicBezTo>
                <a:lnTo>
                  <a:pt x="20955" y="33129"/>
                </a:lnTo>
                <a:cubicBezTo>
                  <a:pt x="21163" y="31611"/>
                  <a:pt x="21461" y="30123"/>
                  <a:pt x="21848" y="28605"/>
                </a:cubicBezTo>
                <a:cubicBezTo>
                  <a:pt x="22265" y="27087"/>
                  <a:pt x="22741" y="25628"/>
                  <a:pt x="23336" y="24229"/>
                </a:cubicBezTo>
                <a:lnTo>
                  <a:pt x="16401" y="13841"/>
                </a:lnTo>
                <a:cubicBezTo>
                  <a:pt x="14317" y="10716"/>
                  <a:pt x="14734" y="6578"/>
                  <a:pt x="17383" y="3929"/>
                </a:cubicBezTo>
                <a:lnTo>
                  <a:pt x="23098" y="-1786"/>
                </a:lnTo>
                <a:cubicBezTo>
                  <a:pt x="25747" y="-4435"/>
                  <a:pt x="29885" y="-4852"/>
                  <a:pt x="33010" y="-2768"/>
                </a:cubicBezTo>
                <a:lnTo>
                  <a:pt x="43428" y="4167"/>
                </a:lnTo>
                <a:cubicBezTo>
                  <a:pt x="46256" y="3006"/>
                  <a:pt x="49262" y="2173"/>
                  <a:pt x="52328" y="1756"/>
                </a:cubicBezTo>
                <a:lnTo>
                  <a:pt x="57864" y="-9436"/>
                </a:lnTo>
                <a:cubicBezTo>
                  <a:pt x="59531" y="-12799"/>
                  <a:pt x="63311" y="-14496"/>
                  <a:pt x="66943" y="-13543"/>
                </a:cubicBezTo>
                <a:close/>
                <a:moveTo>
                  <a:pt x="57269" y="25003"/>
                </a:moveTo>
                <a:cubicBezTo>
                  <a:pt x="50041" y="25003"/>
                  <a:pt x="44172" y="30872"/>
                  <a:pt x="44172" y="38100"/>
                </a:cubicBezTo>
                <a:cubicBezTo>
                  <a:pt x="44172" y="45328"/>
                  <a:pt x="50041" y="51197"/>
                  <a:pt x="57269" y="51197"/>
                </a:cubicBezTo>
                <a:cubicBezTo>
                  <a:pt x="64497" y="51197"/>
                  <a:pt x="70366" y="45328"/>
                  <a:pt x="70366" y="38100"/>
                </a:cubicBezTo>
                <a:cubicBezTo>
                  <a:pt x="70366" y="30872"/>
                  <a:pt x="64497" y="25003"/>
                  <a:pt x="57269" y="25003"/>
                </a:cubicBezTo>
                <a:close/>
              </a:path>
            </a:pathLst>
          </a:custGeom>
          <a:solidFill>
            <a:srgbClr val="AD46FF"/>
          </a:solidFill>
          <a:ln/>
        </p:spPr>
      </p:sp>
      <p:sp>
        <p:nvSpPr>
          <p:cNvPr id="21" name="Text 18"/>
          <p:cNvSpPr/>
          <p:nvPr/>
        </p:nvSpPr>
        <p:spPr>
          <a:xfrm>
            <a:off x="8656320" y="1813564"/>
            <a:ext cx="159067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5 Core Components</a:t>
            </a:r>
            <a:endParaRPr lang="en-US" sz="1600" dirty="0"/>
          </a:p>
        </p:txBody>
      </p:sp>
      <p:sp>
        <p:nvSpPr>
          <p:cNvPr id="22" name="Text 19"/>
          <p:cNvSpPr/>
          <p:nvPr/>
        </p:nvSpPr>
        <p:spPr>
          <a:xfrm>
            <a:off x="8199120" y="2213614"/>
            <a:ext cx="3562350" cy="6858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Learning, Reasoning, Problem-solving, Perception, and Language Understanding—the building blocks of AI.</a:t>
            </a:r>
            <a:endParaRPr lang="en-US" sz="1600" dirty="0"/>
          </a:p>
        </p:txBody>
      </p:sp>
      <p:sp>
        <p:nvSpPr>
          <p:cNvPr id="23" name="Shape 20"/>
          <p:cNvSpPr/>
          <p:nvPr/>
        </p:nvSpPr>
        <p:spPr>
          <a:xfrm>
            <a:off x="384810" y="3689985"/>
            <a:ext cx="3722370" cy="1703070"/>
          </a:xfrm>
          <a:prstGeom prst="roundRect">
            <a:avLst>
              <a:gd name="adj" fmla="val 6711"/>
            </a:avLst>
          </a:prstGeom>
          <a:solidFill>
            <a:srgbClr val="262626">
              <a:alpha val="90196"/>
            </a:srgbClr>
          </a:solidFill>
          <a:ln w="10160">
            <a:solidFill>
              <a:srgbClr val="333333"/>
            </a:solidFill>
            <a:prstDash val="solid"/>
          </a:ln>
        </p:spPr>
      </p:sp>
      <p:sp>
        <p:nvSpPr>
          <p:cNvPr id="24" name="Shape 21"/>
          <p:cNvSpPr/>
          <p:nvPr/>
        </p:nvSpPr>
        <p:spPr>
          <a:xfrm>
            <a:off x="502920" y="3808102"/>
            <a:ext cx="381000" cy="381000"/>
          </a:xfrm>
          <a:prstGeom prst="roundRect">
            <a:avLst>
              <a:gd name="adj" fmla="val 20000"/>
            </a:avLst>
          </a:prstGeom>
          <a:solidFill>
            <a:srgbClr val="F0B100">
              <a:alpha val="20000"/>
            </a:srgbClr>
          </a:solidFill>
          <a:ln/>
        </p:spPr>
      </p:sp>
      <p:sp>
        <p:nvSpPr>
          <p:cNvPr id="25" name="Shape 22"/>
          <p:cNvSpPr/>
          <p:nvPr/>
        </p:nvSpPr>
        <p:spPr>
          <a:xfrm>
            <a:off x="598170" y="3922402"/>
            <a:ext cx="190500" cy="152400"/>
          </a:xfrm>
          <a:custGeom>
            <a:avLst/>
            <a:gdLst/>
            <a:ahLst/>
            <a:cxnLst/>
            <a:rect l="l" t="t" r="r" b="b"/>
            <a:pathLst>
              <a:path w="190500" h="152400">
                <a:moveTo>
                  <a:pt x="104775" y="0"/>
                </a:moveTo>
                <a:cubicBezTo>
                  <a:pt x="104775" y="-5269"/>
                  <a:pt x="100519" y="-9525"/>
                  <a:pt x="95250" y="-9525"/>
                </a:cubicBezTo>
                <a:cubicBezTo>
                  <a:pt x="89981" y="-9525"/>
                  <a:pt x="85725" y="-5269"/>
                  <a:pt x="85725" y="0"/>
                </a:cubicBezTo>
                <a:lnTo>
                  <a:pt x="85725" y="19050"/>
                </a:lnTo>
                <a:lnTo>
                  <a:pt x="57150" y="19050"/>
                </a:lnTo>
                <a:cubicBezTo>
                  <a:pt x="41374" y="19050"/>
                  <a:pt x="28575" y="31849"/>
                  <a:pt x="28575" y="47625"/>
                </a:cubicBezTo>
                <a:lnTo>
                  <a:pt x="28575" y="114300"/>
                </a:lnTo>
                <a:cubicBezTo>
                  <a:pt x="28575" y="130076"/>
                  <a:pt x="41374" y="142875"/>
                  <a:pt x="57150" y="142875"/>
                </a:cubicBezTo>
                <a:lnTo>
                  <a:pt x="133350" y="142875"/>
                </a:lnTo>
                <a:cubicBezTo>
                  <a:pt x="149126" y="142875"/>
                  <a:pt x="161925" y="130076"/>
                  <a:pt x="161925" y="114300"/>
                </a:cubicBezTo>
                <a:lnTo>
                  <a:pt x="161925" y="47625"/>
                </a:lnTo>
                <a:cubicBezTo>
                  <a:pt x="161925" y="31849"/>
                  <a:pt x="149126" y="19050"/>
                  <a:pt x="133350" y="19050"/>
                </a:cubicBezTo>
                <a:lnTo>
                  <a:pt x="104775" y="19050"/>
                </a:lnTo>
                <a:lnTo>
                  <a:pt x="104775" y="0"/>
                </a:lnTo>
                <a:close/>
                <a:moveTo>
                  <a:pt x="47625" y="109537"/>
                </a:moveTo>
                <a:cubicBezTo>
                  <a:pt x="47625" y="105579"/>
                  <a:pt x="50810" y="102394"/>
                  <a:pt x="54769" y="102394"/>
                </a:cubicBezTo>
                <a:lnTo>
                  <a:pt x="64294" y="102394"/>
                </a:lnTo>
                <a:cubicBezTo>
                  <a:pt x="68253" y="102394"/>
                  <a:pt x="71438" y="105579"/>
                  <a:pt x="71438" y="109537"/>
                </a:cubicBezTo>
                <a:cubicBezTo>
                  <a:pt x="71438" y="113496"/>
                  <a:pt x="68253" y="116681"/>
                  <a:pt x="64294" y="116681"/>
                </a:cubicBezTo>
                <a:lnTo>
                  <a:pt x="54769" y="116681"/>
                </a:lnTo>
                <a:cubicBezTo>
                  <a:pt x="50810" y="116681"/>
                  <a:pt x="47625" y="113496"/>
                  <a:pt x="47625" y="109537"/>
                </a:cubicBezTo>
                <a:close/>
                <a:moveTo>
                  <a:pt x="83344" y="109537"/>
                </a:moveTo>
                <a:cubicBezTo>
                  <a:pt x="83344" y="105579"/>
                  <a:pt x="86529" y="102394"/>
                  <a:pt x="90488" y="102394"/>
                </a:cubicBezTo>
                <a:lnTo>
                  <a:pt x="100013" y="102394"/>
                </a:lnTo>
                <a:cubicBezTo>
                  <a:pt x="103971" y="102394"/>
                  <a:pt x="107156" y="105579"/>
                  <a:pt x="107156" y="109537"/>
                </a:cubicBezTo>
                <a:cubicBezTo>
                  <a:pt x="107156" y="113496"/>
                  <a:pt x="103971" y="116681"/>
                  <a:pt x="100013" y="116681"/>
                </a:cubicBezTo>
                <a:lnTo>
                  <a:pt x="90488" y="116681"/>
                </a:lnTo>
                <a:cubicBezTo>
                  <a:pt x="86529" y="116681"/>
                  <a:pt x="83344" y="113496"/>
                  <a:pt x="83344" y="109537"/>
                </a:cubicBezTo>
                <a:close/>
                <a:moveTo>
                  <a:pt x="119062" y="109537"/>
                </a:moveTo>
                <a:cubicBezTo>
                  <a:pt x="119062" y="105579"/>
                  <a:pt x="122247" y="102394"/>
                  <a:pt x="126206" y="102394"/>
                </a:cubicBezTo>
                <a:lnTo>
                  <a:pt x="135731" y="102394"/>
                </a:lnTo>
                <a:cubicBezTo>
                  <a:pt x="139690" y="102394"/>
                  <a:pt x="142875" y="105579"/>
                  <a:pt x="142875" y="109537"/>
                </a:cubicBezTo>
                <a:cubicBezTo>
                  <a:pt x="142875" y="113496"/>
                  <a:pt x="139690" y="116681"/>
                  <a:pt x="135731" y="116681"/>
                </a:cubicBezTo>
                <a:lnTo>
                  <a:pt x="126206" y="116681"/>
                </a:lnTo>
                <a:cubicBezTo>
                  <a:pt x="122247" y="116681"/>
                  <a:pt x="119062" y="113496"/>
                  <a:pt x="119062" y="109537"/>
                </a:cubicBezTo>
                <a:close/>
                <a:moveTo>
                  <a:pt x="66675" y="52388"/>
                </a:moveTo>
                <a:cubicBezTo>
                  <a:pt x="74560" y="52388"/>
                  <a:pt x="80962" y="58790"/>
                  <a:pt x="80962" y="66675"/>
                </a:cubicBezTo>
                <a:cubicBezTo>
                  <a:pt x="80962" y="74560"/>
                  <a:pt x="74560" y="80962"/>
                  <a:pt x="66675" y="80962"/>
                </a:cubicBezTo>
                <a:cubicBezTo>
                  <a:pt x="58790" y="80962"/>
                  <a:pt x="52388" y="74560"/>
                  <a:pt x="52388" y="66675"/>
                </a:cubicBezTo>
                <a:cubicBezTo>
                  <a:pt x="52388" y="58790"/>
                  <a:pt x="58790" y="52388"/>
                  <a:pt x="66675" y="52388"/>
                </a:cubicBezTo>
                <a:close/>
                <a:moveTo>
                  <a:pt x="109537" y="66675"/>
                </a:moveTo>
                <a:cubicBezTo>
                  <a:pt x="109537" y="58790"/>
                  <a:pt x="115940" y="52388"/>
                  <a:pt x="123825" y="52388"/>
                </a:cubicBezTo>
                <a:cubicBezTo>
                  <a:pt x="131710" y="52388"/>
                  <a:pt x="138113" y="58790"/>
                  <a:pt x="138113" y="66675"/>
                </a:cubicBezTo>
                <a:cubicBezTo>
                  <a:pt x="138113" y="74560"/>
                  <a:pt x="131710" y="80962"/>
                  <a:pt x="123825" y="80962"/>
                </a:cubicBezTo>
                <a:cubicBezTo>
                  <a:pt x="115940" y="80962"/>
                  <a:pt x="109537" y="74560"/>
                  <a:pt x="109537" y="66675"/>
                </a:cubicBezTo>
                <a:close/>
                <a:moveTo>
                  <a:pt x="19050" y="66675"/>
                </a:moveTo>
                <a:cubicBezTo>
                  <a:pt x="19050" y="61406"/>
                  <a:pt x="14794" y="57150"/>
                  <a:pt x="9525" y="57150"/>
                </a:cubicBezTo>
                <a:cubicBezTo>
                  <a:pt x="4256" y="57150"/>
                  <a:pt x="0" y="61406"/>
                  <a:pt x="0" y="66675"/>
                </a:cubicBezTo>
                <a:lnTo>
                  <a:pt x="0" y="95250"/>
                </a:lnTo>
                <a:cubicBezTo>
                  <a:pt x="0" y="100519"/>
                  <a:pt x="4256" y="104775"/>
                  <a:pt x="9525" y="104775"/>
                </a:cubicBezTo>
                <a:cubicBezTo>
                  <a:pt x="14794" y="104775"/>
                  <a:pt x="19050" y="100519"/>
                  <a:pt x="19050" y="95250"/>
                </a:cubicBezTo>
                <a:lnTo>
                  <a:pt x="19050" y="66675"/>
                </a:lnTo>
                <a:close/>
                <a:moveTo>
                  <a:pt x="180975" y="57150"/>
                </a:moveTo>
                <a:cubicBezTo>
                  <a:pt x="175706" y="57150"/>
                  <a:pt x="171450" y="61406"/>
                  <a:pt x="171450" y="66675"/>
                </a:cubicBezTo>
                <a:lnTo>
                  <a:pt x="171450" y="95250"/>
                </a:lnTo>
                <a:cubicBezTo>
                  <a:pt x="171450" y="100519"/>
                  <a:pt x="175706" y="104775"/>
                  <a:pt x="180975" y="104775"/>
                </a:cubicBezTo>
                <a:cubicBezTo>
                  <a:pt x="186244" y="104775"/>
                  <a:pt x="190500" y="100519"/>
                  <a:pt x="190500" y="95250"/>
                </a:cubicBezTo>
                <a:lnTo>
                  <a:pt x="190500" y="66675"/>
                </a:lnTo>
                <a:cubicBezTo>
                  <a:pt x="190500" y="61406"/>
                  <a:pt x="186244" y="57150"/>
                  <a:pt x="180975" y="57150"/>
                </a:cubicBezTo>
                <a:close/>
              </a:path>
            </a:pathLst>
          </a:custGeom>
          <a:solidFill>
            <a:srgbClr val="F0B100"/>
          </a:solidFill>
          <a:ln/>
        </p:spPr>
      </p:sp>
      <p:sp>
        <p:nvSpPr>
          <p:cNvPr id="26" name="Text 23"/>
          <p:cNvSpPr/>
          <p:nvPr/>
        </p:nvSpPr>
        <p:spPr>
          <a:xfrm>
            <a:off x="960120" y="3865252"/>
            <a:ext cx="81915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AI Agents</a:t>
            </a:r>
            <a:endParaRPr lang="en-US" sz="1600" dirty="0"/>
          </a:p>
        </p:txBody>
      </p:sp>
      <p:sp>
        <p:nvSpPr>
          <p:cNvPr id="27" name="Text 24"/>
          <p:cNvSpPr/>
          <p:nvPr/>
        </p:nvSpPr>
        <p:spPr>
          <a:xfrm>
            <a:off x="502920" y="4265302"/>
            <a:ext cx="3562350"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Systems that perceive, think, and act. From simple reflex to learning agents that improve over time.</a:t>
            </a:r>
            <a:endParaRPr lang="en-US" sz="1600" dirty="0"/>
          </a:p>
        </p:txBody>
      </p:sp>
      <p:sp>
        <p:nvSpPr>
          <p:cNvPr id="28" name="Shape 25"/>
          <p:cNvSpPr/>
          <p:nvPr/>
        </p:nvSpPr>
        <p:spPr>
          <a:xfrm>
            <a:off x="4232910" y="3689985"/>
            <a:ext cx="3722370" cy="1703070"/>
          </a:xfrm>
          <a:prstGeom prst="roundRect">
            <a:avLst>
              <a:gd name="adj" fmla="val 6711"/>
            </a:avLst>
          </a:prstGeom>
          <a:solidFill>
            <a:srgbClr val="262626">
              <a:alpha val="90196"/>
            </a:srgbClr>
          </a:solidFill>
          <a:ln w="10160">
            <a:solidFill>
              <a:srgbClr val="333333"/>
            </a:solidFill>
            <a:prstDash val="solid"/>
          </a:ln>
        </p:spPr>
      </p:sp>
      <p:sp>
        <p:nvSpPr>
          <p:cNvPr id="29" name="Shape 26"/>
          <p:cNvSpPr/>
          <p:nvPr/>
        </p:nvSpPr>
        <p:spPr>
          <a:xfrm>
            <a:off x="4351020" y="3808102"/>
            <a:ext cx="381000" cy="381000"/>
          </a:xfrm>
          <a:prstGeom prst="roundRect">
            <a:avLst>
              <a:gd name="adj" fmla="val 20000"/>
            </a:avLst>
          </a:prstGeom>
          <a:solidFill>
            <a:srgbClr val="FB2C36">
              <a:alpha val="20000"/>
            </a:srgbClr>
          </a:solidFill>
          <a:ln/>
        </p:spPr>
      </p:sp>
      <p:sp>
        <p:nvSpPr>
          <p:cNvPr id="30" name="Shape 27"/>
          <p:cNvSpPr/>
          <p:nvPr/>
        </p:nvSpPr>
        <p:spPr>
          <a:xfrm>
            <a:off x="4465320" y="3922402"/>
            <a:ext cx="152400" cy="152400"/>
          </a:xfrm>
          <a:custGeom>
            <a:avLst/>
            <a:gdLst/>
            <a:ahLst/>
            <a:cxnLst/>
            <a:rect l="l" t="t" r="r" b="b"/>
            <a:pathLst>
              <a:path w="152400" h="152400">
                <a:moveTo>
                  <a:pt x="104745" y="83344"/>
                </a:moveTo>
                <a:lnTo>
                  <a:pt x="47923" y="83344"/>
                </a:lnTo>
                <a:cubicBezTo>
                  <a:pt x="48786" y="102543"/>
                  <a:pt x="53042" y="120223"/>
                  <a:pt x="59085" y="133171"/>
                </a:cubicBezTo>
                <a:cubicBezTo>
                  <a:pt x="62478" y="140464"/>
                  <a:pt x="66139" y="145613"/>
                  <a:pt x="69533" y="148769"/>
                </a:cubicBezTo>
                <a:cubicBezTo>
                  <a:pt x="72866" y="151894"/>
                  <a:pt x="75158" y="152400"/>
                  <a:pt x="76349" y="152400"/>
                </a:cubicBezTo>
                <a:cubicBezTo>
                  <a:pt x="77539" y="152400"/>
                  <a:pt x="79831" y="151894"/>
                  <a:pt x="83165" y="148769"/>
                </a:cubicBezTo>
                <a:cubicBezTo>
                  <a:pt x="86558" y="145613"/>
                  <a:pt x="90220" y="140434"/>
                  <a:pt x="93613" y="133171"/>
                </a:cubicBezTo>
                <a:cubicBezTo>
                  <a:pt x="99655" y="120223"/>
                  <a:pt x="103912" y="102543"/>
                  <a:pt x="104775" y="83344"/>
                </a:cubicBezTo>
                <a:close/>
                <a:moveTo>
                  <a:pt x="47893" y="69056"/>
                </a:moveTo>
                <a:lnTo>
                  <a:pt x="104715" y="69056"/>
                </a:lnTo>
                <a:cubicBezTo>
                  <a:pt x="103882" y="49857"/>
                  <a:pt x="99626" y="32177"/>
                  <a:pt x="93583" y="19229"/>
                </a:cubicBezTo>
                <a:cubicBezTo>
                  <a:pt x="90190" y="11966"/>
                  <a:pt x="86529" y="6787"/>
                  <a:pt x="83135" y="3631"/>
                </a:cubicBezTo>
                <a:cubicBezTo>
                  <a:pt x="79802" y="506"/>
                  <a:pt x="77510" y="0"/>
                  <a:pt x="76319" y="0"/>
                </a:cubicBezTo>
                <a:cubicBezTo>
                  <a:pt x="75128" y="0"/>
                  <a:pt x="72836" y="506"/>
                  <a:pt x="69503" y="3631"/>
                </a:cubicBezTo>
                <a:cubicBezTo>
                  <a:pt x="66109" y="6787"/>
                  <a:pt x="62448" y="11966"/>
                  <a:pt x="59055" y="19229"/>
                </a:cubicBezTo>
                <a:cubicBezTo>
                  <a:pt x="53013" y="32177"/>
                  <a:pt x="48756" y="49857"/>
                  <a:pt x="47893" y="69056"/>
                </a:cubicBezTo>
                <a:close/>
                <a:moveTo>
                  <a:pt x="33605" y="69056"/>
                </a:moveTo>
                <a:cubicBezTo>
                  <a:pt x="34647" y="43577"/>
                  <a:pt x="41225" y="19913"/>
                  <a:pt x="50840" y="4376"/>
                </a:cubicBezTo>
                <a:cubicBezTo>
                  <a:pt x="23426" y="14079"/>
                  <a:pt x="3244" y="39052"/>
                  <a:pt x="446" y="69056"/>
                </a:cubicBezTo>
                <a:lnTo>
                  <a:pt x="33605" y="69056"/>
                </a:lnTo>
                <a:close/>
                <a:moveTo>
                  <a:pt x="446" y="83344"/>
                </a:moveTo>
                <a:cubicBezTo>
                  <a:pt x="3244" y="113348"/>
                  <a:pt x="23426" y="138321"/>
                  <a:pt x="50840" y="148024"/>
                </a:cubicBezTo>
                <a:cubicBezTo>
                  <a:pt x="41225" y="132487"/>
                  <a:pt x="34647" y="108823"/>
                  <a:pt x="33605" y="83344"/>
                </a:cubicBezTo>
                <a:lnTo>
                  <a:pt x="446" y="83344"/>
                </a:lnTo>
                <a:close/>
                <a:moveTo>
                  <a:pt x="119033" y="83344"/>
                </a:moveTo>
                <a:cubicBezTo>
                  <a:pt x="117991" y="108823"/>
                  <a:pt x="111413" y="132487"/>
                  <a:pt x="101798" y="148024"/>
                </a:cubicBezTo>
                <a:cubicBezTo>
                  <a:pt x="129213" y="138291"/>
                  <a:pt x="149394" y="113348"/>
                  <a:pt x="152192" y="83344"/>
                </a:cubicBezTo>
                <a:lnTo>
                  <a:pt x="119033" y="83344"/>
                </a:lnTo>
                <a:close/>
                <a:moveTo>
                  <a:pt x="152192" y="69056"/>
                </a:moveTo>
                <a:cubicBezTo>
                  <a:pt x="149394" y="39052"/>
                  <a:pt x="129213" y="14079"/>
                  <a:pt x="101798" y="4376"/>
                </a:cubicBezTo>
                <a:cubicBezTo>
                  <a:pt x="111413" y="19913"/>
                  <a:pt x="117991" y="43577"/>
                  <a:pt x="119033" y="69056"/>
                </a:cubicBezTo>
                <a:lnTo>
                  <a:pt x="152192" y="69056"/>
                </a:lnTo>
                <a:close/>
              </a:path>
            </a:pathLst>
          </a:custGeom>
          <a:solidFill>
            <a:srgbClr val="FB2C36"/>
          </a:solidFill>
          <a:ln/>
        </p:spPr>
      </p:sp>
      <p:sp>
        <p:nvSpPr>
          <p:cNvPr id="31" name="Text 28"/>
          <p:cNvSpPr/>
          <p:nvPr/>
        </p:nvSpPr>
        <p:spPr>
          <a:xfrm>
            <a:off x="4808220" y="3865252"/>
            <a:ext cx="1028700"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Applications</a:t>
            </a:r>
            <a:endParaRPr lang="en-US" sz="1600" dirty="0"/>
          </a:p>
        </p:txBody>
      </p:sp>
      <p:sp>
        <p:nvSpPr>
          <p:cNvPr id="32" name="Text 29"/>
          <p:cNvSpPr/>
          <p:nvPr/>
        </p:nvSpPr>
        <p:spPr>
          <a:xfrm>
            <a:off x="4351020" y="4265302"/>
            <a:ext cx="3562350"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Healthcare, education, banking, gaming, and smart devices. AI is everywhere, making life better.</a:t>
            </a:r>
            <a:endParaRPr lang="en-US" sz="1600" dirty="0"/>
          </a:p>
        </p:txBody>
      </p:sp>
      <p:sp>
        <p:nvSpPr>
          <p:cNvPr id="33" name="Shape 30"/>
          <p:cNvSpPr/>
          <p:nvPr/>
        </p:nvSpPr>
        <p:spPr>
          <a:xfrm>
            <a:off x="8081010" y="3689985"/>
            <a:ext cx="3722370" cy="1703070"/>
          </a:xfrm>
          <a:prstGeom prst="roundRect">
            <a:avLst>
              <a:gd name="adj" fmla="val 6711"/>
            </a:avLst>
          </a:prstGeom>
          <a:solidFill>
            <a:srgbClr val="262626">
              <a:alpha val="90196"/>
            </a:srgbClr>
          </a:solidFill>
          <a:ln w="10160">
            <a:solidFill>
              <a:srgbClr val="333333"/>
            </a:solidFill>
            <a:prstDash val="solid"/>
          </a:ln>
        </p:spPr>
      </p:sp>
      <p:sp>
        <p:nvSpPr>
          <p:cNvPr id="34" name="Shape 31"/>
          <p:cNvSpPr/>
          <p:nvPr/>
        </p:nvSpPr>
        <p:spPr>
          <a:xfrm>
            <a:off x="8199120" y="3808102"/>
            <a:ext cx="381000" cy="381000"/>
          </a:xfrm>
          <a:prstGeom prst="roundRect">
            <a:avLst>
              <a:gd name="adj" fmla="val 20000"/>
            </a:avLst>
          </a:prstGeom>
          <a:solidFill>
            <a:srgbClr val="6366F1">
              <a:alpha val="20000"/>
            </a:srgbClr>
          </a:solidFill>
          <a:ln/>
        </p:spPr>
      </p:sp>
      <p:sp>
        <p:nvSpPr>
          <p:cNvPr id="35" name="Shape 32"/>
          <p:cNvSpPr/>
          <p:nvPr/>
        </p:nvSpPr>
        <p:spPr>
          <a:xfrm>
            <a:off x="8313420" y="3922402"/>
            <a:ext cx="152400" cy="152400"/>
          </a:xfrm>
          <a:custGeom>
            <a:avLst/>
            <a:gdLst/>
            <a:ahLst/>
            <a:cxnLst/>
            <a:rect l="l" t="t" r="r" b="b"/>
            <a:pathLst>
              <a:path w="152400" h="152400">
                <a:moveTo>
                  <a:pt x="38100" y="95250"/>
                </a:moveTo>
                <a:lnTo>
                  <a:pt x="7293" y="95250"/>
                </a:lnTo>
                <a:cubicBezTo>
                  <a:pt x="-119" y="95250"/>
                  <a:pt x="-4673" y="87184"/>
                  <a:pt x="-863" y="80814"/>
                </a:cubicBezTo>
                <a:lnTo>
                  <a:pt x="14883" y="54560"/>
                </a:lnTo>
                <a:cubicBezTo>
                  <a:pt x="17472" y="50244"/>
                  <a:pt x="22116" y="47625"/>
                  <a:pt x="27146" y="47625"/>
                </a:cubicBezTo>
                <a:lnTo>
                  <a:pt x="55424" y="47625"/>
                </a:lnTo>
                <a:cubicBezTo>
                  <a:pt x="78075" y="9257"/>
                  <a:pt x="111859" y="7322"/>
                  <a:pt x="134451" y="10626"/>
                </a:cubicBezTo>
                <a:cubicBezTo>
                  <a:pt x="138261" y="11192"/>
                  <a:pt x="141238" y="14168"/>
                  <a:pt x="141774" y="17949"/>
                </a:cubicBezTo>
                <a:cubicBezTo>
                  <a:pt x="145078" y="40541"/>
                  <a:pt x="143143" y="74325"/>
                  <a:pt x="104775" y="96976"/>
                </a:cubicBezTo>
                <a:lnTo>
                  <a:pt x="104775" y="125254"/>
                </a:lnTo>
                <a:cubicBezTo>
                  <a:pt x="104775" y="130284"/>
                  <a:pt x="102156" y="134928"/>
                  <a:pt x="97840" y="137517"/>
                </a:cubicBezTo>
                <a:lnTo>
                  <a:pt x="71586" y="153263"/>
                </a:lnTo>
                <a:cubicBezTo>
                  <a:pt x="65246" y="157073"/>
                  <a:pt x="57150" y="152489"/>
                  <a:pt x="57150" y="145107"/>
                </a:cubicBezTo>
                <a:lnTo>
                  <a:pt x="57150" y="114300"/>
                </a:lnTo>
                <a:cubicBezTo>
                  <a:pt x="57150" y="103793"/>
                  <a:pt x="48607" y="95250"/>
                  <a:pt x="38100" y="95250"/>
                </a:cubicBezTo>
                <a:lnTo>
                  <a:pt x="38070" y="95250"/>
                </a:lnTo>
                <a:close/>
                <a:moveTo>
                  <a:pt x="119062" y="47625"/>
                </a:moveTo>
                <a:cubicBezTo>
                  <a:pt x="119062" y="39740"/>
                  <a:pt x="112660" y="33338"/>
                  <a:pt x="104775" y="33338"/>
                </a:cubicBezTo>
                <a:cubicBezTo>
                  <a:pt x="96890" y="33338"/>
                  <a:pt x="90488" y="39740"/>
                  <a:pt x="90488" y="47625"/>
                </a:cubicBezTo>
                <a:cubicBezTo>
                  <a:pt x="90488" y="55510"/>
                  <a:pt x="96890" y="61912"/>
                  <a:pt x="104775" y="61912"/>
                </a:cubicBezTo>
                <a:cubicBezTo>
                  <a:pt x="112660" y="61912"/>
                  <a:pt x="119062" y="55510"/>
                  <a:pt x="119062" y="47625"/>
                </a:cubicBezTo>
                <a:close/>
              </a:path>
            </a:pathLst>
          </a:custGeom>
          <a:solidFill>
            <a:srgbClr val="6366F1"/>
          </a:solidFill>
          <a:ln/>
        </p:spPr>
      </p:sp>
      <p:sp>
        <p:nvSpPr>
          <p:cNvPr id="36" name="Text 33"/>
          <p:cNvSpPr/>
          <p:nvPr/>
        </p:nvSpPr>
        <p:spPr>
          <a:xfrm>
            <a:off x="8656320" y="3865252"/>
            <a:ext cx="962025" cy="266700"/>
          </a:xfrm>
          <a:prstGeom prst="rect">
            <a:avLst/>
          </a:prstGeom>
          <a:noFill/>
          <a:ln/>
        </p:spPr>
        <p:txBody>
          <a:bodyPr wrap="square" lIns="0" tIns="0" rIns="0" bIns="0" rtlCol="0" anchor="ctr"/>
          <a:lstStyle/>
          <a:p>
            <a:pPr>
              <a:lnSpc>
                <a:spcPct val="130000"/>
              </a:lnSpc>
            </a:pPr>
            <a:r>
              <a:rPr lang="en-US" sz="1350" b="1" dirty="0">
                <a:solidFill>
                  <a:srgbClr val="EFEFEF"/>
                </a:solidFill>
                <a:latin typeface="Liter" pitchFamily="34" charset="0"/>
                <a:ea typeface="Liter" pitchFamily="34" charset="-122"/>
                <a:cs typeface="Liter" pitchFamily="34" charset="-120"/>
              </a:rPr>
              <a:t>Future of AI</a:t>
            </a:r>
            <a:endParaRPr lang="en-US" sz="1600" dirty="0"/>
          </a:p>
        </p:txBody>
      </p:sp>
      <p:sp>
        <p:nvSpPr>
          <p:cNvPr id="37" name="Text 34"/>
          <p:cNvSpPr/>
          <p:nvPr/>
        </p:nvSpPr>
        <p:spPr>
          <a:xfrm>
            <a:off x="8199120" y="4265302"/>
            <a:ext cx="3562350"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Amazing opportunities ahead, but also challenges to address. The future is in our hands!</a:t>
            </a:r>
            <a:endParaRPr lang="en-US" sz="1600" dirty="0"/>
          </a:p>
        </p:txBody>
      </p:sp>
      <p:sp>
        <p:nvSpPr>
          <p:cNvPr id="38" name="Shape 35"/>
          <p:cNvSpPr/>
          <p:nvPr/>
        </p:nvSpPr>
        <p:spPr>
          <a:xfrm>
            <a:off x="384810" y="5474974"/>
            <a:ext cx="11418570" cy="998220"/>
          </a:xfrm>
          <a:prstGeom prst="roundRect">
            <a:avLst>
              <a:gd name="adj" fmla="val 11450"/>
            </a:avLst>
          </a:prstGeom>
          <a:gradFill rotWithShape="1" flip="none">
            <a:gsLst>
              <a:gs pos="0">
                <a:srgbClr val="6366F1">
                  <a:alpha val="20000"/>
                </a:srgbClr>
              </a:gs>
              <a:gs pos="100000">
                <a:srgbClr val="6366F1">
                  <a:alpha val="5000"/>
                </a:srgbClr>
              </a:gs>
            </a:gsLst>
            <a:lin ang="0" scaled="1"/>
          </a:gradFill>
          <a:ln w="10160">
            <a:solidFill>
              <a:srgbClr val="6366F1"/>
            </a:solidFill>
            <a:prstDash val="solid"/>
          </a:ln>
        </p:spPr>
      </p:sp>
      <p:sp>
        <p:nvSpPr>
          <p:cNvPr id="39" name="Shape 36"/>
          <p:cNvSpPr/>
          <p:nvPr/>
        </p:nvSpPr>
        <p:spPr>
          <a:xfrm>
            <a:off x="502920" y="5707391"/>
            <a:ext cx="533400" cy="533400"/>
          </a:xfrm>
          <a:prstGeom prst="roundRect">
            <a:avLst>
              <a:gd name="adj" fmla="val 28571"/>
            </a:avLst>
          </a:prstGeom>
          <a:solidFill>
            <a:srgbClr val="6366F1">
              <a:alpha val="20000"/>
            </a:srgbClr>
          </a:solidFill>
          <a:ln/>
        </p:spPr>
      </p:sp>
      <p:sp>
        <p:nvSpPr>
          <p:cNvPr id="40" name="Shape 37"/>
          <p:cNvSpPr/>
          <p:nvPr/>
        </p:nvSpPr>
        <p:spPr>
          <a:xfrm>
            <a:off x="611267" y="5831216"/>
            <a:ext cx="321469" cy="285750"/>
          </a:xfrm>
          <a:custGeom>
            <a:avLst/>
            <a:gdLst/>
            <a:ahLst/>
            <a:cxnLst/>
            <a:rect l="l" t="t" r="r" b="b"/>
            <a:pathLst>
              <a:path w="321469" h="285750">
                <a:moveTo>
                  <a:pt x="26789" y="109277"/>
                </a:moveTo>
                <a:lnTo>
                  <a:pt x="143545" y="157330"/>
                </a:lnTo>
                <a:cubicBezTo>
                  <a:pt x="149014" y="159562"/>
                  <a:pt x="154818" y="160734"/>
                  <a:pt x="160734" y="160734"/>
                </a:cubicBezTo>
                <a:cubicBezTo>
                  <a:pt x="166650" y="160734"/>
                  <a:pt x="172455" y="159562"/>
                  <a:pt x="177924" y="157330"/>
                </a:cubicBezTo>
                <a:lnTo>
                  <a:pt x="313209" y="101631"/>
                </a:lnTo>
                <a:cubicBezTo>
                  <a:pt x="318232" y="99566"/>
                  <a:pt x="321469" y="94710"/>
                  <a:pt x="321469" y="89297"/>
                </a:cubicBezTo>
                <a:cubicBezTo>
                  <a:pt x="321469" y="83883"/>
                  <a:pt x="318232" y="79028"/>
                  <a:pt x="313209" y="76963"/>
                </a:cubicBezTo>
                <a:lnTo>
                  <a:pt x="177924" y="21264"/>
                </a:lnTo>
                <a:cubicBezTo>
                  <a:pt x="172455" y="19031"/>
                  <a:pt x="166650" y="17859"/>
                  <a:pt x="160734" y="17859"/>
                </a:cubicBezTo>
                <a:cubicBezTo>
                  <a:pt x="154818" y="17859"/>
                  <a:pt x="149014" y="19031"/>
                  <a:pt x="143545" y="21264"/>
                </a:cubicBezTo>
                <a:lnTo>
                  <a:pt x="8260" y="76963"/>
                </a:lnTo>
                <a:cubicBezTo>
                  <a:pt x="3237" y="79028"/>
                  <a:pt x="0" y="83883"/>
                  <a:pt x="0" y="89297"/>
                </a:cubicBezTo>
                <a:lnTo>
                  <a:pt x="0" y="254496"/>
                </a:lnTo>
                <a:cubicBezTo>
                  <a:pt x="0" y="261919"/>
                  <a:pt x="5972" y="267891"/>
                  <a:pt x="13395" y="267891"/>
                </a:cubicBezTo>
                <a:cubicBezTo>
                  <a:pt x="20817" y="267891"/>
                  <a:pt x="26789" y="261919"/>
                  <a:pt x="26789" y="254496"/>
                </a:cubicBezTo>
                <a:lnTo>
                  <a:pt x="26789" y="109277"/>
                </a:lnTo>
                <a:close/>
                <a:moveTo>
                  <a:pt x="53578" y="149293"/>
                </a:moveTo>
                <a:lnTo>
                  <a:pt x="53578" y="214313"/>
                </a:lnTo>
                <a:cubicBezTo>
                  <a:pt x="53578" y="243892"/>
                  <a:pt x="101575" y="267891"/>
                  <a:pt x="160734" y="267891"/>
                </a:cubicBezTo>
                <a:cubicBezTo>
                  <a:pt x="219894" y="267891"/>
                  <a:pt x="267891" y="243892"/>
                  <a:pt x="267891" y="214313"/>
                </a:cubicBezTo>
                <a:lnTo>
                  <a:pt x="267891" y="149237"/>
                </a:lnTo>
                <a:lnTo>
                  <a:pt x="188137" y="182110"/>
                </a:lnTo>
                <a:cubicBezTo>
                  <a:pt x="179431" y="185682"/>
                  <a:pt x="170166" y="187523"/>
                  <a:pt x="160734" y="187523"/>
                </a:cubicBezTo>
                <a:cubicBezTo>
                  <a:pt x="151302" y="187523"/>
                  <a:pt x="142038" y="185682"/>
                  <a:pt x="133331" y="182110"/>
                </a:cubicBezTo>
                <a:lnTo>
                  <a:pt x="53578" y="149237"/>
                </a:lnTo>
                <a:close/>
              </a:path>
            </a:pathLst>
          </a:custGeom>
          <a:solidFill>
            <a:srgbClr val="6366F1"/>
          </a:solidFill>
          <a:ln/>
        </p:spPr>
      </p:sp>
      <p:sp>
        <p:nvSpPr>
          <p:cNvPr id="41" name="Text 38"/>
          <p:cNvSpPr/>
          <p:nvPr/>
        </p:nvSpPr>
        <p:spPr>
          <a:xfrm>
            <a:off x="1188720" y="5593091"/>
            <a:ext cx="10591800" cy="266700"/>
          </a:xfrm>
          <a:prstGeom prst="rect">
            <a:avLst/>
          </a:prstGeom>
          <a:noFill/>
          <a:ln/>
        </p:spPr>
        <p:txBody>
          <a:bodyPr wrap="square" lIns="0" tIns="0" rIns="0" bIns="0" rtlCol="0" anchor="ctr"/>
          <a:lstStyle/>
          <a:p>
            <a:pPr>
              <a:lnSpc>
                <a:spcPct val="120000"/>
              </a:lnSpc>
            </a:pPr>
            <a:r>
              <a:rPr lang="en-US" sz="1500" b="1" dirty="0">
                <a:solidFill>
                  <a:srgbClr val="EFEFEF"/>
                </a:solidFill>
                <a:latin typeface="Liter" pitchFamily="34" charset="0"/>
                <a:ea typeface="Liter" pitchFamily="34" charset="-122"/>
                <a:cs typeface="Liter" pitchFamily="34" charset="-120"/>
              </a:rPr>
              <a:t>Your Journey Continues!</a:t>
            </a:r>
            <a:endParaRPr lang="en-US" sz="1600" dirty="0"/>
          </a:p>
        </p:txBody>
      </p:sp>
      <p:sp>
        <p:nvSpPr>
          <p:cNvPr id="42" name="Text 39"/>
          <p:cNvSpPr/>
          <p:nvPr/>
        </p:nvSpPr>
        <p:spPr>
          <a:xfrm>
            <a:off x="1188720" y="5897891"/>
            <a:ext cx="10572750" cy="457200"/>
          </a:xfrm>
          <a:prstGeom prst="rect">
            <a:avLst/>
          </a:prstGeom>
          <a:noFill/>
          <a:ln/>
        </p:spPr>
        <p:txBody>
          <a:bodyPr wrap="square" lIns="0" tIns="0" rIns="0" bIns="0" rtlCol="0" anchor="ctr"/>
          <a:lstStyle/>
          <a:p>
            <a:pPr>
              <a:lnSpc>
                <a:spcPct val="130000"/>
              </a:lnSpc>
            </a:pPr>
            <a:r>
              <a:rPr lang="en-US" sz="1200" dirty="0">
                <a:solidFill>
                  <a:srgbClr val="EFEFEF"/>
                </a:solidFill>
                <a:latin typeface="Liter" pitchFamily="34" charset="0"/>
                <a:ea typeface="Liter" pitchFamily="34" charset="-122"/>
                <a:cs typeface="Liter" pitchFamily="34" charset="-120"/>
              </a:rPr>
              <a:t>You've built a solid foundation in AI. Keep exploring, stay curious, and remember—AI is a tool to enhance human potential, not replace it. The best is yet to come!</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 Introduction and Core Concepts</dc:title>
  <dc:subject>Artificial Intelligence – Introduction and Core Concepts</dc:subject>
  <dc:creator>Kimi</dc:creator>
  <cp:lastModifiedBy>Kimi</cp:lastModifiedBy>
  <cp:revision>1</cp:revision>
  <dcterms:created xsi:type="dcterms:W3CDTF">2026-04-21T08:58:38Z</dcterms:created>
  <dcterms:modified xsi:type="dcterms:W3CDTF">2026-04-21T08:58:38Z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{"Label":"Artificial Intelligence – Introduction and Core Concepts","ContentProducer":"001191110108MACG2KBH8F10000","ProduceID":"19daf1b9-46b2-8e31-8000-000022479528","ReservedCode1":"","ContentPropagator":"001191110108MACG2KBH8F20000","PropagateID":"19daf1b9-46b2-8e31-8000-000022479528","ReservedCode2":""}</vt:lpwstr>
  </property>
</Properties>
</file>