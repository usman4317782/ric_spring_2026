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5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  <p:embeddedFontLst>
    <p:embeddedFont>
      <p:font typeface="Liter" charset="-122" pitchFamily="34"/>
      <p:regular r:id="rId37"/>
    </p:embeddedFont>
    <p:embeddedFont>
      <p:font typeface="Quattrocento Sans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Points</c:v>
                </c:pt>
              </c:strCache>
            </c:strRef>
          </c:tx>
          <c:spPr>
            <a:solidFill>
              <a:srgbClr val="0F4C5C"/>
            </a:solidFill>
            <a:ln w="25400" cap="flat">
              <a:solidFill>
                <a:srgbClr val="0F4C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4C5C"/>
              </a:solidFill>
              <a:ln w="9525" cap="flat">
                <a:solidFill>
                  <a:srgbClr val="0F4C5C"/>
                </a:solidFill>
                <a:prstDash val="solid"/>
                <a:round/>
              </a:ln>
              <a:effectLst/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  <c:pt idx="6">
                  <c:v>80</c:v>
                </c:pt>
                <c:pt idx="7">
                  <c:v>90</c:v>
                </c:pt>
                <c:pt idx="8">
                  <c:v>100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22</c:v>
                </c:pt>
                <c:pt idx="1">
                  <c:v>35</c:v>
                </c:pt>
                <c:pt idx="2">
                  <c:v>38</c:v>
                </c:pt>
                <c:pt idx="3">
                  <c:v>52</c:v>
                </c:pt>
                <c:pt idx="4">
                  <c:v>58</c:v>
                </c:pt>
                <c:pt idx="5">
                  <c:v>65</c:v>
                </c:pt>
                <c:pt idx="6">
                  <c:v>78</c:v>
                </c:pt>
                <c:pt idx="7">
                  <c:v>85</c:v>
                </c:pt>
                <c:pt idx="8">
                  <c:v>92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Feature X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4d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Target y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σ(z)</c:v>
                </c:pt>
              </c:strCache>
            </c:strRef>
          </c:tx>
          <c:spPr>
            <a:solidFill>
              <a:srgbClr val="0F4C5C"/>
            </a:solidFill>
            <a:ln w="25400" cap="flat">
              <a:solidFill>
                <a:srgbClr val="0F4C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4C5C"/>
              </a:solidFill>
              <a:ln w="9525" cap="flat">
                <a:solidFill>
                  <a:srgbClr val="0F4C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-6</c:v>
                  </c:pt>
                  <c:pt idx="1">
                    <c:v>-5</c:v>
                  </c:pt>
                  <c:pt idx="2">
                    <c:v>-4</c:v>
                  </c:pt>
                  <c:pt idx="3">
                    <c:v>-3</c:v>
                  </c:pt>
                  <c:pt idx="4">
                    <c:v>-2</c:v>
                  </c:pt>
                  <c:pt idx="5">
                    <c:v>-1</c:v>
                  </c:pt>
                  <c:pt idx="6">
                    <c:v>0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0.002</c:v>
                </c:pt>
                <c:pt idx="1">
                  <c:v>0.007</c:v>
                </c:pt>
                <c:pt idx="2">
                  <c:v>0.018</c:v>
                </c:pt>
                <c:pt idx="3">
                  <c:v>0.047</c:v>
                </c:pt>
                <c:pt idx="4">
                  <c:v>0.119</c:v>
                </c:pt>
                <c:pt idx="5">
                  <c:v>0.269</c:v>
                </c:pt>
                <c:pt idx="6">
                  <c:v>0.5</c:v>
                </c:pt>
                <c:pt idx="7">
                  <c:v>0.731</c:v>
                </c:pt>
                <c:pt idx="8">
                  <c:v>0.881</c:v>
                </c:pt>
                <c:pt idx="9">
                  <c:v>0.953</c:v>
                </c:pt>
                <c:pt idx="10">
                  <c:v>0.982</c:v>
                </c:pt>
                <c:pt idx="11">
                  <c:v>0.993</c:v>
                </c:pt>
                <c:pt idx="12">
                  <c:v>0.998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z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8e4d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σ(z)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A</c:v>
                </c:pt>
              </c:strCache>
            </c:strRef>
          </c:tx>
          <c:spPr>
            <a:solidFill>
              <a:srgbClr val="0F4C5C"/>
            </a:solidFill>
            <a:ln w="25400" cap="flat">
              <a:solidFill>
                <a:srgbClr val="0F4C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4C5C"/>
              </a:solidFill>
              <a:ln w="9525" cap="flat">
                <a:solidFill>
                  <a:srgbClr val="0F4C5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8</c:v>
                </c:pt>
                <c:pt idx="1">
                  <c:v>7</c:v>
                </c:pt>
                <c:pt idx="2">
                  <c:v>9</c:v>
                </c:pt>
                <c:pt idx="3">
                  <c:v>6</c:v>
                </c:pt>
                <c:pt idx="4">
                  <c:v>8</c:v>
                </c:pt>
                <c:pt idx="5">
                  <c:v>2</c:v>
                </c:pt>
                <c:pt idx="6">
                  <c:v>3</c:v>
                </c:pt>
                <c:pt idx="7">
                  <c:v>1</c:v>
                </c:pt>
                <c:pt idx="8">
                  <c:v>2</c:v>
                </c:pt>
                <c:pt idx="9">
                  <c:v>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rgbClr val="D4853A"/>
            </a:solidFill>
            <a:ln w="25400" cap="flat">
              <a:solidFill>
                <a:srgbClr val="D485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853A"/>
              </a:solidFill>
              <a:ln w="9525" cap="flat">
                <a:solidFill>
                  <a:srgbClr val="D4853A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B</c:v>
                </c:pt>
              </c:strCache>
            </c:strRef>
          </c:tx>
          <c:spPr>
            <a:solidFill>
              <a:srgbClr val="0F4C5C"/>
            </a:solidFill>
            <a:ln w="25400" cap="flat">
              <a:solidFill>
                <a:srgbClr val="0F4C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853A"/>
              </a:solidFill>
              <a:ln w="9525" cap="flat">
                <a:solidFill>
                  <a:srgbClr val="0F4C5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Sheet1!$D$2:$D$11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1</c:v>
                </c:pt>
                <c:pt idx="3">
                  <c:v>4</c:v>
                </c:pt>
                <c:pt idx="4">
                  <c:v>2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7</c:v>
                </c:pt>
                <c:pt idx="9">
                  <c:v>8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Feature X₁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4d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Feature X₂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A</c:v>
                </c:pt>
              </c:strCache>
            </c:strRef>
          </c:tx>
          <c:spPr>
            <a:solidFill>
              <a:srgbClr val="0F4C5C"/>
            </a:solidFill>
            <a:ln w="25400" cap="flat">
              <a:solidFill>
                <a:srgbClr val="0F4C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4C5C"/>
              </a:solidFill>
              <a:ln w="9525" cap="flat">
                <a:solidFill>
                  <a:srgbClr val="0F4C5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5</c:v>
                </c:pt>
                <c:pt idx="8">
                  <c:v>6</c:v>
                </c:pt>
                <c:pt idx="9">
                  <c:v>4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5</c:v>
                </c:pt>
                <c:pt idx="5">
                  <c:v>8</c:v>
                </c:pt>
                <c:pt idx="6">
                  <c:v>7</c:v>
                </c:pt>
                <c:pt idx="7">
                  <c:v>7</c:v>
                </c:pt>
                <c:pt idx="8">
                  <c:v>6</c:v>
                </c:pt>
                <c:pt idx="9">
                  <c:v>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rgbClr val="D4853A"/>
            </a:solidFill>
            <a:ln w="25400" cap="flat">
              <a:solidFill>
                <a:srgbClr val="D485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853A"/>
              </a:solidFill>
              <a:ln w="9525" cap="flat">
                <a:solidFill>
                  <a:srgbClr val="D4853A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5</c:v>
                </c:pt>
                <c:pt idx="8">
                  <c:v>6</c:v>
                </c:pt>
                <c:pt idx="9">
                  <c:v>4</c:v>
                </c:pt>
              </c:numCache>
            </c:numRef>
          </c:xVal>
          <c:yVal>
            <c:numRef>
              <c:f>Sheet1!$C$2:$C$11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5</c:v>
                </c:pt>
                <c:pt idx="8">
                  <c:v>6</c:v>
                </c:pt>
                <c:pt idx="9">
                  <c:v>4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B</c:v>
                </c:pt>
              </c:strCache>
            </c:strRef>
          </c:tx>
          <c:spPr>
            <a:solidFill>
              <a:srgbClr val="0F4C5C"/>
            </a:solidFill>
            <a:ln w="25400" cap="flat">
              <a:solidFill>
                <a:srgbClr val="0F4C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853A"/>
              </a:solidFill>
              <a:ln w="9525" cap="flat">
                <a:solidFill>
                  <a:srgbClr val="0F4C5C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5</c:v>
                </c:pt>
                <c:pt idx="8">
                  <c:v>6</c:v>
                </c:pt>
                <c:pt idx="9">
                  <c:v>4</c:v>
                </c:pt>
              </c:numCache>
            </c:numRef>
          </c:xVal>
          <c:yVal>
            <c:numRef>
              <c:f>Sheet1!$D$2:$D$11</c:f>
              <c:numCache>
                <c:formatCode>General</c:formatCode>
                <c:ptCount val="10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7</c:v>
                </c:pt>
                <c:pt idx="8">
                  <c:v>6</c:v>
                </c:pt>
                <c:pt idx="9">
                  <c:v>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Feature X₁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4d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Feature X₂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WCSS</c:v>
                </c:pt>
              </c:strCache>
            </c:strRef>
          </c:tx>
          <c:spPr>
            <a:solidFill>
              <a:srgbClr val="0F4C5C"/>
            </a:solidFill>
            <a:ln w="25400" cap="flat">
              <a:solidFill>
                <a:srgbClr val="0F4C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4C5C"/>
              </a:solidFill>
              <a:ln w="9525" cap="flat">
                <a:solidFill>
                  <a:srgbClr val="0F4C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850</c:v>
                </c:pt>
                <c:pt idx="1">
                  <c:v>420</c:v>
                </c:pt>
                <c:pt idx="2">
                  <c:v>280</c:v>
                </c:pt>
                <c:pt idx="3">
                  <c:v>200</c:v>
                </c:pt>
                <c:pt idx="4">
                  <c:v>165</c:v>
                </c:pt>
                <c:pt idx="5">
                  <c:v>145</c:v>
                </c:pt>
                <c:pt idx="6">
                  <c:v>130</c:v>
                </c:pt>
                <c:pt idx="7">
                  <c:v>120</c:v>
                </c:pt>
                <c:pt idx="8">
                  <c:v>112</c:v>
                </c:pt>
                <c:pt idx="9">
                  <c:v>105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K (Number of Clusters)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4d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WCSS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kkehbkbfdg72/mnt/agents/output/ml-week6/images/2_Abstract_Neural_Network_Web_on_Dark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4C5C">
                  <a:alpha val="95000"/>
                </a:srgbClr>
              </a:gs>
              <a:gs pos="55000">
                <a:srgbClr val="0F4C5C">
                  <a:alpha val="85000"/>
                </a:srgbClr>
              </a:gs>
              <a:gs pos="100000">
                <a:srgbClr val="0F4C5C">
                  <a:alpha val="25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2000" y="762000"/>
            <a:ext cx="1016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1016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spc="400" kern="0" dirty="0">
                <a:solidFill>
                  <a:srgbClr val="FFFFFF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2000" y="1524000"/>
            <a:ext cx="889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4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3429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Supervised Learning &amp; Logistic Regression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Unsupervised Learning &amp; K-Means Clustering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787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6 | LECTURES 11-12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8331200"/>
            <a:ext cx="254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400" kern="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8636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1549400"/>
            <a:ext cx="14732000" cy="127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905000"/>
            <a:ext cx="2743200" cy="635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2209800"/>
            <a:ext cx="21336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3098800"/>
            <a:ext cx="2133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Machine Learning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4064000"/>
            <a:ext cx="2133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Foundations, paradigms, and the ML workflow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6800" y="736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1" name="Shape 9"/>
          <p:cNvSpPr/>
          <p:nvPr/>
        </p:nvSpPr>
        <p:spPr>
          <a:xfrm>
            <a:off x="3759200" y="1905000"/>
            <a:ext cx="2743200" cy="635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2" name="Text 10"/>
          <p:cNvSpPr/>
          <p:nvPr/>
        </p:nvSpPr>
        <p:spPr>
          <a:xfrm>
            <a:off x="4064000" y="2209800"/>
            <a:ext cx="21336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4000" y="3098800"/>
            <a:ext cx="2133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4000" y="4064000"/>
            <a:ext cx="2133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from labeled data: classification and regression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64000" y="736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6" name="Shape 14"/>
          <p:cNvSpPr/>
          <p:nvPr/>
        </p:nvSpPr>
        <p:spPr>
          <a:xfrm>
            <a:off x="6756400" y="1905000"/>
            <a:ext cx="2743200" cy="635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7" name="Text 15"/>
          <p:cNvSpPr/>
          <p:nvPr/>
        </p:nvSpPr>
        <p:spPr>
          <a:xfrm>
            <a:off x="7061200" y="2209800"/>
            <a:ext cx="21336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61200" y="3098800"/>
            <a:ext cx="2133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61200" y="4064000"/>
            <a:ext cx="2133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linear predictions to probabilistic classification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61200" y="736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66675"/>
                </a:moveTo>
                <a:cubicBezTo>
                  <a:pt x="44450" y="54382"/>
                  <a:pt x="54382" y="44450"/>
                  <a:pt x="66675" y="44450"/>
                </a:cubicBezTo>
                <a:lnTo>
                  <a:pt x="177800" y="44450"/>
                </a:lnTo>
                <a:cubicBezTo>
                  <a:pt x="190093" y="44450"/>
                  <a:pt x="200025" y="54382"/>
                  <a:pt x="200025" y="66675"/>
                </a:cubicBezTo>
                <a:lnTo>
                  <a:pt x="200025" y="266700"/>
                </a:lnTo>
                <a:lnTo>
                  <a:pt x="266700" y="266700"/>
                </a:lnTo>
                <a:lnTo>
                  <a:pt x="266700" y="177800"/>
                </a:lnTo>
                <a:cubicBezTo>
                  <a:pt x="266700" y="165507"/>
                  <a:pt x="276632" y="155575"/>
                  <a:pt x="288925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311150" y="200025"/>
                </a:lnTo>
                <a:lnTo>
                  <a:pt x="311150" y="288925"/>
                </a:lnTo>
                <a:cubicBezTo>
                  <a:pt x="311150" y="301218"/>
                  <a:pt x="301218" y="311150"/>
                  <a:pt x="288925" y="311150"/>
                </a:cubicBezTo>
                <a:lnTo>
                  <a:pt x="177800" y="311150"/>
                </a:lnTo>
                <a:cubicBezTo>
                  <a:pt x="165507" y="311150"/>
                  <a:pt x="155575" y="301218"/>
                  <a:pt x="155575" y="288925"/>
                </a:cubicBezTo>
                <a:lnTo>
                  <a:pt x="155575" y="88900"/>
                </a:lnTo>
                <a:lnTo>
                  <a:pt x="88900" y="88900"/>
                </a:lnTo>
                <a:lnTo>
                  <a:pt x="88900" y="177800"/>
                </a:lnTo>
                <a:cubicBezTo>
                  <a:pt x="88900" y="190093"/>
                  <a:pt x="78968" y="200025"/>
                  <a:pt x="66675" y="200025"/>
                </a:cubicBezTo>
                <a:lnTo>
                  <a:pt x="22225" y="200025"/>
                </a:lnTo>
                <a:cubicBezTo>
                  <a:pt x="9932" y="200025"/>
                  <a:pt x="0" y="190093"/>
                  <a:pt x="0" y="177800"/>
                </a:cubicBezTo>
                <a:cubicBezTo>
                  <a:pt x="0" y="165507"/>
                  <a:pt x="9932" y="155575"/>
                  <a:pt x="22225" y="155575"/>
                </a:cubicBezTo>
                <a:lnTo>
                  <a:pt x="44450" y="155575"/>
                </a:lnTo>
                <a:lnTo>
                  <a:pt x="44450" y="66675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1" name="Shape 19"/>
          <p:cNvSpPr/>
          <p:nvPr/>
        </p:nvSpPr>
        <p:spPr>
          <a:xfrm>
            <a:off x="9753600" y="1905000"/>
            <a:ext cx="2743200" cy="635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2209800"/>
            <a:ext cx="21336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0" y="3098800"/>
            <a:ext cx="2133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0" y="4064000"/>
            <a:ext cx="2133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Discovering hidden patterns in unlabeled data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036175" y="7366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2225" y="82927"/>
                </a:moveTo>
                <a:cubicBezTo>
                  <a:pt x="8959" y="75287"/>
                  <a:pt x="0" y="60910"/>
                  <a:pt x="0" y="44450"/>
                </a:cubicBezTo>
                <a:cubicBezTo>
                  <a:pt x="0" y="19933"/>
                  <a:pt x="19933" y="0"/>
                  <a:pt x="44450" y="0"/>
                </a:cubicBezTo>
                <a:cubicBezTo>
                  <a:pt x="60910" y="0"/>
                  <a:pt x="75287" y="8959"/>
                  <a:pt x="82927" y="22225"/>
                </a:cubicBezTo>
                <a:lnTo>
                  <a:pt x="317054" y="22225"/>
                </a:lnTo>
                <a:cubicBezTo>
                  <a:pt x="324763" y="8959"/>
                  <a:pt x="339070" y="0"/>
                  <a:pt x="355531" y="0"/>
                </a:cubicBezTo>
                <a:cubicBezTo>
                  <a:pt x="380047" y="0"/>
                  <a:pt x="399981" y="19933"/>
                  <a:pt x="399981" y="44450"/>
                </a:cubicBezTo>
                <a:cubicBezTo>
                  <a:pt x="399981" y="60910"/>
                  <a:pt x="391021" y="75287"/>
                  <a:pt x="377756" y="82927"/>
                </a:cubicBezTo>
                <a:lnTo>
                  <a:pt x="377756" y="272604"/>
                </a:lnTo>
                <a:cubicBezTo>
                  <a:pt x="391021" y="280313"/>
                  <a:pt x="399981" y="294620"/>
                  <a:pt x="399981" y="311081"/>
                </a:cubicBezTo>
                <a:cubicBezTo>
                  <a:pt x="399981" y="335598"/>
                  <a:pt x="380047" y="355531"/>
                  <a:pt x="355531" y="355531"/>
                </a:cubicBezTo>
                <a:cubicBezTo>
                  <a:pt x="339070" y="355531"/>
                  <a:pt x="324693" y="346571"/>
                  <a:pt x="317054" y="333306"/>
                </a:cubicBezTo>
                <a:lnTo>
                  <a:pt x="82927" y="333306"/>
                </a:lnTo>
                <a:cubicBezTo>
                  <a:pt x="75218" y="346571"/>
                  <a:pt x="60910" y="355531"/>
                  <a:pt x="44450" y="355531"/>
                </a:cubicBezTo>
                <a:cubicBezTo>
                  <a:pt x="19933" y="355531"/>
                  <a:pt x="0" y="335598"/>
                  <a:pt x="0" y="311081"/>
                </a:cubicBezTo>
                <a:cubicBezTo>
                  <a:pt x="0" y="294620"/>
                  <a:pt x="8959" y="280243"/>
                  <a:pt x="22225" y="272604"/>
                </a:cubicBezTo>
                <a:lnTo>
                  <a:pt x="22225" y="82927"/>
                </a:lnTo>
                <a:close/>
                <a:moveTo>
                  <a:pt x="333375" y="82927"/>
                </a:moveTo>
                <a:cubicBezTo>
                  <a:pt x="326638" y="79038"/>
                  <a:pt x="321012" y="73412"/>
                  <a:pt x="317123" y="66675"/>
                </a:cubicBezTo>
                <a:lnTo>
                  <a:pt x="82927" y="66675"/>
                </a:lnTo>
                <a:cubicBezTo>
                  <a:pt x="79038" y="73412"/>
                  <a:pt x="73412" y="79038"/>
                  <a:pt x="66675" y="82927"/>
                </a:cubicBezTo>
                <a:lnTo>
                  <a:pt x="66675" y="272604"/>
                </a:lnTo>
                <a:cubicBezTo>
                  <a:pt x="73412" y="276493"/>
                  <a:pt x="79038" y="282119"/>
                  <a:pt x="82927" y="288856"/>
                </a:cubicBezTo>
                <a:lnTo>
                  <a:pt x="317054" y="288856"/>
                </a:lnTo>
                <a:cubicBezTo>
                  <a:pt x="320943" y="282119"/>
                  <a:pt x="326569" y="276493"/>
                  <a:pt x="333306" y="272604"/>
                </a:cubicBezTo>
                <a:lnTo>
                  <a:pt x="333306" y="82927"/>
                </a:lnTo>
                <a:close/>
                <a:moveTo>
                  <a:pt x="100013" y="122238"/>
                </a:moveTo>
                <a:cubicBezTo>
                  <a:pt x="100013" y="109944"/>
                  <a:pt x="109944" y="100013"/>
                  <a:pt x="122238" y="100013"/>
                </a:cubicBezTo>
                <a:lnTo>
                  <a:pt x="200025" y="100013"/>
                </a:lnTo>
                <a:cubicBezTo>
                  <a:pt x="212318" y="100013"/>
                  <a:pt x="222250" y="109944"/>
                  <a:pt x="222250" y="122238"/>
                </a:cubicBezTo>
                <a:lnTo>
                  <a:pt x="222250" y="166688"/>
                </a:lnTo>
                <a:cubicBezTo>
                  <a:pt x="222250" y="178981"/>
                  <a:pt x="212318" y="188913"/>
                  <a:pt x="200025" y="188913"/>
                </a:cubicBezTo>
                <a:lnTo>
                  <a:pt x="122238" y="188913"/>
                </a:lnTo>
                <a:cubicBezTo>
                  <a:pt x="109944" y="188913"/>
                  <a:pt x="100013" y="178981"/>
                  <a:pt x="100013" y="166688"/>
                </a:cubicBezTo>
                <a:lnTo>
                  <a:pt x="100013" y="122238"/>
                </a:lnTo>
                <a:close/>
                <a:moveTo>
                  <a:pt x="177800" y="222250"/>
                </a:moveTo>
                <a:lnTo>
                  <a:pt x="200025" y="222250"/>
                </a:lnTo>
                <a:cubicBezTo>
                  <a:pt x="230723" y="222250"/>
                  <a:pt x="255587" y="197386"/>
                  <a:pt x="255587" y="166688"/>
                </a:cubicBezTo>
                <a:lnTo>
                  <a:pt x="277813" y="166688"/>
                </a:lnTo>
                <a:cubicBezTo>
                  <a:pt x="290106" y="166688"/>
                  <a:pt x="300038" y="176619"/>
                  <a:pt x="300038" y="188913"/>
                </a:cubicBezTo>
                <a:lnTo>
                  <a:pt x="300038" y="233363"/>
                </a:lnTo>
                <a:cubicBezTo>
                  <a:pt x="300038" y="245656"/>
                  <a:pt x="290106" y="255587"/>
                  <a:pt x="277813" y="255587"/>
                </a:cubicBezTo>
                <a:lnTo>
                  <a:pt x="200025" y="255587"/>
                </a:lnTo>
                <a:cubicBezTo>
                  <a:pt x="187732" y="255587"/>
                  <a:pt x="177800" y="245656"/>
                  <a:pt x="177800" y="233363"/>
                </a:cubicBezTo>
                <a:lnTo>
                  <a:pt x="177800" y="222250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26" name="Shape 24"/>
          <p:cNvSpPr/>
          <p:nvPr/>
        </p:nvSpPr>
        <p:spPr>
          <a:xfrm>
            <a:off x="12750800" y="1905000"/>
            <a:ext cx="2743200" cy="635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27" name="Text 25"/>
          <p:cNvSpPr/>
          <p:nvPr/>
        </p:nvSpPr>
        <p:spPr>
          <a:xfrm>
            <a:off x="13055600" y="2209800"/>
            <a:ext cx="21336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055600" y="3098800"/>
            <a:ext cx="2133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K-Means Clustering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055600" y="4064000"/>
            <a:ext cx="2133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most popular clustering algorithm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3100050" y="7366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55563" y="100013"/>
                </a:moveTo>
                <a:cubicBezTo>
                  <a:pt x="86228" y="100013"/>
                  <a:pt x="111125" y="75116"/>
                  <a:pt x="111125" y="44450"/>
                </a:cubicBezTo>
                <a:cubicBezTo>
                  <a:pt x="111125" y="13784"/>
                  <a:pt x="86228" y="-11112"/>
                  <a:pt x="55563" y="-11112"/>
                </a:cubicBezTo>
                <a:cubicBezTo>
                  <a:pt x="24897" y="-11112"/>
                  <a:pt x="0" y="13784"/>
                  <a:pt x="0" y="44450"/>
                </a:cubicBezTo>
                <a:cubicBezTo>
                  <a:pt x="0" y="75116"/>
                  <a:pt x="24897" y="100013"/>
                  <a:pt x="55562" y="100013"/>
                </a:cubicBezTo>
                <a:close/>
                <a:moveTo>
                  <a:pt x="55563" y="233363"/>
                </a:moveTo>
                <a:cubicBezTo>
                  <a:pt x="86228" y="233363"/>
                  <a:pt x="111125" y="208466"/>
                  <a:pt x="111125" y="177800"/>
                </a:cubicBezTo>
                <a:cubicBezTo>
                  <a:pt x="111125" y="147134"/>
                  <a:pt x="86228" y="122238"/>
                  <a:pt x="55563" y="122238"/>
                </a:cubicBezTo>
                <a:cubicBezTo>
                  <a:pt x="24897" y="122238"/>
                  <a:pt x="0" y="147134"/>
                  <a:pt x="0" y="177800"/>
                </a:cubicBezTo>
                <a:cubicBezTo>
                  <a:pt x="0" y="208466"/>
                  <a:pt x="24897" y="233363"/>
                  <a:pt x="55562" y="233363"/>
                </a:cubicBezTo>
                <a:close/>
                <a:moveTo>
                  <a:pt x="55563" y="327819"/>
                </a:moveTo>
                <a:cubicBezTo>
                  <a:pt x="46325" y="327819"/>
                  <a:pt x="38894" y="320387"/>
                  <a:pt x="38894" y="311150"/>
                </a:cubicBezTo>
                <a:cubicBezTo>
                  <a:pt x="38894" y="301913"/>
                  <a:pt x="46325" y="294481"/>
                  <a:pt x="55563" y="294481"/>
                </a:cubicBezTo>
                <a:cubicBezTo>
                  <a:pt x="64800" y="294481"/>
                  <a:pt x="72231" y="301913"/>
                  <a:pt x="72231" y="311150"/>
                </a:cubicBezTo>
                <a:cubicBezTo>
                  <a:pt x="72231" y="320387"/>
                  <a:pt x="64800" y="327819"/>
                  <a:pt x="55563" y="327819"/>
                </a:cubicBezTo>
                <a:close/>
                <a:moveTo>
                  <a:pt x="55563" y="366712"/>
                </a:moveTo>
                <a:cubicBezTo>
                  <a:pt x="86261" y="366712"/>
                  <a:pt x="111125" y="341848"/>
                  <a:pt x="111125" y="311150"/>
                </a:cubicBezTo>
                <a:cubicBezTo>
                  <a:pt x="111125" y="280452"/>
                  <a:pt x="86261" y="255587"/>
                  <a:pt x="55563" y="255587"/>
                </a:cubicBezTo>
                <a:cubicBezTo>
                  <a:pt x="24864" y="255587"/>
                  <a:pt x="0" y="280452"/>
                  <a:pt x="0" y="311150"/>
                </a:cubicBezTo>
                <a:cubicBezTo>
                  <a:pt x="0" y="341848"/>
                  <a:pt x="24864" y="366712"/>
                  <a:pt x="55563" y="366712"/>
                </a:cubicBezTo>
                <a:close/>
                <a:moveTo>
                  <a:pt x="227806" y="311150"/>
                </a:moveTo>
                <a:cubicBezTo>
                  <a:pt x="227806" y="320387"/>
                  <a:pt x="220375" y="327819"/>
                  <a:pt x="211138" y="327819"/>
                </a:cubicBezTo>
                <a:cubicBezTo>
                  <a:pt x="201900" y="327819"/>
                  <a:pt x="194469" y="320387"/>
                  <a:pt x="194469" y="311150"/>
                </a:cubicBezTo>
                <a:cubicBezTo>
                  <a:pt x="194469" y="301913"/>
                  <a:pt x="201900" y="294481"/>
                  <a:pt x="211138" y="294481"/>
                </a:cubicBezTo>
                <a:cubicBezTo>
                  <a:pt x="220375" y="294481"/>
                  <a:pt x="227806" y="301913"/>
                  <a:pt x="227806" y="311150"/>
                </a:cubicBezTo>
                <a:close/>
                <a:moveTo>
                  <a:pt x="266700" y="311150"/>
                </a:moveTo>
                <a:cubicBezTo>
                  <a:pt x="266700" y="280452"/>
                  <a:pt x="241836" y="255587"/>
                  <a:pt x="211138" y="255587"/>
                </a:cubicBezTo>
                <a:cubicBezTo>
                  <a:pt x="180439" y="255587"/>
                  <a:pt x="155575" y="280452"/>
                  <a:pt x="155575" y="311150"/>
                </a:cubicBezTo>
                <a:cubicBezTo>
                  <a:pt x="155575" y="341848"/>
                  <a:pt x="180439" y="366712"/>
                  <a:pt x="211138" y="366712"/>
                </a:cubicBezTo>
                <a:cubicBezTo>
                  <a:pt x="241836" y="366712"/>
                  <a:pt x="266700" y="341848"/>
                  <a:pt x="266700" y="311150"/>
                </a:cubicBezTo>
                <a:close/>
                <a:moveTo>
                  <a:pt x="211138" y="161131"/>
                </a:moveTo>
                <a:cubicBezTo>
                  <a:pt x="220337" y="161131"/>
                  <a:pt x="227806" y="168600"/>
                  <a:pt x="227806" y="177800"/>
                </a:cubicBezTo>
                <a:cubicBezTo>
                  <a:pt x="227806" y="187000"/>
                  <a:pt x="220337" y="194469"/>
                  <a:pt x="211138" y="194469"/>
                </a:cubicBezTo>
                <a:cubicBezTo>
                  <a:pt x="201938" y="194469"/>
                  <a:pt x="194469" y="187000"/>
                  <a:pt x="194469" y="177800"/>
                </a:cubicBezTo>
                <a:cubicBezTo>
                  <a:pt x="194469" y="168600"/>
                  <a:pt x="201938" y="161131"/>
                  <a:pt x="211138" y="161131"/>
                </a:cubicBezTo>
                <a:close/>
                <a:moveTo>
                  <a:pt x="211138" y="233363"/>
                </a:moveTo>
                <a:cubicBezTo>
                  <a:pt x="241803" y="233363"/>
                  <a:pt x="266700" y="208466"/>
                  <a:pt x="266700" y="177800"/>
                </a:cubicBezTo>
                <a:cubicBezTo>
                  <a:pt x="266700" y="147134"/>
                  <a:pt x="241803" y="122238"/>
                  <a:pt x="211138" y="122238"/>
                </a:cubicBezTo>
                <a:cubicBezTo>
                  <a:pt x="180472" y="122238"/>
                  <a:pt x="155575" y="147134"/>
                  <a:pt x="155575" y="177800"/>
                </a:cubicBezTo>
                <a:cubicBezTo>
                  <a:pt x="155575" y="208466"/>
                  <a:pt x="180472" y="233363"/>
                  <a:pt x="211138" y="233363"/>
                </a:cubicBezTo>
                <a:close/>
                <a:moveTo>
                  <a:pt x="211138" y="100013"/>
                </a:moveTo>
                <a:cubicBezTo>
                  <a:pt x="241803" y="100013"/>
                  <a:pt x="266700" y="75116"/>
                  <a:pt x="266700" y="44450"/>
                </a:cubicBezTo>
                <a:cubicBezTo>
                  <a:pt x="266700" y="13784"/>
                  <a:pt x="241803" y="-11112"/>
                  <a:pt x="211138" y="-11112"/>
                </a:cubicBezTo>
                <a:cubicBezTo>
                  <a:pt x="180472" y="-11112"/>
                  <a:pt x="155575" y="13784"/>
                  <a:pt x="155575" y="44450"/>
                </a:cubicBezTo>
                <a:cubicBezTo>
                  <a:pt x="155575" y="75116"/>
                  <a:pt x="180472" y="100013"/>
                  <a:pt x="211138" y="100013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31" name="Text 29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kkehbkbfdg72/mnt/agents/output/ml-week6/images/2_Digital_brain_network_on_dark_background.pn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4C5C">
                  <a:alpha val="94000"/>
                </a:srgbClr>
              </a:gs>
              <a:gs pos="50000">
                <a:srgbClr val="0F4C5C">
                  <a:alpha val="82000"/>
                </a:srgbClr>
              </a:gs>
              <a:gs pos="100000">
                <a:srgbClr val="0F4C5C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spc="200" kern="0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40640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318000"/>
            <a:ext cx="990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MACHINE LEARNING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Foundations, paradigms, and the ML workflow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| 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Machine Learning?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8382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270000"/>
            <a:ext cx="50800" cy="1270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371600"/>
            <a:ext cx="7874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i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"Field of study that gives computers the ability to learn without being explicitly programmed."</a:t>
            </a:r>
            <a:endParaRPr lang="en-US" sz="1600" dirty="0"/>
          </a:p>
          <a:p>
            <a:pPr algn="r"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Arthur Samuel, 1959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79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1050" y="3302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32512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Learns from data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improves performance through experience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2950" y="4140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28600" y="95250"/>
                </a:moveTo>
                <a:cubicBezTo>
                  <a:pt x="218063" y="95250"/>
                  <a:pt x="209550" y="86737"/>
                  <a:pt x="209550" y="76200"/>
                </a:cubicBezTo>
                <a:cubicBezTo>
                  <a:pt x="209550" y="65663"/>
                  <a:pt x="218063" y="57150"/>
                  <a:pt x="228600" y="57150"/>
                </a:cubicBezTo>
                <a:lnTo>
                  <a:pt x="323850" y="57150"/>
                </a:lnTo>
                <a:cubicBezTo>
                  <a:pt x="334387" y="57150"/>
                  <a:pt x="342900" y="65663"/>
                  <a:pt x="342900" y="76200"/>
                </a:cubicBezTo>
                <a:lnTo>
                  <a:pt x="342900" y="171450"/>
                </a:lnTo>
                <a:cubicBezTo>
                  <a:pt x="342900" y="181987"/>
                  <a:pt x="334387" y="190500"/>
                  <a:pt x="323850" y="190500"/>
                </a:cubicBezTo>
                <a:cubicBezTo>
                  <a:pt x="313313" y="190500"/>
                  <a:pt x="304800" y="181987"/>
                  <a:pt x="304800" y="171450"/>
                </a:cubicBezTo>
                <a:lnTo>
                  <a:pt x="304800" y="122218"/>
                </a:lnTo>
                <a:lnTo>
                  <a:pt x="203954" y="223064"/>
                </a:lnTo>
                <a:cubicBezTo>
                  <a:pt x="196513" y="230505"/>
                  <a:pt x="184428" y="230505"/>
                  <a:pt x="176986" y="223064"/>
                </a:cubicBezTo>
                <a:lnTo>
                  <a:pt x="114300" y="160318"/>
                </a:lnTo>
                <a:lnTo>
                  <a:pt x="32504" y="242054"/>
                </a:lnTo>
                <a:cubicBezTo>
                  <a:pt x="25063" y="249495"/>
                  <a:pt x="12978" y="249495"/>
                  <a:pt x="5536" y="242054"/>
                </a:cubicBezTo>
                <a:cubicBezTo>
                  <a:pt x="-1905" y="234613"/>
                  <a:pt x="-1905" y="222528"/>
                  <a:pt x="5536" y="215086"/>
                </a:cubicBezTo>
                <a:lnTo>
                  <a:pt x="100786" y="119836"/>
                </a:lnTo>
                <a:cubicBezTo>
                  <a:pt x="108228" y="112395"/>
                  <a:pt x="120313" y="112395"/>
                  <a:pt x="127754" y="119836"/>
                </a:cubicBezTo>
                <a:lnTo>
                  <a:pt x="190500" y="182582"/>
                </a:lnTo>
                <a:lnTo>
                  <a:pt x="277832" y="95250"/>
                </a:lnTo>
                <a:lnTo>
                  <a:pt x="228600" y="95250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3" name="Text 11"/>
          <p:cNvSpPr/>
          <p:nvPr/>
        </p:nvSpPr>
        <p:spPr>
          <a:xfrm>
            <a:off x="1219200" y="40894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Improves over time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more data leads to better accuracy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0100" y="4978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3"/>
          <p:cNvSpPr/>
          <p:nvPr/>
        </p:nvSpPr>
        <p:spPr>
          <a:xfrm>
            <a:off x="1219200" y="49276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Generalizes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applies learning to unseen situations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918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6350000"/>
            <a:ext cx="838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Spam filtering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classifies emails as spam or legitimate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 systems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Netflix, Amazon suggest content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assistants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Siri, Alexa understand speech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vehicles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self-driving cars perceive environment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52000" y="1270000"/>
            <a:ext cx="5842000" cy="7112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9" name="Text 17"/>
          <p:cNvSpPr/>
          <p:nvPr/>
        </p:nvSpPr>
        <p:spPr>
          <a:xfrm>
            <a:off x="10033000" y="1524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ML CONCEPT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668000" y="2159000"/>
            <a:ext cx="1778000" cy="635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668000" y="2159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557000" y="2794000"/>
            <a:ext cx="0" cy="50800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0414000" y="3429000"/>
            <a:ext cx="2286000" cy="762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24" name="Text 22"/>
          <p:cNvSpPr/>
          <p:nvPr/>
        </p:nvSpPr>
        <p:spPr>
          <a:xfrm>
            <a:off x="10414000" y="3429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Algorithm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557000" y="4318000"/>
            <a:ext cx="0" cy="50800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0541000" y="4953000"/>
            <a:ext cx="2032000" cy="635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541000" y="4953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0" y="2794000"/>
            <a:ext cx="0" cy="2768600"/>
          </a:xfrm>
          <a:prstGeom prst="straightConnector1">
            <a:avLst/>
          </a:prstGeom>
          <a:noFill/>
          <a:ln w="12700">
            <a:solidFill>
              <a:srgbClr val="FFFFFF">
                <a:alpha val="37647"/>
              </a:srgbClr>
            </a:solidFill>
            <a:prstDash val="sysDot"/>
            <a:headEnd type="arrow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2827000" y="3810000"/>
            <a:ext cx="114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feedback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33000" y="6096000"/>
            <a:ext cx="508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is a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subset of AI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enables systems to automatically learn and improve from experience without being explicitly programmed for every scenario.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| 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Three Paradigms of Machine Learning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20800"/>
            <a:ext cx="4648200" cy="558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320800"/>
            <a:ext cx="46482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Shape 6"/>
          <p:cNvSpPr/>
          <p:nvPr/>
        </p:nvSpPr>
        <p:spPr>
          <a:xfrm>
            <a:off x="1041400" y="1651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18453" y="31036"/>
                </a:moveTo>
                <a:lnTo>
                  <a:pt x="436086" y="150336"/>
                </a:lnTo>
                <a:cubicBezTo>
                  <a:pt x="458073" y="172641"/>
                  <a:pt x="458073" y="208359"/>
                  <a:pt x="436086" y="230664"/>
                </a:cubicBezTo>
                <a:lnTo>
                  <a:pt x="311944" y="356314"/>
                </a:lnTo>
                <a:cubicBezTo>
                  <a:pt x="304562" y="363776"/>
                  <a:pt x="292497" y="363855"/>
                  <a:pt x="285036" y="356473"/>
                </a:cubicBezTo>
                <a:cubicBezTo>
                  <a:pt x="277574" y="349091"/>
                  <a:pt x="277495" y="337026"/>
                  <a:pt x="284877" y="329565"/>
                </a:cubicBezTo>
                <a:lnTo>
                  <a:pt x="409019" y="203835"/>
                </a:lnTo>
                <a:cubicBezTo>
                  <a:pt x="416322" y="196453"/>
                  <a:pt x="416322" y="184468"/>
                  <a:pt x="409019" y="177086"/>
                </a:cubicBezTo>
                <a:lnTo>
                  <a:pt x="291306" y="57864"/>
                </a:lnTo>
                <a:cubicBezTo>
                  <a:pt x="283924" y="50403"/>
                  <a:pt x="284004" y="38338"/>
                  <a:pt x="291465" y="30956"/>
                </a:cubicBezTo>
                <a:cubicBezTo>
                  <a:pt x="298926" y="23574"/>
                  <a:pt x="310991" y="23654"/>
                  <a:pt x="318373" y="31115"/>
                </a:cubicBezTo>
                <a:close/>
                <a:moveTo>
                  <a:pt x="25479" y="182166"/>
                </a:moveTo>
                <a:lnTo>
                  <a:pt x="25479" y="76200"/>
                </a:lnTo>
                <a:cubicBezTo>
                  <a:pt x="25479" y="48181"/>
                  <a:pt x="48260" y="25400"/>
                  <a:pt x="76279" y="25400"/>
                </a:cubicBezTo>
                <a:lnTo>
                  <a:pt x="182245" y="25400"/>
                </a:lnTo>
                <a:cubicBezTo>
                  <a:pt x="195739" y="25400"/>
                  <a:pt x="208677" y="30718"/>
                  <a:pt x="218202" y="40243"/>
                </a:cubicBezTo>
                <a:lnTo>
                  <a:pt x="332502" y="154543"/>
                </a:lnTo>
                <a:cubicBezTo>
                  <a:pt x="352346" y="174387"/>
                  <a:pt x="352346" y="206534"/>
                  <a:pt x="332502" y="226377"/>
                </a:cubicBezTo>
                <a:lnTo>
                  <a:pt x="226536" y="332343"/>
                </a:lnTo>
                <a:cubicBezTo>
                  <a:pt x="206692" y="352187"/>
                  <a:pt x="174546" y="352187"/>
                  <a:pt x="154702" y="332343"/>
                </a:cubicBezTo>
                <a:lnTo>
                  <a:pt x="40402" y="218043"/>
                </a:lnTo>
                <a:cubicBezTo>
                  <a:pt x="30877" y="208518"/>
                  <a:pt x="25559" y="195580"/>
                  <a:pt x="25559" y="182086"/>
                </a:cubicBezTo>
                <a:close/>
                <a:moveTo>
                  <a:pt x="139779" y="114300"/>
                </a:moveTo>
                <a:cubicBezTo>
                  <a:pt x="139779" y="100281"/>
                  <a:pt x="128398" y="88900"/>
                  <a:pt x="114379" y="88900"/>
                </a:cubicBezTo>
                <a:cubicBezTo>
                  <a:pt x="100361" y="88900"/>
                  <a:pt x="88979" y="100281"/>
                  <a:pt x="88979" y="114300"/>
                </a:cubicBezTo>
                <a:cubicBezTo>
                  <a:pt x="88979" y="128319"/>
                  <a:pt x="100361" y="139700"/>
                  <a:pt x="114379" y="139700"/>
                </a:cubicBezTo>
                <a:cubicBezTo>
                  <a:pt x="128398" y="139700"/>
                  <a:pt x="139779" y="128319"/>
                  <a:pt x="139779" y="114300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209800"/>
            <a:ext cx="4038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2667000"/>
            <a:ext cx="40386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Learns from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labeled data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each input is paired with a known output.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model learns a mapping function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f: X → y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comparing predictions against correct answers.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(discrete output)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Regression (continuous output)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4200" y="1320800"/>
            <a:ext cx="4648200" cy="558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4200" y="1320800"/>
            <a:ext cx="4648200" cy="635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13" name="Shape 11"/>
          <p:cNvSpPr/>
          <p:nvPr/>
        </p:nvSpPr>
        <p:spPr>
          <a:xfrm>
            <a:off x="5918200" y="1651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" y="94774"/>
                </a:moveTo>
                <a:cubicBezTo>
                  <a:pt x="10239" y="86043"/>
                  <a:pt x="0" y="69612"/>
                  <a:pt x="0" y="50800"/>
                </a:cubicBezTo>
                <a:cubicBezTo>
                  <a:pt x="0" y="22781"/>
                  <a:pt x="22781" y="0"/>
                  <a:pt x="50800" y="0"/>
                </a:cubicBezTo>
                <a:cubicBezTo>
                  <a:pt x="69612" y="0"/>
                  <a:pt x="86043" y="10239"/>
                  <a:pt x="94774" y="25400"/>
                </a:cubicBezTo>
                <a:lnTo>
                  <a:pt x="260747" y="25400"/>
                </a:lnTo>
                <a:cubicBezTo>
                  <a:pt x="269558" y="10239"/>
                  <a:pt x="285909" y="0"/>
                  <a:pt x="304721" y="0"/>
                </a:cubicBezTo>
                <a:cubicBezTo>
                  <a:pt x="332740" y="0"/>
                  <a:pt x="355521" y="22781"/>
                  <a:pt x="355521" y="50800"/>
                </a:cubicBezTo>
                <a:cubicBezTo>
                  <a:pt x="355521" y="69612"/>
                  <a:pt x="345281" y="86043"/>
                  <a:pt x="330121" y="94774"/>
                </a:cubicBezTo>
                <a:lnTo>
                  <a:pt x="330121" y="184547"/>
                </a:lnTo>
                <a:cubicBezTo>
                  <a:pt x="345281" y="193358"/>
                  <a:pt x="355521" y="209709"/>
                  <a:pt x="355521" y="228521"/>
                </a:cubicBezTo>
                <a:cubicBezTo>
                  <a:pt x="355521" y="256540"/>
                  <a:pt x="332740" y="279321"/>
                  <a:pt x="304721" y="279321"/>
                </a:cubicBezTo>
                <a:cubicBezTo>
                  <a:pt x="285909" y="279321"/>
                  <a:pt x="269478" y="269081"/>
                  <a:pt x="260747" y="253921"/>
                </a:cubicBezTo>
                <a:lnTo>
                  <a:pt x="94774" y="253921"/>
                </a:lnTo>
                <a:cubicBezTo>
                  <a:pt x="85963" y="269081"/>
                  <a:pt x="69612" y="279321"/>
                  <a:pt x="50800" y="279321"/>
                </a:cubicBezTo>
                <a:cubicBezTo>
                  <a:pt x="22781" y="279321"/>
                  <a:pt x="0" y="256540"/>
                  <a:pt x="0" y="228521"/>
                </a:cubicBezTo>
                <a:cubicBezTo>
                  <a:pt x="0" y="209709"/>
                  <a:pt x="10239" y="193278"/>
                  <a:pt x="25400" y="184547"/>
                </a:cubicBezTo>
                <a:lnTo>
                  <a:pt x="25400" y="94774"/>
                </a:lnTo>
                <a:close/>
                <a:moveTo>
                  <a:pt x="94774" y="76200"/>
                </a:moveTo>
                <a:cubicBezTo>
                  <a:pt x="90329" y="83899"/>
                  <a:pt x="83899" y="90329"/>
                  <a:pt x="76200" y="94774"/>
                </a:cubicBezTo>
                <a:lnTo>
                  <a:pt x="76200" y="184547"/>
                </a:lnTo>
                <a:cubicBezTo>
                  <a:pt x="83899" y="188992"/>
                  <a:pt x="90329" y="195421"/>
                  <a:pt x="94774" y="203121"/>
                </a:cubicBezTo>
                <a:lnTo>
                  <a:pt x="260747" y="203121"/>
                </a:lnTo>
                <a:cubicBezTo>
                  <a:pt x="265192" y="195421"/>
                  <a:pt x="271621" y="188992"/>
                  <a:pt x="279321" y="184547"/>
                </a:cubicBezTo>
                <a:lnTo>
                  <a:pt x="279321" y="94774"/>
                </a:lnTo>
                <a:cubicBezTo>
                  <a:pt x="271621" y="90329"/>
                  <a:pt x="265192" y="83899"/>
                  <a:pt x="260747" y="76200"/>
                </a:cubicBezTo>
                <a:lnTo>
                  <a:pt x="94774" y="76200"/>
                </a:lnTo>
                <a:close/>
                <a:moveTo>
                  <a:pt x="431800" y="221774"/>
                </a:moveTo>
                <a:cubicBezTo>
                  <a:pt x="424101" y="217329"/>
                  <a:pt x="417671" y="210899"/>
                  <a:pt x="413226" y="203200"/>
                </a:cubicBezTo>
                <a:lnTo>
                  <a:pt x="390049" y="203200"/>
                </a:lnTo>
                <a:cubicBezTo>
                  <a:pt x="385842" y="189151"/>
                  <a:pt x="378301" y="176609"/>
                  <a:pt x="368300" y="166370"/>
                </a:cubicBezTo>
                <a:lnTo>
                  <a:pt x="368300" y="152400"/>
                </a:lnTo>
                <a:lnTo>
                  <a:pt x="413226" y="152400"/>
                </a:lnTo>
                <a:cubicBezTo>
                  <a:pt x="422037" y="137239"/>
                  <a:pt x="438388" y="127000"/>
                  <a:pt x="457200" y="127000"/>
                </a:cubicBezTo>
                <a:cubicBezTo>
                  <a:pt x="485219" y="127000"/>
                  <a:pt x="508000" y="149781"/>
                  <a:pt x="508000" y="177800"/>
                </a:cubicBezTo>
                <a:cubicBezTo>
                  <a:pt x="508000" y="196612"/>
                  <a:pt x="497761" y="213042"/>
                  <a:pt x="482600" y="221774"/>
                </a:cubicBezTo>
                <a:lnTo>
                  <a:pt x="482600" y="311547"/>
                </a:lnTo>
                <a:cubicBezTo>
                  <a:pt x="497761" y="320358"/>
                  <a:pt x="508000" y="336709"/>
                  <a:pt x="508000" y="355521"/>
                </a:cubicBezTo>
                <a:cubicBezTo>
                  <a:pt x="508000" y="383540"/>
                  <a:pt x="485219" y="406321"/>
                  <a:pt x="457200" y="406321"/>
                </a:cubicBezTo>
                <a:cubicBezTo>
                  <a:pt x="438388" y="406321"/>
                  <a:pt x="421958" y="396081"/>
                  <a:pt x="413226" y="380921"/>
                </a:cubicBezTo>
                <a:lnTo>
                  <a:pt x="247253" y="380921"/>
                </a:lnTo>
                <a:cubicBezTo>
                  <a:pt x="238442" y="396081"/>
                  <a:pt x="222091" y="406321"/>
                  <a:pt x="203279" y="406321"/>
                </a:cubicBezTo>
                <a:cubicBezTo>
                  <a:pt x="175260" y="406321"/>
                  <a:pt x="152479" y="383540"/>
                  <a:pt x="152479" y="355521"/>
                </a:cubicBezTo>
                <a:cubicBezTo>
                  <a:pt x="152479" y="336709"/>
                  <a:pt x="162719" y="320278"/>
                  <a:pt x="177879" y="311547"/>
                </a:cubicBezTo>
                <a:lnTo>
                  <a:pt x="177879" y="292021"/>
                </a:lnTo>
                <a:lnTo>
                  <a:pt x="228679" y="292021"/>
                </a:lnTo>
                <a:lnTo>
                  <a:pt x="228679" y="311547"/>
                </a:lnTo>
                <a:cubicBezTo>
                  <a:pt x="236379" y="315992"/>
                  <a:pt x="242808" y="322421"/>
                  <a:pt x="247253" y="330121"/>
                </a:cubicBezTo>
                <a:lnTo>
                  <a:pt x="413226" y="330121"/>
                </a:lnTo>
                <a:cubicBezTo>
                  <a:pt x="417671" y="322421"/>
                  <a:pt x="424101" y="315992"/>
                  <a:pt x="431800" y="311547"/>
                </a:cubicBezTo>
                <a:lnTo>
                  <a:pt x="431800" y="221774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4" name="Text 12"/>
          <p:cNvSpPr/>
          <p:nvPr/>
        </p:nvSpPr>
        <p:spPr>
          <a:xfrm>
            <a:off x="5969000" y="2209800"/>
            <a:ext cx="4038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69000" y="2667000"/>
            <a:ext cx="40386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Discovers hidden patterns in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unlabeled data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predefined targets.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algorithm finds structure independently — like sorting books without labels.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Clustering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Dimensionality Reduction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Association Rules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66400" y="1320800"/>
            <a:ext cx="4927600" cy="558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66400" y="1320800"/>
            <a:ext cx="4927600" cy="635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20400" y="1651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355600" y="50800"/>
                </a:moveTo>
                <a:cubicBezTo>
                  <a:pt x="439738" y="50800"/>
                  <a:pt x="508000" y="119063"/>
                  <a:pt x="508000" y="203200"/>
                </a:cubicBezTo>
                <a:cubicBezTo>
                  <a:pt x="508000" y="287338"/>
                  <a:pt x="439738" y="355600"/>
                  <a:pt x="355600" y="355600"/>
                </a:cubicBezTo>
                <a:lnTo>
                  <a:pt x="152400" y="355600"/>
                </a:lnTo>
                <a:cubicBezTo>
                  <a:pt x="68263" y="355600"/>
                  <a:pt x="0" y="287338"/>
                  <a:pt x="0" y="203200"/>
                </a:cubicBezTo>
                <a:cubicBezTo>
                  <a:pt x="0" y="119063"/>
                  <a:pt x="68263" y="50800"/>
                  <a:pt x="152400" y="50800"/>
                </a:cubicBezTo>
                <a:lnTo>
                  <a:pt x="355600" y="50800"/>
                </a:lnTo>
                <a:close/>
                <a:moveTo>
                  <a:pt x="152400" y="139700"/>
                </a:moveTo>
                <a:cubicBezTo>
                  <a:pt x="141843" y="139700"/>
                  <a:pt x="133350" y="148193"/>
                  <a:pt x="133350" y="158750"/>
                </a:cubicBezTo>
                <a:lnTo>
                  <a:pt x="133350" y="184150"/>
                </a:lnTo>
                <a:lnTo>
                  <a:pt x="107950" y="184150"/>
                </a:lnTo>
                <a:cubicBezTo>
                  <a:pt x="97393" y="184150"/>
                  <a:pt x="88900" y="192643"/>
                  <a:pt x="88900" y="203200"/>
                </a:cubicBezTo>
                <a:cubicBezTo>
                  <a:pt x="88900" y="213757"/>
                  <a:pt x="97393" y="222250"/>
                  <a:pt x="107950" y="222250"/>
                </a:cubicBezTo>
                <a:lnTo>
                  <a:pt x="133350" y="222250"/>
                </a:lnTo>
                <a:lnTo>
                  <a:pt x="133350" y="247650"/>
                </a:lnTo>
                <a:cubicBezTo>
                  <a:pt x="133350" y="258207"/>
                  <a:pt x="141843" y="266700"/>
                  <a:pt x="152400" y="266700"/>
                </a:cubicBezTo>
                <a:cubicBezTo>
                  <a:pt x="162957" y="266700"/>
                  <a:pt x="171450" y="258207"/>
                  <a:pt x="171450" y="247650"/>
                </a:cubicBezTo>
                <a:lnTo>
                  <a:pt x="171450" y="222250"/>
                </a:lnTo>
                <a:lnTo>
                  <a:pt x="196850" y="222250"/>
                </a:lnTo>
                <a:cubicBezTo>
                  <a:pt x="207407" y="222250"/>
                  <a:pt x="215900" y="213757"/>
                  <a:pt x="215900" y="203200"/>
                </a:cubicBezTo>
                <a:cubicBezTo>
                  <a:pt x="215900" y="192643"/>
                  <a:pt x="207407" y="184150"/>
                  <a:pt x="196850" y="184150"/>
                </a:cubicBezTo>
                <a:lnTo>
                  <a:pt x="171450" y="184150"/>
                </a:lnTo>
                <a:lnTo>
                  <a:pt x="171450" y="158750"/>
                </a:lnTo>
                <a:cubicBezTo>
                  <a:pt x="171450" y="148193"/>
                  <a:pt x="162957" y="139700"/>
                  <a:pt x="152400" y="139700"/>
                </a:cubicBezTo>
                <a:close/>
                <a:moveTo>
                  <a:pt x="342900" y="215900"/>
                </a:moveTo>
                <a:cubicBezTo>
                  <a:pt x="328881" y="215900"/>
                  <a:pt x="317500" y="227281"/>
                  <a:pt x="317500" y="241300"/>
                </a:cubicBezTo>
                <a:cubicBezTo>
                  <a:pt x="317500" y="255319"/>
                  <a:pt x="328881" y="266700"/>
                  <a:pt x="342900" y="266700"/>
                </a:cubicBezTo>
                <a:cubicBezTo>
                  <a:pt x="356919" y="266700"/>
                  <a:pt x="368300" y="255319"/>
                  <a:pt x="368300" y="241300"/>
                </a:cubicBezTo>
                <a:cubicBezTo>
                  <a:pt x="368300" y="227281"/>
                  <a:pt x="356919" y="215900"/>
                  <a:pt x="342900" y="215900"/>
                </a:cubicBezTo>
                <a:close/>
                <a:moveTo>
                  <a:pt x="393700" y="139700"/>
                </a:moveTo>
                <a:cubicBezTo>
                  <a:pt x="379681" y="139700"/>
                  <a:pt x="368300" y="151081"/>
                  <a:pt x="368300" y="165100"/>
                </a:cubicBezTo>
                <a:cubicBezTo>
                  <a:pt x="368300" y="179119"/>
                  <a:pt x="379681" y="190500"/>
                  <a:pt x="393700" y="190500"/>
                </a:cubicBezTo>
                <a:cubicBezTo>
                  <a:pt x="407719" y="190500"/>
                  <a:pt x="419100" y="179119"/>
                  <a:pt x="419100" y="165100"/>
                </a:cubicBezTo>
                <a:cubicBezTo>
                  <a:pt x="419100" y="151081"/>
                  <a:pt x="407719" y="139700"/>
                  <a:pt x="393700" y="139700"/>
                </a:cubicBezTo>
                <a:close/>
              </a:path>
            </a:pathLst>
          </a:custGeom>
          <a:solidFill>
            <a:srgbClr val="6B7B8D"/>
          </a:solidFill>
          <a:ln/>
        </p:spPr>
      </p:sp>
      <p:sp>
        <p:nvSpPr>
          <p:cNvPr id="19" name="Text 17"/>
          <p:cNvSpPr/>
          <p:nvPr/>
        </p:nvSpPr>
        <p:spPr>
          <a:xfrm>
            <a:off x="10871200" y="22098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871200" y="2667000"/>
            <a:ext cx="431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learns optimal behaviors through trial-and-error with an environment.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Receives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rewards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penalties to guide learning.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concepts: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&amp; Environment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Reward/Penalty signals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optimization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71882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 Modern approaches often blend these paradigms. Semi-supervised learning combines small labeled datasets with large unlabeled data. Self-supervised learning generates training signals from raw data.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| 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vs. Unsupervised Learning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270000"/>
          <a:ext cx="14732000" cy="5334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Dimension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Supervised Learning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Unsupervised Learning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Input Data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Labeled data (input + known output)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Unlabeled data (only input features)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Predict outcomes or classify data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Discover hidden patterns and structures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Evaluation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Accuracy, Precision, Recall, RMSE, F1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Silhouette score, Elbow method, Expert validation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Complexity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Less complex — clear guidance from labels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More complex — requires interpretation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Applications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 filtering, sentiment analysis, medical diagnosis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Customer segmentation, anomaly detection, pattern discovery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685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 Which?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72644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Supervised Learning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you have labeled data and need precise predictions (e.g., predicting house prices, classifying diseases).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Unsupervised Learning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exploring unknown structure or when labeling is impractical (e.g., customer segmentation, anomaly detection).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| INTRODUCTION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Machine Learning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970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39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3970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78000"/>
            <a:ext cx="584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Gather relevant, representative data for the problem at hand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90600" y="1905000"/>
            <a:ext cx="0" cy="4572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762000" y="24892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24892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489200"/>
            <a:ext cx="330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870200"/>
            <a:ext cx="584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Clean, normalize, handle missing values, feature engineering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90600" y="2997200"/>
            <a:ext cx="0" cy="4572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62000" y="35814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35814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581400"/>
            <a:ext cx="330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Train-Test Split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962400"/>
            <a:ext cx="584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Typically 80% training, 20% testing — ensure unbiased evaluation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0600" y="4089400"/>
            <a:ext cx="0" cy="4572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762000" y="4673600"/>
            <a:ext cx="457200" cy="457200"/>
          </a:xfrm>
          <a:prstGeom prst="ellipse">
            <a:avLst/>
          </a:prstGeom>
          <a:solidFill>
            <a:srgbClr val="D4853A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4673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673600"/>
            <a:ext cx="330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5054600"/>
            <a:ext cx="584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 training data to algorithm, learn patterns and relationships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90600" y="5181600"/>
            <a:ext cx="0" cy="4572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762000" y="57658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7" name="Text 25"/>
          <p:cNvSpPr/>
          <p:nvPr/>
        </p:nvSpPr>
        <p:spPr>
          <a:xfrm>
            <a:off x="762000" y="57658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5765800"/>
            <a:ext cx="330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Evaluation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6146800"/>
            <a:ext cx="584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on unseen data, measure performance with appropriate metrics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90600" y="6273800"/>
            <a:ext cx="0" cy="457200"/>
          </a:xfrm>
          <a:prstGeom prst="straightConnector1">
            <a:avLst/>
          </a:prstGeom>
          <a:noFill/>
          <a:ln w="12700">
            <a:solidFill>
              <a:srgbClr val="6B7B8D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762000" y="6858000"/>
            <a:ext cx="457200" cy="4572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32" name="Text 30"/>
          <p:cNvSpPr/>
          <p:nvPr/>
        </p:nvSpPr>
        <p:spPr>
          <a:xfrm>
            <a:off x="762000" y="6858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6858000"/>
            <a:ext cx="330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&amp; Monitoring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71600" y="7239000"/>
            <a:ext cx="584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model to production, track performance over time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874000" y="1397000"/>
            <a:ext cx="7620000" cy="6477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6" name="Text 34"/>
          <p:cNvSpPr/>
          <p:nvPr/>
        </p:nvSpPr>
        <p:spPr>
          <a:xfrm>
            <a:off x="8255000" y="1651000"/>
            <a:ext cx="685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ITERATIVE NATURE OF ML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55000" y="2184400"/>
            <a:ext cx="6858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ML workflow is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linear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it is an iterative cycle: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Results from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feed back into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Models are refined based on performance feedback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Hyperparameters are tuned iteratively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New data triggers retraining cycles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principle: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deployed model requires continuous monitoring. Data distributions change over time (concept drift), and models must be updated to maintain accuracy.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kkehbkbfdg72/mnt/agents/output/ml-week6/images/10_Supervised_Learning_Definition_and.png">    </p:cNvPr>
          <p:cNvPicPr>
            <a:picLocks noChangeAspect="1"/>
          </p:cNvPicPr>
          <p:nvPr/>
        </p:nvPicPr>
        <p:blipFill>
          <a:blip r:embed="rId1"/>
          <a:srcRect l="0" r="0" t="3125" b="312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4C5C">
                  <a:alpha val="94000"/>
                </a:srgbClr>
              </a:gs>
              <a:gs pos="50000">
                <a:srgbClr val="0F4C5C">
                  <a:alpha val="82000"/>
                </a:srgbClr>
              </a:gs>
              <a:gs pos="100000">
                <a:srgbClr val="0F4C5C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spc="200" kern="0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40640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318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from labeled data: classification and regression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| SUPERVISED LEARNING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Supervised Learning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7112000" cy="1016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270000"/>
            <a:ext cx="50800" cy="1016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371600"/>
            <a:ext cx="660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labeled datasets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each input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paired with a known output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model learns a mapping function: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f: X → 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590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Main Problem Types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098800"/>
            <a:ext cx="7112000" cy="203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16000" y="330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5579" y="0"/>
                  <a:pt x="192871" y="4098"/>
                  <a:pt x="196830" y="10765"/>
                </a:cubicBezTo>
                <a:lnTo>
                  <a:pt x="263505" y="121890"/>
                </a:lnTo>
                <a:cubicBezTo>
                  <a:pt x="267603" y="128766"/>
                  <a:pt x="267742" y="137309"/>
                  <a:pt x="263783" y="144254"/>
                </a:cubicBezTo>
                <a:cubicBezTo>
                  <a:pt x="259824" y="151199"/>
                  <a:pt x="252462" y="155575"/>
                  <a:pt x="244475" y="155575"/>
                </a:cubicBezTo>
                <a:lnTo>
                  <a:pt x="111125" y="155575"/>
                </a:lnTo>
                <a:cubicBezTo>
                  <a:pt x="103138" y="155575"/>
                  <a:pt x="95706" y="151269"/>
                  <a:pt x="91817" y="144324"/>
                </a:cubicBezTo>
                <a:cubicBezTo>
                  <a:pt x="87928" y="137378"/>
                  <a:pt x="87997" y="128836"/>
                  <a:pt x="92095" y="121960"/>
                </a:cubicBezTo>
                <a:lnTo>
                  <a:pt x="158770" y="10835"/>
                </a:lnTo>
                <a:cubicBezTo>
                  <a:pt x="162729" y="4098"/>
                  <a:pt x="170021" y="0"/>
                  <a:pt x="177800" y="0"/>
                </a:cubicBezTo>
                <a:close/>
                <a:moveTo>
                  <a:pt x="88900" y="188913"/>
                </a:moveTo>
                <a:cubicBezTo>
                  <a:pt x="131832" y="188913"/>
                  <a:pt x="166688" y="223768"/>
                  <a:pt x="166688" y="266700"/>
                </a:cubicBezTo>
                <a:cubicBezTo>
                  <a:pt x="166688" y="309632"/>
                  <a:pt x="131832" y="344488"/>
                  <a:pt x="88900" y="344488"/>
                </a:cubicBezTo>
                <a:cubicBezTo>
                  <a:pt x="45968" y="344488"/>
                  <a:pt x="11113" y="309632"/>
                  <a:pt x="11112" y="266700"/>
                </a:cubicBezTo>
                <a:cubicBezTo>
                  <a:pt x="11112" y="223768"/>
                  <a:pt x="45968" y="188913"/>
                  <a:pt x="88900" y="188913"/>
                </a:cubicBezTo>
                <a:close/>
                <a:moveTo>
                  <a:pt x="227806" y="200025"/>
                </a:moveTo>
                <a:lnTo>
                  <a:pt x="305594" y="200025"/>
                </a:lnTo>
                <a:cubicBezTo>
                  <a:pt x="320943" y="200025"/>
                  <a:pt x="333375" y="212457"/>
                  <a:pt x="333375" y="227806"/>
                </a:cubicBezTo>
                <a:lnTo>
                  <a:pt x="333375" y="305594"/>
                </a:lnTo>
                <a:cubicBezTo>
                  <a:pt x="333375" y="320943"/>
                  <a:pt x="320943" y="333375"/>
                  <a:pt x="305594" y="333375"/>
                </a:cubicBezTo>
                <a:lnTo>
                  <a:pt x="227806" y="333375"/>
                </a:lnTo>
                <a:cubicBezTo>
                  <a:pt x="212457" y="333375"/>
                  <a:pt x="200025" y="320943"/>
                  <a:pt x="200025" y="305594"/>
                </a:cubicBezTo>
                <a:lnTo>
                  <a:pt x="200025" y="227806"/>
                </a:lnTo>
                <a:cubicBezTo>
                  <a:pt x="200025" y="212457"/>
                  <a:pt x="212457" y="200025"/>
                  <a:pt x="227806" y="200025"/>
                </a:cubicBez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3302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3759200"/>
            <a:ext cx="660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is 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categorical variable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Goal: assign inputs to predefined classes.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spam detection, image recognition, disease diagnosis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334000"/>
            <a:ext cx="7112000" cy="203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16000" y="5537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55372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5994400"/>
            <a:ext cx="660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is 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variable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Goal: predict numeric values.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house prices, stock forecasting, temperature prediction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1270000"/>
            <a:ext cx="7112000" cy="6667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9" name="Text 17"/>
          <p:cNvSpPr/>
          <p:nvPr/>
        </p:nvSpPr>
        <p:spPr>
          <a:xfrm>
            <a:off x="8763000" y="1524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SUPERVISED LEARNING WORKS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0" y="2159000"/>
            <a:ext cx="2286000" cy="635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2336800"/>
            <a:ext cx="228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Labeled Training Data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0" y="5384800"/>
            <a:ext cx="177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Input X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287000" y="2794000"/>
            <a:ext cx="0" cy="50800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9271000" y="3429000"/>
            <a:ext cx="2032000" cy="762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25" name="Text 23"/>
          <p:cNvSpPr/>
          <p:nvPr/>
        </p:nvSpPr>
        <p:spPr>
          <a:xfrm>
            <a:off x="9271000" y="3429000"/>
            <a:ext cx="20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287000" y="4318000"/>
            <a:ext cx="0" cy="50800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9398000" y="4953000"/>
            <a:ext cx="1778000" cy="635000"/>
          </a:xfrm>
          <a:prstGeom prst="rect">
            <a:avLst/>
          </a:prstGeom>
          <a:solidFill>
            <a:srgbClr val="FFFFFF">
              <a:alpha val="18824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98000" y="4953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Trained Model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287000" y="5588000"/>
            <a:ext cx="0" cy="50800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12192000" y="5842000"/>
            <a:ext cx="0" cy="508000"/>
          </a:xfrm>
          <a:prstGeom prst="straightConnector1">
            <a:avLst/>
          </a:prstGeom>
          <a:noFill/>
          <a:ln w="12700">
            <a:solidFill>
              <a:srgbClr val="FFFFFF">
                <a:alpha val="37647"/>
              </a:srgbClr>
            </a:solidFill>
            <a:prstDash val="sysDot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11176000" y="5524500"/>
            <a:ext cx="1016000" cy="0"/>
          </a:xfrm>
          <a:prstGeom prst="straightConnector1">
            <a:avLst/>
          </a:prstGeom>
          <a:noFill/>
          <a:ln w="12700">
            <a:solidFill>
              <a:srgbClr val="FFFFFF">
                <a:alpha val="37647"/>
              </a:srgbClr>
            </a:solidFill>
            <a:prstDash val="solid"/>
            <a:headEnd type="arrow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2192000" y="6350000"/>
            <a:ext cx="1778000" cy="635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33" name="Text 31"/>
          <p:cNvSpPr/>
          <p:nvPr/>
        </p:nvSpPr>
        <p:spPr>
          <a:xfrm>
            <a:off x="12192000" y="6350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ŷ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63000" y="7175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model generalizes from training examples to make accurate predictions on data it has never seen before.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| SUPERVISED LEARNING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 vs. Regression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20800"/>
            <a:ext cx="7112000" cy="558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320800"/>
            <a:ext cx="711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082800"/>
            <a:ext cx="7112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Categorical variable (discrete classes)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Assign inputs to predefined classes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Algorithms: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 Regression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Trees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Vector Machine (SVM)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Naive Bayes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K-Nearest Neighbors (KNN)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spam detection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diagnosis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recognition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320800"/>
            <a:ext cx="7112000" cy="558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0" y="1320800"/>
            <a:ext cx="7112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2082800"/>
            <a:ext cx="7112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Continuous variable (numeric values)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 numeric quantities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Algorithms: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Regression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Polynomial Regression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Ridge Regression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Lasso Regression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Vector Regression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House price prediction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price forecasting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prediction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7442200"/>
            <a:ext cx="14732000" cy="762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7442200"/>
            <a:ext cx="50800" cy="762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7518400"/>
            <a:ext cx="1422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difference: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Classification predicts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(spam/not spam); Regression predicts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quantities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(house price = $350,000).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| SUPERVISED LEARNING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Supervised Learning Algorithms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270000"/>
          <a:ext cx="14732000" cy="7112000"/>
        </p:xfrm>
        <a:graphic>
          <a:graphicData uri="http://schemas.openxmlformats.org/drawingml/2006/table">
            <a:tbl>
              <a:tblPr/>
              <a:tblGrid>
                <a:gridCol w="2946400"/>
                <a:gridCol w="5892800"/>
                <a:gridCol w="5892800"/>
              </a:tblGrid>
              <a:tr h="574578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Algorithm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81717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Linear Regression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Predicts continuous values using a linear relationship between features and target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Simple prediction tasks with linear relationships (house prices)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717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Logistic Regression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Predicts binary outcomes using the sigmoid function; outputs probabilities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Binary classification (spam detection, disease risk)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81717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Decision Trees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Tree-like structure where each node represents a decision, leaves represent outcomes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Interpretable models, mixed data types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717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Random Forests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Ensemble of multiple decision trees; improves accuracy and reduces overfitting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Complex problems requiring robust performance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81717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SVM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Separates data into classes using a hyperplane boundary; support vectors define margin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High-dimensional data, clear margin separation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717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K-Nearest Neighbors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Predicts based on the K closest data points using distance metrics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Small datasets, simple decision boundaries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81717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Naive Bayes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Probabilistic classifier based on Bayes' Theorem; assumes feature independence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Text classification, large feature spaces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717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Gradient Boosting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Builds models sequentially, correcting errors of previous models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Competitive accuracy, structured/tabular data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| SUPERVISED LEARNING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Regression: The Foundation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14732000" cy="889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270000"/>
            <a:ext cx="50800" cy="889000"/>
          </a:xfrm>
          <a:prstGeom prst="rect">
            <a:avLst/>
          </a:prstGeom>
          <a:solidFill>
            <a:srgbClr val="D4853A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1016000" y="1447800"/>
                <a:ext cx="14224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/>
                        <m:t>y</m:t>
                      </m:r>
                      <m:r>
                        <a:rPr lang="en-US" sz="1600" dirty="0"/>
                        <m:t>=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β</m:t>
                          </m:r>
                        </m:e>
                        <m:sub>
                          <m:r>
                            <a:rPr lang="en-US" sz="1100" dirty="0"/>
                            <m:t>0</m:t>
                          </m:r>
                        </m:sub>
                      </m:sSub>
                      <m:r>
                        <a:rPr lang="en-US" sz="1600" dirty="0"/>
                        <m:t>+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β</m:t>
                          </m:r>
                        </m:e>
                        <m:sub>
                          <m:r>
                            <a:rPr lang="en-US" sz="1100" dirty="0"/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x</m:t>
                          </m:r>
                        </m:e>
                        <m:sub>
                          <m:r>
                            <a:rPr lang="en-US" sz="1100" dirty="0"/>
                            <m:t>1</m:t>
                          </m:r>
                        </m:sub>
                      </m:sSub>
                      <m:r>
                        <a:rPr lang="en-US" sz="1600" dirty="0"/>
                        <m:t>+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β</m:t>
                          </m:r>
                        </m:e>
                        <m:sub>
                          <m:r>
                            <a:rPr lang="en-US" sz="1100" dirty="0"/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x</m:t>
                          </m:r>
                        </m:e>
                        <m:sub>
                          <m:r>
                            <a:rPr lang="en-US" sz="1100" dirty="0"/>
                            <m:t>2</m:t>
                          </m:r>
                        </m:sub>
                      </m:sSub>
                      <m:r>
                        <a:rPr lang="en-US" sz="1600" dirty="0"/>
                        <m:t>+</m:t>
                      </m:r>
                      <m:r>
                        <a:rPr lang="en-US" sz="1600" dirty="0"/>
                        <m:t>.</m:t>
                      </m:r>
                      <m:r>
                        <a:rPr lang="en-US" sz="1600" dirty="0"/>
                        <m:t>.</m:t>
                      </m:r>
                      <m:r>
                        <a:rPr lang="en-US" sz="1600" dirty="0"/>
                        <m:t>.</m:t>
                      </m:r>
                      <m:r>
                        <a:rPr lang="en-US" sz="1600" dirty="0"/>
                        <m:t>+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β</m:t>
                          </m:r>
                        </m:e>
                        <m:sub>
                          <m:r>
                            <a:rPr lang="en-US" sz="1100" i="1" dirty="0"/>
                            <m:t>n</m:t>
                          </m:r>
                        </m:sub>
                      </m:sSub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x</m:t>
                          </m:r>
                        </m:e>
                        <m:sub>
                          <m:r>
                            <a:rPr lang="en-US" sz="1100" i="1" dirty="0"/>
                            <m:t>n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 6"/>
              <p:cNvSpPr/>
              <p:nvPr/>
            </p:nvSpPr>
            <p:spPr>
              <a:xfrm>
                <a:off x="1016000" y="1447800"/>
                <a:ext cx="14224000" cy="508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0F4C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y = \beta_0 + \beta_1 x_1 + \beta_2 x_2 + ... + \beta_n x_n )</a:t>
                </a:r>
                <a:endParaRPr lang="en-US" sz="1600" dirty="0"/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762000" y="2413000"/>
            <a:ext cx="7112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Find coefficients (β) that minimize the sum of squared errors between predicted and actual values.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Ordinary Least Squares (OLS)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analytical solution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Descent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iterative optimization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Assumptions: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relationship between features and target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Independent, normally distributed errors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382000" y="2413000"/>
          <a:ext cx="7112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62000" y="6223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6680200"/>
            <a:ext cx="46990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965200" y="6756400"/>
            <a:ext cx="429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Mean Squared Error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of squared differences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715000" y="6680200"/>
            <a:ext cx="46990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5918200" y="6756400"/>
            <a:ext cx="429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Root Mean Squared Error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Square root of MSE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668000" y="6680200"/>
            <a:ext cx="4826000" cy="88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10871200" y="6756400"/>
            <a:ext cx="4419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R²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Coefficient of Determination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Proportion of variance explained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2000" y="7823200"/>
            <a:ext cx="1473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Sensitive to outliers, assumes linearity, may underfit complex relationships. These limitations motivate more advanced approaches like Logistic Regression.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kkehbkbfdg72/mnt/agents/output/ml-week6/images/7_Sigmoid_Function_GeeksforGeeks.png">    </p:cNvPr>
          <p:cNvPicPr>
            <a:picLocks noChangeAspect="1"/>
          </p:cNvPicPr>
          <p:nvPr/>
        </p:nvPicPr>
        <p:blipFill>
          <a:blip r:embed="rId1"/>
          <a:srcRect l="0" r="0" t="6543" b="654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4C5C">
                  <a:alpha val="94000"/>
                </a:srgbClr>
              </a:gs>
              <a:gs pos="50000">
                <a:srgbClr val="0F4C5C">
                  <a:alpha val="82000"/>
                </a:srgbClr>
              </a:gs>
              <a:gs pos="100000">
                <a:srgbClr val="0F4C5C">
                  <a:alpha val="56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spc="200" kern="0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40640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318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linear predictions to probabilistic classification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| LOGISTIC REGRESSION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Logistic Regression?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8382000" cy="1016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270000"/>
            <a:ext cx="50800" cy="1016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371600"/>
            <a:ext cx="787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Despite its name, Logistic Regression is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algorithm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not a regression algorithm. It predicts the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 binary outcome.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540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971800"/>
            <a:ext cx="838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Extends linear regression by applying the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sigmoid function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Constrains output between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 and 1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is interpreted as probability: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P(y=1|X)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P ≥ 0.5 → predict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1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otherwise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7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5715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223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58881"/>
                </a:moveTo>
                <a:lnTo>
                  <a:pt x="131514" y="47531"/>
                </a:lnTo>
                <a:cubicBezTo>
                  <a:pt x="117872" y="28649"/>
                  <a:pt x="95989" y="17463"/>
                  <a:pt x="72633" y="17463"/>
                </a:cubicBezTo>
                <a:cubicBezTo>
                  <a:pt x="32524" y="17463"/>
                  <a:pt x="0" y="49986"/>
                  <a:pt x="0" y="90096"/>
                </a:cubicBezTo>
                <a:lnTo>
                  <a:pt x="0" y="91514"/>
                </a:lnTo>
                <a:cubicBezTo>
                  <a:pt x="0" y="104393"/>
                  <a:pt x="3383" y="117708"/>
                  <a:pt x="9059" y="130969"/>
                </a:cubicBezTo>
                <a:lnTo>
                  <a:pt x="66903" y="130969"/>
                </a:lnTo>
                <a:cubicBezTo>
                  <a:pt x="68649" y="130969"/>
                  <a:pt x="70232" y="129932"/>
                  <a:pt x="70941" y="128295"/>
                </a:cubicBezTo>
                <a:lnTo>
                  <a:pt x="88295" y="86658"/>
                </a:lnTo>
                <a:cubicBezTo>
                  <a:pt x="90314" y="81855"/>
                  <a:pt x="95007" y="78690"/>
                  <a:pt x="100191" y="78581"/>
                </a:cubicBezTo>
                <a:cubicBezTo>
                  <a:pt x="105375" y="78472"/>
                  <a:pt x="110177" y="81528"/>
                  <a:pt x="112306" y="86276"/>
                </a:cubicBezTo>
                <a:lnTo>
                  <a:pt x="140300" y="148431"/>
                </a:lnTo>
                <a:lnTo>
                  <a:pt x="162892" y="103247"/>
                </a:lnTo>
                <a:cubicBezTo>
                  <a:pt x="165130" y="98827"/>
                  <a:pt x="169659" y="95989"/>
                  <a:pt x="174625" y="95989"/>
                </a:cubicBezTo>
                <a:cubicBezTo>
                  <a:pt x="179591" y="95989"/>
                  <a:pt x="184120" y="98772"/>
                  <a:pt x="186358" y="103247"/>
                </a:cubicBezTo>
                <a:lnTo>
                  <a:pt x="199018" y="128513"/>
                </a:lnTo>
                <a:cubicBezTo>
                  <a:pt x="199782" y="129986"/>
                  <a:pt x="201255" y="130914"/>
                  <a:pt x="202947" y="130914"/>
                </a:cubicBezTo>
                <a:lnTo>
                  <a:pt x="270396" y="130914"/>
                </a:lnTo>
                <a:cubicBezTo>
                  <a:pt x="276126" y="117654"/>
                  <a:pt x="279455" y="104338"/>
                  <a:pt x="279455" y="91460"/>
                </a:cubicBezTo>
                <a:lnTo>
                  <a:pt x="279455" y="90041"/>
                </a:lnTo>
                <a:cubicBezTo>
                  <a:pt x="279400" y="49986"/>
                  <a:pt x="246876" y="17463"/>
                  <a:pt x="206767" y="17463"/>
                </a:cubicBezTo>
                <a:cubicBezTo>
                  <a:pt x="183465" y="17463"/>
                  <a:pt x="161528" y="28649"/>
                  <a:pt x="147886" y="47531"/>
                </a:cubicBezTo>
                <a:lnTo>
                  <a:pt x="139700" y="58827"/>
                </a:lnTo>
                <a:close/>
                <a:moveTo>
                  <a:pt x="256262" y="157163"/>
                </a:moveTo>
                <a:lnTo>
                  <a:pt x="202892" y="157163"/>
                </a:lnTo>
                <a:cubicBezTo>
                  <a:pt x="191324" y="157163"/>
                  <a:pt x="180737" y="150614"/>
                  <a:pt x="175553" y="140246"/>
                </a:cubicBezTo>
                <a:lnTo>
                  <a:pt x="174625" y="138390"/>
                </a:lnTo>
                <a:lnTo>
                  <a:pt x="151433" y="184830"/>
                </a:lnTo>
                <a:cubicBezTo>
                  <a:pt x="149195" y="189359"/>
                  <a:pt x="144502" y="192197"/>
                  <a:pt x="139427" y="192088"/>
                </a:cubicBezTo>
                <a:cubicBezTo>
                  <a:pt x="134352" y="191978"/>
                  <a:pt x="129823" y="188977"/>
                  <a:pt x="127749" y="184393"/>
                </a:cubicBezTo>
                <a:lnTo>
                  <a:pt x="100846" y="124639"/>
                </a:lnTo>
                <a:lnTo>
                  <a:pt x="95116" y="138390"/>
                </a:lnTo>
                <a:cubicBezTo>
                  <a:pt x="90368" y="149796"/>
                  <a:pt x="79236" y="157217"/>
                  <a:pt x="66903" y="157217"/>
                </a:cubicBezTo>
                <a:lnTo>
                  <a:pt x="23138" y="157217"/>
                </a:lnTo>
                <a:cubicBezTo>
                  <a:pt x="48895" y="197490"/>
                  <a:pt x="90259" y="234543"/>
                  <a:pt x="116126" y="254298"/>
                </a:cubicBezTo>
                <a:cubicBezTo>
                  <a:pt x="122892" y="259427"/>
                  <a:pt x="131187" y="261992"/>
                  <a:pt x="139645" y="261992"/>
                </a:cubicBezTo>
                <a:cubicBezTo>
                  <a:pt x="148104" y="261992"/>
                  <a:pt x="156453" y="259482"/>
                  <a:pt x="163165" y="254298"/>
                </a:cubicBezTo>
                <a:cubicBezTo>
                  <a:pt x="189141" y="234489"/>
                  <a:pt x="230505" y="197435"/>
                  <a:pt x="256262" y="157163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3" name="Text 11"/>
          <p:cNvSpPr/>
          <p:nvPr/>
        </p:nvSpPr>
        <p:spPr>
          <a:xfrm>
            <a:off x="1168400" y="61722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diagnosis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disease risk prediction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934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69850"/>
                </a:moveTo>
                <a:lnTo>
                  <a:pt x="0" y="87313"/>
                </a:lnTo>
                <a:lnTo>
                  <a:pt x="279400" y="87313"/>
                </a:lnTo>
                <a:lnTo>
                  <a:pt x="279400" y="69850"/>
                </a:lnTo>
                <a:cubicBezTo>
                  <a:pt x="279400" y="50587"/>
                  <a:pt x="263738" y="34925"/>
                  <a:pt x="244475" y="34925"/>
                </a:cubicBezTo>
                <a:lnTo>
                  <a:pt x="34925" y="34925"/>
                </a:lnTo>
                <a:cubicBezTo>
                  <a:pt x="15662" y="34925"/>
                  <a:pt x="0" y="50587"/>
                  <a:pt x="0" y="69850"/>
                </a:cubicBezTo>
                <a:close/>
                <a:moveTo>
                  <a:pt x="0" y="113506"/>
                </a:moveTo>
                <a:lnTo>
                  <a:pt x="0" y="209550"/>
                </a:lnTo>
                <a:cubicBezTo>
                  <a:pt x="0" y="228813"/>
                  <a:pt x="15662" y="244475"/>
                  <a:pt x="34925" y="244475"/>
                </a:cubicBezTo>
                <a:lnTo>
                  <a:pt x="244475" y="244475"/>
                </a:lnTo>
                <a:cubicBezTo>
                  <a:pt x="263738" y="244475"/>
                  <a:pt x="279400" y="228813"/>
                  <a:pt x="279400" y="209550"/>
                </a:cubicBezTo>
                <a:lnTo>
                  <a:pt x="279400" y="113506"/>
                </a:lnTo>
                <a:lnTo>
                  <a:pt x="0" y="113506"/>
                </a:lnTo>
                <a:close/>
                <a:moveTo>
                  <a:pt x="34925" y="196453"/>
                </a:moveTo>
                <a:cubicBezTo>
                  <a:pt x="34925" y="189195"/>
                  <a:pt x="40764" y="183356"/>
                  <a:pt x="48022" y="183356"/>
                </a:cubicBezTo>
                <a:lnTo>
                  <a:pt x="74216" y="183356"/>
                </a:lnTo>
                <a:cubicBezTo>
                  <a:pt x="81473" y="183356"/>
                  <a:pt x="87313" y="189195"/>
                  <a:pt x="87313" y="196453"/>
                </a:cubicBezTo>
                <a:cubicBezTo>
                  <a:pt x="87313" y="203711"/>
                  <a:pt x="81473" y="209550"/>
                  <a:pt x="74216" y="209550"/>
                </a:cubicBezTo>
                <a:lnTo>
                  <a:pt x="48022" y="209550"/>
                </a:lnTo>
                <a:cubicBezTo>
                  <a:pt x="40764" y="209550"/>
                  <a:pt x="34925" y="203711"/>
                  <a:pt x="34925" y="196453"/>
                </a:cubicBezTo>
                <a:close/>
                <a:moveTo>
                  <a:pt x="113506" y="196453"/>
                </a:moveTo>
                <a:cubicBezTo>
                  <a:pt x="113506" y="189195"/>
                  <a:pt x="119345" y="183356"/>
                  <a:pt x="126603" y="183356"/>
                </a:cubicBezTo>
                <a:lnTo>
                  <a:pt x="161528" y="183356"/>
                </a:lnTo>
                <a:cubicBezTo>
                  <a:pt x="168786" y="183356"/>
                  <a:pt x="174625" y="189195"/>
                  <a:pt x="174625" y="196453"/>
                </a:cubicBezTo>
                <a:cubicBezTo>
                  <a:pt x="174625" y="203711"/>
                  <a:pt x="168786" y="209550"/>
                  <a:pt x="161528" y="209550"/>
                </a:cubicBezTo>
                <a:lnTo>
                  <a:pt x="126603" y="209550"/>
                </a:lnTo>
                <a:cubicBezTo>
                  <a:pt x="119345" y="209550"/>
                  <a:pt x="113506" y="203711"/>
                  <a:pt x="113506" y="196453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68400" y="68834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 scoring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loan default prediction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7645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44475" y="139700"/>
                </a:moveTo>
                <a:cubicBezTo>
                  <a:pt x="244475" y="81873"/>
                  <a:pt x="197527" y="34925"/>
                  <a:pt x="139700" y="34925"/>
                </a:cubicBezTo>
                <a:cubicBezTo>
                  <a:pt x="81873" y="34925"/>
                  <a:pt x="34925" y="81873"/>
                  <a:pt x="34925" y="139700"/>
                </a:cubicBezTo>
                <a:cubicBezTo>
                  <a:pt x="34925" y="197527"/>
                  <a:pt x="81873" y="244475"/>
                  <a:pt x="139700" y="244475"/>
                </a:cubicBezTo>
                <a:cubicBezTo>
                  <a:pt x="197527" y="244475"/>
                  <a:pt x="244475" y="197527"/>
                  <a:pt x="244475" y="139700"/>
                </a:cubicBezTo>
                <a:close/>
                <a:moveTo>
                  <a:pt x="0" y="139700"/>
                </a:moveTo>
                <a:cubicBezTo>
                  <a:pt x="0" y="62597"/>
                  <a:pt x="62597" y="0"/>
                  <a:pt x="139700" y="0"/>
                </a:cubicBezTo>
                <a:cubicBezTo>
                  <a:pt x="216803" y="0"/>
                  <a:pt x="279400" y="62597"/>
                  <a:pt x="279400" y="139700"/>
                </a:cubicBezTo>
                <a:cubicBezTo>
                  <a:pt x="279400" y="216803"/>
                  <a:pt x="216803" y="279400"/>
                  <a:pt x="139700" y="279400"/>
                </a:cubicBezTo>
                <a:cubicBezTo>
                  <a:pt x="62597" y="279400"/>
                  <a:pt x="0" y="216803"/>
                  <a:pt x="0" y="139700"/>
                </a:cubicBezTo>
                <a:close/>
                <a:moveTo>
                  <a:pt x="139700" y="183356"/>
                </a:moveTo>
                <a:cubicBezTo>
                  <a:pt x="163795" y="183356"/>
                  <a:pt x="183356" y="163795"/>
                  <a:pt x="183356" y="139700"/>
                </a:cubicBezTo>
                <a:cubicBezTo>
                  <a:pt x="183356" y="115605"/>
                  <a:pt x="163795" y="96044"/>
                  <a:pt x="139700" y="96044"/>
                </a:cubicBezTo>
                <a:cubicBezTo>
                  <a:pt x="115605" y="96044"/>
                  <a:pt x="96044" y="115605"/>
                  <a:pt x="96044" y="139700"/>
                </a:cubicBezTo>
                <a:cubicBezTo>
                  <a:pt x="96044" y="163795"/>
                  <a:pt x="115605" y="183356"/>
                  <a:pt x="139700" y="183356"/>
                </a:cubicBezTo>
                <a:close/>
                <a:moveTo>
                  <a:pt x="139700" y="61119"/>
                </a:moveTo>
                <a:cubicBezTo>
                  <a:pt x="183070" y="61119"/>
                  <a:pt x="218281" y="96330"/>
                  <a:pt x="218281" y="139700"/>
                </a:cubicBezTo>
                <a:cubicBezTo>
                  <a:pt x="218281" y="183070"/>
                  <a:pt x="183070" y="218281"/>
                  <a:pt x="139700" y="218281"/>
                </a:cubicBezTo>
                <a:cubicBezTo>
                  <a:pt x="96330" y="218281"/>
                  <a:pt x="61119" y="183070"/>
                  <a:pt x="61119" y="139700"/>
                </a:cubicBezTo>
                <a:cubicBezTo>
                  <a:pt x="61119" y="96330"/>
                  <a:pt x="96330" y="61119"/>
                  <a:pt x="139700" y="61119"/>
                </a:cubicBezTo>
                <a:close/>
                <a:moveTo>
                  <a:pt x="122238" y="139700"/>
                </a:moveTo>
                <a:cubicBezTo>
                  <a:pt x="122238" y="130062"/>
                  <a:pt x="130062" y="122238"/>
                  <a:pt x="139700" y="122238"/>
                </a:cubicBezTo>
                <a:cubicBezTo>
                  <a:pt x="149338" y="122238"/>
                  <a:pt x="157163" y="130062"/>
                  <a:pt x="157163" y="139700"/>
                </a:cubicBezTo>
                <a:cubicBezTo>
                  <a:pt x="157163" y="149338"/>
                  <a:pt x="149338" y="157163"/>
                  <a:pt x="139700" y="157163"/>
                </a:cubicBezTo>
                <a:cubicBezTo>
                  <a:pt x="130062" y="157163"/>
                  <a:pt x="122238" y="149338"/>
                  <a:pt x="122238" y="139700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68400" y="75946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customer churn prediction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26000" y="5715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26000" y="61722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and interpretable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Computationally efficient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well with linearly separable data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probability estimates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hyperparameter tuning needed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52000" y="1270000"/>
            <a:ext cx="5842000" cy="7112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3000" y="1524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VS LINEAR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33000" y="2082800"/>
            <a:ext cx="5080000" cy="1778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287000" y="22098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87000" y="25654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Predicts continuous values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Output range: (-∞, +∞)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Used for regression tasks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033000" y="4114800"/>
            <a:ext cx="5080000" cy="1651000"/>
          </a:xfrm>
          <a:prstGeom prst="rect">
            <a:avLst/>
          </a:prstGeom>
          <a:solidFill>
            <a:srgbClr val="FFFFFF">
              <a:alpha val="8235"/>
            </a:srgbClr>
          </a:solidFill>
          <a:ln w="25400">
            <a:solidFill>
              <a:srgbClr val="D485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87000" y="42418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87000" y="45974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Predicts probabilities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Output range: (0, 1)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Used for classification tasks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573000" y="3860800"/>
            <a:ext cx="0" cy="25400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10033000" y="5969000"/>
            <a:ext cx="508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sigmoid function transforms the linear output into a probability, making logistic regression ideal for binary classification problems.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same sigmoid is now a common activation function in neural networks.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| LOGISTIC REGRESSION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Sigmoid Function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14732000" cy="889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270000"/>
            <a:ext cx="50800" cy="889000"/>
          </a:xfrm>
          <a:prstGeom prst="rect">
            <a:avLst/>
          </a:prstGeom>
          <a:solidFill>
            <a:srgbClr val="D4853A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1016000" y="1371600"/>
                <a:ext cx="1422400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/>
                        <m:t>σ</m:t>
                      </m:r>
                      <m:r>
                        <a:rPr lang="en-US" sz="1600" dirty="0"/>
                        <m:t>(</m:t>
                      </m:r>
                      <m:r>
                        <a:rPr lang="en-US" sz="1600" i="1" dirty="0"/>
                        <m:t>z</m:t>
                      </m:r>
                      <m:r>
                        <a:rPr lang="en-US" sz="1600" dirty="0"/>
                        <m:t>)</m:t>
                      </m:r>
                      <m:r>
                        <a:rPr lang="en-US" sz="16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1</m:t>
                          </m:r>
                        </m:num>
                        <m:den>
                          <m:r>
                            <a:rPr lang="en-US" sz="1100" dirty="0"/>
                            <m:t>1</m:t>
                          </m:r>
                          <m:r>
                            <a:rPr lang="en-US" sz="1100" dirty="0"/>
                            <m:t>+</m:t>
                          </m:r>
                          <m:sSup>
                            <m:sSupPr>
                              <m:ctrlPr>
                                <a:rPr lang="en-US" sz="800" dirty="0"/>
                              </m:ctrlPr>
                            </m:sSupPr>
                            <m:e>
                              <m:r>
                                <a:rPr lang="en-US" sz="800" i="1" dirty="0"/>
                                <m:t>e</m:t>
                              </m:r>
                            </m:e>
                            <m:sup>
                              <m:r>
                                <a:rPr lang="en-US" sz="800" dirty="0"/>
                                <m:t>−</m:t>
                              </m:r>
                              <m:r>
                                <a:rPr lang="en-US" sz="800" i="1" dirty="0"/>
                                <m:t>z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0F4C5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where </a:t>
                </a:r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/>
                        <m:t>z</m:t>
                      </m:r>
                      <m:r>
                        <a:rPr lang="en-US" sz="1600" dirty="0"/>
                        <m:t>=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β</m:t>
                          </m:r>
                        </m:e>
                        <m:sub>
                          <m:r>
                            <a:rPr lang="en-US" sz="1100" dirty="0"/>
                            <m:t>0</m:t>
                          </m:r>
                        </m:sub>
                      </m:sSub>
                      <m:r>
                        <a:rPr lang="en-US" sz="1600" dirty="0"/>
                        <m:t>+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β</m:t>
                          </m:r>
                        </m:e>
                        <m:sub>
                          <m:r>
                            <a:rPr lang="en-US" sz="1100" dirty="0"/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x</m:t>
                          </m:r>
                        </m:e>
                        <m:sub>
                          <m:r>
                            <a:rPr lang="en-US" sz="1100" dirty="0"/>
                            <m:t>1</m:t>
                          </m:r>
                        </m:sub>
                      </m:sSub>
                      <m:r>
                        <a:rPr lang="en-US" sz="1600" dirty="0"/>
                        <m:t>+</m:t>
                      </m:r>
                      <m:r>
                        <a:rPr lang="en-US" sz="1600" dirty="0"/>
                        <m:t>.</m:t>
                      </m:r>
                      <m:r>
                        <a:rPr lang="en-US" sz="1600" dirty="0"/>
                        <m:t>.</m:t>
                      </m:r>
                      <m:r>
                        <a:rPr lang="en-US" sz="1600" dirty="0"/>
                        <m:t>.</m:t>
                      </m:r>
                      <m:r>
                        <a:rPr lang="en-US" sz="1600" dirty="0"/>
                        <m:t>+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β</m:t>
                          </m:r>
                        </m:e>
                        <m:sub>
                          <m:r>
                            <a:rPr lang="en-US" sz="1100" i="1" dirty="0"/>
                            <m:t>n</m:t>
                          </m:r>
                        </m:sub>
                      </m:sSub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x</m:t>
                          </m:r>
                        </m:e>
                        <m:sub>
                          <m:r>
                            <a:rPr lang="en-US" sz="1100" i="1" dirty="0"/>
                            <m:t>n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 6"/>
              <p:cNvSpPr/>
              <p:nvPr/>
            </p:nvSpPr>
            <p:spPr>
              <a:xfrm>
                <a:off x="1016000" y="1371600"/>
                <a:ext cx="1422400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0F4C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\sigma(z) = \frac{1}{1 + e^{-z}} )</a:t>
                </a:r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0F4C5C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 where </a:t>
                </a:r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0F4C5C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z = \beta_0 + \beta_1 x_1 + ... + \beta_n x_n )</a:t>
                </a:r>
                <a:endParaRPr lang="en-US" sz="1600" dirty="0"/>
              </a:p>
            </p:txBody>
          </p:sp>
        </mc:Fallback>
      </mc:AlternateContent>
      <p:graphicFrame>
        <p:nvGraphicFramePr>
          <p:cNvPr id="9" name="Chart 0" descr=""/>
          <p:cNvGraphicFramePr/>
          <p:nvPr/>
        </p:nvGraphicFramePr>
        <p:xfrm>
          <a:off x="762000" y="2413000"/>
          <a:ext cx="7366000" cy="381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8636000" y="2413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Properties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36000" y="2844800"/>
            <a:ext cx="685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Output always in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(0, 1)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36000" y="3403600"/>
            <a:ext cx="685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S-shaped (sigmoid) curve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36000" y="3962400"/>
            <a:ext cx="685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Center: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σ(0)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(decision boundary)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36000" y="4521200"/>
            <a:ext cx="685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z → +∞: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σ(z) →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636000" y="5080000"/>
            <a:ext cx="685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z → -∞: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σ(z) →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6477000"/>
            <a:ext cx="14732000" cy="1651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7" name="Text 14"/>
          <p:cNvSpPr/>
          <p:nvPr/>
        </p:nvSpPr>
        <p:spPr>
          <a:xfrm>
            <a:off x="1016000" y="6604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 TO DEEP LEARNING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16000" y="6985000"/>
            <a:ext cx="14224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sigmoid function is the core activation that transforms linear output into probability. This same function is now 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activation function in neural networks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connecting classical machine learning to deep learning. Understanding logistic regression provides intuition for how neurons in neural networks make decisions.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| LOGISTIC REGRESSION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Boundary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14732000" cy="762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270000"/>
            <a:ext cx="50800" cy="762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346200"/>
            <a:ext cx="1422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boundary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separates data points into different classes. It occurs where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P(y=1|X) = 0.5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which corresponds to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 = 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3368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Decision Boundary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7686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features have a linear relationship with the log-odds: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2D: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straight line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3D: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plane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D: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hyperplane</a:t>
            </a:r>
            <a:endParaRPr lang="en-US" sz="16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62000" y="4521200"/>
          <a:ext cx="7112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8382000" y="2336800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Non-Linear Decision Boundary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82000" y="27686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Created by adding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polynomial features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x₁², x₂², x₁x₂ terms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more complex patterns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of overfitting with high degrees</a:t>
            </a:r>
            <a:endParaRPr lang="en-US" sz="16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8382000" y="4521200"/>
          <a:ext cx="7112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| LOGISTIC REGRESSION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Function &amp; Optimization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7112000" cy="1016000"/>
          </a:xfrm>
          <a:prstGeom prst="rect">
            <a:avLst/>
          </a:prstGeom>
          <a:solidFill>
            <a:srgbClr val="D4853A">
              <a:alpha val="8235"/>
            </a:srgbClr>
          </a:solidFill>
          <a:ln w="12700">
            <a:solidFill>
              <a:srgbClr val="D485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200" y="1371600"/>
            <a:ext cx="6705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not MSE?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Mean Squared Error creates a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non-convex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cost surface with many local minima for logistic regression.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540000"/>
            <a:ext cx="7112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2540000"/>
            <a:ext cx="50800" cy="1270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26416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 Loss (Cross-Entropy Loss)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1016000" y="3048000"/>
                <a:ext cx="6604000" cy="609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4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/>
                        <m:t>J</m:t>
                      </m:r>
                      <m:r>
                        <a:rPr lang="en-US" sz="1600" dirty="0"/>
                        <m:t>(</m:t>
                      </m:r>
                      <m:r>
                        <a:rPr lang="en-US" sz="1600" i="1" dirty="0"/>
                        <m:t>β</m:t>
                      </m:r>
                      <m:r>
                        <a:rPr lang="en-US" sz="1600" dirty="0"/>
                        <m:t>)</m:t>
                      </m:r>
                      <m:r>
                        <a:rPr lang="en-US" sz="1600" dirty="0"/>
                        <m:t>=</m:t>
                      </m:r>
                      <m:r>
                        <a:rPr lang="en-US" sz="1600" dirty="0"/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1</m:t>
                          </m:r>
                        </m:num>
                        <m:den>
                          <m:r>
                            <a:rPr lang="en-US" sz="1100" i="1" dirty="0"/>
                            <m:t>m</m:t>
                          </m:r>
                        </m:den>
                      </m:f>
                      <m:sSubSup>
                        <m:sSubSupPr>
                          <m:ctrlPr>
                            <a:rPr lang="en-US" sz="1100" dirty="0"/>
                          </m:ctrlPr>
                        </m:sSubSupPr>
                        <m:e>
                          <m:r>
                            <a:rPr lang="en-US" sz="1100" dirty="0"/>
                            <m:t>∑</m:t>
                          </m:r>
                        </m:e>
                        <m:sub>
                          <m:r>
                            <a:rPr lang="en-US" sz="1100" i="1" dirty="0"/>
                            <m:t>i</m:t>
                          </m:r>
                          <m:r>
                            <a:rPr lang="en-US" sz="1100" dirty="0"/>
                            <m:t>=</m:t>
                          </m:r>
                          <m:r>
                            <a:rPr lang="en-US" sz="1100" dirty="0"/>
                            <m:t>1</m:t>
                          </m:r>
                        </m:sub>
                        <m:sup>
                          <m:r>
                            <a:rPr lang="en-US" sz="1100" i="1" dirty="0"/>
                            <m:t>m</m:t>
                          </m:r>
                        </m:sup>
                      </m:sSubSup>
                      <m:r>
                        <a:rPr lang="en-US" sz="1600" dirty="0"/>
                        <m:t>[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y</m:t>
                          </m:r>
                        </m:e>
                        <m:sup>
                          <m:r>
                            <a:rPr lang="en-US" sz="1100" dirty="0"/>
                            <m:t>(</m:t>
                          </m:r>
                          <m:r>
                            <a:rPr lang="en-US" sz="1100" i="1" dirty="0"/>
                            <m:t>i</m:t>
                          </m:r>
                          <m:r>
                            <a:rPr lang="en-US" sz="1100" dirty="0"/>
                            <m:t>)</m:t>
                          </m:r>
                        </m:sup>
                      </m:sSup>
                      <m:r>
                        <a:rPr lang="en-US" sz="1600" i="1" dirty="0"/>
                        <m:t>log</m:t>
                      </m:r>
                      <m:r>
                        <a:rPr lang="en-US" sz="1600" dirty="0"/>
                        <m:t>⁡</m:t>
                      </m:r>
                      <m:r>
                        <a:rPr lang="en-US" sz="1600" dirty="0"/>
                        <m:t>(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limUpp>
                            <m:limUppPr>
                              <m:ctrlPr>
                                <a:rPr lang="en-US" sz="1100" dirty="0"/>
                              </m:ctrlPr>
                            </m:limUppPr>
                            <m:e>
                              <m:r>
                                <a:rPr lang="en-US" sz="1100" i="1" dirty="0"/>
                                <m:t>y</m:t>
                              </m:r>
                            </m:e>
                            <m:lim>
                              <m:r>
                                <a:rPr lang="en-US" sz="1100" dirty="0"/>
                                <m:t>^</m:t>
                              </m:r>
                            </m:lim>
                          </m:limUpp>
                        </m:e>
                        <m:sup>
                          <m:r>
                            <a:rPr lang="en-US" sz="1100" dirty="0"/>
                            <m:t>(</m:t>
                          </m:r>
                          <m:r>
                            <a:rPr lang="en-US" sz="1100" i="1" dirty="0"/>
                            <m:t>i</m:t>
                          </m:r>
                          <m:r>
                            <a:rPr lang="en-US" sz="1100" dirty="0"/>
                            <m:t>)</m:t>
                          </m:r>
                        </m:sup>
                      </m:sSup>
                      <m:r>
                        <a:rPr lang="en-US" sz="1600" dirty="0"/>
                        <m:t>)</m:t>
                      </m:r>
                      <m:r>
                        <a:rPr lang="en-US" sz="1600" dirty="0"/>
                        <m:t>+</m:t>
                      </m:r>
                      <m:r>
                        <a:rPr lang="en-US" sz="1600" dirty="0"/>
                        <m:t>(</m:t>
                      </m:r>
                      <m:r>
                        <a:rPr lang="en-US" sz="1600" dirty="0"/>
                        <m:t>1</m:t>
                      </m:r>
                      <m:r>
                        <a:rPr lang="en-US" sz="1600" dirty="0"/>
                        <m:t>−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i="1" dirty="0"/>
                            <m:t>y</m:t>
                          </m:r>
                        </m:e>
                        <m:sup>
                          <m:r>
                            <a:rPr lang="en-US" sz="1100" dirty="0"/>
                            <m:t>(</m:t>
                          </m:r>
                          <m:r>
                            <a:rPr lang="en-US" sz="1100" i="1" dirty="0"/>
                            <m:t>i</m:t>
                          </m:r>
                          <m:r>
                            <a:rPr lang="en-US" sz="1100" dirty="0"/>
                            <m:t>)</m:t>
                          </m:r>
                        </m:sup>
                      </m:sSup>
                      <m:r>
                        <a:rPr lang="en-US" sz="1600" dirty="0"/>
                        <m:t>)</m:t>
                      </m:r>
                      <m:r>
                        <a:rPr lang="en-US" sz="1600" i="1" dirty="0"/>
                        <m:t>log</m:t>
                      </m:r>
                      <m:r>
                        <a:rPr lang="en-US" sz="1600" dirty="0"/>
                        <m:t>⁡</m:t>
                      </m:r>
                      <m:r>
                        <a:rPr lang="en-US" sz="1600" dirty="0"/>
                        <m:t>(</m:t>
                      </m:r>
                      <m:r>
                        <a:rPr lang="en-US" sz="1600" dirty="0"/>
                        <m:t>1</m:t>
                      </m:r>
                      <m:r>
                        <a:rPr lang="en-US" sz="1600" dirty="0"/>
                        <m:t>−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limUpp>
                            <m:limUppPr>
                              <m:ctrlPr>
                                <a:rPr lang="en-US" sz="1100" dirty="0"/>
                              </m:ctrlPr>
                            </m:limUppPr>
                            <m:e>
                              <m:r>
                                <a:rPr lang="en-US" sz="1100" i="1" dirty="0"/>
                                <m:t>y</m:t>
                              </m:r>
                            </m:e>
                            <m:lim>
                              <m:r>
                                <a:rPr lang="en-US" sz="1100" dirty="0"/>
                                <m:t>^</m:t>
                              </m:r>
                            </m:lim>
                          </m:limUpp>
                        </m:e>
                        <m:sup>
                          <m:r>
                            <a:rPr lang="en-US" sz="1100" dirty="0"/>
                            <m:t>(</m:t>
                          </m:r>
                          <m:r>
                            <a:rPr lang="en-US" sz="1100" i="1" dirty="0"/>
                            <m:t>i</m:t>
                          </m:r>
                          <m:r>
                            <a:rPr lang="en-US" sz="1100" dirty="0"/>
                            <m:t>)</m:t>
                          </m:r>
                        </m:sup>
                      </m:sSup>
                      <m:r>
                        <a:rPr lang="en-US" sz="1600" dirty="0"/>
                        <m:t>)</m:t>
                      </m:r>
                      <m:r>
                        <a:rPr lang="en-US" sz="1600" dirty="0"/>
                        <m:t>]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 9"/>
              <p:cNvSpPr/>
              <p:nvPr/>
            </p:nvSpPr>
            <p:spPr>
              <a:xfrm>
                <a:off x="1016000" y="3048000"/>
                <a:ext cx="6604000" cy="609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40000"/>
                  </a:lnSpc>
                </a:pPr>
                <a:r>
                  <a:rPr lang="en-US" sz="1600" dirty="0">
                    <a:solidFill>
                      <a:srgbClr val="1E2328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J(\beta) = -\frac{1}{m} \sum_{i=1}^{m} [y^{(i)} \log(\hat{y}^{(i)}) + (1-y^{(i)}) \log(1-\hat{y}^{(i)})] )</a:t>
                </a:r>
                <a:endParaRPr lang="en-US" sz="1600" dirty="0"/>
              </a:p>
            </p:txBody>
          </p:sp>
        </mc:Fallback>
      </mc:AlternateContent>
      <p:sp>
        <p:nvSpPr>
          <p:cNvPr id="12" name="Text 10"/>
          <p:cNvSpPr/>
          <p:nvPr/>
        </p:nvSpPr>
        <p:spPr>
          <a:xfrm>
            <a:off x="762000" y="4013200"/>
            <a:ext cx="7112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Properties of Log Loss: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Convex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guarantees global minimum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Heavily penalizes confident wrong predictions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fit for probabilistic outputs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715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Gradient Descent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172200"/>
            <a:ext cx="7112000" cy="635000"/>
          </a:xfrm>
          <a:prstGeom prst="rect">
            <a:avLst/>
          </a:prstGeom>
          <a:solidFill>
            <a:srgbClr val="E8E4DE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/>
              <p:nvPr/>
            </p:nvSpPr>
            <p:spPr>
              <a:xfrm>
                <a:off x="965200" y="6248400"/>
                <a:ext cx="67056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β</m:t>
                          </m:r>
                        </m:e>
                        <m:sub>
                          <m:r>
                            <a:rPr lang="en-US" sz="1100" i="1" dirty="0"/>
                            <m:t>j</m:t>
                          </m:r>
                        </m:sub>
                      </m:sSub>
                      <m:r>
                        <a:rPr lang="en-US" sz="1600" dirty="0"/>
                        <m:t>:</m:t>
                      </m:r>
                      <m:r>
                        <a:rPr lang="en-US" sz="1600" dirty="0"/>
                        <m:t>=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β</m:t>
                          </m:r>
                        </m:e>
                        <m:sub>
                          <m:r>
                            <a:rPr lang="en-US" sz="1100" i="1" dirty="0"/>
                            <m:t>j</m:t>
                          </m:r>
                        </m:sub>
                      </m:sSub>
                      <m:r>
                        <a:rPr lang="en-US" sz="1600" dirty="0"/>
                        <m:t>−</m:t>
                      </m:r>
                      <m:r>
                        <a:rPr lang="en-US" sz="1600" i="1" dirty="0"/>
                        <m:t>α</m:t>
                      </m:r>
                      <m:r>
                        <a:rPr lang="en-US" sz="1600" dirty="0"/>
                        <m:t>⋅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100" dirty="0"/>
                            <m:t>∂</m:t>
                          </m:r>
                          <m:r>
                            <a:rPr lang="en-US" sz="1100" i="1" dirty="0"/>
                            <m:t>J</m:t>
                          </m:r>
                        </m:num>
                        <m:den>
                          <m:r>
                            <a:rPr lang="en-US" sz="1100" dirty="0"/>
                            <m:t>∂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β</m:t>
                              </m:r>
                            </m:e>
                            <m:sub>
                              <m:r>
                                <a:rPr lang="en-US" sz="800" i="1" dirty="0"/>
                                <m:t>j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Text 13"/>
              <p:cNvSpPr/>
              <p:nvPr/>
            </p:nvSpPr>
            <p:spPr>
              <a:xfrm>
                <a:off x="965200" y="6248400"/>
                <a:ext cx="67056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1E2328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\beta_j := \beta_j - \alpha \cdot \frac{\partial J}{\partial \beta_j} )</a:t>
                </a:r>
                <a:endParaRPr lang="en-US" sz="1600" dirty="0"/>
              </a:p>
            </p:txBody>
          </p:sp>
        </mc:Fallback>
      </mc:AlternateContent>
      <p:sp>
        <p:nvSpPr>
          <p:cNvPr id="16" name="Text 14"/>
          <p:cNvSpPr/>
          <p:nvPr/>
        </p:nvSpPr>
        <p:spPr>
          <a:xfrm>
            <a:off x="762000" y="71120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α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learning rate. Iteratively updates coefficients to minimize cost.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1270000"/>
            <a:ext cx="7112000" cy="685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8763000" y="1524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HYPERPARAMETERS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63000" y="2082800"/>
            <a:ext cx="6350000" cy="12192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017000" y="2209800"/>
            <a:ext cx="584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Rate (α)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17000" y="2565400"/>
            <a:ext cx="584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size for gradient descent. Too large: divergence. Too small: slow convergence.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763000" y="3429000"/>
            <a:ext cx="6350000" cy="1143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017000" y="3556000"/>
            <a:ext cx="584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Number of Iterations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17000" y="3911600"/>
            <a:ext cx="584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training epochs. Early stopping can prevent overfitting.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763000" y="4775200"/>
            <a:ext cx="6350000" cy="12192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017000" y="4902200"/>
            <a:ext cx="584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Regularization (L1 / L2)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17000" y="5257800"/>
            <a:ext cx="584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Penalty term to prevent overfitting. L1 = feature selection, L2 = weight decay.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63000" y="6121400"/>
            <a:ext cx="6350000" cy="12192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017000" y="6248400"/>
            <a:ext cx="584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Threshold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17000" y="6604000"/>
            <a:ext cx="584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0.5 for binary classification. Can be tuned for precision-recall tradeoff.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63000" y="7493000"/>
            <a:ext cx="635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Regularization strength (λ) controls the bias-variance tradeoff.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| LOGISTIC REGRESSION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 Regression: Practical Example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14732000" cy="7112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270000"/>
            <a:ext cx="50800" cy="7112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3716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Predicting university admission based on two exam scores (0-100 scale)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235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Dataset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5908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applicant data with features: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 1 Score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 2 Score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label: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Admitted (0 or 1)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530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Training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886200"/>
            <a:ext cx="711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Fit logistic regression model to learn the decision boundary separating admitted vs. rejected.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6228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Prediction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9784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a new applicant with scores (75, 80):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P(admitted)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σ(β₀ + β₁·75 + β₂·80)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6172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Decision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5278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P ≥ 0.5 →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Admitted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P &lt; 0.5 →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Admitted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2235200"/>
            <a:ext cx="7112000" cy="5969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8763000" y="24892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OUTPUT INTERPRETATION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63000" y="3048000"/>
            <a:ext cx="6350000" cy="101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017000" y="31750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Coefficients (β)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indicate feature importance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Larger |β| = greater influence on probability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63000" y="4267200"/>
            <a:ext cx="6350000" cy="101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017000" y="43942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 β: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higher feature value → higher P(y=1)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β: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higher feature value → lower P(y=1)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763000" y="5486400"/>
            <a:ext cx="6350000" cy="101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017000" y="56134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Metrics: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Accuracy, Precision, Recall, F1-Score, AUC-ROC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763000" y="6705600"/>
            <a:ext cx="6350000" cy="1397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26" name="Text 24"/>
          <p:cNvSpPr/>
          <p:nvPr/>
        </p:nvSpPr>
        <p:spPr>
          <a:xfrm>
            <a:off x="9017000" y="6858000"/>
            <a:ext cx="584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Logistic Regression here?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Simple, fast, interpretable — ideal baseline classifier for admission prediction.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kkehbkbfdg72/mnt/agents/output/ml-week6/images/3_Abstract_Big_Data_Visualization_Visual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4C5C">
                  <a:alpha val="94000"/>
                </a:srgbClr>
              </a:gs>
              <a:gs pos="50000">
                <a:srgbClr val="0F4C5C">
                  <a:alpha val="82000"/>
                </a:srgbClr>
              </a:gs>
              <a:gs pos="100000">
                <a:srgbClr val="0F4C5C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spc="200" kern="0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40640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318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Discovering hidden patterns in unlabeled data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| UNSUPERVISED LEARNING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Unsupervised Learning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8382000" cy="1270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270000"/>
            <a:ext cx="50800" cy="1270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371600"/>
            <a:ext cx="7874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Unsupervised learning analyzes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unlabeled data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identify patterns, structures, or relationships without predefined targets. No "correct answers" are provided during training.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66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098800"/>
            <a:ext cx="838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a child sorting books without labels — grouping by genre based on similarities (size, pictures, text style). The algorithm must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 structure independently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318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Applications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3900" y="48260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3" name="Text 11"/>
          <p:cNvSpPr/>
          <p:nvPr/>
        </p:nvSpPr>
        <p:spPr>
          <a:xfrm>
            <a:off x="1219200" y="47752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segmentation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targeted marketing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537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5" name="Text 13"/>
          <p:cNvSpPr/>
          <p:nvPr/>
        </p:nvSpPr>
        <p:spPr>
          <a:xfrm>
            <a:off x="1219200" y="54864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Anomaly detection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fraud, cybersecurity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248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61912" y="128588"/>
                </a:moveTo>
                <a:lnTo>
                  <a:pt x="61912" y="166688"/>
                </a:lnTo>
                <a:cubicBezTo>
                  <a:pt x="61912" y="174605"/>
                  <a:pt x="68282" y="180975"/>
                  <a:pt x="76200" y="180975"/>
                </a:cubicBezTo>
                <a:cubicBezTo>
                  <a:pt x="84118" y="180975"/>
                  <a:pt x="90488" y="174605"/>
                  <a:pt x="90488" y="166688"/>
                </a:cubicBezTo>
                <a:lnTo>
                  <a:pt x="90488" y="128588"/>
                </a:lnTo>
                <a:cubicBezTo>
                  <a:pt x="90488" y="120670"/>
                  <a:pt x="84118" y="114300"/>
                  <a:pt x="76200" y="114300"/>
                </a:cubicBezTo>
                <a:cubicBezTo>
                  <a:pt x="68282" y="114300"/>
                  <a:pt x="61912" y="120670"/>
                  <a:pt x="61912" y="128588"/>
                </a:cubicBezTo>
                <a:close/>
                <a:moveTo>
                  <a:pt x="109537" y="71438"/>
                </a:moveTo>
                <a:lnTo>
                  <a:pt x="109537" y="166688"/>
                </a:lnTo>
                <a:cubicBezTo>
                  <a:pt x="109537" y="174605"/>
                  <a:pt x="115907" y="180975"/>
                  <a:pt x="123825" y="180975"/>
                </a:cubicBezTo>
                <a:cubicBezTo>
                  <a:pt x="131743" y="180975"/>
                  <a:pt x="138113" y="174605"/>
                  <a:pt x="138113" y="166688"/>
                </a:cubicBezTo>
                <a:lnTo>
                  <a:pt x="138113" y="71438"/>
                </a:lnTo>
                <a:cubicBezTo>
                  <a:pt x="138113" y="63520"/>
                  <a:pt x="131743" y="57150"/>
                  <a:pt x="123825" y="57150"/>
                </a:cubicBezTo>
                <a:cubicBezTo>
                  <a:pt x="115907" y="57150"/>
                  <a:pt x="109537" y="63520"/>
                  <a:pt x="109537" y="71438"/>
                </a:cubicBezTo>
                <a:close/>
                <a:moveTo>
                  <a:pt x="157163" y="109537"/>
                </a:moveTo>
                <a:lnTo>
                  <a:pt x="157163" y="166688"/>
                </a:lnTo>
                <a:cubicBezTo>
                  <a:pt x="157163" y="174605"/>
                  <a:pt x="163532" y="180975"/>
                  <a:pt x="171450" y="180975"/>
                </a:cubicBezTo>
                <a:cubicBezTo>
                  <a:pt x="179368" y="180975"/>
                  <a:pt x="185738" y="174605"/>
                  <a:pt x="185738" y="166688"/>
                </a:cubicBezTo>
                <a:lnTo>
                  <a:pt x="185738" y="109537"/>
                </a:lnTo>
                <a:cubicBezTo>
                  <a:pt x="185738" y="101620"/>
                  <a:pt x="179368" y="95250"/>
                  <a:pt x="171450" y="95250"/>
                </a:cubicBezTo>
                <a:cubicBezTo>
                  <a:pt x="163532" y="95250"/>
                  <a:pt x="157163" y="101620"/>
                  <a:pt x="157163" y="109537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7" name="Text 15"/>
          <p:cNvSpPr/>
          <p:nvPr/>
        </p:nvSpPr>
        <p:spPr>
          <a:xfrm>
            <a:off x="1219200" y="61976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Exploratory data analysis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pattern discovery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81050" y="6959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76200" y="66675"/>
                </a:moveTo>
                <a:cubicBezTo>
                  <a:pt x="91971" y="66675"/>
                  <a:pt x="104775" y="79479"/>
                  <a:pt x="104775" y="95250"/>
                </a:cubicBezTo>
                <a:cubicBezTo>
                  <a:pt x="104775" y="111021"/>
                  <a:pt x="91971" y="123825"/>
                  <a:pt x="76200" y="123825"/>
                </a:cubicBezTo>
                <a:cubicBezTo>
                  <a:pt x="60429" y="123825"/>
                  <a:pt x="47625" y="111021"/>
                  <a:pt x="47625" y="95250"/>
                </a:cubicBezTo>
                <a:cubicBezTo>
                  <a:pt x="47625" y="79479"/>
                  <a:pt x="60429" y="66675"/>
                  <a:pt x="76200" y="66675"/>
                </a:cubicBezTo>
                <a:close/>
                <a:moveTo>
                  <a:pt x="161925" y="133350"/>
                </a:moveTo>
                <a:cubicBezTo>
                  <a:pt x="166926" y="133350"/>
                  <a:pt x="171510" y="135969"/>
                  <a:pt x="174129" y="140196"/>
                </a:cubicBezTo>
                <a:lnTo>
                  <a:pt x="226516" y="225921"/>
                </a:lnTo>
                <a:cubicBezTo>
                  <a:pt x="229195" y="230326"/>
                  <a:pt x="229314" y="235863"/>
                  <a:pt x="226814" y="240387"/>
                </a:cubicBezTo>
                <a:cubicBezTo>
                  <a:pt x="224314" y="244912"/>
                  <a:pt x="219492" y="247650"/>
                  <a:pt x="214313" y="247650"/>
                </a:cubicBezTo>
                <a:lnTo>
                  <a:pt x="52388" y="247650"/>
                </a:lnTo>
                <a:cubicBezTo>
                  <a:pt x="47089" y="247650"/>
                  <a:pt x="42148" y="244673"/>
                  <a:pt x="39707" y="239970"/>
                </a:cubicBezTo>
                <a:cubicBezTo>
                  <a:pt x="37267" y="235268"/>
                  <a:pt x="37624" y="229553"/>
                  <a:pt x="40660" y="225207"/>
                </a:cubicBezTo>
                <a:lnTo>
                  <a:pt x="73997" y="177582"/>
                </a:lnTo>
                <a:cubicBezTo>
                  <a:pt x="76676" y="173772"/>
                  <a:pt x="81022" y="171510"/>
                  <a:pt x="85725" y="171510"/>
                </a:cubicBezTo>
                <a:cubicBezTo>
                  <a:pt x="90428" y="171510"/>
                  <a:pt x="94774" y="173772"/>
                  <a:pt x="97453" y="177582"/>
                </a:cubicBezTo>
                <a:lnTo>
                  <a:pt x="113169" y="200085"/>
                </a:lnTo>
                <a:lnTo>
                  <a:pt x="149721" y="140256"/>
                </a:lnTo>
                <a:cubicBezTo>
                  <a:pt x="152340" y="136029"/>
                  <a:pt x="156924" y="133410"/>
                  <a:pt x="161925" y="133410"/>
                </a:cubicBez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9" name="Text 17"/>
          <p:cNvSpPr/>
          <p:nvPr/>
        </p:nvSpPr>
        <p:spPr>
          <a:xfrm>
            <a:off x="1219200" y="6908800"/>
            <a:ext cx="355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compression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reduce color palette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52000" y="1270000"/>
            <a:ext cx="5842000" cy="7112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3000" y="1524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UNSUPERVISED?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33000" y="20828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Labeling data is expensive and time-consuming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33000" y="32258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 may not know what patterns exist beforehand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33000" y="43688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Useful for preprocessing and feature learning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33000" y="55118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Scales naturally with data volume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033000" y="6731000"/>
            <a:ext cx="5080000" cy="1397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287000" y="6883400"/>
            <a:ext cx="45720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i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"Unsupervised learning is especially valuable early in ML projects, when teams may not yet know what questions to ask."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| UNSUPERVISED LEARNING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Unsupervised Learning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20800"/>
            <a:ext cx="4699000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320800"/>
            <a:ext cx="4699000" cy="635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Shape 6"/>
          <p:cNvSpPr/>
          <p:nvPr/>
        </p:nvSpPr>
        <p:spPr>
          <a:xfrm>
            <a:off x="10668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2105" y="125333"/>
                </a:moveTo>
                <a:cubicBezTo>
                  <a:pt x="360124" y="118745"/>
                  <a:pt x="381000" y="93583"/>
                  <a:pt x="381000" y="63500"/>
                </a:cubicBezTo>
                <a:cubicBezTo>
                  <a:pt x="381000" y="28416"/>
                  <a:pt x="352584" y="0"/>
                  <a:pt x="317500" y="0"/>
                </a:cubicBezTo>
                <a:cubicBezTo>
                  <a:pt x="283051" y="0"/>
                  <a:pt x="255032" y="27384"/>
                  <a:pt x="254000" y="61516"/>
                </a:cubicBezTo>
                <a:lnTo>
                  <a:pt x="108109" y="119936"/>
                </a:lnTo>
                <a:cubicBezTo>
                  <a:pt x="96599" y="108585"/>
                  <a:pt x="80883" y="101600"/>
                  <a:pt x="63500" y="101600"/>
                </a:cubicBezTo>
                <a:cubicBezTo>
                  <a:pt x="28416" y="101600"/>
                  <a:pt x="0" y="130016"/>
                  <a:pt x="0" y="165100"/>
                </a:cubicBezTo>
                <a:cubicBezTo>
                  <a:pt x="0" y="200184"/>
                  <a:pt x="28416" y="228600"/>
                  <a:pt x="63500" y="228600"/>
                </a:cubicBezTo>
                <a:cubicBezTo>
                  <a:pt x="73184" y="228600"/>
                  <a:pt x="82391" y="226457"/>
                  <a:pt x="90567" y="222567"/>
                </a:cubicBezTo>
                <a:lnTo>
                  <a:pt x="206137" y="323691"/>
                </a:lnTo>
                <a:cubicBezTo>
                  <a:pt x="204232" y="329724"/>
                  <a:pt x="203200" y="336233"/>
                  <a:pt x="203200" y="342900"/>
                </a:cubicBezTo>
                <a:cubicBezTo>
                  <a:pt x="203200" y="377984"/>
                  <a:pt x="231616" y="406400"/>
                  <a:pt x="266700" y="406400"/>
                </a:cubicBezTo>
                <a:cubicBezTo>
                  <a:pt x="301784" y="406400"/>
                  <a:pt x="330200" y="377984"/>
                  <a:pt x="330200" y="342900"/>
                </a:cubicBezTo>
                <a:cubicBezTo>
                  <a:pt x="330200" y="320913"/>
                  <a:pt x="319088" y="301546"/>
                  <a:pt x="302101" y="290195"/>
                </a:cubicBezTo>
                <a:lnTo>
                  <a:pt x="332105" y="125333"/>
                </a:lnTo>
                <a:close/>
                <a:moveTo>
                  <a:pt x="124063" y="184309"/>
                </a:moveTo>
                <a:cubicBezTo>
                  <a:pt x="125809" y="178832"/>
                  <a:pt x="126841" y="173038"/>
                  <a:pt x="127000" y="167084"/>
                </a:cubicBezTo>
                <a:lnTo>
                  <a:pt x="272891" y="108744"/>
                </a:lnTo>
                <a:cubicBezTo>
                  <a:pt x="275749" y="111522"/>
                  <a:pt x="278765" y="114062"/>
                  <a:pt x="282099" y="116284"/>
                </a:cubicBezTo>
                <a:lnTo>
                  <a:pt x="252095" y="281067"/>
                </a:lnTo>
                <a:cubicBezTo>
                  <a:pt x="247729" y="282099"/>
                  <a:pt x="243523" y="283528"/>
                  <a:pt x="239554" y="285433"/>
                </a:cubicBezTo>
                <a:lnTo>
                  <a:pt x="124063" y="184309"/>
                </a:lnTo>
                <a:close/>
              </a:path>
            </a:pathLst>
          </a:cu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235200"/>
            <a:ext cx="408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2717800"/>
            <a:ext cx="40894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Grouping similar data points into clusters based on distance or similarity measures.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Maximize intra-cluster similarity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 inter-cluster similarity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5461000"/>
            <a:ext cx="40894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6800" y="5816600"/>
            <a:ext cx="40894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 Clustering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Clustering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DBSCAN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Gaussian Mixture Models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0" y="1320800"/>
            <a:ext cx="4699000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0" y="1320800"/>
            <a:ext cx="4699000" cy="635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15" name="Shape 13"/>
          <p:cNvSpPr/>
          <p:nvPr/>
        </p:nvSpPr>
        <p:spPr>
          <a:xfrm>
            <a:off x="6045200" y="1651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27000" y="50800"/>
                </a:moveTo>
                <a:cubicBezTo>
                  <a:pt x="127000" y="36751"/>
                  <a:pt x="115649" y="25400"/>
                  <a:pt x="101600" y="25400"/>
                </a:cubicBezTo>
                <a:cubicBezTo>
                  <a:pt x="87551" y="25400"/>
                  <a:pt x="76200" y="36751"/>
                  <a:pt x="76200" y="50800"/>
                </a:cubicBezTo>
                <a:lnTo>
                  <a:pt x="76200" y="101600"/>
                </a:lnTo>
                <a:lnTo>
                  <a:pt x="25400" y="101600"/>
                </a:lnTo>
                <a:cubicBezTo>
                  <a:pt x="11351" y="101600"/>
                  <a:pt x="0" y="112951"/>
                  <a:pt x="0" y="127000"/>
                </a:cubicBezTo>
                <a:cubicBezTo>
                  <a:pt x="0" y="141049"/>
                  <a:pt x="11351" y="152400"/>
                  <a:pt x="25400" y="152400"/>
                </a:cubicBezTo>
                <a:lnTo>
                  <a:pt x="101600" y="152400"/>
                </a:lnTo>
                <a:cubicBezTo>
                  <a:pt x="115649" y="152400"/>
                  <a:pt x="127000" y="141049"/>
                  <a:pt x="127000" y="127000"/>
                </a:cubicBezTo>
                <a:lnTo>
                  <a:pt x="127000" y="50800"/>
                </a:lnTo>
                <a:close/>
                <a:moveTo>
                  <a:pt x="25400" y="254000"/>
                </a:moveTo>
                <a:cubicBezTo>
                  <a:pt x="11351" y="254000"/>
                  <a:pt x="0" y="265351"/>
                  <a:pt x="0" y="279400"/>
                </a:cubicBezTo>
                <a:cubicBezTo>
                  <a:pt x="0" y="293449"/>
                  <a:pt x="11351" y="304800"/>
                  <a:pt x="25400" y="304800"/>
                </a:cubicBezTo>
                <a:lnTo>
                  <a:pt x="76200" y="304800"/>
                </a:lnTo>
                <a:lnTo>
                  <a:pt x="76200" y="355600"/>
                </a:lnTo>
                <a:cubicBezTo>
                  <a:pt x="76200" y="369649"/>
                  <a:pt x="87551" y="381000"/>
                  <a:pt x="101600" y="381000"/>
                </a:cubicBezTo>
                <a:cubicBezTo>
                  <a:pt x="115649" y="381000"/>
                  <a:pt x="127000" y="369649"/>
                  <a:pt x="127000" y="355600"/>
                </a:cubicBezTo>
                <a:lnTo>
                  <a:pt x="127000" y="279400"/>
                </a:lnTo>
                <a:cubicBezTo>
                  <a:pt x="127000" y="265351"/>
                  <a:pt x="115649" y="254000"/>
                  <a:pt x="101600" y="254000"/>
                </a:cubicBezTo>
                <a:lnTo>
                  <a:pt x="25400" y="254000"/>
                </a:lnTo>
                <a:close/>
                <a:moveTo>
                  <a:pt x="279400" y="50800"/>
                </a:moveTo>
                <a:cubicBezTo>
                  <a:pt x="279400" y="36751"/>
                  <a:pt x="268049" y="25400"/>
                  <a:pt x="254000" y="25400"/>
                </a:cubicBezTo>
                <a:cubicBezTo>
                  <a:pt x="239951" y="25400"/>
                  <a:pt x="228600" y="36751"/>
                  <a:pt x="228600" y="50800"/>
                </a:cubicBezTo>
                <a:lnTo>
                  <a:pt x="228600" y="127000"/>
                </a:lnTo>
                <a:cubicBezTo>
                  <a:pt x="228600" y="141049"/>
                  <a:pt x="239951" y="152400"/>
                  <a:pt x="254000" y="152400"/>
                </a:cubicBezTo>
                <a:lnTo>
                  <a:pt x="330200" y="152400"/>
                </a:lnTo>
                <a:cubicBezTo>
                  <a:pt x="344249" y="152400"/>
                  <a:pt x="355600" y="141049"/>
                  <a:pt x="355600" y="127000"/>
                </a:cubicBezTo>
                <a:cubicBezTo>
                  <a:pt x="355600" y="112951"/>
                  <a:pt x="344249" y="101600"/>
                  <a:pt x="330200" y="101600"/>
                </a:cubicBezTo>
                <a:lnTo>
                  <a:pt x="279400" y="101600"/>
                </a:lnTo>
                <a:lnTo>
                  <a:pt x="279400" y="50800"/>
                </a:lnTo>
                <a:close/>
                <a:moveTo>
                  <a:pt x="254000" y="254000"/>
                </a:moveTo>
                <a:cubicBezTo>
                  <a:pt x="239951" y="254000"/>
                  <a:pt x="228600" y="265351"/>
                  <a:pt x="228600" y="279400"/>
                </a:cubicBezTo>
                <a:lnTo>
                  <a:pt x="228600" y="355600"/>
                </a:lnTo>
                <a:cubicBezTo>
                  <a:pt x="228600" y="369649"/>
                  <a:pt x="239951" y="381000"/>
                  <a:pt x="254000" y="381000"/>
                </a:cubicBezTo>
                <a:cubicBezTo>
                  <a:pt x="268049" y="381000"/>
                  <a:pt x="279400" y="369649"/>
                  <a:pt x="279400" y="355600"/>
                </a:cubicBezTo>
                <a:lnTo>
                  <a:pt x="279400" y="304800"/>
                </a:lnTo>
                <a:lnTo>
                  <a:pt x="330200" y="304800"/>
                </a:lnTo>
                <a:cubicBezTo>
                  <a:pt x="344249" y="304800"/>
                  <a:pt x="355600" y="293449"/>
                  <a:pt x="355600" y="279400"/>
                </a:cubicBezTo>
                <a:cubicBezTo>
                  <a:pt x="355600" y="265351"/>
                  <a:pt x="344249" y="254000"/>
                  <a:pt x="330200" y="254000"/>
                </a:cubicBezTo>
                <a:lnTo>
                  <a:pt x="254000" y="254000"/>
                </a:lnTo>
                <a:close/>
              </a:path>
            </a:pathLst>
          </a:custGeom>
          <a:solidFill>
            <a:srgbClr val="D4853A"/>
          </a:solidFill>
          <a:ln/>
        </p:spPr>
      </p:sp>
      <p:sp>
        <p:nvSpPr>
          <p:cNvPr id="16" name="Text 14"/>
          <p:cNvSpPr/>
          <p:nvPr/>
        </p:nvSpPr>
        <p:spPr>
          <a:xfrm>
            <a:off x="6019800" y="2235200"/>
            <a:ext cx="4089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Dimensionality Reduction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19800" y="2717800"/>
            <a:ext cx="40894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Reducing the number of features while preserving important information.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Simplify data for visualization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processing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noise/redundancy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19800" y="5461000"/>
            <a:ext cx="40894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19800" y="5816600"/>
            <a:ext cx="40894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PCA (Principal Component Analysis)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t-SNE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Autoencoders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UMAP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668000" y="1320800"/>
            <a:ext cx="4826000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137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668000" y="1320800"/>
            <a:ext cx="4826000" cy="635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47400" y="1651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32978" y="76200"/>
                </a:moveTo>
                <a:cubicBezTo>
                  <a:pt x="319802" y="76200"/>
                  <a:pt x="307023" y="79772"/>
                  <a:pt x="295831" y="86281"/>
                </a:cubicBezTo>
                <a:cubicBezTo>
                  <a:pt x="283289" y="73581"/>
                  <a:pt x="268684" y="62944"/>
                  <a:pt x="252571" y="54928"/>
                </a:cubicBezTo>
                <a:cubicBezTo>
                  <a:pt x="274955" y="35878"/>
                  <a:pt x="303451" y="25400"/>
                  <a:pt x="332978" y="25400"/>
                </a:cubicBezTo>
                <a:cubicBezTo>
                  <a:pt x="401558" y="25400"/>
                  <a:pt x="457200" y="80963"/>
                  <a:pt x="457200" y="149622"/>
                </a:cubicBezTo>
                <a:cubicBezTo>
                  <a:pt x="457200" y="182563"/>
                  <a:pt x="444103" y="214154"/>
                  <a:pt x="420846" y="237411"/>
                </a:cubicBezTo>
                <a:lnTo>
                  <a:pt x="364411" y="293846"/>
                </a:lnTo>
                <a:cubicBezTo>
                  <a:pt x="341154" y="317103"/>
                  <a:pt x="309563" y="330200"/>
                  <a:pt x="276622" y="330200"/>
                </a:cubicBezTo>
                <a:cubicBezTo>
                  <a:pt x="208042" y="330200"/>
                  <a:pt x="152400" y="274638"/>
                  <a:pt x="152400" y="205978"/>
                </a:cubicBezTo>
                <a:cubicBezTo>
                  <a:pt x="152400" y="204788"/>
                  <a:pt x="152400" y="203597"/>
                  <a:pt x="152479" y="202406"/>
                </a:cubicBezTo>
                <a:cubicBezTo>
                  <a:pt x="152876" y="188357"/>
                  <a:pt x="164544" y="177324"/>
                  <a:pt x="178594" y="177721"/>
                </a:cubicBezTo>
                <a:cubicBezTo>
                  <a:pt x="192643" y="178118"/>
                  <a:pt x="203676" y="189786"/>
                  <a:pt x="203279" y="203835"/>
                </a:cubicBezTo>
                <a:cubicBezTo>
                  <a:pt x="203279" y="204549"/>
                  <a:pt x="203279" y="205264"/>
                  <a:pt x="203279" y="205899"/>
                </a:cubicBezTo>
                <a:cubicBezTo>
                  <a:pt x="203279" y="246459"/>
                  <a:pt x="236141" y="279321"/>
                  <a:pt x="276701" y="279321"/>
                </a:cubicBezTo>
                <a:cubicBezTo>
                  <a:pt x="296148" y="279321"/>
                  <a:pt x="314801" y="271621"/>
                  <a:pt x="328613" y="257810"/>
                </a:cubicBezTo>
                <a:lnTo>
                  <a:pt x="385048" y="201374"/>
                </a:lnTo>
                <a:cubicBezTo>
                  <a:pt x="398780" y="187643"/>
                  <a:pt x="406559" y="168910"/>
                  <a:pt x="406559" y="149463"/>
                </a:cubicBezTo>
                <a:cubicBezTo>
                  <a:pt x="406559" y="108903"/>
                  <a:pt x="373698" y="76041"/>
                  <a:pt x="333137" y="76041"/>
                </a:cubicBezTo>
                <a:close/>
                <a:moveTo>
                  <a:pt x="218440" y="137557"/>
                </a:moveTo>
                <a:cubicBezTo>
                  <a:pt x="216932" y="136922"/>
                  <a:pt x="215424" y="136049"/>
                  <a:pt x="214074" y="135096"/>
                </a:cubicBezTo>
                <a:cubicBezTo>
                  <a:pt x="204073" y="129937"/>
                  <a:pt x="192643" y="127000"/>
                  <a:pt x="180658" y="127000"/>
                </a:cubicBezTo>
                <a:cubicBezTo>
                  <a:pt x="161211" y="127000"/>
                  <a:pt x="142558" y="134699"/>
                  <a:pt x="128746" y="148511"/>
                </a:cubicBezTo>
                <a:lnTo>
                  <a:pt x="72311" y="204946"/>
                </a:lnTo>
                <a:cubicBezTo>
                  <a:pt x="58579" y="218678"/>
                  <a:pt x="50800" y="237411"/>
                  <a:pt x="50800" y="256858"/>
                </a:cubicBezTo>
                <a:cubicBezTo>
                  <a:pt x="50800" y="297418"/>
                  <a:pt x="83661" y="330279"/>
                  <a:pt x="124222" y="330279"/>
                </a:cubicBezTo>
                <a:cubicBezTo>
                  <a:pt x="137319" y="330279"/>
                  <a:pt x="150098" y="326787"/>
                  <a:pt x="161290" y="320278"/>
                </a:cubicBezTo>
                <a:cubicBezTo>
                  <a:pt x="173831" y="332978"/>
                  <a:pt x="188436" y="343614"/>
                  <a:pt x="204629" y="351631"/>
                </a:cubicBezTo>
                <a:cubicBezTo>
                  <a:pt x="182245" y="370602"/>
                  <a:pt x="153829" y="381159"/>
                  <a:pt x="124222" y="381159"/>
                </a:cubicBezTo>
                <a:cubicBezTo>
                  <a:pt x="55642" y="381159"/>
                  <a:pt x="0" y="325596"/>
                  <a:pt x="0" y="256937"/>
                </a:cubicBezTo>
                <a:cubicBezTo>
                  <a:pt x="0" y="223996"/>
                  <a:pt x="13097" y="192405"/>
                  <a:pt x="36354" y="169148"/>
                </a:cubicBezTo>
                <a:lnTo>
                  <a:pt x="92789" y="112713"/>
                </a:lnTo>
                <a:cubicBezTo>
                  <a:pt x="116046" y="89456"/>
                  <a:pt x="147638" y="76359"/>
                  <a:pt x="180578" y="76359"/>
                </a:cubicBezTo>
                <a:cubicBezTo>
                  <a:pt x="249317" y="76359"/>
                  <a:pt x="304800" y="132398"/>
                  <a:pt x="304800" y="200898"/>
                </a:cubicBezTo>
                <a:cubicBezTo>
                  <a:pt x="304800" y="201930"/>
                  <a:pt x="304800" y="202962"/>
                  <a:pt x="304800" y="203994"/>
                </a:cubicBezTo>
                <a:cubicBezTo>
                  <a:pt x="304483" y="218043"/>
                  <a:pt x="292814" y="229076"/>
                  <a:pt x="278765" y="228759"/>
                </a:cubicBezTo>
                <a:cubicBezTo>
                  <a:pt x="264716" y="228441"/>
                  <a:pt x="253682" y="216773"/>
                  <a:pt x="254000" y="202724"/>
                </a:cubicBezTo>
                <a:cubicBezTo>
                  <a:pt x="254000" y="202089"/>
                  <a:pt x="254000" y="201533"/>
                  <a:pt x="254000" y="200898"/>
                </a:cubicBezTo>
                <a:cubicBezTo>
                  <a:pt x="254000" y="174149"/>
                  <a:pt x="239713" y="150654"/>
                  <a:pt x="218440" y="137716"/>
                </a:cubicBezTo>
                <a:close/>
              </a:path>
            </a:pathLst>
          </a:custGeom>
          <a:solidFill>
            <a:srgbClr val="6B7B8D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0" y="2235200"/>
            <a:ext cx="4216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 Rules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0" y="2717800"/>
            <a:ext cx="42164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Discovering relationships between variables in large datasets.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"if X then Y" patterns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co-occurring items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0" y="5461000"/>
            <a:ext cx="42164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0" y="5816600"/>
            <a:ext cx="42164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Apriori Algorithm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Eclat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FP-Growth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kkehbkbfdg72/mnt/agents/output/ml-week6/images/7_Clustering_visualization_Steema_Blog.png">    </p:cNvPr>
          <p:cNvPicPr>
            <a:picLocks noChangeAspect="1"/>
          </p:cNvPicPr>
          <p:nvPr/>
        </p:nvPicPr>
        <p:blipFill>
          <a:blip r:embed="rId1"/>
          <a:srcRect l="0" r="0" t="14369" b="1436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4C5C">
                  <a:alpha val="94000"/>
                </a:srgbClr>
              </a:gs>
              <a:gs pos="50000">
                <a:srgbClr val="0F4C5C">
                  <a:alpha val="82000"/>
                </a:srgbClr>
              </a:gs>
              <a:gs pos="100000">
                <a:srgbClr val="0F4C5C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032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spc="200" kern="0" dirty="0">
                <a:solidFill>
                  <a:srgbClr val="FFFFFF">
                    <a:alpha val="8235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4064000"/>
            <a:ext cx="762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318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K-MEANS CLUSTERING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most popular clustering algorithm: principles, process, and practice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| K-MEANS CLUSTERING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K-Means Clustering?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8382000" cy="1016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270000"/>
            <a:ext cx="50800" cy="1016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371600"/>
            <a:ext cx="787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 is an unsupervised clustering algorithm that partitions data into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 groups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based on similarity. "K" represents the number of clusters.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540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Properties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971800"/>
            <a:ext cx="838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Minimizes WCSS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Within-Cluster Sum of Squared distances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581400"/>
            <a:ext cx="838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Intra-cluster similarity: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points in a cluster should be similar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191000"/>
            <a:ext cx="838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Inter-cluster dissimilarity: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different clusters should be distinct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800600"/>
            <a:ext cx="838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Distance metric: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Euclidean distance (default)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588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6019800"/>
            <a:ext cx="838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segmentation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group customers by behavior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compression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reduce color palette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clustering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organize text collections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Anomaly detection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identify outliers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Geographic analysis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location-based grouping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52000" y="1270000"/>
            <a:ext cx="5842000" cy="7112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33000" y="1524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 QUALITY GOALS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33000" y="2082800"/>
            <a:ext cx="5080000" cy="1524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287000" y="22352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Intra-Cluster Similarity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87000" y="26162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points within the same cluster should be as similar as possible to each other.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33000" y="3860800"/>
            <a:ext cx="5080000" cy="1524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287000" y="40132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Inter-Cluster Similarity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87000" y="43942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points in different clusters should be as dissimilar as possible from each other.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33000" y="5715000"/>
            <a:ext cx="5080000" cy="1016000"/>
          </a:xfrm>
          <a:prstGeom prst="rect">
            <a:avLst/>
          </a:prstGeom>
          <a:solidFill>
            <a:srgbClr val="FFFFFF">
              <a:alpha val="6275"/>
            </a:srgbClr>
          </a:solidFill>
          <a:ln w="12700">
            <a:solidFill>
              <a:srgbClr val="D485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87000" y="5867400"/>
            <a:ext cx="457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 FUNCTION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24"/>
              <p:cNvSpPr/>
              <p:nvPr/>
            </p:nvSpPr>
            <p:spPr>
              <a:xfrm>
                <a:off x="10287000" y="6223000"/>
                <a:ext cx="4572000" cy="38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/>
                        <m:t>W</m:t>
                      </m:r>
                      <m:r>
                        <a:rPr lang="en-US" sz="1600" i="1" dirty="0"/>
                        <m:t>C</m:t>
                      </m:r>
                      <m:r>
                        <a:rPr lang="en-US" sz="1600" i="1" dirty="0"/>
                        <m:t>S</m:t>
                      </m:r>
                      <m:r>
                        <a:rPr lang="en-US" sz="1600" i="1" dirty="0"/>
                        <m:t>S</m:t>
                      </m:r>
                      <m:r>
                        <a:rPr lang="en-US" sz="1600" dirty="0"/>
                        <m:t>=</m:t>
                      </m:r>
                      <m:sSubSup>
                        <m:sSubSupPr>
                          <m:ctrlPr>
                            <a:rPr lang="en-US" sz="1100" dirty="0"/>
                          </m:ctrlPr>
                        </m:sSubSupPr>
                        <m:e>
                          <m:r>
                            <a:rPr lang="en-US" sz="1100" dirty="0"/>
                            <m:t>∑</m:t>
                          </m:r>
                        </m:e>
                        <m:sub>
                          <m:r>
                            <a:rPr lang="en-US" sz="1100" i="1" dirty="0"/>
                            <m:t>i</m:t>
                          </m:r>
                          <m:r>
                            <a:rPr lang="en-US" sz="1100" dirty="0"/>
                            <m:t>=</m:t>
                          </m:r>
                          <m:r>
                            <a:rPr lang="en-US" sz="1100" dirty="0"/>
                            <m:t>1</m:t>
                          </m:r>
                        </m:sub>
                        <m:sup>
                          <m:r>
                            <a:rPr lang="en-US" sz="1100" i="1" dirty="0"/>
                            <m:t>K</m:t>
                          </m:r>
                        </m:sup>
                      </m:sSubSup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dirty="0"/>
                            <m:t>∑</m:t>
                          </m:r>
                        </m:e>
                        <m:sub>
                          <m:r>
                            <a:rPr lang="en-US" sz="1100" i="1" dirty="0"/>
                            <m:t>x</m:t>
                          </m:r>
                          <m:r>
                            <a:rPr lang="en-US" sz="1100" dirty="0"/>
                            <m:t>∈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/>
                                <m:t>C</m:t>
                              </m:r>
                            </m:e>
                            <m:sub>
                              <m:r>
                                <a:rPr lang="en-US" sz="800" i="1" dirty="0"/>
                                <m:t>i</m:t>
                              </m:r>
                            </m:sub>
                          </m:sSub>
                        </m:sub>
                      </m:sSub>
                      <m:r>
                        <a:rPr lang="en-US" sz="1600" dirty="0"/>
                        <m:t>∣</m:t>
                      </m:r>
                      <m:r>
                        <a:rPr lang="en-US" sz="1600" dirty="0"/>
                        <m:t>∣</m:t>
                      </m:r>
                      <m:r>
                        <a:rPr lang="en-US" sz="1600" i="1" dirty="0"/>
                        <m:t>x</m:t>
                      </m:r>
                      <m:r>
                        <a:rPr lang="en-US" sz="1600" dirty="0"/>
                        <m:t>−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/>
                            <m:t>μ</m:t>
                          </m:r>
                        </m:e>
                        <m:sub>
                          <m:r>
                            <a:rPr lang="en-US" sz="1100" i="1" dirty="0"/>
                            <m:t>i</m:t>
                          </m:r>
                        </m:sub>
                      </m:sSub>
                      <m:r>
                        <a:rPr lang="en-US" sz="1600" dirty="0"/>
                        <m:t>∣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dirty="0"/>
                            <m:t>∣</m:t>
                          </m:r>
                        </m:e>
                        <m:sup>
                          <m:r>
                            <a:rPr lang="en-US" sz="1100" dirty="0"/>
                            <m:t>2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 24"/>
              <p:cNvSpPr/>
              <p:nvPr/>
            </p:nvSpPr>
            <p:spPr>
              <a:xfrm>
                <a:off x="10287000" y="6223000"/>
                <a:ext cx="4572000" cy="38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WCSS = \sum_{i=1}^{K} \sum_{x \in C_i} ||x - \mu_i||^2 )</a:t>
                </a:r>
                <a:endParaRPr lang="en-US" sz="1600" dirty="0"/>
              </a:p>
            </p:txBody>
          </p:sp>
        </mc:Fallback>
      </mc:AlternateContent>
      <p:sp>
        <p:nvSpPr>
          <p:cNvPr id="27" name="Text 25"/>
          <p:cNvSpPr/>
          <p:nvPr/>
        </p:nvSpPr>
        <p:spPr>
          <a:xfrm>
            <a:off x="10033000" y="7239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μᵢ is the centroid of cluster Cᵢ. K-Means minimizes this objective.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| K-MEANS CLUSTERING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K-Means Algorithm: Step by Step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397000"/>
            <a:ext cx="635000" cy="635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397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54200" y="1422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54200" y="1803400"/>
            <a:ext cx="558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Randomly select K data points as initial centroids (cluster centers).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33500" y="2032000"/>
            <a:ext cx="0" cy="38100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1016000" y="2540000"/>
            <a:ext cx="635000" cy="635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2540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54200" y="2565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Assignment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54200" y="2946400"/>
            <a:ext cx="558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 each data point to the nearest centroid using Euclidean distance.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33500" y="3175000"/>
            <a:ext cx="0" cy="38100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016000" y="3683000"/>
            <a:ext cx="635000" cy="635000"/>
          </a:xfrm>
          <a:prstGeom prst="ellipse">
            <a:avLst/>
          </a:prstGeom>
          <a:solidFill>
            <a:srgbClr val="D485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3683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54200" y="3708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54200" y="4089400"/>
            <a:ext cx="558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Recalculate each centroid as the mean of all points in that cluster.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33500" y="4318000"/>
            <a:ext cx="0" cy="38100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016000" y="4826000"/>
            <a:ext cx="635000" cy="635000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48260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54200" y="4851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Repeat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54200" y="5232400"/>
            <a:ext cx="558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Iterate Steps 2-3 until centroids stabilize (convergence) or max iterations reached.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60960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Convergence guarantee: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algorithm always converges, though possibly to a local optimum, not necessarily the global optimum.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68580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Complexity: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O(n × K × I × d) where n = data points, K = clusters, I = iterations, d = dimensions.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82000" y="1270000"/>
            <a:ext cx="7112000" cy="6858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8" name="Text 26"/>
          <p:cNvSpPr/>
          <p:nvPr/>
        </p:nvSpPr>
        <p:spPr>
          <a:xfrm>
            <a:off x="8763000" y="1524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 VISUALIZATION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890000" y="2159000"/>
            <a:ext cx="6096000" cy="101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093200" y="2260600"/>
            <a:ext cx="568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Randomly place K centroids (red stars) in the data space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938000" y="3175000"/>
            <a:ext cx="0" cy="25400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8890000" y="3530600"/>
            <a:ext cx="6096000" cy="101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093200" y="3632200"/>
            <a:ext cx="568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Assign each point to its nearest centroid — clusters form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938000" y="4546600"/>
            <a:ext cx="0" cy="25400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8890000" y="4902200"/>
            <a:ext cx="6096000" cy="101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093200" y="5003800"/>
            <a:ext cx="568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Move each centroid to the mean of its assigned points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938000" y="5918200"/>
            <a:ext cx="0" cy="254000"/>
          </a:xfrm>
          <a:prstGeom prst="straightConnector1">
            <a:avLst/>
          </a:prstGeom>
          <a:noFill/>
          <a:ln w="25400">
            <a:solidFill>
              <a:srgbClr val="D4853A"/>
            </a:solidFill>
            <a:prstDash val="solid"/>
            <a:headEnd type="none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8890000" y="6273800"/>
            <a:ext cx="6096000" cy="1016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093200" y="6375400"/>
            <a:ext cx="56896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Repeat until centroids no longer move significantly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890000" y="7620000"/>
            <a:ext cx="6096000" cy="3556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41" name="Text 39"/>
          <p:cNvSpPr/>
          <p:nvPr/>
        </p:nvSpPr>
        <p:spPr>
          <a:xfrm>
            <a:off x="8890000" y="7620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CLUSTERS REPRESENT NATURAL GROUPINGS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| K-MEANS CLUSTERING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K-Means: A Worked Example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8 data points, K = 2 clusters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1854200"/>
            <a:ext cx="4699000" cy="304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65200" y="1981200"/>
            <a:ext cx="4292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Iteration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5200" y="2362200"/>
            <a:ext cx="42926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Initialize: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Random centroids C1, C2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point to nearest centroid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Two clusters form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Recalculate centroids as mean of assigned points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Centroids move to new positions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854200"/>
            <a:ext cx="4699000" cy="304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918200" y="1981200"/>
            <a:ext cx="4292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Iteration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18200" y="2362200"/>
            <a:ext cx="42926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Reassign: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Points redistributed based on updated centroids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Some points may switch clusters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Centroids recalculated again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Positions refined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854200"/>
            <a:ext cx="4826000" cy="304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871200" y="1981200"/>
            <a:ext cx="44196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Convergence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871200" y="2362200"/>
            <a:ext cx="441960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points change clusters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Centroids stabilize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 stops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clusters represent natural groupings in the data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207000"/>
            <a:ext cx="14732000" cy="1016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5207000"/>
            <a:ext cx="50800" cy="1016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5308600"/>
            <a:ext cx="1422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initial centroid selection significantly impacts the final result. Different random starts may produce different clusters. This is why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K-Means++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initialization is recommended — it spreads initial centroids apart for better results.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47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K-Means++ Improvement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69088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K-Means++ optimizes initialization: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First centroid chosen uniformly at random from data points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Each subsequent centroid chosen with probability proportional to squared distance from nearest existing centroid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Repeat until K centroids selected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| K-MEANS CLUSTERING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Choosing the Optimal K: The Elbow Method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270000"/>
            <a:ext cx="8382000" cy="1016000"/>
          </a:xfrm>
          <a:prstGeom prst="rect">
            <a:avLst/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270000"/>
            <a:ext cx="50800" cy="1016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371600"/>
            <a:ext cx="787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Elbow Method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graphical technique to determine the optimal number of clusters by identifying where adding more clusters provides diminishing returns.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540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Procedure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971800"/>
            <a:ext cx="838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 K-Means for K = 1, 2, 3, ..., 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479800"/>
            <a:ext cx="838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Compute WCSS (Within-Cluster Sum of Squares) for each 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987800"/>
            <a:ext cx="838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Plot WCSS vs. 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495800"/>
            <a:ext cx="838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Identify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"elbow"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where WCSS reduction sharply slows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33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5765800"/>
            <a:ext cx="8382000" cy="180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the elbow: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Adding clusters significantly reduces WCSS → meaningful improvement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the elbow: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Diminishing returns → over-segmentation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 few clusters: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Under-segmentation, missed patterns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 many clusters: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Over-segmentation, less interpretable</a:t>
            </a:r>
            <a:endParaRPr lang="en-US" sz="16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9652000" y="1270000"/>
          <a:ext cx="5842000" cy="635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11176000" y="38100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← ELBOW AT K=3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2000" y="7620000"/>
            <a:ext cx="838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 methods: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Silhouette Score (measures cluster quality), Gap Statistic, and Domain Knowledge can also guide K selection.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| K-MEANS CLUSTERING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K-Means: Challenges &amp; Solutions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270000"/>
          <a:ext cx="14732000" cy="7112000"/>
        </p:xfrm>
        <a:graphic>
          <a:graphicData uri="http://schemas.openxmlformats.org/drawingml/2006/table">
            <a:tbl>
              <a:tblPr/>
              <a:tblGrid>
                <a:gridCol w="736600"/>
                <a:gridCol w="4419600"/>
                <a:gridCol w="5156200"/>
                <a:gridCol w="44196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&lt;p&gt;&lt;span&gt;&lt;/span&gt;&lt;/p&gt;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Challenge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Solution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1308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85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Random Initialization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Random centroids may lead to poor local optima and inconsistent results across runs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K-Means++ initialization — selects centroids spread apart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85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Choosing 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Requires prior knowledge; wrong K produces meaningless clusters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Elbow Method, Silhouette Score, or domain expertise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1308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85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Sensitivity to Outliers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Outliers can significantly distort centroid positions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K-Medoids or preprocess to remove outliers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8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85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Spherical Cluster Assumption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Assumes clusters are convex and isotropic; fails on non-convex shapes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DBSCAN or Hierarchical Clustering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1308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85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 Scaling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Different feature scales bias distance calculations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Standardize features using StandardScaler (z-score normalization)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 |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vs. Unsupervised: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270000"/>
          <a:ext cx="14732000" cy="5588000"/>
        </p:xfrm>
        <a:graphic>
          <a:graphicData uri="http://schemas.openxmlformats.org/drawingml/2006/table">
            <a:tbl>
              <a:tblPr/>
              <a:tblGrid>
                <a:gridCol w="2946400"/>
                <a:gridCol w="5892800"/>
                <a:gridCol w="5892800"/>
              </a:tblGrid>
              <a:tr h="556271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Supervised Learning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Unsupervised Learning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72062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Input Data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Labeled (input + output pairs)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Unlabeled (input features only)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062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Prediction and classification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Discovery and pattern recognition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72062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Output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Labels or predicted values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Clusters, patterns, reduced dimensions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062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Evaluation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Accuracy, MSE, F1-score, RMSE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Silhouette score, WCSS, expert review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72062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Algorithms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Linear/Logistic Regression, SVM, Decision Trees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K-Means, PCA, DBSCAN, Hierarchical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062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Human Effort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Requires data labeling (expensive)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Minimal preprocessing needed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70798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to Use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Known outcomes, labeled data available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32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Exploring unknown structure, no labels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7162800"/>
            <a:ext cx="147320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72898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trend: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Semi-supervised learning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combines a small labeled dataset with a large pool of unlabeled data, reducing labeling costs while retaining predictive accuracy.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 |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57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2000" y="990600"/>
            <a:ext cx="762000" cy="381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20800"/>
            <a:ext cx="7112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320800"/>
            <a:ext cx="4572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320800"/>
            <a:ext cx="4572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22400" y="14224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enables systems to learn from data without explicit programming — the foundation of modern AI.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540000"/>
            <a:ext cx="7112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2540000"/>
            <a:ext cx="4572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2540000"/>
            <a:ext cx="4572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22400" y="26416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 Learning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labeled data for prediction tasks — classification (discrete) and regression (continuous).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759200"/>
            <a:ext cx="7112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3759200"/>
            <a:ext cx="457200" cy="1016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3759200"/>
            <a:ext cx="4572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22400" y="3860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 Regression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classification algorithm using the sigmoid function to output probabilities between 0 and 1.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1320800"/>
            <a:ext cx="7112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382000" y="1320800"/>
            <a:ext cx="457200" cy="10160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0" y="1320800"/>
            <a:ext cx="4572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42400" y="14224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boundary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separates classes where P(y=1|X) = 0.5. Gradient descent optimizes the cost function.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2540000"/>
            <a:ext cx="7112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8382000" y="2540000"/>
            <a:ext cx="4572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0" y="2540000"/>
            <a:ext cx="4572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42400" y="26416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Unsupervised Learning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discovers patterns in unlabeled data without predefined targets.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3759200"/>
            <a:ext cx="7112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382000" y="3759200"/>
            <a:ext cx="457200" cy="1016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28" name="Text 26"/>
          <p:cNvSpPr/>
          <p:nvPr/>
        </p:nvSpPr>
        <p:spPr>
          <a:xfrm>
            <a:off x="8382000" y="3759200"/>
            <a:ext cx="4572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42400" y="3860800"/>
            <a:ext cx="62484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K-Means Clustering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partitions data into K clusters by iteratively assigning points and updating centroids.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5130800"/>
            <a:ext cx="14732000" cy="127000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000" y="52578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485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Elbow Method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helps determine the optimal number of clusters. Understanding these fundamentals is essential for building more advanced ML systems including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neural networks and deep learning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673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F4C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What's Next?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7162800"/>
            <a:ext cx="147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Logistic Regression and K-Means from scratch in Python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 with scikit-learn implementations on real datasets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3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how these classical methods connect to neural networks and deep learning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986000" y="87630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kkehbkbfdg72/mnt/agents/output/ml-week6/images/2_Abstract_Neural_Network_Web_on_Dark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4C5C">
                  <a:alpha val="91000"/>
                </a:srgbClr>
              </a:gs>
              <a:gs pos="50000">
                <a:srgbClr val="0F4C5C">
                  <a:alpha val="82000"/>
                </a:srgbClr>
              </a:gs>
              <a:gs pos="100000">
                <a:srgbClr val="0F4C5C">
                  <a:alpha val="69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540000"/>
            <a:ext cx="2540000" cy="50800"/>
          </a:xfrm>
          <a:prstGeom prst="rect">
            <a:avLst/>
          </a:prstGeom>
          <a:solidFill>
            <a:srgbClr val="D4853A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28448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83000" y="38608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23000" y="4572000"/>
            <a:ext cx="381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683000" y="48768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Artificial Intelligence — Week 6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Learning: Supervised &amp; Unsupervised Learning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88000" y="609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300" kern="0" dirty="0">
                <a:solidFill>
                  <a:srgbClr val="D485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LECTURES 11 — 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- Week 6: Machine Learning</dc:title>
  <dc:subject>Artificial Intelligence - Week 6: Machine Learning</dc:subject>
  <dc:creator>Kimi</dc:creator>
  <cp:lastModifiedBy>Kimi</cp:lastModifiedBy>
  <cp:revision>1</cp:revision>
  <dcterms:created xsi:type="dcterms:W3CDTF">2026-05-25T19:21:48Z</dcterms:created>
  <dcterms:modified xsi:type="dcterms:W3CDTF">2026-05-25T19:21:48Z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{"Label":"Artificial Intelligence - Week 6: Machine Learning","ContentProducer":"001191110108MACG2KBH8F10000","ProduceID":"19e604a2-5fb2-8ba7-8000-000006a4bda4","ReservedCode1":"","ContentPropagator":"001191110108MACG2KBH8F20000","PropagateID":"19e604a2-5fb2-8ba7-8000-000006a4bda4","ReservedCode2":""}</vt:lpwstr>
  </property>
</Properties>
</file>