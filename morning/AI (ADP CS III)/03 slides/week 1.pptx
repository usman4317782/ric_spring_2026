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Liter" charset="-122" pitchFamily="34"/>
      <p:regular r:id="rId35"/>
    </p:embeddedFont>
    <p:embeddedFont>
      <p:font typeface="Quattrocento Sans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swisscyberinstitute.com/blog/history-artificial-intelligence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rammarly.com/blog/ai/ai-history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rammarly.com/blog/ai/ai-history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rammarly.com/blog/ai/ai-history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rammarly.com/blog/ai/ai-history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rammarly.com/blog/ai/ai-history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tableau.com/data-insights/ai/histor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swisscyberinstitute.com/blog/history-artificial-intelligence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implilearn.com/future-of-artificial-intelligence-articl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swisscyberinstitute.com/blog/history-artificial-intelligence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ipwithease.com/5-core-components-of-ai-agent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smythos.com/developers/agent-development/ai-agents-component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ipwithease.com/5-core-components-of-ai-agent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romptingguide.ai/agents/component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romptingguide.ai/agents/component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implilearn.com/future-of-artificial-intelligence-articl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implilearn.com/future-of-artificial-intelligence-articl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implilearn.com/future-of-artificial-intelligence-articl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cx5x7r5qmhl4q/mnt/agents/output/ai-week1/images/5_Abstract_representation_of_artificial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1C1A">
                  <a:alpha val="25000"/>
                </a:srgbClr>
              </a:gs>
              <a:gs pos="40000">
                <a:srgbClr val="1E1C1A">
                  <a:alpha val="63000"/>
                </a:srgbClr>
              </a:gs>
              <a:gs pos="100000">
                <a:srgbClr val="1E1C1A">
                  <a:alpha val="91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F5F3F0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COURSE MATERIAL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101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1143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64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762000" y="5143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5F3F0">
                    <a:alpha val="6902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1 — Introduction to AI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62000" y="7874000"/>
            <a:ext cx="2540000" cy="12700"/>
          </a:xfrm>
          <a:prstGeom prst="rect">
            <a:avLst/>
          </a:prstGeom>
          <a:solidFill>
            <a:srgbClr val="F5F3F0">
              <a:alpha val="25098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62000" y="80645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5F3F0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| History | Components | Agents | Applications | Future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6350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OF CONTENTS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2286000"/>
            <a:ext cx="15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111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619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A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AI, the Turing Test, the Dartmouth Conference, and the complete history from the 1950s to present.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381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What is Artificial Intelligence? • The Turing Test (1950)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The Dartmouth Conference (1956) • History: 1950s to Present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715000"/>
            <a:ext cx="6858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6032500"/>
            <a:ext cx="15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68580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Components, Agents &amp; Applications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7366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A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components of AI, agent technology, real-world applications, and future trends.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8128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Components of AI • Agent Technology • Applications • Future of AI</a:t>
            </a:r>
            <a:endParaRPr lang="en-US" sz="1600" dirty="0"/>
          </a:p>
        </p:txBody>
      </p:sp>
      <p:pic>
        <p:nvPicPr>
          <p:cNvPr id="15" name="Image 0" descr="https://kimi-img.moonshot.cn/pub/slides/okc/cx5x7r5qmhl4q/mnt/agents/output/ai-week1/images/10_Free_AI_Digital_Brain_Image_Technolog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82000" y="1651000"/>
            <a:ext cx="7112000" cy="7112000"/>
          </a:xfrm>
          <a:prstGeom prst="roundRect">
            <a:avLst>
              <a:gd name="adj" fmla="val 800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cx5x7r5qmhl4q/mnt/agents/output/ai-week1/images/10_Free_AI_Digital_Brain_Image_Technology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1C1A">
                  <a:alpha val="91000"/>
                </a:srgbClr>
              </a:gs>
              <a:gs pos="60000">
                <a:srgbClr val="1E1C1A">
                  <a:alpha val="75000"/>
                </a:srgbClr>
              </a:gs>
              <a:gs pos="100000">
                <a:srgbClr val="1E1C1A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8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0" b="1" dirty="0">
                <a:solidFill>
                  <a:srgbClr val="F5F3F0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4318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572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ONE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62000" y="4953000"/>
            <a:ext cx="889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AI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762000" y="5969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5F3F0">
                    <a:alpha val="62745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 — What is AI and How It All Began</a:t>
            </a:r>
            <a:endParaRPr lang="en-US" sz="2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Artificial Intelligence?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651000"/>
            <a:ext cx="14732000" cy="1397000"/>
          </a:xfrm>
          <a:prstGeom prst="roundRect">
            <a:avLst>
              <a:gd name="adj" fmla="val 5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6650" y="1968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778000" y="1841500"/>
            <a:ext cx="1333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(AI)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refers to systems that can perform tasks normally associated with human intelligence — 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recognizing patterns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interpreting language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making predictions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deciding actions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429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Major Approaches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064000"/>
            <a:ext cx="7048500" cy="2540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4100" y="4318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86385" y="953"/>
                </a:moveTo>
                <a:cubicBezTo>
                  <a:pt x="272891" y="-2937"/>
                  <a:pt x="258842" y="4921"/>
                  <a:pt x="254953" y="18415"/>
                </a:cubicBezTo>
                <a:lnTo>
                  <a:pt x="153353" y="374015"/>
                </a:lnTo>
                <a:cubicBezTo>
                  <a:pt x="149463" y="387509"/>
                  <a:pt x="157321" y="401558"/>
                  <a:pt x="170815" y="405448"/>
                </a:cubicBezTo>
                <a:cubicBezTo>
                  <a:pt x="184309" y="409337"/>
                  <a:pt x="198358" y="401479"/>
                  <a:pt x="202248" y="387985"/>
                </a:cubicBezTo>
                <a:lnTo>
                  <a:pt x="303848" y="32385"/>
                </a:lnTo>
                <a:cubicBezTo>
                  <a:pt x="307737" y="18891"/>
                  <a:pt x="299879" y="4842"/>
                  <a:pt x="286385" y="953"/>
                </a:cubicBezTo>
                <a:close/>
                <a:moveTo>
                  <a:pt x="337661" y="108982"/>
                </a:moveTo>
                <a:cubicBezTo>
                  <a:pt x="327739" y="118904"/>
                  <a:pt x="327739" y="135017"/>
                  <a:pt x="337661" y="144939"/>
                </a:cubicBezTo>
                <a:lnTo>
                  <a:pt x="395922" y="203200"/>
                </a:lnTo>
                <a:lnTo>
                  <a:pt x="337661" y="261461"/>
                </a:lnTo>
                <a:cubicBezTo>
                  <a:pt x="327739" y="271383"/>
                  <a:pt x="327739" y="287496"/>
                  <a:pt x="337661" y="297418"/>
                </a:cubicBezTo>
                <a:cubicBezTo>
                  <a:pt x="347583" y="307340"/>
                  <a:pt x="363696" y="307340"/>
                  <a:pt x="373618" y="297418"/>
                </a:cubicBezTo>
                <a:lnTo>
                  <a:pt x="449818" y="221218"/>
                </a:lnTo>
                <a:cubicBezTo>
                  <a:pt x="459740" y="211296"/>
                  <a:pt x="459740" y="195183"/>
                  <a:pt x="449818" y="185261"/>
                </a:cubicBezTo>
                <a:lnTo>
                  <a:pt x="373618" y="109061"/>
                </a:lnTo>
                <a:cubicBezTo>
                  <a:pt x="363696" y="99139"/>
                  <a:pt x="347583" y="99139"/>
                  <a:pt x="337661" y="109061"/>
                </a:cubicBezTo>
                <a:close/>
                <a:moveTo>
                  <a:pt x="119618" y="108982"/>
                </a:moveTo>
                <a:cubicBezTo>
                  <a:pt x="109696" y="99060"/>
                  <a:pt x="93583" y="99060"/>
                  <a:pt x="83661" y="108982"/>
                </a:cubicBezTo>
                <a:lnTo>
                  <a:pt x="7461" y="185182"/>
                </a:lnTo>
                <a:cubicBezTo>
                  <a:pt x="-2461" y="195104"/>
                  <a:pt x="-2461" y="211217"/>
                  <a:pt x="7461" y="221139"/>
                </a:cubicBezTo>
                <a:lnTo>
                  <a:pt x="83661" y="297339"/>
                </a:lnTo>
                <a:cubicBezTo>
                  <a:pt x="93583" y="307261"/>
                  <a:pt x="109696" y="307261"/>
                  <a:pt x="119618" y="297339"/>
                </a:cubicBezTo>
                <a:cubicBezTo>
                  <a:pt x="129540" y="287417"/>
                  <a:pt x="129540" y="271304"/>
                  <a:pt x="119618" y="261382"/>
                </a:cubicBezTo>
                <a:lnTo>
                  <a:pt x="61357" y="203200"/>
                </a:lnTo>
                <a:lnTo>
                  <a:pt x="119539" y="144939"/>
                </a:lnTo>
                <a:cubicBezTo>
                  <a:pt x="129461" y="135017"/>
                  <a:pt x="129461" y="118904"/>
                  <a:pt x="119539" y="108982"/>
                </a:cubicBezTo>
                <a:close/>
              </a:path>
            </a:pathLst>
          </a:custGeom>
          <a:solidFill>
            <a:srgbClr val="2D2A26"/>
          </a:solidFill>
          <a:ln/>
        </p:spPr>
      </p:sp>
      <p:sp>
        <p:nvSpPr>
          <p:cNvPr id="12" name="Text 10"/>
          <p:cNvSpPr/>
          <p:nvPr/>
        </p:nvSpPr>
        <p:spPr>
          <a:xfrm>
            <a:off x="1651000" y="4318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Symbolic AI (Rule-Based)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4889500"/>
            <a:ext cx="647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Humans define knowledge and rules explicitly.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Pros: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Transparent, explainable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Brittle, hard to scale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45500" y="4064000"/>
            <a:ext cx="7048500" cy="2540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7630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9334500" y="4318000"/>
            <a:ext cx="431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(Data-Driven)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63000" y="4889500"/>
            <a:ext cx="647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Systems learn patterns from data instead of hand-coded rules.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Pros: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Flexible, scalable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Harder to explain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6985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Modern AI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heavily machine-learning-driven — especially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deep learning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which uses layered neural networks to learn complex patterns from large datasets. This shift marked the transition from AI as a lab exercise to AI as an industrial technology.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2000" y="8382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Swiss Cyber Institute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Turing Test — Can Machines Think?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651000"/>
            <a:ext cx="1270000" cy="457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651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1950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1651000"/>
            <a:ext cx="1320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his influential paper </a:t>
            </a:r>
            <a:pPr>
              <a:lnSpc>
                <a:spcPct val="160000"/>
              </a:lnSpc>
            </a:pPr>
            <a:r>
              <a:rPr lang="en-US" sz="2000" i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"Computing Machinery and Intelligence,"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Alan Turing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proposed a radical idea: if a machine could hold a convincing conversation, it could be considered intelligent.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2921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 Turing Test Works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556000"/>
            <a:ext cx="2540000" cy="1016000"/>
          </a:xfrm>
          <a:prstGeom prst="roundRect">
            <a:avLst>
              <a:gd name="adj" fmla="val 8000"/>
            </a:avLst>
          </a:prstGeom>
          <a:solidFill>
            <a:srgbClr val="2D2A2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3556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29000" y="3937000"/>
            <a:ext cx="1524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5080000" y="3556000"/>
            <a:ext cx="2540000" cy="1016000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/>
        </p:spPr>
      </p:sp>
      <p:sp>
        <p:nvSpPr>
          <p:cNvPr id="14" name="Text 12"/>
          <p:cNvSpPr/>
          <p:nvPr/>
        </p:nvSpPr>
        <p:spPr>
          <a:xfrm>
            <a:off x="5080000" y="3556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Responder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 flipV="1">
            <a:off x="3429000" y="4572000"/>
            <a:ext cx="1524000" cy="762000"/>
          </a:xfrm>
          <a:prstGeom prst="straightConnector1">
            <a:avLst/>
          </a:prstGeom>
          <a:noFill/>
          <a:ln w="25400">
            <a:solidFill>
              <a:srgbClr val="8A8580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5080000" y="4826000"/>
            <a:ext cx="2540000" cy="1016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5080000" y="4826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(AI)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29000" y="5080000"/>
            <a:ext cx="1524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8382000" y="3556000"/>
            <a:ext cx="7112000" cy="2286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699500" y="374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Test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99500" y="41910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evaluator chats with a human and a machine via text.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they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cannot distinguish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machine from the human, it passes.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6350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Legacy &amp; Impact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69215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Turing Test remains one of the most influential ideas in AI philosophy. It shifted the question from </a:t>
            </a:r>
            <a:pPr>
              <a:lnSpc>
                <a:spcPct val="160000"/>
              </a:lnSpc>
            </a:pPr>
            <a:r>
              <a:rPr lang="en-US" sz="2000" i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"Can machines think?"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</a:t>
            </a:r>
            <a:pPr>
              <a:lnSpc>
                <a:spcPct val="160000"/>
              </a:lnSpc>
            </a:pPr>
            <a:r>
              <a:rPr lang="en-US" sz="2000" i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"Can machines behave intelligently?"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guiding AI research for decades. Modern systems like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ChatGPT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have renewed the debate.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62000" y="8382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Grammarly AI History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Dartmouth Conference — Birth of AI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651000"/>
            <a:ext cx="1270000" cy="457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651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1956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1651000"/>
            <a:ext cx="1320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term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"Artificial Intelligence"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was coined by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John McCarthy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during a landmark summer workshop that formally established AI as a distinct field of study.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2794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Founding Fathers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403600"/>
            <a:ext cx="3429000" cy="1524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38225" y="35814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172244"/>
                </a:moveTo>
                <a:cubicBezTo>
                  <a:pt x="201574" y="172244"/>
                  <a:pt x="238919" y="134899"/>
                  <a:pt x="238919" y="88900"/>
                </a:cubicBezTo>
                <a:cubicBezTo>
                  <a:pt x="238919" y="42901"/>
                  <a:pt x="201574" y="5556"/>
                  <a:pt x="155575" y="5556"/>
                </a:cubicBezTo>
                <a:cubicBezTo>
                  <a:pt x="109576" y="5556"/>
                  <a:pt x="72231" y="42901"/>
                  <a:pt x="72231" y="88900"/>
                </a:cubicBezTo>
                <a:cubicBezTo>
                  <a:pt x="72231" y="134899"/>
                  <a:pt x="109576" y="172244"/>
                  <a:pt x="155575" y="172244"/>
                </a:cubicBezTo>
                <a:close/>
                <a:moveTo>
                  <a:pt x="134947" y="211138"/>
                </a:moveTo>
                <a:cubicBezTo>
                  <a:pt x="66536" y="211138"/>
                  <a:pt x="11112" y="266561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66561"/>
                  <a:pt x="244614" y="211138"/>
                  <a:pt x="176203" y="211138"/>
                </a:cubicBezTo>
                <a:lnTo>
                  <a:pt x="134947" y="211138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498600" y="3556000"/>
            <a:ext cx="2476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John McCarthy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0005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Coined the term "AI", organized the conference, created LISP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08500" y="3403600"/>
            <a:ext cx="3429000" cy="1524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784725" y="35814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172244"/>
                </a:moveTo>
                <a:cubicBezTo>
                  <a:pt x="201574" y="172244"/>
                  <a:pt x="238919" y="134899"/>
                  <a:pt x="238919" y="88900"/>
                </a:cubicBezTo>
                <a:cubicBezTo>
                  <a:pt x="238919" y="42901"/>
                  <a:pt x="201574" y="5556"/>
                  <a:pt x="155575" y="5556"/>
                </a:cubicBezTo>
                <a:cubicBezTo>
                  <a:pt x="109576" y="5556"/>
                  <a:pt x="72231" y="42901"/>
                  <a:pt x="72231" y="88900"/>
                </a:cubicBezTo>
                <a:cubicBezTo>
                  <a:pt x="72231" y="134899"/>
                  <a:pt x="109576" y="172244"/>
                  <a:pt x="155575" y="172244"/>
                </a:cubicBezTo>
                <a:close/>
                <a:moveTo>
                  <a:pt x="134947" y="211138"/>
                </a:moveTo>
                <a:cubicBezTo>
                  <a:pt x="66536" y="211138"/>
                  <a:pt x="11112" y="266561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66561"/>
                  <a:pt x="244614" y="211138"/>
                  <a:pt x="176203" y="211138"/>
                </a:cubicBezTo>
                <a:lnTo>
                  <a:pt x="134947" y="211138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5245100" y="3556000"/>
            <a:ext cx="2476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Marvin Minsky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62500" y="40005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Co-founder of AI, pioneer in neural networks and robotics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55000" y="3403600"/>
            <a:ext cx="3429000" cy="1524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531225" y="35814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172244"/>
                </a:moveTo>
                <a:cubicBezTo>
                  <a:pt x="201574" y="172244"/>
                  <a:pt x="238919" y="134899"/>
                  <a:pt x="238919" y="88900"/>
                </a:cubicBezTo>
                <a:cubicBezTo>
                  <a:pt x="238919" y="42901"/>
                  <a:pt x="201574" y="5556"/>
                  <a:pt x="155575" y="5556"/>
                </a:cubicBezTo>
                <a:cubicBezTo>
                  <a:pt x="109576" y="5556"/>
                  <a:pt x="72231" y="42901"/>
                  <a:pt x="72231" y="88900"/>
                </a:cubicBezTo>
                <a:cubicBezTo>
                  <a:pt x="72231" y="134899"/>
                  <a:pt x="109576" y="172244"/>
                  <a:pt x="155575" y="172244"/>
                </a:cubicBezTo>
                <a:close/>
                <a:moveTo>
                  <a:pt x="134947" y="211138"/>
                </a:moveTo>
                <a:cubicBezTo>
                  <a:pt x="66536" y="211138"/>
                  <a:pt x="11112" y="266561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66561"/>
                  <a:pt x="244614" y="211138"/>
                  <a:pt x="176203" y="211138"/>
                </a:cubicBezTo>
                <a:lnTo>
                  <a:pt x="134947" y="211138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8991600" y="3556000"/>
            <a:ext cx="2476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Nathaniel Rochester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9000" y="40005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IBM chief designer, built the first mass-produced computer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001500" y="3403600"/>
            <a:ext cx="3492500" cy="1524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2277725" y="35814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172244"/>
                </a:moveTo>
                <a:cubicBezTo>
                  <a:pt x="201574" y="172244"/>
                  <a:pt x="238919" y="134899"/>
                  <a:pt x="238919" y="88900"/>
                </a:cubicBezTo>
                <a:cubicBezTo>
                  <a:pt x="238919" y="42901"/>
                  <a:pt x="201574" y="5556"/>
                  <a:pt x="155575" y="5556"/>
                </a:cubicBezTo>
                <a:cubicBezTo>
                  <a:pt x="109576" y="5556"/>
                  <a:pt x="72231" y="42901"/>
                  <a:pt x="72231" y="88900"/>
                </a:cubicBezTo>
                <a:cubicBezTo>
                  <a:pt x="72231" y="134899"/>
                  <a:pt x="109576" y="172244"/>
                  <a:pt x="155575" y="172244"/>
                </a:cubicBezTo>
                <a:close/>
                <a:moveTo>
                  <a:pt x="134947" y="211138"/>
                </a:moveTo>
                <a:cubicBezTo>
                  <a:pt x="66536" y="211138"/>
                  <a:pt x="11112" y="266561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66561"/>
                  <a:pt x="244614" y="211138"/>
                  <a:pt x="176203" y="211138"/>
                </a:cubicBezTo>
                <a:lnTo>
                  <a:pt x="134947" y="211138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12738100" y="3556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Shannon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255500" y="4000500"/>
            <a:ext cx="298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Father of information theory, pioneered digital circuits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2000" y="5334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Proposal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5905500"/>
            <a:ext cx="14732000" cy="2159000"/>
          </a:xfrm>
          <a:prstGeom prst="roundRect">
            <a:avLst>
              <a:gd name="adj" fmla="val 3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79500" y="6096000"/>
            <a:ext cx="140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Dartmouth proposal stated: </a:t>
            </a:r>
            <a:pPr>
              <a:lnSpc>
                <a:spcPct val="160000"/>
              </a:lnSpc>
            </a:pPr>
            <a:r>
              <a:rPr lang="en-US" sz="2000" i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"We propose that a 2-month study of artificial intelligence be carried out during the summer of 1956... on the conjecture that every aspect of intelligence can be so precisely described that a machine can simulate it."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bold conjecture became the founding hypothesis of the entire field — and remains its driving vision.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62000" y="8382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Grammarly AI History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History of AI — The Early Years (1950s–1960s)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968500"/>
            <a:ext cx="177800" cy="1778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286000"/>
            <a:ext cx="13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1950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13000" y="18415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Alan Turing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publishes paper proposing the Turing Test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60500" y="2146300"/>
            <a:ext cx="0" cy="711200"/>
          </a:xfrm>
          <a:prstGeom prst="straightConnector1">
            <a:avLst/>
          </a:prstGeom>
          <a:noFill/>
          <a:ln w="25400">
            <a:solidFill>
              <a:srgbClr val="D4CFC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324600" y="1968500"/>
            <a:ext cx="177800" cy="1778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2286000"/>
            <a:ext cx="13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1956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6000" y="18415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Dartmouth Conference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coins the term "Artificial Intelligence"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13500" y="2146300"/>
            <a:ext cx="0" cy="711200"/>
          </a:xfrm>
          <a:prstGeom prst="straightConnector1">
            <a:avLst/>
          </a:prstGeom>
          <a:noFill/>
          <a:ln w="25400">
            <a:solidFill>
              <a:srgbClr val="D4CFC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1277600" y="1968500"/>
            <a:ext cx="177800" cy="1778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0" y="2286000"/>
            <a:ext cx="13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1957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19000" y="1841500"/>
            <a:ext cx="317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Rosenblatt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introduces the Perceptron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366500" y="2146300"/>
            <a:ext cx="0" cy="711200"/>
          </a:xfrm>
          <a:prstGeom prst="straightConnector1">
            <a:avLst/>
          </a:prstGeom>
          <a:noFill/>
          <a:ln w="25400">
            <a:solidFill>
              <a:srgbClr val="D4CFC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460500" y="2857500"/>
            <a:ext cx="9906000" cy="0"/>
          </a:xfrm>
          <a:prstGeom prst="straightConnector1">
            <a:avLst/>
          </a:prstGeom>
          <a:noFill/>
          <a:ln w="25400">
            <a:solidFill>
              <a:srgbClr val="D4CFC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371600" y="3492500"/>
            <a:ext cx="177800" cy="177800"/>
          </a:xfrm>
          <a:prstGeom prst="ellipse">
            <a:avLst/>
          </a:prstGeom>
          <a:solidFill>
            <a:srgbClr val="2D2A26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3810000"/>
            <a:ext cx="13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1966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413000" y="33655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ELIZA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first chatbot created at MIT, simulated a therapist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60500" y="3670300"/>
            <a:ext cx="0" cy="711200"/>
          </a:xfrm>
          <a:prstGeom prst="straightConnector1">
            <a:avLst/>
          </a:prstGeom>
          <a:noFill/>
          <a:ln w="25400">
            <a:solidFill>
              <a:srgbClr val="D4CFC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6324600" y="3492500"/>
            <a:ext cx="177800" cy="177800"/>
          </a:xfrm>
          <a:prstGeom prst="ellipse">
            <a:avLst/>
          </a:prstGeom>
          <a:solidFill>
            <a:srgbClr val="2D2A26"/>
          </a:solidFill>
          <a:ln/>
        </p:spPr>
      </p:sp>
      <p:sp>
        <p:nvSpPr>
          <p:cNvPr id="24" name="Text 22"/>
          <p:cNvSpPr/>
          <p:nvPr/>
        </p:nvSpPr>
        <p:spPr>
          <a:xfrm>
            <a:off x="5715000" y="3810000"/>
            <a:ext cx="13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1966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66000" y="33655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Shakey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first mobile robot that senses and decides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13500" y="3670300"/>
            <a:ext cx="0" cy="711200"/>
          </a:xfrm>
          <a:prstGeom prst="straightConnector1">
            <a:avLst/>
          </a:prstGeom>
          <a:noFill/>
          <a:ln w="25400">
            <a:solidFill>
              <a:srgbClr val="D4CFC8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762000" y="5080000"/>
            <a:ext cx="14732000" cy="1524000"/>
          </a:xfrm>
          <a:prstGeom prst="roundRect">
            <a:avLst>
              <a:gd name="adj" fmla="val 3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4100" y="5397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9" name="Text 27"/>
          <p:cNvSpPr/>
          <p:nvPr/>
        </p:nvSpPr>
        <p:spPr>
          <a:xfrm>
            <a:off x="1651000" y="533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51000" y="5715000"/>
            <a:ext cx="1352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These early systems proved: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machines could imitate human thinking and learning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even if true intelligence was far off.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62000" y="8382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Grammarly AI History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History of AI — The First AI Winter (1970s)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651000"/>
            <a:ext cx="1524000" cy="457200"/>
          </a:xfrm>
          <a:prstGeom prst="roundRect">
            <a:avLst>
              <a:gd name="adj" fmla="val 15000"/>
            </a:avLst>
          </a:prstGeom>
          <a:solidFill>
            <a:srgbClr val="8B4513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6510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1970s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40000" y="1651000"/>
            <a:ext cx="1295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1970s saw the first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"AI Winter"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 period of reduced funding and interest as early optimism faded and expectations outpaced reality.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2794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Caused the AI Winter?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4036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3581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498600" y="35814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Unrealistic Expectations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0386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Promises of human-level AI within a decade proved wildly optimistic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778500" y="34036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032500" y="3581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6515100" y="35814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Limitations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0" y="40386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Symbolic AI struggled with real-world problems needing common sense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795000" y="34036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093450" y="35814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83344" y="177800"/>
                </a:moveTo>
                <a:cubicBezTo>
                  <a:pt x="74106" y="177800"/>
                  <a:pt x="66675" y="185231"/>
                  <a:pt x="66675" y="194469"/>
                </a:cubicBezTo>
                <a:cubicBezTo>
                  <a:pt x="66675" y="203706"/>
                  <a:pt x="74106" y="211138"/>
                  <a:pt x="83344" y="211138"/>
                </a:cubicBezTo>
                <a:lnTo>
                  <a:pt x="183356" y="211138"/>
                </a:lnTo>
                <a:cubicBezTo>
                  <a:pt x="192594" y="211138"/>
                  <a:pt x="200025" y="203706"/>
                  <a:pt x="200025" y="194469"/>
                </a:cubicBezTo>
                <a:cubicBezTo>
                  <a:pt x="200025" y="185231"/>
                  <a:pt x="192594" y="177800"/>
                  <a:pt x="183356" y="177800"/>
                </a:cubicBezTo>
                <a:lnTo>
                  <a:pt x="83344" y="177800"/>
                </a:lnTo>
                <a:close/>
                <a:moveTo>
                  <a:pt x="83344" y="244475"/>
                </a:moveTo>
                <a:cubicBezTo>
                  <a:pt x="74106" y="244475"/>
                  <a:pt x="66675" y="251906"/>
                  <a:pt x="66675" y="261144"/>
                </a:cubicBezTo>
                <a:cubicBezTo>
                  <a:pt x="66675" y="270381"/>
                  <a:pt x="74106" y="277813"/>
                  <a:pt x="83344" y="277813"/>
                </a:cubicBezTo>
                <a:lnTo>
                  <a:pt x="183356" y="277813"/>
                </a:lnTo>
                <a:cubicBezTo>
                  <a:pt x="192594" y="277813"/>
                  <a:pt x="200025" y="270381"/>
                  <a:pt x="200025" y="261144"/>
                </a:cubicBezTo>
                <a:cubicBezTo>
                  <a:pt x="200025" y="251906"/>
                  <a:pt x="192594" y="244475"/>
                  <a:pt x="183356" y="244475"/>
                </a:cubicBezTo>
                <a:lnTo>
                  <a:pt x="83344" y="244475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1531600" y="35814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Lighthill Report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9000" y="40386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1973 UK report criticized AI's failures, leading to major funding cuts worldwide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5461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Lessons Learned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032500"/>
            <a:ext cx="14732000" cy="2095500"/>
          </a:xfrm>
          <a:prstGeom prst="roundRect">
            <a:avLst>
              <a:gd name="adj" fmla="val 3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79500" y="62230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lessons: manage expectations, focus on specific problems, build incrementally with measurable results.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62000" y="8382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Grammarly AI History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History of AI — Expert Systems Era (1980s)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651000"/>
            <a:ext cx="1524000" cy="457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6510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1980s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40000" y="1651000"/>
            <a:ext cx="1295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1980s brought an AI revival through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Expert Systems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programs that encoded human expert knowledge as if-then rules, finding commercial success across industries.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2794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Notable Expert Systems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403600"/>
            <a:ext cx="7048500" cy="1651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3581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74940"/>
                </a:moveTo>
                <a:lnTo>
                  <a:pt x="167382" y="60494"/>
                </a:lnTo>
                <a:cubicBezTo>
                  <a:pt x="150019" y="36463"/>
                  <a:pt x="122168" y="22225"/>
                  <a:pt x="92442" y="22225"/>
                </a:cubicBezTo>
                <a:cubicBezTo>
                  <a:pt x="41394" y="22225"/>
                  <a:pt x="0" y="63619"/>
                  <a:pt x="0" y="114667"/>
                </a:cubicBezTo>
                <a:lnTo>
                  <a:pt x="0" y="116473"/>
                </a:lnTo>
                <a:cubicBezTo>
                  <a:pt x="0" y="132864"/>
                  <a:pt x="4306" y="149810"/>
                  <a:pt x="11529" y="166688"/>
                </a:cubicBezTo>
                <a:lnTo>
                  <a:pt x="85150" y="166688"/>
                </a:lnTo>
                <a:cubicBezTo>
                  <a:pt x="87372" y="166688"/>
                  <a:pt x="89386" y="165368"/>
                  <a:pt x="90289" y="163284"/>
                </a:cubicBezTo>
                <a:lnTo>
                  <a:pt x="112375" y="110292"/>
                </a:lnTo>
                <a:cubicBezTo>
                  <a:pt x="114945" y="104180"/>
                  <a:pt x="120918" y="100151"/>
                  <a:pt x="127516" y="100013"/>
                </a:cubicBezTo>
                <a:cubicBezTo>
                  <a:pt x="134114" y="99874"/>
                  <a:pt x="140226" y="103763"/>
                  <a:pt x="142935" y="109805"/>
                </a:cubicBezTo>
                <a:lnTo>
                  <a:pt x="178564" y="188913"/>
                </a:lnTo>
                <a:lnTo>
                  <a:pt x="207318" y="131405"/>
                </a:lnTo>
                <a:cubicBezTo>
                  <a:pt x="210165" y="125780"/>
                  <a:pt x="215930" y="122168"/>
                  <a:pt x="222250" y="122168"/>
                </a:cubicBezTo>
                <a:cubicBezTo>
                  <a:pt x="228570" y="122168"/>
                  <a:pt x="234335" y="125710"/>
                  <a:pt x="237182" y="131405"/>
                </a:cubicBezTo>
                <a:lnTo>
                  <a:pt x="253296" y="163562"/>
                </a:lnTo>
                <a:cubicBezTo>
                  <a:pt x="254268" y="165437"/>
                  <a:pt x="256143" y="166618"/>
                  <a:pt x="258296" y="166618"/>
                </a:cubicBezTo>
                <a:lnTo>
                  <a:pt x="344140" y="166618"/>
                </a:lnTo>
                <a:cubicBezTo>
                  <a:pt x="351433" y="149741"/>
                  <a:pt x="355669" y="132794"/>
                  <a:pt x="355669" y="116403"/>
                </a:cubicBezTo>
                <a:lnTo>
                  <a:pt x="355669" y="114598"/>
                </a:lnTo>
                <a:cubicBezTo>
                  <a:pt x="355600" y="63619"/>
                  <a:pt x="314206" y="22225"/>
                  <a:pt x="263158" y="22225"/>
                </a:cubicBezTo>
                <a:cubicBezTo>
                  <a:pt x="233501" y="22225"/>
                  <a:pt x="205581" y="36463"/>
                  <a:pt x="188218" y="60494"/>
                </a:cubicBezTo>
                <a:lnTo>
                  <a:pt x="177800" y="74870"/>
                </a:lnTo>
                <a:close/>
                <a:moveTo>
                  <a:pt x="326152" y="200025"/>
                </a:moveTo>
                <a:lnTo>
                  <a:pt x="258227" y="200025"/>
                </a:lnTo>
                <a:cubicBezTo>
                  <a:pt x="243503" y="200025"/>
                  <a:pt x="230029" y="191691"/>
                  <a:pt x="223431" y="178495"/>
                </a:cubicBezTo>
                <a:lnTo>
                  <a:pt x="222250" y="176133"/>
                </a:lnTo>
                <a:lnTo>
                  <a:pt x="192732" y="235238"/>
                </a:lnTo>
                <a:cubicBezTo>
                  <a:pt x="189885" y="241002"/>
                  <a:pt x="183912" y="244614"/>
                  <a:pt x="177453" y="244475"/>
                </a:cubicBezTo>
                <a:cubicBezTo>
                  <a:pt x="170994" y="244336"/>
                  <a:pt x="165229" y="240516"/>
                  <a:pt x="162590" y="234682"/>
                </a:cubicBezTo>
                <a:lnTo>
                  <a:pt x="128349" y="158631"/>
                </a:lnTo>
                <a:lnTo>
                  <a:pt x="121057" y="176133"/>
                </a:lnTo>
                <a:cubicBezTo>
                  <a:pt x="115014" y="190649"/>
                  <a:pt x="100846" y="200094"/>
                  <a:pt x="85150" y="200094"/>
                </a:cubicBezTo>
                <a:lnTo>
                  <a:pt x="29448" y="200094"/>
                </a:lnTo>
                <a:cubicBezTo>
                  <a:pt x="62230" y="251351"/>
                  <a:pt x="114875" y="298510"/>
                  <a:pt x="147796" y="323652"/>
                </a:cubicBezTo>
                <a:cubicBezTo>
                  <a:pt x="156408" y="330180"/>
                  <a:pt x="166965" y="333444"/>
                  <a:pt x="177731" y="333444"/>
                </a:cubicBezTo>
                <a:cubicBezTo>
                  <a:pt x="188496" y="333444"/>
                  <a:pt x="199122" y="330250"/>
                  <a:pt x="207665" y="323652"/>
                </a:cubicBezTo>
                <a:cubicBezTo>
                  <a:pt x="240725" y="298440"/>
                  <a:pt x="293370" y="251281"/>
                  <a:pt x="326152" y="20002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498600" y="35814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MYCIN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038600"/>
            <a:ext cx="6540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Diagnosed blood infections and recommended antibiotics. Often outperformed human doctors in accuracy.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45500" y="3403600"/>
            <a:ext cx="7048500" cy="1651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721725" y="35814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00025" y="0"/>
                </a:moveTo>
                <a:lnTo>
                  <a:pt x="88900" y="0"/>
                </a:lnTo>
                <a:cubicBezTo>
                  <a:pt x="76607" y="0"/>
                  <a:pt x="66675" y="9932"/>
                  <a:pt x="66675" y="22225"/>
                </a:cubicBezTo>
                <a:cubicBezTo>
                  <a:pt x="66675" y="34518"/>
                  <a:pt x="76607" y="44450"/>
                  <a:pt x="88900" y="44450"/>
                </a:cubicBezTo>
                <a:lnTo>
                  <a:pt x="88900" y="149671"/>
                </a:lnTo>
                <a:lnTo>
                  <a:pt x="5209" y="296079"/>
                </a:lnTo>
                <a:cubicBezTo>
                  <a:pt x="1806" y="302121"/>
                  <a:pt x="0" y="308858"/>
                  <a:pt x="0" y="315803"/>
                </a:cubicBezTo>
                <a:cubicBezTo>
                  <a:pt x="0" y="337820"/>
                  <a:pt x="17780" y="355600"/>
                  <a:pt x="39797" y="355600"/>
                </a:cubicBezTo>
                <a:lnTo>
                  <a:pt x="271353" y="355600"/>
                </a:lnTo>
                <a:cubicBezTo>
                  <a:pt x="293301" y="355600"/>
                  <a:pt x="311150" y="337820"/>
                  <a:pt x="311150" y="315803"/>
                </a:cubicBezTo>
                <a:cubicBezTo>
                  <a:pt x="311150" y="308858"/>
                  <a:pt x="309344" y="302052"/>
                  <a:pt x="305941" y="296079"/>
                </a:cubicBezTo>
                <a:lnTo>
                  <a:pt x="222250" y="149671"/>
                </a:lnTo>
                <a:lnTo>
                  <a:pt x="222250" y="44450"/>
                </a:lnTo>
                <a:cubicBezTo>
                  <a:pt x="234543" y="44450"/>
                  <a:pt x="244475" y="34518"/>
                  <a:pt x="244475" y="22225"/>
                </a:cubicBezTo>
                <a:cubicBezTo>
                  <a:pt x="244475" y="9932"/>
                  <a:pt x="234543" y="0"/>
                  <a:pt x="222250" y="0"/>
                </a:cubicBezTo>
                <a:lnTo>
                  <a:pt x="200025" y="0"/>
                </a:lnTo>
                <a:close/>
                <a:moveTo>
                  <a:pt x="133350" y="149671"/>
                </a:moveTo>
                <a:lnTo>
                  <a:pt x="133350" y="44450"/>
                </a:lnTo>
                <a:lnTo>
                  <a:pt x="177800" y="44450"/>
                </a:lnTo>
                <a:lnTo>
                  <a:pt x="177800" y="149671"/>
                </a:lnTo>
                <a:cubicBezTo>
                  <a:pt x="177800" y="157381"/>
                  <a:pt x="179814" y="165021"/>
                  <a:pt x="183634" y="171758"/>
                </a:cubicBezTo>
                <a:lnTo>
                  <a:pt x="212527" y="222250"/>
                </a:lnTo>
                <a:lnTo>
                  <a:pt x="98623" y="222250"/>
                </a:lnTo>
                <a:lnTo>
                  <a:pt x="127516" y="171758"/>
                </a:lnTo>
                <a:cubicBezTo>
                  <a:pt x="131336" y="165021"/>
                  <a:pt x="133350" y="157450"/>
                  <a:pt x="133350" y="149671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9182100" y="35814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DENDRAL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99500" y="4038600"/>
            <a:ext cx="6540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Analyzed chemical mass spectrometry data to identify molecular structures. Pioneer in scientific AI.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5334000"/>
            <a:ext cx="14732000" cy="1270000"/>
          </a:xfrm>
          <a:prstGeom prst="roundRect">
            <a:avLst>
              <a:gd name="adj" fmla="val 3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57275" y="5588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42253" y="22225"/>
                </a:moveTo>
                <a:cubicBezTo>
                  <a:pt x="236627" y="32018"/>
                  <a:pt x="233363" y="43408"/>
                  <a:pt x="233363" y="55563"/>
                </a:cubicBezTo>
                <a:lnTo>
                  <a:pt x="233363" y="66675"/>
                </a:lnTo>
                <a:lnTo>
                  <a:pt x="44450" y="66675"/>
                </a:lnTo>
                <a:lnTo>
                  <a:pt x="44450" y="222250"/>
                </a:lnTo>
                <a:lnTo>
                  <a:pt x="233363" y="222250"/>
                </a:lnTo>
                <a:lnTo>
                  <a:pt x="233363" y="266700"/>
                </a:lnTo>
                <a:lnTo>
                  <a:pt x="44450" y="266700"/>
                </a:lnTo>
                <a:cubicBezTo>
                  <a:pt x="19933" y="266700"/>
                  <a:pt x="0" y="246767"/>
                  <a:pt x="0" y="222250"/>
                </a:cubicBezTo>
                <a:lnTo>
                  <a:pt x="0" y="66675"/>
                </a:lnTo>
                <a:cubicBezTo>
                  <a:pt x="0" y="42158"/>
                  <a:pt x="19933" y="22225"/>
                  <a:pt x="44450" y="22225"/>
                </a:cubicBezTo>
                <a:lnTo>
                  <a:pt x="242253" y="22225"/>
                </a:lnTo>
                <a:close/>
                <a:moveTo>
                  <a:pt x="233363" y="300038"/>
                </a:moveTo>
                <a:cubicBezTo>
                  <a:pt x="233363" y="312192"/>
                  <a:pt x="236627" y="323582"/>
                  <a:pt x="242253" y="333375"/>
                </a:cubicBezTo>
                <a:lnTo>
                  <a:pt x="83344" y="333375"/>
                </a:lnTo>
                <a:cubicBezTo>
                  <a:pt x="74106" y="333375"/>
                  <a:pt x="66675" y="325944"/>
                  <a:pt x="66675" y="316706"/>
                </a:cubicBezTo>
                <a:cubicBezTo>
                  <a:pt x="66675" y="307469"/>
                  <a:pt x="74106" y="300038"/>
                  <a:pt x="83344" y="300038"/>
                </a:cubicBezTo>
                <a:lnTo>
                  <a:pt x="233363" y="300038"/>
                </a:lnTo>
                <a:close/>
                <a:moveTo>
                  <a:pt x="300038" y="22225"/>
                </a:moveTo>
                <a:lnTo>
                  <a:pt x="366712" y="22225"/>
                </a:lnTo>
                <a:cubicBezTo>
                  <a:pt x="385118" y="22225"/>
                  <a:pt x="400050" y="37157"/>
                  <a:pt x="400050" y="55563"/>
                </a:cubicBezTo>
                <a:lnTo>
                  <a:pt x="400050" y="300038"/>
                </a:lnTo>
                <a:cubicBezTo>
                  <a:pt x="400050" y="318443"/>
                  <a:pt x="385118" y="333375"/>
                  <a:pt x="366712" y="333375"/>
                </a:cubicBezTo>
                <a:lnTo>
                  <a:pt x="300038" y="333375"/>
                </a:lnTo>
                <a:cubicBezTo>
                  <a:pt x="281632" y="333375"/>
                  <a:pt x="266700" y="318443"/>
                  <a:pt x="266700" y="300038"/>
                </a:cubicBezTo>
                <a:lnTo>
                  <a:pt x="266700" y="55563"/>
                </a:lnTo>
                <a:cubicBezTo>
                  <a:pt x="266700" y="37157"/>
                  <a:pt x="281632" y="22225"/>
                  <a:pt x="300038" y="22225"/>
                </a:cubicBezTo>
                <a:close/>
                <a:moveTo>
                  <a:pt x="316706" y="66675"/>
                </a:moveTo>
                <a:cubicBezTo>
                  <a:pt x="307469" y="66675"/>
                  <a:pt x="300038" y="74106"/>
                  <a:pt x="300038" y="83344"/>
                </a:cubicBezTo>
                <a:cubicBezTo>
                  <a:pt x="300038" y="92581"/>
                  <a:pt x="307469" y="100013"/>
                  <a:pt x="316706" y="100013"/>
                </a:cubicBezTo>
                <a:lnTo>
                  <a:pt x="350044" y="100013"/>
                </a:lnTo>
                <a:cubicBezTo>
                  <a:pt x="359281" y="100013"/>
                  <a:pt x="366712" y="92581"/>
                  <a:pt x="366712" y="83344"/>
                </a:cubicBezTo>
                <a:cubicBezTo>
                  <a:pt x="366712" y="74106"/>
                  <a:pt x="359281" y="66675"/>
                  <a:pt x="350044" y="66675"/>
                </a:cubicBezTo>
                <a:lnTo>
                  <a:pt x="316706" y="66675"/>
                </a:lnTo>
                <a:close/>
                <a:moveTo>
                  <a:pt x="316706" y="133350"/>
                </a:moveTo>
                <a:cubicBezTo>
                  <a:pt x="307469" y="133350"/>
                  <a:pt x="300038" y="140781"/>
                  <a:pt x="300038" y="150019"/>
                </a:cubicBezTo>
                <a:cubicBezTo>
                  <a:pt x="300038" y="159256"/>
                  <a:pt x="307469" y="166688"/>
                  <a:pt x="316706" y="166688"/>
                </a:cubicBezTo>
                <a:lnTo>
                  <a:pt x="350044" y="166688"/>
                </a:lnTo>
                <a:cubicBezTo>
                  <a:pt x="359281" y="166688"/>
                  <a:pt x="366712" y="159256"/>
                  <a:pt x="366712" y="150019"/>
                </a:cubicBezTo>
                <a:cubicBezTo>
                  <a:pt x="366712" y="140781"/>
                  <a:pt x="359281" y="133350"/>
                  <a:pt x="350044" y="133350"/>
                </a:cubicBezTo>
                <a:lnTo>
                  <a:pt x="316706" y="133350"/>
                </a:lnTo>
                <a:close/>
                <a:moveTo>
                  <a:pt x="355600" y="233363"/>
                </a:moveTo>
                <a:cubicBezTo>
                  <a:pt x="355600" y="221096"/>
                  <a:pt x="345641" y="211138"/>
                  <a:pt x="333375" y="211138"/>
                </a:cubicBezTo>
                <a:cubicBezTo>
                  <a:pt x="321109" y="211138"/>
                  <a:pt x="311150" y="221096"/>
                  <a:pt x="311150" y="233363"/>
                </a:cubicBezTo>
                <a:cubicBezTo>
                  <a:pt x="311150" y="245629"/>
                  <a:pt x="321109" y="255587"/>
                  <a:pt x="333375" y="255587"/>
                </a:cubicBezTo>
                <a:cubicBezTo>
                  <a:pt x="345641" y="255587"/>
                  <a:pt x="355600" y="245629"/>
                  <a:pt x="355600" y="233363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562100" y="5562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Japan's Fifth Generation Project (1982)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9500" y="59436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ambitious national project to build AI-capable computers using parallel processing and Prolog.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62000" y="6921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&amp; Decline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7429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Expert systems were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brittle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expensive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lacked learning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By the late 1980s, interest waned — leading to a 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Second AI Winter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62000" y="8382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Grammarly AI History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History of AI — Machine Learning Emerges (1990s)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87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1990s marked a fundamental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paradigm shift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rule-based systems to data-driven Machine Learning. AI began entering everyday life.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2667000"/>
            <a:ext cx="1143000" cy="4064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667000"/>
            <a:ext cx="114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1997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95500" y="2667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Blue Defeats Kasparov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95500" y="3149600"/>
            <a:ext cx="1339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IBM's Deep Blue became the first computer to defeat a reigning world chess champion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3810000"/>
            <a:ext cx="1143000" cy="406400"/>
          </a:xfrm>
          <a:prstGeom prst="roundRect">
            <a:avLst>
              <a:gd name="adj" fmla="val 15000"/>
            </a:avLst>
          </a:prstGeom>
          <a:solidFill>
            <a:srgbClr val="2D2A26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810000"/>
            <a:ext cx="114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1997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95500" y="3810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 Recognition Goes Mainstream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95500" y="4292600"/>
            <a:ext cx="1339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Dragon Systems released the first commercially available speech recognition software for Windows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4953000"/>
            <a:ext cx="1143000" cy="4064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4953000"/>
            <a:ext cx="114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95500" y="4953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Kismet — The Emotional Robot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95500" y="5435600"/>
            <a:ext cx="1339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Cynthia Breazeal developed the first robot that could simulate human emotions with facial expressions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6096000"/>
            <a:ext cx="1143000" cy="406400"/>
          </a:xfrm>
          <a:prstGeom prst="roundRect">
            <a:avLst>
              <a:gd name="adj" fmla="val 15000"/>
            </a:avLst>
          </a:prstGeom>
          <a:solidFill>
            <a:srgbClr val="2D2A26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6096000"/>
            <a:ext cx="114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95500" y="6096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Roomba Enters Homes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95500" y="6578600"/>
            <a:ext cx="1339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first Roomba autonomous vacuum cleaner brought AI into everyday households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2000" y="7239000"/>
            <a:ext cx="1143000" cy="4064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7239000"/>
            <a:ext cx="114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095500" y="7239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NASA Rovers on Mars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095500" y="7721600"/>
            <a:ext cx="1339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Spirit and Opportunity rovers navigated the Martian surface without human intervention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2000" y="8382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Tableau AI History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History of AI — Deep Learning Revolution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87500"/>
            <a:ext cx="762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Shifts That Accelerated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159000"/>
            <a:ext cx="4699000" cy="1143000"/>
          </a:xfrm>
          <a:prstGeom prst="roundRect">
            <a:avLst>
              <a:gd name="adj" fmla="val 5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38225" y="2413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2349500"/>
            <a:ext cx="374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A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Data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A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Web, sensors, digital behavior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2159000"/>
            <a:ext cx="4699000" cy="1143000"/>
          </a:xfrm>
          <a:prstGeom prst="roundRect">
            <a:avLst>
              <a:gd name="adj" fmla="val 5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325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6515100" y="2349500"/>
            <a:ext cx="374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A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Compute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A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GPUs and cloud computing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159000"/>
            <a:ext cx="4699000" cy="1143000"/>
          </a:xfrm>
          <a:prstGeom prst="roundRect">
            <a:avLst>
              <a:gd name="adj" fmla="val 5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490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531600" y="2349500"/>
            <a:ext cx="374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A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Algorithms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2A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breakthroughs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3619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Milestones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191000"/>
          <a:ext cx="14732000" cy="3937000"/>
        </p:xfrm>
        <a:graphic>
          <a:graphicData uri="http://schemas.openxmlformats.org/drawingml/2006/table">
            <a:tbl>
              <a:tblPr/>
              <a:tblGrid>
                <a:gridCol w="1767840"/>
                <a:gridCol w="12964160"/>
              </a:tblGrid>
              <a:tr h="549646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3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Year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3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Milestone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A26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A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2006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A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Twitter, Facebook, Netflix begin using AI for recommendations and UX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A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2011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A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IBM Watson wins Jeopardy! against former champions; Apple releases Siri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1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A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2012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A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Deep learning breakthrough in image recognition — the ImageNet moment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A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2016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A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AlphaGo defeats world champion Lee Sedol at Go — a game of profound complexity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1"/>
                    </a:solidFill>
                  </a:tcPr>
                </a:tc>
              </a:tr>
              <a:tr h="56242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A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2017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A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Transformer architecture introduced — foundation for modern language models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0"/>
                    </a:solidFill>
                  </a:tcPr>
                </a:tc>
              </a:tr>
              <a:tr h="57521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A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2019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2A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AI moves from demos to real-world deployments across industries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E1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762000" y="8382000"/>
            <a:ext cx="889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Swiss Cyber Institute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History of AI — The Modern Era (2020s)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87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2020s brought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Foundation Models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Generative AI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into the mainstream, transforming how we live and work.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26035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90600" y="2794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9074" y="-21431"/>
                </a:moveTo>
                <a:lnTo>
                  <a:pt x="220821" y="7779"/>
                </a:lnTo>
                <a:lnTo>
                  <a:pt x="250031" y="19526"/>
                </a:lnTo>
                <a:cubicBezTo>
                  <a:pt x="252413" y="20479"/>
                  <a:pt x="254000" y="22860"/>
                  <a:pt x="254000" y="25400"/>
                </a:cubicBezTo>
                <a:cubicBezTo>
                  <a:pt x="254000" y="27940"/>
                  <a:pt x="252413" y="30321"/>
                  <a:pt x="250031" y="31274"/>
                </a:cubicBezTo>
                <a:lnTo>
                  <a:pt x="220821" y="43021"/>
                </a:lnTo>
                <a:lnTo>
                  <a:pt x="209074" y="72231"/>
                </a:lnTo>
                <a:cubicBezTo>
                  <a:pt x="208121" y="74613"/>
                  <a:pt x="205740" y="76200"/>
                  <a:pt x="203200" y="76200"/>
                </a:cubicBezTo>
                <a:cubicBezTo>
                  <a:pt x="200660" y="76200"/>
                  <a:pt x="198279" y="74613"/>
                  <a:pt x="197326" y="72231"/>
                </a:cubicBezTo>
                <a:lnTo>
                  <a:pt x="185579" y="43021"/>
                </a:lnTo>
                <a:lnTo>
                  <a:pt x="156369" y="31274"/>
                </a:lnTo>
                <a:cubicBezTo>
                  <a:pt x="153988" y="30321"/>
                  <a:pt x="152400" y="27940"/>
                  <a:pt x="152400" y="25400"/>
                </a:cubicBezTo>
                <a:cubicBezTo>
                  <a:pt x="152400" y="22860"/>
                  <a:pt x="153988" y="20479"/>
                  <a:pt x="156369" y="19526"/>
                </a:cubicBezTo>
                <a:lnTo>
                  <a:pt x="185579" y="7779"/>
                </a:lnTo>
                <a:lnTo>
                  <a:pt x="197326" y="-21431"/>
                </a:lnTo>
                <a:cubicBezTo>
                  <a:pt x="198279" y="-23812"/>
                  <a:pt x="200660" y="-25400"/>
                  <a:pt x="203200" y="-25400"/>
                </a:cubicBezTo>
                <a:cubicBezTo>
                  <a:pt x="205740" y="-25400"/>
                  <a:pt x="208121" y="-23812"/>
                  <a:pt x="209074" y="-21431"/>
                </a:cubicBezTo>
                <a:close/>
                <a:moveTo>
                  <a:pt x="87868" y="33099"/>
                </a:moveTo>
                <a:lnTo>
                  <a:pt x="104934" y="72866"/>
                </a:lnTo>
                <a:lnTo>
                  <a:pt x="144701" y="89932"/>
                </a:lnTo>
                <a:cubicBezTo>
                  <a:pt x="149384" y="91916"/>
                  <a:pt x="152400" y="96520"/>
                  <a:pt x="152400" y="101600"/>
                </a:cubicBezTo>
                <a:cubicBezTo>
                  <a:pt x="152400" y="106680"/>
                  <a:pt x="149384" y="111284"/>
                  <a:pt x="144701" y="113268"/>
                </a:cubicBezTo>
                <a:lnTo>
                  <a:pt x="104934" y="130334"/>
                </a:lnTo>
                <a:lnTo>
                  <a:pt x="87868" y="170101"/>
                </a:lnTo>
                <a:cubicBezTo>
                  <a:pt x="85884" y="174784"/>
                  <a:pt x="81280" y="177800"/>
                  <a:pt x="76200" y="177800"/>
                </a:cubicBezTo>
                <a:cubicBezTo>
                  <a:pt x="71120" y="177800"/>
                  <a:pt x="66516" y="174784"/>
                  <a:pt x="64532" y="170101"/>
                </a:cubicBezTo>
                <a:lnTo>
                  <a:pt x="47466" y="130334"/>
                </a:lnTo>
                <a:lnTo>
                  <a:pt x="7699" y="113268"/>
                </a:lnTo>
                <a:cubicBezTo>
                  <a:pt x="3016" y="111284"/>
                  <a:pt x="0" y="106680"/>
                  <a:pt x="0" y="101600"/>
                </a:cubicBezTo>
                <a:cubicBezTo>
                  <a:pt x="0" y="96520"/>
                  <a:pt x="3016" y="91916"/>
                  <a:pt x="7699" y="89932"/>
                </a:cubicBezTo>
                <a:lnTo>
                  <a:pt x="47466" y="72866"/>
                </a:lnTo>
                <a:lnTo>
                  <a:pt x="64532" y="33099"/>
                </a:lnTo>
                <a:cubicBezTo>
                  <a:pt x="66516" y="28416"/>
                  <a:pt x="71120" y="25400"/>
                  <a:pt x="76200" y="25400"/>
                </a:cubicBezTo>
                <a:cubicBezTo>
                  <a:pt x="81280" y="25400"/>
                  <a:pt x="85884" y="28416"/>
                  <a:pt x="87868" y="33099"/>
                </a:cubicBezTo>
                <a:close/>
                <a:moveTo>
                  <a:pt x="368300" y="241300"/>
                </a:moveTo>
                <a:cubicBezTo>
                  <a:pt x="373380" y="241300"/>
                  <a:pt x="377984" y="244316"/>
                  <a:pt x="379968" y="248999"/>
                </a:cubicBezTo>
                <a:lnTo>
                  <a:pt x="397034" y="288766"/>
                </a:lnTo>
                <a:lnTo>
                  <a:pt x="436801" y="305832"/>
                </a:lnTo>
                <a:cubicBezTo>
                  <a:pt x="441484" y="307816"/>
                  <a:pt x="444500" y="312420"/>
                  <a:pt x="444500" y="317500"/>
                </a:cubicBezTo>
                <a:cubicBezTo>
                  <a:pt x="444500" y="322580"/>
                  <a:pt x="441484" y="327184"/>
                  <a:pt x="436801" y="329168"/>
                </a:cubicBezTo>
                <a:lnTo>
                  <a:pt x="397034" y="346234"/>
                </a:lnTo>
                <a:lnTo>
                  <a:pt x="379968" y="386001"/>
                </a:lnTo>
                <a:cubicBezTo>
                  <a:pt x="377984" y="390684"/>
                  <a:pt x="373380" y="393700"/>
                  <a:pt x="368300" y="393700"/>
                </a:cubicBezTo>
                <a:cubicBezTo>
                  <a:pt x="363220" y="393700"/>
                  <a:pt x="358616" y="390684"/>
                  <a:pt x="356632" y="386001"/>
                </a:cubicBezTo>
                <a:lnTo>
                  <a:pt x="339566" y="346234"/>
                </a:lnTo>
                <a:lnTo>
                  <a:pt x="299799" y="329168"/>
                </a:lnTo>
                <a:cubicBezTo>
                  <a:pt x="295116" y="327184"/>
                  <a:pt x="292100" y="322580"/>
                  <a:pt x="292100" y="317500"/>
                </a:cubicBezTo>
                <a:cubicBezTo>
                  <a:pt x="292100" y="312420"/>
                  <a:pt x="295116" y="307816"/>
                  <a:pt x="299799" y="305832"/>
                </a:cubicBezTo>
                <a:lnTo>
                  <a:pt x="339566" y="288766"/>
                </a:lnTo>
                <a:lnTo>
                  <a:pt x="356632" y="248999"/>
                </a:lnTo>
                <a:cubicBezTo>
                  <a:pt x="358616" y="244316"/>
                  <a:pt x="363220" y="241300"/>
                  <a:pt x="368300" y="241300"/>
                </a:cubicBezTo>
                <a:close/>
                <a:moveTo>
                  <a:pt x="365125" y="0"/>
                </a:moveTo>
                <a:cubicBezTo>
                  <a:pt x="373856" y="0"/>
                  <a:pt x="382270" y="3493"/>
                  <a:pt x="388541" y="9684"/>
                </a:cubicBezTo>
                <a:lnTo>
                  <a:pt x="422116" y="43259"/>
                </a:lnTo>
                <a:cubicBezTo>
                  <a:pt x="428308" y="49530"/>
                  <a:pt x="431800" y="57944"/>
                  <a:pt x="431800" y="66675"/>
                </a:cubicBezTo>
                <a:cubicBezTo>
                  <a:pt x="431800" y="75406"/>
                  <a:pt x="428308" y="83820"/>
                  <a:pt x="422116" y="90091"/>
                </a:cubicBezTo>
                <a:lnTo>
                  <a:pt x="352107" y="160099"/>
                </a:lnTo>
                <a:lnTo>
                  <a:pt x="271701" y="79693"/>
                </a:lnTo>
                <a:lnTo>
                  <a:pt x="341709" y="9684"/>
                </a:lnTo>
                <a:cubicBezTo>
                  <a:pt x="347980" y="3493"/>
                  <a:pt x="356394" y="0"/>
                  <a:pt x="365125" y="0"/>
                </a:cubicBezTo>
                <a:close/>
                <a:moveTo>
                  <a:pt x="35084" y="316309"/>
                </a:moveTo>
                <a:lnTo>
                  <a:pt x="244793" y="106601"/>
                </a:lnTo>
                <a:lnTo>
                  <a:pt x="325199" y="187008"/>
                </a:lnTo>
                <a:lnTo>
                  <a:pt x="115491" y="396716"/>
                </a:lnTo>
                <a:cubicBezTo>
                  <a:pt x="109220" y="402908"/>
                  <a:pt x="100806" y="406400"/>
                  <a:pt x="92075" y="406400"/>
                </a:cubicBezTo>
                <a:cubicBezTo>
                  <a:pt x="83344" y="406400"/>
                  <a:pt x="74930" y="402908"/>
                  <a:pt x="68659" y="396716"/>
                </a:cubicBezTo>
                <a:lnTo>
                  <a:pt x="35084" y="363141"/>
                </a:lnTo>
                <a:cubicBezTo>
                  <a:pt x="28893" y="356870"/>
                  <a:pt x="25400" y="348456"/>
                  <a:pt x="25400" y="339725"/>
                </a:cubicBezTo>
                <a:cubicBezTo>
                  <a:pt x="25400" y="330994"/>
                  <a:pt x="28893" y="322580"/>
                  <a:pt x="35084" y="316309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1549400" y="2794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2766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GPT series, DALL-E, Midjourney, Sora — creating text, images, video, and code from simple prompts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78500" y="26035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81700" y="2794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79400" y="0"/>
                </a:moveTo>
                <a:cubicBezTo>
                  <a:pt x="279400" y="-14049"/>
                  <a:pt x="268049" y="-25400"/>
                  <a:pt x="254000" y="-25400"/>
                </a:cubicBezTo>
                <a:cubicBezTo>
                  <a:pt x="239951" y="-25400"/>
                  <a:pt x="228600" y="-14049"/>
                  <a:pt x="228600" y="0"/>
                </a:cubicBezTo>
                <a:lnTo>
                  <a:pt x="228600" y="50800"/>
                </a:lnTo>
                <a:lnTo>
                  <a:pt x="152400" y="50800"/>
                </a:lnTo>
                <a:cubicBezTo>
                  <a:pt x="110331" y="50800"/>
                  <a:pt x="76200" y="84931"/>
                  <a:pt x="76200" y="127000"/>
                </a:cubicBezTo>
                <a:lnTo>
                  <a:pt x="76200" y="304800"/>
                </a:lnTo>
                <a:cubicBezTo>
                  <a:pt x="76200" y="346869"/>
                  <a:pt x="110331" y="381000"/>
                  <a:pt x="152400" y="381000"/>
                </a:cubicBezTo>
                <a:lnTo>
                  <a:pt x="355600" y="381000"/>
                </a:lnTo>
                <a:cubicBezTo>
                  <a:pt x="397669" y="381000"/>
                  <a:pt x="431800" y="346869"/>
                  <a:pt x="431800" y="304800"/>
                </a:cubicBezTo>
                <a:lnTo>
                  <a:pt x="431800" y="127000"/>
                </a:lnTo>
                <a:cubicBezTo>
                  <a:pt x="431800" y="84931"/>
                  <a:pt x="397669" y="50800"/>
                  <a:pt x="355600" y="50800"/>
                </a:cubicBezTo>
                <a:lnTo>
                  <a:pt x="279400" y="50800"/>
                </a:lnTo>
                <a:lnTo>
                  <a:pt x="279400" y="0"/>
                </a:lnTo>
                <a:close/>
                <a:moveTo>
                  <a:pt x="127000" y="292100"/>
                </a:moveTo>
                <a:cubicBezTo>
                  <a:pt x="127000" y="281543"/>
                  <a:pt x="135493" y="273050"/>
                  <a:pt x="146050" y="273050"/>
                </a:cubicBezTo>
                <a:lnTo>
                  <a:pt x="171450" y="273050"/>
                </a:lnTo>
                <a:cubicBezTo>
                  <a:pt x="182007" y="273050"/>
                  <a:pt x="190500" y="281543"/>
                  <a:pt x="190500" y="292100"/>
                </a:cubicBezTo>
                <a:cubicBezTo>
                  <a:pt x="190500" y="302657"/>
                  <a:pt x="182007" y="311150"/>
                  <a:pt x="171450" y="311150"/>
                </a:cubicBezTo>
                <a:lnTo>
                  <a:pt x="146050" y="311150"/>
                </a:lnTo>
                <a:cubicBezTo>
                  <a:pt x="135493" y="311150"/>
                  <a:pt x="127000" y="302657"/>
                  <a:pt x="127000" y="292100"/>
                </a:cubicBezTo>
                <a:close/>
                <a:moveTo>
                  <a:pt x="222250" y="292100"/>
                </a:moveTo>
                <a:cubicBezTo>
                  <a:pt x="222250" y="281543"/>
                  <a:pt x="230743" y="273050"/>
                  <a:pt x="241300" y="273050"/>
                </a:cubicBezTo>
                <a:lnTo>
                  <a:pt x="266700" y="273050"/>
                </a:lnTo>
                <a:cubicBezTo>
                  <a:pt x="277257" y="273050"/>
                  <a:pt x="285750" y="281543"/>
                  <a:pt x="285750" y="292100"/>
                </a:cubicBezTo>
                <a:cubicBezTo>
                  <a:pt x="285750" y="302657"/>
                  <a:pt x="277257" y="311150"/>
                  <a:pt x="266700" y="311150"/>
                </a:cubicBezTo>
                <a:lnTo>
                  <a:pt x="241300" y="311150"/>
                </a:lnTo>
                <a:cubicBezTo>
                  <a:pt x="230743" y="311150"/>
                  <a:pt x="222250" y="302657"/>
                  <a:pt x="222250" y="292100"/>
                </a:cubicBezTo>
                <a:close/>
                <a:moveTo>
                  <a:pt x="317500" y="292100"/>
                </a:moveTo>
                <a:cubicBezTo>
                  <a:pt x="317500" y="281543"/>
                  <a:pt x="325993" y="273050"/>
                  <a:pt x="336550" y="273050"/>
                </a:cubicBezTo>
                <a:lnTo>
                  <a:pt x="361950" y="273050"/>
                </a:lnTo>
                <a:cubicBezTo>
                  <a:pt x="372507" y="273050"/>
                  <a:pt x="381000" y="281543"/>
                  <a:pt x="381000" y="292100"/>
                </a:cubicBezTo>
                <a:cubicBezTo>
                  <a:pt x="381000" y="302657"/>
                  <a:pt x="372507" y="311150"/>
                  <a:pt x="361950" y="311150"/>
                </a:cubicBezTo>
                <a:lnTo>
                  <a:pt x="336550" y="311150"/>
                </a:lnTo>
                <a:cubicBezTo>
                  <a:pt x="325993" y="311150"/>
                  <a:pt x="317500" y="302657"/>
                  <a:pt x="317500" y="292100"/>
                </a:cubicBezTo>
                <a:close/>
                <a:moveTo>
                  <a:pt x="177800" y="139700"/>
                </a:moveTo>
                <a:cubicBezTo>
                  <a:pt x="198828" y="139700"/>
                  <a:pt x="215900" y="156772"/>
                  <a:pt x="215900" y="177800"/>
                </a:cubicBezTo>
                <a:cubicBezTo>
                  <a:pt x="215900" y="198828"/>
                  <a:pt x="198828" y="215900"/>
                  <a:pt x="177800" y="215900"/>
                </a:cubicBezTo>
                <a:cubicBezTo>
                  <a:pt x="156772" y="215900"/>
                  <a:pt x="139700" y="198828"/>
                  <a:pt x="139700" y="177800"/>
                </a:cubicBezTo>
                <a:cubicBezTo>
                  <a:pt x="139700" y="156772"/>
                  <a:pt x="156772" y="139700"/>
                  <a:pt x="177800" y="139700"/>
                </a:cubicBezTo>
                <a:close/>
                <a:moveTo>
                  <a:pt x="292100" y="177800"/>
                </a:moveTo>
                <a:cubicBezTo>
                  <a:pt x="292100" y="156772"/>
                  <a:pt x="309172" y="139700"/>
                  <a:pt x="330200" y="139700"/>
                </a:cubicBezTo>
                <a:cubicBezTo>
                  <a:pt x="351228" y="139700"/>
                  <a:pt x="368300" y="156772"/>
                  <a:pt x="368300" y="177800"/>
                </a:cubicBezTo>
                <a:cubicBezTo>
                  <a:pt x="368300" y="198828"/>
                  <a:pt x="351228" y="215900"/>
                  <a:pt x="330200" y="215900"/>
                </a:cubicBezTo>
                <a:cubicBezTo>
                  <a:pt x="309172" y="215900"/>
                  <a:pt x="292100" y="198828"/>
                  <a:pt x="292100" y="177800"/>
                </a:cubicBezTo>
                <a:close/>
                <a:moveTo>
                  <a:pt x="50800" y="177800"/>
                </a:moveTo>
                <a:cubicBezTo>
                  <a:pt x="50800" y="163751"/>
                  <a:pt x="39449" y="152400"/>
                  <a:pt x="25400" y="152400"/>
                </a:cubicBezTo>
                <a:cubicBezTo>
                  <a:pt x="11351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11351" y="279400"/>
                  <a:pt x="25400" y="279400"/>
                </a:cubicBezTo>
                <a:cubicBezTo>
                  <a:pt x="39449" y="279400"/>
                  <a:pt x="50800" y="268049"/>
                  <a:pt x="50800" y="254000"/>
                </a:cubicBezTo>
                <a:lnTo>
                  <a:pt x="50800" y="177800"/>
                </a:lnTo>
                <a:close/>
                <a:moveTo>
                  <a:pt x="482600" y="152400"/>
                </a:moveTo>
                <a:cubicBezTo>
                  <a:pt x="468551" y="152400"/>
                  <a:pt x="457200" y="163751"/>
                  <a:pt x="457200" y="177800"/>
                </a:cubicBezTo>
                <a:lnTo>
                  <a:pt x="457200" y="254000"/>
                </a:lnTo>
                <a:cubicBezTo>
                  <a:pt x="457200" y="268049"/>
                  <a:pt x="468551" y="279400"/>
                  <a:pt x="482600" y="279400"/>
                </a:cubicBezTo>
                <a:cubicBezTo>
                  <a:pt x="496649" y="279400"/>
                  <a:pt x="508000" y="268049"/>
                  <a:pt x="508000" y="254000"/>
                </a:cubicBezTo>
                <a:lnTo>
                  <a:pt x="508000" y="177800"/>
                </a:lnTo>
                <a:cubicBezTo>
                  <a:pt x="508000" y="163751"/>
                  <a:pt x="496649" y="152400"/>
                  <a:pt x="482600" y="1524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6565900" y="2794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Agents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32766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Autonomous systems that perform multi-step tasks with minimal human supervision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795000" y="26035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998200" y="2794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304800" y="25400"/>
                </a:moveTo>
                <a:lnTo>
                  <a:pt x="406400" y="25400"/>
                </a:lnTo>
                <a:cubicBezTo>
                  <a:pt x="420449" y="25400"/>
                  <a:pt x="431800" y="36751"/>
                  <a:pt x="431800" y="50800"/>
                </a:cubicBezTo>
                <a:cubicBezTo>
                  <a:pt x="431800" y="64849"/>
                  <a:pt x="420449" y="76200"/>
                  <a:pt x="406400" y="76200"/>
                </a:cubicBezTo>
                <a:lnTo>
                  <a:pt x="316230" y="76200"/>
                </a:lnTo>
                <a:cubicBezTo>
                  <a:pt x="312103" y="96679"/>
                  <a:pt x="298053" y="113586"/>
                  <a:pt x="279400" y="121682"/>
                </a:cubicBezTo>
                <a:lnTo>
                  <a:pt x="279400" y="355600"/>
                </a:lnTo>
                <a:lnTo>
                  <a:pt x="406400" y="355600"/>
                </a:lnTo>
                <a:cubicBezTo>
                  <a:pt x="420449" y="355600"/>
                  <a:pt x="431800" y="366951"/>
                  <a:pt x="431800" y="381000"/>
                </a:cubicBezTo>
                <a:cubicBezTo>
                  <a:pt x="431800" y="395049"/>
                  <a:pt x="420449" y="406400"/>
                  <a:pt x="406400" y="406400"/>
                </a:cubicBezTo>
                <a:lnTo>
                  <a:pt x="101600" y="406400"/>
                </a:lnTo>
                <a:cubicBezTo>
                  <a:pt x="87551" y="406400"/>
                  <a:pt x="76200" y="395049"/>
                  <a:pt x="76200" y="381000"/>
                </a:cubicBezTo>
                <a:cubicBezTo>
                  <a:pt x="76200" y="366951"/>
                  <a:pt x="87551" y="355600"/>
                  <a:pt x="101600" y="355600"/>
                </a:cubicBezTo>
                <a:lnTo>
                  <a:pt x="228600" y="355600"/>
                </a:lnTo>
                <a:lnTo>
                  <a:pt x="228600" y="121682"/>
                </a:lnTo>
                <a:cubicBezTo>
                  <a:pt x="209947" y="113506"/>
                  <a:pt x="195898" y="96599"/>
                  <a:pt x="191770" y="76200"/>
                </a:cubicBezTo>
                <a:lnTo>
                  <a:pt x="101600" y="76200"/>
                </a:lnTo>
                <a:cubicBezTo>
                  <a:pt x="87551" y="76200"/>
                  <a:pt x="76200" y="64849"/>
                  <a:pt x="76200" y="50800"/>
                </a:cubicBezTo>
                <a:cubicBezTo>
                  <a:pt x="76200" y="36751"/>
                  <a:pt x="87551" y="25400"/>
                  <a:pt x="101600" y="25400"/>
                </a:cubicBezTo>
                <a:lnTo>
                  <a:pt x="203200" y="25400"/>
                </a:lnTo>
                <a:cubicBezTo>
                  <a:pt x="214789" y="10001"/>
                  <a:pt x="233204" y="0"/>
                  <a:pt x="254000" y="0"/>
                </a:cubicBezTo>
                <a:cubicBezTo>
                  <a:pt x="274796" y="0"/>
                  <a:pt x="293211" y="10001"/>
                  <a:pt x="304800" y="25400"/>
                </a:cubicBezTo>
                <a:close/>
                <a:moveTo>
                  <a:pt x="348933" y="254000"/>
                </a:moveTo>
                <a:lnTo>
                  <a:pt x="463868" y="254000"/>
                </a:lnTo>
                <a:lnTo>
                  <a:pt x="406400" y="155416"/>
                </a:lnTo>
                <a:lnTo>
                  <a:pt x="348933" y="254000"/>
                </a:lnTo>
                <a:close/>
                <a:moveTo>
                  <a:pt x="406400" y="330200"/>
                </a:moveTo>
                <a:cubicBezTo>
                  <a:pt x="356473" y="330200"/>
                  <a:pt x="314960" y="303213"/>
                  <a:pt x="306388" y="267573"/>
                </a:cubicBezTo>
                <a:cubicBezTo>
                  <a:pt x="304324" y="258842"/>
                  <a:pt x="307181" y="249873"/>
                  <a:pt x="311706" y="242094"/>
                </a:cubicBezTo>
                <a:lnTo>
                  <a:pt x="387271" y="112554"/>
                </a:lnTo>
                <a:cubicBezTo>
                  <a:pt x="391239" y="105728"/>
                  <a:pt x="398542" y="101600"/>
                  <a:pt x="406400" y="101600"/>
                </a:cubicBezTo>
                <a:cubicBezTo>
                  <a:pt x="414258" y="101600"/>
                  <a:pt x="421561" y="105807"/>
                  <a:pt x="425529" y="112554"/>
                </a:cubicBezTo>
                <a:lnTo>
                  <a:pt x="501094" y="242094"/>
                </a:lnTo>
                <a:cubicBezTo>
                  <a:pt x="505619" y="249873"/>
                  <a:pt x="508476" y="258842"/>
                  <a:pt x="506413" y="267573"/>
                </a:cubicBezTo>
                <a:cubicBezTo>
                  <a:pt x="497840" y="303133"/>
                  <a:pt x="456327" y="330200"/>
                  <a:pt x="406400" y="330200"/>
                </a:cubicBezTo>
                <a:close/>
                <a:moveTo>
                  <a:pt x="100648" y="155416"/>
                </a:moveTo>
                <a:lnTo>
                  <a:pt x="43180" y="254000"/>
                </a:lnTo>
                <a:lnTo>
                  <a:pt x="158194" y="254000"/>
                </a:lnTo>
                <a:lnTo>
                  <a:pt x="100648" y="155416"/>
                </a:lnTo>
                <a:close/>
                <a:moveTo>
                  <a:pt x="714" y="267573"/>
                </a:moveTo>
                <a:cubicBezTo>
                  <a:pt x="-1349" y="258842"/>
                  <a:pt x="1508" y="249873"/>
                  <a:pt x="6033" y="242094"/>
                </a:cubicBezTo>
                <a:lnTo>
                  <a:pt x="81598" y="112554"/>
                </a:lnTo>
                <a:cubicBezTo>
                  <a:pt x="85566" y="105728"/>
                  <a:pt x="92869" y="101600"/>
                  <a:pt x="100727" y="101600"/>
                </a:cubicBezTo>
                <a:cubicBezTo>
                  <a:pt x="108585" y="101600"/>
                  <a:pt x="115888" y="105807"/>
                  <a:pt x="119856" y="112554"/>
                </a:cubicBezTo>
                <a:lnTo>
                  <a:pt x="195421" y="242094"/>
                </a:lnTo>
                <a:cubicBezTo>
                  <a:pt x="199946" y="249873"/>
                  <a:pt x="202803" y="258842"/>
                  <a:pt x="200739" y="267573"/>
                </a:cubicBezTo>
                <a:cubicBezTo>
                  <a:pt x="192167" y="303133"/>
                  <a:pt x="150654" y="330200"/>
                  <a:pt x="100727" y="330200"/>
                </a:cubicBezTo>
                <a:cubicBezTo>
                  <a:pt x="50800" y="330200"/>
                  <a:pt x="9287" y="303213"/>
                  <a:pt x="714" y="267573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582400" y="2794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Governance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32766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EU AI Act (2025), 89+ national AI strategies, focus on responsible deployment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2000" y="5524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Multimodal AI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now handles text, images, audio, and video simultaneously. The fundamental question has shifted from </a:t>
            </a:r>
            <a:pPr>
              <a:lnSpc>
                <a:spcPct val="160000"/>
              </a:lnSpc>
            </a:pPr>
            <a:r>
              <a:rPr lang="en-US" sz="2000" i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"Can we build it?"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</a:t>
            </a:r>
            <a:pPr>
              <a:lnSpc>
                <a:spcPct val="160000"/>
              </a:lnSpc>
            </a:pPr>
            <a:r>
              <a:rPr lang="en-US" sz="2000" i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"How do we deploy it responsibly?"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making AI governance a critical business and societal concern.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62000" y="6731000"/>
            <a:ext cx="14732000" cy="1397000"/>
          </a:xfrm>
          <a:prstGeom prst="roundRect">
            <a:avLst>
              <a:gd name="adj" fmla="val 3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79500" y="685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AI Journey at a Glance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9500" y="72390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2A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1950s: Origins → 1970s: First AI Winter → 1980s: Expert Systems → 1990s: Machine Learning → 2000s: Deep Learning → 2010s: Big Data → 2020s: Generative AI &amp; Foundation Models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8382000"/>
            <a:ext cx="889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Simplilearn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cx5x7r5qmhl4q/mnt/agents/output/ai-week1/images/3_A_futuristic_robot_with_a_black_metallic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1C1A">
                  <a:alpha val="91000"/>
                </a:srgbClr>
              </a:gs>
              <a:gs pos="60000">
                <a:srgbClr val="1E1C1A">
                  <a:alpha val="75000"/>
                </a:srgbClr>
              </a:gs>
              <a:gs pos="100000">
                <a:srgbClr val="1E1C1A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8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0" b="1" dirty="0">
                <a:solidFill>
                  <a:srgbClr val="F5F3F0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4318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572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spc="200" kern="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CHAPTER TWO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62000" y="4953000"/>
            <a:ext cx="1016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Components, Agents &amp; Applications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762000" y="5969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5F3F0">
                    <a:alpha val="62745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2 — Building Blocks of Intelligent Systems</a:t>
            </a:r>
            <a:endParaRPr lang="en-US" sz="2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Components of AI —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24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is built on several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disciplines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work together to create intelligent systems. Each component addresses a different aspect of human-like intelligence.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2540000"/>
            <a:ext cx="4699000" cy="1524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73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1549400" y="2730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175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Algorithms that learn patterns from data to make predictions and decisions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78500" y="2540000"/>
            <a:ext cx="4699000" cy="1524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07100" y="2730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27000" y="0"/>
                </a:moveTo>
                <a:cubicBezTo>
                  <a:pt x="141049" y="0"/>
                  <a:pt x="152400" y="11351"/>
                  <a:pt x="152400" y="25400"/>
                </a:cubicBezTo>
                <a:lnTo>
                  <a:pt x="152400" y="50800"/>
                </a:lnTo>
                <a:lnTo>
                  <a:pt x="254000" y="50800"/>
                </a:lnTo>
                <a:cubicBezTo>
                  <a:pt x="268049" y="50800"/>
                  <a:pt x="279400" y="62151"/>
                  <a:pt x="279400" y="76200"/>
                </a:cubicBezTo>
                <a:cubicBezTo>
                  <a:pt x="279400" y="90249"/>
                  <a:pt x="268049" y="101600"/>
                  <a:pt x="254000" y="101600"/>
                </a:cubicBezTo>
                <a:lnTo>
                  <a:pt x="246380" y="101600"/>
                </a:lnTo>
                <a:lnTo>
                  <a:pt x="239713" y="119936"/>
                </a:lnTo>
                <a:cubicBezTo>
                  <a:pt x="226695" y="155813"/>
                  <a:pt x="207089" y="188595"/>
                  <a:pt x="182404" y="216773"/>
                </a:cubicBezTo>
                <a:cubicBezTo>
                  <a:pt x="193675" y="223758"/>
                  <a:pt x="205423" y="229949"/>
                  <a:pt x="217646" y="235426"/>
                </a:cubicBezTo>
                <a:lnTo>
                  <a:pt x="257651" y="253206"/>
                </a:lnTo>
                <a:lnTo>
                  <a:pt x="307023" y="142081"/>
                </a:lnTo>
                <a:cubicBezTo>
                  <a:pt x="311071" y="132874"/>
                  <a:pt x="320199" y="127000"/>
                  <a:pt x="330200" y="127000"/>
                </a:cubicBezTo>
                <a:cubicBezTo>
                  <a:pt x="340201" y="127000"/>
                  <a:pt x="349329" y="132874"/>
                  <a:pt x="353377" y="142081"/>
                </a:cubicBezTo>
                <a:lnTo>
                  <a:pt x="454977" y="370681"/>
                </a:lnTo>
                <a:cubicBezTo>
                  <a:pt x="460692" y="383540"/>
                  <a:pt x="454898" y="398542"/>
                  <a:pt x="442119" y="404178"/>
                </a:cubicBezTo>
                <a:cubicBezTo>
                  <a:pt x="429339" y="409813"/>
                  <a:pt x="414258" y="404098"/>
                  <a:pt x="408622" y="391319"/>
                </a:cubicBezTo>
                <a:lnTo>
                  <a:pt x="392747" y="355600"/>
                </a:lnTo>
                <a:lnTo>
                  <a:pt x="267732" y="355600"/>
                </a:lnTo>
                <a:lnTo>
                  <a:pt x="251857" y="391319"/>
                </a:lnTo>
                <a:cubicBezTo>
                  <a:pt x="246142" y="404178"/>
                  <a:pt x="231140" y="409892"/>
                  <a:pt x="218361" y="404178"/>
                </a:cubicBezTo>
                <a:cubicBezTo>
                  <a:pt x="205581" y="398463"/>
                  <a:pt x="199787" y="383461"/>
                  <a:pt x="205502" y="370681"/>
                </a:cubicBezTo>
                <a:lnTo>
                  <a:pt x="237093" y="299641"/>
                </a:lnTo>
                <a:lnTo>
                  <a:pt x="197088" y="281861"/>
                </a:lnTo>
                <a:cubicBezTo>
                  <a:pt x="178832" y="273764"/>
                  <a:pt x="161369" y="264081"/>
                  <a:pt x="144859" y="252968"/>
                </a:cubicBezTo>
                <a:cubicBezTo>
                  <a:pt x="127952" y="266621"/>
                  <a:pt x="109458" y="278527"/>
                  <a:pt x="89694" y="288449"/>
                </a:cubicBezTo>
                <a:lnTo>
                  <a:pt x="62151" y="302101"/>
                </a:lnTo>
                <a:cubicBezTo>
                  <a:pt x="49609" y="308372"/>
                  <a:pt x="34369" y="303292"/>
                  <a:pt x="28099" y="290751"/>
                </a:cubicBezTo>
                <a:cubicBezTo>
                  <a:pt x="21828" y="278209"/>
                  <a:pt x="26908" y="262969"/>
                  <a:pt x="39449" y="256699"/>
                </a:cubicBezTo>
                <a:lnTo>
                  <a:pt x="66834" y="242967"/>
                </a:lnTo>
                <a:cubicBezTo>
                  <a:pt x="79772" y="236458"/>
                  <a:pt x="92075" y="228918"/>
                  <a:pt x="103664" y="220504"/>
                </a:cubicBezTo>
                <a:cubicBezTo>
                  <a:pt x="92710" y="210423"/>
                  <a:pt x="82391" y="199549"/>
                  <a:pt x="72787" y="188039"/>
                </a:cubicBezTo>
                <a:lnTo>
                  <a:pt x="64770" y="178356"/>
                </a:lnTo>
                <a:cubicBezTo>
                  <a:pt x="55801" y="167561"/>
                  <a:pt x="57229" y="151527"/>
                  <a:pt x="68024" y="142558"/>
                </a:cubicBezTo>
                <a:cubicBezTo>
                  <a:pt x="78819" y="133588"/>
                  <a:pt x="94853" y="135017"/>
                  <a:pt x="103822" y="145812"/>
                </a:cubicBezTo>
                <a:lnTo>
                  <a:pt x="111919" y="155496"/>
                </a:lnTo>
                <a:cubicBezTo>
                  <a:pt x="121047" y="166529"/>
                  <a:pt x="131048" y="176768"/>
                  <a:pt x="141605" y="186214"/>
                </a:cubicBezTo>
                <a:cubicBezTo>
                  <a:pt x="163433" y="162084"/>
                  <a:pt x="180657" y="133747"/>
                  <a:pt x="192008" y="102552"/>
                </a:cubicBezTo>
                <a:lnTo>
                  <a:pt x="192405" y="101600"/>
                </a:lnTo>
                <a:lnTo>
                  <a:pt x="25479" y="101600"/>
                </a:lnTo>
                <a:cubicBezTo>
                  <a:pt x="11351" y="101600"/>
                  <a:pt x="0" y="90249"/>
                  <a:pt x="0" y="76200"/>
                </a:cubicBezTo>
                <a:cubicBezTo>
                  <a:pt x="0" y="62151"/>
                  <a:pt x="11351" y="50800"/>
                  <a:pt x="25400" y="50800"/>
                </a:cubicBezTo>
                <a:lnTo>
                  <a:pt x="101600" y="50800"/>
                </a:lnTo>
                <a:lnTo>
                  <a:pt x="101600" y="25400"/>
                </a:lnTo>
                <a:cubicBezTo>
                  <a:pt x="101600" y="11351"/>
                  <a:pt x="112951" y="0"/>
                  <a:pt x="127000" y="0"/>
                </a:cubicBezTo>
                <a:close/>
                <a:moveTo>
                  <a:pt x="330200" y="214948"/>
                </a:moveTo>
                <a:lnTo>
                  <a:pt x="290274" y="304800"/>
                </a:lnTo>
                <a:lnTo>
                  <a:pt x="370126" y="304800"/>
                </a:lnTo>
                <a:lnTo>
                  <a:pt x="330200" y="214948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6565900" y="2730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Processing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3175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and generating human language — text and speech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795000" y="2540000"/>
            <a:ext cx="4699000" cy="1524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023600" y="2730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25400"/>
                </a:moveTo>
                <a:cubicBezTo>
                  <a:pt x="164465" y="25400"/>
                  <a:pt x="113109" y="54610"/>
                  <a:pt x="75724" y="89376"/>
                </a:cubicBezTo>
                <a:cubicBezTo>
                  <a:pt x="38576" y="123904"/>
                  <a:pt x="13732" y="165100"/>
                  <a:pt x="1905" y="193437"/>
                </a:cubicBezTo>
                <a:cubicBezTo>
                  <a:pt x="-714" y="199708"/>
                  <a:pt x="-714" y="206692"/>
                  <a:pt x="1905" y="212963"/>
                </a:cubicBezTo>
                <a:cubicBezTo>
                  <a:pt x="13732" y="241300"/>
                  <a:pt x="38576" y="282575"/>
                  <a:pt x="75724" y="317024"/>
                </a:cubicBezTo>
                <a:cubicBezTo>
                  <a:pt x="113109" y="351711"/>
                  <a:pt x="164465" y="381000"/>
                  <a:pt x="228600" y="381000"/>
                </a:cubicBezTo>
                <a:cubicBezTo>
                  <a:pt x="292735" y="381000"/>
                  <a:pt x="344091" y="351790"/>
                  <a:pt x="381476" y="317024"/>
                </a:cubicBezTo>
                <a:cubicBezTo>
                  <a:pt x="418624" y="282496"/>
                  <a:pt x="443468" y="241300"/>
                  <a:pt x="455295" y="212963"/>
                </a:cubicBezTo>
                <a:cubicBezTo>
                  <a:pt x="457914" y="206692"/>
                  <a:pt x="457914" y="199707"/>
                  <a:pt x="455295" y="193437"/>
                </a:cubicBezTo>
                <a:cubicBezTo>
                  <a:pt x="443468" y="165100"/>
                  <a:pt x="418624" y="123825"/>
                  <a:pt x="381476" y="89376"/>
                </a:cubicBezTo>
                <a:cubicBezTo>
                  <a:pt x="344091" y="54689"/>
                  <a:pt x="292735" y="25400"/>
                  <a:pt x="228600" y="25400"/>
                </a:cubicBezTo>
                <a:close/>
                <a:moveTo>
                  <a:pt x="114300" y="203200"/>
                </a:moveTo>
                <a:cubicBezTo>
                  <a:pt x="114300" y="140116"/>
                  <a:pt x="165516" y="88900"/>
                  <a:pt x="228600" y="88900"/>
                </a:cubicBezTo>
                <a:cubicBezTo>
                  <a:pt x="291684" y="88900"/>
                  <a:pt x="342900" y="140116"/>
                  <a:pt x="342900" y="203200"/>
                </a:cubicBezTo>
                <a:cubicBezTo>
                  <a:pt x="342900" y="266284"/>
                  <a:pt x="291684" y="317500"/>
                  <a:pt x="228600" y="317500"/>
                </a:cubicBezTo>
                <a:cubicBezTo>
                  <a:pt x="165516" y="317500"/>
                  <a:pt x="114300" y="266284"/>
                  <a:pt x="114300" y="203200"/>
                </a:cubicBezTo>
                <a:close/>
                <a:moveTo>
                  <a:pt x="228600" y="152400"/>
                </a:moveTo>
                <a:cubicBezTo>
                  <a:pt x="228600" y="180419"/>
                  <a:pt x="205819" y="203200"/>
                  <a:pt x="177800" y="203200"/>
                </a:cubicBezTo>
                <a:cubicBezTo>
                  <a:pt x="168672" y="203200"/>
                  <a:pt x="160099" y="200819"/>
                  <a:pt x="152638" y="196533"/>
                </a:cubicBezTo>
                <a:cubicBezTo>
                  <a:pt x="151844" y="205184"/>
                  <a:pt x="152559" y="214074"/>
                  <a:pt x="154940" y="222885"/>
                </a:cubicBezTo>
                <a:cubicBezTo>
                  <a:pt x="165814" y="263525"/>
                  <a:pt x="207645" y="287655"/>
                  <a:pt x="248285" y="276781"/>
                </a:cubicBezTo>
                <a:cubicBezTo>
                  <a:pt x="288925" y="265906"/>
                  <a:pt x="313055" y="224076"/>
                  <a:pt x="302181" y="183436"/>
                </a:cubicBezTo>
                <a:cubicBezTo>
                  <a:pt x="292497" y="147161"/>
                  <a:pt x="258128" y="124063"/>
                  <a:pt x="221933" y="127238"/>
                </a:cubicBezTo>
                <a:cubicBezTo>
                  <a:pt x="226139" y="134620"/>
                  <a:pt x="228600" y="143193"/>
                  <a:pt x="228600" y="1524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582400" y="2730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3175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Interpreting visual information — images, video, and spatial data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381500"/>
            <a:ext cx="4699000" cy="1524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65200" y="4572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79400" y="0"/>
                </a:moveTo>
                <a:cubicBezTo>
                  <a:pt x="279400" y="-14049"/>
                  <a:pt x="268049" y="-25400"/>
                  <a:pt x="254000" y="-25400"/>
                </a:cubicBezTo>
                <a:cubicBezTo>
                  <a:pt x="239951" y="-25400"/>
                  <a:pt x="228600" y="-14049"/>
                  <a:pt x="228600" y="0"/>
                </a:cubicBezTo>
                <a:lnTo>
                  <a:pt x="228600" y="50800"/>
                </a:lnTo>
                <a:lnTo>
                  <a:pt x="152400" y="50800"/>
                </a:lnTo>
                <a:cubicBezTo>
                  <a:pt x="110331" y="50800"/>
                  <a:pt x="76200" y="84931"/>
                  <a:pt x="76200" y="127000"/>
                </a:cubicBezTo>
                <a:lnTo>
                  <a:pt x="76200" y="304800"/>
                </a:lnTo>
                <a:cubicBezTo>
                  <a:pt x="76200" y="346869"/>
                  <a:pt x="110331" y="381000"/>
                  <a:pt x="152400" y="381000"/>
                </a:cubicBezTo>
                <a:lnTo>
                  <a:pt x="355600" y="381000"/>
                </a:lnTo>
                <a:cubicBezTo>
                  <a:pt x="397669" y="381000"/>
                  <a:pt x="431800" y="346869"/>
                  <a:pt x="431800" y="304800"/>
                </a:cubicBezTo>
                <a:lnTo>
                  <a:pt x="431800" y="127000"/>
                </a:lnTo>
                <a:cubicBezTo>
                  <a:pt x="431800" y="84931"/>
                  <a:pt x="397669" y="50800"/>
                  <a:pt x="355600" y="50800"/>
                </a:cubicBezTo>
                <a:lnTo>
                  <a:pt x="279400" y="50800"/>
                </a:lnTo>
                <a:lnTo>
                  <a:pt x="279400" y="0"/>
                </a:lnTo>
                <a:close/>
                <a:moveTo>
                  <a:pt x="127000" y="292100"/>
                </a:moveTo>
                <a:cubicBezTo>
                  <a:pt x="127000" y="281543"/>
                  <a:pt x="135493" y="273050"/>
                  <a:pt x="146050" y="273050"/>
                </a:cubicBezTo>
                <a:lnTo>
                  <a:pt x="171450" y="273050"/>
                </a:lnTo>
                <a:cubicBezTo>
                  <a:pt x="182007" y="273050"/>
                  <a:pt x="190500" y="281543"/>
                  <a:pt x="190500" y="292100"/>
                </a:cubicBezTo>
                <a:cubicBezTo>
                  <a:pt x="190500" y="302657"/>
                  <a:pt x="182007" y="311150"/>
                  <a:pt x="171450" y="311150"/>
                </a:cubicBezTo>
                <a:lnTo>
                  <a:pt x="146050" y="311150"/>
                </a:lnTo>
                <a:cubicBezTo>
                  <a:pt x="135493" y="311150"/>
                  <a:pt x="127000" y="302657"/>
                  <a:pt x="127000" y="292100"/>
                </a:cubicBezTo>
                <a:close/>
                <a:moveTo>
                  <a:pt x="222250" y="292100"/>
                </a:moveTo>
                <a:cubicBezTo>
                  <a:pt x="222250" y="281543"/>
                  <a:pt x="230743" y="273050"/>
                  <a:pt x="241300" y="273050"/>
                </a:cubicBezTo>
                <a:lnTo>
                  <a:pt x="266700" y="273050"/>
                </a:lnTo>
                <a:cubicBezTo>
                  <a:pt x="277257" y="273050"/>
                  <a:pt x="285750" y="281543"/>
                  <a:pt x="285750" y="292100"/>
                </a:cubicBezTo>
                <a:cubicBezTo>
                  <a:pt x="285750" y="302657"/>
                  <a:pt x="277257" y="311150"/>
                  <a:pt x="266700" y="311150"/>
                </a:cubicBezTo>
                <a:lnTo>
                  <a:pt x="241300" y="311150"/>
                </a:lnTo>
                <a:cubicBezTo>
                  <a:pt x="230743" y="311150"/>
                  <a:pt x="222250" y="302657"/>
                  <a:pt x="222250" y="292100"/>
                </a:cubicBezTo>
                <a:close/>
                <a:moveTo>
                  <a:pt x="317500" y="292100"/>
                </a:moveTo>
                <a:cubicBezTo>
                  <a:pt x="317500" y="281543"/>
                  <a:pt x="325993" y="273050"/>
                  <a:pt x="336550" y="273050"/>
                </a:cubicBezTo>
                <a:lnTo>
                  <a:pt x="361950" y="273050"/>
                </a:lnTo>
                <a:cubicBezTo>
                  <a:pt x="372507" y="273050"/>
                  <a:pt x="381000" y="281543"/>
                  <a:pt x="381000" y="292100"/>
                </a:cubicBezTo>
                <a:cubicBezTo>
                  <a:pt x="381000" y="302657"/>
                  <a:pt x="372507" y="311150"/>
                  <a:pt x="361950" y="311150"/>
                </a:cubicBezTo>
                <a:lnTo>
                  <a:pt x="336550" y="311150"/>
                </a:lnTo>
                <a:cubicBezTo>
                  <a:pt x="325993" y="311150"/>
                  <a:pt x="317500" y="302657"/>
                  <a:pt x="317500" y="292100"/>
                </a:cubicBezTo>
                <a:close/>
                <a:moveTo>
                  <a:pt x="177800" y="139700"/>
                </a:moveTo>
                <a:cubicBezTo>
                  <a:pt x="198828" y="139700"/>
                  <a:pt x="215900" y="156772"/>
                  <a:pt x="215900" y="177800"/>
                </a:cubicBezTo>
                <a:cubicBezTo>
                  <a:pt x="215900" y="198828"/>
                  <a:pt x="198828" y="215900"/>
                  <a:pt x="177800" y="215900"/>
                </a:cubicBezTo>
                <a:cubicBezTo>
                  <a:pt x="156772" y="215900"/>
                  <a:pt x="139700" y="198828"/>
                  <a:pt x="139700" y="177800"/>
                </a:cubicBezTo>
                <a:cubicBezTo>
                  <a:pt x="139700" y="156772"/>
                  <a:pt x="156772" y="139700"/>
                  <a:pt x="177800" y="139700"/>
                </a:cubicBezTo>
                <a:close/>
                <a:moveTo>
                  <a:pt x="292100" y="177800"/>
                </a:moveTo>
                <a:cubicBezTo>
                  <a:pt x="292100" y="156772"/>
                  <a:pt x="309172" y="139700"/>
                  <a:pt x="330200" y="139700"/>
                </a:cubicBezTo>
                <a:cubicBezTo>
                  <a:pt x="351228" y="139700"/>
                  <a:pt x="368300" y="156772"/>
                  <a:pt x="368300" y="177800"/>
                </a:cubicBezTo>
                <a:cubicBezTo>
                  <a:pt x="368300" y="198828"/>
                  <a:pt x="351228" y="215900"/>
                  <a:pt x="330200" y="215900"/>
                </a:cubicBezTo>
                <a:cubicBezTo>
                  <a:pt x="309172" y="215900"/>
                  <a:pt x="292100" y="198828"/>
                  <a:pt x="292100" y="177800"/>
                </a:cubicBezTo>
                <a:close/>
                <a:moveTo>
                  <a:pt x="50800" y="177800"/>
                </a:moveTo>
                <a:cubicBezTo>
                  <a:pt x="50800" y="163751"/>
                  <a:pt x="39449" y="152400"/>
                  <a:pt x="25400" y="152400"/>
                </a:cubicBezTo>
                <a:cubicBezTo>
                  <a:pt x="11351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11351" y="279400"/>
                  <a:pt x="25400" y="279400"/>
                </a:cubicBezTo>
                <a:cubicBezTo>
                  <a:pt x="39449" y="279400"/>
                  <a:pt x="50800" y="268049"/>
                  <a:pt x="50800" y="254000"/>
                </a:cubicBezTo>
                <a:lnTo>
                  <a:pt x="50800" y="177800"/>
                </a:lnTo>
                <a:close/>
                <a:moveTo>
                  <a:pt x="482600" y="152400"/>
                </a:moveTo>
                <a:cubicBezTo>
                  <a:pt x="468551" y="152400"/>
                  <a:pt x="457200" y="163751"/>
                  <a:pt x="457200" y="177800"/>
                </a:cubicBezTo>
                <a:lnTo>
                  <a:pt x="457200" y="254000"/>
                </a:lnTo>
                <a:cubicBezTo>
                  <a:pt x="457200" y="268049"/>
                  <a:pt x="468551" y="279400"/>
                  <a:pt x="482600" y="279400"/>
                </a:cubicBezTo>
                <a:cubicBezTo>
                  <a:pt x="496649" y="279400"/>
                  <a:pt x="508000" y="268049"/>
                  <a:pt x="508000" y="254000"/>
                </a:cubicBezTo>
                <a:lnTo>
                  <a:pt x="508000" y="177800"/>
                </a:lnTo>
                <a:cubicBezTo>
                  <a:pt x="508000" y="163751"/>
                  <a:pt x="496649" y="152400"/>
                  <a:pt x="482600" y="1524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549400" y="4572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Robotics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5016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Physical interaction with the world through sensors and actuators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78500" y="4381500"/>
            <a:ext cx="4699000" cy="1524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032500" y="457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2400" y="50800"/>
                </a:moveTo>
                <a:cubicBezTo>
                  <a:pt x="152400" y="36751"/>
                  <a:pt x="163751" y="25400"/>
                  <a:pt x="177800" y="25400"/>
                </a:cubicBezTo>
                <a:lnTo>
                  <a:pt x="228600" y="25400"/>
                </a:lnTo>
                <a:cubicBezTo>
                  <a:pt x="242649" y="25400"/>
                  <a:pt x="254000" y="36751"/>
                  <a:pt x="254000" y="508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222250" y="127000"/>
                </a:lnTo>
                <a:lnTo>
                  <a:pt x="222250" y="177800"/>
                </a:lnTo>
                <a:lnTo>
                  <a:pt x="317500" y="177800"/>
                </a:lnTo>
                <a:cubicBezTo>
                  <a:pt x="349091" y="177800"/>
                  <a:pt x="374650" y="203359"/>
                  <a:pt x="374650" y="234950"/>
                </a:cubicBezTo>
                <a:lnTo>
                  <a:pt x="37465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30200" y="381000"/>
                </a:lnTo>
                <a:cubicBezTo>
                  <a:pt x="316151" y="381000"/>
                  <a:pt x="304800" y="369649"/>
                  <a:pt x="304800" y="355600"/>
                </a:cubicBezTo>
                <a:lnTo>
                  <a:pt x="304800" y="304800"/>
                </a:lnTo>
                <a:cubicBezTo>
                  <a:pt x="304800" y="290751"/>
                  <a:pt x="316151" y="279400"/>
                  <a:pt x="330200" y="279400"/>
                </a:cubicBezTo>
                <a:lnTo>
                  <a:pt x="336550" y="279400"/>
                </a:lnTo>
                <a:lnTo>
                  <a:pt x="336550" y="234950"/>
                </a:lnTo>
                <a:cubicBezTo>
                  <a:pt x="336550" y="224393"/>
                  <a:pt x="328057" y="215900"/>
                  <a:pt x="317500" y="215900"/>
                </a:cubicBezTo>
                <a:lnTo>
                  <a:pt x="222250" y="215900"/>
                </a:lnTo>
                <a:lnTo>
                  <a:pt x="222250" y="279400"/>
                </a:lnTo>
                <a:lnTo>
                  <a:pt x="228600" y="279400"/>
                </a:lnTo>
                <a:cubicBezTo>
                  <a:pt x="242649" y="279400"/>
                  <a:pt x="254000" y="290751"/>
                  <a:pt x="254000" y="304800"/>
                </a:cubicBezTo>
                <a:lnTo>
                  <a:pt x="254000" y="355600"/>
                </a:lnTo>
                <a:cubicBezTo>
                  <a:pt x="254000" y="369649"/>
                  <a:pt x="242649" y="381000"/>
                  <a:pt x="228600" y="381000"/>
                </a:cubicBezTo>
                <a:lnTo>
                  <a:pt x="177800" y="381000"/>
                </a:lnTo>
                <a:cubicBezTo>
                  <a:pt x="163751" y="381000"/>
                  <a:pt x="152400" y="369649"/>
                  <a:pt x="152400" y="355600"/>
                </a:cubicBezTo>
                <a:lnTo>
                  <a:pt x="152400" y="304800"/>
                </a:lnTo>
                <a:cubicBezTo>
                  <a:pt x="152400" y="290751"/>
                  <a:pt x="163751" y="279400"/>
                  <a:pt x="177800" y="279400"/>
                </a:cubicBezTo>
                <a:lnTo>
                  <a:pt x="184150" y="279400"/>
                </a:lnTo>
                <a:lnTo>
                  <a:pt x="184150" y="215900"/>
                </a:lnTo>
                <a:lnTo>
                  <a:pt x="88900" y="215900"/>
                </a:lnTo>
                <a:cubicBezTo>
                  <a:pt x="78343" y="215900"/>
                  <a:pt x="69850" y="224393"/>
                  <a:pt x="69850" y="234950"/>
                </a:cubicBezTo>
                <a:lnTo>
                  <a:pt x="69850" y="279400"/>
                </a:lnTo>
                <a:lnTo>
                  <a:pt x="76200" y="279400"/>
                </a:lnTo>
                <a:cubicBezTo>
                  <a:pt x="90249" y="279400"/>
                  <a:pt x="101600" y="290751"/>
                  <a:pt x="101600" y="304800"/>
                </a:cubicBezTo>
                <a:lnTo>
                  <a:pt x="101600" y="355600"/>
                </a:lnTo>
                <a:cubicBezTo>
                  <a:pt x="101600" y="369649"/>
                  <a:pt x="90249" y="381000"/>
                  <a:pt x="762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04800"/>
                </a:lnTo>
                <a:cubicBezTo>
                  <a:pt x="0" y="290751"/>
                  <a:pt x="11351" y="279400"/>
                  <a:pt x="25400" y="279400"/>
                </a:cubicBezTo>
                <a:lnTo>
                  <a:pt x="31750" y="279400"/>
                </a:lnTo>
                <a:lnTo>
                  <a:pt x="31750" y="234950"/>
                </a:lnTo>
                <a:cubicBezTo>
                  <a:pt x="31750" y="203359"/>
                  <a:pt x="57309" y="177800"/>
                  <a:pt x="88900" y="177800"/>
                </a:cubicBezTo>
                <a:lnTo>
                  <a:pt x="184150" y="177800"/>
                </a:lnTo>
                <a:lnTo>
                  <a:pt x="184150" y="127000"/>
                </a:lnTo>
                <a:lnTo>
                  <a:pt x="177800" y="127000"/>
                </a:lnTo>
                <a:cubicBezTo>
                  <a:pt x="163751" y="127000"/>
                  <a:pt x="152400" y="115649"/>
                  <a:pt x="152400" y="101600"/>
                </a:cubicBezTo>
                <a:lnTo>
                  <a:pt x="152400" y="50800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900" y="4572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Representation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2500" y="5016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Storing and organizing information in structured formats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795000" y="4381500"/>
            <a:ext cx="4699000" cy="1524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998200" y="4572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330121" y="167084"/>
                </a:moveTo>
                <a:cubicBezTo>
                  <a:pt x="339804" y="164465"/>
                  <a:pt x="349964" y="169069"/>
                  <a:pt x="354330" y="178038"/>
                </a:cubicBezTo>
                <a:lnTo>
                  <a:pt x="369094" y="207883"/>
                </a:lnTo>
                <a:cubicBezTo>
                  <a:pt x="377269" y="208994"/>
                  <a:pt x="385286" y="211217"/>
                  <a:pt x="392827" y="214313"/>
                </a:cubicBezTo>
                <a:lnTo>
                  <a:pt x="420608" y="195818"/>
                </a:lnTo>
                <a:cubicBezTo>
                  <a:pt x="428943" y="190262"/>
                  <a:pt x="439976" y="191373"/>
                  <a:pt x="447040" y="198438"/>
                </a:cubicBezTo>
                <a:lnTo>
                  <a:pt x="462280" y="213678"/>
                </a:lnTo>
                <a:cubicBezTo>
                  <a:pt x="469344" y="220742"/>
                  <a:pt x="470456" y="231854"/>
                  <a:pt x="464899" y="240109"/>
                </a:cubicBezTo>
                <a:lnTo>
                  <a:pt x="446405" y="267811"/>
                </a:lnTo>
                <a:cubicBezTo>
                  <a:pt x="447913" y="271542"/>
                  <a:pt x="449263" y="275431"/>
                  <a:pt x="450374" y="279479"/>
                </a:cubicBezTo>
                <a:cubicBezTo>
                  <a:pt x="451485" y="283528"/>
                  <a:pt x="452199" y="287496"/>
                  <a:pt x="452755" y="291544"/>
                </a:cubicBezTo>
                <a:lnTo>
                  <a:pt x="482679" y="306308"/>
                </a:lnTo>
                <a:cubicBezTo>
                  <a:pt x="491649" y="310753"/>
                  <a:pt x="496253" y="320913"/>
                  <a:pt x="493633" y="330518"/>
                </a:cubicBezTo>
                <a:lnTo>
                  <a:pt x="488077" y="351314"/>
                </a:lnTo>
                <a:cubicBezTo>
                  <a:pt x="485458" y="360918"/>
                  <a:pt x="476488" y="367427"/>
                  <a:pt x="466487" y="366792"/>
                </a:cubicBezTo>
                <a:lnTo>
                  <a:pt x="433149" y="364649"/>
                </a:lnTo>
                <a:cubicBezTo>
                  <a:pt x="428149" y="371078"/>
                  <a:pt x="422354" y="377031"/>
                  <a:pt x="415766" y="382111"/>
                </a:cubicBezTo>
                <a:lnTo>
                  <a:pt x="417909" y="415369"/>
                </a:lnTo>
                <a:cubicBezTo>
                  <a:pt x="418544" y="425371"/>
                  <a:pt x="412036" y="434419"/>
                  <a:pt x="402431" y="436959"/>
                </a:cubicBezTo>
                <a:lnTo>
                  <a:pt x="381635" y="442516"/>
                </a:lnTo>
                <a:cubicBezTo>
                  <a:pt x="371951" y="445135"/>
                  <a:pt x="361871" y="440531"/>
                  <a:pt x="357426" y="431562"/>
                </a:cubicBezTo>
                <a:lnTo>
                  <a:pt x="342662" y="401717"/>
                </a:lnTo>
                <a:cubicBezTo>
                  <a:pt x="334486" y="400606"/>
                  <a:pt x="326469" y="398383"/>
                  <a:pt x="318929" y="395288"/>
                </a:cubicBezTo>
                <a:lnTo>
                  <a:pt x="291148" y="413782"/>
                </a:lnTo>
                <a:cubicBezTo>
                  <a:pt x="282813" y="419338"/>
                  <a:pt x="271780" y="418227"/>
                  <a:pt x="264716" y="411163"/>
                </a:cubicBezTo>
                <a:lnTo>
                  <a:pt x="249476" y="395923"/>
                </a:lnTo>
                <a:cubicBezTo>
                  <a:pt x="242411" y="388858"/>
                  <a:pt x="241300" y="377825"/>
                  <a:pt x="246856" y="369491"/>
                </a:cubicBezTo>
                <a:lnTo>
                  <a:pt x="265351" y="341709"/>
                </a:lnTo>
                <a:cubicBezTo>
                  <a:pt x="263843" y="337979"/>
                  <a:pt x="262493" y="334089"/>
                  <a:pt x="261382" y="330041"/>
                </a:cubicBezTo>
                <a:cubicBezTo>
                  <a:pt x="260271" y="325993"/>
                  <a:pt x="259556" y="321945"/>
                  <a:pt x="259001" y="317976"/>
                </a:cubicBezTo>
                <a:lnTo>
                  <a:pt x="229076" y="303213"/>
                </a:lnTo>
                <a:cubicBezTo>
                  <a:pt x="220107" y="298768"/>
                  <a:pt x="215583" y="288608"/>
                  <a:pt x="218123" y="279003"/>
                </a:cubicBezTo>
                <a:lnTo>
                  <a:pt x="223679" y="258207"/>
                </a:lnTo>
                <a:cubicBezTo>
                  <a:pt x="226298" y="248602"/>
                  <a:pt x="235268" y="242094"/>
                  <a:pt x="245269" y="242729"/>
                </a:cubicBezTo>
                <a:lnTo>
                  <a:pt x="278527" y="244872"/>
                </a:lnTo>
                <a:cubicBezTo>
                  <a:pt x="283528" y="238442"/>
                  <a:pt x="289322" y="232489"/>
                  <a:pt x="295910" y="227409"/>
                </a:cubicBezTo>
                <a:lnTo>
                  <a:pt x="293767" y="194231"/>
                </a:lnTo>
                <a:cubicBezTo>
                  <a:pt x="293132" y="184229"/>
                  <a:pt x="299641" y="175181"/>
                  <a:pt x="309245" y="172641"/>
                </a:cubicBezTo>
                <a:lnTo>
                  <a:pt x="330041" y="167084"/>
                </a:lnTo>
                <a:close/>
                <a:moveTo>
                  <a:pt x="355918" y="269875"/>
                </a:moveTo>
                <a:cubicBezTo>
                  <a:pt x="336642" y="269897"/>
                  <a:pt x="321010" y="285564"/>
                  <a:pt x="321032" y="304840"/>
                </a:cubicBezTo>
                <a:cubicBezTo>
                  <a:pt x="321054" y="324115"/>
                  <a:pt x="336721" y="339747"/>
                  <a:pt x="355997" y="339725"/>
                </a:cubicBezTo>
                <a:cubicBezTo>
                  <a:pt x="375273" y="339703"/>
                  <a:pt x="390904" y="324036"/>
                  <a:pt x="390882" y="304760"/>
                </a:cubicBezTo>
                <a:cubicBezTo>
                  <a:pt x="390860" y="285485"/>
                  <a:pt x="375193" y="269853"/>
                  <a:pt x="355918" y="269875"/>
                </a:cubicBezTo>
                <a:close/>
                <a:moveTo>
                  <a:pt x="178514" y="-36116"/>
                </a:moveTo>
                <a:lnTo>
                  <a:pt x="199311" y="-30559"/>
                </a:lnTo>
                <a:cubicBezTo>
                  <a:pt x="208915" y="-27940"/>
                  <a:pt x="215424" y="-18891"/>
                  <a:pt x="214789" y="-8969"/>
                </a:cubicBezTo>
                <a:lnTo>
                  <a:pt x="212646" y="24209"/>
                </a:lnTo>
                <a:cubicBezTo>
                  <a:pt x="219234" y="29289"/>
                  <a:pt x="225028" y="35163"/>
                  <a:pt x="230029" y="41672"/>
                </a:cubicBezTo>
                <a:lnTo>
                  <a:pt x="263366" y="39529"/>
                </a:lnTo>
                <a:cubicBezTo>
                  <a:pt x="273288" y="38894"/>
                  <a:pt x="282337" y="45403"/>
                  <a:pt x="284956" y="55007"/>
                </a:cubicBezTo>
                <a:lnTo>
                  <a:pt x="290513" y="75803"/>
                </a:lnTo>
                <a:cubicBezTo>
                  <a:pt x="293053" y="85408"/>
                  <a:pt x="288528" y="95568"/>
                  <a:pt x="279559" y="100013"/>
                </a:cubicBezTo>
                <a:lnTo>
                  <a:pt x="249634" y="114776"/>
                </a:lnTo>
                <a:cubicBezTo>
                  <a:pt x="249079" y="118824"/>
                  <a:pt x="248285" y="122873"/>
                  <a:pt x="247253" y="126841"/>
                </a:cubicBezTo>
                <a:cubicBezTo>
                  <a:pt x="246221" y="130810"/>
                  <a:pt x="244793" y="134779"/>
                  <a:pt x="243284" y="138509"/>
                </a:cubicBezTo>
                <a:lnTo>
                  <a:pt x="261779" y="166291"/>
                </a:lnTo>
                <a:cubicBezTo>
                  <a:pt x="267335" y="174625"/>
                  <a:pt x="266224" y="185658"/>
                  <a:pt x="259159" y="192722"/>
                </a:cubicBezTo>
                <a:lnTo>
                  <a:pt x="243919" y="207963"/>
                </a:lnTo>
                <a:cubicBezTo>
                  <a:pt x="236855" y="215027"/>
                  <a:pt x="225822" y="216138"/>
                  <a:pt x="217488" y="210582"/>
                </a:cubicBezTo>
                <a:lnTo>
                  <a:pt x="189706" y="192088"/>
                </a:lnTo>
                <a:cubicBezTo>
                  <a:pt x="182166" y="195183"/>
                  <a:pt x="174149" y="197406"/>
                  <a:pt x="165973" y="198517"/>
                </a:cubicBezTo>
                <a:lnTo>
                  <a:pt x="151209" y="228362"/>
                </a:lnTo>
                <a:cubicBezTo>
                  <a:pt x="146764" y="237331"/>
                  <a:pt x="136604" y="241856"/>
                  <a:pt x="127000" y="239316"/>
                </a:cubicBezTo>
                <a:lnTo>
                  <a:pt x="106204" y="233759"/>
                </a:lnTo>
                <a:cubicBezTo>
                  <a:pt x="96520" y="231140"/>
                  <a:pt x="90091" y="222091"/>
                  <a:pt x="90726" y="212169"/>
                </a:cubicBezTo>
                <a:lnTo>
                  <a:pt x="92869" y="178911"/>
                </a:lnTo>
                <a:cubicBezTo>
                  <a:pt x="86281" y="173831"/>
                  <a:pt x="80486" y="167958"/>
                  <a:pt x="75486" y="161449"/>
                </a:cubicBezTo>
                <a:lnTo>
                  <a:pt x="42148" y="163592"/>
                </a:lnTo>
                <a:cubicBezTo>
                  <a:pt x="32226" y="164227"/>
                  <a:pt x="23178" y="157718"/>
                  <a:pt x="20558" y="148114"/>
                </a:cubicBezTo>
                <a:lnTo>
                  <a:pt x="15002" y="127318"/>
                </a:lnTo>
                <a:cubicBezTo>
                  <a:pt x="12462" y="117713"/>
                  <a:pt x="16986" y="107553"/>
                  <a:pt x="25956" y="103108"/>
                </a:cubicBezTo>
                <a:lnTo>
                  <a:pt x="55880" y="88344"/>
                </a:lnTo>
                <a:cubicBezTo>
                  <a:pt x="56436" y="84296"/>
                  <a:pt x="57229" y="80328"/>
                  <a:pt x="58261" y="76279"/>
                </a:cubicBezTo>
                <a:cubicBezTo>
                  <a:pt x="59373" y="72231"/>
                  <a:pt x="60643" y="68342"/>
                  <a:pt x="62230" y="64611"/>
                </a:cubicBezTo>
                <a:lnTo>
                  <a:pt x="43736" y="36909"/>
                </a:lnTo>
                <a:cubicBezTo>
                  <a:pt x="38179" y="28575"/>
                  <a:pt x="39291" y="17542"/>
                  <a:pt x="46355" y="10478"/>
                </a:cubicBezTo>
                <a:lnTo>
                  <a:pt x="61595" y="-4762"/>
                </a:lnTo>
                <a:cubicBezTo>
                  <a:pt x="68659" y="-11827"/>
                  <a:pt x="79693" y="-12938"/>
                  <a:pt x="88027" y="-7382"/>
                </a:cubicBezTo>
                <a:lnTo>
                  <a:pt x="115808" y="11113"/>
                </a:lnTo>
                <a:cubicBezTo>
                  <a:pt x="123349" y="8017"/>
                  <a:pt x="131366" y="5794"/>
                  <a:pt x="139541" y="4683"/>
                </a:cubicBezTo>
                <a:lnTo>
                  <a:pt x="154305" y="-25162"/>
                </a:lnTo>
                <a:cubicBezTo>
                  <a:pt x="158750" y="-34131"/>
                  <a:pt x="168831" y="-38656"/>
                  <a:pt x="178514" y="-36116"/>
                </a:cubicBezTo>
                <a:close/>
                <a:moveTo>
                  <a:pt x="152718" y="66675"/>
                </a:moveTo>
                <a:cubicBezTo>
                  <a:pt x="133442" y="66675"/>
                  <a:pt x="117793" y="82324"/>
                  <a:pt x="117793" y="101600"/>
                </a:cubicBezTo>
                <a:cubicBezTo>
                  <a:pt x="117793" y="120876"/>
                  <a:pt x="133442" y="136525"/>
                  <a:pt x="152718" y="136525"/>
                </a:cubicBezTo>
                <a:cubicBezTo>
                  <a:pt x="171993" y="136525"/>
                  <a:pt x="187643" y="120876"/>
                  <a:pt x="187643" y="101600"/>
                </a:cubicBezTo>
                <a:cubicBezTo>
                  <a:pt x="187643" y="82324"/>
                  <a:pt x="171993" y="66675"/>
                  <a:pt x="152718" y="666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9" name="Text 27"/>
          <p:cNvSpPr/>
          <p:nvPr/>
        </p:nvSpPr>
        <p:spPr>
          <a:xfrm>
            <a:off x="11582400" y="4572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049000" y="50165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Drawing conclusions from knowledge through logical inference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2000" y="6350000"/>
            <a:ext cx="14732000" cy="1841500"/>
          </a:xfrm>
          <a:prstGeom prst="roundRect">
            <a:avLst>
              <a:gd name="adj" fmla="val 3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79500" y="666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3" name="Text 31"/>
          <p:cNvSpPr/>
          <p:nvPr/>
        </p:nvSpPr>
        <p:spPr>
          <a:xfrm>
            <a:off x="1587500" y="6540500"/>
            <a:ext cx="13589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They Work Together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Modern AI combines multiple components. A self-driving car uses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Computer Vision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see,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ML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recognize objects,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Reasoning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plan, and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Robotics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drive.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62000" y="8382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Swiss Cyber Institute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— The Engine of Modern AI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Machine Learning enables systems to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 from data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without being explicitly programmed. Three main paradigms define the field: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2540000"/>
            <a:ext cx="4699000" cy="2921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730500"/>
            <a:ext cx="2032000" cy="3556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7305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238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683000"/>
            <a:ext cx="4191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Trained on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labeled data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input-output pairs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Example: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Spam detection, classification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78500" y="2540000"/>
            <a:ext cx="4699000" cy="2921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32500" y="2730500"/>
            <a:ext cx="2032000" cy="355600"/>
          </a:xfrm>
          <a:prstGeom prst="roundRect">
            <a:avLst>
              <a:gd name="adj" fmla="val 15000"/>
            </a:avLst>
          </a:prstGeom>
          <a:solidFill>
            <a:srgbClr val="2D2A26"/>
          </a:solidFill>
          <a:ln/>
        </p:spPr>
      </p:sp>
      <p:sp>
        <p:nvSpPr>
          <p:cNvPr id="14" name="Text 12"/>
          <p:cNvSpPr/>
          <p:nvPr/>
        </p:nvSpPr>
        <p:spPr>
          <a:xfrm>
            <a:off x="6032500" y="27305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3238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0" y="3683000"/>
            <a:ext cx="4191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hidden patterns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unlabeled data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Example: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Segmentation, clustering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795000" y="2540000"/>
            <a:ext cx="4699000" cy="2921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049000" y="2730500"/>
            <a:ext cx="2032000" cy="355600"/>
          </a:xfrm>
          <a:prstGeom prst="roundRect">
            <a:avLst>
              <a:gd name="adj" fmla="val 15000"/>
            </a:avLst>
          </a:prstGeom>
          <a:solidFill>
            <a:srgbClr val="4A7C59"/>
          </a:solidFill>
          <a:ln/>
        </p:spPr>
      </p:sp>
      <p:sp>
        <p:nvSpPr>
          <p:cNvPr id="19" name="Text 17"/>
          <p:cNvSpPr/>
          <p:nvPr/>
        </p:nvSpPr>
        <p:spPr>
          <a:xfrm>
            <a:off x="11049000" y="27305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REINFORCEMENT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3238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9000" y="3683000"/>
            <a:ext cx="4191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Learns through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trial and error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reward/penalty feedback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Example: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Game-playing AI, robotics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5842000"/>
            <a:ext cx="14732000" cy="2476500"/>
          </a:xfrm>
          <a:prstGeom prst="roundRect">
            <a:avLst>
              <a:gd name="adj" fmla="val 3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54100" y="6096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96850" y="69850"/>
                </a:moveTo>
                <a:lnTo>
                  <a:pt x="260350" y="69850"/>
                </a:lnTo>
                <a:lnTo>
                  <a:pt x="260350" y="107950"/>
                </a:lnTo>
                <a:lnTo>
                  <a:pt x="196850" y="107950"/>
                </a:lnTo>
                <a:lnTo>
                  <a:pt x="196850" y="69850"/>
                </a:lnTo>
                <a:close/>
                <a:moveTo>
                  <a:pt x="190500" y="25400"/>
                </a:moveTo>
                <a:cubicBezTo>
                  <a:pt x="169466" y="25400"/>
                  <a:pt x="152400" y="42466"/>
                  <a:pt x="152400" y="63500"/>
                </a:cubicBezTo>
                <a:lnTo>
                  <a:pt x="152400" y="114300"/>
                </a:lnTo>
                <a:cubicBezTo>
                  <a:pt x="152400" y="135334"/>
                  <a:pt x="169466" y="152400"/>
                  <a:pt x="190500" y="152400"/>
                </a:cubicBezTo>
                <a:lnTo>
                  <a:pt x="203200" y="152400"/>
                </a:lnTo>
                <a:lnTo>
                  <a:pt x="203200" y="177800"/>
                </a:lnTo>
                <a:lnTo>
                  <a:pt x="25400" y="177800"/>
                </a:ln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101600" y="228600"/>
                </a:lnTo>
                <a:lnTo>
                  <a:pt x="101600" y="254000"/>
                </a:lnTo>
                <a:lnTo>
                  <a:pt x="88900" y="254000"/>
                </a:lnTo>
                <a:cubicBezTo>
                  <a:pt x="67866" y="254000"/>
                  <a:pt x="50800" y="271066"/>
                  <a:pt x="50800" y="292100"/>
                </a:cubicBezTo>
                <a:lnTo>
                  <a:pt x="50800" y="342900"/>
                </a:lnTo>
                <a:cubicBezTo>
                  <a:pt x="50800" y="363934"/>
                  <a:pt x="67866" y="381000"/>
                  <a:pt x="88900" y="381000"/>
                </a:cubicBezTo>
                <a:lnTo>
                  <a:pt x="165100" y="381000"/>
                </a:lnTo>
                <a:cubicBezTo>
                  <a:pt x="186134" y="381000"/>
                  <a:pt x="203200" y="363934"/>
                  <a:pt x="203200" y="342900"/>
                </a:cubicBezTo>
                <a:lnTo>
                  <a:pt x="203200" y="292100"/>
                </a:lnTo>
                <a:cubicBezTo>
                  <a:pt x="203200" y="271066"/>
                  <a:pt x="186134" y="254000"/>
                  <a:pt x="165100" y="254000"/>
                </a:cubicBezTo>
                <a:lnTo>
                  <a:pt x="152400" y="254000"/>
                </a:lnTo>
                <a:lnTo>
                  <a:pt x="152400" y="228600"/>
                </a:lnTo>
                <a:lnTo>
                  <a:pt x="304800" y="228600"/>
                </a:lnTo>
                <a:lnTo>
                  <a:pt x="304800" y="254000"/>
                </a:lnTo>
                <a:lnTo>
                  <a:pt x="292100" y="254000"/>
                </a:lnTo>
                <a:cubicBezTo>
                  <a:pt x="271066" y="254000"/>
                  <a:pt x="254000" y="271066"/>
                  <a:pt x="254000" y="292100"/>
                </a:cubicBezTo>
                <a:lnTo>
                  <a:pt x="254000" y="342900"/>
                </a:lnTo>
                <a:cubicBezTo>
                  <a:pt x="254000" y="363934"/>
                  <a:pt x="271066" y="381000"/>
                  <a:pt x="292100" y="381000"/>
                </a:cubicBezTo>
                <a:lnTo>
                  <a:pt x="368300" y="381000"/>
                </a:lnTo>
                <a:cubicBezTo>
                  <a:pt x="389334" y="381000"/>
                  <a:pt x="406400" y="363934"/>
                  <a:pt x="406400" y="342900"/>
                </a:cubicBezTo>
                <a:lnTo>
                  <a:pt x="406400" y="292100"/>
                </a:lnTo>
                <a:cubicBezTo>
                  <a:pt x="406400" y="271066"/>
                  <a:pt x="389334" y="254000"/>
                  <a:pt x="368300" y="254000"/>
                </a:cubicBezTo>
                <a:lnTo>
                  <a:pt x="355600" y="254000"/>
                </a:lnTo>
                <a:lnTo>
                  <a:pt x="355600" y="228600"/>
                </a:lnTo>
                <a:lnTo>
                  <a:pt x="431800" y="228600"/>
                </a:lnTo>
                <a:cubicBezTo>
                  <a:pt x="445849" y="228600"/>
                  <a:pt x="457200" y="217249"/>
                  <a:pt x="457200" y="203200"/>
                </a:cubicBezTo>
                <a:cubicBezTo>
                  <a:pt x="457200" y="189151"/>
                  <a:pt x="445849" y="177800"/>
                  <a:pt x="431800" y="177800"/>
                </a:cubicBezTo>
                <a:lnTo>
                  <a:pt x="254000" y="177800"/>
                </a:lnTo>
                <a:lnTo>
                  <a:pt x="254000" y="152400"/>
                </a:lnTo>
                <a:lnTo>
                  <a:pt x="266700" y="152400"/>
                </a:lnTo>
                <a:cubicBezTo>
                  <a:pt x="287734" y="152400"/>
                  <a:pt x="304800" y="135334"/>
                  <a:pt x="304800" y="114300"/>
                </a:cubicBezTo>
                <a:lnTo>
                  <a:pt x="304800" y="63500"/>
                </a:lnTo>
                <a:cubicBezTo>
                  <a:pt x="304800" y="42466"/>
                  <a:pt x="287734" y="25400"/>
                  <a:pt x="266700" y="25400"/>
                </a:cubicBezTo>
                <a:lnTo>
                  <a:pt x="190500" y="25400"/>
                </a:lnTo>
                <a:close/>
                <a:moveTo>
                  <a:pt x="355600" y="298450"/>
                </a:moveTo>
                <a:lnTo>
                  <a:pt x="361950" y="298450"/>
                </a:lnTo>
                <a:lnTo>
                  <a:pt x="361950" y="336550"/>
                </a:lnTo>
                <a:lnTo>
                  <a:pt x="298450" y="336550"/>
                </a:lnTo>
                <a:lnTo>
                  <a:pt x="298450" y="298450"/>
                </a:lnTo>
                <a:lnTo>
                  <a:pt x="355600" y="298450"/>
                </a:lnTo>
                <a:close/>
                <a:moveTo>
                  <a:pt x="152400" y="298450"/>
                </a:moveTo>
                <a:lnTo>
                  <a:pt x="158750" y="298450"/>
                </a:lnTo>
                <a:lnTo>
                  <a:pt x="158750" y="336550"/>
                </a:lnTo>
                <a:lnTo>
                  <a:pt x="95250" y="336550"/>
                </a:lnTo>
                <a:lnTo>
                  <a:pt x="95250" y="298450"/>
                </a:lnTo>
                <a:lnTo>
                  <a:pt x="152400" y="298450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1651000" y="6070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79500" y="6578600"/>
            <a:ext cx="14097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subset of ML using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multi-layered neural networks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learn complex patterns. Deep Learning powers: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Image recognition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(facial recognition, medical imaging)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Language models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(GPT, BERT) •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Autonomous systems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Language Processing (NLP)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24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NLP enables machines to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understand, interpret, and generate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human language — bridging the gap between human communication and computer understanding.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2540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Applications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149600"/>
            <a:ext cx="3429000" cy="1524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96950" y="3327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95250" y="0"/>
                </a:moveTo>
                <a:cubicBezTo>
                  <a:pt x="105787" y="0"/>
                  <a:pt x="114300" y="8513"/>
                  <a:pt x="114300" y="19050"/>
                </a:cubicBezTo>
                <a:lnTo>
                  <a:pt x="114300" y="38100"/>
                </a:lnTo>
                <a:lnTo>
                  <a:pt x="190500" y="38100"/>
                </a:lnTo>
                <a:cubicBezTo>
                  <a:pt x="201037" y="38100"/>
                  <a:pt x="209550" y="46613"/>
                  <a:pt x="209550" y="57150"/>
                </a:cubicBezTo>
                <a:cubicBezTo>
                  <a:pt x="209550" y="67687"/>
                  <a:pt x="201037" y="76200"/>
                  <a:pt x="190500" y="76200"/>
                </a:cubicBezTo>
                <a:lnTo>
                  <a:pt x="184785" y="76200"/>
                </a:lnTo>
                <a:lnTo>
                  <a:pt x="179784" y="89952"/>
                </a:lnTo>
                <a:cubicBezTo>
                  <a:pt x="170021" y="116860"/>
                  <a:pt x="155317" y="141446"/>
                  <a:pt x="136803" y="162580"/>
                </a:cubicBezTo>
                <a:cubicBezTo>
                  <a:pt x="145256" y="167819"/>
                  <a:pt x="154067" y="172462"/>
                  <a:pt x="163235" y="176570"/>
                </a:cubicBezTo>
                <a:lnTo>
                  <a:pt x="193238" y="189905"/>
                </a:lnTo>
                <a:lnTo>
                  <a:pt x="230267" y="106561"/>
                </a:lnTo>
                <a:cubicBezTo>
                  <a:pt x="233303" y="99655"/>
                  <a:pt x="240149" y="95250"/>
                  <a:pt x="247650" y="95250"/>
                </a:cubicBezTo>
                <a:cubicBezTo>
                  <a:pt x="255151" y="95250"/>
                  <a:pt x="261997" y="99655"/>
                  <a:pt x="265033" y="106561"/>
                </a:cubicBezTo>
                <a:lnTo>
                  <a:pt x="341233" y="278011"/>
                </a:lnTo>
                <a:cubicBezTo>
                  <a:pt x="345519" y="287655"/>
                  <a:pt x="341174" y="298906"/>
                  <a:pt x="331589" y="303133"/>
                </a:cubicBezTo>
                <a:cubicBezTo>
                  <a:pt x="322005" y="307360"/>
                  <a:pt x="310694" y="303074"/>
                  <a:pt x="306467" y="293489"/>
                </a:cubicBezTo>
                <a:lnTo>
                  <a:pt x="294561" y="266700"/>
                </a:lnTo>
                <a:lnTo>
                  <a:pt x="200799" y="266700"/>
                </a:lnTo>
                <a:lnTo>
                  <a:pt x="188893" y="293489"/>
                </a:lnTo>
                <a:cubicBezTo>
                  <a:pt x="184606" y="303133"/>
                  <a:pt x="173355" y="307419"/>
                  <a:pt x="163770" y="303133"/>
                </a:cubicBezTo>
                <a:cubicBezTo>
                  <a:pt x="154186" y="298847"/>
                  <a:pt x="149840" y="287595"/>
                  <a:pt x="154126" y="278011"/>
                </a:cubicBezTo>
                <a:lnTo>
                  <a:pt x="177820" y="224730"/>
                </a:lnTo>
                <a:lnTo>
                  <a:pt x="147816" y="211395"/>
                </a:lnTo>
                <a:cubicBezTo>
                  <a:pt x="134124" y="205323"/>
                  <a:pt x="121027" y="198060"/>
                  <a:pt x="108645" y="189726"/>
                </a:cubicBezTo>
                <a:cubicBezTo>
                  <a:pt x="95964" y="199965"/>
                  <a:pt x="82094" y="208895"/>
                  <a:pt x="67270" y="216337"/>
                </a:cubicBezTo>
                <a:lnTo>
                  <a:pt x="46613" y="226576"/>
                </a:lnTo>
                <a:cubicBezTo>
                  <a:pt x="37207" y="231279"/>
                  <a:pt x="25777" y="227469"/>
                  <a:pt x="21074" y="218063"/>
                </a:cubicBezTo>
                <a:cubicBezTo>
                  <a:pt x="16371" y="208657"/>
                  <a:pt x="20181" y="197227"/>
                  <a:pt x="29587" y="192524"/>
                </a:cubicBezTo>
                <a:lnTo>
                  <a:pt x="50125" y="182225"/>
                </a:lnTo>
                <a:cubicBezTo>
                  <a:pt x="59829" y="177344"/>
                  <a:pt x="69056" y="171688"/>
                  <a:pt x="77748" y="165378"/>
                </a:cubicBezTo>
                <a:cubicBezTo>
                  <a:pt x="69533" y="157817"/>
                  <a:pt x="61793" y="149662"/>
                  <a:pt x="54590" y="141030"/>
                </a:cubicBezTo>
                <a:lnTo>
                  <a:pt x="48578" y="133767"/>
                </a:lnTo>
                <a:cubicBezTo>
                  <a:pt x="41850" y="125670"/>
                  <a:pt x="42922" y="113645"/>
                  <a:pt x="51018" y="106918"/>
                </a:cubicBezTo>
                <a:cubicBezTo>
                  <a:pt x="59115" y="100191"/>
                  <a:pt x="71140" y="101263"/>
                  <a:pt x="77867" y="109359"/>
                </a:cubicBezTo>
                <a:lnTo>
                  <a:pt x="83939" y="116622"/>
                </a:lnTo>
                <a:cubicBezTo>
                  <a:pt x="90785" y="124897"/>
                  <a:pt x="98286" y="132576"/>
                  <a:pt x="106204" y="139660"/>
                </a:cubicBezTo>
                <a:cubicBezTo>
                  <a:pt x="122575" y="121563"/>
                  <a:pt x="135493" y="100310"/>
                  <a:pt x="144006" y="76914"/>
                </a:cubicBezTo>
                <a:lnTo>
                  <a:pt x="144304" y="76200"/>
                </a:lnTo>
                <a:lnTo>
                  <a:pt x="19110" y="76200"/>
                </a:lnTo>
                <a:cubicBezTo>
                  <a:pt x="8513" y="76200"/>
                  <a:pt x="0" y="67687"/>
                  <a:pt x="0" y="57150"/>
                </a:cubicBezTo>
                <a:cubicBezTo>
                  <a:pt x="0" y="46613"/>
                  <a:pt x="8513" y="38100"/>
                  <a:pt x="19050" y="38100"/>
                </a:cubicBezTo>
                <a:lnTo>
                  <a:pt x="76200" y="38100"/>
                </a:lnTo>
                <a:lnTo>
                  <a:pt x="76200" y="19050"/>
                </a:lnTo>
                <a:cubicBezTo>
                  <a:pt x="76200" y="8513"/>
                  <a:pt x="84713" y="0"/>
                  <a:pt x="95250" y="0"/>
                </a:cubicBezTo>
                <a:close/>
                <a:moveTo>
                  <a:pt x="247650" y="161211"/>
                </a:moveTo>
                <a:lnTo>
                  <a:pt x="217706" y="228600"/>
                </a:lnTo>
                <a:lnTo>
                  <a:pt x="277594" y="228600"/>
                </a:lnTo>
                <a:lnTo>
                  <a:pt x="247650" y="161211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0" name="Text 8"/>
          <p:cNvSpPr/>
          <p:nvPr/>
        </p:nvSpPr>
        <p:spPr>
          <a:xfrm>
            <a:off x="1422400" y="3327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Translation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7338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Google Translate, real-time multilingual communication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08500" y="3149600"/>
            <a:ext cx="3429000" cy="1524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762500" y="332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98465" y="191631"/>
                </a:moveTo>
                <a:cubicBezTo>
                  <a:pt x="110609" y="208300"/>
                  <a:pt x="130254" y="219075"/>
                  <a:pt x="152400" y="219075"/>
                </a:cubicBezTo>
                <a:cubicBezTo>
                  <a:pt x="174546" y="219075"/>
                  <a:pt x="194191" y="208300"/>
                  <a:pt x="206335" y="191631"/>
                </a:cubicBezTo>
                <a:cubicBezTo>
                  <a:pt x="210979" y="185261"/>
                  <a:pt x="219908" y="183832"/>
                  <a:pt x="226278" y="188476"/>
                </a:cubicBezTo>
                <a:cubicBezTo>
                  <a:pt x="232648" y="193119"/>
                  <a:pt x="234077" y="202049"/>
                  <a:pt x="229433" y="208419"/>
                </a:cubicBezTo>
                <a:cubicBezTo>
                  <a:pt x="212110" y="232172"/>
                  <a:pt x="184071" y="247650"/>
                  <a:pt x="152400" y="247650"/>
                </a:cubicBezTo>
                <a:cubicBezTo>
                  <a:pt x="120729" y="247650"/>
                  <a:pt x="92690" y="232172"/>
                  <a:pt x="75367" y="208419"/>
                </a:cubicBezTo>
                <a:cubicBezTo>
                  <a:pt x="70723" y="202049"/>
                  <a:pt x="72152" y="193119"/>
                  <a:pt x="78522" y="188476"/>
                </a:cubicBezTo>
                <a:cubicBezTo>
                  <a:pt x="84892" y="183833"/>
                  <a:pt x="93821" y="185261"/>
                  <a:pt x="98465" y="191631"/>
                </a:cubicBezTo>
                <a:close/>
                <a:moveTo>
                  <a:pt x="85725" y="123825"/>
                </a:moveTo>
                <a:cubicBezTo>
                  <a:pt x="85725" y="113311"/>
                  <a:pt x="94261" y="104775"/>
                  <a:pt x="104775" y="104775"/>
                </a:cubicBezTo>
                <a:cubicBezTo>
                  <a:pt x="115289" y="104775"/>
                  <a:pt x="123825" y="113311"/>
                  <a:pt x="123825" y="123825"/>
                </a:cubicBezTo>
                <a:cubicBezTo>
                  <a:pt x="123825" y="134339"/>
                  <a:pt x="115289" y="142875"/>
                  <a:pt x="104775" y="142875"/>
                </a:cubicBezTo>
                <a:cubicBezTo>
                  <a:pt x="94261" y="142875"/>
                  <a:pt x="85725" y="134339"/>
                  <a:pt x="85725" y="123825"/>
                </a:cubicBezTo>
                <a:close/>
                <a:moveTo>
                  <a:pt x="200025" y="104775"/>
                </a:moveTo>
                <a:cubicBezTo>
                  <a:pt x="210539" y="104775"/>
                  <a:pt x="219075" y="113311"/>
                  <a:pt x="219075" y="123825"/>
                </a:cubicBezTo>
                <a:cubicBezTo>
                  <a:pt x="219075" y="134339"/>
                  <a:pt x="210539" y="142875"/>
                  <a:pt x="200025" y="142875"/>
                </a:cubicBezTo>
                <a:cubicBezTo>
                  <a:pt x="189511" y="142875"/>
                  <a:pt x="180975" y="134339"/>
                  <a:pt x="180975" y="123825"/>
                </a:cubicBezTo>
                <a:cubicBezTo>
                  <a:pt x="180975" y="113311"/>
                  <a:pt x="189511" y="104775"/>
                  <a:pt x="200025" y="1047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5168900" y="3327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 Analysis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62500" y="37338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Analyzing opinions, emotions, and attitudes in text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55000" y="3149600"/>
            <a:ext cx="3429000" cy="1524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489950" y="3327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8600" y="85725"/>
                </a:moveTo>
                <a:cubicBezTo>
                  <a:pt x="228600" y="143589"/>
                  <a:pt x="177403" y="190500"/>
                  <a:pt x="114300" y="190500"/>
                </a:cubicBezTo>
                <a:cubicBezTo>
                  <a:pt x="98405" y="190500"/>
                  <a:pt x="83284" y="187523"/>
                  <a:pt x="69533" y="182166"/>
                </a:cubicBezTo>
                <a:lnTo>
                  <a:pt x="20955" y="207883"/>
                </a:lnTo>
                <a:cubicBezTo>
                  <a:pt x="15419" y="210800"/>
                  <a:pt x="8632" y="209788"/>
                  <a:pt x="4167" y="205383"/>
                </a:cubicBezTo>
                <a:cubicBezTo>
                  <a:pt x="-298" y="200978"/>
                  <a:pt x="-1310" y="194131"/>
                  <a:pt x="1667" y="188595"/>
                </a:cubicBezTo>
                <a:lnTo>
                  <a:pt x="22860" y="148590"/>
                </a:lnTo>
                <a:cubicBezTo>
                  <a:pt x="8513" y="131088"/>
                  <a:pt x="0" y="109299"/>
                  <a:pt x="0" y="85725"/>
                </a:cubicBezTo>
                <a:cubicBezTo>
                  <a:pt x="0" y="27861"/>
                  <a:pt x="51197" y="-19050"/>
                  <a:pt x="114300" y="-19050"/>
                </a:cubicBezTo>
                <a:cubicBezTo>
                  <a:pt x="177403" y="-19050"/>
                  <a:pt x="228600" y="27861"/>
                  <a:pt x="228600" y="85725"/>
                </a:cubicBezTo>
                <a:close/>
                <a:moveTo>
                  <a:pt x="228600" y="304800"/>
                </a:moveTo>
                <a:cubicBezTo>
                  <a:pt x="172581" y="304800"/>
                  <a:pt x="125968" y="267831"/>
                  <a:pt x="116205" y="219075"/>
                </a:cubicBezTo>
                <a:cubicBezTo>
                  <a:pt x="187643" y="218182"/>
                  <a:pt x="249734" y="167342"/>
                  <a:pt x="256580" y="98405"/>
                </a:cubicBezTo>
                <a:cubicBezTo>
                  <a:pt x="306169" y="109835"/>
                  <a:pt x="342900" y="150971"/>
                  <a:pt x="342900" y="200025"/>
                </a:cubicBezTo>
                <a:cubicBezTo>
                  <a:pt x="342900" y="223599"/>
                  <a:pt x="334387" y="245388"/>
                  <a:pt x="320040" y="262890"/>
                </a:cubicBezTo>
                <a:lnTo>
                  <a:pt x="341233" y="302895"/>
                </a:lnTo>
                <a:cubicBezTo>
                  <a:pt x="344150" y="308431"/>
                  <a:pt x="343138" y="315218"/>
                  <a:pt x="338733" y="319683"/>
                </a:cubicBezTo>
                <a:cubicBezTo>
                  <a:pt x="334328" y="324148"/>
                  <a:pt x="327481" y="325160"/>
                  <a:pt x="321945" y="322183"/>
                </a:cubicBezTo>
                <a:lnTo>
                  <a:pt x="273368" y="296466"/>
                </a:lnTo>
                <a:cubicBezTo>
                  <a:pt x="259616" y="301823"/>
                  <a:pt x="244495" y="304800"/>
                  <a:pt x="228600" y="3048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8" name="Text 16"/>
          <p:cNvSpPr/>
          <p:nvPr/>
        </p:nvSpPr>
        <p:spPr>
          <a:xfrm>
            <a:off x="8915400" y="3327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Chatbots &amp; Assistants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9000" y="37338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ChatGPT, Siri, Alexa — conversational AI systems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001500" y="3149600"/>
            <a:ext cx="3492500" cy="1524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2293600" y="3327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71438" y="152400"/>
                </a:moveTo>
                <a:cubicBezTo>
                  <a:pt x="63520" y="152400"/>
                  <a:pt x="57150" y="158770"/>
                  <a:pt x="57150" y="166688"/>
                </a:cubicBezTo>
                <a:cubicBezTo>
                  <a:pt x="57150" y="174605"/>
                  <a:pt x="63520" y="180975"/>
                  <a:pt x="71438" y="180975"/>
                </a:cubicBezTo>
                <a:lnTo>
                  <a:pt x="157163" y="180975"/>
                </a:lnTo>
                <a:cubicBezTo>
                  <a:pt x="165080" y="180975"/>
                  <a:pt x="171450" y="174605"/>
                  <a:pt x="171450" y="166688"/>
                </a:cubicBezTo>
                <a:cubicBezTo>
                  <a:pt x="171450" y="158770"/>
                  <a:pt x="165080" y="152400"/>
                  <a:pt x="157163" y="152400"/>
                </a:cubicBezTo>
                <a:lnTo>
                  <a:pt x="71438" y="152400"/>
                </a:lnTo>
                <a:close/>
                <a:moveTo>
                  <a:pt x="71438" y="209550"/>
                </a:moveTo>
                <a:cubicBezTo>
                  <a:pt x="63520" y="209550"/>
                  <a:pt x="57150" y="215920"/>
                  <a:pt x="57150" y="223838"/>
                </a:cubicBezTo>
                <a:cubicBezTo>
                  <a:pt x="57150" y="231755"/>
                  <a:pt x="63520" y="238125"/>
                  <a:pt x="71438" y="238125"/>
                </a:cubicBezTo>
                <a:lnTo>
                  <a:pt x="157163" y="238125"/>
                </a:lnTo>
                <a:cubicBezTo>
                  <a:pt x="165080" y="238125"/>
                  <a:pt x="171450" y="231755"/>
                  <a:pt x="171450" y="223838"/>
                </a:cubicBezTo>
                <a:cubicBezTo>
                  <a:pt x="171450" y="215920"/>
                  <a:pt x="165080" y="209550"/>
                  <a:pt x="157163" y="209550"/>
                </a:cubicBezTo>
                <a:lnTo>
                  <a:pt x="71438" y="209550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2" name="Text 20"/>
          <p:cNvSpPr/>
          <p:nvPr/>
        </p:nvSpPr>
        <p:spPr>
          <a:xfrm>
            <a:off x="12661900" y="3327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Summarization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255500" y="3733800"/>
            <a:ext cx="298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Condensing long documents into key points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2000" y="5080000"/>
            <a:ext cx="762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Language Models (LLMs)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651500"/>
            <a:ext cx="14732000" cy="2603500"/>
          </a:xfrm>
          <a:prstGeom prst="roundRect">
            <a:avLst>
              <a:gd name="adj" fmla="val 3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79500" y="5842000"/>
            <a:ext cx="14097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Modern NLP uses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Transformers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LLMs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GPT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generates text and code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BERT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understands context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T5, LLaMA, Claude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specialized models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 &amp; Robotics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87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095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Enables machines to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interpret visual information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2000" y="2857500"/>
            <a:ext cx="3302000" cy="1143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96950" y="3048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-9525"/>
                </a:moveTo>
                <a:cubicBezTo>
                  <a:pt x="181987" y="-9525"/>
                  <a:pt x="190500" y="-1012"/>
                  <a:pt x="190500" y="9525"/>
                </a:cubicBezTo>
                <a:lnTo>
                  <a:pt x="190500" y="20419"/>
                </a:lnTo>
                <a:cubicBezTo>
                  <a:pt x="248900" y="28754"/>
                  <a:pt x="295096" y="74950"/>
                  <a:pt x="303431" y="133350"/>
                </a:cubicBezTo>
                <a:lnTo>
                  <a:pt x="314325" y="133350"/>
                </a:lnTo>
                <a:cubicBezTo>
                  <a:pt x="324862" y="133350"/>
                  <a:pt x="333375" y="141863"/>
                  <a:pt x="333375" y="152400"/>
                </a:cubicBezTo>
                <a:cubicBezTo>
                  <a:pt x="333375" y="162937"/>
                  <a:pt x="324862" y="171450"/>
                  <a:pt x="314325" y="171450"/>
                </a:cubicBezTo>
                <a:lnTo>
                  <a:pt x="303431" y="171450"/>
                </a:lnTo>
                <a:cubicBezTo>
                  <a:pt x="295096" y="229850"/>
                  <a:pt x="248900" y="276046"/>
                  <a:pt x="190500" y="284381"/>
                </a:cubicBezTo>
                <a:lnTo>
                  <a:pt x="190500" y="295275"/>
                </a:lnTo>
                <a:cubicBezTo>
                  <a:pt x="190500" y="305812"/>
                  <a:pt x="181987" y="314325"/>
                  <a:pt x="171450" y="314325"/>
                </a:cubicBezTo>
                <a:cubicBezTo>
                  <a:pt x="160913" y="314325"/>
                  <a:pt x="152400" y="305812"/>
                  <a:pt x="152400" y="295275"/>
                </a:cubicBezTo>
                <a:lnTo>
                  <a:pt x="152400" y="284381"/>
                </a:lnTo>
                <a:cubicBezTo>
                  <a:pt x="94000" y="276046"/>
                  <a:pt x="47804" y="229850"/>
                  <a:pt x="39469" y="171450"/>
                </a:cubicBezTo>
                <a:lnTo>
                  <a:pt x="28575" y="171450"/>
                </a:lnTo>
                <a:cubicBezTo>
                  <a:pt x="18038" y="171450"/>
                  <a:pt x="9525" y="162937"/>
                  <a:pt x="9525" y="152400"/>
                </a:cubicBezTo>
                <a:cubicBezTo>
                  <a:pt x="9525" y="141863"/>
                  <a:pt x="18038" y="133350"/>
                  <a:pt x="28575" y="133350"/>
                </a:cubicBezTo>
                <a:lnTo>
                  <a:pt x="39469" y="133350"/>
                </a:lnTo>
                <a:cubicBezTo>
                  <a:pt x="47804" y="74950"/>
                  <a:pt x="94000" y="28754"/>
                  <a:pt x="152400" y="20419"/>
                </a:cubicBezTo>
                <a:lnTo>
                  <a:pt x="152400" y="9525"/>
                </a:lnTo>
                <a:cubicBezTo>
                  <a:pt x="152400" y="-1012"/>
                  <a:pt x="160913" y="-9525"/>
                  <a:pt x="171450" y="-9525"/>
                </a:cubicBezTo>
                <a:close/>
                <a:moveTo>
                  <a:pt x="78105" y="171450"/>
                </a:moveTo>
                <a:cubicBezTo>
                  <a:pt x="85665" y="208776"/>
                  <a:pt x="115074" y="238185"/>
                  <a:pt x="152400" y="245745"/>
                </a:cubicBezTo>
                <a:lnTo>
                  <a:pt x="152400" y="238125"/>
                </a:lnTo>
                <a:cubicBezTo>
                  <a:pt x="152400" y="227588"/>
                  <a:pt x="160913" y="219075"/>
                  <a:pt x="171450" y="219075"/>
                </a:cubicBezTo>
                <a:cubicBezTo>
                  <a:pt x="181987" y="219075"/>
                  <a:pt x="190500" y="227588"/>
                  <a:pt x="190500" y="238125"/>
                </a:cubicBezTo>
                <a:lnTo>
                  <a:pt x="190500" y="245745"/>
                </a:lnTo>
                <a:cubicBezTo>
                  <a:pt x="227826" y="238185"/>
                  <a:pt x="257235" y="208776"/>
                  <a:pt x="264795" y="171450"/>
                </a:cubicBezTo>
                <a:lnTo>
                  <a:pt x="257175" y="171450"/>
                </a:lnTo>
                <a:cubicBezTo>
                  <a:pt x="246638" y="171450"/>
                  <a:pt x="238125" y="162937"/>
                  <a:pt x="238125" y="152400"/>
                </a:cubicBezTo>
                <a:cubicBezTo>
                  <a:pt x="238125" y="141863"/>
                  <a:pt x="246638" y="133350"/>
                  <a:pt x="257175" y="133350"/>
                </a:cubicBezTo>
                <a:lnTo>
                  <a:pt x="264795" y="133350"/>
                </a:lnTo>
                <a:cubicBezTo>
                  <a:pt x="257235" y="96024"/>
                  <a:pt x="227826" y="66615"/>
                  <a:pt x="190500" y="59055"/>
                </a:cubicBezTo>
                <a:lnTo>
                  <a:pt x="190500" y="66675"/>
                </a:lnTo>
                <a:cubicBezTo>
                  <a:pt x="190500" y="77212"/>
                  <a:pt x="181987" y="85725"/>
                  <a:pt x="171450" y="85725"/>
                </a:cubicBezTo>
                <a:cubicBezTo>
                  <a:pt x="160913" y="85725"/>
                  <a:pt x="152400" y="77212"/>
                  <a:pt x="152400" y="66675"/>
                </a:cubicBezTo>
                <a:lnTo>
                  <a:pt x="152400" y="59055"/>
                </a:lnTo>
                <a:cubicBezTo>
                  <a:pt x="115074" y="66615"/>
                  <a:pt x="85665" y="96024"/>
                  <a:pt x="78105" y="133350"/>
                </a:cubicBezTo>
                <a:lnTo>
                  <a:pt x="85725" y="133350"/>
                </a:lnTo>
                <a:cubicBezTo>
                  <a:pt x="96262" y="133350"/>
                  <a:pt x="104775" y="141863"/>
                  <a:pt x="104775" y="152400"/>
                </a:cubicBezTo>
                <a:cubicBezTo>
                  <a:pt x="104775" y="162937"/>
                  <a:pt x="96262" y="171450"/>
                  <a:pt x="85725" y="171450"/>
                </a:cubicBezTo>
                <a:lnTo>
                  <a:pt x="78105" y="171450"/>
                </a:lnTo>
                <a:close/>
                <a:moveTo>
                  <a:pt x="171450" y="123825"/>
                </a:moveTo>
                <a:cubicBezTo>
                  <a:pt x="187221" y="123825"/>
                  <a:pt x="200025" y="136629"/>
                  <a:pt x="200025" y="152400"/>
                </a:cubicBezTo>
                <a:cubicBezTo>
                  <a:pt x="200025" y="168171"/>
                  <a:pt x="187221" y="180975"/>
                  <a:pt x="171450" y="180975"/>
                </a:cubicBezTo>
                <a:cubicBezTo>
                  <a:pt x="155679" y="180975"/>
                  <a:pt x="142875" y="168171"/>
                  <a:pt x="142875" y="152400"/>
                </a:cubicBezTo>
                <a:cubicBezTo>
                  <a:pt x="142875" y="136629"/>
                  <a:pt x="155679" y="123825"/>
                  <a:pt x="171450" y="12382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0" name="Text 8"/>
          <p:cNvSpPr/>
          <p:nvPr/>
        </p:nvSpPr>
        <p:spPr>
          <a:xfrm>
            <a:off x="1422400" y="3022600"/>
            <a:ext cx="241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 Detection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Identifying items in images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8000" y="2857500"/>
            <a:ext cx="3302000" cy="1143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91050" y="3048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147638"/>
                </a:moveTo>
                <a:cubicBezTo>
                  <a:pt x="172777" y="147638"/>
                  <a:pt x="204787" y="115627"/>
                  <a:pt x="204787" y="76200"/>
                </a:cubicBezTo>
                <a:cubicBezTo>
                  <a:pt x="204787" y="36773"/>
                  <a:pt x="172777" y="4763"/>
                  <a:pt x="133350" y="4763"/>
                </a:cubicBezTo>
                <a:cubicBezTo>
                  <a:pt x="93923" y="4763"/>
                  <a:pt x="61913" y="36773"/>
                  <a:pt x="61912" y="76200"/>
                </a:cubicBezTo>
                <a:cubicBezTo>
                  <a:pt x="61912" y="115627"/>
                  <a:pt x="93923" y="147638"/>
                  <a:pt x="133350" y="147638"/>
                </a:cubicBezTo>
                <a:close/>
                <a:moveTo>
                  <a:pt x="115669" y="180975"/>
                </a:moveTo>
                <a:cubicBezTo>
                  <a:pt x="57031" y="180975"/>
                  <a:pt x="9525" y="228481"/>
                  <a:pt x="9525" y="287119"/>
                </a:cubicBezTo>
                <a:cubicBezTo>
                  <a:pt x="9525" y="296882"/>
                  <a:pt x="17443" y="304800"/>
                  <a:pt x="27206" y="304800"/>
                </a:cubicBezTo>
                <a:lnTo>
                  <a:pt x="239494" y="304800"/>
                </a:lnTo>
                <a:cubicBezTo>
                  <a:pt x="249257" y="304800"/>
                  <a:pt x="257175" y="296882"/>
                  <a:pt x="257175" y="287119"/>
                </a:cubicBezTo>
                <a:cubicBezTo>
                  <a:pt x="257175" y="228481"/>
                  <a:pt x="209669" y="180975"/>
                  <a:pt x="151031" y="180975"/>
                </a:cubicBezTo>
                <a:lnTo>
                  <a:pt x="115669" y="180975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4978400" y="3022600"/>
            <a:ext cx="241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Facial Recognition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Identifying individuals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2000" y="4254500"/>
            <a:ext cx="3302000" cy="1143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444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38100"/>
                </a:moveTo>
                <a:cubicBezTo>
                  <a:pt x="0" y="27563"/>
                  <a:pt x="8513" y="19050"/>
                  <a:pt x="19050" y="19050"/>
                </a:cubicBezTo>
                <a:lnTo>
                  <a:pt x="285750" y="19050"/>
                </a:lnTo>
                <a:cubicBezTo>
                  <a:pt x="296287" y="19050"/>
                  <a:pt x="304800" y="27563"/>
                  <a:pt x="304800" y="38100"/>
                </a:cubicBezTo>
                <a:cubicBezTo>
                  <a:pt x="304800" y="48637"/>
                  <a:pt x="296287" y="57150"/>
                  <a:pt x="285750" y="571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cubicBezTo>
                  <a:pt x="0" y="256163"/>
                  <a:pt x="8513" y="247650"/>
                  <a:pt x="19050" y="247650"/>
                </a:cubicBezTo>
                <a:lnTo>
                  <a:pt x="19050" y="57150"/>
                </a:lnTo>
                <a:cubicBezTo>
                  <a:pt x="8513" y="57150"/>
                  <a:pt x="0" y="48637"/>
                  <a:pt x="0" y="38100"/>
                </a:cubicBezTo>
                <a:close/>
                <a:moveTo>
                  <a:pt x="166688" y="71438"/>
                </a:move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lnTo>
                  <a:pt x="138113" y="80962"/>
                </a:lnTo>
                <a:lnTo>
                  <a:pt x="100013" y="80962"/>
                </a:lnTo>
                <a:cubicBezTo>
                  <a:pt x="92095" y="80962"/>
                  <a:pt x="85725" y="87332"/>
                  <a:pt x="85725" y="95250"/>
                </a:cubicBezTo>
                <a:cubicBezTo>
                  <a:pt x="85725" y="103168"/>
                  <a:pt x="92095" y="109537"/>
                  <a:pt x="100013" y="109537"/>
                </a:cubicBezTo>
                <a:lnTo>
                  <a:pt x="138113" y="109537"/>
                </a:lnTo>
                <a:lnTo>
                  <a:pt x="138113" y="138113"/>
                </a:lnTo>
                <a:lnTo>
                  <a:pt x="90488" y="138113"/>
                </a:lnTo>
                <a:cubicBezTo>
                  <a:pt x="82570" y="138113"/>
                  <a:pt x="76200" y="144482"/>
                  <a:pt x="76200" y="152400"/>
                </a:cubicBezTo>
                <a:cubicBezTo>
                  <a:pt x="76200" y="160318"/>
                  <a:pt x="82570" y="166688"/>
                  <a:pt x="90488" y="166688"/>
                </a:cubicBezTo>
                <a:lnTo>
                  <a:pt x="138113" y="166688"/>
                </a:lnTo>
                <a:lnTo>
                  <a:pt x="138113" y="195263"/>
                </a:lnTo>
                <a:lnTo>
                  <a:pt x="100013" y="195263"/>
                </a:lnTo>
                <a:cubicBezTo>
                  <a:pt x="92095" y="195263"/>
                  <a:pt x="85725" y="201632"/>
                  <a:pt x="85725" y="209550"/>
                </a:cubicBezTo>
                <a:cubicBezTo>
                  <a:pt x="85725" y="217468"/>
                  <a:pt x="92095" y="223838"/>
                  <a:pt x="100013" y="223838"/>
                </a:cubicBezTo>
                <a:lnTo>
                  <a:pt x="138113" y="223838"/>
                </a:lnTo>
                <a:lnTo>
                  <a:pt x="138113" y="233363"/>
                </a:lnTo>
                <a:cubicBezTo>
                  <a:pt x="138113" y="241280"/>
                  <a:pt x="144482" y="247650"/>
                  <a:pt x="152400" y="247650"/>
                </a:cubicBezTo>
                <a:cubicBezTo>
                  <a:pt x="160318" y="247650"/>
                  <a:pt x="166688" y="241280"/>
                  <a:pt x="166688" y="233363"/>
                </a:cubicBezTo>
                <a:lnTo>
                  <a:pt x="166688" y="223838"/>
                </a:lnTo>
                <a:lnTo>
                  <a:pt x="204787" y="223838"/>
                </a:lnTo>
                <a:cubicBezTo>
                  <a:pt x="212705" y="223838"/>
                  <a:pt x="219075" y="217468"/>
                  <a:pt x="219075" y="209550"/>
                </a:cubicBezTo>
                <a:cubicBezTo>
                  <a:pt x="219075" y="201632"/>
                  <a:pt x="212705" y="195263"/>
                  <a:pt x="204787" y="195263"/>
                </a:cubicBezTo>
                <a:lnTo>
                  <a:pt x="166688" y="195263"/>
                </a:lnTo>
                <a:lnTo>
                  <a:pt x="166688" y="166688"/>
                </a:lnTo>
                <a:lnTo>
                  <a:pt x="214313" y="166688"/>
                </a:lnTo>
                <a:cubicBezTo>
                  <a:pt x="222230" y="166688"/>
                  <a:pt x="228600" y="160318"/>
                  <a:pt x="228600" y="152400"/>
                </a:cubicBezTo>
                <a:cubicBezTo>
                  <a:pt x="228600" y="144482"/>
                  <a:pt x="222230" y="138113"/>
                  <a:pt x="214313" y="138113"/>
                </a:cubicBezTo>
                <a:lnTo>
                  <a:pt x="166688" y="138113"/>
                </a:lnTo>
                <a:lnTo>
                  <a:pt x="166688" y="109537"/>
                </a:lnTo>
                <a:lnTo>
                  <a:pt x="204787" y="109537"/>
                </a:lnTo>
                <a:cubicBezTo>
                  <a:pt x="212705" y="109537"/>
                  <a:pt x="219075" y="103168"/>
                  <a:pt x="219075" y="95250"/>
                </a:cubicBezTo>
                <a:cubicBezTo>
                  <a:pt x="219075" y="87332"/>
                  <a:pt x="212705" y="80962"/>
                  <a:pt x="204787" y="80962"/>
                </a:cubicBezTo>
                <a:lnTo>
                  <a:pt x="166688" y="80962"/>
                </a:lnTo>
                <a:lnTo>
                  <a:pt x="166688" y="71438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1422400" y="4419600"/>
            <a:ext cx="241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Medical Imaging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Disease detection in scans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18000" y="4254500"/>
            <a:ext cx="3302000" cy="1143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0" y="444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0486" y="69890"/>
                </a:moveTo>
                <a:lnTo>
                  <a:pt x="64949" y="114300"/>
                </a:lnTo>
                <a:lnTo>
                  <a:pt x="239851" y="114300"/>
                </a:lnTo>
                <a:lnTo>
                  <a:pt x="224314" y="69890"/>
                </a:lnTo>
                <a:cubicBezTo>
                  <a:pt x="221635" y="62270"/>
                  <a:pt x="214432" y="57150"/>
                  <a:pt x="206335" y="57150"/>
                </a:cubicBezTo>
                <a:lnTo>
                  <a:pt x="98465" y="57150"/>
                </a:lnTo>
                <a:cubicBezTo>
                  <a:pt x="90368" y="57150"/>
                  <a:pt x="83165" y="62270"/>
                  <a:pt x="80486" y="69890"/>
                </a:cubicBezTo>
                <a:close/>
                <a:moveTo>
                  <a:pt x="23574" y="117157"/>
                </a:moveTo>
                <a:lnTo>
                  <a:pt x="44529" y="57329"/>
                </a:lnTo>
                <a:cubicBezTo>
                  <a:pt x="52566" y="34409"/>
                  <a:pt x="74176" y="19050"/>
                  <a:pt x="98465" y="19050"/>
                </a:cubicBezTo>
                <a:lnTo>
                  <a:pt x="206335" y="19050"/>
                </a:lnTo>
                <a:cubicBezTo>
                  <a:pt x="230624" y="19050"/>
                  <a:pt x="252234" y="34409"/>
                  <a:pt x="260271" y="57329"/>
                </a:cubicBezTo>
                <a:lnTo>
                  <a:pt x="281226" y="117157"/>
                </a:lnTo>
                <a:cubicBezTo>
                  <a:pt x="295037" y="122873"/>
                  <a:pt x="304800" y="136505"/>
                  <a:pt x="304800" y="1524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66700" y="285750"/>
                </a:lnTo>
                <a:cubicBezTo>
                  <a:pt x="256163" y="285750"/>
                  <a:pt x="247650" y="277237"/>
                  <a:pt x="247650" y="266700"/>
                </a:cubicBezTo>
                <a:lnTo>
                  <a:pt x="247650" y="247650"/>
                </a:lnTo>
                <a:lnTo>
                  <a:pt x="57150" y="247650"/>
                </a:lnTo>
                <a:lnTo>
                  <a:pt x="57150" y="266700"/>
                </a:lnTo>
                <a:cubicBezTo>
                  <a:pt x="57150" y="277237"/>
                  <a:pt x="48637" y="285750"/>
                  <a:pt x="3810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152400"/>
                </a:lnTo>
                <a:cubicBezTo>
                  <a:pt x="0" y="136505"/>
                  <a:pt x="9763" y="122873"/>
                  <a:pt x="23574" y="117157"/>
                </a:cubicBezTo>
                <a:close/>
                <a:moveTo>
                  <a:pt x="76200" y="180975"/>
                </a:moveTo>
                <a:cubicBezTo>
                  <a:pt x="76200" y="170461"/>
                  <a:pt x="67664" y="161925"/>
                  <a:pt x="57150" y="161925"/>
                </a:cubicBezTo>
                <a:cubicBezTo>
                  <a:pt x="46636" y="161925"/>
                  <a:pt x="38100" y="170461"/>
                  <a:pt x="38100" y="180975"/>
                </a:cubicBezTo>
                <a:cubicBezTo>
                  <a:pt x="38100" y="191489"/>
                  <a:pt x="46636" y="200025"/>
                  <a:pt x="57150" y="200025"/>
                </a:cubicBezTo>
                <a:cubicBezTo>
                  <a:pt x="67664" y="200025"/>
                  <a:pt x="76200" y="191489"/>
                  <a:pt x="76200" y="180975"/>
                </a:cubicBezTo>
                <a:close/>
                <a:moveTo>
                  <a:pt x="247650" y="200025"/>
                </a:moveTo>
                <a:cubicBezTo>
                  <a:pt x="258164" y="200025"/>
                  <a:pt x="266700" y="191489"/>
                  <a:pt x="266700" y="180975"/>
                </a:cubicBezTo>
                <a:cubicBezTo>
                  <a:pt x="266700" y="170461"/>
                  <a:pt x="258164" y="161925"/>
                  <a:pt x="247650" y="161925"/>
                </a:cubicBezTo>
                <a:cubicBezTo>
                  <a:pt x="237136" y="161925"/>
                  <a:pt x="228600" y="170461"/>
                  <a:pt x="228600" y="180975"/>
                </a:cubicBezTo>
                <a:cubicBezTo>
                  <a:pt x="228600" y="191489"/>
                  <a:pt x="237136" y="200025"/>
                  <a:pt x="247650" y="20002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4978400" y="4419600"/>
            <a:ext cx="241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Autonomous Vehicles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Navigation and safety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28000" y="1587500"/>
            <a:ext cx="12700" cy="39370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21" name="Text 19"/>
          <p:cNvSpPr/>
          <p:nvPr/>
        </p:nvSpPr>
        <p:spPr>
          <a:xfrm>
            <a:off x="8636000" y="1587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Robotics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36000" y="20955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Combines AI with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physical systems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636000" y="2857500"/>
            <a:ext cx="6858000" cy="1016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867775" y="3111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6675" y="44450"/>
                </a:moveTo>
                <a:cubicBezTo>
                  <a:pt x="42158" y="44450"/>
                  <a:pt x="22225" y="64383"/>
                  <a:pt x="22225" y="88900"/>
                </a:cubicBezTo>
                <a:lnTo>
                  <a:pt x="22225" y="266700"/>
                </a:lnTo>
                <a:cubicBezTo>
                  <a:pt x="22225" y="291217"/>
                  <a:pt x="42158" y="311150"/>
                  <a:pt x="66675" y="311150"/>
                </a:cubicBezTo>
                <a:lnTo>
                  <a:pt x="244475" y="311150"/>
                </a:lnTo>
                <a:cubicBezTo>
                  <a:pt x="268992" y="311150"/>
                  <a:pt x="288925" y="291217"/>
                  <a:pt x="288925" y="266700"/>
                </a:cubicBezTo>
                <a:lnTo>
                  <a:pt x="288925" y="88900"/>
                </a:lnTo>
                <a:cubicBezTo>
                  <a:pt x="288925" y="64383"/>
                  <a:pt x="268992" y="44450"/>
                  <a:pt x="244475" y="44450"/>
                </a:cubicBezTo>
                <a:lnTo>
                  <a:pt x="66675" y="44450"/>
                </a:lnTo>
                <a:close/>
                <a:moveTo>
                  <a:pt x="322263" y="233363"/>
                </a:moveTo>
                <a:lnTo>
                  <a:pt x="373311" y="274201"/>
                </a:lnTo>
                <a:cubicBezTo>
                  <a:pt x="376228" y="276562"/>
                  <a:pt x="379839" y="277813"/>
                  <a:pt x="383590" y="277813"/>
                </a:cubicBezTo>
                <a:cubicBezTo>
                  <a:pt x="392688" y="277813"/>
                  <a:pt x="400050" y="270450"/>
                  <a:pt x="400050" y="261352"/>
                </a:cubicBezTo>
                <a:lnTo>
                  <a:pt x="400050" y="94248"/>
                </a:lnTo>
                <a:cubicBezTo>
                  <a:pt x="400050" y="85150"/>
                  <a:pt x="392688" y="77788"/>
                  <a:pt x="383590" y="77788"/>
                </a:cubicBezTo>
                <a:cubicBezTo>
                  <a:pt x="379839" y="77788"/>
                  <a:pt x="376228" y="79038"/>
                  <a:pt x="373311" y="81399"/>
                </a:cubicBezTo>
                <a:lnTo>
                  <a:pt x="322263" y="122238"/>
                </a:lnTo>
                <a:lnTo>
                  <a:pt x="322263" y="233363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5" name="Text 23"/>
          <p:cNvSpPr/>
          <p:nvPr/>
        </p:nvSpPr>
        <p:spPr>
          <a:xfrm>
            <a:off x="9398000" y="30226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Sensors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Cameras, LIDAR, microphones for perception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636000" y="4064000"/>
            <a:ext cx="6858000" cy="1016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34450" y="4318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11125" y="0"/>
                </a:moveTo>
                <a:cubicBezTo>
                  <a:pt x="123418" y="0"/>
                  <a:pt x="133350" y="9932"/>
                  <a:pt x="133350" y="22225"/>
                </a:cubicBezTo>
                <a:lnTo>
                  <a:pt x="133350" y="100013"/>
                </a:lnTo>
                <a:lnTo>
                  <a:pt x="88900" y="100013"/>
                </a:lnTo>
                <a:lnTo>
                  <a:pt x="88900" y="22225"/>
                </a:lnTo>
                <a:cubicBezTo>
                  <a:pt x="88900" y="9932"/>
                  <a:pt x="98832" y="0"/>
                  <a:pt x="111125" y="0"/>
                </a:cubicBezTo>
                <a:close/>
                <a:moveTo>
                  <a:pt x="22225" y="44450"/>
                </a:moveTo>
                <a:cubicBezTo>
                  <a:pt x="22225" y="32157"/>
                  <a:pt x="32157" y="22225"/>
                  <a:pt x="44450" y="22225"/>
                </a:cubicBezTo>
                <a:cubicBezTo>
                  <a:pt x="56743" y="22225"/>
                  <a:pt x="66675" y="32157"/>
                  <a:pt x="66675" y="44450"/>
                </a:cubicBezTo>
                <a:lnTo>
                  <a:pt x="66675" y="100013"/>
                </a:lnTo>
                <a:lnTo>
                  <a:pt x="22225" y="100013"/>
                </a:lnTo>
                <a:lnTo>
                  <a:pt x="22225" y="44450"/>
                </a:lnTo>
                <a:close/>
                <a:moveTo>
                  <a:pt x="155575" y="44450"/>
                </a:moveTo>
                <a:cubicBezTo>
                  <a:pt x="155575" y="32157"/>
                  <a:pt x="165507" y="22225"/>
                  <a:pt x="177800" y="22225"/>
                </a:cubicBezTo>
                <a:cubicBezTo>
                  <a:pt x="190093" y="22225"/>
                  <a:pt x="200025" y="32157"/>
                  <a:pt x="200025" y="44450"/>
                </a:cubicBezTo>
                <a:lnTo>
                  <a:pt x="200025" y="111125"/>
                </a:lnTo>
                <a:cubicBezTo>
                  <a:pt x="200025" y="123418"/>
                  <a:pt x="190093" y="133350"/>
                  <a:pt x="177800" y="133350"/>
                </a:cubicBezTo>
                <a:cubicBezTo>
                  <a:pt x="165507" y="133350"/>
                  <a:pt x="155575" y="123418"/>
                  <a:pt x="155575" y="111125"/>
                </a:cubicBezTo>
                <a:lnTo>
                  <a:pt x="155575" y="44450"/>
                </a:lnTo>
                <a:close/>
                <a:moveTo>
                  <a:pt x="222250" y="88900"/>
                </a:moveTo>
                <a:cubicBezTo>
                  <a:pt x="222250" y="76607"/>
                  <a:pt x="232182" y="66675"/>
                  <a:pt x="244475" y="66675"/>
                </a:cubicBezTo>
                <a:cubicBezTo>
                  <a:pt x="256768" y="66675"/>
                  <a:pt x="266700" y="76607"/>
                  <a:pt x="266700" y="88900"/>
                </a:cubicBezTo>
                <a:lnTo>
                  <a:pt x="266700" y="133350"/>
                </a:lnTo>
                <a:cubicBezTo>
                  <a:pt x="266700" y="145643"/>
                  <a:pt x="256768" y="155575"/>
                  <a:pt x="244475" y="155575"/>
                </a:cubicBezTo>
                <a:cubicBezTo>
                  <a:pt x="232182" y="155575"/>
                  <a:pt x="222250" y="145643"/>
                  <a:pt x="222250" y="133350"/>
                </a:cubicBezTo>
                <a:lnTo>
                  <a:pt x="222250" y="88900"/>
                </a:lnTo>
                <a:close/>
                <a:moveTo>
                  <a:pt x="155575" y="150019"/>
                </a:moveTo>
                <a:lnTo>
                  <a:pt x="155575" y="149602"/>
                </a:lnTo>
                <a:cubicBezTo>
                  <a:pt x="162104" y="153353"/>
                  <a:pt x="169674" y="155575"/>
                  <a:pt x="177800" y="155575"/>
                </a:cubicBezTo>
                <a:cubicBezTo>
                  <a:pt x="186968" y="155575"/>
                  <a:pt x="195441" y="152797"/>
                  <a:pt x="202525" y="148074"/>
                </a:cubicBezTo>
                <a:cubicBezTo>
                  <a:pt x="208568" y="165368"/>
                  <a:pt x="225098" y="177800"/>
                  <a:pt x="244475" y="177800"/>
                </a:cubicBezTo>
                <a:cubicBezTo>
                  <a:pt x="252601" y="177800"/>
                  <a:pt x="260171" y="175647"/>
                  <a:pt x="266700" y="171827"/>
                </a:cubicBezTo>
                <a:lnTo>
                  <a:pt x="266700" y="177800"/>
                </a:lnTo>
                <a:cubicBezTo>
                  <a:pt x="266700" y="214124"/>
                  <a:pt x="249267" y="246420"/>
                  <a:pt x="222250" y="266700"/>
                </a:cubicBezTo>
                <a:lnTo>
                  <a:pt x="222250" y="333375"/>
                </a:lnTo>
                <a:cubicBezTo>
                  <a:pt x="222250" y="345668"/>
                  <a:pt x="212318" y="355600"/>
                  <a:pt x="200025" y="355600"/>
                </a:cubicBezTo>
                <a:lnTo>
                  <a:pt x="88900" y="355600"/>
                </a:lnTo>
                <a:cubicBezTo>
                  <a:pt x="76607" y="355600"/>
                  <a:pt x="66675" y="345668"/>
                  <a:pt x="66675" y="333375"/>
                </a:cubicBezTo>
                <a:lnTo>
                  <a:pt x="66675" y="278924"/>
                </a:lnTo>
                <a:cubicBezTo>
                  <a:pt x="54660" y="273437"/>
                  <a:pt x="43617" y="265867"/>
                  <a:pt x="34101" y="256351"/>
                </a:cubicBezTo>
                <a:lnTo>
                  <a:pt x="26045" y="248295"/>
                </a:lnTo>
                <a:cubicBezTo>
                  <a:pt x="9376" y="231626"/>
                  <a:pt x="0" y="208984"/>
                  <a:pt x="0" y="185440"/>
                </a:cubicBezTo>
                <a:lnTo>
                  <a:pt x="0" y="166688"/>
                </a:lnTo>
                <a:cubicBezTo>
                  <a:pt x="0" y="142171"/>
                  <a:pt x="19933" y="122238"/>
                  <a:pt x="44450" y="122238"/>
                </a:cubicBezTo>
                <a:lnTo>
                  <a:pt x="105569" y="122238"/>
                </a:lnTo>
                <a:cubicBezTo>
                  <a:pt x="120918" y="122238"/>
                  <a:pt x="133350" y="134670"/>
                  <a:pt x="133350" y="150019"/>
                </a:cubicBezTo>
                <a:cubicBezTo>
                  <a:pt x="133350" y="165368"/>
                  <a:pt x="120918" y="177800"/>
                  <a:pt x="105569" y="177800"/>
                </a:cubicBezTo>
                <a:lnTo>
                  <a:pt x="66675" y="177800"/>
                </a:lnTo>
                <a:cubicBezTo>
                  <a:pt x="60563" y="177800"/>
                  <a:pt x="55563" y="182801"/>
                  <a:pt x="55563" y="188913"/>
                </a:cubicBezTo>
                <a:cubicBezTo>
                  <a:pt x="55563" y="195024"/>
                  <a:pt x="60563" y="200025"/>
                  <a:pt x="66675" y="200025"/>
                </a:cubicBezTo>
                <a:lnTo>
                  <a:pt x="105569" y="200025"/>
                </a:lnTo>
                <a:cubicBezTo>
                  <a:pt x="133211" y="200025"/>
                  <a:pt x="155575" y="177661"/>
                  <a:pt x="155575" y="150019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8" name="Text 26"/>
          <p:cNvSpPr/>
          <p:nvPr/>
        </p:nvSpPr>
        <p:spPr>
          <a:xfrm>
            <a:off x="9398000" y="42291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Actuators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Motors and servos for physical movement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62000" y="5842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6413500"/>
            <a:ext cx="14732000" cy="2032000"/>
          </a:xfrm>
          <a:prstGeom prst="roundRect">
            <a:avLst>
              <a:gd name="adj" fmla="val 3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079500" y="65405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applications: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Factory Automation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Surgical Robots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Exploration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(Mars rovers).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an Agent?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87500"/>
            <a:ext cx="14732000" cy="1270000"/>
          </a:xfrm>
          <a:prstGeom prst="roundRect">
            <a:avLst>
              <a:gd name="adj" fmla="val 3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28700" y="1905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79400" y="0"/>
                </a:moveTo>
                <a:cubicBezTo>
                  <a:pt x="279400" y="-14049"/>
                  <a:pt x="268049" y="-25400"/>
                  <a:pt x="254000" y="-25400"/>
                </a:cubicBezTo>
                <a:cubicBezTo>
                  <a:pt x="239951" y="-25400"/>
                  <a:pt x="228600" y="-14049"/>
                  <a:pt x="228600" y="0"/>
                </a:cubicBezTo>
                <a:lnTo>
                  <a:pt x="228600" y="50800"/>
                </a:lnTo>
                <a:lnTo>
                  <a:pt x="152400" y="50800"/>
                </a:lnTo>
                <a:cubicBezTo>
                  <a:pt x="110331" y="50800"/>
                  <a:pt x="76200" y="84931"/>
                  <a:pt x="76200" y="127000"/>
                </a:cubicBezTo>
                <a:lnTo>
                  <a:pt x="76200" y="304800"/>
                </a:lnTo>
                <a:cubicBezTo>
                  <a:pt x="76200" y="346869"/>
                  <a:pt x="110331" y="381000"/>
                  <a:pt x="152400" y="381000"/>
                </a:cubicBezTo>
                <a:lnTo>
                  <a:pt x="355600" y="381000"/>
                </a:lnTo>
                <a:cubicBezTo>
                  <a:pt x="397669" y="381000"/>
                  <a:pt x="431800" y="346869"/>
                  <a:pt x="431800" y="304800"/>
                </a:cubicBezTo>
                <a:lnTo>
                  <a:pt x="431800" y="127000"/>
                </a:lnTo>
                <a:cubicBezTo>
                  <a:pt x="431800" y="84931"/>
                  <a:pt x="397669" y="50800"/>
                  <a:pt x="355600" y="50800"/>
                </a:cubicBezTo>
                <a:lnTo>
                  <a:pt x="279400" y="50800"/>
                </a:lnTo>
                <a:lnTo>
                  <a:pt x="279400" y="0"/>
                </a:lnTo>
                <a:close/>
                <a:moveTo>
                  <a:pt x="127000" y="292100"/>
                </a:moveTo>
                <a:cubicBezTo>
                  <a:pt x="127000" y="281543"/>
                  <a:pt x="135493" y="273050"/>
                  <a:pt x="146050" y="273050"/>
                </a:cubicBezTo>
                <a:lnTo>
                  <a:pt x="171450" y="273050"/>
                </a:lnTo>
                <a:cubicBezTo>
                  <a:pt x="182007" y="273050"/>
                  <a:pt x="190500" y="281543"/>
                  <a:pt x="190500" y="292100"/>
                </a:cubicBezTo>
                <a:cubicBezTo>
                  <a:pt x="190500" y="302657"/>
                  <a:pt x="182007" y="311150"/>
                  <a:pt x="171450" y="311150"/>
                </a:cubicBezTo>
                <a:lnTo>
                  <a:pt x="146050" y="311150"/>
                </a:lnTo>
                <a:cubicBezTo>
                  <a:pt x="135493" y="311150"/>
                  <a:pt x="127000" y="302657"/>
                  <a:pt x="127000" y="292100"/>
                </a:cubicBezTo>
                <a:close/>
                <a:moveTo>
                  <a:pt x="222250" y="292100"/>
                </a:moveTo>
                <a:cubicBezTo>
                  <a:pt x="222250" y="281543"/>
                  <a:pt x="230743" y="273050"/>
                  <a:pt x="241300" y="273050"/>
                </a:cubicBezTo>
                <a:lnTo>
                  <a:pt x="266700" y="273050"/>
                </a:lnTo>
                <a:cubicBezTo>
                  <a:pt x="277257" y="273050"/>
                  <a:pt x="285750" y="281543"/>
                  <a:pt x="285750" y="292100"/>
                </a:cubicBezTo>
                <a:cubicBezTo>
                  <a:pt x="285750" y="302657"/>
                  <a:pt x="277257" y="311150"/>
                  <a:pt x="266700" y="311150"/>
                </a:cubicBezTo>
                <a:lnTo>
                  <a:pt x="241300" y="311150"/>
                </a:lnTo>
                <a:cubicBezTo>
                  <a:pt x="230743" y="311150"/>
                  <a:pt x="222250" y="302657"/>
                  <a:pt x="222250" y="292100"/>
                </a:cubicBezTo>
                <a:close/>
                <a:moveTo>
                  <a:pt x="317500" y="292100"/>
                </a:moveTo>
                <a:cubicBezTo>
                  <a:pt x="317500" y="281543"/>
                  <a:pt x="325993" y="273050"/>
                  <a:pt x="336550" y="273050"/>
                </a:cubicBezTo>
                <a:lnTo>
                  <a:pt x="361950" y="273050"/>
                </a:lnTo>
                <a:cubicBezTo>
                  <a:pt x="372507" y="273050"/>
                  <a:pt x="381000" y="281543"/>
                  <a:pt x="381000" y="292100"/>
                </a:cubicBezTo>
                <a:cubicBezTo>
                  <a:pt x="381000" y="302657"/>
                  <a:pt x="372507" y="311150"/>
                  <a:pt x="361950" y="311150"/>
                </a:cubicBezTo>
                <a:lnTo>
                  <a:pt x="336550" y="311150"/>
                </a:lnTo>
                <a:cubicBezTo>
                  <a:pt x="325993" y="311150"/>
                  <a:pt x="317500" y="302657"/>
                  <a:pt x="317500" y="292100"/>
                </a:cubicBezTo>
                <a:close/>
                <a:moveTo>
                  <a:pt x="177800" y="139700"/>
                </a:moveTo>
                <a:cubicBezTo>
                  <a:pt x="198828" y="139700"/>
                  <a:pt x="215900" y="156772"/>
                  <a:pt x="215900" y="177800"/>
                </a:cubicBezTo>
                <a:cubicBezTo>
                  <a:pt x="215900" y="198828"/>
                  <a:pt x="198828" y="215900"/>
                  <a:pt x="177800" y="215900"/>
                </a:cubicBezTo>
                <a:cubicBezTo>
                  <a:pt x="156772" y="215900"/>
                  <a:pt x="139700" y="198828"/>
                  <a:pt x="139700" y="177800"/>
                </a:cubicBezTo>
                <a:cubicBezTo>
                  <a:pt x="139700" y="156772"/>
                  <a:pt x="156772" y="139700"/>
                  <a:pt x="177800" y="139700"/>
                </a:cubicBezTo>
                <a:close/>
                <a:moveTo>
                  <a:pt x="292100" y="177800"/>
                </a:moveTo>
                <a:cubicBezTo>
                  <a:pt x="292100" y="156772"/>
                  <a:pt x="309172" y="139700"/>
                  <a:pt x="330200" y="139700"/>
                </a:cubicBezTo>
                <a:cubicBezTo>
                  <a:pt x="351228" y="139700"/>
                  <a:pt x="368300" y="156772"/>
                  <a:pt x="368300" y="177800"/>
                </a:cubicBezTo>
                <a:cubicBezTo>
                  <a:pt x="368300" y="198828"/>
                  <a:pt x="351228" y="215900"/>
                  <a:pt x="330200" y="215900"/>
                </a:cubicBezTo>
                <a:cubicBezTo>
                  <a:pt x="309172" y="215900"/>
                  <a:pt x="292100" y="198828"/>
                  <a:pt x="292100" y="177800"/>
                </a:cubicBezTo>
                <a:close/>
                <a:moveTo>
                  <a:pt x="50800" y="177800"/>
                </a:moveTo>
                <a:cubicBezTo>
                  <a:pt x="50800" y="163751"/>
                  <a:pt x="39449" y="152400"/>
                  <a:pt x="25400" y="152400"/>
                </a:cubicBezTo>
                <a:cubicBezTo>
                  <a:pt x="11351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11351" y="279400"/>
                  <a:pt x="25400" y="279400"/>
                </a:cubicBezTo>
                <a:cubicBezTo>
                  <a:pt x="39449" y="279400"/>
                  <a:pt x="50800" y="268049"/>
                  <a:pt x="50800" y="254000"/>
                </a:cubicBezTo>
                <a:lnTo>
                  <a:pt x="50800" y="177800"/>
                </a:lnTo>
                <a:close/>
                <a:moveTo>
                  <a:pt x="482600" y="152400"/>
                </a:moveTo>
                <a:cubicBezTo>
                  <a:pt x="468551" y="152400"/>
                  <a:pt x="457200" y="163751"/>
                  <a:pt x="457200" y="177800"/>
                </a:cubicBezTo>
                <a:lnTo>
                  <a:pt x="457200" y="254000"/>
                </a:lnTo>
                <a:cubicBezTo>
                  <a:pt x="457200" y="268049"/>
                  <a:pt x="468551" y="279400"/>
                  <a:pt x="482600" y="279400"/>
                </a:cubicBezTo>
                <a:cubicBezTo>
                  <a:pt x="496649" y="279400"/>
                  <a:pt x="508000" y="268049"/>
                  <a:pt x="508000" y="254000"/>
                </a:cubicBezTo>
                <a:lnTo>
                  <a:pt x="508000" y="177800"/>
                </a:lnTo>
                <a:cubicBezTo>
                  <a:pt x="508000" y="163751"/>
                  <a:pt x="496649" y="152400"/>
                  <a:pt x="482600" y="1524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1778000"/>
            <a:ext cx="13525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agent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an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autonomous software program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perceives its environment, makes decisions, and takes actions to achieve goals — without constant human supervision.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3175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Capabilities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784600"/>
            <a:ext cx="3429000" cy="1270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93775" y="4038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498600" y="40386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470400"/>
            <a:ext cx="292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Perceive via sensors and inputs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08500" y="3784600"/>
            <a:ext cx="3429000" cy="1270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762500" y="403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5245100" y="40386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62500" y="4470400"/>
            <a:ext cx="292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Decide actions to achieve goals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55000" y="3784600"/>
            <a:ext cx="3429000" cy="1397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531225" y="4038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8991600" y="40386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9000" y="44704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Execute via APIs or physical systems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001500" y="3784600"/>
            <a:ext cx="3492500" cy="1270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2255500" y="4038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5770" y="158700"/>
                </a:moveTo>
                <a:cubicBezTo>
                  <a:pt x="55007" y="94109"/>
                  <a:pt x="110639" y="44450"/>
                  <a:pt x="177800" y="44450"/>
                </a:cubicBezTo>
                <a:cubicBezTo>
                  <a:pt x="214610" y="44450"/>
                  <a:pt x="247948" y="59382"/>
                  <a:pt x="272117" y="83483"/>
                </a:cubicBezTo>
                <a:cubicBezTo>
                  <a:pt x="272256" y="83622"/>
                  <a:pt x="272395" y="83760"/>
                  <a:pt x="272534" y="83899"/>
                </a:cubicBezTo>
                <a:lnTo>
                  <a:pt x="277813" y="88900"/>
                </a:lnTo>
                <a:lnTo>
                  <a:pt x="244544" y="88900"/>
                </a:lnTo>
                <a:cubicBezTo>
                  <a:pt x="232251" y="88900"/>
                  <a:pt x="222319" y="98832"/>
                  <a:pt x="222319" y="111125"/>
                </a:cubicBezTo>
                <a:cubicBezTo>
                  <a:pt x="222319" y="123418"/>
                  <a:pt x="232251" y="133350"/>
                  <a:pt x="244544" y="133350"/>
                </a:cubicBezTo>
                <a:lnTo>
                  <a:pt x="333444" y="133350"/>
                </a:lnTo>
                <a:cubicBezTo>
                  <a:pt x="345738" y="133350"/>
                  <a:pt x="355669" y="123418"/>
                  <a:pt x="355669" y="111125"/>
                </a:cubicBezTo>
                <a:lnTo>
                  <a:pt x="355669" y="22225"/>
                </a:lnTo>
                <a:cubicBezTo>
                  <a:pt x="355669" y="9932"/>
                  <a:pt x="345738" y="0"/>
                  <a:pt x="333444" y="0"/>
                </a:cubicBezTo>
                <a:cubicBezTo>
                  <a:pt x="321151" y="0"/>
                  <a:pt x="311219" y="9932"/>
                  <a:pt x="311219" y="22225"/>
                </a:cubicBezTo>
                <a:lnTo>
                  <a:pt x="311219" y="59313"/>
                </a:lnTo>
                <a:lnTo>
                  <a:pt x="303371" y="51881"/>
                </a:lnTo>
                <a:cubicBezTo>
                  <a:pt x="271214" y="19864"/>
                  <a:pt x="226764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lose/>
                <a:moveTo>
                  <a:pt x="353794" y="203150"/>
                </a:moveTo>
                <a:cubicBezTo>
                  <a:pt x="355531" y="190996"/>
                  <a:pt x="347057" y="179745"/>
                  <a:pt x="334972" y="178008"/>
                </a:cubicBezTo>
                <a:cubicBezTo>
                  <a:pt x="322888" y="176272"/>
                  <a:pt x="311567" y="184745"/>
                  <a:pt x="309830" y="196830"/>
                </a:cubicBezTo>
                <a:cubicBezTo>
                  <a:pt x="300593" y="261422"/>
                  <a:pt x="244961" y="311081"/>
                  <a:pt x="177800" y="311081"/>
                </a:cubicBezTo>
                <a:cubicBezTo>
                  <a:pt x="140990" y="311081"/>
                  <a:pt x="107652" y="296148"/>
                  <a:pt x="83483" y="272048"/>
                </a:cubicBezTo>
                <a:cubicBezTo>
                  <a:pt x="83344" y="271909"/>
                  <a:pt x="83205" y="271770"/>
                  <a:pt x="83066" y="271631"/>
                </a:cubicBezTo>
                <a:lnTo>
                  <a:pt x="77787" y="266631"/>
                </a:lnTo>
                <a:lnTo>
                  <a:pt x="111056" y="266631"/>
                </a:lnTo>
                <a:cubicBezTo>
                  <a:pt x="123349" y="266631"/>
                  <a:pt x="133281" y="256699"/>
                  <a:pt x="133281" y="244406"/>
                </a:cubicBezTo>
                <a:cubicBezTo>
                  <a:pt x="133281" y="232112"/>
                  <a:pt x="123349" y="222181"/>
                  <a:pt x="111056" y="222181"/>
                </a:cubicBezTo>
                <a:lnTo>
                  <a:pt x="22225" y="222250"/>
                </a:lnTo>
                <a:cubicBezTo>
                  <a:pt x="16321" y="222250"/>
                  <a:pt x="10626" y="224611"/>
                  <a:pt x="6459" y="228848"/>
                </a:cubicBezTo>
                <a:cubicBezTo>
                  <a:pt x="2292" y="233085"/>
                  <a:pt x="-69" y="238710"/>
                  <a:pt x="0" y="244683"/>
                </a:cubicBezTo>
                <a:lnTo>
                  <a:pt x="695" y="332889"/>
                </a:lnTo>
                <a:cubicBezTo>
                  <a:pt x="764" y="345182"/>
                  <a:pt x="10835" y="355044"/>
                  <a:pt x="23128" y="354905"/>
                </a:cubicBezTo>
                <a:cubicBezTo>
                  <a:pt x="35421" y="354767"/>
                  <a:pt x="45283" y="344765"/>
                  <a:pt x="45145" y="332472"/>
                </a:cubicBezTo>
                <a:lnTo>
                  <a:pt x="44867" y="296704"/>
                </a:lnTo>
                <a:lnTo>
                  <a:pt x="52298" y="303719"/>
                </a:lnTo>
                <a:cubicBezTo>
                  <a:pt x="84455" y="335736"/>
                  <a:pt x="128836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12738100" y="40386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255500" y="4470400"/>
            <a:ext cx="298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Improve from feedback over time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2000" y="5461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Agent Loop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524000" y="6223000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D4943A"/>
          </a:solidFill>
          <a:ln/>
        </p:spPr>
      </p:sp>
      <p:sp>
        <p:nvSpPr>
          <p:cNvPr id="28" name="Text 26"/>
          <p:cNvSpPr/>
          <p:nvPr/>
        </p:nvSpPr>
        <p:spPr>
          <a:xfrm>
            <a:off x="1524000" y="6223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PERCEIVE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937000" y="6540500"/>
            <a:ext cx="1016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5080000" y="6223000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2D2A26"/>
          </a:solidFill>
          <a:ln/>
        </p:spPr>
      </p:sp>
      <p:sp>
        <p:nvSpPr>
          <p:cNvPr id="31" name="Text 29"/>
          <p:cNvSpPr/>
          <p:nvPr/>
        </p:nvSpPr>
        <p:spPr>
          <a:xfrm>
            <a:off x="5080000" y="6223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93000" y="6540500"/>
            <a:ext cx="1016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8636000" y="6223000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D4943A"/>
          </a:solidFill>
          <a:ln/>
        </p:spPr>
      </p:sp>
      <p:sp>
        <p:nvSpPr>
          <p:cNvPr id="34" name="Text 32"/>
          <p:cNvSpPr/>
          <p:nvPr/>
        </p:nvSpPr>
        <p:spPr>
          <a:xfrm>
            <a:off x="8636000" y="6223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049000" y="6540500"/>
            <a:ext cx="1016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12192000" y="6223000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2D2A26"/>
          </a:solidFill>
          <a:ln/>
        </p:spPr>
      </p:sp>
      <p:sp>
        <p:nvSpPr>
          <p:cNvPr id="37" name="Text 35"/>
          <p:cNvSpPr/>
          <p:nvPr/>
        </p:nvSpPr>
        <p:spPr>
          <a:xfrm>
            <a:off x="12192000" y="6223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2000" y="7302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loop lets agents operate autonomously. Unlike simple programs, agents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handle complex, dynamic tasks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62000" y="8382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 With Ease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AI Agents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24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agents are classified by their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capability and complexity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from simple reflex agents to advanced learning systems: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22225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23114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2311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Reflex Agents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692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Immediate response to stimuli, no memory or internal state. Uses condition-action rules.</a:t>
            </a:r>
            <a:endParaRPr lang="en-US" sz="14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Ex:</a:t>
            </a:r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Thermostat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78500" y="22225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69000" y="23114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0000" y="2311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Model-Based Reflex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2692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Maintains internal world model. Can handle partially observable environments.</a:t>
            </a:r>
            <a:endParaRPr lang="en-US" sz="14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Ex:</a:t>
            </a:r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Self-driving car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795000" y="22225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985500" y="23114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66500" y="2311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Goal-Based Agents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2692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Plans sequences of actions to achieve defined objectives. Evaluates potential outcomes.</a:t>
            </a:r>
            <a:endParaRPr lang="en-US" sz="14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Ex:</a:t>
            </a:r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Chess-playing AI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4127500"/>
            <a:ext cx="7175500" cy="1651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42164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4216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Utility-Based Agents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4597400"/>
            <a:ext cx="6667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Uses utility functions to evaluate and optimize decisions, balancing multiple objectives for optimal outcomes in complex scenarios.</a:t>
            </a:r>
            <a:endParaRPr lang="en-US" sz="14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Ex:</a:t>
            </a:r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Financial trading systems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318500" y="4127500"/>
            <a:ext cx="7175500" cy="1651000"/>
          </a:xfrm>
          <a:prstGeom prst="roundRect">
            <a:avLst>
              <a:gd name="adj" fmla="val 5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509000" y="4216400"/>
            <a:ext cx="38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90000" y="4216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Agents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72500" y="4597400"/>
            <a:ext cx="6667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Learns from experience, continuously improving performance and adapting to changing environments. The most advanced agent type.</a:t>
            </a:r>
            <a:endParaRPr lang="en-US" sz="14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Ex:</a:t>
            </a:r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Recommendation systems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2000" y="6223000"/>
            <a:ext cx="14732000" cy="381000"/>
          </a:xfrm>
          <a:prstGeom prst="roundRect">
            <a:avLst>
              <a:gd name="adj" fmla="val 15000"/>
            </a:avLst>
          </a:prstGeom>
          <a:gradFill rotWithShape="1" flip="none">
            <a:gsLst>
              <a:gs pos="0">
                <a:srgbClr val="D4943A">
                  <a:alpha val="19000"/>
                </a:srgbClr>
              </a:gs>
              <a:gs pos="100000">
                <a:srgbClr val="D4943A"/>
              </a:gs>
            </a:gsLst>
            <a:lin ang="0" scaled="1"/>
          </a:gradFill>
          <a:ln/>
        </p:spPr>
      </p:sp>
      <p:sp>
        <p:nvSpPr>
          <p:cNvPr id="28" name="Text 26"/>
          <p:cNvSpPr/>
          <p:nvPr/>
        </p:nvSpPr>
        <p:spPr>
          <a:xfrm>
            <a:off x="762000" y="6667500"/>
            <a:ext cx="147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Reflex ← Model-Based ← Goal-Based ← Utility-Based ← Learning Agents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7048500"/>
            <a:ext cx="14732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complexity spectrum shows how agent capabilities evolve: from simple stimulus-response mechanisms to sophisticated systems that can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learn, adapt, and optimize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their behavior over time. Modern AI systems often combine multiple agent types.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62000" y="8382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Smythos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Technology — Core Components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24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agents have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five core components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work together to create intelligent, autonomous systems: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22225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413000"/>
            <a:ext cx="457200" cy="4572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413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4638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Perception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29845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Collects data from: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Sensors (temperature, light)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Databases and knowledge bases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User input and IoT devices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78500" y="22225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32500" y="2413000"/>
            <a:ext cx="457200" cy="4572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6032500" y="2413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16700" y="24638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0" y="29845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Stores and manages knowledge: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Ontologies and knowledge graphs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Semantic networks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Short-term and long-term memory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795000" y="2222500"/>
            <a:ext cx="4699000" cy="2540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049000" y="2413000"/>
            <a:ext cx="457200" cy="4572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11049000" y="2413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633200" y="24638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9000" y="29845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Analyzes data to make decisions: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Inference engines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Decision trees and neural nets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Optimization algorithms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5080000"/>
            <a:ext cx="7175500" cy="22225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16000" y="5270500"/>
            <a:ext cx="457200" cy="4572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5270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00200" y="53213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Mechanism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6000" y="5842000"/>
            <a:ext cx="6667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Adapts based on new data: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Improves over time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Revises strategies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318500" y="5080000"/>
            <a:ext cx="7175500" cy="22225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572500" y="5270500"/>
            <a:ext cx="457200" cy="4572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29" name="Text 27"/>
          <p:cNvSpPr/>
          <p:nvPr/>
        </p:nvSpPr>
        <p:spPr>
          <a:xfrm>
            <a:off x="8572500" y="5270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56700" y="53213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&amp; Execution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72500" y="5842000"/>
            <a:ext cx="6667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Converts plans to execution: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APIs and message passing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Actuators and interfaces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62000" y="8382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 With Ease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Technology — Perception &amp; Memory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87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Perception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197100"/>
            <a:ext cx="3429000" cy="1397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96950" y="2387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19050"/>
                </a:moveTo>
                <a:cubicBezTo>
                  <a:pt x="123349" y="19050"/>
                  <a:pt x="84832" y="40957"/>
                  <a:pt x="56793" y="67032"/>
                </a:cubicBezTo>
                <a:cubicBezTo>
                  <a:pt x="28932" y="92928"/>
                  <a:pt x="10299" y="123825"/>
                  <a:pt x="1429" y="145078"/>
                </a:cubicBezTo>
                <a:cubicBezTo>
                  <a:pt x="-536" y="149781"/>
                  <a:pt x="-536" y="155019"/>
                  <a:pt x="1429" y="159722"/>
                </a:cubicBezTo>
                <a:cubicBezTo>
                  <a:pt x="10299" y="180975"/>
                  <a:pt x="28932" y="211931"/>
                  <a:pt x="56793" y="237768"/>
                </a:cubicBezTo>
                <a:cubicBezTo>
                  <a:pt x="84832" y="263783"/>
                  <a:pt x="123349" y="285750"/>
                  <a:pt x="171450" y="285750"/>
                </a:cubicBezTo>
                <a:cubicBezTo>
                  <a:pt x="219551" y="285750"/>
                  <a:pt x="258068" y="263843"/>
                  <a:pt x="286107" y="237768"/>
                </a:cubicBezTo>
                <a:cubicBezTo>
                  <a:pt x="313968" y="211872"/>
                  <a:pt x="332601" y="180975"/>
                  <a:pt x="341471" y="159722"/>
                </a:cubicBezTo>
                <a:cubicBezTo>
                  <a:pt x="343436" y="155019"/>
                  <a:pt x="343436" y="149781"/>
                  <a:pt x="341471" y="145078"/>
                </a:cubicBezTo>
                <a:cubicBezTo>
                  <a:pt x="332601" y="123825"/>
                  <a:pt x="313968" y="92869"/>
                  <a:pt x="286107" y="67032"/>
                </a:cubicBezTo>
                <a:cubicBezTo>
                  <a:pt x="258068" y="41017"/>
                  <a:pt x="219551" y="19050"/>
                  <a:pt x="171450" y="19050"/>
                </a:cubicBezTo>
                <a:close/>
                <a:moveTo>
                  <a:pt x="85725" y="152400"/>
                </a:moveTo>
                <a:cubicBezTo>
                  <a:pt x="85725" y="105087"/>
                  <a:pt x="124137" y="66675"/>
                  <a:pt x="171450" y="66675"/>
                </a:cubicBezTo>
                <a:cubicBezTo>
                  <a:pt x="218763" y="66675"/>
                  <a:pt x="257175" y="105087"/>
                  <a:pt x="257175" y="152400"/>
                </a:cubicBezTo>
                <a:cubicBezTo>
                  <a:pt x="257175" y="199713"/>
                  <a:pt x="218763" y="238125"/>
                  <a:pt x="171450" y="238125"/>
                </a:cubicBezTo>
                <a:cubicBezTo>
                  <a:pt x="124137" y="238125"/>
                  <a:pt x="85725" y="199713"/>
                  <a:pt x="85725" y="152400"/>
                </a:cubicBezTo>
                <a:close/>
                <a:moveTo>
                  <a:pt x="171450" y="114300"/>
                </a:moveTo>
                <a:cubicBezTo>
                  <a:pt x="171450" y="135315"/>
                  <a:pt x="154365" y="152400"/>
                  <a:pt x="133350" y="152400"/>
                </a:cubicBezTo>
                <a:cubicBezTo>
                  <a:pt x="126504" y="152400"/>
                  <a:pt x="120075" y="150614"/>
                  <a:pt x="114479" y="147399"/>
                </a:cubicBezTo>
                <a:cubicBezTo>
                  <a:pt x="113883" y="153888"/>
                  <a:pt x="114419" y="160556"/>
                  <a:pt x="116205" y="167164"/>
                </a:cubicBezTo>
                <a:cubicBezTo>
                  <a:pt x="124361" y="197644"/>
                  <a:pt x="155734" y="215741"/>
                  <a:pt x="186214" y="207585"/>
                </a:cubicBezTo>
                <a:cubicBezTo>
                  <a:pt x="216694" y="199430"/>
                  <a:pt x="234791" y="168057"/>
                  <a:pt x="226635" y="137577"/>
                </a:cubicBezTo>
                <a:cubicBezTo>
                  <a:pt x="219373" y="110371"/>
                  <a:pt x="193596" y="93047"/>
                  <a:pt x="166449" y="95429"/>
                </a:cubicBezTo>
                <a:cubicBezTo>
                  <a:pt x="169605" y="100965"/>
                  <a:pt x="171450" y="107394"/>
                  <a:pt x="171450" y="1143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1422400" y="2387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794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Interpreting camera data, object recognition, spatial understanding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08500" y="2197100"/>
            <a:ext cx="3429000" cy="1397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800600" y="2387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14300" y="0"/>
                </a:moveTo>
                <a:cubicBezTo>
                  <a:pt x="82748" y="0"/>
                  <a:pt x="57150" y="25598"/>
                  <a:pt x="57150" y="57150"/>
                </a:cubicBezTo>
                <a:lnTo>
                  <a:pt x="57150" y="133350"/>
                </a:lnTo>
                <a:cubicBezTo>
                  <a:pt x="57150" y="164902"/>
                  <a:pt x="82748" y="190500"/>
                  <a:pt x="114300" y="190500"/>
                </a:cubicBezTo>
                <a:cubicBezTo>
                  <a:pt x="145852" y="190500"/>
                  <a:pt x="171450" y="164902"/>
                  <a:pt x="171450" y="133350"/>
                </a:cubicBezTo>
                <a:lnTo>
                  <a:pt x="171450" y="57150"/>
                </a:lnTo>
                <a:cubicBezTo>
                  <a:pt x="171450" y="25598"/>
                  <a:pt x="145852" y="0"/>
                  <a:pt x="114300" y="0"/>
                </a:cubicBezTo>
                <a:close/>
                <a:moveTo>
                  <a:pt x="28575" y="109537"/>
                </a:moveTo>
                <a:cubicBezTo>
                  <a:pt x="28575" y="101620"/>
                  <a:pt x="22205" y="95250"/>
                  <a:pt x="14288" y="95250"/>
                </a:cubicBezTo>
                <a:cubicBezTo>
                  <a:pt x="6370" y="95250"/>
                  <a:pt x="0" y="101620"/>
                  <a:pt x="0" y="109537"/>
                </a:cubicBezTo>
                <a:lnTo>
                  <a:pt x="0" y="133350"/>
                </a:lnTo>
                <a:cubicBezTo>
                  <a:pt x="0" y="191631"/>
                  <a:pt x="43636" y="239732"/>
                  <a:pt x="100013" y="246757"/>
                </a:cubicBezTo>
                <a:lnTo>
                  <a:pt x="100013" y="276225"/>
                </a:lnTo>
                <a:lnTo>
                  <a:pt x="71438" y="276225"/>
                </a:lnTo>
                <a:cubicBezTo>
                  <a:pt x="63520" y="276225"/>
                  <a:pt x="57150" y="282595"/>
                  <a:pt x="57150" y="290513"/>
                </a:cubicBezTo>
                <a:cubicBezTo>
                  <a:pt x="57150" y="298430"/>
                  <a:pt x="63520" y="304800"/>
                  <a:pt x="71438" y="304800"/>
                </a:cubicBezTo>
                <a:lnTo>
                  <a:pt x="157163" y="304800"/>
                </a:lnTo>
                <a:cubicBezTo>
                  <a:pt x="165080" y="304800"/>
                  <a:pt x="171450" y="298430"/>
                  <a:pt x="171450" y="290513"/>
                </a:cubicBezTo>
                <a:cubicBezTo>
                  <a:pt x="171450" y="282595"/>
                  <a:pt x="165080" y="276225"/>
                  <a:pt x="157163" y="276225"/>
                </a:cubicBezTo>
                <a:lnTo>
                  <a:pt x="128588" y="276225"/>
                </a:lnTo>
                <a:lnTo>
                  <a:pt x="128588" y="246757"/>
                </a:lnTo>
                <a:cubicBezTo>
                  <a:pt x="184964" y="239732"/>
                  <a:pt x="228600" y="191631"/>
                  <a:pt x="228600" y="133350"/>
                </a:cubicBezTo>
                <a:lnTo>
                  <a:pt x="228600" y="109537"/>
                </a:lnTo>
                <a:cubicBezTo>
                  <a:pt x="228600" y="101620"/>
                  <a:pt x="222230" y="95250"/>
                  <a:pt x="214313" y="95250"/>
                </a:cubicBezTo>
                <a:cubicBezTo>
                  <a:pt x="206395" y="95250"/>
                  <a:pt x="200025" y="101620"/>
                  <a:pt x="200025" y="109537"/>
                </a:cubicBezTo>
                <a:lnTo>
                  <a:pt x="200025" y="133350"/>
                </a:lnTo>
                <a:cubicBezTo>
                  <a:pt x="200025" y="180677"/>
                  <a:pt x="161627" y="219075"/>
                  <a:pt x="114300" y="219075"/>
                </a:cubicBezTo>
                <a:cubicBezTo>
                  <a:pt x="66973" y="219075"/>
                  <a:pt x="28575" y="180677"/>
                  <a:pt x="28575" y="133350"/>
                </a:cubicBezTo>
                <a:lnTo>
                  <a:pt x="28575" y="109537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5168900" y="2387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62500" y="2794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Speech recognition, sound processing, music analysis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55000" y="2197100"/>
            <a:ext cx="3429000" cy="1397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547100" y="2387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9050" y="19050"/>
                </a:moveTo>
                <a:cubicBezTo>
                  <a:pt x="19050" y="8513"/>
                  <a:pt x="27563" y="0"/>
                  <a:pt x="38100" y="0"/>
                </a:cubicBezTo>
                <a:cubicBezTo>
                  <a:pt x="48637" y="0"/>
                  <a:pt x="57150" y="8513"/>
                  <a:pt x="57150" y="19050"/>
                </a:cubicBezTo>
                <a:lnTo>
                  <a:pt x="57150" y="142875"/>
                </a:lnTo>
                <a:lnTo>
                  <a:pt x="19050" y="142875"/>
                </a:lnTo>
                <a:lnTo>
                  <a:pt x="19050" y="19050"/>
                </a:lnTo>
                <a:close/>
                <a:moveTo>
                  <a:pt x="133350" y="114300"/>
                </a:moveTo>
                <a:cubicBezTo>
                  <a:pt x="133350" y="103763"/>
                  <a:pt x="141863" y="95250"/>
                  <a:pt x="152400" y="95250"/>
                </a:cubicBezTo>
                <a:cubicBezTo>
                  <a:pt x="162937" y="95250"/>
                  <a:pt x="171450" y="103763"/>
                  <a:pt x="171450" y="114300"/>
                </a:cubicBezTo>
                <a:lnTo>
                  <a:pt x="171450" y="152400"/>
                </a:lnTo>
                <a:cubicBezTo>
                  <a:pt x="171450" y="162937"/>
                  <a:pt x="162937" y="171450"/>
                  <a:pt x="152400" y="171450"/>
                </a:cubicBezTo>
                <a:cubicBezTo>
                  <a:pt x="141863" y="171450"/>
                  <a:pt x="133350" y="162937"/>
                  <a:pt x="133350" y="152400"/>
                </a:cubicBezTo>
                <a:lnTo>
                  <a:pt x="133350" y="114300"/>
                </a:lnTo>
                <a:close/>
                <a:moveTo>
                  <a:pt x="95250" y="76200"/>
                </a:moveTo>
                <a:cubicBezTo>
                  <a:pt x="105787" y="76200"/>
                  <a:pt x="114300" y="84713"/>
                  <a:pt x="114300" y="95250"/>
                </a:cubicBezTo>
                <a:lnTo>
                  <a:pt x="114300" y="123825"/>
                </a:lnTo>
                <a:cubicBezTo>
                  <a:pt x="114300" y="134362"/>
                  <a:pt x="105787" y="142875"/>
                  <a:pt x="95250" y="142875"/>
                </a:cubicBezTo>
                <a:cubicBezTo>
                  <a:pt x="84713" y="142875"/>
                  <a:pt x="76200" y="134362"/>
                  <a:pt x="76200" y="123825"/>
                </a:cubicBezTo>
                <a:lnTo>
                  <a:pt x="76200" y="95250"/>
                </a:lnTo>
                <a:cubicBezTo>
                  <a:pt x="76200" y="84713"/>
                  <a:pt x="84713" y="76200"/>
                  <a:pt x="95250" y="76200"/>
                </a:cubicBezTo>
                <a:close/>
                <a:moveTo>
                  <a:pt x="190500" y="133350"/>
                </a:moveTo>
                <a:cubicBezTo>
                  <a:pt x="190500" y="122813"/>
                  <a:pt x="199013" y="114300"/>
                  <a:pt x="209550" y="114300"/>
                </a:cubicBezTo>
                <a:cubicBezTo>
                  <a:pt x="220087" y="114300"/>
                  <a:pt x="228600" y="122813"/>
                  <a:pt x="228600" y="133350"/>
                </a:cubicBezTo>
                <a:lnTo>
                  <a:pt x="228600" y="171450"/>
                </a:lnTo>
                <a:cubicBezTo>
                  <a:pt x="228600" y="181987"/>
                  <a:pt x="220087" y="190500"/>
                  <a:pt x="209550" y="190500"/>
                </a:cubicBezTo>
                <a:cubicBezTo>
                  <a:pt x="199013" y="190500"/>
                  <a:pt x="190500" y="181987"/>
                  <a:pt x="190500" y="171450"/>
                </a:cubicBezTo>
                <a:lnTo>
                  <a:pt x="190500" y="133350"/>
                </a:lnTo>
                <a:close/>
                <a:moveTo>
                  <a:pt x="133350" y="185738"/>
                </a:moveTo>
                <a:lnTo>
                  <a:pt x="133350" y="185380"/>
                </a:lnTo>
                <a:cubicBezTo>
                  <a:pt x="138946" y="188595"/>
                  <a:pt x="145435" y="190500"/>
                  <a:pt x="152400" y="190500"/>
                </a:cubicBezTo>
                <a:cubicBezTo>
                  <a:pt x="160258" y="190500"/>
                  <a:pt x="167521" y="188119"/>
                  <a:pt x="173593" y="184071"/>
                </a:cubicBezTo>
                <a:cubicBezTo>
                  <a:pt x="178772" y="198894"/>
                  <a:pt x="192941" y="209550"/>
                  <a:pt x="209550" y="209550"/>
                </a:cubicBezTo>
                <a:cubicBezTo>
                  <a:pt x="216515" y="209550"/>
                  <a:pt x="223004" y="207705"/>
                  <a:pt x="228600" y="204430"/>
                </a:cubicBezTo>
                <a:lnTo>
                  <a:pt x="228600" y="209550"/>
                </a:lnTo>
                <a:cubicBezTo>
                  <a:pt x="228600" y="262176"/>
                  <a:pt x="185976" y="304800"/>
                  <a:pt x="133350" y="304800"/>
                </a:cubicBezTo>
                <a:lnTo>
                  <a:pt x="96619" y="304800"/>
                </a:lnTo>
                <a:cubicBezTo>
                  <a:pt x="71378" y="304800"/>
                  <a:pt x="47149" y="294739"/>
                  <a:pt x="29289" y="276880"/>
                </a:cubicBezTo>
                <a:lnTo>
                  <a:pt x="22324" y="269974"/>
                </a:lnTo>
                <a:cubicBezTo>
                  <a:pt x="8037" y="255687"/>
                  <a:pt x="0" y="236280"/>
                  <a:pt x="0" y="216098"/>
                </a:cubicBezTo>
                <a:lnTo>
                  <a:pt x="0" y="200025"/>
                </a:lnTo>
                <a:cubicBezTo>
                  <a:pt x="0" y="179010"/>
                  <a:pt x="17085" y="161925"/>
                  <a:pt x="38100" y="161925"/>
                </a:cubicBezTo>
                <a:lnTo>
                  <a:pt x="90488" y="161925"/>
                </a:lnTo>
                <a:cubicBezTo>
                  <a:pt x="103644" y="161925"/>
                  <a:pt x="114300" y="172581"/>
                  <a:pt x="114300" y="185738"/>
                </a:cubicBezTo>
                <a:cubicBezTo>
                  <a:pt x="114300" y="198894"/>
                  <a:pt x="103644" y="209550"/>
                  <a:pt x="90488" y="209550"/>
                </a:cubicBezTo>
                <a:lnTo>
                  <a:pt x="57150" y="209550"/>
                </a:lnTo>
                <a:cubicBezTo>
                  <a:pt x="51911" y="209550"/>
                  <a:pt x="47625" y="213836"/>
                  <a:pt x="47625" y="219075"/>
                </a:cubicBezTo>
                <a:cubicBezTo>
                  <a:pt x="47625" y="224314"/>
                  <a:pt x="51911" y="228600"/>
                  <a:pt x="57150" y="228600"/>
                </a:cubicBezTo>
                <a:lnTo>
                  <a:pt x="90488" y="228600"/>
                </a:lnTo>
                <a:cubicBezTo>
                  <a:pt x="114181" y="228600"/>
                  <a:pt x="133350" y="209431"/>
                  <a:pt x="133350" y="18573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8915400" y="2387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Tactile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9000" y="27940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Touch sensing, pressure detection, physical contact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001500" y="2197100"/>
            <a:ext cx="3492500" cy="1397000"/>
          </a:xfrm>
          <a:prstGeom prst="roundRect">
            <a:avLst>
              <a:gd name="adj" fmla="val 5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255500" y="2387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2661900" y="2387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255500" y="27940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Combining multiple inputs for richer understanding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2000" y="39370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4191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Systems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4826000"/>
            <a:ext cx="7048500" cy="2921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16000" y="508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107474"/>
                </a:lnTo>
                <a:cubicBezTo>
                  <a:pt x="0" y="112871"/>
                  <a:pt x="3493" y="117475"/>
                  <a:pt x="8017" y="120412"/>
                </a:cubicBezTo>
                <a:cubicBezTo>
                  <a:pt x="18494" y="127238"/>
                  <a:pt x="25400" y="138986"/>
                  <a:pt x="25400" y="152400"/>
                </a:cubicBezTo>
                <a:cubicBezTo>
                  <a:pt x="25400" y="165814"/>
                  <a:pt x="18494" y="177562"/>
                  <a:pt x="8017" y="184388"/>
                </a:cubicBezTo>
                <a:cubicBezTo>
                  <a:pt x="3493" y="187325"/>
                  <a:pt x="0" y="191929"/>
                  <a:pt x="0" y="197326"/>
                </a:cubicBezTo>
                <a:lnTo>
                  <a:pt x="0" y="241300"/>
                </a:lnTo>
                <a:lnTo>
                  <a:pt x="406400" y="241300"/>
                </a:lnTo>
                <a:lnTo>
                  <a:pt x="406400" y="197326"/>
                </a:lnTo>
                <a:cubicBezTo>
                  <a:pt x="406400" y="191929"/>
                  <a:pt x="402908" y="187325"/>
                  <a:pt x="398383" y="184388"/>
                </a:cubicBezTo>
                <a:cubicBezTo>
                  <a:pt x="387906" y="177562"/>
                  <a:pt x="381000" y="165814"/>
                  <a:pt x="381000" y="152400"/>
                </a:cubicBezTo>
                <a:cubicBezTo>
                  <a:pt x="381000" y="138986"/>
                  <a:pt x="387906" y="127238"/>
                  <a:pt x="398383" y="120412"/>
                </a:cubicBezTo>
                <a:cubicBezTo>
                  <a:pt x="402908" y="117475"/>
                  <a:pt x="406400" y="112871"/>
                  <a:pt x="406400" y="107474"/>
                </a:cubicBezTo>
                <a:lnTo>
                  <a:pt x="406400" y="101600"/>
                </a:lnTo>
                <a:cubicBezTo>
                  <a:pt x="406400" y="73581"/>
                  <a:pt x="383619" y="50800"/>
                  <a:pt x="355600" y="50800"/>
                </a:cubicBezTo>
                <a:lnTo>
                  <a:pt x="50800" y="50800"/>
                </a:lnTo>
                <a:close/>
                <a:moveTo>
                  <a:pt x="406400" y="330200"/>
                </a:moveTo>
                <a:lnTo>
                  <a:pt x="406400" y="279400"/>
                </a:lnTo>
                <a:lnTo>
                  <a:pt x="0" y="279400"/>
                </a:lnTo>
                <a:lnTo>
                  <a:pt x="0" y="330200"/>
                </a:lnTo>
                <a:cubicBezTo>
                  <a:pt x="0" y="344249"/>
                  <a:pt x="11351" y="355600"/>
                  <a:pt x="25400" y="355600"/>
                </a:cubicBezTo>
                <a:lnTo>
                  <a:pt x="76200" y="355600"/>
                </a:lnTo>
                <a:lnTo>
                  <a:pt x="76200" y="336550"/>
                </a:lnTo>
                <a:cubicBezTo>
                  <a:pt x="76200" y="325993"/>
                  <a:pt x="84693" y="317500"/>
                  <a:pt x="95250" y="317500"/>
                </a:cubicBezTo>
                <a:cubicBezTo>
                  <a:pt x="105807" y="317500"/>
                  <a:pt x="114300" y="325993"/>
                  <a:pt x="114300" y="336550"/>
                </a:cubicBezTo>
                <a:lnTo>
                  <a:pt x="114300" y="355600"/>
                </a:lnTo>
                <a:lnTo>
                  <a:pt x="184150" y="355600"/>
                </a:lnTo>
                <a:lnTo>
                  <a:pt x="184150" y="336550"/>
                </a:lnTo>
                <a:cubicBezTo>
                  <a:pt x="184150" y="325993"/>
                  <a:pt x="192643" y="317500"/>
                  <a:pt x="203200" y="317500"/>
                </a:cubicBezTo>
                <a:cubicBezTo>
                  <a:pt x="213757" y="317500"/>
                  <a:pt x="222250" y="325993"/>
                  <a:pt x="222250" y="336550"/>
                </a:cubicBezTo>
                <a:lnTo>
                  <a:pt x="222250" y="355600"/>
                </a:lnTo>
                <a:lnTo>
                  <a:pt x="292100" y="355600"/>
                </a:lnTo>
                <a:lnTo>
                  <a:pt x="292100" y="336550"/>
                </a:lnTo>
                <a:cubicBezTo>
                  <a:pt x="292100" y="325993"/>
                  <a:pt x="300593" y="317500"/>
                  <a:pt x="311150" y="317500"/>
                </a:cubicBezTo>
                <a:cubicBezTo>
                  <a:pt x="321707" y="317500"/>
                  <a:pt x="330200" y="325993"/>
                  <a:pt x="330200" y="336550"/>
                </a:cubicBezTo>
                <a:lnTo>
                  <a:pt x="330200" y="355600"/>
                </a:ln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lose/>
                <a:moveTo>
                  <a:pt x="127000" y="127000"/>
                </a:moveTo>
                <a:lnTo>
                  <a:pt x="127000" y="177800"/>
                </a:lnTo>
                <a:cubicBezTo>
                  <a:pt x="127000" y="191849"/>
                  <a:pt x="115649" y="203200"/>
                  <a:pt x="101600" y="203200"/>
                </a:cubicBezTo>
                <a:cubicBezTo>
                  <a:pt x="87551" y="203200"/>
                  <a:pt x="76200" y="191849"/>
                  <a:pt x="76200" y="177800"/>
                </a:cubicBezTo>
                <a:lnTo>
                  <a:pt x="76200" y="127000"/>
                </a:lnTo>
                <a:cubicBezTo>
                  <a:pt x="76200" y="112951"/>
                  <a:pt x="87551" y="101600"/>
                  <a:pt x="101600" y="101600"/>
                </a:cubicBezTo>
                <a:cubicBezTo>
                  <a:pt x="115649" y="101600"/>
                  <a:pt x="127000" y="112951"/>
                  <a:pt x="127000" y="127000"/>
                </a:cubicBezTo>
                <a:close/>
                <a:moveTo>
                  <a:pt x="228600" y="127000"/>
                </a:moveTo>
                <a:lnTo>
                  <a:pt x="228600" y="177800"/>
                </a:lnTo>
                <a:cubicBezTo>
                  <a:pt x="228600" y="191849"/>
                  <a:pt x="217249" y="203200"/>
                  <a:pt x="203200" y="203200"/>
                </a:cubicBezTo>
                <a:cubicBezTo>
                  <a:pt x="189151" y="203200"/>
                  <a:pt x="177800" y="191849"/>
                  <a:pt x="177800" y="1778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330200" y="127000"/>
                </a:moveTo>
                <a:lnTo>
                  <a:pt x="330200" y="177800"/>
                </a:lnTo>
                <a:cubicBezTo>
                  <a:pt x="330200" y="191849"/>
                  <a:pt x="318849" y="203200"/>
                  <a:pt x="304800" y="203200"/>
                </a:cubicBezTo>
                <a:cubicBezTo>
                  <a:pt x="290751" y="203200"/>
                  <a:pt x="279400" y="191849"/>
                  <a:pt x="279400" y="177800"/>
                </a:cubicBezTo>
                <a:lnTo>
                  <a:pt x="279400" y="127000"/>
                </a:lnTo>
                <a:cubicBezTo>
                  <a:pt x="279400" y="112951"/>
                  <a:pt x="290751" y="101600"/>
                  <a:pt x="304800" y="101600"/>
                </a:cubicBezTo>
                <a:cubicBezTo>
                  <a:pt x="318849" y="101600"/>
                  <a:pt x="330200" y="112951"/>
                  <a:pt x="330200" y="1270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7" name="Text 25"/>
          <p:cNvSpPr/>
          <p:nvPr/>
        </p:nvSpPr>
        <p:spPr>
          <a:xfrm>
            <a:off x="1549400" y="508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Short-Term (Working) Memory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5588000"/>
            <a:ext cx="6540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Buffer for immediate context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Enables in-context learning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Sufficient for single-session tasks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Maintains continuity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Example: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ChatGPT's session history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445500" y="4826000"/>
            <a:ext cx="7048500" cy="2921000"/>
          </a:xfrm>
          <a:prstGeom prst="roundRect">
            <a:avLst>
              <a:gd name="adj" fmla="val 5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24900" y="5080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1" name="Text 29"/>
          <p:cNvSpPr/>
          <p:nvPr/>
        </p:nvSpPr>
        <p:spPr>
          <a:xfrm>
            <a:off x="9232900" y="508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Long-Term Memory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99500" y="5588000"/>
            <a:ext cx="6540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Stores info across interactions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Remembers preferences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Uses vector databases and RAG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Enables cross-session learning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Example: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Personalized recommendations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62000" y="8382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Prompting Guide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Technology — Reasoning, Tools &amp; Action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87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Planning &amp; Reasoning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159000"/>
            <a:ext cx="7048500" cy="2032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0450" y="23876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33350" y="-22225"/>
                </a:moveTo>
                <a:cubicBezTo>
                  <a:pt x="206970" y="-22225"/>
                  <a:pt x="266700" y="37505"/>
                  <a:pt x="266700" y="111125"/>
                </a:cubicBezTo>
                <a:lnTo>
                  <a:pt x="266700" y="203845"/>
                </a:lnTo>
                <a:cubicBezTo>
                  <a:pt x="266700" y="215652"/>
                  <a:pt x="261977" y="226903"/>
                  <a:pt x="253712" y="235238"/>
                </a:cubicBezTo>
                <a:lnTo>
                  <a:pt x="222250" y="266700"/>
                </a:lnTo>
                <a:lnTo>
                  <a:pt x="257532" y="301913"/>
                </a:lnTo>
                <a:cubicBezTo>
                  <a:pt x="263436" y="307816"/>
                  <a:pt x="266700" y="315803"/>
                  <a:pt x="266700" y="324138"/>
                </a:cubicBezTo>
                <a:cubicBezTo>
                  <a:pt x="266700" y="341501"/>
                  <a:pt x="252601" y="355531"/>
                  <a:pt x="235307" y="355600"/>
                </a:cubicBezTo>
                <a:lnTo>
                  <a:pt x="31462" y="355600"/>
                </a:lnTo>
                <a:cubicBezTo>
                  <a:pt x="14099" y="355600"/>
                  <a:pt x="69" y="341501"/>
                  <a:pt x="69" y="324138"/>
                </a:cubicBezTo>
                <a:cubicBezTo>
                  <a:pt x="69" y="315803"/>
                  <a:pt x="3403" y="307816"/>
                  <a:pt x="9237" y="301913"/>
                </a:cubicBezTo>
                <a:lnTo>
                  <a:pt x="44450" y="266700"/>
                </a:lnTo>
                <a:lnTo>
                  <a:pt x="44450" y="242669"/>
                </a:lnTo>
                <a:cubicBezTo>
                  <a:pt x="44450" y="229681"/>
                  <a:pt x="50145" y="217388"/>
                  <a:pt x="59938" y="208915"/>
                </a:cubicBezTo>
                <a:lnTo>
                  <a:pt x="122238" y="155575"/>
                </a:lnTo>
                <a:lnTo>
                  <a:pt x="88900" y="155575"/>
                </a:lnTo>
                <a:lnTo>
                  <a:pt x="80496" y="163979"/>
                </a:lnTo>
                <a:cubicBezTo>
                  <a:pt x="71676" y="172799"/>
                  <a:pt x="59660" y="177800"/>
                  <a:pt x="47159" y="177800"/>
                </a:cubicBezTo>
                <a:cubicBezTo>
                  <a:pt x="21114" y="177800"/>
                  <a:pt x="0" y="156686"/>
                  <a:pt x="0" y="130641"/>
                </a:cubicBezTo>
                <a:lnTo>
                  <a:pt x="0" y="124599"/>
                </a:lnTo>
                <a:cubicBezTo>
                  <a:pt x="0" y="108764"/>
                  <a:pt x="5695" y="93414"/>
                  <a:pt x="16044" y="81330"/>
                </a:cubicBezTo>
                <a:lnTo>
                  <a:pt x="66675" y="22225"/>
                </a:lnTo>
                <a:lnTo>
                  <a:pt x="66675" y="0"/>
                </a:lnTo>
                <a:cubicBezTo>
                  <a:pt x="66675" y="-12293"/>
                  <a:pt x="76607" y="-22225"/>
                  <a:pt x="88900" y="-22225"/>
                </a:cubicBezTo>
                <a:lnTo>
                  <a:pt x="133350" y="-22225"/>
                </a:lnTo>
                <a:close/>
                <a:moveTo>
                  <a:pt x="111125" y="50006"/>
                </a:moveTo>
                <a:cubicBezTo>
                  <a:pt x="101925" y="50006"/>
                  <a:pt x="94456" y="57475"/>
                  <a:pt x="94456" y="66675"/>
                </a:cubicBezTo>
                <a:cubicBezTo>
                  <a:pt x="94456" y="75875"/>
                  <a:pt x="101925" y="83344"/>
                  <a:pt x="111125" y="83344"/>
                </a:cubicBezTo>
                <a:cubicBezTo>
                  <a:pt x="120325" y="83344"/>
                  <a:pt x="127794" y="75875"/>
                  <a:pt x="127794" y="66675"/>
                </a:cubicBezTo>
                <a:cubicBezTo>
                  <a:pt x="127794" y="57475"/>
                  <a:pt x="120325" y="50006"/>
                  <a:pt x="111125" y="50006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2349500"/>
            <a:ext cx="60325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Powered by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LLMs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Task decomposition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Chain-of-thought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Self-reflection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45500" y="1587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 Utilization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45500" y="2159000"/>
            <a:ext cx="7048500" cy="20320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77275" y="2387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53794" y="68481"/>
                </a:moveTo>
                <a:cubicBezTo>
                  <a:pt x="359073" y="63202"/>
                  <a:pt x="367893" y="64522"/>
                  <a:pt x="370532" y="71467"/>
                </a:cubicBezTo>
                <a:cubicBezTo>
                  <a:pt x="375255" y="83760"/>
                  <a:pt x="377825" y="97165"/>
                  <a:pt x="377825" y="111125"/>
                </a:cubicBezTo>
                <a:cubicBezTo>
                  <a:pt x="377825" y="172522"/>
                  <a:pt x="328097" y="222250"/>
                  <a:pt x="266700" y="222250"/>
                </a:cubicBezTo>
                <a:cubicBezTo>
                  <a:pt x="254546" y="222250"/>
                  <a:pt x="242808" y="220305"/>
                  <a:pt x="231835" y="216694"/>
                </a:cubicBezTo>
                <a:lnTo>
                  <a:pt x="102027" y="346502"/>
                </a:lnTo>
                <a:cubicBezTo>
                  <a:pt x="82510" y="366018"/>
                  <a:pt x="50840" y="366018"/>
                  <a:pt x="31323" y="346502"/>
                </a:cubicBezTo>
                <a:cubicBezTo>
                  <a:pt x="11807" y="326985"/>
                  <a:pt x="11807" y="295315"/>
                  <a:pt x="31323" y="275798"/>
                </a:cubicBezTo>
                <a:lnTo>
                  <a:pt x="161131" y="145990"/>
                </a:lnTo>
                <a:cubicBezTo>
                  <a:pt x="157520" y="135017"/>
                  <a:pt x="155575" y="123349"/>
                  <a:pt x="155575" y="111125"/>
                </a:cubicBezTo>
                <a:cubicBezTo>
                  <a:pt x="155575" y="49728"/>
                  <a:pt x="205303" y="0"/>
                  <a:pt x="266700" y="0"/>
                </a:cubicBezTo>
                <a:cubicBezTo>
                  <a:pt x="280660" y="0"/>
                  <a:pt x="294065" y="2570"/>
                  <a:pt x="306358" y="7293"/>
                </a:cubicBezTo>
                <a:cubicBezTo>
                  <a:pt x="313303" y="9932"/>
                  <a:pt x="314553" y="18752"/>
                  <a:pt x="309344" y="24031"/>
                </a:cubicBezTo>
                <a:lnTo>
                  <a:pt x="247739" y="85636"/>
                </a:lnTo>
                <a:cubicBezTo>
                  <a:pt x="245656" y="87719"/>
                  <a:pt x="244475" y="90567"/>
                  <a:pt x="244475" y="93484"/>
                </a:cubicBezTo>
                <a:lnTo>
                  <a:pt x="244475" y="122238"/>
                </a:lnTo>
                <a:cubicBezTo>
                  <a:pt x="244475" y="128349"/>
                  <a:pt x="249476" y="133350"/>
                  <a:pt x="255588" y="133350"/>
                </a:cubicBezTo>
                <a:lnTo>
                  <a:pt x="284341" y="133350"/>
                </a:lnTo>
                <a:cubicBezTo>
                  <a:pt x="287258" y="133350"/>
                  <a:pt x="290106" y="132169"/>
                  <a:pt x="292189" y="130086"/>
                </a:cubicBezTo>
                <a:lnTo>
                  <a:pt x="353794" y="68481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9182100" y="2349500"/>
            <a:ext cx="60325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Extends capabilities: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Code interpreters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Web search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Calculators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4572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&amp; Communication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143500"/>
            <a:ext cx="14732000" cy="2476500"/>
          </a:xfrm>
          <a:prstGeom prst="roundRect">
            <a:avLst>
              <a:gd name="adj" fmla="val 3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" y="5334000"/>
            <a:ext cx="14097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Execution methods: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Message Passing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data exchange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APIs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standardized interfaces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ACLs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coordination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62000" y="7620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synergy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between planning, tools, and memory creates effective autonomous systems that tackle complex real-world problems.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2000" y="8382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Prompting Guide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of AI — Healthcare &amp; Finance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87500"/>
            <a:ext cx="7048500" cy="6858000"/>
          </a:xfrm>
          <a:prstGeom prst="roundRect">
            <a:avLst>
              <a:gd name="adj" fmla="val 3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85646"/>
                </a:moveTo>
                <a:lnTo>
                  <a:pt x="191294" y="69136"/>
                </a:lnTo>
                <a:cubicBezTo>
                  <a:pt x="171450" y="41672"/>
                  <a:pt x="139621" y="25400"/>
                  <a:pt x="105648" y="25400"/>
                </a:cubicBezTo>
                <a:cubicBezTo>
                  <a:pt x="47308" y="25400"/>
                  <a:pt x="0" y="72708"/>
                  <a:pt x="0" y="131048"/>
                </a:cubicBezTo>
                <a:lnTo>
                  <a:pt x="0" y="133112"/>
                </a:lnTo>
                <a:cubicBezTo>
                  <a:pt x="0" y="151844"/>
                  <a:pt x="4921" y="171212"/>
                  <a:pt x="13176" y="190500"/>
                </a:cubicBezTo>
                <a:lnTo>
                  <a:pt x="97314" y="190500"/>
                </a:lnTo>
                <a:cubicBezTo>
                  <a:pt x="99854" y="190500"/>
                  <a:pt x="102156" y="188992"/>
                  <a:pt x="103188" y="186611"/>
                </a:cubicBezTo>
                <a:lnTo>
                  <a:pt x="128429" y="126048"/>
                </a:lnTo>
                <a:cubicBezTo>
                  <a:pt x="131366" y="119063"/>
                  <a:pt x="138192" y="114459"/>
                  <a:pt x="145733" y="114300"/>
                </a:cubicBezTo>
                <a:cubicBezTo>
                  <a:pt x="153273" y="114141"/>
                  <a:pt x="160258" y="118586"/>
                  <a:pt x="163354" y="125492"/>
                </a:cubicBezTo>
                <a:lnTo>
                  <a:pt x="204073" y="215900"/>
                </a:lnTo>
                <a:lnTo>
                  <a:pt x="236934" y="150178"/>
                </a:lnTo>
                <a:cubicBezTo>
                  <a:pt x="240189" y="143748"/>
                  <a:pt x="246777" y="139621"/>
                  <a:pt x="254000" y="139621"/>
                </a:cubicBezTo>
                <a:cubicBezTo>
                  <a:pt x="261223" y="139621"/>
                  <a:pt x="267811" y="143669"/>
                  <a:pt x="271066" y="150178"/>
                </a:cubicBezTo>
                <a:lnTo>
                  <a:pt x="289481" y="186928"/>
                </a:lnTo>
                <a:cubicBezTo>
                  <a:pt x="290592" y="189071"/>
                  <a:pt x="292735" y="190421"/>
                  <a:pt x="295196" y="190421"/>
                </a:cubicBezTo>
                <a:lnTo>
                  <a:pt x="393303" y="190421"/>
                </a:lnTo>
                <a:cubicBezTo>
                  <a:pt x="401638" y="171133"/>
                  <a:pt x="406479" y="151765"/>
                  <a:pt x="406479" y="133033"/>
                </a:cubicBezTo>
                <a:lnTo>
                  <a:pt x="406479" y="130969"/>
                </a:lnTo>
                <a:cubicBezTo>
                  <a:pt x="406400" y="72708"/>
                  <a:pt x="359093" y="25400"/>
                  <a:pt x="300752" y="25400"/>
                </a:cubicBezTo>
                <a:cubicBezTo>
                  <a:pt x="266859" y="25400"/>
                  <a:pt x="234950" y="41672"/>
                  <a:pt x="215106" y="69136"/>
                </a:cubicBezTo>
                <a:lnTo>
                  <a:pt x="203200" y="85566"/>
                </a:lnTo>
                <a:close/>
                <a:moveTo>
                  <a:pt x="372745" y="228600"/>
                </a:moveTo>
                <a:lnTo>
                  <a:pt x="295116" y="228600"/>
                </a:lnTo>
                <a:cubicBezTo>
                  <a:pt x="278289" y="228600"/>
                  <a:pt x="262890" y="219075"/>
                  <a:pt x="255349" y="203994"/>
                </a:cubicBezTo>
                <a:lnTo>
                  <a:pt x="254000" y="201295"/>
                </a:lnTo>
                <a:lnTo>
                  <a:pt x="220266" y="268843"/>
                </a:lnTo>
                <a:cubicBezTo>
                  <a:pt x="217011" y="275431"/>
                  <a:pt x="210185" y="279559"/>
                  <a:pt x="202803" y="279400"/>
                </a:cubicBezTo>
                <a:cubicBezTo>
                  <a:pt x="195421" y="279241"/>
                  <a:pt x="188833" y="274876"/>
                  <a:pt x="185817" y="268208"/>
                </a:cubicBezTo>
                <a:lnTo>
                  <a:pt x="146685" y="181293"/>
                </a:lnTo>
                <a:lnTo>
                  <a:pt x="138351" y="201295"/>
                </a:lnTo>
                <a:cubicBezTo>
                  <a:pt x="131445" y="217884"/>
                  <a:pt x="115253" y="228679"/>
                  <a:pt x="97314" y="228679"/>
                </a:cubicBezTo>
                <a:lnTo>
                  <a:pt x="33655" y="228679"/>
                </a:lnTo>
                <a:cubicBezTo>
                  <a:pt x="71120" y="287258"/>
                  <a:pt x="131286" y="341154"/>
                  <a:pt x="168910" y="369888"/>
                </a:cubicBezTo>
                <a:cubicBezTo>
                  <a:pt x="178753" y="377349"/>
                  <a:pt x="190818" y="381079"/>
                  <a:pt x="203121" y="381079"/>
                </a:cubicBezTo>
                <a:cubicBezTo>
                  <a:pt x="215424" y="381079"/>
                  <a:pt x="227568" y="377428"/>
                  <a:pt x="237331" y="369888"/>
                </a:cubicBezTo>
                <a:cubicBezTo>
                  <a:pt x="275114" y="341074"/>
                  <a:pt x="335280" y="287179"/>
                  <a:pt x="372745" y="228600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1841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2476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Medical Imaging Analysis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detects diseases in X-rays, MRIs, and CT scans with accuracy matching human radiologists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79500" y="39624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000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Personalized Medicine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Tailors treatments based on genetics, history, and predictive analytics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79500" y="54864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5524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Drug Discovery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ML models predict molecular interactions, accelerating development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79500" y="70104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7048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Remote Monitoring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Wearables with AI monitor vitals in real-time, alerting providers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445500" y="1587500"/>
            <a:ext cx="7048500" cy="6858000"/>
          </a:xfrm>
          <a:prstGeom prst="roundRect">
            <a:avLst>
              <a:gd name="adj" fmla="val 3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7630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76200"/>
                </a:moveTo>
                <a:lnTo>
                  <a:pt x="101600" y="63500"/>
                </a:lnTo>
                <a:cubicBezTo>
                  <a:pt x="101600" y="28416"/>
                  <a:pt x="169863" y="0"/>
                  <a:pt x="254000" y="0"/>
                </a:cubicBezTo>
                <a:cubicBezTo>
                  <a:pt x="338138" y="0"/>
                  <a:pt x="406400" y="28416"/>
                  <a:pt x="406400" y="63500"/>
                </a:cubicBezTo>
                <a:lnTo>
                  <a:pt x="406400" y="76200"/>
                </a:lnTo>
                <a:cubicBezTo>
                  <a:pt x="406400" y="100489"/>
                  <a:pt x="373618" y="121603"/>
                  <a:pt x="325438" y="132318"/>
                </a:cubicBezTo>
                <a:cubicBezTo>
                  <a:pt x="323533" y="130096"/>
                  <a:pt x="321548" y="127953"/>
                  <a:pt x="319564" y="125968"/>
                </a:cubicBezTo>
                <a:cubicBezTo>
                  <a:pt x="307261" y="113824"/>
                  <a:pt x="291386" y="104616"/>
                  <a:pt x="274796" y="97790"/>
                </a:cubicBezTo>
                <a:cubicBezTo>
                  <a:pt x="241538" y="83899"/>
                  <a:pt x="198199" y="76279"/>
                  <a:pt x="152400" y="76279"/>
                </a:cubicBezTo>
                <a:cubicBezTo>
                  <a:pt x="135017" y="76279"/>
                  <a:pt x="118031" y="77391"/>
                  <a:pt x="101759" y="79534"/>
                </a:cubicBezTo>
                <a:cubicBezTo>
                  <a:pt x="101600" y="78502"/>
                  <a:pt x="101600" y="77391"/>
                  <a:pt x="101600" y="76279"/>
                </a:cubicBezTo>
                <a:close/>
                <a:moveTo>
                  <a:pt x="342900" y="280194"/>
                </a:moveTo>
                <a:lnTo>
                  <a:pt x="342900" y="243523"/>
                </a:lnTo>
                <a:cubicBezTo>
                  <a:pt x="354886" y="240427"/>
                  <a:pt x="366157" y="236776"/>
                  <a:pt x="376396" y="232489"/>
                </a:cubicBezTo>
                <a:cubicBezTo>
                  <a:pt x="386874" y="228124"/>
                  <a:pt x="397113" y="222806"/>
                  <a:pt x="406400" y="216376"/>
                </a:cubicBezTo>
                <a:lnTo>
                  <a:pt x="406400" y="228600"/>
                </a:lnTo>
                <a:cubicBezTo>
                  <a:pt x="406400" y="249873"/>
                  <a:pt x="381397" y="268684"/>
                  <a:pt x="342900" y="280194"/>
                </a:cubicBezTo>
                <a:close/>
                <a:moveTo>
                  <a:pt x="342900" y="203994"/>
                </a:moveTo>
                <a:lnTo>
                  <a:pt x="342900" y="177800"/>
                </a:lnTo>
                <a:cubicBezTo>
                  <a:pt x="342900" y="174228"/>
                  <a:pt x="342583" y="170815"/>
                  <a:pt x="342106" y="167481"/>
                </a:cubicBezTo>
                <a:cubicBezTo>
                  <a:pt x="354409" y="164386"/>
                  <a:pt x="365919" y="160655"/>
                  <a:pt x="376396" y="156210"/>
                </a:cubicBezTo>
                <a:cubicBezTo>
                  <a:pt x="386874" y="151765"/>
                  <a:pt x="397113" y="146526"/>
                  <a:pt x="406400" y="140097"/>
                </a:cubicBezTo>
                <a:lnTo>
                  <a:pt x="406400" y="152321"/>
                </a:lnTo>
                <a:cubicBezTo>
                  <a:pt x="406400" y="173593"/>
                  <a:pt x="381397" y="192405"/>
                  <a:pt x="342900" y="203914"/>
                </a:cubicBezTo>
                <a:close/>
                <a:moveTo>
                  <a:pt x="0" y="190500"/>
                </a:moveTo>
                <a:lnTo>
                  <a:pt x="0" y="177800"/>
                </a:lnTo>
                <a:cubicBezTo>
                  <a:pt x="0" y="142716"/>
                  <a:pt x="68263" y="114300"/>
                  <a:pt x="152400" y="114300"/>
                </a:cubicBezTo>
                <a:cubicBezTo>
                  <a:pt x="236538" y="114300"/>
                  <a:pt x="304800" y="142716"/>
                  <a:pt x="304800" y="177800"/>
                </a:cubicBezTo>
                <a:lnTo>
                  <a:pt x="304800" y="190500"/>
                </a:lnTo>
                <a:cubicBezTo>
                  <a:pt x="304800" y="225584"/>
                  <a:pt x="236538" y="254000"/>
                  <a:pt x="152400" y="254000"/>
                </a:cubicBezTo>
                <a:cubicBezTo>
                  <a:pt x="68263" y="254000"/>
                  <a:pt x="0" y="225584"/>
                  <a:pt x="0" y="190500"/>
                </a:cubicBezTo>
                <a:close/>
                <a:moveTo>
                  <a:pt x="304800" y="266700"/>
                </a:moveTo>
                <a:cubicBezTo>
                  <a:pt x="304800" y="301784"/>
                  <a:pt x="236538" y="330200"/>
                  <a:pt x="152400" y="330200"/>
                </a:cubicBezTo>
                <a:cubicBezTo>
                  <a:pt x="68263" y="330200"/>
                  <a:pt x="0" y="301784"/>
                  <a:pt x="0" y="266700"/>
                </a:cubicBezTo>
                <a:lnTo>
                  <a:pt x="0" y="254476"/>
                </a:lnTo>
                <a:cubicBezTo>
                  <a:pt x="9207" y="260906"/>
                  <a:pt x="19447" y="266144"/>
                  <a:pt x="30004" y="270589"/>
                </a:cubicBezTo>
                <a:cubicBezTo>
                  <a:pt x="63262" y="284480"/>
                  <a:pt x="106601" y="292100"/>
                  <a:pt x="152400" y="292100"/>
                </a:cubicBezTo>
                <a:cubicBezTo>
                  <a:pt x="198199" y="292100"/>
                  <a:pt x="241538" y="284401"/>
                  <a:pt x="274796" y="270589"/>
                </a:cubicBezTo>
                <a:cubicBezTo>
                  <a:pt x="285274" y="266224"/>
                  <a:pt x="295513" y="260906"/>
                  <a:pt x="304800" y="254476"/>
                </a:cubicBezTo>
                <a:lnTo>
                  <a:pt x="304800" y="266700"/>
                </a:lnTo>
                <a:close/>
                <a:moveTo>
                  <a:pt x="304800" y="330676"/>
                </a:moveTo>
                <a:lnTo>
                  <a:pt x="304800" y="342900"/>
                </a:lnTo>
                <a:cubicBezTo>
                  <a:pt x="304800" y="377984"/>
                  <a:pt x="236538" y="406400"/>
                  <a:pt x="152400" y="406400"/>
                </a:cubicBezTo>
                <a:cubicBezTo>
                  <a:pt x="68263" y="406400"/>
                  <a:pt x="0" y="377984"/>
                  <a:pt x="0" y="342900"/>
                </a:cubicBezTo>
                <a:lnTo>
                  <a:pt x="0" y="330676"/>
                </a:lnTo>
                <a:cubicBezTo>
                  <a:pt x="9207" y="337106"/>
                  <a:pt x="19447" y="342344"/>
                  <a:pt x="30004" y="346789"/>
                </a:cubicBezTo>
                <a:cubicBezTo>
                  <a:pt x="63262" y="360680"/>
                  <a:pt x="106601" y="368300"/>
                  <a:pt x="152400" y="368300"/>
                </a:cubicBezTo>
                <a:cubicBezTo>
                  <a:pt x="198199" y="368300"/>
                  <a:pt x="241538" y="360601"/>
                  <a:pt x="274796" y="346789"/>
                </a:cubicBezTo>
                <a:cubicBezTo>
                  <a:pt x="285274" y="342424"/>
                  <a:pt x="295513" y="337106"/>
                  <a:pt x="304800" y="330676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8" name="Text 16"/>
          <p:cNvSpPr/>
          <p:nvPr/>
        </p:nvSpPr>
        <p:spPr>
          <a:xfrm>
            <a:off x="9334500" y="1841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63000" y="2476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Fraud Detection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Real-time transaction analysis to prevent fraud instantly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763000" y="39624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21" name="Text 19"/>
          <p:cNvSpPr/>
          <p:nvPr/>
        </p:nvSpPr>
        <p:spPr>
          <a:xfrm>
            <a:off x="8763000" y="4000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Algorithmic Trading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executes trades in milliseconds based on market patterns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763000" y="54864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23" name="Text 21"/>
          <p:cNvSpPr/>
          <p:nvPr/>
        </p:nvSpPr>
        <p:spPr>
          <a:xfrm>
            <a:off x="8763000" y="5524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Risk Assessment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Predictive models evaluate credit risk and market volatility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763000" y="70104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25" name="Text 23"/>
          <p:cNvSpPr/>
          <p:nvPr/>
        </p:nvSpPr>
        <p:spPr>
          <a:xfrm>
            <a:off x="8763000" y="7048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Regulatory Compliance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Automated monitoring ensures adherence to financial regulations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62000" y="85725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Simplilearn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of AI — Education &amp; Transportation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87500"/>
            <a:ext cx="7048500" cy="6858000"/>
          </a:xfrm>
          <a:prstGeom prst="roundRect">
            <a:avLst>
              <a:gd name="adj" fmla="val 3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4100" y="1841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8100" y="155416"/>
                </a:moveTo>
                <a:lnTo>
                  <a:pt x="204152" y="223758"/>
                </a:lnTo>
                <a:cubicBezTo>
                  <a:pt x="211931" y="226933"/>
                  <a:pt x="220186" y="228600"/>
                  <a:pt x="228600" y="228600"/>
                </a:cubicBezTo>
                <a:cubicBezTo>
                  <a:pt x="237014" y="228600"/>
                  <a:pt x="245269" y="226933"/>
                  <a:pt x="253048" y="223758"/>
                </a:cubicBezTo>
                <a:lnTo>
                  <a:pt x="445453" y="144542"/>
                </a:lnTo>
                <a:cubicBezTo>
                  <a:pt x="452596" y="141605"/>
                  <a:pt x="457200" y="134699"/>
                  <a:pt x="457200" y="127000"/>
                </a:cubicBezTo>
                <a:cubicBezTo>
                  <a:pt x="457200" y="119301"/>
                  <a:pt x="452596" y="112395"/>
                  <a:pt x="445453" y="109458"/>
                </a:cubicBezTo>
                <a:lnTo>
                  <a:pt x="253048" y="30242"/>
                </a:lnTo>
                <a:cubicBezTo>
                  <a:pt x="245269" y="27067"/>
                  <a:pt x="237014" y="25400"/>
                  <a:pt x="228600" y="25400"/>
                </a:cubicBezTo>
                <a:cubicBezTo>
                  <a:pt x="220186" y="25400"/>
                  <a:pt x="211931" y="27067"/>
                  <a:pt x="204152" y="30242"/>
                </a:cubicBezTo>
                <a:lnTo>
                  <a:pt x="11748" y="109458"/>
                </a:lnTo>
                <a:cubicBezTo>
                  <a:pt x="4604" y="112395"/>
                  <a:pt x="0" y="119301"/>
                  <a:pt x="0" y="127000"/>
                </a:cubicBezTo>
                <a:lnTo>
                  <a:pt x="0" y="361950"/>
                </a:lnTo>
                <a:cubicBezTo>
                  <a:pt x="0" y="372507"/>
                  <a:pt x="8493" y="381000"/>
                  <a:pt x="19050" y="381000"/>
                </a:cubicBezTo>
                <a:cubicBezTo>
                  <a:pt x="29607" y="381000"/>
                  <a:pt x="38100" y="372507"/>
                  <a:pt x="38100" y="361950"/>
                </a:cubicBezTo>
                <a:lnTo>
                  <a:pt x="38100" y="155416"/>
                </a:lnTo>
                <a:close/>
                <a:moveTo>
                  <a:pt x="76200" y="212328"/>
                </a:moveTo>
                <a:lnTo>
                  <a:pt x="76200" y="304800"/>
                </a:lnTo>
                <a:cubicBezTo>
                  <a:pt x="76200" y="346869"/>
                  <a:pt x="144463" y="381000"/>
                  <a:pt x="228600" y="381000"/>
                </a:cubicBezTo>
                <a:cubicBezTo>
                  <a:pt x="312738" y="381000"/>
                  <a:pt x="381000" y="346869"/>
                  <a:pt x="381000" y="304800"/>
                </a:cubicBezTo>
                <a:lnTo>
                  <a:pt x="381000" y="212249"/>
                </a:lnTo>
                <a:lnTo>
                  <a:pt x="267573" y="259001"/>
                </a:lnTo>
                <a:cubicBezTo>
                  <a:pt x="255191" y="264081"/>
                  <a:pt x="242014" y="266700"/>
                  <a:pt x="228600" y="266700"/>
                </a:cubicBezTo>
                <a:cubicBezTo>
                  <a:pt x="215186" y="266700"/>
                  <a:pt x="202009" y="264081"/>
                  <a:pt x="189627" y="259001"/>
                </a:cubicBezTo>
                <a:lnTo>
                  <a:pt x="76200" y="212249"/>
                </a:lnTo>
                <a:close/>
              </a:path>
            </a:pathLst>
          </a:cu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1841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2476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Personalized Learning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adapts content and pacing to each student's needs, improving performance by 15-25%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79500" y="39624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000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Intelligent Tutoring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Real-time feedback and one-on-one tutoring experiences emulating human instructors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79500" y="54864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5524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Adaptive Curricula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Educational programs adjust to individual progress, ensuring mastery before advancing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79500" y="70104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7048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Predictive Analytics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Identifies at-risk students early, enabling timely interventions and support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445500" y="1587500"/>
            <a:ext cx="7048500" cy="6858000"/>
          </a:xfrm>
          <a:prstGeom prst="roundRect">
            <a:avLst>
              <a:gd name="adj" fmla="val 3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7630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7315" y="93186"/>
                </a:moveTo>
                <a:lnTo>
                  <a:pt x="86598" y="152400"/>
                </a:lnTo>
                <a:lnTo>
                  <a:pt x="319802" y="152400"/>
                </a:lnTo>
                <a:lnTo>
                  <a:pt x="299085" y="93186"/>
                </a:lnTo>
                <a:cubicBezTo>
                  <a:pt x="295513" y="83026"/>
                  <a:pt x="285909" y="76200"/>
                  <a:pt x="275114" y="76200"/>
                </a:cubicBezTo>
                <a:lnTo>
                  <a:pt x="131286" y="76200"/>
                </a:lnTo>
                <a:cubicBezTo>
                  <a:pt x="120491" y="76200"/>
                  <a:pt x="110887" y="83026"/>
                  <a:pt x="107315" y="93186"/>
                </a:cubicBezTo>
                <a:close/>
                <a:moveTo>
                  <a:pt x="31433" y="156210"/>
                </a:moveTo>
                <a:lnTo>
                  <a:pt x="59372" y="76438"/>
                </a:lnTo>
                <a:cubicBezTo>
                  <a:pt x="70088" y="45879"/>
                  <a:pt x="98901" y="25400"/>
                  <a:pt x="131286" y="25400"/>
                </a:cubicBezTo>
                <a:lnTo>
                  <a:pt x="275114" y="25400"/>
                </a:lnTo>
                <a:cubicBezTo>
                  <a:pt x="307499" y="25400"/>
                  <a:pt x="336312" y="45879"/>
                  <a:pt x="347028" y="76438"/>
                </a:cubicBezTo>
                <a:lnTo>
                  <a:pt x="374968" y="156210"/>
                </a:lnTo>
                <a:cubicBezTo>
                  <a:pt x="393383" y="163830"/>
                  <a:pt x="406400" y="182007"/>
                  <a:pt x="406400" y="2032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55600" y="381000"/>
                </a:lnTo>
                <a:cubicBezTo>
                  <a:pt x="341551" y="381000"/>
                  <a:pt x="330200" y="369649"/>
                  <a:pt x="330200" y="355600"/>
                </a:cubicBezTo>
                <a:lnTo>
                  <a:pt x="330200" y="330200"/>
                </a:lnTo>
                <a:lnTo>
                  <a:pt x="76200" y="330200"/>
                </a:lnTo>
                <a:lnTo>
                  <a:pt x="76200" y="355600"/>
                </a:lnTo>
                <a:cubicBezTo>
                  <a:pt x="76200" y="369649"/>
                  <a:pt x="64849" y="381000"/>
                  <a:pt x="508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203200"/>
                </a:lnTo>
                <a:cubicBezTo>
                  <a:pt x="0" y="182007"/>
                  <a:pt x="13017" y="163830"/>
                  <a:pt x="31433" y="156210"/>
                </a:cubicBezTo>
                <a:close/>
                <a:moveTo>
                  <a:pt x="101600" y="241300"/>
                </a:moveTo>
                <a:cubicBezTo>
                  <a:pt x="101600" y="227281"/>
                  <a:pt x="90219" y="215900"/>
                  <a:pt x="76200" y="215900"/>
                </a:cubicBezTo>
                <a:cubicBezTo>
                  <a:pt x="62181" y="215900"/>
                  <a:pt x="50800" y="227281"/>
                  <a:pt x="50800" y="241300"/>
                </a:cubicBezTo>
                <a:cubicBezTo>
                  <a:pt x="50800" y="255319"/>
                  <a:pt x="62181" y="266700"/>
                  <a:pt x="76200" y="266700"/>
                </a:cubicBezTo>
                <a:cubicBezTo>
                  <a:pt x="90219" y="266700"/>
                  <a:pt x="101600" y="255319"/>
                  <a:pt x="101600" y="241300"/>
                </a:cubicBezTo>
                <a:close/>
                <a:moveTo>
                  <a:pt x="330200" y="266700"/>
                </a:moveTo>
                <a:cubicBezTo>
                  <a:pt x="344219" y="266700"/>
                  <a:pt x="355600" y="255319"/>
                  <a:pt x="355600" y="241300"/>
                </a:cubicBezTo>
                <a:cubicBezTo>
                  <a:pt x="355600" y="227281"/>
                  <a:pt x="344219" y="215900"/>
                  <a:pt x="330200" y="215900"/>
                </a:cubicBezTo>
                <a:cubicBezTo>
                  <a:pt x="316181" y="215900"/>
                  <a:pt x="304800" y="227281"/>
                  <a:pt x="304800" y="241300"/>
                </a:cubicBezTo>
                <a:cubicBezTo>
                  <a:pt x="304800" y="255319"/>
                  <a:pt x="316181" y="266700"/>
                  <a:pt x="330200" y="266700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9334500" y="18415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Transportation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63000" y="2476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Autonomous Vehicles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Self-driving cars use AI for navigation, obstacle detection, and safety decision-making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763000" y="39624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21" name="Text 19"/>
          <p:cNvSpPr/>
          <p:nvPr/>
        </p:nvSpPr>
        <p:spPr>
          <a:xfrm>
            <a:off x="8763000" y="4000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Smart Traffic Management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optimizes traffic flow, reduces congestion, and lowers emissions in urban areas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763000" y="54864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23" name="Text 21"/>
          <p:cNvSpPr/>
          <p:nvPr/>
        </p:nvSpPr>
        <p:spPr>
          <a:xfrm>
            <a:off x="8763000" y="5524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Predictive Maintenance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predicts vehicle component failures before they occur, reducing downtime and costs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763000" y="70104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25" name="Text 23"/>
          <p:cNvSpPr/>
          <p:nvPr/>
        </p:nvSpPr>
        <p:spPr>
          <a:xfrm>
            <a:off x="8763000" y="70485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Ride-Sharing Optimization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Algorithms optimize routes, driver-passenger matching, and pricing in real-time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62000" y="85725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Simplilearn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of AI — Other Industries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87500"/>
            <a:ext cx="4699000" cy="19685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71550" y="18034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16669" y="-11112"/>
                </a:moveTo>
                <a:cubicBezTo>
                  <a:pt x="7431" y="-11112"/>
                  <a:pt x="0" y="-3681"/>
                  <a:pt x="0" y="5556"/>
                </a:cubicBezTo>
                <a:cubicBezTo>
                  <a:pt x="0" y="14794"/>
                  <a:pt x="7431" y="22225"/>
                  <a:pt x="16669" y="22225"/>
                </a:cubicBezTo>
                <a:lnTo>
                  <a:pt x="48131" y="22225"/>
                </a:lnTo>
                <a:cubicBezTo>
                  <a:pt x="50840" y="22225"/>
                  <a:pt x="53132" y="24170"/>
                  <a:pt x="53618" y="26809"/>
                </a:cubicBezTo>
                <a:lnTo>
                  <a:pt x="89803" y="225653"/>
                </a:lnTo>
                <a:cubicBezTo>
                  <a:pt x="94109" y="249406"/>
                  <a:pt x="114806" y="266700"/>
                  <a:pt x="138976" y="266700"/>
                </a:cubicBezTo>
                <a:lnTo>
                  <a:pt x="316706" y="266700"/>
                </a:lnTo>
                <a:cubicBezTo>
                  <a:pt x="325944" y="266700"/>
                  <a:pt x="333375" y="259269"/>
                  <a:pt x="333375" y="250031"/>
                </a:cubicBezTo>
                <a:cubicBezTo>
                  <a:pt x="333375" y="240794"/>
                  <a:pt x="325944" y="233363"/>
                  <a:pt x="316706" y="233363"/>
                </a:cubicBezTo>
                <a:lnTo>
                  <a:pt x="138976" y="233363"/>
                </a:lnTo>
                <a:cubicBezTo>
                  <a:pt x="130919" y="233363"/>
                  <a:pt x="124043" y="227598"/>
                  <a:pt x="122585" y="219680"/>
                </a:cubicBezTo>
                <a:lnTo>
                  <a:pt x="119043" y="200025"/>
                </a:lnTo>
                <a:lnTo>
                  <a:pt x="329902" y="200025"/>
                </a:lnTo>
                <a:cubicBezTo>
                  <a:pt x="351294" y="200025"/>
                  <a:pt x="369630" y="184815"/>
                  <a:pt x="373588" y="163770"/>
                </a:cubicBezTo>
                <a:lnTo>
                  <a:pt x="395119" y="48548"/>
                </a:lnTo>
                <a:cubicBezTo>
                  <a:pt x="397689" y="34865"/>
                  <a:pt x="387201" y="22225"/>
                  <a:pt x="373241" y="22225"/>
                </a:cubicBezTo>
                <a:lnTo>
                  <a:pt x="86608" y="22225"/>
                </a:lnTo>
                <a:lnTo>
                  <a:pt x="86330" y="20836"/>
                </a:lnTo>
                <a:cubicBezTo>
                  <a:pt x="82996" y="2361"/>
                  <a:pt x="66883" y="-11112"/>
                  <a:pt x="48062" y="-11112"/>
                </a:cubicBezTo>
                <a:lnTo>
                  <a:pt x="16669" y="-11112"/>
                </a:lnTo>
                <a:close/>
                <a:moveTo>
                  <a:pt x="144463" y="355600"/>
                </a:moveTo>
                <a:cubicBezTo>
                  <a:pt x="162862" y="355600"/>
                  <a:pt x="177800" y="340662"/>
                  <a:pt x="177800" y="322263"/>
                </a:cubicBezTo>
                <a:cubicBezTo>
                  <a:pt x="177800" y="303863"/>
                  <a:pt x="162862" y="288925"/>
                  <a:pt x="144463" y="288925"/>
                </a:cubicBezTo>
                <a:cubicBezTo>
                  <a:pt x="126063" y="288925"/>
                  <a:pt x="111125" y="303863"/>
                  <a:pt x="111125" y="322263"/>
                </a:cubicBezTo>
                <a:cubicBezTo>
                  <a:pt x="111125" y="340662"/>
                  <a:pt x="126063" y="355600"/>
                  <a:pt x="144463" y="355600"/>
                </a:cubicBezTo>
                <a:close/>
                <a:moveTo>
                  <a:pt x="300038" y="355600"/>
                </a:moveTo>
                <a:cubicBezTo>
                  <a:pt x="318437" y="355600"/>
                  <a:pt x="333375" y="340662"/>
                  <a:pt x="333375" y="322263"/>
                </a:cubicBezTo>
                <a:cubicBezTo>
                  <a:pt x="333375" y="303863"/>
                  <a:pt x="318437" y="288925"/>
                  <a:pt x="300038" y="288925"/>
                </a:cubicBezTo>
                <a:cubicBezTo>
                  <a:pt x="281638" y="288925"/>
                  <a:pt x="266700" y="303863"/>
                  <a:pt x="266700" y="322263"/>
                </a:cubicBezTo>
                <a:cubicBezTo>
                  <a:pt x="266700" y="340662"/>
                  <a:pt x="281638" y="355600"/>
                  <a:pt x="300038" y="3556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8034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Retail &amp; E-commerce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2606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Demand forecasting with ~23% higher accuracy, recommendation engines, inventory optimization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78500" y="1587500"/>
            <a:ext cx="4699000" cy="19685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325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lnTo>
                  <a:pt x="0" y="300038"/>
                </a:lnTo>
                <a:cubicBezTo>
                  <a:pt x="0" y="318443"/>
                  <a:pt x="14932" y="333375"/>
                  <a:pt x="33337" y="333375"/>
                </a:cubicBezTo>
                <a:lnTo>
                  <a:pt x="322263" y="333375"/>
                </a:lnTo>
                <a:cubicBezTo>
                  <a:pt x="340668" y="333375"/>
                  <a:pt x="355600" y="318443"/>
                  <a:pt x="355600" y="300038"/>
                </a:cubicBezTo>
                <a:lnTo>
                  <a:pt x="355600" y="105708"/>
                </a:lnTo>
                <a:cubicBezTo>
                  <a:pt x="355600" y="93067"/>
                  <a:pt x="342126" y="85080"/>
                  <a:pt x="331014" y="91053"/>
                </a:cubicBezTo>
                <a:lnTo>
                  <a:pt x="222250" y="149602"/>
                </a:lnTo>
                <a:lnTo>
                  <a:pt x="222250" y="105708"/>
                </a:lnTo>
                <a:cubicBezTo>
                  <a:pt x="222250" y="93067"/>
                  <a:pt x="208776" y="85080"/>
                  <a:pt x="197664" y="91053"/>
                </a:cubicBezTo>
                <a:lnTo>
                  <a:pt x="88900" y="149602"/>
                </a:lnTo>
                <a:lnTo>
                  <a:pt x="88900" y="44450"/>
                </a:lnTo>
                <a:cubicBezTo>
                  <a:pt x="88900" y="32157"/>
                  <a:pt x="78968" y="22225"/>
                  <a:pt x="66675" y="22225"/>
                </a:cubicBezTo>
                <a:lnTo>
                  <a:pt x="22225" y="22225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6515100" y="18034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Manufacturing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2606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Predictive maintenance, quality control, supply chain optimization, production management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95000" y="1587500"/>
            <a:ext cx="4699000" cy="19685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0490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11531600" y="18034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Cybersecurity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0" y="22606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Real-time threat detection, anomaly analysis, automated incident response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" y="3873500"/>
            <a:ext cx="4699000" cy="19685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408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27333" y="4653"/>
                </a:moveTo>
                <a:cubicBezTo>
                  <a:pt x="331778" y="417"/>
                  <a:pt x="338237" y="-1111"/>
                  <a:pt x="344210" y="833"/>
                </a:cubicBezTo>
                <a:cubicBezTo>
                  <a:pt x="351016" y="3125"/>
                  <a:pt x="355600" y="9515"/>
                  <a:pt x="355600" y="16669"/>
                </a:cubicBezTo>
                <a:lnTo>
                  <a:pt x="355600" y="146477"/>
                </a:lnTo>
                <a:cubicBezTo>
                  <a:pt x="355600" y="237599"/>
                  <a:pt x="280521" y="311150"/>
                  <a:pt x="189746" y="311150"/>
                </a:cubicBezTo>
                <a:cubicBezTo>
                  <a:pt x="136267" y="311150"/>
                  <a:pt x="90150" y="276771"/>
                  <a:pt x="73412" y="228709"/>
                </a:cubicBezTo>
                <a:cubicBezTo>
                  <a:pt x="48826" y="250101"/>
                  <a:pt x="33337" y="281563"/>
                  <a:pt x="33337" y="316706"/>
                </a:cubicBezTo>
                <a:cubicBezTo>
                  <a:pt x="33337" y="325944"/>
                  <a:pt x="25906" y="333375"/>
                  <a:pt x="16669" y="333375"/>
                </a:cubicBezTo>
                <a:cubicBezTo>
                  <a:pt x="7431" y="333375"/>
                  <a:pt x="0" y="325944"/>
                  <a:pt x="0" y="316706"/>
                </a:cubicBezTo>
                <a:cubicBezTo>
                  <a:pt x="0" y="264686"/>
                  <a:pt x="26531" y="218847"/>
                  <a:pt x="66744" y="191899"/>
                </a:cubicBezTo>
                <a:cubicBezTo>
                  <a:pt x="91261" y="175508"/>
                  <a:pt x="120501" y="166688"/>
                  <a:pt x="150019" y="166688"/>
                </a:cubicBezTo>
                <a:lnTo>
                  <a:pt x="205581" y="166688"/>
                </a:lnTo>
                <a:cubicBezTo>
                  <a:pt x="214819" y="166688"/>
                  <a:pt x="222250" y="159256"/>
                  <a:pt x="222250" y="150019"/>
                </a:cubicBezTo>
                <a:cubicBezTo>
                  <a:pt x="222250" y="140781"/>
                  <a:pt x="214819" y="133350"/>
                  <a:pt x="205581" y="133350"/>
                </a:cubicBezTo>
                <a:lnTo>
                  <a:pt x="150019" y="133350"/>
                </a:lnTo>
                <a:cubicBezTo>
                  <a:pt x="122446" y="133350"/>
                  <a:pt x="96331" y="139462"/>
                  <a:pt x="72926" y="150366"/>
                </a:cubicBezTo>
                <a:cubicBezTo>
                  <a:pt x="89108" y="101749"/>
                  <a:pt x="134878" y="66675"/>
                  <a:pt x="188913" y="66675"/>
                </a:cubicBezTo>
                <a:cubicBezTo>
                  <a:pt x="235029" y="66675"/>
                  <a:pt x="269339" y="51326"/>
                  <a:pt x="292189" y="36116"/>
                </a:cubicBezTo>
                <a:cubicBezTo>
                  <a:pt x="305524" y="27226"/>
                  <a:pt x="316845" y="16599"/>
                  <a:pt x="327402" y="4653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498600" y="40894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45466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Climate modeling, precision agriculture, energy grid optimization, carbon footprint analytics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78500" y="3873500"/>
            <a:ext cx="4699000" cy="19685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010275" y="4089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33722" y="7154"/>
                </a:moveTo>
                <a:lnTo>
                  <a:pt x="179953" y="109736"/>
                </a:lnTo>
                <a:cubicBezTo>
                  <a:pt x="159742" y="123210"/>
                  <a:pt x="146893" y="145088"/>
                  <a:pt x="144810" y="168979"/>
                </a:cubicBezTo>
                <a:cubicBezTo>
                  <a:pt x="188079" y="177869"/>
                  <a:pt x="222181" y="211971"/>
                  <a:pt x="231140" y="255310"/>
                </a:cubicBezTo>
                <a:cubicBezTo>
                  <a:pt x="255101" y="253226"/>
                  <a:pt x="276910" y="240377"/>
                  <a:pt x="290384" y="220166"/>
                </a:cubicBezTo>
                <a:lnTo>
                  <a:pt x="392896" y="66328"/>
                </a:lnTo>
                <a:cubicBezTo>
                  <a:pt x="397550" y="59313"/>
                  <a:pt x="400050" y="51117"/>
                  <a:pt x="400050" y="42644"/>
                </a:cubicBezTo>
                <a:cubicBezTo>
                  <a:pt x="400050" y="19100"/>
                  <a:pt x="380950" y="0"/>
                  <a:pt x="357406" y="0"/>
                </a:cubicBezTo>
                <a:cubicBezTo>
                  <a:pt x="349002" y="0"/>
                  <a:pt x="340737" y="2500"/>
                  <a:pt x="333722" y="7154"/>
                </a:cubicBezTo>
                <a:close/>
                <a:moveTo>
                  <a:pt x="200025" y="277813"/>
                </a:moveTo>
                <a:cubicBezTo>
                  <a:pt x="200025" y="234821"/>
                  <a:pt x="165229" y="200025"/>
                  <a:pt x="122238" y="200025"/>
                </a:cubicBezTo>
                <a:cubicBezTo>
                  <a:pt x="79246" y="200025"/>
                  <a:pt x="44450" y="234821"/>
                  <a:pt x="44450" y="277813"/>
                </a:cubicBezTo>
                <a:cubicBezTo>
                  <a:pt x="44450" y="280521"/>
                  <a:pt x="44589" y="283230"/>
                  <a:pt x="44867" y="285869"/>
                </a:cubicBezTo>
                <a:cubicBezTo>
                  <a:pt x="46117" y="298023"/>
                  <a:pt x="37782" y="311150"/>
                  <a:pt x="25559" y="311150"/>
                </a:cubicBezTo>
                <a:lnTo>
                  <a:pt x="22225" y="311150"/>
                </a:lnTo>
                <a:cubicBezTo>
                  <a:pt x="9932" y="311150"/>
                  <a:pt x="0" y="321082"/>
                  <a:pt x="0" y="333375"/>
                </a:cubicBezTo>
                <a:cubicBezTo>
                  <a:pt x="0" y="345668"/>
                  <a:pt x="9932" y="355600"/>
                  <a:pt x="22225" y="355600"/>
                </a:cubicBezTo>
                <a:lnTo>
                  <a:pt x="122238" y="355600"/>
                </a:lnTo>
                <a:cubicBezTo>
                  <a:pt x="165229" y="355600"/>
                  <a:pt x="200025" y="320804"/>
                  <a:pt x="200025" y="277813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6515100" y="40894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Creative Industries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32500" y="45466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Image generation (DALL-E, Midjourney), music composition, video creation, content writing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795000" y="3873500"/>
            <a:ext cx="4699000" cy="19685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093450" y="40894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44450" y="0"/>
                </a:moveTo>
                <a:cubicBezTo>
                  <a:pt x="19933" y="0"/>
                  <a:pt x="0" y="19933"/>
                  <a:pt x="0" y="44450"/>
                </a:cubicBezTo>
                <a:lnTo>
                  <a:pt x="0" y="311150"/>
                </a:lnTo>
                <a:cubicBezTo>
                  <a:pt x="0" y="335667"/>
                  <a:pt x="19933" y="355600"/>
                  <a:pt x="44450" y="355600"/>
                </a:cubicBezTo>
                <a:lnTo>
                  <a:pt x="222250" y="355600"/>
                </a:lnTo>
                <a:cubicBezTo>
                  <a:pt x="246767" y="355600"/>
                  <a:pt x="266700" y="335667"/>
                  <a:pt x="266700" y="311150"/>
                </a:cubicBezTo>
                <a:lnTo>
                  <a:pt x="266700" y="44450"/>
                </a:lnTo>
                <a:cubicBezTo>
                  <a:pt x="266700" y="19933"/>
                  <a:pt x="246767" y="0"/>
                  <a:pt x="222250" y="0"/>
                </a:cubicBezTo>
                <a:lnTo>
                  <a:pt x="44450" y="0"/>
                </a:lnTo>
                <a:close/>
                <a:moveTo>
                  <a:pt x="122238" y="244475"/>
                </a:moveTo>
                <a:lnTo>
                  <a:pt x="144463" y="244475"/>
                </a:lnTo>
                <a:cubicBezTo>
                  <a:pt x="156756" y="244475"/>
                  <a:pt x="166688" y="254407"/>
                  <a:pt x="166688" y="266700"/>
                </a:cubicBezTo>
                <a:lnTo>
                  <a:pt x="166688" y="322263"/>
                </a:lnTo>
                <a:lnTo>
                  <a:pt x="100013" y="322263"/>
                </a:lnTo>
                <a:lnTo>
                  <a:pt x="100013" y="266700"/>
                </a:lnTo>
                <a:cubicBezTo>
                  <a:pt x="100013" y="254407"/>
                  <a:pt x="109944" y="244475"/>
                  <a:pt x="122238" y="244475"/>
                </a:cubicBezTo>
                <a:close/>
                <a:moveTo>
                  <a:pt x="66675" y="77788"/>
                </a:moveTo>
                <a:cubicBezTo>
                  <a:pt x="66675" y="71676"/>
                  <a:pt x="71676" y="66675"/>
                  <a:pt x="77788" y="66675"/>
                </a:cubicBezTo>
                <a:lnTo>
                  <a:pt x="100013" y="66675"/>
                </a:lnTo>
                <a:cubicBezTo>
                  <a:pt x="106124" y="66675"/>
                  <a:pt x="111125" y="71676"/>
                  <a:pt x="111125" y="77788"/>
                </a:cubicBezTo>
                <a:lnTo>
                  <a:pt x="111125" y="100013"/>
                </a:lnTo>
                <a:cubicBezTo>
                  <a:pt x="111125" y="106124"/>
                  <a:pt x="106124" y="111125"/>
                  <a:pt x="100013" y="111125"/>
                </a:cubicBezTo>
                <a:lnTo>
                  <a:pt x="77788" y="111125"/>
                </a:lnTo>
                <a:cubicBezTo>
                  <a:pt x="71676" y="111125"/>
                  <a:pt x="66675" y="106124"/>
                  <a:pt x="66675" y="100013"/>
                </a:cubicBezTo>
                <a:lnTo>
                  <a:pt x="66675" y="77788"/>
                </a:lnTo>
                <a:close/>
                <a:moveTo>
                  <a:pt x="166688" y="66675"/>
                </a:moveTo>
                <a:lnTo>
                  <a:pt x="188913" y="66675"/>
                </a:lnTo>
                <a:cubicBezTo>
                  <a:pt x="195024" y="66675"/>
                  <a:pt x="200025" y="71676"/>
                  <a:pt x="200025" y="77788"/>
                </a:cubicBezTo>
                <a:lnTo>
                  <a:pt x="200025" y="100013"/>
                </a:lnTo>
                <a:cubicBezTo>
                  <a:pt x="200025" y="106124"/>
                  <a:pt x="195024" y="111125"/>
                  <a:pt x="188913" y="111125"/>
                </a:cubicBezTo>
                <a:lnTo>
                  <a:pt x="166688" y="111125"/>
                </a:lnTo>
                <a:cubicBezTo>
                  <a:pt x="160576" y="111125"/>
                  <a:pt x="155575" y="106124"/>
                  <a:pt x="155575" y="100013"/>
                </a:cubicBezTo>
                <a:lnTo>
                  <a:pt x="155575" y="77788"/>
                </a:lnTo>
                <a:cubicBezTo>
                  <a:pt x="155575" y="71676"/>
                  <a:pt x="160576" y="66675"/>
                  <a:pt x="166688" y="66675"/>
                </a:cubicBezTo>
                <a:close/>
                <a:moveTo>
                  <a:pt x="66675" y="166688"/>
                </a:moveTo>
                <a:cubicBezTo>
                  <a:pt x="66675" y="160576"/>
                  <a:pt x="71676" y="155575"/>
                  <a:pt x="77788" y="155575"/>
                </a:cubicBezTo>
                <a:lnTo>
                  <a:pt x="100013" y="155575"/>
                </a:lnTo>
                <a:cubicBezTo>
                  <a:pt x="106124" y="155575"/>
                  <a:pt x="111125" y="160576"/>
                  <a:pt x="111125" y="166688"/>
                </a:cubicBezTo>
                <a:lnTo>
                  <a:pt x="111125" y="188913"/>
                </a:lnTo>
                <a:cubicBezTo>
                  <a:pt x="111125" y="195024"/>
                  <a:pt x="106124" y="200025"/>
                  <a:pt x="100013" y="200025"/>
                </a:cubicBezTo>
                <a:lnTo>
                  <a:pt x="77788" y="200025"/>
                </a:lnTo>
                <a:cubicBezTo>
                  <a:pt x="71676" y="200025"/>
                  <a:pt x="66675" y="195024"/>
                  <a:pt x="66675" y="188913"/>
                </a:cubicBezTo>
                <a:lnTo>
                  <a:pt x="66675" y="166688"/>
                </a:lnTo>
                <a:close/>
                <a:moveTo>
                  <a:pt x="166688" y="155575"/>
                </a:moveTo>
                <a:lnTo>
                  <a:pt x="188913" y="155575"/>
                </a:lnTo>
                <a:cubicBezTo>
                  <a:pt x="195024" y="155575"/>
                  <a:pt x="200025" y="160576"/>
                  <a:pt x="200025" y="166688"/>
                </a:cubicBezTo>
                <a:lnTo>
                  <a:pt x="200025" y="188913"/>
                </a:lnTo>
                <a:cubicBezTo>
                  <a:pt x="200025" y="195024"/>
                  <a:pt x="195024" y="200025"/>
                  <a:pt x="188913" y="200025"/>
                </a:cubicBezTo>
                <a:lnTo>
                  <a:pt x="166688" y="200025"/>
                </a:lnTo>
                <a:cubicBezTo>
                  <a:pt x="160576" y="200025"/>
                  <a:pt x="155575" y="195024"/>
                  <a:pt x="155575" y="188913"/>
                </a:cubicBezTo>
                <a:lnTo>
                  <a:pt x="155575" y="166688"/>
                </a:lnTo>
                <a:cubicBezTo>
                  <a:pt x="155575" y="160576"/>
                  <a:pt x="160576" y="155575"/>
                  <a:pt x="166688" y="1555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8" name="Text 26"/>
          <p:cNvSpPr/>
          <p:nvPr/>
        </p:nvSpPr>
        <p:spPr>
          <a:xfrm>
            <a:off x="11531600" y="40894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Cities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49000" y="45466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Urban planning, waste management, public safety, resource allocation optimization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6223000"/>
            <a:ext cx="14732000" cy="1778000"/>
          </a:xfrm>
          <a:prstGeom prst="roundRect">
            <a:avLst>
              <a:gd name="adj" fmla="val 3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79500" y="647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2" name="Text 30"/>
          <p:cNvSpPr/>
          <p:nvPr/>
        </p:nvSpPr>
        <p:spPr>
          <a:xfrm>
            <a:off x="1562100" y="6451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is Everywhere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79500" y="69215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From products you buy to content you watch —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is deeply embedded in modern life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Understanding its capabilities is essential for every career path.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of AI — Key Trends (2026–2030)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87500"/>
            <a:ext cx="4699000" cy="17145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17145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955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Purpose-Built Models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4765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Smaller, task-specific models will replace one-size-fits-all systems — 3x more usage by 2027 (Gartner)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78500" y="1587500"/>
            <a:ext cx="4699000" cy="17145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69000" y="17145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0955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 AI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4765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Processing data locally on devices, reducing cloud dependence and enabling faster decisions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95000" y="1587500"/>
            <a:ext cx="4699000" cy="17145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985500" y="17145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0955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Governance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0" y="24765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From guidelines to enforcement — EU AI Act leading global regulation frameworks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" y="3619500"/>
            <a:ext cx="4699000" cy="17145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37465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41275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 Over Quantity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45085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Clean, well-curated data matters more than model size — poor data can reduce accuracy by 40%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78500" y="3619500"/>
            <a:ext cx="4699000" cy="17145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969000" y="37465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2500" y="41275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AI Standard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32500" y="45085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Simultaneous processing of text, images, audio, and video becomes the default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795000" y="3619500"/>
            <a:ext cx="4699000" cy="1714500"/>
          </a:xfrm>
          <a:prstGeom prst="roundRect">
            <a:avLst>
              <a:gd name="adj" fmla="val 5000"/>
            </a:avLst>
          </a:prstGeom>
          <a:solidFill>
            <a:srgbClr val="2D2A26">
              <a:alpha val="5098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985500" y="37465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49000" y="41275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AI Agents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49000" y="45085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Agents handling complex multi-step tasks with minimal human intervention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5651500"/>
            <a:ext cx="14732000" cy="1524000"/>
          </a:xfrm>
          <a:prstGeom prst="roundRect">
            <a:avLst>
              <a:gd name="adj" fmla="val 3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58420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651000" y="5842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Human-AI Collaboration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6000" y="6350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dominant paradigm: humans and AI working together. AI handles data; humans provide creativity.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62000" y="8382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Simplilearn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54000" y="635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spc="200" kern="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635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2D2A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of AI — Challenges &amp; Opportunities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87500"/>
            <a:ext cx="7048500" cy="6350000"/>
          </a:xfrm>
          <a:prstGeom prst="roundRect">
            <a:avLst>
              <a:gd name="adj" fmla="val 3000"/>
            </a:avLst>
          </a:prstGeom>
          <a:solidFill>
            <a:srgbClr val="C0392B">
              <a:alpha val="627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562100" y="1803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23495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Bias and Fairness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can perpetuate societal biases in training data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79500" y="34036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34671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Privacy &amp; Data Protection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Massive data collection raises privacy concerns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79500" y="45212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45847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Job Displacement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Workforce transition as AI automates tasks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79500" y="56388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57023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"Black Box" Problem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Difficulty explaining AI decisions affects trust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79500" y="67564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17" name="Text 15"/>
          <p:cNvSpPr/>
          <p:nvPr/>
        </p:nvSpPr>
        <p:spPr>
          <a:xfrm>
            <a:off x="1079500" y="68199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Security Risks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Malicious use of AI for cyberattacks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445500" y="1587500"/>
            <a:ext cx="7048500" cy="6350000"/>
          </a:xfrm>
          <a:prstGeom prst="roundRect">
            <a:avLst>
              <a:gd name="adj" fmla="val 3000"/>
            </a:avLst>
          </a:prstGeom>
          <a:solidFill>
            <a:srgbClr val="27AE60">
              <a:alpha val="6275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7630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222250"/>
                </a:moveTo>
                <a:lnTo>
                  <a:pt x="17016" y="222250"/>
                </a:lnTo>
                <a:cubicBezTo>
                  <a:pt x="-278" y="222250"/>
                  <a:pt x="-10904" y="203428"/>
                  <a:pt x="-2014" y="188565"/>
                </a:cubicBezTo>
                <a:lnTo>
                  <a:pt x="34727" y="127308"/>
                </a:lnTo>
                <a:cubicBezTo>
                  <a:pt x="40769" y="117237"/>
                  <a:pt x="51604" y="111125"/>
                  <a:pt x="63341" y="111125"/>
                </a:cubicBezTo>
                <a:lnTo>
                  <a:pt x="129322" y="111125"/>
                </a:lnTo>
                <a:cubicBezTo>
                  <a:pt x="182176" y="21600"/>
                  <a:pt x="261005" y="17085"/>
                  <a:pt x="313720" y="24795"/>
                </a:cubicBezTo>
                <a:cubicBezTo>
                  <a:pt x="322610" y="26114"/>
                  <a:pt x="329555" y="33060"/>
                  <a:pt x="330805" y="41880"/>
                </a:cubicBezTo>
                <a:cubicBezTo>
                  <a:pt x="338515" y="94595"/>
                  <a:pt x="334000" y="173424"/>
                  <a:pt x="244475" y="226278"/>
                </a:cubicBezTo>
                <a:lnTo>
                  <a:pt x="244475" y="292259"/>
                </a:lnTo>
                <a:cubicBezTo>
                  <a:pt x="244475" y="303996"/>
                  <a:pt x="238363" y="314831"/>
                  <a:pt x="228292" y="320873"/>
                </a:cubicBezTo>
                <a:lnTo>
                  <a:pt x="167035" y="357614"/>
                </a:lnTo>
                <a:cubicBezTo>
                  <a:pt x="152241" y="366504"/>
                  <a:pt x="133350" y="355808"/>
                  <a:pt x="133350" y="338584"/>
                </a:cubicBezTo>
                <a:lnTo>
                  <a:pt x="133350" y="266700"/>
                </a:lnTo>
                <a:cubicBezTo>
                  <a:pt x="133350" y="242183"/>
                  <a:pt x="113417" y="222250"/>
                  <a:pt x="88900" y="222250"/>
                </a:cubicBezTo>
                <a:lnTo>
                  <a:pt x="88831" y="222250"/>
                </a:lnTo>
                <a:close/>
                <a:moveTo>
                  <a:pt x="277813" y="111125"/>
                </a:moveTo>
                <a:cubicBezTo>
                  <a:pt x="277813" y="92726"/>
                  <a:pt x="262874" y="77788"/>
                  <a:pt x="244475" y="77788"/>
                </a:cubicBezTo>
                <a:cubicBezTo>
                  <a:pt x="226076" y="77788"/>
                  <a:pt x="211138" y="92726"/>
                  <a:pt x="211138" y="111125"/>
                </a:cubicBezTo>
                <a:cubicBezTo>
                  <a:pt x="211138" y="129524"/>
                  <a:pt x="226076" y="144463"/>
                  <a:pt x="244475" y="144463"/>
                </a:cubicBezTo>
                <a:cubicBezTo>
                  <a:pt x="262874" y="144463"/>
                  <a:pt x="277813" y="129524"/>
                  <a:pt x="277813" y="111125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9245600" y="1803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7AE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Opportunities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63000" y="23495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Scientific Breakthroughs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Solving complex problems in science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763000" y="34036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23" name="Text 21"/>
          <p:cNvSpPr/>
          <p:nvPr/>
        </p:nvSpPr>
        <p:spPr>
          <a:xfrm>
            <a:off x="8763000" y="34671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Medical Revolution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Accelerating drug discovery and diagnosis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763000" y="45212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25" name="Text 23"/>
          <p:cNvSpPr/>
          <p:nvPr/>
        </p:nvSpPr>
        <p:spPr>
          <a:xfrm>
            <a:off x="8763000" y="45847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Climate Solutions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Modeling climate and optimizing energy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763000" y="56388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27" name="Text 25"/>
          <p:cNvSpPr/>
          <p:nvPr/>
        </p:nvSpPr>
        <p:spPr>
          <a:xfrm>
            <a:off x="8763000" y="57023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Human Enhancement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Amplifying creativity and productivity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763000" y="6756400"/>
            <a:ext cx="6477000" cy="12700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29" name="Text 27"/>
          <p:cNvSpPr/>
          <p:nvPr/>
        </p:nvSpPr>
        <p:spPr>
          <a:xfrm>
            <a:off x="8763000" y="68199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Global Equity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Improving access to education and healthcare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62000" y="80645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future of AI is about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smarter machines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smarter societies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2D2A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cx5x7r5qmhl4q/mnt/agents/output/ai-week1/images/4_Free_AI_Digital_Brain_Image_Technology.png">    </p:cNvPr>
          <p:cNvPicPr>
            <a:picLocks noChangeAspect="1"/>
          </p:cNvPicPr>
          <p:nvPr/>
        </p:nvPicPr>
        <p:blipFill>
          <a:blip r:embed="rId1"/>
          <a:srcRect l="0" r="0" t="34238" b="3423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1C1A">
                  <a:alpha val="38000"/>
                </a:srgbClr>
              </a:gs>
              <a:gs pos="40000">
                <a:srgbClr val="1E1C1A">
                  <a:alpha val="63000"/>
                </a:srgbClr>
              </a:gs>
              <a:gs pos="100000">
                <a:srgbClr val="1E1C1A">
                  <a:alpha val="91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286000"/>
            <a:ext cx="2540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26670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800" i="1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"Artificial intelligence is not just about building machines that think — it's about understanding what thinking really means."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4191000"/>
            <a:ext cx="2540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4"/>
          <p:cNvSpPr/>
          <p:nvPr/>
        </p:nvSpPr>
        <p:spPr>
          <a:xfrm>
            <a:off x="4318000" y="4699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5F3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18000" y="5969000"/>
            <a:ext cx="7620000" cy="1016000"/>
          </a:xfrm>
          <a:prstGeom prst="roundRect">
            <a:avLst>
              <a:gd name="adj" fmla="val 8000"/>
            </a:avLst>
          </a:prstGeom>
          <a:solidFill>
            <a:srgbClr val="F5F3F0">
              <a:alpha val="8235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572000" y="6070600"/>
            <a:ext cx="711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spc="200" kern="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0" y="6413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5F3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Solving &amp; Search Algorithms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318000" y="7620000"/>
            <a:ext cx="762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5F3F0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 | Week 1 Complete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- Week 1: Introduction</dc:title>
  <dc:subject>Artificial Intelligence - Week 1: Introduction</dc:subject>
  <dc:creator>Kimi</dc:creator>
  <cp:lastModifiedBy>Kimi</cp:lastModifiedBy>
  <cp:revision>1</cp:revision>
  <dcterms:created xsi:type="dcterms:W3CDTF">2026-05-25T19:22:07Z</dcterms:created>
  <dcterms:modified xsi:type="dcterms:W3CDTF">2026-05-25T19:22:07Z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{"Label":"Artificial Intelligence - Week 1: Introduction","ContentProducer":"001191110108MACG2KBH8F10000","ProduceID":"19e6054a-4b82-836e-8000-0000b1e22d64","ReservedCode1":"","ContentPropagator":"001191110108MACG2KBH8F20000","PropagateID":"19e6054a-4b82-836e-8000-0000b1e22d64","ReservedCode2":""}</vt:lpwstr>
  </property>
</Properties>
</file>