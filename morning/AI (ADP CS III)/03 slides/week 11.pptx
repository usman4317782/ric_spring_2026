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1000" cy="2667000"/>
          </a:xfrm>
          <a:custGeom>
            <a:avLst/>
            <a:gdLst/>
            <a:ahLst/>
            <a:cxnLst/>
            <a:rect l="l" t="t" r="r" b="b"/>
            <a:pathLst>
              <a:path w="2921000" h="2667000">
                <a:moveTo>
                  <a:pt x="0" y="0"/>
                </a:moveTo>
                <a:lnTo>
                  <a:pt x="2921000" y="0"/>
                </a:lnTo>
                <a:lnTo>
                  <a:pt x="2921000" y="1333500"/>
                </a:lnTo>
                <a:quadBezTo>
                  <a:pt x="2555875" y="1778000"/>
                  <a:pt x="2190750" y="1778000"/>
                </a:quadBezTo>
                <a:lnTo>
                  <a:pt x="730250" y="1778000"/>
                </a:lnTo>
                <a:quadBezTo>
                  <a:pt x="365125" y="1778000"/>
                  <a:pt x="0" y="13335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 I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 — NLP Pipeline, Tools &amp; Evaluation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953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L19: Stages of NLP — API, NLTK, spaCy  ·  L20: Annotation &amp; Evaluation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476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L19: Stages of NLP — API, NLTK, spaCy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492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L20: Annotation and Evaluation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46990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session covers: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The standard NLP pipeline from tokenization to parsing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Practical tools: NLTK for research, spaCy for production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Text annotation best practices and quality assurance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Evaluation metrics: precision, recall, F1, and IAA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L19: Stages of NLP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API, NLTK, and spaCy — from raw text to structured meaning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Natural Language Processing?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field at the intersection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science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linguistics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enables machines to understand, interpret, and generate human language.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applications include: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Translation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Google Translate, DeepL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social media monitoring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&amp; Assistants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Siri, Alexa, ChatGPT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Recognition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transcription services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Extraction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named entities, relations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bridges the gap between human communication and computer understanding, transforming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unstructured text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structured data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0" y="1905000"/>
            <a:ext cx="5842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60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69333" y="0"/>
                </a:moveTo>
                <a:cubicBezTo>
                  <a:pt x="188066" y="0"/>
                  <a:pt x="203200" y="17026"/>
                  <a:pt x="203200" y="38100"/>
                </a:cubicBezTo>
                <a:lnTo>
                  <a:pt x="203200" y="76200"/>
                </a:lnTo>
                <a:lnTo>
                  <a:pt x="338667" y="76200"/>
                </a:lnTo>
                <a:cubicBezTo>
                  <a:pt x="357399" y="76200"/>
                  <a:pt x="372533" y="93226"/>
                  <a:pt x="372533" y="114300"/>
                </a:cubicBezTo>
                <a:cubicBezTo>
                  <a:pt x="372533" y="135374"/>
                  <a:pt x="357399" y="152400"/>
                  <a:pt x="338667" y="152400"/>
                </a:cubicBezTo>
                <a:lnTo>
                  <a:pt x="328507" y="152400"/>
                </a:lnTo>
                <a:lnTo>
                  <a:pt x="319617" y="179903"/>
                </a:lnTo>
                <a:cubicBezTo>
                  <a:pt x="302260" y="233720"/>
                  <a:pt x="276119" y="282892"/>
                  <a:pt x="243205" y="325160"/>
                </a:cubicBezTo>
                <a:cubicBezTo>
                  <a:pt x="258233" y="335637"/>
                  <a:pt x="273897" y="344924"/>
                  <a:pt x="290195" y="353139"/>
                </a:cubicBezTo>
                <a:lnTo>
                  <a:pt x="343535" y="379809"/>
                </a:lnTo>
                <a:lnTo>
                  <a:pt x="409363" y="213122"/>
                </a:lnTo>
                <a:cubicBezTo>
                  <a:pt x="414761" y="199311"/>
                  <a:pt x="426932" y="190500"/>
                  <a:pt x="440267" y="190500"/>
                </a:cubicBezTo>
                <a:cubicBezTo>
                  <a:pt x="453602" y="190500"/>
                  <a:pt x="465772" y="199311"/>
                  <a:pt x="471170" y="213122"/>
                </a:cubicBezTo>
                <a:lnTo>
                  <a:pt x="606637" y="556022"/>
                </a:lnTo>
                <a:cubicBezTo>
                  <a:pt x="614257" y="575310"/>
                  <a:pt x="606531" y="597813"/>
                  <a:pt x="589492" y="606266"/>
                </a:cubicBezTo>
                <a:cubicBezTo>
                  <a:pt x="572452" y="614720"/>
                  <a:pt x="552344" y="606147"/>
                  <a:pt x="544830" y="586978"/>
                </a:cubicBezTo>
                <a:lnTo>
                  <a:pt x="523663" y="533400"/>
                </a:lnTo>
                <a:lnTo>
                  <a:pt x="356976" y="533400"/>
                </a:lnTo>
                <a:lnTo>
                  <a:pt x="335809" y="586978"/>
                </a:lnTo>
                <a:cubicBezTo>
                  <a:pt x="328189" y="606266"/>
                  <a:pt x="308187" y="614839"/>
                  <a:pt x="291147" y="606266"/>
                </a:cubicBezTo>
                <a:cubicBezTo>
                  <a:pt x="274108" y="597694"/>
                  <a:pt x="266382" y="575191"/>
                  <a:pt x="274002" y="556022"/>
                </a:cubicBezTo>
                <a:lnTo>
                  <a:pt x="316124" y="449461"/>
                </a:lnTo>
                <a:lnTo>
                  <a:pt x="262784" y="422791"/>
                </a:lnTo>
                <a:cubicBezTo>
                  <a:pt x="238442" y="410647"/>
                  <a:pt x="215159" y="396121"/>
                  <a:pt x="193146" y="379452"/>
                </a:cubicBezTo>
                <a:cubicBezTo>
                  <a:pt x="170603" y="399931"/>
                  <a:pt x="145944" y="417790"/>
                  <a:pt x="119592" y="432673"/>
                </a:cubicBezTo>
                <a:lnTo>
                  <a:pt x="82867" y="453152"/>
                </a:lnTo>
                <a:cubicBezTo>
                  <a:pt x="66146" y="462558"/>
                  <a:pt x="45826" y="454938"/>
                  <a:pt x="37465" y="436126"/>
                </a:cubicBezTo>
                <a:cubicBezTo>
                  <a:pt x="29104" y="417314"/>
                  <a:pt x="35878" y="394454"/>
                  <a:pt x="52599" y="385048"/>
                </a:cubicBezTo>
                <a:lnTo>
                  <a:pt x="89112" y="364450"/>
                </a:lnTo>
                <a:cubicBezTo>
                  <a:pt x="106362" y="354687"/>
                  <a:pt x="122767" y="343376"/>
                  <a:pt x="138218" y="330756"/>
                </a:cubicBezTo>
                <a:cubicBezTo>
                  <a:pt x="123613" y="315635"/>
                  <a:pt x="109855" y="299323"/>
                  <a:pt x="97049" y="282059"/>
                </a:cubicBezTo>
                <a:lnTo>
                  <a:pt x="86360" y="267533"/>
                </a:lnTo>
                <a:cubicBezTo>
                  <a:pt x="74401" y="251341"/>
                  <a:pt x="76306" y="227290"/>
                  <a:pt x="90699" y="213836"/>
                </a:cubicBezTo>
                <a:cubicBezTo>
                  <a:pt x="105092" y="200382"/>
                  <a:pt x="126471" y="202525"/>
                  <a:pt x="138430" y="218718"/>
                </a:cubicBezTo>
                <a:lnTo>
                  <a:pt x="149225" y="233243"/>
                </a:lnTo>
                <a:cubicBezTo>
                  <a:pt x="161396" y="249793"/>
                  <a:pt x="174731" y="265152"/>
                  <a:pt x="188807" y="279321"/>
                </a:cubicBezTo>
                <a:cubicBezTo>
                  <a:pt x="217911" y="243126"/>
                  <a:pt x="240877" y="200620"/>
                  <a:pt x="256011" y="153829"/>
                </a:cubicBezTo>
                <a:lnTo>
                  <a:pt x="256540" y="152400"/>
                </a:lnTo>
                <a:lnTo>
                  <a:pt x="33972" y="152400"/>
                </a:lnTo>
                <a:cubicBezTo>
                  <a:pt x="15134" y="152400"/>
                  <a:pt x="0" y="135374"/>
                  <a:pt x="0" y="114300"/>
                </a:cubicBezTo>
                <a:cubicBezTo>
                  <a:pt x="0" y="93226"/>
                  <a:pt x="15134" y="76200"/>
                  <a:pt x="33867" y="76200"/>
                </a:cubicBezTo>
                <a:lnTo>
                  <a:pt x="135467" y="76200"/>
                </a:lnTo>
                <a:lnTo>
                  <a:pt x="135467" y="38100"/>
                </a:lnTo>
                <a:cubicBezTo>
                  <a:pt x="135467" y="17026"/>
                  <a:pt x="150601" y="0"/>
                  <a:pt x="169333" y="0"/>
                </a:cubicBezTo>
                <a:close/>
                <a:moveTo>
                  <a:pt x="440267" y="322421"/>
                </a:moveTo>
                <a:lnTo>
                  <a:pt x="387033" y="457200"/>
                </a:lnTo>
                <a:lnTo>
                  <a:pt x="493501" y="457200"/>
                </a:lnTo>
                <a:lnTo>
                  <a:pt x="440267" y="322421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0" y="3111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Subfields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52000" y="3810000"/>
            <a:ext cx="482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NLU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Natural Language Understanding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Comprehending meaning from text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Natural Language Generation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Producing human-like text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ASR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Automatic Speech Recognition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Converting speech to text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Text-to-Speech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Converting text to speech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Standard NLP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Acquisition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0000" y="2730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4318000" y="2286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2286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Cleaning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0" y="2730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7366000" y="2286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0" y="2286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Tokenization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906000" y="2730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414000" y="2286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0" y="2286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684000" y="3175000"/>
            <a:ext cx="0" cy="635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414000" y="3810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3810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 Tagging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 flipH="1">
            <a:off x="9906000" y="4254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366000" y="3810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66000" y="3810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 flipH="1">
            <a:off x="6858000" y="4254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318000" y="3810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4318000" y="3810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Parsing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 flipH="1">
            <a:off x="3810000" y="4254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270000" y="3810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" y="3810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Analysis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270000" y="5334000"/>
            <a:ext cx="13716000" cy="292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78000" y="5461000"/>
            <a:ext cx="12700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Text Acquisition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Collect raw text from documents, web, or APIs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Text Cleaning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Remove noise, HTML tags, special characters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Tokenization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Split text into words, sentences, or subwords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Normalization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Lowercasing, stemming, lemmatization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POS Tagging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Assign grammatical categories to tokens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NER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Identify people, organizations, locations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Parsing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Syntactic and dependency analysis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Semantic Analysis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Extract meaning and relationships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Tokenization: Breaking Text into Units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136178" y="263872"/>
                </a:lnTo>
                <a:cubicBezTo>
                  <a:pt x="124926" y="259497"/>
                  <a:pt x="112782" y="257175"/>
                  <a:pt x="100013" y="257175"/>
                </a:cubicBezTo>
                <a:cubicBezTo>
                  <a:pt x="44738" y="257175"/>
                  <a:pt x="0" y="301913"/>
                  <a:pt x="0" y="357188"/>
                </a:cubicBezTo>
                <a:cubicBezTo>
                  <a:pt x="0" y="412462"/>
                  <a:pt x="44738" y="457200"/>
                  <a:pt x="100013" y="457200"/>
                </a:cubicBezTo>
                <a:cubicBezTo>
                  <a:pt x="155287" y="457200"/>
                  <a:pt x="200025" y="412462"/>
                  <a:pt x="200025" y="357188"/>
                </a:cubicBezTo>
                <a:cubicBezTo>
                  <a:pt x="200025" y="344418"/>
                  <a:pt x="197614" y="332274"/>
                  <a:pt x="193328" y="321022"/>
                </a:cubicBezTo>
                <a:lnTo>
                  <a:pt x="445770" y="68580"/>
                </a:lnTo>
                <a:cubicBezTo>
                  <a:pt x="452110" y="62240"/>
                  <a:pt x="452110" y="52060"/>
                  <a:pt x="445770" y="45720"/>
                </a:cubicBezTo>
                <a:cubicBezTo>
                  <a:pt x="420499" y="20449"/>
                  <a:pt x="379601" y="20449"/>
                  <a:pt x="354330" y="45720"/>
                </a:cubicBezTo>
                <a:lnTo>
                  <a:pt x="228600" y="171450"/>
                </a:lnTo>
                <a:lnTo>
                  <a:pt x="193328" y="136178"/>
                </a:lnTo>
                <a:cubicBezTo>
                  <a:pt x="197703" y="124926"/>
                  <a:pt x="200025" y="112782"/>
                  <a:pt x="200025" y="100013"/>
                </a:cubicBez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cubicBezTo>
                  <a:pt x="0" y="155287"/>
                  <a:pt x="44738" y="200025"/>
                  <a:pt x="100013" y="200025"/>
                </a:cubicBezTo>
                <a:cubicBezTo>
                  <a:pt x="112782" y="200025"/>
                  <a:pt x="124926" y="197614"/>
                  <a:pt x="136178" y="193328"/>
                </a:cubicBezTo>
                <a:lnTo>
                  <a:pt x="171450" y="228600"/>
                </a:lnTo>
                <a:close/>
                <a:moveTo>
                  <a:pt x="258872" y="316022"/>
                </a:moveTo>
                <a:lnTo>
                  <a:pt x="354330" y="411480"/>
                </a:lnTo>
                <a:cubicBezTo>
                  <a:pt x="379601" y="436751"/>
                  <a:pt x="420499" y="436751"/>
                  <a:pt x="445770" y="411480"/>
                </a:cubicBezTo>
                <a:cubicBezTo>
                  <a:pt x="452110" y="405140"/>
                  <a:pt x="452110" y="394960"/>
                  <a:pt x="445770" y="388620"/>
                </a:cubicBezTo>
                <a:lnTo>
                  <a:pt x="316022" y="258872"/>
                </a:lnTo>
                <a:lnTo>
                  <a:pt x="258872" y="316022"/>
                </a:lnTo>
                <a:close/>
                <a:moveTo>
                  <a:pt x="57150" y="100013"/>
                </a:moveTo>
                <a:cubicBezTo>
                  <a:pt x="57150" y="76356"/>
                  <a:pt x="76356" y="57150"/>
                  <a:pt x="100012" y="57150"/>
                </a:cubicBezTo>
                <a:cubicBezTo>
                  <a:pt x="123669" y="57150"/>
                  <a:pt x="142875" y="76356"/>
                  <a:pt x="142875" y="100012"/>
                </a:cubicBezTo>
                <a:cubicBezTo>
                  <a:pt x="142875" y="123669"/>
                  <a:pt x="123669" y="142875"/>
                  <a:pt x="100013" y="142875"/>
                </a:cubicBezTo>
                <a:cubicBezTo>
                  <a:pt x="76356" y="142875"/>
                  <a:pt x="57150" y="123669"/>
                  <a:pt x="57150" y="100013"/>
                </a:cubicBezTo>
                <a:close/>
                <a:moveTo>
                  <a:pt x="100013" y="314325"/>
                </a:moveTo>
                <a:cubicBezTo>
                  <a:pt x="123669" y="314325"/>
                  <a:pt x="142875" y="333531"/>
                  <a:pt x="142875" y="357188"/>
                </a:cubicBezTo>
                <a:cubicBezTo>
                  <a:pt x="142875" y="380844"/>
                  <a:pt x="123669" y="400050"/>
                  <a:pt x="100013" y="400050"/>
                </a:cubicBezTo>
                <a:cubicBezTo>
                  <a:pt x="76356" y="400050"/>
                  <a:pt x="57150" y="380844"/>
                  <a:pt x="57150" y="357188"/>
                </a:cubicBezTo>
                <a:cubicBezTo>
                  <a:pt x="57150" y="333531"/>
                  <a:pt x="76356" y="314325"/>
                  <a:pt x="100012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 Tokenization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Splitting by whitespace and punctuation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world!"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["Hello", "world", "!"]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57150"/>
                </a:moveTo>
                <a:cubicBezTo>
                  <a:pt x="293914" y="72956"/>
                  <a:pt x="279321" y="85725"/>
                  <a:pt x="261257" y="85725"/>
                </a:cubicBezTo>
                <a:lnTo>
                  <a:pt x="32657" y="85725"/>
                </a:lnTo>
                <a:cubicBezTo>
                  <a:pt x="14594" y="85725"/>
                  <a:pt x="0" y="72956"/>
                  <a:pt x="0" y="57150"/>
                </a:cubicBezTo>
                <a:cubicBezTo>
                  <a:pt x="0" y="41344"/>
                  <a:pt x="14594" y="28575"/>
                  <a:pt x="32657" y="28575"/>
                </a:cubicBezTo>
                <a:lnTo>
                  <a:pt x="261257" y="28575"/>
                </a:lnTo>
                <a:cubicBezTo>
                  <a:pt x="279321" y="28575"/>
                  <a:pt x="293914" y="41344"/>
                  <a:pt x="293914" y="57150"/>
                </a:cubicBezTo>
                <a:close/>
                <a:moveTo>
                  <a:pt x="293914" y="285750"/>
                </a:moveTo>
                <a:cubicBezTo>
                  <a:pt x="293914" y="301556"/>
                  <a:pt x="279321" y="314325"/>
                  <a:pt x="261257" y="314325"/>
                </a:cubicBezTo>
                <a:lnTo>
                  <a:pt x="32657" y="314325"/>
                </a:lnTo>
                <a:cubicBezTo>
                  <a:pt x="14594" y="314325"/>
                  <a:pt x="0" y="301556"/>
                  <a:pt x="0" y="285750"/>
                </a:cubicBezTo>
                <a:cubicBezTo>
                  <a:pt x="0" y="269944"/>
                  <a:pt x="14594" y="257175"/>
                  <a:pt x="32657" y="257175"/>
                </a:cubicBezTo>
                <a:lnTo>
                  <a:pt x="261257" y="257175"/>
                </a:lnTo>
                <a:cubicBezTo>
                  <a:pt x="279321" y="257175"/>
                  <a:pt x="293914" y="269944"/>
                  <a:pt x="293914" y="285750"/>
                </a:cubicBezTo>
                <a:close/>
                <a:moveTo>
                  <a:pt x="0" y="171450"/>
                </a:moveTo>
                <a:cubicBezTo>
                  <a:pt x="0" y="155644"/>
                  <a:pt x="14594" y="142875"/>
                  <a:pt x="32657" y="142875"/>
                </a:cubicBezTo>
                <a:lnTo>
                  <a:pt x="424543" y="142875"/>
                </a:lnTo>
                <a:cubicBezTo>
                  <a:pt x="442606" y="142875"/>
                  <a:pt x="457200" y="155644"/>
                  <a:pt x="457200" y="171450"/>
                </a:cubicBezTo>
                <a:cubicBezTo>
                  <a:pt x="457200" y="187256"/>
                  <a:pt x="442606" y="200025"/>
                  <a:pt x="424543" y="200025"/>
                </a:cubicBezTo>
                <a:lnTo>
                  <a:pt x="32657" y="200025"/>
                </a:lnTo>
                <a:cubicBezTo>
                  <a:pt x="14594" y="200025"/>
                  <a:pt x="0" y="187256"/>
                  <a:pt x="0" y="171450"/>
                </a:cubicBezTo>
                <a:close/>
                <a:moveTo>
                  <a:pt x="457200" y="400050"/>
                </a:moveTo>
                <a:cubicBezTo>
                  <a:pt x="457200" y="415856"/>
                  <a:pt x="442606" y="428625"/>
                  <a:pt x="424543" y="428625"/>
                </a:cubicBezTo>
                <a:lnTo>
                  <a:pt x="32657" y="428625"/>
                </a:lnTo>
                <a:cubicBezTo>
                  <a:pt x="14594" y="428625"/>
                  <a:pt x="0" y="415856"/>
                  <a:pt x="0" y="400050"/>
                </a:cubicBezTo>
                <a:cubicBezTo>
                  <a:pt x="0" y="384244"/>
                  <a:pt x="14594" y="371475"/>
                  <a:pt x="32657" y="371475"/>
                </a:cubicBezTo>
                <a:lnTo>
                  <a:pt x="424543" y="371475"/>
                </a:lnTo>
                <a:cubicBezTo>
                  <a:pt x="442606" y="371475"/>
                  <a:pt x="457200" y="384244"/>
                  <a:pt x="457200" y="4000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Sentence Tokenization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2794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Segmenting text into sentences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punctuation and heuristics to detect sentence boundaries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304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Subword (BPE)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2794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Handling OOV words via subunits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Byte Pair Encoding breaks unknown words into known subword pieces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334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1000" y="552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51000" y="59690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Contractions: "don't", "can't"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Hyphenated words: "state-of-the-art"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URLs, emails, hashtags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Multilingual text boundaries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0" y="552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 Start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2000" y="5969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NLTK: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nltk.word_tokenize(text)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spaCy: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[t.text for t in doc]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handle edge cases efficiently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Part-of-Speech (POS) Tagging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tagging assigns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grammatical categories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each token in text.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Tag Sets: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Penn Treebank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36 tags (NN, NNS, VB, VBD, JJ, RB, IN...)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POS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17 categories (NOUN, VERB, ADJ, ADV...)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hand-crafted linguistic rules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HMM, Maximum Entropy models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BiLSTM-CRF, Transformers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taggers achieve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&gt;97% accuracy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English text.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05000"/>
          <a:ext cx="6604000" cy="3937000"/>
        </p:xfrm>
        <a:graphic>
          <a:graphicData uri="http://schemas.openxmlformats.org/drawingml/2006/table">
            <a:tbl>
              <a:tblPr/>
              <a:tblGrid>
                <a:gridCol w="1651000"/>
                <a:gridCol w="2311400"/>
                <a:gridCol w="2641600"/>
              </a:tblGrid>
              <a:tr h="5511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Noun, singular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computer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Noun, plural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computers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Verb, base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VBD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Verb, past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JJ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Adjective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Adverb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quickly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82000" y="6223000"/>
            <a:ext cx="6604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99500" y="654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0612" y="285750"/>
                </a:moveTo>
                <a:cubicBezTo>
                  <a:pt x="297855" y="269156"/>
                  <a:pt x="312341" y="254124"/>
                  <a:pt x="328712" y="241176"/>
                </a:cubicBezTo>
                <a:cubicBezTo>
                  <a:pt x="361156" y="215578"/>
                  <a:pt x="381000" y="180975"/>
                  <a:pt x="381000" y="142875"/>
                </a:cubicBezTo>
                <a:cubicBezTo>
                  <a:pt x="381000" y="63996"/>
                  <a:pt x="295672" y="0"/>
                  <a:pt x="190500" y="0"/>
                </a:cubicBezTo>
                <a:cubicBezTo>
                  <a:pt x="85328" y="0"/>
                  <a:pt x="0" y="63996"/>
                  <a:pt x="0" y="142875"/>
                </a:cubicBezTo>
                <a:cubicBezTo>
                  <a:pt x="0" y="180975"/>
                  <a:pt x="19844" y="215578"/>
                  <a:pt x="52288" y="241176"/>
                </a:cubicBezTo>
                <a:cubicBezTo>
                  <a:pt x="68659" y="254124"/>
                  <a:pt x="83245" y="269156"/>
                  <a:pt x="90388" y="285750"/>
                </a:cubicBezTo>
                <a:lnTo>
                  <a:pt x="290513" y="285750"/>
                </a:lnTo>
                <a:close/>
                <a:moveTo>
                  <a:pt x="285750" y="321469"/>
                </a:moveTo>
                <a:lnTo>
                  <a:pt x="95250" y="321469"/>
                </a:lnTo>
                <a:lnTo>
                  <a:pt x="95250" y="333375"/>
                </a:lnTo>
                <a:cubicBezTo>
                  <a:pt x="95250" y="366266"/>
                  <a:pt x="130770" y="392906"/>
                  <a:pt x="174625" y="392906"/>
                </a:cubicBezTo>
                <a:lnTo>
                  <a:pt x="206375" y="392906"/>
                </a:lnTo>
                <a:cubicBezTo>
                  <a:pt x="250230" y="392906"/>
                  <a:pt x="285750" y="366266"/>
                  <a:pt x="285750" y="333375"/>
                </a:cubicBezTo>
                <a:lnTo>
                  <a:pt x="285750" y="321469"/>
                </a:lnTo>
                <a:close/>
                <a:moveTo>
                  <a:pt x="182563" y="83344"/>
                </a:moveTo>
                <a:cubicBezTo>
                  <a:pt x="143073" y="83344"/>
                  <a:pt x="111125" y="107305"/>
                  <a:pt x="111125" y="136922"/>
                </a:cubicBezTo>
                <a:cubicBezTo>
                  <a:pt x="111125" y="146819"/>
                  <a:pt x="100509" y="154781"/>
                  <a:pt x="87313" y="154781"/>
                </a:cubicBezTo>
                <a:cubicBezTo>
                  <a:pt x="74116" y="154781"/>
                  <a:pt x="63500" y="146819"/>
                  <a:pt x="63500" y="136922"/>
                </a:cubicBezTo>
                <a:cubicBezTo>
                  <a:pt x="63500" y="87585"/>
                  <a:pt x="116780" y="47625"/>
                  <a:pt x="182563" y="47625"/>
                </a:cubicBezTo>
                <a:cubicBezTo>
                  <a:pt x="195759" y="47625"/>
                  <a:pt x="206375" y="55587"/>
                  <a:pt x="206375" y="65484"/>
                </a:cubicBezTo>
                <a:cubicBezTo>
                  <a:pt x="206375" y="75381"/>
                  <a:pt x="195759" y="83344"/>
                  <a:pt x="182563" y="8334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5"/>
          <p:cNvSpPr/>
          <p:nvPr/>
        </p:nvSpPr>
        <p:spPr>
          <a:xfrm>
            <a:off x="9271000" y="63500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spaCy tip: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en_core_web_sm provides efficient POS tagging out-of-the-box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doc[i].pos_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Named Entity Recognition (NER)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NER identifies and classifies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named entities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predefined categories.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Entity Types: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people, characters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companies, agencies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countries, cities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DATE, MONEY, PERCENT, FAC, PRODUCT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095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NER Example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71000" y="2540000"/>
            <a:ext cx="533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Apple Inc.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planning to open a new store in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London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E8B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January 15, 2024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."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Apple Inc. →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London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January 15, 2024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NER Approaches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70000" y="6223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4000" y="63500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Dictionary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Lookup tables of known entities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99000" y="6223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3000" y="63500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Rule-based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 matching with regex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6223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2000" y="63500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/ Deep Learning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CRF, BiLSTM, BERT models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557000" y="6223000"/>
            <a:ext cx="3429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1811000" y="6350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spaCy NER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Highly optimized, supports custom training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Syntactic and Dependency Parsing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Constituency Parsing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Builds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tree of nested phrases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showing how words group into structural units.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Phrase types: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Noun Phrase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Verb Phrase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Prepositional Phrase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ADJP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Adjective Phrase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tree: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[S [NP The cat] [VP [V sat] [PP [P on] [NP the mat]]]]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95250"/>
                </a:lnTo>
                <a:lnTo>
                  <a:pt x="317500" y="95250"/>
                </a:lnTo>
                <a:lnTo>
                  <a:pt x="317500" y="79375"/>
                </a:lnTo>
                <a:cubicBezTo>
                  <a:pt x="317500" y="53082"/>
                  <a:pt x="338832" y="31750"/>
                  <a:pt x="365125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6668" y="222250"/>
                  <a:pt x="460375" y="222250"/>
                </a:cubicBezTo>
                <a:lnTo>
                  <a:pt x="365125" y="222250"/>
                </a:lnTo>
                <a:cubicBezTo>
                  <a:pt x="338832" y="222250"/>
                  <a:pt x="317500" y="200918"/>
                  <a:pt x="317500" y="174625"/>
                </a:cubicBezTo>
                <a:lnTo>
                  <a:pt x="317500" y="158750"/>
                </a:lnTo>
                <a:lnTo>
                  <a:pt x="190500" y="158750"/>
                </a:lnTo>
                <a:lnTo>
                  <a:pt x="190500" y="174625"/>
                </a:lnTo>
                <a:cubicBezTo>
                  <a:pt x="190500" y="181868"/>
                  <a:pt x="188813" y="188813"/>
                  <a:pt x="185936" y="194965"/>
                </a:cubicBezTo>
                <a:lnTo>
                  <a:pt x="254000" y="285750"/>
                </a:lnTo>
                <a:lnTo>
                  <a:pt x="333375" y="285750"/>
                </a:lnTo>
                <a:cubicBezTo>
                  <a:pt x="359668" y="285750"/>
                  <a:pt x="381000" y="307082"/>
                  <a:pt x="381000" y="333375"/>
                </a:cubicBezTo>
                <a:lnTo>
                  <a:pt x="381000" y="428625"/>
                </a:lnTo>
                <a:cubicBezTo>
                  <a:pt x="381000" y="454918"/>
                  <a:pt x="359668" y="476250"/>
                  <a:pt x="333375" y="476250"/>
                </a:cubicBezTo>
                <a:lnTo>
                  <a:pt x="238125" y="476250"/>
                </a:lnTo>
                <a:cubicBezTo>
                  <a:pt x="211832" y="476250"/>
                  <a:pt x="190500" y="454918"/>
                  <a:pt x="190500" y="428625"/>
                </a:cubicBezTo>
                <a:lnTo>
                  <a:pt x="190500" y="333375"/>
                </a:lnTo>
                <a:cubicBezTo>
                  <a:pt x="190500" y="326132"/>
                  <a:pt x="192187" y="319187"/>
                  <a:pt x="195064" y="313035"/>
                </a:cubicBezTo>
                <a:lnTo>
                  <a:pt x="127000" y="222250"/>
                </a:ln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Dependency Parsing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grammatical relationships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between words, creating a directed graph.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relations: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nsubj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nominal subject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dobj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direct object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amod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adjectival modifier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prepositional modifier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Evaluated by: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UAS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Unlabeled Attachment Score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Labeled Attachment Score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NLTK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NLTK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(Natural Language Toolkit) is a leading Python platform for working with human language data.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Founded at the 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of Pennsylvania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2001.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50+ corpora and lexical resources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WordNet, Brown Corpus, Penn Treebank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Tokenization, stemming, tagging, parsing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Classification (Naive Bayes, MaxEnt)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09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71000" y="2540000"/>
            <a:ext cx="533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pip install nltk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&gt;&gt;&gt;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nltk.download('punkt')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&gt;&gt;&gt;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nltk.download('averaged_perceptron_tagger')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90000" y="4191000"/>
            <a:ext cx="6096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92710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867" y="155416"/>
                </a:moveTo>
                <a:lnTo>
                  <a:pt x="181469" y="223758"/>
                </a:lnTo>
                <a:cubicBezTo>
                  <a:pt x="188383" y="226933"/>
                  <a:pt x="195721" y="228600"/>
                  <a:pt x="203200" y="228600"/>
                </a:cubicBezTo>
                <a:cubicBezTo>
                  <a:pt x="210679" y="228600"/>
                  <a:pt x="218017" y="226933"/>
                  <a:pt x="224931" y="223758"/>
                </a:cubicBezTo>
                <a:lnTo>
                  <a:pt x="395958" y="144542"/>
                </a:lnTo>
                <a:cubicBezTo>
                  <a:pt x="402308" y="141605"/>
                  <a:pt x="406400" y="134699"/>
                  <a:pt x="406400" y="127000"/>
                </a:cubicBezTo>
                <a:cubicBezTo>
                  <a:pt x="406400" y="119301"/>
                  <a:pt x="402308" y="112395"/>
                  <a:pt x="395958" y="109458"/>
                </a:cubicBezTo>
                <a:lnTo>
                  <a:pt x="224931" y="30242"/>
                </a:lnTo>
                <a:cubicBezTo>
                  <a:pt x="218017" y="27067"/>
                  <a:pt x="210679" y="25400"/>
                  <a:pt x="203200" y="25400"/>
                </a:cubicBezTo>
                <a:cubicBezTo>
                  <a:pt x="195721" y="25400"/>
                  <a:pt x="188383" y="27067"/>
                  <a:pt x="181469" y="30242"/>
                </a:cubicBezTo>
                <a:lnTo>
                  <a:pt x="10442" y="109458"/>
                </a:lnTo>
                <a:cubicBezTo>
                  <a:pt x="4092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7549" y="381000"/>
                  <a:pt x="16933" y="381000"/>
                </a:cubicBezTo>
                <a:cubicBezTo>
                  <a:pt x="26317" y="381000"/>
                  <a:pt x="33867" y="372507"/>
                  <a:pt x="33867" y="361950"/>
                </a:cubicBezTo>
                <a:lnTo>
                  <a:pt x="33867" y="155416"/>
                </a:lnTo>
                <a:close/>
                <a:moveTo>
                  <a:pt x="67733" y="212328"/>
                </a:moveTo>
                <a:lnTo>
                  <a:pt x="67733" y="304800"/>
                </a:lnTo>
                <a:cubicBezTo>
                  <a:pt x="67733" y="346869"/>
                  <a:pt x="128411" y="381000"/>
                  <a:pt x="203200" y="381000"/>
                </a:cubicBezTo>
                <a:cubicBezTo>
                  <a:pt x="277989" y="381000"/>
                  <a:pt x="338667" y="346869"/>
                  <a:pt x="338667" y="304800"/>
                </a:cubicBezTo>
                <a:lnTo>
                  <a:pt x="338667" y="212249"/>
                </a:lnTo>
                <a:lnTo>
                  <a:pt x="237843" y="259001"/>
                </a:lnTo>
                <a:cubicBezTo>
                  <a:pt x="226836" y="264081"/>
                  <a:pt x="215124" y="266700"/>
                  <a:pt x="203200" y="266700"/>
                </a:cubicBezTo>
                <a:cubicBezTo>
                  <a:pt x="191276" y="266700"/>
                  <a:pt x="179564" y="264081"/>
                  <a:pt x="168557" y="259001"/>
                </a:cubicBezTo>
                <a:lnTo>
                  <a:pt x="67733" y="2122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842500" y="43815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Education, research, prototyping, linguistic analysis, and learning NLP concepts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Resources in NLTK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67945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0500" y="6921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WordNet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Lexical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9000" y="67945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9500" y="6921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Brown Corpus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1M tagged words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67945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8500" y="6921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Penn Treebank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Parsed sentences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557000" y="6794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47500" y="69215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VADER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NLTK in Action: Core Functions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620000" cy="3556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955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nltk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=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90EE9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"NLP is fascinating."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 = nltk.word_tokenize(text)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tagged = nltk.pos_tag(tokens)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entities = nltk.chunk.ne_chunk(tagged)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0D6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Output: [('NLP', 'NNP'), ('is', 'VBZ'),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0D6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         ('fascinating', 'JJ'), ('.', '.')]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98000" y="196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NLTK Functions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98000" y="2476500"/>
            <a:ext cx="533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word_tokenize()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word splitting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sent_tokenize()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sentence splitting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pos_tag()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POS tagging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ne_chunk()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named entities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PorterStemmer()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stemming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WordNetLemmatizer()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FreqDist()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frequency dist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59690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1000" y="615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NLTK Also Supports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51000" y="66040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N-gram modeling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collocation detection  •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Concordance views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corpus exploration  •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 analysis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VADER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 sense disambiguation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via WordNet  •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(NaiveBayes, MaxEnt)  •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shallow parsing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spaCy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an industrial-strength NLP library designed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use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Developed by </a:t>
            </a:r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Explosion AI</a:t>
            </a:r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Fastest syntactic parser (Cython backend)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Pre-trained models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15+ languages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Integrated pipeline: token → tag → parse → NER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Deep learning with transformers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09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71000" y="2540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pip install spacy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python -m spacy download en_core_web_sm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90000" y="4191000"/>
            <a:ext cx="6096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92710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842500" y="43815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Production systems, large-scale processing, end-to-end pipelines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Philosophy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6794500"/>
            <a:ext cx="431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032000" y="69215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"Get things done"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Clean, consistent API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69000" y="6794500"/>
            <a:ext cx="431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30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731000" y="69215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Opinionated Design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Sensible defaults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0" y="6794500"/>
            <a:ext cx="4318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20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0" y="69215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Multi-language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15+ language models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spaCy Pipeline and Core Functions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540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955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spacy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= spacy.load(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90EE9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"en_core_web_sm"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 = nlp(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90EE9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"Text to process"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0D6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Pipeline: tokenizer → tagger →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0D6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          parser → attribute_ruler → 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0" y="196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 Object Attributes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82000" y="24765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doc.text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original text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doc.ents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named entities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doc.sents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sentences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doc.noun_chunks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noun phrases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482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Attributes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5334000"/>
          <a:ext cx="13716000" cy="25400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3017520"/>
                <a:gridCol w="384048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Attribute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Attribute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token.text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Original token text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token.lemma_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Base 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token.pos_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Coarse POS tag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token.tag_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Detailed POS tag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token.dep_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Dependency label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token.ent_type_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Entity type (if any)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NLTK vs spaCy: Choosing the Right Tool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445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NLTK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Focus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Academic / Research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Production / Industry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Performance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Slower, pure Python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Fast, Cython backend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Architecture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Modular, flexible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Unified pipeline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Corpora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50+ built-in corpora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Pre-trained models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Deep 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Native transformer support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Teaching, research, prototyping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Deployment, large-scale processing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731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6921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workflows: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NLTK for corpus exploration and spaCy for production pipelines — they complement each other.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L20: Annotation &amp; Evaluation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gold-standard datasets and measuring NLP system performance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Text Annotation?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annotation is the process of adding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labels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raw text to create structured, machine-readable training data.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0000" y="355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Annotation Types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4127500"/>
            <a:ext cx="3175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4000" y="434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800600"/>
            <a:ext cx="266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Token-level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 tags, morphological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26000" y="4127500"/>
            <a:ext cx="3175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80000" y="434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4469" y="218777"/>
                </a:moveTo>
                <a:lnTo>
                  <a:pt x="292259" y="69384"/>
                </a:lnTo>
                <a:lnTo>
                  <a:pt x="274170" y="49034"/>
                </a:lnTo>
                <a:lnTo>
                  <a:pt x="141376" y="159048"/>
                </a:lnTo>
                <a:lnTo>
                  <a:pt x="194469" y="218777"/>
                </a:lnTo>
                <a:close/>
                <a:moveTo>
                  <a:pt x="79022" y="222250"/>
                </a:moveTo>
                <a:lnTo>
                  <a:pt x="79022" y="222250"/>
                </a:lnTo>
                <a:lnTo>
                  <a:pt x="79022" y="172452"/>
                </a:lnTo>
                <a:cubicBezTo>
                  <a:pt x="79022" y="161826"/>
                  <a:pt x="83467" y="151894"/>
                  <a:pt x="91061" y="145643"/>
                </a:cubicBezTo>
                <a:lnTo>
                  <a:pt x="259662" y="5834"/>
                </a:lnTo>
                <a:cubicBezTo>
                  <a:pt x="264231" y="2014"/>
                  <a:pt x="269787" y="0"/>
                  <a:pt x="275467" y="0"/>
                </a:cubicBezTo>
                <a:cubicBezTo>
                  <a:pt x="282504" y="0"/>
                  <a:pt x="289234" y="3125"/>
                  <a:pt x="294234" y="8751"/>
                </a:cubicBezTo>
                <a:lnTo>
                  <a:pt x="328066" y="46811"/>
                </a:lnTo>
                <a:cubicBezTo>
                  <a:pt x="333066" y="52437"/>
                  <a:pt x="335844" y="60008"/>
                  <a:pt x="335844" y="67995"/>
                </a:cubicBezTo>
                <a:cubicBezTo>
                  <a:pt x="335844" y="74384"/>
                  <a:pt x="334054" y="80635"/>
                  <a:pt x="330659" y="85775"/>
                </a:cubicBezTo>
                <a:lnTo>
                  <a:pt x="206446" y="275382"/>
                </a:lnTo>
                <a:cubicBezTo>
                  <a:pt x="200889" y="283924"/>
                  <a:pt x="191999" y="288925"/>
                  <a:pt x="182615" y="288925"/>
                </a:cubicBezTo>
                <a:lnTo>
                  <a:pt x="138351" y="288925"/>
                </a:lnTo>
                <a:lnTo>
                  <a:pt x="122670" y="306566"/>
                </a:lnTo>
                <a:cubicBezTo>
                  <a:pt x="114953" y="315248"/>
                  <a:pt x="102420" y="315248"/>
                  <a:pt x="94703" y="306566"/>
                </a:cubicBezTo>
                <a:lnTo>
                  <a:pt x="63403" y="271353"/>
                </a:lnTo>
                <a:cubicBezTo>
                  <a:pt x="55686" y="262672"/>
                  <a:pt x="55686" y="248573"/>
                  <a:pt x="63403" y="239891"/>
                </a:cubicBezTo>
                <a:lnTo>
                  <a:pt x="79022" y="222250"/>
                </a:lnTo>
                <a:close/>
                <a:moveTo>
                  <a:pt x="4322" y="323860"/>
                </a:moveTo>
                <a:lnTo>
                  <a:pt x="36239" y="287953"/>
                </a:lnTo>
                <a:lnTo>
                  <a:pt x="79825" y="336987"/>
                </a:lnTo>
                <a:lnTo>
                  <a:pt x="67663" y="350669"/>
                </a:lnTo>
                <a:cubicBezTo>
                  <a:pt x="64885" y="353794"/>
                  <a:pt x="61119" y="355531"/>
                  <a:pt x="57168" y="355531"/>
                </a:cubicBezTo>
                <a:lnTo>
                  <a:pt x="14817" y="355600"/>
                </a:lnTo>
                <a:cubicBezTo>
                  <a:pt x="6606" y="355600"/>
                  <a:pt x="0" y="348169"/>
                  <a:pt x="0" y="338931"/>
                </a:cubicBezTo>
                <a:lnTo>
                  <a:pt x="0" y="335667"/>
                </a:lnTo>
                <a:cubicBezTo>
                  <a:pt x="0" y="331222"/>
                  <a:pt x="1543" y="326985"/>
                  <a:pt x="4322" y="32386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0" y="48006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Span-level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Named entities, phrases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4127500"/>
            <a:ext cx="3175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36000" y="434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4800600"/>
            <a:ext cx="266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Relation-level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 relationships, coreference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38000" y="4127500"/>
            <a:ext cx="304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192000" y="434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11125" y="177800"/>
                </a:moveTo>
                <a:cubicBezTo>
                  <a:pt x="98809" y="177800"/>
                  <a:pt x="88900" y="185231"/>
                  <a:pt x="88900" y="194469"/>
                </a:cubicBezTo>
                <a:cubicBezTo>
                  <a:pt x="88900" y="203706"/>
                  <a:pt x="98809" y="211138"/>
                  <a:pt x="111125" y="211138"/>
                </a:cubicBezTo>
                <a:lnTo>
                  <a:pt x="244475" y="211138"/>
                </a:lnTo>
                <a:cubicBezTo>
                  <a:pt x="256791" y="211138"/>
                  <a:pt x="266700" y="203706"/>
                  <a:pt x="266700" y="194469"/>
                </a:cubicBezTo>
                <a:cubicBezTo>
                  <a:pt x="266700" y="185231"/>
                  <a:pt x="256791" y="177800"/>
                  <a:pt x="244475" y="177800"/>
                </a:cubicBezTo>
                <a:lnTo>
                  <a:pt x="111125" y="177800"/>
                </a:lnTo>
                <a:close/>
                <a:moveTo>
                  <a:pt x="111125" y="244475"/>
                </a:moveTo>
                <a:cubicBezTo>
                  <a:pt x="98809" y="244475"/>
                  <a:pt x="88900" y="251906"/>
                  <a:pt x="88900" y="261144"/>
                </a:cubicBezTo>
                <a:cubicBezTo>
                  <a:pt x="88900" y="270381"/>
                  <a:pt x="98809" y="277813"/>
                  <a:pt x="111125" y="277813"/>
                </a:cubicBezTo>
                <a:lnTo>
                  <a:pt x="244475" y="277813"/>
                </a:lnTo>
                <a:cubicBezTo>
                  <a:pt x="256791" y="277813"/>
                  <a:pt x="266700" y="270381"/>
                  <a:pt x="266700" y="261144"/>
                </a:cubicBezTo>
                <a:cubicBezTo>
                  <a:pt x="266700" y="251906"/>
                  <a:pt x="256791" y="244475"/>
                  <a:pt x="244475" y="244475"/>
                </a:cubicBezTo>
                <a:lnTo>
                  <a:pt x="111125" y="24447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0" y="48006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Document-level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Sentiment, topic, intent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6350000"/>
            <a:ext cx="13716000" cy="152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8000" y="673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2540000" y="6540500"/>
            <a:ext cx="1193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annotation is the foundation of reliable NLP systems.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"Garbage in, garbage out"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poor annotations lead to poor models.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Text Annotation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066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19685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05000" y="19685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Named Entity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PERSON, ORG, GPE labels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87900" y="18415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78400" y="20066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4978400" y="19685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22900" y="19685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 Tagging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Grammatical categories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05800" y="18415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96300" y="20066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8496300" y="19685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40800" y="19685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Positive/negative/neutral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23700" y="18415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014200" y="20066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2014200" y="19685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458700" y="19685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intent in dialog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36830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60500" y="38481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460500" y="38100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05000" y="38100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Role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Predicate-argument structures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87900" y="36830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78400" y="38481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4978400" y="38100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22900" y="38100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Coreference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Linking entity mentions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05800" y="36830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96300" y="38481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0" name="Text 28"/>
          <p:cNvSpPr/>
          <p:nvPr/>
        </p:nvSpPr>
        <p:spPr>
          <a:xfrm>
            <a:off x="8496300" y="3810000"/>
            <a:ext cx="355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40800" y="38100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Classification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Document-level categories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823700" y="3683000"/>
            <a:ext cx="317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014200" y="38481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4" name="Text 32"/>
          <p:cNvSpPr/>
          <p:nvPr/>
        </p:nvSpPr>
        <p:spPr>
          <a:xfrm>
            <a:off x="11988800" y="3810000"/>
            <a:ext cx="4064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458700" y="38100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Syntactic relationships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70000" y="5588000"/>
            <a:ext cx="13716000" cy="228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78000" y="5715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annotation type requires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guidelines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domain expertise. The choice depends on the target NLP task: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NER annotation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entity extraction models  •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annotation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grammatical analysis tools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annotation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opinion mining systems  •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 annotation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conversational AI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Annotation Guidelines and Best Practices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1886" y="457200"/>
                </a:moveTo>
                <a:lnTo>
                  <a:pt x="97971" y="457200"/>
                </a:lnTo>
                <a:cubicBezTo>
                  <a:pt x="43883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43883" y="0"/>
                  <a:pt x="97971" y="0"/>
                </a:cubicBezTo>
                <a:lnTo>
                  <a:pt x="408214" y="0"/>
                </a:lnTo>
                <a:cubicBezTo>
                  <a:pt x="435258" y="0"/>
                  <a:pt x="457200" y="19199"/>
                  <a:pt x="457200" y="42863"/>
                </a:cubicBezTo>
                <a:lnTo>
                  <a:pt x="457200" y="300038"/>
                </a:lnTo>
                <a:cubicBezTo>
                  <a:pt x="457200" y="318701"/>
                  <a:pt x="443525" y="334595"/>
                  <a:pt x="424543" y="340489"/>
                </a:cubicBezTo>
                <a:lnTo>
                  <a:pt x="424543" y="400050"/>
                </a:lnTo>
                <a:cubicBezTo>
                  <a:pt x="442606" y="400050"/>
                  <a:pt x="457200" y="412819"/>
                  <a:pt x="457200" y="428625"/>
                </a:cubicBezTo>
                <a:cubicBezTo>
                  <a:pt x="457200" y="444431"/>
                  <a:pt x="442606" y="457200"/>
                  <a:pt x="424543" y="457200"/>
                </a:cubicBezTo>
                <a:lnTo>
                  <a:pt x="391886" y="457200"/>
                </a:lnTo>
                <a:close/>
                <a:moveTo>
                  <a:pt x="97971" y="342900"/>
                </a:moveTo>
                <a:cubicBezTo>
                  <a:pt x="79908" y="342900"/>
                  <a:pt x="65314" y="355669"/>
                  <a:pt x="65314" y="371475"/>
                </a:cubicBezTo>
                <a:cubicBezTo>
                  <a:pt x="65314" y="387281"/>
                  <a:pt x="79908" y="400050"/>
                  <a:pt x="97971" y="400050"/>
                </a:cubicBezTo>
                <a:lnTo>
                  <a:pt x="359229" y="400050"/>
                </a:lnTo>
                <a:lnTo>
                  <a:pt x="359229" y="342900"/>
                </a:lnTo>
                <a:lnTo>
                  <a:pt x="97971" y="342900"/>
                </a:lnTo>
                <a:close/>
                <a:moveTo>
                  <a:pt x="130629" y="135731"/>
                </a:moveTo>
                <a:cubicBezTo>
                  <a:pt x="130629" y="147608"/>
                  <a:pt x="141548" y="157163"/>
                  <a:pt x="155121" y="157163"/>
                </a:cubicBezTo>
                <a:lnTo>
                  <a:pt x="334736" y="157163"/>
                </a:lnTo>
                <a:cubicBezTo>
                  <a:pt x="348309" y="157163"/>
                  <a:pt x="359229" y="147608"/>
                  <a:pt x="359229" y="135731"/>
                </a:cubicBezTo>
                <a:cubicBezTo>
                  <a:pt x="359229" y="123855"/>
                  <a:pt x="348309" y="114300"/>
                  <a:pt x="334736" y="114300"/>
                </a:cubicBezTo>
                <a:lnTo>
                  <a:pt x="155121" y="114300"/>
                </a:lnTo>
                <a:cubicBezTo>
                  <a:pt x="141548" y="114300"/>
                  <a:pt x="130629" y="123855"/>
                  <a:pt x="130629" y="135731"/>
                </a:cubicBezTo>
                <a:close/>
                <a:moveTo>
                  <a:pt x="155121" y="200025"/>
                </a:moveTo>
                <a:cubicBezTo>
                  <a:pt x="141548" y="200025"/>
                  <a:pt x="130629" y="209580"/>
                  <a:pt x="130629" y="221456"/>
                </a:cubicBezTo>
                <a:cubicBezTo>
                  <a:pt x="130629" y="233333"/>
                  <a:pt x="141548" y="242888"/>
                  <a:pt x="155121" y="242888"/>
                </a:cubicBezTo>
                <a:lnTo>
                  <a:pt x="334736" y="242888"/>
                </a:lnTo>
                <a:cubicBezTo>
                  <a:pt x="348309" y="242888"/>
                  <a:pt x="359229" y="233333"/>
                  <a:pt x="359229" y="221456"/>
                </a:cubicBezTo>
                <a:cubicBezTo>
                  <a:pt x="359229" y="209580"/>
                  <a:pt x="348309" y="200025"/>
                  <a:pt x="334736" y="200025"/>
                </a:cubicBezTo>
                <a:lnTo>
                  <a:pt x="155121" y="2000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2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Guideline Elements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609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Annotation guidelines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rulebooks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ensuring consistency.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Elements: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Clear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each label with examples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Boundary rules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where spans begin/end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Disambiguation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rules for ambiguous cases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Edge cases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36000" y="1905000"/>
            <a:ext cx="6350000" cy="635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17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537" y="59650"/>
                </a:moveTo>
                <a:cubicBezTo>
                  <a:pt x="309920" y="46881"/>
                  <a:pt x="306110" y="29021"/>
                  <a:pt x="289084" y="19735"/>
                </a:cubicBezTo>
                <a:cubicBezTo>
                  <a:pt x="272058" y="10448"/>
                  <a:pt x="248245" y="13305"/>
                  <a:pt x="235863" y="26075"/>
                </a:cubicBezTo>
                <a:lnTo>
                  <a:pt x="109657" y="156180"/>
                </a:lnTo>
                <a:lnTo>
                  <a:pt x="65008" y="122694"/>
                </a:lnTo>
                <a:cubicBezTo>
                  <a:pt x="50125" y="111532"/>
                  <a:pt x="25956" y="111532"/>
                  <a:pt x="11073" y="122694"/>
                </a:cubicBezTo>
                <a:cubicBezTo>
                  <a:pt x="-3810" y="133856"/>
                  <a:pt x="-3810" y="151983"/>
                  <a:pt x="11073" y="163145"/>
                </a:cubicBezTo>
                <a:lnTo>
                  <a:pt x="87273" y="220295"/>
                </a:lnTo>
                <a:cubicBezTo>
                  <a:pt x="95131" y="226189"/>
                  <a:pt x="106085" y="229225"/>
                  <a:pt x="117158" y="228600"/>
                </a:cubicBezTo>
                <a:cubicBezTo>
                  <a:pt x="128230" y="227975"/>
                  <a:pt x="138470" y="223689"/>
                  <a:pt x="145018" y="216902"/>
                </a:cubicBezTo>
                <a:lnTo>
                  <a:pt x="297418" y="59740"/>
                </a:lnTo>
                <a:close/>
                <a:moveTo>
                  <a:pt x="449937" y="181094"/>
                </a:moveTo>
                <a:cubicBezTo>
                  <a:pt x="462320" y="168325"/>
                  <a:pt x="458510" y="150465"/>
                  <a:pt x="441484" y="141178"/>
                </a:cubicBezTo>
                <a:cubicBezTo>
                  <a:pt x="424458" y="131891"/>
                  <a:pt x="400645" y="134749"/>
                  <a:pt x="388263" y="147518"/>
                </a:cubicBezTo>
                <a:lnTo>
                  <a:pt x="185857" y="356205"/>
                </a:lnTo>
                <a:lnTo>
                  <a:pt x="103108" y="294144"/>
                </a:lnTo>
                <a:cubicBezTo>
                  <a:pt x="88225" y="282982"/>
                  <a:pt x="64056" y="282982"/>
                  <a:pt x="49173" y="294144"/>
                </a:cubicBezTo>
                <a:cubicBezTo>
                  <a:pt x="34290" y="305306"/>
                  <a:pt x="34290" y="323433"/>
                  <a:pt x="49173" y="334595"/>
                </a:cubicBezTo>
                <a:lnTo>
                  <a:pt x="163473" y="420320"/>
                </a:lnTo>
                <a:cubicBezTo>
                  <a:pt x="171331" y="426214"/>
                  <a:pt x="182285" y="429250"/>
                  <a:pt x="193357" y="428625"/>
                </a:cubicBezTo>
                <a:cubicBezTo>
                  <a:pt x="204430" y="428000"/>
                  <a:pt x="214670" y="423714"/>
                  <a:pt x="221218" y="416927"/>
                </a:cubicBezTo>
                <a:lnTo>
                  <a:pt x="449818" y="18118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22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017000" y="2921000"/>
            <a:ext cx="5588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annotations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test on 5-10% of data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 meetings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resolve disagreements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track guideline changes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 standard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expert annotators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refinement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based on IAA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Well-defined guidelines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annotation noise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improve model performance.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Inter-Annotator Agreement (IAA)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 measures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multiple annotators. It indicates annotation quality and guideline clarity.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7940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946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Cohen's Kappa (κ)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3403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κ = (P</a:t>
            </a:r>
            <a:pPr algn="l">
              <a:lnSpc>
                <a:spcPct val="150000"/>
              </a:lnSpc>
            </a:pPr>
            <a:r>
              <a:rPr lang="en-US" sz="1800" baseline="-40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P</a:t>
            </a:r>
            <a:pPr algn="l">
              <a:lnSpc>
                <a:spcPct val="150000"/>
              </a:lnSpc>
            </a:pPr>
            <a:r>
              <a:rPr lang="en-US" sz="1800" baseline="-40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/ (1 - P</a:t>
            </a:r>
            <a:pPr algn="l">
              <a:lnSpc>
                <a:spcPct val="150000"/>
              </a:lnSpc>
            </a:pPr>
            <a:r>
              <a:rPr lang="en-US" sz="1800" baseline="-40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pPr algn="l">
              <a:lnSpc>
                <a:spcPct val="150000"/>
              </a:lnSpc>
            </a:pPr>
            <a:r>
              <a:rPr lang="en-US" sz="1800" baseline="-40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observed agreement, P</a:t>
            </a:r>
            <a:pPr algn="l">
              <a:lnSpc>
                <a:spcPct val="150000"/>
              </a:lnSpc>
            </a:pPr>
            <a:r>
              <a:rPr lang="en-US" sz="1800" baseline="-40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expected agreement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0" y="2794000"/>
            <a:ext cx="6350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17000" y="2946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Other IAA Metrics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17000" y="34036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Fleiss' Kappa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multiple annotators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Krippendorff's Alpha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handles missing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Kappa Interpretation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5270500"/>
          <a:ext cx="13716000" cy="25400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2194560"/>
                <a:gridCol w="2194560"/>
                <a:gridCol w="219456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Range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&lt; 0.20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0.21-0.40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0.41-0.60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0.61-0.80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0.81-1.00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Level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Slight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Substantial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Almost Perfect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Revise guidelines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Major revision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Minor tweaks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Acceptable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Excellent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Metrics: Accuracy, Precision, Recall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222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(TP + TN) / Total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24000" y="32766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Overall correctness. Misleading with imbalanced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23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-12700"/>
                </a:moveTo>
                <a:cubicBezTo>
                  <a:pt x="215688" y="-12700"/>
                  <a:pt x="225778" y="-1349"/>
                  <a:pt x="225778" y="12700"/>
                </a:cubicBezTo>
                <a:lnTo>
                  <a:pt x="225778" y="27226"/>
                </a:lnTo>
                <a:cubicBezTo>
                  <a:pt x="294993" y="38338"/>
                  <a:pt x="349744" y="99933"/>
                  <a:pt x="359622" y="177800"/>
                </a:cubicBezTo>
                <a:lnTo>
                  <a:pt x="372533" y="177800"/>
                </a:lnTo>
                <a:cubicBezTo>
                  <a:pt x="385022" y="177800"/>
                  <a:pt x="395111" y="189151"/>
                  <a:pt x="395111" y="203200"/>
                </a:cubicBezTo>
                <a:cubicBezTo>
                  <a:pt x="395111" y="217249"/>
                  <a:pt x="385022" y="228600"/>
                  <a:pt x="372533" y="228600"/>
                </a:cubicBezTo>
                <a:lnTo>
                  <a:pt x="359622" y="228600"/>
                </a:lnTo>
                <a:cubicBezTo>
                  <a:pt x="349744" y="306467"/>
                  <a:pt x="294993" y="368062"/>
                  <a:pt x="225778" y="379174"/>
                </a:cubicBezTo>
                <a:lnTo>
                  <a:pt x="225778" y="393700"/>
                </a:lnTo>
                <a:cubicBezTo>
                  <a:pt x="225778" y="407749"/>
                  <a:pt x="215688" y="419100"/>
                  <a:pt x="203200" y="419100"/>
                </a:cubicBezTo>
                <a:cubicBezTo>
                  <a:pt x="190712" y="419100"/>
                  <a:pt x="180622" y="407749"/>
                  <a:pt x="180622" y="393700"/>
                </a:cubicBezTo>
                <a:lnTo>
                  <a:pt x="180622" y="379174"/>
                </a:lnTo>
                <a:cubicBezTo>
                  <a:pt x="111407" y="368062"/>
                  <a:pt x="56656" y="306467"/>
                  <a:pt x="46778" y="228600"/>
                </a:cubicBezTo>
                <a:lnTo>
                  <a:pt x="33867" y="228600"/>
                </a:lnTo>
                <a:cubicBezTo>
                  <a:pt x="21378" y="228600"/>
                  <a:pt x="11289" y="217249"/>
                  <a:pt x="11289" y="203200"/>
                </a:cubicBezTo>
                <a:cubicBezTo>
                  <a:pt x="11289" y="189151"/>
                  <a:pt x="21378" y="177800"/>
                  <a:pt x="33867" y="177800"/>
                </a:cubicBezTo>
                <a:lnTo>
                  <a:pt x="46778" y="177800"/>
                </a:lnTo>
                <a:cubicBezTo>
                  <a:pt x="56656" y="99933"/>
                  <a:pt x="111407" y="38338"/>
                  <a:pt x="180622" y="27226"/>
                </a:cubicBezTo>
                <a:lnTo>
                  <a:pt x="180622" y="12700"/>
                </a:lnTo>
                <a:cubicBezTo>
                  <a:pt x="180622" y="-1349"/>
                  <a:pt x="190712" y="-12700"/>
                  <a:pt x="203200" y="-12700"/>
                </a:cubicBezTo>
                <a:close/>
                <a:moveTo>
                  <a:pt x="92569" y="228600"/>
                </a:moveTo>
                <a:cubicBezTo>
                  <a:pt x="101529" y="278368"/>
                  <a:pt x="136384" y="317579"/>
                  <a:pt x="180622" y="327660"/>
                </a:cubicBezTo>
                <a:lnTo>
                  <a:pt x="180622" y="317500"/>
                </a:lnTo>
                <a:cubicBezTo>
                  <a:pt x="180622" y="303451"/>
                  <a:pt x="190712" y="292100"/>
                  <a:pt x="203200" y="292100"/>
                </a:cubicBezTo>
                <a:cubicBezTo>
                  <a:pt x="215688" y="292100"/>
                  <a:pt x="225778" y="303451"/>
                  <a:pt x="225778" y="317500"/>
                </a:cubicBezTo>
                <a:lnTo>
                  <a:pt x="225778" y="327660"/>
                </a:lnTo>
                <a:cubicBezTo>
                  <a:pt x="270016" y="317579"/>
                  <a:pt x="304871" y="278368"/>
                  <a:pt x="313831" y="228600"/>
                </a:cubicBezTo>
                <a:lnTo>
                  <a:pt x="304800" y="228600"/>
                </a:lnTo>
                <a:cubicBezTo>
                  <a:pt x="292312" y="228600"/>
                  <a:pt x="282222" y="217249"/>
                  <a:pt x="282222" y="203200"/>
                </a:cubicBezTo>
                <a:cubicBezTo>
                  <a:pt x="282222" y="189151"/>
                  <a:pt x="292312" y="177800"/>
                  <a:pt x="304800" y="177800"/>
                </a:cubicBezTo>
                <a:lnTo>
                  <a:pt x="313831" y="177800"/>
                </a:lnTo>
                <a:cubicBezTo>
                  <a:pt x="304871" y="128032"/>
                  <a:pt x="270016" y="88821"/>
                  <a:pt x="225778" y="78740"/>
                </a:cubicBezTo>
                <a:lnTo>
                  <a:pt x="225778" y="88900"/>
                </a:lnTo>
                <a:cubicBezTo>
                  <a:pt x="225778" y="102949"/>
                  <a:pt x="215688" y="114300"/>
                  <a:pt x="203200" y="114300"/>
                </a:cubicBezTo>
                <a:cubicBezTo>
                  <a:pt x="190712" y="114300"/>
                  <a:pt x="180622" y="102949"/>
                  <a:pt x="180622" y="88900"/>
                </a:cubicBezTo>
                <a:lnTo>
                  <a:pt x="180622" y="78740"/>
                </a:lnTo>
                <a:cubicBezTo>
                  <a:pt x="136384" y="88821"/>
                  <a:pt x="101529" y="128032"/>
                  <a:pt x="92569" y="177800"/>
                </a:cubicBezTo>
                <a:lnTo>
                  <a:pt x="101600" y="177800"/>
                </a:lnTo>
                <a:cubicBezTo>
                  <a:pt x="114088" y="177800"/>
                  <a:pt x="124178" y="189151"/>
                  <a:pt x="124178" y="203200"/>
                </a:cubicBezTo>
                <a:cubicBezTo>
                  <a:pt x="124178" y="217249"/>
                  <a:pt x="114088" y="228600"/>
                  <a:pt x="101600" y="228600"/>
                </a:cubicBezTo>
                <a:lnTo>
                  <a:pt x="92569" y="228600"/>
                </a:lnTo>
                <a:close/>
                <a:moveTo>
                  <a:pt x="203200" y="165100"/>
                </a:moveTo>
                <a:cubicBezTo>
                  <a:pt x="221892" y="165100"/>
                  <a:pt x="237067" y="182172"/>
                  <a:pt x="237067" y="203200"/>
                </a:cubicBezTo>
                <a:cubicBezTo>
                  <a:pt x="237067" y="224228"/>
                  <a:pt x="221892" y="241300"/>
                  <a:pt x="203200" y="241300"/>
                </a:cubicBezTo>
                <a:cubicBezTo>
                  <a:pt x="184508" y="241300"/>
                  <a:pt x="169333" y="224228"/>
                  <a:pt x="169333" y="203200"/>
                </a:cubicBezTo>
                <a:cubicBezTo>
                  <a:pt x="169333" y="182172"/>
                  <a:pt x="184508" y="165100"/>
                  <a:pt x="203200" y="1651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6794500" y="2222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2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 / (TP + FP)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23000" y="3238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predicted positives, how many are correct? Minimizes false positives.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2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93500" y="2222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2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 / (TP + FN)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22000" y="32766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actual positives, how many were found? Minimizes false negatives.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" y="4699000"/>
            <a:ext cx="13716000" cy="317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8000" y="4927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Each Metric Matters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78000" y="5461000"/>
            <a:ext cx="12700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Precision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matters for: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detection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avoid false alarms flagging legitimate emails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Recall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matters for: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diagnosis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don't miss any positive cases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matter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for: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NER and search systems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need correct and complete results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metrics form the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of NLP system evaluation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 and Beyond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= 2 × (Precision × Recall) / (Precision + Recall)</a:t>
            </a:r>
            <a:endParaRPr lang="en-US" sz="2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Harmonic mean that balances precision and recall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3175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24000" y="3746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Fβ-Score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41910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Weighted harmonic mean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β &gt; 1 favors recall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β &lt; 1 favors precision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87900" y="3556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41900" y="3746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Macro-F1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41900" y="41910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F1 across all classes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Treats all classes equally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05800" y="3556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59800" y="3746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Micro-F1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59800" y="41910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calculation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Favors majority class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23700" y="3556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077700" y="3746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Weighted F1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7700" y="41910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Weighted by class support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Most common for NLP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6032500"/>
            <a:ext cx="13716000" cy="190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78000" y="6223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multi-class NLP tasks (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tagging, NER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macro and weighted averages provide comprehensive performance views.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report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precision, recall, and F1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together — no single metric tells the complete story.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for NLP Evaluation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confusion matrix visualizes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predictions vs. actual labels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an N×N grid.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Rows = actual classes, Columns = predicted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Diagonal = correct, off-diagonal = errors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Normalized versions show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percentages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easier comparison.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36000" y="190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Binary Classification Example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2413000"/>
          <a:ext cx="60960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33600"/>
                <a:gridCol w="2133600"/>
              </a:tblGrid>
              <a:tr h="57150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Predicted +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Predicted -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Actual +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TP = 85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FN = 15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Actual -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FP = 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TN = 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70000" y="558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Using Confusion Matrices in NLP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270000" y="6223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24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7685" y="27156"/>
                </a:moveTo>
                <a:lnTo>
                  <a:pt x="339178" y="131544"/>
                </a:lnTo>
                <a:cubicBezTo>
                  <a:pt x="356279" y="151061"/>
                  <a:pt x="356279" y="182314"/>
                  <a:pt x="339178" y="201831"/>
                </a:cubicBezTo>
                <a:lnTo>
                  <a:pt x="242623" y="311775"/>
                </a:lnTo>
                <a:cubicBezTo>
                  <a:pt x="236881" y="318304"/>
                  <a:pt x="227498" y="318373"/>
                  <a:pt x="221694" y="311914"/>
                </a:cubicBezTo>
                <a:cubicBezTo>
                  <a:pt x="215891" y="305455"/>
                  <a:pt x="215829" y="294898"/>
                  <a:pt x="221571" y="288369"/>
                </a:cubicBezTo>
                <a:lnTo>
                  <a:pt x="318126" y="178356"/>
                </a:lnTo>
                <a:cubicBezTo>
                  <a:pt x="323806" y="171896"/>
                  <a:pt x="323806" y="161409"/>
                  <a:pt x="318126" y="154950"/>
                </a:cubicBezTo>
                <a:lnTo>
                  <a:pt x="226572" y="50631"/>
                </a:lnTo>
                <a:cubicBezTo>
                  <a:pt x="220830" y="44103"/>
                  <a:pt x="220892" y="33546"/>
                  <a:pt x="226695" y="27087"/>
                </a:cubicBezTo>
                <a:cubicBezTo>
                  <a:pt x="232498" y="20628"/>
                  <a:pt x="241882" y="20697"/>
                  <a:pt x="247624" y="27226"/>
                </a:cubicBezTo>
                <a:close/>
                <a:moveTo>
                  <a:pt x="19817" y="159395"/>
                </a:moveTo>
                <a:lnTo>
                  <a:pt x="19817" y="66675"/>
                </a:lnTo>
                <a:cubicBezTo>
                  <a:pt x="19817" y="42158"/>
                  <a:pt x="37536" y="22225"/>
                  <a:pt x="59328" y="22225"/>
                </a:cubicBezTo>
                <a:lnTo>
                  <a:pt x="141746" y="22225"/>
                </a:lnTo>
                <a:cubicBezTo>
                  <a:pt x="152241" y="22225"/>
                  <a:pt x="162304" y="26878"/>
                  <a:pt x="169713" y="35213"/>
                </a:cubicBezTo>
                <a:lnTo>
                  <a:pt x="258613" y="135225"/>
                </a:lnTo>
                <a:cubicBezTo>
                  <a:pt x="274047" y="152589"/>
                  <a:pt x="274047" y="180717"/>
                  <a:pt x="258613" y="198080"/>
                </a:cubicBezTo>
                <a:lnTo>
                  <a:pt x="176195" y="290800"/>
                </a:lnTo>
                <a:cubicBezTo>
                  <a:pt x="160761" y="308164"/>
                  <a:pt x="135758" y="308164"/>
                  <a:pt x="120324" y="290800"/>
                </a:cubicBezTo>
                <a:lnTo>
                  <a:pt x="31424" y="190788"/>
                </a:lnTo>
                <a:cubicBezTo>
                  <a:pt x="24015" y="182453"/>
                  <a:pt x="19879" y="171133"/>
                  <a:pt x="19879" y="159325"/>
                </a:cubicBezTo>
                <a:close/>
                <a:moveTo>
                  <a:pt x="108717" y="100013"/>
                </a:moveTo>
                <a:cubicBezTo>
                  <a:pt x="108717" y="87746"/>
                  <a:pt x="99865" y="77788"/>
                  <a:pt x="88962" y="77788"/>
                </a:cubicBezTo>
                <a:cubicBezTo>
                  <a:pt x="78058" y="77788"/>
                  <a:pt x="69206" y="87746"/>
                  <a:pt x="69206" y="100013"/>
                </a:cubicBezTo>
                <a:cubicBezTo>
                  <a:pt x="69206" y="112279"/>
                  <a:pt x="78058" y="122238"/>
                  <a:pt x="88962" y="122238"/>
                </a:cubicBezTo>
                <a:cubicBezTo>
                  <a:pt x="99865" y="122238"/>
                  <a:pt x="108717" y="112279"/>
                  <a:pt x="108717" y="10001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7"/>
          <p:cNvSpPr/>
          <p:nvPr/>
        </p:nvSpPr>
        <p:spPr>
          <a:xfrm>
            <a:off x="2032000" y="635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 Tagging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Reveals NN vs. NNS confusions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69000" y="6223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2296" y="5556"/>
                </a:moveTo>
                <a:cubicBezTo>
                  <a:pt x="179094" y="5556"/>
                  <a:pt x="208971" y="42901"/>
                  <a:pt x="208971" y="88900"/>
                </a:cubicBezTo>
                <a:cubicBezTo>
                  <a:pt x="208971" y="134899"/>
                  <a:pt x="179094" y="172244"/>
                  <a:pt x="142296" y="172244"/>
                </a:cubicBezTo>
                <a:cubicBezTo>
                  <a:pt x="105497" y="172244"/>
                  <a:pt x="75621" y="134899"/>
                  <a:pt x="75621" y="88900"/>
                </a:cubicBezTo>
                <a:cubicBezTo>
                  <a:pt x="75621" y="42901"/>
                  <a:pt x="105497" y="5556"/>
                  <a:pt x="142296" y="5556"/>
                </a:cubicBezTo>
                <a:close/>
                <a:moveTo>
                  <a:pt x="125794" y="211138"/>
                </a:moveTo>
                <a:lnTo>
                  <a:pt x="158798" y="211138"/>
                </a:lnTo>
                <a:cubicBezTo>
                  <a:pt x="162520" y="211138"/>
                  <a:pt x="166132" y="211415"/>
                  <a:pt x="169743" y="211901"/>
                </a:cubicBezTo>
                <a:cubicBezTo>
                  <a:pt x="169243" y="215305"/>
                  <a:pt x="168966" y="218777"/>
                  <a:pt x="168966" y="222319"/>
                </a:cubicBezTo>
                <a:lnTo>
                  <a:pt x="168966" y="286286"/>
                </a:lnTo>
                <a:cubicBezTo>
                  <a:pt x="168966" y="303996"/>
                  <a:pt x="174577" y="320943"/>
                  <a:pt x="184579" y="333444"/>
                </a:cubicBezTo>
                <a:lnTo>
                  <a:pt x="202303" y="355600"/>
                </a:lnTo>
                <a:lnTo>
                  <a:pt x="43228" y="355600"/>
                </a:lnTo>
                <a:cubicBezTo>
                  <a:pt x="34115" y="355600"/>
                  <a:pt x="26726" y="346363"/>
                  <a:pt x="26726" y="334972"/>
                </a:cubicBezTo>
                <a:cubicBezTo>
                  <a:pt x="26726" y="266561"/>
                  <a:pt x="71064" y="211138"/>
                  <a:pt x="125794" y="211138"/>
                </a:cubicBezTo>
                <a:close/>
                <a:moveTo>
                  <a:pt x="195636" y="286286"/>
                </a:moveTo>
                <a:lnTo>
                  <a:pt x="195636" y="222319"/>
                </a:lnTo>
                <a:cubicBezTo>
                  <a:pt x="195636" y="210026"/>
                  <a:pt x="203581" y="200094"/>
                  <a:pt x="213416" y="200094"/>
                </a:cubicBezTo>
                <a:lnTo>
                  <a:pt x="264589" y="200094"/>
                </a:lnTo>
                <a:cubicBezTo>
                  <a:pt x="271645" y="200094"/>
                  <a:pt x="278424" y="203637"/>
                  <a:pt x="283424" y="209887"/>
                </a:cubicBezTo>
                <a:lnTo>
                  <a:pt x="336764" y="276562"/>
                </a:lnTo>
                <a:cubicBezTo>
                  <a:pt x="347155" y="289550"/>
                  <a:pt x="347155" y="310664"/>
                  <a:pt x="336764" y="323721"/>
                </a:cubicBezTo>
                <a:lnTo>
                  <a:pt x="294481" y="376575"/>
                </a:lnTo>
                <a:cubicBezTo>
                  <a:pt x="284091" y="389563"/>
                  <a:pt x="267200" y="389563"/>
                  <a:pt x="256754" y="376575"/>
                </a:cubicBezTo>
                <a:lnTo>
                  <a:pt x="203414" y="309900"/>
                </a:lnTo>
                <a:cubicBezTo>
                  <a:pt x="198414" y="303649"/>
                  <a:pt x="195580" y="295176"/>
                  <a:pt x="195580" y="286355"/>
                </a:cubicBezTo>
                <a:close/>
                <a:moveTo>
                  <a:pt x="253421" y="255587"/>
                </a:moveTo>
                <a:cubicBezTo>
                  <a:pt x="253421" y="246388"/>
                  <a:pt x="247445" y="238919"/>
                  <a:pt x="240086" y="238919"/>
                </a:cubicBezTo>
                <a:cubicBezTo>
                  <a:pt x="232726" y="238919"/>
                  <a:pt x="226751" y="246388"/>
                  <a:pt x="226751" y="255587"/>
                </a:cubicBezTo>
                <a:cubicBezTo>
                  <a:pt x="226751" y="264787"/>
                  <a:pt x="232726" y="272256"/>
                  <a:pt x="240086" y="272256"/>
                </a:cubicBezTo>
                <a:cubicBezTo>
                  <a:pt x="247445" y="272256"/>
                  <a:pt x="253421" y="264787"/>
                  <a:pt x="253421" y="2555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0"/>
          <p:cNvSpPr/>
          <p:nvPr/>
        </p:nvSpPr>
        <p:spPr>
          <a:xfrm>
            <a:off x="6731000" y="635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Shows PERSON vs. ORG errors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668000" y="6223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22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4875" y="223570"/>
                </a:moveTo>
                <a:cubicBezTo>
                  <a:pt x="129044" y="243016"/>
                  <a:pt x="151963" y="255587"/>
                  <a:pt x="177800" y="255587"/>
                </a:cubicBezTo>
                <a:cubicBezTo>
                  <a:pt x="203637" y="255587"/>
                  <a:pt x="226556" y="243016"/>
                  <a:pt x="240725" y="223570"/>
                </a:cubicBezTo>
                <a:cubicBezTo>
                  <a:pt x="246142" y="216138"/>
                  <a:pt x="256560" y="214471"/>
                  <a:pt x="263991" y="219889"/>
                </a:cubicBezTo>
                <a:cubicBezTo>
                  <a:pt x="271423" y="225306"/>
                  <a:pt x="273090" y="235724"/>
                  <a:pt x="267672" y="243155"/>
                </a:cubicBezTo>
                <a:cubicBezTo>
                  <a:pt x="247461" y="270867"/>
                  <a:pt x="214749" y="288925"/>
                  <a:pt x="177800" y="288925"/>
                </a:cubicBezTo>
                <a:cubicBezTo>
                  <a:pt x="140851" y="288925"/>
                  <a:pt x="108139" y="270867"/>
                  <a:pt x="87928" y="243155"/>
                </a:cubicBezTo>
                <a:cubicBezTo>
                  <a:pt x="82510" y="235724"/>
                  <a:pt x="84177" y="225306"/>
                  <a:pt x="91609" y="219889"/>
                </a:cubicBezTo>
                <a:cubicBezTo>
                  <a:pt x="99040" y="214471"/>
                  <a:pt x="109458" y="216138"/>
                  <a:pt x="114875" y="223570"/>
                </a:cubicBezTo>
                <a:close/>
                <a:moveTo>
                  <a:pt x="100013" y="144463"/>
                </a:moveTo>
                <a:cubicBezTo>
                  <a:pt x="100013" y="132196"/>
                  <a:pt x="109971" y="122238"/>
                  <a:pt x="122238" y="122238"/>
                </a:cubicBezTo>
                <a:cubicBezTo>
                  <a:pt x="134504" y="122238"/>
                  <a:pt x="144463" y="132196"/>
                  <a:pt x="144463" y="144463"/>
                </a:cubicBezTo>
                <a:cubicBezTo>
                  <a:pt x="144463" y="156729"/>
                  <a:pt x="134504" y="166688"/>
                  <a:pt x="122238" y="166688"/>
                </a:cubicBezTo>
                <a:cubicBezTo>
                  <a:pt x="109971" y="166688"/>
                  <a:pt x="100013" y="156729"/>
                  <a:pt x="100013" y="144463"/>
                </a:cubicBezTo>
                <a:close/>
                <a:moveTo>
                  <a:pt x="233363" y="122238"/>
                </a:moveTo>
                <a:cubicBezTo>
                  <a:pt x="245629" y="122238"/>
                  <a:pt x="255587" y="132196"/>
                  <a:pt x="255587" y="144463"/>
                </a:cubicBezTo>
                <a:cubicBezTo>
                  <a:pt x="255587" y="156729"/>
                  <a:pt x="245629" y="166688"/>
                  <a:pt x="233363" y="166688"/>
                </a:cubicBezTo>
                <a:cubicBezTo>
                  <a:pt x="221096" y="166688"/>
                  <a:pt x="211138" y="156729"/>
                  <a:pt x="211138" y="144463"/>
                </a:cubicBezTo>
                <a:cubicBezTo>
                  <a:pt x="211138" y="132196"/>
                  <a:pt x="221096" y="122238"/>
                  <a:pt x="233363" y="12223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0" y="635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Identifies polarity misclassifications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Strategies for NLP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336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95500"/>
            <a:ext cx="457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336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Hold-out Validation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27305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 data into train / validation / test sets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Typical: 70/15/15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80/10/10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but high variance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69000" y="1905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23000" y="21336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2095500"/>
            <a:ext cx="457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26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K-Fold Cross-Validation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23000" y="27305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divided into k folds; each fold serves as test once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 = 5 or 10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typically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Reduces variance in estimates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1905000"/>
            <a:ext cx="4318000" cy="311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2000" y="21336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2095500"/>
            <a:ext cx="457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316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Stratified Sampling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22000" y="273050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Maintains class distribution across all splits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Essential for imbalanced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NLP datasets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Prevents biased evaluation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5270500"/>
            <a:ext cx="13716000" cy="292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8000" y="5486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Pitfalls &amp; Best Practices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78000" y="5994400"/>
            <a:ext cx="12700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leakage (training info in test), overfitting to benchmarks, reporting only accuracy on imbalanced data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report precision, recall, and F1; use statistical significance testing (t-test, McNemar's test); ensure train/test are from same distribution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Datasets in NLP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3840480"/>
                <a:gridCol w="2743200"/>
              </a:tblGrid>
              <a:tr h="5308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Dataset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Size / Content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Language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CoNLL-2003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Named Entity Recognition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English, German entities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EN, DE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Penn Treebank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 tagging, Parsing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1M words, parsed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IMDB Reviews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Sentiment classification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50K movie reviews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SQuAD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Reading comprehension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100K+ Q&amp;A pairs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General understanding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 diverse tasks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Grammatical acceptability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10K sentences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29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Sentiment analysis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Fine-grained labels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English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112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7239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benchmarks establish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enable fair comparison across NLP research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Annotation Workflow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1968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7000" y="2311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Objective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task and labels?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064000" y="1905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4191000" y="1968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91000" y="23114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Guidelines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Detailed rules + examples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04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858000" y="1905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985000" y="1968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85000" y="2311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Tool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Prodigy, Doccano, etc.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9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652000" y="1905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9779000" y="1968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79000" y="2311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Pilot Annotation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on 5-10%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192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446000" y="1905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0" y="1968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573000" y="2311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Measure IAA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Cohen's / Fleiss' Kappa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3683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24" name="Text 22"/>
          <p:cNvSpPr/>
          <p:nvPr/>
        </p:nvSpPr>
        <p:spPr>
          <a:xfrm>
            <a:off x="1397000" y="3746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97000" y="4089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Refine Guidelines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disagreements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0" y="4318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064000" y="3683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0" y="3746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91000" y="4089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Annotation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quality checks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04000" y="4318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858000" y="3683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3746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85000" y="4089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Adjudication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resolves conflicts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98000" y="4318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9652000" y="3683000"/>
            <a:ext cx="2540000" cy="139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36" name="Text 34"/>
          <p:cNvSpPr/>
          <p:nvPr/>
        </p:nvSpPr>
        <p:spPr>
          <a:xfrm>
            <a:off x="9779000" y="3746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79000" y="4089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 Format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CoNLL, JSON, custom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192000" y="4318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12446000" y="3683000"/>
            <a:ext cx="2540000" cy="1397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40" name="Text 38"/>
          <p:cNvSpPr/>
          <p:nvPr/>
        </p:nvSpPr>
        <p:spPr>
          <a:xfrm>
            <a:off x="12573000" y="37465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573000" y="40894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&amp; Evaluate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70000" y="5524500"/>
            <a:ext cx="13716000" cy="2476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78000" y="5715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Quality at each step ensures reliable downstream models. Skipping pilot annotation or IAA measurement leads to costly revisions later.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annotation workflow is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guidelines evolve as edge cases emerge. Budget 20-30% of project time for guideline refinement and quality assurance.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Annotation Tools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5720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License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Features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Prodigy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Commercial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Active learning, spaCy integration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Production NLP teams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Doccano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Source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Web-based, text class, NER, seq2seq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 teams, quick start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Brat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Source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Browser-based, collaborative 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Academic research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Label Studio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Source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Multi-type data, ML backend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Versatile projects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INCEpTION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Source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management, semantic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Academic annotation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SageMaker GT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 (AWS)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Scalable, managed workforce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Enterprise scale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858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51000" y="717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8857" y="29766"/>
                </a:moveTo>
                <a:cubicBezTo>
                  <a:pt x="108857" y="13320"/>
                  <a:pt x="124080" y="0"/>
                  <a:pt x="142875" y="0"/>
                </a:cubicBezTo>
                <a:cubicBezTo>
                  <a:pt x="161670" y="0"/>
                  <a:pt x="176893" y="13320"/>
                  <a:pt x="176893" y="29766"/>
                </a:cubicBezTo>
                <a:lnTo>
                  <a:pt x="176893" y="140047"/>
                </a:lnTo>
                <a:cubicBezTo>
                  <a:pt x="184122" y="134392"/>
                  <a:pt x="193647" y="130969"/>
                  <a:pt x="204107" y="130969"/>
                </a:cubicBezTo>
                <a:cubicBezTo>
                  <a:pt x="221626" y="130969"/>
                  <a:pt x="236594" y="140643"/>
                  <a:pt x="242377" y="154186"/>
                </a:cubicBezTo>
                <a:cubicBezTo>
                  <a:pt x="249861" y="147265"/>
                  <a:pt x="260407" y="142875"/>
                  <a:pt x="272143" y="142875"/>
                </a:cubicBezTo>
                <a:cubicBezTo>
                  <a:pt x="293659" y="142875"/>
                  <a:pt x="311263" y="157386"/>
                  <a:pt x="312879" y="175840"/>
                </a:cubicBezTo>
                <a:cubicBezTo>
                  <a:pt x="320108" y="170111"/>
                  <a:pt x="329718" y="166688"/>
                  <a:pt x="340179" y="166688"/>
                </a:cubicBezTo>
                <a:cubicBezTo>
                  <a:pt x="362715" y="166688"/>
                  <a:pt x="381000" y="182687"/>
                  <a:pt x="381000" y="202406"/>
                </a:cubicBezTo>
                <a:lnTo>
                  <a:pt x="381000" y="285750"/>
                </a:lnTo>
                <a:cubicBezTo>
                  <a:pt x="381000" y="338361"/>
                  <a:pt x="332269" y="381000"/>
                  <a:pt x="272143" y="381000"/>
                </a:cubicBezTo>
                <a:lnTo>
                  <a:pt x="199600" y="381000"/>
                </a:lnTo>
                <a:cubicBezTo>
                  <a:pt x="195348" y="381000"/>
                  <a:pt x="191180" y="380777"/>
                  <a:pt x="187098" y="380256"/>
                </a:cubicBezTo>
                <a:cubicBezTo>
                  <a:pt x="140069" y="376089"/>
                  <a:pt x="96781" y="354955"/>
                  <a:pt x="68036" y="321469"/>
                </a:cubicBezTo>
                <a:lnTo>
                  <a:pt x="6804" y="250031"/>
                </a:lnTo>
                <a:cubicBezTo>
                  <a:pt x="-4507" y="236860"/>
                  <a:pt x="-1446" y="218256"/>
                  <a:pt x="13607" y="208359"/>
                </a:cubicBezTo>
                <a:cubicBezTo>
                  <a:pt x="28660" y="198462"/>
                  <a:pt x="49921" y="201141"/>
                  <a:pt x="61232" y="214313"/>
                </a:cubicBezTo>
                <a:lnTo>
                  <a:pt x="108857" y="269900"/>
                </a:lnTo>
                <a:lnTo>
                  <a:pt x="108857" y="29766"/>
                </a:lnTo>
                <a:close/>
                <a:moveTo>
                  <a:pt x="204107" y="226219"/>
                </a:moveTo>
                <a:cubicBezTo>
                  <a:pt x="204107" y="219670"/>
                  <a:pt x="197984" y="214313"/>
                  <a:pt x="190500" y="214313"/>
                </a:cubicBezTo>
                <a:cubicBezTo>
                  <a:pt x="183016" y="214313"/>
                  <a:pt x="176893" y="219670"/>
                  <a:pt x="176893" y="226219"/>
                </a:cubicBezTo>
                <a:lnTo>
                  <a:pt x="176893" y="297656"/>
                </a:lnTo>
                <a:cubicBezTo>
                  <a:pt x="176893" y="304205"/>
                  <a:pt x="183016" y="309563"/>
                  <a:pt x="190500" y="309563"/>
                </a:cubicBezTo>
                <a:cubicBezTo>
                  <a:pt x="197984" y="309563"/>
                  <a:pt x="204107" y="304205"/>
                  <a:pt x="204107" y="297656"/>
                </a:cubicBezTo>
                <a:lnTo>
                  <a:pt x="204107" y="226219"/>
                </a:lnTo>
                <a:close/>
                <a:moveTo>
                  <a:pt x="244929" y="214313"/>
                </a:moveTo>
                <a:cubicBezTo>
                  <a:pt x="237445" y="214313"/>
                  <a:pt x="231321" y="219670"/>
                  <a:pt x="231321" y="226219"/>
                </a:cubicBezTo>
                <a:lnTo>
                  <a:pt x="231321" y="297656"/>
                </a:lnTo>
                <a:cubicBezTo>
                  <a:pt x="231321" y="304205"/>
                  <a:pt x="237445" y="309563"/>
                  <a:pt x="244929" y="309563"/>
                </a:cubicBezTo>
                <a:cubicBezTo>
                  <a:pt x="252413" y="309563"/>
                  <a:pt x="258536" y="304205"/>
                  <a:pt x="258536" y="297656"/>
                </a:cubicBezTo>
                <a:lnTo>
                  <a:pt x="258536" y="226219"/>
                </a:lnTo>
                <a:cubicBezTo>
                  <a:pt x="258536" y="219670"/>
                  <a:pt x="252413" y="214313"/>
                  <a:pt x="244929" y="214313"/>
                </a:cubicBezTo>
                <a:close/>
                <a:moveTo>
                  <a:pt x="312964" y="226219"/>
                </a:moveTo>
                <a:cubicBezTo>
                  <a:pt x="312964" y="219670"/>
                  <a:pt x="306841" y="214313"/>
                  <a:pt x="299357" y="214313"/>
                </a:cubicBezTo>
                <a:cubicBezTo>
                  <a:pt x="291873" y="214313"/>
                  <a:pt x="285750" y="219670"/>
                  <a:pt x="285750" y="226219"/>
                </a:cubicBezTo>
                <a:lnTo>
                  <a:pt x="285750" y="297656"/>
                </a:lnTo>
                <a:cubicBezTo>
                  <a:pt x="285750" y="304205"/>
                  <a:pt x="291873" y="309563"/>
                  <a:pt x="299357" y="309563"/>
                </a:cubicBezTo>
                <a:cubicBezTo>
                  <a:pt x="306841" y="309563"/>
                  <a:pt x="312964" y="304205"/>
                  <a:pt x="312964" y="297656"/>
                </a:cubicBezTo>
                <a:lnTo>
                  <a:pt x="312964" y="22621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6985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 depends on: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budget, team size, annotation type, collaboration needs, and ML pipeline integration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Putting It All Together: NLP Pipeline Evaluation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159000"/>
            <a:ext cx="552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Component-level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 each stage: tokenizer accuracy, tagger F1, parser LAS/UAS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9685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36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029" y="0"/>
                </a:moveTo>
                <a:cubicBezTo>
                  <a:pt x="45085" y="0"/>
                  <a:pt x="58057" y="11351"/>
                  <a:pt x="58057" y="25400"/>
                </a:cubicBezTo>
                <a:lnTo>
                  <a:pt x="58057" y="38100"/>
                </a:lnTo>
                <a:lnTo>
                  <a:pt x="120650" y="24448"/>
                </a:lnTo>
                <a:cubicBezTo>
                  <a:pt x="155212" y="16907"/>
                  <a:pt x="191679" y="20399"/>
                  <a:pt x="223611" y="34369"/>
                </a:cubicBezTo>
                <a:cubicBezTo>
                  <a:pt x="265611" y="52784"/>
                  <a:pt x="315051" y="52784"/>
                  <a:pt x="357051" y="34369"/>
                </a:cubicBezTo>
                <a:lnTo>
                  <a:pt x="365760" y="30559"/>
                </a:lnTo>
                <a:cubicBezTo>
                  <a:pt x="384447" y="22304"/>
                  <a:pt x="406400" y="34211"/>
                  <a:pt x="406400" y="52467"/>
                </a:cubicBezTo>
                <a:lnTo>
                  <a:pt x="406400" y="274479"/>
                </a:lnTo>
                <a:cubicBezTo>
                  <a:pt x="406400" y="285036"/>
                  <a:pt x="398871" y="294561"/>
                  <a:pt x="387531" y="298291"/>
                </a:cubicBezTo>
                <a:lnTo>
                  <a:pt x="356054" y="308610"/>
                </a:lnTo>
                <a:cubicBezTo>
                  <a:pt x="314144" y="322342"/>
                  <a:pt x="267516" y="320199"/>
                  <a:pt x="227511" y="302736"/>
                </a:cubicBezTo>
                <a:cubicBezTo>
                  <a:pt x="193131" y="287655"/>
                  <a:pt x="153670" y="283924"/>
                  <a:pt x="116386" y="292100"/>
                </a:cubicBezTo>
                <a:lnTo>
                  <a:pt x="58057" y="304800"/>
                </a:lnTo>
                <a:lnTo>
                  <a:pt x="58057" y="381000"/>
                </a:lnTo>
                <a:cubicBezTo>
                  <a:pt x="58057" y="395049"/>
                  <a:pt x="45085" y="406400"/>
                  <a:pt x="29029" y="406400"/>
                </a:cubicBezTo>
                <a:cubicBezTo>
                  <a:pt x="12972" y="406400"/>
                  <a:pt x="0" y="395049"/>
                  <a:pt x="0" y="381000"/>
                </a:cubicBezTo>
                <a:lnTo>
                  <a:pt x="0" y="25400"/>
                </a:lnTo>
                <a:cubicBezTo>
                  <a:pt x="0" y="11351"/>
                  <a:pt x="12972" y="0"/>
                  <a:pt x="29029" y="0"/>
                </a:cubicBezTo>
                <a:close/>
                <a:moveTo>
                  <a:pt x="58057" y="148511"/>
                </a:moveTo>
                <a:lnTo>
                  <a:pt x="116114" y="137478"/>
                </a:lnTo>
                <a:lnTo>
                  <a:pt x="116114" y="189468"/>
                </a:lnTo>
                <a:lnTo>
                  <a:pt x="58057" y="200501"/>
                </a:lnTo>
                <a:lnTo>
                  <a:pt x="58057" y="252492"/>
                </a:lnTo>
                <a:lnTo>
                  <a:pt x="102326" y="242808"/>
                </a:lnTo>
                <a:cubicBezTo>
                  <a:pt x="106952" y="241776"/>
                  <a:pt x="111488" y="240903"/>
                  <a:pt x="116114" y="240189"/>
                </a:cubicBezTo>
                <a:lnTo>
                  <a:pt x="116114" y="189468"/>
                </a:lnTo>
                <a:lnTo>
                  <a:pt x="151402" y="182801"/>
                </a:lnTo>
                <a:cubicBezTo>
                  <a:pt x="158931" y="181372"/>
                  <a:pt x="166551" y="180816"/>
                  <a:pt x="174171" y="181134"/>
                </a:cubicBezTo>
                <a:lnTo>
                  <a:pt x="174171" y="130334"/>
                </a:lnTo>
                <a:cubicBezTo>
                  <a:pt x="186509" y="130651"/>
                  <a:pt x="198846" y="132398"/>
                  <a:pt x="210820" y="135414"/>
                </a:cubicBezTo>
                <a:lnTo>
                  <a:pt x="232229" y="140891"/>
                </a:lnTo>
                <a:lnTo>
                  <a:pt x="232229" y="193834"/>
                </a:lnTo>
                <a:lnTo>
                  <a:pt x="194401" y="184071"/>
                </a:lnTo>
                <a:cubicBezTo>
                  <a:pt x="187779" y="182404"/>
                  <a:pt x="180975" y="181372"/>
                  <a:pt x="174171" y="181054"/>
                </a:cubicBezTo>
                <a:lnTo>
                  <a:pt x="174171" y="237728"/>
                </a:lnTo>
                <a:cubicBezTo>
                  <a:pt x="193947" y="239236"/>
                  <a:pt x="213451" y="243046"/>
                  <a:pt x="232229" y="249158"/>
                </a:cubicBezTo>
                <a:lnTo>
                  <a:pt x="232229" y="193754"/>
                </a:lnTo>
                <a:lnTo>
                  <a:pt x="252821" y="199072"/>
                </a:lnTo>
                <a:cubicBezTo>
                  <a:pt x="265067" y="202247"/>
                  <a:pt x="277586" y="204152"/>
                  <a:pt x="290286" y="204946"/>
                </a:cubicBezTo>
                <a:lnTo>
                  <a:pt x="290286" y="153987"/>
                </a:lnTo>
                <a:cubicBezTo>
                  <a:pt x="283210" y="153352"/>
                  <a:pt x="276134" y="152162"/>
                  <a:pt x="269240" y="150416"/>
                </a:cubicBezTo>
                <a:lnTo>
                  <a:pt x="232229" y="140891"/>
                </a:lnTo>
                <a:lnTo>
                  <a:pt x="232229" y="91678"/>
                </a:lnTo>
                <a:cubicBezTo>
                  <a:pt x="220436" y="88662"/>
                  <a:pt x="208824" y="84693"/>
                  <a:pt x="197576" y="79772"/>
                </a:cubicBezTo>
                <a:cubicBezTo>
                  <a:pt x="190137" y="76517"/>
                  <a:pt x="182245" y="74216"/>
                  <a:pt x="174171" y="72787"/>
                </a:cubicBezTo>
                <a:lnTo>
                  <a:pt x="174171" y="130254"/>
                </a:lnTo>
                <a:cubicBezTo>
                  <a:pt x="162379" y="129937"/>
                  <a:pt x="150586" y="130889"/>
                  <a:pt x="139065" y="133112"/>
                </a:cubicBezTo>
                <a:lnTo>
                  <a:pt x="116114" y="137477"/>
                </a:lnTo>
                <a:lnTo>
                  <a:pt x="116114" y="77787"/>
                </a:lnTo>
                <a:lnTo>
                  <a:pt x="58057" y="90487"/>
                </a:lnTo>
                <a:lnTo>
                  <a:pt x="58057" y="148511"/>
                </a:lnTo>
                <a:close/>
                <a:moveTo>
                  <a:pt x="290286" y="266462"/>
                </a:moveTo>
                <a:cubicBezTo>
                  <a:pt x="305526" y="267653"/>
                  <a:pt x="321038" y="265906"/>
                  <a:pt x="335643" y="261064"/>
                </a:cubicBezTo>
                <a:lnTo>
                  <a:pt x="348343" y="256937"/>
                </a:lnTo>
                <a:lnTo>
                  <a:pt x="348343" y="200025"/>
                </a:lnTo>
                <a:lnTo>
                  <a:pt x="341176" y="201454"/>
                </a:lnTo>
                <a:cubicBezTo>
                  <a:pt x="324485" y="204867"/>
                  <a:pt x="307340" y="205978"/>
                  <a:pt x="290286" y="205026"/>
                </a:cubicBezTo>
                <a:lnTo>
                  <a:pt x="290286" y="266462"/>
                </a:lnTo>
                <a:close/>
                <a:moveTo>
                  <a:pt x="348343" y="147876"/>
                </a:moveTo>
                <a:lnTo>
                  <a:pt x="348343" y="91678"/>
                </a:lnTo>
                <a:cubicBezTo>
                  <a:pt x="329384" y="96520"/>
                  <a:pt x="309880" y="98901"/>
                  <a:pt x="290286" y="98901"/>
                </a:cubicBezTo>
                <a:lnTo>
                  <a:pt x="290286" y="153988"/>
                </a:lnTo>
                <a:cubicBezTo>
                  <a:pt x="302895" y="155099"/>
                  <a:pt x="315686" y="154384"/>
                  <a:pt x="328114" y="151924"/>
                </a:cubicBezTo>
                <a:lnTo>
                  <a:pt x="348343" y="14779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207500" y="2159000"/>
            <a:ext cx="552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End-to-end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Measure final task performance: NER F1, sentiment accuracy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381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24000" y="419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5467" y="76200"/>
                </a:moveTo>
                <a:cubicBezTo>
                  <a:pt x="135467" y="34131"/>
                  <a:pt x="165806" y="0"/>
                  <a:pt x="203200" y="0"/>
                </a:cubicBezTo>
                <a:cubicBezTo>
                  <a:pt x="240594" y="0"/>
                  <a:pt x="270933" y="34131"/>
                  <a:pt x="270933" y="76200"/>
                </a:cubicBezTo>
                <a:lnTo>
                  <a:pt x="270933" y="79058"/>
                </a:lnTo>
                <a:cubicBezTo>
                  <a:pt x="270933" y="91519"/>
                  <a:pt x="261973" y="101600"/>
                  <a:pt x="250896" y="101600"/>
                </a:cubicBezTo>
                <a:lnTo>
                  <a:pt x="155575" y="101600"/>
                </a:lnTo>
                <a:cubicBezTo>
                  <a:pt x="144498" y="101600"/>
                  <a:pt x="135537" y="91519"/>
                  <a:pt x="135537" y="79058"/>
                </a:cubicBezTo>
                <a:lnTo>
                  <a:pt x="135537" y="76200"/>
                </a:lnTo>
                <a:close/>
                <a:moveTo>
                  <a:pt x="379307" y="86360"/>
                </a:moveTo>
                <a:cubicBezTo>
                  <a:pt x="386786" y="97552"/>
                  <a:pt x="384739" y="113506"/>
                  <a:pt x="374791" y="121920"/>
                </a:cubicBezTo>
                <a:lnTo>
                  <a:pt x="305788" y="180102"/>
                </a:lnTo>
                <a:cubicBezTo>
                  <a:pt x="309527" y="187166"/>
                  <a:pt x="312349" y="194945"/>
                  <a:pt x="314113" y="203200"/>
                </a:cubicBezTo>
                <a:lnTo>
                  <a:pt x="383822" y="203200"/>
                </a:lnTo>
                <a:cubicBezTo>
                  <a:pt x="396311" y="203200"/>
                  <a:pt x="406400" y="214551"/>
                  <a:pt x="406400" y="228600"/>
                </a:cubicBezTo>
                <a:cubicBezTo>
                  <a:pt x="406400" y="242649"/>
                  <a:pt x="396311" y="254000"/>
                  <a:pt x="383822" y="254000"/>
                </a:cubicBezTo>
                <a:lnTo>
                  <a:pt x="316089" y="254000"/>
                </a:lnTo>
                <a:lnTo>
                  <a:pt x="316089" y="279400"/>
                </a:lnTo>
                <a:cubicBezTo>
                  <a:pt x="316089" y="281464"/>
                  <a:pt x="316018" y="283607"/>
                  <a:pt x="315948" y="285671"/>
                </a:cubicBezTo>
                <a:lnTo>
                  <a:pt x="374791" y="335280"/>
                </a:lnTo>
                <a:cubicBezTo>
                  <a:pt x="384739" y="343694"/>
                  <a:pt x="386786" y="359648"/>
                  <a:pt x="379307" y="370840"/>
                </a:cubicBezTo>
                <a:cubicBezTo>
                  <a:pt x="371828" y="382032"/>
                  <a:pt x="357646" y="384334"/>
                  <a:pt x="347698" y="375920"/>
                </a:cubicBezTo>
                <a:lnTo>
                  <a:pt x="303177" y="338376"/>
                </a:lnTo>
                <a:cubicBezTo>
                  <a:pt x="286808" y="373459"/>
                  <a:pt x="256258" y="398859"/>
                  <a:pt x="220133" y="404971"/>
                </a:cubicBezTo>
                <a:lnTo>
                  <a:pt x="220133" y="222250"/>
                </a:lnTo>
                <a:cubicBezTo>
                  <a:pt x="220133" y="211693"/>
                  <a:pt x="212584" y="203200"/>
                  <a:pt x="203200" y="203200"/>
                </a:cubicBezTo>
                <a:cubicBezTo>
                  <a:pt x="193816" y="203200"/>
                  <a:pt x="186267" y="211693"/>
                  <a:pt x="186267" y="222250"/>
                </a:cubicBezTo>
                <a:lnTo>
                  <a:pt x="186267" y="404971"/>
                </a:lnTo>
                <a:cubicBezTo>
                  <a:pt x="150142" y="398859"/>
                  <a:pt x="119592" y="373459"/>
                  <a:pt x="103223" y="338376"/>
                </a:cubicBezTo>
                <a:lnTo>
                  <a:pt x="58702" y="375920"/>
                </a:lnTo>
                <a:cubicBezTo>
                  <a:pt x="48754" y="384334"/>
                  <a:pt x="34572" y="382032"/>
                  <a:pt x="27093" y="370840"/>
                </a:cubicBezTo>
                <a:cubicBezTo>
                  <a:pt x="19614" y="359648"/>
                  <a:pt x="21661" y="343694"/>
                  <a:pt x="31609" y="335280"/>
                </a:cubicBezTo>
                <a:lnTo>
                  <a:pt x="90452" y="285671"/>
                </a:lnTo>
                <a:cubicBezTo>
                  <a:pt x="90382" y="283607"/>
                  <a:pt x="90311" y="281543"/>
                  <a:pt x="90311" y="279400"/>
                </a:cubicBezTo>
                <a:lnTo>
                  <a:pt x="90311" y="254000"/>
                </a:lnTo>
                <a:lnTo>
                  <a:pt x="22578" y="254000"/>
                </a:lnTo>
                <a:cubicBezTo>
                  <a:pt x="10089" y="254000"/>
                  <a:pt x="0" y="242649"/>
                  <a:pt x="0" y="228600"/>
                </a:cubicBezTo>
                <a:cubicBezTo>
                  <a:pt x="0" y="214551"/>
                  <a:pt x="10089" y="203200"/>
                  <a:pt x="22578" y="203200"/>
                </a:cubicBezTo>
                <a:lnTo>
                  <a:pt x="92287" y="203200"/>
                </a:lnTo>
                <a:cubicBezTo>
                  <a:pt x="94051" y="194945"/>
                  <a:pt x="96873" y="187166"/>
                  <a:pt x="100612" y="180102"/>
                </a:cubicBezTo>
                <a:lnTo>
                  <a:pt x="31609" y="121920"/>
                </a:lnTo>
                <a:cubicBezTo>
                  <a:pt x="21661" y="113506"/>
                  <a:pt x="19614" y="97552"/>
                  <a:pt x="27093" y="86360"/>
                </a:cubicBezTo>
                <a:cubicBezTo>
                  <a:pt x="34572" y="75168"/>
                  <a:pt x="48754" y="72866"/>
                  <a:pt x="58702" y="81280"/>
                </a:cubicBezTo>
                <a:lnTo>
                  <a:pt x="135467" y="146050"/>
                </a:lnTo>
                <a:cubicBezTo>
                  <a:pt x="144145" y="142002"/>
                  <a:pt x="153670" y="139700"/>
                  <a:pt x="163689" y="139700"/>
                </a:cubicBezTo>
                <a:lnTo>
                  <a:pt x="242711" y="139700"/>
                </a:lnTo>
                <a:cubicBezTo>
                  <a:pt x="252730" y="139700"/>
                  <a:pt x="262255" y="141923"/>
                  <a:pt x="270933" y="146050"/>
                </a:cubicBezTo>
                <a:lnTo>
                  <a:pt x="347698" y="81280"/>
                </a:lnTo>
                <a:cubicBezTo>
                  <a:pt x="357646" y="72866"/>
                  <a:pt x="371828" y="75168"/>
                  <a:pt x="379307" y="8636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095500" y="4000500"/>
            <a:ext cx="552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Analysis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Trace errors back to specific components to identify weaknesses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381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36000" y="419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1257" y="0"/>
                </a:moveTo>
                <a:lnTo>
                  <a:pt x="116114" y="0"/>
                </a:lnTo>
                <a:cubicBezTo>
                  <a:pt x="100058" y="0"/>
                  <a:pt x="87086" y="11351"/>
                  <a:pt x="87086" y="25400"/>
                </a:cubicBezTo>
                <a:cubicBezTo>
                  <a:pt x="87086" y="39449"/>
                  <a:pt x="100058" y="50800"/>
                  <a:pt x="116114" y="50800"/>
                </a:cubicBezTo>
                <a:lnTo>
                  <a:pt x="116114" y="171053"/>
                </a:lnTo>
                <a:lnTo>
                  <a:pt x="6804" y="338376"/>
                </a:lnTo>
                <a:cubicBezTo>
                  <a:pt x="2359" y="345281"/>
                  <a:pt x="0" y="352981"/>
                  <a:pt x="0" y="360918"/>
                </a:cubicBezTo>
                <a:cubicBezTo>
                  <a:pt x="0" y="386080"/>
                  <a:pt x="23223" y="406400"/>
                  <a:pt x="51979" y="406400"/>
                </a:cubicBezTo>
                <a:lnTo>
                  <a:pt x="354421" y="406400"/>
                </a:lnTo>
                <a:cubicBezTo>
                  <a:pt x="383086" y="406400"/>
                  <a:pt x="406400" y="386080"/>
                  <a:pt x="406400" y="360918"/>
                </a:cubicBezTo>
                <a:cubicBezTo>
                  <a:pt x="406400" y="352981"/>
                  <a:pt x="404041" y="345202"/>
                  <a:pt x="399596" y="338376"/>
                </a:cubicBezTo>
                <a:lnTo>
                  <a:pt x="290286" y="171053"/>
                </a:lnTo>
                <a:lnTo>
                  <a:pt x="290286" y="50800"/>
                </a:lnTo>
                <a:cubicBezTo>
                  <a:pt x="306342" y="50800"/>
                  <a:pt x="319314" y="39449"/>
                  <a:pt x="319314" y="25400"/>
                </a:cubicBezTo>
                <a:cubicBezTo>
                  <a:pt x="319314" y="11351"/>
                  <a:pt x="306342" y="0"/>
                  <a:pt x="290286" y="0"/>
                </a:cubicBezTo>
                <a:lnTo>
                  <a:pt x="261257" y="0"/>
                </a:lnTo>
                <a:close/>
                <a:moveTo>
                  <a:pt x="174171" y="171053"/>
                </a:moveTo>
                <a:lnTo>
                  <a:pt x="174171" y="50800"/>
                </a:lnTo>
                <a:lnTo>
                  <a:pt x="232229" y="50800"/>
                </a:lnTo>
                <a:lnTo>
                  <a:pt x="232229" y="171053"/>
                </a:lnTo>
                <a:cubicBezTo>
                  <a:pt x="232229" y="179864"/>
                  <a:pt x="234859" y="188595"/>
                  <a:pt x="239849" y="196294"/>
                </a:cubicBezTo>
                <a:lnTo>
                  <a:pt x="277586" y="254000"/>
                </a:lnTo>
                <a:lnTo>
                  <a:pt x="128814" y="254000"/>
                </a:lnTo>
                <a:lnTo>
                  <a:pt x="166551" y="196294"/>
                </a:lnTo>
                <a:cubicBezTo>
                  <a:pt x="171541" y="188595"/>
                  <a:pt x="174171" y="179943"/>
                  <a:pt x="174171" y="17105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207500" y="4000500"/>
            <a:ext cx="552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Ablation Studies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 components to measure individual contributions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778500"/>
            <a:ext cx="13716000" cy="215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778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Parsing Metrics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78000" y="64770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UAS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(Unlabeled Attachment Score) — correct head identification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(Labeled Attachment Score) — correct head + dependency label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robust framework combines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intrinsic metrics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extrinsic task-based assessment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302000"/>
            <a:ext cx="1143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NLP pipeline transforms raw text into structured meaning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NLTK excels in research; spaCy dominates production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annotations are the bedrock of supervised NLP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Precision, recall, and F1 provide a complete performance picture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 systematically with benchmarks and cross-validation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18000" y="673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11 — Natural Language Processing 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3000" y="7366000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3000" y="736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I</dc:title>
  <dc:subject>Natural Language Processing I</dc:subject>
  <dc:creator>Kimi</dc:creator>
  <cp:lastModifiedBy>Kimi</cp:lastModifiedBy>
  <cp:revision>1</cp:revision>
  <dcterms:created xsi:type="dcterms:W3CDTF">2026-06-26T14:39:58Z</dcterms:created>
  <dcterms:modified xsi:type="dcterms:W3CDTF">2026-06-26T14:39:58Z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{"Label":"Natural Language Processing I","ContentProducer":"001191110108MACG2KBH8F10000","ProduceID":"19f042ef-ea42-8e1a-8000-0000cb71c04a","ReservedCode1":"","ContentPropagator":"001191110108MACG2KBH8F20000","PropagateID":"19f042cd-1932-828d-8000-096f57384b3d","ReservedCode2":""}</vt:lpwstr>
  </property>
</Properties>
</file>