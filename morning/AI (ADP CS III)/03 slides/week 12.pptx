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5080000" h="3810000">
                <a:moveTo>
                  <a:pt x="0" y="0"/>
                </a:moveTo>
                <a:lnTo>
                  <a:pt x="5080000" y="0"/>
                </a:lnTo>
                <a:lnTo>
                  <a:pt x="5080000" y="1905000"/>
                </a:lnTo>
                <a:quadBezTo>
                  <a:pt x="4445000" y="2540000"/>
                  <a:pt x="3810000" y="2540000"/>
                </a:quadBezTo>
                <a:lnTo>
                  <a:pt x="1270000" y="2540000"/>
                </a:lnTo>
                <a:quadBezTo>
                  <a:pt x="635000" y="2540000"/>
                  <a:pt x="0" y="1905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660400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5080000" y="2540000"/>
                </a:moveTo>
                <a:lnTo>
                  <a:pt x="0" y="2540000"/>
                </a:lnTo>
                <a:lnTo>
                  <a:pt x="0" y="1270000"/>
                </a:lnTo>
                <a:quadBezTo>
                  <a:pt x="635000" y="635000"/>
                  <a:pt x="1270000" y="635000"/>
                </a:quadBezTo>
                <a:lnTo>
                  <a:pt x="3810000" y="635000"/>
                </a:lnTo>
                <a:quadBezTo>
                  <a:pt x="4445000" y="635000"/>
                  <a:pt x="5080000" y="1270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3048000"/>
            <a:ext cx="1270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800" b="1" spc="100" kern="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Representation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1143000" y="43180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Scripts · Ontologies · Logics · Production Rules · Semantic Networks · Frames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0" y="5080000"/>
            <a:ext cx="2540000" cy="25400"/>
          </a:xfrm>
          <a:prstGeom prst="rect">
            <a:avLst/>
          </a:prstGeom>
          <a:solidFill>
            <a:srgbClr val="6B9CB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546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12 · Lecture 21 &amp; 22 · Artificial Intelligence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0160000" y="1270000"/>
            <a:ext cx="4826000" cy="6350000"/>
          </a:xfrm>
          <a:custGeom>
            <a:avLst/>
            <a:gdLst/>
            <a:ahLst/>
            <a:cxnLst/>
            <a:rect l="l" t="t" r="r" b="b"/>
            <a:pathLst>
              <a:path w="4826000" h="6350000">
                <a:moveTo>
                  <a:pt x="4826000" y="0"/>
                </a:moveTo>
                <a:lnTo>
                  <a:pt x="4826000" y="6350000"/>
                </a:lnTo>
                <a:lnTo>
                  <a:pt x="2413000" y="6350000"/>
                </a:lnTo>
                <a:quadBezTo>
                  <a:pt x="1778000" y="6350000"/>
                  <a:pt x="1143000" y="5715000"/>
                </a:quadBezTo>
                <a:lnTo>
                  <a:pt x="1143000" y="635000"/>
                </a:lnTo>
                <a:quadBezTo>
                  <a:pt x="1143000" y="0"/>
                  <a:pt x="1778000" y="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6000"/>
                </a:srgbClr>
              </a:gs>
              <a:gs pos="70000">
                <a:srgbClr val="D0E0E3"/>
              </a:gs>
              <a:gs pos="100000">
                <a:srgbClr val="2E5E8A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1524000" y="2286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286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0" y="2286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Knowledge Representation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24000" y="3048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3048000"/>
            <a:ext cx="558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86000" y="3048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Scripts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524000" y="3810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3810000"/>
            <a:ext cx="558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86000" y="3810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Ontologies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524000" y="4572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1524000" y="4572000"/>
            <a:ext cx="558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286000" y="4572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Logics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524000" y="5334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7" name="Text 15"/>
          <p:cNvSpPr/>
          <p:nvPr/>
        </p:nvSpPr>
        <p:spPr>
          <a:xfrm>
            <a:off x="1524000" y="5334000"/>
            <a:ext cx="558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286000" y="5334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Rules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524000" y="6096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20" name="Text 18"/>
          <p:cNvSpPr/>
          <p:nvPr/>
        </p:nvSpPr>
        <p:spPr>
          <a:xfrm>
            <a:off x="1524000" y="6096000"/>
            <a:ext cx="558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286000" y="6096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Networks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524000" y="6858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23" name="Text 21"/>
          <p:cNvSpPr/>
          <p:nvPr/>
        </p:nvSpPr>
        <p:spPr>
          <a:xfrm>
            <a:off x="1524000" y="6858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286000" y="6858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270000" y="3048000"/>
            <a:ext cx="1498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Knowledge Representation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137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Foundations and significance of KR in AI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Knowledge Representation?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604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Representation (KR) is the study of how knowledge about the world can be represented symbolically and how automated reasoning procedures can make this knowledge available.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Functions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Bridges human knowledge and machine processing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Encodes information for AI systems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Balances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expressiveness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efficiency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Enables inference and decision-making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0" y="1905000"/>
            <a:ext cx="6604000" cy="584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63000" y="2159000"/>
            <a:ext cx="584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Historical Evolution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63000" y="2794000"/>
            <a:ext cx="5842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1950s–60s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Symbolic reasoning, general problem solvers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1970s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Expert systems: MYCIN, DENDRAL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1980s–90s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Frames, semantic networks, description logics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2000s–Present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Web, ontologies, hybrid paradigms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Representation Requirements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6604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41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0" y="204192"/>
                </a:moveTo>
                <a:cubicBezTo>
                  <a:pt x="491218" y="213916"/>
                  <a:pt x="471941" y="221754"/>
                  <a:pt x="451871" y="228005"/>
                </a:cubicBezTo>
                <a:cubicBezTo>
                  <a:pt x="398576" y="244673"/>
                  <a:pt x="328613" y="254000"/>
                  <a:pt x="254000" y="254000"/>
                </a:cubicBezTo>
                <a:cubicBezTo>
                  <a:pt x="179387" y="254000"/>
                  <a:pt x="109311" y="244574"/>
                  <a:pt x="56129" y="228005"/>
                </a:cubicBezTo>
                <a:cubicBezTo>
                  <a:pt x="36172" y="221754"/>
                  <a:pt x="16782" y="213916"/>
                  <a:pt x="0" y="204192"/>
                </a:cubicBezTo>
                <a:lnTo>
                  <a:pt x="0" y="285750"/>
                </a:lnTo>
                <a:cubicBezTo>
                  <a:pt x="0" y="329605"/>
                  <a:pt x="113733" y="365125"/>
                  <a:pt x="254000" y="365125"/>
                </a:cubicBezTo>
                <a:cubicBezTo>
                  <a:pt x="394267" y="365125"/>
                  <a:pt x="508000" y="329605"/>
                  <a:pt x="508000" y="285750"/>
                </a:cubicBezTo>
                <a:lnTo>
                  <a:pt x="508000" y="204192"/>
                </a:lnTo>
                <a:close/>
                <a:moveTo>
                  <a:pt x="508000" y="127000"/>
                </a:moveTo>
                <a:lnTo>
                  <a:pt x="508000" y="79375"/>
                </a:lnTo>
                <a:cubicBezTo>
                  <a:pt x="508000" y="35520"/>
                  <a:pt x="394267" y="0"/>
                  <a:pt x="254000" y="0"/>
                </a:cubicBezTo>
                <a:cubicBezTo>
                  <a:pt x="113733" y="0"/>
                  <a:pt x="0" y="35520"/>
                  <a:pt x="0" y="79375"/>
                </a:cubicBezTo>
                <a:lnTo>
                  <a:pt x="0" y="127000"/>
                </a:lnTo>
                <a:cubicBezTo>
                  <a:pt x="0" y="170855"/>
                  <a:pt x="113733" y="206375"/>
                  <a:pt x="254000" y="206375"/>
                </a:cubicBezTo>
                <a:cubicBezTo>
                  <a:pt x="394267" y="206375"/>
                  <a:pt x="508000" y="170855"/>
                  <a:pt x="508000" y="127000"/>
                </a:cubicBezTo>
                <a:close/>
                <a:moveTo>
                  <a:pt x="451871" y="386755"/>
                </a:moveTo>
                <a:cubicBezTo>
                  <a:pt x="398689" y="403324"/>
                  <a:pt x="328726" y="412750"/>
                  <a:pt x="254000" y="412750"/>
                </a:cubicBezTo>
                <a:cubicBezTo>
                  <a:pt x="179274" y="412750"/>
                  <a:pt x="109311" y="403324"/>
                  <a:pt x="56129" y="386755"/>
                </a:cubicBezTo>
                <a:cubicBezTo>
                  <a:pt x="36172" y="380504"/>
                  <a:pt x="16782" y="372666"/>
                  <a:pt x="0" y="362942"/>
                </a:cubicBezTo>
                <a:lnTo>
                  <a:pt x="0" y="428625"/>
                </a:lnTo>
                <a:cubicBezTo>
                  <a:pt x="0" y="472480"/>
                  <a:pt x="113733" y="508000"/>
                  <a:pt x="254000" y="508000"/>
                </a:cubicBezTo>
                <a:cubicBezTo>
                  <a:pt x="394267" y="508000"/>
                  <a:pt x="508000" y="472480"/>
                  <a:pt x="508000" y="428625"/>
                </a:cubicBezTo>
                <a:lnTo>
                  <a:pt x="508000" y="362942"/>
                </a:lnTo>
                <a:cubicBezTo>
                  <a:pt x="491218" y="372666"/>
                  <a:pt x="471941" y="380504"/>
                  <a:pt x="451871" y="38675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222500" y="22225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Representational Adequacy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22500" y="2667000"/>
            <a:ext cx="533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Ability to represent all knowledge needed in the domain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0" y="2032000"/>
            <a:ext cx="6604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36000" y="241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30121" y="208855"/>
                </a:moveTo>
                <a:cubicBezTo>
                  <a:pt x="339804" y="205581"/>
                  <a:pt x="349964" y="211336"/>
                  <a:pt x="354330" y="222548"/>
                </a:cubicBezTo>
                <a:lnTo>
                  <a:pt x="369094" y="259854"/>
                </a:lnTo>
                <a:cubicBezTo>
                  <a:pt x="377269" y="261243"/>
                  <a:pt x="385286" y="264021"/>
                  <a:pt x="392827" y="267891"/>
                </a:cubicBezTo>
                <a:lnTo>
                  <a:pt x="420608" y="244773"/>
                </a:lnTo>
                <a:cubicBezTo>
                  <a:pt x="428943" y="237827"/>
                  <a:pt x="439976" y="239216"/>
                  <a:pt x="447040" y="248047"/>
                </a:cubicBezTo>
                <a:lnTo>
                  <a:pt x="462280" y="267097"/>
                </a:lnTo>
                <a:cubicBezTo>
                  <a:pt x="469344" y="275927"/>
                  <a:pt x="470456" y="289818"/>
                  <a:pt x="464899" y="300137"/>
                </a:cubicBezTo>
                <a:lnTo>
                  <a:pt x="446405" y="334764"/>
                </a:lnTo>
                <a:cubicBezTo>
                  <a:pt x="447913" y="339427"/>
                  <a:pt x="449263" y="344289"/>
                  <a:pt x="450374" y="349349"/>
                </a:cubicBezTo>
                <a:cubicBezTo>
                  <a:pt x="451485" y="354409"/>
                  <a:pt x="452199" y="359370"/>
                  <a:pt x="452755" y="364430"/>
                </a:cubicBezTo>
                <a:lnTo>
                  <a:pt x="482679" y="382885"/>
                </a:lnTo>
                <a:cubicBezTo>
                  <a:pt x="491649" y="388441"/>
                  <a:pt x="496253" y="401141"/>
                  <a:pt x="493633" y="413147"/>
                </a:cubicBezTo>
                <a:lnTo>
                  <a:pt x="488077" y="439142"/>
                </a:lnTo>
                <a:cubicBezTo>
                  <a:pt x="485458" y="451148"/>
                  <a:pt x="476488" y="459284"/>
                  <a:pt x="466487" y="458490"/>
                </a:cubicBezTo>
                <a:lnTo>
                  <a:pt x="433149" y="455811"/>
                </a:lnTo>
                <a:cubicBezTo>
                  <a:pt x="428149" y="463848"/>
                  <a:pt x="422354" y="471289"/>
                  <a:pt x="415766" y="477639"/>
                </a:cubicBezTo>
                <a:lnTo>
                  <a:pt x="417909" y="519212"/>
                </a:lnTo>
                <a:cubicBezTo>
                  <a:pt x="418544" y="531713"/>
                  <a:pt x="412036" y="543024"/>
                  <a:pt x="402431" y="546199"/>
                </a:cubicBezTo>
                <a:lnTo>
                  <a:pt x="381635" y="553145"/>
                </a:lnTo>
                <a:cubicBezTo>
                  <a:pt x="371951" y="556419"/>
                  <a:pt x="361871" y="550664"/>
                  <a:pt x="357426" y="539452"/>
                </a:cubicBezTo>
                <a:lnTo>
                  <a:pt x="342662" y="502146"/>
                </a:lnTo>
                <a:cubicBezTo>
                  <a:pt x="334486" y="500757"/>
                  <a:pt x="326469" y="497979"/>
                  <a:pt x="318929" y="494109"/>
                </a:cubicBezTo>
                <a:lnTo>
                  <a:pt x="291148" y="517227"/>
                </a:lnTo>
                <a:cubicBezTo>
                  <a:pt x="282813" y="524173"/>
                  <a:pt x="271780" y="522784"/>
                  <a:pt x="264716" y="513953"/>
                </a:cubicBezTo>
                <a:lnTo>
                  <a:pt x="249476" y="494903"/>
                </a:lnTo>
                <a:cubicBezTo>
                  <a:pt x="242411" y="486073"/>
                  <a:pt x="241300" y="472281"/>
                  <a:pt x="246856" y="461863"/>
                </a:cubicBezTo>
                <a:lnTo>
                  <a:pt x="265351" y="427137"/>
                </a:lnTo>
                <a:cubicBezTo>
                  <a:pt x="263843" y="422473"/>
                  <a:pt x="262493" y="417612"/>
                  <a:pt x="261382" y="412552"/>
                </a:cubicBezTo>
                <a:cubicBezTo>
                  <a:pt x="260271" y="407491"/>
                  <a:pt x="259556" y="402431"/>
                  <a:pt x="259001" y="397470"/>
                </a:cubicBezTo>
                <a:lnTo>
                  <a:pt x="229076" y="379016"/>
                </a:lnTo>
                <a:cubicBezTo>
                  <a:pt x="220107" y="373459"/>
                  <a:pt x="215583" y="360759"/>
                  <a:pt x="218123" y="348754"/>
                </a:cubicBezTo>
                <a:lnTo>
                  <a:pt x="223679" y="322759"/>
                </a:lnTo>
                <a:cubicBezTo>
                  <a:pt x="226298" y="310753"/>
                  <a:pt x="235268" y="302617"/>
                  <a:pt x="245269" y="303411"/>
                </a:cubicBezTo>
                <a:lnTo>
                  <a:pt x="278527" y="306090"/>
                </a:lnTo>
                <a:cubicBezTo>
                  <a:pt x="283528" y="298053"/>
                  <a:pt x="289322" y="290612"/>
                  <a:pt x="295910" y="284262"/>
                </a:cubicBezTo>
                <a:lnTo>
                  <a:pt x="293767" y="242788"/>
                </a:lnTo>
                <a:cubicBezTo>
                  <a:pt x="293132" y="230287"/>
                  <a:pt x="299641" y="218976"/>
                  <a:pt x="309245" y="215801"/>
                </a:cubicBezTo>
                <a:lnTo>
                  <a:pt x="330041" y="208855"/>
                </a:lnTo>
                <a:close/>
                <a:moveTo>
                  <a:pt x="355918" y="337344"/>
                </a:moveTo>
                <a:cubicBezTo>
                  <a:pt x="336642" y="337371"/>
                  <a:pt x="321010" y="356955"/>
                  <a:pt x="321032" y="381050"/>
                </a:cubicBezTo>
                <a:cubicBezTo>
                  <a:pt x="321054" y="405144"/>
                  <a:pt x="336721" y="424684"/>
                  <a:pt x="355997" y="424656"/>
                </a:cubicBezTo>
                <a:cubicBezTo>
                  <a:pt x="375273" y="424629"/>
                  <a:pt x="390904" y="405045"/>
                  <a:pt x="390882" y="380950"/>
                </a:cubicBezTo>
                <a:cubicBezTo>
                  <a:pt x="390860" y="356856"/>
                  <a:pt x="375193" y="337316"/>
                  <a:pt x="355918" y="337344"/>
                </a:cubicBezTo>
                <a:close/>
                <a:moveTo>
                  <a:pt x="178514" y="-45145"/>
                </a:moveTo>
                <a:lnTo>
                  <a:pt x="199311" y="-38199"/>
                </a:lnTo>
                <a:cubicBezTo>
                  <a:pt x="208915" y="-34925"/>
                  <a:pt x="215424" y="-23614"/>
                  <a:pt x="214789" y="-11212"/>
                </a:cubicBezTo>
                <a:lnTo>
                  <a:pt x="212646" y="30262"/>
                </a:lnTo>
                <a:cubicBezTo>
                  <a:pt x="219234" y="36612"/>
                  <a:pt x="225028" y="43954"/>
                  <a:pt x="230029" y="52090"/>
                </a:cubicBezTo>
                <a:lnTo>
                  <a:pt x="263366" y="49411"/>
                </a:lnTo>
                <a:cubicBezTo>
                  <a:pt x="273288" y="48617"/>
                  <a:pt x="282337" y="56753"/>
                  <a:pt x="284956" y="68759"/>
                </a:cubicBezTo>
                <a:lnTo>
                  <a:pt x="290513" y="94754"/>
                </a:lnTo>
                <a:cubicBezTo>
                  <a:pt x="293053" y="106759"/>
                  <a:pt x="288528" y="119459"/>
                  <a:pt x="279559" y="125016"/>
                </a:cubicBezTo>
                <a:lnTo>
                  <a:pt x="249634" y="143470"/>
                </a:lnTo>
                <a:cubicBezTo>
                  <a:pt x="249079" y="148530"/>
                  <a:pt x="248285" y="153591"/>
                  <a:pt x="247253" y="158552"/>
                </a:cubicBezTo>
                <a:cubicBezTo>
                  <a:pt x="246221" y="163512"/>
                  <a:pt x="244793" y="168473"/>
                  <a:pt x="243284" y="173137"/>
                </a:cubicBezTo>
                <a:lnTo>
                  <a:pt x="261779" y="207863"/>
                </a:lnTo>
                <a:cubicBezTo>
                  <a:pt x="267335" y="218281"/>
                  <a:pt x="266224" y="232073"/>
                  <a:pt x="259159" y="240903"/>
                </a:cubicBezTo>
                <a:lnTo>
                  <a:pt x="243919" y="259953"/>
                </a:lnTo>
                <a:cubicBezTo>
                  <a:pt x="236855" y="268784"/>
                  <a:pt x="225822" y="270173"/>
                  <a:pt x="217488" y="263227"/>
                </a:cubicBezTo>
                <a:lnTo>
                  <a:pt x="189706" y="240109"/>
                </a:lnTo>
                <a:cubicBezTo>
                  <a:pt x="182166" y="243979"/>
                  <a:pt x="174149" y="246757"/>
                  <a:pt x="165973" y="248146"/>
                </a:cubicBezTo>
                <a:lnTo>
                  <a:pt x="151209" y="285452"/>
                </a:lnTo>
                <a:cubicBezTo>
                  <a:pt x="146764" y="296664"/>
                  <a:pt x="136604" y="302320"/>
                  <a:pt x="127000" y="299145"/>
                </a:cubicBezTo>
                <a:lnTo>
                  <a:pt x="106204" y="292199"/>
                </a:lnTo>
                <a:cubicBezTo>
                  <a:pt x="96520" y="288925"/>
                  <a:pt x="90091" y="277614"/>
                  <a:pt x="90726" y="265212"/>
                </a:cubicBezTo>
                <a:lnTo>
                  <a:pt x="92869" y="223639"/>
                </a:lnTo>
                <a:cubicBezTo>
                  <a:pt x="86281" y="217289"/>
                  <a:pt x="80486" y="209947"/>
                  <a:pt x="75486" y="201811"/>
                </a:cubicBezTo>
                <a:lnTo>
                  <a:pt x="42148" y="204490"/>
                </a:lnTo>
                <a:cubicBezTo>
                  <a:pt x="32226" y="205284"/>
                  <a:pt x="23178" y="197148"/>
                  <a:pt x="20558" y="185142"/>
                </a:cubicBezTo>
                <a:lnTo>
                  <a:pt x="15002" y="159147"/>
                </a:lnTo>
                <a:cubicBezTo>
                  <a:pt x="12462" y="147141"/>
                  <a:pt x="16986" y="134441"/>
                  <a:pt x="25956" y="128885"/>
                </a:cubicBezTo>
                <a:lnTo>
                  <a:pt x="55880" y="110430"/>
                </a:lnTo>
                <a:cubicBezTo>
                  <a:pt x="56436" y="105370"/>
                  <a:pt x="57229" y="100409"/>
                  <a:pt x="58261" y="95349"/>
                </a:cubicBezTo>
                <a:cubicBezTo>
                  <a:pt x="59373" y="90289"/>
                  <a:pt x="60643" y="85427"/>
                  <a:pt x="62230" y="80764"/>
                </a:cubicBezTo>
                <a:lnTo>
                  <a:pt x="43736" y="46137"/>
                </a:lnTo>
                <a:cubicBezTo>
                  <a:pt x="38179" y="35719"/>
                  <a:pt x="39291" y="21927"/>
                  <a:pt x="46355" y="13097"/>
                </a:cubicBezTo>
                <a:lnTo>
                  <a:pt x="61595" y="-5953"/>
                </a:lnTo>
                <a:cubicBezTo>
                  <a:pt x="68659" y="-14784"/>
                  <a:pt x="79693" y="-16173"/>
                  <a:pt x="88027" y="-9227"/>
                </a:cubicBezTo>
                <a:lnTo>
                  <a:pt x="115808" y="13891"/>
                </a:lnTo>
                <a:cubicBezTo>
                  <a:pt x="123349" y="10021"/>
                  <a:pt x="131366" y="7243"/>
                  <a:pt x="139541" y="5854"/>
                </a:cubicBezTo>
                <a:lnTo>
                  <a:pt x="154305" y="-31452"/>
                </a:lnTo>
                <a:cubicBezTo>
                  <a:pt x="158750" y="-42664"/>
                  <a:pt x="168831" y="-48320"/>
                  <a:pt x="178514" y="-45145"/>
                </a:cubicBezTo>
                <a:close/>
                <a:moveTo>
                  <a:pt x="152718" y="83344"/>
                </a:moveTo>
                <a:cubicBezTo>
                  <a:pt x="133442" y="83344"/>
                  <a:pt x="117793" y="102905"/>
                  <a:pt x="117793" y="127000"/>
                </a:cubicBezTo>
                <a:cubicBezTo>
                  <a:pt x="117793" y="151095"/>
                  <a:pt x="133442" y="170656"/>
                  <a:pt x="152718" y="170656"/>
                </a:cubicBezTo>
                <a:cubicBezTo>
                  <a:pt x="171993" y="170656"/>
                  <a:pt x="187643" y="151095"/>
                  <a:pt x="187643" y="127000"/>
                </a:cubicBezTo>
                <a:cubicBezTo>
                  <a:pt x="187643" y="102905"/>
                  <a:pt x="171993" y="83344"/>
                  <a:pt x="152718" y="83344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9334500" y="22225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Inferential Adequacy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334500" y="2667000"/>
            <a:ext cx="533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Ability to manipulate structures to derive new knowledge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70000" y="3937000"/>
            <a:ext cx="6604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524000" y="431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84175" y="-9823"/>
                </a:moveTo>
                <a:cubicBezTo>
                  <a:pt x="397669" y="-1290"/>
                  <a:pt x="402658" y="14188"/>
                  <a:pt x="396535" y="27682"/>
                </a:cubicBezTo>
                <a:lnTo>
                  <a:pt x="307635" y="222250"/>
                </a:lnTo>
                <a:lnTo>
                  <a:pt x="471714" y="222250"/>
                </a:lnTo>
                <a:cubicBezTo>
                  <a:pt x="487022" y="222250"/>
                  <a:pt x="500629" y="230584"/>
                  <a:pt x="505846" y="243185"/>
                </a:cubicBezTo>
                <a:cubicBezTo>
                  <a:pt x="511062" y="255786"/>
                  <a:pt x="506639" y="269875"/>
                  <a:pt x="494960" y="278408"/>
                </a:cubicBezTo>
                <a:lnTo>
                  <a:pt x="168388" y="516533"/>
                </a:lnTo>
                <a:cubicBezTo>
                  <a:pt x="155575" y="525859"/>
                  <a:pt x="137319" y="526355"/>
                  <a:pt x="123825" y="517823"/>
                </a:cubicBezTo>
                <a:cubicBezTo>
                  <a:pt x="110331" y="509290"/>
                  <a:pt x="105342" y="493812"/>
                  <a:pt x="111465" y="480318"/>
                </a:cubicBezTo>
                <a:lnTo>
                  <a:pt x="200365" y="285750"/>
                </a:lnTo>
                <a:lnTo>
                  <a:pt x="36286" y="285750"/>
                </a:lnTo>
                <a:cubicBezTo>
                  <a:pt x="20978" y="285750"/>
                  <a:pt x="7371" y="277416"/>
                  <a:pt x="2154" y="264815"/>
                </a:cubicBezTo>
                <a:cubicBezTo>
                  <a:pt x="-3062" y="252214"/>
                  <a:pt x="1361" y="238125"/>
                  <a:pt x="13040" y="229592"/>
                </a:cubicBezTo>
                <a:lnTo>
                  <a:pt x="339612" y="-8533"/>
                </a:lnTo>
                <a:cubicBezTo>
                  <a:pt x="352425" y="-17859"/>
                  <a:pt x="370681" y="-18355"/>
                  <a:pt x="384175" y="-9823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2222500" y="41275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Inferential Efficiency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22500" y="4572000"/>
            <a:ext cx="533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Incorporate additional information for efficient inference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82000" y="3937000"/>
            <a:ext cx="6604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36000" y="431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90286" y="31750"/>
                </a:moveTo>
                <a:cubicBezTo>
                  <a:pt x="290286" y="14188"/>
                  <a:pt x="274071" y="0"/>
                  <a:pt x="254000" y="0"/>
                </a:cubicBezTo>
                <a:cubicBezTo>
                  <a:pt x="233929" y="0"/>
                  <a:pt x="217714" y="14188"/>
                  <a:pt x="217714" y="31750"/>
                </a:cubicBezTo>
                <a:lnTo>
                  <a:pt x="217714" y="240804"/>
                </a:lnTo>
                <a:lnTo>
                  <a:pt x="170770" y="199727"/>
                </a:lnTo>
                <a:cubicBezTo>
                  <a:pt x="156596" y="187325"/>
                  <a:pt x="133577" y="187325"/>
                  <a:pt x="119403" y="199727"/>
                </a:cubicBezTo>
                <a:cubicBezTo>
                  <a:pt x="105229" y="212130"/>
                  <a:pt x="105229" y="232271"/>
                  <a:pt x="119403" y="244673"/>
                </a:cubicBezTo>
                <a:lnTo>
                  <a:pt x="228260" y="339923"/>
                </a:lnTo>
                <a:cubicBezTo>
                  <a:pt x="242434" y="352326"/>
                  <a:pt x="265453" y="352326"/>
                  <a:pt x="279627" y="339923"/>
                </a:cubicBezTo>
                <a:lnTo>
                  <a:pt x="388484" y="244673"/>
                </a:lnTo>
                <a:cubicBezTo>
                  <a:pt x="402658" y="232271"/>
                  <a:pt x="402658" y="212130"/>
                  <a:pt x="388484" y="199727"/>
                </a:cubicBezTo>
                <a:cubicBezTo>
                  <a:pt x="374310" y="187325"/>
                  <a:pt x="351291" y="187325"/>
                  <a:pt x="337117" y="199727"/>
                </a:cubicBezTo>
                <a:lnTo>
                  <a:pt x="290286" y="240804"/>
                </a:lnTo>
                <a:lnTo>
                  <a:pt x="290286" y="31750"/>
                </a:lnTo>
                <a:close/>
                <a:moveTo>
                  <a:pt x="72571" y="317500"/>
                </a:moveTo>
                <a:cubicBezTo>
                  <a:pt x="32544" y="317500"/>
                  <a:pt x="0" y="345976"/>
                  <a:pt x="0" y="381000"/>
                </a:cubicBezTo>
                <a:lnTo>
                  <a:pt x="0" y="412750"/>
                </a:lnTo>
                <a:cubicBezTo>
                  <a:pt x="0" y="447774"/>
                  <a:pt x="32544" y="476250"/>
                  <a:pt x="72571" y="476250"/>
                </a:cubicBezTo>
                <a:lnTo>
                  <a:pt x="435429" y="476250"/>
                </a:lnTo>
                <a:cubicBezTo>
                  <a:pt x="475456" y="476250"/>
                  <a:pt x="508000" y="447774"/>
                  <a:pt x="508000" y="412750"/>
                </a:cubicBezTo>
                <a:lnTo>
                  <a:pt x="508000" y="381000"/>
                </a:lnTo>
                <a:cubicBezTo>
                  <a:pt x="508000" y="345976"/>
                  <a:pt x="475456" y="317500"/>
                  <a:pt x="435429" y="317500"/>
                </a:cubicBezTo>
                <a:lnTo>
                  <a:pt x="382247" y="317500"/>
                </a:lnTo>
                <a:lnTo>
                  <a:pt x="318067" y="373658"/>
                </a:lnTo>
                <a:cubicBezTo>
                  <a:pt x="282688" y="404614"/>
                  <a:pt x="225198" y="404614"/>
                  <a:pt x="189820" y="373658"/>
                </a:cubicBezTo>
                <a:lnTo>
                  <a:pt x="125753" y="317500"/>
                </a:lnTo>
                <a:lnTo>
                  <a:pt x="72571" y="317500"/>
                </a:lnTo>
                <a:close/>
                <a:moveTo>
                  <a:pt x="417286" y="373063"/>
                </a:moveTo>
                <a:cubicBezTo>
                  <a:pt x="432306" y="373063"/>
                  <a:pt x="444500" y="383733"/>
                  <a:pt x="444500" y="396875"/>
                </a:cubicBezTo>
                <a:cubicBezTo>
                  <a:pt x="444500" y="410017"/>
                  <a:pt x="432306" y="420688"/>
                  <a:pt x="417286" y="420688"/>
                </a:cubicBezTo>
                <a:cubicBezTo>
                  <a:pt x="402266" y="420688"/>
                  <a:pt x="390071" y="410017"/>
                  <a:pt x="390071" y="396875"/>
                </a:cubicBezTo>
                <a:cubicBezTo>
                  <a:pt x="390071" y="383733"/>
                  <a:pt x="402266" y="373063"/>
                  <a:pt x="417286" y="373063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9334500" y="41275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Acquisitional Efficiency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334500" y="4572000"/>
            <a:ext cx="533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Ability to acquire new information easily and automatically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70000" y="5969000"/>
            <a:ext cx="13716000" cy="1524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21" name="Text 19"/>
          <p:cNvSpPr/>
          <p:nvPr/>
        </p:nvSpPr>
        <p:spPr>
          <a:xfrm>
            <a:off x="1778000" y="6032500"/>
            <a:ext cx="1270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Representation-Reasoning Trade-off</a:t>
            </a:r>
            <a:endParaRPr lang="en-US" sz="18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More expressive representations require more complex reasoning — choosing the right KR scheme is critical.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270000" y="3048000"/>
            <a:ext cx="137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Scripts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Structured representations of stereotypical event sequences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Scripts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604000" cy="584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Scripts were introduced by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Schank &amp; Abelson (1977)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as structured representations of stereotypical sequences of events in a particular context.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Describe commonly occurring situations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Capture expected flow of events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Enable inference of unstated information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Classic Example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Restaurant Script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encodes the typical sequence of dining out.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0" y="1905000"/>
            <a:ext cx="6604000" cy="584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63000" y="2095500"/>
            <a:ext cx="584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Restaurant Script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63000" y="2667000"/>
            <a:ext cx="5842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Roles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Customer, Waiter, Cook, Cashier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Props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Tables, Menu, Food, Bill, Money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Entry Conditions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Customer is hungry, has money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Event Sequence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Enter → Sit → Read menu → Order → Eat → Pay → Leave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Customer is no longer hungry, has less money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Script Structure and Components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778000" y="2286000"/>
            <a:ext cx="1016000" cy="1016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778000" y="2286000"/>
            <a:ext cx="10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70000" y="3429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Tracks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70000" y="38735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Variations for situations</a:t>
            </a:r>
            <a:endParaRPr lang="en-US" sz="13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fast-food, fine dining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94000" y="2794000"/>
            <a:ext cx="1270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4064000" y="2286000"/>
            <a:ext cx="1016000" cy="1016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4064000" y="2286000"/>
            <a:ext cx="10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56000" y="3429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Scenes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56000" y="38735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Organized event phases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Entry, Main, Exit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80000" y="2794000"/>
            <a:ext cx="1270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6350000" y="2286000"/>
            <a:ext cx="1016000" cy="1016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5" name="Text 13"/>
          <p:cNvSpPr/>
          <p:nvPr/>
        </p:nvSpPr>
        <p:spPr>
          <a:xfrm>
            <a:off x="6350000" y="2286000"/>
            <a:ext cx="10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842000" y="3429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Slots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842000" y="38735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Variables filled with instances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e.g., customer name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66000" y="2794000"/>
            <a:ext cx="1270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8636000" y="2286000"/>
            <a:ext cx="1016000" cy="1016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20" name="Text 18"/>
          <p:cNvSpPr/>
          <p:nvPr/>
        </p:nvSpPr>
        <p:spPr>
          <a:xfrm>
            <a:off x="8636000" y="2286000"/>
            <a:ext cx="10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128000" y="3429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Defaults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128000" y="38735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Assumed when unspecified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pay before leaving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652000" y="2794000"/>
            <a:ext cx="1270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0922000" y="2286000"/>
            <a:ext cx="1016000" cy="1016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25" name="Text 23"/>
          <p:cNvSpPr/>
          <p:nvPr/>
        </p:nvSpPr>
        <p:spPr>
          <a:xfrm>
            <a:off x="10922000" y="2286000"/>
            <a:ext cx="10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0414000" y="3429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Trade-offs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414000" y="38735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Efficient but rigid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Difficult with exceptions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1938000" y="2794000"/>
            <a:ext cx="1270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13208000" y="2286000"/>
            <a:ext cx="1016000" cy="1016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30" name="Text 28"/>
          <p:cNvSpPr/>
          <p:nvPr/>
        </p:nvSpPr>
        <p:spPr>
          <a:xfrm>
            <a:off x="13208000" y="2286000"/>
            <a:ext cx="10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12700000" y="3429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NLP Use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2700000" y="38735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Pronoun resolution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Question answering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270000" y="5334000"/>
            <a:ext cx="13716000" cy="2286000"/>
          </a:xfrm>
          <a:prstGeom prst="roundRect">
            <a:avLst>
              <a:gd name="adj" fmla="val 6000"/>
            </a:avLst>
          </a:prstGeom>
          <a:solidFill>
            <a:srgbClr val="F5F5F0">
              <a:alpha val="6275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51000" y="5524500"/>
            <a:ext cx="1295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Advantages: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Efficient inference by filling missing details · Reduced storage via shared structures · Natural expectation-based processing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Limitations: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Rigidity with exceptions · Context sensitivity in track selection · Cultural dependence of stereotypical sequences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Scripts in Natural Language Processing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51000" y="20955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 Text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51000" y="2540000"/>
            <a:ext cx="584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"John went to a restaurant. He ordered a steak. The bill was expensive."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Inferred:</a:t>
            </a:r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John ate, paid, and tipped the waiter.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82000" y="1905000"/>
            <a:ext cx="6604000" cy="2540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8" name="Text 6"/>
          <p:cNvSpPr/>
          <p:nvPr/>
        </p:nvSpPr>
        <p:spPr>
          <a:xfrm>
            <a:off x="8763000" y="20955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NLP Applications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763000" y="2540000"/>
            <a:ext cx="584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Pronoun resolution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Ellipsis resolution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Question answering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Story understanding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70000" y="4953000"/>
            <a:ext cx="4318000" cy="279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1000" y="520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38667" y="142875"/>
                </a:moveTo>
                <a:cubicBezTo>
                  <a:pt x="338667" y="239316"/>
                  <a:pt x="262819" y="317500"/>
                  <a:pt x="169333" y="317500"/>
                </a:cubicBezTo>
                <a:cubicBezTo>
                  <a:pt x="145785" y="317500"/>
                  <a:pt x="123384" y="312539"/>
                  <a:pt x="103011" y="303609"/>
                </a:cubicBezTo>
                <a:lnTo>
                  <a:pt x="31044" y="346472"/>
                </a:lnTo>
                <a:cubicBezTo>
                  <a:pt x="22842" y="351334"/>
                  <a:pt x="12788" y="349647"/>
                  <a:pt x="6174" y="342305"/>
                </a:cubicBezTo>
                <a:cubicBezTo>
                  <a:pt x="-441" y="334963"/>
                  <a:pt x="-1940" y="323552"/>
                  <a:pt x="2469" y="314325"/>
                </a:cubicBezTo>
                <a:lnTo>
                  <a:pt x="33867" y="247650"/>
                </a:lnTo>
                <a:cubicBezTo>
                  <a:pt x="12612" y="218480"/>
                  <a:pt x="0" y="182166"/>
                  <a:pt x="0" y="142875"/>
                </a:cubicBezTo>
                <a:cubicBezTo>
                  <a:pt x="0" y="46434"/>
                  <a:pt x="75847" y="-31750"/>
                  <a:pt x="169333" y="-31750"/>
                </a:cubicBezTo>
                <a:cubicBezTo>
                  <a:pt x="262819" y="-31750"/>
                  <a:pt x="338667" y="46434"/>
                  <a:pt x="338667" y="142875"/>
                </a:cubicBezTo>
                <a:close/>
                <a:moveTo>
                  <a:pt x="338667" y="508000"/>
                </a:moveTo>
                <a:cubicBezTo>
                  <a:pt x="255676" y="508000"/>
                  <a:pt x="186619" y="446385"/>
                  <a:pt x="172156" y="365125"/>
                </a:cubicBezTo>
                <a:cubicBezTo>
                  <a:pt x="277989" y="363637"/>
                  <a:pt x="369976" y="278904"/>
                  <a:pt x="380118" y="164009"/>
                </a:cubicBezTo>
                <a:cubicBezTo>
                  <a:pt x="453584" y="183059"/>
                  <a:pt x="508000" y="251619"/>
                  <a:pt x="508000" y="333375"/>
                </a:cubicBezTo>
                <a:cubicBezTo>
                  <a:pt x="508000" y="372666"/>
                  <a:pt x="495388" y="408980"/>
                  <a:pt x="474133" y="438150"/>
                </a:cubicBezTo>
                <a:lnTo>
                  <a:pt x="505531" y="504825"/>
                </a:lnTo>
                <a:cubicBezTo>
                  <a:pt x="509852" y="514052"/>
                  <a:pt x="508353" y="525363"/>
                  <a:pt x="501826" y="532805"/>
                </a:cubicBezTo>
                <a:cubicBezTo>
                  <a:pt x="495300" y="540246"/>
                  <a:pt x="485158" y="541933"/>
                  <a:pt x="476956" y="536972"/>
                </a:cubicBezTo>
                <a:lnTo>
                  <a:pt x="404989" y="494109"/>
                </a:lnTo>
                <a:cubicBezTo>
                  <a:pt x="384616" y="503039"/>
                  <a:pt x="362215" y="508000"/>
                  <a:pt x="338667" y="5080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5842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Dialogue Systems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24000" y="63500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Script-like structures guide conversational flow in chatbots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69000" y="4953000"/>
            <a:ext cx="4318000" cy="279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20000" y="520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140196"/>
                </a:moveTo>
                <a:lnTo>
                  <a:pt x="254000" y="447080"/>
                </a:lnTo>
                <a:lnTo>
                  <a:pt x="254496" y="446881"/>
                </a:lnTo>
                <a:cubicBezTo>
                  <a:pt x="308670" y="424359"/>
                  <a:pt x="366812" y="412750"/>
                  <a:pt x="425450" y="412750"/>
                </a:cubicBezTo>
                <a:lnTo>
                  <a:pt x="444500" y="412750"/>
                </a:lnTo>
                <a:lnTo>
                  <a:pt x="444500" y="95250"/>
                </a:lnTo>
                <a:lnTo>
                  <a:pt x="425450" y="95250"/>
                </a:lnTo>
                <a:cubicBezTo>
                  <a:pt x="383580" y="95250"/>
                  <a:pt x="342007" y="103584"/>
                  <a:pt x="303312" y="119658"/>
                </a:cubicBezTo>
                <a:cubicBezTo>
                  <a:pt x="286643" y="126603"/>
                  <a:pt x="270173" y="133449"/>
                  <a:pt x="254000" y="140196"/>
                </a:cubicBezTo>
                <a:close/>
                <a:moveTo>
                  <a:pt x="229096" y="61020"/>
                </a:moveTo>
                <a:lnTo>
                  <a:pt x="254000" y="71438"/>
                </a:lnTo>
                <a:lnTo>
                  <a:pt x="278904" y="61020"/>
                </a:lnTo>
                <a:cubicBezTo>
                  <a:pt x="325338" y="41672"/>
                  <a:pt x="375146" y="31750"/>
                  <a:pt x="425450" y="31750"/>
                </a:cubicBezTo>
                <a:lnTo>
                  <a:pt x="460375" y="31750"/>
                </a:lnTo>
                <a:cubicBezTo>
                  <a:pt x="486668" y="31750"/>
                  <a:pt x="508000" y="53082"/>
                  <a:pt x="508000" y="79375"/>
                </a:cubicBezTo>
                <a:lnTo>
                  <a:pt x="508000" y="428625"/>
                </a:lnTo>
                <a:cubicBezTo>
                  <a:pt x="508000" y="454918"/>
                  <a:pt x="486668" y="476250"/>
                  <a:pt x="460375" y="476250"/>
                </a:cubicBezTo>
                <a:lnTo>
                  <a:pt x="425450" y="476250"/>
                </a:lnTo>
                <a:cubicBezTo>
                  <a:pt x="375146" y="476250"/>
                  <a:pt x="325338" y="486172"/>
                  <a:pt x="278904" y="505520"/>
                </a:cubicBezTo>
                <a:lnTo>
                  <a:pt x="266204" y="510778"/>
                </a:lnTo>
                <a:cubicBezTo>
                  <a:pt x="258366" y="514052"/>
                  <a:pt x="249634" y="514052"/>
                  <a:pt x="241796" y="510778"/>
                </a:cubicBezTo>
                <a:lnTo>
                  <a:pt x="229096" y="505520"/>
                </a:lnTo>
                <a:cubicBezTo>
                  <a:pt x="182662" y="486172"/>
                  <a:pt x="132854" y="476250"/>
                  <a:pt x="82550" y="476250"/>
                </a:cubicBezTo>
                <a:lnTo>
                  <a:pt x="47625" y="476250"/>
                </a:lnTo>
                <a:cubicBezTo>
                  <a:pt x="21332" y="476250"/>
                  <a:pt x="0" y="454918"/>
                  <a:pt x="0" y="428625"/>
                </a:cubicBezTo>
                <a:lnTo>
                  <a:pt x="0" y="79375"/>
                </a:lnTo>
                <a:cubicBezTo>
                  <a:pt x="0" y="53082"/>
                  <a:pt x="21332" y="31750"/>
                  <a:pt x="47625" y="31750"/>
                </a:cubicBezTo>
                <a:lnTo>
                  <a:pt x="82550" y="31750"/>
                </a:lnTo>
                <a:cubicBezTo>
                  <a:pt x="132854" y="31750"/>
                  <a:pt x="182662" y="41672"/>
                  <a:pt x="229096" y="6102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6" name="Text 14"/>
          <p:cNvSpPr/>
          <p:nvPr/>
        </p:nvSpPr>
        <p:spPr>
          <a:xfrm>
            <a:off x="6223000" y="5842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Story Understanding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23000" y="63500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Filling narrative gaps by matching events to script templates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668000" y="4953000"/>
            <a:ext cx="4318000" cy="279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319000" y="520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19063" y="55563"/>
                </a:moveTo>
                <a:cubicBezTo>
                  <a:pt x="119063" y="24904"/>
                  <a:pt x="143966" y="0"/>
                  <a:pt x="174625" y="0"/>
                </a:cubicBezTo>
                <a:lnTo>
                  <a:pt x="198438" y="0"/>
                </a:lnTo>
                <a:cubicBezTo>
                  <a:pt x="215999" y="0"/>
                  <a:pt x="230188" y="14188"/>
                  <a:pt x="230188" y="31750"/>
                </a:cubicBezTo>
                <a:lnTo>
                  <a:pt x="230188" y="476250"/>
                </a:lnTo>
                <a:cubicBezTo>
                  <a:pt x="230188" y="493812"/>
                  <a:pt x="215999" y="508000"/>
                  <a:pt x="198438" y="508000"/>
                </a:cubicBezTo>
                <a:lnTo>
                  <a:pt x="166688" y="508000"/>
                </a:lnTo>
                <a:cubicBezTo>
                  <a:pt x="137120" y="508000"/>
                  <a:pt x="112216" y="487759"/>
                  <a:pt x="105172" y="460375"/>
                </a:cubicBezTo>
                <a:cubicBezTo>
                  <a:pt x="104477" y="460375"/>
                  <a:pt x="103882" y="460375"/>
                  <a:pt x="103188" y="460375"/>
                </a:cubicBezTo>
                <a:cubicBezTo>
                  <a:pt x="59333" y="460375"/>
                  <a:pt x="23812" y="424855"/>
                  <a:pt x="23812" y="381000"/>
                </a:cubicBezTo>
                <a:cubicBezTo>
                  <a:pt x="23812" y="363141"/>
                  <a:pt x="29766" y="346670"/>
                  <a:pt x="39688" y="333375"/>
                </a:cubicBezTo>
                <a:cubicBezTo>
                  <a:pt x="20439" y="318889"/>
                  <a:pt x="7938" y="295870"/>
                  <a:pt x="7938" y="269875"/>
                </a:cubicBezTo>
                <a:cubicBezTo>
                  <a:pt x="7938" y="239216"/>
                  <a:pt x="25400" y="212527"/>
                  <a:pt x="50800" y="199330"/>
                </a:cubicBezTo>
                <a:cubicBezTo>
                  <a:pt x="43755" y="187424"/>
                  <a:pt x="39688" y="173534"/>
                  <a:pt x="39688" y="158750"/>
                </a:cubicBezTo>
                <a:cubicBezTo>
                  <a:pt x="39688" y="114895"/>
                  <a:pt x="75208" y="79375"/>
                  <a:pt x="119063" y="79375"/>
                </a:cubicBezTo>
                <a:lnTo>
                  <a:pt x="119063" y="55563"/>
                </a:lnTo>
                <a:close/>
                <a:moveTo>
                  <a:pt x="388938" y="55563"/>
                </a:moveTo>
                <a:lnTo>
                  <a:pt x="388938" y="79375"/>
                </a:lnTo>
                <a:cubicBezTo>
                  <a:pt x="432792" y="79375"/>
                  <a:pt x="468313" y="114895"/>
                  <a:pt x="468313" y="158750"/>
                </a:cubicBezTo>
                <a:cubicBezTo>
                  <a:pt x="468313" y="173633"/>
                  <a:pt x="464245" y="187523"/>
                  <a:pt x="457200" y="199330"/>
                </a:cubicBezTo>
                <a:cubicBezTo>
                  <a:pt x="482699" y="212527"/>
                  <a:pt x="500063" y="239117"/>
                  <a:pt x="500063" y="269875"/>
                </a:cubicBezTo>
                <a:cubicBezTo>
                  <a:pt x="500063" y="295870"/>
                  <a:pt x="487561" y="318889"/>
                  <a:pt x="468313" y="333375"/>
                </a:cubicBezTo>
                <a:cubicBezTo>
                  <a:pt x="478234" y="346670"/>
                  <a:pt x="484187" y="363141"/>
                  <a:pt x="484187" y="381000"/>
                </a:cubicBezTo>
                <a:cubicBezTo>
                  <a:pt x="484187" y="424855"/>
                  <a:pt x="448667" y="460375"/>
                  <a:pt x="404813" y="460375"/>
                </a:cubicBezTo>
                <a:cubicBezTo>
                  <a:pt x="404118" y="460375"/>
                  <a:pt x="403523" y="460375"/>
                  <a:pt x="402828" y="460375"/>
                </a:cubicBezTo>
                <a:cubicBezTo>
                  <a:pt x="395784" y="487759"/>
                  <a:pt x="370880" y="508000"/>
                  <a:pt x="341313" y="508000"/>
                </a:cubicBezTo>
                <a:lnTo>
                  <a:pt x="309562" y="508000"/>
                </a:lnTo>
                <a:cubicBezTo>
                  <a:pt x="292001" y="508000"/>
                  <a:pt x="277813" y="493812"/>
                  <a:pt x="277813" y="476250"/>
                </a:cubicBezTo>
                <a:lnTo>
                  <a:pt x="277813" y="31750"/>
                </a:lnTo>
                <a:cubicBezTo>
                  <a:pt x="277813" y="14188"/>
                  <a:pt x="292001" y="0"/>
                  <a:pt x="309562" y="0"/>
                </a:cubicBezTo>
                <a:lnTo>
                  <a:pt x="333375" y="0"/>
                </a:lnTo>
                <a:cubicBezTo>
                  <a:pt x="364034" y="0"/>
                  <a:pt x="388938" y="24904"/>
                  <a:pt x="388938" y="55563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0" name="Text 18"/>
          <p:cNvSpPr/>
          <p:nvPr/>
        </p:nvSpPr>
        <p:spPr>
          <a:xfrm>
            <a:off x="10922000" y="5842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Commonsense Reasoning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922000" y="63500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Modern AI uses script patterns for commonsense inference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270000" y="3048000"/>
            <a:ext cx="137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Ontologies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Formal specifications of shared conceptualizations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an Ontology?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143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778000" y="2032000"/>
            <a:ext cx="1270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"An ontology is a formal, explicit specification of a shared conceptualization"</a:t>
            </a:r>
            <a:endParaRPr lang="en-US" sz="2000" dirty="0"/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 Gruber, 1993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70000" y="3429000"/>
            <a:ext cx="3175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40000" y="361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8601" y="0"/>
                  <a:pt x="247977" y="5269"/>
                  <a:pt x="253067" y="13841"/>
                </a:cubicBezTo>
                <a:lnTo>
                  <a:pt x="338792" y="156716"/>
                </a:lnTo>
                <a:cubicBezTo>
                  <a:pt x="344061" y="165556"/>
                  <a:pt x="344239" y="176540"/>
                  <a:pt x="339150" y="185470"/>
                </a:cubicBezTo>
                <a:cubicBezTo>
                  <a:pt x="334060" y="194399"/>
                  <a:pt x="324594" y="200025"/>
                  <a:pt x="314325" y="200025"/>
                </a:cubicBezTo>
                <a:lnTo>
                  <a:pt x="142875" y="200025"/>
                </a:lnTo>
                <a:cubicBezTo>
                  <a:pt x="132606" y="200025"/>
                  <a:pt x="123051" y="194489"/>
                  <a:pt x="118050" y="185559"/>
                </a:cubicBezTo>
                <a:cubicBezTo>
                  <a:pt x="113050" y="176629"/>
                  <a:pt x="113139" y="165646"/>
                  <a:pt x="118408" y="156805"/>
                </a:cubicBezTo>
                <a:lnTo>
                  <a:pt x="204133" y="13930"/>
                </a:lnTo>
                <a:cubicBezTo>
                  <a:pt x="209223" y="5269"/>
                  <a:pt x="218599" y="0"/>
                  <a:pt x="228600" y="0"/>
                </a:cubicBezTo>
                <a:close/>
                <a:moveTo>
                  <a:pt x="114300" y="242888"/>
                </a:moveTo>
                <a:cubicBezTo>
                  <a:pt x="169498" y="242888"/>
                  <a:pt x="214313" y="287702"/>
                  <a:pt x="214313" y="342900"/>
                </a:cubicBezTo>
                <a:cubicBezTo>
                  <a:pt x="214313" y="398098"/>
                  <a:pt x="169498" y="442913"/>
                  <a:pt x="114300" y="442913"/>
                </a:cubicBezTo>
                <a:cubicBezTo>
                  <a:pt x="59102" y="442913"/>
                  <a:pt x="14288" y="398098"/>
                  <a:pt x="14288" y="342900"/>
                </a:cubicBezTo>
                <a:cubicBezTo>
                  <a:pt x="14288" y="287702"/>
                  <a:pt x="59102" y="242888"/>
                  <a:pt x="114300" y="242888"/>
                </a:cubicBezTo>
                <a:close/>
                <a:moveTo>
                  <a:pt x="292894" y="257175"/>
                </a:moveTo>
                <a:lnTo>
                  <a:pt x="392906" y="257175"/>
                </a:lnTo>
                <a:cubicBezTo>
                  <a:pt x="412641" y="257175"/>
                  <a:pt x="428625" y="273159"/>
                  <a:pt x="428625" y="292894"/>
                </a:cubicBezTo>
                <a:lnTo>
                  <a:pt x="428625" y="392906"/>
                </a:lnTo>
                <a:cubicBezTo>
                  <a:pt x="428625" y="412641"/>
                  <a:pt x="412641" y="428625"/>
                  <a:pt x="392906" y="428625"/>
                </a:cubicBezTo>
                <a:lnTo>
                  <a:pt x="292894" y="428625"/>
                </a:lnTo>
                <a:cubicBezTo>
                  <a:pt x="273159" y="428625"/>
                  <a:pt x="257175" y="412641"/>
                  <a:pt x="257175" y="392906"/>
                </a:cubicBezTo>
                <a:lnTo>
                  <a:pt x="257175" y="292894"/>
                </a:lnTo>
                <a:cubicBezTo>
                  <a:pt x="257175" y="273159"/>
                  <a:pt x="273159" y="257175"/>
                  <a:pt x="292894" y="25717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4191000"/>
            <a:ext cx="266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0500" y="4635500"/>
            <a:ext cx="279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Categories of entities</a:t>
            </a:r>
            <a:endParaRPr lang="en-US" sz="18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e.g., Animal, Person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87900" y="3429000"/>
            <a:ext cx="3175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57900" y="361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18453" y="34915"/>
                </a:moveTo>
                <a:lnTo>
                  <a:pt x="436086" y="169128"/>
                </a:lnTo>
                <a:cubicBezTo>
                  <a:pt x="458073" y="194221"/>
                  <a:pt x="458073" y="234404"/>
                  <a:pt x="436086" y="259497"/>
                </a:cubicBezTo>
                <a:lnTo>
                  <a:pt x="311944" y="400854"/>
                </a:lnTo>
                <a:cubicBezTo>
                  <a:pt x="304562" y="409248"/>
                  <a:pt x="292497" y="409337"/>
                  <a:pt x="285036" y="401032"/>
                </a:cubicBezTo>
                <a:cubicBezTo>
                  <a:pt x="277574" y="392728"/>
                  <a:pt x="277495" y="379155"/>
                  <a:pt x="284877" y="370761"/>
                </a:cubicBezTo>
                <a:lnTo>
                  <a:pt x="409019" y="229314"/>
                </a:lnTo>
                <a:cubicBezTo>
                  <a:pt x="416322" y="221010"/>
                  <a:pt x="416322" y="207526"/>
                  <a:pt x="409019" y="199221"/>
                </a:cubicBezTo>
                <a:lnTo>
                  <a:pt x="291306" y="65097"/>
                </a:lnTo>
                <a:cubicBezTo>
                  <a:pt x="283924" y="56704"/>
                  <a:pt x="284004" y="43130"/>
                  <a:pt x="291465" y="34826"/>
                </a:cubicBezTo>
                <a:cubicBezTo>
                  <a:pt x="298926" y="26521"/>
                  <a:pt x="310991" y="26610"/>
                  <a:pt x="318373" y="35004"/>
                </a:cubicBezTo>
                <a:close/>
                <a:moveTo>
                  <a:pt x="25479" y="204936"/>
                </a:moveTo>
                <a:lnTo>
                  <a:pt x="25479" y="85725"/>
                </a:lnTo>
                <a:cubicBezTo>
                  <a:pt x="25479" y="54203"/>
                  <a:pt x="48260" y="28575"/>
                  <a:pt x="76279" y="28575"/>
                </a:cubicBezTo>
                <a:lnTo>
                  <a:pt x="182245" y="28575"/>
                </a:lnTo>
                <a:cubicBezTo>
                  <a:pt x="195739" y="28575"/>
                  <a:pt x="208677" y="34558"/>
                  <a:pt x="218202" y="45274"/>
                </a:cubicBezTo>
                <a:lnTo>
                  <a:pt x="332502" y="173861"/>
                </a:lnTo>
                <a:cubicBezTo>
                  <a:pt x="352346" y="196185"/>
                  <a:pt x="352346" y="232350"/>
                  <a:pt x="332502" y="254675"/>
                </a:cubicBezTo>
                <a:lnTo>
                  <a:pt x="226536" y="373886"/>
                </a:lnTo>
                <a:cubicBezTo>
                  <a:pt x="206692" y="396210"/>
                  <a:pt x="174546" y="396210"/>
                  <a:pt x="154702" y="373886"/>
                </a:cubicBezTo>
                <a:lnTo>
                  <a:pt x="40402" y="245299"/>
                </a:lnTo>
                <a:cubicBezTo>
                  <a:pt x="30877" y="234583"/>
                  <a:pt x="25559" y="220027"/>
                  <a:pt x="25559" y="204847"/>
                </a:cubicBezTo>
                <a:close/>
                <a:moveTo>
                  <a:pt x="139779" y="128588"/>
                </a:moveTo>
                <a:cubicBezTo>
                  <a:pt x="139779" y="112817"/>
                  <a:pt x="128398" y="100013"/>
                  <a:pt x="114379" y="100013"/>
                </a:cubicBezTo>
                <a:cubicBezTo>
                  <a:pt x="100361" y="100013"/>
                  <a:pt x="88979" y="112817"/>
                  <a:pt x="88979" y="128588"/>
                </a:cubicBezTo>
                <a:cubicBezTo>
                  <a:pt x="88979" y="144358"/>
                  <a:pt x="100361" y="157163"/>
                  <a:pt x="114379" y="157163"/>
                </a:cubicBezTo>
                <a:cubicBezTo>
                  <a:pt x="128398" y="157163"/>
                  <a:pt x="139779" y="144358"/>
                  <a:pt x="139779" y="128588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5041900" y="4191000"/>
            <a:ext cx="266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Properties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78400" y="4635500"/>
            <a:ext cx="279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Attributes of classes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e.g., hasColor, hasSize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93100" y="3429000"/>
            <a:ext cx="3175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63100" y="361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32978" y="85725"/>
                </a:moveTo>
                <a:cubicBezTo>
                  <a:pt x="319802" y="85725"/>
                  <a:pt x="307023" y="89743"/>
                  <a:pt x="295831" y="97066"/>
                </a:cubicBezTo>
                <a:cubicBezTo>
                  <a:pt x="283289" y="82778"/>
                  <a:pt x="268684" y="70812"/>
                  <a:pt x="252571" y="61793"/>
                </a:cubicBezTo>
                <a:cubicBezTo>
                  <a:pt x="274955" y="40362"/>
                  <a:pt x="303451" y="28575"/>
                  <a:pt x="332978" y="28575"/>
                </a:cubicBezTo>
                <a:cubicBezTo>
                  <a:pt x="401558" y="28575"/>
                  <a:pt x="457200" y="91083"/>
                  <a:pt x="457200" y="168325"/>
                </a:cubicBezTo>
                <a:cubicBezTo>
                  <a:pt x="457200" y="205383"/>
                  <a:pt x="444103" y="240923"/>
                  <a:pt x="420846" y="267087"/>
                </a:cubicBezTo>
                <a:lnTo>
                  <a:pt x="364411" y="330577"/>
                </a:lnTo>
                <a:cubicBezTo>
                  <a:pt x="341154" y="356741"/>
                  <a:pt x="309563" y="371475"/>
                  <a:pt x="276622" y="371475"/>
                </a:cubicBezTo>
                <a:cubicBezTo>
                  <a:pt x="208042" y="371475"/>
                  <a:pt x="152400" y="308967"/>
                  <a:pt x="152400" y="231725"/>
                </a:cubicBezTo>
                <a:cubicBezTo>
                  <a:pt x="152400" y="230386"/>
                  <a:pt x="152400" y="229046"/>
                  <a:pt x="152479" y="227707"/>
                </a:cubicBezTo>
                <a:cubicBezTo>
                  <a:pt x="152876" y="211901"/>
                  <a:pt x="164544" y="199489"/>
                  <a:pt x="178594" y="199936"/>
                </a:cubicBezTo>
                <a:cubicBezTo>
                  <a:pt x="192643" y="200382"/>
                  <a:pt x="203676" y="213509"/>
                  <a:pt x="203279" y="229314"/>
                </a:cubicBezTo>
                <a:cubicBezTo>
                  <a:pt x="203279" y="230118"/>
                  <a:pt x="203279" y="230922"/>
                  <a:pt x="203279" y="231636"/>
                </a:cubicBezTo>
                <a:cubicBezTo>
                  <a:pt x="203279" y="277267"/>
                  <a:pt x="236141" y="314236"/>
                  <a:pt x="276701" y="314236"/>
                </a:cubicBezTo>
                <a:cubicBezTo>
                  <a:pt x="296148" y="314236"/>
                  <a:pt x="314801" y="305574"/>
                  <a:pt x="328613" y="290036"/>
                </a:cubicBezTo>
                <a:lnTo>
                  <a:pt x="385048" y="226546"/>
                </a:lnTo>
                <a:cubicBezTo>
                  <a:pt x="398780" y="211098"/>
                  <a:pt x="406559" y="190024"/>
                  <a:pt x="406559" y="168146"/>
                </a:cubicBezTo>
                <a:cubicBezTo>
                  <a:pt x="406559" y="122515"/>
                  <a:pt x="373698" y="85546"/>
                  <a:pt x="333137" y="85546"/>
                </a:cubicBezTo>
                <a:close/>
                <a:moveTo>
                  <a:pt x="218440" y="154751"/>
                </a:moveTo>
                <a:cubicBezTo>
                  <a:pt x="216932" y="154037"/>
                  <a:pt x="215424" y="153055"/>
                  <a:pt x="214074" y="151983"/>
                </a:cubicBezTo>
                <a:cubicBezTo>
                  <a:pt x="204073" y="146179"/>
                  <a:pt x="192643" y="142875"/>
                  <a:pt x="180658" y="142875"/>
                </a:cubicBezTo>
                <a:cubicBezTo>
                  <a:pt x="161211" y="142875"/>
                  <a:pt x="142558" y="151537"/>
                  <a:pt x="128746" y="167074"/>
                </a:cubicBezTo>
                <a:lnTo>
                  <a:pt x="72311" y="230565"/>
                </a:lnTo>
                <a:cubicBezTo>
                  <a:pt x="58579" y="246013"/>
                  <a:pt x="50800" y="267087"/>
                  <a:pt x="50800" y="288965"/>
                </a:cubicBezTo>
                <a:cubicBezTo>
                  <a:pt x="50800" y="334595"/>
                  <a:pt x="83661" y="371564"/>
                  <a:pt x="124222" y="371564"/>
                </a:cubicBezTo>
                <a:cubicBezTo>
                  <a:pt x="137319" y="371564"/>
                  <a:pt x="150098" y="367635"/>
                  <a:pt x="161290" y="360313"/>
                </a:cubicBezTo>
                <a:cubicBezTo>
                  <a:pt x="173831" y="374600"/>
                  <a:pt x="188436" y="386566"/>
                  <a:pt x="204629" y="395585"/>
                </a:cubicBezTo>
                <a:cubicBezTo>
                  <a:pt x="182245" y="416927"/>
                  <a:pt x="153829" y="428804"/>
                  <a:pt x="124222" y="428804"/>
                </a:cubicBezTo>
                <a:cubicBezTo>
                  <a:pt x="55642" y="428804"/>
                  <a:pt x="0" y="366296"/>
                  <a:pt x="0" y="289054"/>
                </a:cubicBezTo>
                <a:cubicBezTo>
                  <a:pt x="0" y="251996"/>
                  <a:pt x="13097" y="216456"/>
                  <a:pt x="36354" y="190292"/>
                </a:cubicBezTo>
                <a:lnTo>
                  <a:pt x="92789" y="126802"/>
                </a:lnTo>
                <a:cubicBezTo>
                  <a:pt x="116046" y="100638"/>
                  <a:pt x="147638" y="85904"/>
                  <a:pt x="180578" y="85904"/>
                </a:cubicBezTo>
                <a:cubicBezTo>
                  <a:pt x="249317" y="85904"/>
                  <a:pt x="304800" y="148947"/>
                  <a:pt x="304800" y="226010"/>
                </a:cubicBezTo>
                <a:cubicBezTo>
                  <a:pt x="304800" y="227171"/>
                  <a:pt x="304800" y="228332"/>
                  <a:pt x="304800" y="229493"/>
                </a:cubicBezTo>
                <a:cubicBezTo>
                  <a:pt x="304483" y="245299"/>
                  <a:pt x="292814" y="257711"/>
                  <a:pt x="278765" y="257354"/>
                </a:cubicBezTo>
                <a:cubicBezTo>
                  <a:pt x="264716" y="256996"/>
                  <a:pt x="253682" y="243870"/>
                  <a:pt x="254000" y="228064"/>
                </a:cubicBezTo>
                <a:cubicBezTo>
                  <a:pt x="254000" y="227350"/>
                  <a:pt x="254000" y="226725"/>
                  <a:pt x="254000" y="226010"/>
                </a:cubicBezTo>
                <a:cubicBezTo>
                  <a:pt x="254000" y="195917"/>
                  <a:pt x="239713" y="169485"/>
                  <a:pt x="218440" y="15493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6" name="Text 14"/>
          <p:cNvSpPr/>
          <p:nvPr/>
        </p:nvSpPr>
        <p:spPr>
          <a:xfrm>
            <a:off x="8547100" y="4191000"/>
            <a:ext cx="266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Relationships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83600" y="4635500"/>
            <a:ext cx="279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Connections between concepts</a:t>
            </a:r>
            <a:endParaRPr lang="en-US" sz="18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e.g., is-a, part-of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811000" y="3429000"/>
            <a:ext cx="3175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3081000" y="361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0293" y="-2232"/>
                </a:moveTo>
                <a:cubicBezTo>
                  <a:pt x="217974" y="-12412"/>
                  <a:pt x="239762" y="-12412"/>
                  <a:pt x="257443" y="-2232"/>
                </a:cubicBezTo>
                <a:lnTo>
                  <a:pt x="414516" y="88404"/>
                </a:lnTo>
                <a:cubicBezTo>
                  <a:pt x="432197" y="98584"/>
                  <a:pt x="443091" y="117515"/>
                  <a:pt x="443091" y="137874"/>
                </a:cubicBezTo>
                <a:lnTo>
                  <a:pt x="443091" y="319147"/>
                </a:lnTo>
                <a:cubicBezTo>
                  <a:pt x="443091" y="339596"/>
                  <a:pt x="432197" y="358438"/>
                  <a:pt x="414516" y="368617"/>
                </a:cubicBezTo>
                <a:lnTo>
                  <a:pt x="257443" y="459432"/>
                </a:lnTo>
                <a:cubicBezTo>
                  <a:pt x="239762" y="469612"/>
                  <a:pt x="217974" y="469612"/>
                  <a:pt x="200293" y="459432"/>
                </a:cubicBezTo>
                <a:lnTo>
                  <a:pt x="43309" y="368796"/>
                </a:lnTo>
                <a:cubicBezTo>
                  <a:pt x="25628" y="358616"/>
                  <a:pt x="14734" y="339685"/>
                  <a:pt x="14734" y="319326"/>
                </a:cubicBezTo>
                <a:lnTo>
                  <a:pt x="14734" y="138053"/>
                </a:lnTo>
                <a:cubicBezTo>
                  <a:pt x="14734" y="117604"/>
                  <a:pt x="25628" y="98762"/>
                  <a:pt x="43309" y="88583"/>
                </a:cubicBezTo>
                <a:lnTo>
                  <a:pt x="200293" y="-2232"/>
                </a:lnTo>
                <a:close/>
                <a:moveTo>
                  <a:pt x="385852" y="319236"/>
                </a:moveTo>
                <a:lnTo>
                  <a:pt x="385852" y="170914"/>
                </a:lnTo>
                <a:lnTo>
                  <a:pt x="257443" y="245031"/>
                </a:lnTo>
                <a:lnTo>
                  <a:pt x="257443" y="393353"/>
                </a:lnTo>
                <a:lnTo>
                  <a:pt x="385852" y="319236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0" name="Text 18"/>
          <p:cNvSpPr/>
          <p:nvPr/>
        </p:nvSpPr>
        <p:spPr>
          <a:xfrm>
            <a:off x="12065000" y="4191000"/>
            <a:ext cx="266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Instances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001500" y="4635500"/>
            <a:ext cx="279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Specific examples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e.g., Fido is a Dog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6350000"/>
          <a:ext cx="13716000" cy="1524000"/>
        </p:xfrm>
        <a:graphic>
          <a:graphicData uri="http://schemas.openxmlformats.org/drawingml/2006/table">
            <a:tbl>
              <a:tblPr/>
              <a:tblGrid>
                <a:gridCol w="3429000"/>
                <a:gridCol w="5486400"/>
                <a:gridCol w="480060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Ontology Type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Scope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Example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Top-level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Domain-independent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DOLCE, BFO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Domain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Specific field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Gene Ontology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Ontology Languages and Standards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Languages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70000" y="2413000"/>
            <a:ext cx="6350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RDF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Triple-based statements (S-P-O)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RDFS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Class and property hierarchies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OWL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Expressive with reasoning support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OWL variants: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OWL Lite — basic constructs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OWL DL — expressive + decidable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OWL Full — complete expressiveness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82000" y="1841500"/>
            <a:ext cx="660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Semantic Web Stack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382000" y="2413000"/>
            <a:ext cx="6604000" cy="4826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Text 6"/>
          <p:cNvSpPr/>
          <p:nvPr/>
        </p:nvSpPr>
        <p:spPr>
          <a:xfrm>
            <a:off x="8382000" y="2413000"/>
            <a:ext cx="660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2946400"/>
            <a:ext cx="6604000" cy="4826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10" name="Text 8"/>
          <p:cNvSpPr/>
          <p:nvPr/>
        </p:nvSpPr>
        <p:spPr>
          <a:xfrm>
            <a:off x="8382000" y="2946400"/>
            <a:ext cx="660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Rules (RIF, SWRL)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3479800"/>
            <a:ext cx="6604000" cy="482600"/>
          </a:xfrm>
          <a:prstGeom prst="rect">
            <a:avLst/>
          </a:prstGeom>
          <a:solidFill>
            <a:srgbClr val="6B9CBF"/>
          </a:solidFill>
          <a:ln/>
        </p:spPr>
      </p:sp>
      <p:sp>
        <p:nvSpPr>
          <p:cNvPr id="12" name="Text 10"/>
          <p:cNvSpPr/>
          <p:nvPr/>
        </p:nvSpPr>
        <p:spPr>
          <a:xfrm>
            <a:off x="8382000" y="3479800"/>
            <a:ext cx="660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OWL (Ontology)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82000" y="4013200"/>
            <a:ext cx="6604000" cy="482600"/>
          </a:xfrm>
          <a:prstGeom prst="rect">
            <a:avLst/>
          </a:prstGeom>
          <a:solidFill>
            <a:srgbClr val="8AB4C4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0" y="4013200"/>
            <a:ext cx="660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RDFS (Schema)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82000" y="4546600"/>
            <a:ext cx="6604000" cy="482600"/>
          </a:xfrm>
          <a:prstGeom prst="rect">
            <a:avLst/>
          </a:prstGeom>
          <a:solidFill>
            <a:srgbClr val="2E5E8A"/>
          </a:solidFill>
          <a:ln/>
        </p:spPr>
      </p:sp>
      <p:sp>
        <p:nvSpPr>
          <p:cNvPr id="16" name="Text 14"/>
          <p:cNvSpPr/>
          <p:nvPr/>
        </p:nvSpPr>
        <p:spPr>
          <a:xfrm>
            <a:off x="8382000" y="4546600"/>
            <a:ext cx="660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RDF (Data Model)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5080000"/>
            <a:ext cx="6604000" cy="482600"/>
          </a:xfrm>
          <a:prstGeom prst="rect">
            <a:avLst/>
          </a:prstGeom>
          <a:solidFill>
            <a:srgbClr val="2E5E8A"/>
          </a:solidFill>
          <a:ln/>
        </p:spPr>
      </p:sp>
      <p:sp>
        <p:nvSpPr>
          <p:cNvPr id="18" name="Text 16"/>
          <p:cNvSpPr/>
          <p:nvPr/>
        </p:nvSpPr>
        <p:spPr>
          <a:xfrm>
            <a:off x="8382000" y="5080000"/>
            <a:ext cx="660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XML / URI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70000" y="6096000"/>
            <a:ext cx="13716000" cy="1651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51000" y="6223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OWL Key Constructs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51000" y="6540500"/>
            <a:ext cx="1295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Classes and Individuals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concepts and their instances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Properties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object properties and datatype properties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Restrictions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allValuesFrom, someValuesFrom, cardinality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and Using Ontologies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Ontology Engineering Steps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460500" y="2476500"/>
            <a:ext cx="457200" cy="4572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1460500" y="2476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95500" y="2476500"/>
            <a:ext cx="533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Define scope and purpose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60500" y="3073400"/>
            <a:ext cx="457200" cy="4572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1460500" y="30734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95500" y="3073400"/>
            <a:ext cx="533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Consider reuse of existing ontologies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60500" y="3670300"/>
            <a:ext cx="457200" cy="4572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1460500" y="36703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95500" y="3670300"/>
            <a:ext cx="533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Enumerate important terms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60500" y="4267200"/>
            <a:ext cx="457200" cy="4572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1460500" y="42672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95500" y="4267200"/>
            <a:ext cx="533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Define classes and class hierarchy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460500" y="4864100"/>
            <a:ext cx="457200" cy="4572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1460500" y="48641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95500" y="4864100"/>
            <a:ext cx="533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Define properties and constraints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460500" y="5461000"/>
            <a:ext cx="457200" cy="4572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21" name="Text 19"/>
          <p:cNvSpPr/>
          <p:nvPr/>
        </p:nvSpPr>
        <p:spPr>
          <a:xfrm>
            <a:off x="1460500" y="5461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095500" y="5461000"/>
            <a:ext cx="533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 instances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82000" y="1841500"/>
            <a:ext cx="660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Applications &amp; Services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382000" y="2413000"/>
            <a:ext cx="6604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Semantic Web — machine-readable content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Biomedical informatics — Gene Ontology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Enterprise knowledge management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E-commerce — product categorization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Reasoning Services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Consistency checking · Classification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Instance checking · Query answering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270000" y="3048000"/>
            <a:ext cx="137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Logics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Formal systems for knowledge representation and reasoning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Propositional and First-Order Logic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51000" y="20955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Propositional Logic (PL)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51000" y="2540000"/>
            <a:ext cx="584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Propositions are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or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false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Connectives: AND (∧), OR (∨), NOT (¬)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IMPLIES (→), IFF (↔)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Limitation: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Cannot express relationships or quantify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382000" y="1905000"/>
            <a:ext cx="6604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63000" y="20955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First-Order Logic (FOL)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763000" y="2540000"/>
            <a:ext cx="584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Extends PL with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predicates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variables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Predicates: Dog(x), Loves(x,y)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Quantifiers: ∀ (for all), ∃ (exists)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Functions: fatherOf(x)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Much more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expressive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than PL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70000" y="5207000"/>
            <a:ext cx="13716000" cy="2540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11" name="Text 9"/>
          <p:cNvSpPr/>
          <p:nvPr/>
        </p:nvSpPr>
        <p:spPr>
          <a:xfrm>
            <a:off x="1778000" y="5397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FOL Examples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78000" y="5905500"/>
            <a:ext cx="12700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"All humans are mortal" → </a:t>
            </a:r>
            <a:pPr algn="l">
              <a:lnSpc>
                <a:spcPct val="17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∀x (Human(x) → Mortal(x))</a:t>
            </a:r>
            <a:endParaRPr lang="en-US" sz="2000" dirty="0"/>
          </a:p>
          <a:p>
            <a:pPr algn="l">
              <a:lnSpc>
                <a:spcPct val="17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"Socrates is human" → </a:t>
            </a:r>
            <a:pPr algn="l">
              <a:lnSpc>
                <a:spcPct val="17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Human(Socrates)</a:t>
            </a:r>
            <a:endParaRPr lang="en-US" sz="2000" dirty="0"/>
          </a:p>
          <a:p>
            <a:pPr algn="l">
              <a:lnSpc>
                <a:spcPct val="17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"Therefore, Socrates is mortal" → </a:t>
            </a:r>
            <a:pPr algn="l">
              <a:lnSpc>
                <a:spcPct val="17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Mortal(Socrates)</a:t>
            </a:r>
            <a:pPr algn="l">
              <a:lnSpc>
                <a:spcPct val="17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(via modus ponens)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Logic-Based Reasoning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Inference Rules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70000" y="2413000"/>
            <a:ext cx="6350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Modus Ponens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From P→Q and P, infer Q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Modus Tollens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From P→Q and ¬Q, infer ¬P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Universal Instantiation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From ∀x P(x), infer P(a)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Resolution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Complete inference rule for FOL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382000" y="1841500"/>
            <a:ext cx="3175000" cy="215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588500" y="2006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0" y="2514600"/>
            <a:ext cx="266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572500" y="29210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Formal semantics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Sound &amp; complete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811000" y="1841500"/>
            <a:ext cx="3175000" cy="215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017500" y="2006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03200" y="107950"/>
                </a:moveTo>
                <a:cubicBezTo>
                  <a:pt x="213757" y="107950"/>
                  <a:pt x="222250" y="116443"/>
                  <a:pt x="222250" y="127000"/>
                </a:cubicBezTo>
                <a:lnTo>
                  <a:pt x="222250" y="215900"/>
                </a:lnTo>
                <a:cubicBezTo>
                  <a:pt x="222250" y="226457"/>
                  <a:pt x="213757" y="234950"/>
                  <a:pt x="203200" y="234950"/>
                </a:cubicBezTo>
                <a:cubicBezTo>
                  <a:pt x="192643" y="234950"/>
                  <a:pt x="184150" y="226457"/>
                  <a:pt x="184150" y="215900"/>
                </a:cubicBezTo>
                <a:lnTo>
                  <a:pt x="184150" y="127000"/>
                </a:lnTo>
                <a:cubicBezTo>
                  <a:pt x="184150" y="116443"/>
                  <a:pt x="192643" y="107950"/>
                  <a:pt x="203200" y="107950"/>
                </a:cubicBezTo>
                <a:close/>
                <a:moveTo>
                  <a:pt x="182007" y="279400"/>
                </a:moveTo>
                <a:cubicBezTo>
                  <a:pt x="181525" y="271533"/>
                  <a:pt x="185448" y="264049"/>
                  <a:pt x="192192" y="259970"/>
                </a:cubicBezTo>
                <a:cubicBezTo>
                  <a:pt x="198935" y="255891"/>
                  <a:pt x="207385" y="255891"/>
                  <a:pt x="214129" y="259970"/>
                </a:cubicBezTo>
                <a:cubicBezTo>
                  <a:pt x="220873" y="264049"/>
                  <a:pt x="224796" y="271533"/>
                  <a:pt x="224314" y="279400"/>
                </a:cubicBezTo>
                <a:cubicBezTo>
                  <a:pt x="224796" y="287267"/>
                  <a:pt x="220873" y="294751"/>
                  <a:pt x="214129" y="298830"/>
                </a:cubicBezTo>
                <a:cubicBezTo>
                  <a:pt x="207385" y="302909"/>
                  <a:pt x="198935" y="302909"/>
                  <a:pt x="192192" y="298830"/>
                </a:cubicBezTo>
                <a:cubicBezTo>
                  <a:pt x="185448" y="294751"/>
                  <a:pt x="181525" y="287267"/>
                  <a:pt x="182007" y="2794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12065000" y="2514600"/>
            <a:ext cx="266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001500" y="29210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Semi-decidable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Frame problem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382000" y="4318000"/>
            <a:ext cx="6604000" cy="1778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5" name="Text 13"/>
          <p:cNvSpPr/>
          <p:nvPr/>
        </p:nvSpPr>
        <p:spPr>
          <a:xfrm>
            <a:off x="8763000" y="4445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 Representation with Logic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763000" y="4889500"/>
            <a:ext cx="584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Facts → Well-formed formulas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Rules → Inference procedures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Knowledge Base → Set of axioms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Description Logics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Description Logics (DL) are a family of KR languages that balance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expressiveness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and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computational tractability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DL forms the logical foundation of OWL.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70000" y="2794000"/>
            <a:ext cx="4318000" cy="228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1000" y="298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90500" y="63500"/>
                </a:moveTo>
                <a:cubicBezTo>
                  <a:pt x="190500" y="45938"/>
                  <a:pt x="204688" y="31750"/>
                  <a:pt x="222250" y="31750"/>
                </a:cubicBezTo>
                <a:lnTo>
                  <a:pt x="285750" y="31750"/>
                </a:lnTo>
                <a:cubicBezTo>
                  <a:pt x="303312" y="31750"/>
                  <a:pt x="317500" y="45938"/>
                  <a:pt x="317500" y="63500"/>
                </a:cubicBezTo>
                <a:lnTo>
                  <a:pt x="317500" y="127000"/>
                </a:lnTo>
                <a:cubicBezTo>
                  <a:pt x="317500" y="144562"/>
                  <a:pt x="303312" y="158750"/>
                  <a:pt x="285750" y="158750"/>
                </a:cubicBezTo>
                <a:lnTo>
                  <a:pt x="277813" y="158750"/>
                </a:lnTo>
                <a:lnTo>
                  <a:pt x="277813" y="222250"/>
                </a:lnTo>
                <a:lnTo>
                  <a:pt x="396875" y="222250"/>
                </a:lnTo>
                <a:cubicBezTo>
                  <a:pt x="436364" y="222250"/>
                  <a:pt x="468313" y="254198"/>
                  <a:pt x="468313" y="293688"/>
                </a:cubicBezTo>
                <a:lnTo>
                  <a:pt x="468313" y="349250"/>
                </a:lnTo>
                <a:lnTo>
                  <a:pt x="476250" y="349250"/>
                </a:lnTo>
                <a:cubicBezTo>
                  <a:pt x="493812" y="349250"/>
                  <a:pt x="508000" y="363438"/>
                  <a:pt x="508000" y="381000"/>
                </a:cubicBezTo>
                <a:lnTo>
                  <a:pt x="508000" y="444500"/>
                </a:lnTo>
                <a:cubicBezTo>
                  <a:pt x="508000" y="462062"/>
                  <a:pt x="493812" y="476250"/>
                  <a:pt x="476250" y="476250"/>
                </a:cubicBezTo>
                <a:lnTo>
                  <a:pt x="412750" y="476250"/>
                </a:lnTo>
                <a:cubicBezTo>
                  <a:pt x="395188" y="476250"/>
                  <a:pt x="381000" y="462062"/>
                  <a:pt x="381000" y="444500"/>
                </a:cubicBezTo>
                <a:lnTo>
                  <a:pt x="381000" y="381000"/>
                </a:lnTo>
                <a:cubicBezTo>
                  <a:pt x="381000" y="363438"/>
                  <a:pt x="395188" y="349250"/>
                  <a:pt x="412750" y="349250"/>
                </a:cubicBezTo>
                <a:lnTo>
                  <a:pt x="420688" y="349250"/>
                </a:lnTo>
                <a:lnTo>
                  <a:pt x="420688" y="293688"/>
                </a:lnTo>
                <a:cubicBezTo>
                  <a:pt x="420688" y="280491"/>
                  <a:pt x="410071" y="269875"/>
                  <a:pt x="396875" y="269875"/>
                </a:cubicBezTo>
                <a:lnTo>
                  <a:pt x="277813" y="269875"/>
                </a:lnTo>
                <a:lnTo>
                  <a:pt x="277813" y="349250"/>
                </a:lnTo>
                <a:lnTo>
                  <a:pt x="285750" y="349250"/>
                </a:lnTo>
                <a:cubicBezTo>
                  <a:pt x="303312" y="349250"/>
                  <a:pt x="317500" y="363438"/>
                  <a:pt x="317500" y="381000"/>
                </a:cubicBezTo>
                <a:lnTo>
                  <a:pt x="317500" y="444500"/>
                </a:lnTo>
                <a:cubicBezTo>
                  <a:pt x="317500" y="462062"/>
                  <a:pt x="303312" y="476250"/>
                  <a:pt x="285750" y="476250"/>
                </a:cubicBezTo>
                <a:lnTo>
                  <a:pt x="222250" y="476250"/>
                </a:lnTo>
                <a:cubicBezTo>
                  <a:pt x="204688" y="476250"/>
                  <a:pt x="190500" y="462062"/>
                  <a:pt x="190500" y="444500"/>
                </a:cubicBezTo>
                <a:lnTo>
                  <a:pt x="190500" y="381000"/>
                </a:lnTo>
                <a:cubicBezTo>
                  <a:pt x="190500" y="363438"/>
                  <a:pt x="204688" y="349250"/>
                  <a:pt x="222250" y="349250"/>
                </a:cubicBezTo>
                <a:lnTo>
                  <a:pt x="230188" y="349250"/>
                </a:lnTo>
                <a:lnTo>
                  <a:pt x="230188" y="269875"/>
                </a:lnTo>
                <a:lnTo>
                  <a:pt x="111125" y="269875"/>
                </a:lnTo>
                <a:cubicBezTo>
                  <a:pt x="97929" y="269875"/>
                  <a:pt x="87313" y="280491"/>
                  <a:pt x="87313" y="293688"/>
                </a:cubicBezTo>
                <a:lnTo>
                  <a:pt x="87313" y="349250"/>
                </a:lnTo>
                <a:lnTo>
                  <a:pt x="95250" y="349250"/>
                </a:lnTo>
                <a:cubicBezTo>
                  <a:pt x="112812" y="349250"/>
                  <a:pt x="127000" y="363438"/>
                  <a:pt x="127000" y="381000"/>
                </a:cubicBezTo>
                <a:lnTo>
                  <a:pt x="127000" y="444500"/>
                </a:lnTo>
                <a:cubicBezTo>
                  <a:pt x="127000" y="462062"/>
                  <a:pt x="112812" y="476250"/>
                  <a:pt x="95250" y="476250"/>
                </a:cubicBezTo>
                <a:lnTo>
                  <a:pt x="31750" y="476250"/>
                </a:lnTo>
                <a:cubicBezTo>
                  <a:pt x="14188" y="476250"/>
                  <a:pt x="0" y="462062"/>
                  <a:pt x="0" y="444500"/>
                </a:cubicBezTo>
                <a:lnTo>
                  <a:pt x="0" y="381000"/>
                </a:lnTo>
                <a:cubicBezTo>
                  <a:pt x="0" y="363438"/>
                  <a:pt x="14188" y="349250"/>
                  <a:pt x="31750" y="349250"/>
                </a:cubicBezTo>
                <a:lnTo>
                  <a:pt x="39688" y="349250"/>
                </a:lnTo>
                <a:lnTo>
                  <a:pt x="39688" y="293688"/>
                </a:lnTo>
                <a:cubicBezTo>
                  <a:pt x="39688" y="254198"/>
                  <a:pt x="71636" y="222250"/>
                  <a:pt x="111125" y="222250"/>
                </a:cubicBezTo>
                <a:lnTo>
                  <a:pt x="230188" y="222250"/>
                </a:lnTo>
                <a:lnTo>
                  <a:pt x="230188" y="158750"/>
                </a:lnTo>
                <a:lnTo>
                  <a:pt x="222250" y="158750"/>
                </a:lnTo>
                <a:cubicBezTo>
                  <a:pt x="204688" y="158750"/>
                  <a:pt x="190500" y="144562"/>
                  <a:pt x="190500" y="127000"/>
                </a:cubicBezTo>
                <a:lnTo>
                  <a:pt x="190500" y="6350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3619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Concepts / Classes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24000" y="4038600"/>
            <a:ext cx="381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Unary predicates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e.g., Person, Animal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69000" y="2794000"/>
            <a:ext cx="4318000" cy="228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620000" y="298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15043" y="371673"/>
                </a:moveTo>
                <a:lnTo>
                  <a:pt x="499710" y="276423"/>
                </a:lnTo>
                <a:cubicBezTo>
                  <a:pt x="510734" y="264021"/>
                  <a:pt x="510734" y="243880"/>
                  <a:pt x="499710" y="231477"/>
                </a:cubicBezTo>
                <a:lnTo>
                  <a:pt x="415043" y="136227"/>
                </a:lnTo>
                <a:cubicBezTo>
                  <a:pt x="404019" y="123825"/>
                  <a:pt x="386115" y="123825"/>
                  <a:pt x="375091" y="136227"/>
                </a:cubicBezTo>
                <a:cubicBezTo>
                  <a:pt x="364067" y="148630"/>
                  <a:pt x="364067" y="168771"/>
                  <a:pt x="375091" y="181173"/>
                </a:cubicBezTo>
                <a:lnTo>
                  <a:pt x="411603" y="222250"/>
                </a:lnTo>
                <a:lnTo>
                  <a:pt x="96308" y="222250"/>
                </a:lnTo>
                <a:lnTo>
                  <a:pt x="132821" y="181173"/>
                </a:lnTo>
                <a:cubicBezTo>
                  <a:pt x="143845" y="168771"/>
                  <a:pt x="143845" y="148630"/>
                  <a:pt x="132821" y="136227"/>
                </a:cubicBezTo>
                <a:cubicBezTo>
                  <a:pt x="121797" y="123825"/>
                  <a:pt x="103893" y="123825"/>
                  <a:pt x="92869" y="136227"/>
                </a:cubicBezTo>
                <a:lnTo>
                  <a:pt x="8202" y="231477"/>
                </a:lnTo>
                <a:cubicBezTo>
                  <a:pt x="2910" y="237430"/>
                  <a:pt x="-88" y="245467"/>
                  <a:pt x="-88" y="253901"/>
                </a:cubicBezTo>
                <a:cubicBezTo>
                  <a:pt x="-88" y="262334"/>
                  <a:pt x="2910" y="270371"/>
                  <a:pt x="8202" y="276324"/>
                </a:cubicBezTo>
                <a:lnTo>
                  <a:pt x="92869" y="371574"/>
                </a:lnTo>
                <a:cubicBezTo>
                  <a:pt x="103893" y="383977"/>
                  <a:pt x="121797" y="383977"/>
                  <a:pt x="132821" y="371574"/>
                </a:cubicBezTo>
                <a:cubicBezTo>
                  <a:pt x="143845" y="359172"/>
                  <a:pt x="143845" y="339030"/>
                  <a:pt x="132821" y="326628"/>
                </a:cubicBezTo>
                <a:lnTo>
                  <a:pt x="96308" y="285552"/>
                </a:lnTo>
                <a:lnTo>
                  <a:pt x="411603" y="285552"/>
                </a:lnTo>
                <a:lnTo>
                  <a:pt x="375091" y="326628"/>
                </a:lnTo>
                <a:cubicBezTo>
                  <a:pt x="364067" y="339030"/>
                  <a:pt x="364067" y="359172"/>
                  <a:pt x="375091" y="371574"/>
                </a:cubicBezTo>
                <a:cubicBezTo>
                  <a:pt x="386115" y="383977"/>
                  <a:pt x="404019" y="383977"/>
                  <a:pt x="415043" y="371574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1" name="Text 9"/>
          <p:cNvSpPr/>
          <p:nvPr/>
        </p:nvSpPr>
        <p:spPr>
          <a:xfrm>
            <a:off x="6223000" y="3619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Roles / Properties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223000" y="4038600"/>
            <a:ext cx="381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Binary relations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e.g., hasChild, marriedTo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668000" y="2794000"/>
            <a:ext cx="4318000" cy="228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2319000" y="298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246063"/>
                </a:moveTo>
                <a:cubicBezTo>
                  <a:pt x="329100" y="246063"/>
                  <a:pt x="390071" y="192712"/>
                  <a:pt x="390071" y="127000"/>
                </a:cubicBezTo>
                <a:cubicBezTo>
                  <a:pt x="390071" y="61288"/>
                  <a:pt x="329100" y="7938"/>
                  <a:pt x="254000" y="7938"/>
                </a:cubicBezTo>
                <a:cubicBezTo>
                  <a:pt x="178900" y="7938"/>
                  <a:pt x="117929" y="61288"/>
                  <a:pt x="117929" y="127000"/>
                </a:cubicBezTo>
                <a:cubicBezTo>
                  <a:pt x="117929" y="192712"/>
                  <a:pt x="178900" y="246063"/>
                  <a:pt x="254000" y="246063"/>
                </a:cubicBezTo>
                <a:close/>
                <a:moveTo>
                  <a:pt x="220322" y="301625"/>
                </a:moveTo>
                <a:cubicBezTo>
                  <a:pt x="108630" y="301625"/>
                  <a:pt x="18143" y="380802"/>
                  <a:pt x="18143" y="478532"/>
                </a:cubicBezTo>
                <a:cubicBezTo>
                  <a:pt x="18143" y="494804"/>
                  <a:pt x="33224" y="508000"/>
                  <a:pt x="51821" y="508000"/>
                </a:cubicBezTo>
                <a:lnTo>
                  <a:pt x="456179" y="508000"/>
                </a:lnTo>
                <a:cubicBezTo>
                  <a:pt x="474776" y="508000"/>
                  <a:pt x="489857" y="494804"/>
                  <a:pt x="489857" y="478532"/>
                </a:cubicBezTo>
                <a:cubicBezTo>
                  <a:pt x="489857" y="380802"/>
                  <a:pt x="399370" y="301625"/>
                  <a:pt x="287678" y="301625"/>
                </a:cubicBezTo>
                <a:lnTo>
                  <a:pt x="220322" y="301625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5" name="Text 13"/>
          <p:cNvSpPr/>
          <p:nvPr/>
        </p:nvSpPr>
        <p:spPr>
          <a:xfrm>
            <a:off x="10922000" y="3619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Individuals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22000" y="4038600"/>
            <a:ext cx="381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Named constants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e.g., john, mary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70000" y="5461000"/>
            <a:ext cx="6604000" cy="2286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51000" y="56515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Common DL Constructors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51000" y="6070600"/>
            <a:ext cx="584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Conjunction (C ⊓ D), Disjunction (C ⊔ D)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Negation (¬C)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Existential (∃r.C), Universal (∀r.C)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Number restrictions (≥n r, ≤n r)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82000" y="5461000"/>
            <a:ext cx="6604000" cy="2286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1" name="Text 19"/>
          <p:cNvSpPr/>
          <p:nvPr/>
        </p:nvSpPr>
        <p:spPr>
          <a:xfrm>
            <a:off x="8763000" y="56515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DL Family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763000" y="6070600"/>
            <a:ext cx="584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ALC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basic expressive DL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SHOIN(D)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corresponds to OWL DL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SROIQ(D)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corresponds to OWL 2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Reasoning: satisfiability, subsumption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270000" y="3048000"/>
            <a:ext cx="137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Rules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IF-THEN rules for knowledge encoding and inference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Rule Systems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270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778000" y="2032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&lt;condition&gt;</a:t>
            </a:r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THEN</a:t>
            </a:r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&lt;action&gt;</a:t>
            </a:r>
            <a:endParaRPr lang="en-US" sz="2400" dirty="0"/>
          </a:p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Condition (LHS) specifies when the rule applies · Action (RHS) specifies what to do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70000" y="3556000"/>
            <a:ext cx="4318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1000" y="3746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28476" y="63500"/>
                  <a:pt x="0" y="91976"/>
                  <a:pt x="0" y="127000"/>
                </a:cubicBezTo>
                <a:lnTo>
                  <a:pt x="0" y="134342"/>
                </a:lnTo>
                <a:cubicBezTo>
                  <a:pt x="0" y="141089"/>
                  <a:pt x="4366" y="146844"/>
                  <a:pt x="10021" y="150515"/>
                </a:cubicBezTo>
                <a:cubicBezTo>
                  <a:pt x="23118" y="159048"/>
                  <a:pt x="31750" y="173732"/>
                  <a:pt x="31750" y="190500"/>
                </a:cubicBezTo>
                <a:cubicBezTo>
                  <a:pt x="31750" y="207268"/>
                  <a:pt x="23118" y="221952"/>
                  <a:pt x="10021" y="230485"/>
                </a:cubicBezTo>
                <a:cubicBezTo>
                  <a:pt x="4366" y="234156"/>
                  <a:pt x="0" y="239911"/>
                  <a:pt x="0" y="246658"/>
                </a:cubicBezTo>
                <a:lnTo>
                  <a:pt x="0" y="301625"/>
                </a:lnTo>
                <a:lnTo>
                  <a:pt x="508000" y="301625"/>
                </a:lnTo>
                <a:lnTo>
                  <a:pt x="508000" y="246658"/>
                </a:lnTo>
                <a:cubicBezTo>
                  <a:pt x="508000" y="239911"/>
                  <a:pt x="503634" y="234156"/>
                  <a:pt x="497979" y="230485"/>
                </a:cubicBezTo>
                <a:cubicBezTo>
                  <a:pt x="484882" y="221952"/>
                  <a:pt x="476250" y="207268"/>
                  <a:pt x="476250" y="190500"/>
                </a:cubicBezTo>
                <a:cubicBezTo>
                  <a:pt x="476250" y="173732"/>
                  <a:pt x="484882" y="159048"/>
                  <a:pt x="497979" y="150515"/>
                </a:cubicBezTo>
                <a:cubicBezTo>
                  <a:pt x="503634" y="146844"/>
                  <a:pt x="508000" y="141089"/>
                  <a:pt x="508000" y="134342"/>
                </a:cubicBezTo>
                <a:lnTo>
                  <a:pt x="508000" y="127000"/>
                </a:lnTo>
                <a:cubicBezTo>
                  <a:pt x="508000" y="91976"/>
                  <a:pt x="479524" y="63500"/>
                  <a:pt x="444500" y="63500"/>
                </a:cubicBezTo>
                <a:lnTo>
                  <a:pt x="63500" y="63500"/>
                </a:lnTo>
                <a:close/>
                <a:moveTo>
                  <a:pt x="508000" y="412750"/>
                </a:moveTo>
                <a:lnTo>
                  <a:pt x="508000" y="349250"/>
                </a:lnTo>
                <a:lnTo>
                  <a:pt x="0" y="349250"/>
                </a:lnTo>
                <a:lnTo>
                  <a:pt x="0" y="412750"/>
                </a:lnTo>
                <a:cubicBezTo>
                  <a:pt x="0" y="430312"/>
                  <a:pt x="14188" y="444500"/>
                  <a:pt x="31750" y="444500"/>
                </a:cubicBezTo>
                <a:lnTo>
                  <a:pt x="95250" y="444500"/>
                </a:lnTo>
                <a:lnTo>
                  <a:pt x="95250" y="420688"/>
                </a:lnTo>
                <a:cubicBezTo>
                  <a:pt x="95250" y="407491"/>
                  <a:pt x="105866" y="396875"/>
                  <a:pt x="119063" y="396875"/>
                </a:cubicBezTo>
                <a:cubicBezTo>
                  <a:pt x="132259" y="396875"/>
                  <a:pt x="142875" y="407491"/>
                  <a:pt x="142875" y="420688"/>
                </a:cubicBezTo>
                <a:lnTo>
                  <a:pt x="142875" y="444500"/>
                </a:lnTo>
                <a:lnTo>
                  <a:pt x="230188" y="444500"/>
                </a:lnTo>
                <a:lnTo>
                  <a:pt x="230188" y="420688"/>
                </a:lnTo>
                <a:cubicBezTo>
                  <a:pt x="230188" y="407491"/>
                  <a:pt x="240804" y="396875"/>
                  <a:pt x="254000" y="396875"/>
                </a:cubicBezTo>
                <a:cubicBezTo>
                  <a:pt x="267196" y="396875"/>
                  <a:pt x="277813" y="407491"/>
                  <a:pt x="277813" y="420688"/>
                </a:cubicBezTo>
                <a:lnTo>
                  <a:pt x="277813" y="444500"/>
                </a:lnTo>
                <a:lnTo>
                  <a:pt x="365125" y="444500"/>
                </a:lnTo>
                <a:lnTo>
                  <a:pt x="365125" y="420688"/>
                </a:lnTo>
                <a:cubicBezTo>
                  <a:pt x="365125" y="407491"/>
                  <a:pt x="375741" y="396875"/>
                  <a:pt x="388938" y="396875"/>
                </a:cubicBezTo>
                <a:cubicBezTo>
                  <a:pt x="402134" y="396875"/>
                  <a:pt x="412750" y="407491"/>
                  <a:pt x="412750" y="420688"/>
                </a:cubicBezTo>
                <a:lnTo>
                  <a:pt x="412750" y="444500"/>
                </a:lnTo>
                <a:lnTo>
                  <a:pt x="476250" y="444500"/>
                </a:lnTo>
                <a:cubicBezTo>
                  <a:pt x="493812" y="444500"/>
                  <a:pt x="508000" y="430312"/>
                  <a:pt x="508000" y="412750"/>
                </a:cubicBezTo>
                <a:close/>
                <a:moveTo>
                  <a:pt x="158750" y="158750"/>
                </a:moveTo>
                <a:lnTo>
                  <a:pt x="158750" y="222250"/>
                </a:lnTo>
                <a:cubicBezTo>
                  <a:pt x="158750" y="239812"/>
                  <a:pt x="144562" y="254000"/>
                  <a:pt x="127000" y="254000"/>
                </a:cubicBezTo>
                <a:cubicBezTo>
                  <a:pt x="109438" y="254000"/>
                  <a:pt x="95250" y="239812"/>
                  <a:pt x="95250" y="222250"/>
                </a:cubicBezTo>
                <a:lnTo>
                  <a:pt x="95250" y="158750"/>
                </a:lnTo>
                <a:cubicBezTo>
                  <a:pt x="95250" y="141188"/>
                  <a:pt x="109438" y="127000"/>
                  <a:pt x="127000" y="127000"/>
                </a:cubicBezTo>
                <a:cubicBezTo>
                  <a:pt x="144562" y="127000"/>
                  <a:pt x="158750" y="141188"/>
                  <a:pt x="158750" y="158750"/>
                </a:cubicBezTo>
                <a:close/>
                <a:moveTo>
                  <a:pt x="285750" y="158750"/>
                </a:moveTo>
                <a:lnTo>
                  <a:pt x="285750" y="222250"/>
                </a:lnTo>
                <a:cubicBezTo>
                  <a:pt x="285750" y="239812"/>
                  <a:pt x="271562" y="254000"/>
                  <a:pt x="254000" y="254000"/>
                </a:cubicBezTo>
                <a:cubicBezTo>
                  <a:pt x="236438" y="254000"/>
                  <a:pt x="222250" y="239812"/>
                  <a:pt x="222250" y="222250"/>
                </a:cubicBezTo>
                <a:lnTo>
                  <a:pt x="222250" y="158750"/>
                </a:lnTo>
                <a:cubicBezTo>
                  <a:pt x="222250" y="141188"/>
                  <a:pt x="236438" y="127000"/>
                  <a:pt x="254000" y="127000"/>
                </a:cubicBezTo>
                <a:cubicBezTo>
                  <a:pt x="271562" y="127000"/>
                  <a:pt x="285750" y="141188"/>
                  <a:pt x="285750" y="158750"/>
                </a:cubicBezTo>
                <a:close/>
                <a:moveTo>
                  <a:pt x="412750" y="158750"/>
                </a:moveTo>
                <a:lnTo>
                  <a:pt x="412750" y="222250"/>
                </a:lnTo>
                <a:cubicBezTo>
                  <a:pt x="412750" y="239812"/>
                  <a:pt x="398562" y="254000"/>
                  <a:pt x="381000" y="254000"/>
                </a:cubicBezTo>
                <a:cubicBezTo>
                  <a:pt x="363438" y="254000"/>
                  <a:pt x="349250" y="239812"/>
                  <a:pt x="349250" y="222250"/>
                </a:cubicBezTo>
                <a:lnTo>
                  <a:pt x="349250" y="158750"/>
                </a:lnTo>
                <a:cubicBezTo>
                  <a:pt x="349250" y="141188"/>
                  <a:pt x="363438" y="127000"/>
                  <a:pt x="381000" y="127000"/>
                </a:cubicBezTo>
                <a:cubicBezTo>
                  <a:pt x="398562" y="127000"/>
                  <a:pt x="412750" y="141188"/>
                  <a:pt x="412750" y="1587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4381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Working Memory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24000" y="48006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Stores current facts and assertions that rules operate 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69000" y="3556000"/>
            <a:ext cx="4318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620000" y="3746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32755" y="36016"/>
                </a:moveTo>
                <a:cubicBezTo>
                  <a:pt x="143570" y="43557"/>
                  <a:pt x="146149" y="58440"/>
                  <a:pt x="138609" y="69155"/>
                </a:cubicBezTo>
                <a:lnTo>
                  <a:pt x="83046" y="148530"/>
                </a:lnTo>
                <a:cubicBezTo>
                  <a:pt x="78978" y="154285"/>
                  <a:pt x="72628" y="157956"/>
                  <a:pt x="65584" y="158552"/>
                </a:cubicBezTo>
                <a:cubicBezTo>
                  <a:pt x="58539" y="159147"/>
                  <a:pt x="51594" y="156766"/>
                  <a:pt x="46633" y="151805"/>
                </a:cubicBezTo>
                <a:lnTo>
                  <a:pt x="6945" y="112117"/>
                </a:lnTo>
                <a:cubicBezTo>
                  <a:pt x="-2282" y="102791"/>
                  <a:pt x="-2282" y="87709"/>
                  <a:pt x="6945" y="78383"/>
                </a:cubicBezTo>
                <a:cubicBezTo>
                  <a:pt x="16173" y="69056"/>
                  <a:pt x="31353" y="69155"/>
                  <a:pt x="40680" y="78383"/>
                </a:cubicBezTo>
                <a:lnTo>
                  <a:pt x="60325" y="98028"/>
                </a:lnTo>
                <a:lnTo>
                  <a:pt x="99616" y="41870"/>
                </a:lnTo>
                <a:cubicBezTo>
                  <a:pt x="107156" y="31055"/>
                  <a:pt x="122039" y="28476"/>
                  <a:pt x="132755" y="36016"/>
                </a:cubicBezTo>
                <a:close/>
                <a:moveTo>
                  <a:pt x="132755" y="194766"/>
                </a:moveTo>
                <a:cubicBezTo>
                  <a:pt x="143570" y="202307"/>
                  <a:pt x="146149" y="217190"/>
                  <a:pt x="138609" y="227905"/>
                </a:cubicBezTo>
                <a:lnTo>
                  <a:pt x="83046" y="307280"/>
                </a:lnTo>
                <a:cubicBezTo>
                  <a:pt x="78978" y="313035"/>
                  <a:pt x="72628" y="316706"/>
                  <a:pt x="65584" y="317302"/>
                </a:cubicBezTo>
                <a:cubicBezTo>
                  <a:pt x="58539" y="317897"/>
                  <a:pt x="51594" y="315516"/>
                  <a:pt x="46633" y="310555"/>
                </a:cubicBezTo>
                <a:lnTo>
                  <a:pt x="6945" y="270867"/>
                </a:lnTo>
                <a:cubicBezTo>
                  <a:pt x="-2381" y="261541"/>
                  <a:pt x="-2381" y="246459"/>
                  <a:pt x="6945" y="237232"/>
                </a:cubicBezTo>
                <a:cubicBezTo>
                  <a:pt x="16272" y="228005"/>
                  <a:pt x="31353" y="227905"/>
                  <a:pt x="40580" y="237232"/>
                </a:cubicBezTo>
                <a:lnTo>
                  <a:pt x="60226" y="256877"/>
                </a:lnTo>
                <a:lnTo>
                  <a:pt x="99516" y="200720"/>
                </a:lnTo>
                <a:cubicBezTo>
                  <a:pt x="107057" y="189905"/>
                  <a:pt x="121940" y="187325"/>
                  <a:pt x="132655" y="194866"/>
                </a:cubicBezTo>
                <a:close/>
                <a:moveTo>
                  <a:pt x="222250" y="95250"/>
                </a:moveTo>
                <a:cubicBezTo>
                  <a:pt x="222250" y="77688"/>
                  <a:pt x="236438" y="63500"/>
                  <a:pt x="254000" y="63500"/>
                </a:cubicBezTo>
                <a:lnTo>
                  <a:pt x="476250" y="63500"/>
                </a:lnTo>
                <a:cubicBezTo>
                  <a:pt x="493812" y="63500"/>
                  <a:pt x="508000" y="77688"/>
                  <a:pt x="508000" y="95250"/>
                </a:cubicBezTo>
                <a:cubicBezTo>
                  <a:pt x="508000" y="112812"/>
                  <a:pt x="493812" y="127000"/>
                  <a:pt x="476250" y="127000"/>
                </a:cubicBezTo>
                <a:lnTo>
                  <a:pt x="254000" y="127000"/>
                </a:lnTo>
                <a:cubicBezTo>
                  <a:pt x="236438" y="127000"/>
                  <a:pt x="222250" y="112812"/>
                  <a:pt x="222250" y="95250"/>
                </a:cubicBezTo>
                <a:close/>
                <a:moveTo>
                  <a:pt x="222250" y="254000"/>
                </a:moveTo>
                <a:cubicBezTo>
                  <a:pt x="222250" y="236438"/>
                  <a:pt x="236438" y="222250"/>
                  <a:pt x="254000" y="222250"/>
                </a:cubicBezTo>
                <a:lnTo>
                  <a:pt x="476250" y="222250"/>
                </a:lnTo>
                <a:cubicBezTo>
                  <a:pt x="493812" y="222250"/>
                  <a:pt x="508000" y="236438"/>
                  <a:pt x="508000" y="254000"/>
                </a:cubicBezTo>
                <a:cubicBezTo>
                  <a:pt x="508000" y="271562"/>
                  <a:pt x="493812" y="285750"/>
                  <a:pt x="476250" y="285750"/>
                </a:cubicBezTo>
                <a:lnTo>
                  <a:pt x="254000" y="285750"/>
                </a:lnTo>
                <a:cubicBezTo>
                  <a:pt x="236438" y="285750"/>
                  <a:pt x="222250" y="271562"/>
                  <a:pt x="222250" y="254000"/>
                </a:cubicBezTo>
                <a:close/>
                <a:moveTo>
                  <a:pt x="158750" y="412750"/>
                </a:moveTo>
                <a:cubicBezTo>
                  <a:pt x="158750" y="395188"/>
                  <a:pt x="172938" y="381000"/>
                  <a:pt x="190500" y="381000"/>
                </a:cubicBezTo>
                <a:lnTo>
                  <a:pt x="476250" y="381000"/>
                </a:lnTo>
                <a:cubicBezTo>
                  <a:pt x="493812" y="381000"/>
                  <a:pt x="508000" y="395188"/>
                  <a:pt x="508000" y="412750"/>
                </a:cubicBezTo>
                <a:cubicBezTo>
                  <a:pt x="508000" y="430312"/>
                  <a:pt x="493812" y="444500"/>
                  <a:pt x="476250" y="444500"/>
                </a:cubicBezTo>
                <a:lnTo>
                  <a:pt x="190500" y="444500"/>
                </a:lnTo>
                <a:cubicBezTo>
                  <a:pt x="172938" y="444500"/>
                  <a:pt x="158750" y="430312"/>
                  <a:pt x="158750" y="412750"/>
                </a:cubicBezTo>
                <a:close/>
                <a:moveTo>
                  <a:pt x="63500" y="373063"/>
                </a:moveTo>
                <a:cubicBezTo>
                  <a:pt x="85404" y="373063"/>
                  <a:pt x="103188" y="390846"/>
                  <a:pt x="103188" y="412750"/>
                </a:cubicBezTo>
                <a:cubicBezTo>
                  <a:pt x="103188" y="434654"/>
                  <a:pt x="85404" y="452437"/>
                  <a:pt x="63500" y="452437"/>
                </a:cubicBezTo>
                <a:cubicBezTo>
                  <a:pt x="41596" y="452437"/>
                  <a:pt x="23813" y="434654"/>
                  <a:pt x="23812" y="412750"/>
                </a:cubicBezTo>
                <a:cubicBezTo>
                  <a:pt x="23812" y="390846"/>
                  <a:pt x="41596" y="373063"/>
                  <a:pt x="63500" y="373063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6223000" y="4381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Rule Base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223000" y="48006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Collection of production rules encoding domain knowledge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668000" y="3556000"/>
            <a:ext cx="4318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2319000" y="3746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30121" y="208855"/>
                </a:moveTo>
                <a:cubicBezTo>
                  <a:pt x="339804" y="205581"/>
                  <a:pt x="349964" y="211336"/>
                  <a:pt x="354330" y="222548"/>
                </a:cubicBezTo>
                <a:lnTo>
                  <a:pt x="369094" y="259854"/>
                </a:lnTo>
                <a:cubicBezTo>
                  <a:pt x="377269" y="261243"/>
                  <a:pt x="385286" y="264021"/>
                  <a:pt x="392827" y="267891"/>
                </a:cubicBezTo>
                <a:lnTo>
                  <a:pt x="420608" y="244773"/>
                </a:lnTo>
                <a:cubicBezTo>
                  <a:pt x="428943" y="237827"/>
                  <a:pt x="439976" y="239216"/>
                  <a:pt x="447040" y="248047"/>
                </a:cubicBezTo>
                <a:lnTo>
                  <a:pt x="462280" y="267097"/>
                </a:lnTo>
                <a:cubicBezTo>
                  <a:pt x="469344" y="275927"/>
                  <a:pt x="470456" y="289818"/>
                  <a:pt x="464899" y="300137"/>
                </a:cubicBezTo>
                <a:lnTo>
                  <a:pt x="446405" y="334764"/>
                </a:lnTo>
                <a:cubicBezTo>
                  <a:pt x="447913" y="339427"/>
                  <a:pt x="449263" y="344289"/>
                  <a:pt x="450374" y="349349"/>
                </a:cubicBezTo>
                <a:cubicBezTo>
                  <a:pt x="451485" y="354409"/>
                  <a:pt x="452199" y="359370"/>
                  <a:pt x="452755" y="364430"/>
                </a:cubicBezTo>
                <a:lnTo>
                  <a:pt x="482679" y="382885"/>
                </a:lnTo>
                <a:cubicBezTo>
                  <a:pt x="491649" y="388441"/>
                  <a:pt x="496253" y="401141"/>
                  <a:pt x="493633" y="413147"/>
                </a:cubicBezTo>
                <a:lnTo>
                  <a:pt x="488077" y="439142"/>
                </a:lnTo>
                <a:cubicBezTo>
                  <a:pt x="485458" y="451148"/>
                  <a:pt x="476488" y="459284"/>
                  <a:pt x="466487" y="458490"/>
                </a:cubicBezTo>
                <a:lnTo>
                  <a:pt x="433149" y="455811"/>
                </a:lnTo>
                <a:cubicBezTo>
                  <a:pt x="428149" y="463848"/>
                  <a:pt x="422354" y="471289"/>
                  <a:pt x="415766" y="477639"/>
                </a:cubicBezTo>
                <a:lnTo>
                  <a:pt x="417909" y="519212"/>
                </a:lnTo>
                <a:cubicBezTo>
                  <a:pt x="418544" y="531713"/>
                  <a:pt x="412036" y="543024"/>
                  <a:pt x="402431" y="546199"/>
                </a:cubicBezTo>
                <a:lnTo>
                  <a:pt x="381635" y="553145"/>
                </a:lnTo>
                <a:cubicBezTo>
                  <a:pt x="371951" y="556419"/>
                  <a:pt x="361871" y="550664"/>
                  <a:pt x="357426" y="539452"/>
                </a:cubicBezTo>
                <a:lnTo>
                  <a:pt x="342662" y="502146"/>
                </a:lnTo>
                <a:cubicBezTo>
                  <a:pt x="334486" y="500757"/>
                  <a:pt x="326469" y="497979"/>
                  <a:pt x="318929" y="494109"/>
                </a:cubicBezTo>
                <a:lnTo>
                  <a:pt x="291148" y="517227"/>
                </a:lnTo>
                <a:cubicBezTo>
                  <a:pt x="282813" y="524173"/>
                  <a:pt x="271780" y="522784"/>
                  <a:pt x="264716" y="513953"/>
                </a:cubicBezTo>
                <a:lnTo>
                  <a:pt x="249476" y="494903"/>
                </a:lnTo>
                <a:cubicBezTo>
                  <a:pt x="242411" y="486073"/>
                  <a:pt x="241300" y="472281"/>
                  <a:pt x="246856" y="461863"/>
                </a:cubicBezTo>
                <a:lnTo>
                  <a:pt x="265351" y="427137"/>
                </a:lnTo>
                <a:cubicBezTo>
                  <a:pt x="263843" y="422473"/>
                  <a:pt x="262493" y="417612"/>
                  <a:pt x="261382" y="412552"/>
                </a:cubicBezTo>
                <a:cubicBezTo>
                  <a:pt x="260271" y="407491"/>
                  <a:pt x="259556" y="402431"/>
                  <a:pt x="259001" y="397470"/>
                </a:cubicBezTo>
                <a:lnTo>
                  <a:pt x="229076" y="379016"/>
                </a:lnTo>
                <a:cubicBezTo>
                  <a:pt x="220107" y="373459"/>
                  <a:pt x="215583" y="360759"/>
                  <a:pt x="218123" y="348754"/>
                </a:cubicBezTo>
                <a:lnTo>
                  <a:pt x="223679" y="322759"/>
                </a:lnTo>
                <a:cubicBezTo>
                  <a:pt x="226298" y="310753"/>
                  <a:pt x="235268" y="302617"/>
                  <a:pt x="245269" y="303411"/>
                </a:cubicBezTo>
                <a:lnTo>
                  <a:pt x="278527" y="306090"/>
                </a:lnTo>
                <a:cubicBezTo>
                  <a:pt x="283528" y="298053"/>
                  <a:pt x="289322" y="290612"/>
                  <a:pt x="295910" y="284262"/>
                </a:cubicBezTo>
                <a:lnTo>
                  <a:pt x="293767" y="242788"/>
                </a:lnTo>
                <a:cubicBezTo>
                  <a:pt x="293132" y="230287"/>
                  <a:pt x="299641" y="218976"/>
                  <a:pt x="309245" y="215801"/>
                </a:cubicBezTo>
                <a:lnTo>
                  <a:pt x="330041" y="208855"/>
                </a:lnTo>
                <a:close/>
                <a:moveTo>
                  <a:pt x="355918" y="337344"/>
                </a:moveTo>
                <a:cubicBezTo>
                  <a:pt x="336642" y="337371"/>
                  <a:pt x="321010" y="356955"/>
                  <a:pt x="321032" y="381050"/>
                </a:cubicBezTo>
                <a:cubicBezTo>
                  <a:pt x="321054" y="405144"/>
                  <a:pt x="336721" y="424684"/>
                  <a:pt x="355997" y="424656"/>
                </a:cubicBezTo>
                <a:cubicBezTo>
                  <a:pt x="375273" y="424629"/>
                  <a:pt x="390904" y="405045"/>
                  <a:pt x="390882" y="380950"/>
                </a:cubicBezTo>
                <a:cubicBezTo>
                  <a:pt x="390860" y="356856"/>
                  <a:pt x="375193" y="337316"/>
                  <a:pt x="355918" y="337344"/>
                </a:cubicBezTo>
                <a:close/>
                <a:moveTo>
                  <a:pt x="178514" y="-45145"/>
                </a:moveTo>
                <a:lnTo>
                  <a:pt x="199311" y="-38199"/>
                </a:lnTo>
                <a:cubicBezTo>
                  <a:pt x="208915" y="-34925"/>
                  <a:pt x="215424" y="-23614"/>
                  <a:pt x="214789" y="-11212"/>
                </a:cubicBezTo>
                <a:lnTo>
                  <a:pt x="212646" y="30262"/>
                </a:lnTo>
                <a:cubicBezTo>
                  <a:pt x="219234" y="36612"/>
                  <a:pt x="225028" y="43954"/>
                  <a:pt x="230029" y="52090"/>
                </a:cubicBezTo>
                <a:lnTo>
                  <a:pt x="263366" y="49411"/>
                </a:lnTo>
                <a:cubicBezTo>
                  <a:pt x="273288" y="48617"/>
                  <a:pt x="282337" y="56753"/>
                  <a:pt x="284956" y="68759"/>
                </a:cubicBezTo>
                <a:lnTo>
                  <a:pt x="290513" y="94754"/>
                </a:lnTo>
                <a:cubicBezTo>
                  <a:pt x="293053" y="106759"/>
                  <a:pt x="288528" y="119459"/>
                  <a:pt x="279559" y="125016"/>
                </a:cubicBezTo>
                <a:lnTo>
                  <a:pt x="249634" y="143470"/>
                </a:lnTo>
                <a:cubicBezTo>
                  <a:pt x="249079" y="148530"/>
                  <a:pt x="248285" y="153591"/>
                  <a:pt x="247253" y="158552"/>
                </a:cubicBezTo>
                <a:cubicBezTo>
                  <a:pt x="246221" y="163512"/>
                  <a:pt x="244793" y="168473"/>
                  <a:pt x="243284" y="173137"/>
                </a:cubicBezTo>
                <a:lnTo>
                  <a:pt x="261779" y="207863"/>
                </a:lnTo>
                <a:cubicBezTo>
                  <a:pt x="267335" y="218281"/>
                  <a:pt x="266224" y="232073"/>
                  <a:pt x="259159" y="240903"/>
                </a:cubicBezTo>
                <a:lnTo>
                  <a:pt x="243919" y="259953"/>
                </a:lnTo>
                <a:cubicBezTo>
                  <a:pt x="236855" y="268784"/>
                  <a:pt x="225822" y="270173"/>
                  <a:pt x="217488" y="263227"/>
                </a:cubicBezTo>
                <a:lnTo>
                  <a:pt x="189706" y="240109"/>
                </a:lnTo>
                <a:cubicBezTo>
                  <a:pt x="182166" y="243979"/>
                  <a:pt x="174149" y="246757"/>
                  <a:pt x="165973" y="248146"/>
                </a:cubicBezTo>
                <a:lnTo>
                  <a:pt x="151209" y="285452"/>
                </a:lnTo>
                <a:cubicBezTo>
                  <a:pt x="146764" y="296664"/>
                  <a:pt x="136604" y="302320"/>
                  <a:pt x="127000" y="299145"/>
                </a:cubicBezTo>
                <a:lnTo>
                  <a:pt x="106204" y="292199"/>
                </a:lnTo>
                <a:cubicBezTo>
                  <a:pt x="96520" y="288925"/>
                  <a:pt x="90091" y="277614"/>
                  <a:pt x="90726" y="265212"/>
                </a:cubicBezTo>
                <a:lnTo>
                  <a:pt x="92869" y="223639"/>
                </a:lnTo>
                <a:cubicBezTo>
                  <a:pt x="86281" y="217289"/>
                  <a:pt x="80486" y="209947"/>
                  <a:pt x="75486" y="201811"/>
                </a:cubicBezTo>
                <a:lnTo>
                  <a:pt x="42148" y="204490"/>
                </a:lnTo>
                <a:cubicBezTo>
                  <a:pt x="32226" y="205284"/>
                  <a:pt x="23178" y="197148"/>
                  <a:pt x="20558" y="185142"/>
                </a:cubicBezTo>
                <a:lnTo>
                  <a:pt x="15002" y="159147"/>
                </a:lnTo>
                <a:cubicBezTo>
                  <a:pt x="12462" y="147141"/>
                  <a:pt x="16986" y="134441"/>
                  <a:pt x="25956" y="128885"/>
                </a:cubicBezTo>
                <a:lnTo>
                  <a:pt x="55880" y="110430"/>
                </a:lnTo>
                <a:cubicBezTo>
                  <a:pt x="56436" y="105370"/>
                  <a:pt x="57229" y="100409"/>
                  <a:pt x="58261" y="95349"/>
                </a:cubicBezTo>
                <a:cubicBezTo>
                  <a:pt x="59373" y="90289"/>
                  <a:pt x="60643" y="85427"/>
                  <a:pt x="62230" y="80764"/>
                </a:cubicBezTo>
                <a:lnTo>
                  <a:pt x="43736" y="46137"/>
                </a:lnTo>
                <a:cubicBezTo>
                  <a:pt x="38179" y="35719"/>
                  <a:pt x="39291" y="21927"/>
                  <a:pt x="46355" y="13097"/>
                </a:cubicBezTo>
                <a:lnTo>
                  <a:pt x="61595" y="-5953"/>
                </a:lnTo>
                <a:cubicBezTo>
                  <a:pt x="68659" y="-14784"/>
                  <a:pt x="79693" y="-16173"/>
                  <a:pt x="88027" y="-9227"/>
                </a:cubicBezTo>
                <a:lnTo>
                  <a:pt x="115808" y="13891"/>
                </a:lnTo>
                <a:cubicBezTo>
                  <a:pt x="123349" y="10021"/>
                  <a:pt x="131366" y="7243"/>
                  <a:pt x="139541" y="5854"/>
                </a:cubicBezTo>
                <a:lnTo>
                  <a:pt x="154305" y="-31452"/>
                </a:lnTo>
                <a:cubicBezTo>
                  <a:pt x="158750" y="-42664"/>
                  <a:pt x="168831" y="-48320"/>
                  <a:pt x="178514" y="-45145"/>
                </a:cubicBezTo>
                <a:close/>
                <a:moveTo>
                  <a:pt x="152718" y="83344"/>
                </a:moveTo>
                <a:cubicBezTo>
                  <a:pt x="133442" y="83344"/>
                  <a:pt x="117793" y="102905"/>
                  <a:pt x="117793" y="127000"/>
                </a:cubicBezTo>
                <a:cubicBezTo>
                  <a:pt x="117793" y="151095"/>
                  <a:pt x="133442" y="170656"/>
                  <a:pt x="152718" y="170656"/>
                </a:cubicBezTo>
                <a:cubicBezTo>
                  <a:pt x="171993" y="170656"/>
                  <a:pt x="187643" y="151095"/>
                  <a:pt x="187643" y="127000"/>
                </a:cubicBezTo>
                <a:cubicBezTo>
                  <a:pt x="187643" y="102905"/>
                  <a:pt x="171993" y="83344"/>
                  <a:pt x="152718" y="83344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6" name="Text 14"/>
          <p:cNvSpPr/>
          <p:nvPr/>
        </p:nvSpPr>
        <p:spPr>
          <a:xfrm>
            <a:off x="10922000" y="4381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Inference Engine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22000" y="48006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Controls rule execution: matches, selects, and fires rules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70000" y="6477000"/>
            <a:ext cx="13716000" cy="1270000"/>
          </a:xfrm>
          <a:prstGeom prst="roundRect">
            <a:avLst>
              <a:gd name="adj" fmla="val 6000"/>
            </a:avLst>
          </a:prstGeom>
          <a:solidFill>
            <a:srgbClr val="F5F5F0">
              <a:alpha val="6275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51000" y="6604000"/>
            <a:ext cx="1295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Recognize-Act Cycle:</a:t>
            </a:r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Match</a:t>
            </a:r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→ </a:t>
            </a:r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Resolve</a:t>
            </a:r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→ </a:t>
            </a:r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Act</a:t>
            </a:r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→ </a:t>
            </a:r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Repeat</a:t>
            </a:r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until halt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Conflict Resolution and Rule Types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Conflict Resolution Strategies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70000" y="2413000"/>
            <a:ext cx="635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Refraction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Don't fire same rule on same data twice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Recency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Prefer rules matching recent facts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Specificity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Prefer more specific rules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Priority/Salience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Numeric priorities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82000" y="1841500"/>
            <a:ext cx="660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Rule System Types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382000" y="2413000"/>
            <a:ext cx="6604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99500" y="273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48806" y="248781"/>
                </a:moveTo>
                <a:cubicBezTo>
                  <a:pt x="459968" y="237619"/>
                  <a:pt x="459968" y="219492"/>
                  <a:pt x="448806" y="208330"/>
                </a:cubicBezTo>
                <a:lnTo>
                  <a:pt x="305931" y="65455"/>
                </a:lnTo>
                <a:cubicBezTo>
                  <a:pt x="294769" y="54293"/>
                  <a:pt x="276642" y="54293"/>
                  <a:pt x="265480" y="65455"/>
                </a:cubicBezTo>
                <a:cubicBezTo>
                  <a:pt x="254318" y="76617"/>
                  <a:pt x="254318" y="94744"/>
                  <a:pt x="265480" y="105906"/>
                </a:cubicBezTo>
                <a:lnTo>
                  <a:pt x="359599" y="200025"/>
                </a:ln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359599" y="257175"/>
                </a:lnTo>
                <a:lnTo>
                  <a:pt x="265480" y="351294"/>
                </a:lnTo>
                <a:cubicBezTo>
                  <a:pt x="254317" y="362456"/>
                  <a:pt x="254317" y="380583"/>
                  <a:pt x="265480" y="391745"/>
                </a:cubicBezTo>
                <a:cubicBezTo>
                  <a:pt x="276642" y="402908"/>
                  <a:pt x="294769" y="402908"/>
                  <a:pt x="305931" y="391745"/>
                </a:cubicBezTo>
                <a:lnTo>
                  <a:pt x="448806" y="24887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9334500" y="2603500"/>
            <a:ext cx="533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Forward Chaining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334500" y="3048000"/>
            <a:ext cx="533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Data-driven: start with facts, apply rules to derive conclusions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4127500"/>
            <a:ext cx="6604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99500" y="444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8394" y="208419"/>
                </a:moveTo>
                <a:cubicBezTo>
                  <a:pt x="-2768" y="219581"/>
                  <a:pt x="-2768" y="237708"/>
                  <a:pt x="8394" y="248870"/>
                </a:cubicBezTo>
                <a:lnTo>
                  <a:pt x="151269" y="391745"/>
                </a:lnTo>
                <a:cubicBezTo>
                  <a:pt x="162431" y="402908"/>
                  <a:pt x="180558" y="402908"/>
                  <a:pt x="191720" y="391745"/>
                </a:cubicBezTo>
                <a:cubicBezTo>
                  <a:pt x="202883" y="380583"/>
                  <a:pt x="202883" y="362456"/>
                  <a:pt x="191720" y="351294"/>
                </a:cubicBezTo>
                <a:lnTo>
                  <a:pt x="97601" y="257175"/>
                </a:lnTo>
                <a:lnTo>
                  <a:pt x="428625" y="257175"/>
                </a:lnTo>
                <a:cubicBezTo>
                  <a:pt x="444431" y="257175"/>
                  <a:pt x="457200" y="244406"/>
                  <a:pt x="457200" y="228600"/>
                </a:cubicBezTo>
                <a:cubicBezTo>
                  <a:pt x="457200" y="212794"/>
                  <a:pt x="444431" y="200025"/>
                  <a:pt x="428625" y="200025"/>
                </a:cubicBezTo>
                <a:lnTo>
                  <a:pt x="97601" y="200025"/>
                </a:lnTo>
                <a:lnTo>
                  <a:pt x="191720" y="105906"/>
                </a:lnTo>
                <a:cubicBezTo>
                  <a:pt x="202883" y="94744"/>
                  <a:pt x="202883" y="76617"/>
                  <a:pt x="191720" y="65455"/>
                </a:cubicBezTo>
                <a:cubicBezTo>
                  <a:pt x="180558" y="54293"/>
                  <a:pt x="162431" y="54293"/>
                  <a:pt x="151269" y="65455"/>
                </a:cubicBezTo>
                <a:lnTo>
                  <a:pt x="8394" y="20833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3" name="Text 11"/>
          <p:cNvSpPr/>
          <p:nvPr/>
        </p:nvSpPr>
        <p:spPr>
          <a:xfrm>
            <a:off x="9334500" y="4318000"/>
            <a:ext cx="533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Backward Chaining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334500" y="4762500"/>
            <a:ext cx="533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Goal-driven: start with a goal, work backward to find facts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70000" y="6096000"/>
            <a:ext cx="13716000" cy="1651000"/>
          </a:xfrm>
          <a:prstGeom prst="roundRect">
            <a:avLst>
              <a:gd name="adj" fmla="val 6000"/>
            </a:avLst>
          </a:prstGeom>
          <a:solidFill>
            <a:srgbClr val="F5F5F0">
              <a:alpha val="6275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51000" y="6223000"/>
            <a:ext cx="1295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Advantages: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Natural heuristic representation · Modular rules · Explainable reasoning traces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Challenges: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Unexpected rule interactions · Large rule base maintenance · Ensuring completeness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Expert Systems and Rule Engines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2540000"/>
        </p:xfrm>
        <a:graphic>
          <a:graphicData uri="http://schemas.openxmlformats.org/drawingml/2006/table">
            <a:tbl>
              <a:tblPr/>
              <a:tblGrid>
                <a:gridCol w="2743200"/>
                <a:gridCol w="4800600"/>
                <a:gridCol w="6172200"/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System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Domain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Key Feature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MYCIN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Medical diagnosis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Backward chaining with certainty factors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DENDRAL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Chemical analysis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First successful expert system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CLIPS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General-purpose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Widely used rule-based tool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270000" y="4826000"/>
            <a:ext cx="6604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651000" y="50165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Uncertainty Handling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651000" y="5461000"/>
            <a:ext cx="584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Rules include confidence measures: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symptom X THEN disease Y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(CF=0.8)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MYCIN combined uncertain rules using certainty factor algebra to compute overall confidence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82000" y="4826000"/>
            <a:ext cx="6604000" cy="2921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9" name="Text 6"/>
          <p:cNvSpPr/>
          <p:nvPr/>
        </p:nvSpPr>
        <p:spPr>
          <a:xfrm>
            <a:off x="8763000" y="50165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Modern Applications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763000" y="5461000"/>
            <a:ext cx="584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Business Rules Management (BRMS)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Clinical decision support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Fraud detection systems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Configuration &amp; recommendation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Drools, IBM ODM modern engines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270000" y="3048000"/>
            <a:ext cx="137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Networks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Graph-based knowledge representation using nodes and links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Network Fundamentals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Semantic networks represent knowledge as a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graph structure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 nodes (concepts/entities) and labeled edges (relationships). Developed by Quillian (1968).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70000" y="2794000"/>
            <a:ext cx="6604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51000" y="29845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Basic Structure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51000" y="3429000"/>
            <a:ext cx="584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objects, concepts, events, states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Links/Edges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relationships between nodes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Link Labels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type of relationship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2794000"/>
            <a:ext cx="6604000" cy="2540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9" name="Text 7"/>
          <p:cNvSpPr/>
          <p:nvPr/>
        </p:nvSpPr>
        <p:spPr>
          <a:xfrm>
            <a:off x="8763000" y="29845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Common Link Types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763000" y="3429000"/>
            <a:ext cx="584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ISA / is-a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hierarchical (A is a B)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Instance-of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class membership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Has-part / Part-of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meronymic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Owns, made-of, located-in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70000" y="5715000"/>
            <a:ext cx="13716000" cy="2032000"/>
          </a:xfrm>
          <a:prstGeom prst="roundRect">
            <a:avLst>
              <a:gd name="adj" fmla="val 6000"/>
            </a:avLst>
          </a:prstGeom>
          <a:solidFill>
            <a:srgbClr val="F5F5F0">
              <a:alpha val="6275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51000" y="5842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Inheritance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51000" y="6223000"/>
            <a:ext cx="1295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key feature where properties flow down the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is-a hierarchy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If Bird has property "can fly", and Canary is-a Bird, then Canary inherits "can fly".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This enables 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property inheritance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organizing knowledge efficiently without redundant storage.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Representing Knowledge with Semantic Networks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Representation Examples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70000" y="2413000"/>
            <a:ext cx="6604000" cy="266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51000" y="2603500"/>
            <a:ext cx="584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Conceptual: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Canary →[is-a]→ Bird →[has-part]→ Wings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Event representation: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Events as nodes with case relationships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Multiple inheritance: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Amphibious Vehicle → Land + Water Vehicle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82000" y="1841500"/>
            <a:ext cx="3175000" cy="323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88500" y="203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8636000" y="2603500"/>
            <a:ext cx="266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72500" y="3048000"/>
            <a:ext cx="279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Intuitive graphical form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Efficient inheritance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Natural for certain knowledge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811000" y="1841500"/>
            <a:ext cx="3175000" cy="323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017500" y="203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228600" y="121444"/>
                </a:moveTo>
                <a:cubicBezTo>
                  <a:pt x="240476" y="121444"/>
                  <a:pt x="250031" y="130999"/>
                  <a:pt x="250031" y="142875"/>
                </a:cubicBezTo>
                <a:lnTo>
                  <a:pt x="250031" y="242888"/>
                </a:lnTo>
                <a:cubicBezTo>
                  <a:pt x="250031" y="254764"/>
                  <a:pt x="240476" y="264319"/>
                  <a:pt x="228600" y="264319"/>
                </a:cubicBezTo>
                <a:cubicBezTo>
                  <a:pt x="216724" y="264319"/>
                  <a:pt x="207169" y="254764"/>
                  <a:pt x="207169" y="242888"/>
                </a:cubicBezTo>
                <a:lnTo>
                  <a:pt x="207169" y="142875"/>
                </a:lnTo>
                <a:cubicBezTo>
                  <a:pt x="207169" y="130999"/>
                  <a:pt x="216724" y="121444"/>
                  <a:pt x="228600" y="121444"/>
                </a:cubicBezTo>
                <a:close/>
                <a:moveTo>
                  <a:pt x="204758" y="314325"/>
                </a:moveTo>
                <a:cubicBezTo>
                  <a:pt x="204215" y="305475"/>
                  <a:pt x="208629" y="297055"/>
                  <a:pt x="216215" y="292466"/>
                </a:cubicBezTo>
                <a:cubicBezTo>
                  <a:pt x="223802" y="287877"/>
                  <a:pt x="233309" y="287877"/>
                  <a:pt x="240895" y="292466"/>
                </a:cubicBezTo>
                <a:cubicBezTo>
                  <a:pt x="248482" y="297055"/>
                  <a:pt x="252895" y="305475"/>
                  <a:pt x="252353" y="314325"/>
                </a:cubicBezTo>
                <a:cubicBezTo>
                  <a:pt x="252895" y="323175"/>
                  <a:pt x="248482" y="331595"/>
                  <a:pt x="240895" y="336184"/>
                </a:cubicBezTo>
                <a:cubicBezTo>
                  <a:pt x="233309" y="340773"/>
                  <a:pt x="223802" y="340773"/>
                  <a:pt x="216215" y="336184"/>
                </a:cubicBezTo>
                <a:cubicBezTo>
                  <a:pt x="208629" y="331595"/>
                  <a:pt x="204215" y="323175"/>
                  <a:pt x="204758" y="31432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3" name="Text 11"/>
          <p:cNvSpPr/>
          <p:nvPr/>
        </p:nvSpPr>
        <p:spPr>
          <a:xfrm>
            <a:off x="12065000" y="2603500"/>
            <a:ext cx="266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001500" y="3048000"/>
            <a:ext cx="279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standard semantics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Limited expressiveness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Inheritance conflicts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70000" y="5461000"/>
            <a:ext cx="13716000" cy="2286000"/>
          </a:xfrm>
          <a:prstGeom prst="roundRect">
            <a:avLst>
              <a:gd name="adj" fmla="val 6000"/>
            </a:avLst>
          </a:prstGeom>
          <a:solidFill>
            <a:srgbClr val="F5F5F0">
              <a:alpha val="6275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51000" y="5651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Multiple Inheritance Conflicts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51000" y="6096000"/>
            <a:ext cx="1295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node can inherit from multiple parents, which can lead to conflicts: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Ostrich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is-a Bird (can fly = yes) and is-a Flightless Creature (can fly = no)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Resolution strategies: specificity ordering, default cancellation, explicit override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Networks and Modern Applications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Semantic Networks to Knowledge Graphs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70000" y="2413000"/>
            <a:ext cx="6604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51000" y="2603500"/>
            <a:ext cx="584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RDF triple stores</a:t>
            </a:r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implement SN principles</a:t>
            </a:r>
            <a:endParaRPr lang="en-US" sz="1600" dirty="0"/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Linked Open Data</a:t>
            </a:r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connects distributed KBs</a:t>
            </a:r>
            <a:endParaRPr lang="en-US" sz="1600" dirty="0"/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Knowledge Graph</a:t>
            </a:r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powers search</a:t>
            </a:r>
            <a:endParaRPr lang="en-US" sz="1600" dirty="0"/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Frame extensions:</a:t>
            </a:r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nodes as frames with slots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1841500"/>
            <a:ext cx="660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Comparisons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382000" y="2413000"/>
            <a:ext cx="6604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763000" y="2603500"/>
            <a:ext cx="584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SN ↔ Logic: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Networks map to FOL statements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SN ↔ Ontologies: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OWL extends SN with formal semantics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SN ↔ Frames: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Both use slot-filling, differ in structure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70000" y="5334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Modern Implementations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270000" y="5905500"/>
            <a:ext cx="3175000" cy="1778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2" name="Shape 10"/>
          <p:cNvSpPr/>
          <p:nvPr/>
        </p:nvSpPr>
        <p:spPr>
          <a:xfrm>
            <a:off x="2540000" y="609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163354"/>
                </a:moveTo>
                <a:cubicBezTo>
                  <a:pt x="392974" y="171133"/>
                  <a:pt x="377553" y="177403"/>
                  <a:pt x="361496" y="182404"/>
                </a:cubicBezTo>
                <a:cubicBezTo>
                  <a:pt x="318861" y="195739"/>
                  <a:pt x="262890" y="203200"/>
                  <a:pt x="203200" y="203200"/>
                </a:cubicBezTo>
                <a:cubicBezTo>
                  <a:pt x="143510" y="203200"/>
                  <a:pt x="87449" y="195659"/>
                  <a:pt x="44904" y="182404"/>
                </a:cubicBezTo>
                <a:cubicBezTo>
                  <a:pt x="28938" y="177403"/>
                  <a:pt x="13426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90986" y="292100"/>
                  <a:pt x="203200" y="292100"/>
                </a:cubicBezTo>
                <a:cubicBezTo>
                  <a:pt x="315414" y="292100"/>
                  <a:pt x="406400" y="263684"/>
                  <a:pt x="406400" y="228600"/>
                </a:cubicBezTo>
                <a:lnTo>
                  <a:pt x="406400" y="163354"/>
                </a:lnTo>
                <a:close/>
                <a:moveTo>
                  <a:pt x="406400" y="101600"/>
                </a:moveTo>
                <a:lnTo>
                  <a:pt x="406400" y="63500"/>
                </a:lnTo>
                <a:cubicBezTo>
                  <a:pt x="406400" y="28416"/>
                  <a:pt x="315414" y="0"/>
                  <a:pt x="203200" y="0"/>
                </a:cubicBezTo>
                <a:cubicBezTo>
                  <a:pt x="90986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90986" y="165100"/>
                  <a:pt x="203200" y="165100"/>
                </a:cubicBezTo>
                <a:cubicBezTo>
                  <a:pt x="315414" y="165100"/>
                  <a:pt x="406400" y="136684"/>
                  <a:pt x="406400" y="101600"/>
                </a:cubicBezTo>
                <a:close/>
                <a:moveTo>
                  <a:pt x="361496" y="309404"/>
                </a:moveTo>
                <a:cubicBezTo>
                  <a:pt x="318951" y="322659"/>
                  <a:pt x="262981" y="330200"/>
                  <a:pt x="203200" y="330200"/>
                </a:cubicBezTo>
                <a:cubicBezTo>
                  <a:pt x="143419" y="330200"/>
                  <a:pt x="87449" y="322659"/>
                  <a:pt x="44904" y="309404"/>
                </a:cubicBezTo>
                <a:cubicBezTo>
                  <a:pt x="28938" y="304403"/>
                  <a:pt x="13426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90986" y="406400"/>
                  <a:pt x="203200" y="406400"/>
                </a:cubicBezTo>
                <a:cubicBezTo>
                  <a:pt x="315414" y="406400"/>
                  <a:pt x="406400" y="377984"/>
                  <a:pt x="406400" y="342900"/>
                </a:cubicBezTo>
                <a:lnTo>
                  <a:pt x="406400" y="290354"/>
                </a:lnTo>
                <a:cubicBezTo>
                  <a:pt x="392974" y="298133"/>
                  <a:pt x="377553" y="304403"/>
                  <a:pt x="361496" y="30940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460500" y="66040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Neo4j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Graph database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87900" y="5905500"/>
            <a:ext cx="3175000" cy="1778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5" name="Shape 13"/>
          <p:cNvSpPr/>
          <p:nvPr/>
        </p:nvSpPr>
        <p:spPr>
          <a:xfrm>
            <a:off x="6057900" y="609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564" y="953"/>
                </a:moveTo>
                <a:cubicBezTo>
                  <a:pt x="242570" y="-2937"/>
                  <a:pt x="230082" y="4921"/>
                  <a:pt x="226624" y="18415"/>
                </a:cubicBezTo>
                <a:lnTo>
                  <a:pt x="136313" y="374015"/>
                </a:lnTo>
                <a:cubicBezTo>
                  <a:pt x="132856" y="387509"/>
                  <a:pt x="139841" y="401558"/>
                  <a:pt x="151836" y="405448"/>
                </a:cubicBezTo>
                <a:cubicBezTo>
                  <a:pt x="163830" y="409337"/>
                  <a:pt x="176318" y="401479"/>
                  <a:pt x="179776" y="387985"/>
                </a:cubicBezTo>
                <a:lnTo>
                  <a:pt x="270087" y="32385"/>
                </a:lnTo>
                <a:cubicBezTo>
                  <a:pt x="273544" y="18891"/>
                  <a:pt x="266559" y="4842"/>
                  <a:pt x="254564" y="953"/>
                </a:cubicBezTo>
                <a:close/>
                <a:moveTo>
                  <a:pt x="300143" y="108982"/>
                </a:moveTo>
                <a:cubicBezTo>
                  <a:pt x="291324" y="118904"/>
                  <a:pt x="291324" y="135017"/>
                  <a:pt x="300143" y="144939"/>
                </a:cubicBezTo>
                <a:lnTo>
                  <a:pt x="351931" y="203200"/>
                </a:lnTo>
                <a:lnTo>
                  <a:pt x="300143" y="261461"/>
                </a:lnTo>
                <a:cubicBezTo>
                  <a:pt x="291324" y="271383"/>
                  <a:pt x="291324" y="287496"/>
                  <a:pt x="300143" y="297418"/>
                </a:cubicBezTo>
                <a:cubicBezTo>
                  <a:pt x="308963" y="307340"/>
                  <a:pt x="323286" y="307340"/>
                  <a:pt x="332105" y="297418"/>
                </a:cubicBezTo>
                <a:lnTo>
                  <a:pt x="399838" y="221218"/>
                </a:lnTo>
                <a:cubicBezTo>
                  <a:pt x="408658" y="211296"/>
                  <a:pt x="408658" y="195183"/>
                  <a:pt x="399838" y="185261"/>
                </a:cubicBezTo>
                <a:lnTo>
                  <a:pt x="332105" y="109061"/>
                </a:lnTo>
                <a:cubicBezTo>
                  <a:pt x="323286" y="99139"/>
                  <a:pt x="308963" y="99139"/>
                  <a:pt x="300143" y="109061"/>
                </a:cubicBezTo>
                <a:close/>
                <a:moveTo>
                  <a:pt x="106327" y="108982"/>
                </a:moveTo>
                <a:cubicBezTo>
                  <a:pt x="97508" y="99060"/>
                  <a:pt x="83185" y="99060"/>
                  <a:pt x="74366" y="108982"/>
                </a:cubicBezTo>
                <a:lnTo>
                  <a:pt x="6632" y="185182"/>
                </a:lnTo>
                <a:cubicBezTo>
                  <a:pt x="-2187" y="195104"/>
                  <a:pt x="-2187" y="211217"/>
                  <a:pt x="6632" y="221139"/>
                </a:cubicBezTo>
                <a:lnTo>
                  <a:pt x="74366" y="297339"/>
                </a:lnTo>
                <a:cubicBezTo>
                  <a:pt x="83185" y="307261"/>
                  <a:pt x="97508" y="307261"/>
                  <a:pt x="106327" y="297339"/>
                </a:cubicBezTo>
                <a:cubicBezTo>
                  <a:pt x="115147" y="287417"/>
                  <a:pt x="115147" y="271304"/>
                  <a:pt x="106327" y="261382"/>
                </a:cubicBezTo>
                <a:lnTo>
                  <a:pt x="54539" y="203200"/>
                </a:lnTo>
                <a:lnTo>
                  <a:pt x="106257" y="144939"/>
                </a:lnTo>
                <a:cubicBezTo>
                  <a:pt x="115076" y="135017"/>
                  <a:pt x="115076" y="118904"/>
                  <a:pt x="106257" y="10898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978400" y="66040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Apache Jena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RDF framework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93100" y="5905500"/>
            <a:ext cx="3175000" cy="1778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9563100" y="609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79321" y="222250"/>
                </a:moveTo>
                <a:lnTo>
                  <a:pt x="127794" y="222250"/>
                </a:lnTo>
                <a:cubicBezTo>
                  <a:pt x="130096" y="273447"/>
                  <a:pt x="141446" y="320596"/>
                  <a:pt x="157559" y="355124"/>
                </a:cubicBezTo>
                <a:cubicBezTo>
                  <a:pt x="166608" y="374571"/>
                  <a:pt x="176371" y="388303"/>
                  <a:pt x="185420" y="396716"/>
                </a:cubicBezTo>
                <a:cubicBezTo>
                  <a:pt x="194310" y="405051"/>
                  <a:pt x="200422" y="406400"/>
                  <a:pt x="203597" y="406400"/>
                </a:cubicBezTo>
                <a:cubicBezTo>
                  <a:pt x="206772" y="406400"/>
                  <a:pt x="212884" y="405051"/>
                  <a:pt x="221774" y="396716"/>
                </a:cubicBezTo>
                <a:cubicBezTo>
                  <a:pt x="230822" y="388302"/>
                  <a:pt x="240586" y="374491"/>
                  <a:pt x="249634" y="355124"/>
                </a:cubicBezTo>
                <a:cubicBezTo>
                  <a:pt x="265747" y="320596"/>
                  <a:pt x="277098" y="273447"/>
                  <a:pt x="279400" y="222250"/>
                </a:cubicBezTo>
                <a:close/>
                <a:moveTo>
                  <a:pt x="127714" y="184150"/>
                </a:moveTo>
                <a:lnTo>
                  <a:pt x="279241" y="184150"/>
                </a:lnTo>
                <a:cubicBezTo>
                  <a:pt x="277019" y="132953"/>
                  <a:pt x="265668" y="85804"/>
                  <a:pt x="249555" y="51276"/>
                </a:cubicBezTo>
                <a:cubicBezTo>
                  <a:pt x="240506" y="31909"/>
                  <a:pt x="230743" y="18098"/>
                  <a:pt x="221694" y="9684"/>
                </a:cubicBezTo>
                <a:cubicBezTo>
                  <a:pt x="212804" y="1349"/>
                  <a:pt x="206692" y="0"/>
                  <a:pt x="203518" y="0"/>
                </a:cubicBezTo>
                <a:cubicBezTo>
                  <a:pt x="200342" y="0"/>
                  <a:pt x="194231" y="1349"/>
                  <a:pt x="185341" y="9684"/>
                </a:cubicBezTo>
                <a:cubicBezTo>
                  <a:pt x="176292" y="18098"/>
                  <a:pt x="166529" y="31909"/>
                  <a:pt x="157480" y="51276"/>
                </a:cubicBezTo>
                <a:cubicBezTo>
                  <a:pt x="141367" y="85804"/>
                  <a:pt x="130016" y="132953"/>
                  <a:pt x="127714" y="184150"/>
                </a:cubicBezTo>
                <a:close/>
                <a:moveTo>
                  <a:pt x="89614" y="184150"/>
                </a:moveTo>
                <a:cubicBezTo>
                  <a:pt x="92393" y="116205"/>
                  <a:pt x="109934" y="53102"/>
                  <a:pt x="135573" y="11668"/>
                </a:cubicBezTo>
                <a:cubicBezTo>
                  <a:pt x="62468" y="37544"/>
                  <a:pt x="8652" y="104140"/>
                  <a:pt x="1191" y="184150"/>
                </a:cubicBezTo>
                <a:lnTo>
                  <a:pt x="89614" y="184150"/>
                </a:lnTo>
                <a:close/>
                <a:moveTo>
                  <a:pt x="1191" y="222250"/>
                </a:moveTo>
                <a:cubicBezTo>
                  <a:pt x="8652" y="302260"/>
                  <a:pt x="62468" y="368856"/>
                  <a:pt x="135573" y="394732"/>
                </a:cubicBezTo>
                <a:cubicBezTo>
                  <a:pt x="109934" y="353298"/>
                  <a:pt x="92393" y="290195"/>
                  <a:pt x="89614" y="222250"/>
                </a:cubicBezTo>
                <a:lnTo>
                  <a:pt x="1191" y="222250"/>
                </a:lnTo>
                <a:close/>
                <a:moveTo>
                  <a:pt x="317421" y="222250"/>
                </a:moveTo>
                <a:cubicBezTo>
                  <a:pt x="314643" y="290195"/>
                  <a:pt x="297101" y="353298"/>
                  <a:pt x="271463" y="394732"/>
                </a:cubicBezTo>
                <a:cubicBezTo>
                  <a:pt x="344567" y="368776"/>
                  <a:pt x="398383" y="302260"/>
                  <a:pt x="405844" y="222250"/>
                </a:cubicBezTo>
                <a:lnTo>
                  <a:pt x="317421" y="222250"/>
                </a:lnTo>
                <a:close/>
                <a:moveTo>
                  <a:pt x="405844" y="184150"/>
                </a:moveTo>
                <a:cubicBezTo>
                  <a:pt x="398383" y="104140"/>
                  <a:pt x="344567" y="37544"/>
                  <a:pt x="271463" y="11668"/>
                </a:cubicBezTo>
                <a:cubicBezTo>
                  <a:pt x="297101" y="53102"/>
                  <a:pt x="314643" y="116205"/>
                  <a:pt x="317421" y="184150"/>
                </a:cubicBezTo>
                <a:lnTo>
                  <a:pt x="405844" y="1841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483600" y="66040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Wikidata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Collaborative KB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811000" y="5905500"/>
            <a:ext cx="3175000" cy="1778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1" name="Shape 19"/>
          <p:cNvSpPr/>
          <p:nvPr/>
        </p:nvSpPr>
        <p:spPr>
          <a:xfrm>
            <a:off x="13081000" y="609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0200" y="165100"/>
                </a:moveTo>
                <a:cubicBezTo>
                  <a:pt x="330200" y="201533"/>
                  <a:pt x="318373" y="235188"/>
                  <a:pt x="298450" y="262493"/>
                </a:cubicBezTo>
                <a:lnTo>
                  <a:pt x="398939" y="363061"/>
                </a:lnTo>
                <a:cubicBezTo>
                  <a:pt x="408861" y="372983"/>
                  <a:pt x="408861" y="389096"/>
                  <a:pt x="398939" y="399018"/>
                </a:cubicBezTo>
                <a:cubicBezTo>
                  <a:pt x="389017" y="408940"/>
                  <a:pt x="372904" y="408940"/>
                  <a:pt x="362982" y="399018"/>
                </a:cubicBezTo>
                <a:lnTo>
                  <a:pt x="262493" y="298450"/>
                </a:lnTo>
                <a:cubicBezTo>
                  <a:pt x="235188" y="318373"/>
                  <a:pt x="201533" y="330200"/>
                  <a:pt x="165100" y="330200"/>
                </a:cubicBezTo>
                <a:cubicBezTo>
                  <a:pt x="73898" y="330200"/>
                  <a:pt x="0" y="256302"/>
                  <a:pt x="0" y="165100"/>
                </a:cubicBezTo>
                <a:cubicBezTo>
                  <a:pt x="0" y="73898"/>
                  <a:pt x="73898" y="0"/>
                  <a:pt x="165100" y="0"/>
                </a:cubicBezTo>
                <a:cubicBezTo>
                  <a:pt x="256302" y="0"/>
                  <a:pt x="330200" y="73898"/>
                  <a:pt x="330200" y="165100"/>
                </a:cubicBezTo>
                <a:close/>
                <a:moveTo>
                  <a:pt x="165100" y="279400"/>
                </a:moveTo>
                <a:cubicBezTo>
                  <a:pt x="228184" y="279400"/>
                  <a:pt x="279400" y="228184"/>
                  <a:pt x="279400" y="165100"/>
                </a:cubicBezTo>
                <a:cubicBezTo>
                  <a:pt x="279400" y="102016"/>
                  <a:pt x="228184" y="50800"/>
                  <a:pt x="165100" y="50800"/>
                </a:cubicBezTo>
                <a:cubicBezTo>
                  <a:pt x="102016" y="50800"/>
                  <a:pt x="50800" y="102016"/>
                  <a:pt x="50800" y="165100"/>
                </a:cubicBezTo>
                <a:cubicBezTo>
                  <a:pt x="50800" y="228184"/>
                  <a:pt x="102016" y="279400"/>
                  <a:pt x="165100" y="2794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2001500" y="66040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KG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Search entities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270000" y="3048000"/>
            <a:ext cx="137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Structured representations of stereotypical situations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 Theory and Structure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Frames were introduced by </a:t>
            </a:r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Marvin Minsky (1975)</a:t>
            </a:r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as data structures for representing stereotypical situations — structured records with slots for attributes.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70000" y="2794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Frame Structure Components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460500" y="3365500"/>
            <a:ext cx="406400" cy="4064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7" name="Text 5"/>
          <p:cNvSpPr/>
          <p:nvPr/>
        </p:nvSpPr>
        <p:spPr>
          <a:xfrm>
            <a:off x="1460500" y="33655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32000" y="3365500"/>
            <a:ext cx="533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Frame name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identifies the concept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60500" y="3898900"/>
            <a:ext cx="406400" cy="4064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1460500" y="38989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32000" y="3898900"/>
            <a:ext cx="533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Slots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attributes or properties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460500" y="4432300"/>
            <a:ext cx="406400" cy="4064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3" name="Text 11"/>
          <p:cNvSpPr/>
          <p:nvPr/>
        </p:nvSpPr>
        <p:spPr>
          <a:xfrm>
            <a:off x="1460500" y="44323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32000" y="4432300"/>
            <a:ext cx="533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Slot values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actual data filling slots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460500" y="4965700"/>
            <a:ext cx="406400" cy="4064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6" name="Text 14"/>
          <p:cNvSpPr/>
          <p:nvPr/>
        </p:nvSpPr>
        <p:spPr>
          <a:xfrm>
            <a:off x="1460500" y="49657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32000" y="4965700"/>
            <a:ext cx="533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Default values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assumed when unspecified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460500" y="5499100"/>
            <a:ext cx="406400" cy="4064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9" name="Text 17"/>
          <p:cNvSpPr/>
          <p:nvPr/>
        </p:nvSpPr>
        <p:spPr>
          <a:xfrm>
            <a:off x="1460500" y="54991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32000" y="5499100"/>
            <a:ext cx="533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Constraints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restrictions on values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60500" y="6032500"/>
            <a:ext cx="406400" cy="4064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22" name="Text 20"/>
          <p:cNvSpPr/>
          <p:nvPr/>
        </p:nvSpPr>
        <p:spPr>
          <a:xfrm>
            <a:off x="1460500" y="60325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032000" y="6032500"/>
            <a:ext cx="533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Demons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procedures triggered by slot access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382000" y="2794000"/>
            <a:ext cx="6604000" cy="3683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5" name="Text 23"/>
          <p:cNvSpPr/>
          <p:nvPr/>
        </p:nvSpPr>
        <p:spPr>
          <a:xfrm>
            <a:off x="8763000" y="29845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Example: Hotel Room Frame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763000" y="3492500"/>
            <a:ext cx="584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Frame: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Hotel-Room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type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(default: standard)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bed-count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(default: 2)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has-bathroom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(default: yes)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price-range · floor · view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amenities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 Systems and Inheritance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Frame Hierarchy &amp; Inheritance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70000" y="2413000"/>
            <a:ext cx="6604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51000" y="2603500"/>
            <a:ext cx="584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Hierarchy: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General frames at top (Building), specialized below (Hotel, House, Office)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Single inheritance</a:t>
            </a:r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from one parent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Multiple inheritance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from multiple parents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Child frames acquire parent's slot values automatically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1841500"/>
            <a:ext cx="660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Slot Facets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382000" y="2413000"/>
            <a:ext cx="6604000" cy="2540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9" name="Text 7"/>
          <p:cNvSpPr/>
          <p:nvPr/>
        </p:nvSpPr>
        <p:spPr>
          <a:xfrm>
            <a:off x="8763000" y="2603500"/>
            <a:ext cx="584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Value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the actual value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Default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assumed if unspecified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Range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allowed values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If-needed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compute when requested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If-added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trigger on addition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If-removed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trigger on removal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70000" y="5334000"/>
            <a:ext cx="13716000" cy="2540000"/>
          </a:xfrm>
          <a:prstGeom prst="roundRect">
            <a:avLst>
              <a:gd name="adj" fmla="val 6000"/>
            </a:avLst>
          </a:prstGeom>
          <a:solidFill>
            <a:srgbClr val="F5F5F0">
              <a:alpha val="6275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51000" y="552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Frame Advantages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51000" y="5969000"/>
            <a:ext cx="1295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Capture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prototypical knowledge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naturally — frames represent "typical" situations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Support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expectation-driven processing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defaults provide predictions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Combine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declarative and procedural knowledge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demons add behavior to data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Efficient knowledge organization through inheritance hierarchies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Frames vs. Other Representations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3175000"/>
        </p:xfrm>
        <a:graphic>
          <a:graphicData uri="http://schemas.openxmlformats.org/drawingml/2006/table">
            <a:tbl>
              <a:tblPr/>
              <a:tblGrid>
                <a:gridCol w="2468880"/>
                <a:gridCol w="5623560"/>
                <a:gridCol w="5623560"/>
              </a:tblGrid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Comparison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Similarities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Key Differences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Semantic Networks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Both use inheritance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Frames add procedural demons; SN emphasize relationships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Scripts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Both use slots and defaults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Scripts are temporal; Frames are more general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OOP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Classes, objects, inheritance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Frames for KR; OOP for computation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Ontologies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Classes ≈ frames, properties ≈ slots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Ontologies add formal logical semantics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270000" y="5461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Modern Frame-Based Systems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270000" y="6096000"/>
            <a:ext cx="3175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40000" y="628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564" y="953"/>
                </a:moveTo>
                <a:cubicBezTo>
                  <a:pt x="242570" y="-2937"/>
                  <a:pt x="230082" y="4921"/>
                  <a:pt x="226624" y="18415"/>
                </a:cubicBezTo>
                <a:lnTo>
                  <a:pt x="136313" y="374015"/>
                </a:lnTo>
                <a:cubicBezTo>
                  <a:pt x="132856" y="387509"/>
                  <a:pt x="139841" y="401558"/>
                  <a:pt x="151836" y="405448"/>
                </a:cubicBezTo>
                <a:cubicBezTo>
                  <a:pt x="163830" y="409337"/>
                  <a:pt x="176318" y="401479"/>
                  <a:pt x="179776" y="387985"/>
                </a:cubicBezTo>
                <a:lnTo>
                  <a:pt x="270087" y="32385"/>
                </a:lnTo>
                <a:cubicBezTo>
                  <a:pt x="273544" y="18891"/>
                  <a:pt x="266559" y="4842"/>
                  <a:pt x="254564" y="953"/>
                </a:cubicBezTo>
                <a:close/>
                <a:moveTo>
                  <a:pt x="300143" y="108982"/>
                </a:moveTo>
                <a:cubicBezTo>
                  <a:pt x="291324" y="118904"/>
                  <a:pt x="291324" y="135017"/>
                  <a:pt x="300143" y="144939"/>
                </a:cubicBezTo>
                <a:lnTo>
                  <a:pt x="351931" y="203200"/>
                </a:lnTo>
                <a:lnTo>
                  <a:pt x="300143" y="261461"/>
                </a:lnTo>
                <a:cubicBezTo>
                  <a:pt x="291324" y="271383"/>
                  <a:pt x="291324" y="287496"/>
                  <a:pt x="300143" y="297418"/>
                </a:cubicBezTo>
                <a:cubicBezTo>
                  <a:pt x="308963" y="307340"/>
                  <a:pt x="323286" y="307340"/>
                  <a:pt x="332105" y="297418"/>
                </a:cubicBezTo>
                <a:lnTo>
                  <a:pt x="399838" y="221218"/>
                </a:lnTo>
                <a:cubicBezTo>
                  <a:pt x="408658" y="211296"/>
                  <a:pt x="408658" y="195183"/>
                  <a:pt x="399838" y="185261"/>
                </a:cubicBezTo>
                <a:lnTo>
                  <a:pt x="332105" y="109061"/>
                </a:lnTo>
                <a:cubicBezTo>
                  <a:pt x="323286" y="99139"/>
                  <a:pt x="308963" y="99139"/>
                  <a:pt x="300143" y="109061"/>
                </a:cubicBezTo>
                <a:close/>
                <a:moveTo>
                  <a:pt x="106327" y="108982"/>
                </a:moveTo>
                <a:cubicBezTo>
                  <a:pt x="97508" y="99060"/>
                  <a:pt x="83185" y="99060"/>
                  <a:pt x="74366" y="108982"/>
                </a:cubicBezTo>
                <a:lnTo>
                  <a:pt x="6632" y="185182"/>
                </a:lnTo>
                <a:cubicBezTo>
                  <a:pt x="-2187" y="195104"/>
                  <a:pt x="-2187" y="211217"/>
                  <a:pt x="6632" y="221139"/>
                </a:cubicBezTo>
                <a:lnTo>
                  <a:pt x="74366" y="297339"/>
                </a:lnTo>
                <a:cubicBezTo>
                  <a:pt x="83185" y="307261"/>
                  <a:pt x="97508" y="307261"/>
                  <a:pt x="106327" y="297339"/>
                </a:cubicBezTo>
                <a:cubicBezTo>
                  <a:pt x="115147" y="287417"/>
                  <a:pt x="115147" y="271304"/>
                  <a:pt x="106327" y="261382"/>
                </a:cubicBezTo>
                <a:lnTo>
                  <a:pt x="54539" y="203200"/>
                </a:lnTo>
                <a:lnTo>
                  <a:pt x="106257" y="144939"/>
                </a:lnTo>
                <a:cubicBezTo>
                  <a:pt x="115076" y="135017"/>
                  <a:pt x="115076" y="118904"/>
                  <a:pt x="106257" y="108982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8" name="Text 5"/>
          <p:cNvSpPr/>
          <p:nvPr/>
        </p:nvSpPr>
        <p:spPr>
          <a:xfrm>
            <a:off x="1460500" y="67945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FRL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Frame Repr. Language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87900" y="6096000"/>
            <a:ext cx="3175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057900" y="628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1" name="Text 8"/>
          <p:cNvSpPr/>
          <p:nvPr/>
        </p:nvSpPr>
        <p:spPr>
          <a:xfrm>
            <a:off x="4978400" y="67945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KRL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 Repr. Language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93100" y="6096000"/>
            <a:ext cx="3175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9563100" y="628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163354"/>
                </a:moveTo>
                <a:cubicBezTo>
                  <a:pt x="392974" y="171133"/>
                  <a:pt x="377553" y="177403"/>
                  <a:pt x="361496" y="182404"/>
                </a:cubicBezTo>
                <a:cubicBezTo>
                  <a:pt x="318861" y="195739"/>
                  <a:pt x="262890" y="203200"/>
                  <a:pt x="203200" y="203200"/>
                </a:cubicBezTo>
                <a:cubicBezTo>
                  <a:pt x="143510" y="203200"/>
                  <a:pt x="87449" y="195659"/>
                  <a:pt x="44904" y="182404"/>
                </a:cubicBezTo>
                <a:cubicBezTo>
                  <a:pt x="28938" y="177403"/>
                  <a:pt x="13426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90986" y="292100"/>
                  <a:pt x="203200" y="292100"/>
                </a:cubicBezTo>
                <a:cubicBezTo>
                  <a:pt x="315414" y="292100"/>
                  <a:pt x="406400" y="263684"/>
                  <a:pt x="406400" y="228600"/>
                </a:cubicBezTo>
                <a:lnTo>
                  <a:pt x="406400" y="163354"/>
                </a:lnTo>
                <a:close/>
                <a:moveTo>
                  <a:pt x="406400" y="101600"/>
                </a:moveTo>
                <a:lnTo>
                  <a:pt x="406400" y="63500"/>
                </a:lnTo>
                <a:cubicBezTo>
                  <a:pt x="406400" y="28416"/>
                  <a:pt x="315414" y="0"/>
                  <a:pt x="203200" y="0"/>
                </a:cubicBezTo>
                <a:cubicBezTo>
                  <a:pt x="90986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90986" y="165100"/>
                  <a:pt x="203200" y="165100"/>
                </a:cubicBezTo>
                <a:cubicBezTo>
                  <a:pt x="315414" y="165100"/>
                  <a:pt x="406400" y="136684"/>
                  <a:pt x="406400" y="101600"/>
                </a:cubicBezTo>
                <a:close/>
                <a:moveTo>
                  <a:pt x="361496" y="309404"/>
                </a:moveTo>
                <a:cubicBezTo>
                  <a:pt x="318951" y="322659"/>
                  <a:pt x="262981" y="330200"/>
                  <a:pt x="203200" y="330200"/>
                </a:cubicBezTo>
                <a:cubicBezTo>
                  <a:pt x="143419" y="330200"/>
                  <a:pt x="87449" y="322659"/>
                  <a:pt x="44904" y="309404"/>
                </a:cubicBezTo>
                <a:cubicBezTo>
                  <a:pt x="28938" y="304403"/>
                  <a:pt x="13426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90986" y="406400"/>
                  <a:pt x="203200" y="406400"/>
                </a:cubicBezTo>
                <a:cubicBezTo>
                  <a:pt x="315414" y="406400"/>
                  <a:pt x="406400" y="377984"/>
                  <a:pt x="406400" y="342900"/>
                </a:cubicBezTo>
                <a:lnTo>
                  <a:pt x="406400" y="290354"/>
                </a:lnTo>
                <a:cubicBezTo>
                  <a:pt x="392974" y="298133"/>
                  <a:pt x="377553" y="304403"/>
                  <a:pt x="361496" y="309404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4" name="Text 11"/>
          <p:cNvSpPr/>
          <p:nvPr/>
        </p:nvSpPr>
        <p:spPr>
          <a:xfrm>
            <a:off x="8483600" y="67945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OO Databases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Object-oriented storage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811000" y="6096000"/>
            <a:ext cx="3175000" cy="1651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6" name="Shape 13"/>
          <p:cNvSpPr/>
          <p:nvPr/>
        </p:nvSpPr>
        <p:spPr>
          <a:xfrm>
            <a:off x="13081000" y="628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20675" y="0"/>
                </a:moveTo>
                <a:cubicBezTo>
                  <a:pt x="335915" y="0"/>
                  <a:pt x="350520" y="6033"/>
                  <a:pt x="361236" y="16828"/>
                </a:cubicBezTo>
                <a:lnTo>
                  <a:pt x="389573" y="45164"/>
                </a:lnTo>
                <a:cubicBezTo>
                  <a:pt x="400368" y="55880"/>
                  <a:pt x="406400" y="70485"/>
                  <a:pt x="406400" y="85725"/>
                </a:cubicBezTo>
                <a:cubicBezTo>
                  <a:pt x="406400" y="100965"/>
                  <a:pt x="400368" y="115570"/>
                  <a:pt x="389573" y="126286"/>
                </a:cubicBezTo>
                <a:lnTo>
                  <a:pt x="353933" y="161925"/>
                </a:lnTo>
                <a:lnTo>
                  <a:pt x="244475" y="52467"/>
                </a:lnTo>
                <a:lnTo>
                  <a:pt x="280114" y="16828"/>
                </a:lnTo>
                <a:cubicBezTo>
                  <a:pt x="290830" y="6033"/>
                  <a:pt x="305435" y="0"/>
                  <a:pt x="320675" y="0"/>
                </a:cubicBezTo>
                <a:close/>
                <a:moveTo>
                  <a:pt x="46752" y="250111"/>
                </a:moveTo>
                <a:lnTo>
                  <a:pt x="217567" y="79375"/>
                </a:lnTo>
                <a:lnTo>
                  <a:pt x="327025" y="188833"/>
                </a:lnTo>
                <a:lnTo>
                  <a:pt x="156289" y="359648"/>
                </a:lnTo>
                <a:cubicBezTo>
                  <a:pt x="147796" y="368141"/>
                  <a:pt x="137160" y="374333"/>
                  <a:pt x="125571" y="377587"/>
                </a:cubicBezTo>
                <a:lnTo>
                  <a:pt x="24130" y="405686"/>
                </a:lnTo>
                <a:cubicBezTo>
                  <a:pt x="17542" y="407511"/>
                  <a:pt x="10398" y="405686"/>
                  <a:pt x="5556" y="400764"/>
                </a:cubicBezTo>
                <a:cubicBezTo>
                  <a:pt x="714" y="395843"/>
                  <a:pt x="-1191" y="388779"/>
                  <a:pt x="635" y="382191"/>
                </a:cubicBezTo>
                <a:lnTo>
                  <a:pt x="28893" y="280829"/>
                </a:lnTo>
                <a:cubicBezTo>
                  <a:pt x="32147" y="269240"/>
                  <a:pt x="38259" y="258683"/>
                  <a:pt x="46831" y="250111"/>
                </a:cubicBezTo>
                <a:close/>
                <a:moveTo>
                  <a:pt x="178911" y="64135"/>
                </a:moveTo>
                <a:lnTo>
                  <a:pt x="64135" y="178911"/>
                </a:lnTo>
                <a:lnTo>
                  <a:pt x="9287" y="124063"/>
                </a:lnTo>
                <a:cubicBezTo>
                  <a:pt x="-3096" y="111681"/>
                  <a:pt x="-3096" y="91599"/>
                  <a:pt x="9287" y="79137"/>
                </a:cubicBezTo>
                <a:lnTo>
                  <a:pt x="79137" y="9287"/>
                </a:lnTo>
                <a:cubicBezTo>
                  <a:pt x="91519" y="-3096"/>
                  <a:pt x="111601" y="-3096"/>
                  <a:pt x="124063" y="9287"/>
                </a:cubicBezTo>
                <a:lnTo>
                  <a:pt x="128746" y="13970"/>
                </a:lnTo>
                <a:lnTo>
                  <a:pt x="84058" y="58658"/>
                </a:lnTo>
                <a:cubicBezTo>
                  <a:pt x="77867" y="64849"/>
                  <a:pt x="77867" y="74930"/>
                  <a:pt x="84058" y="81121"/>
                </a:cubicBezTo>
                <a:cubicBezTo>
                  <a:pt x="90249" y="87313"/>
                  <a:pt x="100330" y="87313"/>
                  <a:pt x="106521" y="81121"/>
                </a:cubicBezTo>
                <a:lnTo>
                  <a:pt x="151209" y="36433"/>
                </a:lnTo>
                <a:lnTo>
                  <a:pt x="178911" y="64135"/>
                </a:lnTo>
                <a:close/>
                <a:moveTo>
                  <a:pt x="342265" y="227489"/>
                </a:moveTo>
                <a:lnTo>
                  <a:pt x="369967" y="255191"/>
                </a:lnTo>
                <a:lnTo>
                  <a:pt x="325279" y="299879"/>
                </a:lnTo>
                <a:cubicBezTo>
                  <a:pt x="319087" y="306070"/>
                  <a:pt x="319087" y="316151"/>
                  <a:pt x="325279" y="322342"/>
                </a:cubicBezTo>
                <a:cubicBezTo>
                  <a:pt x="331470" y="328533"/>
                  <a:pt x="341551" y="328533"/>
                  <a:pt x="347742" y="322342"/>
                </a:cubicBezTo>
                <a:lnTo>
                  <a:pt x="392430" y="277654"/>
                </a:lnTo>
                <a:lnTo>
                  <a:pt x="397113" y="282337"/>
                </a:lnTo>
                <a:cubicBezTo>
                  <a:pt x="409496" y="294719"/>
                  <a:pt x="409496" y="314801"/>
                  <a:pt x="397113" y="327263"/>
                </a:cubicBezTo>
                <a:lnTo>
                  <a:pt x="327263" y="397113"/>
                </a:lnTo>
                <a:cubicBezTo>
                  <a:pt x="314881" y="409496"/>
                  <a:pt x="294799" y="409496"/>
                  <a:pt x="282337" y="397113"/>
                </a:cubicBezTo>
                <a:lnTo>
                  <a:pt x="227489" y="342265"/>
                </a:lnTo>
                <a:lnTo>
                  <a:pt x="342265" y="22748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12001500" y="67945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Protégé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Modern ontology editor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0" y="0"/>
                </a:moveTo>
                <a:lnTo>
                  <a:pt x="8128000" y="0"/>
                </a:lnTo>
                <a:lnTo>
                  <a:pt x="8128000" y="2286000"/>
                </a:lnTo>
                <a:quadBezTo>
                  <a:pt x="6096000" y="4572000"/>
                  <a:pt x="4064000" y="4572000"/>
                </a:quadBezTo>
                <a:lnTo>
                  <a:pt x="2032000" y="4572000"/>
                </a:lnTo>
                <a:quadBezTo>
                  <a:pt x="0" y="4572000"/>
                  <a:pt x="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45720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8128000" y="4572000"/>
                </a:moveTo>
                <a:lnTo>
                  <a:pt x="0" y="4572000"/>
                </a:lnTo>
                <a:lnTo>
                  <a:pt x="0" y="2286000"/>
                </a:lnTo>
                <a:quadBezTo>
                  <a:pt x="2032000" y="0"/>
                  <a:pt x="4064000" y="0"/>
                </a:quadBezTo>
                <a:lnTo>
                  <a:pt x="6096000" y="0"/>
                </a:lnTo>
                <a:quadBezTo>
                  <a:pt x="8128000" y="0"/>
                  <a:pt x="812800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286000"/>
            <a:ext cx="1270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 Representation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413000" y="3683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Choosing the right representation is as important as having the right knowledge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032000" y="4826000"/>
            <a:ext cx="1778000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12549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32000" y="482600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Scripts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64000" y="4826000"/>
            <a:ext cx="1778000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12549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4000" y="482600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Ontologies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6000" y="4826000"/>
            <a:ext cx="1778000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12549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6000" y="482600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Logics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000" y="4826000"/>
            <a:ext cx="2032000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12549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8000" y="482600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Prod. Rules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414000" y="482600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12549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14000" y="4826000"/>
            <a:ext cx="228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Sem. Networks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954000" y="4826000"/>
            <a:ext cx="1524000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12549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954000" y="48260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Frames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18000" y="58420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Week 12 · Lecture 21 &amp; 22 · Artificial Intelligence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Representation</dc:title>
  <dc:subject>Knowledge Representation</dc:subject>
  <dc:creator>Kimi</dc:creator>
  <cp:lastModifiedBy>Kimi</cp:lastModifiedBy>
  <cp:revision>1</cp:revision>
  <dcterms:created xsi:type="dcterms:W3CDTF">2026-06-26T14:40:14Z</dcterms:created>
  <dcterms:modified xsi:type="dcterms:W3CDTF">2026-06-26T14:40:14Z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{"Label":"Knowledge Representation","ContentProducer":"001191110108MACG2KBH8F10000","ProduceID":"19f042f0-d552-859c-8000-00007f80188a","ReservedCode1":"","ContentPropagator":"001191110108MACG2KBH8F20000","PropagateID":"19f042ce-d7a2-86fb-8000-096fd8790347","ReservedCode2":""}</vt:lpwstr>
  </property>
</Properties>
</file>