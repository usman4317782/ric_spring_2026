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Points</c:v>
                </c:pt>
              </c:strCache>
            </c:strRef>
          </c:tx>
          <c:spPr>
            <a:solidFill>
              <a:srgbClr val="2D3A5C"/>
            </a:solidFill>
            <a:ln w="25400" cap="flat">
              <a:solidFill>
                <a:srgbClr val="2D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3A5C"/>
              </a:solidFill>
              <a:ln w="9525" cap="flat">
                <a:solidFill>
                  <a:srgbClr val="2D3A5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35</c:v>
                </c:pt>
                <c:pt idx="4">
                  <c:v>40</c:v>
                </c:pt>
                <c:pt idx="5">
                  <c:v>45</c:v>
                </c:pt>
                <c:pt idx="6">
                  <c:v>50</c:v>
                </c:pt>
                <c:pt idx="7">
                  <c:v>55</c:v>
                </c:pt>
                <c:pt idx="8">
                  <c:v>60</c:v>
                </c:pt>
                <c:pt idx="9">
                  <c:v>65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180</c:v>
                </c:pt>
                <c:pt idx="1">
                  <c:v>210</c:v>
                </c:pt>
                <c:pt idx="2">
                  <c:v>240</c:v>
                </c:pt>
                <c:pt idx="3">
                  <c:v>270</c:v>
                </c:pt>
                <c:pt idx="4">
                  <c:v>310</c:v>
                </c:pt>
                <c:pt idx="5">
                  <c:v>340</c:v>
                </c:pt>
                <c:pt idx="6">
                  <c:v>380</c:v>
                </c:pt>
                <c:pt idx="7">
                  <c:v>410</c:v>
                </c:pt>
                <c:pt idx="8">
                  <c:v>450</c:v>
                </c:pt>
                <c:pt idx="9">
                  <c:v>490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Area (sq.m)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ee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Price ($1000s)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rgbClr val="D4943A"/>
            </a:solidFill>
            <a:ln w="25400" cap="flat">
              <a:solidFill>
                <a:srgbClr val="D494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943A"/>
              </a:solidFill>
              <a:ln w="9525" cap="flat">
                <a:solidFill>
                  <a:srgbClr val="D494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Input (z = wx + b)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f0ee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P(y=1|x)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3A5C"/>
            </a:solidFill>
            <a:ln w="25400" cap="flat">
              <a:solidFill>
                <a:srgbClr val="2D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3A5C"/>
              </a:solidFill>
              <a:ln w="9525" cap="flat">
                <a:solidFill>
                  <a:srgbClr val="2D3A5C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1.8</c:v>
                </c:pt>
                <c:pt idx="5">
                  <c:v>5</c:v>
                </c:pt>
                <c:pt idx="6">
                  <c:v>5.5</c:v>
                </c:pt>
                <c:pt idx="7">
                  <c:v>6</c:v>
                </c:pt>
                <c:pt idx="8">
                  <c:v>4.5</c:v>
                </c:pt>
                <c:pt idx="9">
                  <c:v>6.5</c:v>
                </c:pt>
                <c:pt idx="10">
                  <c:v>3.2</c:v>
                </c:pt>
                <c:pt idx="11">
                  <c:v>3.8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1.5</c:v>
                </c:pt>
                <c:pt idx="3">
                  <c:v>2.5</c:v>
                </c:pt>
                <c:pt idx="4">
                  <c:v>0.8</c:v>
                </c:pt>
                <c:pt idx="5">
                  <c:v>4</c:v>
                </c:pt>
                <c:pt idx="6">
                  <c:v>5</c:v>
                </c:pt>
                <c:pt idx="7">
                  <c:v>4.5</c:v>
                </c:pt>
                <c:pt idx="8">
                  <c:v>5.5</c:v>
                </c:pt>
                <c:pt idx="9">
                  <c:v>5</c:v>
                </c:pt>
                <c:pt idx="10">
                  <c:v>3.2</c:v>
                </c:pt>
                <c:pt idx="11">
                  <c:v>3.8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3A5C"/>
            </a:solidFill>
            <a:ln w="25400" cap="flat">
              <a:solidFill>
                <a:srgbClr val="2D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3A5C"/>
              </a:solidFill>
              <a:ln w="9525" cap="flat">
                <a:solidFill>
                  <a:srgbClr val="2D3A5C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1</c:v>
                </c:pt>
                <c:pt idx="4">
                  <c:v>2.5</c:v>
                </c:pt>
                <c:pt idx="5">
                  <c:v>5</c:v>
                </c:pt>
                <c:pt idx="6">
                  <c:v>5.5</c:v>
                </c:pt>
                <c:pt idx="7">
                  <c:v>6</c:v>
                </c:pt>
                <c:pt idx="8">
                  <c:v>5</c:v>
                </c:pt>
                <c:pt idx="9">
                  <c:v>6.5</c:v>
                </c:pt>
                <c:pt idx="10">
                  <c:v>4.2</c:v>
                </c:pt>
                <c:pt idx="11">
                  <c:v>3.5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1.5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4.5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3.5</c:v>
                </c:pt>
                <c:pt idx="11">
                  <c:v>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gcs67dmpbiva/mnt/agents/output/ml-week4/images/5_22_362_Blue_Abstract_Ai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94000"/>
                </a:srgbClr>
              </a:gs>
              <a:gs pos="55000">
                <a:srgbClr val="1E2328">
                  <a:alpha val="82000"/>
                </a:srgbClr>
              </a:gs>
              <a:gs pos="100000">
                <a:srgbClr val="1E2328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286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54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16000" y="3048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Learning, Supervised Learning Algorithms,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&amp; Naïve Bayes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 | Lectures 7 &amp; 8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66040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8128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Course: Artificial Intelligence | Academic Year 2025-2026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7112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70000" y="2540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3683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7: Types of Learning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70000" y="4318000"/>
            <a:ext cx="6096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4572000"/>
            <a:ext cx="609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What is Machine Learning?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Three Types of Learning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Supervised Learning in Depth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Classification vs. Regression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Linear &amp; Logistic Regression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Decision Trees &amp; SVM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k-Nearest Neighbors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Summary of Algorithms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382000" y="2032000"/>
            <a:ext cx="7112000" cy="6629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90000" y="2540000"/>
            <a:ext cx="152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0" y="3683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8: Classification &amp; Naïve Bayes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890000" y="4318000"/>
            <a:ext cx="6096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4572000"/>
            <a:ext cx="609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Classification Overview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Common Classification Algorithms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Introduction to Naïve Bayes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Bayes' Theorem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How Naïve Bayes Works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Types of Naïve Bayes Classifiers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Worked Example &amp; Applications</a:t>
            </a:r>
            <a:endParaRPr lang="en-US" sz="20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Choosing the Right Algorithm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859000" y="86868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gcs67dmpbiva/mnt/agents/output/ml-week4/images/2_Abstract_modern_technology_digital.png">    </p:cNvPr>
          <p:cNvPicPr>
            <a:picLocks noChangeAspect="1"/>
          </p:cNvPicPr>
          <p:nvPr/>
        </p:nvPicPr>
        <p:blipFill>
          <a:blip r:embed="rId1"/>
          <a:srcRect l="51" r="5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91000"/>
                </a:srgbClr>
              </a:gs>
              <a:gs pos="50000">
                <a:srgbClr val="1E2328">
                  <a:alpha val="75000"/>
                </a:srgbClr>
              </a:gs>
              <a:gs pos="100000">
                <a:srgbClr val="1E2328">
                  <a:alpha val="44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810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064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Learning, Supervised Learning Algorithms,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Learning Models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6096000"/>
            <a:ext cx="381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Machine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838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(ML)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subset of Artificial Intelligence that enables systems to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from data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identify patterns, and make decisions with minimal human intervention. Instead of being explicitly programmed, ML systems improve their performance through experience.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374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4254500"/>
            <a:ext cx="2540000" cy="177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8225" y="4445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889500"/>
            <a:ext cx="215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Data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Extracts patterns from training examples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000" y="4254500"/>
            <a:ext cx="2540000" cy="177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10000" y="444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6500" y="4889500"/>
            <a:ext cx="215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Adapts Over Time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performance with more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0000" y="4254500"/>
            <a:ext cx="2540000" cy="177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04000" y="444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40500" y="4889500"/>
            <a:ext cx="215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Generalizes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learning to unseen inputs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03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Primary Paradigms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6540500"/>
            <a:ext cx="26670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6667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labeled data with known outputs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83000" y="6540500"/>
            <a:ext cx="2667000" cy="1524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0" name="Text 18"/>
          <p:cNvSpPr/>
          <p:nvPr/>
        </p:nvSpPr>
        <p:spPr>
          <a:xfrm>
            <a:off x="3873500" y="6667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Discovers hidden patterns in unlabeled data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4000" y="6540500"/>
            <a:ext cx="26670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6794500" y="6667500"/>
            <a:ext cx="228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by interacting with environment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52000" y="1778000"/>
            <a:ext cx="5842000" cy="635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330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/ ML / DL Hierarchy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0541000" y="2667000"/>
            <a:ext cx="4064000" cy="69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541000" y="2667000"/>
            <a:ext cx="4064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573000" y="3365500"/>
            <a:ext cx="0" cy="38100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1049000" y="3746500"/>
            <a:ext cx="3048000" cy="6985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9" name="Text 27"/>
          <p:cNvSpPr/>
          <p:nvPr/>
        </p:nvSpPr>
        <p:spPr>
          <a:xfrm>
            <a:off x="11049000" y="37465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573000" y="4445000"/>
            <a:ext cx="0" cy="381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1557000" y="4826000"/>
            <a:ext cx="2032000" cy="698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11557000" y="4826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33000" y="5842000"/>
            <a:ext cx="508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Examples: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filtering, recommendation systems, fraud detection, image recognition, speech-to-text, medical diagnosis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DL Examples: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ChatGPT, autonomous driving, AlphaGo, generative AI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Three Types of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699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778000"/>
            <a:ext cx="4699000" cy="762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Shape 5"/>
          <p:cNvSpPr/>
          <p:nvPr/>
        </p:nvSpPr>
        <p:spPr>
          <a:xfrm>
            <a:off x="1022350" y="2095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85725"/>
                </a:moveTo>
                <a:cubicBezTo>
                  <a:pt x="114300" y="54203"/>
                  <a:pt x="139928" y="28575"/>
                  <a:pt x="171450" y="28575"/>
                </a:cubicBezTo>
                <a:lnTo>
                  <a:pt x="485775" y="28575"/>
                </a:lnTo>
                <a:cubicBezTo>
                  <a:pt x="517297" y="28575"/>
                  <a:pt x="542925" y="54203"/>
                  <a:pt x="542925" y="85725"/>
                </a:cubicBezTo>
                <a:lnTo>
                  <a:pt x="542925" y="300038"/>
                </a:lnTo>
                <a:lnTo>
                  <a:pt x="457200" y="300038"/>
                </a:lnTo>
                <a:lnTo>
                  <a:pt x="457200" y="285750"/>
                </a:lnTo>
                <a:cubicBezTo>
                  <a:pt x="457200" y="269944"/>
                  <a:pt x="444431" y="257175"/>
                  <a:pt x="428625" y="257175"/>
                </a:cubicBezTo>
                <a:lnTo>
                  <a:pt x="371475" y="257175"/>
                </a:lnTo>
                <a:cubicBezTo>
                  <a:pt x="355669" y="257175"/>
                  <a:pt x="342900" y="269944"/>
                  <a:pt x="342900" y="285750"/>
                </a:cubicBezTo>
                <a:lnTo>
                  <a:pt x="342900" y="300038"/>
                </a:lnTo>
                <a:lnTo>
                  <a:pt x="227618" y="300038"/>
                </a:lnTo>
                <a:cubicBezTo>
                  <a:pt x="237351" y="283250"/>
                  <a:pt x="242888" y="263694"/>
                  <a:pt x="242888" y="242888"/>
                </a:cubicBezTo>
                <a:cubicBezTo>
                  <a:pt x="242888" y="179755"/>
                  <a:pt x="191720" y="128588"/>
                  <a:pt x="128588" y="128588"/>
                </a:cubicBezTo>
                <a:cubicBezTo>
                  <a:pt x="123765" y="128588"/>
                  <a:pt x="118943" y="128855"/>
                  <a:pt x="114300" y="129480"/>
                </a:cubicBezTo>
                <a:lnTo>
                  <a:pt x="114300" y="85725"/>
                </a:lnTo>
                <a:close/>
                <a:moveTo>
                  <a:pt x="297359" y="400050"/>
                </a:moveTo>
                <a:cubicBezTo>
                  <a:pt x="292804" y="378440"/>
                  <a:pt x="282803" y="358884"/>
                  <a:pt x="268694" y="342900"/>
                </a:cubicBezTo>
                <a:lnTo>
                  <a:pt x="542925" y="342900"/>
                </a:lnTo>
                <a:cubicBezTo>
                  <a:pt x="542925" y="374422"/>
                  <a:pt x="517297" y="400050"/>
                  <a:pt x="485775" y="400050"/>
                </a:cubicBezTo>
                <a:lnTo>
                  <a:pt x="297359" y="400050"/>
                </a:lnTo>
                <a:close/>
                <a:moveTo>
                  <a:pt x="57150" y="242888"/>
                </a:moveTo>
                <a:cubicBezTo>
                  <a:pt x="57150" y="203460"/>
                  <a:pt x="89160" y="171450"/>
                  <a:pt x="128587" y="171450"/>
                </a:cubicBezTo>
                <a:cubicBezTo>
                  <a:pt x="168015" y="171450"/>
                  <a:pt x="200025" y="203460"/>
                  <a:pt x="200025" y="242888"/>
                </a:cubicBezTo>
                <a:cubicBezTo>
                  <a:pt x="200025" y="282315"/>
                  <a:pt x="168015" y="314325"/>
                  <a:pt x="128588" y="314325"/>
                </a:cubicBezTo>
                <a:cubicBezTo>
                  <a:pt x="89160" y="314325"/>
                  <a:pt x="57150" y="282315"/>
                  <a:pt x="57150" y="242888"/>
                </a:cubicBezTo>
                <a:close/>
                <a:moveTo>
                  <a:pt x="0" y="428625"/>
                </a:moveTo>
                <a:cubicBezTo>
                  <a:pt x="0" y="381298"/>
                  <a:pt x="38398" y="342900"/>
                  <a:pt x="85725" y="342900"/>
                </a:cubicBezTo>
                <a:lnTo>
                  <a:pt x="171450" y="342900"/>
                </a:lnTo>
                <a:cubicBezTo>
                  <a:pt x="218777" y="342900"/>
                  <a:pt x="257175" y="381298"/>
                  <a:pt x="257175" y="428625"/>
                </a:cubicBezTo>
                <a:cubicBezTo>
                  <a:pt x="257175" y="444431"/>
                  <a:pt x="244406" y="457200"/>
                  <a:pt x="228600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lose/>
              </a:path>
            </a:pathLst>
          </a:custGeom>
          <a:solidFill>
            <a:srgbClr val="2D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730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3238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each input has a known correct output.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" y="4318000"/>
            <a:ext cx="4064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508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Types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Classification, Regression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5397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Regression, Logistic Regression, SVM, Decision Trees, k-NN, Naïve Bayes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6667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filtering, fraud detection, medical diagnosis, sales forecasting, image classification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1778000"/>
            <a:ext cx="4699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8500" y="1778000"/>
            <a:ext cx="4699000" cy="762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92869" y="192881"/>
                </a:moveTo>
                <a:lnTo>
                  <a:pt x="92869" y="250031"/>
                </a:lnTo>
                <a:cubicBezTo>
                  <a:pt x="92869" y="261908"/>
                  <a:pt x="102424" y="271463"/>
                  <a:pt x="114300" y="271463"/>
                </a:cubicBezTo>
                <a:cubicBezTo>
                  <a:pt x="126176" y="271463"/>
                  <a:pt x="135731" y="261908"/>
                  <a:pt x="135731" y="250031"/>
                </a:cubicBezTo>
                <a:lnTo>
                  <a:pt x="135731" y="192881"/>
                </a:lnTo>
                <a:cubicBezTo>
                  <a:pt x="135731" y="181005"/>
                  <a:pt x="126176" y="171450"/>
                  <a:pt x="114300" y="171450"/>
                </a:cubicBezTo>
                <a:cubicBezTo>
                  <a:pt x="102424" y="171450"/>
                  <a:pt x="92869" y="181005"/>
                  <a:pt x="92869" y="192881"/>
                </a:cubicBezTo>
                <a:close/>
                <a:moveTo>
                  <a:pt x="164306" y="107156"/>
                </a:moveTo>
                <a:lnTo>
                  <a:pt x="164306" y="250031"/>
                </a:lnTo>
                <a:cubicBezTo>
                  <a:pt x="164306" y="261908"/>
                  <a:pt x="173861" y="271463"/>
                  <a:pt x="185738" y="271463"/>
                </a:cubicBezTo>
                <a:cubicBezTo>
                  <a:pt x="197614" y="271463"/>
                  <a:pt x="207169" y="261908"/>
                  <a:pt x="207169" y="250031"/>
                </a:cubicBezTo>
                <a:lnTo>
                  <a:pt x="207169" y="107156"/>
                </a:lnTo>
                <a:cubicBezTo>
                  <a:pt x="207169" y="95280"/>
                  <a:pt x="197614" y="85725"/>
                  <a:pt x="185738" y="85725"/>
                </a:cubicBezTo>
                <a:cubicBezTo>
                  <a:pt x="173861" y="85725"/>
                  <a:pt x="164306" y="95280"/>
                  <a:pt x="164306" y="107156"/>
                </a:cubicBezTo>
                <a:close/>
                <a:moveTo>
                  <a:pt x="235744" y="164306"/>
                </a:moveTo>
                <a:lnTo>
                  <a:pt x="235744" y="250031"/>
                </a:lnTo>
                <a:cubicBezTo>
                  <a:pt x="235744" y="261908"/>
                  <a:pt x="245299" y="271463"/>
                  <a:pt x="257175" y="271463"/>
                </a:cubicBezTo>
                <a:cubicBezTo>
                  <a:pt x="269051" y="271463"/>
                  <a:pt x="278606" y="261908"/>
                  <a:pt x="278606" y="250031"/>
                </a:cubicBezTo>
                <a:lnTo>
                  <a:pt x="278606" y="164306"/>
                </a:lnTo>
                <a:cubicBezTo>
                  <a:pt x="278606" y="152430"/>
                  <a:pt x="269051" y="142875"/>
                  <a:pt x="257175" y="142875"/>
                </a:cubicBezTo>
                <a:cubicBezTo>
                  <a:pt x="245299" y="142875"/>
                  <a:pt x="235744" y="152430"/>
                  <a:pt x="235744" y="164306"/>
                </a:cubicBezTo>
                <a:close/>
              </a:path>
            </a:pathLst>
          </a:custGeom>
          <a:solidFill>
            <a:srgbClr val="6B7FA3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2730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96000" y="3238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unlabeled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discover hidden patterns and structures.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0" y="4318000"/>
            <a:ext cx="4064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0" y="4508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Types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Clustering, Association, Dimensionality Reduction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0" y="5397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K-Means, DBSCAN, PCA, Apriori, Autoencoders, Hierarchical Clustering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0" y="6667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segmentation, anomaly detection, recommendation systems, topic modeling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1778000"/>
            <a:ext cx="4699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95000" y="1778000"/>
            <a:ext cx="4699000" cy="762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55350" y="2095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1112500" y="2730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112500" y="3238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learns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interacting with an environment through trial and error.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112500" y="4318000"/>
            <a:ext cx="4064000" cy="12700"/>
          </a:xfrm>
          <a:prstGeom prst="rect">
            <a:avLst/>
          </a:prstGeom>
          <a:solidFill>
            <a:srgbClr val="D1CFC9"/>
          </a:solidFill>
          <a:ln/>
        </p:spPr>
      </p:sp>
      <p:sp>
        <p:nvSpPr>
          <p:cNvPr id="29" name="Text 27"/>
          <p:cNvSpPr/>
          <p:nvPr/>
        </p:nvSpPr>
        <p:spPr>
          <a:xfrm>
            <a:off x="11112500" y="4508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Types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Decision-Making, Policy Learning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12500" y="5397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Q-Learning, DQN, SARSA, Policy Gradient, Actor-Critic, PPO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12500" y="6667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cars, game AI (AlphaGo), robotics, dynamic pricing, autonomous agents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 in Depth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Supervised learning is the most widely used ML paradigm, accounting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~80% of enterprise ML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applications. The model learns from a labeled dataset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(X, y)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X represents input features and y represents the target variable.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goal: learn a mapping function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f: X → 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accurately predicts outputs for unseen inputs.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4762500"/>
            <a:ext cx="2286000" cy="1016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4762500"/>
            <a:ext cx="228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372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ML Share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47625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Problem Types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5270500"/>
            <a:ext cx="21590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9500" y="5334000"/>
            <a:ext cx="177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discrete labels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42000" y="5270500"/>
            <a:ext cx="21590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2500" y="5334000"/>
            <a:ext cx="177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Predicts continuous values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47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 Workflow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2000" y="6985000"/>
            <a:ext cx="1397000" cy="69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69850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22500" y="7327900"/>
            <a:ext cx="3175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603500" y="6985000"/>
            <a:ext cx="1397000" cy="69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603500" y="69850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/ Test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4000" y="7327900"/>
            <a:ext cx="3175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445000" y="6985000"/>
            <a:ext cx="1397000" cy="69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4445000" y="69850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5500" y="7327900"/>
            <a:ext cx="3175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286500" y="6985000"/>
            <a:ext cx="1397000" cy="698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6286500" y="69850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Test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47000" y="7327900"/>
            <a:ext cx="3175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128000" y="6985000"/>
            <a:ext cx="1397000" cy="698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28000" y="6985000"/>
            <a:ext cx="13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&amp; Predict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636000" y="1778000"/>
            <a:ext cx="6858000" cy="482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90000" y="1968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 Process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144000" y="2603500"/>
            <a:ext cx="1651000" cy="508000"/>
          </a:xfrm>
          <a:prstGeom prst="rect">
            <a:avLst/>
          </a:prstGeom>
          <a:solidFill>
            <a:srgbClr val="EAE7E1"/>
          </a:solidFill>
          <a:ln w="12700">
            <a:solidFill>
              <a:srgbClr val="D1CF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2603500"/>
            <a:ext cx="165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Data (X)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858500" y="2857500"/>
            <a:ext cx="6350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1557000" y="2413000"/>
            <a:ext cx="1778000" cy="889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11557000" y="2413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Model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f: X → 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398500" y="2857500"/>
            <a:ext cx="6350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4097000" y="2603500"/>
            <a:ext cx="11430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8" name="Text 36"/>
          <p:cNvSpPr/>
          <p:nvPr/>
        </p:nvSpPr>
        <p:spPr>
          <a:xfrm>
            <a:off x="14097000" y="2603500"/>
            <a:ext cx="114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(y)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446000" y="3365500"/>
            <a:ext cx="0" cy="508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ysDot"/>
            <a:headEnd type="arrow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1430000" y="3937000"/>
            <a:ext cx="2540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0" y="3937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with True Label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model weights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176000" y="3365500"/>
            <a:ext cx="1270000" cy="508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ysDot"/>
            <a:headEnd type="none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9652000" y="34290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Labels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(Ground Truth)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0" y="4038600"/>
            <a:ext cx="1651000" cy="406400"/>
          </a:xfrm>
          <a:prstGeom prst="rect">
            <a:avLst/>
          </a:prstGeom>
          <a:solidFill>
            <a:srgbClr val="EAE7E1"/>
          </a:solidFill>
          <a:ln w="12700">
            <a:solidFill>
              <a:srgbClr val="D1CF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40386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Labels (y)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90000" y="4953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iteratively adjusts its parameters to minimize prediction error on the training data.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vs.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5461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6193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Criteria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7892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Discrete / Categorical (e.g., spam, not-spam)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/ Real value (e.g., price, temperature)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92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 decision boundaries to divide data into classes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 the best-fit line to predict output values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7892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Discrete data with categorical labels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numeric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92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Regression, Decision Trees, SVM, Naïve Bayes, k-NN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 Regression, Polynomial Regression, Bayesian Linear Reg.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7892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Accuracy, Precision, Recall, F1-Score, AUC-ROC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MSE, RMSE, MAE, R² Score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288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 spam detection, disease diagnosis, image recognition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House price prediction, weather forecasting, stock prices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749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are supervised learning approaches that work with labeled datasets. The fundamental difference lies in the nature of the target variable — discrete categories vs. continuous values.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 — Predicting Continuous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Linear Regression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fundamental supervised learning algorithm that predicts continuous values by fitting a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straight line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between input and output variables.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model assumes a linear relationship: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4445000"/>
            <a:ext cx="7366000" cy="69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4445000"/>
            <a:ext cx="736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= w · x + 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270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weight (slope),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bias (intercept)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minimizes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Squared Error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predicted and actual values.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647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Variants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6921500"/>
            <a:ext cx="3556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2500" y="7048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Linear Regression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input feature (univariate)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6921500"/>
            <a:ext cx="3556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62500" y="70485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Linear Regression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input features (multivariate)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1778000"/>
            <a:ext cx="6858000" cy="482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90000" y="1968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 Visualization</a:t>
            </a:r>
            <a:endParaRPr lang="en-US" sz="2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890000" y="2349500"/>
          <a:ext cx="6350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8636000" y="6858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House price prediction, sales forecasting, weather prediction, stock price estimation, risk assessment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 — Classification with Probability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Despite its name,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Logistic Regression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 algorithm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It predicts the probability that an input belongs to a particular class using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sigmoid function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3937000"/>
            <a:ext cx="7366000" cy="698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3937000"/>
            <a:ext cx="736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P(y=1|x) = 1 / (1 + e</a:t>
            </a:r>
            <a:pPr algn="ctr">
              <a:lnSpc>
                <a:spcPct val="100000"/>
              </a:lnSpc>
            </a:pPr>
            <a:r>
              <a:rPr lang="en-US" sz="2000" baseline="30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-(wx+b)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826000"/>
            <a:ext cx="736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Rule: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 ≥ 0.5 → predict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1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(positive)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 &lt; 0.5 → predict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0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(negative)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615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Applications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Detection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classifying emails as spam or legitimate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Disease Prediction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positive/negative diagnosis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Approval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approved/denied decisions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will leave / will stay prediction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778000"/>
            <a:ext cx="6858000" cy="482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0" y="1968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Sigmoid Function</a:t>
            </a:r>
            <a:endParaRPr lang="en-US" sz="2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890000" y="2349500"/>
          <a:ext cx="6350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636000" y="6858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handle multi-class classification using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One-vs-Rest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strategy 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Softmax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function (Multinomial Logistic Regression).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Trees — Hierarchical Decision Making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 Trees use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tree-like structure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where each internal node represents a decision, each branch an outcome, and each leaf a class label. The algorithm recursively splits data to maximize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gain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349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736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Easy to interpret and visualize — "white box" model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Handles both numerical and categorical data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little data preprocessing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Captures non-linear relationships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905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Algorithms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ID3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uses Information Gain for splitting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C4.5 / C5.0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handles continuous attributes, pruning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supports both classification and regression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Prone to overfitting; mitigated via pruning and ensembles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1778000"/>
            <a:ext cx="6858000" cy="635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90000" y="1968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Play Tennis Decision Tree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922000" y="2540000"/>
            <a:ext cx="1778000" cy="508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0" y="2540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Outlook?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0" y="3048000"/>
            <a:ext cx="1016000" cy="762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446000" y="3048000"/>
            <a:ext cx="1016000" cy="762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811000" y="3048000"/>
            <a:ext cx="0" cy="762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10033000" y="3111500"/>
            <a:ext cx="69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66500" y="31115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Overcast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17500" y="3111500"/>
            <a:ext cx="571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98000" y="3810000"/>
            <a:ext cx="1524000" cy="508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1" name="Text 19"/>
          <p:cNvSpPr/>
          <p:nvPr/>
        </p:nvSpPr>
        <p:spPr>
          <a:xfrm>
            <a:off x="9398000" y="3810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Humidity?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684000" y="3810000"/>
            <a:ext cx="1270000" cy="50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684000" y="3810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462000" y="3810000"/>
            <a:ext cx="1524000" cy="508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5" name="Text 23"/>
          <p:cNvSpPr/>
          <p:nvPr/>
        </p:nvSpPr>
        <p:spPr>
          <a:xfrm>
            <a:off x="13462000" y="3810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0" y="4318000"/>
            <a:ext cx="762000" cy="635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414000" y="4318000"/>
            <a:ext cx="762000" cy="635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716000" y="4318000"/>
            <a:ext cx="508000" cy="635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4224000" y="4318000"/>
            <a:ext cx="508000" cy="635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636000" y="4953000"/>
            <a:ext cx="1016000" cy="444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8636000" y="4953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541000" y="4953000"/>
            <a:ext cx="1016000" cy="444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3" name="Text 31"/>
          <p:cNvSpPr/>
          <p:nvPr/>
        </p:nvSpPr>
        <p:spPr>
          <a:xfrm>
            <a:off x="10541000" y="4953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208000" y="4953000"/>
            <a:ext cx="1016000" cy="444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3"/>
          <p:cNvSpPr/>
          <p:nvPr/>
        </p:nvSpPr>
        <p:spPr>
          <a:xfrm>
            <a:off x="13208000" y="4953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4478000" y="4953000"/>
            <a:ext cx="1016000" cy="444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7" name="Text 35"/>
          <p:cNvSpPr/>
          <p:nvPr/>
        </p:nvSpPr>
        <p:spPr>
          <a:xfrm>
            <a:off x="14478000" y="49530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90000" y="5715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Decision Node 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Leaf (Outcome)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Vector Machines (SVM)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SVM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powerful classification algorithm that finds the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optimal hyperplane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separate data points of different classes. The optimal hyperplane maximizes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margin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distance to the nearest data points (support vectors).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3784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Kernel Trick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42164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non-linearly separable data, SVM transforms data into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higher-dimensional space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separation becomes possible — without explicitly computing the transformation.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Kernels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60325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Kernel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 linearly separable data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Polynomial Kernel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captures polynomial relationships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RBF (Radial Basis Function)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most versatile, handles complex boundaries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 Kernel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similar to neural network activation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1778000"/>
            <a:ext cx="6858000" cy="635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90000" y="1968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SVM: Maximum Margin Classifier</a:t>
            </a:r>
            <a:endParaRPr lang="en-US" sz="2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890000" y="2413000"/>
          <a:ext cx="6350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10287000" y="4318000"/>
            <a:ext cx="3556000" cy="2540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9906000" y="4699000"/>
            <a:ext cx="3048000" cy="2540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ysDot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10668000" y="3937000"/>
            <a:ext cx="3048000" cy="2540000"/>
          </a:xfrm>
          <a:prstGeom prst="straightConnector1">
            <a:avLst/>
          </a:prstGeom>
          <a:noFill/>
          <a:ln w="12700">
            <a:solidFill>
              <a:srgbClr val="6B7FA3"/>
            </a:solidFill>
            <a:prstDash val="sysDot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11049000" y="3683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Margin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30000" y="53340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90000" y="660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also supports regression (SVR) and is particularly effective in high-dimensional spaces.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k-Nearest Neighbors (k-NN)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k-NN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simple, instance-based learning algorithm that classifies a new data point based on the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 closest neighbors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feature space. The value of k is user-defined.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4064000"/>
            <a:ext cx="736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 distance from query point to all training points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the k nearest neighbors (smallest distances)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majority vote among k neighbors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Regression: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average of k neighbors'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5905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0"/>
            <a:ext cx="736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Lazy Learner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explicit training phase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Non-parametric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assumptions about data distribution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Distance: Euclidean, Manhattan, Minkowski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Sensitive to feature scale — normalize data!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1778000"/>
            <a:ext cx="6858000" cy="635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90000" y="1968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k-NN Visualization (k = 5)</a:t>
            </a:r>
            <a:endParaRPr lang="en-US" sz="2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8890000" y="2413000"/>
          <a:ext cx="6350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11557000" y="4064000"/>
            <a:ext cx="889000" cy="889000"/>
          </a:xfrm>
          <a:prstGeom prst="ellipse">
            <a:avLst/>
          </a:prstGeom>
          <a:solidFill>
            <a:srgbClr val="D4943A">
              <a:alpha val="8235"/>
            </a:srgbClr>
          </a:solidFill>
          <a:ln w="25400">
            <a:solidFill>
              <a:srgbClr val="D4943A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1620500" y="4381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90000" y="660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dashed circle shows the 5 nearest neighbors. The query point is classified based on their majority class.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of Supervised Learning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6223000"/>
        </p:xfrm>
        <a:graphic>
          <a:graphicData uri="http://schemas.openxmlformats.org/drawingml/2006/table">
            <a:tbl>
              <a:tblPr/>
              <a:tblGrid>
                <a:gridCol w="2357120"/>
                <a:gridCol w="2062480"/>
                <a:gridCol w="5156200"/>
                <a:gridCol w="5156200"/>
              </a:tblGrid>
              <a:tr h="61851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It 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 Regression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Regression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Fits a straight line y = wx + b by minimizing MSE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value prediction; interpretable baseline model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Regression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sigmoid function to output class probabilities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 classification; probabilistic interpretation needed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Decision Trees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Recursive feature-based splitting; tree structure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Interpretable models; mixed data types; rule extraction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Finds maximum-margin hyperplane; kernel trick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High-dimensional data; complex decision boundaries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k-NN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Classifies based on k nearest neighbors' majority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datasets; simple baseline; local patterns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Naïve Bayes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Probabilistic classifier using Bayes' Theorem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classification; spam filtering; high-dimensional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191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algorithm has unique strengths. Selection depends on data size, dimensionality, interpretability needs, and computational constraints.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gcs67dmpbiva/mnt/agents/output/ml-week4/images/7_74_395_Dark_Data_Visualization_Royalty.png">    </p:cNvPr>
          <p:cNvPicPr>
            <a:picLocks noChangeAspect="1"/>
          </p:cNvPicPr>
          <p:nvPr/>
        </p:nvPicPr>
        <p:blipFill>
          <a:blip r:embed="rId1"/>
          <a:srcRect l="1407" r="140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91000"/>
                </a:srgbClr>
              </a:gs>
              <a:gs pos="50000">
                <a:srgbClr val="1E2328">
                  <a:alpha val="75000"/>
                </a:srgbClr>
              </a:gs>
              <a:gs pos="100000">
                <a:srgbClr val="1E2328">
                  <a:alpha val="44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810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064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Algorithms and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Naïve Bayes Classifier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6096000"/>
            <a:ext cx="3810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— Categorizing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Classification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task of predicting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discrete class labels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given input data. The algorithm learns from correctly labeled training examples to build a model that assigns new instances to predefined categories.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98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Classification Problems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2000" y="3492500"/>
            <a:ext cx="4699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3492500"/>
            <a:ext cx="63500" cy="2032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6195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possible classes: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/ Not Spam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/ Legitimate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/ Negative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3492500"/>
            <a:ext cx="4699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8500" y="3492500"/>
            <a:ext cx="63500" cy="203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6195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Multi-Class Classification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two classes: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 recognition (0-9)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species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 categories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3492500"/>
            <a:ext cx="4699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0" y="3492500"/>
            <a:ext cx="63500" cy="2032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3619500"/>
            <a:ext cx="4127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Classification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classes per instance: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Tags on a blog post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Genres of a movie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Topics in a document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84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324600"/>
          <a:ext cx="14732000" cy="1778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Formula / Meaning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to 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TP / (TP + FP) — of all predicted positive, how many are correct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false positives are costly (e.g., spam filtering)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TP / (TP + FN) — of all actual positive, how many are found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false negatives are costly (e.g., disease diagnosis)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Classification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82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778000"/>
            <a:ext cx="635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905000"/>
            <a:ext cx="425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model with sigmoid for binary outcomes; probability output; interpretable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778000"/>
            <a:ext cx="482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78500" y="1778000"/>
            <a:ext cx="635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1905000"/>
            <a:ext cx="425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Recursive feature splitting; intuitive rules; handles mixed types; may overfit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778000"/>
            <a:ext cx="4699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795000" y="1778000"/>
            <a:ext cx="63500" cy="1524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1112500" y="1905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of trees using bagging; reduces overfitting; robust; versatile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556000"/>
            <a:ext cx="482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3556000"/>
            <a:ext cx="635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3683000"/>
            <a:ext cx="425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Maximum-margin separator; kernel trick; effective in high dimensions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3556000"/>
            <a:ext cx="482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78500" y="3556000"/>
            <a:ext cx="635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0" y="3683000"/>
            <a:ext cx="425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k-NN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Non-parametric; simple; classifies by nearest neighbors; scale sensitive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3556000"/>
            <a:ext cx="4699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95000" y="3556000"/>
            <a:ext cx="635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1112500" y="3683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ensemble (XGBoost); corrects errors; competition winner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334000"/>
            <a:ext cx="482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000" y="5334000"/>
            <a:ext cx="63500" cy="1524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5461000"/>
            <a:ext cx="425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architectures; powerful; needs large datasets and compute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78500" y="5334000"/>
            <a:ext cx="4826000" cy="1524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78500" y="5334000"/>
            <a:ext cx="63500" cy="1524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28" name="Text 26"/>
          <p:cNvSpPr/>
          <p:nvPr/>
        </p:nvSpPr>
        <p:spPr>
          <a:xfrm>
            <a:off x="6096000" y="5461000"/>
            <a:ext cx="4254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Naïve Bayes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classifier; feature independence; fast for text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175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single algorithm is universally best. The choice depends on your data characteristics, problem constraints, and trade-offs between accuracy, speed, and interpretability.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Naïve Bayes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366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Naïve Bayes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family of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probabilistic classification algorithms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Bayes' Theorem. It makes a strong ("naïve") assumption that all features are conditionally independent of each other.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Despite this simplifying assumption, Naïve Bayes performs surprisingly well in many real-world applications — especially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classification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spam filtering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47625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Named after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Reverend Thomas Bayes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(1701–1761) and his foundational work on conditional probability.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5613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6070600"/>
            <a:ext cx="3556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9650" y="6261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422400" y="6121400"/>
            <a:ext cx="273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Single-pass training and prediction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6070600"/>
            <a:ext cx="3556000" cy="1270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626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5232400" y="6096000"/>
            <a:ext cx="273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High-Dimensional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well with thousands of features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7213600"/>
            <a:ext cx="3556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9650" y="7340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422400" y="7264400"/>
            <a:ext cx="273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Data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well with limited training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7366000"/>
            <a:ext cx="3556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38700" y="7493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5232400" y="7416800"/>
            <a:ext cx="273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Specialist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Excels at text and document classification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36000" y="1778000"/>
            <a:ext cx="6858000" cy="6350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75750" y="2286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0" y="214313"/>
                </a:moveTo>
                <a:cubicBezTo>
                  <a:pt x="0" y="148530"/>
                  <a:pt x="53280" y="95250"/>
                  <a:pt x="119063" y="95250"/>
                </a:cubicBezTo>
                <a:lnTo>
                  <a:pt x="127000" y="95250"/>
                </a:lnTo>
                <a:cubicBezTo>
                  <a:pt x="144562" y="95250"/>
                  <a:pt x="158750" y="109438"/>
                  <a:pt x="158750" y="127000"/>
                </a:cubicBezTo>
                <a:cubicBezTo>
                  <a:pt x="158750" y="144562"/>
                  <a:pt x="144562" y="158750"/>
                  <a:pt x="127000" y="158750"/>
                </a:cubicBezTo>
                <a:lnTo>
                  <a:pt x="119063" y="158750"/>
                </a:lnTo>
                <a:cubicBezTo>
                  <a:pt x="88404" y="158750"/>
                  <a:pt x="63500" y="183654"/>
                  <a:pt x="63500" y="214313"/>
                </a:cubicBezTo>
                <a:lnTo>
                  <a:pt x="63500" y="222250"/>
                </a:lnTo>
                <a:lnTo>
                  <a:pt x="127000" y="222250"/>
                </a:lnTo>
                <a:cubicBezTo>
                  <a:pt x="162024" y="222250"/>
                  <a:pt x="190500" y="250726"/>
                  <a:pt x="190500" y="285750"/>
                </a:cubicBezTo>
                <a:lnTo>
                  <a:pt x="190500" y="349250"/>
                </a:lnTo>
                <a:cubicBezTo>
                  <a:pt x="190500" y="384274"/>
                  <a:pt x="162024" y="412750"/>
                  <a:pt x="127000" y="412750"/>
                </a:cubicBezTo>
                <a:lnTo>
                  <a:pt x="63500" y="412750"/>
                </a:lnTo>
                <a:cubicBezTo>
                  <a:pt x="28476" y="412750"/>
                  <a:pt x="0" y="384274"/>
                  <a:pt x="0" y="349250"/>
                </a:cubicBezTo>
                <a:lnTo>
                  <a:pt x="0" y="214313"/>
                </a:lnTo>
                <a:close/>
                <a:moveTo>
                  <a:pt x="254000" y="214313"/>
                </a:moveTo>
                <a:cubicBezTo>
                  <a:pt x="254000" y="148530"/>
                  <a:pt x="307280" y="95250"/>
                  <a:pt x="373063" y="95250"/>
                </a:cubicBezTo>
                <a:lnTo>
                  <a:pt x="381000" y="95250"/>
                </a:lnTo>
                <a:cubicBezTo>
                  <a:pt x="398562" y="95250"/>
                  <a:pt x="412750" y="109438"/>
                  <a:pt x="412750" y="127000"/>
                </a:cubicBezTo>
                <a:cubicBezTo>
                  <a:pt x="412750" y="144562"/>
                  <a:pt x="398562" y="158750"/>
                  <a:pt x="381000" y="158750"/>
                </a:cubicBezTo>
                <a:lnTo>
                  <a:pt x="373063" y="158750"/>
                </a:lnTo>
                <a:cubicBezTo>
                  <a:pt x="342404" y="158750"/>
                  <a:pt x="317500" y="183654"/>
                  <a:pt x="317500" y="214313"/>
                </a:cubicBezTo>
                <a:lnTo>
                  <a:pt x="317500" y="222250"/>
                </a:lnTo>
                <a:lnTo>
                  <a:pt x="381000" y="222250"/>
                </a:lnTo>
                <a:cubicBezTo>
                  <a:pt x="416024" y="222250"/>
                  <a:pt x="444500" y="250726"/>
                  <a:pt x="444500" y="285750"/>
                </a:cubicBezTo>
                <a:lnTo>
                  <a:pt x="444500" y="349250"/>
                </a:lnTo>
                <a:cubicBezTo>
                  <a:pt x="444500" y="384274"/>
                  <a:pt x="416024" y="412750"/>
                  <a:pt x="381000" y="412750"/>
                </a:cubicBezTo>
                <a:lnTo>
                  <a:pt x="317500" y="412750"/>
                </a:lnTo>
                <a:cubicBezTo>
                  <a:pt x="282476" y="412750"/>
                  <a:pt x="254000" y="384274"/>
                  <a:pt x="254000" y="349250"/>
                </a:cubicBezTo>
                <a:lnTo>
                  <a:pt x="254000" y="214313"/>
                </a:lnTo>
                <a:close/>
              </a:path>
            </a:pathLst>
          </a:custGeom>
          <a:solidFill>
            <a:srgbClr val="FFFFFF">
              <a:alpha val="18824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30480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"Naïve Bayes is one of the simplest yet most effective machine learning algorithms."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0" y="5334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"Naïve"?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5842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algorithm naïvely assumes all features are independent — an assumption rarely true in practice. Yet it works remarkably well!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Bayes' Theorem — The Mathematical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14732000" cy="1016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841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 | B) = P(B | A) · P(A) / P(B)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Terms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7112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16000" y="387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 | B)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42291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Posterior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Probability of class A given evidence 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953000"/>
            <a:ext cx="7112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16000" y="508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P(B | 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4356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Likelihood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Probability of evidence B given class 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159500"/>
            <a:ext cx="7112000" cy="101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6000" y="6286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P(A)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6421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Initial probability of class A (before seeing evidence)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366000"/>
            <a:ext cx="7112000" cy="76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16000" y="7391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P(B)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Marginal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Probability of evidence B (normalization constant)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3175000"/>
            <a:ext cx="7112000" cy="482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63000" y="342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Classification Context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763000" y="3937000"/>
            <a:ext cx="6350000" cy="4826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2" name="Text 20"/>
          <p:cNvSpPr/>
          <p:nvPr/>
        </p:nvSpPr>
        <p:spPr>
          <a:xfrm>
            <a:off x="8763000" y="3937000"/>
            <a:ext cx="635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P(Class | Data) = P(Data | Class) · P(Class) / P(Data)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4889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Rule: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P(Class|Data) for each possible class, then select the class with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posterior probability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63000" y="6604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Update your belief about a class (Prior) based on new evidence (Likelihood) to get a refined prediction (Posterior).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Naïve Bayes Classifier —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Given a data instance with features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(x₁, x₂, ..., xₙ)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classifier computes the posterior probability for each class: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14732000" cy="762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667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P(Class | x₁, x₂, ..., xₙ) ∝ P(Class) × ∏ P(xᵢ | Class)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"naïve" assumption: all features are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conditionally independent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given the class. Each feature contributes independently to the prediction.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44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Rule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889500"/>
            <a:ext cx="7112000" cy="4826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4889500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ŷ = argmax P(y) × ∏ P(xᵢ | 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905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Steps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63500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P(y) for each class from training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67945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Likelihood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P(xᵢ|y) for each feature per class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72390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Multiply: P(y) × P(x₁|y) × P(x₂|y) × ... × P(xₙ|y)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76835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class with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product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prediction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4445000"/>
            <a:ext cx="7112000" cy="4216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63000" y="469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Does It Work So Well?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63000" y="5207000"/>
            <a:ext cx="6350000" cy="340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the independence assumption rarely holding in practice, Naïve Bayes often performs comparably to more complex algorithms.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classification, we only need the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argmax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exact probabilities don't matter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text data, feature correlations are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relatively weak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assumption introduces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useful bias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reduces variance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59000" y="86868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Naïve Bayes Classifiers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4699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841500"/>
            <a:ext cx="4699000" cy="762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41500"/>
            <a:ext cx="469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Gaussian Naïve Bayes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857500"/>
            <a:ext cx="4064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features follow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(Gaussian)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distribution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Calculates P(xᵢ|y) using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deviation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each feature per class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numerical data such as sensor readings, measurements, and physical quantities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Iris flower classification based on petal and sepal dimensions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841500"/>
            <a:ext cx="4699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78500" y="1841500"/>
            <a:ext cx="4699000" cy="762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0" y="1841500"/>
            <a:ext cx="469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Multinomial Naïve Bayes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2857500"/>
            <a:ext cx="4064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are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counts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(word frequencies, term occurrences)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 frequency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TF-IDF values; assumes multinomial distribution of features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classification — the most widely used variant for document categorization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filtering, sentiment analysis, news categorization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841500"/>
            <a:ext cx="4699000" cy="673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95000" y="1841500"/>
            <a:ext cx="4699000" cy="7620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0" y="1841500"/>
            <a:ext cx="469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Bernoulli Naïve Bayes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2857500"/>
            <a:ext cx="4064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are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binary/boolean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present (1) or absent (0)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binary term occurrence; each feature indicates presence or absence of a term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classification with binary features; short text documents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message classification, presence-based document categorization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Naïve Bayes — 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Predict whether to play tennis given weather conditions using Naïve Bayes.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6350000" cy="2794000"/>
        </p:xfrm>
        <a:graphic>
          <a:graphicData uri="http://schemas.openxmlformats.org/drawingml/2006/table">
            <a:tbl>
              <a:tblPr/>
              <a:tblGrid>
                <a:gridCol w="1778000"/>
                <a:gridCol w="1524000"/>
                <a:gridCol w="1524000"/>
                <a:gridCol w="1524000"/>
              </a:tblGrid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Outlook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Humidity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Play?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Sunny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Overcast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7AE6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7AE6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Sunny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7AE6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Normal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5524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Query: Outlook=Sunny, Temp=Cool, Humidity=High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62000" y="6032500"/>
            <a:ext cx="63500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16000" y="6159500"/>
            <a:ext cx="584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P(Yes)=3/5, P(No)=2/5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P(Sunny|Yes)=1/3, P(Sunny|No)=1/2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P(Yes|Data) ∝ 3/5 × 1/3 × 1/3 × 1/3 =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0.022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P(No|Data) ∝ 2/5 × 1/2 × 1/2 × 1/2 =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Predict No (higher probability)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0" y="2540000"/>
            <a:ext cx="7874000" cy="558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01000" y="273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Walkthrough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001000" y="3238500"/>
            <a:ext cx="711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Calculate Prior Probabilities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 class frequencies in training data: P(Yes) and P(No)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Calculate Conditional Probabilities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each feature value, compute P(feature|class) for each class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Apply Bayes' Theorem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Multiply prior with all conditional probabilities (naïve independence)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Compare &amp; Classify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the class with the highest posterior probability as the prediction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practice, use log-probabilities to avoid underflow with many features.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and Limitations of Naïve Bayes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7AE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260600"/>
            <a:ext cx="7112000" cy="25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4765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8063" y="2667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84884" y="-5402"/>
                </a:moveTo>
                <a:cubicBezTo>
                  <a:pt x="191378" y="-709"/>
                  <a:pt x="193779" y="7804"/>
                  <a:pt x="190832" y="15225"/>
                </a:cubicBezTo>
                <a:lnTo>
                  <a:pt x="148049" y="122238"/>
                </a:lnTo>
                <a:lnTo>
                  <a:pt x="227013" y="122238"/>
                </a:lnTo>
                <a:cubicBezTo>
                  <a:pt x="234379" y="122238"/>
                  <a:pt x="240928" y="126821"/>
                  <a:pt x="243438" y="133752"/>
                </a:cubicBezTo>
                <a:cubicBezTo>
                  <a:pt x="245948" y="140682"/>
                  <a:pt x="243820" y="148431"/>
                  <a:pt x="238199" y="153124"/>
                </a:cubicBezTo>
                <a:lnTo>
                  <a:pt x="81037" y="284093"/>
                </a:lnTo>
                <a:cubicBezTo>
                  <a:pt x="74870" y="289223"/>
                  <a:pt x="66085" y="289496"/>
                  <a:pt x="59591" y="284802"/>
                </a:cubicBezTo>
                <a:cubicBezTo>
                  <a:pt x="53097" y="280109"/>
                  <a:pt x="50696" y="271596"/>
                  <a:pt x="53643" y="264175"/>
                </a:cubicBezTo>
                <a:lnTo>
                  <a:pt x="96426" y="157163"/>
                </a:lnTo>
                <a:lnTo>
                  <a:pt x="17463" y="157163"/>
                </a:lnTo>
                <a:cubicBezTo>
                  <a:pt x="10096" y="157163"/>
                  <a:pt x="3547" y="152579"/>
                  <a:pt x="1037" y="145648"/>
                </a:cubicBezTo>
                <a:cubicBezTo>
                  <a:pt x="-1473" y="138718"/>
                  <a:pt x="655" y="130969"/>
                  <a:pt x="6276" y="126276"/>
                </a:cubicBezTo>
                <a:lnTo>
                  <a:pt x="163438" y="-4693"/>
                </a:lnTo>
                <a:cubicBezTo>
                  <a:pt x="169605" y="-9823"/>
                  <a:pt x="178390" y="-10096"/>
                  <a:pt x="184884" y="-5402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2540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Fast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single pass through data for training and prediction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290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90600" y="361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6876" y="2838"/>
                </a:moveTo>
                <a:cubicBezTo>
                  <a:pt x="135007" y="-928"/>
                  <a:pt x="144393" y="-928"/>
                  <a:pt x="152524" y="2838"/>
                </a:cubicBezTo>
                <a:lnTo>
                  <a:pt x="271815" y="57954"/>
                </a:lnTo>
                <a:cubicBezTo>
                  <a:pt x="276453" y="60082"/>
                  <a:pt x="279400" y="64720"/>
                  <a:pt x="279400" y="69850"/>
                </a:cubicBezTo>
                <a:cubicBezTo>
                  <a:pt x="279400" y="74980"/>
                  <a:pt x="276453" y="79618"/>
                  <a:pt x="271815" y="81746"/>
                </a:cubicBezTo>
                <a:lnTo>
                  <a:pt x="152524" y="136862"/>
                </a:lnTo>
                <a:cubicBezTo>
                  <a:pt x="144393" y="140628"/>
                  <a:pt x="135007" y="140628"/>
                  <a:pt x="126876" y="136862"/>
                </a:cubicBezTo>
                <a:lnTo>
                  <a:pt x="7585" y="81746"/>
                </a:lnTo>
                <a:cubicBezTo>
                  <a:pt x="2947" y="79564"/>
                  <a:pt x="0" y="74925"/>
                  <a:pt x="0" y="69850"/>
                </a:cubicBezTo>
                <a:cubicBezTo>
                  <a:pt x="0" y="64775"/>
                  <a:pt x="2947" y="60082"/>
                  <a:pt x="7585" y="57954"/>
                </a:cubicBezTo>
                <a:lnTo>
                  <a:pt x="126876" y="2838"/>
                </a:lnTo>
                <a:close/>
                <a:moveTo>
                  <a:pt x="26248" y="119182"/>
                </a:moveTo>
                <a:lnTo>
                  <a:pt x="115907" y="160600"/>
                </a:lnTo>
                <a:cubicBezTo>
                  <a:pt x="131023" y="167585"/>
                  <a:pt x="148431" y="167585"/>
                  <a:pt x="163547" y="160600"/>
                </a:cubicBezTo>
                <a:lnTo>
                  <a:pt x="253206" y="119182"/>
                </a:lnTo>
                <a:lnTo>
                  <a:pt x="271815" y="127804"/>
                </a:lnTo>
                <a:cubicBezTo>
                  <a:pt x="276453" y="129932"/>
                  <a:pt x="279400" y="134570"/>
                  <a:pt x="279400" y="139700"/>
                </a:cubicBezTo>
                <a:cubicBezTo>
                  <a:pt x="279400" y="144830"/>
                  <a:pt x="276453" y="149468"/>
                  <a:pt x="271815" y="151596"/>
                </a:cubicBezTo>
                <a:lnTo>
                  <a:pt x="152524" y="206712"/>
                </a:lnTo>
                <a:cubicBezTo>
                  <a:pt x="144393" y="210478"/>
                  <a:pt x="135007" y="210478"/>
                  <a:pt x="126876" y="206712"/>
                </a:cubicBezTo>
                <a:lnTo>
                  <a:pt x="7585" y="151596"/>
                </a:lnTo>
                <a:cubicBezTo>
                  <a:pt x="2947" y="149414"/>
                  <a:pt x="0" y="144775"/>
                  <a:pt x="0" y="139700"/>
                </a:cubicBezTo>
                <a:cubicBezTo>
                  <a:pt x="0" y="134625"/>
                  <a:pt x="2947" y="129932"/>
                  <a:pt x="7585" y="127804"/>
                </a:cubicBezTo>
                <a:lnTo>
                  <a:pt x="26194" y="119182"/>
                </a:lnTo>
                <a:close/>
                <a:moveTo>
                  <a:pt x="7585" y="197654"/>
                </a:moveTo>
                <a:lnTo>
                  <a:pt x="26194" y="189032"/>
                </a:lnTo>
                <a:lnTo>
                  <a:pt x="115853" y="230450"/>
                </a:lnTo>
                <a:cubicBezTo>
                  <a:pt x="130969" y="237435"/>
                  <a:pt x="148377" y="237435"/>
                  <a:pt x="163493" y="230450"/>
                </a:cubicBezTo>
                <a:lnTo>
                  <a:pt x="253152" y="189032"/>
                </a:lnTo>
                <a:lnTo>
                  <a:pt x="271760" y="197654"/>
                </a:lnTo>
                <a:cubicBezTo>
                  <a:pt x="276399" y="199782"/>
                  <a:pt x="279345" y="204420"/>
                  <a:pt x="279345" y="209550"/>
                </a:cubicBezTo>
                <a:cubicBezTo>
                  <a:pt x="279345" y="214680"/>
                  <a:pt x="276399" y="219318"/>
                  <a:pt x="271760" y="221446"/>
                </a:cubicBezTo>
                <a:lnTo>
                  <a:pt x="152469" y="276562"/>
                </a:lnTo>
                <a:cubicBezTo>
                  <a:pt x="144338" y="280328"/>
                  <a:pt x="134952" y="280328"/>
                  <a:pt x="126821" y="276562"/>
                </a:cubicBezTo>
                <a:lnTo>
                  <a:pt x="7585" y="221446"/>
                </a:lnTo>
                <a:cubicBezTo>
                  <a:pt x="2947" y="219264"/>
                  <a:pt x="0" y="214625"/>
                  <a:pt x="0" y="209550"/>
                </a:cubicBezTo>
                <a:cubicBezTo>
                  <a:pt x="0" y="204475"/>
                  <a:pt x="2947" y="199782"/>
                  <a:pt x="7585" y="197654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3492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High-Dimensional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works well with thousands of features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3815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8063" y="45720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44475" y="112306"/>
                </a:moveTo>
                <a:cubicBezTo>
                  <a:pt x="236399" y="117654"/>
                  <a:pt x="227122" y="121965"/>
                  <a:pt x="217463" y="125403"/>
                </a:cubicBezTo>
                <a:cubicBezTo>
                  <a:pt x="191815" y="134570"/>
                  <a:pt x="158145" y="139700"/>
                  <a:pt x="122238" y="139700"/>
                </a:cubicBezTo>
                <a:cubicBezTo>
                  <a:pt x="86330" y="139700"/>
                  <a:pt x="52606" y="134516"/>
                  <a:pt x="27012" y="125403"/>
                </a:cubicBezTo>
                <a:cubicBezTo>
                  <a:pt x="17408" y="121965"/>
                  <a:pt x="8076" y="117654"/>
                  <a:pt x="0" y="112306"/>
                </a:cubicBezTo>
                <a:lnTo>
                  <a:pt x="0" y="157163"/>
                </a:lnTo>
                <a:cubicBezTo>
                  <a:pt x="0" y="181283"/>
                  <a:pt x="54734" y="200819"/>
                  <a:pt x="122238" y="200819"/>
                </a:cubicBezTo>
                <a:cubicBezTo>
                  <a:pt x="189741" y="200819"/>
                  <a:pt x="244475" y="181283"/>
                  <a:pt x="244475" y="157163"/>
                </a:cubicBezTo>
                <a:lnTo>
                  <a:pt x="244475" y="112306"/>
                </a:lnTo>
                <a:close/>
                <a:moveTo>
                  <a:pt x="244475" y="69850"/>
                </a:moveTo>
                <a:lnTo>
                  <a:pt x="244475" y="43656"/>
                </a:lnTo>
                <a:cubicBezTo>
                  <a:pt x="244475" y="19536"/>
                  <a:pt x="189741" y="0"/>
                  <a:pt x="122238" y="0"/>
                </a:cubicBezTo>
                <a:cubicBezTo>
                  <a:pt x="54734" y="0"/>
                  <a:pt x="0" y="19536"/>
                  <a:pt x="0" y="43656"/>
                </a:cubicBezTo>
                <a:lnTo>
                  <a:pt x="0" y="69850"/>
                </a:lnTo>
                <a:cubicBezTo>
                  <a:pt x="0" y="93970"/>
                  <a:pt x="54734" y="113506"/>
                  <a:pt x="122238" y="113506"/>
                </a:cubicBezTo>
                <a:cubicBezTo>
                  <a:pt x="189741" y="113506"/>
                  <a:pt x="244475" y="93970"/>
                  <a:pt x="244475" y="69850"/>
                </a:cubicBezTo>
                <a:close/>
                <a:moveTo>
                  <a:pt x="217463" y="212715"/>
                </a:moveTo>
                <a:cubicBezTo>
                  <a:pt x="191869" y="221828"/>
                  <a:pt x="158199" y="227013"/>
                  <a:pt x="122238" y="227013"/>
                </a:cubicBezTo>
                <a:cubicBezTo>
                  <a:pt x="86276" y="227013"/>
                  <a:pt x="52606" y="221828"/>
                  <a:pt x="27012" y="212715"/>
                </a:cubicBezTo>
                <a:cubicBezTo>
                  <a:pt x="17408" y="209277"/>
                  <a:pt x="8076" y="204966"/>
                  <a:pt x="0" y="199618"/>
                </a:cubicBezTo>
                <a:lnTo>
                  <a:pt x="0" y="235744"/>
                </a:lnTo>
                <a:cubicBezTo>
                  <a:pt x="0" y="259864"/>
                  <a:pt x="54734" y="279400"/>
                  <a:pt x="122238" y="279400"/>
                </a:cubicBezTo>
                <a:cubicBezTo>
                  <a:pt x="189741" y="279400"/>
                  <a:pt x="244475" y="259864"/>
                  <a:pt x="244475" y="235744"/>
                </a:cubicBezTo>
                <a:lnTo>
                  <a:pt x="244475" y="199618"/>
                </a:lnTo>
                <a:cubicBezTo>
                  <a:pt x="236399" y="204966"/>
                  <a:pt x="227122" y="209277"/>
                  <a:pt x="217463" y="212715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4445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Training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performs well even with limited examples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3340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0600" y="552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1397000" y="5397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Missing Values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robust to incomplete training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2865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3138" y="6477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79618" y="130969"/>
                </a:moveTo>
                <a:lnTo>
                  <a:pt x="183575" y="130969"/>
                </a:lnTo>
                <a:cubicBezTo>
                  <a:pt x="173916" y="130969"/>
                  <a:pt x="166112" y="123165"/>
                  <a:pt x="166112" y="113506"/>
                </a:cubicBezTo>
                <a:lnTo>
                  <a:pt x="166112" y="17463"/>
                </a:lnTo>
                <a:cubicBezTo>
                  <a:pt x="166112" y="7804"/>
                  <a:pt x="173970" y="-109"/>
                  <a:pt x="183520" y="1146"/>
                </a:cubicBezTo>
                <a:cubicBezTo>
                  <a:pt x="241910" y="8895"/>
                  <a:pt x="288186" y="55171"/>
                  <a:pt x="295935" y="113561"/>
                </a:cubicBezTo>
                <a:cubicBezTo>
                  <a:pt x="297190" y="123111"/>
                  <a:pt x="289277" y="130969"/>
                  <a:pt x="279618" y="130969"/>
                </a:cubicBezTo>
                <a:close/>
                <a:moveTo>
                  <a:pt x="121474" y="20300"/>
                </a:moveTo>
                <a:cubicBezTo>
                  <a:pt x="131351" y="18226"/>
                  <a:pt x="139918" y="26303"/>
                  <a:pt x="139918" y="36398"/>
                </a:cubicBezTo>
                <a:lnTo>
                  <a:pt x="139918" y="144066"/>
                </a:lnTo>
                <a:cubicBezTo>
                  <a:pt x="139918" y="147122"/>
                  <a:pt x="141010" y="150068"/>
                  <a:pt x="142920" y="152415"/>
                </a:cubicBezTo>
                <a:lnTo>
                  <a:pt x="215007" y="239400"/>
                </a:lnTo>
                <a:cubicBezTo>
                  <a:pt x="221392" y="247094"/>
                  <a:pt x="220027" y="258718"/>
                  <a:pt x="211242" y="263465"/>
                </a:cubicBezTo>
                <a:cubicBezTo>
                  <a:pt x="192633" y="273616"/>
                  <a:pt x="171296" y="279400"/>
                  <a:pt x="148650" y="279400"/>
                </a:cubicBezTo>
                <a:cubicBezTo>
                  <a:pt x="76344" y="279400"/>
                  <a:pt x="17681" y="220737"/>
                  <a:pt x="17681" y="148431"/>
                </a:cubicBezTo>
                <a:cubicBezTo>
                  <a:pt x="17681" y="85403"/>
                  <a:pt x="62156" y="32797"/>
                  <a:pt x="121474" y="20300"/>
                </a:cubicBezTo>
                <a:close/>
                <a:moveTo>
                  <a:pt x="260737" y="157163"/>
                </a:moveTo>
                <a:lnTo>
                  <a:pt x="295662" y="157163"/>
                </a:lnTo>
                <a:cubicBezTo>
                  <a:pt x="305757" y="157163"/>
                  <a:pt x="313834" y="165730"/>
                  <a:pt x="311760" y="175607"/>
                </a:cubicBezTo>
                <a:cubicBezTo>
                  <a:pt x="306194" y="202019"/>
                  <a:pt x="292661" y="225485"/>
                  <a:pt x="273779" y="243384"/>
                </a:cubicBezTo>
                <a:cubicBezTo>
                  <a:pt x="267067" y="249768"/>
                  <a:pt x="256535" y="248404"/>
                  <a:pt x="250641" y="241255"/>
                </a:cubicBezTo>
                <a:lnTo>
                  <a:pt x="204584" y="185757"/>
                </a:lnTo>
                <a:cubicBezTo>
                  <a:pt x="195143" y="174352"/>
                  <a:pt x="203274" y="157163"/>
                  <a:pt x="218008" y="157163"/>
                </a:cubicBezTo>
                <a:lnTo>
                  <a:pt x="260682" y="157163"/>
                </a:lnTo>
                <a:close/>
              </a:path>
            </a:pathLst>
          </a:cu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1397000" y="6350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Probabilistic Output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provides confidence estimates for predictions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1778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382000" y="2260600"/>
            <a:ext cx="7112000" cy="25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2000" y="24765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3138" y="2667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28922" y="52388"/>
                </a:moveTo>
                <a:cubicBezTo>
                  <a:pt x="219864" y="52388"/>
                  <a:pt x="211078" y="54843"/>
                  <a:pt x="203384" y="59318"/>
                </a:cubicBezTo>
                <a:cubicBezTo>
                  <a:pt x="194761" y="50587"/>
                  <a:pt x="184721" y="43274"/>
                  <a:pt x="173643" y="37763"/>
                </a:cubicBezTo>
                <a:cubicBezTo>
                  <a:pt x="189032" y="24666"/>
                  <a:pt x="208622" y="17463"/>
                  <a:pt x="228922" y="17463"/>
                </a:cubicBezTo>
                <a:cubicBezTo>
                  <a:pt x="276071" y="17463"/>
                  <a:pt x="314325" y="55662"/>
                  <a:pt x="314325" y="102865"/>
                </a:cubicBezTo>
                <a:cubicBezTo>
                  <a:pt x="314325" y="125512"/>
                  <a:pt x="305321" y="147231"/>
                  <a:pt x="289332" y="163220"/>
                </a:cubicBezTo>
                <a:lnTo>
                  <a:pt x="250532" y="202019"/>
                </a:lnTo>
                <a:cubicBezTo>
                  <a:pt x="234543" y="218008"/>
                  <a:pt x="212824" y="227013"/>
                  <a:pt x="190178" y="227013"/>
                </a:cubicBezTo>
                <a:cubicBezTo>
                  <a:pt x="143029" y="227013"/>
                  <a:pt x="104775" y="188813"/>
                  <a:pt x="104775" y="141610"/>
                </a:cubicBezTo>
                <a:cubicBezTo>
                  <a:pt x="104775" y="140791"/>
                  <a:pt x="104775" y="139973"/>
                  <a:pt x="104830" y="139154"/>
                </a:cubicBezTo>
                <a:cubicBezTo>
                  <a:pt x="105102" y="129495"/>
                  <a:pt x="113124" y="121910"/>
                  <a:pt x="122783" y="122183"/>
                </a:cubicBezTo>
                <a:cubicBezTo>
                  <a:pt x="132442" y="122456"/>
                  <a:pt x="140027" y="130478"/>
                  <a:pt x="139755" y="140137"/>
                </a:cubicBezTo>
                <a:cubicBezTo>
                  <a:pt x="139755" y="140628"/>
                  <a:pt x="139755" y="141119"/>
                  <a:pt x="139755" y="141555"/>
                </a:cubicBezTo>
                <a:cubicBezTo>
                  <a:pt x="139755" y="169441"/>
                  <a:pt x="162347" y="192033"/>
                  <a:pt x="190232" y="192033"/>
                </a:cubicBezTo>
                <a:cubicBezTo>
                  <a:pt x="203602" y="192033"/>
                  <a:pt x="216426" y="186740"/>
                  <a:pt x="225921" y="177244"/>
                </a:cubicBezTo>
                <a:lnTo>
                  <a:pt x="264721" y="138445"/>
                </a:lnTo>
                <a:cubicBezTo>
                  <a:pt x="274161" y="129004"/>
                  <a:pt x="279509" y="116126"/>
                  <a:pt x="279509" y="102756"/>
                </a:cubicBezTo>
                <a:cubicBezTo>
                  <a:pt x="279509" y="74870"/>
                  <a:pt x="256917" y="52278"/>
                  <a:pt x="229032" y="52278"/>
                </a:cubicBezTo>
                <a:close/>
                <a:moveTo>
                  <a:pt x="150178" y="94570"/>
                </a:moveTo>
                <a:cubicBezTo>
                  <a:pt x="149141" y="94134"/>
                  <a:pt x="148104" y="93534"/>
                  <a:pt x="147176" y="92879"/>
                </a:cubicBezTo>
                <a:cubicBezTo>
                  <a:pt x="140300" y="89332"/>
                  <a:pt x="132442" y="87313"/>
                  <a:pt x="124202" y="87313"/>
                </a:cubicBezTo>
                <a:cubicBezTo>
                  <a:pt x="110832" y="87313"/>
                  <a:pt x="98008" y="92606"/>
                  <a:pt x="88513" y="102101"/>
                </a:cubicBezTo>
                <a:lnTo>
                  <a:pt x="49714" y="140901"/>
                </a:lnTo>
                <a:cubicBezTo>
                  <a:pt x="40273" y="150341"/>
                  <a:pt x="34925" y="163220"/>
                  <a:pt x="34925" y="176590"/>
                </a:cubicBezTo>
                <a:cubicBezTo>
                  <a:pt x="34925" y="204475"/>
                  <a:pt x="57517" y="227067"/>
                  <a:pt x="85403" y="227067"/>
                </a:cubicBezTo>
                <a:cubicBezTo>
                  <a:pt x="94407" y="227067"/>
                  <a:pt x="103192" y="224666"/>
                  <a:pt x="110887" y="220191"/>
                </a:cubicBezTo>
                <a:cubicBezTo>
                  <a:pt x="119509" y="228922"/>
                  <a:pt x="129550" y="236235"/>
                  <a:pt x="140682" y="241746"/>
                </a:cubicBezTo>
                <a:cubicBezTo>
                  <a:pt x="125293" y="254789"/>
                  <a:pt x="105757" y="262047"/>
                  <a:pt x="85403" y="262047"/>
                </a:cubicBezTo>
                <a:cubicBezTo>
                  <a:pt x="38254" y="262047"/>
                  <a:pt x="0" y="223847"/>
                  <a:pt x="0" y="176644"/>
                </a:cubicBezTo>
                <a:cubicBezTo>
                  <a:pt x="0" y="153997"/>
                  <a:pt x="9004" y="132278"/>
                  <a:pt x="24993" y="116289"/>
                </a:cubicBezTo>
                <a:lnTo>
                  <a:pt x="63793" y="77490"/>
                </a:lnTo>
                <a:cubicBezTo>
                  <a:pt x="79782" y="61501"/>
                  <a:pt x="101501" y="52497"/>
                  <a:pt x="124147" y="52497"/>
                </a:cubicBezTo>
                <a:cubicBezTo>
                  <a:pt x="171405" y="52497"/>
                  <a:pt x="209550" y="91023"/>
                  <a:pt x="209550" y="138117"/>
                </a:cubicBezTo>
                <a:cubicBezTo>
                  <a:pt x="209550" y="138827"/>
                  <a:pt x="209550" y="139536"/>
                  <a:pt x="209550" y="140246"/>
                </a:cubicBezTo>
                <a:cubicBezTo>
                  <a:pt x="209332" y="149905"/>
                  <a:pt x="201310" y="157490"/>
                  <a:pt x="191651" y="157272"/>
                </a:cubicBezTo>
                <a:cubicBezTo>
                  <a:pt x="181992" y="157053"/>
                  <a:pt x="174407" y="149032"/>
                  <a:pt x="174625" y="139373"/>
                </a:cubicBezTo>
                <a:cubicBezTo>
                  <a:pt x="174625" y="138936"/>
                  <a:pt x="174625" y="138554"/>
                  <a:pt x="174625" y="138117"/>
                </a:cubicBezTo>
                <a:cubicBezTo>
                  <a:pt x="174625" y="119727"/>
                  <a:pt x="164802" y="103574"/>
                  <a:pt x="150178" y="94679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2540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Independence Assumption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features are rarely truly independent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34290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10600" y="361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00382" y="225103"/>
                </a:moveTo>
                <a:lnTo>
                  <a:pt x="54297" y="79018"/>
                </a:lnTo>
                <a:cubicBezTo>
                  <a:pt x="42074" y="96153"/>
                  <a:pt x="34925" y="117108"/>
                  <a:pt x="34925" y="139700"/>
                </a:cubicBezTo>
                <a:cubicBezTo>
                  <a:pt x="34925" y="197545"/>
                  <a:pt x="81855" y="244475"/>
                  <a:pt x="139700" y="244475"/>
                </a:cubicBezTo>
                <a:cubicBezTo>
                  <a:pt x="162347" y="244475"/>
                  <a:pt x="183302" y="237326"/>
                  <a:pt x="200382" y="225103"/>
                </a:cubicBezTo>
                <a:close/>
                <a:moveTo>
                  <a:pt x="225103" y="200382"/>
                </a:moveTo>
                <a:cubicBezTo>
                  <a:pt x="237326" y="183247"/>
                  <a:pt x="244475" y="162292"/>
                  <a:pt x="244475" y="139700"/>
                </a:cubicBezTo>
                <a:cubicBezTo>
                  <a:pt x="244475" y="81855"/>
                  <a:pt x="197545" y="34925"/>
                  <a:pt x="139700" y="34925"/>
                </a:cubicBezTo>
                <a:cubicBezTo>
                  <a:pt x="117053" y="34925"/>
                  <a:pt x="96098" y="42074"/>
                  <a:pt x="79018" y="54297"/>
                </a:cubicBezTo>
                <a:lnTo>
                  <a:pt x="225103" y="200382"/>
                </a:ln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9017000" y="3492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Frequency Problem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unseen feature-class pairs get zero probability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43815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93138" y="4572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09550" y="192088"/>
                </a:moveTo>
                <a:cubicBezTo>
                  <a:pt x="199891" y="192088"/>
                  <a:pt x="192088" y="199891"/>
                  <a:pt x="192088" y="209550"/>
                </a:cubicBezTo>
                <a:cubicBezTo>
                  <a:pt x="192088" y="219209"/>
                  <a:pt x="199891" y="227013"/>
                  <a:pt x="209550" y="227013"/>
                </a:cubicBezTo>
                <a:lnTo>
                  <a:pt x="296863" y="227013"/>
                </a:lnTo>
                <a:cubicBezTo>
                  <a:pt x="306521" y="227013"/>
                  <a:pt x="314325" y="219209"/>
                  <a:pt x="314325" y="209550"/>
                </a:cubicBezTo>
                <a:lnTo>
                  <a:pt x="314325" y="122238"/>
                </a:lnTo>
                <a:cubicBezTo>
                  <a:pt x="314325" y="112579"/>
                  <a:pt x="306521" y="104775"/>
                  <a:pt x="296863" y="104775"/>
                </a:cubicBezTo>
                <a:cubicBezTo>
                  <a:pt x="287204" y="104775"/>
                  <a:pt x="279400" y="112579"/>
                  <a:pt x="279400" y="122238"/>
                </a:cubicBezTo>
                <a:lnTo>
                  <a:pt x="279400" y="167367"/>
                </a:lnTo>
                <a:lnTo>
                  <a:pt x="186958" y="74925"/>
                </a:lnTo>
                <a:cubicBezTo>
                  <a:pt x="180137" y="68104"/>
                  <a:pt x="169059" y="68104"/>
                  <a:pt x="162238" y="74925"/>
                </a:cubicBezTo>
                <a:lnTo>
                  <a:pt x="104775" y="132442"/>
                </a:lnTo>
                <a:lnTo>
                  <a:pt x="29795" y="57517"/>
                </a:lnTo>
                <a:cubicBezTo>
                  <a:pt x="22974" y="50696"/>
                  <a:pt x="11896" y="50696"/>
                  <a:pt x="5075" y="57517"/>
                </a:cubicBezTo>
                <a:cubicBezTo>
                  <a:pt x="-1746" y="64338"/>
                  <a:pt x="-1746" y="75416"/>
                  <a:pt x="5075" y="82237"/>
                </a:cubicBezTo>
                <a:lnTo>
                  <a:pt x="92388" y="169550"/>
                </a:lnTo>
                <a:cubicBezTo>
                  <a:pt x="99209" y="176371"/>
                  <a:pt x="110287" y="176371"/>
                  <a:pt x="117108" y="169550"/>
                </a:cubicBezTo>
                <a:lnTo>
                  <a:pt x="174625" y="112033"/>
                </a:lnTo>
                <a:lnTo>
                  <a:pt x="254680" y="192088"/>
                </a:lnTo>
                <a:lnTo>
                  <a:pt x="209550" y="192088"/>
                </a:ln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9017000" y="4445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Outperformed on Complex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strong feature correlations hurt accuracy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53340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10600" y="552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4775" y="43656"/>
                </a:moveTo>
                <a:cubicBezTo>
                  <a:pt x="104775" y="29195"/>
                  <a:pt x="116508" y="17463"/>
                  <a:pt x="130969" y="17463"/>
                </a:cubicBezTo>
                <a:lnTo>
                  <a:pt x="148431" y="17463"/>
                </a:lnTo>
                <a:cubicBezTo>
                  <a:pt x="162892" y="17463"/>
                  <a:pt x="174625" y="29195"/>
                  <a:pt x="174625" y="43656"/>
                </a:cubicBezTo>
                <a:lnTo>
                  <a:pt x="174625" y="235744"/>
                </a:lnTo>
                <a:cubicBezTo>
                  <a:pt x="174625" y="250205"/>
                  <a:pt x="162892" y="261938"/>
                  <a:pt x="148431" y="261938"/>
                </a:cubicBezTo>
                <a:lnTo>
                  <a:pt x="130969" y="261938"/>
                </a:lnTo>
                <a:cubicBezTo>
                  <a:pt x="116508" y="261938"/>
                  <a:pt x="104775" y="250205"/>
                  <a:pt x="104775" y="235744"/>
                </a:cubicBezTo>
                <a:lnTo>
                  <a:pt x="104775" y="43656"/>
                </a:lnTo>
                <a:close/>
                <a:moveTo>
                  <a:pt x="0" y="148431"/>
                </a:moveTo>
                <a:cubicBezTo>
                  <a:pt x="0" y="133970"/>
                  <a:pt x="11733" y="122238"/>
                  <a:pt x="26194" y="122238"/>
                </a:cubicBezTo>
                <a:lnTo>
                  <a:pt x="43656" y="122238"/>
                </a:lnTo>
                <a:cubicBezTo>
                  <a:pt x="58117" y="122238"/>
                  <a:pt x="69850" y="133970"/>
                  <a:pt x="69850" y="148431"/>
                </a:cubicBezTo>
                <a:lnTo>
                  <a:pt x="69850" y="235744"/>
                </a:lnTo>
                <a:cubicBezTo>
                  <a:pt x="69850" y="250205"/>
                  <a:pt x="58117" y="261938"/>
                  <a:pt x="43656" y="261938"/>
                </a:cubicBezTo>
                <a:lnTo>
                  <a:pt x="26194" y="261938"/>
                </a:lnTo>
                <a:cubicBezTo>
                  <a:pt x="11733" y="261938"/>
                  <a:pt x="0" y="250205"/>
                  <a:pt x="0" y="235744"/>
                </a:cubicBezTo>
                <a:lnTo>
                  <a:pt x="0" y="148431"/>
                </a:lnTo>
                <a:close/>
                <a:moveTo>
                  <a:pt x="235744" y="52388"/>
                </a:moveTo>
                <a:lnTo>
                  <a:pt x="253206" y="52388"/>
                </a:lnTo>
                <a:cubicBezTo>
                  <a:pt x="267667" y="52388"/>
                  <a:pt x="279400" y="64120"/>
                  <a:pt x="279400" y="78581"/>
                </a:cubicBezTo>
                <a:lnTo>
                  <a:pt x="279400" y="235744"/>
                </a:lnTo>
                <a:cubicBezTo>
                  <a:pt x="279400" y="250205"/>
                  <a:pt x="267667" y="261938"/>
                  <a:pt x="253206" y="261938"/>
                </a:cubicBezTo>
                <a:lnTo>
                  <a:pt x="235744" y="261938"/>
                </a:lnTo>
                <a:cubicBezTo>
                  <a:pt x="221283" y="261938"/>
                  <a:pt x="209550" y="250205"/>
                  <a:pt x="209550" y="235744"/>
                </a:cubicBezTo>
                <a:lnTo>
                  <a:pt x="209550" y="78581"/>
                </a:lnTo>
                <a:cubicBezTo>
                  <a:pt x="209550" y="64120"/>
                  <a:pt x="221283" y="52388"/>
                  <a:pt x="235744" y="52388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9017000" y="53975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Assumption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assumes Gaussian/multinomial shape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82000" y="6286500"/>
            <a:ext cx="7112000" cy="825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2353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93138" y="6477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77981" y="53806"/>
                </a:moveTo>
                <a:cubicBezTo>
                  <a:pt x="282129" y="49659"/>
                  <a:pt x="289059" y="50696"/>
                  <a:pt x="291133" y="56153"/>
                </a:cubicBezTo>
                <a:cubicBezTo>
                  <a:pt x="294843" y="65812"/>
                  <a:pt x="296863" y="76344"/>
                  <a:pt x="296863" y="87313"/>
                </a:cubicBezTo>
                <a:cubicBezTo>
                  <a:pt x="296863" y="135553"/>
                  <a:pt x="257790" y="174625"/>
                  <a:pt x="209550" y="174625"/>
                </a:cubicBezTo>
                <a:cubicBezTo>
                  <a:pt x="200000" y="174625"/>
                  <a:pt x="190778" y="173097"/>
                  <a:pt x="182156" y="170259"/>
                </a:cubicBezTo>
                <a:lnTo>
                  <a:pt x="80164" y="272251"/>
                </a:lnTo>
                <a:cubicBezTo>
                  <a:pt x="64830" y="287586"/>
                  <a:pt x="39945" y="287586"/>
                  <a:pt x="24611" y="272251"/>
                </a:cubicBezTo>
                <a:cubicBezTo>
                  <a:pt x="9277" y="256917"/>
                  <a:pt x="9277" y="232033"/>
                  <a:pt x="24611" y="216699"/>
                </a:cubicBezTo>
                <a:lnTo>
                  <a:pt x="126603" y="114707"/>
                </a:lnTo>
                <a:cubicBezTo>
                  <a:pt x="123765" y="106085"/>
                  <a:pt x="122238" y="96917"/>
                  <a:pt x="122238" y="87313"/>
                </a:cubicBezTo>
                <a:cubicBezTo>
                  <a:pt x="122238" y="39072"/>
                  <a:pt x="161310" y="0"/>
                  <a:pt x="209550" y="0"/>
                </a:cubicBezTo>
                <a:cubicBezTo>
                  <a:pt x="220519" y="0"/>
                  <a:pt x="231051" y="2019"/>
                  <a:pt x="240710" y="5730"/>
                </a:cubicBezTo>
                <a:cubicBezTo>
                  <a:pt x="246167" y="7804"/>
                  <a:pt x="247149" y="14734"/>
                  <a:pt x="243056" y="18881"/>
                </a:cubicBezTo>
                <a:lnTo>
                  <a:pt x="194652" y="67285"/>
                </a:lnTo>
                <a:cubicBezTo>
                  <a:pt x="193015" y="68922"/>
                  <a:pt x="192088" y="71160"/>
                  <a:pt x="192088" y="73452"/>
                </a:cubicBezTo>
                <a:lnTo>
                  <a:pt x="192088" y="96044"/>
                </a:lnTo>
                <a:cubicBezTo>
                  <a:pt x="192088" y="100846"/>
                  <a:pt x="196017" y="104775"/>
                  <a:pt x="200819" y="104775"/>
                </a:cubicBezTo>
                <a:lnTo>
                  <a:pt x="223411" y="104775"/>
                </a:lnTo>
                <a:cubicBezTo>
                  <a:pt x="225703" y="104775"/>
                  <a:pt x="227940" y="103847"/>
                  <a:pt x="229577" y="102210"/>
                </a:cubicBezTo>
                <a:lnTo>
                  <a:pt x="277981" y="53806"/>
                </a:ln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9017000" y="6350000"/>
            <a:ext cx="6286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Laplace Smoothing Needed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add small constant to avoid zero probabilities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742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Naïve Bayes is an excellent baseline classifier. Always try it first before moving to more complex models.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 of Naïve Bayes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4826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50800"/>
                </a:moveTo>
                <a:cubicBezTo>
                  <a:pt x="17066" y="50800"/>
                  <a:pt x="0" y="67866"/>
                  <a:pt x="0" y="88900"/>
                </a:cubicBezTo>
                <a:cubicBezTo>
                  <a:pt x="0" y="100886"/>
                  <a:pt x="5636" y="112157"/>
                  <a:pt x="15240" y="119380"/>
                </a:cubicBezTo>
                <a:lnTo>
                  <a:pt x="180340" y="243205"/>
                </a:lnTo>
                <a:cubicBezTo>
                  <a:pt x="193913" y="253365"/>
                  <a:pt x="212487" y="253365"/>
                  <a:pt x="226060" y="243205"/>
                </a:cubicBezTo>
                <a:lnTo>
                  <a:pt x="391160" y="119380"/>
                </a:lnTo>
                <a:cubicBezTo>
                  <a:pt x="400764" y="112157"/>
                  <a:pt x="406400" y="100886"/>
                  <a:pt x="406400" y="88900"/>
                </a:cubicBezTo>
                <a:cubicBezTo>
                  <a:pt x="406400" y="67866"/>
                  <a:pt x="389334" y="50800"/>
                  <a:pt x="368300" y="50800"/>
                </a:cubicBezTo>
                <a:lnTo>
                  <a:pt x="38100" y="50800"/>
                </a:lnTo>
                <a:close/>
                <a:moveTo>
                  <a:pt x="0" y="155575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55575"/>
                </a:lnTo>
                <a:lnTo>
                  <a:pt x="248920" y="273685"/>
                </a:lnTo>
                <a:cubicBezTo>
                  <a:pt x="221853" y="294005"/>
                  <a:pt x="184547" y="294005"/>
                  <a:pt x="157480" y="273685"/>
                </a:cubicBezTo>
                <a:lnTo>
                  <a:pt x="0" y="155575"/>
                </a:lnTo>
                <a:close/>
              </a:path>
            </a:pathLst>
          </a:custGeom>
          <a:solidFill>
            <a:srgbClr val="2D3A5C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730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Spam Email Filtering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3175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Classifies emails as spam or legitimate based on word frequencies. One of the earliest and most successful ML applications, still widely used today.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841500"/>
            <a:ext cx="4826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6000" y="215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31286" y="255508"/>
                </a:moveTo>
                <a:cubicBezTo>
                  <a:pt x="147479" y="277733"/>
                  <a:pt x="173673" y="292100"/>
                  <a:pt x="203200" y="292100"/>
                </a:cubicBezTo>
                <a:cubicBezTo>
                  <a:pt x="232727" y="292100"/>
                  <a:pt x="258921" y="277733"/>
                  <a:pt x="275114" y="255508"/>
                </a:cubicBezTo>
                <a:cubicBezTo>
                  <a:pt x="281305" y="247015"/>
                  <a:pt x="293211" y="245110"/>
                  <a:pt x="301704" y="251301"/>
                </a:cubicBezTo>
                <a:cubicBezTo>
                  <a:pt x="310198" y="257493"/>
                  <a:pt x="312103" y="269399"/>
                  <a:pt x="305911" y="277892"/>
                </a:cubicBezTo>
                <a:cubicBezTo>
                  <a:pt x="282813" y="309563"/>
                  <a:pt x="245428" y="330200"/>
                  <a:pt x="203200" y="330200"/>
                </a:cubicBezTo>
                <a:cubicBezTo>
                  <a:pt x="160973" y="330200"/>
                  <a:pt x="123587" y="309563"/>
                  <a:pt x="100489" y="277892"/>
                </a:cubicBezTo>
                <a:cubicBezTo>
                  <a:pt x="94298" y="269399"/>
                  <a:pt x="96202" y="257493"/>
                  <a:pt x="104696" y="251301"/>
                </a:cubicBezTo>
                <a:cubicBezTo>
                  <a:pt x="113189" y="245110"/>
                  <a:pt x="125095" y="247015"/>
                  <a:pt x="131286" y="255508"/>
                </a:cubicBezTo>
                <a:close/>
                <a:moveTo>
                  <a:pt x="114300" y="165100"/>
                </a:moveTo>
                <a:cubicBezTo>
                  <a:pt x="114300" y="151081"/>
                  <a:pt x="125681" y="139700"/>
                  <a:pt x="139700" y="139700"/>
                </a:cubicBezTo>
                <a:cubicBezTo>
                  <a:pt x="153719" y="139700"/>
                  <a:pt x="165100" y="151081"/>
                  <a:pt x="165100" y="165100"/>
                </a:cubicBezTo>
                <a:cubicBezTo>
                  <a:pt x="165100" y="179119"/>
                  <a:pt x="153719" y="190500"/>
                  <a:pt x="139700" y="190500"/>
                </a:cubicBezTo>
                <a:cubicBezTo>
                  <a:pt x="125681" y="190500"/>
                  <a:pt x="114300" y="179119"/>
                  <a:pt x="114300" y="165100"/>
                </a:cubicBezTo>
                <a:close/>
                <a:moveTo>
                  <a:pt x="266700" y="139700"/>
                </a:moveTo>
                <a:cubicBezTo>
                  <a:pt x="280719" y="139700"/>
                  <a:pt x="292100" y="151081"/>
                  <a:pt x="292100" y="165100"/>
                </a:cubicBezTo>
                <a:cubicBezTo>
                  <a:pt x="292100" y="179119"/>
                  <a:pt x="280719" y="190500"/>
                  <a:pt x="266700" y="190500"/>
                </a:cubicBezTo>
                <a:cubicBezTo>
                  <a:pt x="252681" y="190500"/>
                  <a:pt x="241300" y="179119"/>
                  <a:pt x="241300" y="165100"/>
                </a:cubicBezTo>
                <a:cubicBezTo>
                  <a:pt x="241300" y="151081"/>
                  <a:pt x="252681" y="139700"/>
                  <a:pt x="266700" y="1397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730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96000" y="3175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whether text expresses positive, negative, or neutral sentiment. Used in social media monitoring, product reviews, and customer feedback.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841500"/>
            <a:ext cx="4699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87100" y="215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4450" y="179070"/>
                </a:moveTo>
                <a:lnTo>
                  <a:pt x="25717" y="235109"/>
                </a:lnTo>
                <a:lnTo>
                  <a:pt x="25717" y="76200"/>
                </a:lnTo>
                <a:cubicBezTo>
                  <a:pt x="25717" y="48181"/>
                  <a:pt x="48498" y="25400"/>
                  <a:pt x="76518" y="25400"/>
                </a:cubicBezTo>
                <a:lnTo>
                  <a:pt x="186611" y="25400"/>
                </a:lnTo>
                <a:cubicBezTo>
                  <a:pt x="197564" y="25400"/>
                  <a:pt x="208280" y="28972"/>
                  <a:pt x="217091" y="35560"/>
                </a:cubicBezTo>
                <a:lnTo>
                  <a:pt x="247571" y="58420"/>
                </a:lnTo>
                <a:cubicBezTo>
                  <a:pt x="251936" y="61754"/>
                  <a:pt x="257334" y="63500"/>
                  <a:pt x="262811" y="63500"/>
                </a:cubicBezTo>
                <a:lnTo>
                  <a:pt x="355918" y="63500"/>
                </a:lnTo>
                <a:cubicBezTo>
                  <a:pt x="383937" y="63500"/>
                  <a:pt x="406718" y="86281"/>
                  <a:pt x="406718" y="114300"/>
                </a:cubicBezTo>
                <a:lnTo>
                  <a:pt x="406718" y="127000"/>
                </a:lnTo>
                <a:lnTo>
                  <a:pt x="116681" y="127000"/>
                </a:lnTo>
                <a:cubicBezTo>
                  <a:pt x="83899" y="127000"/>
                  <a:pt x="54769" y="147955"/>
                  <a:pt x="44371" y="179070"/>
                </a:cubicBezTo>
                <a:close/>
                <a:moveTo>
                  <a:pt x="379254" y="355600"/>
                </a:moveTo>
                <a:lnTo>
                  <a:pt x="78581" y="355600"/>
                </a:lnTo>
                <a:cubicBezTo>
                  <a:pt x="52546" y="355600"/>
                  <a:pt x="34211" y="330121"/>
                  <a:pt x="42466" y="305435"/>
                </a:cubicBezTo>
                <a:lnTo>
                  <a:pt x="80566" y="191135"/>
                </a:lnTo>
                <a:cubicBezTo>
                  <a:pt x="85725" y="175577"/>
                  <a:pt x="100330" y="165100"/>
                  <a:pt x="116681" y="165100"/>
                </a:cubicBezTo>
                <a:lnTo>
                  <a:pt x="417354" y="165100"/>
                </a:lnTo>
                <a:cubicBezTo>
                  <a:pt x="443389" y="165100"/>
                  <a:pt x="461724" y="190579"/>
                  <a:pt x="453469" y="215265"/>
                </a:cubicBezTo>
                <a:lnTo>
                  <a:pt x="415369" y="329565"/>
                </a:lnTo>
                <a:cubicBezTo>
                  <a:pt x="410210" y="345123"/>
                  <a:pt x="395605" y="355600"/>
                  <a:pt x="379254" y="355600"/>
                </a:cubicBezTo>
                <a:close/>
              </a:path>
            </a:pathLst>
          </a:custGeom>
          <a:solidFill>
            <a:srgbClr val="6B7FA3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2730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Classification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12500" y="3175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categorizes news articles, research papers, or legal documents into predefined topics. Enables efficient content organization.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143500"/>
            <a:ext cx="4826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4100" y="546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5400" y="38100"/>
                </a:moveTo>
                <a:cubicBezTo>
                  <a:pt x="25400" y="17066"/>
                  <a:pt x="42466" y="0"/>
                  <a:pt x="63500" y="0"/>
                </a:cubicBezTo>
                <a:lnTo>
                  <a:pt x="101600" y="0"/>
                </a:lnTo>
                <a:cubicBezTo>
                  <a:pt x="115649" y="0"/>
                  <a:pt x="127000" y="11351"/>
                  <a:pt x="127000" y="25400"/>
                </a:cubicBezTo>
                <a:cubicBezTo>
                  <a:pt x="127000" y="39449"/>
                  <a:pt x="115649" y="50800"/>
                  <a:pt x="101600" y="50800"/>
                </a:cubicBezTo>
                <a:lnTo>
                  <a:pt x="76200" y="50800"/>
                </a:lnTo>
                <a:lnTo>
                  <a:pt x="76200" y="152400"/>
                </a:lnTo>
                <a:cubicBezTo>
                  <a:pt x="76200" y="194469"/>
                  <a:pt x="110331" y="228600"/>
                  <a:pt x="152400" y="228600"/>
                </a:cubicBezTo>
                <a:cubicBezTo>
                  <a:pt x="194469" y="228600"/>
                  <a:pt x="228600" y="194469"/>
                  <a:pt x="228600" y="152400"/>
                </a:cubicBezTo>
                <a:lnTo>
                  <a:pt x="228600" y="50800"/>
                </a:lnTo>
                <a:lnTo>
                  <a:pt x="203200" y="50800"/>
                </a:lnTo>
                <a:cubicBezTo>
                  <a:pt x="189151" y="50800"/>
                  <a:pt x="177800" y="39449"/>
                  <a:pt x="177800" y="25400"/>
                </a:cubicBezTo>
                <a:cubicBezTo>
                  <a:pt x="177800" y="11351"/>
                  <a:pt x="189151" y="0"/>
                  <a:pt x="203200" y="0"/>
                </a:cubicBezTo>
                <a:lnTo>
                  <a:pt x="241300" y="0"/>
                </a:lnTo>
                <a:cubicBezTo>
                  <a:pt x="262334" y="0"/>
                  <a:pt x="279400" y="17066"/>
                  <a:pt x="279400" y="38100"/>
                </a:cubicBezTo>
                <a:lnTo>
                  <a:pt x="279400" y="152400"/>
                </a:lnTo>
                <a:cubicBezTo>
                  <a:pt x="279400" y="213836"/>
                  <a:pt x="235744" y="265113"/>
                  <a:pt x="177800" y="276860"/>
                </a:cubicBezTo>
                <a:lnTo>
                  <a:pt x="177800" y="292100"/>
                </a:lnTo>
                <a:cubicBezTo>
                  <a:pt x="177800" y="341233"/>
                  <a:pt x="217567" y="381000"/>
                  <a:pt x="266700" y="381000"/>
                </a:cubicBezTo>
                <a:cubicBezTo>
                  <a:pt x="315833" y="381000"/>
                  <a:pt x="355600" y="341233"/>
                  <a:pt x="355600" y="292100"/>
                </a:cubicBezTo>
                <a:lnTo>
                  <a:pt x="355600" y="224234"/>
                </a:lnTo>
                <a:cubicBezTo>
                  <a:pt x="325993" y="213757"/>
                  <a:pt x="304800" y="185579"/>
                  <a:pt x="304800" y="152400"/>
                </a:cubicBezTo>
                <a:cubicBezTo>
                  <a:pt x="304800" y="110331"/>
                  <a:pt x="338931" y="76200"/>
                  <a:pt x="381000" y="76200"/>
                </a:cubicBezTo>
                <a:cubicBezTo>
                  <a:pt x="423069" y="76200"/>
                  <a:pt x="457200" y="110331"/>
                  <a:pt x="457200" y="152400"/>
                </a:cubicBezTo>
                <a:cubicBezTo>
                  <a:pt x="457200" y="185579"/>
                  <a:pt x="436007" y="213836"/>
                  <a:pt x="406400" y="224234"/>
                </a:cubicBezTo>
                <a:lnTo>
                  <a:pt x="406400" y="292100"/>
                </a:lnTo>
                <a:cubicBezTo>
                  <a:pt x="406400" y="369253"/>
                  <a:pt x="343853" y="431800"/>
                  <a:pt x="266700" y="431800"/>
                </a:cubicBezTo>
                <a:cubicBezTo>
                  <a:pt x="189548" y="431800"/>
                  <a:pt x="127000" y="369253"/>
                  <a:pt x="127000" y="292100"/>
                </a:cubicBezTo>
                <a:lnTo>
                  <a:pt x="127000" y="276860"/>
                </a:lnTo>
                <a:cubicBezTo>
                  <a:pt x="69056" y="265113"/>
                  <a:pt x="25400" y="213836"/>
                  <a:pt x="25400" y="152400"/>
                </a:cubicBezTo>
                <a:lnTo>
                  <a:pt x="25400" y="38100"/>
                </a:lnTo>
                <a:close/>
                <a:moveTo>
                  <a:pt x="381000" y="177800"/>
                </a:moveTo>
                <a:cubicBezTo>
                  <a:pt x="395019" y="177800"/>
                  <a:pt x="406400" y="166419"/>
                  <a:pt x="406400" y="152400"/>
                </a:cubicBezTo>
                <a:cubicBezTo>
                  <a:pt x="406400" y="138381"/>
                  <a:pt x="395019" y="127000"/>
                  <a:pt x="381000" y="127000"/>
                </a:cubicBezTo>
                <a:cubicBezTo>
                  <a:pt x="366981" y="127000"/>
                  <a:pt x="355600" y="138381"/>
                  <a:pt x="355600" y="152400"/>
                </a:cubicBezTo>
                <a:cubicBezTo>
                  <a:pt x="355600" y="166419"/>
                  <a:pt x="366981" y="177800"/>
                  <a:pt x="381000" y="177800"/>
                </a:cubicBezTo>
                <a:close/>
              </a:path>
            </a:pathLst>
          </a:custGeom>
          <a:solidFill>
            <a:srgbClr val="2D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6032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Diagnosis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79500" y="6477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Assists in disease prediction based on symptom patterns and patient history. Provides probabilistic risk assessment for clinical decision support.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5143500"/>
            <a:ext cx="4826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0600" y="546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27000" y="0"/>
                </a:moveTo>
                <a:cubicBezTo>
                  <a:pt x="141049" y="0"/>
                  <a:pt x="152400" y="11351"/>
                  <a:pt x="152400" y="25400"/>
                </a:cubicBezTo>
                <a:lnTo>
                  <a:pt x="152400" y="50800"/>
                </a:lnTo>
                <a:lnTo>
                  <a:pt x="254000" y="50800"/>
                </a:lnTo>
                <a:cubicBezTo>
                  <a:pt x="268049" y="50800"/>
                  <a:pt x="279400" y="62151"/>
                  <a:pt x="279400" y="76200"/>
                </a:cubicBezTo>
                <a:cubicBezTo>
                  <a:pt x="279400" y="90249"/>
                  <a:pt x="268049" y="101600"/>
                  <a:pt x="254000" y="101600"/>
                </a:cubicBezTo>
                <a:lnTo>
                  <a:pt x="246380" y="101600"/>
                </a:lnTo>
                <a:lnTo>
                  <a:pt x="239713" y="119936"/>
                </a:lnTo>
                <a:cubicBezTo>
                  <a:pt x="226695" y="155813"/>
                  <a:pt x="207089" y="188595"/>
                  <a:pt x="182404" y="216773"/>
                </a:cubicBezTo>
                <a:cubicBezTo>
                  <a:pt x="193675" y="223758"/>
                  <a:pt x="205423" y="229949"/>
                  <a:pt x="217646" y="235426"/>
                </a:cubicBezTo>
                <a:lnTo>
                  <a:pt x="257651" y="253206"/>
                </a:lnTo>
                <a:lnTo>
                  <a:pt x="307023" y="142081"/>
                </a:lnTo>
                <a:cubicBezTo>
                  <a:pt x="311071" y="132874"/>
                  <a:pt x="320199" y="127000"/>
                  <a:pt x="330200" y="127000"/>
                </a:cubicBezTo>
                <a:cubicBezTo>
                  <a:pt x="340201" y="127000"/>
                  <a:pt x="349329" y="132874"/>
                  <a:pt x="353377" y="142081"/>
                </a:cubicBezTo>
                <a:lnTo>
                  <a:pt x="454977" y="370681"/>
                </a:lnTo>
                <a:cubicBezTo>
                  <a:pt x="460692" y="383540"/>
                  <a:pt x="454898" y="398542"/>
                  <a:pt x="442119" y="404178"/>
                </a:cubicBezTo>
                <a:cubicBezTo>
                  <a:pt x="429339" y="409813"/>
                  <a:pt x="414258" y="404098"/>
                  <a:pt x="408622" y="391319"/>
                </a:cubicBezTo>
                <a:lnTo>
                  <a:pt x="392747" y="355600"/>
                </a:lnTo>
                <a:lnTo>
                  <a:pt x="267732" y="355600"/>
                </a:lnTo>
                <a:lnTo>
                  <a:pt x="251857" y="391319"/>
                </a:lnTo>
                <a:cubicBezTo>
                  <a:pt x="246142" y="404178"/>
                  <a:pt x="231140" y="409892"/>
                  <a:pt x="218361" y="404178"/>
                </a:cubicBezTo>
                <a:cubicBezTo>
                  <a:pt x="205581" y="398463"/>
                  <a:pt x="199787" y="383461"/>
                  <a:pt x="205502" y="370681"/>
                </a:cubicBezTo>
                <a:lnTo>
                  <a:pt x="237093" y="299641"/>
                </a:lnTo>
                <a:lnTo>
                  <a:pt x="197088" y="281861"/>
                </a:lnTo>
                <a:cubicBezTo>
                  <a:pt x="178832" y="273764"/>
                  <a:pt x="161369" y="264081"/>
                  <a:pt x="144859" y="252968"/>
                </a:cubicBezTo>
                <a:cubicBezTo>
                  <a:pt x="127952" y="266621"/>
                  <a:pt x="109458" y="278527"/>
                  <a:pt x="89694" y="288449"/>
                </a:cubicBezTo>
                <a:lnTo>
                  <a:pt x="62151" y="302101"/>
                </a:lnTo>
                <a:cubicBezTo>
                  <a:pt x="49609" y="308372"/>
                  <a:pt x="34369" y="303292"/>
                  <a:pt x="28099" y="290751"/>
                </a:cubicBezTo>
                <a:cubicBezTo>
                  <a:pt x="21828" y="278209"/>
                  <a:pt x="26908" y="262969"/>
                  <a:pt x="39449" y="256699"/>
                </a:cubicBezTo>
                <a:lnTo>
                  <a:pt x="66834" y="242967"/>
                </a:lnTo>
                <a:cubicBezTo>
                  <a:pt x="79772" y="236458"/>
                  <a:pt x="92075" y="228918"/>
                  <a:pt x="103664" y="220504"/>
                </a:cubicBezTo>
                <a:cubicBezTo>
                  <a:pt x="92710" y="210423"/>
                  <a:pt x="82391" y="199549"/>
                  <a:pt x="72787" y="188039"/>
                </a:cubicBezTo>
                <a:lnTo>
                  <a:pt x="64770" y="178356"/>
                </a:lnTo>
                <a:cubicBezTo>
                  <a:pt x="55801" y="167561"/>
                  <a:pt x="57229" y="151527"/>
                  <a:pt x="68024" y="142558"/>
                </a:cubicBezTo>
                <a:cubicBezTo>
                  <a:pt x="78819" y="133588"/>
                  <a:pt x="94853" y="135017"/>
                  <a:pt x="103822" y="145812"/>
                </a:cubicBezTo>
                <a:lnTo>
                  <a:pt x="111919" y="155496"/>
                </a:lnTo>
                <a:cubicBezTo>
                  <a:pt x="121047" y="166529"/>
                  <a:pt x="131048" y="176768"/>
                  <a:pt x="141605" y="186214"/>
                </a:cubicBezTo>
                <a:cubicBezTo>
                  <a:pt x="163433" y="162084"/>
                  <a:pt x="180657" y="133747"/>
                  <a:pt x="192008" y="102552"/>
                </a:cubicBezTo>
                <a:lnTo>
                  <a:pt x="192405" y="101600"/>
                </a:lnTo>
                <a:lnTo>
                  <a:pt x="25479" y="101600"/>
                </a:lnTo>
                <a:cubicBezTo>
                  <a:pt x="11351" y="101600"/>
                  <a:pt x="0" y="90249"/>
                  <a:pt x="0" y="76200"/>
                </a:cubicBezTo>
                <a:cubicBezTo>
                  <a:pt x="0" y="62151"/>
                  <a:pt x="11351" y="50800"/>
                  <a:pt x="25400" y="50800"/>
                </a:cubicBezTo>
                <a:lnTo>
                  <a:pt x="101600" y="50800"/>
                </a:lnTo>
                <a:lnTo>
                  <a:pt x="101600" y="25400"/>
                </a:lnTo>
                <a:cubicBezTo>
                  <a:pt x="101600" y="11351"/>
                  <a:pt x="112951" y="0"/>
                  <a:pt x="127000" y="0"/>
                </a:cubicBezTo>
                <a:close/>
                <a:moveTo>
                  <a:pt x="330200" y="214948"/>
                </a:moveTo>
                <a:lnTo>
                  <a:pt x="290274" y="304800"/>
                </a:lnTo>
                <a:lnTo>
                  <a:pt x="370126" y="304800"/>
                </a:lnTo>
                <a:lnTo>
                  <a:pt x="330200" y="21494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0" y="6032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Detection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96000" y="64770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the language of a given text snippet. Used in translation services, content filtering, and multilingual search engines.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5143500"/>
            <a:ext cx="4699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087100" y="546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6B7FA3"/>
          </a:solidFill>
          <a:ln/>
        </p:spPr>
      </p:sp>
      <p:sp>
        <p:nvSpPr>
          <p:cNvPr id="27" name="Text 25"/>
          <p:cNvSpPr/>
          <p:nvPr/>
        </p:nvSpPr>
        <p:spPr>
          <a:xfrm>
            <a:off x="11112500" y="6032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 Systems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112500" y="6477000"/>
            <a:ext cx="406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as a baseline or component in content-based filtering. Helps classify user preferences and item categories for personalized recommendations.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Classification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6223000"/>
        </p:xfrm>
        <a:graphic>
          <a:graphicData uri="http://schemas.openxmlformats.org/drawingml/2006/table">
            <a:tbl>
              <a:tblPr/>
              <a:tblGrid>
                <a:gridCol w="2062480"/>
                <a:gridCol w="2651760"/>
                <a:gridCol w="2946400"/>
                <a:gridCol w="3535680"/>
                <a:gridCol w="3535680"/>
              </a:tblGrid>
              <a:tr h="61851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Strengths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Weaknesses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Naïve Bayes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Probabilistic; assumes feature independence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Fast; good for text; small data; high-dimensional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Independence assumption; zero frequency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classification; spam filtering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Linear; probability output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Interpretable; regularized; fast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 boundaries only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 classification; baseline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Decision Tree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Hierarchical rule-based splits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Interpretable; handles mixed types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Prone to overfitting; unstable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Rule extraction; small datasets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Ensemble of decision trees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Robust; accurate; feature importance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interpretable; slower training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General-purpose; tabular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Maximum margin; kernel trick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Effective in high dimensions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 on large datasets; tuning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High-dimensional; complex boundaries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408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k-NN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Instance-based; distance metric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Simple; no training; non-parametric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 prediction; scale sensitive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datasets; local patterns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191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selection depends on data size, dimensionality, interpretability needs, and computational constraints.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the Right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this decision framework to guide your algorithm selection based on key problem characteristics: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2603500"/>
            <a:ext cx="7112000" cy="1333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603500"/>
            <a:ext cx="63500" cy="1333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7305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Size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Naïve Bayes, k-NN, Decision Trees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Random Forest, SVM, Gradient Boosting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603500"/>
            <a:ext cx="7112000" cy="1333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2000" y="2603500"/>
            <a:ext cx="63500" cy="133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27305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Types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data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Naïve Bayes, Logistic Regression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 types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Decision Trees, Random Forest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191000"/>
            <a:ext cx="7112000" cy="1333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4191000"/>
            <a:ext cx="63500" cy="13335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4318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6B7FA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explanations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Decision Trees, Logistic Reg., Naïve Bayes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Black-box OK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Neural Networks, Ensemble methods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4191000"/>
            <a:ext cx="7112000" cy="1333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4191000"/>
            <a:ext cx="63500" cy="1333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8699500" y="4318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Requirements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Naïve Bayes, Logistic Regression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Offline batch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SVM, Ensemble methods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905500"/>
            <a:ext cx="14732000" cy="1016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90625" y="6159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778000" y="5969000"/>
            <a:ext cx="1333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simple, evaluate multiple approaches, and iterate. Naïve Bayes or Logistic Regression makes an excellent baseline before trying complex models.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23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Workflow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62000" y="7721600"/>
            <a:ext cx="2667000" cy="5715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77216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Establish Baseline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Naïve Bayes / Logistic Reg.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92500" y="8001000"/>
            <a:ext cx="3810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937000" y="7721600"/>
            <a:ext cx="2667000" cy="5715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6" name="Text 24"/>
          <p:cNvSpPr/>
          <p:nvPr/>
        </p:nvSpPr>
        <p:spPr>
          <a:xfrm>
            <a:off x="3937000" y="77216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Try Tree-Based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/ XGBoost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67500" y="8001000"/>
            <a:ext cx="3810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7112000" y="7721600"/>
            <a:ext cx="2667000" cy="571500"/>
          </a:xfrm>
          <a:prstGeom prst="rect">
            <a:avLst/>
          </a:prstGeom>
          <a:solidFill>
            <a:srgbClr val="EAE7E1"/>
          </a:solidFill>
          <a:ln/>
        </p:spPr>
      </p:sp>
      <p:sp>
        <p:nvSpPr>
          <p:cNvPr id="29" name="Text 27"/>
          <p:cNvSpPr/>
          <p:nvPr/>
        </p:nvSpPr>
        <p:spPr>
          <a:xfrm>
            <a:off x="7112000" y="77216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Compare Results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42500" y="8001000"/>
            <a:ext cx="381000" cy="0"/>
          </a:xfrm>
          <a:prstGeom prst="straightConnector1">
            <a:avLst/>
          </a:prstGeom>
          <a:noFill/>
          <a:ln w="25400">
            <a:solidFill>
              <a:srgbClr val="6B7FA3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0287000" y="7721600"/>
            <a:ext cx="2667000" cy="571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0" y="77216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Select Best Model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&amp; monitor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Week 4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112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" y="1778000"/>
            <a:ext cx="5715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879600"/>
            <a:ext cx="615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paradigms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Supervised, Unsupervised, and Reinforcement Learning.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921000"/>
            <a:ext cx="7112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9000" y="2921000"/>
            <a:ext cx="5715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3022600"/>
            <a:ext cx="615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Learning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most common approach, using labeled data for classification and regression.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064000"/>
            <a:ext cx="7112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9000" y="4064000"/>
            <a:ext cx="5715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4165600"/>
            <a:ext cx="615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algorithms: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&amp; Logistic Regression, Decision Trees, SVM, k-NN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each with unique strengths.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07000"/>
            <a:ext cx="7112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9000" y="5207000"/>
            <a:ext cx="5715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308600"/>
            <a:ext cx="615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discrete labels; metrics include Accuracy, Precision, Recall, and F1-Score.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350000"/>
            <a:ext cx="7112000" cy="952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9000" y="6350000"/>
            <a:ext cx="5715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6451600"/>
            <a:ext cx="6159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Naïve Bayes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fast, effective probabilistic classifier based on Bayes' Theorem; excels in text tasks.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493000"/>
            <a:ext cx="7112000" cy="825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493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selection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 data characteristics and trade-offs between accuracy, speed, and interpretability.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1778000"/>
            <a:ext cx="7112000" cy="64135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01375" y="2286000"/>
            <a:ext cx="857250" cy="762000"/>
          </a:xfrm>
          <a:custGeom>
            <a:avLst/>
            <a:gdLst/>
            <a:ahLst/>
            <a:cxnLst/>
            <a:rect l="l" t="t" r="r" b="b"/>
            <a:pathLst>
              <a:path w="857250" h="762000">
                <a:moveTo>
                  <a:pt x="71438" y="291405"/>
                </a:moveTo>
                <a:lnTo>
                  <a:pt x="382786" y="419546"/>
                </a:lnTo>
                <a:cubicBezTo>
                  <a:pt x="397371" y="425500"/>
                  <a:pt x="412849" y="428625"/>
                  <a:pt x="428625" y="428625"/>
                </a:cubicBezTo>
                <a:cubicBezTo>
                  <a:pt x="444401" y="428625"/>
                  <a:pt x="459879" y="425500"/>
                  <a:pt x="474464" y="419546"/>
                </a:cubicBezTo>
                <a:lnTo>
                  <a:pt x="835223" y="271016"/>
                </a:lnTo>
                <a:cubicBezTo>
                  <a:pt x="848618" y="265509"/>
                  <a:pt x="857250" y="252561"/>
                  <a:pt x="857250" y="238125"/>
                </a:cubicBezTo>
                <a:cubicBezTo>
                  <a:pt x="857250" y="223689"/>
                  <a:pt x="848618" y="210741"/>
                  <a:pt x="835223" y="205234"/>
                </a:cubicBezTo>
                <a:lnTo>
                  <a:pt x="474464" y="56704"/>
                </a:lnTo>
                <a:cubicBezTo>
                  <a:pt x="459879" y="50750"/>
                  <a:pt x="444401" y="47625"/>
                  <a:pt x="428625" y="47625"/>
                </a:cubicBezTo>
                <a:cubicBezTo>
                  <a:pt x="412849" y="47625"/>
                  <a:pt x="397371" y="50750"/>
                  <a:pt x="382786" y="56704"/>
                </a:cubicBezTo>
                <a:lnTo>
                  <a:pt x="22027" y="205234"/>
                </a:lnTo>
                <a:cubicBezTo>
                  <a:pt x="8632" y="210741"/>
                  <a:pt x="0" y="223689"/>
                  <a:pt x="0" y="238125"/>
                </a:cubicBezTo>
                <a:lnTo>
                  <a:pt x="0" y="678656"/>
                </a:lnTo>
                <a:cubicBezTo>
                  <a:pt x="0" y="698450"/>
                  <a:pt x="15925" y="714375"/>
                  <a:pt x="35719" y="714375"/>
                </a:cubicBezTo>
                <a:cubicBezTo>
                  <a:pt x="55513" y="714375"/>
                  <a:pt x="71438" y="698450"/>
                  <a:pt x="71438" y="678656"/>
                </a:cubicBezTo>
                <a:lnTo>
                  <a:pt x="71438" y="291405"/>
                </a:lnTo>
                <a:close/>
                <a:moveTo>
                  <a:pt x="142875" y="398115"/>
                </a:moveTo>
                <a:lnTo>
                  <a:pt x="142875" y="571500"/>
                </a:lnTo>
                <a:cubicBezTo>
                  <a:pt x="142875" y="650379"/>
                  <a:pt x="270867" y="714375"/>
                  <a:pt x="428625" y="714375"/>
                </a:cubicBezTo>
                <a:cubicBezTo>
                  <a:pt x="586383" y="714375"/>
                  <a:pt x="714375" y="650379"/>
                  <a:pt x="714375" y="571500"/>
                </a:cubicBezTo>
                <a:lnTo>
                  <a:pt x="714375" y="397966"/>
                </a:lnTo>
                <a:lnTo>
                  <a:pt x="501700" y="485626"/>
                </a:lnTo>
                <a:cubicBezTo>
                  <a:pt x="478482" y="495151"/>
                  <a:pt x="453777" y="500062"/>
                  <a:pt x="428625" y="500062"/>
                </a:cubicBezTo>
                <a:cubicBezTo>
                  <a:pt x="403473" y="500062"/>
                  <a:pt x="378768" y="495151"/>
                  <a:pt x="355550" y="485626"/>
                </a:cubicBezTo>
                <a:lnTo>
                  <a:pt x="142875" y="397966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3302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You Should Know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0000" y="3937000"/>
            <a:ext cx="2540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8890000" y="41910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Distinguish the three ML types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 how supervised learning works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 classification vs. regression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Describe Linear &amp; Logistic Regression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Explain Decision Trees and SVM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Bayes' Theorem for classification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Naïve Bayes variants and use cases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appropriate algorithms for problems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200" kern="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Further Reading &amp;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841500"/>
            <a:ext cx="7112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841500"/>
            <a:ext cx="63500" cy="2921000"/>
          </a:xfrm>
          <a:prstGeom prst="rect">
            <a:avLst/>
          </a:prstGeom>
          <a:solidFill>
            <a:srgbClr val="2D3A5C"/>
          </a:solidFill>
          <a:ln/>
        </p:spPr>
      </p:sp>
      <p:sp>
        <p:nvSpPr>
          <p:cNvPr id="7" name="Shape 5"/>
          <p:cNvSpPr/>
          <p:nvPr/>
        </p:nvSpPr>
        <p:spPr>
          <a:xfrm>
            <a:off x="1101725" y="209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2D3A5C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057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Textbooks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9500" y="26035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 and Machine Learning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Christopher Bishop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Learning: A Probabilistic Perspective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Kevin Murphy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Hands-On Machine Learning with Scikit-Learn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Aurélien Géron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Elements of Statistical Learning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Hastie, Tibshirani, Friedman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841500"/>
            <a:ext cx="7112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2000" y="1841500"/>
            <a:ext cx="63500" cy="292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55050" y="2095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4450" y="66675"/>
                </a:moveTo>
                <a:cubicBezTo>
                  <a:pt x="44450" y="42158"/>
                  <a:pt x="64383" y="22225"/>
                  <a:pt x="88900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33363"/>
                </a:lnTo>
                <a:lnTo>
                  <a:pt x="355600" y="233363"/>
                </a:lnTo>
                <a:lnTo>
                  <a:pt x="355600" y="66675"/>
                </a:lnTo>
                <a:lnTo>
                  <a:pt x="88900" y="66675"/>
                </a:lnTo>
                <a:lnTo>
                  <a:pt x="88900" y="233363"/>
                </a:lnTo>
                <a:lnTo>
                  <a:pt x="44450" y="233363"/>
                </a:lnTo>
                <a:lnTo>
                  <a:pt x="44450" y="66675"/>
                </a:lnTo>
                <a:close/>
                <a:moveTo>
                  <a:pt x="0" y="280035"/>
                </a:moveTo>
                <a:cubicBezTo>
                  <a:pt x="0" y="272673"/>
                  <a:pt x="5973" y="266700"/>
                  <a:pt x="13335" y="266700"/>
                </a:cubicBezTo>
                <a:lnTo>
                  <a:pt x="431165" y="266700"/>
                </a:lnTo>
                <a:cubicBezTo>
                  <a:pt x="438527" y="266700"/>
                  <a:pt x="444500" y="272673"/>
                  <a:pt x="444500" y="280035"/>
                </a:cubicBezTo>
                <a:cubicBezTo>
                  <a:pt x="444500" y="309483"/>
                  <a:pt x="420608" y="333375"/>
                  <a:pt x="391160" y="333375"/>
                </a:cubicBezTo>
                <a:lnTo>
                  <a:pt x="53340" y="333375"/>
                </a:lnTo>
                <a:cubicBezTo>
                  <a:pt x="23892" y="333375"/>
                  <a:pt x="0" y="309483"/>
                  <a:pt x="0" y="280035"/>
                </a:cubicBezTo>
                <a:close/>
                <a:moveTo>
                  <a:pt x="195163" y="145157"/>
                </a:moveTo>
                <a:lnTo>
                  <a:pt x="173633" y="166688"/>
                </a:lnTo>
                <a:lnTo>
                  <a:pt x="195163" y="188218"/>
                </a:lnTo>
                <a:cubicBezTo>
                  <a:pt x="201692" y="194747"/>
                  <a:pt x="201692" y="205303"/>
                  <a:pt x="195163" y="211763"/>
                </a:cubicBezTo>
                <a:cubicBezTo>
                  <a:pt x="188635" y="218222"/>
                  <a:pt x="178078" y="218291"/>
                  <a:pt x="171619" y="211763"/>
                </a:cubicBezTo>
                <a:lnTo>
                  <a:pt x="138281" y="178425"/>
                </a:lnTo>
                <a:cubicBezTo>
                  <a:pt x="131753" y="171896"/>
                  <a:pt x="131753" y="161340"/>
                  <a:pt x="138281" y="154880"/>
                </a:cubicBezTo>
                <a:lnTo>
                  <a:pt x="171619" y="121543"/>
                </a:lnTo>
                <a:cubicBezTo>
                  <a:pt x="178147" y="115014"/>
                  <a:pt x="188704" y="115014"/>
                  <a:pt x="195163" y="121543"/>
                </a:cubicBezTo>
                <a:cubicBezTo>
                  <a:pt x="201622" y="128072"/>
                  <a:pt x="201692" y="138628"/>
                  <a:pt x="195163" y="145088"/>
                </a:cubicBezTo>
                <a:close/>
                <a:moveTo>
                  <a:pt x="272951" y="121543"/>
                </a:moveTo>
                <a:lnTo>
                  <a:pt x="306288" y="154880"/>
                </a:lnTo>
                <a:cubicBezTo>
                  <a:pt x="312817" y="161409"/>
                  <a:pt x="312817" y="171966"/>
                  <a:pt x="306288" y="178425"/>
                </a:cubicBezTo>
                <a:lnTo>
                  <a:pt x="272951" y="211763"/>
                </a:lnTo>
                <a:cubicBezTo>
                  <a:pt x="266422" y="218291"/>
                  <a:pt x="255865" y="218291"/>
                  <a:pt x="249406" y="211763"/>
                </a:cubicBezTo>
                <a:cubicBezTo>
                  <a:pt x="242947" y="205234"/>
                  <a:pt x="242878" y="194677"/>
                  <a:pt x="249406" y="188218"/>
                </a:cubicBezTo>
                <a:lnTo>
                  <a:pt x="270937" y="166688"/>
                </a:lnTo>
                <a:lnTo>
                  <a:pt x="249406" y="145157"/>
                </a:lnTo>
                <a:cubicBezTo>
                  <a:pt x="242878" y="138628"/>
                  <a:pt x="242878" y="128072"/>
                  <a:pt x="249406" y="121612"/>
                </a:cubicBezTo>
                <a:cubicBezTo>
                  <a:pt x="255935" y="115153"/>
                  <a:pt x="266492" y="115084"/>
                  <a:pt x="272951" y="12161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500" y="2057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Resources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99500" y="26035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GeeksforGeeks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Machine Learning tutorials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 Documentation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Official docs &amp; examples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Coursera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Andrew Ng's ML Course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3Blue1Brown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Neural Networks series (YouTube)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80000"/>
            <a:ext cx="14732000" cy="304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3137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000" y="5080000"/>
            <a:ext cx="14732000" cy="6350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7275" y="5397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6B7FA3"/>
          </a:solidFill>
          <a:ln/>
        </p:spPr>
      </p:sp>
      <p:sp>
        <p:nvSpPr>
          <p:cNvPr id="18" name="Text 16"/>
          <p:cNvSpPr/>
          <p:nvPr/>
        </p:nvSpPr>
        <p:spPr>
          <a:xfrm>
            <a:off x="1587500" y="5359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Hands-On Practice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79500" y="5905500"/>
            <a:ext cx="1397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algorithms from scratch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Python (NumPy/Pandas) to understand the math behind each method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with scikit-learn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train classifiers on built-in datasets (Iris, Wine, Digits)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Participate in Kaggle competitions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Titanic, House Prices are excellent starting points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 with real datasets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UCI ML Repository for practical experience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spam classifier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Naïve Bayes — the classic ML beginner project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59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A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gcs67dmpbiva/mnt/agents/output/ml-week4/images/5_22_362_Blue_Abstract_Ai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2328">
                  <a:alpha val="91000"/>
                </a:srgbClr>
              </a:gs>
              <a:gs pos="60000">
                <a:srgbClr val="1E2328">
                  <a:alpha val="82000"/>
                </a:srgbClr>
              </a:gs>
              <a:gs pos="100000">
                <a:srgbClr val="1E2328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794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3937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699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334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4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Learning: Types of Learning, Supervised Learning,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&amp; Naïve Bayes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8000" y="6731000"/>
            <a:ext cx="5080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4: Machine Learning</dc:title>
  <dc:subject>Artificial Intelligence - Week 4: Machine Learning</dc:subject>
  <dc:creator>Kimi</dc:creator>
  <cp:lastModifiedBy>Kimi</cp:lastModifiedBy>
  <cp:revision>1</cp:revision>
  <dcterms:created xsi:type="dcterms:W3CDTF">2026-05-25T19:22:07Z</dcterms:created>
  <dcterms:modified xsi:type="dcterms:W3CDTF">2026-05-25T19:22:07Z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4: Machine Learning","ContentProducer":"001191110108MACG2KBH8F10000","ProduceID":"19e60544-69c2-8ba0-8000-0000e1f0a41d","ReservedCode1":"","ContentPropagator":"001191110108MACG2KBH8F20000","PropagateID":"19e60544-69c2-8ba0-8000-0000e1f0a41d","ReservedCode2":""}</vt:lpwstr>
  </property>
</Properties>
</file>