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mpihfuknepne/mnt/agents/output/ai-course/images/3_Abstract_technology_background_futuristic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B3A47">
                  <a:alpha val="90000"/>
                </a:srgbClr>
              </a:gs>
              <a:gs pos="50000">
                <a:srgbClr val="0B3A47">
                  <a:alpha val="80000"/>
                </a:srgbClr>
              </a:gs>
              <a:gs pos="100000">
                <a:srgbClr val="0B3A47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spc="4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858000" y="41275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381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 — Problem Solving, Machine Learning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48000" y="5016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Informed Search | Greedy &amp; A* Search | Introduction to ML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01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5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302000"/>
            <a:ext cx="762000" cy="50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556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 covers informed search algorithms and the foundations of machine learning.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0" y="1270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85000" y="127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 &amp; Search Foundations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85000" y="1714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Uninformed vs. informed search, heuristic functions, and search algorithm properties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0" y="2667000"/>
            <a:ext cx="9398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3048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85000" y="304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 Algorithms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85000" y="3492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Greedy Best-First Search, A* Search, admissibility, and consistency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4445000"/>
            <a:ext cx="9398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482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85000" y="482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Machine Learning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85000" y="5270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fundamentals, types of learning, and the ML workflow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0" y="86360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COURSE — W3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mpihfuknepne/mnt/agents/output/ai-course/images/1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B3A47">
                  <a:alpha val="95000"/>
                </a:srgbClr>
              </a:gs>
              <a:gs pos="60000">
                <a:srgbClr val="0B3A47">
                  <a:alpha val="80000"/>
                </a:srgbClr>
              </a:gs>
              <a:gs pos="100000">
                <a:srgbClr val="0B3A47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5F1EB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937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016000" y="4318000"/>
            <a:ext cx="1016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5466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SEARCH FOUNDATIONS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uninformed exploration to heuristic-guided intelligence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 vs. Informed 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048500" cy="3175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460500"/>
            <a:ext cx="7048500" cy="50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460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 (BLIND)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2133600"/>
            <a:ext cx="6667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Explores the state space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systematically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additional knowledge about the goal.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Treats all nodes uniformly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Blind exploration of possibilities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Examples: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BFS, DFS, UCS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efficient — may explore many unnecessary states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45500" y="1460500"/>
            <a:ext cx="7048500" cy="3175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5500" y="1460500"/>
            <a:ext cx="7048500" cy="50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460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(HEURISTIC) 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2133600"/>
            <a:ext cx="6667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domain-specific knowledge via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guide search toward the goal.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Prioritizes promising nodes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Directed, goal-oriented exploration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Examples: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Greedy BFS, A*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efficient — reduces search space significantly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016500"/>
            <a:ext cx="50800" cy="1016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5016500"/>
            <a:ext cx="144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Uninformed search treats all nodes uniformly and explores systematically; informed search uses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heuristic function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estimate goal proximity and prioritize the most promising paths first.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350000"/>
          <a:ext cx="14732000" cy="2032000"/>
        </p:xfrm>
        <a:graphic>
          <a:graphicData uri="http://schemas.openxmlformats.org/drawingml/2006/table">
            <a:tbl>
              <a:tblPr/>
              <a:tblGrid>
                <a:gridCol w="4124960"/>
                <a:gridCol w="5303520"/>
                <a:gridCol w="5303520"/>
              </a:tblGrid>
              <a:tr h="57509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Uninformed Search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Informed Search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8563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Knowledge Used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 — relies on problem structure only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Heuristic function h(n)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8563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Lower — exhaustive exploration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Higher — guided toward goal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48563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BFS optimal for unweighted graphs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A* optimal with admissible 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6" name="Text 13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Heuristic Functions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50800" cy="1397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60500"/>
            <a:ext cx="685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heuristic function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h(n) estimates the cost of the cheapest path from the current node n to a goal node. It provides problem-specific knowledge that guides search algorithms.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82000" y="1460500"/>
            <a:ext cx="7112000" cy="1397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1587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Heuristic Function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8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estimated cost from n to 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Heuristic Examples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746500"/>
            <a:ext cx="4699000" cy="2159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000" y="393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66675"/>
                </a:moveTo>
                <a:cubicBezTo>
                  <a:pt x="355600" y="101540"/>
                  <a:pt x="314553" y="153561"/>
                  <a:pt x="296843" y="174327"/>
                </a:cubicBezTo>
                <a:cubicBezTo>
                  <a:pt x="294203" y="177383"/>
                  <a:pt x="290314" y="178564"/>
                  <a:pt x="286772" y="177800"/>
                </a:cubicBezTo>
                <a:lnTo>
                  <a:pt x="222250" y="177800"/>
                </a:lnTo>
                <a:cubicBezTo>
                  <a:pt x="209957" y="177800"/>
                  <a:pt x="200025" y="187732"/>
                  <a:pt x="200025" y="200025"/>
                </a:cubicBezTo>
                <a:cubicBezTo>
                  <a:pt x="200025" y="212318"/>
                  <a:pt x="209957" y="222250"/>
                  <a:pt x="222250" y="222250"/>
                </a:cubicBezTo>
                <a:lnTo>
                  <a:pt x="288925" y="222250"/>
                </a:lnTo>
                <a:cubicBezTo>
                  <a:pt x="325735" y="222250"/>
                  <a:pt x="355600" y="252115"/>
                  <a:pt x="355600" y="288925"/>
                </a:cubicBezTo>
                <a:cubicBezTo>
                  <a:pt x="355600" y="325735"/>
                  <a:pt x="325735" y="355600"/>
                  <a:pt x="288925" y="355600"/>
                </a:cubicBezTo>
                <a:lnTo>
                  <a:pt x="96957" y="355600"/>
                </a:lnTo>
                <a:cubicBezTo>
                  <a:pt x="102999" y="348724"/>
                  <a:pt x="110361" y="339904"/>
                  <a:pt x="117793" y="330041"/>
                </a:cubicBezTo>
                <a:cubicBezTo>
                  <a:pt x="122168" y="324207"/>
                  <a:pt x="126683" y="317818"/>
                  <a:pt x="130989" y="311150"/>
                </a:cubicBezTo>
                <a:lnTo>
                  <a:pt x="288925" y="311150"/>
                </a:lnTo>
                <a:cubicBezTo>
                  <a:pt x="301218" y="311150"/>
                  <a:pt x="311150" y="301218"/>
                  <a:pt x="311150" y="288925"/>
                </a:cubicBezTo>
                <a:cubicBezTo>
                  <a:pt x="311150" y="276632"/>
                  <a:pt x="301218" y="266700"/>
                  <a:pt x="288925" y="266700"/>
                </a:cubicBezTo>
                <a:lnTo>
                  <a:pt x="222250" y="266700"/>
                </a:lnTo>
                <a:cubicBezTo>
                  <a:pt x="185440" y="266700"/>
                  <a:pt x="155575" y="236835"/>
                  <a:pt x="155575" y="200025"/>
                </a:cubicBezTo>
                <a:cubicBezTo>
                  <a:pt x="155575" y="163215"/>
                  <a:pt x="185440" y="133350"/>
                  <a:pt x="222250" y="133350"/>
                </a:cubicBezTo>
                <a:lnTo>
                  <a:pt x="249892" y="133350"/>
                </a:lnTo>
                <a:cubicBezTo>
                  <a:pt x="235307" y="111472"/>
                  <a:pt x="222250" y="86330"/>
                  <a:pt x="222250" y="66675"/>
                </a:cubicBezTo>
                <a:cubicBezTo>
                  <a:pt x="222250" y="29865"/>
                  <a:pt x="252115" y="0"/>
                  <a:pt x="288925" y="0"/>
                </a:cubicBezTo>
                <a:cubicBezTo>
                  <a:pt x="325735" y="0"/>
                  <a:pt x="355600" y="29865"/>
                  <a:pt x="355600" y="66675"/>
                </a:cubicBezTo>
                <a:close/>
                <a:moveTo>
                  <a:pt x="81330" y="339695"/>
                </a:moveTo>
                <a:cubicBezTo>
                  <a:pt x="78690" y="342682"/>
                  <a:pt x="76329" y="345321"/>
                  <a:pt x="74315" y="347543"/>
                </a:cubicBezTo>
                <a:lnTo>
                  <a:pt x="73065" y="348933"/>
                </a:lnTo>
                <a:lnTo>
                  <a:pt x="72926" y="348794"/>
                </a:lnTo>
                <a:cubicBezTo>
                  <a:pt x="68759" y="351988"/>
                  <a:pt x="62786" y="351572"/>
                  <a:pt x="59035" y="347543"/>
                </a:cubicBezTo>
                <a:cubicBezTo>
                  <a:pt x="41533" y="328513"/>
                  <a:pt x="0" y="279549"/>
                  <a:pt x="0" y="244475"/>
                </a:cubicBezTo>
                <a:cubicBezTo>
                  <a:pt x="0" y="207665"/>
                  <a:pt x="29865" y="177800"/>
                  <a:pt x="66675" y="177800"/>
                </a:cubicBezTo>
                <a:cubicBezTo>
                  <a:pt x="103485" y="177800"/>
                  <a:pt x="133350" y="207665"/>
                  <a:pt x="133350" y="244475"/>
                </a:cubicBezTo>
                <a:cubicBezTo>
                  <a:pt x="133350" y="265311"/>
                  <a:pt x="118695" y="291009"/>
                  <a:pt x="103138" y="312470"/>
                </a:cubicBezTo>
                <a:cubicBezTo>
                  <a:pt x="95706" y="322679"/>
                  <a:pt x="88067" y="331916"/>
                  <a:pt x="81746" y="339209"/>
                </a:cubicBezTo>
                <a:lnTo>
                  <a:pt x="81330" y="339695"/>
                </a:lnTo>
                <a:close/>
                <a:moveTo>
                  <a:pt x="88900" y="244475"/>
                </a:moveTo>
                <a:cubicBezTo>
                  <a:pt x="88900" y="232209"/>
                  <a:pt x="78941" y="222250"/>
                  <a:pt x="66675" y="222250"/>
                </a:cubicBezTo>
                <a:cubicBezTo>
                  <a:pt x="54409" y="222250"/>
                  <a:pt x="44450" y="232209"/>
                  <a:pt x="44450" y="244475"/>
                </a:cubicBezTo>
                <a:cubicBezTo>
                  <a:pt x="44450" y="256741"/>
                  <a:pt x="54409" y="266700"/>
                  <a:pt x="66675" y="266700"/>
                </a:cubicBezTo>
                <a:cubicBezTo>
                  <a:pt x="78941" y="266700"/>
                  <a:pt x="88900" y="256741"/>
                  <a:pt x="88900" y="244475"/>
                </a:cubicBezTo>
                <a:close/>
                <a:moveTo>
                  <a:pt x="288925" y="88900"/>
                </a:moveTo>
                <a:cubicBezTo>
                  <a:pt x="301191" y="88900"/>
                  <a:pt x="311150" y="78941"/>
                  <a:pt x="311150" y="66675"/>
                </a:cubicBezTo>
                <a:cubicBezTo>
                  <a:pt x="311150" y="54409"/>
                  <a:pt x="301191" y="44450"/>
                  <a:pt x="288925" y="44450"/>
                </a:cubicBezTo>
                <a:cubicBezTo>
                  <a:pt x="276659" y="44450"/>
                  <a:pt x="266700" y="54409"/>
                  <a:pt x="266700" y="66675"/>
                </a:cubicBezTo>
                <a:cubicBezTo>
                  <a:pt x="266700" y="78941"/>
                  <a:pt x="276659" y="88900"/>
                  <a:pt x="288925" y="889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1498600" y="3911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 Finding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381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 = straight-line (Euclidean) distance from current city to destination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overestimates actual road distance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0" y="3746500"/>
            <a:ext cx="4699000" cy="2159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2500" y="393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15100" y="3911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8-Puzzle (Misplaced Tiles)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4381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 = count of tiles not in their goal position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misplaced tile needs at least 1 move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3746500"/>
            <a:ext cx="4699000" cy="2159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49000" y="393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3496" y="6529"/>
                </a:moveTo>
                <a:cubicBezTo>
                  <a:pt x="184815" y="-2153"/>
                  <a:pt x="170716" y="-2153"/>
                  <a:pt x="162034" y="6529"/>
                </a:cubicBezTo>
                <a:lnTo>
                  <a:pt x="117584" y="50979"/>
                </a:lnTo>
                <a:cubicBezTo>
                  <a:pt x="108903" y="59660"/>
                  <a:pt x="108903" y="73759"/>
                  <a:pt x="117584" y="82441"/>
                </a:cubicBezTo>
                <a:cubicBezTo>
                  <a:pt x="126266" y="91122"/>
                  <a:pt x="140365" y="91122"/>
                  <a:pt x="149046" y="82441"/>
                </a:cubicBezTo>
                <a:lnTo>
                  <a:pt x="155575" y="75912"/>
                </a:lnTo>
                <a:lnTo>
                  <a:pt x="155575" y="155575"/>
                </a:lnTo>
                <a:lnTo>
                  <a:pt x="75912" y="155575"/>
                </a:lnTo>
                <a:lnTo>
                  <a:pt x="82441" y="149046"/>
                </a:lnTo>
                <a:cubicBezTo>
                  <a:pt x="91123" y="140365"/>
                  <a:pt x="91123" y="126266"/>
                  <a:pt x="82441" y="117584"/>
                </a:cubicBezTo>
                <a:cubicBezTo>
                  <a:pt x="73759" y="108903"/>
                  <a:pt x="59660" y="108903"/>
                  <a:pt x="50979" y="117584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50979" y="237946"/>
                </a:lnTo>
                <a:cubicBezTo>
                  <a:pt x="59660" y="246628"/>
                  <a:pt x="73759" y="246628"/>
                  <a:pt x="82441" y="237946"/>
                </a:cubicBezTo>
                <a:cubicBezTo>
                  <a:pt x="91123" y="229265"/>
                  <a:pt x="91123" y="215166"/>
                  <a:pt x="82441" y="206484"/>
                </a:cubicBezTo>
                <a:lnTo>
                  <a:pt x="75912" y="199956"/>
                </a:lnTo>
                <a:lnTo>
                  <a:pt x="155575" y="199956"/>
                </a:lnTo>
                <a:lnTo>
                  <a:pt x="155575" y="279618"/>
                </a:lnTo>
                <a:lnTo>
                  <a:pt x="149046" y="273090"/>
                </a:lnTo>
                <a:cubicBezTo>
                  <a:pt x="140365" y="264408"/>
                  <a:pt x="126266" y="264408"/>
                  <a:pt x="117584" y="273090"/>
                </a:cubicBezTo>
                <a:cubicBezTo>
                  <a:pt x="108903" y="281771"/>
                  <a:pt x="108903" y="295870"/>
                  <a:pt x="117584" y="304552"/>
                </a:cubicBezTo>
                <a:lnTo>
                  <a:pt x="162034" y="349002"/>
                </a:lnTo>
                <a:cubicBezTo>
                  <a:pt x="170716" y="357684"/>
                  <a:pt x="184815" y="357684"/>
                  <a:pt x="193496" y="349002"/>
                </a:cubicBezTo>
                <a:lnTo>
                  <a:pt x="237946" y="304552"/>
                </a:lnTo>
                <a:cubicBezTo>
                  <a:pt x="246628" y="295870"/>
                  <a:pt x="246628" y="281771"/>
                  <a:pt x="237946" y="273090"/>
                </a:cubicBezTo>
                <a:cubicBezTo>
                  <a:pt x="229265" y="264408"/>
                  <a:pt x="215166" y="264408"/>
                  <a:pt x="206484" y="273090"/>
                </a:cubicBezTo>
                <a:lnTo>
                  <a:pt x="199956" y="279618"/>
                </a:lnTo>
                <a:lnTo>
                  <a:pt x="199956" y="199956"/>
                </a:lnTo>
                <a:lnTo>
                  <a:pt x="279618" y="199956"/>
                </a:lnTo>
                <a:lnTo>
                  <a:pt x="273090" y="206484"/>
                </a:lnTo>
                <a:cubicBezTo>
                  <a:pt x="264408" y="215166"/>
                  <a:pt x="264408" y="229265"/>
                  <a:pt x="273090" y="237946"/>
                </a:cubicBezTo>
                <a:cubicBezTo>
                  <a:pt x="281771" y="246628"/>
                  <a:pt x="295870" y="246628"/>
                  <a:pt x="304552" y="237946"/>
                </a:cubicBezTo>
                <a:lnTo>
                  <a:pt x="349002" y="193496"/>
                </a:lnTo>
                <a:cubicBezTo>
                  <a:pt x="357684" y="184815"/>
                  <a:pt x="357684" y="170716"/>
                  <a:pt x="349002" y="162034"/>
                </a:cubicBezTo>
                <a:lnTo>
                  <a:pt x="304552" y="117584"/>
                </a:lnTo>
                <a:cubicBezTo>
                  <a:pt x="295870" y="108903"/>
                  <a:pt x="281771" y="108903"/>
                  <a:pt x="273090" y="117584"/>
                </a:cubicBezTo>
                <a:cubicBezTo>
                  <a:pt x="264408" y="126266"/>
                  <a:pt x="264408" y="140365"/>
                  <a:pt x="273090" y="149046"/>
                </a:cubicBezTo>
                <a:lnTo>
                  <a:pt x="279618" y="155575"/>
                </a:lnTo>
                <a:lnTo>
                  <a:pt x="199956" y="155575"/>
                </a:lnTo>
                <a:lnTo>
                  <a:pt x="199956" y="75912"/>
                </a:lnTo>
                <a:lnTo>
                  <a:pt x="206484" y="82441"/>
                </a:lnTo>
                <a:cubicBezTo>
                  <a:pt x="215166" y="91123"/>
                  <a:pt x="229265" y="91123"/>
                  <a:pt x="237946" y="82441"/>
                </a:cubicBezTo>
                <a:cubicBezTo>
                  <a:pt x="246628" y="73759"/>
                  <a:pt x="246628" y="59660"/>
                  <a:pt x="237946" y="50979"/>
                </a:cubicBezTo>
                <a:lnTo>
                  <a:pt x="193496" y="6529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11531600" y="3911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8-Puzzle (Manhattan)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4381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 = sum of horizontal + vertical distances of each tile from goal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informed than misplaced tiles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on Search Performance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67310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well-designed heuristic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dramatically reduce the number of nodes explored — from exponential to near-linear in some cases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The quality of h(n) directly determines the efficiency of informed search algorithms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Better heuristics lead 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faster, more optimal solutions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less computational resources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4" name="Text 22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Properties of Search Algorithms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key criteria guide the selection of the right algorithm for a given problem: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3429000" cy="2540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968500"/>
            <a:ext cx="342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7686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175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the algorithm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finding a solution if one exists?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33900" y="1968500"/>
            <a:ext cx="3429000" cy="2540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3900" y="1968500"/>
            <a:ext cx="3429000" cy="6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879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3" name="Text 11"/>
          <p:cNvSpPr/>
          <p:nvPr/>
        </p:nvSpPr>
        <p:spPr>
          <a:xfrm>
            <a:off x="4787900" y="27686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87900" y="3175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it find the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solution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(lowest path cost) among all possible solutions?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05800" y="1968500"/>
            <a:ext cx="3429000" cy="2540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5800" y="1968500"/>
            <a:ext cx="342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7" name="Shape 15"/>
          <p:cNvSpPr/>
          <p:nvPr/>
        </p:nvSpPr>
        <p:spPr>
          <a:xfrm>
            <a:off x="85598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8559800" y="27686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Complexity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59800" y="3175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long does it take as a function of branching factor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depth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077700" y="1968500"/>
            <a:ext cx="3429000" cy="2540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7700" y="1968500"/>
            <a:ext cx="3429000" cy="6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317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12331700" y="27686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Space Complexity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31700" y="3175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much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required to store nodes during the search?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482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Complexity Notation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3086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maximum branching factor (max number of children of any node)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depth of the shallowest goal node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maximum depth of the search tree (may be infinite)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604000"/>
            <a:ext cx="50800" cy="1016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6604000"/>
            <a:ext cx="144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Uninformed methods like BFS are complete and optimal for unweighted graphs but have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O(b</a:t>
            </a:r>
            <a:pPr>
              <a:lnSpc>
                <a:spcPct val="150000"/>
              </a:lnSpc>
            </a:pPr>
            <a:r>
              <a:rPr lang="en-US" sz="1600" b="1" baseline="300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 and space complexity. Informed methods can achieve significantly better performance with a well-designed heuristic.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255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Russell &amp; Norvig, Artificial Intelligence: A Modern Approach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1" name="Text 29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mpihfuknepne/mnt/agents/output/ai-course/images/6_74_395_Dark_Data_Visualization_Royalty.png">    </p:cNvPr>
          <p:cNvPicPr>
            <a:picLocks noChangeAspect="1"/>
          </p:cNvPicPr>
          <p:nvPr/>
        </p:nvPicPr>
        <p:blipFill>
          <a:blip r:embed="rId1"/>
          <a:srcRect l="1407" r="140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B3A47">
                  <a:alpha val="95000"/>
                </a:srgbClr>
              </a:gs>
              <a:gs pos="60000">
                <a:srgbClr val="0B3A47">
                  <a:alpha val="80000"/>
                </a:srgbClr>
              </a:gs>
              <a:gs pos="100000">
                <a:srgbClr val="0B3A47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5F1EB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937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016000" y="4318000"/>
            <a:ext cx="1016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5466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Greedy Best-First Search and A* Search — balancing speed and optimality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Best-First Search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50800" cy="1143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60500"/>
            <a:ext cx="1447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Best-First Search is a general informed search framework where nodes are expanded based on an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function f(n)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node with the lowest f(n) is selected first. The frontier is implemented as a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queue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ordered by f(n).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85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Major Variants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429000"/>
            <a:ext cx="7048500" cy="279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3429000"/>
            <a:ext cx="63500" cy="2794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55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Greedy Best-First 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0005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f(n) = h(n)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9500" y="4546600"/>
            <a:ext cx="6477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Considers only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cost to goal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Fast but may be suboptimal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Prone to getting stuck in loops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Not complete, not optimal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0" y="3429000"/>
            <a:ext cx="7048500" cy="279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5500" y="3429000"/>
            <a:ext cx="63500" cy="2794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355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63000" y="40005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E891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f(n) = g(n) + h(n)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63000" y="4546600"/>
            <a:ext cx="6477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path cost + heuristic estimate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Complete and optimal (with admissible h)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Balances exploration and efficiency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The gold standard for pathfinding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60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choice of f(n) determines completeness, optimality, and efficiency. A* subsumes both Greedy (h-only) and UCS (g-only) as special cases.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7620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Frontier (Priority Queue) → Select node with minimum f(n) → Expand → Add successors to frontier → Repeat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Greedy Best-First 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Greedy Best-First Search always expands the node that appears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closest to the goal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according to the heuristic estimate h(n).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evaluation function is: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22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f(n) = h(n)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Called "greedy" because it makes 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locally optimal choices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considering the actual path cost g(n).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82000" y="1460500"/>
            <a:ext cx="7112000" cy="27305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0" y="1587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0" y="19685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Initialize OPEN list with start node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Initialize empty CLOSED list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While OPEN not empty: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  a. Remove node with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h(n)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OPEN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  b. If goal → return solution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  c. Add successors to OPEN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31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and CLOSED Lists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889500"/>
            <a:ext cx="7048500" cy="152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000" y="508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813" y="28575"/>
                </a:moveTo>
                <a:cubicBezTo>
                  <a:pt x="15895" y="28575"/>
                  <a:pt x="9525" y="34945"/>
                  <a:pt x="9525" y="42863"/>
                </a:cubicBezTo>
                <a:lnTo>
                  <a:pt x="9525" y="71438"/>
                </a:lnTo>
                <a:cubicBezTo>
                  <a:pt x="9525" y="79355"/>
                  <a:pt x="15895" y="85725"/>
                  <a:pt x="23813" y="85725"/>
                </a:cubicBezTo>
                <a:lnTo>
                  <a:pt x="52388" y="85725"/>
                </a:lnTo>
                <a:cubicBezTo>
                  <a:pt x="60305" y="85725"/>
                  <a:pt x="66675" y="79355"/>
                  <a:pt x="66675" y="71438"/>
                </a:cubicBezTo>
                <a:lnTo>
                  <a:pt x="66675" y="42863"/>
                </a:lnTo>
                <a:cubicBezTo>
                  <a:pt x="66675" y="34945"/>
                  <a:pt x="60305" y="28575"/>
                  <a:pt x="52388" y="28575"/>
                </a:cubicBezTo>
                <a:lnTo>
                  <a:pt x="23813" y="28575"/>
                </a:lnTo>
                <a:close/>
                <a:moveTo>
                  <a:pt x="114300" y="38100"/>
                </a:moveTo>
                <a:cubicBezTo>
                  <a:pt x="103763" y="38100"/>
                  <a:pt x="95250" y="46613"/>
                  <a:pt x="95250" y="57150"/>
                </a:cubicBezTo>
                <a:cubicBezTo>
                  <a:pt x="95250" y="67687"/>
                  <a:pt x="103763" y="76200"/>
                  <a:pt x="114300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14300" y="38100"/>
                </a:lnTo>
                <a:close/>
                <a:moveTo>
                  <a:pt x="114300" y="133350"/>
                </a:moveTo>
                <a:cubicBezTo>
                  <a:pt x="103763" y="133350"/>
                  <a:pt x="95250" y="141863"/>
                  <a:pt x="95250" y="152400"/>
                </a:cubicBezTo>
                <a:cubicBezTo>
                  <a:pt x="95250" y="162937"/>
                  <a:pt x="103763" y="171450"/>
                  <a:pt x="114300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114300" y="133350"/>
                </a:lnTo>
                <a:close/>
                <a:moveTo>
                  <a:pt x="114300" y="228600"/>
                </a:moveTo>
                <a:cubicBezTo>
                  <a:pt x="103763" y="228600"/>
                  <a:pt x="95250" y="237113"/>
                  <a:pt x="95250" y="247650"/>
                </a:cubicBezTo>
                <a:cubicBezTo>
                  <a:pt x="95250" y="258187"/>
                  <a:pt x="103763" y="266700"/>
                  <a:pt x="114300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14300" y="228600"/>
                </a:lnTo>
                <a:close/>
                <a:moveTo>
                  <a:pt x="9525" y="138113"/>
                </a:moveTo>
                <a:lnTo>
                  <a:pt x="9525" y="166688"/>
                </a:lnTo>
                <a:cubicBezTo>
                  <a:pt x="9525" y="174605"/>
                  <a:pt x="15895" y="180975"/>
                  <a:pt x="23813" y="180975"/>
                </a:cubicBezTo>
                <a:lnTo>
                  <a:pt x="52388" y="180975"/>
                </a:lnTo>
                <a:cubicBezTo>
                  <a:pt x="60305" y="180975"/>
                  <a:pt x="66675" y="174605"/>
                  <a:pt x="66675" y="166688"/>
                </a:cubicBezTo>
                <a:lnTo>
                  <a:pt x="66675" y="138113"/>
                </a:lnTo>
                <a:cubicBezTo>
                  <a:pt x="66675" y="130195"/>
                  <a:pt x="60305" y="123825"/>
                  <a:pt x="52388" y="123825"/>
                </a:cubicBezTo>
                <a:lnTo>
                  <a:pt x="23813" y="123825"/>
                </a:lnTo>
                <a:cubicBezTo>
                  <a:pt x="15895" y="123825"/>
                  <a:pt x="9525" y="130195"/>
                  <a:pt x="9525" y="138113"/>
                </a:cubicBezTo>
                <a:close/>
                <a:moveTo>
                  <a:pt x="23813" y="219075"/>
                </a:moveTo>
                <a:cubicBezTo>
                  <a:pt x="15895" y="219075"/>
                  <a:pt x="9525" y="225445"/>
                  <a:pt x="9525" y="233363"/>
                </a:cubicBezTo>
                <a:lnTo>
                  <a:pt x="9525" y="261937"/>
                </a:lnTo>
                <a:cubicBezTo>
                  <a:pt x="9525" y="269855"/>
                  <a:pt x="15895" y="276225"/>
                  <a:pt x="23813" y="276225"/>
                </a:cubicBezTo>
                <a:lnTo>
                  <a:pt x="52388" y="276225"/>
                </a:lnTo>
                <a:cubicBezTo>
                  <a:pt x="60305" y="276225"/>
                  <a:pt x="66675" y="269855"/>
                  <a:pt x="66675" y="261937"/>
                </a:cubicBezTo>
                <a:lnTo>
                  <a:pt x="66675" y="233363"/>
                </a:lnTo>
                <a:cubicBezTo>
                  <a:pt x="66675" y="225445"/>
                  <a:pt x="60305" y="219075"/>
                  <a:pt x="52388" y="219075"/>
                </a:cubicBezTo>
                <a:lnTo>
                  <a:pt x="23813" y="21907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5054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List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54864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Contains nodes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be explored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ordered by h(n) (priority queue). The node with the lowest heuristic value is expanded first.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45500" y="4889500"/>
            <a:ext cx="7048500" cy="152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37600" y="5080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48769" y="39767"/>
                </a:moveTo>
                <a:cubicBezTo>
                  <a:pt x="154960" y="31254"/>
                  <a:pt x="153055" y="19348"/>
                  <a:pt x="144542" y="13156"/>
                </a:cubicBezTo>
                <a:cubicBezTo>
                  <a:pt x="136029" y="6965"/>
                  <a:pt x="124123" y="8870"/>
                  <a:pt x="117931" y="17383"/>
                </a:cubicBezTo>
                <a:lnTo>
                  <a:pt x="54828" y="104120"/>
                </a:lnTo>
                <a:lnTo>
                  <a:pt x="32504" y="81796"/>
                </a:lnTo>
                <a:cubicBezTo>
                  <a:pt x="25063" y="74355"/>
                  <a:pt x="12978" y="74355"/>
                  <a:pt x="5536" y="81796"/>
                </a:cubicBezTo>
                <a:cubicBezTo>
                  <a:pt x="-1905" y="89237"/>
                  <a:pt x="-1905" y="101322"/>
                  <a:pt x="5536" y="108764"/>
                </a:cubicBezTo>
                <a:lnTo>
                  <a:pt x="43636" y="146864"/>
                </a:lnTo>
                <a:cubicBezTo>
                  <a:pt x="47565" y="150793"/>
                  <a:pt x="53042" y="152817"/>
                  <a:pt x="58579" y="152400"/>
                </a:cubicBezTo>
                <a:cubicBezTo>
                  <a:pt x="64115" y="151983"/>
                  <a:pt x="69235" y="149126"/>
                  <a:pt x="72509" y="144601"/>
                </a:cubicBezTo>
                <a:lnTo>
                  <a:pt x="148709" y="39826"/>
                </a:lnTo>
                <a:close/>
                <a:moveTo>
                  <a:pt x="224969" y="120729"/>
                </a:moveTo>
                <a:cubicBezTo>
                  <a:pt x="231160" y="112216"/>
                  <a:pt x="229255" y="100310"/>
                  <a:pt x="220742" y="94119"/>
                </a:cubicBezTo>
                <a:cubicBezTo>
                  <a:pt x="212229" y="87928"/>
                  <a:pt x="200323" y="89833"/>
                  <a:pt x="194131" y="98346"/>
                </a:cubicBezTo>
                <a:lnTo>
                  <a:pt x="92928" y="237470"/>
                </a:lnTo>
                <a:lnTo>
                  <a:pt x="51554" y="196096"/>
                </a:lnTo>
                <a:cubicBezTo>
                  <a:pt x="44113" y="188655"/>
                  <a:pt x="32028" y="188655"/>
                  <a:pt x="24586" y="196096"/>
                </a:cubicBezTo>
                <a:cubicBezTo>
                  <a:pt x="17145" y="203537"/>
                  <a:pt x="17145" y="215622"/>
                  <a:pt x="24586" y="223064"/>
                </a:cubicBezTo>
                <a:lnTo>
                  <a:pt x="81736" y="280214"/>
                </a:lnTo>
                <a:cubicBezTo>
                  <a:pt x="85665" y="284143"/>
                  <a:pt x="91142" y="286167"/>
                  <a:pt x="96679" y="285750"/>
                </a:cubicBezTo>
                <a:cubicBezTo>
                  <a:pt x="102215" y="285333"/>
                  <a:pt x="107335" y="282476"/>
                  <a:pt x="110609" y="277951"/>
                </a:cubicBezTo>
                <a:lnTo>
                  <a:pt x="224909" y="120789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9131300" y="5054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CLOSED List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99500" y="54864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Contains nodes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already expanded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Used to avoid revisiting nodes and detect cycles in the search graph.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731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Greedy search can switch between BFS-like and DFS-like behavior depending on the heuristic landscape — it follows whatever appears closest to the goal at each step.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Greedy Search — Step-by-Step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Route-finding problem: Find path from city A to city G using straight-line distance heuristics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6350000" cy="4953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95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GRAPH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" y="3556000"/>
            <a:ext cx="635000" cy="6350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3556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400" y="4191000"/>
            <a:ext cx="88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h=40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1000" y="2540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2921000" y="2540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33600" y="32385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h=32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21000" y="4572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2921000" y="4572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21000" y="5842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2921000" y="5842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1000" y="6502400"/>
            <a:ext cx="88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h=35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45000" y="3429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9" name="Shape 17"/>
          <p:cNvSpPr/>
          <p:nvPr/>
        </p:nvSpPr>
        <p:spPr>
          <a:xfrm>
            <a:off x="4699000" y="5080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4699000" y="5080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57785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h=17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42000" y="3937000"/>
            <a:ext cx="635000" cy="6350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5842000" y="3937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0" y="46355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h=0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032000" y="3556000"/>
            <a:ext cx="889000" cy="0"/>
          </a:xfrm>
          <a:prstGeom prst="straightConnector1">
            <a:avLst/>
          </a:prstGeom>
          <a:noFill/>
          <a:ln w="25400">
            <a:solidFill>
              <a:srgbClr val="F5F1EB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057400" y="4127500"/>
            <a:ext cx="838200" cy="444500"/>
          </a:xfrm>
          <a:prstGeom prst="straightConnector1">
            <a:avLst/>
          </a:prstGeom>
          <a:noFill/>
          <a:ln w="25400">
            <a:solidFill>
              <a:srgbClr val="F5F1EB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057400" y="4191000"/>
            <a:ext cx="838200" cy="1625600"/>
          </a:xfrm>
          <a:prstGeom prst="straightConnector1">
            <a:avLst/>
          </a:prstGeom>
          <a:noFill/>
          <a:ln w="25400">
            <a:solidFill>
              <a:srgbClr val="F5F1EB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3556000" y="4572000"/>
            <a:ext cx="1143000" cy="0"/>
          </a:xfrm>
          <a:prstGeom prst="straightConnector1">
            <a:avLst/>
          </a:prstGeom>
          <a:noFill/>
          <a:ln w="25400">
            <a:solidFill>
              <a:srgbClr val="F5F1EB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3556000" y="4889500"/>
            <a:ext cx="1143000" cy="508000"/>
          </a:xfrm>
          <a:prstGeom prst="straightConnector1">
            <a:avLst/>
          </a:prstGeom>
          <a:noFill/>
          <a:ln w="25400">
            <a:solidFill>
              <a:srgbClr val="F5F1EB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3581400" y="2857500"/>
            <a:ext cx="2235200" cy="1371600"/>
          </a:xfrm>
          <a:prstGeom prst="straightConnector1">
            <a:avLst/>
          </a:prstGeom>
          <a:noFill/>
          <a:ln w="25400">
            <a:solidFill>
              <a:srgbClr val="F5F1EB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5359400" y="3873500"/>
            <a:ext cx="457200" cy="355600"/>
          </a:xfrm>
          <a:prstGeom prst="straightConnector1">
            <a:avLst/>
          </a:prstGeom>
          <a:noFill/>
          <a:ln w="25400">
            <a:solidFill>
              <a:srgbClr val="F5F1EB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5359400" y="4597400"/>
            <a:ext cx="457200" cy="0"/>
          </a:xfrm>
          <a:prstGeom prst="straightConnector1">
            <a:avLst/>
          </a:prstGeom>
          <a:noFill/>
          <a:ln w="25400">
            <a:solidFill>
              <a:srgbClr val="F5F1EB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016000" y="5232400"/>
            <a:ext cx="88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h=25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45000" y="3429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69000" y="2768600"/>
            <a:ext cx="88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h=19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0" y="196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GREEDY SEARCH STEPS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20000" y="2413000"/>
            <a:ext cx="787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Start at A. Expand neighbors: B(h=32), C(h=25), D(h=35). Select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(lowest h).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0" y="3200400"/>
            <a:ext cx="787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C, expand: E(h=19), F(h=17). Select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(lowest h).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0" y="3987800"/>
            <a:ext cx="787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F, neighbor G(h=0).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reached!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0" y="4889500"/>
            <a:ext cx="7874000" cy="889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74000" y="4953000"/>
            <a:ext cx="736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found: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→ C → F → 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but may not be the shortest actual distance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20000" y="6096000"/>
            <a:ext cx="50800" cy="635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3" name="Text 41"/>
          <p:cNvSpPr/>
          <p:nvPr/>
        </p:nvSpPr>
        <p:spPr>
          <a:xfrm>
            <a:off x="7874000" y="60325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Greedy found a solution quickly by always following the lowest heuristic, but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ignored actual path costs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solution may be suboptimal.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5" name="Text 43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Greedy Search — Properties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2794000"/>
        </p:xfrm>
        <a:graphic>
          <a:graphicData uri="http://schemas.openxmlformats.org/drawingml/2006/table">
            <a:tbl>
              <a:tblPr/>
              <a:tblGrid>
                <a:gridCol w="3683000"/>
                <a:gridCol w="5156200"/>
                <a:gridCol w="58928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Explanation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 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Worst case: may visit all nodes before finding goal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Space 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May store all visited node paths in frontier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Completeness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get stuck in loops or explore infinite paths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May find suboptimal solution by ignoring path costs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457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Limitations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5143500"/>
            <a:ext cx="50800" cy="889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1435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Myopic behavior: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looks ahead to the goal, not back at the path taken. This can lead to poor solutions or infinite loops in cyclic graphs.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45500" y="5143500"/>
            <a:ext cx="50800" cy="889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9" name="Text 6"/>
          <p:cNvSpPr/>
          <p:nvPr/>
        </p:nvSpPr>
        <p:spPr>
          <a:xfrm>
            <a:off x="8699500" y="51435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path cost awareness: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algorithm has no memory of how much cost has been accumulated, making it vulnerable to deceptive heuristics.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635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Greedy Search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6794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When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is more important than optimality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an approximate solution is acceptable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When the heuristic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accurate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the search space has no cycles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As a component in more sophisticated algorithms (e.g., beam search)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CMU 15-281 Course Notes on Search Algorithms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1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 Search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A* (A-star)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most widely used informed search algorithm. It combines the strengths of Uniform Cost Search and Greedy Best-First Search.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14732000" cy="1143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5400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A* Evaluation Function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32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f(n) = g(n) + h(n)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000500"/>
            <a:ext cx="4699000" cy="177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4000500"/>
            <a:ext cx="469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191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g(n) — Path Cost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597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cost from the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node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current node 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Computed: g(n) = g(parent) + cost(parent, 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4000500"/>
            <a:ext cx="4699000" cy="177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8500" y="4000500"/>
            <a:ext cx="4699000" cy="6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0" y="4191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h(n) — Heuristic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4597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cost from node n to the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be admissible for optimality guarantee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4000500"/>
            <a:ext cx="4699000" cy="177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5000" y="4000500"/>
            <a:ext cx="4699000" cy="635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4191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f(n) — Total Estimate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4597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total cost of the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cheapest solution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passing through 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A* expands nodes in order of increasing f(n)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096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described by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Peter Hart, Nils Nilsson, and Bertram Raphael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1968. A* remains foundational in pathfinding, robotics, and game AI.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Cases: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h(n) = 0, A* becomes Uniform Cost Search. When h(n) is exact (perfect oracle), A* runs in linear time.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 Search — The Evaluation Function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1016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f(n) = g(n) + h(n)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79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Components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365500"/>
            <a:ext cx="4699000" cy="2286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3365500"/>
            <a:ext cx="469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556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9624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 COST SO FAR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3434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cost from start to node 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g(n) = g(parent) + cost(parent→n)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we don't overpay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3365500"/>
            <a:ext cx="4699000" cy="2286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8500" y="3365500"/>
            <a:ext cx="4699000" cy="6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3556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h(n)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9624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HEURISTIC ESTIMATE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43434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cost from n to goal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satisfy h(n) ≤ h*(n)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Guides us toward the goal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3365500"/>
            <a:ext cx="4699000" cy="2286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95000" y="3365500"/>
            <a:ext cx="4699000" cy="635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3556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f(n)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39624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ESTIMATE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43434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cheapest cost through 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A* picks node with min f(n)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Balances cost and guidance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603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Balance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65405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g(n) dominates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A* behaves like Uniform Cost Search (explores cost contours, guaranteed optimal but slower)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 dominates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A* behaves like Greedy Search (fast but may be suboptimal)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A* achieves both optimality and efficiency — the best of both worlds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University of Minnesota CSCI 4511W Search Notes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 Search — Step-by-Step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route-finding problem: A to G, with path costs and heuristic values (straight-line distances)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3302000"/>
        </p:xfrm>
        <a:graphic>
          <a:graphicData uri="http://schemas.openxmlformats.org/drawingml/2006/table">
            <a:tbl>
              <a:tblPr/>
              <a:tblGrid>
                <a:gridCol w="2062480"/>
                <a:gridCol w="4419600"/>
                <a:gridCol w="4124960"/>
                <a:gridCol w="4124960"/>
              </a:tblGrid>
              <a:tr h="52932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Frontier (f = g + h)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Expand A (g=0, h=40)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B: f=10+32=42, C: f=15+25=40, D: f=20+35=55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 C (lowest f=40)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Expand C (g=15)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B:42, E: f=23+19=42, F: f=25+17=42, D:55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Tie at f=42, pick 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Expand B (g=10)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G: f=40+0=40, E:42, F:42, D:55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 has f=40 — lowest!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 G — GOAL!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8B5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 path found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588000"/>
            <a:ext cx="7048500" cy="1524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71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 RESULT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6096000"/>
            <a:ext cx="6540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Path: A → B → G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 Total Cost: 40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6578600"/>
            <a:ext cx="654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— lowest actual cost among all possible paths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45500" y="5588000"/>
            <a:ext cx="7048500" cy="152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99500" y="571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99500" y="60960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Greedy found: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→ C → F → G (ignored path costs)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A* found: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→ B → 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(optimal, cost = 40)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7493000"/>
            <a:ext cx="50800" cy="762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1"/>
          <p:cNvSpPr/>
          <p:nvPr/>
        </p:nvSpPr>
        <p:spPr>
          <a:xfrm>
            <a:off x="1016000" y="74930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considering both g(n) and h(n), A* found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cheaper path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Greedy search. The extra computation of tracking path costs pays off in solution quality.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6" name="Text 13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 Search — Properties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3048000"/>
        </p:xfrm>
        <a:graphic>
          <a:graphicData uri="http://schemas.openxmlformats.org/drawingml/2006/table">
            <a:tbl>
              <a:tblPr/>
              <a:tblGrid>
                <a:gridCol w="3241040"/>
                <a:gridCol w="4419600"/>
                <a:gridCol w="7071360"/>
              </a:tblGrid>
              <a:tr h="52287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Explanation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376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Completeness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8B5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Always finds a solution if one exists (finite branching, positive edge costs)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376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8B5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 (admissible h)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Guarantees least-cost solution with an admissible heuristic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6376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 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O(b^d) worst case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Depends on heuristic accuracy; exact h* gives linear time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1215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Space 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Keeps all nodes in memory — main limitation of A*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482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Analysis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5397500"/>
            <a:ext cx="508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3975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Completeness: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A* will always find a solution as long as no edge costs are negative and the branching factor is finite.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45500" y="5397500"/>
            <a:ext cx="50800" cy="1016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9" name="Text 6"/>
          <p:cNvSpPr/>
          <p:nvPr/>
        </p:nvSpPr>
        <p:spPr>
          <a:xfrm>
            <a:off x="8699500" y="53975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Optimality: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tree search + admissible heuristic, A* guarantees the first path to the goal is optimal.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6667500"/>
            <a:ext cx="50800" cy="1016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66675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Heuristic quality is the key factor. A perfect heuristic reduces complexity to linear; a poor one makes it exponential.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445500" y="6667500"/>
            <a:ext cx="50800" cy="1016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8699500" y="66675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 (Limitation):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A* stores all generated nodes in memory. This is its main weakness — can run out of memory on large problems.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CMU 15-281 Course Notes; Hart, Nilsson &amp; Raphael (1968)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6" name="Text 13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Admissibility of Heuristics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1270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8796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heuristic h(n) is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admissible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it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overestimates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true cost to reach the goal: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 ≤ h*(n)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all nodes n, where h*(n) is the actual optimal cost.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Concept: Optimistic Estimate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556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admissible heuristic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optimistic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 always provides a lower bound on the actual cost. It may underestimate, but it never overestimates.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44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 of Admissible Heuristics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016500"/>
            <a:ext cx="7048500" cy="152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5016500"/>
            <a:ext cx="63500" cy="1524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51181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8-Puzzle: Misplaced Tiles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54991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 = count of tiles not in goal position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Admissible: each misplaced tile needs ≥ 1 move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45500" y="5016500"/>
            <a:ext cx="7048500" cy="152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5500" y="5016500"/>
            <a:ext cx="63500" cy="1524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8763000" y="51181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8-Puzzle: Manhattan Distance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63000" y="54991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 = sum of horizontal + vertical distances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informed than misplaced tiles — dominates 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921500"/>
            <a:ext cx="50800" cy="889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921500"/>
            <a:ext cx="144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8B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Admissibility ensures that A* will find 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solution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If h(n) = 0, it is trivially admissible but provides no guidance (reduces to UCS).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AskFilo — Admissibility and Monotonicity in Heuristic Search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 (Monotonicity)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1397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49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905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heuristic is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(monotone) if for every node n and successor n':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h(n) ≤ c(n, n') + h(n')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h(goal) = 0.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7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Relationship: Consistency vs. Admissibility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746500"/>
            <a:ext cx="14732000" cy="1016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3810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</a:t>
            </a:r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heuristic is </a:t>
            </a:r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admissible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but not every admissible heuristic is consistent.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Consistency is a </a:t>
            </a:r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stronger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condition than admissibility.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08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Consistency Matters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651500"/>
            <a:ext cx="7048500" cy="1270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5651500"/>
            <a:ext cx="63500" cy="1270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8225" y="5842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1498600" y="5816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Re-expansion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6248400"/>
            <a:ext cx="654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A* never reopens nodes from CLOSED — once closed, the optimal path is found.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45500" y="5651500"/>
            <a:ext cx="7048500" cy="13335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45500" y="5651500"/>
            <a:ext cx="63500" cy="1270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95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9182100" y="5816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99500" y="6248400"/>
            <a:ext cx="654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Makes the search more efficient by avoiding redundant work of re-expanding nodes.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302500"/>
            <a:ext cx="50800" cy="762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73025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consistent heuristic guarantees both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A*. An admissible but non-consistent heuristic guarantees optimality but may cause node re-expansions.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AskFilo — Admissibility and Monotonicity in Heuristic Search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5" name="Text 23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Greedy vs. A* — Comprehensive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4318000"/>
        </p:xfrm>
        <a:graphic>
          <a:graphicData uri="http://schemas.openxmlformats.org/drawingml/2006/table">
            <a:tbl>
              <a:tblPr/>
              <a:tblGrid>
                <a:gridCol w="4124960"/>
                <a:gridCol w="5303520"/>
                <a:gridCol w="5303520"/>
              </a:tblGrid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Greedy Best-First Search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A* Search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Evaluation Function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f(n) = h(n)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f(n) = g(n) + h(n)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Considers Path Cost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8B5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Completeness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8B5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8B5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 (with admissible h)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 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O(b^d) worst case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Space 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O(b^d)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474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Often faster (~37% fewer iterations)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Slower but guaranteed optimal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2533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Use Case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Speed matters more than optimality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 solution is 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609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Finding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6604000"/>
            <a:ext cx="14732000" cy="1016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6000" y="6667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Empirical studies on the 15-puzzle show Greedy Best-First Search can be approximately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37% faster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A* in terms of iterations. However, A* guarantees the optimal path while Greedy may produce significantly suboptimal solutions.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82550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IJCIT — Comparison of A* and Greedy Best Search in 15-Puzzle (2022)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0" name="Text 7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mpihfuknepne/mnt/agents/output/ai-course/images/4_Ai_machine_learning_and_modern_computer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B3A47">
                  <a:alpha val="95000"/>
                </a:srgbClr>
              </a:gs>
              <a:gs pos="60000">
                <a:srgbClr val="0B3A47">
                  <a:alpha val="80000"/>
                </a:srgbClr>
              </a:gs>
              <a:gs pos="100000">
                <a:srgbClr val="0B3A47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5F1EB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937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THREE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016000" y="4318000"/>
            <a:ext cx="1016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546600"/>
            <a:ext cx="1016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rule-based systems to data-driven intelligence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Machine Learning?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50800" cy="1397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60500"/>
            <a:ext cx="1447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(ML)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subfield of Artificial Intelligence where computational systems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from data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recognize patterns, and make predictions without being explicitly programmed.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 of hand-coding rules, ML algorithms build mathematical models from training data to make decisions or predictions.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149600"/>
            <a:ext cx="14732000" cy="762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2131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Idea:</a:t>
            </a:r>
            <a:pPr algn="ctr">
              <a:lnSpc>
                <a:spcPct val="10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Given enough data and computational power, machines can improve their performance on a task through </a:t>
            </a:r>
            <a:pPr algn="ctr">
              <a:lnSpc>
                <a:spcPct val="100000"/>
              </a:lnSpc>
            </a:pPr>
            <a:r>
              <a:rPr lang="en-US" sz="17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</a:t>
            </a:r>
            <a:pPr algn="ctr">
              <a:lnSpc>
                <a:spcPct val="10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25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ML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826000"/>
            <a:ext cx="2794000" cy="139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7900" y="5016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4288" y="-9525"/>
                </a:moveTo>
                <a:cubicBezTo>
                  <a:pt x="6370" y="-9525"/>
                  <a:pt x="0" y="-3155"/>
                  <a:pt x="0" y="4763"/>
                </a:cubicBezTo>
                <a:cubicBezTo>
                  <a:pt x="0" y="12680"/>
                  <a:pt x="6370" y="19050"/>
                  <a:pt x="14288" y="19050"/>
                </a:cubicBezTo>
                <a:lnTo>
                  <a:pt x="41255" y="19050"/>
                </a:lnTo>
                <a:cubicBezTo>
                  <a:pt x="43577" y="19050"/>
                  <a:pt x="45541" y="20717"/>
                  <a:pt x="45958" y="22979"/>
                </a:cubicBezTo>
                <a:lnTo>
                  <a:pt x="76974" y="193417"/>
                </a:lnTo>
                <a:cubicBezTo>
                  <a:pt x="80665" y="213777"/>
                  <a:pt x="98405" y="228600"/>
                  <a:pt x="119122" y="228600"/>
                </a:cubicBezTo>
                <a:lnTo>
                  <a:pt x="271463" y="228600"/>
                </a:lnTo>
                <a:cubicBezTo>
                  <a:pt x="279380" y="228600"/>
                  <a:pt x="285750" y="222230"/>
                  <a:pt x="285750" y="214313"/>
                </a:cubicBezTo>
                <a:cubicBezTo>
                  <a:pt x="285750" y="206395"/>
                  <a:pt x="279380" y="200025"/>
                  <a:pt x="271463" y="200025"/>
                </a:cubicBezTo>
                <a:lnTo>
                  <a:pt x="119122" y="200025"/>
                </a:lnTo>
                <a:cubicBezTo>
                  <a:pt x="112216" y="200025"/>
                  <a:pt x="106323" y="195084"/>
                  <a:pt x="105073" y="188297"/>
                </a:cubicBezTo>
                <a:lnTo>
                  <a:pt x="102037" y="171450"/>
                </a:lnTo>
                <a:lnTo>
                  <a:pt x="282773" y="171450"/>
                </a:lnTo>
                <a:cubicBezTo>
                  <a:pt x="301109" y="171450"/>
                  <a:pt x="316825" y="158413"/>
                  <a:pt x="320219" y="140375"/>
                </a:cubicBezTo>
                <a:lnTo>
                  <a:pt x="338673" y="41612"/>
                </a:lnTo>
                <a:cubicBezTo>
                  <a:pt x="340876" y="29885"/>
                  <a:pt x="331887" y="19050"/>
                  <a:pt x="319921" y="19050"/>
                </a:cubicBezTo>
                <a:lnTo>
                  <a:pt x="74235" y="19050"/>
                </a:lnTo>
                <a:lnTo>
                  <a:pt x="73997" y="17859"/>
                </a:lnTo>
                <a:cubicBezTo>
                  <a:pt x="71140" y="2024"/>
                  <a:pt x="57329" y="-9525"/>
                  <a:pt x="41196" y="-9525"/>
                </a:cubicBezTo>
                <a:lnTo>
                  <a:pt x="14288" y="-9525"/>
                </a:lnTo>
                <a:close/>
                <a:moveTo>
                  <a:pt x="123825" y="304800"/>
                </a:moveTo>
                <a:cubicBezTo>
                  <a:pt x="139596" y="304800"/>
                  <a:pt x="152400" y="291996"/>
                  <a:pt x="152400" y="276225"/>
                </a:cubicBezTo>
                <a:cubicBezTo>
                  <a:pt x="152400" y="260454"/>
                  <a:pt x="139596" y="247650"/>
                  <a:pt x="123825" y="247650"/>
                </a:cubicBezTo>
                <a:cubicBezTo>
                  <a:pt x="108054" y="247650"/>
                  <a:pt x="95250" y="260454"/>
                  <a:pt x="95250" y="276225"/>
                </a:cubicBezTo>
                <a:cubicBezTo>
                  <a:pt x="95250" y="291996"/>
                  <a:pt x="108054" y="304800"/>
                  <a:pt x="123825" y="304800"/>
                </a:cubicBezTo>
                <a:close/>
                <a:moveTo>
                  <a:pt x="257175" y="304800"/>
                </a:moveTo>
                <a:cubicBezTo>
                  <a:pt x="272946" y="304800"/>
                  <a:pt x="285750" y="291996"/>
                  <a:pt x="285750" y="276225"/>
                </a:cubicBezTo>
                <a:cubicBezTo>
                  <a:pt x="285750" y="260454"/>
                  <a:pt x="272946" y="247650"/>
                  <a:pt x="257175" y="247650"/>
                </a:cubicBezTo>
                <a:cubicBezTo>
                  <a:pt x="241404" y="247650"/>
                  <a:pt x="228600" y="260454"/>
                  <a:pt x="228600" y="276225"/>
                </a:cubicBezTo>
                <a:cubicBezTo>
                  <a:pt x="228600" y="291996"/>
                  <a:pt x="241404" y="304800"/>
                  <a:pt x="257175" y="30480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53975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73500" y="4826000"/>
            <a:ext cx="2794000" cy="139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46550" y="5016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76200" y="66675"/>
                </a:moveTo>
                <a:cubicBezTo>
                  <a:pt x="91971" y="66675"/>
                  <a:pt x="104775" y="79479"/>
                  <a:pt x="104775" y="95250"/>
                </a:cubicBezTo>
                <a:cubicBezTo>
                  <a:pt x="104775" y="111021"/>
                  <a:pt x="91971" y="123825"/>
                  <a:pt x="76200" y="123825"/>
                </a:cubicBezTo>
                <a:cubicBezTo>
                  <a:pt x="60429" y="123825"/>
                  <a:pt x="47625" y="111021"/>
                  <a:pt x="47625" y="95250"/>
                </a:cubicBezTo>
                <a:cubicBezTo>
                  <a:pt x="47625" y="79479"/>
                  <a:pt x="60429" y="66675"/>
                  <a:pt x="76200" y="66675"/>
                </a:cubicBezTo>
                <a:close/>
                <a:moveTo>
                  <a:pt x="161925" y="133350"/>
                </a:moveTo>
                <a:cubicBezTo>
                  <a:pt x="166926" y="133350"/>
                  <a:pt x="171510" y="135969"/>
                  <a:pt x="174129" y="140196"/>
                </a:cubicBezTo>
                <a:lnTo>
                  <a:pt x="226516" y="225921"/>
                </a:lnTo>
                <a:cubicBezTo>
                  <a:pt x="229195" y="230326"/>
                  <a:pt x="229314" y="235863"/>
                  <a:pt x="226814" y="240387"/>
                </a:cubicBezTo>
                <a:cubicBezTo>
                  <a:pt x="224314" y="244912"/>
                  <a:pt x="219492" y="247650"/>
                  <a:pt x="214313" y="247650"/>
                </a:cubicBezTo>
                <a:lnTo>
                  <a:pt x="52388" y="247650"/>
                </a:lnTo>
                <a:cubicBezTo>
                  <a:pt x="47089" y="247650"/>
                  <a:pt x="42148" y="244673"/>
                  <a:pt x="39707" y="239970"/>
                </a:cubicBezTo>
                <a:cubicBezTo>
                  <a:pt x="37267" y="235268"/>
                  <a:pt x="37624" y="229553"/>
                  <a:pt x="40660" y="225207"/>
                </a:cubicBezTo>
                <a:lnTo>
                  <a:pt x="73997" y="177582"/>
                </a:lnTo>
                <a:cubicBezTo>
                  <a:pt x="76676" y="173772"/>
                  <a:pt x="81022" y="171510"/>
                  <a:pt x="85725" y="171510"/>
                </a:cubicBezTo>
                <a:cubicBezTo>
                  <a:pt x="90428" y="171510"/>
                  <a:pt x="94774" y="173772"/>
                  <a:pt x="97453" y="177582"/>
                </a:cubicBezTo>
                <a:lnTo>
                  <a:pt x="113169" y="200085"/>
                </a:lnTo>
                <a:lnTo>
                  <a:pt x="149721" y="140256"/>
                </a:lnTo>
                <a:cubicBezTo>
                  <a:pt x="152340" y="136029"/>
                  <a:pt x="156924" y="133410"/>
                  <a:pt x="161925" y="13341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4127500" y="53975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Recognition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85000" y="4826000"/>
            <a:ext cx="2794000" cy="139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9950" y="5016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95250" y="0"/>
                </a:moveTo>
                <a:cubicBezTo>
                  <a:pt x="105787" y="0"/>
                  <a:pt x="114300" y="8513"/>
                  <a:pt x="114300" y="19050"/>
                </a:cubicBezTo>
                <a:lnTo>
                  <a:pt x="114300" y="38100"/>
                </a:lnTo>
                <a:lnTo>
                  <a:pt x="190500" y="38100"/>
                </a:lnTo>
                <a:cubicBezTo>
                  <a:pt x="201037" y="38100"/>
                  <a:pt x="209550" y="46613"/>
                  <a:pt x="209550" y="57150"/>
                </a:cubicBezTo>
                <a:cubicBezTo>
                  <a:pt x="209550" y="67687"/>
                  <a:pt x="201037" y="76200"/>
                  <a:pt x="190500" y="76200"/>
                </a:cubicBezTo>
                <a:lnTo>
                  <a:pt x="184785" y="76200"/>
                </a:lnTo>
                <a:lnTo>
                  <a:pt x="179784" y="89952"/>
                </a:lnTo>
                <a:cubicBezTo>
                  <a:pt x="170021" y="116860"/>
                  <a:pt x="155317" y="141446"/>
                  <a:pt x="136803" y="162580"/>
                </a:cubicBezTo>
                <a:cubicBezTo>
                  <a:pt x="145256" y="167819"/>
                  <a:pt x="154067" y="172462"/>
                  <a:pt x="163235" y="176570"/>
                </a:cubicBezTo>
                <a:lnTo>
                  <a:pt x="193238" y="189905"/>
                </a:lnTo>
                <a:lnTo>
                  <a:pt x="230267" y="106561"/>
                </a:lnTo>
                <a:cubicBezTo>
                  <a:pt x="233303" y="99655"/>
                  <a:pt x="240149" y="95250"/>
                  <a:pt x="247650" y="95250"/>
                </a:cubicBezTo>
                <a:cubicBezTo>
                  <a:pt x="255151" y="95250"/>
                  <a:pt x="261997" y="99655"/>
                  <a:pt x="265033" y="106561"/>
                </a:cubicBezTo>
                <a:lnTo>
                  <a:pt x="341233" y="278011"/>
                </a:lnTo>
                <a:cubicBezTo>
                  <a:pt x="345519" y="287655"/>
                  <a:pt x="341174" y="298906"/>
                  <a:pt x="331589" y="303133"/>
                </a:cubicBezTo>
                <a:cubicBezTo>
                  <a:pt x="322005" y="307360"/>
                  <a:pt x="310694" y="303074"/>
                  <a:pt x="306467" y="293489"/>
                </a:cubicBezTo>
                <a:lnTo>
                  <a:pt x="294561" y="266700"/>
                </a:lnTo>
                <a:lnTo>
                  <a:pt x="200799" y="266700"/>
                </a:lnTo>
                <a:lnTo>
                  <a:pt x="188893" y="293489"/>
                </a:lnTo>
                <a:cubicBezTo>
                  <a:pt x="184606" y="303133"/>
                  <a:pt x="173355" y="307419"/>
                  <a:pt x="163770" y="303133"/>
                </a:cubicBezTo>
                <a:cubicBezTo>
                  <a:pt x="154186" y="298847"/>
                  <a:pt x="149840" y="287595"/>
                  <a:pt x="154126" y="278011"/>
                </a:cubicBezTo>
                <a:lnTo>
                  <a:pt x="177820" y="224730"/>
                </a:lnTo>
                <a:lnTo>
                  <a:pt x="147816" y="211395"/>
                </a:lnTo>
                <a:cubicBezTo>
                  <a:pt x="134124" y="205323"/>
                  <a:pt x="121027" y="198060"/>
                  <a:pt x="108645" y="189726"/>
                </a:cubicBezTo>
                <a:cubicBezTo>
                  <a:pt x="95964" y="199965"/>
                  <a:pt x="82094" y="208895"/>
                  <a:pt x="67270" y="216337"/>
                </a:cubicBezTo>
                <a:lnTo>
                  <a:pt x="46613" y="226576"/>
                </a:lnTo>
                <a:cubicBezTo>
                  <a:pt x="37207" y="231279"/>
                  <a:pt x="25777" y="227469"/>
                  <a:pt x="21074" y="218063"/>
                </a:cubicBezTo>
                <a:cubicBezTo>
                  <a:pt x="16371" y="208657"/>
                  <a:pt x="20181" y="197227"/>
                  <a:pt x="29587" y="192524"/>
                </a:cubicBezTo>
                <a:lnTo>
                  <a:pt x="50125" y="182225"/>
                </a:lnTo>
                <a:cubicBezTo>
                  <a:pt x="59829" y="177344"/>
                  <a:pt x="69056" y="171688"/>
                  <a:pt x="77748" y="165378"/>
                </a:cubicBezTo>
                <a:cubicBezTo>
                  <a:pt x="69533" y="157817"/>
                  <a:pt x="61793" y="149662"/>
                  <a:pt x="54590" y="141030"/>
                </a:cubicBezTo>
                <a:lnTo>
                  <a:pt x="48578" y="133767"/>
                </a:lnTo>
                <a:cubicBezTo>
                  <a:pt x="41850" y="125670"/>
                  <a:pt x="42922" y="113645"/>
                  <a:pt x="51018" y="106918"/>
                </a:cubicBezTo>
                <a:cubicBezTo>
                  <a:pt x="59115" y="100191"/>
                  <a:pt x="71140" y="101263"/>
                  <a:pt x="77867" y="109359"/>
                </a:cubicBezTo>
                <a:lnTo>
                  <a:pt x="83939" y="116622"/>
                </a:lnTo>
                <a:cubicBezTo>
                  <a:pt x="90785" y="124897"/>
                  <a:pt x="98286" y="132576"/>
                  <a:pt x="106204" y="139660"/>
                </a:cubicBezTo>
                <a:cubicBezTo>
                  <a:pt x="122575" y="121563"/>
                  <a:pt x="135493" y="100310"/>
                  <a:pt x="144006" y="76914"/>
                </a:cubicBezTo>
                <a:lnTo>
                  <a:pt x="144304" y="76200"/>
                </a:lnTo>
                <a:lnTo>
                  <a:pt x="19110" y="76200"/>
                </a:lnTo>
                <a:cubicBezTo>
                  <a:pt x="8513" y="76200"/>
                  <a:pt x="0" y="67687"/>
                  <a:pt x="0" y="57150"/>
                </a:cubicBezTo>
                <a:cubicBezTo>
                  <a:pt x="0" y="46613"/>
                  <a:pt x="8513" y="38100"/>
                  <a:pt x="19050" y="38100"/>
                </a:cubicBezTo>
                <a:lnTo>
                  <a:pt x="76200" y="38100"/>
                </a:lnTo>
                <a:lnTo>
                  <a:pt x="76200" y="19050"/>
                </a:lnTo>
                <a:cubicBezTo>
                  <a:pt x="76200" y="8513"/>
                  <a:pt x="84713" y="0"/>
                  <a:pt x="95250" y="0"/>
                </a:cubicBezTo>
                <a:close/>
                <a:moveTo>
                  <a:pt x="247650" y="161211"/>
                </a:moveTo>
                <a:lnTo>
                  <a:pt x="217706" y="228600"/>
                </a:lnTo>
                <a:lnTo>
                  <a:pt x="277594" y="228600"/>
                </a:lnTo>
                <a:lnTo>
                  <a:pt x="247650" y="161211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0" y="53975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96500" y="4826000"/>
            <a:ext cx="2794000" cy="139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50500" y="501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0486" y="69890"/>
                </a:moveTo>
                <a:lnTo>
                  <a:pt x="64949" y="114300"/>
                </a:lnTo>
                <a:lnTo>
                  <a:pt x="239851" y="114300"/>
                </a:lnTo>
                <a:lnTo>
                  <a:pt x="224314" y="69890"/>
                </a:lnTo>
                <a:cubicBezTo>
                  <a:pt x="221635" y="62270"/>
                  <a:pt x="214432" y="57150"/>
                  <a:pt x="206335" y="57150"/>
                </a:cubicBezTo>
                <a:lnTo>
                  <a:pt x="98465" y="57150"/>
                </a:lnTo>
                <a:cubicBezTo>
                  <a:pt x="90368" y="57150"/>
                  <a:pt x="83165" y="62270"/>
                  <a:pt x="80486" y="69890"/>
                </a:cubicBezTo>
                <a:close/>
                <a:moveTo>
                  <a:pt x="23574" y="117157"/>
                </a:moveTo>
                <a:lnTo>
                  <a:pt x="44529" y="57329"/>
                </a:lnTo>
                <a:cubicBezTo>
                  <a:pt x="52566" y="34409"/>
                  <a:pt x="74176" y="19050"/>
                  <a:pt x="98465" y="19050"/>
                </a:cubicBezTo>
                <a:lnTo>
                  <a:pt x="206335" y="19050"/>
                </a:lnTo>
                <a:cubicBezTo>
                  <a:pt x="230624" y="19050"/>
                  <a:pt x="252234" y="34409"/>
                  <a:pt x="260271" y="57329"/>
                </a:cubicBezTo>
                <a:lnTo>
                  <a:pt x="281226" y="117157"/>
                </a:lnTo>
                <a:cubicBezTo>
                  <a:pt x="295037" y="122873"/>
                  <a:pt x="304800" y="136505"/>
                  <a:pt x="304800" y="1524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66700" y="285750"/>
                </a:lnTo>
                <a:cubicBezTo>
                  <a:pt x="256163" y="285750"/>
                  <a:pt x="247650" y="277237"/>
                  <a:pt x="247650" y="266700"/>
                </a:cubicBezTo>
                <a:lnTo>
                  <a:pt x="247650" y="247650"/>
                </a:lnTo>
                <a:lnTo>
                  <a:pt x="57150" y="247650"/>
                </a:lnTo>
                <a:lnTo>
                  <a:pt x="57150" y="266700"/>
                </a:lnTo>
                <a:cubicBezTo>
                  <a:pt x="57150" y="277237"/>
                  <a:pt x="48637" y="285750"/>
                  <a:pt x="3810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152400"/>
                </a:lnTo>
                <a:cubicBezTo>
                  <a:pt x="0" y="136505"/>
                  <a:pt x="9763" y="122873"/>
                  <a:pt x="23574" y="117157"/>
                </a:cubicBezTo>
                <a:close/>
                <a:moveTo>
                  <a:pt x="76200" y="180975"/>
                </a:moveTo>
                <a:cubicBezTo>
                  <a:pt x="76200" y="170461"/>
                  <a:pt x="67664" y="161925"/>
                  <a:pt x="57150" y="161925"/>
                </a:cubicBezTo>
                <a:cubicBezTo>
                  <a:pt x="46636" y="161925"/>
                  <a:pt x="38100" y="170461"/>
                  <a:pt x="38100" y="180975"/>
                </a:cubicBezTo>
                <a:cubicBezTo>
                  <a:pt x="38100" y="191489"/>
                  <a:pt x="46636" y="200025"/>
                  <a:pt x="57150" y="200025"/>
                </a:cubicBezTo>
                <a:cubicBezTo>
                  <a:pt x="67664" y="200025"/>
                  <a:pt x="76200" y="191489"/>
                  <a:pt x="76200" y="180975"/>
                </a:cubicBezTo>
                <a:close/>
                <a:moveTo>
                  <a:pt x="247650" y="200025"/>
                </a:moveTo>
                <a:cubicBezTo>
                  <a:pt x="258164" y="200025"/>
                  <a:pt x="266700" y="191489"/>
                  <a:pt x="266700" y="180975"/>
                </a:cubicBezTo>
                <a:cubicBezTo>
                  <a:pt x="266700" y="170461"/>
                  <a:pt x="258164" y="161925"/>
                  <a:pt x="247650" y="161925"/>
                </a:cubicBezTo>
                <a:cubicBezTo>
                  <a:pt x="237136" y="161925"/>
                  <a:pt x="228600" y="170461"/>
                  <a:pt x="228600" y="180975"/>
                </a:cubicBezTo>
                <a:cubicBezTo>
                  <a:pt x="228600" y="191489"/>
                  <a:pt x="237136" y="200025"/>
                  <a:pt x="247650" y="200025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0" name="Text 18"/>
          <p:cNvSpPr/>
          <p:nvPr/>
        </p:nvSpPr>
        <p:spPr>
          <a:xfrm>
            <a:off x="10350500" y="53975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Vehicles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208000" y="4826000"/>
            <a:ext cx="2286000" cy="139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442950" y="5016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9050" y="28575"/>
                </a:moveTo>
                <a:cubicBezTo>
                  <a:pt x="19050" y="12799"/>
                  <a:pt x="31849" y="0"/>
                  <a:pt x="47625" y="0"/>
                </a:cubicBezTo>
                <a:lnTo>
                  <a:pt x="76200" y="0"/>
                </a:lnTo>
                <a:cubicBezTo>
                  <a:pt x="86737" y="0"/>
                  <a:pt x="95250" y="8513"/>
                  <a:pt x="95250" y="19050"/>
                </a:cubicBezTo>
                <a:cubicBezTo>
                  <a:pt x="95250" y="29587"/>
                  <a:pt x="86737" y="38100"/>
                  <a:pt x="76200" y="38100"/>
                </a:cubicBezTo>
                <a:lnTo>
                  <a:pt x="57150" y="38100"/>
                </a:lnTo>
                <a:lnTo>
                  <a:pt x="57150" y="114300"/>
                </a:lnTo>
                <a:cubicBezTo>
                  <a:pt x="57150" y="145852"/>
                  <a:pt x="82748" y="171450"/>
                  <a:pt x="114300" y="171450"/>
                </a:cubicBezTo>
                <a:cubicBezTo>
                  <a:pt x="145852" y="171450"/>
                  <a:pt x="171450" y="145852"/>
                  <a:pt x="171450" y="114300"/>
                </a:cubicBezTo>
                <a:lnTo>
                  <a:pt x="171450" y="38100"/>
                </a:lnTo>
                <a:lnTo>
                  <a:pt x="152400" y="38100"/>
                </a:lnTo>
                <a:cubicBezTo>
                  <a:pt x="141863" y="38100"/>
                  <a:pt x="133350" y="29587"/>
                  <a:pt x="133350" y="19050"/>
                </a:cubicBezTo>
                <a:cubicBezTo>
                  <a:pt x="133350" y="8513"/>
                  <a:pt x="141863" y="0"/>
                  <a:pt x="152400" y="0"/>
                </a:cubicBezTo>
                <a:lnTo>
                  <a:pt x="180975" y="0"/>
                </a:lnTo>
                <a:cubicBezTo>
                  <a:pt x="196751" y="0"/>
                  <a:pt x="209550" y="12799"/>
                  <a:pt x="209550" y="28575"/>
                </a:cubicBezTo>
                <a:lnTo>
                  <a:pt x="209550" y="114300"/>
                </a:lnTo>
                <a:cubicBezTo>
                  <a:pt x="209550" y="160377"/>
                  <a:pt x="176808" y="198834"/>
                  <a:pt x="133350" y="207645"/>
                </a:cubicBezTo>
                <a:lnTo>
                  <a:pt x="133350" y="219075"/>
                </a:lnTo>
                <a:cubicBezTo>
                  <a:pt x="133350" y="255925"/>
                  <a:pt x="163175" y="285750"/>
                  <a:pt x="200025" y="285750"/>
                </a:cubicBezTo>
                <a:cubicBezTo>
                  <a:pt x="236875" y="285750"/>
                  <a:pt x="266700" y="255925"/>
                  <a:pt x="266700" y="219075"/>
                </a:cubicBezTo>
                <a:lnTo>
                  <a:pt x="266700" y="168176"/>
                </a:lnTo>
                <a:cubicBezTo>
                  <a:pt x="244495" y="160318"/>
                  <a:pt x="228600" y="139184"/>
                  <a:pt x="228600" y="114300"/>
                </a:cubicBezTo>
                <a:cubicBezTo>
                  <a:pt x="228600" y="82748"/>
                  <a:pt x="254198" y="57150"/>
                  <a:pt x="285750" y="57150"/>
                </a:cubicBezTo>
                <a:cubicBezTo>
                  <a:pt x="317302" y="57150"/>
                  <a:pt x="342900" y="82748"/>
                  <a:pt x="342900" y="114300"/>
                </a:cubicBezTo>
                <a:cubicBezTo>
                  <a:pt x="342900" y="139184"/>
                  <a:pt x="327005" y="160377"/>
                  <a:pt x="304800" y="168176"/>
                </a:cubicBezTo>
                <a:lnTo>
                  <a:pt x="304800" y="219075"/>
                </a:lnTo>
                <a:cubicBezTo>
                  <a:pt x="304800" y="276939"/>
                  <a:pt x="257889" y="323850"/>
                  <a:pt x="200025" y="323850"/>
                </a:cubicBezTo>
                <a:cubicBezTo>
                  <a:pt x="142161" y="323850"/>
                  <a:pt x="95250" y="276939"/>
                  <a:pt x="95250" y="219075"/>
                </a:cubicBezTo>
                <a:lnTo>
                  <a:pt x="95250" y="207645"/>
                </a:lnTo>
                <a:cubicBezTo>
                  <a:pt x="51792" y="198834"/>
                  <a:pt x="19050" y="160377"/>
                  <a:pt x="19050" y="114300"/>
                </a:cubicBezTo>
                <a:lnTo>
                  <a:pt x="19050" y="28575"/>
                </a:lnTo>
                <a:close/>
                <a:moveTo>
                  <a:pt x="285750" y="133350"/>
                </a:moveTo>
                <a:cubicBezTo>
                  <a:pt x="296264" y="133350"/>
                  <a:pt x="304800" y="124814"/>
                  <a:pt x="304800" y="114300"/>
                </a:cubicBezTo>
                <a:cubicBezTo>
                  <a:pt x="304800" y="103786"/>
                  <a:pt x="296264" y="95250"/>
                  <a:pt x="285750" y="95250"/>
                </a:cubicBezTo>
                <a:cubicBezTo>
                  <a:pt x="275236" y="95250"/>
                  <a:pt x="266700" y="103786"/>
                  <a:pt x="266700" y="114300"/>
                </a:cubicBezTo>
                <a:cubicBezTo>
                  <a:pt x="266700" y="124814"/>
                  <a:pt x="275236" y="133350"/>
                  <a:pt x="285750" y="13335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23" name="Text 21"/>
          <p:cNvSpPr/>
          <p:nvPr/>
        </p:nvSpPr>
        <p:spPr>
          <a:xfrm>
            <a:off x="13462000" y="5397500"/>
            <a:ext cx="17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Diagnosis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660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ML Workflow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0866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 → Preprocessing → Model Training → Evaluation → Deployment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iterative cycle of improvement driven by data and feedback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NetCom Learning — Types of Machine Learning (2026)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8" name="Text 26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 TO ML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vs. Machine Learning vs. Deep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nested concepts that represent different levels of abstraction in intelligent systems: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4699000" cy="393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2032000"/>
            <a:ext cx="469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60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5654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734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broad field focused on creating systems that exhibit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human-like intelligence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reasoning, understanding, problem-solving.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ultimate goal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0" y="3810000"/>
            <a:ext cx="3810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096000" y="2032000"/>
            <a:ext cx="4699000" cy="393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0" y="2032000"/>
            <a:ext cx="4699000" cy="6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000" y="2260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SUBSET OF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0000" y="25654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0" y="30734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subset of AI that enables systems to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from data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improve from experience through data-driven model training.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approach to achieving AI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22000" y="3810000"/>
            <a:ext cx="3810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430000" y="2032000"/>
            <a:ext cx="4064000" cy="393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0" y="2032000"/>
            <a:ext cx="4064000" cy="635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11684000" y="2260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SUBSET OF ML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684000" y="25654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684000" y="3073400"/>
            <a:ext cx="355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 neural networks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learn hierarchical representations from large amounts of data.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powerful technique within ML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350000"/>
            <a:ext cx="14732000" cy="1016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413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is the goal → ML is one approach → DL is a powerful technique within ML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NetCom Learning — Types of Machine Learning (2026)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 TO ML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Machine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is categorized into four major types based on how the algorithm learns from data: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3429000" cy="393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2032000"/>
            <a:ext cx="342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Shape 5"/>
          <p:cNvSpPr/>
          <p:nvPr/>
        </p:nvSpPr>
        <p:spPr>
          <a:xfrm>
            <a:off x="990600" y="2286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18453" y="31036"/>
                </a:moveTo>
                <a:lnTo>
                  <a:pt x="436086" y="150336"/>
                </a:lnTo>
                <a:cubicBezTo>
                  <a:pt x="458073" y="172641"/>
                  <a:pt x="458073" y="208359"/>
                  <a:pt x="436086" y="230664"/>
                </a:cubicBezTo>
                <a:lnTo>
                  <a:pt x="311944" y="356314"/>
                </a:lnTo>
                <a:cubicBezTo>
                  <a:pt x="304562" y="363776"/>
                  <a:pt x="292497" y="363855"/>
                  <a:pt x="285036" y="356473"/>
                </a:cubicBezTo>
                <a:cubicBezTo>
                  <a:pt x="277574" y="349091"/>
                  <a:pt x="277495" y="337026"/>
                  <a:pt x="284877" y="329565"/>
                </a:cubicBezTo>
                <a:lnTo>
                  <a:pt x="409019" y="203835"/>
                </a:lnTo>
                <a:cubicBezTo>
                  <a:pt x="416322" y="196453"/>
                  <a:pt x="416322" y="184468"/>
                  <a:pt x="409019" y="177086"/>
                </a:cubicBezTo>
                <a:lnTo>
                  <a:pt x="291306" y="57864"/>
                </a:lnTo>
                <a:cubicBezTo>
                  <a:pt x="283924" y="50403"/>
                  <a:pt x="284004" y="38338"/>
                  <a:pt x="291465" y="30956"/>
                </a:cubicBezTo>
                <a:cubicBezTo>
                  <a:pt x="298926" y="23574"/>
                  <a:pt x="310991" y="23654"/>
                  <a:pt x="318373" y="31115"/>
                </a:cubicBezTo>
                <a:close/>
                <a:moveTo>
                  <a:pt x="25479" y="182166"/>
                </a:moveTo>
                <a:lnTo>
                  <a:pt x="25479" y="76200"/>
                </a:lnTo>
                <a:cubicBezTo>
                  <a:pt x="25479" y="48181"/>
                  <a:pt x="48260" y="25400"/>
                  <a:pt x="76279" y="25400"/>
                </a:cubicBezTo>
                <a:lnTo>
                  <a:pt x="182245" y="25400"/>
                </a:lnTo>
                <a:cubicBezTo>
                  <a:pt x="195739" y="25400"/>
                  <a:pt x="208677" y="30718"/>
                  <a:pt x="218202" y="40243"/>
                </a:cubicBezTo>
                <a:lnTo>
                  <a:pt x="332502" y="154543"/>
                </a:lnTo>
                <a:cubicBezTo>
                  <a:pt x="352346" y="174387"/>
                  <a:pt x="352346" y="206534"/>
                  <a:pt x="332502" y="226377"/>
                </a:cubicBezTo>
                <a:lnTo>
                  <a:pt x="226536" y="332343"/>
                </a:lnTo>
                <a:cubicBezTo>
                  <a:pt x="206692" y="352187"/>
                  <a:pt x="174546" y="352187"/>
                  <a:pt x="154702" y="332343"/>
                </a:cubicBezTo>
                <a:lnTo>
                  <a:pt x="40402" y="218043"/>
                </a:lnTo>
                <a:cubicBezTo>
                  <a:pt x="30877" y="208518"/>
                  <a:pt x="25559" y="195580"/>
                  <a:pt x="25559" y="182086"/>
                </a:cubicBezTo>
                <a:close/>
                <a:moveTo>
                  <a:pt x="139779" y="114300"/>
                </a:moveTo>
                <a:cubicBezTo>
                  <a:pt x="139779" y="100281"/>
                  <a:pt x="128398" y="88900"/>
                  <a:pt x="114379" y="88900"/>
                </a:cubicBezTo>
                <a:cubicBezTo>
                  <a:pt x="100361" y="88900"/>
                  <a:pt x="88979" y="100281"/>
                  <a:pt x="88979" y="114300"/>
                </a:cubicBezTo>
                <a:cubicBezTo>
                  <a:pt x="88979" y="128319"/>
                  <a:pt x="100361" y="139700"/>
                  <a:pt x="114379" y="139700"/>
                </a:cubicBezTo>
                <a:cubicBezTo>
                  <a:pt x="128398" y="139700"/>
                  <a:pt x="139779" y="128319"/>
                  <a:pt x="139779" y="1143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819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238500"/>
            <a:ext cx="292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from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data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input-output pairs provided during training.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algorithm is "supervised" with correct answers.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 Classification, Regression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33900" y="2032000"/>
            <a:ext cx="3429000" cy="393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3900" y="2032000"/>
            <a:ext cx="3429000" cy="6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879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82550" y="171450"/>
                </a:moveTo>
                <a:lnTo>
                  <a:pt x="82550" y="222250"/>
                </a:lnTo>
                <a:cubicBezTo>
                  <a:pt x="82550" y="232807"/>
                  <a:pt x="91043" y="241300"/>
                  <a:pt x="101600" y="241300"/>
                </a:cubicBezTo>
                <a:cubicBezTo>
                  <a:pt x="112157" y="241300"/>
                  <a:pt x="120650" y="232807"/>
                  <a:pt x="120650" y="222250"/>
                </a:cubicBezTo>
                <a:lnTo>
                  <a:pt x="120650" y="171450"/>
                </a:lnTo>
                <a:cubicBezTo>
                  <a:pt x="120650" y="160893"/>
                  <a:pt x="112157" y="152400"/>
                  <a:pt x="101600" y="152400"/>
                </a:cubicBezTo>
                <a:cubicBezTo>
                  <a:pt x="91043" y="152400"/>
                  <a:pt x="82550" y="160893"/>
                  <a:pt x="82550" y="171450"/>
                </a:cubicBezTo>
                <a:close/>
                <a:moveTo>
                  <a:pt x="146050" y="95250"/>
                </a:moveTo>
                <a:lnTo>
                  <a:pt x="146050" y="222250"/>
                </a:lnTo>
                <a:cubicBezTo>
                  <a:pt x="146050" y="232807"/>
                  <a:pt x="154543" y="241300"/>
                  <a:pt x="165100" y="241300"/>
                </a:cubicBezTo>
                <a:cubicBezTo>
                  <a:pt x="175657" y="241300"/>
                  <a:pt x="184150" y="232807"/>
                  <a:pt x="184150" y="222250"/>
                </a:cubicBezTo>
                <a:lnTo>
                  <a:pt x="184150" y="95250"/>
                </a:lnTo>
                <a:cubicBezTo>
                  <a:pt x="184150" y="84693"/>
                  <a:pt x="175657" y="76200"/>
                  <a:pt x="165100" y="76200"/>
                </a:cubicBezTo>
                <a:cubicBezTo>
                  <a:pt x="154543" y="76200"/>
                  <a:pt x="146050" y="84693"/>
                  <a:pt x="146050" y="95250"/>
                </a:cubicBezTo>
                <a:close/>
                <a:moveTo>
                  <a:pt x="209550" y="146050"/>
                </a:moveTo>
                <a:lnTo>
                  <a:pt x="209550" y="222250"/>
                </a:lnTo>
                <a:cubicBezTo>
                  <a:pt x="209550" y="232807"/>
                  <a:pt x="218043" y="241300"/>
                  <a:pt x="228600" y="241300"/>
                </a:cubicBezTo>
                <a:cubicBezTo>
                  <a:pt x="239157" y="241300"/>
                  <a:pt x="247650" y="232807"/>
                  <a:pt x="247650" y="222250"/>
                </a:cubicBezTo>
                <a:lnTo>
                  <a:pt x="247650" y="146050"/>
                </a:lnTo>
                <a:cubicBezTo>
                  <a:pt x="247650" y="135493"/>
                  <a:pt x="239157" y="127000"/>
                  <a:pt x="228600" y="127000"/>
                </a:cubicBezTo>
                <a:cubicBezTo>
                  <a:pt x="218043" y="127000"/>
                  <a:pt x="209550" y="135493"/>
                  <a:pt x="209550" y="146050"/>
                </a:cubicBez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3" name="Text 11"/>
          <p:cNvSpPr/>
          <p:nvPr/>
        </p:nvSpPr>
        <p:spPr>
          <a:xfrm>
            <a:off x="4787900" y="2819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87900" y="3238500"/>
            <a:ext cx="292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Discovers hidden patterns in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unlabeled data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predefined outputs.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algorithm finds structure on its own.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 Clustering, PCA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05800" y="2032000"/>
            <a:ext cx="3429000" cy="393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5800" y="2032000"/>
            <a:ext cx="3429000" cy="635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7" name="Shape 15"/>
          <p:cNvSpPr/>
          <p:nvPr/>
        </p:nvSpPr>
        <p:spPr>
          <a:xfrm>
            <a:off x="85598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8B6914"/>
          </a:solidFill>
          <a:ln/>
        </p:spPr>
      </p:sp>
      <p:sp>
        <p:nvSpPr>
          <p:cNvPr id="18" name="Text 16"/>
          <p:cNvSpPr/>
          <p:nvPr/>
        </p:nvSpPr>
        <p:spPr>
          <a:xfrm>
            <a:off x="8559800" y="2819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Semi-Supervised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59800" y="3238500"/>
            <a:ext cx="292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labeled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with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unlabeled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Useful when labeling is expensive or time-consuming.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 Speech recognition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077700" y="2032000"/>
            <a:ext cx="3429000" cy="3937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7700" y="2032000"/>
            <a:ext cx="3429000" cy="635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2" name="Shape 20"/>
          <p:cNvSpPr/>
          <p:nvPr/>
        </p:nvSpPr>
        <p:spPr>
          <a:xfrm>
            <a:off x="12280900" y="2286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55600" y="50800"/>
                </a:moveTo>
                <a:cubicBezTo>
                  <a:pt x="439738" y="50800"/>
                  <a:pt x="508000" y="119063"/>
                  <a:pt x="508000" y="203200"/>
                </a:cubicBezTo>
                <a:cubicBezTo>
                  <a:pt x="508000" y="287338"/>
                  <a:pt x="439738" y="355600"/>
                  <a:pt x="355600" y="355600"/>
                </a:cubicBezTo>
                <a:lnTo>
                  <a:pt x="152400" y="355600"/>
                </a:lnTo>
                <a:cubicBezTo>
                  <a:pt x="68263" y="355600"/>
                  <a:pt x="0" y="287338"/>
                  <a:pt x="0" y="203200"/>
                </a:cubicBezTo>
                <a:cubicBezTo>
                  <a:pt x="0" y="119063"/>
                  <a:pt x="68263" y="50800"/>
                  <a:pt x="152400" y="50800"/>
                </a:cubicBezTo>
                <a:lnTo>
                  <a:pt x="355600" y="50800"/>
                </a:lnTo>
                <a:close/>
                <a:moveTo>
                  <a:pt x="152400" y="139700"/>
                </a:moveTo>
                <a:cubicBezTo>
                  <a:pt x="141843" y="139700"/>
                  <a:pt x="133350" y="148193"/>
                  <a:pt x="133350" y="158750"/>
                </a:cubicBezTo>
                <a:lnTo>
                  <a:pt x="133350" y="184150"/>
                </a:lnTo>
                <a:lnTo>
                  <a:pt x="107950" y="184150"/>
                </a:lnTo>
                <a:cubicBezTo>
                  <a:pt x="97393" y="184150"/>
                  <a:pt x="88900" y="192643"/>
                  <a:pt x="88900" y="203200"/>
                </a:cubicBezTo>
                <a:cubicBezTo>
                  <a:pt x="88900" y="213757"/>
                  <a:pt x="97393" y="222250"/>
                  <a:pt x="107950" y="222250"/>
                </a:cubicBezTo>
                <a:lnTo>
                  <a:pt x="133350" y="222250"/>
                </a:lnTo>
                <a:lnTo>
                  <a:pt x="133350" y="247650"/>
                </a:lnTo>
                <a:cubicBezTo>
                  <a:pt x="133350" y="258207"/>
                  <a:pt x="141843" y="266700"/>
                  <a:pt x="152400" y="266700"/>
                </a:cubicBezTo>
                <a:cubicBezTo>
                  <a:pt x="162957" y="266700"/>
                  <a:pt x="171450" y="258207"/>
                  <a:pt x="171450" y="247650"/>
                </a:cubicBezTo>
                <a:lnTo>
                  <a:pt x="171450" y="222250"/>
                </a:lnTo>
                <a:lnTo>
                  <a:pt x="196850" y="222250"/>
                </a:lnTo>
                <a:cubicBezTo>
                  <a:pt x="207407" y="222250"/>
                  <a:pt x="215900" y="213757"/>
                  <a:pt x="215900" y="203200"/>
                </a:cubicBezTo>
                <a:cubicBezTo>
                  <a:pt x="215900" y="192643"/>
                  <a:pt x="207407" y="184150"/>
                  <a:pt x="196850" y="184150"/>
                </a:cubicBezTo>
                <a:lnTo>
                  <a:pt x="171450" y="184150"/>
                </a:lnTo>
                <a:lnTo>
                  <a:pt x="171450" y="158750"/>
                </a:lnTo>
                <a:cubicBezTo>
                  <a:pt x="171450" y="148193"/>
                  <a:pt x="162957" y="139700"/>
                  <a:pt x="152400" y="139700"/>
                </a:cubicBezTo>
                <a:close/>
                <a:moveTo>
                  <a:pt x="342900" y="215900"/>
                </a:moveTo>
                <a:cubicBezTo>
                  <a:pt x="328881" y="215900"/>
                  <a:pt x="317500" y="227281"/>
                  <a:pt x="317500" y="241300"/>
                </a:cubicBezTo>
                <a:cubicBezTo>
                  <a:pt x="317500" y="255319"/>
                  <a:pt x="328881" y="266700"/>
                  <a:pt x="342900" y="266700"/>
                </a:cubicBezTo>
                <a:cubicBezTo>
                  <a:pt x="356919" y="266700"/>
                  <a:pt x="368300" y="255319"/>
                  <a:pt x="368300" y="241300"/>
                </a:cubicBezTo>
                <a:cubicBezTo>
                  <a:pt x="368300" y="227281"/>
                  <a:pt x="356919" y="215900"/>
                  <a:pt x="342900" y="215900"/>
                </a:cubicBezTo>
                <a:close/>
                <a:moveTo>
                  <a:pt x="393700" y="139700"/>
                </a:moveTo>
                <a:cubicBezTo>
                  <a:pt x="379681" y="139700"/>
                  <a:pt x="368300" y="151081"/>
                  <a:pt x="368300" y="165100"/>
                </a:cubicBezTo>
                <a:cubicBezTo>
                  <a:pt x="368300" y="179119"/>
                  <a:pt x="379681" y="190500"/>
                  <a:pt x="393700" y="190500"/>
                </a:cubicBezTo>
                <a:cubicBezTo>
                  <a:pt x="407719" y="190500"/>
                  <a:pt x="419100" y="179119"/>
                  <a:pt x="419100" y="165100"/>
                </a:cubicBezTo>
                <a:cubicBezTo>
                  <a:pt x="419100" y="151081"/>
                  <a:pt x="407719" y="139700"/>
                  <a:pt x="393700" y="139700"/>
                </a:cubicBezTo>
                <a:close/>
              </a:path>
            </a:pathLst>
          </a:cu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12331700" y="2819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31700" y="3238500"/>
            <a:ext cx="292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through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trial-and-error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interaction with an environment via rewards/penalties.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 learns optimal behavior.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 Game AI, Robotics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350000"/>
            <a:ext cx="14732000" cy="1016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6413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type addresses different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scenarios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availability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conditions. Choosing the right type is crucial for successful ML applications.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Clarifai — Types of Machine Learning Explained (2026)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9" name="Text 27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 TO ML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supervised learning, models are trained on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datasets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each input has a corresponding correct output. The goal is to learn a mapping function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f: X → Y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generalizes to unseen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82000" y="1460500"/>
            <a:ext cx="7112000" cy="1651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0" y="1524000"/>
            <a:ext cx="660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PARADIGM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(X) + Known Output (Y)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Learn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f: X → 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F5F1EB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generalization error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42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Major Subtypes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000500"/>
            <a:ext cx="7048500" cy="1905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4000500"/>
            <a:ext cx="63500" cy="1905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416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5563"/>
                </a:moveTo>
                <a:cubicBezTo>
                  <a:pt x="0" y="37157"/>
                  <a:pt x="14932" y="22225"/>
                  <a:pt x="33337" y="22225"/>
                </a:cubicBezTo>
                <a:lnTo>
                  <a:pt x="100013" y="22225"/>
                </a:lnTo>
                <a:cubicBezTo>
                  <a:pt x="118418" y="22225"/>
                  <a:pt x="133350" y="37157"/>
                  <a:pt x="133350" y="55563"/>
                </a:cubicBezTo>
                <a:lnTo>
                  <a:pt x="133350" y="66675"/>
                </a:lnTo>
                <a:lnTo>
                  <a:pt x="222250" y="66675"/>
                </a:lnTo>
                <a:lnTo>
                  <a:pt x="222250" y="55563"/>
                </a:lnTo>
                <a:cubicBezTo>
                  <a:pt x="222250" y="37157"/>
                  <a:pt x="237182" y="22225"/>
                  <a:pt x="255587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122238"/>
                </a:lnTo>
                <a:cubicBezTo>
                  <a:pt x="355600" y="140643"/>
                  <a:pt x="340668" y="155575"/>
                  <a:pt x="322263" y="155575"/>
                </a:cubicBezTo>
                <a:lnTo>
                  <a:pt x="255587" y="155575"/>
                </a:lnTo>
                <a:cubicBezTo>
                  <a:pt x="237182" y="155575"/>
                  <a:pt x="222250" y="140643"/>
                  <a:pt x="222250" y="122238"/>
                </a:cubicBezTo>
                <a:lnTo>
                  <a:pt x="222250" y="111125"/>
                </a:lnTo>
                <a:lnTo>
                  <a:pt x="133350" y="111125"/>
                </a:lnTo>
                <a:lnTo>
                  <a:pt x="133350" y="122238"/>
                </a:lnTo>
                <a:cubicBezTo>
                  <a:pt x="133350" y="127308"/>
                  <a:pt x="132169" y="132169"/>
                  <a:pt x="130155" y="136475"/>
                </a:cubicBezTo>
                <a:lnTo>
                  <a:pt x="177800" y="200025"/>
                </a:lnTo>
                <a:lnTo>
                  <a:pt x="233363" y="200025"/>
                </a:lnTo>
                <a:cubicBezTo>
                  <a:pt x="251768" y="200025"/>
                  <a:pt x="266700" y="214957"/>
                  <a:pt x="266700" y="233363"/>
                </a:cubicBezTo>
                <a:lnTo>
                  <a:pt x="266700" y="300038"/>
                </a:lnTo>
                <a:cubicBezTo>
                  <a:pt x="266700" y="318443"/>
                  <a:pt x="251768" y="333375"/>
                  <a:pt x="23336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233363"/>
                </a:lnTo>
                <a:cubicBezTo>
                  <a:pt x="133350" y="228292"/>
                  <a:pt x="134531" y="223431"/>
                  <a:pt x="136545" y="219125"/>
                </a:cubicBezTo>
                <a:lnTo>
                  <a:pt x="88900" y="155575"/>
                </a:lnTo>
                <a:lnTo>
                  <a:pt x="33337" y="155575"/>
                </a:lnTo>
                <a:cubicBezTo>
                  <a:pt x="14932" y="155575"/>
                  <a:pt x="0" y="140643"/>
                  <a:pt x="0" y="122238"/>
                </a:cubicBezTo>
                <a:lnTo>
                  <a:pt x="0" y="55563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1498600" y="4140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597400"/>
            <a:ext cx="654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Assigns inputs to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discrete categories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Spam detection, image recognition, medical diagnosis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Algorithms: Decision Trees, SVM, Neural Networks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45500" y="4000500"/>
            <a:ext cx="7048500" cy="1905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5500" y="4000500"/>
            <a:ext cx="63500" cy="1905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99500" y="416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9182100" y="4140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99500" y="4597400"/>
            <a:ext cx="654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numerical values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House prices, temperature forecasting, stock prices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Algorithms: Linear Regression, Random Forests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&amp; Challenge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7056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Fraud detection, customer churn prediction, medical imaging, credit scoring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Challenge: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large volumes of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accurately labeled data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which can be expensive and time-consuming to obtain.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NetCom Learning — Types of Machine Learning (2026)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 TO ML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learning works with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unlabeled data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discover hidden structures and patterns. The algorithm explores data to find meaningful groupings, relationships, or representations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guidance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Tasks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4699000" cy="2286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3048000"/>
            <a:ext cx="469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993775" y="3276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82927"/>
                </a:moveTo>
                <a:cubicBezTo>
                  <a:pt x="8959" y="75287"/>
                  <a:pt x="0" y="60910"/>
                  <a:pt x="0" y="44450"/>
                </a:cubicBezTo>
                <a:cubicBezTo>
                  <a:pt x="0" y="19933"/>
                  <a:pt x="19933" y="0"/>
                  <a:pt x="44450" y="0"/>
                </a:cubicBezTo>
                <a:cubicBezTo>
                  <a:pt x="60910" y="0"/>
                  <a:pt x="75287" y="8959"/>
                  <a:pt x="82927" y="22225"/>
                </a:cubicBezTo>
                <a:lnTo>
                  <a:pt x="317054" y="22225"/>
                </a:lnTo>
                <a:cubicBezTo>
                  <a:pt x="324763" y="8959"/>
                  <a:pt x="339070" y="0"/>
                  <a:pt x="355531" y="0"/>
                </a:cubicBezTo>
                <a:cubicBezTo>
                  <a:pt x="380047" y="0"/>
                  <a:pt x="399981" y="19933"/>
                  <a:pt x="399981" y="44450"/>
                </a:cubicBezTo>
                <a:cubicBezTo>
                  <a:pt x="399981" y="60910"/>
                  <a:pt x="391021" y="75287"/>
                  <a:pt x="377756" y="82927"/>
                </a:cubicBezTo>
                <a:lnTo>
                  <a:pt x="377756" y="272604"/>
                </a:lnTo>
                <a:cubicBezTo>
                  <a:pt x="391021" y="280313"/>
                  <a:pt x="399981" y="294620"/>
                  <a:pt x="399981" y="311081"/>
                </a:cubicBezTo>
                <a:cubicBezTo>
                  <a:pt x="399981" y="335598"/>
                  <a:pt x="380047" y="355531"/>
                  <a:pt x="355531" y="355531"/>
                </a:cubicBezTo>
                <a:cubicBezTo>
                  <a:pt x="339070" y="355531"/>
                  <a:pt x="324693" y="346571"/>
                  <a:pt x="317054" y="333306"/>
                </a:cubicBezTo>
                <a:lnTo>
                  <a:pt x="82927" y="333306"/>
                </a:lnTo>
                <a:cubicBezTo>
                  <a:pt x="75218" y="346571"/>
                  <a:pt x="60910" y="355531"/>
                  <a:pt x="44450" y="355531"/>
                </a:cubicBezTo>
                <a:cubicBezTo>
                  <a:pt x="19933" y="355531"/>
                  <a:pt x="0" y="335598"/>
                  <a:pt x="0" y="311081"/>
                </a:cubicBezTo>
                <a:cubicBezTo>
                  <a:pt x="0" y="294620"/>
                  <a:pt x="8959" y="280243"/>
                  <a:pt x="22225" y="272604"/>
                </a:cubicBezTo>
                <a:lnTo>
                  <a:pt x="22225" y="82927"/>
                </a:lnTo>
                <a:close/>
                <a:moveTo>
                  <a:pt x="333375" y="82927"/>
                </a:moveTo>
                <a:cubicBezTo>
                  <a:pt x="326638" y="79038"/>
                  <a:pt x="321012" y="73412"/>
                  <a:pt x="317123" y="66675"/>
                </a:cubicBezTo>
                <a:lnTo>
                  <a:pt x="82927" y="66675"/>
                </a:lnTo>
                <a:cubicBezTo>
                  <a:pt x="79038" y="73412"/>
                  <a:pt x="73412" y="79038"/>
                  <a:pt x="66675" y="82927"/>
                </a:cubicBezTo>
                <a:lnTo>
                  <a:pt x="66675" y="272604"/>
                </a:lnTo>
                <a:cubicBezTo>
                  <a:pt x="73412" y="276493"/>
                  <a:pt x="79038" y="282119"/>
                  <a:pt x="82927" y="288856"/>
                </a:cubicBezTo>
                <a:lnTo>
                  <a:pt x="317054" y="288856"/>
                </a:lnTo>
                <a:cubicBezTo>
                  <a:pt x="320943" y="282119"/>
                  <a:pt x="326569" y="276493"/>
                  <a:pt x="333306" y="272604"/>
                </a:cubicBezTo>
                <a:lnTo>
                  <a:pt x="333306" y="82927"/>
                </a:lnTo>
                <a:close/>
                <a:moveTo>
                  <a:pt x="100013" y="122238"/>
                </a:moveTo>
                <a:cubicBezTo>
                  <a:pt x="100013" y="109944"/>
                  <a:pt x="109944" y="100013"/>
                  <a:pt x="122238" y="100013"/>
                </a:cubicBezTo>
                <a:lnTo>
                  <a:pt x="200025" y="100013"/>
                </a:lnTo>
                <a:cubicBezTo>
                  <a:pt x="212318" y="100013"/>
                  <a:pt x="222250" y="109944"/>
                  <a:pt x="222250" y="122238"/>
                </a:cubicBezTo>
                <a:lnTo>
                  <a:pt x="222250" y="166688"/>
                </a:lnTo>
                <a:cubicBezTo>
                  <a:pt x="222250" y="178981"/>
                  <a:pt x="212318" y="188913"/>
                  <a:pt x="200025" y="188913"/>
                </a:cubicBezTo>
                <a:lnTo>
                  <a:pt x="122238" y="188913"/>
                </a:lnTo>
                <a:cubicBezTo>
                  <a:pt x="109944" y="188913"/>
                  <a:pt x="100013" y="178981"/>
                  <a:pt x="100013" y="166688"/>
                </a:cubicBezTo>
                <a:lnTo>
                  <a:pt x="100013" y="122238"/>
                </a:lnTo>
                <a:close/>
                <a:moveTo>
                  <a:pt x="177800" y="222250"/>
                </a:moveTo>
                <a:lnTo>
                  <a:pt x="200025" y="222250"/>
                </a:lnTo>
                <a:cubicBezTo>
                  <a:pt x="230723" y="222250"/>
                  <a:pt x="255587" y="197386"/>
                  <a:pt x="255587" y="166688"/>
                </a:cubicBezTo>
                <a:lnTo>
                  <a:pt x="277813" y="166688"/>
                </a:lnTo>
                <a:cubicBezTo>
                  <a:pt x="290106" y="166688"/>
                  <a:pt x="300038" y="176619"/>
                  <a:pt x="300038" y="188913"/>
                </a:cubicBezTo>
                <a:lnTo>
                  <a:pt x="300038" y="233363"/>
                </a:lnTo>
                <a:cubicBezTo>
                  <a:pt x="300038" y="245656"/>
                  <a:pt x="290106" y="255587"/>
                  <a:pt x="277813" y="255587"/>
                </a:cubicBezTo>
                <a:lnTo>
                  <a:pt x="200025" y="255587"/>
                </a:lnTo>
                <a:cubicBezTo>
                  <a:pt x="187732" y="255587"/>
                  <a:pt x="177800" y="245656"/>
                  <a:pt x="177800" y="233363"/>
                </a:cubicBezTo>
                <a:lnTo>
                  <a:pt x="177800" y="22225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32512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7338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Groups similar data points together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K-means, Hierarchical, DBSCAN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Customer segmentation, document organization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3048000"/>
            <a:ext cx="4699000" cy="2286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8500" y="3048000"/>
            <a:ext cx="4699000" cy="6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4725" y="3276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11125" y="44450"/>
                </a:moveTo>
                <a:cubicBezTo>
                  <a:pt x="111125" y="32157"/>
                  <a:pt x="101193" y="22225"/>
                  <a:pt x="88900" y="22225"/>
                </a:cubicBezTo>
                <a:cubicBezTo>
                  <a:pt x="76607" y="22225"/>
                  <a:pt x="66675" y="32157"/>
                  <a:pt x="66675" y="44450"/>
                </a:cubicBezTo>
                <a:lnTo>
                  <a:pt x="66675" y="88900"/>
                </a:lnTo>
                <a:lnTo>
                  <a:pt x="22225" y="88900"/>
                </a:lnTo>
                <a:cubicBezTo>
                  <a:pt x="9932" y="88900"/>
                  <a:pt x="0" y="98832"/>
                  <a:pt x="0" y="111125"/>
                </a:cubicBezTo>
                <a:cubicBezTo>
                  <a:pt x="0" y="123418"/>
                  <a:pt x="9932" y="133350"/>
                  <a:pt x="22225" y="133350"/>
                </a:cubicBezTo>
                <a:lnTo>
                  <a:pt x="88900" y="133350"/>
                </a:lnTo>
                <a:cubicBezTo>
                  <a:pt x="101193" y="133350"/>
                  <a:pt x="111125" y="123418"/>
                  <a:pt x="111125" y="111125"/>
                </a:cubicBezTo>
                <a:lnTo>
                  <a:pt x="111125" y="44450"/>
                </a:lnTo>
                <a:close/>
                <a:moveTo>
                  <a:pt x="22225" y="222250"/>
                </a:moveTo>
                <a:cubicBezTo>
                  <a:pt x="9932" y="222250"/>
                  <a:pt x="0" y="232182"/>
                  <a:pt x="0" y="244475"/>
                </a:cubicBezTo>
                <a:cubicBezTo>
                  <a:pt x="0" y="256768"/>
                  <a:pt x="9932" y="266700"/>
                  <a:pt x="22225" y="266700"/>
                </a:cubicBezTo>
                <a:lnTo>
                  <a:pt x="66675" y="266700"/>
                </a:lnTo>
                <a:lnTo>
                  <a:pt x="66675" y="311150"/>
                </a:lnTo>
                <a:cubicBezTo>
                  <a:pt x="66675" y="323443"/>
                  <a:pt x="76607" y="333375"/>
                  <a:pt x="88900" y="333375"/>
                </a:cubicBezTo>
                <a:cubicBezTo>
                  <a:pt x="101193" y="333375"/>
                  <a:pt x="111125" y="323443"/>
                  <a:pt x="111125" y="311150"/>
                </a:cubicBezTo>
                <a:lnTo>
                  <a:pt x="111125" y="244475"/>
                </a:lnTo>
                <a:cubicBezTo>
                  <a:pt x="111125" y="232182"/>
                  <a:pt x="101193" y="222250"/>
                  <a:pt x="88900" y="222250"/>
                </a:cubicBezTo>
                <a:lnTo>
                  <a:pt x="22225" y="222250"/>
                </a:lnTo>
                <a:close/>
                <a:moveTo>
                  <a:pt x="244475" y="44450"/>
                </a:moveTo>
                <a:cubicBezTo>
                  <a:pt x="244475" y="32157"/>
                  <a:pt x="234543" y="22225"/>
                  <a:pt x="222250" y="22225"/>
                </a:cubicBezTo>
                <a:cubicBezTo>
                  <a:pt x="209957" y="22225"/>
                  <a:pt x="200025" y="32157"/>
                  <a:pt x="200025" y="44450"/>
                </a:cubicBezTo>
                <a:lnTo>
                  <a:pt x="200025" y="111125"/>
                </a:lnTo>
                <a:cubicBezTo>
                  <a:pt x="200025" y="123418"/>
                  <a:pt x="209957" y="133350"/>
                  <a:pt x="222250" y="133350"/>
                </a:cubicBezTo>
                <a:lnTo>
                  <a:pt x="288925" y="133350"/>
                </a:lnTo>
                <a:cubicBezTo>
                  <a:pt x="301218" y="133350"/>
                  <a:pt x="311150" y="123418"/>
                  <a:pt x="311150" y="111125"/>
                </a:cubicBezTo>
                <a:cubicBezTo>
                  <a:pt x="311150" y="98832"/>
                  <a:pt x="301218" y="88900"/>
                  <a:pt x="288925" y="88900"/>
                </a:cubicBezTo>
                <a:lnTo>
                  <a:pt x="244475" y="88900"/>
                </a:lnTo>
                <a:lnTo>
                  <a:pt x="244475" y="44450"/>
                </a:lnTo>
                <a:close/>
                <a:moveTo>
                  <a:pt x="222250" y="222250"/>
                </a:moveTo>
                <a:cubicBezTo>
                  <a:pt x="209957" y="222250"/>
                  <a:pt x="200025" y="232182"/>
                  <a:pt x="200025" y="244475"/>
                </a:cubicBezTo>
                <a:lnTo>
                  <a:pt x="200025" y="311150"/>
                </a:lnTo>
                <a:cubicBezTo>
                  <a:pt x="200025" y="323443"/>
                  <a:pt x="209957" y="333375"/>
                  <a:pt x="222250" y="333375"/>
                </a:cubicBezTo>
                <a:cubicBezTo>
                  <a:pt x="234543" y="333375"/>
                  <a:pt x="244475" y="323443"/>
                  <a:pt x="244475" y="311150"/>
                </a:cubicBezTo>
                <a:lnTo>
                  <a:pt x="244475" y="266700"/>
                </a:lnTo>
                <a:lnTo>
                  <a:pt x="288925" y="266700"/>
                </a:lnTo>
                <a:cubicBezTo>
                  <a:pt x="301218" y="266700"/>
                  <a:pt x="311150" y="256768"/>
                  <a:pt x="311150" y="244475"/>
                </a:cubicBezTo>
                <a:cubicBezTo>
                  <a:pt x="311150" y="232182"/>
                  <a:pt x="301218" y="222250"/>
                  <a:pt x="288925" y="222250"/>
                </a:cubicBezTo>
                <a:lnTo>
                  <a:pt x="222250" y="222250"/>
                </a:lnTo>
                <a:close/>
              </a:path>
            </a:pathLst>
          </a:cu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6515100" y="32512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7338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features while preserving info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PCA, t-SNE, Autoencoders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Visualization, compression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3048000"/>
            <a:ext cx="4699000" cy="2286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0" y="3048000"/>
            <a:ext cx="4699000" cy="635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0" y="327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11531600" y="32512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37338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unusual data points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Deviation from normal patterns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Fraud detection, quality control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65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6096000"/>
            <a:ext cx="1473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engines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grouping users by similar behavior patterns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compression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reducing dimensionality for storage efficiency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discovering hidden structures in data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7366000"/>
            <a:ext cx="50800" cy="635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7366000"/>
            <a:ext cx="144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Evaluating unsupervised models is difficult without ground truth — metrics like silhouette score serve as proxies for quality.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Clarifai — Types of Machine Learning Explained (2026)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7" name="Text 25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 TO ML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Reinforcement Learning (RL) involves an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learning to make decisions by interacting with an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agent takes actions, receives rewards or penalties, and learns a policy to maximize cumulative reward.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Modeled as Markov Decision Processes (MDPs)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3429000" cy="152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3048000"/>
            <a:ext cx="342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200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STATES (S)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530600"/>
            <a:ext cx="292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possible situations the agent can be 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33900" y="3048000"/>
            <a:ext cx="3429000" cy="152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3900" y="3048000"/>
            <a:ext cx="3429000" cy="6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87900" y="3200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 (A)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87900" y="3530600"/>
            <a:ext cx="292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Moves available to the agent in each state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05800" y="3048000"/>
            <a:ext cx="3429000" cy="152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5800" y="3048000"/>
            <a:ext cx="3429000" cy="635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8559800" y="3200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REWARDS (R)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59800" y="3530600"/>
            <a:ext cx="292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signal for each action taken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77700" y="3048000"/>
            <a:ext cx="3429000" cy="1524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7700" y="3048000"/>
            <a:ext cx="3429000" cy="635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0" name="Text 18"/>
          <p:cNvSpPr/>
          <p:nvPr/>
        </p:nvSpPr>
        <p:spPr>
          <a:xfrm>
            <a:off x="12331700" y="32004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(π)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31700" y="3530600"/>
            <a:ext cx="292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 mapping states to optimal actions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88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Approaches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334000"/>
            <a:ext cx="1473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Value-Based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(Q-learning) — estimates value of actions to derive optimal policy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Policy-Based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(Policy gradients) — directly optimizes the policy function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Actor-Critic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combines value and policy approaches for stability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660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&amp; Challenge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048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Game playing (AlphaGo, Chess), robotics, autonomous vehicles, dynamic pricing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extensive training time and careful reward function design.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255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5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NetCom Learning — Types of Machine Learning (2026)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8" name="Text 26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 TO ML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Machine Learning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ML pipeline follows a systematic, iterative process from problem definition to deployment: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651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57400"/>
            <a:ext cx="165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5500" y="2387600"/>
            <a:ext cx="15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</a:t>
            </a:r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Definition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76500" y="2476500"/>
            <a:ext cx="3175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857500" y="2032000"/>
            <a:ext cx="1651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2857500" y="2057400"/>
            <a:ext cx="165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1000" y="24130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Collection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2476500"/>
            <a:ext cx="3175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953000" y="2032000"/>
            <a:ext cx="1651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953000" y="2057400"/>
            <a:ext cx="165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16500" y="2387600"/>
            <a:ext cx="15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Preprocessing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67500" y="2476500"/>
            <a:ext cx="3175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048500" y="2032000"/>
            <a:ext cx="1651000" cy="1016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8500" y="2057400"/>
            <a:ext cx="165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2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12000" y="24130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63000" y="2476500"/>
            <a:ext cx="3175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144000" y="2032000"/>
            <a:ext cx="1651000" cy="1016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2057400"/>
            <a:ext cx="165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2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07500" y="24130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858500" y="2476500"/>
            <a:ext cx="3175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1239500" y="2032000"/>
            <a:ext cx="1651000" cy="1016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6" name="Text 24"/>
          <p:cNvSpPr/>
          <p:nvPr/>
        </p:nvSpPr>
        <p:spPr>
          <a:xfrm>
            <a:off x="11239500" y="2057400"/>
            <a:ext cx="165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2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239500" y="2413000"/>
            <a:ext cx="165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&amp; Tuning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954000" y="2476500"/>
            <a:ext cx="317500" cy="0"/>
          </a:xfrm>
          <a:prstGeom prst="straightConnector1">
            <a:avLst/>
          </a:prstGeom>
          <a:noFill/>
          <a:ln w="25400">
            <a:solidFill>
              <a:srgbClr val="E8913A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3335000" y="2032000"/>
            <a:ext cx="2159000" cy="1016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0" name="Text 28"/>
          <p:cNvSpPr/>
          <p:nvPr/>
        </p:nvSpPr>
        <p:spPr>
          <a:xfrm>
            <a:off x="13335000" y="2057400"/>
            <a:ext cx="215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2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7-8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335000" y="2413000"/>
            <a:ext cx="215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&amp; Deploy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342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Details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3937000"/>
            <a:ext cx="70485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Problem Definition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Clearly define what to predict or optimize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Data Collection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Gather relevant, representative data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Data Preprocessing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Clean, normalize, handle missing values, feature engineering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Model Selection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Choose appropriate algorithm based on problem type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45500" y="3937000"/>
            <a:ext cx="70485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Training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Fit the model using optimization (e.g., gradient descent)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Validation &amp; Tuning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Evaluate on validation set, tune hyperparameters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 Testing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Assess final performance on held-out test set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 Deployment &amp; Monitoring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Deploy to production, monitor for drift, retrain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7747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an </a:t>
            </a:r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 cycle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5A6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models are continuously improved with new data and feedback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7" name="Text 35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 TO ML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048500" cy="3302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460500"/>
            <a:ext cx="70485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25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9304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Algorithms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387600"/>
            <a:ext cx="647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Informed search uses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heuristics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guide search efficiently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Greedy BFS is fast but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optimal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A* Search guarantees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optimality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admissible heuristic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Admissibility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 ≤ h*) ensures optimal solutions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Consistency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node re-expansion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460500"/>
            <a:ext cx="7048500" cy="3302000"/>
          </a:xfrm>
          <a:prstGeom prst="rect">
            <a:avLst/>
          </a:prstGeom>
          <a:solidFill>
            <a:srgbClr val="EDEAE4"/>
          </a:solidFill>
          <a:ln w="12700">
            <a:solidFill>
              <a:srgbClr val="D4CF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45500" y="1460500"/>
            <a:ext cx="7048500" cy="6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1625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91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19304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Foundations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0" y="2387600"/>
            <a:ext cx="647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ML enables systems to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from data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Four paradigms: supervised, unsupervised, semi-supervised, RL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Supervised: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labeled data for prediction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Unsupervised: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pattern discovery in unlabeled data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Reinforcement: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learning through interaction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143500"/>
            <a:ext cx="14732000" cy="1270000"/>
          </a:xfrm>
          <a:prstGeom prst="rect">
            <a:avLst/>
          </a:prstGeom>
          <a:solidFill>
            <a:srgbClr val="0B3A47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232400"/>
            <a:ext cx="1422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Choosing the right algorithm depends on </a:t>
            </a:r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availability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formulation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E891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constraints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Understanding these fundamentals is essential for building effective AI systems.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79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What's Next?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7239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Week 4: Advanced Search — Local Search, Genetic Algorithms, CSPs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Week 5: Supervised Learning in Depth — Regression, Classification, Evaluation Metrics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Recommended Reading: Russell &amp; Norvig, Ch. 3-4; Bishop, Pattern Recognition and Machine Learning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99500"/>
            <a:ext cx="762000" cy="254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13462000" y="876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200" kern="0" dirty="0">
                <a:solidFill>
                  <a:srgbClr val="5A65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mpihfuknepne/mnt/agents/output/ai-course/images/8_Robot_Brain_Images_Browse_427_991.png">    </p:cNvPr>
          <p:cNvPicPr>
            <a:picLocks noChangeAspect="1"/>
          </p:cNvPicPr>
          <p:nvPr/>
        </p:nvPicPr>
        <p:blipFill>
          <a:blip r:embed="rId1"/>
          <a:srcRect l="12920" r="1292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B3A47">
                  <a:alpha val="90000"/>
                </a:srgbClr>
              </a:gs>
              <a:gs pos="50000">
                <a:srgbClr val="0B3A47">
                  <a:alpha val="80000"/>
                </a:srgbClr>
              </a:gs>
              <a:gs pos="100000">
                <a:srgbClr val="0B3A47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302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6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318000"/>
            <a:ext cx="2540000" cy="381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4"/>
          <p:cNvSpPr/>
          <p:nvPr/>
        </p:nvSpPr>
        <p:spPr>
          <a:xfrm>
            <a:off x="4318000" y="4635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 — Week 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18000" y="514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5F1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3</dc:title>
  <dc:subject>Artificial Intelligence - Week 3</dc:subject>
  <dc:creator>Kimi</dc:creator>
  <cp:lastModifiedBy>Kimi</cp:lastModifiedBy>
  <cp:revision>1</cp:revision>
  <dcterms:created xsi:type="dcterms:W3CDTF">2026-05-25T19:21:47Z</dcterms:created>
  <dcterms:modified xsi:type="dcterms:W3CDTF">2026-05-25T19:21:47Z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3","ContentProducer":"001191110108MACG2KBH8F10000","ProduceID":"19e60436-6fa2-84d2-8000-000042ba2598","ReservedCode1":"","ContentPropagator":"001191110108MACG2KBH8F20000","PropagateID":"19e60436-6fa2-84d2-8000-000042ba2598","ReservedCode2":""}</vt:lpwstr>
  </property>
</Properties>
</file>