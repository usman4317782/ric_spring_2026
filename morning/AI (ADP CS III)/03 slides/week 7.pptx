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</c:v>
                </c:pt>
              </c:strCache>
            </c:strRef>
          </c:tx>
          <c:spPr>
            <a:solidFill>
              <a:srgbClr val="0F4C5C"/>
            </a:solidFill>
            <a:ln w="25400" cap="flat">
              <a:solidFill>
                <a:srgbClr val="0F4C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4C5C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0.47</c:v>
                </c:pt>
                <c:pt idx="2">
                  <c:v>0.72</c:v>
                </c:pt>
                <c:pt idx="3">
                  <c:v>0.88</c:v>
                </c:pt>
                <c:pt idx="4">
                  <c:v>0.97</c:v>
                </c:pt>
                <c:pt idx="5">
                  <c:v>1</c:v>
                </c:pt>
                <c:pt idx="6">
                  <c:v>0.97</c:v>
                </c:pt>
                <c:pt idx="7">
                  <c:v>0.88</c:v>
                </c:pt>
                <c:pt idx="8">
                  <c:v>0.72</c:v>
                </c:pt>
                <c:pt idx="9">
                  <c:v>0.47</c:v>
                </c:pt>
                <c:pt idx="10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Proportion of Class A (p)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12700" cap="flat">
              <a:solidFill>
                <a:srgbClr val="e8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Entropy H(S)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Itemsets Checked</c:v>
                </c:pt>
              </c:strCache>
            </c:strRef>
          </c:tx>
          <c:spPr>
            <a:solidFill>
              <a:srgbClr val="C97B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Brute Force</c:v>
                  </c:pt>
                  <c:pt idx="1">
                    <c:v>Apriori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1048575</c:v>
                </c:pt>
                <c:pt idx="1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1C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lxcgh5c53bfw2/mnt/agents/output/decision_trees/images/6_Dark_abstract_technology_wallpaper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F2B">
                  <a:alpha val="95000"/>
                </a:srgbClr>
              </a:gs>
              <a:gs pos="50000">
                <a:srgbClr val="0A1F2B">
                  <a:alpha val="90000"/>
                </a:srgbClr>
              </a:gs>
              <a:gs pos="100000">
                <a:srgbClr val="0A1F2B">
                  <a:alpha val="8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23000" y="2286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10500" y="2730500"/>
            <a:ext cx="635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304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7 — MACHINE LEARNING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048000" y="4064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 Trees &amp; Association Rules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ID3 Algorithm Implementation · Apriori Algorithm · Market Basket Analysis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588000" y="7366000"/>
            <a:ext cx="508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7620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L13: Decision Trees (ID3) · L14: Association Rules for Decision Making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25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5D1C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05000"/>
            <a:ext cx="7048500" cy="635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905000"/>
            <a:ext cx="63500" cy="635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225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17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530600"/>
            <a:ext cx="622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4064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Tree-based classification, structure, and ID3 algorithm with entropy and information gain.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4826000"/>
            <a:ext cx="6223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What is a Decision Tree?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Tree Structure &amp; Terminology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Types of Decision Trees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How Decision Trees Work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Entropy &amp; Information Gain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ID3 Algorithm: Steps &amp; Example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Python Implementation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Advantages, Limitations &amp; Applications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45500" y="1905000"/>
            <a:ext cx="7048500" cy="635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45500" y="1905000"/>
            <a:ext cx="63500" cy="6350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5" name="Text 13"/>
          <p:cNvSpPr/>
          <p:nvPr/>
        </p:nvSpPr>
        <p:spPr>
          <a:xfrm>
            <a:off x="8826500" y="22225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6500" y="317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26500" y="3530600"/>
            <a:ext cx="622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26500" y="4064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Hidden patterns using support, confidence, lift, and Apriori algorithm.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26500" y="4826000"/>
            <a:ext cx="6223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What are Association Rules?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Market Basket Analysis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Key Metrics: Support, Confidence, Lift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Apriori Algorithm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Apriori Property &amp; Pruning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Step-by-Step with Example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Applications in Decision Making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Decision Trees vs Association Rules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lxcgh5c53bfw2/mnt/agents/output/decision_trees/images/9_Abstract_technology_background_futuristic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F2B">
                  <a:alpha val="94000"/>
                </a:srgbClr>
              </a:gs>
              <a:gs pos="60000">
                <a:srgbClr val="0A1F2B">
                  <a:alpha val="85000"/>
                </a:srgbClr>
              </a:gs>
              <a:gs pos="100000">
                <a:srgbClr val="0A1F2B">
                  <a:alpha val="7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23000" y="2540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 13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10500" y="2984500"/>
            <a:ext cx="635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3302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048000" y="4191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tree-based classification, structure, and the ID3 algorithm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588000" y="5461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Decision Tree?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14732000" cy="1079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50800" cy="1079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13970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 tree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supervised learning algorithm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used for both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classification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regression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tasks. It has a hierarchical tree structure consisting of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root node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branches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 nodes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leaf nodes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149600"/>
            <a:ext cx="7620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Works like a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flowchart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helps in making step-by-step decisions: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 nodes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represent attribute tests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Branches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represent attribute values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Leaf nodes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represent final decisions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Widely used due to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interpretability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flexibility, and low preprocessing needs.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90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Tree 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3238500"/>
            <a:ext cx="2032000" cy="571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0" y="3238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 Node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33000" y="3810000"/>
            <a:ext cx="1524000" cy="63500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 flipH="1">
            <a:off x="12065000" y="3810000"/>
            <a:ext cx="1524000" cy="63500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olid"/>
            <a:headEnd type="arrow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144000" y="4508500"/>
            <a:ext cx="1778000" cy="5080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4508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Node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0" y="4508500"/>
            <a:ext cx="1778000" cy="5080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0" y="4508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Node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36000" y="5016500"/>
            <a:ext cx="1016000" cy="571500"/>
          </a:xfrm>
          <a:prstGeom prst="straightConnector1">
            <a:avLst/>
          </a:prstGeom>
          <a:noFill/>
          <a:ln w="19050">
            <a:solidFill>
              <a:srgbClr val="D5D1CC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 flipH="1">
            <a:off x="10414000" y="5016500"/>
            <a:ext cx="1016000" cy="571500"/>
          </a:xfrm>
          <a:prstGeom prst="straightConnector1">
            <a:avLst/>
          </a:prstGeom>
          <a:noFill/>
          <a:ln w="19050">
            <a:solidFill>
              <a:srgbClr val="D5D1CC"/>
            </a:solidFill>
            <a:prstDash val="solid"/>
            <a:headEnd type="arrow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3208000" y="5016500"/>
            <a:ext cx="1016000" cy="571500"/>
          </a:xfrm>
          <a:prstGeom prst="straightConnector1">
            <a:avLst/>
          </a:prstGeom>
          <a:noFill/>
          <a:ln w="19050">
            <a:solidFill>
              <a:srgbClr val="D5D1CC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 flipH="1">
            <a:off x="14986000" y="5016500"/>
            <a:ext cx="1016000" cy="571500"/>
          </a:xfrm>
          <a:prstGeom prst="straightConnector1">
            <a:avLst/>
          </a:prstGeom>
          <a:noFill/>
          <a:ln w="19050">
            <a:solidFill>
              <a:srgbClr val="D5D1CC"/>
            </a:solidFill>
            <a:prstDash val="solid"/>
            <a:headEnd type="arrow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001000" y="5651500"/>
            <a:ext cx="1270000" cy="4445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5651500"/>
            <a:ext cx="127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Leaf 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25000" y="5651500"/>
            <a:ext cx="1270000" cy="4445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0" y="5651500"/>
            <a:ext cx="127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Leaf 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573000" y="5651500"/>
            <a:ext cx="1270000" cy="4445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29" name="Text 27"/>
          <p:cNvSpPr/>
          <p:nvPr/>
        </p:nvSpPr>
        <p:spPr>
          <a:xfrm>
            <a:off x="12573000" y="5651500"/>
            <a:ext cx="127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Leaf C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097000" y="5651500"/>
            <a:ext cx="1270000" cy="4445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31" name="Text 29"/>
          <p:cNvSpPr/>
          <p:nvPr/>
        </p:nvSpPr>
        <p:spPr>
          <a:xfrm>
            <a:off x="14097000" y="5651500"/>
            <a:ext cx="127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Leaf 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90000" y="64770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Root Node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starting point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 Node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decision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Leaf Node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final output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5D1C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—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Branch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path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2000" y="584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324600"/>
            <a:ext cx="762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Non-parametric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makes no assumptions about data distribution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Hierarchical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decisions flow from general to specific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Interpretable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decisions can be traced and explained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White-box model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internal logic is fully visible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 Structure &amp; Terminology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7112000"/>
        </p:xfrm>
        <a:graphic>
          <a:graphicData uri="http://schemas.openxmlformats.org/drawingml/2006/table">
            <a:tbl>
              <a:tblPr/>
              <a:tblGrid>
                <a:gridCol w="3241040"/>
                <a:gridCol w="7366000"/>
                <a:gridCol w="4124960"/>
              </a:tblGrid>
              <a:tr h="70993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Term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Definition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Analogy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92544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Root Node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starting point representing the entire dataset. The first attribute selected for splitting.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trunk of a tree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544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/ Decision Node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Nodes that split the data based on attribute tests. Contains a decision rule.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Branches splitting from trunk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92544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Branch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Connects nodes, representing the outcome of a test (attribute value).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path from trunk to leaf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544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Leaf / Terminal Node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Final output node with a class label (classification) or value (regression).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end of a branch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92544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Depth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Longest path from root to leaf. Indicates tree complexity.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Height of the tree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544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Splitting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Process of dividing a node into sub-nodes based on a selected attribute.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Dividing a branch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84938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Pruning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Removing unnecessary branches to prevent overfitting and simplify the tree.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Trimming dead branches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Decision Trees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4699000" cy="3429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469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1587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18453" y="31036"/>
                </a:moveTo>
                <a:lnTo>
                  <a:pt x="436086" y="150336"/>
                </a:lnTo>
                <a:cubicBezTo>
                  <a:pt x="458073" y="172641"/>
                  <a:pt x="458073" y="208359"/>
                  <a:pt x="436086" y="230664"/>
                </a:cubicBezTo>
                <a:lnTo>
                  <a:pt x="311944" y="356314"/>
                </a:lnTo>
                <a:cubicBezTo>
                  <a:pt x="304562" y="363776"/>
                  <a:pt x="292497" y="363855"/>
                  <a:pt x="285036" y="356473"/>
                </a:cubicBezTo>
                <a:cubicBezTo>
                  <a:pt x="277574" y="349091"/>
                  <a:pt x="277495" y="337026"/>
                  <a:pt x="284877" y="329565"/>
                </a:cubicBezTo>
                <a:lnTo>
                  <a:pt x="409019" y="203835"/>
                </a:lnTo>
                <a:cubicBezTo>
                  <a:pt x="416322" y="196453"/>
                  <a:pt x="416322" y="184468"/>
                  <a:pt x="409019" y="177086"/>
                </a:cubicBezTo>
                <a:lnTo>
                  <a:pt x="291306" y="57864"/>
                </a:lnTo>
                <a:cubicBezTo>
                  <a:pt x="283924" y="50403"/>
                  <a:pt x="284004" y="38338"/>
                  <a:pt x="291465" y="30956"/>
                </a:cubicBezTo>
                <a:cubicBezTo>
                  <a:pt x="298926" y="23574"/>
                  <a:pt x="310991" y="23654"/>
                  <a:pt x="318373" y="31115"/>
                </a:cubicBezTo>
                <a:close/>
                <a:moveTo>
                  <a:pt x="25479" y="182166"/>
                </a:moveTo>
                <a:lnTo>
                  <a:pt x="25479" y="76200"/>
                </a:lnTo>
                <a:cubicBezTo>
                  <a:pt x="25479" y="48181"/>
                  <a:pt x="48260" y="25400"/>
                  <a:pt x="76279" y="25400"/>
                </a:cubicBezTo>
                <a:lnTo>
                  <a:pt x="182245" y="25400"/>
                </a:lnTo>
                <a:cubicBezTo>
                  <a:pt x="195739" y="25400"/>
                  <a:pt x="208677" y="30718"/>
                  <a:pt x="218202" y="40243"/>
                </a:cubicBezTo>
                <a:lnTo>
                  <a:pt x="332502" y="154543"/>
                </a:lnTo>
                <a:cubicBezTo>
                  <a:pt x="352346" y="174387"/>
                  <a:pt x="352346" y="206534"/>
                  <a:pt x="332502" y="226377"/>
                </a:cubicBezTo>
                <a:lnTo>
                  <a:pt x="226536" y="332343"/>
                </a:lnTo>
                <a:cubicBezTo>
                  <a:pt x="206692" y="352187"/>
                  <a:pt x="174546" y="352187"/>
                  <a:pt x="154702" y="332343"/>
                </a:cubicBezTo>
                <a:lnTo>
                  <a:pt x="40402" y="218043"/>
                </a:lnTo>
                <a:cubicBezTo>
                  <a:pt x="30877" y="208518"/>
                  <a:pt x="25559" y="195580"/>
                  <a:pt x="25559" y="182086"/>
                </a:cubicBezTo>
                <a:close/>
                <a:moveTo>
                  <a:pt x="139779" y="114300"/>
                </a:moveTo>
                <a:cubicBezTo>
                  <a:pt x="139779" y="100281"/>
                  <a:pt x="128398" y="88900"/>
                  <a:pt x="114379" y="88900"/>
                </a:cubicBezTo>
                <a:cubicBezTo>
                  <a:pt x="100361" y="88900"/>
                  <a:pt x="88979" y="100281"/>
                  <a:pt x="88979" y="114300"/>
                </a:cubicBezTo>
                <a:cubicBezTo>
                  <a:pt x="88979" y="128319"/>
                  <a:pt x="100361" y="139700"/>
                  <a:pt x="114379" y="139700"/>
                </a:cubicBezTo>
                <a:cubicBezTo>
                  <a:pt x="128398" y="139700"/>
                  <a:pt x="139779" y="128319"/>
                  <a:pt x="139779" y="1143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2133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Trees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25654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categorical outcomes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discrete class labels.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Examples: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Spam / Not Spam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Yes / No decisions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Disease / No Disease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1333500"/>
            <a:ext cx="4699000" cy="3429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0" y="1333500"/>
            <a:ext cx="4699000" cy="635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7900" y="158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C97B49"/>
          </a:solidFill>
          <a:ln/>
        </p:spPr>
      </p:sp>
      <p:sp>
        <p:nvSpPr>
          <p:cNvPr id="14" name="Text 12"/>
          <p:cNvSpPr/>
          <p:nvPr/>
        </p:nvSpPr>
        <p:spPr>
          <a:xfrm>
            <a:off x="6057900" y="2133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Trees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7900" y="2565400"/>
            <a:ext cx="419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continuous numerical values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output.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Examples: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House prices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Temperature forecasting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Stock price prediction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1333500"/>
            <a:ext cx="4699000" cy="3429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1333500"/>
            <a:ext cx="4699000" cy="635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99800" y="1587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63500" y="82550"/>
                </a:moveTo>
                <a:cubicBezTo>
                  <a:pt x="74014" y="82550"/>
                  <a:pt x="82550" y="74014"/>
                  <a:pt x="82550" y="63500"/>
                </a:cubicBezTo>
                <a:cubicBezTo>
                  <a:pt x="82550" y="52986"/>
                  <a:pt x="74014" y="44450"/>
                  <a:pt x="63500" y="44450"/>
                </a:cubicBezTo>
                <a:cubicBezTo>
                  <a:pt x="52986" y="44450"/>
                  <a:pt x="44450" y="52986"/>
                  <a:pt x="44450" y="63500"/>
                </a:cubicBezTo>
                <a:cubicBezTo>
                  <a:pt x="44450" y="74014"/>
                  <a:pt x="52986" y="82550"/>
                  <a:pt x="63500" y="82550"/>
                </a:cubicBezTo>
                <a:close/>
                <a:moveTo>
                  <a:pt x="127000" y="63500"/>
                </a:moveTo>
                <a:cubicBezTo>
                  <a:pt x="127000" y="89535"/>
                  <a:pt x="111363" y="111919"/>
                  <a:pt x="88900" y="121682"/>
                </a:cubicBezTo>
                <a:lnTo>
                  <a:pt x="88900" y="177800"/>
                </a:lnTo>
                <a:lnTo>
                  <a:pt x="228600" y="177800"/>
                </a:lnTo>
                <a:cubicBezTo>
                  <a:pt x="249634" y="177800"/>
                  <a:pt x="266700" y="160734"/>
                  <a:pt x="266700" y="139700"/>
                </a:cubicBezTo>
                <a:lnTo>
                  <a:pt x="266700" y="121682"/>
                </a:lnTo>
                <a:cubicBezTo>
                  <a:pt x="244237" y="111919"/>
                  <a:pt x="228600" y="89535"/>
                  <a:pt x="228600" y="63500"/>
                </a:cubicBezTo>
                <a:cubicBezTo>
                  <a:pt x="228600" y="28416"/>
                  <a:pt x="257016" y="0"/>
                  <a:pt x="292100" y="0"/>
                </a:cubicBezTo>
                <a:cubicBezTo>
                  <a:pt x="327184" y="0"/>
                  <a:pt x="355600" y="28416"/>
                  <a:pt x="355600" y="63500"/>
                </a:cubicBezTo>
                <a:cubicBezTo>
                  <a:pt x="355600" y="89535"/>
                  <a:pt x="339963" y="111919"/>
                  <a:pt x="317500" y="121682"/>
                </a:cubicBezTo>
                <a:lnTo>
                  <a:pt x="317500" y="139700"/>
                </a:lnTo>
                <a:cubicBezTo>
                  <a:pt x="317500" y="188833"/>
                  <a:pt x="277733" y="228600"/>
                  <a:pt x="228600" y="228600"/>
                </a:cubicBezTo>
                <a:lnTo>
                  <a:pt x="88900" y="228600"/>
                </a:lnTo>
                <a:lnTo>
                  <a:pt x="88900" y="284718"/>
                </a:lnTo>
                <a:cubicBezTo>
                  <a:pt x="111363" y="294481"/>
                  <a:pt x="127000" y="316865"/>
                  <a:pt x="127000" y="342900"/>
                </a:cubicBezTo>
                <a:cubicBezTo>
                  <a:pt x="127000" y="377984"/>
                  <a:pt x="98584" y="406400"/>
                  <a:pt x="63500" y="406400"/>
                </a:cubicBezTo>
                <a:cubicBezTo>
                  <a:pt x="28416" y="406400"/>
                  <a:pt x="0" y="377984"/>
                  <a:pt x="0" y="342900"/>
                </a:cubicBezTo>
                <a:cubicBezTo>
                  <a:pt x="0" y="316865"/>
                  <a:pt x="15637" y="294481"/>
                  <a:pt x="38100" y="284718"/>
                </a:cubicBezTo>
                <a:lnTo>
                  <a:pt x="38100" y="121761"/>
                </a:lnTo>
                <a:cubicBezTo>
                  <a:pt x="15637" y="111919"/>
                  <a:pt x="0" y="89535"/>
                  <a:pt x="0" y="63500"/>
                </a:cubicBezTo>
                <a:cubicBezTo>
                  <a:pt x="0" y="28416"/>
                  <a:pt x="28416" y="0"/>
                  <a:pt x="63500" y="0"/>
                </a:cubicBezTo>
                <a:cubicBezTo>
                  <a:pt x="98584" y="0"/>
                  <a:pt x="127000" y="28416"/>
                  <a:pt x="127000" y="63500"/>
                </a:cubicBezTo>
                <a:close/>
                <a:moveTo>
                  <a:pt x="311150" y="63500"/>
                </a:moveTo>
                <a:cubicBezTo>
                  <a:pt x="311150" y="52986"/>
                  <a:pt x="302614" y="44450"/>
                  <a:pt x="292100" y="44450"/>
                </a:cubicBezTo>
                <a:cubicBezTo>
                  <a:pt x="281586" y="44450"/>
                  <a:pt x="273050" y="52986"/>
                  <a:pt x="273050" y="63500"/>
                </a:cubicBezTo>
                <a:cubicBezTo>
                  <a:pt x="273050" y="74014"/>
                  <a:pt x="281586" y="82550"/>
                  <a:pt x="292100" y="82550"/>
                </a:cubicBezTo>
                <a:cubicBezTo>
                  <a:pt x="302614" y="82550"/>
                  <a:pt x="311150" y="74014"/>
                  <a:pt x="311150" y="63500"/>
                </a:cubicBezTo>
                <a:close/>
                <a:moveTo>
                  <a:pt x="63500" y="361950"/>
                </a:moveTo>
                <a:cubicBezTo>
                  <a:pt x="74014" y="361950"/>
                  <a:pt x="82550" y="353414"/>
                  <a:pt x="82550" y="342900"/>
                </a:cubicBezTo>
                <a:cubicBezTo>
                  <a:pt x="82550" y="332386"/>
                  <a:pt x="74014" y="323850"/>
                  <a:pt x="63500" y="323850"/>
                </a:cubicBezTo>
                <a:cubicBezTo>
                  <a:pt x="52986" y="323850"/>
                  <a:pt x="44450" y="332386"/>
                  <a:pt x="44450" y="342900"/>
                </a:cubicBezTo>
                <a:cubicBezTo>
                  <a:pt x="44450" y="353414"/>
                  <a:pt x="52986" y="361950"/>
                  <a:pt x="63500" y="361950"/>
                </a:cubicBezTo>
                <a:close/>
              </a:path>
            </a:pathLst>
          </a:custGeom>
          <a:solidFill>
            <a:srgbClr val="5A6B7B"/>
          </a:solidFill>
          <a:ln/>
        </p:spPr>
      </p:sp>
      <p:sp>
        <p:nvSpPr>
          <p:cNvPr id="19" name="Text 17"/>
          <p:cNvSpPr/>
          <p:nvPr/>
        </p:nvSpPr>
        <p:spPr>
          <a:xfrm>
            <a:off x="11074400" y="2133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 Algorithm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74400" y="25654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Classification And Regression Trees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handles both tasks.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feature: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Uses Gini Impurity for splitting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Binary splits only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Handles continuous data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Decision Tree Algorithms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88000"/>
          <a:ext cx="14732000" cy="2921000"/>
        </p:xfrm>
        <a:graphic>
          <a:graphicData uri="http://schemas.openxmlformats.org/drawingml/2006/table">
            <a:tbl>
              <a:tblPr/>
              <a:tblGrid>
                <a:gridCol w="2209800"/>
                <a:gridCol w="4419600"/>
                <a:gridCol w="4419600"/>
                <a:gridCol w="3683000"/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Splitting Criterion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Type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Year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Entropy / Information Gain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Categorical only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1986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C4.5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Gain Ratio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Categorical + Continuous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1993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CART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Gini Impurity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Categorical + Continuous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1984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CHAID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Chi-square test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Categorical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1980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Decision Trees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Splitting Process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778000"/>
            <a:ext cx="2921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7780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training data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root node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0" y="2095500"/>
            <a:ext cx="508000" cy="0"/>
          </a:xfrm>
          <a:prstGeom prst="straightConnector1">
            <a:avLst/>
          </a:prstGeom>
          <a:noFill/>
          <a:ln w="25400">
            <a:solidFill>
              <a:srgbClr val="C97B49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445000" y="1778000"/>
            <a:ext cx="2921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4445000" y="17780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best attribute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splitting criterion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93000" y="2095500"/>
            <a:ext cx="508000" cy="0"/>
          </a:xfrm>
          <a:prstGeom prst="straightConnector1">
            <a:avLst/>
          </a:prstGeom>
          <a:noFill/>
          <a:ln w="25400">
            <a:solidFill>
              <a:srgbClr val="C97B49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8128000" y="1778000"/>
            <a:ext cx="2921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8128000" y="17780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branches for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attribute value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176000" y="2095500"/>
            <a:ext cx="508000" cy="0"/>
          </a:xfrm>
          <a:prstGeom prst="straightConnector1">
            <a:avLst/>
          </a:prstGeom>
          <a:noFill/>
          <a:ln w="25400">
            <a:solidFill>
              <a:srgbClr val="C97B49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1811000" y="1778000"/>
            <a:ext cx="2921000" cy="1016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0" y="17780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recursively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until stopping condition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311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Splitting Criteria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619500"/>
            <a:ext cx="4699000" cy="228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3619500"/>
            <a:ext cx="50800" cy="228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1041400" y="37465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1400" y="4127500"/>
            <a:ext cx="419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Measures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impurity or randomness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a dataset using information theory.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Range: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(pure) to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(maximally mixed)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778500" y="3619500"/>
            <a:ext cx="4699000" cy="228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4" name="Shape 22"/>
          <p:cNvSpPr/>
          <p:nvPr/>
        </p:nvSpPr>
        <p:spPr>
          <a:xfrm>
            <a:off x="5778500" y="3619500"/>
            <a:ext cx="50800" cy="2286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25" name="Text 23"/>
          <p:cNvSpPr/>
          <p:nvPr/>
        </p:nvSpPr>
        <p:spPr>
          <a:xfrm>
            <a:off x="6057900" y="37465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Gain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57900" y="4127500"/>
            <a:ext cx="419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Measures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reduction in entropy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after splitting on an attribute.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Higher IG =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better splitting attribute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795000" y="3619500"/>
            <a:ext cx="4699000" cy="228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95000" y="3619500"/>
            <a:ext cx="50800" cy="22860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9" name="Text 27"/>
          <p:cNvSpPr/>
          <p:nvPr/>
        </p:nvSpPr>
        <p:spPr>
          <a:xfrm>
            <a:off x="11074400" y="37465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Gini Impurity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74400" y="4127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Measures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probability of misclassification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 a node.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Used by CART. Faster to compute than entropy.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2000" y="622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Stopping Conditions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6667500"/>
            <a:ext cx="1473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instances in a node belong to the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class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(pure node reached)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more attributes available for splitting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Maximum tree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depth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been reached (prevents overfitting)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Number of instances in a node falls below a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minimum threshold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Information Gain falls below a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minimum threshold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 — Measuring Uncertainty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Entropy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measures the impurity or randomness in a dataset. It quantifies the uncertainty involved in predicting the class of a random sample.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349500"/>
            <a:ext cx="7620000" cy="1143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349500"/>
            <a:ext cx="63500" cy="1143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241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 FORMULA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1041400" y="2768600"/>
                <a:ext cx="7112000" cy="571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H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−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dirty="0"/>
                            <m:t>∑</m:t>
                          </m:r>
                        </m:e>
                        <m:sub>
                          <m:r>
                            <a:rPr lang="en-US" sz="1300" i="1" dirty="0"/>
                            <m:t>i</m:t>
                          </m:r>
                          <m:r>
                            <a:rPr lang="en-US" sz="1300" dirty="0"/>
                            <m:t>=</m:t>
                          </m:r>
                          <m:r>
                            <a:rPr lang="en-US" sz="1300" dirty="0"/>
                            <m:t>1</m:t>
                          </m:r>
                        </m:sub>
                        <m:sup>
                          <m:r>
                            <a:rPr lang="en-US" sz="1300" i="1" dirty="0"/>
                            <m:t>n</m:t>
                          </m:r>
                        </m:sup>
                      </m:sSubSup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p</m:t>
                          </m:r>
                        </m:e>
                        <m:sub>
                          <m:r>
                            <a:rPr lang="en-US" sz="1300" i="1" dirty="0"/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log</m:t>
                          </m:r>
                          <m:r>
                            <a:rPr lang="en-US" sz="1300" dirty="0"/>
                            <m:t>⁡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p</m:t>
                          </m:r>
                        </m:e>
                        <m:sub>
                          <m:r>
                            <a:rPr lang="en-US" sz="1300" i="1" dirty="0"/>
                            <m:t>i</m:t>
                          </m:r>
                        </m:sub>
                      </m:sSub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1041400" y="2768600"/>
                <a:ext cx="7112000" cy="571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H(S) = -\sum_{i=1}^{n} p_i \log_2(p_i) )</a:t>
                </a:r>
                <a:endParaRPr lang="en-US" sz="1800" dirty="0"/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762000" y="3683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Where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dataset,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proportion of instances in class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number of classes.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4699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 Range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143500"/>
            <a:ext cx="36830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143500"/>
            <a:ext cx="368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H(S) = 0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Pure dataset — all instances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belong to the same class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99000" y="5143500"/>
            <a:ext cx="3683000" cy="1270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6" name="Text 14"/>
          <p:cNvSpPr/>
          <p:nvPr/>
        </p:nvSpPr>
        <p:spPr>
          <a:xfrm>
            <a:off x="4699000" y="5143500"/>
            <a:ext cx="368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H(S) = 1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Maximally mixed — perfectly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class distribution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667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7112000"/>
            <a:ext cx="7620000" cy="1397000"/>
          </a:xfrm>
          <a:prstGeom prst="rect">
            <a:avLst/>
          </a:prstGeom>
          <a:solidFill>
            <a:srgbClr val="F0EEE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1041400" y="7213600"/>
                <a:ext cx="7112000" cy="1206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Dataset: </a:t>
                </a:r>
                <a:pPr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9 Yes</a:t>
                </a:r>
                <a:pPr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and </a:t>
                </a:r>
                <a:pPr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5 No</a:t>
                </a:r>
                <a:pPr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(14 total instances)</a:t>
                </a:r>
                <a:endParaRPr lang="en-US" sz="18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H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−</m:t>
                      </m:r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9</m:t>
                          </m:r>
                        </m:num>
                        <m:den>
                          <m:r>
                            <a:rPr lang="en-US" sz="1300" dirty="0"/>
                            <m:t>14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log</m:t>
                          </m:r>
                          <m:r>
                            <a:rPr lang="en-US" sz="1300" dirty="0"/>
                            <m:t>⁡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9</m:t>
                          </m:r>
                        </m:num>
                        <m:den>
                          <m:r>
                            <a:rPr lang="en-US" sz="1300" dirty="0"/>
                            <m:t>14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−</m:t>
                      </m:r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5</m:t>
                          </m:r>
                        </m:num>
                        <m:den>
                          <m:r>
                            <a:rPr lang="en-US" sz="1300" dirty="0"/>
                            <m:t>14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log</m:t>
                          </m:r>
                          <m:r>
                            <a:rPr lang="en-US" sz="1300" dirty="0"/>
                            <m:t>⁡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5</m:t>
                          </m:r>
                        </m:num>
                        <m:den>
                          <m:r>
                            <a:rPr lang="en-US" sz="1300" dirty="0"/>
                            <m:t>14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0.940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C97B49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Higher entropy = more uncertainty = harder to classify</a:t>
                </a:r>
                <a:endParaRPr lang="en-US" sz="1800" dirty="0"/>
              </a:p>
            </p:txBody>
          </p:sp>
        </mc:Choice>
        <mc:Fallback xmlns="">
          <p:sp>
            <p:nvSpPr>
              <p:cNvPr id="19" name="Text 17"/>
              <p:cNvSpPr/>
              <p:nvPr/>
            </p:nvSpPr>
            <p:spPr>
              <a:xfrm>
                <a:off x="1041400" y="7213600"/>
                <a:ext cx="7112000" cy="1206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Dataset: </a:t>
                </a:r>
                <a:pPr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9 Yes</a:t>
                </a:r>
                <a:pPr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and </a:t>
                </a:r>
                <a:pPr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5 No</a:t>
                </a:r>
                <a:pPr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(14 total instances)</a:t>
                </a:r>
                <a:endParaRPr lang="en-US" sz="18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H(S) = -(\frac{9}{14})\log_2(\frac{9}{14}) - (\frac{5}{14})\log_2(\frac{5}{14}) = 0.940 )</a:t>
                </a:r>
                <a:endParaRPr lang="en-US" sz="1800" dirty="0"/>
              </a:p>
              <a:p>
                <a:pPr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C97B49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Higher entropy = more uncertainty = harder to classify</a:t>
                </a:r>
                <a:endParaRPr lang="en-US" sz="1800" dirty="0"/>
              </a:p>
            </p:txBody>
          </p:sp>
        </mc:Fallback>
      </mc:AlternateContent>
      <p:sp>
        <p:nvSpPr>
          <p:cNvPr id="20" name="Text 18"/>
          <p:cNvSpPr/>
          <p:nvPr/>
        </p:nvSpPr>
        <p:spPr>
          <a:xfrm>
            <a:off x="9144000" y="1270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 vs. Class Proportion</a:t>
            </a:r>
            <a:endParaRPr lang="en-US" sz="16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890000" y="1714500"/>
          <a:ext cx="6604000" cy="330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8890000" y="5334000"/>
            <a:ext cx="6604000" cy="1524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3" name="Shape 20"/>
          <p:cNvSpPr/>
          <p:nvPr/>
        </p:nvSpPr>
        <p:spPr>
          <a:xfrm>
            <a:off x="8890000" y="5334000"/>
            <a:ext cx="63500" cy="1524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4" name="Text 21"/>
          <p:cNvSpPr/>
          <p:nvPr/>
        </p:nvSpPr>
        <p:spPr>
          <a:xfrm>
            <a:off x="9169400" y="5461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Entropy is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0.940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close to max randomness. Splitting reduces entropy toward 0, creating purer nodes.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890000" y="7112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curve peaks at p = 0.5 (perfectly balanced classes) and reaches 0 when all instances belong to one class.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Gain — Choosing the Best Split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889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 Gain (IG)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quantifies entropy reduction from splitting on an attribute. The attribute with the highest IG is selected as the decision node.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8890000" cy="127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22500"/>
            <a:ext cx="63500" cy="1270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2311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GAIN FORMULA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1041400" y="2667000"/>
                <a:ext cx="8382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I</m:t>
                      </m:r>
                      <m:r>
                        <a:rPr lang="en-US" sz="1800" i="1" dirty="0"/>
                        <m:t>G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,</m:t>
                      </m:r>
                      <m:r>
                        <a:rPr lang="en-US" sz="1800" i="1" dirty="0"/>
                        <m:t>A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H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−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dirty="0"/>
                            <m:t>∑</m:t>
                          </m:r>
                        </m:e>
                        <m:sub>
                          <m:r>
                            <a:rPr lang="en-US" sz="1300" i="1" dirty="0"/>
                            <m:t>v</m:t>
                          </m:r>
                          <m:r>
                            <a:rPr lang="en-US" sz="1300" dirty="0"/>
                            <m:t>∈</m:t>
                          </m:r>
                          <m:r>
                            <a:rPr lang="en-US" sz="1300" i="1" dirty="0"/>
                            <m:t>V</m:t>
                          </m:r>
                          <m:r>
                            <a:rPr lang="en-US" sz="1300" i="1" dirty="0"/>
                            <m:t>a</m:t>
                          </m:r>
                          <m:r>
                            <a:rPr lang="en-US" sz="1300" i="1" dirty="0"/>
                            <m:t>l</m:t>
                          </m:r>
                          <m:r>
                            <a:rPr lang="en-US" sz="1300" i="1" dirty="0"/>
                            <m:t>u</m:t>
                          </m:r>
                          <m:r>
                            <a:rPr lang="en-US" sz="1300" i="1" dirty="0"/>
                            <m:t>e</m:t>
                          </m:r>
                          <m:r>
                            <a:rPr lang="en-US" sz="1300" i="1" dirty="0"/>
                            <m:t>s</m:t>
                          </m:r>
                          <m:r>
                            <a:rPr lang="en-US" sz="1300" dirty="0"/>
                            <m:t>(</m:t>
                          </m:r>
                          <m:r>
                            <a:rPr lang="en-US" sz="1300" i="1" dirty="0"/>
                            <m:t>A</m:t>
                          </m:r>
                          <m:r>
                            <a:rPr lang="en-US" sz="1300" dirty="0"/>
                            <m:t>)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∣</m:t>
                          </m:r>
                          <m:sSub>
                            <m:sSubPr>
                              <m:ctrlPr>
                                <a:rPr lang="en-US" sz="900" dirty="0"/>
                              </m:ctrlPr>
                            </m:sSubPr>
                            <m:e>
                              <m:r>
                                <a:rPr lang="en-US" sz="900" i="1" dirty="0"/>
                                <m:t>S</m:t>
                              </m:r>
                            </m:e>
                            <m:sub>
                              <m:r>
                                <a:rPr lang="en-US" sz="900" i="1" dirty="0"/>
                                <m:t>v</m:t>
                              </m:r>
                            </m:sub>
                          </m:sSub>
                          <m:r>
                            <a:rPr lang="en-US" sz="1300" dirty="0"/>
                            <m:t>∣</m:t>
                          </m:r>
                        </m:num>
                        <m:den>
                          <m:r>
                            <a:rPr lang="en-US" sz="1300" dirty="0"/>
                            <m:t>∣</m:t>
                          </m:r>
                          <m:r>
                            <a:rPr lang="en-US" sz="1300" i="1" dirty="0"/>
                            <m:t>S</m:t>
                          </m:r>
                          <m:r>
                            <a:rPr lang="en-US" sz="1300" dirty="0"/>
                            <m:t>∣</m:t>
                          </m:r>
                        </m:den>
                      </m:f>
                      <m:r>
                        <a:rPr lang="en-US" sz="1800" dirty="0"/>
                        <m:t>⋅</m:t>
                      </m:r>
                      <m:r>
                        <a:rPr lang="en-US" sz="1800" i="1" dirty="0"/>
                        <m:t>H</m:t>
                      </m:r>
                      <m:r>
                        <a:rPr lang="en-US" sz="1800" dirty="0"/>
                        <m:t>(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S</m:t>
                          </m:r>
                        </m:e>
                        <m:sub>
                          <m:r>
                            <a:rPr lang="en-US" sz="1300" i="1" dirty="0"/>
                            <m:t>v</m:t>
                          </m:r>
                        </m:sub>
                      </m:sSub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1041400" y="2667000"/>
                <a:ext cx="8382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IG(S, A) = H(S) - \sum_{v \in Values(A)} \frac{|S_v|}{|S|} \cdot H(S_v) )</a:t>
                </a:r>
                <a:endParaRPr lang="en-US" sz="1800" dirty="0"/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762000" y="3683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Where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Sᵥ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subset where attribute A has value v,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|Sᵥ|/|S|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weighted proportion,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H(Sᵥ)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entropy of the subset.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Higher IG = the attribute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better organizes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data into homogeneous groups.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4953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IG Guides Splitting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55245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52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1000" y="55245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Calculate entropy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H(S)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dataset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6000" y="61595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159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61595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each attribute, compute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6000" y="6794500"/>
            <a:ext cx="457200" cy="457200"/>
          </a:xfrm>
          <a:prstGeom prst="ellipse">
            <a:avLst/>
          </a:prstGeom>
          <a:solidFill>
            <a:srgbClr val="C97B49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679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51000" y="67945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Select attribute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highest IG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16000" y="7429500"/>
            <a:ext cx="457200" cy="457200"/>
          </a:xfrm>
          <a:prstGeom prst="ellipse">
            <a:avLst/>
          </a:prstGeom>
          <a:solidFill>
            <a:srgbClr val="C97B49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7429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51000" y="74295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Split data and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repeat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recursively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414000" y="1270000"/>
            <a:ext cx="5080000" cy="3302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14000" y="1270000"/>
            <a:ext cx="63500" cy="3302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7" name="Text 25"/>
          <p:cNvSpPr/>
          <p:nvPr/>
        </p:nvSpPr>
        <p:spPr>
          <a:xfrm>
            <a:off x="10731500" y="1422400"/>
            <a:ext cx="4508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31500" y="1841500"/>
            <a:ext cx="4508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 of Information Gain as the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"organizing power"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an attribute: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High IG = creates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pure, homogeneous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groups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Low IG = creates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mixed, uncertain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groups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ID3 picks the attribute that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maximizes IG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 each step — a greedy approach.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414000" y="4889500"/>
            <a:ext cx="5080000" cy="177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731500" y="5016500"/>
            <a:ext cx="4508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CALCULATION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731500" y="5397500"/>
            <a:ext cx="4508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splitting by "Outlook" reduces entropy from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0.940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weighted avg of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0.693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IG(Outlook) = 0.940 - 0.693 = 0.247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414000" y="6921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attribute with the highest Information Gain becomes the root node of the decision tree.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ID3 Algorithm —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14732000" cy="95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63500" cy="952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13335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ID3 (Iterative Dichotomiser 3)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was introduced by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Ross Quinlan in 1986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 is a foundational decision tree learning algorithm that uses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greedy, top-down recursive approach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build classification trees.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514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04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1206500" y="2984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Classification only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predicts categorical class labels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2950" y="3746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6804" y="223004"/>
                </a:moveTo>
                <a:lnTo>
                  <a:pt x="89654" y="280154"/>
                </a:lnTo>
                <a:cubicBezTo>
                  <a:pt x="82213" y="287595"/>
                  <a:pt x="70128" y="287595"/>
                  <a:pt x="62686" y="280154"/>
                </a:cubicBezTo>
                <a:lnTo>
                  <a:pt x="5536" y="223004"/>
                </a:lnTo>
                <a:cubicBezTo>
                  <a:pt x="-1905" y="215563"/>
                  <a:pt x="-1905" y="203478"/>
                  <a:pt x="5536" y="196036"/>
                </a:cubicBezTo>
                <a:cubicBezTo>
                  <a:pt x="12978" y="188595"/>
                  <a:pt x="25063" y="188595"/>
                  <a:pt x="32504" y="196036"/>
                </a:cubicBezTo>
                <a:lnTo>
                  <a:pt x="57150" y="220682"/>
                </a:lnTo>
                <a:lnTo>
                  <a:pt x="57150" y="38100"/>
                </a:lnTo>
                <a:cubicBezTo>
                  <a:pt x="57150" y="27563"/>
                  <a:pt x="65663" y="19050"/>
                  <a:pt x="76200" y="19050"/>
                </a:cubicBezTo>
                <a:cubicBezTo>
                  <a:pt x="86737" y="19050"/>
                  <a:pt x="95250" y="27563"/>
                  <a:pt x="95250" y="38100"/>
                </a:cubicBezTo>
                <a:lnTo>
                  <a:pt x="95250" y="220682"/>
                </a:lnTo>
                <a:lnTo>
                  <a:pt x="119896" y="196036"/>
                </a:lnTo>
                <a:cubicBezTo>
                  <a:pt x="127337" y="188595"/>
                  <a:pt x="139422" y="188595"/>
                  <a:pt x="146864" y="196036"/>
                </a:cubicBezTo>
                <a:cubicBezTo>
                  <a:pt x="154305" y="203478"/>
                  <a:pt x="154305" y="215563"/>
                  <a:pt x="146864" y="223004"/>
                </a:cubicBezTo>
                <a:close/>
                <a:moveTo>
                  <a:pt x="190500" y="285750"/>
                </a:moveTo>
                <a:cubicBezTo>
                  <a:pt x="179963" y="285750"/>
                  <a:pt x="171450" y="277237"/>
                  <a:pt x="171450" y="266700"/>
                </a:cubicBezTo>
                <a:cubicBezTo>
                  <a:pt x="171450" y="256163"/>
                  <a:pt x="179963" y="247650"/>
                  <a:pt x="190500" y="247650"/>
                </a:cubicBezTo>
                <a:lnTo>
                  <a:pt x="209550" y="247650"/>
                </a:lnTo>
                <a:cubicBezTo>
                  <a:pt x="220087" y="247650"/>
                  <a:pt x="228600" y="256163"/>
                  <a:pt x="228600" y="266700"/>
                </a:cubicBezTo>
                <a:cubicBezTo>
                  <a:pt x="228600" y="277237"/>
                  <a:pt x="220087" y="285750"/>
                  <a:pt x="209550" y="285750"/>
                </a:cubicBezTo>
                <a:lnTo>
                  <a:pt x="190500" y="285750"/>
                </a:lnTo>
                <a:close/>
                <a:moveTo>
                  <a:pt x="190500" y="209550"/>
                </a:moveTo>
                <a:cubicBezTo>
                  <a:pt x="179963" y="209550"/>
                  <a:pt x="171450" y="201037"/>
                  <a:pt x="171450" y="190500"/>
                </a:cubicBezTo>
                <a:cubicBezTo>
                  <a:pt x="171450" y="179963"/>
                  <a:pt x="179963" y="171450"/>
                  <a:pt x="190500" y="171450"/>
                </a:cubicBez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190500" y="209550"/>
                </a:lnTo>
                <a:close/>
                <a:moveTo>
                  <a:pt x="190500" y="133350"/>
                </a:moveTo>
                <a:cubicBezTo>
                  <a:pt x="179963" y="133350"/>
                  <a:pt x="171450" y="124837"/>
                  <a:pt x="171450" y="114300"/>
                </a:cubicBezTo>
                <a:cubicBezTo>
                  <a:pt x="171450" y="103763"/>
                  <a:pt x="179963" y="95250"/>
                  <a:pt x="190500" y="95250"/>
                </a:cubicBezTo>
                <a:lnTo>
                  <a:pt x="285750" y="95250"/>
                </a:lnTo>
                <a:cubicBezTo>
                  <a:pt x="296287" y="95250"/>
                  <a:pt x="304800" y="103763"/>
                  <a:pt x="304800" y="114300"/>
                </a:cubicBezTo>
                <a:cubicBezTo>
                  <a:pt x="304800" y="124837"/>
                  <a:pt x="296287" y="133350"/>
                  <a:pt x="285750" y="133350"/>
                </a:cubicBezTo>
                <a:lnTo>
                  <a:pt x="190500" y="133350"/>
                </a:lnTo>
                <a:close/>
                <a:moveTo>
                  <a:pt x="190500" y="57150"/>
                </a:moveTo>
                <a:cubicBezTo>
                  <a:pt x="179963" y="57150"/>
                  <a:pt x="171450" y="48637"/>
                  <a:pt x="171450" y="38100"/>
                </a:cubicBezTo>
                <a:cubicBezTo>
                  <a:pt x="171450" y="27563"/>
                  <a:pt x="179963" y="19050"/>
                  <a:pt x="190500" y="19050"/>
                </a:cubicBezTo>
                <a:lnTo>
                  <a:pt x="323850" y="19050"/>
                </a:lnTo>
                <a:cubicBezTo>
                  <a:pt x="334387" y="19050"/>
                  <a:pt x="342900" y="27563"/>
                  <a:pt x="342900" y="38100"/>
                </a:cubicBezTo>
                <a:cubicBezTo>
                  <a:pt x="342900" y="48637"/>
                  <a:pt x="334387" y="57150"/>
                  <a:pt x="323850" y="57150"/>
                </a:cubicBezTo>
                <a:lnTo>
                  <a:pt x="190500" y="5715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206500" y="3683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Greedy approach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selects best local split at each step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44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85725"/>
                </a:moveTo>
                <a:cubicBezTo>
                  <a:pt x="44346" y="85725"/>
                  <a:pt x="57150" y="72921"/>
                  <a:pt x="57150" y="57150"/>
                </a:cubicBezTo>
                <a:cubicBezTo>
                  <a:pt x="57150" y="41379"/>
                  <a:pt x="44346" y="28575"/>
                  <a:pt x="28575" y="28575"/>
                </a:cubicBezTo>
                <a:cubicBezTo>
                  <a:pt x="12804" y="28575"/>
                  <a:pt x="0" y="41379"/>
                  <a:pt x="0" y="57150"/>
                </a:cubicBezTo>
                <a:cubicBezTo>
                  <a:pt x="0" y="72921"/>
                  <a:pt x="12804" y="85725"/>
                  <a:pt x="28575" y="85725"/>
                </a:cubicBezTo>
                <a:close/>
                <a:moveTo>
                  <a:pt x="114300" y="38100"/>
                </a:moveTo>
                <a:cubicBezTo>
                  <a:pt x="103763" y="38100"/>
                  <a:pt x="95250" y="46613"/>
                  <a:pt x="95250" y="57150"/>
                </a:cubicBezTo>
                <a:cubicBezTo>
                  <a:pt x="95250" y="67687"/>
                  <a:pt x="103763" y="76200"/>
                  <a:pt x="114300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14300" y="38100"/>
                </a:lnTo>
                <a:close/>
                <a:moveTo>
                  <a:pt x="114300" y="133350"/>
                </a:moveTo>
                <a:cubicBezTo>
                  <a:pt x="103763" y="133350"/>
                  <a:pt x="95250" y="141863"/>
                  <a:pt x="95250" y="152400"/>
                </a:cubicBezTo>
                <a:cubicBezTo>
                  <a:pt x="95250" y="162937"/>
                  <a:pt x="103763" y="171450"/>
                  <a:pt x="114300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114300" y="133350"/>
                </a:lnTo>
                <a:close/>
                <a:moveTo>
                  <a:pt x="114300" y="228600"/>
                </a:moveTo>
                <a:cubicBezTo>
                  <a:pt x="103763" y="228600"/>
                  <a:pt x="95250" y="237113"/>
                  <a:pt x="95250" y="247650"/>
                </a:cubicBezTo>
                <a:cubicBezTo>
                  <a:pt x="95250" y="258187"/>
                  <a:pt x="103763" y="266700"/>
                  <a:pt x="114300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14300" y="228600"/>
                </a:lnTo>
                <a:close/>
                <a:moveTo>
                  <a:pt x="28575" y="276225"/>
                </a:moveTo>
                <a:cubicBezTo>
                  <a:pt x="44346" y="276225"/>
                  <a:pt x="57150" y="263421"/>
                  <a:pt x="57150" y="247650"/>
                </a:cubicBezTo>
                <a:cubicBezTo>
                  <a:pt x="57150" y="231879"/>
                  <a:pt x="44346" y="219075"/>
                  <a:pt x="28575" y="219075"/>
                </a:cubicBezTo>
                <a:cubicBezTo>
                  <a:pt x="12804" y="219075"/>
                  <a:pt x="0" y="231879"/>
                  <a:pt x="0" y="247650"/>
                </a:cubicBezTo>
                <a:cubicBezTo>
                  <a:pt x="0" y="263421"/>
                  <a:pt x="12804" y="276225"/>
                  <a:pt x="28575" y="276225"/>
                </a:cubicBezTo>
                <a:close/>
                <a:moveTo>
                  <a:pt x="57150" y="152400"/>
                </a:moveTo>
                <a:cubicBezTo>
                  <a:pt x="57150" y="136629"/>
                  <a:pt x="44346" y="123825"/>
                  <a:pt x="28575" y="123825"/>
                </a:cubicBezTo>
                <a:cubicBezTo>
                  <a:pt x="12804" y="123825"/>
                  <a:pt x="0" y="136629"/>
                  <a:pt x="0" y="152400"/>
                </a:cubicBezTo>
                <a:cubicBezTo>
                  <a:pt x="0" y="168171"/>
                  <a:pt x="12804" y="180975"/>
                  <a:pt x="28575" y="180975"/>
                </a:cubicBezTo>
                <a:cubicBezTo>
                  <a:pt x="44346" y="180975"/>
                  <a:pt x="57150" y="168171"/>
                  <a:pt x="57150" y="1524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1206500" y="4381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Categorical attributes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designed for discrete features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14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206500" y="5080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Influenced C4.5 and CART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basis for modern tree algorithms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2000" y="2514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Mechanism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2984500"/>
            <a:ext cx="7112000" cy="292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8699500" y="3149600"/>
            <a:ext cx="6477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ID3 Selects Attributes: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Calculate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H(S) of target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For each attribute, calculate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Gain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Select attribute with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IG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Split dataset on selected attribute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recursively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each subset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969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Stopping Conditions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451600"/>
            <a:ext cx="4699000" cy="101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3" name="Shape 21"/>
          <p:cNvSpPr/>
          <p:nvPr/>
        </p:nvSpPr>
        <p:spPr>
          <a:xfrm>
            <a:off x="9906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2D8A4E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" y="6540500"/>
            <a:ext cx="3746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instances in subset belong to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(pure node)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778500" y="6451600"/>
            <a:ext cx="4699000" cy="101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6" name="Shape 24"/>
          <p:cNvSpPr/>
          <p:nvPr/>
        </p:nvSpPr>
        <p:spPr>
          <a:xfrm>
            <a:off x="60071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C97B49"/>
          </a:solidFill>
          <a:ln/>
        </p:spPr>
      </p:sp>
      <p:sp>
        <p:nvSpPr>
          <p:cNvPr id="27" name="Text 25"/>
          <p:cNvSpPr/>
          <p:nvPr/>
        </p:nvSpPr>
        <p:spPr>
          <a:xfrm>
            <a:off x="6515100" y="6540500"/>
            <a:ext cx="3746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attributes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remaining for further splitting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795000" y="6451600"/>
            <a:ext cx="4699000" cy="101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236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B03030"/>
          </a:solidFill>
          <a:ln/>
        </p:spPr>
      </p:sp>
      <p:sp>
        <p:nvSpPr>
          <p:cNvPr id="30" name="Text 28"/>
          <p:cNvSpPr/>
          <p:nvPr/>
        </p:nvSpPr>
        <p:spPr>
          <a:xfrm>
            <a:off x="11531600" y="6540500"/>
            <a:ext cx="3746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Subset becomes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empty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(no instances to classify)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2000" y="7747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a stopping condition is met,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leaf node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created and assigned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majority class label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corresponding subset.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ID3 Algorithm — Step-by-Step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558800" cy="5588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333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1333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Calculate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entropy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target attribute for the dataset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2095500"/>
            <a:ext cx="558800" cy="5588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095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2095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each attribute, calculate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 Gain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2857500"/>
            <a:ext cx="558800" cy="558800"/>
          </a:xfrm>
          <a:prstGeom prst="ellipse">
            <a:avLst/>
          </a:prstGeom>
          <a:solidFill>
            <a:srgbClr val="C97B49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2857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4000" y="2857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Select attribute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highest IG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decision node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3619500"/>
            <a:ext cx="558800" cy="558800"/>
          </a:xfrm>
          <a:prstGeom prst="ellipse">
            <a:avLst/>
          </a:prstGeom>
          <a:solidFill>
            <a:srgbClr val="C97B49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3619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3619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Split dataset into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subsets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based on selected attribute values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4381500"/>
            <a:ext cx="558800" cy="558800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4381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24000" y="4381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Recursively apply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steps 1-4 to each subset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143500"/>
            <a:ext cx="558800" cy="558800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143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000" y="5143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pure node, no attributes, or empty subset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5905500"/>
            <a:ext cx="558800" cy="558800"/>
          </a:xfrm>
          <a:prstGeom prst="ellipse">
            <a:avLst/>
          </a:prstGeom>
          <a:solidFill>
            <a:srgbClr val="2D8A4E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5905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24000" y="5905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Assign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majority class label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leaf nodes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36000" y="1333500"/>
            <a:ext cx="6858000" cy="5334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8" name="Text 26"/>
          <p:cNvSpPr/>
          <p:nvPr/>
        </p:nvSpPr>
        <p:spPr>
          <a:xfrm>
            <a:off x="8953500" y="1498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ID3 Pseudocode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53500" y="1930400"/>
            <a:ext cx="6223000" cy="12700"/>
          </a:xfrm>
          <a:prstGeom prst="rect">
            <a:avLst/>
          </a:prstGeom>
          <a:solidFill>
            <a:srgbClr val="D5D1CC"/>
          </a:solidFill>
          <a:ln/>
        </p:spPr>
      </p:sp>
      <p:sp>
        <p:nvSpPr>
          <p:cNvPr id="30" name="Text 28"/>
          <p:cNvSpPr/>
          <p:nvPr/>
        </p:nvSpPr>
        <p:spPr>
          <a:xfrm>
            <a:off x="8953500" y="2095500"/>
            <a:ext cx="6223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ID3(dataset, features, target):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instances have same class: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leaf node with that class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features remaining: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leaf with majority class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dataset is empty: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leaf with parent majority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best_feature ← argmax IG(feature)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 ← new node(best_feature)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each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value v in best_feature: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subset ← rows where feature = v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subtree ← ID3(subset, features - {best}, target)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tree.add_branch(v, subtree)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tree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6858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ID3 algorithm follows a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divide-and-conquer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strategy, recursively partitioning the dataset until all subsets are pure or no further splits are possible.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ID3 Worked Example — Play Tennis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06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(14 INSTANCES)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4986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Attributes: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Outlook, Temperature, Humidity, Wind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Target: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 Tennis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(Yes/No) — 9 Yes, 5 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 CALCULATE ENTROPY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762000" y="2540000"/>
                <a:ext cx="7112000" cy="44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H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−</m:t>
                      </m:r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9</m:t>
                          </m:r>
                        </m:num>
                        <m:den>
                          <m:r>
                            <a:rPr lang="en-US" sz="1300" dirty="0"/>
                            <m:t>14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log</m:t>
                          </m:r>
                          <m:r>
                            <a:rPr lang="en-US" sz="1300" dirty="0"/>
                            <m:t>⁡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9</m:t>
                          </m:r>
                        </m:num>
                        <m:den>
                          <m:r>
                            <a:rPr lang="en-US" sz="1300" dirty="0"/>
                            <m:t>14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−</m:t>
                      </m:r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5</m:t>
                          </m:r>
                        </m:num>
                        <m:den>
                          <m:r>
                            <a:rPr lang="en-US" sz="1300" dirty="0"/>
                            <m:t>14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log</m:t>
                          </m:r>
                          <m:r>
                            <a:rPr lang="en-US" sz="1300" dirty="0"/>
                            <m:t>⁡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5</m:t>
                          </m:r>
                        </m:num>
                        <m:den>
                          <m:r>
                            <a:rPr lang="en-US" sz="1300" dirty="0"/>
                            <m:t>14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0.940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762000" y="2540000"/>
                <a:ext cx="7112000" cy="44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H(S) = -(\frac{9}{14})\log_2(\frac{9}{14}) - (\frac{5}{14})\log_2(\frac{5}{14}) = 0.940 )</a:t>
                </a:r>
                <a:endParaRPr lang="en-US" sz="1800" dirty="0"/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762000" y="3149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 INFORMATION GAIN FOR EACH ATTRIBUTE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530600"/>
          <a:ext cx="7112000" cy="2032000"/>
        </p:xfrm>
        <a:graphic>
          <a:graphicData uri="http://schemas.openxmlformats.org/drawingml/2006/table">
            <a:tbl>
              <a:tblPr/>
              <a:tblGrid>
                <a:gridCol w="2844800"/>
                <a:gridCol w="2133600"/>
                <a:gridCol w="2133600"/>
              </a:tblGrid>
              <a:tr h="447296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Info Gain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9617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97B4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Outlook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97B4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0.247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97B4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1st 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17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Humidity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0.152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2nd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39617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0.048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3rd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17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Temperature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0.029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4th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5778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 BUILD THE TREE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6121400"/>
            <a:ext cx="7112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Outlook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highest IG (0.247) →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Root Node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Overcast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branch → all Yes →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Leaf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Sunny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branch → check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Humidity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 →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(leaf) | Normal →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(leaf)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Rain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branch → check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Wind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Strong →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(leaf) | Weak →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(leaf)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36000" y="12065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DECISION TREE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922000" y="1651000"/>
            <a:ext cx="1524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6" name="Text 13"/>
          <p:cNvSpPr/>
          <p:nvPr/>
        </p:nvSpPr>
        <p:spPr>
          <a:xfrm>
            <a:off x="10922000" y="1651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Outlook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160000" y="2159000"/>
            <a:ext cx="1524000" cy="635000"/>
          </a:xfrm>
          <a:prstGeom prst="straightConnector1">
            <a:avLst/>
          </a:prstGeom>
          <a:noFill/>
          <a:ln w="19050">
            <a:solidFill>
              <a:srgbClr val="5A6B7B"/>
            </a:solidFill>
            <a:prstDash val="solid"/>
            <a:headEnd type="none"/>
            <a:tailEnd type="arrow"/>
          </a:ln>
        </p:spPr>
      </p:sp>
      <p:sp>
        <p:nvSpPr>
          <p:cNvPr id="18" name="Shape 15"/>
          <p:cNvSpPr/>
          <p:nvPr/>
        </p:nvSpPr>
        <p:spPr>
          <a:xfrm>
            <a:off x="11684000" y="2159000"/>
            <a:ext cx="0" cy="635000"/>
          </a:xfrm>
          <a:prstGeom prst="straightConnector1">
            <a:avLst/>
          </a:prstGeom>
          <a:noFill/>
          <a:ln w="19050">
            <a:solidFill>
              <a:srgbClr val="5A6B7B"/>
            </a:solidFill>
            <a:prstDash val="solid"/>
            <a:headEnd type="none"/>
            <a:tailEnd type="arrow"/>
          </a:ln>
        </p:spPr>
      </p:sp>
      <p:sp>
        <p:nvSpPr>
          <p:cNvPr id="19" name="Shape 16"/>
          <p:cNvSpPr/>
          <p:nvPr/>
        </p:nvSpPr>
        <p:spPr>
          <a:xfrm flipH="1">
            <a:off x="11684000" y="2159000"/>
            <a:ext cx="1524000" cy="635000"/>
          </a:xfrm>
          <a:prstGeom prst="straightConnector1">
            <a:avLst/>
          </a:prstGeom>
          <a:noFill/>
          <a:ln w="19050">
            <a:solidFill>
              <a:srgbClr val="5A6B7B"/>
            </a:solidFill>
            <a:prstDash val="solid"/>
            <a:headEnd type="arrow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9779000" y="22606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747500" y="2260600"/>
            <a:ext cx="82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Overcast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827000" y="2260600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71000" y="2857500"/>
            <a:ext cx="1397000" cy="4572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4" name="Text 21"/>
          <p:cNvSpPr/>
          <p:nvPr/>
        </p:nvSpPr>
        <p:spPr>
          <a:xfrm>
            <a:off x="9271000" y="2857500"/>
            <a:ext cx="139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Humidity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985500" y="2857500"/>
            <a:ext cx="1397000" cy="4572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6" name="Text 23"/>
          <p:cNvSpPr/>
          <p:nvPr/>
        </p:nvSpPr>
        <p:spPr>
          <a:xfrm>
            <a:off x="10985500" y="2857500"/>
            <a:ext cx="139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Yes ✓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2700000" y="2857500"/>
            <a:ext cx="1397000" cy="4572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8" name="Text 25"/>
          <p:cNvSpPr/>
          <p:nvPr/>
        </p:nvSpPr>
        <p:spPr>
          <a:xfrm>
            <a:off x="12700000" y="2857500"/>
            <a:ext cx="139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17000" y="3314700"/>
            <a:ext cx="889000" cy="571500"/>
          </a:xfrm>
          <a:prstGeom prst="straightConnector1">
            <a:avLst/>
          </a:prstGeom>
          <a:noFill/>
          <a:ln w="15240">
            <a:solidFill>
              <a:srgbClr val="D5D1CC"/>
            </a:solidFill>
            <a:prstDash val="solid"/>
            <a:headEnd type="none"/>
            <a:tailEnd type="arrow"/>
          </a:ln>
        </p:spPr>
      </p:sp>
      <p:sp>
        <p:nvSpPr>
          <p:cNvPr id="30" name="Shape 27"/>
          <p:cNvSpPr/>
          <p:nvPr/>
        </p:nvSpPr>
        <p:spPr>
          <a:xfrm flipH="1">
            <a:off x="10033000" y="3314700"/>
            <a:ext cx="889000" cy="571500"/>
          </a:xfrm>
          <a:prstGeom prst="straightConnector1">
            <a:avLst/>
          </a:prstGeom>
          <a:noFill/>
          <a:ln w="15240">
            <a:solidFill>
              <a:srgbClr val="D5D1CC"/>
            </a:solidFill>
            <a:prstDash val="solid"/>
            <a:headEnd type="arrow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12446000" y="3314700"/>
            <a:ext cx="889000" cy="571500"/>
          </a:xfrm>
          <a:prstGeom prst="straightConnector1">
            <a:avLst/>
          </a:prstGeom>
          <a:noFill/>
          <a:ln w="15240">
            <a:solidFill>
              <a:srgbClr val="D5D1CC"/>
            </a:solidFill>
            <a:prstDash val="solid"/>
            <a:headEnd type="none"/>
            <a:tailEnd type="arrow"/>
          </a:ln>
        </p:spPr>
      </p:sp>
      <p:sp>
        <p:nvSpPr>
          <p:cNvPr id="32" name="Shape 29"/>
          <p:cNvSpPr/>
          <p:nvPr/>
        </p:nvSpPr>
        <p:spPr>
          <a:xfrm flipH="1">
            <a:off x="13462000" y="3314700"/>
            <a:ext cx="889000" cy="571500"/>
          </a:xfrm>
          <a:prstGeom prst="straightConnector1">
            <a:avLst/>
          </a:prstGeom>
          <a:noFill/>
          <a:ln w="15240">
            <a:solidFill>
              <a:srgbClr val="D5D1CC"/>
            </a:solidFill>
            <a:prstDash val="solid"/>
            <a:headEnd type="arrow"/>
            <a:tailEnd type="none"/>
          </a:ln>
        </p:spPr>
      </p:sp>
      <p:sp>
        <p:nvSpPr>
          <p:cNvPr id="33" name="Shape 30"/>
          <p:cNvSpPr/>
          <p:nvPr/>
        </p:nvSpPr>
        <p:spPr>
          <a:xfrm>
            <a:off x="8509000" y="3937000"/>
            <a:ext cx="1016000" cy="406400"/>
          </a:xfrm>
          <a:prstGeom prst="rect">
            <a:avLst/>
          </a:prstGeom>
          <a:solidFill>
            <a:srgbClr val="B03030"/>
          </a:solidFill>
          <a:ln/>
        </p:spPr>
      </p:sp>
      <p:sp>
        <p:nvSpPr>
          <p:cNvPr id="34" name="Text 31"/>
          <p:cNvSpPr/>
          <p:nvPr/>
        </p:nvSpPr>
        <p:spPr>
          <a:xfrm>
            <a:off x="8509000" y="3937000"/>
            <a:ext cx="10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779000" y="3937000"/>
            <a:ext cx="1016000" cy="4064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36" name="Text 33"/>
          <p:cNvSpPr/>
          <p:nvPr/>
        </p:nvSpPr>
        <p:spPr>
          <a:xfrm>
            <a:off x="9779000" y="3937000"/>
            <a:ext cx="10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1938000" y="3937000"/>
            <a:ext cx="1016000" cy="406400"/>
          </a:xfrm>
          <a:prstGeom prst="rect">
            <a:avLst/>
          </a:prstGeom>
          <a:solidFill>
            <a:srgbClr val="B03030"/>
          </a:solidFill>
          <a:ln/>
        </p:spPr>
      </p:sp>
      <p:sp>
        <p:nvSpPr>
          <p:cNvPr id="38" name="Text 35"/>
          <p:cNvSpPr/>
          <p:nvPr/>
        </p:nvSpPr>
        <p:spPr>
          <a:xfrm>
            <a:off x="11938000" y="3937000"/>
            <a:ext cx="10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13208000" y="3937000"/>
            <a:ext cx="1016000" cy="4064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0" name="Text 37"/>
          <p:cNvSpPr/>
          <p:nvPr/>
        </p:nvSpPr>
        <p:spPr>
          <a:xfrm>
            <a:off x="13208000" y="3937000"/>
            <a:ext cx="10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890000" y="4635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Root/Decision Node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Internal Node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Yes Leaf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B030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Leaf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636000" y="5588000"/>
            <a:ext cx="6858000" cy="1143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43" name="Shape 40"/>
          <p:cNvSpPr/>
          <p:nvPr/>
        </p:nvSpPr>
        <p:spPr>
          <a:xfrm>
            <a:off x="8636000" y="5588000"/>
            <a:ext cx="63500" cy="1143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44" name="Text 41"/>
          <p:cNvSpPr/>
          <p:nvPr/>
        </p:nvSpPr>
        <p:spPr>
          <a:xfrm>
            <a:off x="8953500" y="5651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tree correctly classifies all 14 training examples. Outlook was the most informative attribute, reducing entropy the most at the root level.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ID3 Python Implementation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9525000" cy="7239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97000"/>
            <a:ext cx="9017000" cy="704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numpy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np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pandas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pd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6A99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Step 1: Entropy function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CDC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(target_col):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elements, counts = np.unique(target_col, return_counts=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569CD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probs = counts / np.sum(counts)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-np.sum([p * np.log2(p)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probs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 &gt; 0])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6A99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Step 2: Information Gain function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CDC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information_gain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(data, feature, target=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E91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"Class"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):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total_entropy = entropy(data[target])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values, counts = np.unique(data[feature], return_counts=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569CD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= np.sum([(c/len(data)) *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entropy(data[data[feature]==v][target])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v, c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zip(values, counts)])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total_entropy - weighted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6A99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Step 3: Recursive ID3 tree builder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CDC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id3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(data, original, features, target=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E91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"Class"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):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len(np.unique(data[target])) == 1: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np.unique(data[target])[0]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len(data) == 0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len(features) == 0: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original[target].mode()[0]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gains = [information_gain(data,f,target)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features]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= features[np.argmax(gains)]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 = {best: {}}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np.unique(data[best]):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subset = data[data[best] == v]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 = [f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features 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 != best]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tree[best][v] = id3(subset, original, rem, target)</a:t>
            </a:r>
            <a:endParaRPr lang="en-US" sz="1600" dirty="0"/>
          </a:p>
          <a:p>
            <a:pPr>
              <a:lnSpc>
                <a:spcPct val="138000"/>
              </a:lnSpc>
            </a:pPr>
            <a:r>
              <a:rPr lang="en-US" sz="1000" dirty="0">
                <a:solidFill>
                  <a:srgbClr val="C97B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38000"/>
              </a:lnSpc>
            </a:pPr>
            <a:r>
              <a:rPr lang="en-US" sz="1000" dirty="0">
                <a:solidFill>
                  <a:srgbClr val="D4D4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tree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668000" y="1270000"/>
            <a:ext cx="4826000" cy="7239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9" name="Text 7"/>
          <p:cNvSpPr/>
          <p:nvPr/>
        </p:nvSpPr>
        <p:spPr>
          <a:xfrm>
            <a:off x="10985500" y="14605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Steps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85500" y="1879600"/>
            <a:ext cx="4191000" cy="12700"/>
          </a:xfrm>
          <a:prstGeom prst="rect">
            <a:avLst/>
          </a:prstGeom>
          <a:solidFill>
            <a:srgbClr val="D5D1CC"/>
          </a:solidFill>
          <a:ln/>
        </p:spPr>
      </p:sp>
      <p:sp>
        <p:nvSpPr>
          <p:cNvPr id="11" name="Text 9"/>
          <p:cNvSpPr/>
          <p:nvPr/>
        </p:nvSpPr>
        <p:spPr>
          <a:xfrm>
            <a:off x="10985500" y="2057400"/>
            <a:ext cx="4191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Import </a:t>
            </a:r>
            <a:pPr>
              <a:lnSpc>
                <a:spcPct val="16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numpy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pandas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 </a:t>
            </a:r>
            <a:pPr>
              <a:lnSpc>
                <a:spcPct val="16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entropy()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function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 </a:t>
            </a:r>
            <a:pPr>
              <a:lnSpc>
                <a:spcPct val="16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information_gain()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Build recursive </a:t>
            </a:r>
            <a:pPr>
              <a:lnSpc>
                <a:spcPct val="16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id3()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function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Handle stopping conditions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6.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Select best feature (max IG)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7.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Recursively build subtrees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8.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Return tree as dictionary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85500" y="5334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Output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85500" y="5740400"/>
            <a:ext cx="4191000" cy="12700"/>
          </a:xfrm>
          <a:prstGeom prst="rect">
            <a:avLst/>
          </a:prstGeom>
          <a:solidFill>
            <a:srgbClr val="D5D1C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85500" y="5943600"/>
            <a:ext cx="4191000" cy="2349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0" y="6070600"/>
            <a:ext cx="381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100" dirty="0">
                <a:solidFill>
                  <a:srgbClr val="CE91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{'Outlook': {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100" dirty="0">
                <a:solidFill>
                  <a:srgbClr val="CE91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'Overcast': 'Yes',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100" dirty="0">
                <a:solidFill>
                  <a:srgbClr val="CE91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'Rain': {'Wind': {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100" dirty="0">
                <a:solidFill>
                  <a:srgbClr val="CE91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'Strong': 'No',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100" dirty="0">
                <a:solidFill>
                  <a:srgbClr val="CE91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'Weak': 'Yes'}},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100" dirty="0">
                <a:solidFill>
                  <a:srgbClr val="CE91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'Sunny': {'Humidity': {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100" dirty="0">
                <a:solidFill>
                  <a:srgbClr val="CE91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'High': 'No',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100" dirty="0">
                <a:solidFill>
                  <a:srgbClr val="CE91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'Normal': 'Yes'}}}}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Trees — Advantages &amp;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7175500" cy="7048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7175500" cy="635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8" name="Shape 6"/>
          <p:cNvSpPr/>
          <p:nvPr/>
        </p:nvSpPr>
        <p:spPr>
          <a:xfrm>
            <a:off x="1041400" y="162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2D8A4E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1587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8A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2159000"/>
            <a:ext cx="6604000" cy="603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Easy to Understand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White-box model — decisions can be traced and explained visually. No black-box opacity.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Minimal Preprocessing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need for feature scaling or normalization. Handles data as-is.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Handles Mixed Data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Works with both numerical and categorical features in the same model.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Implicit Feature Selection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important features naturally appear at the top of the tree.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Fast Prediction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O(depth) time complexity — very efficient at inference time.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Non-Parametric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Makes no assumptions about data distribution or linearity.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18500" y="1333500"/>
            <a:ext cx="7175500" cy="7048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Shape 10"/>
          <p:cNvSpPr/>
          <p:nvPr/>
        </p:nvSpPr>
        <p:spPr>
          <a:xfrm>
            <a:off x="8318500" y="1333500"/>
            <a:ext cx="7175500" cy="63500"/>
          </a:xfrm>
          <a:prstGeom prst="rect">
            <a:avLst/>
          </a:prstGeom>
          <a:solidFill>
            <a:srgbClr val="B03030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7900" y="162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03030"/>
          </a:solidFill>
          <a:ln/>
        </p:spPr>
      </p:sp>
      <p:sp>
        <p:nvSpPr>
          <p:cNvPr id="14" name="Text 12"/>
          <p:cNvSpPr/>
          <p:nvPr/>
        </p:nvSpPr>
        <p:spPr>
          <a:xfrm>
            <a:off x="9080500" y="1587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B0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7900" y="2159000"/>
            <a:ext cx="6604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B030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Overfitting Prone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create overly complex trees that memorize training data. Pruning is essential.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030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Unstable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Small data changes can produce completely different tree structures.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030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Multi-Value Bias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Favors attributes with many values — may not select the best split.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030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Greedy, Not Optimal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 optimal choices don't guarantee a globally optimal tree.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030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Continuous Data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ID3 requires discretization for continuous variables.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030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Class Imbalance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Biased toward dominant classes when data is imbalanced.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 Applications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4699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10414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152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200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Medical diagnosis, disease risk prediction, treatment recommendation systems, patient triage decisions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133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0" y="1333500"/>
            <a:ext cx="4699000" cy="508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79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C97B49"/>
          </a:solidFill>
          <a:ln/>
        </p:spPr>
      </p:sp>
      <p:sp>
        <p:nvSpPr>
          <p:cNvPr id="14" name="Text 12"/>
          <p:cNvSpPr/>
          <p:nvPr/>
        </p:nvSpPr>
        <p:spPr>
          <a:xfrm>
            <a:off x="6540500" y="152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7900" y="200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Loan approval decisions, credit scoring, fraud detection, investment risk assessment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133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1333500"/>
            <a:ext cx="4699000" cy="508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29950" y="15494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6669" y="-11112"/>
                </a:moveTo>
                <a:cubicBezTo>
                  <a:pt x="7431" y="-11112"/>
                  <a:pt x="0" y="-3681"/>
                  <a:pt x="0" y="5556"/>
                </a:cubicBezTo>
                <a:cubicBezTo>
                  <a:pt x="0" y="14794"/>
                  <a:pt x="7431" y="22225"/>
                  <a:pt x="16669" y="22225"/>
                </a:cubicBezTo>
                <a:lnTo>
                  <a:pt x="48131" y="22225"/>
                </a:lnTo>
                <a:cubicBezTo>
                  <a:pt x="50840" y="22225"/>
                  <a:pt x="53132" y="24170"/>
                  <a:pt x="53618" y="26809"/>
                </a:cubicBezTo>
                <a:lnTo>
                  <a:pt x="89803" y="225653"/>
                </a:lnTo>
                <a:cubicBezTo>
                  <a:pt x="94109" y="249406"/>
                  <a:pt x="114806" y="266700"/>
                  <a:pt x="138976" y="266700"/>
                </a:cubicBezTo>
                <a:lnTo>
                  <a:pt x="316706" y="266700"/>
                </a:lnTo>
                <a:cubicBezTo>
                  <a:pt x="325944" y="266700"/>
                  <a:pt x="333375" y="259269"/>
                  <a:pt x="333375" y="250031"/>
                </a:cubicBezTo>
                <a:cubicBezTo>
                  <a:pt x="333375" y="240794"/>
                  <a:pt x="325944" y="233363"/>
                  <a:pt x="316706" y="233363"/>
                </a:cubicBezTo>
                <a:lnTo>
                  <a:pt x="138976" y="233363"/>
                </a:lnTo>
                <a:cubicBezTo>
                  <a:pt x="130919" y="233363"/>
                  <a:pt x="124043" y="227598"/>
                  <a:pt x="122585" y="219680"/>
                </a:cubicBezTo>
                <a:lnTo>
                  <a:pt x="119043" y="200025"/>
                </a:lnTo>
                <a:lnTo>
                  <a:pt x="329902" y="200025"/>
                </a:lnTo>
                <a:cubicBezTo>
                  <a:pt x="351294" y="200025"/>
                  <a:pt x="369630" y="184815"/>
                  <a:pt x="373588" y="163770"/>
                </a:cubicBezTo>
                <a:lnTo>
                  <a:pt x="395119" y="48548"/>
                </a:lnTo>
                <a:cubicBezTo>
                  <a:pt x="397689" y="34865"/>
                  <a:pt x="387201" y="22225"/>
                  <a:pt x="373241" y="22225"/>
                </a:cubicBezTo>
                <a:lnTo>
                  <a:pt x="86608" y="22225"/>
                </a:lnTo>
                <a:lnTo>
                  <a:pt x="86330" y="20836"/>
                </a:lnTo>
                <a:cubicBezTo>
                  <a:pt x="82996" y="2361"/>
                  <a:pt x="66883" y="-11112"/>
                  <a:pt x="48062" y="-11112"/>
                </a:cubicBezTo>
                <a:lnTo>
                  <a:pt x="16669" y="-11112"/>
                </a:lnTo>
                <a:close/>
                <a:moveTo>
                  <a:pt x="144463" y="355600"/>
                </a:moveTo>
                <a:cubicBezTo>
                  <a:pt x="162862" y="355600"/>
                  <a:pt x="177800" y="340662"/>
                  <a:pt x="177800" y="322263"/>
                </a:cubicBezTo>
                <a:cubicBezTo>
                  <a:pt x="177800" y="303863"/>
                  <a:pt x="162862" y="288925"/>
                  <a:pt x="144463" y="288925"/>
                </a:cubicBezTo>
                <a:cubicBezTo>
                  <a:pt x="126063" y="288925"/>
                  <a:pt x="111125" y="303863"/>
                  <a:pt x="111125" y="322263"/>
                </a:cubicBezTo>
                <a:cubicBezTo>
                  <a:pt x="111125" y="340662"/>
                  <a:pt x="126063" y="355600"/>
                  <a:pt x="144463" y="355600"/>
                </a:cubicBezTo>
                <a:close/>
                <a:moveTo>
                  <a:pt x="300038" y="355600"/>
                </a:moveTo>
                <a:cubicBezTo>
                  <a:pt x="318437" y="355600"/>
                  <a:pt x="333375" y="340662"/>
                  <a:pt x="333375" y="322263"/>
                </a:cubicBezTo>
                <a:cubicBezTo>
                  <a:pt x="333375" y="303863"/>
                  <a:pt x="318437" y="288925"/>
                  <a:pt x="300038" y="288925"/>
                </a:cubicBezTo>
                <a:cubicBezTo>
                  <a:pt x="281638" y="288925"/>
                  <a:pt x="266700" y="303863"/>
                  <a:pt x="266700" y="322263"/>
                </a:cubicBezTo>
                <a:cubicBezTo>
                  <a:pt x="266700" y="340662"/>
                  <a:pt x="281638" y="355600"/>
                  <a:pt x="300038" y="355600"/>
                </a:cubicBezTo>
                <a:close/>
              </a:path>
            </a:pathLst>
          </a:custGeom>
          <a:solidFill>
            <a:srgbClr val="5A6B7B"/>
          </a:solidFill>
          <a:ln/>
        </p:spPr>
      </p:sp>
      <p:sp>
        <p:nvSpPr>
          <p:cNvPr id="19" name="Text 17"/>
          <p:cNvSpPr/>
          <p:nvPr/>
        </p:nvSpPr>
        <p:spPr>
          <a:xfrm>
            <a:off x="11557000" y="152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74400" y="200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 recommendations, purchase prediction, customer segmentation, churn prediction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387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3873500"/>
            <a:ext cx="4699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1400" y="408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00038"/>
                </a:lnTo>
                <a:cubicBezTo>
                  <a:pt x="0" y="318443"/>
                  <a:pt x="14932" y="333375"/>
                  <a:pt x="3333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105708"/>
                </a:lnTo>
                <a:cubicBezTo>
                  <a:pt x="355600" y="93067"/>
                  <a:pt x="342126" y="85080"/>
                  <a:pt x="331014" y="91053"/>
                </a:cubicBezTo>
                <a:lnTo>
                  <a:pt x="222250" y="149602"/>
                </a:lnTo>
                <a:lnTo>
                  <a:pt x="222250" y="105708"/>
                </a:lnTo>
                <a:cubicBezTo>
                  <a:pt x="222250" y="93067"/>
                  <a:pt x="208776" y="85080"/>
                  <a:pt x="197664" y="91053"/>
                </a:cubicBezTo>
                <a:lnTo>
                  <a:pt x="88900" y="149602"/>
                </a:lnTo>
                <a:lnTo>
                  <a:pt x="88900" y="44450"/>
                </a:lnTo>
                <a:cubicBezTo>
                  <a:pt x="88900" y="32157"/>
                  <a:pt x="78968" y="22225"/>
                  <a:pt x="66675" y="22225"/>
                </a:cubicBezTo>
                <a:lnTo>
                  <a:pt x="22225" y="2222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406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Manufacturing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1400" y="454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Quality control, defect detection, predictive maintenance, process optimization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778500" y="387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7" name="Shape 25"/>
          <p:cNvSpPr/>
          <p:nvPr/>
        </p:nvSpPr>
        <p:spPr>
          <a:xfrm>
            <a:off x="5778500" y="3873500"/>
            <a:ext cx="4699000" cy="508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675" y="4089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C97B49"/>
          </a:solidFill>
          <a:ln/>
        </p:spPr>
      </p:sp>
      <p:sp>
        <p:nvSpPr>
          <p:cNvPr id="29" name="Text 27"/>
          <p:cNvSpPr/>
          <p:nvPr/>
        </p:nvSpPr>
        <p:spPr>
          <a:xfrm>
            <a:off x="6540500" y="406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57900" y="454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performance prediction, dropout risk assessment, admission decisions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795000" y="387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95000" y="3873500"/>
            <a:ext cx="4699000" cy="508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33" name="Shape 31"/>
          <p:cNvSpPr/>
          <p:nvPr/>
        </p:nvSpPr>
        <p:spPr>
          <a:xfrm>
            <a:off x="11074400" y="408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0318" y="13127"/>
                </a:moveTo>
                <a:cubicBezTo>
                  <a:pt x="328305" y="16669"/>
                  <a:pt x="333375" y="24586"/>
                  <a:pt x="333375" y="33337"/>
                </a:cubicBezTo>
                <a:lnTo>
                  <a:pt x="333375" y="322263"/>
                </a:lnTo>
                <a:cubicBezTo>
                  <a:pt x="333375" y="331014"/>
                  <a:pt x="328305" y="338931"/>
                  <a:pt x="320318" y="342473"/>
                </a:cubicBezTo>
                <a:cubicBezTo>
                  <a:pt x="312331" y="346015"/>
                  <a:pt x="303093" y="344696"/>
                  <a:pt x="296495" y="338931"/>
                </a:cubicBezTo>
                <a:lnTo>
                  <a:pt x="264130" y="310664"/>
                </a:lnTo>
                <a:cubicBezTo>
                  <a:pt x="233849" y="284202"/>
                  <a:pt x="195580" y="268784"/>
                  <a:pt x="155506" y="266908"/>
                </a:cubicBezTo>
                <a:lnTo>
                  <a:pt x="155506" y="333375"/>
                </a:lnTo>
                <a:cubicBezTo>
                  <a:pt x="155506" y="345668"/>
                  <a:pt x="145574" y="355600"/>
                  <a:pt x="133281" y="355600"/>
                </a:cubicBezTo>
                <a:lnTo>
                  <a:pt x="111056" y="355600"/>
                </a:lnTo>
                <a:cubicBezTo>
                  <a:pt x="98762" y="355600"/>
                  <a:pt x="88831" y="345668"/>
                  <a:pt x="88831" y="333375"/>
                </a:cubicBezTo>
                <a:lnTo>
                  <a:pt x="88831" y="266700"/>
                </a:lnTo>
                <a:cubicBezTo>
                  <a:pt x="39797" y="266700"/>
                  <a:pt x="0" y="226903"/>
                  <a:pt x="0" y="177800"/>
                </a:cubicBezTo>
                <a:cubicBezTo>
                  <a:pt x="0" y="128697"/>
                  <a:pt x="39797" y="88900"/>
                  <a:pt x="88900" y="88900"/>
                </a:cubicBezTo>
                <a:lnTo>
                  <a:pt x="147588" y="88900"/>
                </a:lnTo>
                <a:cubicBezTo>
                  <a:pt x="190510" y="88761"/>
                  <a:pt x="231904" y="73134"/>
                  <a:pt x="264200" y="44936"/>
                </a:cubicBezTo>
                <a:lnTo>
                  <a:pt x="296565" y="16669"/>
                </a:lnTo>
                <a:cubicBezTo>
                  <a:pt x="303093" y="10904"/>
                  <a:pt x="312470" y="9585"/>
                  <a:pt x="320387" y="13127"/>
                </a:cubicBezTo>
                <a:close/>
                <a:moveTo>
                  <a:pt x="155575" y="222250"/>
                </a:moveTo>
                <a:lnTo>
                  <a:pt x="155575" y="222389"/>
                </a:lnTo>
                <a:cubicBezTo>
                  <a:pt x="204401" y="224264"/>
                  <a:pt x="251281" y="242183"/>
                  <a:pt x="288925" y="273368"/>
                </a:cubicBezTo>
                <a:lnTo>
                  <a:pt x="288925" y="82163"/>
                </a:lnTo>
                <a:cubicBezTo>
                  <a:pt x="251281" y="113348"/>
                  <a:pt x="204401" y="131266"/>
                  <a:pt x="155575" y="133142"/>
                </a:cubicBezTo>
                <a:lnTo>
                  <a:pt x="155575" y="222250"/>
                </a:lnTo>
                <a:close/>
              </a:path>
            </a:pathLst>
          </a:custGeom>
          <a:solidFill>
            <a:srgbClr val="5A6B7B"/>
          </a:solidFill>
          <a:ln/>
        </p:spPr>
      </p:sp>
      <p:sp>
        <p:nvSpPr>
          <p:cNvPr id="34" name="Text 32"/>
          <p:cNvSpPr/>
          <p:nvPr/>
        </p:nvSpPr>
        <p:spPr>
          <a:xfrm>
            <a:off x="11557000" y="406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74400" y="454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Customer targeting, campaign optimization, lead scoring, sentiment analysis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62000" y="6477000"/>
            <a:ext cx="147320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0150" y="6794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C97B49"/>
          </a:solidFill>
          <a:ln/>
        </p:spPr>
      </p:sp>
      <p:sp>
        <p:nvSpPr>
          <p:cNvPr id="38" name="Text 36"/>
          <p:cNvSpPr/>
          <p:nvPr/>
        </p:nvSpPr>
        <p:spPr>
          <a:xfrm>
            <a:off x="1841500" y="66675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Decision Trees Matter: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They provide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crucial for regulated industries (healthcare, finance) requiring transparent, auditable decision-making processes.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lxcgh5c53bfw2/mnt/agents/output/decision_trees/images/9_Abstract_technology_background_futuristic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F2B">
                  <a:alpha val="94000"/>
                </a:srgbClr>
              </a:gs>
              <a:gs pos="60000">
                <a:srgbClr val="0A1F2B">
                  <a:alpha val="85000"/>
                </a:srgbClr>
              </a:gs>
              <a:gs pos="100000">
                <a:srgbClr val="0A1F2B">
                  <a:alpha val="7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23000" y="2540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 14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10500" y="2984500"/>
            <a:ext cx="635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3302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413000" y="4191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Discovering hidden patterns in data using support, confidence, and the Apriori algorithm for decision making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588000" y="5461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Association Rules?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14732000" cy="1079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63500" cy="10795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13335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Association Rule Mining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discovers interesting relationships (associations) among items in datasets. It is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unsupervised learning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technique — no labeled data required.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60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Format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111500"/>
            <a:ext cx="7112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111500"/>
            <a:ext cx="711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{A, B} → {C}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3180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Antecedent (If):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{A, B} — items found in transaction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Consequent (Then):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{C} — items likely to co-occur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Read as: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"If A and B, then also C"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571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 Example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223000"/>
            <a:ext cx="7112000" cy="127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5" name="Text 13"/>
          <p:cNvSpPr/>
          <p:nvPr/>
        </p:nvSpPr>
        <p:spPr>
          <a:xfrm>
            <a:off x="1041400" y="63246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"If {Milk, Bread} → {Butter}"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customers buy Milk and Bread together, they also likely purchase Butter.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36000" y="2603500"/>
            <a:ext cx="6858000" cy="5016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36000" y="2603500"/>
            <a:ext cx="63500" cy="5016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0" y="2768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53500" y="3276600"/>
            <a:ext cx="6223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Unsupervised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labels needed — discovers patterns from raw transaction data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Descriptive, Not Predictive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Reveals existing relationships rather than predicting outcomes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Widely Applicable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Retail, healthcare, web mining, bioinformatics, and more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Actionable Insights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Directly supports business decisions on inventory and marketing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Basket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most common application of association rules. Finds item combinations that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frequently co-occur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transactions.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349500"/>
            <a:ext cx="7620000" cy="698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4765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"Customers who buy bread and butter also tend to buy milk"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349500"/>
            <a:ext cx="7620000" cy="698500"/>
          </a:xfrm>
          <a:prstGeom prst="rect">
            <a:avLst/>
          </a:prstGeom>
          <a:solidFill>
            <a:srgbClr val="0F4C5C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36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Applications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3275" y="39370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0" y="121632"/>
                </a:moveTo>
                <a:cubicBezTo>
                  <a:pt x="0" y="54431"/>
                  <a:pt x="55463" y="0"/>
                  <a:pt x="123825" y="0"/>
                </a:cubicBezTo>
                <a:cubicBezTo>
                  <a:pt x="192187" y="0"/>
                  <a:pt x="247650" y="54431"/>
                  <a:pt x="247650" y="121632"/>
                </a:cubicBezTo>
                <a:cubicBezTo>
                  <a:pt x="247650" y="198571"/>
                  <a:pt x="170130" y="290795"/>
                  <a:pt x="137755" y="325944"/>
                </a:cubicBezTo>
                <a:cubicBezTo>
                  <a:pt x="130145" y="334199"/>
                  <a:pt x="117440" y="334199"/>
                  <a:pt x="109830" y="325944"/>
                </a:cubicBezTo>
                <a:cubicBezTo>
                  <a:pt x="77455" y="290795"/>
                  <a:pt x="-64" y="198571"/>
                  <a:pt x="-64" y="121632"/>
                </a:cubicBezTo>
                <a:close/>
                <a:moveTo>
                  <a:pt x="123825" y="165100"/>
                </a:moveTo>
                <a:cubicBezTo>
                  <a:pt x="146605" y="165100"/>
                  <a:pt x="165100" y="146605"/>
                  <a:pt x="165100" y="123825"/>
                </a:cubicBezTo>
                <a:cubicBezTo>
                  <a:pt x="165100" y="101045"/>
                  <a:pt x="146605" y="82550"/>
                  <a:pt x="123825" y="82550"/>
                </a:cubicBezTo>
                <a:cubicBezTo>
                  <a:pt x="101045" y="82550"/>
                  <a:pt x="82550" y="101045"/>
                  <a:pt x="82550" y="123825"/>
                </a:cubicBezTo>
                <a:cubicBezTo>
                  <a:pt x="82550" y="146605"/>
                  <a:pt x="101045" y="165100"/>
                  <a:pt x="123825" y="1651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1244600" y="3873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 Placement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place associated items nearby to increase cross-selling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1363" y="46990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258743" y="25216"/>
                </a:moveTo>
                <a:lnTo>
                  <a:pt x="354320" y="122148"/>
                </a:lnTo>
                <a:cubicBezTo>
                  <a:pt x="372184" y="140271"/>
                  <a:pt x="372184" y="169292"/>
                  <a:pt x="354320" y="187414"/>
                </a:cubicBezTo>
                <a:lnTo>
                  <a:pt x="253454" y="289505"/>
                </a:lnTo>
                <a:cubicBezTo>
                  <a:pt x="247457" y="295568"/>
                  <a:pt x="237654" y="295632"/>
                  <a:pt x="231591" y="289634"/>
                </a:cubicBezTo>
                <a:cubicBezTo>
                  <a:pt x="225529" y="283637"/>
                  <a:pt x="225465" y="273834"/>
                  <a:pt x="231462" y="267772"/>
                </a:cubicBezTo>
                <a:lnTo>
                  <a:pt x="332328" y="165616"/>
                </a:lnTo>
                <a:cubicBezTo>
                  <a:pt x="338262" y="159618"/>
                  <a:pt x="338262" y="149880"/>
                  <a:pt x="332328" y="143882"/>
                </a:cubicBezTo>
                <a:lnTo>
                  <a:pt x="236686" y="47015"/>
                </a:lnTo>
                <a:cubicBezTo>
                  <a:pt x="230689" y="40953"/>
                  <a:pt x="230753" y="31150"/>
                  <a:pt x="236815" y="25152"/>
                </a:cubicBezTo>
                <a:cubicBezTo>
                  <a:pt x="242878" y="19154"/>
                  <a:pt x="252680" y="19219"/>
                  <a:pt x="258678" y="25281"/>
                </a:cubicBezTo>
                <a:close/>
                <a:moveTo>
                  <a:pt x="20702" y="148010"/>
                </a:moveTo>
                <a:lnTo>
                  <a:pt x="20702" y="61912"/>
                </a:lnTo>
                <a:cubicBezTo>
                  <a:pt x="20702" y="39147"/>
                  <a:pt x="39211" y="20638"/>
                  <a:pt x="61977" y="20638"/>
                </a:cubicBezTo>
                <a:lnTo>
                  <a:pt x="148074" y="20638"/>
                </a:lnTo>
                <a:cubicBezTo>
                  <a:pt x="159038" y="20638"/>
                  <a:pt x="169550" y="24958"/>
                  <a:pt x="177289" y="32698"/>
                </a:cubicBezTo>
                <a:lnTo>
                  <a:pt x="270158" y="125566"/>
                </a:lnTo>
                <a:cubicBezTo>
                  <a:pt x="286281" y="141689"/>
                  <a:pt x="286281" y="167809"/>
                  <a:pt x="270158" y="183932"/>
                </a:cubicBezTo>
                <a:lnTo>
                  <a:pt x="184061" y="270029"/>
                </a:lnTo>
                <a:cubicBezTo>
                  <a:pt x="167938" y="286152"/>
                  <a:pt x="141818" y="286152"/>
                  <a:pt x="125695" y="270029"/>
                </a:cubicBezTo>
                <a:lnTo>
                  <a:pt x="32827" y="177160"/>
                </a:lnTo>
                <a:cubicBezTo>
                  <a:pt x="25087" y="169421"/>
                  <a:pt x="20766" y="158909"/>
                  <a:pt x="20766" y="147945"/>
                </a:cubicBezTo>
                <a:close/>
                <a:moveTo>
                  <a:pt x="113571" y="92869"/>
                </a:moveTo>
                <a:cubicBezTo>
                  <a:pt x="113571" y="81479"/>
                  <a:pt x="104323" y="72231"/>
                  <a:pt x="92933" y="72231"/>
                </a:cubicBezTo>
                <a:cubicBezTo>
                  <a:pt x="81543" y="72231"/>
                  <a:pt x="72296" y="81479"/>
                  <a:pt x="72296" y="92869"/>
                </a:cubicBezTo>
                <a:cubicBezTo>
                  <a:pt x="72296" y="104259"/>
                  <a:pt x="81543" y="113506"/>
                  <a:pt x="92933" y="113506"/>
                </a:cubicBezTo>
                <a:cubicBezTo>
                  <a:pt x="104323" y="113506"/>
                  <a:pt x="113571" y="104259"/>
                  <a:pt x="113571" y="92869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244600" y="4635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Combo Offers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create bundles of frequently co-purchased items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1363" y="54610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185738" y="0"/>
                </a:moveTo>
                <a:cubicBezTo>
                  <a:pt x="189994" y="0"/>
                  <a:pt x="194057" y="1741"/>
                  <a:pt x="196959" y="4837"/>
                </a:cubicBezTo>
                <a:lnTo>
                  <a:pt x="289828" y="102865"/>
                </a:lnTo>
                <a:lnTo>
                  <a:pt x="290150" y="103188"/>
                </a:lnTo>
                <a:lnTo>
                  <a:pt x="340519" y="103188"/>
                </a:lnTo>
                <a:cubicBezTo>
                  <a:pt x="351934" y="103188"/>
                  <a:pt x="361156" y="112410"/>
                  <a:pt x="361156" y="123825"/>
                </a:cubicBezTo>
                <a:cubicBezTo>
                  <a:pt x="361156" y="133176"/>
                  <a:pt x="354965" y="141044"/>
                  <a:pt x="346452" y="143624"/>
                </a:cubicBezTo>
                <a:lnTo>
                  <a:pt x="316721" y="277252"/>
                </a:lnTo>
                <a:cubicBezTo>
                  <a:pt x="312529" y="296148"/>
                  <a:pt x="295761" y="309563"/>
                  <a:pt x="276414" y="309563"/>
                </a:cubicBezTo>
                <a:lnTo>
                  <a:pt x="94997" y="309563"/>
                </a:lnTo>
                <a:cubicBezTo>
                  <a:pt x="75649" y="309563"/>
                  <a:pt x="58881" y="296148"/>
                  <a:pt x="54689" y="277252"/>
                </a:cubicBezTo>
                <a:lnTo>
                  <a:pt x="25023" y="143624"/>
                </a:lnTo>
                <a:cubicBezTo>
                  <a:pt x="16510" y="141109"/>
                  <a:pt x="10319" y="133176"/>
                  <a:pt x="10319" y="123825"/>
                </a:cubicBezTo>
                <a:cubicBezTo>
                  <a:pt x="10319" y="112410"/>
                  <a:pt x="19541" y="103188"/>
                  <a:pt x="30956" y="103188"/>
                </a:cubicBezTo>
                <a:lnTo>
                  <a:pt x="81325" y="103188"/>
                </a:lnTo>
                <a:lnTo>
                  <a:pt x="81647" y="102865"/>
                </a:lnTo>
                <a:lnTo>
                  <a:pt x="174516" y="4837"/>
                </a:lnTo>
                <a:cubicBezTo>
                  <a:pt x="177418" y="1741"/>
                  <a:pt x="181481" y="0"/>
                  <a:pt x="185738" y="0"/>
                </a:cubicBezTo>
                <a:close/>
                <a:moveTo>
                  <a:pt x="185738" y="37986"/>
                </a:moveTo>
                <a:lnTo>
                  <a:pt x="123954" y="103188"/>
                </a:lnTo>
                <a:lnTo>
                  <a:pt x="247521" y="103188"/>
                </a:lnTo>
                <a:lnTo>
                  <a:pt x="185738" y="37986"/>
                </a:lnTo>
                <a:close/>
                <a:moveTo>
                  <a:pt x="134144" y="170259"/>
                </a:moveTo>
                <a:cubicBezTo>
                  <a:pt x="134144" y="161682"/>
                  <a:pt x="127243" y="154781"/>
                  <a:pt x="118666" y="154781"/>
                </a:cubicBezTo>
                <a:cubicBezTo>
                  <a:pt x="110088" y="154781"/>
                  <a:pt x="103188" y="161682"/>
                  <a:pt x="103188" y="170259"/>
                </a:cubicBezTo>
                <a:lnTo>
                  <a:pt x="103188" y="242491"/>
                </a:lnTo>
                <a:cubicBezTo>
                  <a:pt x="103188" y="251068"/>
                  <a:pt x="110088" y="257969"/>
                  <a:pt x="118666" y="257969"/>
                </a:cubicBezTo>
                <a:cubicBezTo>
                  <a:pt x="127243" y="257969"/>
                  <a:pt x="134144" y="251068"/>
                  <a:pt x="134144" y="242491"/>
                </a:cubicBezTo>
                <a:lnTo>
                  <a:pt x="134144" y="170259"/>
                </a:lnTo>
                <a:close/>
                <a:moveTo>
                  <a:pt x="185738" y="154781"/>
                </a:moveTo>
                <a:cubicBezTo>
                  <a:pt x="177160" y="154781"/>
                  <a:pt x="170259" y="161682"/>
                  <a:pt x="170259" y="170259"/>
                </a:cubicBezTo>
                <a:lnTo>
                  <a:pt x="170259" y="242491"/>
                </a:lnTo>
                <a:cubicBezTo>
                  <a:pt x="170259" y="251068"/>
                  <a:pt x="177160" y="257969"/>
                  <a:pt x="185738" y="257969"/>
                </a:cubicBezTo>
                <a:cubicBezTo>
                  <a:pt x="194315" y="257969"/>
                  <a:pt x="201216" y="251068"/>
                  <a:pt x="201216" y="242491"/>
                </a:cubicBezTo>
                <a:lnTo>
                  <a:pt x="201216" y="170259"/>
                </a:lnTo>
                <a:cubicBezTo>
                  <a:pt x="201216" y="161682"/>
                  <a:pt x="194315" y="154781"/>
                  <a:pt x="185738" y="154781"/>
                </a:cubicBezTo>
                <a:close/>
                <a:moveTo>
                  <a:pt x="268288" y="170259"/>
                </a:moveTo>
                <a:cubicBezTo>
                  <a:pt x="268288" y="161682"/>
                  <a:pt x="261387" y="154781"/>
                  <a:pt x="252809" y="154781"/>
                </a:cubicBezTo>
                <a:cubicBezTo>
                  <a:pt x="244232" y="154781"/>
                  <a:pt x="237331" y="161682"/>
                  <a:pt x="237331" y="170259"/>
                </a:cubicBezTo>
                <a:lnTo>
                  <a:pt x="237331" y="242491"/>
                </a:lnTo>
                <a:cubicBezTo>
                  <a:pt x="237331" y="251068"/>
                  <a:pt x="244232" y="257969"/>
                  <a:pt x="252809" y="257969"/>
                </a:cubicBezTo>
                <a:cubicBezTo>
                  <a:pt x="261387" y="257969"/>
                  <a:pt x="268288" y="251068"/>
                  <a:pt x="268288" y="242491"/>
                </a:cubicBezTo>
                <a:lnTo>
                  <a:pt x="268288" y="170259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1244600" y="5397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Cross-Selling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recommend related products at checkout or online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1363" y="62230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0" y="91643"/>
                </a:moveTo>
                <a:lnTo>
                  <a:pt x="0" y="309563"/>
                </a:lnTo>
                <a:cubicBezTo>
                  <a:pt x="0" y="320978"/>
                  <a:pt x="9222" y="330200"/>
                  <a:pt x="20638" y="330200"/>
                </a:cubicBezTo>
                <a:cubicBezTo>
                  <a:pt x="32053" y="330200"/>
                  <a:pt x="41275" y="320978"/>
                  <a:pt x="41275" y="309563"/>
                </a:cubicBezTo>
                <a:lnTo>
                  <a:pt x="41275" y="154781"/>
                </a:lnTo>
                <a:cubicBezTo>
                  <a:pt x="41275" y="143366"/>
                  <a:pt x="50497" y="134144"/>
                  <a:pt x="61912" y="134144"/>
                </a:cubicBezTo>
                <a:lnTo>
                  <a:pt x="309563" y="134144"/>
                </a:lnTo>
                <a:cubicBezTo>
                  <a:pt x="320978" y="134144"/>
                  <a:pt x="330200" y="143366"/>
                  <a:pt x="330200" y="154781"/>
                </a:cubicBezTo>
                <a:lnTo>
                  <a:pt x="330200" y="309563"/>
                </a:lnTo>
                <a:cubicBezTo>
                  <a:pt x="330200" y="320978"/>
                  <a:pt x="339422" y="330200"/>
                  <a:pt x="350838" y="330200"/>
                </a:cubicBezTo>
                <a:cubicBezTo>
                  <a:pt x="362253" y="330200"/>
                  <a:pt x="371475" y="320978"/>
                  <a:pt x="371475" y="309563"/>
                </a:cubicBezTo>
                <a:lnTo>
                  <a:pt x="371475" y="91643"/>
                </a:lnTo>
                <a:cubicBezTo>
                  <a:pt x="371475" y="73908"/>
                  <a:pt x="360124" y="58107"/>
                  <a:pt x="343227" y="52497"/>
                </a:cubicBezTo>
                <a:lnTo>
                  <a:pt x="195540" y="3289"/>
                </a:lnTo>
                <a:cubicBezTo>
                  <a:pt x="189156" y="1161"/>
                  <a:pt x="182319" y="1161"/>
                  <a:pt x="175935" y="3289"/>
                </a:cubicBezTo>
                <a:lnTo>
                  <a:pt x="28248" y="52497"/>
                </a:lnTo>
                <a:cubicBezTo>
                  <a:pt x="11351" y="58107"/>
                  <a:pt x="0" y="73908"/>
                  <a:pt x="0" y="91643"/>
                </a:cubicBezTo>
                <a:close/>
                <a:moveTo>
                  <a:pt x="299244" y="165100"/>
                </a:moveTo>
                <a:lnTo>
                  <a:pt x="72231" y="165100"/>
                </a:lnTo>
                <a:lnTo>
                  <a:pt x="72231" y="206375"/>
                </a:lnTo>
                <a:lnTo>
                  <a:pt x="299244" y="206375"/>
                </a:lnTo>
                <a:lnTo>
                  <a:pt x="299244" y="165100"/>
                </a:lnTo>
                <a:close/>
                <a:moveTo>
                  <a:pt x="72231" y="268288"/>
                </a:moveTo>
                <a:lnTo>
                  <a:pt x="299244" y="268288"/>
                </a:lnTo>
                <a:lnTo>
                  <a:pt x="299244" y="227013"/>
                </a:lnTo>
                <a:lnTo>
                  <a:pt x="72231" y="227013"/>
                </a:lnTo>
                <a:lnTo>
                  <a:pt x="72231" y="268288"/>
                </a:lnTo>
                <a:close/>
                <a:moveTo>
                  <a:pt x="299244" y="288925"/>
                </a:moveTo>
                <a:lnTo>
                  <a:pt x="72231" y="288925"/>
                </a:lnTo>
                <a:lnTo>
                  <a:pt x="72231" y="330200"/>
                </a:lnTo>
                <a:lnTo>
                  <a:pt x="299244" y="330200"/>
                </a:lnTo>
                <a:lnTo>
                  <a:pt x="299244" y="28892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1244600" y="6159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Inventory Management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stock related items together based on patterns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0" y="1270000"/>
            <a:ext cx="6350000" cy="7112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0" name="Text 18"/>
          <p:cNvSpPr/>
          <p:nvPr/>
        </p:nvSpPr>
        <p:spPr>
          <a:xfrm>
            <a:off x="9461500" y="14605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Transaction Data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61500" y="1930400"/>
          <a:ext cx="5715000" cy="3149600"/>
        </p:xfrm>
        <a:graphic>
          <a:graphicData uri="http://schemas.openxmlformats.org/drawingml/2006/table">
            <a:tbl>
              <a:tblPr/>
              <a:tblGrid>
                <a:gridCol w="1714500"/>
                <a:gridCol w="4000500"/>
              </a:tblGrid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{Bread, Milk}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{Bread, Diaper, Beer, Eggs}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{Milk, Diaper, Beer, Coke}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{Bread, Milk, Diaper, Beer}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{Bread, Milk, Diaper, Coke}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9461500" y="5842000"/>
            <a:ext cx="571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row is one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transaction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items purchased together. Goal: find rules like: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{Milk, Diaper} → {Beer}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461500" y="6985000"/>
            <a:ext cx="5715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4" name="Text 21"/>
          <p:cNvSpPr/>
          <p:nvPr/>
        </p:nvSpPr>
        <p:spPr>
          <a:xfrm>
            <a:off x="9715500" y="7086600"/>
            <a:ext cx="520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Famous Discovery: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"Diapers and Beer" correlation was one of the earliest examples of market basket analysis in retail.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— Support, Confidence &amp; Lift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4699000" cy="3937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469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1549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0574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990600" y="2514600"/>
                <a:ext cx="4191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S</m:t>
                      </m:r>
                      <m:r>
                        <a:rPr lang="en-US" sz="1800" i="1" dirty="0"/>
                        <m:t>u</m:t>
                      </m:r>
                      <m:r>
                        <a:rPr lang="en-US" sz="1800" i="1" dirty="0"/>
                        <m:t>p</m:t>
                      </m:r>
                      <m:r>
                        <a:rPr lang="en-US" sz="1800" i="1" dirty="0"/>
                        <m:t>p</m:t>
                      </m:r>
                      <m:r>
                        <a:rPr lang="en-US" sz="1800" i="1" dirty="0"/>
                        <m:t>o</m:t>
                      </m:r>
                      <m:r>
                        <a:rPr lang="en-US" sz="1800" i="1" dirty="0"/>
                        <m:t>r</m:t>
                      </m:r>
                      <m:r>
                        <a:rPr lang="en-US" sz="1800" i="1" dirty="0"/>
                        <m:t>t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i="1" dirty="0"/>
                        <m:t>Y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i="1" dirty="0"/>
                            <m:t>f</m:t>
                          </m:r>
                          <m:r>
                            <a:rPr lang="en-US" sz="1300" i="1" dirty="0"/>
                            <m:t>r</m:t>
                          </m:r>
                          <m:r>
                            <a:rPr lang="en-US" sz="1300" i="1" dirty="0"/>
                            <m:t>e</m:t>
                          </m:r>
                          <m:r>
                            <a:rPr lang="en-US" sz="1300" i="1" dirty="0"/>
                            <m:t>q</m:t>
                          </m:r>
                          <m:r>
                            <a:rPr lang="en-US" sz="1300" dirty="0"/>
                            <m:t>(</m:t>
                          </m:r>
                          <m:r>
                            <a:rPr lang="en-US" sz="1300" i="1" dirty="0"/>
                            <m:t>X</m:t>
                          </m:r>
                          <m:r>
                            <a:rPr lang="en-US" sz="1300" dirty="0"/>
                            <m:t>∪</m:t>
                          </m:r>
                          <m:r>
                            <a:rPr lang="en-US" sz="1300" i="1" dirty="0"/>
                            <m:t>Y</m:t>
                          </m:r>
                          <m:r>
                            <a:rPr lang="en-US" sz="1300" dirty="0"/>
                            <m:t>)</m:t>
                          </m:r>
                        </m:num>
                        <m:den>
                          <m:r>
                            <a:rPr lang="en-US" sz="1300" i="1" dirty="0"/>
                            <m:t>N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990600" y="2514600"/>
                <a:ext cx="4191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Support(X \rightarrow Y) = \frac{freq(X \cup Y)}{N} )</a:t>
                </a:r>
                <a:endParaRPr lang="en-US" sz="1800" dirty="0"/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990600" y="31496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Measures how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frequently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itemset appears in all transactions.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Filters out rare combinations. Higher support = more significant rule.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Think: "How popular is this combination?"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78500" y="1333500"/>
            <a:ext cx="4699000" cy="3937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8500" y="1333500"/>
            <a:ext cx="4699000" cy="635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4" name="Text 12"/>
          <p:cNvSpPr/>
          <p:nvPr/>
        </p:nvSpPr>
        <p:spPr>
          <a:xfrm>
            <a:off x="6007100" y="1549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07100" y="20574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6007100" y="2514600"/>
                <a:ext cx="4191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C</m:t>
                      </m:r>
                      <m:r>
                        <a:rPr lang="en-US" sz="1800" i="1" dirty="0"/>
                        <m:t>o</m:t>
                      </m:r>
                      <m:r>
                        <a:rPr lang="en-US" sz="1800" i="1" dirty="0"/>
                        <m:t>n</m:t>
                      </m:r>
                      <m:r>
                        <a:rPr lang="en-US" sz="1800" i="1" dirty="0"/>
                        <m:t>f</m:t>
                      </m:r>
                      <m:r>
                        <a:rPr lang="en-US" sz="1800" i="1" dirty="0"/>
                        <m:t>i</m:t>
                      </m:r>
                      <m:r>
                        <a:rPr lang="en-US" sz="1800" i="1" dirty="0"/>
                        <m:t>d</m:t>
                      </m:r>
                      <m:r>
                        <a:rPr lang="en-US" sz="1800" i="1" dirty="0"/>
                        <m:t>e</m:t>
                      </m:r>
                      <m:r>
                        <a:rPr lang="en-US" sz="1800" i="1" dirty="0"/>
                        <m:t>n</m:t>
                      </m:r>
                      <m:r>
                        <a:rPr lang="en-US" sz="1800" i="1" dirty="0"/>
                        <m:t>c</m:t>
                      </m:r>
                      <m:r>
                        <a:rPr lang="en-US" sz="1800" i="1" dirty="0"/>
                        <m:t>e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i="1" dirty="0"/>
                        <m:t>Y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i="1" dirty="0"/>
                            <m:t>S</m:t>
                          </m:r>
                          <m:r>
                            <a:rPr lang="en-US" sz="1300" i="1" dirty="0"/>
                            <m:t>u</m:t>
                          </m:r>
                          <m:r>
                            <a:rPr lang="en-US" sz="1300" i="1" dirty="0"/>
                            <m:t>p</m:t>
                          </m:r>
                          <m:r>
                            <a:rPr lang="en-US" sz="1300" i="1" dirty="0"/>
                            <m:t>p</m:t>
                          </m:r>
                          <m:r>
                            <a:rPr lang="en-US" sz="1300" i="1" dirty="0"/>
                            <m:t>o</m:t>
                          </m:r>
                          <m:r>
                            <a:rPr lang="en-US" sz="1300" i="1" dirty="0"/>
                            <m:t>r</m:t>
                          </m:r>
                          <m:r>
                            <a:rPr lang="en-US" sz="1300" i="1" dirty="0"/>
                            <m:t>t</m:t>
                          </m:r>
                          <m:r>
                            <a:rPr lang="en-US" sz="1300" dirty="0"/>
                            <m:t>(</m:t>
                          </m:r>
                          <m:r>
                            <a:rPr lang="en-US" sz="1300" i="1" dirty="0"/>
                            <m:t>X</m:t>
                          </m:r>
                          <m:r>
                            <a:rPr lang="en-US" sz="1300" dirty="0"/>
                            <m:t>∪</m:t>
                          </m:r>
                          <m:r>
                            <a:rPr lang="en-US" sz="1300" i="1" dirty="0"/>
                            <m:t>Y</m:t>
                          </m:r>
                          <m:r>
                            <a:rPr lang="en-US" sz="1300" dirty="0"/>
                            <m:t>)</m:t>
                          </m:r>
                        </m:num>
                        <m:den>
                          <m:r>
                            <a:rPr lang="en-US" sz="1300" i="1" dirty="0"/>
                            <m:t>S</m:t>
                          </m:r>
                          <m:r>
                            <a:rPr lang="en-US" sz="1300" i="1" dirty="0"/>
                            <m:t>u</m:t>
                          </m:r>
                          <m:r>
                            <a:rPr lang="en-US" sz="1300" i="1" dirty="0"/>
                            <m:t>p</m:t>
                          </m:r>
                          <m:r>
                            <a:rPr lang="en-US" sz="1300" i="1" dirty="0"/>
                            <m:t>p</m:t>
                          </m:r>
                          <m:r>
                            <a:rPr lang="en-US" sz="1300" i="1" dirty="0"/>
                            <m:t>o</m:t>
                          </m:r>
                          <m:r>
                            <a:rPr lang="en-US" sz="1300" i="1" dirty="0"/>
                            <m:t>r</m:t>
                          </m:r>
                          <m:r>
                            <a:rPr lang="en-US" sz="1300" i="1" dirty="0"/>
                            <m:t>t</m:t>
                          </m:r>
                          <m:r>
                            <a:rPr lang="en-US" sz="1300" dirty="0"/>
                            <m:t>(</m:t>
                          </m:r>
                          <m:r>
                            <a:rPr lang="en-US" sz="1300" i="1" dirty="0"/>
                            <m:t>X</m:t>
                          </m:r>
                          <m:r>
                            <a:rPr lang="en-US" sz="1300" dirty="0"/>
                            <m:t>)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6007100" y="2514600"/>
                <a:ext cx="4191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Confidence(X \rightarrow Y) = \frac{Support(X \cup Y)}{Support(X)} )</a:t>
                </a:r>
                <a:endParaRPr lang="en-US" sz="1800" dirty="0"/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6007100" y="31496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Measures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reliability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rule — conditional probability of Y given X.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Higher confidence = stronger inference.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Think: "How often is this rule true?"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795000" y="1333500"/>
            <a:ext cx="4699000" cy="3937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95000" y="1333500"/>
            <a:ext cx="4699000" cy="635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0" name="Text 18"/>
          <p:cNvSpPr/>
          <p:nvPr/>
        </p:nvSpPr>
        <p:spPr>
          <a:xfrm>
            <a:off x="11023600" y="1549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23600" y="20574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Lift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11023600" y="2514600"/>
                <a:ext cx="4191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L</m:t>
                      </m:r>
                      <m:r>
                        <a:rPr lang="en-US" sz="1800" i="1" dirty="0"/>
                        <m:t>i</m:t>
                      </m:r>
                      <m:r>
                        <a:rPr lang="en-US" sz="1800" i="1" dirty="0"/>
                        <m:t>f</m:t>
                      </m:r>
                      <m:r>
                        <a:rPr lang="en-US" sz="1800" i="1" dirty="0"/>
                        <m:t>t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i="1" dirty="0"/>
                        <m:t>Y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i="1" dirty="0"/>
                            <m:t>C</m:t>
                          </m:r>
                          <m:r>
                            <a:rPr lang="en-US" sz="1300" i="1" dirty="0"/>
                            <m:t>o</m:t>
                          </m:r>
                          <m:r>
                            <a:rPr lang="en-US" sz="1300" i="1" dirty="0"/>
                            <m:t>n</m:t>
                          </m:r>
                          <m:r>
                            <a:rPr lang="en-US" sz="1300" i="1" dirty="0"/>
                            <m:t>f</m:t>
                          </m:r>
                          <m:r>
                            <a:rPr lang="en-US" sz="1300" i="1" dirty="0"/>
                            <m:t>i</m:t>
                          </m:r>
                          <m:r>
                            <a:rPr lang="en-US" sz="1300" i="1" dirty="0"/>
                            <m:t>d</m:t>
                          </m:r>
                          <m:r>
                            <a:rPr lang="en-US" sz="1300" i="1" dirty="0"/>
                            <m:t>e</m:t>
                          </m:r>
                          <m:r>
                            <a:rPr lang="en-US" sz="1300" i="1" dirty="0"/>
                            <m:t>n</m:t>
                          </m:r>
                          <m:r>
                            <a:rPr lang="en-US" sz="1300" i="1" dirty="0"/>
                            <m:t>c</m:t>
                          </m:r>
                          <m:r>
                            <a:rPr lang="en-US" sz="1300" i="1" dirty="0"/>
                            <m:t>e</m:t>
                          </m:r>
                          <m:r>
                            <a:rPr lang="en-US" sz="1300" dirty="0"/>
                            <m:t>(</m:t>
                          </m:r>
                          <m:r>
                            <a:rPr lang="en-US" sz="1300" i="1" dirty="0"/>
                            <m:t>X</m:t>
                          </m:r>
                          <m:r>
                            <a:rPr lang="en-US" sz="1300" dirty="0"/>
                            <m:t>→</m:t>
                          </m:r>
                          <m:r>
                            <a:rPr lang="en-US" sz="1300" i="1" dirty="0"/>
                            <m:t>Y</m:t>
                          </m:r>
                          <m:r>
                            <a:rPr lang="en-US" sz="1300" dirty="0"/>
                            <m:t>)</m:t>
                          </m:r>
                        </m:num>
                        <m:den>
                          <m:r>
                            <a:rPr lang="en-US" sz="1300" i="1" dirty="0"/>
                            <m:t>S</m:t>
                          </m:r>
                          <m:r>
                            <a:rPr lang="en-US" sz="1300" i="1" dirty="0"/>
                            <m:t>u</m:t>
                          </m:r>
                          <m:r>
                            <a:rPr lang="en-US" sz="1300" i="1" dirty="0"/>
                            <m:t>p</m:t>
                          </m:r>
                          <m:r>
                            <a:rPr lang="en-US" sz="1300" i="1" dirty="0"/>
                            <m:t>p</m:t>
                          </m:r>
                          <m:r>
                            <a:rPr lang="en-US" sz="1300" i="1" dirty="0"/>
                            <m:t>o</m:t>
                          </m:r>
                          <m:r>
                            <a:rPr lang="en-US" sz="1300" i="1" dirty="0"/>
                            <m:t>r</m:t>
                          </m:r>
                          <m:r>
                            <a:rPr lang="en-US" sz="1300" i="1" dirty="0"/>
                            <m:t>t</m:t>
                          </m:r>
                          <m:r>
                            <a:rPr lang="en-US" sz="1300" dirty="0"/>
                            <m:t>(</m:t>
                          </m:r>
                          <m:r>
                            <a:rPr lang="en-US" sz="1300" i="1" dirty="0"/>
                            <m:t>Y</m:t>
                          </m:r>
                          <m:r>
                            <a:rPr lang="en-US" sz="1300" dirty="0"/>
                            <m:t>)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2" name="Text 20"/>
              <p:cNvSpPr/>
              <p:nvPr/>
            </p:nvSpPr>
            <p:spPr>
              <a:xfrm>
                <a:off x="11023600" y="2514600"/>
                <a:ext cx="4191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C1C1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Lift(X \rightarrow Y) = \frac{Confidence(X \rightarrow Y)}{Support(Y)} )</a:t>
                </a:r>
                <a:endParaRPr lang="en-US" sz="1800" dirty="0"/>
              </a:p>
            </p:txBody>
          </p:sp>
        </mc:Fallback>
      </mc:AlternateContent>
      <p:sp>
        <p:nvSpPr>
          <p:cNvPr id="23" name="Text 21"/>
          <p:cNvSpPr/>
          <p:nvPr/>
        </p:nvSpPr>
        <p:spPr>
          <a:xfrm>
            <a:off x="11023600" y="31496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Measures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association strength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relative to independence.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Lift &gt; 1: positive association. Lift = 1: independent. Lift &lt; 1: negative.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Think: "Is this real or coincidence?"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Interpreting Lift Values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070600"/>
          <a:ext cx="14732000" cy="2159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Lift Value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Business Implication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Lift &gt; 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Positive association — items occur together more than expected by chance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 cross-selling opportunity; place items near each other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Lift = 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Independence — no association between items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special relationship; items are purchased independently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0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Lift &lt; 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Negative association — items occur together less than expected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Items may be substitutes; customers buy one or the other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 Calculation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06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DATA (5 TRANSACTIONS)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6350000" cy="2413000"/>
        </p:xfrm>
        <a:graphic>
          <a:graphicData uri="http://schemas.openxmlformats.org/drawingml/2006/table">
            <a:tbl>
              <a:tblPr/>
              <a:tblGrid>
                <a:gridCol w="1587500"/>
                <a:gridCol w="4762500"/>
              </a:tblGrid>
              <a:tr h="43408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9578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{Bread, Milk}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578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{Bread, Diaper, Beer, Eggs}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39578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{Milk, Diaper, Beer, Coke}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578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{Bread, Milk, Diaper, Beer}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39578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{Bread, Milk, Diaper, Coke}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4635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TO EVALUATE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5016500"/>
            <a:ext cx="6350000" cy="571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5016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{Milk, Diaper} → {Beer}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5842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6223000"/>
            <a:ext cx="711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2/5 =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0.40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(40% of transactions)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Confidence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2/3 ≈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0.67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(67% of Milk+Diaper include Beer)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Lift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0.67 / 0.60 =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1.11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 Lift &gt; 1 indicates a positive association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is a meaningful cross-selling opportunity.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82000" y="1206500"/>
            <a:ext cx="7112000" cy="7239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4" name="Shape 11"/>
          <p:cNvSpPr/>
          <p:nvPr/>
        </p:nvSpPr>
        <p:spPr>
          <a:xfrm>
            <a:off x="8382000" y="1206500"/>
            <a:ext cx="63500" cy="7239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5" name="Text 12"/>
          <p:cNvSpPr/>
          <p:nvPr/>
        </p:nvSpPr>
        <p:spPr>
          <a:xfrm>
            <a:off x="8699500" y="1371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 Breakdown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699500" y="1803400"/>
            <a:ext cx="6477000" cy="12700"/>
          </a:xfrm>
          <a:prstGeom prst="rect">
            <a:avLst/>
          </a:prstGeom>
          <a:solidFill>
            <a:srgbClr val="D5D1CC"/>
          </a:solidFill>
          <a:ln/>
        </p:spPr>
      </p:sp>
      <p:sp>
        <p:nvSpPr>
          <p:cNvPr id="17" name="Text 14"/>
          <p:cNvSpPr/>
          <p:nvPr/>
        </p:nvSpPr>
        <p:spPr>
          <a:xfrm>
            <a:off x="8699500" y="1968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Support Calculation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99500" y="23241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Count transactions containing </a:t>
            </a:r>
            <a:pPr>
              <a:lnSpc>
                <a:spcPct val="135000"/>
              </a:lnSpc>
            </a:pPr>
            <a:r>
              <a:rPr lang="en-US" sz="12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{Milk, Diaper, Beer}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T2 has {Bread, Diaper, Beer, Eggs} — </a:t>
            </a:r>
            <a:pPr>
              <a:lnSpc>
                <a:spcPct val="135000"/>
              </a:lnSpc>
            </a:pPr>
            <a:r>
              <a:rPr lang="en-US" sz="12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Milk</a:t>
            </a:r>
            <a:endParaRPr lang="en-US" sz="18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T4 has {Bread, Milk, Diaper, Beer} — </a:t>
            </a:r>
            <a:pPr>
              <a:lnSpc>
                <a:spcPct val="135000"/>
              </a:lnSpc>
            </a:pPr>
            <a:r>
              <a:rPr lang="en-US" sz="12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 Match!</a:t>
            </a:r>
            <a:endParaRPr lang="en-US" sz="18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 = </a:t>
            </a:r>
            <a:pPr>
              <a:lnSpc>
                <a:spcPct val="135000"/>
              </a:lnSpc>
            </a:pPr>
            <a:r>
              <a:rPr lang="en-US" sz="12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1/5 = 0.20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699500" y="3492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Confidence Calculation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99500" y="38481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Count transactions with </a:t>
            </a:r>
            <a:pPr>
              <a:lnSpc>
                <a:spcPct val="130000"/>
              </a:lnSpc>
            </a:pPr>
            <a:r>
              <a:rPr lang="en-US" sz="11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{Milk, Diaper}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T3: {Milk, Diaper, Beer, Coke} — ✓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T4: {Bread, Milk, Diaper, Beer} — ✓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T5: {Bread, Milk, Diaper, Coke} — ✓ (no Beer)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Confidence = </a:t>
            </a:r>
            <a:pPr>
              <a:lnSpc>
                <a:spcPct val="130000"/>
              </a:lnSpc>
            </a:pPr>
            <a:r>
              <a:rPr lang="en-US" sz="11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2/3 = 0.67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699500" y="50800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Lift Calculation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699500" y="54356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Support(Beer) = 3/5 = </a:t>
            </a:r>
            <a:pPr>
              <a:lnSpc>
                <a:spcPct val="135000"/>
              </a:lnSpc>
            </a:pPr>
            <a:r>
              <a:rPr lang="en-US" sz="12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0.60</a:t>
            </a:r>
            <a:endParaRPr lang="en-US" sz="18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Lift = Confidence / Support(Beer)</a:t>
            </a:r>
            <a:endParaRPr lang="en-US" sz="18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Lift = </a:t>
            </a:r>
            <a:pPr>
              <a:lnSpc>
                <a:spcPct val="135000"/>
              </a:lnSpc>
            </a:pPr>
            <a:r>
              <a:rPr lang="en-US" sz="12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0.67 / 0.60 = 1.11</a:t>
            </a:r>
            <a:endParaRPr lang="en-US" sz="1800" dirty="0"/>
          </a:p>
          <a:p>
            <a:pPr>
              <a:lnSpc>
                <a:spcPct val="135000"/>
              </a:lnSpc>
            </a:pPr>
            <a:r>
              <a:rPr lang="en-US" sz="1200" b="1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1.11 &gt; 1 → meaningful rule!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699500" y="6540500"/>
            <a:ext cx="6477000" cy="8636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4" name="Text 21"/>
          <p:cNvSpPr/>
          <p:nvPr/>
        </p:nvSpPr>
        <p:spPr>
          <a:xfrm>
            <a:off x="8953500" y="66294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Verdict: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rule has moderate support, good confidence, and positive lift. Recommend placing Beer near Milk and Diapers.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Apriori Algorithm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14732000" cy="95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63500" cy="952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13335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Introduced by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Agrawal &amp; Srikant in 1994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Apriori algorithm is the most influential algorithm for mining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frequent itemsets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generating association rules. It uses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two-phase approach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2540000"/>
            <a:ext cx="7175500" cy="304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26924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1400" y="3238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Frequent Itemset Generation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1400" y="3683000"/>
            <a:ext cx="660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all itemsets with support ≥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support threshold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(min_sup).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Start with 1-itemsets, then 2-itemsets, etc.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Iteratively build larger itemsets from smaller ones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Stop when no more frequent itemsets can be found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18500" y="2540000"/>
            <a:ext cx="7175500" cy="3048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4" name="Text 12"/>
          <p:cNvSpPr/>
          <p:nvPr/>
        </p:nvSpPr>
        <p:spPr>
          <a:xfrm>
            <a:off x="8597900" y="26924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7900" y="3238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Generation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7900" y="3683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rules from frequent itemsets with confidence ≥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confidence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(min_conf).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For each frequent itemset, generate all possible rules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Calculate confidence for each rule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Keep only rules meeting the confidence threshold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96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"Apriori"?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451600"/>
            <a:ext cx="14732000" cy="101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6451600"/>
            <a:ext cx="63500" cy="1016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" y="65405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name "Apriori" acknowledges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prior knowledge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frequent itemsets that the algorithm uses. It relies on the insight that adding items to a frequently purchased group can only make it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 frequent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not more.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774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Challenge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81661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 items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there are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2ⁿ - 1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possible itemsets. For n=100, that's ~10³⁰ combinations —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brute force is impossible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Apriori property solves this.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Apriori Property &amp; Pruning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147320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1371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APRIORI PROPERTY (Downward Closure)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" y="1778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an itemset is frequent, then all of its subsets must also be frequent.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Conversely, if an itemset is infrequent, all its supersets are also infrequent.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Pruning Works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365500"/>
            <a:ext cx="7112000" cy="1524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3365500"/>
            <a:ext cx="63500" cy="15240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12" name="Text 10"/>
          <p:cNvSpPr/>
          <p:nvPr/>
        </p:nvSpPr>
        <p:spPr>
          <a:xfrm>
            <a:off x="1041400" y="34671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8A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 FORWARD: Frequent → Subsets are Frequent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1400" y="38354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{Bread, Butter, Milk} is frequent, then: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{Bread}, {Butter}, {Milk}, {Bread,Butter}, {Bread,Milk}, {Butter,Milk} are all frequent.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3365500"/>
            <a:ext cx="7112000" cy="1524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82000" y="3365500"/>
            <a:ext cx="63500" cy="1524000"/>
          </a:xfrm>
          <a:prstGeom prst="rect">
            <a:avLst/>
          </a:prstGeom>
          <a:solidFill>
            <a:srgbClr val="B03030"/>
          </a:solidFill>
          <a:ln/>
        </p:spPr>
      </p:sp>
      <p:sp>
        <p:nvSpPr>
          <p:cNvPr id="16" name="Text 14"/>
          <p:cNvSpPr/>
          <p:nvPr/>
        </p:nvSpPr>
        <p:spPr>
          <a:xfrm>
            <a:off x="8661400" y="34671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0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 BACKWARD: Infrequent → Supersets are Infrequent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61400" y="38354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{Bread, Butter} is infrequent, then: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{Bread, Butter, Milk}, {Bread, Butter, Eggs} — all supersets are pruned.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27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Computational Impact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778500"/>
            <a:ext cx="7112000" cy="1651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" y="5905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pruning: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Check all 2ⁿ - 1 itemsets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n=20: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1,048,575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itemsets to check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Apriori pruning:</a:t>
            </a:r>
            <a:pPr>
              <a:lnSpc>
                <a:spcPct val="14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Only check a small fraction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dataset: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~5,000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itemsets —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99.5% reduction!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2000" y="527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Space Reduction</a:t>
            </a:r>
            <a:endParaRPr lang="en-US" sz="16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8382000" y="5715000"/>
          <a:ext cx="71120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Apriori Algorithm — Step-by-Step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4699000" cy="1714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4699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498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1498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 Frequent 1-Itemsets (L₁)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2500" y="19304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Scan database and count support for each individual item. Keep items with support ≥ min_sup.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1333500"/>
            <a:ext cx="4699000" cy="1714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0" y="1333500"/>
            <a:ext cx="4699000" cy="508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3" name="Text 11"/>
          <p:cNvSpPr/>
          <p:nvPr/>
        </p:nvSpPr>
        <p:spPr>
          <a:xfrm>
            <a:off x="5969000" y="1498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0500" y="1498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Candidates (Cₖ)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9000" y="19304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Join Lₖ₋₁ with itself to create candidate k-itemsets. Combine frequent (k-1)-itemsets pairwise.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1333500"/>
            <a:ext cx="4699000" cy="1714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1333500"/>
            <a:ext cx="4699000" cy="508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8" name="Text 16"/>
          <p:cNvSpPr/>
          <p:nvPr/>
        </p:nvSpPr>
        <p:spPr>
          <a:xfrm>
            <a:off x="10985500" y="1498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57000" y="1498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Prune Candidates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85500" y="19304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Remove any candidate with an infrequent subset (Apriori property). Dramatically reduces search space.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3302000"/>
            <a:ext cx="4699000" cy="1714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3302000"/>
            <a:ext cx="4699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34671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3467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Support &amp; Filter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2500" y="38989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Scan database to count support of remaining candidates. Keep only those with support ≥ min_sup → form Lₖ.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778500" y="3302000"/>
            <a:ext cx="4699000" cy="1714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7" name="Shape 25"/>
          <p:cNvSpPr/>
          <p:nvPr/>
        </p:nvSpPr>
        <p:spPr>
          <a:xfrm>
            <a:off x="5778500" y="3302000"/>
            <a:ext cx="4699000" cy="508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28" name="Text 26"/>
          <p:cNvSpPr/>
          <p:nvPr/>
        </p:nvSpPr>
        <p:spPr>
          <a:xfrm>
            <a:off x="5969000" y="34671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40500" y="3467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Repeat Until Convergence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69000" y="38989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Repeat steps 2-4 with k = k+1. Stop when no more frequent itemsets can be generated (Lₖ = ∅).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795000" y="3302000"/>
            <a:ext cx="4699000" cy="1714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95000" y="3302000"/>
            <a:ext cx="4699000" cy="508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33" name="Text 31"/>
          <p:cNvSpPr/>
          <p:nvPr/>
        </p:nvSpPr>
        <p:spPr>
          <a:xfrm>
            <a:off x="10985500" y="34671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8A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557000" y="3467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Association Rules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85500" y="38989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all frequent itemsets, generate rules and keep those with confidence ≥ min_conf.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20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Flow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16000" y="5969000"/>
            <a:ext cx="1905000" cy="635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8" name="Text 36"/>
          <p:cNvSpPr/>
          <p:nvPr/>
        </p:nvSpPr>
        <p:spPr>
          <a:xfrm>
            <a:off x="1016000" y="59690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048000" y="6223000"/>
            <a:ext cx="635000" cy="0"/>
          </a:xfrm>
          <a:prstGeom prst="straightConnector1">
            <a:avLst/>
          </a:prstGeom>
          <a:noFill/>
          <a:ln w="25400">
            <a:solidFill>
              <a:srgbClr val="C97B49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3810000" y="5969000"/>
            <a:ext cx="1905000" cy="635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41" name="Text 39"/>
          <p:cNvSpPr/>
          <p:nvPr/>
        </p:nvSpPr>
        <p:spPr>
          <a:xfrm>
            <a:off x="3810000" y="59690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 → L₁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42000" y="6223000"/>
            <a:ext cx="635000" cy="0"/>
          </a:xfrm>
          <a:prstGeom prst="straightConnector1">
            <a:avLst/>
          </a:prstGeom>
          <a:noFill/>
          <a:ln w="25400">
            <a:solidFill>
              <a:srgbClr val="C97B49"/>
            </a:solidFill>
            <a:prstDash val="solid"/>
            <a:headEnd type="none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6604000" y="5969000"/>
            <a:ext cx="1905000" cy="635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44" name="Text 42"/>
          <p:cNvSpPr/>
          <p:nvPr/>
        </p:nvSpPr>
        <p:spPr>
          <a:xfrm>
            <a:off x="6604000" y="59690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→ C₂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636000" y="6223000"/>
            <a:ext cx="635000" cy="0"/>
          </a:xfrm>
          <a:prstGeom prst="straightConnector1">
            <a:avLst/>
          </a:prstGeom>
          <a:noFill/>
          <a:ln w="25400">
            <a:solidFill>
              <a:srgbClr val="C97B49"/>
            </a:solidFill>
            <a:prstDash val="solid"/>
            <a:headEnd type="none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9398000" y="5969000"/>
            <a:ext cx="1905000" cy="635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47" name="Text 45"/>
          <p:cNvSpPr/>
          <p:nvPr/>
        </p:nvSpPr>
        <p:spPr>
          <a:xfrm>
            <a:off x="9398000" y="59690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Prune → Scan → L₂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430000" y="6223000"/>
            <a:ext cx="635000" cy="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olid"/>
            <a:headEnd type="none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12192000" y="5969000"/>
            <a:ext cx="1905000" cy="6350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50" name="Text 48"/>
          <p:cNvSpPr/>
          <p:nvPr/>
        </p:nvSpPr>
        <p:spPr>
          <a:xfrm>
            <a:off x="12192000" y="59690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56500" y="6604000"/>
            <a:ext cx="0" cy="508000"/>
          </a:xfrm>
          <a:prstGeom prst="straightConnector1">
            <a:avLst/>
          </a:prstGeom>
          <a:noFill/>
          <a:ln w="19050">
            <a:solidFill>
              <a:srgbClr val="5A6B7B"/>
            </a:solidFill>
            <a:prstDash val="sysDot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7556500" y="7112000"/>
            <a:ext cx="1841500" cy="0"/>
          </a:xfrm>
          <a:prstGeom prst="straightConnector1">
            <a:avLst/>
          </a:prstGeom>
          <a:noFill/>
          <a:ln w="19050">
            <a:solidFill>
              <a:srgbClr val="5A6B7B"/>
            </a:solidFill>
            <a:prstDash val="sysDot"/>
            <a:headEnd type="arrow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9398000" y="6604000"/>
            <a:ext cx="0" cy="508000"/>
          </a:xfrm>
          <a:prstGeom prst="straightConnector1">
            <a:avLst/>
          </a:prstGeom>
          <a:noFill/>
          <a:ln w="19050">
            <a:solidFill>
              <a:srgbClr val="5A6B7B"/>
            </a:solidFill>
            <a:prstDash val="sysDot"/>
            <a:headEnd type="none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7747000" y="66675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repeat for k=3,4...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62000" y="7429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operations: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Join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(combine frequent itemsets) →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Prune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(remove infrequent candidates) →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(count support in database) →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Filter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(keep frequent ones)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Apriori Worked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06500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transactions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Items: Bread, Butter, Milk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 Support = 50%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(≥3 transactions)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1714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 L₁ (Frequent 1-Itemsets)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57400"/>
          <a:ext cx="4445000" cy="1524000"/>
        </p:xfrm>
        <a:graphic>
          <a:graphicData uri="http://schemas.openxmlformats.org/drawingml/2006/table">
            <a:tbl>
              <a:tblPr/>
              <a:tblGrid>
                <a:gridCol w="2222500"/>
                <a:gridCol w="1111250"/>
                <a:gridCol w="111125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Itemset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Freq?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{Butter}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{Milk}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38100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 C₂ → L₂ (Frequent 2-Itemsets)</a:t>
            </a:r>
            <a:endParaRPr lang="en-US" sz="16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52900"/>
          <a:ext cx="4445000" cy="1524000"/>
        </p:xfrm>
        <a:graphic>
          <a:graphicData uri="http://schemas.openxmlformats.org/drawingml/2006/table">
            <a:tbl>
              <a:tblPr/>
              <a:tblGrid>
                <a:gridCol w="2222500"/>
                <a:gridCol w="1111250"/>
                <a:gridCol w="111125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Itemset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Freq?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{Bread, Butter}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0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{Bread, Milk}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{Butter, Milk}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0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62000" y="5905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 C₃ (3-Itemsets) — STOP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62000" y="62484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{Bread, Milk} is frequent in L₂. Cannot generate any 3-itemset (need ≥2 frequent 2-itemsets).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Algorithm terminates.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636000" y="1714500"/>
            <a:ext cx="6858000" cy="5334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4" name="Shape 10"/>
          <p:cNvSpPr/>
          <p:nvPr/>
        </p:nvSpPr>
        <p:spPr>
          <a:xfrm>
            <a:off x="8636000" y="1714500"/>
            <a:ext cx="63500" cy="53340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5" name="Text 11"/>
          <p:cNvSpPr/>
          <p:nvPr/>
        </p:nvSpPr>
        <p:spPr>
          <a:xfrm>
            <a:off x="8953500" y="1879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Results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953500" y="2311400"/>
            <a:ext cx="6223000" cy="12700"/>
          </a:xfrm>
          <a:prstGeom prst="rect">
            <a:avLst/>
          </a:prstGeom>
          <a:solidFill>
            <a:srgbClr val="D5D1CC"/>
          </a:solidFill>
          <a:ln/>
        </p:spPr>
      </p:sp>
      <p:sp>
        <p:nvSpPr>
          <p:cNvPr id="17" name="Text 13"/>
          <p:cNvSpPr/>
          <p:nvPr/>
        </p:nvSpPr>
        <p:spPr>
          <a:xfrm>
            <a:off x="8953500" y="2476500"/>
            <a:ext cx="622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Frequent Itemsets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953500" y="2857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L₁: {Bread}, {Butter}, {Milk}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L₂: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{Bread, Milk}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953500" y="4000500"/>
            <a:ext cx="622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Rules (min_conf = 70%)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953500" y="4419600"/>
            <a:ext cx="6223000" cy="698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1" name="Text 17"/>
          <p:cNvSpPr/>
          <p:nvPr/>
        </p:nvSpPr>
        <p:spPr>
          <a:xfrm>
            <a:off x="9144000" y="4483100"/>
            <a:ext cx="584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Bread → Milk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Support=60% | Confidence=75% |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Pass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8953500" y="5270500"/>
            <a:ext cx="6223000" cy="6985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3" name="Text 19"/>
          <p:cNvSpPr/>
          <p:nvPr/>
        </p:nvSpPr>
        <p:spPr>
          <a:xfrm>
            <a:off x="9144000" y="5334000"/>
            <a:ext cx="584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Milk → Bread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Support=60% | Confidence=67% |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D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 Borderline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953500" y="6159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Insight: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Customers who buy Bread very likely also buy Milk. Retailers should place these items together.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Rules in Decision Making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4699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996950" y="15494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6669" y="-11112"/>
                </a:moveTo>
                <a:cubicBezTo>
                  <a:pt x="7431" y="-11112"/>
                  <a:pt x="0" y="-3681"/>
                  <a:pt x="0" y="5556"/>
                </a:cubicBezTo>
                <a:cubicBezTo>
                  <a:pt x="0" y="14794"/>
                  <a:pt x="7431" y="22225"/>
                  <a:pt x="16669" y="22225"/>
                </a:cubicBezTo>
                <a:lnTo>
                  <a:pt x="48131" y="22225"/>
                </a:lnTo>
                <a:cubicBezTo>
                  <a:pt x="50840" y="22225"/>
                  <a:pt x="53132" y="24170"/>
                  <a:pt x="53618" y="26809"/>
                </a:cubicBezTo>
                <a:lnTo>
                  <a:pt x="89803" y="225653"/>
                </a:lnTo>
                <a:cubicBezTo>
                  <a:pt x="94109" y="249406"/>
                  <a:pt x="114806" y="266700"/>
                  <a:pt x="138976" y="266700"/>
                </a:cubicBezTo>
                <a:lnTo>
                  <a:pt x="316706" y="266700"/>
                </a:lnTo>
                <a:cubicBezTo>
                  <a:pt x="325944" y="266700"/>
                  <a:pt x="333375" y="259269"/>
                  <a:pt x="333375" y="250031"/>
                </a:cubicBezTo>
                <a:cubicBezTo>
                  <a:pt x="333375" y="240794"/>
                  <a:pt x="325944" y="233363"/>
                  <a:pt x="316706" y="233363"/>
                </a:cubicBezTo>
                <a:lnTo>
                  <a:pt x="138976" y="233363"/>
                </a:lnTo>
                <a:cubicBezTo>
                  <a:pt x="130919" y="233363"/>
                  <a:pt x="124043" y="227598"/>
                  <a:pt x="122585" y="219680"/>
                </a:cubicBezTo>
                <a:lnTo>
                  <a:pt x="119043" y="200025"/>
                </a:lnTo>
                <a:lnTo>
                  <a:pt x="329902" y="200025"/>
                </a:lnTo>
                <a:cubicBezTo>
                  <a:pt x="351294" y="200025"/>
                  <a:pt x="369630" y="184815"/>
                  <a:pt x="373588" y="163770"/>
                </a:cubicBezTo>
                <a:lnTo>
                  <a:pt x="395119" y="48548"/>
                </a:lnTo>
                <a:cubicBezTo>
                  <a:pt x="397689" y="34865"/>
                  <a:pt x="387201" y="22225"/>
                  <a:pt x="373241" y="22225"/>
                </a:cubicBezTo>
                <a:lnTo>
                  <a:pt x="86608" y="22225"/>
                </a:lnTo>
                <a:lnTo>
                  <a:pt x="86330" y="20836"/>
                </a:lnTo>
                <a:cubicBezTo>
                  <a:pt x="82996" y="2361"/>
                  <a:pt x="66883" y="-11112"/>
                  <a:pt x="48062" y="-11112"/>
                </a:cubicBezTo>
                <a:lnTo>
                  <a:pt x="16669" y="-11112"/>
                </a:lnTo>
                <a:close/>
                <a:moveTo>
                  <a:pt x="144463" y="355600"/>
                </a:moveTo>
                <a:cubicBezTo>
                  <a:pt x="162862" y="355600"/>
                  <a:pt x="177800" y="340662"/>
                  <a:pt x="177800" y="322263"/>
                </a:cubicBezTo>
                <a:cubicBezTo>
                  <a:pt x="177800" y="303863"/>
                  <a:pt x="162862" y="288925"/>
                  <a:pt x="144463" y="288925"/>
                </a:cubicBezTo>
                <a:cubicBezTo>
                  <a:pt x="126063" y="288925"/>
                  <a:pt x="111125" y="303863"/>
                  <a:pt x="111125" y="322263"/>
                </a:cubicBezTo>
                <a:cubicBezTo>
                  <a:pt x="111125" y="340662"/>
                  <a:pt x="126063" y="355600"/>
                  <a:pt x="144463" y="355600"/>
                </a:cubicBezTo>
                <a:close/>
                <a:moveTo>
                  <a:pt x="300038" y="355600"/>
                </a:moveTo>
                <a:cubicBezTo>
                  <a:pt x="318437" y="355600"/>
                  <a:pt x="333375" y="340662"/>
                  <a:pt x="333375" y="322263"/>
                </a:cubicBezTo>
                <a:cubicBezTo>
                  <a:pt x="333375" y="303863"/>
                  <a:pt x="318437" y="288925"/>
                  <a:pt x="300038" y="288925"/>
                </a:cubicBezTo>
                <a:cubicBezTo>
                  <a:pt x="281638" y="288925"/>
                  <a:pt x="266700" y="303863"/>
                  <a:pt x="266700" y="322263"/>
                </a:cubicBezTo>
                <a:cubicBezTo>
                  <a:pt x="266700" y="340662"/>
                  <a:pt x="281638" y="355600"/>
                  <a:pt x="300038" y="3556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152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 &amp; E-Commerce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200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 recommendations, shelf layout optimization, promotional bundling, dynamic pricing strategies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133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0" y="1333500"/>
            <a:ext cx="4699000" cy="508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79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C97B49"/>
          </a:solidFill>
          <a:ln/>
        </p:spPr>
      </p:sp>
      <p:sp>
        <p:nvSpPr>
          <p:cNvPr id="14" name="Text 12"/>
          <p:cNvSpPr/>
          <p:nvPr/>
        </p:nvSpPr>
        <p:spPr>
          <a:xfrm>
            <a:off x="6540500" y="152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7900" y="200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Identifying co-occurring symptoms, drug interaction detection, treatment pattern analysis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133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1333500"/>
            <a:ext cx="4699000" cy="508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744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5A6B7B"/>
          </a:solidFill>
          <a:ln/>
        </p:spPr>
      </p:sp>
      <p:sp>
        <p:nvSpPr>
          <p:cNvPr id="19" name="Text 17"/>
          <p:cNvSpPr/>
          <p:nvPr/>
        </p:nvSpPr>
        <p:spPr>
          <a:xfrm>
            <a:off x="11557000" y="152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74400" y="200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Fraud pattern detection, portfolio analysis, customer spending behavior insights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387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3873500"/>
            <a:ext cx="4699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1400" y="408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406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Mining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1400" y="454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Clickstream analysis, page recommendation, ad placement optimization, content personalization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778500" y="387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7" name="Shape 25"/>
          <p:cNvSpPr/>
          <p:nvPr/>
        </p:nvSpPr>
        <p:spPr>
          <a:xfrm>
            <a:off x="5778500" y="3873500"/>
            <a:ext cx="4699000" cy="508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28" name="Shape 26"/>
          <p:cNvSpPr/>
          <p:nvPr/>
        </p:nvSpPr>
        <p:spPr>
          <a:xfrm>
            <a:off x="6057900" y="408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00038"/>
                </a:lnTo>
                <a:cubicBezTo>
                  <a:pt x="0" y="318443"/>
                  <a:pt x="14932" y="333375"/>
                  <a:pt x="3333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105708"/>
                </a:lnTo>
                <a:cubicBezTo>
                  <a:pt x="355600" y="93067"/>
                  <a:pt x="342126" y="85080"/>
                  <a:pt x="331014" y="91053"/>
                </a:cubicBezTo>
                <a:lnTo>
                  <a:pt x="222250" y="149602"/>
                </a:lnTo>
                <a:lnTo>
                  <a:pt x="222250" y="105708"/>
                </a:lnTo>
                <a:cubicBezTo>
                  <a:pt x="222250" y="93067"/>
                  <a:pt x="208776" y="85080"/>
                  <a:pt x="197664" y="91053"/>
                </a:cubicBezTo>
                <a:lnTo>
                  <a:pt x="88900" y="149602"/>
                </a:lnTo>
                <a:lnTo>
                  <a:pt x="88900" y="44450"/>
                </a:lnTo>
                <a:cubicBezTo>
                  <a:pt x="88900" y="32157"/>
                  <a:pt x="78968" y="22225"/>
                  <a:pt x="66675" y="22225"/>
                </a:cubicBezTo>
                <a:lnTo>
                  <a:pt x="22225" y="22225"/>
                </a:lnTo>
                <a:close/>
              </a:path>
            </a:pathLst>
          </a:custGeom>
          <a:solidFill>
            <a:srgbClr val="C97B49"/>
          </a:solidFill>
          <a:ln/>
        </p:spPr>
      </p:sp>
      <p:sp>
        <p:nvSpPr>
          <p:cNvPr id="29" name="Text 27"/>
          <p:cNvSpPr/>
          <p:nvPr/>
        </p:nvSpPr>
        <p:spPr>
          <a:xfrm>
            <a:off x="6540500" y="406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Manufacturing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57900" y="454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Defect co-occurrence analysis, supply chain optimization, predictive maintenance patterns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795000" y="3873500"/>
            <a:ext cx="4699000" cy="2222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95000" y="3873500"/>
            <a:ext cx="4699000" cy="508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33" name="Shape 31"/>
          <p:cNvSpPr/>
          <p:nvPr/>
        </p:nvSpPr>
        <p:spPr>
          <a:xfrm>
            <a:off x="11074400" y="408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1264" y="17363"/>
                </a:moveTo>
                <a:cubicBezTo>
                  <a:pt x="105777" y="4237"/>
                  <a:pt x="91470" y="-2709"/>
                  <a:pt x="77857" y="972"/>
                </a:cubicBezTo>
                <a:lnTo>
                  <a:pt x="74037" y="2014"/>
                </a:lnTo>
                <a:cubicBezTo>
                  <a:pt x="29170" y="14238"/>
                  <a:pt x="-9168" y="57716"/>
                  <a:pt x="2014" y="110639"/>
                </a:cubicBezTo>
                <a:cubicBezTo>
                  <a:pt x="27781" y="232182"/>
                  <a:pt x="123418" y="327819"/>
                  <a:pt x="244961" y="353586"/>
                </a:cubicBezTo>
                <a:cubicBezTo>
                  <a:pt x="297954" y="364837"/>
                  <a:pt x="341362" y="326430"/>
                  <a:pt x="353586" y="281563"/>
                </a:cubicBezTo>
                <a:lnTo>
                  <a:pt x="354628" y="277743"/>
                </a:lnTo>
                <a:cubicBezTo>
                  <a:pt x="358378" y="264061"/>
                  <a:pt x="351363" y="249753"/>
                  <a:pt x="338306" y="244336"/>
                </a:cubicBezTo>
                <a:lnTo>
                  <a:pt x="270728" y="216208"/>
                </a:lnTo>
                <a:cubicBezTo>
                  <a:pt x="259269" y="211415"/>
                  <a:pt x="246003" y="214749"/>
                  <a:pt x="238085" y="224403"/>
                </a:cubicBezTo>
                <a:lnTo>
                  <a:pt x="211276" y="257185"/>
                </a:lnTo>
                <a:cubicBezTo>
                  <a:pt x="162451" y="232946"/>
                  <a:pt x="123140" y="192385"/>
                  <a:pt x="100568" y="142587"/>
                </a:cubicBezTo>
                <a:lnTo>
                  <a:pt x="131266" y="117584"/>
                </a:lnTo>
                <a:cubicBezTo>
                  <a:pt x="140920" y="109736"/>
                  <a:pt x="144185" y="96470"/>
                  <a:pt x="139462" y="84941"/>
                </a:cubicBezTo>
                <a:lnTo>
                  <a:pt x="111264" y="17363"/>
                </a:lnTo>
                <a:close/>
              </a:path>
            </a:pathLst>
          </a:custGeom>
          <a:solidFill>
            <a:srgbClr val="5A6B7B"/>
          </a:solidFill>
          <a:ln/>
        </p:spPr>
      </p:sp>
      <p:sp>
        <p:nvSpPr>
          <p:cNvPr id="34" name="Text 32"/>
          <p:cNvSpPr/>
          <p:nvPr/>
        </p:nvSpPr>
        <p:spPr>
          <a:xfrm>
            <a:off x="11557000" y="406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Telecommunications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74400" y="4546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Service bundling strategies, churn pattern identification, usage behavior analysis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62000" y="6477000"/>
            <a:ext cx="147320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0150" y="6794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C97B49"/>
          </a:solidFill>
          <a:ln/>
        </p:spPr>
      </p:sp>
      <p:sp>
        <p:nvSpPr>
          <p:cNvPr id="38" name="Text 36"/>
          <p:cNvSpPr/>
          <p:nvPr/>
        </p:nvSpPr>
        <p:spPr>
          <a:xfrm>
            <a:off x="1841500" y="66675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Association rules reveal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insights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strategic business decisions. Unlike predictive models, they describe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patterns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can be immediately leveraged for operational improvements.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L13+L14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Trees vs Association Rules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6350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69433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Decision Trees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Association Rules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0795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Purpose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Predictive modeling — classification and regression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Descriptive pattern discovery in transaction data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95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Learning Type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Supervised — requires labeled training data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97B4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Unsupervised — no labels needed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80795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Tree structure for making predictions on new data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If-then rules describing item co-occurrence patterns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95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Input Data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Labeled dataset with features and target variable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Transaction database (sets of co-occurring items)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80795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Core Strength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Interpretable predictions with clear decision paths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Discovers hidden relationships and cross-selling ops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95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Metrics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Entropy, Information Gain, Gini Impurity, Accuracy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Support, Confidence, Lift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80795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ID3, C4.5, CART, CHAID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Apriori, FP-Growth, Eclat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7937500"/>
            <a:ext cx="14732000" cy="6985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8" name="Text 5"/>
          <p:cNvSpPr/>
          <p:nvPr/>
        </p:nvSpPr>
        <p:spPr>
          <a:xfrm>
            <a:off x="1041400" y="8001000"/>
            <a:ext cx="1417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Together:</a:t>
            </a:r>
            <a:pPr algn="ctr">
              <a:lnSpc>
                <a:spcPct val="10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Decision Trees for classification decisions + Association Rules for discovering feature relationships and market insights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4732000" y="203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7175500" cy="7048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71755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1549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 13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1400" y="1879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2413000"/>
            <a:ext cx="660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Hierarchical structure for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classification and regression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ID3 algorithm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uses Entropy and Information Gain to select splitting attributes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Greedy top-down recursive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approach — best local split at each step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Entropy measures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uncertainty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(0 = pure, 1 = max mixed)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Information Gain =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entropy reduction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after splitting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Prone to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overfitting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pruning helps control complexity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Highly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interpretable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white-box model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Widely used in healthcare, finance, e-commerce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18500" y="1333500"/>
            <a:ext cx="7175500" cy="7048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Shape 10"/>
          <p:cNvSpPr/>
          <p:nvPr/>
        </p:nvSpPr>
        <p:spPr>
          <a:xfrm>
            <a:off x="8318500" y="1333500"/>
            <a:ext cx="7175500" cy="635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13" name="Text 11"/>
          <p:cNvSpPr/>
          <p:nvPr/>
        </p:nvSpPr>
        <p:spPr>
          <a:xfrm>
            <a:off x="8597900" y="1549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 14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7900" y="1879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7900" y="2413000"/>
            <a:ext cx="660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Discover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hidden item relationships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transaction data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Three key metrics: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Support, Confidence, Lift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Apriori algorithm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efficiently finds frequent itemsets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pruning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via downward closure property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Lift &gt; 1 indicates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meaningful positive association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Core of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market basket analysis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recommendations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Unsupervised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labeled data required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97B4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Drives strategic decisions in retail, healthcare, finance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lxcgh5c53bfw2/mnt/agents/output/decision_trees/images/6_Dark_abstract_technology_wallpaper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F2B">
                  <a:alpha val="95000"/>
                </a:srgbClr>
              </a:gs>
              <a:gs pos="50000">
                <a:srgbClr val="0A1F2B">
                  <a:alpha val="90000"/>
                </a:srgbClr>
              </a:gs>
              <a:gs pos="100000">
                <a:srgbClr val="0A1F2B">
                  <a:alpha val="8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23000" y="2540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C97B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10500" y="2984500"/>
            <a:ext cx="635000" cy="38100"/>
          </a:xfrm>
          <a:prstGeom prst="rect">
            <a:avLst/>
          </a:prstGeom>
          <a:solidFill>
            <a:srgbClr val="C97B49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33020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83000" y="4318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Questions &amp; Discussion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7 — Machine Learning: Decision Trees &amp; Association Rules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588000" y="6096000"/>
            <a:ext cx="508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683000" y="64770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L13: Decision Trees (ID3) · L14: Association Rules for Decision Making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7: Decision Trees &amp; Association Rules</dc:title>
  <dc:subject>Artificial Intelligence - Week 7: Decision Trees &amp; Association Rules</dc:subject>
  <dc:creator>Kimi</dc:creator>
  <cp:lastModifiedBy>Kimi</cp:lastModifiedBy>
  <cp:revision>1</cp:revision>
  <dcterms:created xsi:type="dcterms:W3CDTF">2026-05-25T19:21:58Z</dcterms:created>
  <dcterms:modified xsi:type="dcterms:W3CDTF">2026-05-25T19:21:58Z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7: Decision Trees &amp; Association Rules","ContentProducer":"001191110108MACG2KBH8F10000","ProduceID":"19e60568-a052-8e9c-8000-000045ce86bc","ReservedCode1":"","ContentPropagator":"001191110108MACG2KBH8F20000","PropagateID":"19e60568-a052-8e9c-8000-000045ce86bc","ReservedCode2":""}</vt:lpwstr>
  </property>
</Properties>
</file>