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Top-5 Accuracy</c:v>
                </c:pt>
              </c:strCache>
            </c:strRef>
          </c:tx>
          <c:spPr>
            <a:solidFill>
              <a:srgbClr val="2E5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LeNet</c:v>
                  </c:pt>
                  <c:pt idx="1">
                    <c:v>AlexNet</c:v>
                  </c:pt>
                  <c:pt idx="2">
                    <c:v>VGG</c:v>
                  </c:pt>
                  <c:pt idx="3">
                    <c:v>ResNet</c:v>
                  </c:pt>
                  <c:pt idx="4">
                    <c:v>ViT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</c:v>
                </c:pt>
                <c:pt idx="1">
                  <c:v>84</c:v>
                </c:pt>
                <c:pt idx="2">
                  <c:v>92</c:v>
                </c:pt>
                <c:pt idx="3">
                  <c:v>96</c:v>
                </c:pt>
                <c:pt idx="4">
                  <c:v>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2794000"/>
          </a:xfrm>
          <a:custGeom>
            <a:avLst/>
            <a:gdLst/>
            <a:ahLst/>
            <a:cxnLst/>
            <a:rect l="l" t="t" r="r" b="b"/>
            <a:pathLst>
              <a:path w="5080000" h="2794000">
                <a:moveTo>
                  <a:pt x="0" y="0"/>
                </a:moveTo>
                <a:lnTo>
                  <a:pt x="5080000" y="0"/>
                </a:lnTo>
                <a:lnTo>
                  <a:pt x="5080000" y="1397000"/>
                </a:lnTo>
                <a:quadBezTo>
                  <a:pt x="4445000" y="1862667"/>
                  <a:pt x="3810000" y="1862667"/>
                </a:quadBezTo>
                <a:lnTo>
                  <a:pt x="1270000" y="1862667"/>
                </a:lnTo>
                <a:quadBezTo>
                  <a:pt x="635000" y="1862667"/>
                  <a:pt x="0" y="1397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921000"/>
            <a:ext cx="1270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4191000"/>
            <a:ext cx="1016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Perception &amp; Components of AGI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50165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53000" y="54610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15 · Artificial Intelligence Course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Perception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L27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04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Sensory processing, modalities, and feature representation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24000" y="4064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000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0" y="4064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 of AGI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L28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4572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Reasoning, learning, memory, planning, and meta-cognition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intelligent systems interpret and understand the world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Perception in AI?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Perception interprets sensory data to build meaningful representations.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Function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Transforms raw inputs into structured knowledge for action.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Distinction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raw data acquisition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interpretation and meaning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in AI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 between the physical world and cognition.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1905000"/>
            <a:ext cx="6350000" cy="5969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222500"/>
            <a:ext cx="533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Perception → Representation → Action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398000" y="2794000"/>
            <a:ext cx="482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Shape 6"/>
          <p:cNvSpPr/>
          <p:nvPr/>
        </p:nvSpPr>
        <p:spPr>
          <a:xfrm>
            <a:off x="9652000" y="311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38100"/>
                </a:moveTo>
                <a:cubicBezTo>
                  <a:pt x="219287" y="38100"/>
                  <a:pt x="150813" y="81915"/>
                  <a:pt x="100965" y="134064"/>
                </a:cubicBezTo>
                <a:cubicBezTo>
                  <a:pt x="51435" y="185857"/>
                  <a:pt x="18309" y="247650"/>
                  <a:pt x="2540" y="290155"/>
                </a:cubicBezTo>
                <a:cubicBezTo>
                  <a:pt x="-952" y="299561"/>
                  <a:pt x="-952" y="310039"/>
                  <a:pt x="2540" y="319445"/>
                </a:cubicBezTo>
                <a:cubicBezTo>
                  <a:pt x="18309" y="361950"/>
                  <a:pt x="51435" y="423863"/>
                  <a:pt x="100965" y="475536"/>
                </a:cubicBezTo>
                <a:cubicBezTo>
                  <a:pt x="150813" y="527566"/>
                  <a:pt x="219287" y="571500"/>
                  <a:pt x="304800" y="571500"/>
                </a:cubicBezTo>
                <a:cubicBezTo>
                  <a:pt x="390313" y="571500"/>
                  <a:pt x="458787" y="527685"/>
                  <a:pt x="508635" y="475536"/>
                </a:cubicBezTo>
                <a:cubicBezTo>
                  <a:pt x="558165" y="423743"/>
                  <a:pt x="591291" y="361950"/>
                  <a:pt x="607060" y="319445"/>
                </a:cubicBezTo>
                <a:cubicBezTo>
                  <a:pt x="610552" y="310039"/>
                  <a:pt x="610552" y="299561"/>
                  <a:pt x="607060" y="290155"/>
                </a:cubicBezTo>
                <a:cubicBezTo>
                  <a:pt x="591291" y="247650"/>
                  <a:pt x="558165" y="185737"/>
                  <a:pt x="508635" y="134064"/>
                </a:cubicBezTo>
                <a:cubicBezTo>
                  <a:pt x="458787" y="82034"/>
                  <a:pt x="390313" y="38100"/>
                  <a:pt x="304800" y="38100"/>
                </a:cubicBezTo>
                <a:close/>
                <a:moveTo>
                  <a:pt x="152400" y="304800"/>
                </a:moveTo>
                <a:cubicBezTo>
                  <a:pt x="152400" y="210174"/>
                  <a:pt x="220688" y="133350"/>
                  <a:pt x="304800" y="133350"/>
                </a:cubicBezTo>
                <a:cubicBezTo>
                  <a:pt x="388912" y="133350"/>
                  <a:pt x="457200" y="210174"/>
                  <a:pt x="457200" y="304800"/>
                </a:cubicBezTo>
                <a:cubicBezTo>
                  <a:pt x="457200" y="399426"/>
                  <a:pt x="388912" y="476250"/>
                  <a:pt x="304800" y="476250"/>
                </a:cubicBezTo>
                <a:cubicBezTo>
                  <a:pt x="220688" y="476250"/>
                  <a:pt x="152400" y="399426"/>
                  <a:pt x="152400" y="304800"/>
                </a:cubicBezTo>
                <a:close/>
                <a:moveTo>
                  <a:pt x="304800" y="228600"/>
                </a:moveTo>
                <a:cubicBezTo>
                  <a:pt x="304800" y="270629"/>
                  <a:pt x="274426" y="304800"/>
                  <a:pt x="237067" y="304800"/>
                </a:cubicBezTo>
                <a:cubicBezTo>
                  <a:pt x="224896" y="304800"/>
                  <a:pt x="213466" y="301228"/>
                  <a:pt x="203518" y="294799"/>
                </a:cubicBezTo>
                <a:cubicBezTo>
                  <a:pt x="202459" y="307777"/>
                  <a:pt x="203412" y="321112"/>
                  <a:pt x="206587" y="334328"/>
                </a:cubicBezTo>
                <a:cubicBezTo>
                  <a:pt x="221086" y="395287"/>
                  <a:pt x="276860" y="431483"/>
                  <a:pt x="331047" y="415171"/>
                </a:cubicBezTo>
                <a:cubicBezTo>
                  <a:pt x="385233" y="398859"/>
                  <a:pt x="417407" y="336113"/>
                  <a:pt x="402908" y="275153"/>
                </a:cubicBezTo>
                <a:cubicBezTo>
                  <a:pt x="389996" y="220742"/>
                  <a:pt x="344170" y="186095"/>
                  <a:pt x="295910" y="190857"/>
                </a:cubicBezTo>
                <a:cubicBezTo>
                  <a:pt x="301519" y="201930"/>
                  <a:pt x="304800" y="214789"/>
                  <a:pt x="304800" y="2286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0" y="38100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303000" y="327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Shape 9"/>
          <p:cNvSpPr/>
          <p:nvPr/>
        </p:nvSpPr>
        <p:spPr>
          <a:xfrm>
            <a:off x="12192000" y="311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11684000" y="38100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Perceiving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843000" y="327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Shape 12"/>
          <p:cNvSpPr/>
          <p:nvPr/>
        </p:nvSpPr>
        <p:spPr>
          <a:xfrm>
            <a:off x="14732000" y="311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61010" y="-11787"/>
                </a:moveTo>
                <a:cubicBezTo>
                  <a:pt x="477203" y="-1548"/>
                  <a:pt x="483190" y="17026"/>
                  <a:pt x="475842" y="33218"/>
                </a:cubicBezTo>
                <a:lnTo>
                  <a:pt x="369162" y="266700"/>
                </a:lnTo>
                <a:lnTo>
                  <a:pt x="566057" y="266700"/>
                </a:lnTo>
                <a:cubicBezTo>
                  <a:pt x="584427" y="266700"/>
                  <a:pt x="600755" y="276701"/>
                  <a:pt x="607015" y="291822"/>
                </a:cubicBezTo>
                <a:cubicBezTo>
                  <a:pt x="613274" y="306943"/>
                  <a:pt x="607967" y="323850"/>
                  <a:pt x="593952" y="334089"/>
                </a:cubicBezTo>
                <a:lnTo>
                  <a:pt x="202066" y="619839"/>
                </a:lnTo>
                <a:cubicBezTo>
                  <a:pt x="186690" y="631031"/>
                  <a:pt x="164783" y="631627"/>
                  <a:pt x="148590" y="621387"/>
                </a:cubicBezTo>
                <a:cubicBezTo>
                  <a:pt x="132398" y="611148"/>
                  <a:pt x="126410" y="592574"/>
                  <a:pt x="133758" y="576382"/>
                </a:cubicBezTo>
                <a:lnTo>
                  <a:pt x="240438" y="342900"/>
                </a:lnTo>
                <a:lnTo>
                  <a:pt x="43543" y="342900"/>
                </a:lnTo>
                <a:cubicBezTo>
                  <a:pt x="25173" y="342900"/>
                  <a:pt x="8845" y="332899"/>
                  <a:pt x="2585" y="317778"/>
                </a:cubicBezTo>
                <a:cubicBezTo>
                  <a:pt x="-3674" y="302657"/>
                  <a:pt x="1633" y="285750"/>
                  <a:pt x="15648" y="275511"/>
                </a:cubicBezTo>
                <a:lnTo>
                  <a:pt x="407534" y="-10239"/>
                </a:lnTo>
                <a:cubicBezTo>
                  <a:pt x="422910" y="-21431"/>
                  <a:pt x="444818" y="-22027"/>
                  <a:pt x="461010" y="-11787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13970000" y="3810000"/>
            <a:ext cx="10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0" y="4572000"/>
            <a:ext cx="533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 Autonomous Vehicle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LiDAR, cameras, radar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Perceive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detect pedestrians, lanes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steer, brake, accelerate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 Voice Assistant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microphone captures audio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Perceive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speech → text → intent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execute command, respond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Perceptual Processing Pipeline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540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540000"/>
            <a:ext cx="8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1000" y="35560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40005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Raw data capture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51000" y="2984500"/>
            <a:ext cx="762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413000" y="2540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2413000" y="2540000"/>
            <a:ext cx="8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32000" y="35560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Preprocess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32000" y="4000500"/>
            <a:ext cx="165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Noise reduction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02000" y="2984500"/>
            <a:ext cx="762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064000" y="2540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4064000" y="2540000"/>
            <a:ext cx="8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83000" y="35560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3000" y="4000500"/>
            <a:ext cx="165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Edges, textures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53000" y="2984500"/>
            <a:ext cx="762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715000" y="2540000"/>
            <a:ext cx="889000" cy="889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0" y="2540000"/>
            <a:ext cx="8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334000" y="35560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34000" y="4000500"/>
            <a:ext cx="165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vectors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04000" y="2984500"/>
            <a:ext cx="762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7366000" y="2540000"/>
            <a:ext cx="889000" cy="889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7366000" y="2540000"/>
            <a:ext cx="8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85000" y="35560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Interpret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85000" y="40005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meaning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55000" y="2984500"/>
            <a:ext cx="762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9017000" y="2540000"/>
            <a:ext cx="889000" cy="889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30" name="Text 28"/>
          <p:cNvSpPr/>
          <p:nvPr/>
        </p:nvSpPr>
        <p:spPr>
          <a:xfrm>
            <a:off x="9017000" y="2540000"/>
            <a:ext cx="8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636000" y="35560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36000" y="4000500"/>
            <a:ext cx="165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Multi-modal fusion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270000" y="5334000"/>
            <a:ext cx="13716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778000" y="5588000"/>
            <a:ext cx="1270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1-2 (Low-level)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Raw signal processing — biological sensory organs and early cortical processing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3-4 (Mid-level)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Pattern extraction and representation — the core of ML models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5-6 (High-level)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Semantic understanding and world model integration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Sensory Modalities in AI Systems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97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38100"/>
                </a:moveTo>
                <a:cubicBezTo>
                  <a:pt x="219287" y="38100"/>
                  <a:pt x="150813" y="81915"/>
                  <a:pt x="100965" y="134064"/>
                </a:cubicBezTo>
                <a:cubicBezTo>
                  <a:pt x="51435" y="185857"/>
                  <a:pt x="18309" y="247650"/>
                  <a:pt x="2540" y="290155"/>
                </a:cubicBezTo>
                <a:cubicBezTo>
                  <a:pt x="-952" y="299561"/>
                  <a:pt x="-952" y="310039"/>
                  <a:pt x="2540" y="319445"/>
                </a:cubicBezTo>
                <a:cubicBezTo>
                  <a:pt x="18309" y="361950"/>
                  <a:pt x="51435" y="423863"/>
                  <a:pt x="100965" y="475536"/>
                </a:cubicBezTo>
                <a:cubicBezTo>
                  <a:pt x="150813" y="527566"/>
                  <a:pt x="219287" y="571500"/>
                  <a:pt x="304800" y="571500"/>
                </a:cubicBezTo>
                <a:cubicBezTo>
                  <a:pt x="390313" y="571500"/>
                  <a:pt x="458787" y="527685"/>
                  <a:pt x="508635" y="475536"/>
                </a:cubicBezTo>
                <a:cubicBezTo>
                  <a:pt x="558165" y="423743"/>
                  <a:pt x="591291" y="361950"/>
                  <a:pt x="607060" y="319445"/>
                </a:cubicBezTo>
                <a:cubicBezTo>
                  <a:pt x="610552" y="310039"/>
                  <a:pt x="610552" y="299561"/>
                  <a:pt x="607060" y="290155"/>
                </a:cubicBezTo>
                <a:cubicBezTo>
                  <a:pt x="591291" y="247650"/>
                  <a:pt x="558165" y="185737"/>
                  <a:pt x="508635" y="134064"/>
                </a:cubicBezTo>
                <a:cubicBezTo>
                  <a:pt x="458787" y="82034"/>
                  <a:pt x="390313" y="38100"/>
                  <a:pt x="304800" y="38100"/>
                </a:cubicBezTo>
                <a:close/>
                <a:moveTo>
                  <a:pt x="152400" y="304800"/>
                </a:moveTo>
                <a:cubicBezTo>
                  <a:pt x="152400" y="210174"/>
                  <a:pt x="220688" y="133350"/>
                  <a:pt x="304800" y="133350"/>
                </a:cubicBezTo>
                <a:cubicBezTo>
                  <a:pt x="388912" y="133350"/>
                  <a:pt x="457200" y="210174"/>
                  <a:pt x="457200" y="304800"/>
                </a:cubicBezTo>
                <a:cubicBezTo>
                  <a:pt x="457200" y="399426"/>
                  <a:pt x="388912" y="476250"/>
                  <a:pt x="304800" y="476250"/>
                </a:cubicBezTo>
                <a:cubicBezTo>
                  <a:pt x="220688" y="476250"/>
                  <a:pt x="152400" y="399426"/>
                  <a:pt x="152400" y="304800"/>
                </a:cubicBezTo>
                <a:close/>
                <a:moveTo>
                  <a:pt x="304800" y="228600"/>
                </a:moveTo>
                <a:cubicBezTo>
                  <a:pt x="304800" y="270629"/>
                  <a:pt x="274426" y="304800"/>
                  <a:pt x="237067" y="304800"/>
                </a:cubicBezTo>
                <a:cubicBezTo>
                  <a:pt x="224896" y="304800"/>
                  <a:pt x="213466" y="301228"/>
                  <a:pt x="203518" y="294799"/>
                </a:cubicBezTo>
                <a:cubicBezTo>
                  <a:pt x="202459" y="307777"/>
                  <a:pt x="203412" y="321112"/>
                  <a:pt x="206587" y="334328"/>
                </a:cubicBezTo>
                <a:cubicBezTo>
                  <a:pt x="221086" y="395287"/>
                  <a:pt x="276860" y="431483"/>
                  <a:pt x="331047" y="415171"/>
                </a:cubicBezTo>
                <a:cubicBezTo>
                  <a:pt x="385233" y="398859"/>
                  <a:pt x="417407" y="336113"/>
                  <a:pt x="402908" y="275153"/>
                </a:cubicBezTo>
                <a:cubicBezTo>
                  <a:pt x="389996" y="220742"/>
                  <a:pt x="344170" y="186095"/>
                  <a:pt x="295910" y="190857"/>
                </a:cubicBezTo>
                <a:cubicBezTo>
                  <a:pt x="301519" y="201930"/>
                  <a:pt x="304800" y="214789"/>
                  <a:pt x="304800" y="2286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Computer Vision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3556000"/>
            <a:ext cx="381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Object detection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Image segmentation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Scene understanding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Depth estimation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Face recognition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Optical character rec.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models: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CNNs, ViTs, YOLO, SAM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96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220663" y="0"/>
                  <a:pt x="152400" y="51197"/>
                  <a:pt x="152400" y="114300"/>
                </a:cubicBezTo>
                <a:lnTo>
                  <a:pt x="152400" y="266700"/>
                </a:lnTo>
                <a:cubicBezTo>
                  <a:pt x="152400" y="329803"/>
                  <a:pt x="220663" y="381000"/>
                  <a:pt x="304800" y="381000"/>
                </a:cubicBezTo>
                <a:cubicBezTo>
                  <a:pt x="388938" y="381000"/>
                  <a:pt x="457200" y="329803"/>
                  <a:pt x="457200" y="266700"/>
                </a:cubicBezTo>
                <a:lnTo>
                  <a:pt x="457200" y="114300"/>
                </a:lnTo>
                <a:cubicBezTo>
                  <a:pt x="457200" y="51197"/>
                  <a:pt x="388938" y="0"/>
                  <a:pt x="304800" y="0"/>
                </a:cubicBezTo>
                <a:close/>
                <a:moveTo>
                  <a:pt x="76200" y="219075"/>
                </a:moveTo>
                <a:cubicBezTo>
                  <a:pt x="76200" y="203240"/>
                  <a:pt x="59214" y="190500"/>
                  <a:pt x="38100" y="190500"/>
                </a:cubicBezTo>
                <a:cubicBezTo>
                  <a:pt x="16986" y="190500"/>
                  <a:pt x="0" y="203240"/>
                  <a:pt x="0" y="219075"/>
                </a:cubicBezTo>
                <a:lnTo>
                  <a:pt x="0" y="266700"/>
                </a:lnTo>
                <a:cubicBezTo>
                  <a:pt x="0" y="383262"/>
                  <a:pt x="116364" y="479465"/>
                  <a:pt x="266700" y="493514"/>
                </a:cubicBezTo>
                <a:lnTo>
                  <a:pt x="266700" y="552450"/>
                </a:lnTo>
                <a:lnTo>
                  <a:pt x="190500" y="552450"/>
                </a:lnTo>
                <a:cubicBezTo>
                  <a:pt x="169386" y="552450"/>
                  <a:pt x="152400" y="565190"/>
                  <a:pt x="152400" y="581025"/>
                </a:cubicBezTo>
                <a:cubicBezTo>
                  <a:pt x="152400" y="596860"/>
                  <a:pt x="169386" y="609600"/>
                  <a:pt x="190500" y="609600"/>
                </a:cubicBezTo>
                <a:lnTo>
                  <a:pt x="419100" y="609600"/>
                </a:lnTo>
                <a:cubicBezTo>
                  <a:pt x="440214" y="609600"/>
                  <a:pt x="457200" y="596860"/>
                  <a:pt x="457200" y="581025"/>
                </a:cubicBezTo>
                <a:cubicBezTo>
                  <a:pt x="457200" y="565190"/>
                  <a:pt x="440214" y="552450"/>
                  <a:pt x="419100" y="552450"/>
                </a:cubicBezTo>
                <a:lnTo>
                  <a:pt x="342900" y="552450"/>
                </a:lnTo>
                <a:lnTo>
                  <a:pt x="342900" y="493514"/>
                </a:lnTo>
                <a:cubicBezTo>
                  <a:pt x="493236" y="479465"/>
                  <a:pt x="609600" y="383262"/>
                  <a:pt x="609600" y="266700"/>
                </a:cubicBezTo>
                <a:lnTo>
                  <a:pt x="609600" y="219075"/>
                </a:lnTo>
                <a:cubicBezTo>
                  <a:pt x="609600" y="203240"/>
                  <a:pt x="592614" y="190500"/>
                  <a:pt x="571500" y="190500"/>
                </a:cubicBezTo>
                <a:cubicBezTo>
                  <a:pt x="550386" y="190500"/>
                  <a:pt x="533400" y="203240"/>
                  <a:pt x="533400" y="219075"/>
                </a:cubicBezTo>
                <a:lnTo>
                  <a:pt x="533400" y="266700"/>
                </a:lnTo>
                <a:cubicBezTo>
                  <a:pt x="533400" y="361355"/>
                  <a:pt x="431006" y="438150"/>
                  <a:pt x="304800" y="438150"/>
                </a:cubicBezTo>
                <a:cubicBezTo>
                  <a:pt x="178594" y="438150"/>
                  <a:pt x="76200" y="361355"/>
                  <a:pt x="76200" y="266700"/>
                </a:cubicBezTo>
                <a:lnTo>
                  <a:pt x="76200" y="21907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Speech &amp; Audio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23000" y="3556000"/>
            <a:ext cx="381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Speech recognition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Speaker verification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Language identification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Emotion detection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Music analysis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Sound event detection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models: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Whisper, Wav2Vec 2.0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584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395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69333" y="0"/>
                </a:moveTo>
                <a:cubicBezTo>
                  <a:pt x="188066" y="0"/>
                  <a:pt x="203200" y="17026"/>
                  <a:pt x="203200" y="38100"/>
                </a:cubicBezTo>
                <a:lnTo>
                  <a:pt x="203200" y="76200"/>
                </a:lnTo>
                <a:lnTo>
                  <a:pt x="338667" y="76200"/>
                </a:lnTo>
                <a:cubicBezTo>
                  <a:pt x="357399" y="76200"/>
                  <a:pt x="372533" y="93226"/>
                  <a:pt x="372533" y="114300"/>
                </a:cubicBezTo>
                <a:cubicBezTo>
                  <a:pt x="372533" y="135374"/>
                  <a:pt x="357399" y="152400"/>
                  <a:pt x="338667" y="152400"/>
                </a:cubicBezTo>
                <a:lnTo>
                  <a:pt x="328507" y="152400"/>
                </a:lnTo>
                <a:lnTo>
                  <a:pt x="319617" y="179903"/>
                </a:lnTo>
                <a:cubicBezTo>
                  <a:pt x="302260" y="233720"/>
                  <a:pt x="276119" y="282892"/>
                  <a:pt x="243205" y="325160"/>
                </a:cubicBezTo>
                <a:cubicBezTo>
                  <a:pt x="258233" y="335637"/>
                  <a:pt x="273897" y="344924"/>
                  <a:pt x="290195" y="353139"/>
                </a:cubicBezTo>
                <a:lnTo>
                  <a:pt x="343535" y="379809"/>
                </a:lnTo>
                <a:lnTo>
                  <a:pt x="409363" y="213122"/>
                </a:lnTo>
                <a:cubicBezTo>
                  <a:pt x="414761" y="199311"/>
                  <a:pt x="426932" y="190500"/>
                  <a:pt x="440267" y="190500"/>
                </a:cubicBezTo>
                <a:cubicBezTo>
                  <a:pt x="453602" y="190500"/>
                  <a:pt x="465772" y="199311"/>
                  <a:pt x="471170" y="213122"/>
                </a:cubicBezTo>
                <a:lnTo>
                  <a:pt x="606637" y="556022"/>
                </a:lnTo>
                <a:cubicBezTo>
                  <a:pt x="614257" y="575310"/>
                  <a:pt x="606531" y="597813"/>
                  <a:pt x="589492" y="606266"/>
                </a:cubicBezTo>
                <a:cubicBezTo>
                  <a:pt x="572452" y="614720"/>
                  <a:pt x="552344" y="606147"/>
                  <a:pt x="544830" y="586978"/>
                </a:cubicBezTo>
                <a:lnTo>
                  <a:pt x="523663" y="533400"/>
                </a:lnTo>
                <a:lnTo>
                  <a:pt x="356976" y="533400"/>
                </a:lnTo>
                <a:lnTo>
                  <a:pt x="335809" y="586978"/>
                </a:lnTo>
                <a:cubicBezTo>
                  <a:pt x="328189" y="606266"/>
                  <a:pt x="308187" y="614839"/>
                  <a:pt x="291147" y="606266"/>
                </a:cubicBezTo>
                <a:cubicBezTo>
                  <a:pt x="274108" y="597694"/>
                  <a:pt x="266382" y="575191"/>
                  <a:pt x="274002" y="556022"/>
                </a:cubicBezTo>
                <a:lnTo>
                  <a:pt x="316124" y="449461"/>
                </a:lnTo>
                <a:lnTo>
                  <a:pt x="262784" y="422791"/>
                </a:lnTo>
                <a:cubicBezTo>
                  <a:pt x="238442" y="410647"/>
                  <a:pt x="215159" y="396121"/>
                  <a:pt x="193146" y="379452"/>
                </a:cubicBezTo>
                <a:cubicBezTo>
                  <a:pt x="170603" y="399931"/>
                  <a:pt x="145944" y="417790"/>
                  <a:pt x="119592" y="432673"/>
                </a:cubicBezTo>
                <a:lnTo>
                  <a:pt x="82867" y="453152"/>
                </a:lnTo>
                <a:cubicBezTo>
                  <a:pt x="66146" y="462558"/>
                  <a:pt x="45826" y="454938"/>
                  <a:pt x="37465" y="436126"/>
                </a:cubicBezTo>
                <a:cubicBezTo>
                  <a:pt x="29104" y="417314"/>
                  <a:pt x="35878" y="394454"/>
                  <a:pt x="52599" y="385048"/>
                </a:cubicBezTo>
                <a:lnTo>
                  <a:pt x="89112" y="364450"/>
                </a:lnTo>
                <a:cubicBezTo>
                  <a:pt x="106362" y="354687"/>
                  <a:pt x="122767" y="343376"/>
                  <a:pt x="138218" y="330756"/>
                </a:cubicBezTo>
                <a:cubicBezTo>
                  <a:pt x="123613" y="315635"/>
                  <a:pt x="109855" y="299323"/>
                  <a:pt x="97049" y="282059"/>
                </a:cubicBezTo>
                <a:lnTo>
                  <a:pt x="86360" y="267533"/>
                </a:lnTo>
                <a:cubicBezTo>
                  <a:pt x="74401" y="251341"/>
                  <a:pt x="76306" y="227290"/>
                  <a:pt x="90699" y="213836"/>
                </a:cubicBezTo>
                <a:cubicBezTo>
                  <a:pt x="105092" y="200382"/>
                  <a:pt x="126471" y="202525"/>
                  <a:pt x="138430" y="218718"/>
                </a:cubicBezTo>
                <a:lnTo>
                  <a:pt x="149225" y="233243"/>
                </a:lnTo>
                <a:cubicBezTo>
                  <a:pt x="161396" y="249793"/>
                  <a:pt x="174731" y="265152"/>
                  <a:pt x="188807" y="279321"/>
                </a:cubicBezTo>
                <a:cubicBezTo>
                  <a:pt x="217911" y="243126"/>
                  <a:pt x="240877" y="200620"/>
                  <a:pt x="256011" y="153829"/>
                </a:cubicBezTo>
                <a:lnTo>
                  <a:pt x="256540" y="152400"/>
                </a:lnTo>
                <a:lnTo>
                  <a:pt x="33972" y="152400"/>
                </a:lnTo>
                <a:cubicBezTo>
                  <a:pt x="15134" y="152400"/>
                  <a:pt x="0" y="135374"/>
                  <a:pt x="0" y="114300"/>
                </a:cubicBezTo>
                <a:cubicBezTo>
                  <a:pt x="0" y="93226"/>
                  <a:pt x="15134" y="76200"/>
                  <a:pt x="33867" y="76200"/>
                </a:cubicBezTo>
                <a:lnTo>
                  <a:pt x="135467" y="76200"/>
                </a:lnTo>
                <a:lnTo>
                  <a:pt x="135467" y="38100"/>
                </a:lnTo>
                <a:cubicBezTo>
                  <a:pt x="135467" y="17026"/>
                  <a:pt x="150601" y="0"/>
                  <a:pt x="169333" y="0"/>
                </a:cubicBezTo>
                <a:close/>
                <a:moveTo>
                  <a:pt x="440267" y="322421"/>
                </a:moveTo>
                <a:lnTo>
                  <a:pt x="387033" y="457200"/>
                </a:lnTo>
                <a:lnTo>
                  <a:pt x="493501" y="457200"/>
                </a:lnTo>
                <a:lnTo>
                  <a:pt x="440267" y="3224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Natural Language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22000" y="3556000"/>
            <a:ext cx="381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Semantic parsing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Sentiment analysis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Named entity rec.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Machine translation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Question answering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Text summarization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models: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BERT, GPT, T5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Vision: From Pixels to Understanding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 of CV Architectures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LeNet → AlexNet → ResNet →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 Transformers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Visual Tasks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What?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Where?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Which pixels?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Pose Estimation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Orientation?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Paradigms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Self-supervised: DINO, MAE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Foundation models: CLIP, SAM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&gt;99% accuracy on ImageNet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1905000"/>
            <a:ext cx="6604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90000" y="21590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ImageNet Top-5 Accuracy (%)</a:t>
            </a:r>
            <a:endParaRPr lang="en-US" sz="2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636000" y="2667000"/>
          <a:ext cx="6096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890000" y="6477000"/>
            <a:ext cx="558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Deep learning achieved superhuman CV performance, yet robustness and generalization remain open challenges.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 and Audio Perception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Pipeline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Waveform → Spectrogram → Acoustic Model → Phonemes → Words → Semantics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Evolution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HMMs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DNNs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Transformers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Whisper, Wav2Vec 2.0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Virtual assistants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Real-time transcription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Speaker diarization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Emotion recognition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1905000"/>
            <a:ext cx="6604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90000" y="22225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Challenges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0" y="2730500"/>
            <a:ext cx="5080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Shape 6"/>
          <p:cNvSpPr/>
          <p:nvPr/>
        </p:nvSpPr>
        <p:spPr>
          <a:xfrm>
            <a:off x="8890000" y="304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0" y="2984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Accent Variation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Dialects and regional speech patterns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90000" y="406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8836" y="25797"/>
                </a:moveTo>
                <a:cubicBezTo>
                  <a:pt x="332296" y="19129"/>
                  <a:pt x="322707" y="20399"/>
                  <a:pt x="317373" y="28575"/>
                </a:cubicBezTo>
                <a:cubicBezTo>
                  <a:pt x="312039" y="36751"/>
                  <a:pt x="313055" y="48736"/>
                  <a:pt x="319596" y="55404"/>
                </a:cubicBezTo>
                <a:cubicBezTo>
                  <a:pt x="354013" y="90329"/>
                  <a:pt x="375920" y="143510"/>
                  <a:pt x="375920" y="203200"/>
                </a:cubicBezTo>
                <a:cubicBezTo>
                  <a:pt x="375920" y="262890"/>
                  <a:pt x="354013" y="316071"/>
                  <a:pt x="319596" y="351076"/>
                </a:cubicBezTo>
                <a:cubicBezTo>
                  <a:pt x="313055" y="357743"/>
                  <a:pt x="312103" y="369729"/>
                  <a:pt x="317373" y="377904"/>
                </a:cubicBezTo>
                <a:cubicBezTo>
                  <a:pt x="322644" y="386080"/>
                  <a:pt x="332295" y="387271"/>
                  <a:pt x="338836" y="380683"/>
                </a:cubicBezTo>
                <a:cubicBezTo>
                  <a:pt x="380048" y="338693"/>
                  <a:pt x="406400" y="274796"/>
                  <a:pt x="406400" y="203200"/>
                </a:cubicBezTo>
                <a:cubicBezTo>
                  <a:pt x="406400" y="131604"/>
                  <a:pt x="380048" y="67628"/>
                  <a:pt x="338836" y="25797"/>
                </a:cubicBezTo>
                <a:close/>
                <a:moveTo>
                  <a:pt x="300419" y="84931"/>
                </a:moveTo>
                <a:cubicBezTo>
                  <a:pt x="293878" y="78264"/>
                  <a:pt x="284290" y="79534"/>
                  <a:pt x="278956" y="87709"/>
                </a:cubicBezTo>
                <a:cubicBezTo>
                  <a:pt x="273622" y="95885"/>
                  <a:pt x="274638" y="107871"/>
                  <a:pt x="281178" y="114538"/>
                </a:cubicBezTo>
                <a:cubicBezTo>
                  <a:pt x="301816" y="135493"/>
                  <a:pt x="314960" y="167402"/>
                  <a:pt x="314960" y="203200"/>
                </a:cubicBezTo>
                <a:cubicBezTo>
                  <a:pt x="314960" y="238998"/>
                  <a:pt x="301816" y="270907"/>
                  <a:pt x="281178" y="291941"/>
                </a:cubicBezTo>
                <a:cubicBezTo>
                  <a:pt x="274638" y="298609"/>
                  <a:pt x="273685" y="310594"/>
                  <a:pt x="278956" y="318770"/>
                </a:cubicBezTo>
                <a:cubicBezTo>
                  <a:pt x="284226" y="326946"/>
                  <a:pt x="293878" y="328136"/>
                  <a:pt x="300419" y="321548"/>
                </a:cubicBezTo>
                <a:cubicBezTo>
                  <a:pt x="327851" y="293608"/>
                  <a:pt x="345440" y="250984"/>
                  <a:pt x="345440" y="203279"/>
                </a:cubicBezTo>
                <a:cubicBezTo>
                  <a:pt x="345440" y="155575"/>
                  <a:pt x="327851" y="112951"/>
                  <a:pt x="300419" y="85011"/>
                </a:cubicBezTo>
                <a:close/>
                <a:moveTo>
                  <a:pt x="262001" y="144066"/>
                </a:moveTo>
                <a:cubicBezTo>
                  <a:pt x="255461" y="137398"/>
                  <a:pt x="245872" y="138668"/>
                  <a:pt x="240538" y="146844"/>
                </a:cubicBezTo>
                <a:cubicBezTo>
                  <a:pt x="235204" y="155019"/>
                  <a:pt x="236220" y="167005"/>
                  <a:pt x="242761" y="173673"/>
                </a:cubicBezTo>
                <a:cubicBezTo>
                  <a:pt x="249619" y="180658"/>
                  <a:pt x="254000" y="191294"/>
                  <a:pt x="254000" y="203200"/>
                </a:cubicBezTo>
                <a:cubicBezTo>
                  <a:pt x="254000" y="215106"/>
                  <a:pt x="249619" y="225742"/>
                  <a:pt x="242761" y="232807"/>
                </a:cubicBezTo>
                <a:cubicBezTo>
                  <a:pt x="236220" y="239474"/>
                  <a:pt x="235267" y="251460"/>
                  <a:pt x="240538" y="259636"/>
                </a:cubicBezTo>
                <a:cubicBezTo>
                  <a:pt x="245809" y="267811"/>
                  <a:pt x="255461" y="269002"/>
                  <a:pt x="262001" y="262414"/>
                </a:cubicBezTo>
                <a:cubicBezTo>
                  <a:pt x="275654" y="248364"/>
                  <a:pt x="284480" y="227092"/>
                  <a:pt x="284480" y="203200"/>
                </a:cubicBezTo>
                <a:cubicBezTo>
                  <a:pt x="284480" y="179308"/>
                  <a:pt x="275654" y="158036"/>
                  <a:pt x="262001" y="144066"/>
                </a:cubicBezTo>
                <a:close/>
                <a:moveTo>
                  <a:pt x="50800" y="279400"/>
                </a:moveTo>
                <a:lnTo>
                  <a:pt x="81280" y="279400"/>
                </a:lnTo>
                <a:lnTo>
                  <a:pt x="166434" y="374015"/>
                </a:lnTo>
                <a:cubicBezTo>
                  <a:pt x="170498" y="378539"/>
                  <a:pt x="175705" y="381000"/>
                  <a:pt x="181102" y="381000"/>
                </a:cubicBezTo>
                <a:cubicBezTo>
                  <a:pt x="193294" y="381000"/>
                  <a:pt x="203200" y="368617"/>
                  <a:pt x="203200" y="353378"/>
                </a:cubicBezTo>
                <a:lnTo>
                  <a:pt x="203200" y="53023"/>
                </a:lnTo>
                <a:cubicBezTo>
                  <a:pt x="203200" y="37783"/>
                  <a:pt x="193294" y="25400"/>
                  <a:pt x="181102" y="25400"/>
                </a:cubicBezTo>
                <a:cubicBezTo>
                  <a:pt x="175705" y="25400"/>
                  <a:pt x="170498" y="27861"/>
                  <a:pt x="166434" y="32385"/>
                </a:cubicBezTo>
                <a:lnTo>
                  <a:pt x="81280" y="127000"/>
                </a:lnTo>
                <a:lnTo>
                  <a:pt x="50800" y="127000"/>
                </a:lnTo>
                <a:cubicBezTo>
                  <a:pt x="33973" y="127000"/>
                  <a:pt x="20320" y="144066"/>
                  <a:pt x="20320" y="165100"/>
                </a:cubicBezTo>
                <a:lnTo>
                  <a:pt x="20320" y="241300"/>
                </a:lnTo>
                <a:cubicBezTo>
                  <a:pt x="20320" y="262334"/>
                  <a:pt x="33973" y="279400"/>
                  <a:pt x="50800" y="2794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4000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Noisy Environments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Background noise, overlapping speakers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890000" y="508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0516" y="27305"/>
                </a:moveTo>
                <a:cubicBezTo>
                  <a:pt x="330041" y="23336"/>
                  <a:pt x="340916" y="25559"/>
                  <a:pt x="348218" y="32782"/>
                </a:cubicBezTo>
                <a:lnTo>
                  <a:pt x="399018" y="83582"/>
                </a:lnTo>
                <a:cubicBezTo>
                  <a:pt x="403781" y="88344"/>
                  <a:pt x="406479" y="94774"/>
                  <a:pt x="406479" y="101521"/>
                </a:cubicBezTo>
                <a:cubicBezTo>
                  <a:pt x="406479" y="108268"/>
                  <a:pt x="403781" y="114697"/>
                  <a:pt x="399018" y="119459"/>
                </a:cubicBezTo>
                <a:lnTo>
                  <a:pt x="348218" y="170259"/>
                </a:lnTo>
                <a:cubicBezTo>
                  <a:pt x="340916" y="177562"/>
                  <a:pt x="330041" y="179705"/>
                  <a:pt x="320516" y="175736"/>
                </a:cubicBezTo>
                <a:cubicBezTo>
                  <a:pt x="310991" y="171768"/>
                  <a:pt x="304800" y="162639"/>
                  <a:pt x="304800" y="152400"/>
                </a:cubicBezTo>
                <a:lnTo>
                  <a:pt x="304800" y="127000"/>
                </a:lnTo>
                <a:lnTo>
                  <a:pt x="279400" y="127000"/>
                </a:lnTo>
                <a:cubicBezTo>
                  <a:pt x="271383" y="127000"/>
                  <a:pt x="263843" y="130731"/>
                  <a:pt x="259080" y="137160"/>
                </a:cubicBezTo>
                <a:lnTo>
                  <a:pt x="233362" y="171450"/>
                </a:lnTo>
                <a:lnTo>
                  <a:pt x="201613" y="129143"/>
                </a:lnTo>
                <a:lnTo>
                  <a:pt x="218440" y="106680"/>
                </a:lnTo>
                <a:cubicBezTo>
                  <a:pt x="232807" y="87471"/>
                  <a:pt x="255429" y="76200"/>
                  <a:pt x="279400" y="76200"/>
                </a:cubicBezTo>
                <a:lnTo>
                  <a:pt x="304800" y="76200"/>
                </a:lnTo>
                <a:lnTo>
                  <a:pt x="304800" y="50800"/>
                </a:lnTo>
                <a:cubicBezTo>
                  <a:pt x="304800" y="40561"/>
                  <a:pt x="310991" y="31274"/>
                  <a:pt x="320516" y="27305"/>
                </a:cubicBezTo>
                <a:close/>
                <a:moveTo>
                  <a:pt x="122238" y="234950"/>
                </a:moveTo>
                <a:lnTo>
                  <a:pt x="153988" y="277257"/>
                </a:lnTo>
                <a:lnTo>
                  <a:pt x="137160" y="299720"/>
                </a:lnTo>
                <a:cubicBezTo>
                  <a:pt x="122793" y="318929"/>
                  <a:pt x="100171" y="330200"/>
                  <a:pt x="76200" y="330200"/>
                </a:cubicBezTo>
                <a:lnTo>
                  <a:pt x="25400" y="330200"/>
                </a:lnTo>
                <a:cubicBezTo>
                  <a:pt x="11351" y="330200"/>
                  <a:pt x="0" y="318849"/>
                  <a:pt x="0" y="304800"/>
                </a:cubicBezTo>
                <a:cubicBezTo>
                  <a:pt x="0" y="290751"/>
                  <a:pt x="11351" y="279400"/>
                  <a:pt x="25400" y="279400"/>
                </a:cubicBezTo>
                <a:lnTo>
                  <a:pt x="76200" y="279400"/>
                </a:lnTo>
                <a:cubicBezTo>
                  <a:pt x="84217" y="279400"/>
                  <a:pt x="91757" y="275669"/>
                  <a:pt x="96520" y="269240"/>
                </a:cubicBezTo>
                <a:lnTo>
                  <a:pt x="122238" y="234950"/>
                </a:lnTo>
                <a:close/>
                <a:moveTo>
                  <a:pt x="348139" y="373539"/>
                </a:moveTo>
                <a:cubicBezTo>
                  <a:pt x="340836" y="380841"/>
                  <a:pt x="329962" y="382984"/>
                  <a:pt x="320437" y="379016"/>
                </a:cubicBezTo>
                <a:cubicBezTo>
                  <a:pt x="310912" y="375047"/>
                  <a:pt x="304800" y="365839"/>
                  <a:pt x="304800" y="355600"/>
                </a:cubicBezTo>
                <a:lnTo>
                  <a:pt x="304800" y="330200"/>
                </a:lnTo>
                <a:lnTo>
                  <a:pt x="279400" y="330200"/>
                </a:lnTo>
                <a:cubicBezTo>
                  <a:pt x="255429" y="330200"/>
                  <a:pt x="232807" y="318929"/>
                  <a:pt x="218440" y="299720"/>
                </a:cubicBezTo>
                <a:lnTo>
                  <a:pt x="96520" y="137160"/>
                </a:lnTo>
                <a:cubicBezTo>
                  <a:pt x="91757" y="130731"/>
                  <a:pt x="84217" y="127000"/>
                  <a:pt x="76200" y="127000"/>
                </a:cubicBez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76200" y="76200"/>
                </a:lnTo>
                <a:cubicBezTo>
                  <a:pt x="100171" y="76200"/>
                  <a:pt x="122793" y="87471"/>
                  <a:pt x="137160" y="106680"/>
                </a:cubicBezTo>
                <a:lnTo>
                  <a:pt x="259080" y="269240"/>
                </a:lnTo>
                <a:cubicBezTo>
                  <a:pt x="263843" y="275669"/>
                  <a:pt x="271383" y="279400"/>
                  <a:pt x="279400" y="279400"/>
                </a:cubicBezTo>
                <a:lnTo>
                  <a:pt x="304800" y="279400"/>
                </a:lnTo>
                <a:lnTo>
                  <a:pt x="304800" y="254000"/>
                </a:lnTo>
                <a:cubicBezTo>
                  <a:pt x="304800" y="243761"/>
                  <a:pt x="310991" y="234474"/>
                  <a:pt x="320516" y="230505"/>
                </a:cubicBezTo>
                <a:cubicBezTo>
                  <a:pt x="330041" y="226536"/>
                  <a:pt x="340916" y="228759"/>
                  <a:pt x="348218" y="235982"/>
                </a:cubicBezTo>
                <a:lnTo>
                  <a:pt x="399018" y="286782"/>
                </a:lnTo>
                <a:cubicBezTo>
                  <a:pt x="403781" y="291544"/>
                  <a:pt x="406479" y="297974"/>
                  <a:pt x="406479" y="304721"/>
                </a:cubicBezTo>
                <a:cubicBezTo>
                  <a:pt x="406479" y="311467"/>
                  <a:pt x="403781" y="317897"/>
                  <a:pt x="399018" y="322659"/>
                </a:cubicBezTo>
                <a:lnTo>
                  <a:pt x="348218" y="373459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0" y="5016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Code-Switching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Switching between languages mid-sentence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90000" y="609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0" y="6032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Constraints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 latency for interactive applications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as a Perceptual Modality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is 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symbolic representation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requires perceptual processing to extract meaning at multiple linguistic levels.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730500"/>
            <a:ext cx="4318000" cy="482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97200" y="298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2873" y="50304"/>
                </a:moveTo>
                <a:cubicBezTo>
                  <a:pt x="277713" y="38993"/>
                  <a:pt x="266402" y="31750"/>
                  <a:pt x="254000" y="31750"/>
                </a:cubicBezTo>
                <a:cubicBezTo>
                  <a:pt x="241598" y="31750"/>
                  <a:pt x="230287" y="38993"/>
                  <a:pt x="225127" y="50304"/>
                </a:cubicBezTo>
                <a:lnTo>
                  <a:pt x="59035" y="412750"/>
                </a:lnTo>
                <a:lnTo>
                  <a:pt x="47625" y="412750"/>
                </a:lnTo>
                <a:cubicBezTo>
                  <a:pt x="30063" y="412750"/>
                  <a:pt x="15875" y="426938"/>
                  <a:pt x="15875" y="444500"/>
                </a:cubicBezTo>
                <a:cubicBezTo>
                  <a:pt x="15875" y="462062"/>
                  <a:pt x="30063" y="476250"/>
                  <a:pt x="47625" y="476250"/>
                </a:cubicBezTo>
                <a:lnTo>
                  <a:pt x="134938" y="476250"/>
                </a:lnTo>
                <a:cubicBezTo>
                  <a:pt x="152499" y="476250"/>
                  <a:pt x="166688" y="462062"/>
                  <a:pt x="166688" y="444500"/>
                </a:cubicBezTo>
                <a:cubicBezTo>
                  <a:pt x="166688" y="426938"/>
                  <a:pt x="152499" y="412750"/>
                  <a:pt x="134938" y="412750"/>
                </a:cubicBezTo>
                <a:lnTo>
                  <a:pt x="128885" y="412750"/>
                </a:lnTo>
                <a:lnTo>
                  <a:pt x="150713" y="365125"/>
                </a:lnTo>
                <a:lnTo>
                  <a:pt x="357386" y="365125"/>
                </a:lnTo>
                <a:lnTo>
                  <a:pt x="379214" y="412750"/>
                </a:lnTo>
                <a:lnTo>
                  <a:pt x="373162" y="412750"/>
                </a:lnTo>
                <a:cubicBezTo>
                  <a:pt x="355600" y="412750"/>
                  <a:pt x="341412" y="426938"/>
                  <a:pt x="341412" y="444500"/>
                </a:cubicBezTo>
                <a:cubicBezTo>
                  <a:pt x="341412" y="462062"/>
                  <a:pt x="355600" y="476250"/>
                  <a:pt x="373162" y="476250"/>
                </a:cubicBezTo>
                <a:lnTo>
                  <a:pt x="460474" y="476250"/>
                </a:lnTo>
                <a:cubicBezTo>
                  <a:pt x="478036" y="476250"/>
                  <a:pt x="492224" y="462062"/>
                  <a:pt x="492224" y="444500"/>
                </a:cubicBezTo>
                <a:cubicBezTo>
                  <a:pt x="492224" y="426938"/>
                  <a:pt x="478036" y="412750"/>
                  <a:pt x="460474" y="412750"/>
                </a:cubicBezTo>
                <a:lnTo>
                  <a:pt x="449064" y="412750"/>
                </a:lnTo>
                <a:lnTo>
                  <a:pt x="282972" y="50304"/>
                </a:lnTo>
                <a:close/>
                <a:moveTo>
                  <a:pt x="328216" y="301625"/>
                </a:moveTo>
                <a:lnTo>
                  <a:pt x="179784" y="301625"/>
                </a:lnTo>
                <a:lnTo>
                  <a:pt x="254000" y="139700"/>
                </a:lnTo>
                <a:lnTo>
                  <a:pt x="328216" y="30162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361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Lexical Level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24000" y="4127500"/>
            <a:ext cx="381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Word identification and tokenization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Part-of-speech tagging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Lemmatization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Named entity recognition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Word sense disambiguation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69000" y="2730500"/>
            <a:ext cx="4318000" cy="482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96200" y="298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0500" y="63500"/>
                </a:moveTo>
                <a:cubicBezTo>
                  <a:pt x="190500" y="45938"/>
                  <a:pt x="204688" y="31750"/>
                  <a:pt x="222250" y="31750"/>
                </a:cubicBezTo>
                <a:lnTo>
                  <a:pt x="285750" y="31750"/>
                </a:lnTo>
                <a:cubicBezTo>
                  <a:pt x="303312" y="31750"/>
                  <a:pt x="317500" y="45938"/>
                  <a:pt x="317500" y="63500"/>
                </a:cubicBezTo>
                <a:lnTo>
                  <a:pt x="317500" y="127000"/>
                </a:lnTo>
                <a:cubicBezTo>
                  <a:pt x="317500" y="144562"/>
                  <a:pt x="303312" y="158750"/>
                  <a:pt x="285750" y="158750"/>
                </a:cubicBezTo>
                <a:lnTo>
                  <a:pt x="277813" y="158750"/>
                </a:lnTo>
                <a:lnTo>
                  <a:pt x="277813" y="222250"/>
                </a:lnTo>
                <a:lnTo>
                  <a:pt x="396875" y="222250"/>
                </a:lnTo>
                <a:cubicBezTo>
                  <a:pt x="436364" y="222250"/>
                  <a:pt x="468313" y="254198"/>
                  <a:pt x="468313" y="293688"/>
                </a:cubicBezTo>
                <a:lnTo>
                  <a:pt x="468313" y="349250"/>
                </a:lnTo>
                <a:lnTo>
                  <a:pt x="476250" y="349250"/>
                </a:lnTo>
                <a:cubicBezTo>
                  <a:pt x="493812" y="349250"/>
                  <a:pt x="508000" y="363438"/>
                  <a:pt x="508000" y="381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12750" y="476250"/>
                </a:lnTo>
                <a:cubicBezTo>
                  <a:pt x="395188" y="476250"/>
                  <a:pt x="381000" y="462062"/>
                  <a:pt x="381000" y="444500"/>
                </a:cubicBezTo>
                <a:lnTo>
                  <a:pt x="381000" y="381000"/>
                </a:lnTo>
                <a:cubicBezTo>
                  <a:pt x="381000" y="363438"/>
                  <a:pt x="395188" y="349250"/>
                  <a:pt x="412750" y="349250"/>
                </a:cubicBezTo>
                <a:lnTo>
                  <a:pt x="420688" y="349250"/>
                </a:lnTo>
                <a:lnTo>
                  <a:pt x="420688" y="293688"/>
                </a:lnTo>
                <a:cubicBezTo>
                  <a:pt x="420688" y="280491"/>
                  <a:pt x="410071" y="269875"/>
                  <a:pt x="396875" y="269875"/>
                </a:cubicBezTo>
                <a:lnTo>
                  <a:pt x="277813" y="269875"/>
                </a:lnTo>
                <a:lnTo>
                  <a:pt x="277813" y="349250"/>
                </a:lnTo>
                <a:lnTo>
                  <a:pt x="285750" y="349250"/>
                </a:lnTo>
                <a:cubicBezTo>
                  <a:pt x="303312" y="349250"/>
                  <a:pt x="317500" y="363438"/>
                  <a:pt x="317500" y="381000"/>
                </a:cubicBezTo>
                <a:lnTo>
                  <a:pt x="317500" y="444500"/>
                </a:lnTo>
                <a:cubicBezTo>
                  <a:pt x="317500" y="462062"/>
                  <a:pt x="303312" y="476250"/>
                  <a:pt x="285750" y="476250"/>
                </a:cubicBezTo>
                <a:lnTo>
                  <a:pt x="222250" y="476250"/>
                </a:lnTo>
                <a:cubicBezTo>
                  <a:pt x="204688" y="476250"/>
                  <a:pt x="190500" y="462062"/>
                  <a:pt x="190500" y="444500"/>
                </a:cubicBezTo>
                <a:lnTo>
                  <a:pt x="190500" y="381000"/>
                </a:lnTo>
                <a:cubicBezTo>
                  <a:pt x="190500" y="363438"/>
                  <a:pt x="204688" y="349250"/>
                  <a:pt x="222250" y="349250"/>
                </a:cubicBezTo>
                <a:lnTo>
                  <a:pt x="230188" y="349250"/>
                </a:lnTo>
                <a:lnTo>
                  <a:pt x="230188" y="269875"/>
                </a:lnTo>
                <a:lnTo>
                  <a:pt x="111125" y="269875"/>
                </a:lnTo>
                <a:cubicBezTo>
                  <a:pt x="97929" y="269875"/>
                  <a:pt x="87313" y="280491"/>
                  <a:pt x="87313" y="293688"/>
                </a:cubicBezTo>
                <a:lnTo>
                  <a:pt x="87313" y="349250"/>
                </a:lnTo>
                <a:lnTo>
                  <a:pt x="95250" y="349250"/>
                </a:lnTo>
                <a:cubicBezTo>
                  <a:pt x="112812" y="349250"/>
                  <a:pt x="127000" y="363438"/>
                  <a:pt x="127000" y="381000"/>
                </a:cubicBezTo>
                <a:lnTo>
                  <a:pt x="127000" y="444500"/>
                </a:lnTo>
                <a:cubicBezTo>
                  <a:pt x="127000" y="462062"/>
                  <a:pt x="112812" y="476250"/>
                  <a:pt x="9525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381000"/>
                </a:lnTo>
                <a:cubicBezTo>
                  <a:pt x="0" y="363438"/>
                  <a:pt x="14188" y="349250"/>
                  <a:pt x="31750" y="349250"/>
                </a:cubicBezTo>
                <a:lnTo>
                  <a:pt x="39688" y="349250"/>
                </a:lnTo>
                <a:lnTo>
                  <a:pt x="39688" y="293688"/>
                </a:lnTo>
                <a:cubicBezTo>
                  <a:pt x="39688" y="254198"/>
                  <a:pt x="71636" y="222250"/>
                  <a:pt x="111125" y="222250"/>
                </a:cubicBezTo>
                <a:lnTo>
                  <a:pt x="230188" y="222250"/>
                </a:lnTo>
                <a:lnTo>
                  <a:pt x="230188" y="158750"/>
                </a:lnTo>
                <a:lnTo>
                  <a:pt x="222250" y="158750"/>
                </a:lnTo>
                <a:cubicBezTo>
                  <a:pt x="204688" y="158750"/>
                  <a:pt x="190500" y="144562"/>
                  <a:pt x="190500" y="127000"/>
                </a:cubicBezTo>
                <a:lnTo>
                  <a:pt x="190500" y="635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6223000" y="361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Syntactic Level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23000" y="4127500"/>
            <a:ext cx="381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Grammar structure and relationships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Parsing (const/dep)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Grammar checking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Sentence segmentation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0" y="2730500"/>
            <a:ext cx="4318000" cy="482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12395200" y="298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7482" y="381000"/>
                </a:moveTo>
                <a:cubicBezTo>
                  <a:pt x="397140" y="358874"/>
                  <a:pt x="416454" y="338832"/>
                  <a:pt x="438282" y="321568"/>
                </a:cubicBezTo>
                <a:cubicBezTo>
                  <a:pt x="481542" y="287437"/>
                  <a:pt x="508000" y="241300"/>
                  <a:pt x="508000" y="190500"/>
                </a:cubicBezTo>
                <a:cubicBezTo>
                  <a:pt x="508000" y="85328"/>
                  <a:pt x="394229" y="0"/>
                  <a:pt x="254000" y="0"/>
                </a:cubicBezTo>
                <a:cubicBezTo>
                  <a:pt x="113771" y="0"/>
                  <a:pt x="0" y="85328"/>
                  <a:pt x="0" y="190500"/>
                </a:cubicBezTo>
                <a:cubicBezTo>
                  <a:pt x="0" y="241300"/>
                  <a:pt x="26458" y="287437"/>
                  <a:pt x="69718" y="321568"/>
                </a:cubicBezTo>
                <a:cubicBezTo>
                  <a:pt x="91546" y="338832"/>
                  <a:pt x="110993" y="358874"/>
                  <a:pt x="120518" y="381000"/>
                </a:cubicBezTo>
                <a:lnTo>
                  <a:pt x="387350" y="381000"/>
                </a:lnTo>
                <a:close/>
                <a:moveTo>
                  <a:pt x="381000" y="428625"/>
                </a:moveTo>
                <a:lnTo>
                  <a:pt x="127000" y="428625"/>
                </a:lnTo>
                <a:lnTo>
                  <a:pt x="127000" y="444500"/>
                </a:lnTo>
                <a:cubicBezTo>
                  <a:pt x="127000" y="488355"/>
                  <a:pt x="174360" y="523875"/>
                  <a:pt x="232833" y="523875"/>
                </a:cubicBezTo>
                <a:lnTo>
                  <a:pt x="275167" y="523875"/>
                </a:lnTo>
                <a:cubicBezTo>
                  <a:pt x="333640" y="523875"/>
                  <a:pt x="381000" y="488355"/>
                  <a:pt x="381000" y="444500"/>
                </a:cubicBezTo>
                <a:lnTo>
                  <a:pt x="381000" y="428625"/>
                </a:lnTo>
                <a:close/>
                <a:moveTo>
                  <a:pt x="243417" y="111125"/>
                </a:moveTo>
                <a:cubicBezTo>
                  <a:pt x="190765" y="111125"/>
                  <a:pt x="148167" y="143073"/>
                  <a:pt x="148167" y="182563"/>
                </a:cubicBezTo>
                <a:cubicBezTo>
                  <a:pt x="148167" y="195759"/>
                  <a:pt x="134011" y="206375"/>
                  <a:pt x="116417" y="206375"/>
                </a:cubicBezTo>
                <a:cubicBezTo>
                  <a:pt x="98822" y="206375"/>
                  <a:pt x="84667" y="195759"/>
                  <a:pt x="84667" y="182563"/>
                </a:cubicBezTo>
                <a:cubicBezTo>
                  <a:pt x="84667" y="116780"/>
                  <a:pt x="155707" y="63500"/>
                  <a:pt x="243417" y="63500"/>
                </a:cubicBezTo>
                <a:cubicBezTo>
                  <a:pt x="261011" y="63500"/>
                  <a:pt x="275167" y="74116"/>
                  <a:pt x="275167" y="87313"/>
                </a:cubicBezTo>
                <a:cubicBezTo>
                  <a:pt x="275167" y="100509"/>
                  <a:pt x="261011" y="111125"/>
                  <a:pt x="243417" y="1111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0" y="361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Level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22000" y="4127500"/>
            <a:ext cx="381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Meaning extraction and understanding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Semantic role labeling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Sentiment analysis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Machine translation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Question answering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70000" y="7747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Transformers (BERT, GPT) learn contextualized representations, revolutionizing language understanding across all levels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Perception and Cross-Modal Learning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Multimodal?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intelligence requires integrating multiple sensory streams for robust understanding.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Fusion Approaches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Fusion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concatenate raw features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 Fusion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combine decisions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Intermediate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joint representation learning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Cross-Modal Learning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transfer between modalities: text-guided image generation, visual question answering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1905000"/>
            <a:ext cx="6604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90000" y="21590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Notable Models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0" y="2667000"/>
            <a:ext cx="5080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Shape 6"/>
          <p:cNvSpPr/>
          <p:nvPr/>
        </p:nvSpPr>
        <p:spPr>
          <a:xfrm>
            <a:off x="8890000" y="292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116114" y="88900"/>
                </a:moveTo>
                <a:cubicBezTo>
                  <a:pt x="140146" y="88900"/>
                  <a:pt x="159657" y="105972"/>
                  <a:pt x="159657" y="127000"/>
                </a:cubicBezTo>
                <a:cubicBezTo>
                  <a:pt x="159657" y="148028"/>
                  <a:pt x="140146" y="165100"/>
                  <a:pt x="116114" y="165100"/>
                </a:cubicBezTo>
                <a:cubicBezTo>
                  <a:pt x="92082" y="165100"/>
                  <a:pt x="72571" y="148028"/>
                  <a:pt x="72571" y="127000"/>
                </a:cubicBezTo>
                <a:cubicBezTo>
                  <a:pt x="72571" y="105972"/>
                  <a:pt x="92082" y="88900"/>
                  <a:pt x="116114" y="88900"/>
                </a:cubicBezTo>
                <a:close/>
                <a:moveTo>
                  <a:pt x="246743" y="177800"/>
                </a:moveTo>
                <a:cubicBezTo>
                  <a:pt x="254363" y="177800"/>
                  <a:pt x="261348" y="181293"/>
                  <a:pt x="265339" y="186928"/>
                </a:cubicBezTo>
                <a:lnTo>
                  <a:pt x="345168" y="301228"/>
                </a:lnTo>
                <a:cubicBezTo>
                  <a:pt x="349250" y="307102"/>
                  <a:pt x="349431" y="314484"/>
                  <a:pt x="345621" y="320516"/>
                </a:cubicBezTo>
                <a:cubicBezTo>
                  <a:pt x="341811" y="326549"/>
                  <a:pt x="334464" y="330200"/>
                  <a:pt x="326571" y="330200"/>
                </a:cubicBezTo>
                <a:lnTo>
                  <a:pt x="79829" y="330200"/>
                </a:lnTo>
                <a:cubicBezTo>
                  <a:pt x="71755" y="330200"/>
                  <a:pt x="64226" y="326231"/>
                  <a:pt x="60506" y="319961"/>
                </a:cubicBezTo>
                <a:cubicBezTo>
                  <a:pt x="56787" y="313690"/>
                  <a:pt x="57331" y="306070"/>
                  <a:pt x="61958" y="300276"/>
                </a:cubicBezTo>
                <a:lnTo>
                  <a:pt x="112758" y="236776"/>
                </a:lnTo>
                <a:cubicBezTo>
                  <a:pt x="116840" y="231696"/>
                  <a:pt x="123462" y="228679"/>
                  <a:pt x="130629" y="228679"/>
                </a:cubicBezTo>
                <a:cubicBezTo>
                  <a:pt x="137795" y="228679"/>
                  <a:pt x="144417" y="231696"/>
                  <a:pt x="148499" y="236776"/>
                </a:cubicBezTo>
                <a:lnTo>
                  <a:pt x="172448" y="266779"/>
                </a:lnTo>
                <a:lnTo>
                  <a:pt x="228146" y="187008"/>
                </a:lnTo>
                <a:cubicBezTo>
                  <a:pt x="232138" y="181372"/>
                  <a:pt x="239123" y="177879"/>
                  <a:pt x="246743" y="177879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0" y="2857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CLIP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Vision-Language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Joint embeddings for images and text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90000" y="393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3873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GPT-4V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Multimodal Reasoning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Images, charts, documents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8900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1257" y="0"/>
                </a:moveTo>
                <a:lnTo>
                  <a:pt x="116114" y="0"/>
                </a:lnTo>
                <a:cubicBezTo>
                  <a:pt x="100058" y="0"/>
                  <a:pt x="87086" y="11351"/>
                  <a:pt x="87086" y="25400"/>
                </a:cubicBezTo>
                <a:cubicBezTo>
                  <a:pt x="87086" y="39449"/>
                  <a:pt x="100058" y="50800"/>
                  <a:pt x="116114" y="50800"/>
                </a:cubicBezTo>
                <a:lnTo>
                  <a:pt x="116114" y="171053"/>
                </a:lnTo>
                <a:lnTo>
                  <a:pt x="6804" y="338376"/>
                </a:lnTo>
                <a:cubicBezTo>
                  <a:pt x="2359" y="345281"/>
                  <a:pt x="0" y="352981"/>
                  <a:pt x="0" y="360918"/>
                </a:cubicBezTo>
                <a:cubicBezTo>
                  <a:pt x="0" y="386080"/>
                  <a:pt x="23223" y="406400"/>
                  <a:pt x="51979" y="406400"/>
                </a:cubicBezTo>
                <a:lnTo>
                  <a:pt x="354421" y="406400"/>
                </a:lnTo>
                <a:cubicBezTo>
                  <a:pt x="383086" y="406400"/>
                  <a:pt x="406400" y="386080"/>
                  <a:pt x="406400" y="360918"/>
                </a:cubicBezTo>
                <a:cubicBezTo>
                  <a:pt x="406400" y="352981"/>
                  <a:pt x="404041" y="345202"/>
                  <a:pt x="399596" y="338376"/>
                </a:cubicBezTo>
                <a:lnTo>
                  <a:pt x="290286" y="171053"/>
                </a:lnTo>
                <a:lnTo>
                  <a:pt x="290286" y="50800"/>
                </a:lnTo>
                <a:cubicBezTo>
                  <a:pt x="306342" y="50800"/>
                  <a:pt x="319314" y="39449"/>
                  <a:pt x="319314" y="25400"/>
                </a:cubicBezTo>
                <a:cubicBezTo>
                  <a:pt x="319314" y="11351"/>
                  <a:pt x="306342" y="0"/>
                  <a:pt x="290286" y="0"/>
                </a:cubicBezTo>
                <a:lnTo>
                  <a:pt x="261257" y="0"/>
                </a:lnTo>
                <a:close/>
                <a:moveTo>
                  <a:pt x="174171" y="171053"/>
                </a:moveTo>
                <a:lnTo>
                  <a:pt x="174171" y="50800"/>
                </a:lnTo>
                <a:lnTo>
                  <a:pt x="232229" y="50800"/>
                </a:lnTo>
                <a:lnTo>
                  <a:pt x="232229" y="171053"/>
                </a:lnTo>
                <a:cubicBezTo>
                  <a:pt x="232229" y="179864"/>
                  <a:pt x="234859" y="188595"/>
                  <a:pt x="239849" y="196294"/>
                </a:cubicBezTo>
                <a:lnTo>
                  <a:pt x="277586" y="254000"/>
                </a:lnTo>
                <a:lnTo>
                  <a:pt x="128814" y="254000"/>
                </a:lnTo>
                <a:lnTo>
                  <a:pt x="166551" y="196294"/>
                </a:lnTo>
                <a:cubicBezTo>
                  <a:pt x="171541" y="188595"/>
                  <a:pt x="174171" y="179943"/>
                  <a:pt x="174171" y="17105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0" y="4889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Flamingo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In-Context Visual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Few-shot learning with visual context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90000" y="596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7315" y="93186"/>
                </a:moveTo>
                <a:lnTo>
                  <a:pt x="86598" y="152400"/>
                </a:lnTo>
                <a:lnTo>
                  <a:pt x="319802" y="152400"/>
                </a:lnTo>
                <a:lnTo>
                  <a:pt x="299085" y="93186"/>
                </a:lnTo>
                <a:cubicBezTo>
                  <a:pt x="295513" y="83026"/>
                  <a:pt x="285909" y="76200"/>
                  <a:pt x="275114" y="76200"/>
                </a:cubicBezTo>
                <a:lnTo>
                  <a:pt x="131286" y="76200"/>
                </a:lnTo>
                <a:cubicBezTo>
                  <a:pt x="120491" y="76200"/>
                  <a:pt x="110887" y="83026"/>
                  <a:pt x="107315" y="93186"/>
                </a:cubicBezTo>
                <a:close/>
                <a:moveTo>
                  <a:pt x="31433" y="156210"/>
                </a:moveTo>
                <a:lnTo>
                  <a:pt x="59372" y="76438"/>
                </a:lnTo>
                <a:cubicBezTo>
                  <a:pt x="70088" y="45879"/>
                  <a:pt x="98901" y="25400"/>
                  <a:pt x="131286" y="25400"/>
                </a:cubicBezTo>
                <a:lnTo>
                  <a:pt x="275114" y="25400"/>
                </a:lnTo>
                <a:cubicBezTo>
                  <a:pt x="307499" y="25400"/>
                  <a:pt x="336312" y="45879"/>
                  <a:pt x="347028" y="76438"/>
                </a:cubicBezTo>
                <a:lnTo>
                  <a:pt x="374968" y="156210"/>
                </a:lnTo>
                <a:cubicBezTo>
                  <a:pt x="393383" y="163830"/>
                  <a:pt x="406400" y="182007"/>
                  <a:pt x="406400" y="2032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55600" y="381000"/>
                </a:lnTo>
                <a:cubicBezTo>
                  <a:pt x="341551" y="381000"/>
                  <a:pt x="330200" y="369649"/>
                  <a:pt x="330200" y="355600"/>
                </a:cubicBezTo>
                <a:lnTo>
                  <a:pt x="330200" y="330200"/>
                </a:lnTo>
                <a:lnTo>
                  <a:pt x="76200" y="330200"/>
                </a:lnTo>
                <a:lnTo>
                  <a:pt x="76200" y="355600"/>
                </a:lnTo>
                <a:cubicBezTo>
                  <a:pt x="76200" y="369649"/>
                  <a:pt x="64849" y="381000"/>
                  <a:pt x="508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203200"/>
                </a:lnTo>
                <a:cubicBezTo>
                  <a:pt x="0" y="182007"/>
                  <a:pt x="13017" y="163830"/>
                  <a:pt x="31433" y="156210"/>
                </a:cubicBezTo>
                <a:close/>
                <a:moveTo>
                  <a:pt x="101600" y="241300"/>
                </a:moveTo>
                <a:cubicBezTo>
                  <a:pt x="101600" y="227281"/>
                  <a:pt x="90219" y="215900"/>
                  <a:pt x="76200" y="215900"/>
                </a:cubicBezTo>
                <a:cubicBezTo>
                  <a:pt x="62181" y="215900"/>
                  <a:pt x="50800" y="227281"/>
                  <a:pt x="50800" y="241300"/>
                </a:cubicBezTo>
                <a:cubicBezTo>
                  <a:pt x="50800" y="255319"/>
                  <a:pt x="62181" y="266700"/>
                  <a:pt x="76200" y="266700"/>
                </a:cubicBezTo>
                <a:cubicBezTo>
                  <a:pt x="90219" y="266700"/>
                  <a:pt x="101600" y="255319"/>
                  <a:pt x="101600" y="241300"/>
                </a:cubicBezTo>
                <a:close/>
                <a:moveTo>
                  <a:pt x="330200" y="266700"/>
                </a:moveTo>
                <a:cubicBezTo>
                  <a:pt x="344219" y="266700"/>
                  <a:pt x="355600" y="255319"/>
                  <a:pt x="355600" y="241300"/>
                </a:cubicBezTo>
                <a:cubicBezTo>
                  <a:pt x="355600" y="227281"/>
                  <a:pt x="344219" y="215900"/>
                  <a:pt x="330200" y="215900"/>
                </a:cubicBezTo>
                <a:cubicBezTo>
                  <a:pt x="316181" y="215900"/>
                  <a:pt x="304800" y="227281"/>
                  <a:pt x="304800" y="241300"/>
                </a:cubicBezTo>
                <a:cubicBezTo>
                  <a:pt x="304800" y="255319"/>
                  <a:pt x="316181" y="266700"/>
                  <a:pt x="330200" y="2667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0" y="5905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Autonomous Driving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Camera + LiDAR + radar fusion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Representation and Embedding Spaces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Embeddings?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Vectors where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similarity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≈ geometric proximity.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Representation Types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Sparse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one-hot, TF-IDF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word2vec, neural embeddings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Properties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Smoothness — similar inputs nearby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Linearity — analogical reasoning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Disentanglement — factors separate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1905000"/>
            <a:ext cx="6604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90000" y="21590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Dimensionality Reduction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0" y="2667000"/>
            <a:ext cx="5080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Shape 6"/>
          <p:cNvSpPr/>
          <p:nvPr/>
        </p:nvSpPr>
        <p:spPr>
          <a:xfrm>
            <a:off x="8890000" y="292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0" y="2857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PCA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Principal Component Analysis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 projection, preserves global structure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90000" y="393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63500"/>
                </a:moveTo>
                <a:cubicBezTo>
                  <a:pt x="0" y="42466"/>
                  <a:pt x="17066" y="25400"/>
                  <a:pt x="38100" y="25400"/>
                </a:cubicBezTo>
                <a:lnTo>
                  <a:pt x="114300" y="25400"/>
                </a:lnTo>
                <a:cubicBezTo>
                  <a:pt x="135334" y="25400"/>
                  <a:pt x="152400" y="42466"/>
                  <a:pt x="152400" y="63500"/>
                </a:cubicBezTo>
                <a:lnTo>
                  <a:pt x="152400" y="76200"/>
                </a:lnTo>
                <a:lnTo>
                  <a:pt x="254000" y="76200"/>
                </a:lnTo>
                <a:lnTo>
                  <a:pt x="254000" y="63500"/>
                </a:lnTo>
                <a:cubicBezTo>
                  <a:pt x="254000" y="42466"/>
                  <a:pt x="271066" y="25400"/>
                  <a:pt x="29210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139700"/>
                </a:lnTo>
                <a:cubicBezTo>
                  <a:pt x="406400" y="160734"/>
                  <a:pt x="389334" y="177800"/>
                  <a:pt x="368300" y="177800"/>
                </a:cubicBezTo>
                <a:lnTo>
                  <a:pt x="292100" y="177800"/>
                </a:lnTo>
                <a:cubicBezTo>
                  <a:pt x="271066" y="177800"/>
                  <a:pt x="254000" y="160734"/>
                  <a:pt x="254000" y="139700"/>
                </a:cubicBezTo>
                <a:lnTo>
                  <a:pt x="254000" y="127000"/>
                </a:lnTo>
                <a:lnTo>
                  <a:pt x="152400" y="127000"/>
                </a:lnTo>
                <a:lnTo>
                  <a:pt x="152400" y="139700"/>
                </a:lnTo>
                <a:cubicBezTo>
                  <a:pt x="152400" y="145494"/>
                  <a:pt x="151051" y="151051"/>
                  <a:pt x="148749" y="155972"/>
                </a:cubicBezTo>
                <a:lnTo>
                  <a:pt x="203200" y="228600"/>
                </a:lnTo>
                <a:lnTo>
                  <a:pt x="266700" y="228600"/>
                </a:lnTo>
                <a:cubicBezTo>
                  <a:pt x="287734" y="228600"/>
                  <a:pt x="304800" y="245666"/>
                  <a:pt x="304800" y="266700"/>
                </a:cubicBezTo>
                <a:lnTo>
                  <a:pt x="304800" y="342900"/>
                </a:lnTo>
                <a:cubicBezTo>
                  <a:pt x="304800" y="363934"/>
                  <a:pt x="287734" y="381000"/>
                  <a:pt x="266700" y="381000"/>
                </a:cubicBezTo>
                <a:lnTo>
                  <a:pt x="190500" y="381000"/>
                </a:lnTo>
                <a:cubicBezTo>
                  <a:pt x="169466" y="381000"/>
                  <a:pt x="152400" y="363934"/>
                  <a:pt x="152400" y="342900"/>
                </a:cubicBezTo>
                <a:lnTo>
                  <a:pt x="152400" y="266700"/>
                </a:lnTo>
                <a:cubicBezTo>
                  <a:pt x="152400" y="260906"/>
                  <a:pt x="153749" y="255349"/>
                  <a:pt x="156051" y="250428"/>
                </a:cubicBezTo>
                <a:lnTo>
                  <a:pt x="101600" y="177800"/>
                </a:lnTo>
                <a:lnTo>
                  <a:pt x="38100" y="177800"/>
                </a:lnTo>
                <a:cubicBezTo>
                  <a:pt x="17066" y="177800"/>
                  <a:pt x="0" y="160734"/>
                  <a:pt x="0" y="139700"/>
                </a:cubicBezTo>
                <a:lnTo>
                  <a:pt x="0" y="635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3873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t-SNE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t-Distributed Stochastic Neighbor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Non-linear, preserves local neighborhoods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8900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2105" y="125333"/>
                </a:moveTo>
                <a:cubicBezTo>
                  <a:pt x="360124" y="118745"/>
                  <a:pt x="381000" y="93583"/>
                  <a:pt x="381000" y="63500"/>
                </a:cubicBezTo>
                <a:cubicBezTo>
                  <a:pt x="381000" y="28416"/>
                  <a:pt x="352584" y="0"/>
                  <a:pt x="317500" y="0"/>
                </a:cubicBezTo>
                <a:cubicBezTo>
                  <a:pt x="283051" y="0"/>
                  <a:pt x="255032" y="27384"/>
                  <a:pt x="254000" y="61516"/>
                </a:cubicBezTo>
                <a:lnTo>
                  <a:pt x="108109" y="119936"/>
                </a:lnTo>
                <a:cubicBezTo>
                  <a:pt x="96599" y="108585"/>
                  <a:pt x="80883" y="101600"/>
                  <a:pt x="63500" y="101600"/>
                </a:cubicBezTo>
                <a:cubicBezTo>
                  <a:pt x="28416" y="101600"/>
                  <a:pt x="0" y="130016"/>
                  <a:pt x="0" y="165100"/>
                </a:cubicBezTo>
                <a:cubicBezTo>
                  <a:pt x="0" y="200184"/>
                  <a:pt x="28416" y="228600"/>
                  <a:pt x="63500" y="228600"/>
                </a:cubicBezTo>
                <a:cubicBezTo>
                  <a:pt x="73184" y="228600"/>
                  <a:pt x="82391" y="226457"/>
                  <a:pt x="90567" y="222567"/>
                </a:cubicBezTo>
                <a:lnTo>
                  <a:pt x="206137" y="323691"/>
                </a:lnTo>
                <a:cubicBezTo>
                  <a:pt x="204232" y="329724"/>
                  <a:pt x="203200" y="336233"/>
                  <a:pt x="203200" y="342900"/>
                </a:cubicBezTo>
                <a:cubicBezTo>
                  <a:pt x="203200" y="377984"/>
                  <a:pt x="231616" y="406400"/>
                  <a:pt x="266700" y="406400"/>
                </a:cubicBezTo>
                <a:cubicBezTo>
                  <a:pt x="301784" y="406400"/>
                  <a:pt x="330200" y="377984"/>
                  <a:pt x="330200" y="342900"/>
                </a:cubicBezTo>
                <a:cubicBezTo>
                  <a:pt x="330200" y="320913"/>
                  <a:pt x="319088" y="301546"/>
                  <a:pt x="302101" y="290195"/>
                </a:cubicBezTo>
                <a:lnTo>
                  <a:pt x="332105" y="125333"/>
                </a:lnTo>
                <a:close/>
                <a:moveTo>
                  <a:pt x="124063" y="184309"/>
                </a:moveTo>
                <a:cubicBezTo>
                  <a:pt x="125809" y="178832"/>
                  <a:pt x="126841" y="173038"/>
                  <a:pt x="127000" y="167084"/>
                </a:cubicBezTo>
                <a:lnTo>
                  <a:pt x="272891" y="108744"/>
                </a:lnTo>
                <a:cubicBezTo>
                  <a:pt x="275749" y="111522"/>
                  <a:pt x="278765" y="114062"/>
                  <a:pt x="282099" y="116284"/>
                </a:cubicBezTo>
                <a:lnTo>
                  <a:pt x="252095" y="281067"/>
                </a:lnTo>
                <a:cubicBezTo>
                  <a:pt x="247729" y="282099"/>
                  <a:pt x="243523" y="283528"/>
                  <a:pt x="239554" y="285433"/>
                </a:cubicBezTo>
                <a:lnTo>
                  <a:pt x="124063" y="184309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0" y="4889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UMAP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Uniform Manifold Approximation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Faster than t-SNE, preserves global + local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90000" y="6096000"/>
            <a:ext cx="558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Visualization: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High-dim embeddings projected to 2D/3D for exploration and clustering analysis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and Limitations of AI Perception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97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Adversarial Vulnerability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3556000"/>
            <a:ext cx="381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Imperceptible perturbations cause confident misclassification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stop sign with subtle stickers is read as 45 mph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Adversarial training, certified defenses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96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22302" y="0"/>
                  <a:pt x="338376" y="9644"/>
                  <a:pt x="346710" y="25003"/>
                </a:cubicBezTo>
                <a:lnTo>
                  <a:pt x="603885" y="501253"/>
                </a:lnTo>
                <a:cubicBezTo>
                  <a:pt x="611862" y="516017"/>
                  <a:pt x="611505" y="533876"/>
                  <a:pt x="602933" y="548283"/>
                </a:cubicBezTo>
                <a:cubicBezTo>
                  <a:pt x="594360" y="562689"/>
                  <a:pt x="578763" y="571500"/>
                  <a:pt x="561975" y="571500"/>
                </a:cubicBezTo>
                <a:lnTo>
                  <a:pt x="47625" y="571500"/>
                </a:lnTo>
                <a:cubicBezTo>
                  <a:pt x="30837" y="571500"/>
                  <a:pt x="15359" y="562689"/>
                  <a:pt x="6668" y="548283"/>
                </a:cubicBezTo>
                <a:cubicBezTo>
                  <a:pt x="-2024" y="533876"/>
                  <a:pt x="-2262" y="516017"/>
                  <a:pt x="5715" y="501253"/>
                </a:cubicBezTo>
                <a:lnTo>
                  <a:pt x="262890" y="25003"/>
                </a:lnTo>
                <a:cubicBezTo>
                  <a:pt x="271224" y="9644"/>
                  <a:pt x="287298" y="0"/>
                  <a:pt x="304800" y="0"/>
                </a:cubicBezTo>
                <a:close/>
                <a:moveTo>
                  <a:pt x="304800" y="200025"/>
                </a:moveTo>
                <a:cubicBezTo>
                  <a:pt x="288965" y="200025"/>
                  <a:pt x="276225" y="212765"/>
                  <a:pt x="276225" y="228600"/>
                </a:cubicBezTo>
                <a:lnTo>
                  <a:pt x="276225" y="361950"/>
                </a:lnTo>
                <a:cubicBezTo>
                  <a:pt x="276225" y="377785"/>
                  <a:pt x="288965" y="390525"/>
                  <a:pt x="304800" y="390525"/>
                </a:cubicBezTo>
                <a:cubicBezTo>
                  <a:pt x="320635" y="390525"/>
                  <a:pt x="333375" y="377785"/>
                  <a:pt x="333375" y="361950"/>
                </a:cubicBezTo>
                <a:lnTo>
                  <a:pt x="333375" y="228600"/>
                </a:lnTo>
                <a:cubicBezTo>
                  <a:pt x="333375" y="212765"/>
                  <a:pt x="320635" y="200025"/>
                  <a:pt x="304800" y="200025"/>
                </a:cubicBezTo>
                <a:close/>
                <a:moveTo>
                  <a:pt x="336590" y="457200"/>
                </a:moveTo>
                <a:cubicBezTo>
                  <a:pt x="337313" y="445400"/>
                  <a:pt x="331428" y="434173"/>
                  <a:pt x="321313" y="428055"/>
                </a:cubicBezTo>
                <a:cubicBezTo>
                  <a:pt x="311197" y="421936"/>
                  <a:pt x="298522" y="421936"/>
                  <a:pt x="288406" y="428055"/>
                </a:cubicBezTo>
                <a:cubicBezTo>
                  <a:pt x="278291" y="434173"/>
                  <a:pt x="272406" y="445400"/>
                  <a:pt x="273129" y="457200"/>
                </a:cubicBezTo>
                <a:cubicBezTo>
                  <a:pt x="272406" y="469000"/>
                  <a:pt x="278291" y="480227"/>
                  <a:pt x="288406" y="486345"/>
                </a:cubicBezTo>
                <a:cubicBezTo>
                  <a:pt x="298522" y="492464"/>
                  <a:pt x="311197" y="492464"/>
                  <a:pt x="321313" y="486345"/>
                </a:cubicBezTo>
                <a:cubicBezTo>
                  <a:pt x="331428" y="480227"/>
                  <a:pt x="337313" y="469000"/>
                  <a:pt x="336590" y="4572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Distribution Shift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23000" y="3556000"/>
            <a:ext cx="381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Models fail on data unlike training distribution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Covariate shift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Concept drift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Domain adaptation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 generalization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584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395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65760" y="38100"/>
                </a:moveTo>
                <a:lnTo>
                  <a:pt x="487680" y="38100"/>
                </a:lnTo>
                <a:cubicBezTo>
                  <a:pt x="504539" y="38100"/>
                  <a:pt x="518160" y="55126"/>
                  <a:pt x="518160" y="76200"/>
                </a:cubicBezTo>
                <a:cubicBezTo>
                  <a:pt x="518160" y="97274"/>
                  <a:pt x="504539" y="114300"/>
                  <a:pt x="487680" y="114300"/>
                </a:cubicBezTo>
                <a:lnTo>
                  <a:pt x="379476" y="114300"/>
                </a:lnTo>
                <a:cubicBezTo>
                  <a:pt x="374523" y="145018"/>
                  <a:pt x="357664" y="170378"/>
                  <a:pt x="335280" y="182523"/>
                </a:cubicBezTo>
                <a:lnTo>
                  <a:pt x="335280" y="533400"/>
                </a:lnTo>
                <a:lnTo>
                  <a:pt x="487680" y="533400"/>
                </a:lnTo>
                <a:cubicBezTo>
                  <a:pt x="504539" y="533400"/>
                  <a:pt x="518160" y="550426"/>
                  <a:pt x="518160" y="571500"/>
                </a:cubicBezTo>
                <a:cubicBezTo>
                  <a:pt x="518160" y="592574"/>
                  <a:pt x="504539" y="609600"/>
                  <a:pt x="487680" y="609600"/>
                </a:cubicBezTo>
                <a:lnTo>
                  <a:pt x="121920" y="609600"/>
                </a:lnTo>
                <a:cubicBezTo>
                  <a:pt x="105061" y="609600"/>
                  <a:pt x="91440" y="592574"/>
                  <a:pt x="91440" y="571500"/>
                </a:cubicBezTo>
                <a:cubicBezTo>
                  <a:pt x="91440" y="550426"/>
                  <a:pt x="105061" y="533400"/>
                  <a:pt x="121920" y="533400"/>
                </a:cubicBezTo>
                <a:lnTo>
                  <a:pt x="274320" y="533400"/>
                </a:lnTo>
                <a:lnTo>
                  <a:pt x="274320" y="182523"/>
                </a:lnTo>
                <a:cubicBezTo>
                  <a:pt x="251936" y="170259"/>
                  <a:pt x="235077" y="144899"/>
                  <a:pt x="230124" y="114300"/>
                </a:cubicBezTo>
                <a:lnTo>
                  <a:pt x="121920" y="114300"/>
                </a:lnTo>
                <a:cubicBezTo>
                  <a:pt x="105061" y="114300"/>
                  <a:pt x="91440" y="97274"/>
                  <a:pt x="91440" y="76200"/>
                </a:cubicBezTo>
                <a:cubicBezTo>
                  <a:pt x="91440" y="55126"/>
                  <a:pt x="105061" y="38100"/>
                  <a:pt x="121920" y="38100"/>
                </a:cubicBezTo>
                <a:lnTo>
                  <a:pt x="243840" y="38100"/>
                </a:lnTo>
                <a:cubicBezTo>
                  <a:pt x="257747" y="15002"/>
                  <a:pt x="279845" y="0"/>
                  <a:pt x="304800" y="0"/>
                </a:cubicBezTo>
                <a:cubicBezTo>
                  <a:pt x="329756" y="0"/>
                  <a:pt x="351854" y="15002"/>
                  <a:pt x="365760" y="38100"/>
                </a:cubicBezTo>
                <a:close/>
                <a:moveTo>
                  <a:pt x="418719" y="381000"/>
                </a:moveTo>
                <a:lnTo>
                  <a:pt x="556641" y="381000"/>
                </a:lnTo>
                <a:lnTo>
                  <a:pt x="487680" y="233124"/>
                </a:lnTo>
                <a:lnTo>
                  <a:pt x="418719" y="381000"/>
                </a:lnTo>
                <a:close/>
                <a:moveTo>
                  <a:pt x="487680" y="495300"/>
                </a:moveTo>
                <a:cubicBezTo>
                  <a:pt x="427768" y="495300"/>
                  <a:pt x="377952" y="454819"/>
                  <a:pt x="367665" y="401360"/>
                </a:cubicBezTo>
                <a:cubicBezTo>
                  <a:pt x="365188" y="388263"/>
                  <a:pt x="368618" y="374809"/>
                  <a:pt x="374047" y="363141"/>
                </a:cubicBezTo>
                <a:lnTo>
                  <a:pt x="464725" y="168831"/>
                </a:lnTo>
                <a:cubicBezTo>
                  <a:pt x="469487" y="158591"/>
                  <a:pt x="478250" y="152400"/>
                  <a:pt x="487680" y="152400"/>
                </a:cubicBezTo>
                <a:cubicBezTo>
                  <a:pt x="497110" y="152400"/>
                  <a:pt x="505873" y="158710"/>
                  <a:pt x="510635" y="168831"/>
                </a:cubicBezTo>
                <a:lnTo>
                  <a:pt x="601313" y="363141"/>
                </a:lnTo>
                <a:cubicBezTo>
                  <a:pt x="606743" y="374809"/>
                  <a:pt x="610172" y="388263"/>
                  <a:pt x="607695" y="401360"/>
                </a:cubicBezTo>
                <a:cubicBezTo>
                  <a:pt x="597408" y="454700"/>
                  <a:pt x="547592" y="495300"/>
                  <a:pt x="487680" y="495300"/>
                </a:cubicBezTo>
                <a:close/>
                <a:moveTo>
                  <a:pt x="120777" y="233124"/>
                </a:moveTo>
                <a:lnTo>
                  <a:pt x="51816" y="381000"/>
                </a:lnTo>
                <a:lnTo>
                  <a:pt x="189833" y="381000"/>
                </a:lnTo>
                <a:lnTo>
                  <a:pt x="120777" y="233124"/>
                </a:lnTo>
                <a:close/>
                <a:moveTo>
                  <a:pt x="857" y="401360"/>
                </a:moveTo>
                <a:cubicBezTo>
                  <a:pt x="-1619" y="388263"/>
                  <a:pt x="1810" y="374809"/>
                  <a:pt x="7239" y="363141"/>
                </a:cubicBezTo>
                <a:lnTo>
                  <a:pt x="97917" y="168831"/>
                </a:lnTo>
                <a:cubicBezTo>
                  <a:pt x="102680" y="158591"/>
                  <a:pt x="111443" y="152400"/>
                  <a:pt x="120872" y="152400"/>
                </a:cubicBezTo>
                <a:cubicBezTo>
                  <a:pt x="130302" y="152400"/>
                  <a:pt x="139065" y="158710"/>
                  <a:pt x="143828" y="168831"/>
                </a:cubicBezTo>
                <a:lnTo>
                  <a:pt x="234505" y="363141"/>
                </a:lnTo>
                <a:cubicBezTo>
                  <a:pt x="239935" y="374809"/>
                  <a:pt x="243364" y="388263"/>
                  <a:pt x="240887" y="401360"/>
                </a:cubicBezTo>
                <a:cubicBezTo>
                  <a:pt x="230600" y="454700"/>
                  <a:pt x="180785" y="495300"/>
                  <a:pt x="120872" y="495300"/>
                </a:cubicBezTo>
                <a:cubicBezTo>
                  <a:pt x="60960" y="495300"/>
                  <a:pt x="11144" y="454819"/>
                  <a:pt x="857" y="40136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Bias &amp; Fairness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22000" y="3556000"/>
            <a:ext cx="381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Training data biases propagate to decisions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Facial rec. accuracy gaps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Hiring tool gender bias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Fairness constraints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Perception in Robotics and Embodied AI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778000" y="2667000"/>
            <a:ext cx="1143000" cy="1143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2006600" y="28956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800" y="64294"/>
                </a:moveTo>
                <a:cubicBezTo>
                  <a:pt x="685800" y="49426"/>
                  <a:pt x="678165" y="35629"/>
                  <a:pt x="665440" y="27861"/>
                </a:cubicBezTo>
                <a:cubicBezTo>
                  <a:pt x="652716" y="20092"/>
                  <a:pt x="637044" y="19288"/>
                  <a:pt x="623783" y="25985"/>
                </a:cubicBezTo>
                <a:lnTo>
                  <a:pt x="468139" y="103808"/>
                </a:lnTo>
                <a:lnTo>
                  <a:pt x="227841" y="23574"/>
                </a:lnTo>
                <a:cubicBezTo>
                  <a:pt x="216991" y="19958"/>
                  <a:pt x="205338" y="20762"/>
                  <a:pt x="195158" y="25851"/>
                </a:cubicBezTo>
                <a:lnTo>
                  <a:pt x="23708" y="111576"/>
                </a:lnTo>
                <a:cubicBezTo>
                  <a:pt x="9108" y="118943"/>
                  <a:pt x="0" y="133811"/>
                  <a:pt x="0" y="150019"/>
                </a:cubicBezTo>
                <a:lnTo>
                  <a:pt x="0" y="621506"/>
                </a:lnTo>
                <a:cubicBezTo>
                  <a:pt x="0" y="636374"/>
                  <a:pt x="7635" y="650171"/>
                  <a:pt x="20360" y="657939"/>
                </a:cubicBezTo>
                <a:cubicBezTo>
                  <a:pt x="33084" y="665708"/>
                  <a:pt x="48756" y="666512"/>
                  <a:pt x="62017" y="659815"/>
                </a:cubicBezTo>
                <a:lnTo>
                  <a:pt x="217527" y="581992"/>
                </a:lnTo>
                <a:lnTo>
                  <a:pt x="457825" y="662092"/>
                </a:lnTo>
                <a:cubicBezTo>
                  <a:pt x="468675" y="665708"/>
                  <a:pt x="480328" y="664905"/>
                  <a:pt x="490508" y="659815"/>
                </a:cubicBezTo>
                <a:lnTo>
                  <a:pt x="661958" y="574090"/>
                </a:lnTo>
                <a:cubicBezTo>
                  <a:pt x="676424" y="566857"/>
                  <a:pt x="685666" y="551989"/>
                  <a:pt x="685666" y="535781"/>
                </a:cubicBezTo>
                <a:lnTo>
                  <a:pt x="685666" y="64294"/>
                </a:lnTo>
                <a:close/>
                <a:moveTo>
                  <a:pt x="257175" y="504840"/>
                </a:moveTo>
                <a:lnTo>
                  <a:pt x="257175" y="123765"/>
                </a:lnTo>
                <a:lnTo>
                  <a:pt x="428625" y="180960"/>
                </a:lnTo>
                <a:lnTo>
                  <a:pt x="428625" y="562035"/>
                </a:lnTo>
                <a:lnTo>
                  <a:pt x="257175" y="5048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4064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4572000"/>
            <a:ext cx="266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Mapping while navigating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1000" y="3238500"/>
            <a:ext cx="254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461000" y="2667000"/>
            <a:ext cx="1143000" cy="1143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0" name="Shape 8"/>
          <p:cNvSpPr/>
          <p:nvPr/>
        </p:nvSpPr>
        <p:spPr>
          <a:xfrm>
            <a:off x="5689600" y="28956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-21431"/>
                </a:moveTo>
                <a:cubicBezTo>
                  <a:pt x="363974" y="-21431"/>
                  <a:pt x="381000" y="-2277"/>
                  <a:pt x="381000" y="21431"/>
                </a:cubicBezTo>
                <a:lnTo>
                  <a:pt x="381000" y="45943"/>
                </a:lnTo>
                <a:cubicBezTo>
                  <a:pt x="497800" y="64696"/>
                  <a:pt x="590193" y="168637"/>
                  <a:pt x="606862" y="300038"/>
                </a:cubicBezTo>
                <a:lnTo>
                  <a:pt x="628650" y="300038"/>
                </a:lnTo>
                <a:cubicBezTo>
                  <a:pt x="649724" y="300038"/>
                  <a:pt x="666750" y="319192"/>
                  <a:pt x="666750" y="342900"/>
                </a:cubicBezTo>
                <a:cubicBezTo>
                  <a:pt x="666750" y="366608"/>
                  <a:pt x="649724" y="385763"/>
                  <a:pt x="628650" y="385763"/>
                </a:cubicBezTo>
                <a:lnTo>
                  <a:pt x="606862" y="385763"/>
                </a:lnTo>
                <a:cubicBezTo>
                  <a:pt x="590193" y="517163"/>
                  <a:pt x="497800" y="621104"/>
                  <a:pt x="381000" y="639857"/>
                </a:cubicBezTo>
                <a:lnTo>
                  <a:pt x="381000" y="664369"/>
                </a:lnTo>
                <a:cubicBezTo>
                  <a:pt x="381000" y="688077"/>
                  <a:pt x="363974" y="707231"/>
                  <a:pt x="342900" y="707231"/>
                </a:cubicBezTo>
                <a:cubicBezTo>
                  <a:pt x="321826" y="707231"/>
                  <a:pt x="304800" y="688077"/>
                  <a:pt x="304800" y="664369"/>
                </a:cubicBezTo>
                <a:lnTo>
                  <a:pt x="304800" y="639857"/>
                </a:lnTo>
                <a:cubicBezTo>
                  <a:pt x="188000" y="621104"/>
                  <a:pt x="95607" y="517163"/>
                  <a:pt x="78938" y="385763"/>
                </a:cubicBezTo>
                <a:lnTo>
                  <a:pt x="57150" y="385763"/>
                </a:lnTo>
                <a:cubicBezTo>
                  <a:pt x="36076" y="385763"/>
                  <a:pt x="19050" y="366608"/>
                  <a:pt x="19050" y="342900"/>
                </a:cubicBezTo>
                <a:cubicBezTo>
                  <a:pt x="19050" y="319192"/>
                  <a:pt x="36076" y="300038"/>
                  <a:pt x="57150" y="300038"/>
                </a:cubicBezTo>
                <a:lnTo>
                  <a:pt x="78938" y="300038"/>
                </a:lnTo>
                <a:cubicBezTo>
                  <a:pt x="95607" y="168637"/>
                  <a:pt x="188000" y="64696"/>
                  <a:pt x="304800" y="45943"/>
                </a:cubicBezTo>
                <a:lnTo>
                  <a:pt x="304800" y="21431"/>
                </a:lnTo>
                <a:cubicBezTo>
                  <a:pt x="304800" y="-2277"/>
                  <a:pt x="321826" y="-21431"/>
                  <a:pt x="342900" y="-21431"/>
                </a:cubicBezTo>
                <a:close/>
                <a:moveTo>
                  <a:pt x="156210" y="385763"/>
                </a:moveTo>
                <a:cubicBezTo>
                  <a:pt x="171331" y="469746"/>
                  <a:pt x="230148" y="535915"/>
                  <a:pt x="304800" y="552926"/>
                </a:cubicBezTo>
                <a:lnTo>
                  <a:pt x="304800" y="535781"/>
                </a:lnTo>
                <a:cubicBezTo>
                  <a:pt x="304800" y="512073"/>
                  <a:pt x="321826" y="492919"/>
                  <a:pt x="342900" y="492919"/>
                </a:cubicBezTo>
                <a:cubicBezTo>
                  <a:pt x="363974" y="492919"/>
                  <a:pt x="381000" y="512073"/>
                  <a:pt x="381000" y="535781"/>
                </a:cubicBezTo>
                <a:lnTo>
                  <a:pt x="381000" y="552926"/>
                </a:lnTo>
                <a:cubicBezTo>
                  <a:pt x="455652" y="535915"/>
                  <a:pt x="514469" y="469746"/>
                  <a:pt x="529590" y="385763"/>
                </a:cubicBezTo>
                <a:lnTo>
                  <a:pt x="514350" y="385763"/>
                </a:lnTo>
                <a:cubicBezTo>
                  <a:pt x="493276" y="385763"/>
                  <a:pt x="476250" y="366608"/>
                  <a:pt x="476250" y="342900"/>
                </a:cubicBezTo>
                <a:cubicBezTo>
                  <a:pt x="476250" y="319192"/>
                  <a:pt x="493276" y="300038"/>
                  <a:pt x="514350" y="300038"/>
                </a:cubicBezTo>
                <a:lnTo>
                  <a:pt x="529590" y="300038"/>
                </a:lnTo>
                <a:cubicBezTo>
                  <a:pt x="514469" y="216054"/>
                  <a:pt x="455652" y="149885"/>
                  <a:pt x="381000" y="132874"/>
                </a:cubicBezTo>
                <a:lnTo>
                  <a:pt x="381000" y="150019"/>
                </a:lnTo>
                <a:cubicBezTo>
                  <a:pt x="381000" y="173727"/>
                  <a:pt x="363974" y="192881"/>
                  <a:pt x="342900" y="192881"/>
                </a:cubicBezTo>
                <a:cubicBezTo>
                  <a:pt x="321826" y="192881"/>
                  <a:pt x="304800" y="173727"/>
                  <a:pt x="304800" y="150019"/>
                </a:cubicBezTo>
                <a:lnTo>
                  <a:pt x="304800" y="132874"/>
                </a:lnTo>
                <a:cubicBezTo>
                  <a:pt x="230148" y="149885"/>
                  <a:pt x="171331" y="216054"/>
                  <a:pt x="156210" y="300038"/>
                </a:cubicBezTo>
                <a:lnTo>
                  <a:pt x="171450" y="300038"/>
                </a:lnTo>
                <a:cubicBezTo>
                  <a:pt x="192524" y="300038"/>
                  <a:pt x="209550" y="319192"/>
                  <a:pt x="209550" y="342900"/>
                </a:cubicBezTo>
                <a:cubicBezTo>
                  <a:pt x="209550" y="366608"/>
                  <a:pt x="192524" y="385763"/>
                  <a:pt x="171450" y="385763"/>
                </a:cubicBezTo>
                <a:lnTo>
                  <a:pt x="156210" y="385763"/>
                </a:lnTo>
                <a:close/>
                <a:moveTo>
                  <a:pt x="342900" y="278606"/>
                </a:moveTo>
                <a:cubicBezTo>
                  <a:pt x="374442" y="278606"/>
                  <a:pt x="400050" y="307415"/>
                  <a:pt x="400050" y="342900"/>
                </a:cubicBezTo>
                <a:cubicBezTo>
                  <a:pt x="400050" y="378385"/>
                  <a:pt x="374442" y="407194"/>
                  <a:pt x="342900" y="407194"/>
                </a:cubicBezTo>
                <a:cubicBezTo>
                  <a:pt x="311358" y="407194"/>
                  <a:pt x="285750" y="378385"/>
                  <a:pt x="285750" y="342900"/>
                </a:cubicBezTo>
                <a:cubicBezTo>
                  <a:pt x="285750" y="307415"/>
                  <a:pt x="311358" y="278606"/>
                  <a:pt x="342900" y="2786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953000" y="4064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Sensing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99000" y="4572000"/>
            <a:ext cx="266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Choose viewpoints and actions to maximize information gain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04000" y="3238500"/>
            <a:ext cx="254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9144000" y="2667000"/>
            <a:ext cx="1143000" cy="1143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5" name="Shape 13"/>
          <p:cNvSpPr/>
          <p:nvPr/>
        </p:nvSpPr>
        <p:spPr>
          <a:xfrm>
            <a:off x="9372600" y="28956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cubicBezTo>
                  <a:pt x="361867" y="0"/>
                  <a:pt x="377190" y="19154"/>
                  <a:pt x="377190" y="42863"/>
                </a:cubicBezTo>
                <a:lnTo>
                  <a:pt x="377190" y="321469"/>
                </a:lnTo>
                <a:cubicBezTo>
                  <a:pt x="377190" y="333256"/>
                  <a:pt x="384905" y="342900"/>
                  <a:pt x="394335" y="342900"/>
                </a:cubicBezTo>
                <a:cubicBezTo>
                  <a:pt x="403765" y="342900"/>
                  <a:pt x="411480" y="333256"/>
                  <a:pt x="411480" y="321469"/>
                </a:cubicBezTo>
                <a:lnTo>
                  <a:pt x="411480" y="85725"/>
                </a:lnTo>
                <a:cubicBezTo>
                  <a:pt x="411480" y="62017"/>
                  <a:pt x="426803" y="42863"/>
                  <a:pt x="445770" y="42863"/>
                </a:cubicBezTo>
                <a:cubicBezTo>
                  <a:pt x="464737" y="42863"/>
                  <a:pt x="480060" y="62017"/>
                  <a:pt x="480060" y="85725"/>
                </a:cubicBezTo>
                <a:lnTo>
                  <a:pt x="480060" y="321469"/>
                </a:lnTo>
                <a:cubicBezTo>
                  <a:pt x="480060" y="333256"/>
                  <a:pt x="487775" y="342900"/>
                  <a:pt x="497205" y="342900"/>
                </a:cubicBezTo>
                <a:cubicBezTo>
                  <a:pt x="506635" y="342900"/>
                  <a:pt x="514350" y="333256"/>
                  <a:pt x="514350" y="321469"/>
                </a:cubicBezTo>
                <a:lnTo>
                  <a:pt x="514350" y="171450"/>
                </a:lnTo>
                <a:cubicBezTo>
                  <a:pt x="514350" y="147742"/>
                  <a:pt x="529673" y="128588"/>
                  <a:pt x="548640" y="128588"/>
                </a:cubicBezTo>
                <a:cubicBezTo>
                  <a:pt x="567607" y="128588"/>
                  <a:pt x="582930" y="147742"/>
                  <a:pt x="582930" y="171450"/>
                </a:cubicBezTo>
                <a:lnTo>
                  <a:pt x="582930" y="410141"/>
                </a:lnTo>
                <a:cubicBezTo>
                  <a:pt x="562356" y="417374"/>
                  <a:pt x="545747" y="437465"/>
                  <a:pt x="539639" y="464121"/>
                </a:cubicBezTo>
                <a:lnTo>
                  <a:pt x="532674" y="494526"/>
                </a:lnTo>
                <a:lnTo>
                  <a:pt x="508349" y="503233"/>
                </a:lnTo>
                <a:cubicBezTo>
                  <a:pt x="481346" y="512877"/>
                  <a:pt x="462808" y="543684"/>
                  <a:pt x="462808" y="578778"/>
                </a:cubicBezTo>
                <a:cubicBezTo>
                  <a:pt x="462808" y="608380"/>
                  <a:pt x="476095" y="635035"/>
                  <a:pt x="496455" y="648295"/>
                </a:cubicBezTo>
                <a:cubicBezTo>
                  <a:pt x="466987" y="672138"/>
                  <a:pt x="431947" y="685934"/>
                  <a:pt x="394228" y="685934"/>
                </a:cubicBezTo>
                <a:lnTo>
                  <a:pt x="373654" y="685934"/>
                </a:lnTo>
                <a:cubicBezTo>
                  <a:pt x="309789" y="685934"/>
                  <a:pt x="248388" y="655260"/>
                  <a:pt x="202204" y="600209"/>
                </a:cubicBezTo>
                <a:lnTo>
                  <a:pt x="81867" y="456754"/>
                </a:lnTo>
                <a:cubicBezTo>
                  <a:pt x="64722" y="436394"/>
                  <a:pt x="64079" y="402372"/>
                  <a:pt x="80367" y="380940"/>
                </a:cubicBezTo>
                <a:cubicBezTo>
                  <a:pt x="96655" y="359509"/>
                  <a:pt x="123873" y="358706"/>
                  <a:pt x="141018" y="379065"/>
                </a:cubicBezTo>
                <a:lnTo>
                  <a:pt x="205847" y="456218"/>
                </a:lnTo>
                <a:cubicBezTo>
                  <a:pt x="205847" y="454209"/>
                  <a:pt x="205740" y="452065"/>
                  <a:pt x="205740" y="450056"/>
                </a:cubicBezTo>
                <a:lnTo>
                  <a:pt x="205740" y="85725"/>
                </a:lnTo>
                <a:cubicBezTo>
                  <a:pt x="205740" y="62017"/>
                  <a:pt x="221063" y="42863"/>
                  <a:pt x="240030" y="42863"/>
                </a:cubicBezTo>
                <a:cubicBezTo>
                  <a:pt x="258997" y="42863"/>
                  <a:pt x="274320" y="62017"/>
                  <a:pt x="274320" y="85725"/>
                </a:cubicBezTo>
                <a:lnTo>
                  <a:pt x="274320" y="321469"/>
                </a:lnTo>
                <a:cubicBezTo>
                  <a:pt x="274320" y="333256"/>
                  <a:pt x="282035" y="342900"/>
                  <a:pt x="291465" y="342900"/>
                </a:cubicBezTo>
                <a:cubicBezTo>
                  <a:pt x="300895" y="342900"/>
                  <a:pt x="308610" y="333256"/>
                  <a:pt x="308610" y="321469"/>
                </a:cubicBezTo>
                <a:lnTo>
                  <a:pt x="308610" y="42863"/>
                </a:lnTo>
                <a:cubicBezTo>
                  <a:pt x="308610" y="19154"/>
                  <a:pt x="323933" y="0"/>
                  <a:pt x="342900" y="0"/>
                </a:cubicBezTo>
                <a:close/>
                <a:moveTo>
                  <a:pt x="335078" y="437465"/>
                </a:moveTo>
                <a:cubicBezTo>
                  <a:pt x="333899" y="432242"/>
                  <a:pt x="330041" y="428625"/>
                  <a:pt x="325755" y="428625"/>
                </a:cubicBezTo>
                <a:cubicBezTo>
                  <a:pt x="321469" y="428625"/>
                  <a:pt x="317611" y="432242"/>
                  <a:pt x="316432" y="437465"/>
                </a:cubicBezTo>
                <a:lnTo>
                  <a:pt x="308610" y="471488"/>
                </a:lnTo>
                <a:lnTo>
                  <a:pt x="281392" y="481266"/>
                </a:lnTo>
                <a:cubicBezTo>
                  <a:pt x="277213" y="482739"/>
                  <a:pt x="274320" y="487561"/>
                  <a:pt x="274320" y="492919"/>
                </a:cubicBezTo>
                <a:cubicBezTo>
                  <a:pt x="274320" y="498277"/>
                  <a:pt x="277213" y="503099"/>
                  <a:pt x="281392" y="504572"/>
                </a:cubicBezTo>
                <a:lnTo>
                  <a:pt x="308610" y="514350"/>
                </a:lnTo>
                <a:lnTo>
                  <a:pt x="316432" y="548372"/>
                </a:lnTo>
                <a:cubicBezTo>
                  <a:pt x="317611" y="553596"/>
                  <a:pt x="321469" y="557213"/>
                  <a:pt x="325755" y="557213"/>
                </a:cubicBezTo>
                <a:cubicBezTo>
                  <a:pt x="330041" y="557213"/>
                  <a:pt x="333899" y="553596"/>
                  <a:pt x="335078" y="548372"/>
                </a:cubicBezTo>
                <a:lnTo>
                  <a:pt x="342900" y="514350"/>
                </a:lnTo>
                <a:lnTo>
                  <a:pt x="370118" y="504572"/>
                </a:lnTo>
                <a:cubicBezTo>
                  <a:pt x="374297" y="503099"/>
                  <a:pt x="377190" y="498277"/>
                  <a:pt x="377190" y="492919"/>
                </a:cubicBezTo>
                <a:cubicBezTo>
                  <a:pt x="377190" y="487561"/>
                  <a:pt x="374297" y="482739"/>
                  <a:pt x="370118" y="481266"/>
                </a:cubicBezTo>
                <a:lnTo>
                  <a:pt x="342900" y="471488"/>
                </a:lnTo>
                <a:lnTo>
                  <a:pt x="335078" y="437465"/>
                </a:lnTo>
                <a:close/>
                <a:moveTo>
                  <a:pt x="111443" y="160734"/>
                </a:moveTo>
                <a:lnTo>
                  <a:pt x="163199" y="179219"/>
                </a:lnTo>
                <a:cubicBezTo>
                  <a:pt x="168128" y="180960"/>
                  <a:pt x="171450" y="186586"/>
                  <a:pt x="171450" y="192881"/>
                </a:cubicBezTo>
                <a:cubicBezTo>
                  <a:pt x="171450" y="199177"/>
                  <a:pt x="168128" y="204802"/>
                  <a:pt x="163199" y="206544"/>
                </a:cubicBezTo>
                <a:lnTo>
                  <a:pt x="111443" y="225028"/>
                </a:lnTo>
                <a:lnTo>
                  <a:pt x="96655" y="289724"/>
                </a:lnTo>
                <a:cubicBezTo>
                  <a:pt x="95262" y="295885"/>
                  <a:pt x="90761" y="300038"/>
                  <a:pt x="85725" y="300038"/>
                </a:cubicBezTo>
                <a:cubicBezTo>
                  <a:pt x="80689" y="300038"/>
                  <a:pt x="76188" y="295885"/>
                  <a:pt x="74795" y="289724"/>
                </a:cubicBezTo>
                <a:lnTo>
                  <a:pt x="60008" y="225028"/>
                </a:lnTo>
                <a:lnTo>
                  <a:pt x="8251" y="206544"/>
                </a:lnTo>
                <a:cubicBezTo>
                  <a:pt x="3322" y="204802"/>
                  <a:pt x="0" y="199177"/>
                  <a:pt x="0" y="192881"/>
                </a:cubicBezTo>
                <a:cubicBezTo>
                  <a:pt x="0" y="186586"/>
                  <a:pt x="3322" y="180960"/>
                  <a:pt x="8251" y="179219"/>
                </a:cubicBezTo>
                <a:lnTo>
                  <a:pt x="60008" y="160734"/>
                </a:lnTo>
                <a:lnTo>
                  <a:pt x="74795" y="96039"/>
                </a:lnTo>
                <a:cubicBezTo>
                  <a:pt x="76188" y="89877"/>
                  <a:pt x="80689" y="85725"/>
                  <a:pt x="85725" y="85725"/>
                </a:cubicBezTo>
                <a:cubicBezTo>
                  <a:pt x="90761" y="85725"/>
                  <a:pt x="95262" y="89877"/>
                  <a:pt x="96655" y="96039"/>
                </a:cubicBezTo>
                <a:lnTo>
                  <a:pt x="111443" y="160734"/>
                </a:lnTo>
                <a:close/>
                <a:moveTo>
                  <a:pt x="625793" y="546497"/>
                </a:moveTo>
                <a:lnTo>
                  <a:pt x="677549" y="564981"/>
                </a:lnTo>
                <a:cubicBezTo>
                  <a:pt x="682478" y="566723"/>
                  <a:pt x="685800" y="572348"/>
                  <a:pt x="685800" y="578644"/>
                </a:cubicBezTo>
                <a:cubicBezTo>
                  <a:pt x="685800" y="584939"/>
                  <a:pt x="682478" y="590565"/>
                  <a:pt x="677549" y="592306"/>
                </a:cubicBezTo>
                <a:lnTo>
                  <a:pt x="625793" y="610791"/>
                </a:lnTo>
                <a:lnTo>
                  <a:pt x="611005" y="675486"/>
                </a:lnTo>
                <a:cubicBezTo>
                  <a:pt x="609612" y="681648"/>
                  <a:pt x="605111" y="685800"/>
                  <a:pt x="600075" y="685800"/>
                </a:cubicBezTo>
                <a:cubicBezTo>
                  <a:pt x="595039" y="685800"/>
                  <a:pt x="590538" y="681648"/>
                  <a:pt x="589145" y="675486"/>
                </a:cubicBezTo>
                <a:lnTo>
                  <a:pt x="574358" y="610791"/>
                </a:lnTo>
                <a:lnTo>
                  <a:pt x="522601" y="592306"/>
                </a:lnTo>
                <a:cubicBezTo>
                  <a:pt x="517672" y="590565"/>
                  <a:pt x="514350" y="584939"/>
                  <a:pt x="514350" y="578644"/>
                </a:cubicBezTo>
                <a:cubicBezTo>
                  <a:pt x="514350" y="572348"/>
                  <a:pt x="517672" y="566723"/>
                  <a:pt x="522601" y="564981"/>
                </a:cubicBezTo>
                <a:lnTo>
                  <a:pt x="574358" y="546497"/>
                </a:lnTo>
                <a:lnTo>
                  <a:pt x="589145" y="481801"/>
                </a:lnTo>
                <a:cubicBezTo>
                  <a:pt x="590538" y="475640"/>
                  <a:pt x="595039" y="471488"/>
                  <a:pt x="600075" y="471488"/>
                </a:cubicBezTo>
                <a:cubicBezTo>
                  <a:pt x="605111" y="471488"/>
                  <a:pt x="609612" y="475640"/>
                  <a:pt x="611005" y="481801"/>
                </a:cubicBezTo>
                <a:lnTo>
                  <a:pt x="625793" y="54649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4064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Manipulation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82000" y="4572000"/>
            <a:ext cx="266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Tactile + visual feedback for grasping and dexterous control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287000" y="3238500"/>
            <a:ext cx="254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2827000" y="2667000"/>
            <a:ext cx="1143000" cy="1143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0" name="Shape 18"/>
          <p:cNvSpPr/>
          <p:nvPr/>
        </p:nvSpPr>
        <p:spPr>
          <a:xfrm>
            <a:off x="13055600" y="28956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77190" y="0"/>
                </a:moveTo>
                <a:cubicBezTo>
                  <a:pt x="377190" y="-23708"/>
                  <a:pt x="361867" y="-42862"/>
                  <a:pt x="342900" y="-42862"/>
                </a:cubicBezTo>
                <a:cubicBezTo>
                  <a:pt x="323933" y="-42862"/>
                  <a:pt x="308610" y="-23708"/>
                  <a:pt x="308610" y="0"/>
                </a:cubicBezTo>
                <a:lnTo>
                  <a:pt x="308610" y="85725"/>
                </a:lnTo>
                <a:lnTo>
                  <a:pt x="205740" y="85725"/>
                </a:lnTo>
                <a:cubicBezTo>
                  <a:pt x="148947" y="85725"/>
                  <a:pt x="102870" y="143321"/>
                  <a:pt x="102870" y="214313"/>
                </a:cubicBezTo>
                <a:lnTo>
                  <a:pt x="102870" y="514350"/>
                </a:lnTo>
                <a:cubicBezTo>
                  <a:pt x="102870" y="585341"/>
                  <a:pt x="148947" y="642938"/>
                  <a:pt x="205740" y="642938"/>
                </a:cubicBezTo>
                <a:lnTo>
                  <a:pt x="480060" y="642938"/>
                </a:lnTo>
                <a:cubicBezTo>
                  <a:pt x="536853" y="642938"/>
                  <a:pt x="582930" y="585341"/>
                  <a:pt x="582930" y="514350"/>
                </a:cubicBezTo>
                <a:lnTo>
                  <a:pt x="582930" y="214313"/>
                </a:lnTo>
                <a:cubicBezTo>
                  <a:pt x="582930" y="143321"/>
                  <a:pt x="536853" y="85725"/>
                  <a:pt x="480060" y="85725"/>
                </a:cubicBezTo>
                <a:lnTo>
                  <a:pt x="377190" y="85725"/>
                </a:lnTo>
                <a:lnTo>
                  <a:pt x="377190" y="0"/>
                </a:lnTo>
                <a:close/>
                <a:moveTo>
                  <a:pt x="171450" y="492919"/>
                </a:moveTo>
                <a:cubicBezTo>
                  <a:pt x="171450" y="475104"/>
                  <a:pt x="182916" y="460772"/>
                  <a:pt x="197168" y="460772"/>
                </a:cubicBezTo>
                <a:lnTo>
                  <a:pt x="231458" y="460772"/>
                </a:lnTo>
                <a:cubicBezTo>
                  <a:pt x="245709" y="460772"/>
                  <a:pt x="257175" y="475104"/>
                  <a:pt x="257175" y="492919"/>
                </a:cubicBezTo>
                <a:cubicBezTo>
                  <a:pt x="257175" y="510733"/>
                  <a:pt x="245709" y="525066"/>
                  <a:pt x="231458" y="525066"/>
                </a:cubicBezTo>
                <a:lnTo>
                  <a:pt x="197168" y="525066"/>
                </a:lnTo>
                <a:cubicBezTo>
                  <a:pt x="182916" y="525066"/>
                  <a:pt x="171450" y="510733"/>
                  <a:pt x="171450" y="492919"/>
                </a:cubicBezTo>
                <a:close/>
                <a:moveTo>
                  <a:pt x="300038" y="492919"/>
                </a:moveTo>
                <a:cubicBezTo>
                  <a:pt x="300038" y="475104"/>
                  <a:pt x="311503" y="460772"/>
                  <a:pt x="325755" y="460772"/>
                </a:cubicBezTo>
                <a:lnTo>
                  <a:pt x="360045" y="460772"/>
                </a:lnTo>
                <a:cubicBezTo>
                  <a:pt x="374297" y="460772"/>
                  <a:pt x="385763" y="475104"/>
                  <a:pt x="385763" y="492919"/>
                </a:cubicBezTo>
                <a:cubicBezTo>
                  <a:pt x="385763" y="510733"/>
                  <a:pt x="374297" y="525066"/>
                  <a:pt x="360045" y="525066"/>
                </a:cubicBezTo>
                <a:lnTo>
                  <a:pt x="325755" y="525066"/>
                </a:lnTo>
                <a:cubicBezTo>
                  <a:pt x="311503" y="525066"/>
                  <a:pt x="300038" y="510733"/>
                  <a:pt x="300038" y="492919"/>
                </a:cubicBezTo>
                <a:close/>
                <a:moveTo>
                  <a:pt x="428625" y="492919"/>
                </a:moveTo>
                <a:cubicBezTo>
                  <a:pt x="428625" y="475104"/>
                  <a:pt x="440091" y="460772"/>
                  <a:pt x="454343" y="460772"/>
                </a:cubicBezTo>
                <a:lnTo>
                  <a:pt x="488633" y="460772"/>
                </a:lnTo>
                <a:cubicBezTo>
                  <a:pt x="502884" y="460772"/>
                  <a:pt x="514350" y="475104"/>
                  <a:pt x="514350" y="492919"/>
                </a:cubicBezTo>
                <a:cubicBezTo>
                  <a:pt x="514350" y="510733"/>
                  <a:pt x="502884" y="525066"/>
                  <a:pt x="488633" y="525066"/>
                </a:cubicBezTo>
                <a:lnTo>
                  <a:pt x="454343" y="525066"/>
                </a:lnTo>
                <a:cubicBezTo>
                  <a:pt x="440091" y="525066"/>
                  <a:pt x="428625" y="510733"/>
                  <a:pt x="428625" y="492919"/>
                </a:cubicBezTo>
                <a:close/>
                <a:moveTo>
                  <a:pt x="240030" y="235744"/>
                </a:moveTo>
                <a:cubicBezTo>
                  <a:pt x="268418" y="235744"/>
                  <a:pt x="291465" y="264553"/>
                  <a:pt x="291465" y="300038"/>
                </a:cubicBezTo>
                <a:cubicBezTo>
                  <a:pt x="291465" y="335522"/>
                  <a:pt x="268418" y="364331"/>
                  <a:pt x="240030" y="364331"/>
                </a:cubicBezTo>
                <a:cubicBezTo>
                  <a:pt x="211642" y="364331"/>
                  <a:pt x="188595" y="335522"/>
                  <a:pt x="188595" y="300038"/>
                </a:cubicBezTo>
                <a:cubicBezTo>
                  <a:pt x="188595" y="264553"/>
                  <a:pt x="211642" y="235744"/>
                  <a:pt x="240030" y="235744"/>
                </a:cubicBezTo>
                <a:close/>
                <a:moveTo>
                  <a:pt x="394335" y="300038"/>
                </a:moveTo>
                <a:cubicBezTo>
                  <a:pt x="394335" y="264553"/>
                  <a:pt x="417382" y="235744"/>
                  <a:pt x="445770" y="235744"/>
                </a:cubicBezTo>
                <a:cubicBezTo>
                  <a:pt x="474158" y="235744"/>
                  <a:pt x="497205" y="264553"/>
                  <a:pt x="497205" y="300038"/>
                </a:cubicBezTo>
                <a:cubicBezTo>
                  <a:pt x="497205" y="335522"/>
                  <a:pt x="474158" y="364331"/>
                  <a:pt x="445770" y="364331"/>
                </a:cubicBezTo>
                <a:cubicBezTo>
                  <a:pt x="417382" y="364331"/>
                  <a:pt x="394335" y="335522"/>
                  <a:pt x="394335" y="300038"/>
                </a:cubicBezTo>
                <a:close/>
                <a:moveTo>
                  <a:pt x="68580" y="300038"/>
                </a:moveTo>
                <a:cubicBezTo>
                  <a:pt x="68580" y="276329"/>
                  <a:pt x="53257" y="257175"/>
                  <a:pt x="34290" y="257175"/>
                </a:cubicBezTo>
                <a:cubicBezTo>
                  <a:pt x="15323" y="257175"/>
                  <a:pt x="0" y="276329"/>
                  <a:pt x="0" y="300038"/>
                </a:cubicBezTo>
                <a:lnTo>
                  <a:pt x="0" y="428625"/>
                </a:lnTo>
                <a:cubicBezTo>
                  <a:pt x="0" y="452333"/>
                  <a:pt x="15323" y="471488"/>
                  <a:pt x="34290" y="471488"/>
                </a:cubicBezTo>
                <a:cubicBezTo>
                  <a:pt x="53257" y="471488"/>
                  <a:pt x="68580" y="452333"/>
                  <a:pt x="68580" y="428625"/>
                </a:cubicBezTo>
                <a:lnTo>
                  <a:pt x="68580" y="300038"/>
                </a:lnTo>
                <a:close/>
                <a:moveTo>
                  <a:pt x="651510" y="257175"/>
                </a:moveTo>
                <a:cubicBezTo>
                  <a:pt x="632543" y="257175"/>
                  <a:pt x="617220" y="276329"/>
                  <a:pt x="617220" y="300038"/>
                </a:cubicBezTo>
                <a:lnTo>
                  <a:pt x="617220" y="428625"/>
                </a:lnTo>
                <a:cubicBezTo>
                  <a:pt x="617220" y="452333"/>
                  <a:pt x="632543" y="471488"/>
                  <a:pt x="651510" y="471488"/>
                </a:cubicBezTo>
                <a:cubicBezTo>
                  <a:pt x="670477" y="471488"/>
                  <a:pt x="685800" y="452333"/>
                  <a:pt x="685800" y="428625"/>
                </a:cubicBezTo>
                <a:lnTo>
                  <a:pt x="685800" y="300038"/>
                </a:lnTo>
                <a:cubicBezTo>
                  <a:pt x="685800" y="276329"/>
                  <a:pt x="670477" y="257175"/>
                  <a:pt x="651510" y="2571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319000" y="4064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Sim-to-Real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065000" y="4572000"/>
            <a:ext cx="266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 in simulation, deploy in physical environments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" y="6096000"/>
            <a:ext cx="13716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778000" y="6223000"/>
            <a:ext cx="1270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 Fusion: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LiDAR + Camera + IMU + Odometry → unified world representation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Embodied perception goes beyond passive observation — actions shape what is perceived.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— Perception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6040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47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5385" y="226715"/>
                </a:moveTo>
                <a:cubicBezTo>
                  <a:pt x="78581" y="134441"/>
                  <a:pt x="158055" y="63500"/>
                  <a:pt x="254000" y="63500"/>
                </a:cubicBezTo>
                <a:cubicBezTo>
                  <a:pt x="306586" y="63500"/>
                  <a:pt x="354211" y="84832"/>
                  <a:pt x="388739" y="119261"/>
                </a:cubicBezTo>
                <a:cubicBezTo>
                  <a:pt x="388938" y="119459"/>
                  <a:pt x="389136" y="119658"/>
                  <a:pt x="389334" y="119856"/>
                </a:cubicBezTo>
                <a:lnTo>
                  <a:pt x="396875" y="127000"/>
                </a:lnTo>
                <a:lnTo>
                  <a:pt x="349349" y="127000"/>
                </a:lnTo>
                <a:cubicBezTo>
                  <a:pt x="331788" y="127000"/>
                  <a:pt x="317599" y="141188"/>
                  <a:pt x="317599" y="158750"/>
                </a:cubicBezTo>
                <a:cubicBezTo>
                  <a:pt x="317599" y="176312"/>
                  <a:pt x="331788" y="190500"/>
                  <a:pt x="349349" y="190500"/>
                </a:cubicBezTo>
                <a:lnTo>
                  <a:pt x="476349" y="190500"/>
                </a:lnTo>
                <a:cubicBezTo>
                  <a:pt x="493911" y="190500"/>
                  <a:pt x="508099" y="176312"/>
                  <a:pt x="508099" y="158750"/>
                </a:cubicBezTo>
                <a:lnTo>
                  <a:pt x="508099" y="31750"/>
                </a:lnTo>
                <a:cubicBezTo>
                  <a:pt x="508099" y="14188"/>
                  <a:pt x="493911" y="0"/>
                  <a:pt x="476349" y="0"/>
                </a:cubicBezTo>
                <a:cubicBezTo>
                  <a:pt x="458788" y="0"/>
                  <a:pt x="444599" y="14188"/>
                  <a:pt x="444599" y="31750"/>
                </a:cubicBezTo>
                <a:lnTo>
                  <a:pt x="444599" y="84733"/>
                </a:lnTo>
                <a:lnTo>
                  <a:pt x="433388" y="74116"/>
                </a:lnTo>
                <a:cubicBezTo>
                  <a:pt x="387449" y="28377"/>
                  <a:pt x="323949" y="0"/>
                  <a:pt x="254000" y="0"/>
                </a:cubicBezTo>
                <a:cubicBezTo>
                  <a:pt x="126008" y="0"/>
                  <a:pt x="20141" y="94655"/>
                  <a:pt x="2580" y="217785"/>
                </a:cubicBezTo>
                <a:cubicBezTo>
                  <a:pt x="99" y="235148"/>
                  <a:pt x="12105" y="251222"/>
                  <a:pt x="29468" y="253702"/>
                </a:cubicBezTo>
                <a:cubicBezTo>
                  <a:pt x="46831" y="256183"/>
                  <a:pt x="62905" y="244078"/>
                  <a:pt x="65385" y="226814"/>
                </a:cubicBezTo>
                <a:close/>
                <a:moveTo>
                  <a:pt x="505420" y="290215"/>
                </a:moveTo>
                <a:cubicBezTo>
                  <a:pt x="507901" y="272852"/>
                  <a:pt x="495796" y="256778"/>
                  <a:pt x="478532" y="254298"/>
                </a:cubicBezTo>
                <a:cubicBezTo>
                  <a:pt x="461268" y="251817"/>
                  <a:pt x="445095" y="263922"/>
                  <a:pt x="442615" y="281186"/>
                </a:cubicBezTo>
                <a:cubicBezTo>
                  <a:pt x="429419" y="373459"/>
                  <a:pt x="349945" y="444401"/>
                  <a:pt x="254000" y="444401"/>
                </a:cubicBezTo>
                <a:cubicBezTo>
                  <a:pt x="201414" y="444401"/>
                  <a:pt x="153789" y="423069"/>
                  <a:pt x="119261" y="388640"/>
                </a:cubicBezTo>
                <a:cubicBezTo>
                  <a:pt x="119062" y="388441"/>
                  <a:pt x="118864" y="388243"/>
                  <a:pt x="118666" y="388045"/>
                </a:cubicBezTo>
                <a:lnTo>
                  <a:pt x="111125" y="380901"/>
                </a:lnTo>
                <a:lnTo>
                  <a:pt x="158651" y="380901"/>
                </a:lnTo>
                <a:cubicBezTo>
                  <a:pt x="176212" y="380901"/>
                  <a:pt x="190401" y="366713"/>
                  <a:pt x="190401" y="349151"/>
                </a:cubicBezTo>
                <a:cubicBezTo>
                  <a:pt x="190401" y="331589"/>
                  <a:pt x="176212" y="317401"/>
                  <a:pt x="158651" y="317401"/>
                </a:cubicBezTo>
                <a:lnTo>
                  <a:pt x="31750" y="317500"/>
                </a:lnTo>
                <a:cubicBezTo>
                  <a:pt x="23316" y="317500"/>
                  <a:pt x="15180" y="320873"/>
                  <a:pt x="9227" y="326926"/>
                </a:cubicBezTo>
                <a:cubicBezTo>
                  <a:pt x="3274" y="332978"/>
                  <a:pt x="-99" y="341015"/>
                  <a:pt x="0" y="349548"/>
                </a:cubicBezTo>
                <a:lnTo>
                  <a:pt x="992" y="475555"/>
                </a:lnTo>
                <a:cubicBezTo>
                  <a:pt x="1091" y="493117"/>
                  <a:pt x="15478" y="507206"/>
                  <a:pt x="33040" y="507008"/>
                </a:cubicBezTo>
                <a:cubicBezTo>
                  <a:pt x="50602" y="506809"/>
                  <a:pt x="64691" y="492522"/>
                  <a:pt x="64492" y="474960"/>
                </a:cubicBezTo>
                <a:lnTo>
                  <a:pt x="64095" y="423863"/>
                </a:lnTo>
                <a:lnTo>
                  <a:pt x="74712" y="433884"/>
                </a:lnTo>
                <a:cubicBezTo>
                  <a:pt x="120650" y="479623"/>
                  <a:pt x="184051" y="508000"/>
                  <a:pt x="254000" y="508000"/>
                </a:cubicBezTo>
                <a:cubicBezTo>
                  <a:pt x="381992" y="508000"/>
                  <a:pt x="487859" y="413345"/>
                  <a:pt x="505420" y="29021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413000" y="2286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Perception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transforms sensory data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into representations for action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0" y="2032000"/>
            <a:ext cx="66040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63000" y="247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3173" y="0"/>
                </a:moveTo>
                <a:lnTo>
                  <a:pt x="365423" y="0"/>
                </a:lnTo>
                <a:cubicBezTo>
                  <a:pt x="391716" y="0"/>
                  <a:pt x="413147" y="21630"/>
                  <a:pt x="412155" y="47823"/>
                </a:cubicBezTo>
                <a:cubicBezTo>
                  <a:pt x="411956" y="53082"/>
                  <a:pt x="411758" y="58341"/>
                  <a:pt x="411460" y="63500"/>
                </a:cubicBezTo>
                <a:lnTo>
                  <a:pt x="460673" y="63500"/>
                </a:lnTo>
                <a:cubicBezTo>
                  <a:pt x="486569" y="63500"/>
                  <a:pt x="509389" y="84931"/>
                  <a:pt x="507405" y="112911"/>
                </a:cubicBezTo>
                <a:cubicBezTo>
                  <a:pt x="499963" y="215801"/>
                  <a:pt x="447377" y="272355"/>
                  <a:pt x="390327" y="301923"/>
                </a:cubicBezTo>
                <a:cubicBezTo>
                  <a:pt x="374650" y="310059"/>
                  <a:pt x="358676" y="316111"/>
                  <a:pt x="343495" y="320576"/>
                </a:cubicBezTo>
                <a:cubicBezTo>
                  <a:pt x="323453" y="348952"/>
                  <a:pt x="302617" y="363934"/>
                  <a:pt x="286048" y="371971"/>
                </a:cubicBezTo>
                <a:lnTo>
                  <a:pt x="286048" y="444500"/>
                </a:lnTo>
                <a:lnTo>
                  <a:pt x="349548" y="444500"/>
                </a:lnTo>
                <a:cubicBezTo>
                  <a:pt x="367109" y="444500"/>
                  <a:pt x="381298" y="458688"/>
                  <a:pt x="381298" y="476250"/>
                </a:cubicBezTo>
                <a:cubicBezTo>
                  <a:pt x="381298" y="493812"/>
                  <a:pt x="367109" y="508000"/>
                  <a:pt x="349548" y="508000"/>
                </a:cubicBezTo>
                <a:lnTo>
                  <a:pt x="159048" y="508000"/>
                </a:lnTo>
                <a:cubicBezTo>
                  <a:pt x="141486" y="508000"/>
                  <a:pt x="127298" y="493812"/>
                  <a:pt x="127298" y="476250"/>
                </a:cubicBezTo>
                <a:cubicBezTo>
                  <a:pt x="127298" y="458688"/>
                  <a:pt x="141486" y="444500"/>
                  <a:pt x="159048" y="444500"/>
                </a:cubicBezTo>
                <a:lnTo>
                  <a:pt x="222548" y="444500"/>
                </a:lnTo>
                <a:lnTo>
                  <a:pt x="222548" y="371971"/>
                </a:lnTo>
                <a:cubicBezTo>
                  <a:pt x="206673" y="364331"/>
                  <a:pt x="186928" y="350143"/>
                  <a:pt x="167680" y="324048"/>
                </a:cubicBezTo>
                <a:cubicBezTo>
                  <a:pt x="149423" y="319286"/>
                  <a:pt x="129580" y="312043"/>
                  <a:pt x="110232" y="301129"/>
                </a:cubicBezTo>
                <a:cubicBezTo>
                  <a:pt x="56555" y="271066"/>
                  <a:pt x="8136" y="214412"/>
                  <a:pt x="1191" y="112712"/>
                </a:cubicBezTo>
                <a:cubicBezTo>
                  <a:pt x="-695" y="84832"/>
                  <a:pt x="22027" y="63401"/>
                  <a:pt x="47923" y="63401"/>
                </a:cubicBezTo>
                <a:lnTo>
                  <a:pt x="97135" y="63401"/>
                </a:lnTo>
                <a:cubicBezTo>
                  <a:pt x="96838" y="58241"/>
                  <a:pt x="96639" y="53082"/>
                  <a:pt x="96441" y="47724"/>
                </a:cubicBezTo>
                <a:cubicBezTo>
                  <a:pt x="95448" y="21431"/>
                  <a:pt x="116880" y="-99"/>
                  <a:pt x="143173" y="-99"/>
                </a:cubicBezTo>
                <a:close/>
                <a:moveTo>
                  <a:pt x="100707" y="111125"/>
                </a:moveTo>
                <a:lnTo>
                  <a:pt x="48716" y="111125"/>
                </a:lnTo>
                <a:cubicBezTo>
                  <a:pt x="54868" y="195163"/>
                  <a:pt x="93464" y="237232"/>
                  <a:pt x="133251" y="259556"/>
                </a:cubicBezTo>
                <a:cubicBezTo>
                  <a:pt x="118963" y="222548"/>
                  <a:pt x="107156" y="174228"/>
                  <a:pt x="100707" y="111125"/>
                </a:cubicBezTo>
                <a:close/>
                <a:moveTo>
                  <a:pt x="377031" y="254794"/>
                </a:moveTo>
                <a:cubicBezTo>
                  <a:pt x="417215" y="231180"/>
                  <a:pt x="453529" y="189210"/>
                  <a:pt x="459680" y="111125"/>
                </a:cubicBezTo>
                <a:lnTo>
                  <a:pt x="407789" y="111125"/>
                </a:lnTo>
                <a:cubicBezTo>
                  <a:pt x="401638" y="171549"/>
                  <a:pt x="390525" y="218480"/>
                  <a:pt x="377031" y="25479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0" y="2286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AI achieves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superhuman performance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on narrow tasks but lacks robustness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064000"/>
            <a:ext cx="66040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51000" y="450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0684" y="5159"/>
                </a:moveTo>
                <a:cubicBezTo>
                  <a:pt x="245467" y="-1687"/>
                  <a:pt x="262533" y="-1687"/>
                  <a:pt x="277316" y="5159"/>
                </a:cubicBezTo>
                <a:lnTo>
                  <a:pt x="494209" y="105370"/>
                </a:lnTo>
                <a:cubicBezTo>
                  <a:pt x="502642" y="109240"/>
                  <a:pt x="508000" y="117673"/>
                  <a:pt x="508000" y="127000"/>
                </a:cubicBezTo>
                <a:cubicBezTo>
                  <a:pt x="508000" y="136327"/>
                  <a:pt x="502642" y="144760"/>
                  <a:pt x="494209" y="148630"/>
                </a:cubicBezTo>
                <a:lnTo>
                  <a:pt x="277316" y="248841"/>
                </a:lnTo>
                <a:cubicBezTo>
                  <a:pt x="262533" y="255687"/>
                  <a:pt x="245467" y="255687"/>
                  <a:pt x="230684" y="248841"/>
                </a:cubicBezTo>
                <a:lnTo>
                  <a:pt x="13791" y="148630"/>
                </a:lnTo>
                <a:cubicBezTo>
                  <a:pt x="5358" y="144661"/>
                  <a:pt x="0" y="136227"/>
                  <a:pt x="0" y="127000"/>
                </a:cubicBezTo>
                <a:cubicBezTo>
                  <a:pt x="0" y="117773"/>
                  <a:pt x="5358" y="109240"/>
                  <a:pt x="13791" y="105370"/>
                </a:cubicBezTo>
                <a:lnTo>
                  <a:pt x="230684" y="5159"/>
                </a:lnTo>
                <a:close/>
                <a:moveTo>
                  <a:pt x="47724" y="216694"/>
                </a:moveTo>
                <a:lnTo>
                  <a:pt x="210741" y="292001"/>
                </a:lnTo>
                <a:cubicBezTo>
                  <a:pt x="238224" y="304701"/>
                  <a:pt x="269875" y="304701"/>
                  <a:pt x="297359" y="292001"/>
                </a:cubicBezTo>
                <a:lnTo>
                  <a:pt x="460375" y="216694"/>
                </a:lnTo>
                <a:lnTo>
                  <a:pt x="494209" y="232370"/>
                </a:lnTo>
                <a:cubicBezTo>
                  <a:pt x="502642" y="236240"/>
                  <a:pt x="508000" y="244673"/>
                  <a:pt x="508000" y="254000"/>
                </a:cubicBezTo>
                <a:cubicBezTo>
                  <a:pt x="508000" y="263327"/>
                  <a:pt x="502642" y="271760"/>
                  <a:pt x="494209" y="275630"/>
                </a:cubicBezTo>
                <a:lnTo>
                  <a:pt x="277316" y="375841"/>
                </a:lnTo>
                <a:cubicBezTo>
                  <a:pt x="262533" y="382687"/>
                  <a:pt x="245467" y="382687"/>
                  <a:pt x="230684" y="375841"/>
                </a:cubicBezTo>
                <a:lnTo>
                  <a:pt x="13791" y="275630"/>
                </a:lnTo>
                <a:cubicBezTo>
                  <a:pt x="5358" y="271661"/>
                  <a:pt x="0" y="263227"/>
                  <a:pt x="0" y="254000"/>
                </a:cubicBezTo>
                <a:cubicBezTo>
                  <a:pt x="0" y="244773"/>
                  <a:pt x="5358" y="236240"/>
                  <a:pt x="13791" y="232370"/>
                </a:cubicBezTo>
                <a:lnTo>
                  <a:pt x="47625" y="216694"/>
                </a:lnTo>
                <a:close/>
                <a:moveTo>
                  <a:pt x="13791" y="359370"/>
                </a:moveTo>
                <a:lnTo>
                  <a:pt x="47625" y="343694"/>
                </a:lnTo>
                <a:lnTo>
                  <a:pt x="210641" y="419001"/>
                </a:lnTo>
                <a:cubicBezTo>
                  <a:pt x="238125" y="431701"/>
                  <a:pt x="269776" y="431701"/>
                  <a:pt x="297259" y="419001"/>
                </a:cubicBezTo>
                <a:lnTo>
                  <a:pt x="460276" y="343694"/>
                </a:lnTo>
                <a:lnTo>
                  <a:pt x="494109" y="359370"/>
                </a:lnTo>
                <a:cubicBezTo>
                  <a:pt x="502543" y="363240"/>
                  <a:pt x="507901" y="371673"/>
                  <a:pt x="507901" y="381000"/>
                </a:cubicBezTo>
                <a:cubicBezTo>
                  <a:pt x="507901" y="390327"/>
                  <a:pt x="502543" y="398760"/>
                  <a:pt x="494109" y="402630"/>
                </a:cubicBezTo>
                <a:lnTo>
                  <a:pt x="277217" y="502841"/>
                </a:lnTo>
                <a:cubicBezTo>
                  <a:pt x="262434" y="509687"/>
                  <a:pt x="245368" y="509687"/>
                  <a:pt x="230584" y="502841"/>
                </a:cubicBezTo>
                <a:lnTo>
                  <a:pt x="13791" y="402630"/>
                </a:lnTo>
                <a:cubicBezTo>
                  <a:pt x="5358" y="398661"/>
                  <a:pt x="0" y="390227"/>
                  <a:pt x="0" y="381000"/>
                </a:cubicBezTo>
                <a:cubicBezTo>
                  <a:pt x="0" y="371773"/>
                  <a:pt x="5358" y="363240"/>
                  <a:pt x="13791" y="35937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2413000" y="4318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Multimodal integration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essential for general intelligence and real-world robustness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4064000"/>
            <a:ext cx="66040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63000" y="450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151" y="31750"/>
                </a:moveTo>
                <a:lnTo>
                  <a:pt x="146546" y="31750"/>
                </a:lnTo>
                <a:cubicBezTo>
                  <a:pt x="117376" y="31750"/>
                  <a:pt x="91877" y="51693"/>
                  <a:pt x="84931" y="79970"/>
                </a:cubicBezTo>
                <a:lnTo>
                  <a:pt x="1389" y="417215"/>
                </a:lnTo>
                <a:cubicBezTo>
                  <a:pt x="-6052" y="447179"/>
                  <a:pt x="16669" y="476250"/>
                  <a:pt x="47625" y="476250"/>
                </a:cubicBezTo>
                <a:lnTo>
                  <a:pt x="222151" y="476250"/>
                </a:lnTo>
                <a:lnTo>
                  <a:pt x="222151" y="412750"/>
                </a:lnTo>
                <a:cubicBezTo>
                  <a:pt x="222151" y="395188"/>
                  <a:pt x="236339" y="381000"/>
                  <a:pt x="253901" y="381000"/>
                </a:cubicBezTo>
                <a:cubicBezTo>
                  <a:pt x="271463" y="381000"/>
                  <a:pt x="285651" y="395188"/>
                  <a:pt x="285651" y="412750"/>
                </a:cubicBezTo>
                <a:lnTo>
                  <a:pt x="285651" y="476250"/>
                </a:lnTo>
                <a:lnTo>
                  <a:pt x="460375" y="476250"/>
                </a:lnTo>
                <a:cubicBezTo>
                  <a:pt x="491331" y="476250"/>
                  <a:pt x="514052" y="447179"/>
                  <a:pt x="506611" y="417215"/>
                </a:cubicBezTo>
                <a:lnTo>
                  <a:pt x="423168" y="79970"/>
                </a:lnTo>
                <a:cubicBezTo>
                  <a:pt x="416123" y="51693"/>
                  <a:pt x="390723" y="31750"/>
                  <a:pt x="361454" y="31750"/>
                </a:cubicBezTo>
                <a:lnTo>
                  <a:pt x="285651" y="31750"/>
                </a:lnTo>
                <a:lnTo>
                  <a:pt x="285651" y="95250"/>
                </a:lnTo>
                <a:cubicBezTo>
                  <a:pt x="285651" y="112812"/>
                  <a:pt x="271462" y="127000"/>
                  <a:pt x="253901" y="127000"/>
                </a:cubicBezTo>
                <a:cubicBezTo>
                  <a:pt x="236339" y="127000"/>
                  <a:pt x="222151" y="112812"/>
                  <a:pt x="222151" y="95250"/>
                </a:cubicBezTo>
                <a:lnTo>
                  <a:pt x="222151" y="31750"/>
                </a:lnTo>
                <a:close/>
                <a:moveTo>
                  <a:pt x="285651" y="222250"/>
                </a:moveTo>
                <a:lnTo>
                  <a:pt x="285651" y="285750"/>
                </a:lnTo>
                <a:cubicBezTo>
                  <a:pt x="285651" y="303312"/>
                  <a:pt x="271462" y="317500"/>
                  <a:pt x="253901" y="317500"/>
                </a:cubicBezTo>
                <a:cubicBezTo>
                  <a:pt x="236339" y="317500"/>
                  <a:pt x="222151" y="303312"/>
                  <a:pt x="222151" y="285750"/>
                </a:cubicBezTo>
                <a:lnTo>
                  <a:pt x="222151" y="222250"/>
                </a:lnTo>
                <a:cubicBezTo>
                  <a:pt x="222151" y="204688"/>
                  <a:pt x="236339" y="190500"/>
                  <a:pt x="253901" y="190500"/>
                </a:cubicBezTo>
                <a:cubicBezTo>
                  <a:pt x="271462" y="190500"/>
                  <a:pt x="285651" y="204688"/>
                  <a:pt x="285651" y="2222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0" y="4318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challenge: moving from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pattern matching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genuine understanding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6096000"/>
            <a:ext cx="13716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1778000" y="62865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Directions: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Neuromorphic computing · Active perception · World models · Few-shot learning · Causal perception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 of AGI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essential building blocks of Artificial General Intelligence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Artificial General Intelligence?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97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3543" y="38100"/>
                </a:moveTo>
                <a:cubicBezTo>
                  <a:pt x="19458" y="38100"/>
                  <a:pt x="0" y="55126"/>
                  <a:pt x="0" y="76200"/>
                </a:cubicBezTo>
                <a:lnTo>
                  <a:pt x="0" y="190500"/>
                </a:lnTo>
                <a:cubicBezTo>
                  <a:pt x="0" y="211574"/>
                  <a:pt x="19458" y="228600"/>
                  <a:pt x="43543" y="228600"/>
                </a:cubicBezTo>
                <a:cubicBezTo>
                  <a:pt x="67628" y="228600"/>
                  <a:pt x="87086" y="211574"/>
                  <a:pt x="87086" y="190500"/>
                </a:cubicBezTo>
                <a:lnTo>
                  <a:pt x="87086" y="114300"/>
                </a:lnTo>
                <a:lnTo>
                  <a:pt x="174171" y="114300"/>
                </a:lnTo>
                <a:cubicBezTo>
                  <a:pt x="198256" y="114300"/>
                  <a:pt x="217714" y="97274"/>
                  <a:pt x="217714" y="76200"/>
                </a:cubicBezTo>
                <a:cubicBezTo>
                  <a:pt x="217714" y="55126"/>
                  <a:pt x="198256" y="38100"/>
                  <a:pt x="174171" y="38100"/>
                </a:cubicBezTo>
                <a:lnTo>
                  <a:pt x="43543" y="38100"/>
                </a:lnTo>
                <a:close/>
                <a:moveTo>
                  <a:pt x="87086" y="419100"/>
                </a:moveTo>
                <a:cubicBezTo>
                  <a:pt x="87086" y="398026"/>
                  <a:pt x="67628" y="381000"/>
                  <a:pt x="43543" y="381000"/>
                </a:cubicBezTo>
                <a:cubicBezTo>
                  <a:pt x="19458" y="381000"/>
                  <a:pt x="0" y="398026"/>
                  <a:pt x="0" y="419100"/>
                </a:cubicBezTo>
                <a:lnTo>
                  <a:pt x="0" y="533400"/>
                </a:lnTo>
                <a:cubicBezTo>
                  <a:pt x="0" y="554474"/>
                  <a:pt x="19458" y="571500"/>
                  <a:pt x="43543" y="571500"/>
                </a:cubicBezTo>
                <a:lnTo>
                  <a:pt x="174171" y="571500"/>
                </a:lnTo>
                <a:cubicBezTo>
                  <a:pt x="198256" y="571500"/>
                  <a:pt x="217714" y="554474"/>
                  <a:pt x="217714" y="533400"/>
                </a:cubicBezTo>
                <a:cubicBezTo>
                  <a:pt x="217714" y="512326"/>
                  <a:pt x="198256" y="495300"/>
                  <a:pt x="174171" y="495300"/>
                </a:cubicBezTo>
                <a:lnTo>
                  <a:pt x="87086" y="495300"/>
                </a:lnTo>
                <a:lnTo>
                  <a:pt x="87086" y="419100"/>
                </a:lnTo>
                <a:close/>
                <a:moveTo>
                  <a:pt x="435429" y="38100"/>
                </a:moveTo>
                <a:cubicBezTo>
                  <a:pt x="411344" y="38100"/>
                  <a:pt x="391886" y="55126"/>
                  <a:pt x="391886" y="76200"/>
                </a:cubicBezTo>
                <a:cubicBezTo>
                  <a:pt x="391886" y="97274"/>
                  <a:pt x="411344" y="114300"/>
                  <a:pt x="435429" y="114300"/>
                </a:cubicBezTo>
                <a:lnTo>
                  <a:pt x="522514" y="114300"/>
                </a:lnTo>
                <a:lnTo>
                  <a:pt x="522514" y="190500"/>
                </a:lnTo>
                <a:cubicBezTo>
                  <a:pt x="522514" y="211574"/>
                  <a:pt x="541973" y="228600"/>
                  <a:pt x="566057" y="228600"/>
                </a:cubicBezTo>
                <a:cubicBezTo>
                  <a:pt x="590142" y="228600"/>
                  <a:pt x="609600" y="211574"/>
                  <a:pt x="609600" y="190500"/>
                </a:cubicBezTo>
                <a:lnTo>
                  <a:pt x="609600" y="76200"/>
                </a:lnTo>
                <a:cubicBezTo>
                  <a:pt x="609600" y="55126"/>
                  <a:pt x="590142" y="38100"/>
                  <a:pt x="566057" y="38100"/>
                </a:cubicBezTo>
                <a:lnTo>
                  <a:pt x="435429" y="38100"/>
                </a:lnTo>
                <a:close/>
                <a:moveTo>
                  <a:pt x="609600" y="419100"/>
                </a:moveTo>
                <a:cubicBezTo>
                  <a:pt x="609600" y="398026"/>
                  <a:pt x="590142" y="381000"/>
                  <a:pt x="566057" y="381000"/>
                </a:cubicBezTo>
                <a:cubicBezTo>
                  <a:pt x="541973" y="381000"/>
                  <a:pt x="522514" y="398026"/>
                  <a:pt x="522514" y="419100"/>
                </a:cubicBezTo>
                <a:lnTo>
                  <a:pt x="522514" y="495300"/>
                </a:lnTo>
                <a:lnTo>
                  <a:pt x="435429" y="495300"/>
                </a:lnTo>
                <a:cubicBezTo>
                  <a:pt x="411344" y="495300"/>
                  <a:pt x="391886" y="512326"/>
                  <a:pt x="391886" y="533400"/>
                </a:cubicBezTo>
                <a:cubicBezTo>
                  <a:pt x="391886" y="554474"/>
                  <a:pt x="411344" y="571500"/>
                  <a:pt x="435429" y="571500"/>
                </a:cubicBezTo>
                <a:lnTo>
                  <a:pt x="566057" y="571500"/>
                </a:lnTo>
                <a:cubicBezTo>
                  <a:pt x="590142" y="571500"/>
                  <a:pt x="609600" y="554474"/>
                  <a:pt x="609600" y="533400"/>
                </a:cubicBezTo>
                <a:lnTo>
                  <a:pt x="609600" y="4191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35560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Handle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novel tasks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without task-specific training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Unlike Narrow AI (chess, recommendations), AGI adapts to any domain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96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80774" y="40957"/>
                </a:moveTo>
                <a:cubicBezTo>
                  <a:pt x="495062" y="35004"/>
                  <a:pt x="511373" y="38338"/>
                  <a:pt x="522327" y="49173"/>
                </a:cubicBezTo>
                <a:lnTo>
                  <a:pt x="598527" y="125373"/>
                </a:lnTo>
                <a:cubicBezTo>
                  <a:pt x="605671" y="132517"/>
                  <a:pt x="609719" y="142161"/>
                  <a:pt x="609719" y="152281"/>
                </a:cubicBezTo>
                <a:cubicBezTo>
                  <a:pt x="609719" y="162401"/>
                  <a:pt x="605671" y="172045"/>
                  <a:pt x="598527" y="179189"/>
                </a:cubicBezTo>
                <a:lnTo>
                  <a:pt x="522327" y="255389"/>
                </a:lnTo>
                <a:cubicBezTo>
                  <a:pt x="511373" y="266343"/>
                  <a:pt x="495062" y="269558"/>
                  <a:pt x="480774" y="263604"/>
                </a:cubicBezTo>
                <a:cubicBezTo>
                  <a:pt x="466487" y="257651"/>
                  <a:pt x="457200" y="243959"/>
                  <a:pt x="457200" y="228600"/>
                </a:cubicBezTo>
                <a:lnTo>
                  <a:pt x="457200" y="190500"/>
                </a:lnTo>
                <a:lnTo>
                  <a:pt x="419100" y="190500"/>
                </a:lnTo>
                <a:cubicBezTo>
                  <a:pt x="407075" y="190500"/>
                  <a:pt x="395764" y="196096"/>
                  <a:pt x="388620" y="205740"/>
                </a:cubicBezTo>
                <a:lnTo>
                  <a:pt x="350044" y="257175"/>
                </a:lnTo>
                <a:lnTo>
                  <a:pt x="302419" y="193715"/>
                </a:lnTo>
                <a:lnTo>
                  <a:pt x="327660" y="160020"/>
                </a:lnTo>
                <a:cubicBezTo>
                  <a:pt x="349210" y="131207"/>
                  <a:pt x="383143" y="114300"/>
                  <a:pt x="419100" y="114300"/>
                </a:cubicBezTo>
                <a:lnTo>
                  <a:pt x="457200" y="114300"/>
                </a:lnTo>
                <a:lnTo>
                  <a:pt x="457200" y="76200"/>
                </a:lnTo>
                <a:cubicBezTo>
                  <a:pt x="457200" y="60841"/>
                  <a:pt x="466487" y="46911"/>
                  <a:pt x="480774" y="40957"/>
                </a:cubicBezTo>
                <a:close/>
                <a:moveTo>
                  <a:pt x="183356" y="352425"/>
                </a:moveTo>
                <a:lnTo>
                  <a:pt x="230981" y="415885"/>
                </a:lnTo>
                <a:lnTo>
                  <a:pt x="205740" y="449580"/>
                </a:lnTo>
                <a:cubicBezTo>
                  <a:pt x="184190" y="478393"/>
                  <a:pt x="150257" y="495300"/>
                  <a:pt x="114300" y="495300"/>
                </a:cubicBezTo>
                <a:lnTo>
                  <a:pt x="38100" y="495300"/>
                </a:lnTo>
                <a:cubicBezTo>
                  <a:pt x="17026" y="495300"/>
                  <a:pt x="0" y="478274"/>
                  <a:pt x="0" y="457200"/>
                </a:cubicBezTo>
                <a:cubicBezTo>
                  <a:pt x="0" y="436126"/>
                  <a:pt x="17026" y="419100"/>
                  <a:pt x="38100" y="419100"/>
                </a:cubicBezTo>
                <a:lnTo>
                  <a:pt x="114300" y="419100"/>
                </a:lnTo>
                <a:cubicBezTo>
                  <a:pt x="126325" y="419100"/>
                  <a:pt x="137636" y="413504"/>
                  <a:pt x="144780" y="403860"/>
                </a:cubicBezTo>
                <a:lnTo>
                  <a:pt x="183356" y="352425"/>
                </a:lnTo>
                <a:close/>
                <a:moveTo>
                  <a:pt x="522208" y="560308"/>
                </a:moveTo>
                <a:cubicBezTo>
                  <a:pt x="511254" y="571262"/>
                  <a:pt x="494943" y="574477"/>
                  <a:pt x="480655" y="568523"/>
                </a:cubicBezTo>
                <a:cubicBezTo>
                  <a:pt x="466368" y="562570"/>
                  <a:pt x="457200" y="548759"/>
                  <a:pt x="457200" y="533400"/>
                </a:cubicBezTo>
                <a:lnTo>
                  <a:pt x="457200" y="495300"/>
                </a:lnTo>
                <a:lnTo>
                  <a:pt x="419100" y="495300"/>
                </a:lnTo>
                <a:cubicBezTo>
                  <a:pt x="383143" y="495300"/>
                  <a:pt x="349210" y="478393"/>
                  <a:pt x="327660" y="449580"/>
                </a:cubicBezTo>
                <a:lnTo>
                  <a:pt x="144780" y="205740"/>
                </a:lnTo>
                <a:cubicBezTo>
                  <a:pt x="137636" y="196096"/>
                  <a:pt x="126325" y="190500"/>
                  <a:pt x="114300" y="190500"/>
                </a:cubicBezTo>
                <a:lnTo>
                  <a:pt x="38100" y="190500"/>
                </a:lnTo>
                <a:cubicBezTo>
                  <a:pt x="17026" y="190500"/>
                  <a:pt x="0" y="173474"/>
                  <a:pt x="0" y="152400"/>
                </a:cubicBezTo>
                <a:cubicBezTo>
                  <a:pt x="0" y="131326"/>
                  <a:pt x="17026" y="114300"/>
                  <a:pt x="38100" y="114300"/>
                </a:cubicBezTo>
                <a:lnTo>
                  <a:pt x="114300" y="114300"/>
                </a:lnTo>
                <a:cubicBezTo>
                  <a:pt x="150257" y="114300"/>
                  <a:pt x="184190" y="131207"/>
                  <a:pt x="205740" y="160020"/>
                </a:cubicBezTo>
                <a:lnTo>
                  <a:pt x="388620" y="403860"/>
                </a:lnTo>
                <a:cubicBezTo>
                  <a:pt x="395764" y="413504"/>
                  <a:pt x="407075" y="419100"/>
                  <a:pt x="419100" y="419100"/>
                </a:cubicBezTo>
                <a:lnTo>
                  <a:pt x="457200" y="419100"/>
                </a:lnTo>
                <a:lnTo>
                  <a:pt x="457200" y="381000"/>
                </a:lnTo>
                <a:cubicBezTo>
                  <a:pt x="457200" y="365641"/>
                  <a:pt x="466487" y="351711"/>
                  <a:pt x="480774" y="345758"/>
                </a:cubicBezTo>
                <a:cubicBezTo>
                  <a:pt x="495062" y="339804"/>
                  <a:pt x="511373" y="343138"/>
                  <a:pt x="522327" y="353973"/>
                </a:cubicBezTo>
                <a:lnTo>
                  <a:pt x="598527" y="430173"/>
                </a:lnTo>
                <a:cubicBezTo>
                  <a:pt x="605671" y="437317"/>
                  <a:pt x="609719" y="446961"/>
                  <a:pt x="609719" y="457081"/>
                </a:cubicBezTo>
                <a:cubicBezTo>
                  <a:pt x="609719" y="467201"/>
                  <a:pt x="605671" y="476845"/>
                  <a:pt x="598527" y="483989"/>
                </a:cubicBezTo>
                <a:lnTo>
                  <a:pt x="522327" y="560189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Learning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23000" y="35560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Apply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across domains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Skills learned in one context transfer to new, unseen problems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558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395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38100"/>
                </a:moveTo>
                <a:cubicBezTo>
                  <a:pt x="93226" y="38100"/>
                  <a:pt x="76200" y="55126"/>
                  <a:pt x="76200" y="76200"/>
                </a:cubicBezTo>
                <a:cubicBezTo>
                  <a:pt x="76200" y="97274"/>
                  <a:pt x="93226" y="114300"/>
                  <a:pt x="114300" y="114300"/>
                </a:cubicBezTo>
                <a:lnTo>
                  <a:pt x="136565" y="114300"/>
                </a:lnTo>
                <a:lnTo>
                  <a:pt x="11192" y="239792"/>
                </a:lnTo>
                <a:cubicBezTo>
                  <a:pt x="-3691" y="254675"/>
                  <a:pt x="-3691" y="278844"/>
                  <a:pt x="11192" y="293727"/>
                </a:cubicBezTo>
                <a:cubicBezTo>
                  <a:pt x="26075" y="308610"/>
                  <a:pt x="50244" y="308610"/>
                  <a:pt x="65127" y="293727"/>
                </a:cubicBezTo>
                <a:lnTo>
                  <a:pt x="190500" y="168235"/>
                </a:lnTo>
                <a:lnTo>
                  <a:pt x="190500" y="190500"/>
                </a:lnTo>
                <a:cubicBezTo>
                  <a:pt x="190500" y="211574"/>
                  <a:pt x="207526" y="228600"/>
                  <a:pt x="228600" y="228600"/>
                </a:cubicBezTo>
                <a:cubicBezTo>
                  <a:pt x="249674" y="228600"/>
                  <a:pt x="266700" y="211574"/>
                  <a:pt x="266700" y="190500"/>
                </a:cubicBezTo>
                <a:lnTo>
                  <a:pt x="266700" y="76200"/>
                </a:lnTo>
                <a:cubicBezTo>
                  <a:pt x="266700" y="55126"/>
                  <a:pt x="249674" y="38100"/>
                  <a:pt x="228600" y="38100"/>
                </a:cubicBezTo>
                <a:lnTo>
                  <a:pt x="114300" y="38100"/>
                </a:lnTo>
                <a:close/>
                <a:moveTo>
                  <a:pt x="480774" y="83463"/>
                </a:moveTo>
                <a:cubicBezTo>
                  <a:pt x="480774" y="99669"/>
                  <a:pt x="489420" y="114645"/>
                  <a:pt x="503456" y="122748"/>
                </a:cubicBezTo>
                <a:cubicBezTo>
                  <a:pt x="517491" y="130851"/>
                  <a:pt x="534783" y="130851"/>
                  <a:pt x="548819" y="122748"/>
                </a:cubicBezTo>
                <a:cubicBezTo>
                  <a:pt x="562854" y="114645"/>
                  <a:pt x="571500" y="99669"/>
                  <a:pt x="571500" y="83463"/>
                </a:cubicBezTo>
                <a:cubicBezTo>
                  <a:pt x="571500" y="67256"/>
                  <a:pt x="562854" y="52281"/>
                  <a:pt x="548819" y="44177"/>
                </a:cubicBezTo>
                <a:cubicBezTo>
                  <a:pt x="534783" y="36074"/>
                  <a:pt x="517491" y="36074"/>
                  <a:pt x="503456" y="44177"/>
                </a:cubicBezTo>
                <a:cubicBezTo>
                  <a:pt x="489420" y="52281"/>
                  <a:pt x="480774" y="67256"/>
                  <a:pt x="480774" y="83463"/>
                </a:cubicBezTo>
                <a:close/>
                <a:moveTo>
                  <a:pt x="333018" y="231219"/>
                </a:moveTo>
                <a:cubicBezTo>
                  <a:pt x="333018" y="247426"/>
                  <a:pt x="341664" y="262401"/>
                  <a:pt x="355699" y="270505"/>
                </a:cubicBezTo>
                <a:cubicBezTo>
                  <a:pt x="369735" y="278608"/>
                  <a:pt x="387027" y="278608"/>
                  <a:pt x="401062" y="270505"/>
                </a:cubicBezTo>
                <a:cubicBezTo>
                  <a:pt x="415097" y="262401"/>
                  <a:pt x="423743" y="247426"/>
                  <a:pt x="423743" y="231219"/>
                </a:cubicBezTo>
                <a:cubicBezTo>
                  <a:pt x="423743" y="215013"/>
                  <a:pt x="415097" y="200037"/>
                  <a:pt x="401062" y="191934"/>
                </a:cubicBezTo>
                <a:cubicBezTo>
                  <a:pt x="387027" y="183831"/>
                  <a:pt x="369735" y="183831"/>
                  <a:pt x="355699" y="191934"/>
                </a:cubicBezTo>
                <a:cubicBezTo>
                  <a:pt x="341664" y="200037"/>
                  <a:pt x="333018" y="215013"/>
                  <a:pt x="333018" y="231219"/>
                </a:cubicBezTo>
                <a:close/>
                <a:moveTo>
                  <a:pt x="526137" y="185857"/>
                </a:moveTo>
                <a:cubicBezTo>
                  <a:pt x="501101" y="185857"/>
                  <a:pt x="480774" y="206183"/>
                  <a:pt x="480774" y="231219"/>
                </a:cubicBezTo>
                <a:cubicBezTo>
                  <a:pt x="480774" y="256256"/>
                  <a:pt x="501101" y="276582"/>
                  <a:pt x="526137" y="276582"/>
                </a:cubicBezTo>
                <a:cubicBezTo>
                  <a:pt x="542344" y="276582"/>
                  <a:pt x="557319" y="267936"/>
                  <a:pt x="565423" y="253901"/>
                </a:cubicBezTo>
                <a:cubicBezTo>
                  <a:pt x="573526" y="239865"/>
                  <a:pt x="573526" y="222573"/>
                  <a:pt x="565423" y="208538"/>
                </a:cubicBezTo>
                <a:cubicBezTo>
                  <a:pt x="557319" y="194503"/>
                  <a:pt x="542344" y="185857"/>
                  <a:pt x="526137" y="185857"/>
                </a:cubicBezTo>
                <a:close/>
                <a:moveTo>
                  <a:pt x="185976" y="378381"/>
                </a:moveTo>
                <a:cubicBezTo>
                  <a:pt x="185976" y="394587"/>
                  <a:pt x="194622" y="409563"/>
                  <a:pt x="208657" y="417666"/>
                </a:cubicBezTo>
                <a:cubicBezTo>
                  <a:pt x="222692" y="425769"/>
                  <a:pt x="239985" y="425769"/>
                  <a:pt x="254020" y="417666"/>
                </a:cubicBezTo>
                <a:cubicBezTo>
                  <a:pt x="268055" y="409563"/>
                  <a:pt x="276701" y="394587"/>
                  <a:pt x="276701" y="378381"/>
                </a:cubicBezTo>
                <a:cubicBezTo>
                  <a:pt x="276701" y="362174"/>
                  <a:pt x="268055" y="347199"/>
                  <a:pt x="254020" y="339095"/>
                </a:cubicBezTo>
                <a:cubicBezTo>
                  <a:pt x="239985" y="330992"/>
                  <a:pt x="222692" y="330992"/>
                  <a:pt x="208657" y="339095"/>
                </a:cubicBezTo>
                <a:cubicBezTo>
                  <a:pt x="194622" y="347199"/>
                  <a:pt x="185976" y="362174"/>
                  <a:pt x="185976" y="378381"/>
                </a:cubicBezTo>
                <a:close/>
                <a:moveTo>
                  <a:pt x="378381" y="333018"/>
                </a:moveTo>
                <a:cubicBezTo>
                  <a:pt x="362174" y="333018"/>
                  <a:pt x="347199" y="341664"/>
                  <a:pt x="339095" y="355699"/>
                </a:cubicBezTo>
                <a:cubicBezTo>
                  <a:pt x="330992" y="369735"/>
                  <a:pt x="330992" y="387027"/>
                  <a:pt x="339095" y="401062"/>
                </a:cubicBezTo>
                <a:cubicBezTo>
                  <a:pt x="347199" y="415097"/>
                  <a:pt x="362174" y="423743"/>
                  <a:pt x="378381" y="423743"/>
                </a:cubicBezTo>
                <a:cubicBezTo>
                  <a:pt x="394587" y="423743"/>
                  <a:pt x="409563" y="415097"/>
                  <a:pt x="417666" y="401062"/>
                </a:cubicBezTo>
                <a:cubicBezTo>
                  <a:pt x="425769" y="387027"/>
                  <a:pt x="425769" y="369735"/>
                  <a:pt x="417666" y="355699"/>
                </a:cubicBezTo>
                <a:cubicBezTo>
                  <a:pt x="409563" y="341664"/>
                  <a:pt x="394587" y="333018"/>
                  <a:pt x="378381" y="333018"/>
                </a:cubicBezTo>
                <a:close/>
                <a:moveTo>
                  <a:pt x="480893" y="378381"/>
                </a:moveTo>
                <a:cubicBezTo>
                  <a:pt x="480893" y="394587"/>
                  <a:pt x="489540" y="409563"/>
                  <a:pt x="503575" y="417666"/>
                </a:cubicBezTo>
                <a:cubicBezTo>
                  <a:pt x="517610" y="425769"/>
                  <a:pt x="534902" y="425769"/>
                  <a:pt x="548938" y="417666"/>
                </a:cubicBezTo>
                <a:cubicBezTo>
                  <a:pt x="562973" y="409563"/>
                  <a:pt x="571619" y="394587"/>
                  <a:pt x="571619" y="378381"/>
                </a:cubicBezTo>
                <a:cubicBezTo>
                  <a:pt x="571619" y="353344"/>
                  <a:pt x="551293" y="333018"/>
                  <a:pt x="526256" y="333018"/>
                </a:cubicBezTo>
                <a:cubicBezTo>
                  <a:pt x="501220" y="333018"/>
                  <a:pt x="480893" y="353344"/>
                  <a:pt x="480893" y="378381"/>
                </a:cubicBezTo>
                <a:close/>
                <a:moveTo>
                  <a:pt x="83463" y="480774"/>
                </a:moveTo>
                <a:cubicBezTo>
                  <a:pt x="67256" y="480774"/>
                  <a:pt x="52281" y="489420"/>
                  <a:pt x="44177" y="503456"/>
                </a:cubicBezTo>
                <a:cubicBezTo>
                  <a:pt x="36074" y="517491"/>
                  <a:pt x="36074" y="534783"/>
                  <a:pt x="44177" y="548819"/>
                </a:cubicBezTo>
                <a:cubicBezTo>
                  <a:pt x="52281" y="562854"/>
                  <a:pt x="67256" y="571500"/>
                  <a:pt x="83463" y="571500"/>
                </a:cubicBezTo>
                <a:cubicBezTo>
                  <a:pt x="99669" y="571500"/>
                  <a:pt x="114645" y="562854"/>
                  <a:pt x="122748" y="548819"/>
                </a:cubicBezTo>
                <a:cubicBezTo>
                  <a:pt x="130851" y="534783"/>
                  <a:pt x="130851" y="517491"/>
                  <a:pt x="122748" y="503456"/>
                </a:cubicBezTo>
                <a:cubicBezTo>
                  <a:pt x="114645" y="489420"/>
                  <a:pt x="99669" y="480774"/>
                  <a:pt x="83463" y="480774"/>
                </a:cubicBezTo>
                <a:close/>
                <a:moveTo>
                  <a:pt x="185976" y="526137"/>
                </a:moveTo>
                <a:cubicBezTo>
                  <a:pt x="185976" y="542344"/>
                  <a:pt x="194622" y="557319"/>
                  <a:pt x="208657" y="565423"/>
                </a:cubicBezTo>
                <a:cubicBezTo>
                  <a:pt x="222692" y="573526"/>
                  <a:pt x="239985" y="573526"/>
                  <a:pt x="254020" y="565423"/>
                </a:cubicBezTo>
                <a:cubicBezTo>
                  <a:pt x="268055" y="557319"/>
                  <a:pt x="276701" y="542344"/>
                  <a:pt x="276701" y="526137"/>
                </a:cubicBezTo>
                <a:cubicBezTo>
                  <a:pt x="276701" y="509931"/>
                  <a:pt x="268055" y="494955"/>
                  <a:pt x="254020" y="486852"/>
                </a:cubicBezTo>
                <a:cubicBezTo>
                  <a:pt x="239985" y="478749"/>
                  <a:pt x="222692" y="478749"/>
                  <a:pt x="208657" y="486852"/>
                </a:cubicBezTo>
                <a:cubicBezTo>
                  <a:pt x="194622" y="494955"/>
                  <a:pt x="185976" y="509931"/>
                  <a:pt x="185976" y="526137"/>
                </a:cubicBezTo>
                <a:close/>
                <a:moveTo>
                  <a:pt x="378381" y="480774"/>
                </a:moveTo>
                <a:cubicBezTo>
                  <a:pt x="362174" y="480774"/>
                  <a:pt x="347199" y="489420"/>
                  <a:pt x="339095" y="503456"/>
                </a:cubicBezTo>
                <a:cubicBezTo>
                  <a:pt x="330992" y="517491"/>
                  <a:pt x="330992" y="534783"/>
                  <a:pt x="339095" y="548819"/>
                </a:cubicBezTo>
                <a:cubicBezTo>
                  <a:pt x="347199" y="562854"/>
                  <a:pt x="362174" y="571500"/>
                  <a:pt x="378381" y="571500"/>
                </a:cubicBezTo>
                <a:cubicBezTo>
                  <a:pt x="394587" y="571500"/>
                  <a:pt x="409563" y="562854"/>
                  <a:pt x="417666" y="548819"/>
                </a:cubicBezTo>
                <a:cubicBezTo>
                  <a:pt x="425769" y="534783"/>
                  <a:pt x="425769" y="517491"/>
                  <a:pt x="417666" y="503456"/>
                </a:cubicBezTo>
                <a:cubicBezTo>
                  <a:pt x="409563" y="489420"/>
                  <a:pt x="394587" y="480774"/>
                  <a:pt x="378381" y="480774"/>
                </a:cubicBezTo>
                <a:close/>
                <a:moveTo>
                  <a:pt x="480893" y="526137"/>
                </a:moveTo>
                <a:cubicBezTo>
                  <a:pt x="480893" y="542344"/>
                  <a:pt x="489540" y="557319"/>
                  <a:pt x="503575" y="565423"/>
                </a:cubicBezTo>
                <a:cubicBezTo>
                  <a:pt x="517610" y="573526"/>
                  <a:pt x="534902" y="573526"/>
                  <a:pt x="548938" y="565423"/>
                </a:cubicBezTo>
                <a:cubicBezTo>
                  <a:pt x="562973" y="557319"/>
                  <a:pt x="571619" y="542344"/>
                  <a:pt x="571619" y="526137"/>
                </a:cubicBezTo>
                <a:cubicBezTo>
                  <a:pt x="571619" y="501101"/>
                  <a:pt x="551293" y="480774"/>
                  <a:pt x="526256" y="480774"/>
                </a:cubicBezTo>
                <a:cubicBezTo>
                  <a:pt x="501220" y="480774"/>
                  <a:pt x="480893" y="501101"/>
                  <a:pt x="480893" y="52613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Self-Improvement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22000" y="35560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Enhance own capabilities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over time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Recursive self-refinement and autonomous goal-setting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70000" y="7747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 contrast: Narrow AI excels in single domains (chess, Go, protein folding) but fails outside them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AGI Architecture: An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68500"/>
            <a:ext cx="13716000" cy="698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524000" y="1968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Meta-Cognitive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91000" y="1968500"/>
            <a:ext cx="1054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Self-monitoring · Goal management · Resource allocation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823200" y="2667000"/>
            <a:ext cx="304800" cy="254000"/>
          </a:xfrm>
          <a:custGeom>
            <a:avLst/>
            <a:gdLst/>
            <a:ahLst/>
            <a:cxnLst/>
            <a:rect l="l" t="t" r="r" b="b"/>
            <a:pathLst>
              <a:path w="304800" h="254000">
                <a:moveTo>
                  <a:pt x="134461" y="249337"/>
                </a:moveTo>
                <a:cubicBezTo>
                  <a:pt x="144383" y="255538"/>
                  <a:pt x="160496" y="255538"/>
                  <a:pt x="170418" y="249337"/>
                </a:cubicBezTo>
                <a:lnTo>
                  <a:pt x="297418" y="169962"/>
                </a:lnTo>
                <a:cubicBezTo>
                  <a:pt x="307340" y="163761"/>
                  <a:pt x="307340" y="153690"/>
                  <a:pt x="297418" y="147489"/>
                </a:cubicBezTo>
                <a:cubicBezTo>
                  <a:pt x="287496" y="141288"/>
                  <a:pt x="271383" y="141288"/>
                  <a:pt x="261461" y="147489"/>
                </a:cubicBezTo>
                <a:lnTo>
                  <a:pt x="177800" y="199777"/>
                </a:lnTo>
                <a:lnTo>
                  <a:pt x="177800" y="15875"/>
                </a:lnTo>
                <a:cubicBezTo>
                  <a:pt x="177800" y="7094"/>
                  <a:pt x="166449" y="0"/>
                  <a:pt x="152400" y="0"/>
                </a:cubicBezTo>
                <a:cubicBezTo>
                  <a:pt x="138351" y="0"/>
                  <a:pt x="127000" y="7094"/>
                  <a:pt x="127000" y="15875"/>
                </a:cubicBezTo>
                <a:lnTo>
                  <a:pt x="127000" y="199777"/>
                </a:lnTo>
                <a:lnTo>
                  <a:pt x="43339" y="147489"/>
                </a:lnTo>
                <a:cubicBezTo>
                  <a:pt x="33417" y="141287"/>
                  <a:pt x="17304" y="141287"/>
                  <a:pt x="7382" y="147489"/>
                </a:cubicBezTo>
                <a:cubicBezTo>
                  <a:pt x="-2540" y="153690"/>
                  <a:pt x="-2540" y="163761"/>
                  <a:pt x="7382" y="169962"/>
                </a:cubicBezTo>
                <a:lnTo>
                  <a:pt x="134382" y="249337"/>
                </a:lnTo>
                <a:close/>
              </a:path>
            </a:pathLst>
          </a:custGeom>
          <a:solidFill>
            <a:srgbClr val="6B9CBF"/>
          </a:solidFill>
          <a:ln/>
        </p:spPr>
      </p:sp>
      <p:sp>
        <p:nvSpPr>
          <p:cNvPr id="8" name="Shape 6"/>
          <p:cNvSpPr/>
          <p:nvPr/>
        </p:nvSpPr>
        <p:spPr>
          <a:xfrm>
            <a:off x="1270000" y="2921000"/>
            <a:ext cx="13716000" cy="698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>
                  <a:alpha val="80000"/>
                </a:srgbClr>
              </a:gs>
              <a:gs pos="100000">
                <a:srgbClr val="2E5E8A"/>
              </a:gs>
            </a:gsLst>
            <a:lin ang="0" scaled="1"/>
          </a:gradFill>
          <a:ln/>
        </p:spPr>
      </p:sp>
      <p:sp>
        <p:nvSpPr>
          <p:cNvPr id="9" name="Text 7"/>
          <p:cNvSpPr/>
          <p:nvPr/>
        </p:nvSpPr>
        <p:spPr>
          <a:xfrm>
            <a:off x="1524000" y="2921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Action Layer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91000" y="2921000"/>
            <a:ext cx="1054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Decision-making · Motor control · Communication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823200" y="3619500"/>
            <a:ext cx="304800" cy="254000"/>
          </a:xfrm>
          <a:custGeom>
            <a:avLst/>
            <a:gdLst/>
            <a:ahLst/>
            <a:cxnLst/>
            <a:rect l="l" t="t" r="r" b="b"/>
            <a:pathLst>
              <a:path w="304800" h="254000">
                <a:moveTo>
                  <a:pt x="134461" y="249337"/>
                </a:moveTo>
                <a:cubicBezTo>
                  <a:pt x="144383" y="255538"/>
                  <a:pt x="160496" y="255538"/>
                  <a:pt x="170418" y="249337"/>
                </a:cubicBezTo>
                <a:lnTo>
                  <a:pt x="297418" y="169962"/>
                </a:lnTo>
                <a:cubicBezTo>
                  <a:pt x="307340" y="163761"/>
                  <a:pt x="307340" y="153690"/>
                  <a:pt x="297418" y="147489"/>
                </a:cubicBezTo>
                <a:cubicBezTo>
                  <a:pt x="287496" y="141288"/>
                  <a:pt x="271383" y="141288"/>
                  <a:pt x="261461" y="147489"/>
                </a:cubicBezTo>
                <a:lnTo>
                  <a:pt x="177800" y="199777"/>
                </a:lnTo>
                <a:lnTo>
                  <a:pt x="177800" y="15875"/>
                </a:lnTo>
                <a:cubicBezTo>
                  <a:pt x="177800" y="7094"/>
                  <a:pt x="166449" y="0"/>
                  <a:pt x="152400" y="0"/>
                </a:cubicBezTo>
                <a:cubicBezTo>
                  <a:pt x="138351" y="0"/>
                  <a:pt x="127000" y="7094"/>
                  <a:pt x="127000" y="15875"/>
                </a:cubicBezTo>
                <a:lnTo>
                  <a:pt x="127000" y="199777"/>
                </a:lnTo>
                <a:lnTo>
                  <a:pt x="43339" y="147489"/>
                </a:lnTo>
                <a:cubicBezTo>
                  <a:pt x="33417" y="141287"/>
                  <a:pt x="17304" y="141287"/>
                  <a:pt x="7382" y="147489"/>
                </a:cubicBezTo>
                <a:cubicBezTo>
                  <a:pt x="-2540" y="153690"/>
                  <a:pt x="-2540" y="163761"/>
                  <a:pt x="7382" y="169962"/>
                </a:cubicBezTo>
                <a:lnTo>
                  <a:pt x="134382" y="249337"/>
                </a:lnTo>
                <a:close/>
              </a:path>
            </a:pathLst>
          </a:custGeom>
          <a:solidFill>
            <a:srgbClr val="6B9CB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70000" y="3873500"/>
            <a:ext cx="13716000" cy="698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>
                  <a:alpha val="60000"/>
                </a:srgbClr>
              </a:gs>
              <a:gs pos="100000">
                <a:srgbClr val="2E5E8A">
                  <a:alpha val="87000"/>
                </a:srgbClr>
              </a:gs>
            </a:gsLst>
            <a:lin ang="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1524000" y="3873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Reasoning Layer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91000" y="3873500"/>
            <a:ext cx="1054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 · Planning · Problem-solving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823200" y="4572000"/>
            <a:ext cx="304800" cy="254000"/>
          </a:xfrm>
          <a:custGeom>
            <a:avLst/>
            <a:gdLst/>
            <a:ahLst/>
            <a:cxnLst/>
            <a:rect l="l" t="t" r="r" b="b"/>
            <a:pathLst>
              <a:path w="304800" h="254000">
                <a:moveTo>
                  <a:pt x="134461" y="249337"/>
                </a:moveTo>
                <a:cubicBezTo>
                  <a:pt x="144383" y="255538"/>
                  <a:pt x="160496" y="255538"/>
                  <a:pt x="170418" y="249337"/>
                </a:cubicBezTo>
                <a:lnTo>
                  <a:pt x="297418" y="169962"/>
                </a:lnTo>
                <a:cubicBezTo>
                  <a:pt x="307340" y="163761"/>
                  <a:pt x="307340" y="153690"/>
                  <a:pt x="297418" y="147489"/>
                </a:cubicBezTo>
                <a:cubicBezTo>
                  <a:pt x="287496" y="141288"/>
                  <a:pt x="271383" y="141288"/>
                  <a:pt x="261461" y="147489"/>
                </a:cubicBezTo>
                <a:lnTo>
                  <a:pt x="177800" y="199777"/>
                </a:lnTo>
                <a:lnTo>
                  <a:pt x="177800" y="15875"/>
                </a:lnTo>
                <a:cubicBezTo>
                  <a:pt x="177800" y="7094"/>
                  <a:pt x="166449" y="0"/>
                  <a:pt x="152400" y="0"/>
                </a:cubicBezTo>
                <a:cubicBezTo>
                  <a:pt x="138351" y="0"/>
                  <a:pt x="127000" y="7094"/>
                  <a:pt x="127000" y="15875"/>
                </a:cubicBezTo>
                <a:lnTo>
                  <a:pt x="127000" y="199777"/>
                </a:lnTo>
                <a:lnTo>
                  <a:pt x="43339" y="147489"/>
                </a:lnTo>
                <a:cubicBezTo>
                  <a:pt x="33417" y="141287"/>
                  <a:pt x="17304" y="141287"/>
                  <a:pt x="7382" y="147489"/>
                </a:cubicBezTo>
                <a:cubicBezTo>
                  <a:pt x="-2540" y="153690"/>
                  <a:pt x="-2540" y="163761"/>
                  <a:pt x="7382" y="169962"/>
                </a:cubicBezTo>
                <a:lnTo>
                  <a:pt x="134382" y="249337"/>
                </a:lnTo>
                <a:close/>
              </a:path>
            </a:pathLst>
          </a:custGeom>
          <a:solidFill>
            <a:srgbClr val="6B9CBF"/>
          </a:solidFill>
          <a:ln/>
        </p:spPr>
      </p:sp>
      <p:sp>
        <p:nvSpPr>
          <p:cNvPr id="16" name="Shape 14"/>
          <p:cNvSpPr/>
          <p:nvPr/>
        </p:nvSpPr>
        <p:spPr>
          <a:xfrm>
            <a:off x="1270000" y="4826000"/>
            <a:ext cx="13716000" cy="698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>
                  <a:alpha val="40000"/>
                </a:srgbClr>
              </a:gs>
              <a:gs pos="100000">
                <a:srgbClr val="2E5E8A">
                  <a:alpha val="67000"/>
                </a:srgbClr>
              </a:gs>
            </a:gsLst>
            <a:lin ang="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1524000" y="4826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Learning Layer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91000" y="4826000"/>
            <a:ext cx="1054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Adaptation · Skill acquisition · Meta-learning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823200" y="5524500"/>
            <a:ext cx="304800" cy="254000"/>
          </a:xfrm>
          <a:custGeom>
            <a:avLst/>
            <a:gdLst/>
            <a:ahLst/>
            <a:cxnLst/>
            <a:rect l="l" t="t" r="r" b="b"/>
            <a:pathLst>
              <a:path w="304800" h="254000">
                <a:moveTo>
                  <a:pt x="134461" y="249337"/>
                </a:moveTo>
                <a:cubicBezTo>
                  <a:pt x="144383" y="255538"/>
                  <a:pt x="160496" y="255538"/>
                  <a:pt x="170418" y="249337"/>
                </a:cubicBezTo>
                <a:lnTo>
                  <a:pt x="297418" y="169962"/>
                </a:lnTo>
                <a:cubicBezTo>
                  <a:pt x="307340" y="163761"/>
                  <a:pt x="307340" y="153690"/>
                  <a:pt x="297418" y="147489"/>
                </a:cubicBezTo>
                <a:cubicBezTo>
                  <a:pt x="287496" y="141288"/>
                  <a:pt x="271383" y="141288"/>
                  <a:pt x="261461" y="147489"/>
                </a:cubicBezTo>
                <a:lnTo>
                  <a:pt x="177800" y="199777"/>
                </a:lnTo>
                <a:lnTo>
                  <a:pt x="177800" y="15875"/>
                </a:lnTo>
                <a:cubicBezTo>
                  <a:pt x="177800" y="7094"/>
                  <a:pt x="166449" y="0"/>
                  <a:pt x="152400" y="0"/>
                </a:cubicBezTo>
                <a:cubicBezTo>
                  <a:pt x="138351" y="0"/>
                  <a:pt x="127000" y="7094"/>
                  <a:pt x="127000" y="15875"/>
                </a:cubicBezTo>
                <a:lnTo>
                  <a:pt x="127000" y="199777"/>
                </a:lnTo>
                <a:lnTo>
                  <a:pt x="43339" y="147489"/>
                </a:lnTo>
                <a:cubicBezTo>
                  <a:pt x="33417" y="141287"/>
                  <a:pt x="17304" y="141287"/>
                  <a:pt x="7382" y="147489"/>
                </a:cubicBezTo>
                <a:cubicBezTo>
                  <a:pt x="-2540" y="153690"/>
                  <a:pt x="-2540" y="163761"/>
                  <a:pt x="7382" y="169962"/>
                </a:cubicBezTo>
                <a:lnTo>
                  <a:pt x="134382" y="249337"/>
                </a:lnTo>
                <a:close/>
              </a:path>
            </a:pathLst>
          </a:custGeom>
          <a:solidFill>
            <a:srgbClr val="6B9CBF"/>
          </a:solidFill>
          <a:ln/>
        </p:spPr>
      </p:sp>
      <p:sp>
        <p:nvSpPr>
          <p:cNvPr id="20" name="Shape 18"/>
          <p:cNvSpPr/>
          <p:nvPr/>
        </p:nvSpPr>
        <p:spPr>
          <a:xfrm>
            <a:off x="1270000" y="5778500"/>
            <a:ext cx="13716000" cy="698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>
                  <a:alpha val="27000"/>
                </a:srgbClr>
              </a:gs>
              <a:gs pos="100000">
                <a:srgbClr val="2E5E8A">
                  <a:alpha val="53000"/>
                </a:srgbClr>
              </a:gs>
            </a:gsLst>
            <a:lin ang="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1524000" y="5778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Layer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91000" y="5778500"/>
            <a:ext cx="1054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 · Representation · World models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823200" y="6477000"/>
            <a:ext cx="304800" cy="254000"/>
          </a:xfrm>
          <a:custGeom>
            <a:avLst/>
            <a:gdLst/>
            <a:ahLst/>
            <a:cxnLst/>
            <a:rect l="l" t="t" r="r" b="b"/>
            <a:pathLst>
              <a:path w="304800" h="254000">
                <a:moveTo>
                  <a:pt x="134461" y="249337"/>
                </a:moveTo>
                <a:cubicBezTo>
                  <a:pt x="144383" y="255538"/>
                  <a:pt x="160496" y="255538"/>
                  <a:pt x="170418" y="249337"/>
                </a:cubicBezTo>
                <a:lnTo>
                  <a:pt x="297418" y="169962"/>
                </a:lnTo>
                <a:cubicBezTo>
                  <a:pt x="307340" y="163761"/>
                  <a:pt x="307340" y="153690"/>
                  <a:pt x="297418" y="147489"/>
                </a:cubicBezTo>
                <a:cubicBezTo>
                  <a:pt x="287496" y="141288"/>
                  <a:pt x="271383" y="141288"/>
                  <a:pt x="261461" y="147489"/>
                </a:cubicBezTo>
                <a:lnTo>
                  <a:pt x="177800" y="199777"/>
                </a:lnTo>
                <a:lnTo>
                  <a:pt x="177800" y="15875"/>
                </a:lnTo>
                <a:cubicBezTo>
                  <a:pt x="177800" y="7094"/>
                  <a:pt x="166449" y="0"/>
                  <a:pt x="152400" y="0"/>
                </a:cubicBezTo>
                <a:cubicBezTo>
                  <a:pt x="138351" y="0"/>
                  <a:pt x="127000" y="7094"/>
                  <a:pt x="127000" y="15875"/>
                </a:cubicBezTo>
                <a:lnTo>
                  <a:pt x="127000" y="199777"/>
                </a:lnTo>
                <a:lnTo>
                  <a:pt x="43339" y="147489"/>
                </a:lnTo>
                <a:cubicBezTo>
                  <a:pt x="33417" y="141287"/>
                  <a:pt x="17304" y="141287"/>
                  <a:pt x="7382" y="147489"/>
                </a:cubicBezTo>
                <a:cubicBezTo>
                  <a:pt x="-2540" y="153690"/>
                  <a:pt x="-2540" y="163761"/>
                  <a:pt x="7382" y="169962"/>
                </a:cubicBezTo>
                <a:lnTo>
                  <a:pt x="134382" y="249337"/>
                </a:lnTo>
                <a:close/>
              </a:path>
            </a:pathLst>
          </a:custGeom>
          <a:solidFill>
            <a:srgbClr val="6B9CB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70000" y="6731000"/>
            <a:ext cx="13716000" cy="698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>
                  <a:alpha val="13000"/>
                </a:srgbClr>
              </a:gs>
              <a:gs pos="100000">
                <a:srgbClr val="2E5E8A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25" name="Text 23"/>
          <p:cNvSpPr/>
          <p:nvPr/>
        </p:nvSpPr>
        <p:spPr>
          <a:xfrm>
            <a:off x="1524000" y="6731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Perception Layer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91000" y="6731000"/>
            <a:ext cx="1054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Sensory input processing · Vision · Audio · Language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 and Inference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Reasoning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Deductive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general → specific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Inductive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specific → general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Abductive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best explanation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Analogical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cross-domain transfer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Symbolic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logic, rule engines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Neural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pattern-based implicit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Neuro-symbolic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combining both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Challenge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Bridging System 1 (fast) and System 2 (slow) reasoning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1905000"/>
            <a:ext cx="6350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159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Reasoning Comparison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0" y="2794000"/>
          <a:ext cx="5334000" cy="4699000"/>
        </p:xfrm>
        <a:graphic>
          <a:graphicData uri="http://schemas.openxmlformats.org/drawingml/2006/table">
            <a:tbl>
              <a:tblPr/>
              <a:tblGrid>
                <a:gridCol w="1600200"/>
                <a:gridCol w="1866900"/>
                <a:gridCol w="1866900"/>
              </a:tblGrid>
              <a:tr h="751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Direction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Certainty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98679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Deductive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General → Specific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Certain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98679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Inductive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Specific → General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Probable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98679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Abductive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Evidence → Hypothesis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Plausible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98679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Analogical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Source → Target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Suggestive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and Adaptation Mechanisms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97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24603" y="46553"/>
                </a:moveTo>
                <a:lnTo>
                  <a:pt x="581448" y="225504"/>
                </a:lnTo>
                <a:cubicBezTo>
                  <a:pt x="610764" y="258961"/>
                  <a:pt x="610764" y="312539"/>
                  <a:pt x="581448" y="345996"/>
                </a:cubicBezTo>
                <a:lnTo>
                  <a:pt x="415925" y="534472"/>
                </a:lnTo>
                <a:cubicBezTo>
                  <a:pt x="406083" y="545663"/>
                  <a:pt x="389996" y="545782"/>
                  <a:pt x="380048" y="534710"/>
                </a:cubicBezTo>
                <a:cubicBezTo>
                  <a:pt x="370099" y="523637"/>
                  <a:pt x="369993" y="505539"/>
                  <a:pt x="379836" y="494348"/>
                </a:cubicBezTo>
                <a:lnTo>
                  <a:pt x="545359" y="305753"/>
                </a:lnTo>
                <a:cubicBezTo>
                  <a:pt x="555096" y="294680"/>
                  <a:pt x="555096" y="276701"/>
                  <a:pt x="545359" y="265628"/>
                </a:cubicBezTo>
                <a:lnTo>
                  <a:pt x="388408" y="86797"/>
                </a:lnTo>
                <a:cubicBezTo>
                  <a:pt x="378566" y="75605"/>
                  <a:pt x="378672" y="57507"/>
                  <a:pt x="388620" y="46434"/>
                </a:cubicBezTo>
                <a:cubicBezTo>
                  <a:pt x="398568" y="35362"/>
                  <a:pt x="414655" y="35481"/>
                  <a:pt x="424497" y="46673"/>
                </a:cubicBezTo>
                <a:close/>
                <a:moveTo>
                  <a:pt x="33973" y="273248"/>
                </a:moveTo>
                <a:lnTo>
                  <a:pt x="33973" y="114300"/>
                </a:lnTo>
                <a:cubicBezTo>
                  <a:pt x="33973" y="72271"/>
                  <a:pt x="64347" y="38100"/>
                  <a:pt x="101706" y="38100"/>
                </a:cubicBezTo>
                <a:lnTo>
                  <a:pt x="242993" y="38100"/>
                </a:lnTo>
                <a:cubicBezTo>
                  <a:pt x="260985" y="38100"/>
                  <a:pt x="278236" y="46077"/>
                  <a:pt x="290936" y="60365"/>
                </a:cubicBezTo>
                <a:lnTo>
                  <a:pt x="443336" y="231815"/>
                </a:lnTo>
                <a:cubicBezTo>
                  <a:pt x="469794" y="261580"/>
                  <a:pt x="469794" y="309801"/>
                  <a:pt x="443336" y="339566"/>
                </a:cubicBezTo>
                <a:lnTo>
                  <a:pt x="302048" y="498515"/>
                </a:lnTo>
                <a:cubicBezTo>
                  <a:pt x="275590" y="528280"/>
                  <a:pt x="232727" y="528280"/>
                  <a:pt x="206269" y="498515"/>
                </a:cubicBezTo>
                <a:lnTo>
                  <a:pt x="53869" y="327065"/>
                </a:lnTo>
                <a:cubicBezTo>
                  <a:pt x="41169" y="312777"/>
                  <a:pt x="34078" y="293370"/>
                  <a:pt x="34078" y="273129"/>
                </a:cubicBezTo>
                <a:close/>
                <a:moveTo>
                  <a:pt x="186373" y="171450"/>
                </a:moveTo>
                <a:cubicBezTo>
                  <a:pt x="186373" y="150422"/>
                  <a:pt x="171197" y="133350"/>
                  <a:pt x="152506" y="133350"/>
                </a:cubicBezTo>
                <a:cubicBezTo>
                  <a:pt x="133814" y="133350"/>
                  <a:pt x="118639" y="150422"/>
                  <a:pt x="118639" y="171450"/>
                </a:cubicBezTo>
                <a:cubicBezTo>
                  <a:pt x="118639" y="192478"/>
                  <a:pt x="133814" y="209550"/>
                  <a:pt x="152506" y="209550"/>
                </a:cubicBezTo>
                <a:cubicBezTo>
                  <a:pt x="171197" y="209550"/>
                  <a:pt x="186373" y="192478"/>
                  <a:pt x="186373" y="1714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Supervised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35560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 from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labeled examples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Input-output pairs guide the model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Image classification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Speech recognition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Machine translation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96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66700" y="0"/>
                </a:moveTo>
                <a:cubicBezTo>
                  <a:pt x="308729" y="0"/>
                  <a:pt x="342900" y="25598"/>
                  <a:pt x="342900" y="57150"/>
                </a:cubicBezTo>
                <a:cubicBezTo>
                  <a:pt x="342900" y="69533"/>
                  <a:pt x="337661" y="80962"/>
                  <a:pt x="328613" y="90368"/>
                </a:cubicBezTo>
                <a:cubicBezTo>
                  <a:pt x="320754" y="98584"/>
                  <a:pt x="314325" y="108585"/>
                  <a:pt x="314325" y="120015"/>
                </a:cubicBezTo>
                <a:cubicBezTo>
                  <a:pt x="314325" y="137874"/>
                  <a:pt x="328851" y="152400"/>
                  <a:pt x="346710" y="152400"/>
                </a:cubicBezTo>
                <a:lnTo>
                  <a:pt x="400050" y="152400"/>
                </a:lnTo>
                <a:cubicBezTo>
                  <a:pt x="431602" y="152400"/>
                  <a:pt x="457200" y="177998"/>
                  <a:pt x="457200" y="209550"/>
                </a:cubicBezTo>
                <a:lnTo>
                  <a:pt x="457200" y="262890"/>
                </a:lnTo>
                <a:cubicBezTo>
                  <a:pt x="457200" y="280749"/>
                  <a:pt x="471726" y="295275"/>
                  <a:pt x="489585" y="295275"/>
                </a:cubicBezTo>
                <a:cubicBezTo>
                  <a:pt x="500896" y="295275"/>
                  <a:pt x="511016" y="288846"/>
                  <a:pt x="519232" y="280987"/>
                </a:cubicBezTo>
                <a:cubicBezTo>
                  <a:pt x="528638" y="272058"/>
                  <a:pt x="540068" y="266700"/>
                  <a:pt x="552450" y="266700"/>
                </a:cubicBezTo>
                <a:cubicBezTo>
                  <a:pt x="584002" y="266700"/>
                  <a:pt x="609600" y="300871"/>
                  <a:pt x="609600" y="342900"/>
                </a:cubicBezTo>
                <a:cubicBezTo>
                  <a:pt x="609600" y="384929"/>
                  <a:pt x="584002" y="419100"/>
                  <a:pt x="552450" y="419100"/>
                </a:cubicBezTo>
                <a:cubicBezTo>
                  <a:pt x="540068" y="419100"/>
                  <a:pt x="528518" y="413861"/>
                  <a:pt x="519232" y="404813"/>
                </a:cubicBezTo>
                <a:cubicBezTo>
                  <a:pt x="511016" y="396954"/>
                  <a:pt x="501015" y="390525"/>
                  <a:pt x="489585" y="390525"/>
                </a:cubicBezTo>
                <a:cubicBezTo>
                  <a:pt x="471726" y="390525"/>
                  <a:pt x="457200" y="405051"/>
                  <a:pt x="457200" y="422910"/>
                </a:cubicBezTo>
                <a:lnTo>
                  <a:pt x="457200" y="552450"/>
                </a:lnTo>
                <a:cubicBezTo>
                  <a:pt x="457200" y="584002"/>
                  <a:pt x="431602" y="609600"/>
                  <a:pt x="400050" y="609600"/>
                </a:cubicBezTo>
                <a:lnTo>
                  <a:pt x="332423" y="609600"/>
                </a:lnTo>
                <a:cubicBezTo>
                  <a:pt x="317183" y="609600"/>
                  <a:pt x="304800" y="597218"/>
                  <a:pt x="304800" y="581978"/>
                </a:cubicBezTo>
                <a:cubicBezTo>
                  <a:pt x="304800" y="571024"/>
                  <a:pt x="311706" y="561380"/>
                  <a:pt x="320516" y="554831"/>
                </a:cubicBezTo>
                <a:cubicBezTo>
                  <a:pt x="334328" y="544473"/>
                  <a:pt x="342900" y="530185"/>
                  <a:pt x="342900" y="514350"/>
                </a:cubicBezTo>
                <a:cubicBezTo>
                  <a:pt x="342900" y="482798"/>
                  <a:pt x="308729" y="457200"/>
                  <a:pt x="266700" y="457200"/>
                </a:cubicBezTo>
                <a:cubicBezTo>
                  <a:pt x="224671" y="457200"/>
                  <a:pt x="190500" y="482798"/>
                  <a:pt x="190500" y="514350"/>
                </a:cubicBezTo>
                <a:cubicBezTo>
                  <a:pt x="190500" y="530185"/>
                  <a:pt x="199072" y="544473"/>
                  <a:pt x="212884" y="554831"/>
                </a:cubicBezTo>
                <a:cubicBezTo>
                  <a:pt x="221694" y="561380"/>
                  <a:pt x="228600" y="570905"/>
                  <a:pt x="228600" y="581978"/>
                </a:cubicBezTo>
                <a:cubicBezTo>
                  <a:pt x="228600" y="597218"/>
                  <a:pt x="216218" y="609600"/>
                  <a:pt x="200978" y="609600"/>
                </a:cubicBezTo>
                <a:lnTo>
                  <a:pt x="57150" y="609600"/>
                </a:lnTo>
                <a:cubicBezTo>
                  <a:pt x="25598" y="609600"/>
                  <a:pt x="0" y="584002"/>
                  <a:pt x="0" y="552450"/>
                </a:cubicBezTo>
                <a:lnTo>
                  <a:pt x="0" y="408623"/>
                </a:lnTo>
                <a:cubicBezTo>
                  <a:pt x="0" y="393383"/>
                  <a:pt x="12383" y="381000"/>
                  <a:pt x="27622" y="381000"/>
                </a:cubicBezTo>
                <a:cubicBezTo>
                  <a:pt x="38576" y="381000"/>
                  <a:pt x="48220" y="387906"/>
                  <a:pt x="54769" y="396716"/>
                </a:cubicBezTo>
                <a:cubicBezTo>
                  <a:pt x="65127" y="410528"/>
                  <a:pt x="79415" y="419100"/>
                  <a:pt x="95250" y="419100"/>
                </a:cubicBezTo>
                <a:cubicBezTo>
                  <a:pt x="126802" y="419100"/>
                  <a:pt x="152400" y="384929"/>
                  <a:pt x="152400" y="342900"/>
                </a:cubicBezTo>
                <a:cubicBezTo>
                  <a:pt x="152400" y="300871"/>
                  <a:pt x="126802" y="266700"/>
                  <a:pt x="95250" y="266700"/>
                </a:cubicBezTo>
                <a:cubicBezTo>
                  <a:pt x="79415" y="266700"/>
                  <a:pt x="65127" y="275273"/>
                  <a:pt x="54769" y="289084"/>
                </a:cubicBezTo>
                <a:cubicBezTo>
                  <a:pt x="48220" y="297894"/>
                  <a:pt x="38695" y="304800"/>
                  <a:pt x="27622" y="304800"/>
                </a:cubicBezTo>
                <a:cubicBezTo>
                  <a:pt x="12382" y="304800"/>
                  <a:pt x="0" y="292418"/>
                  <a:pt x="0" y="277178"/>
                </a:cubicBezTo>
                <a:lnTo>
                  <a:pt x="0" y="209550"/>
                </a:lnTo>
                <a:cubicBezTo>
                  <a:pt x="0" y="177998"/>
                  <a:pt x="25598" y="152400"/>
                  <a:pt x="57150" y="152400"/>
                </a:cubicBezTo>
                <a:lnTo>
                  <a:pt x="186690" y="152400"/>
                </a:lnTo>
                <a:cubicBezTo>
                  <a:pt x="204549" y="152400"/>
                  <a:pt x="219075" y="137874"/>
                  <a:pt x="219075" y="120015"/>
                </a:cubicBezTo>
                <a:cubicBezTo>
                  <a:pt x="219075" y="108704"/>
                  <a:pt x="212646" y="98584"/>
                  <a:pt x="204787" y="90368"/>
                </a:cubicBezTo>
                <a:cubicBezTo>
                  <a:pt x="195858" y="80962"/>
                  <a:pt x="190500" y="69533"/>
                  <a:pt x="190500" y="57150"/>
                </a:cubicBezTo>
                <a:cubicBezTo>
                  <a:pt x="190500" y="25598"/>
                  <a:pt x="224671" y="0"/>
                  <a:pt x="266700" y="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Unsupervised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23000" y="35560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Discover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patterns without labels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Find structure in raw data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Clustering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Dimensionality reduction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Generative modeling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558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395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71807" y="0"/>
                </a:moveTo>
                <a:lnTo>
                  <a:pt x="438507" y="0"/>
                </a:lnTo>
                <a:cubicBezTo>
                  <a:pt x="470059" y="0"/>
                  <a:pt x="495776" y="25956"/>
                  <a:pt x="494586" y="57388"/>
                </a:cubicBezTo>
                <a:cubicBezTo>
                  <a:pt x="494348" y="63698"/>
                  <a:pt x="494109" y="70009"/>
                  <a:pt x="493752" y="76200"/>
                </a:cubicBezTo>
                <a:lnTo>
                  <a:pt x="552807" y="76200"/>
                </a:lnTo>
                <a:cubicBezTo>
                  <a:pt x="583883" y="76200"/>
                  <a:pt x="611267" y="101918"/>
                  <a:pt x="608886" y="135493"/>
                </a:cubicBezTo>
                <a:cubicBezTo>
                  <a:pt x="599956" y="258961"/>
                  <a:pt x="536853" y="326827"/>
                  <a:pt x="468392" y="362307"/>
                </a:cubicBezTo>
                <a:cubicBezTo>
                  <a:pt x="449580" y="372070"/>
                  <a:pt x="430411" y="379333"/>
                  <a:pt x="412194" y="384691"/>
                </a:cubicBezTo>
                <a:cubicBezTo>
                  <a:pt x="388144" y="418743"/>
                  <a:pt x="363141" y="436721"/>
                  <a:pt x="343257" y="446365"/>
                </a:cubicBezTo>
                <a:lnTo>
                  <a:pt x="343257" y="533400"/>
                </a:lnTo>
                <a:lnTo>
                  <a:pt x="419457" y="533400"/>
                </a:lnTo>
                <a:cubicBezTo>
                  <a:pt x="440531" y="533400"/>
                  <a:pt x="457557" y="550426"/>
                  <a:pt x="457557" y="571500"/>
                </a:cubicBezTo>
                <a:cubicBezTo>
                  <a:pt x="457557" y="592574"/>
                  <a:pt x="440531" y="609600"/>
                  <a:pt x="419457" y="609600"/>
                </a:cubicBezTo>
                <a:lnTo>
                  <a:pt x="190857" y="609600"/>
                </a:lnTo>
                <a:cubicBezTo>
                  <a:pt x="169783" y="609600"/>
                  <a:pt x="152757" y="592574"/>
                  <a:pt x="152757" y="571500"/>
                </a:cubicBezTo>
                <a:cubicBezTo>
                  <a:pt x="152757" y="550426"/>
                  <a:pt x="169783" y="533400"/>
                  <a:pt x="190857" y="533400"/>
                </a:cubicBezTo>
                <a:lnTo>
                  <a:pt x="267057" y="533400"/>
                </a:lnTo>
                <a:lnTo>
                  <a:pt x="267057" y="446365"/>
                </a:lnTo>
                <a:cubicBezTo>
                  <a:pt x="248007" y="437197"/>
                  <a:pt x="224314" y="420172"/>
                  <a:pt x="201216" y="388858"/>
                </a:cubicBezTo>
                <a:cubicBezTo>
                  <a:pt x="179308" y="383143"/>
                  <a:pt x="155496" y="374452"/>
                  <a:pt x="132278" y="361355"/>
                </a:cubicBezTo>
                <a:cubicBezTo>
                  <a:pt x="67866" y="325279"/>
                  <a:pt x="9763" y="257294"/>
                  <a:pt x="1429" y="135255"/>
                </a:cubicBezTo>
                <a:cubicBezTo>
                  <a:pt x="-833" y="101798"/>
                  <a:pt x="26432" y="76081"/>
                  <a:pt x="57507" y="76081"/>
                </a:cubicBezTo>
                <a:lnTo>
                  <a:pt x="116562" y="76081"/>
                </a:lnTo>
                <a:cubicBezTo>
                  <a:pt x="116205" y="69890"/>
                  <a:pt x="115967" y="63698"/>
                  <a:pt x="115729" y="57269"/>
                </a:cubicBezTo>
                <a:cubicBezTo>
                  <a:pt x="114538" y="25717"/>
                  <a:pt x="140256" y="-119"/>
                  <a:pt x="171807" y="-119"/>
                </a:cubicBezTo>
                <a:close/>
                <a:moveTo>
                  <a:pt x="120848" y="133350"/>
                </a:moveTo>
                <a:lnTo>
                  <a:pt x="58460" y="133350"/>
                </a:lnTo>
                <a:cubicBezTo>
                  <a:pt x="65842" y="234196"/>
                  <a:pt x="112157" y="284678"/>
                  <a:pt x="159901" y="311468"/>
                </a:cubicBezTo>
                <a:cubicBezTo>
                  <a:pt x="142756" y="267057"/>
                  <a:pt x="128588" y="209074"/>
                  <a:pt x="120848" y="133350"/>
                </a:cubicBezTo>
                <a:close/>
                <a:moveTo>
                  <a:pt x="452437" y="305753"/>
                </a:moveTo>
                <a:cubicBezTo>
                  <a:pt x="500658" y="277416"/>
                  <a:pt x="544235" y="227052"/>
                  <a:pt x="551617" y="133350"/>
                </a:cubicBezTo>
                <a:lnTo>
                  <a:pt x="489347" y="133350"/>
                </a:lnTo>
                <a:cubicBezTo>
                  <a:pt x="481965" y="205859"/>
                  <a:pt x="468630" y="262176"/>
                  <a:pt x="452437" y="3057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Reinforcement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22000" y="35560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 through trial and error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Reward signals guide behavior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Game playing (AlphaGo)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Robot control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Autonomous driving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70000" y="7747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Advanced: Meta-learning ("learning to learn"), Continual learning, Self-supervised learning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and Knowledge Representation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Types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short-term, limited capacity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Episodic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experiences and events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facts and concepts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Procedural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skills and habits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Representation Approaches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Symbolic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ontologies, knowledge graphs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Subsymbolic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neural embeddings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neuro-symbolic integration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1905000"/>
            <a:ext cx="6350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159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Challenges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0" y="2667000"/>
            <a:ext cx="5334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Shape 6"/>
          <p:cNvSpPr/>
          <p:nvPr/>
        </p:nvSpPr>
        <p:spPr>
          <a:xfrm>
            <a:off x="9017000" y="292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0" y="28575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Efficient Retrieval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 across massive knowledge stores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17000" y="393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45143" y="50800"/>
                </a:moveTo>
                <a:cubicBezTo>
                  <a:pt x="145143" y="36751"/>
                  <a:pt x="132171" y="25400"/>
                  <a:pt x="116114" y="25400"/>
                </a:cubicBezTo>
                <a:cubicBezTo>
                  <a:pt x="100058" y="25400"/>
                  <a:pt x="87086" y="36751"/>
                  <a:pt x="87086" y="50800"/>
                </a:cubicBezTo>
                <a:lnTo>
                  <a:pt x="87086" y="101600"/>
                </a:lnTo>
                <a:lnTo>
                  <a:pt x="29029" y="101600"/>
                </a:lnTo>
                <a:cubicBezTo>
                  <a:pt x="12972" y="101600"/>
                  <a:pt x="0" y="112951"/>
                  <a:pt x="0" y="127000"/>
                </a:cubicBezTo>
                <a:cubicBezTo>
                  <a:pt x="0" y="141049"/>
                  <a:pt x="12972" y="152400"/>
                  <a:pt x="29029" y="152400"/>
                </a:cubicBezTo>
                <a:lnTo>
                  <a:pt x="116114" y="152400"/>
                </a:lnTo>
                <a:cubicBezTo>
                  <a:pt x="132171" y="152400"/>
                  <a:pt x="145143" y="141049"/>
                  <a:pt x="145143" y="127000"/>
                </a:cubicBezTo>
                <a:lnTo>
                  <a:pt x="145143" y="50800"/>
                </a:lnTo>
                <a:close/>
                <a:moveTo>
                  <a:pt x="29029" y="254000"/>
                </a:moveTo>
                <a:cubicBezTo>
                  <a:pt x="12972" y="254000"/>
                  <a:pt x="0" y="265351"/>
                  <a:pt x="0" y="279400"/>
                </a:cubicBezTo>
                <a:cubicBezTo>
                  <a:pt x="0" y="293449"/>
                  <a:pt x="12972" y="304800"/>
                  <a:pt x="29029" y="304800"/>
                </a:cubicBezTo>
                <a:lnTo>
                  <a:pt x="87086" y="304800"/>
                </a:lnTo>
                <a:lnTo>
                  <a:pt x="87086" y="355600"/>
                </a:lnTo>
                <a:cubicBezTo>
                  <a:pt x="87086" y="369649"/>
                  <a:pt x="100058" y="381000"/>
                  <a:pt x="116114" y="381000"/>
                </a:cubicBezTo>
                <a:cubicBezTo>
                  <a:pt x="132171" y="381000"/>
                  <a:pt x="145143" y="369649"/>
                  <a:pt x="145143" y="355600"/>
                </a:cubicBezTo>
                <a:lnTo>
                  <a:pt x="145143" y="279400"/>
                </a:lnTo>
                <a:cubicBezTo>
                  <a:pt x="145143" y="265351"/>
                  <a:pt x="132171" y="254000"/>
                  <a:pt x="116114" y="254000"/>
                </a:cubicBezTo>
                <a:lnTo>
                  <a:pt x="29029" y="254000"/>
                </a:lnTo>
                <a:close/>
                <a:moveTo>
                  <a:pt x="319314" y="50800"/>
                </a:moveTo>
                <a:cubicBezTo>
                  <a:pt x="319314" y="36751"/>
                  <a:pt x="306342" y="25400"/>
                  <a:pt x="290286" y="25400"/>
                </a:cubicBezTo>
                <a:cubicBezTo>
                  <a:pt x="274229" y="25400"/>
                  <a:pt x="261257" y="36751"/>
                  <a:pt x="261257" y="50800"/>
                </a:cubicBezTo>
                <a:lnTo>
                  <a:pt x="261257" y="127000"/>
                </a:lnTo>
                <a:cubicBezTo>
                  <a:pt x="261257" y="141049"/>
                  <a:pt x="274229" y="152400"/>
                  <a:pt x="290286" y="152400"/>
                </a:cubicBezTo>
                <a:lnTo>
                  <a:pt x="377371" y="152400"/>
                </a:lnTo>
                <a:cubicBezTo>
                  <a:pt x="393428" y="152400"/>
                  <a:pt x="406400" y="141049"/>
                  <a:pt x="406400" y="127000"/>
                </a:cubicBezTo>
                <a:cubicBezTo>
                  <a:pt x="406400" y="112951"/>
                  <a:pt x="393428" y="101600"/>
                  <a:pt x="377371" y="101600"/>
                </a:cubicBezTo>
                <a:lnTo>
                  <a:pt x="319314" y="101600"/>
                </a:lnTo>
                <a:lnTo>
                  <a:pt x="319314" y="50800"/>
                </a:lnTo>
                <a:close/>
                <a:moveTo>
                  <a:pt x="290286" y="254000"/>
                </a:moveTo>
                <a:cubicBezTo>
                  <a:pt x="274229" y="254000"/>
                  <a:pt x="261257" y="265351"/>
                  <a:pt x="261257" y="279400"/>
                </a:cubicBezTo>
                <a:lnTo>
                  <a:pt x="261257" y="355600"/>
                </a:lnTo>
                <a:cubicBezTo>
                  <a:pt x="261257" y="369649"/>
                  <a:pt x="274229" y="381000"/>
                  <a:pt x="290286" y="381000"/>
                </a:cubicBezTo>
                <a:cubicBezTo>
                  <a:pt x="306342" y="381000"/>
                  <a:pt x="319314" y="369649"/>
                  <a:pt x="319314" y="355600"/>
                </a:cubicBezTo>
                <a:lnTo>
                  <a:pt x="319314" y="304800"/>
                </a:lnTo>
                <a:lnTo>
                  <a:pt x="377371" y="304800"/>
                </a:lnTo>
                <a:cubicBezTo>
                  <a:pt x="393428" y="304800"/>
                  <a:pt x="406400" y="293449"/>
                  <a:pt x="406400" y="279400"/>
                </a:cubicBezTo>
                <a:cubicBezTo>
                  <a:pt x="406400" y="265351"/>
                  <a:pt x="393428" y="254000"/>
                  <a:pt x="377371" y="254000"/>
                </a:cubicBezTo>
                <a:lnTo>
                  <a:pt x="290286" y="2540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0" y="38735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Consolidation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Integrating new info without overwriting old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170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2571" y="44450"/>
                </a:moveTo>
                <a:cubicBezTo>
                  <a:pt x="84587" y="44450"/>
                  <a:pt x="94343" y="52986"/>
                  <a:pt x="94343" y="63500"/>
                </a:cubicBezTo>
                <a:cubicBezTo>
                  <a:pt x="94343" y="74014"/>
                  <a:pt x="84587" y="82550"/>
                  <a:pt x="72571" y="82550"/>
                </a:cubicBezTo>
                <a:cubicBezTo>
                  <a:pt x="60555" y="82550"/>
                  <a:pt x="50800" y="74014"/>
                  <a:pt x="50800" y="63500"/>
                </a:cubicBezTo>
                <a:cubicBezTo>
                  <a:pt x="50800" y="52986"/>
                  <a:pt x="60555" y="44450"/>
                  <a:pt x="72571" y="44450"/>
                </a:cubicBezTo>
                <a:close/>
                <a:moveTo>
                  <a:pt x="101963" y="121603"/>
                </a:moveTo>
                <a:cubicBezTo>
                  <a:pt x="127363" y="111760"/>
                  <a:pt x="145143" y="89456"/>
                  <a:pt x="145143" y="63500"/>
                </a:cubicBezTo>
                <a:cubicBezTo>
                  <a:pt x="145143" y="28416"/>
                  <a:pt x="112667" y="0"/>
                  <a:pt x="72571" y="0"/>
                </a:cubicBezTo>
                <a:cubicBezTo>
                  <a:pt x="32476" y="0"/>
                  <a:pt x="0" y="28416"/>
                  <a:pt x="0" y="63500"/>
                </a:cubicBezTo>
                <a:cubicBezTo>
                  <a:pt x="0" y="89535"/>
                  <a:pt x="17871" y="111919"/>
                  <a:pt x="43543" y="121682"/>
                </a:cubicBezTo>
                <a:lnTo>
                  <a:pt x="43543" y="284639"/>
                </a:lnTo>
                <a:cubicBezTo>
                  <a:pt x="17871" y="294481"/>
                  <a:pt x="0" y="316865"/>
                  <a:pt x="0" y="342900"/>
                </a:cubicBezTo>
                <a:cubicBezTo>
                  <a:pt x="0" y="377984"/>
                  <a:pt x="32476" y="406400"/>
                  <a:pt x="72571" y="406400"/>
                </a:cubicBezTo>
                <a:cubicBezTo>
                  <a:pt x="112667" y="406400"/>
                  <a:pt x="145143" y="377984"/>
                  <a:pt x="145143" y="342900"/>
                </a:cubicBezTo>
                <a:cubicBezTo>
                  <a:pt x="145143" y="316865"/>
                  <a:pt x="127272" y="294481"/>
                  <a:pt x="101600" y="284718"/>
                </a:cubicBezTo>
                <a:lnTo>
                  <a:pt x="101600" y="215979"/>
                </a:lnTo>
                <a:cubicBezTo>
                  <a:pt x="125821" y="231934"/>
                  <a:pt x="156029" y="241379"/>
                  <a:pt x="188686" y="241379"/>
                </a:cubicBezTo>
                <a:lnTo>
                  <a:pt x="267335" y="241379"/>
                </a:lnTo>
                <a:cubicBezTo>
                  <a:pt x="278493" y="263843"/>
                  <a:pt x="304074" y="279479"/>
                  <a:pt x="333829" y="279479"/>
                </a:cubicBezTo>
                <a:cubicBezTo>
                  <a:pt x="373924" y="279479"/>
                  <a:pt x="406400" y="251063"/>
                  <a:pt x="406400" y="215979"/>
                </a:cubicBezTo>
                <a:cubicBezTo>
                  <a:pt x="406400" y="180896"/>
                  <a:pt x="373924" y="152479"/>
                  <a:pt x="333829" y="152479"/>
                </a:cubicBezTo>
                <a:cubicBezTo>
                  <a:pt x="304074" y="152479"/>
                  <a:pt x="278493" y="168116"/>
                  <a:pt x="267335" y="190579"/>
                </a:cubicBezTo>
                <a:lnTo>
                  <a:pt x="188686" y="190500"/>
                </a:lnTo>
                <a:cubicBezTo>
                  <a:pt x="143419" y="190500"/>
                  <a:pt x="106136" y="160258"/>
                  <a:pt x="101963" y="121603"/>
                </a:cubicBezTo>
                <a:close/>
                <a:moveTo>
                  <a:pt x="72571" y="323850"/>
                </a:moveTo>
                <a:cubicBezTo>
                  <a:pt x="84587" y="323850"/>
                  <a:pt x="94343" y="332386"/>
                  <a:pt x="94343" y="342900"/>
                </a:cubicBezTo>
                <a:cubicBezTo>
                  <a:pt x="94343" y="353414"/>
                  <a:pt x="84587" y="361950"/>
                  <a:pt x="72571" y="361950"/>
                </a:cubicBezTo>
                <a:cubicBezTo>
                  <a:pt x="60555" y="361950"/>
                  <a:pt x="50800" y="353414"/>
                  <a:pt x="50800" y="342900"/>
                </a:cubicBezTo>
                <a:cubicBezTo>
                  <a:pt x="50800" y="332386"/>
                  <a:pt x="60555" y="323850"/>
                  <a:pt x="72571" y="323850"/>
                </a:cubicBezTo>
                <a:close/>
                <a:moveTo>
                  <a:pt x="312057" y="215900"/>
                </a:moveTo>
                <a:cubicBezTo>
                  <a:pt x="312057" y="205386"/>
                  <a:pt x="321813" y="196850"/>
                  <a:pt x="333829" y="196850"/>
                </a:cubicBezTo>
                <a:cubicBezTo>
                  <a:pt x="345845" y="196850"/>
                  <a:pt x="355600" y="205386"/>
                  <a:pt x="355600" y="215900"/>
                </a:cubicBezTo>
                <a:cubicBezTo>
                  <a:pt x="355600" y="226414"/>
                  <a:pt x="345845" y="234950"/>
                  <a:pt x="333829" y="234950"/>
                </a:cubicBezTo>
                <a:cubicBezTo>
                  <a:pt x="321813" y="234950"/>
                  <a:pt x="312057" y="226414"/>
                  <a:pt x="312057" y="2159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9652000" y="48895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Contradiction Handling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Resolving conflicting knowledge sources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017000" y="596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59055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Catastrophic Forgetting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 learning overwrites old knowledge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Planning and Decision Making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667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667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89000" y="3937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Classical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4445000"/>
            <a:ext cx="20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State-space search, STRIPS, PDDL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3175000"/>
            <a:ext cx="1270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556000" y="2667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3556000" y="2667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75000" y="3937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Hierarchical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48000" y="4445000"/>
            <a:ext cx="20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 goals into subgoals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0" y="3175000"/>
            <a:ext cx="1270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842000" y="2667000"/>
            <a:ext cx="1016000" cy="1016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5842000" y="2667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61000" y="3937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Model-Based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34000" y="4445000"/>
            <a:ext cx="20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Learned world models for lookahead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3175000"/>
            <a:ext cx="1270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128000" y="2667000"/>
            <a:ext cx="1016000" cy="1016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8128000" y="2667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747000" y="3937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Uncertainty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0" y="4445000"/>
            <a:ext cx="20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MDPs, expected utility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0" y="3175000"/>
            <a:ext cx="1270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414000" y="2667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5" name="Text 23"/>
          <p:cNvSpPr/>
          <p:nvPr/>
        </p:nvSpPr>
        <p:spPr>
          <a:xfrm>
            <a:off x="10414000" y="2667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0033000" y="3937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Multi-Agent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06000" y="4445000"/>
            <a:ext cx="20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Game theory, cooperation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430000" y="3175000"/>
            <a:ext cx="1270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2700000" y="2667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30" name="Text 28"/>
          <p:cNvSpPr/>
          <p:nvPr/>
        </p:nvSpPr>
        <p:spPr>
          <a:xfrm>
            <a:off x="12700000" y="2667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2319000" y="3937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192000" y="4445000"/>
            <a:ext cx="20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Time, deadlines, scheduling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70000" y="5842000"/>
            <a:ext cx="13716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778000" y="6032500"/>
            <a:ext cx="1270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Model-Based RL: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Systems like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MuZero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Dreamer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learn internal world models for efficient planning — achieving master-level play in chess, Go, and Atari without knowing the rules.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Planning bridges reasoning and action, enabling agents to think before they act.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and Natural Language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Components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parsing meaning from input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producing coherent text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Dialogue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maintaining context over turns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symbols to real-world referents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Pragmatics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intent and social context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Emergent comm.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agents develop shared languages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Importance for AGI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Instruction following, knowledge acquisition, collaboration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1905000"/>
            <a:ext cx="6350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159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Language in AGI Systems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0" y="2667000"/>
            <a:ext cx="5334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Shape 6"/>
          <p:cNvSpPr/>
          <p:nvPr/>
        </p:nvSpPr>
        <p:spPr>
          <a:xfrm>
            <a:off x="9017000" y="292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12157"/>
                </a:moveTo>
                <a:lnTo>
                  <a:pt x="203200" y="357664"/>
                </a:lnTo>
                <a:lnTo>
                  <a:pt x="203597" y="357505"/>
                </a:lnTo>
                <a:cubicBezTo>
                  <a:pt x="246936" y="339487"/>
                  <a:pt x="293449" y="330200"/>
                  <a:pt x="340360" y="330200"/>
                </a:cubicBezTo>
                <a:lnTo>
                  <a:pt x="355600" y="330200"/>
                </a:lnTo>
                <a:lnTo>
                  <a:pt x="355600" y="76200"/>
                </a:lnTo>
                <a:lnTo>
                  <a:pt x="340360" y="76200"/>
                </a:lnTo>
                <a:cubicBezTo>
                  <a:pt x="306864" y="76200"/>
                  <a:pt x="273606" y="82868"/>
                  <a:pt x="242649" y="95726"/>
                </a:cubicBezTo>
                <a:cubicBezTo>
                  <a:pt x="229314" y="101283"/>
                  <a:pt x="216138" y="106759"/>
                  <a:pt x="203200" y="112157"/>
                </a:cubicBezTo>
                <a:close/>
                <a:moveTo>
                  <a:pt x="183277" y="48816"/>
                </a:moveTo>
                <a:lnTo>
                  <a:pt x="203200" y="57150"/>
                </a:lnTo>
                <a:lnTo>
                  <a:pt x="223123" y="48816"/>
                </a:lnTo>
                <a:cubicBezTo>
                  <a:pt x="260271" y="33338"/>
                  <a:pt x="300117" y="25400"/>
                  <a:pt x="34036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342900"/>
                </a:lnTo>
                <a:cubicBezTo>
                  <a:pt x="406400" y="363934"/>
                  <a:pt x="389334" y="381000"/>
                  <a:pt x="368300" y="381000"/>
                </a:cubicBezTo>
                <a:lnTo>
                  <a:pt x="340360" y="381000"/>
                </a:lnTo>
                <a:cubicBezTo>
                  <a:pt x="300117" y="381000"/>
                  <a:pt x="260271" y="388938"/>
                  <a:pt x="223123" y="404416"/>
                </a:cubicBezTo>
                <a:lnTo>
                  <a:pt x="212963" y="408622"/>
                </a:lnTo>
                <a:cubicBezTo>
                  <a:pt x="206693" y="411242"/>
                  <a:pt x="199708" y="411242"/>
                  <a:pt x="193437" y="408622"/>
                </a:cubicBezTo>
                <a:lnTo>
                  <a:pt x="183277" y="404416"/>
                </a:lnTo>
                <a:cubicBezTo>
                  <a:pt x="146129" y="388938"/>
                  <a:pt x="106283" y="381000"/>
                  <a:pt x="66040" y="381000"/>
                </a:cubicBezTo>
                <a:lnTo>
                  <a:pt x="38100" y="381000"/>
                </a:lnTo>
                <a:cubicBezTo>
                  <a:pt x="17066" y="381000"/>
                  <a:pt x="0" y="363934"/>
                  <a:pt x="0" y="342900"/>
                </a:cubicBezTo>
                <a:lnTo>
                  <a:pt x="0" y="63500"/>
                </a:lnTo>
                <a:cubicBezTo>
                  <a:pt x="0" y="42466"/>
                  <a:pt x="17066" y="25400"/>
                  <a:pt x="38100" y="25400"/>
                </a:cubicBezTo>
                <a:lnTo>
                  <a:pt x="66040" y="25400"/>
                </a:lnTo>
                <a:cubicBezTo>
                  <a:pt x="106283" y="25400"/>
                  <a:pt x="146129" y="33338"/>
                  <a:pt x="183277" y="4881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0" y="28575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Acquisition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Learning from text, books, and the internet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17000" y="393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0933" y="114300"/>
                </a:moveTo>
                <a:cubicBezTo>
                  <a:pt x="270933" y="191452"/>
                  <a:pt x="210256" y="254000"/>
                  <a:pt x="135467" y="254000"/>
                </a:cubicBezTo>
                <a:cubicBezTo>
                  <a:pt x="116628" y="254000"/>
                  <a:pt x="98707" y="250031"/>
                  <a:pt x="82409" y="242888"/>
                </a:cubicBezTo>
                <a:lnTo>
                  <a:pt x="24836" y="277178"/>
                </a:lnTo>
                <a:cubicBezTo>
                  <a:pt x="18274" y="281067"/>
                  <a:pt x="10231" y="279717"/>
                  <a:pt x="4939" y="273844"/>
                </a:cubicBezTo>
                <a:cubicBezTo>
                  <a:pt x="-353" y="267970"/>
                  <a:pt x="-1552" y="258842"/>
                  <a:pt x="1976" y="251460"/>
                </a:cubicBezTo>
                <a:lnTo>
                  <a:pt x="27093" y="198120"/>
                </a:lnTo>
                <a:cubicBezTo>
                  <a:pt x="10089" y="174784"/>
                  <a:pt x="0" y="145733"/>
                  <a:pt x="0" y="114300"/>
                </a:cubicBezTo>
                <a:cubicBezTo>
                  <a:pt x="0" y="37147"/>
                  <a:pt x="60678" y="-25400"/>
                  <a:pt x="135467" y="-25400"/>
                </a:cubicBezTo>
                <a:cubicBezTo>
                  <a:pt x="210256" y="-25400"/>
                  <a:pt x="270933" y="37147"/>
                  <a:pt x="270933" y="114300"/>
                </a:cubicBezTo>
                <a:close/>
                <a:moveTo>
                  <a:pt x="270933" y="406400"/>
                </a:moveTo>
                <a:cubicBezTo>
                  <a:pt x="204541" y="406400"/>
                  <a:pt x="149296" y="357108"/>
                  <a:pt x="137724" y="292100"/>
                </a:cubicBezTo>
                <a:cubicBezTo>
                  <a:pt x="222391" y="290909"/>
                  <a:pt x="295981" y="223123"/>
                  <a:pt x="304094" y="131207"/>
                </a:cubicBezTo>
                <a:cubicBezTo>
                  <a:pt x="362867" y="146447"/>
                  <a:pt x="406400" y="201295"/>
                  <a:pt x="406400" y="266700"/>
                </a:cubicBezTo>
                <a:cubicBezTo>
                  <a:pt x="406400" y="298133"/>
                  <a:pt x="396311" y="327184"/>
                  <a:pt x="379307" y="350520"/>
                </a:cubicBezTo>
                <a:lnTo>
                  <a:pt x="404424" y="403860"/>
                </a:lnTo>
                <a:cubicBezTo>
                  <a:pt x="407882" y="411242"/>
                  <a:pt x="406682" y="420291"/>
                  <a:pt x="401461" y="426244"/>
                </a:cubicBezTo>
                <a:cubicBezTo>
                  <a:pt x="396240" y="432197"/>
                  <a:pt x="388126" y="433546"/>
                  <a:pt x="381564" y="429578"/>
                </a:cubicBezTo>
                <a:lnTo>
                  <a:pt x="323991" y="395288"/>
                </a:lnTo>
                <a:cubicBezTo>
                  <a:pt x="307693" y="402431"/>
                  <a:pt x="289772" y="406400"/>
                  <a:pt x="270933" y="4064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0" y="38735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 Interaction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Following instructions, asking questions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170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2700"/>
                </a:moveTo>
                <a:cubicBezTo>
                  <a:pt x="239648" y="12700"/>
                  <a:pt x="269240" y="49689"/>
                  <a:pt x="269240" y="95250"/>
                </a:cubicBezTo>
                <a:cubicBezTo>
                  <a:pt x="269240" y="140811"/>
                  <a:pt x="239648" y="177800"/>
                  <a:pt x="203200" y="177800"/>
                </a:cubicBezTo>
                <a:cubicBezTo>
                  <a:pt x="166752" y="177800"/>
                  <a:pt x="137160" y="140811"/>
                  <a:pt x="137160" y="95250"/>
                </a:cubicBezTo>
                <a:cubicBezTo>
                  <a:pt x="137160" y="49689"/>
                  <a:pt x="166752" y="12700"/>
                  <a:pt x="203200" y="12700"/>
                </a:cubicBezTo>
                <a:close/>
                <a:moveTo>
                  <a:pt x="60960" y="69850"/>
                </a:moveTo>
                <a:cubicBezTo>
                  <a:pt x="86194" y="69850"/>
                  <a:pt x="106680" y="95458"/>
                  <a:pt x="106680" y="127000"/>
                </a:cubicBezTo>
                <a:cubicBezTo>
                  <a:pt x="106680" y="158542"/>
                  <a:pt x="86194" y="184150"/>
                  <a:pt x="60960" y="184150"/>
                </a:cubicBezTo>
                <a:cubicBezTo>
                  <a:pt x="35726" y="184150"/>
                  <a:pt x="15240" y="158542"/>
                  <a:pt x="15240" y="127000"/>
                </a:cubicBezTo>
                <a:cubicBezTo>
                  <a:pt x="15240" y="95458"/>
                  <a:pt x="35726" y="69850"/>
                  <a:pt x="60960" y="69850"/>
                </a:cubicBezTo>
                <a:close/>
                <a:moveTo>
                  <a:pt x="0" y="330200"/>
                </a:moveTo>
                <a:cubicBezTo>
                  <a:pt x="0" y="274082"/>
                  <a:pt x="36386" y="228600"/>
                  <a:pt x="81280" y="228600"/>
                </a:cubicBezTo>
                <a:cubicBezTo>
                  <a:pt x="89408" y="228600"/>
                  <a:pt x="97282" y="230108"/>
                  <a:pt x="104712" y="232886"/>
                </a:cubicBezTo>
                <a:cubicBezTo>
                  <a:pt x="83820" y="262096"/>
                  <a:pt x="71120" y="300672"/>
                  <a:pt x="71120" y="342900"/>
                </a:cubicBezTo>
                <a:lnTo>
                  <a:pt x="71120" y="355600"/>
                </a:lnTo>
                <a:cubicBezTo>
                  <a:pt x="71120" y="364649"/>
                  <a:pt x="72644" y="373221"/>
                  <a:pt x="75375" y="381000"/>
                </a:cubicBezTo>
                <a:lnTo>
                  <a:pt x="20320" y="381000"/>
                </a:lnTo>
                <a:cubicBezTo>
                  <a:pt x="908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331026" y="381000"/>
                </a:moveTo>
                <a:cubicBezTo>
                  <a:pt x="333756" y="373221"/>
                  <a:pt x="335280" y="364649"/>
                  <a:pt x="335280" y="355600"/>
                </a:cubicBezTo>
                <a:lnTo>
                  <a:pt x="335280" y="342900"/>
                </a:lnTo>
                <a:cubicBezTo>
                  <a:pt x="335280" y="300673"/>
                  <a:pt x="322580" y="262096"/>
                  <a:pt x="301689" y="232886"/>
                </a:cubicBezTo>
                <a:cubicBezTo>
                  <a:pt x="309118" y="230108"/>
                  <a:pt x="316992" y="228600"/>
                  <a:pt x="325120" y="228600"/>
                </a:cubicBezTo>
                <a:cubicBezTo>
                  <a:pt x="370015" y="228600"/>
                  <a:pt x="406400" y="274082"/>
                  <a:pt x="406400" y="330200"/>
                </a:cubicBezTo>
                <a:lnTo>
                  <a:pt x="406400" y="355600"/>
                </a:lnTo>
                <a:cubicBezTo>
                  <a:pt x="406400" y="369649"/>
                  <a:pt x="397320" y="381000"/>
                  <a:pt x="386080" y="381000"/>
                </a:cubicBezTo>
                <a:lnTo>
                  <a:pt x="331026" y="381000"/>
                </a:lnTo>
                <a:close/>
                <a:moveTo>
                  <a:pt x="299720" y="127000"/>
                </a:moveTo>
                <a:cubicBezTo>
                  <a:pt x="299720" y="95458"/>
                  <a:pt x="320206" y="69850"/>
                  <a:pt x="345440" y="69850"/>
                </a:cubicBezTo>
                <a:cubicBezTo>
                  <a:pt x="370674" y="69850"/>
                  <a:pt x="391160" y="95458"/>
                  <a:pt x="391160" y="127000"/>
                </a:cubicBezTo>
                <a:cubicBezTo>
                  <a:pt x="391160" y="158542"/>
                  <a:pt x="370674" y="184150"/>
                  <a:pt x="345440" y="184150"/>
                </a:cubicBezTo>
                <a:cubicBezTo>
                  <a:pt x="320206" y="184150"/>
                  <a:pt x="299720" y="158542"/>
                  <a:pt x="299720" y="127000"/>
                </a:cubicBezTo>
                <a:close/>
                <a:moveTo>
                  <a:pt x="101600" y="342900"/>
                </a:moveTo>
                <a:cubicBezTo>
                  <a:pt x="101600" y="272733"/>
                  <a:pt x="147066" y="215900"/>
                  <a:pt x="203200" y="215900"/>
                </a:cubicBezTo>
                <a:cubicBezTo>
                  <a:pt x="259334" y="215900"/>
                  <a:pt x="304800" y="272733"/>
                  <a:pt x="304800" y="342900"/>
                </a:cubicBezTo>
                <a:lnTo>
                  <a:pt x="304800" y="355600"/>
                </a:lnTo>
                <a:cubicBezTo>
                  <a:pt x="304800" y="369649"/>
                  <a:pt x="295720" y="381000"/>
                  <a:pt x="284480" y="381000"/>
                </a:cubicBezTo>
                <a:lnTo>
                  <a:pt x="121920" y="381000"/>
                </a:lnTo>
                <a:cubicBezTo>
                  <a:pt x="110681" y="381000"/>
                  <a:pt x="101600" y="369649"/>
                  <a:pt x="101600" y="355600"/>
                </a:cubicBezTo>
                <a:lnTo>
                  <a:pt x="101600" y="3429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9652000" y="48895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Multi-Agent Coordination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Collaborative problem-solving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017000" y="596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867" y="155416"/>
                </a:moveTo>
                <a:lnTo>
                  <a:pt x="181469" y="223758"/>
                </a:lnTo>
                <a:cubicBezTo>
                  <a:pt x="188383" y="226933"/>
                  <a:pt x="195721" y="228600"/>
                  <a:pt x="203200" y="228600"/>
                </a:cubicBezTo>
                <a:cubicBezTo>
                  <a:pt x="210679" y="228600"/>
                  <a:pt x="218017" y="226933"/>
                  <a:pt x="224931" y="223758"/>
                </a:cubicBezTo>
                <a:lnTo>
                  <a:pt x="395958" y="144542"/>
                </a:lnTo>
                <a:cubicBezTo>
                  <a:pt x="402308" y="141605"/>
                  <a:pt x="406400" y="134699"/>
                  <a:pt x="406400" y="127000"/>
                </a:cubicBezTo>
                <a:cubicBezTo>
                  <a:pt x="406400" y="119301"/>
                  <a:pt x="402308" y="112395"/>
                  <a:pt x="395958" y="109458"/>
                </a:cubicBezTo>
                <a:lnTo>
                  <a:pt x="224931" y="30242"/>
                </a:lnTo>
                <a:cubicBezTo>
                  <a:pt x="218017" y="27067"/>
                  <a:pt x="210679" y="25400"/>
                  <a:pt x="203200" y="25400"/>
                </a:cubicBezTo>
                <a:cubicBezTo>
                  <a:pt x="195721" y="25400"/>
                  <a:pt x="188383" y="27067"/>
                  <a:pt x="181469" y="30242"/>
                </a:cubicBezTo>
                <a:lnTo>
                  <a:pt x="10442" y="109458"/>
                </a:lnTo>
                <a:cubicBezTo>
                  <a:pt x="4092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7549" y="381000"/>
                  <a:pt x="16933" y="381000"/>
                </a:cubicBezTo>
                <a:cubicBezTo>
                  <a:pt x="26317" y="381000"/>
                  <a:pt x="33867" y="372507"/>
                  <a:pt x="33867" y="361950"/>
                </a:cubicBezTo>
                <a:lnTo>
                  <a:pt x="33867" y="155416"/>
                </a:lnTo>
                <a:close/>
                <a:moveTo>
                  <a:pt x="67733" y="212328"/>
                </a:moveTo>
                <a:lnTo>
                  <a:pt x="67733" y="304800"/>
                </a:lnTo>
                <a:cubicBezTo>
                  <a:pt x="67733" y="346869"/>
                  <a:pt x="128411" y="381000"/>
                  <a:pt x="203200" y="381000"/>
                </a:cubicBezTo>
                <a:cubicBezTo>
                  <a:pt x="277989" y="381000"/>
                  <a:pt x="338667" y="346869"/>
                  <a:pt x="338667" y="304800"/>
                </a:cubicBezTo>
                <a:lnTo>
                  <a:pt x="338667" y="212249"/>
                </a:lnTo>
                <a:lnTo>
                  <a:pt x="237843" y="259001"/>
                </a:lnTo>
                <a:cubicBezTo>
                  <a:pt x="226836" y="264081"/>
                  <a:pt x="215124" y="266700"/>
                  <a:pt x="203200" y="266700"/>
                </a:cubicBezTo>
                <a:cubicBezTo>
                  <a:pt x="191276" y="266700"/>
                  <a:pt x="179564" y="264081"/>
                  <a:pt x="168557" y="259001"/>
                </a:cubicBezTo>
                <a:lnTo>
                  <a:pt x="67733" y="212249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59055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Self-Reflection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Thinking via language (CoT)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Meta-Cognition and Self-Improvement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97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5300" y="247650"/>
                </a:moveTo>
                <a:cubicBezTo>
                  <a:pt x="495300" y="302300"/>
                  <a:pt x="477560" y="352782"/>
                  <a:pt x="447675" y="393740"/>
                </a:cubicBezTo>
                <a:lnTo>
                  <a:pt x="598408" y="544592"/>
                </a:lnTo>
                <a:cubicBezTo>
                  <a:pt x="613291" y="559475"/>
                  <a:pt x="613291" y="583644"/>
                  <a:pt x="598408" y="598527"/>
                </a:cubicBezTo>
                <a:cubicBezTo>
                  <a:pt x="583525" y="613410"/>
                  <a:pt x="559356" y="613410"/>
                  <a:pt x="544473" y="598527"/>
                </a:cubicBezTo>
                <a:lnTo>
                  <a:pt x="393740" y="447675"/>
                </a:lnTo>
                <a:cubicBezTo>
                  <a:pt x="352782" y="477560"/>
                  <a:pt x="302300" y="495300"/>
                  <a:pt x="247650" y="495300"/>
                </a:cubicBezTo>
                <a:cubicBezTo>
                  <a:pt x="110847" y="495300"/>
                  <a:pt x="0" y="384453"/>
                  <a:pt x="0" y="247650"/>
                </a:cubicBezTo>
                <a:cubicBezTo>
                  <a:pt x="0" y="110847"/>
                  <a:pt x="110847" y="0"/>
                  <a:pt x="247650" y="0"/>
                </a:cubicBezTo>
                <a:cubicBezTo>
                  <a:pt x="384453" y="0"/>
                  <a:pt x="495300" y="110847"/>
                  <a:pt x="495300" y="247650"/>
                </a:cubicBezTo>
                <a:close/>
                <a:moveTo>
                  <a:pt x="247650" y="419100"/>
                </a:moveTo>
                <a:cubicBezTo>
                  <a:pt x="342276" y="419100"/>
                  <a:pt x="419100" y="342276"/>
                  <a:pt x="419100" y="247650"/>
                </a:cubicBezTo>
                <a:cubicBezTo>
                  <a:pt x="419100" y="153024"/>
                  <a:pt x="342276" y="76200"/>
                  <a:pt x="247650" y="76200"/>
                </a:cubicBezTo>
                <a:cubicBezTo>
                  <a:pt x="153024" y="76200"/>
                  <a:pt x="76200" y="153024"/>
                  <a:pt x="76200" y="247650"/>
                </a:cubicBezTo>
                <a:cubicBezTo>
                  <a:pt x="76200" y="342276"/>
                  <a:pt x="153024" y="419100"/>
                  <a:pt x="247650" y="4191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Self-Assessment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35560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"Knowing what you know"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Estimate confidence in answers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Recognize knowledge gaps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Decide when to ask for help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96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9115" y="117396"/>
                </a:moveTo>
                <a:cubicBezTo>
                  <a:pt x="547158" y="108347"/>
                  <a:pt x="560599" y="110609"/>
                  <a:pt x="564621" y="122515"/>
                </a:cubicBezTo>
                <a:cubicBezTo>
                  <a:pt x="571818" y="143589"/>
                  <a:pt x="575733" y="166568"/>
                  <a:pt x="575733" y="190500"/>
                </a:cubicBezTo>
                <a:cubicBezTo>
                  <a:pt x="575733" y="295751"/>
                  <a:pt x="499957" y="381000"/>
                  <a:pt x="406400" y="381000"/>
                </a:cubicBezTo>
                <a:cubicBezTo>
                  <a:pt x="387879" y="381000"/>
                  <a:pt x="369993" y="377666"/>
                  <a:pt x="353272" y="371475"/>
                </a:cubicBezTo>
                <a:lnTo>
                  <a:pt x="155469" y="594003"/>
                </a:lnTo>
                <a:cubicBezTo>
                  <a:pt x="125730" y="627459"/>
                  <a:pt x="77470" y="627459"/>
                  <a:pt x="47731" y="594003"/>
                </a:cubicBezTo>
                <a:cubicBezTo>
                  <a:pt x="17992" y="560546"/>
                  <a:pt x="17992" y="506254"/>
                  <a:pt x="47731" y="472797"/>
                </a:cubicBezTo>
                <a:lnTo>
                  <a:pt x="245533" y="250269"/>
                </a:lnTo>
                <a:cubicBezTo>
                  <a:pt x="240030" y="231458"/>
                  <a:pt x="237067" y="211455"/>
                  <a:pt x="237067" y="190500"/>
                </a:cubicBezTo>
                <a:cubicBezTo>
                  <a:pt x="237067" y="85249"/>
                  <a:pt x="312843" y="0"/>
                  <a:pt x="406400" y="0"/>
                </a:cubicBezTo>
                <a:cubicBezTo>
                  <a:pt x="427673" y="0"/>
                  <a:pt x="448098" y="4405"/>
                  <a:pt x="466831" y="12502"/>
                </a:cubicBezTo>
                <a:cubicBezTo>
                  <a:pt x="477414" y="17026"/>
                  <a:pt x="479319" y="32147"/>
                  <a:pt x="471382" y="41196"/>
                </a:cubicBezTo>
                <a:lnTo>
                  <a:pt x="377508" y="146804"/>
                </a:lnTo>
                <a:cubicBezTo>
                  <a:pt x="374333" y="150376"/>
                  <a:pt x="372533" y="155258"/>
                  <a:pt x="372533" y="160258"/>
                </a:cubicBezTo>
                <a:lnTo>
                  <a:pt x="372533" y="209550"/>
                </a:lnTo>
                <a:cubicBezTo>
                  <a:pt x="372533" y="220028"/>
                  <a:pt x="380153" y="228600"/>
                  <a:pt x="389467" y="228600"/>
                </a:cubicBezTo>
                <a:lnTo>
                  <a:pt x="433282" y="228600"/>
                </a:lnTo>
                <a:cubicBezTo>
                  <a:pt x="437727" y="228600"/>
                  <a:pt x="442066" y="226576"/>
                  <a:pt x="445241" y="223004"/>
                </a:cubicBezTo>
                <a:lnTo>
                  <a:pt x="539115" y="117396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 Correction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23000" y="35560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Detect and fix mistakes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 reasoning chains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Backtrack when contradictions found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 from failures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558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395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3400" y="304800"/>
                </a:moveTo>
                <a:cubicBezTo>
                  <a:pt x="533400" y="178632"/>
                  <a:pt x="430968" y="76200"/>
                  <a:pt x="304800" y="76200"/>
                </a:cubicBezTo>
                <a:cubicBezTo>
                  <a:pt x="178632" y="76200"/>
                  <a:pt x="76200" y="178632"/>
                  <a:pt x="76200" y="304800"/>
                </a:cubicBezTo>
                <a:cubicBezTo>
                  <a:pt x="76200" y="430968"/>
                  <a:pt x="178632" y="533400"/>
                  <a:pt x="304800" y="533400"/>
                </a:cubicBezTo>
                <a:cubicBezTo>
                  <a:pt x="430968" y="533400"/>
                  <a:pt x="533400" y="430968"/>
                  <a:pt x="533400" y="304800"/>
                </a:cubicBezTo>
                <a:close/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  <a:moveTo>
                  <a:pt x="304800" y="400050"/>
                </a:moveTo>
                <a:cubicBezTo>
                  <a:pt x="357370" y="400050"/>
                  <a:pt x="400050" y="357370"/>
                  <a:pt x="400050" y="304800"/>
                </a:cubicBezTo>
                <a:cubicBezTo>
                  <a:pt x="400050" y="252230"/>
                  <a:pt x="357370" y="209550"/>
                  <a:pt x="304800" y="209550"/>
                </a:cubicBezTo>
                <a:cubicBezTo>
                  <a:pt x="252230" y="209550"/>
                  <a:pt x="209550" y="252230"/>
                  <a:pt x="209550" y="304800"/>
                </a:cubicBezTo>
                <a:cubicBezTo>
                  <a:pt x="209550" y="357370"/>
                  <a:pt x="252230" y="400050"/>
                  <a:pt x="304800" y="400050"/>
                </a:cubicBezTo>
                <a:close/>
                <a:moveTo>
                  <a:pt x="304800" y="133350"/>
                </a:moveTo>
                <a:cubicBezTo>
                  <a:pt x="399426" y="133350"/>
                  <a:pt x="476250" y="210174"/>
                  <a:pt x="476250" y="304800"/>
                </a:cubicBezTo>
                <a:cubicBezTo>
                  <a:pt x="476250" y="399426"/>
                  <a:pt x="399426" y="476250"/>
                  <a:pt x="304800" y="476250"/>
                </a:cubicBezTo>
                <a:cubicBezTo>
                  <a:pt x="210174" y="476250"/>
                  <a:pt x="133350" y="399426"/>
                  <a:pt x="133350" y="304800"/>
                </a:cubicBezTo>
                <a:cubicBezTo>
                  <a:pt x="133350" y="210174"/>
                  <a:pt x="210174" y="133350"/>
                  <a:pt x="304800" y="133350"/>
                </a:cubicBezTo>
                <a:close/>
                <a:moveTo>
                  <a:pt x="266700" y="304800"/>
                </a:moveTo>
                <a:cubicBezTo>
                  <a:pt x="266700" y="283772"/>
                  <a:pt x="283772" y="266700"/>
                  <a:pt x="304800" y="266700"/>
                </a:cubicBezTo>
                <a:cubicBezTo>
                  <a:pt x="325828" y="266700"/>
                  <a:pt x="342900" y="283772"/>
                  <a:pt x="342900" y="304800"/>
                </a:cubicBezTo>
                <a:cubicBezTo>
                  <a:pt x="342900" y="325828"/>
                  <a:pt x="325828" y="342900"/>
                  <a:pt x="304800" y="342900"/>
                </a:cubicBezTo>
                <a:cubicBezTo>
                  <a:pt x="283772" y="342900"/>
                  <a:pt x="266700" y="325828"/>
                  <a:pt x="266700" y="3048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 Management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22000" y="3556000"/>
            <a:ext cx="38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 and prioritize objectives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Allocate computational budget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 exploration vs exploitation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 goals based on feedback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70000" y="7747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Safety: Automated architecture search · Prompt optimization · Recursive self-refinement · Capability control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 Models and Internal Simulation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World Models?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representations that enable agents to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simulate possible futures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plan accordingly.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Types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predict next observations (JEPA)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Causal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understand cause-effect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Mental Simulation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"what-if" reasoning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Sample efficiency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Counterfactual reasoning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Generalization to novel situations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1905000"/>
            <a:ext cx="6350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159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Model-Based RL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0" y="2667000"/>
            <a:ext cx="5334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Shape 6"/>
          <p:cNvSpPr/>
          <p:nvPr/>
        </p:nvSpPr>
        <p:spPr>
          <a:xfrm>
            <a:off x="9017000" y="292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8038" y="-1984"/>
                </a:moveTo>
                <a:cubicBezTo>
                  <a:pt x="193754" y="-11033"/>
                  <a:pt x="213122" y="-11033"/>
                  <a:pt x="228838" y="-1984"/>
                </a:cubicBezTo>
                <a:lnTo>
                  <a:pt x="368459" y="78581"/>
                </a:lnTo>
                <a:cubicBezTo>
                  <a:pt x="384175" y="87630"/>
                  <a:pt x="393859" y="104458"/>
                  <a:pt x="393859" y="122555"/>
                </a:cubicBezTo>
                <a:lnTo>
                  <a:pt x="393859" y="283686"/>
                </a:lnTo>
                <a:cubicBezTo>
                  <a:pt x="393859" y="301863"/>
                  <a:pt x="384175" y="318611"/>
                  <a:pt x="368459" y="327660"/>
                </a:cubicBezTo>
                <a:lnTo>
                  <a:pt x="228838" y="408384"/>
                </a:lnTo>
                <a:cubicBezTo>
                  <a:pt x="213122" y="417433"/>
                  <a:pt x="193754" y="417433"/>
                  <a:pt x="178038" y="408384"/>
                </a:cubicBezTo>
                <a:lnTo>
                  <a:pt x="38497" y="327819"/>
                </a:lnTo>
                <a:cubicBezTo>
                  <a:pt x="22781" y="318770"/>
                  <a:pt x="13097" y="301943"/>
                  <a:pt x="13097" y="283845"/>
                </a:cubicBezTo>
                <a:lnTo>
                  <a:pt x="13097" y="122714"/>
                </a:lnTo>
                <a:cubicBezTo>
                  <a:pt x="13097" y="104537"/>
                  <a:pt x="22781" y="87789"/>
                  <a:pt x="38497" y="78740"/>
                </a:cubicBezTo>
                <a:lnTo>
                  <a:pt x="178038" y="-1984"/>
                </a:lnTo>
                <a:close/>
                <a:moveTo>
                  <a:pt x="342979" y="283766"/>
                </a:moveTo>
                <a:lnTo>
                  <a:pt x="342979" y="151924"/>
                </a:lnTo>
                <a:lnTo>
                  <a:pt x="228838" y="217805"/>
                </a:lnTo>
                <a:lnTo>
                  <a:pt x="228838" y="349647"/>
                </a:lnTo>
                <a:lnTo>
                  <a:pt x="342979" y="283766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0" y="28575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MuZero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DeepMind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Learns dynamics model for planning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17000" y="393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66700"/>
                </a:moveTo>
                <a:cubicBezTo>
                  <a:pt x="0" y="329803"/>
                  <a:pt x="45508" y="381000"/>
                  <a:pt x="101600" y="381000"/>
                </a:cubicBezTo>
                <a:lnTo>
                  <a:pt x="316089" y="381000"/>
                </a:lnTo>
                <a:cubicBezTo>
                  <a:pt x="365972" y="381000"/>
                  <a:pt x="406400" y="335518"/>
                  <a:pt x="406400" y="279400"/>
                </a:cubicBezTo>
                <a:cubicBezTo>
                  <a:pt x="406400" y="238442"/>
                  <a:pt x="384881" y="203121"/>
                  <a:pt x="353836" y="187087"/>
                </a:cubicBezTo>
                <a:cubicBezTo>
                  <a:pt x="358563" y="176689"/>
                  <a:pt x="361244" y="164862"/>
                  <a:pt x="361244" y="152400"/>
                </a:cubicBezTo>
                <a:cubicBezTo>
                  <a:pt x="361244" y="110331"/>
                  <a:pt x="330906" y="76200"/>
                  <a:pt x="293511" y="76200"/>
                </a:cubicBezTo>
                <a:cubicBezTo>
                  <a:pt x="281023" y="76200"/>
                  <a:pt x="269381" y="80010"/>
                  <a:pt x="259362" y="86598"/>
                </a:cubicBezTo>
                <a:cubicBezTo>
                  <a:pt x="242358" y="50244"/>
                  <a:pt x="208421" y="25400"/>
                  <a:pt x="169333" y="25400"/>
                </a:cubicBezTo>
                <a:cubicBezTo>
                  <a:pt x="113242" y="25400"/>
                  <a:pt x="67733" y="76597"/>
                  <a:pt x="67733" y="139700"/>
                </a:cubicBezTo>
                <a:cubicBezTo>
                  <a:pt x="67733" y="146050"/>
                  <a:pt x="68227" y="152321"/>
                  <a:pt x="69074" y="158353"/>
                </a:cubicBezTo>
                <a:cubicBezTo>
                  <a:pt x="28928" y="173593"/>
                  <a:pt x="0" y="216376"/>
                  <a:pt x="0" y="2667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0" y="38735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Dreamer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Google Research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World models in latent space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170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63500"/>
                </a:moveTo>
                <a:cubicBezTo>
                  <a:pt x="0" y="42466"/>
                  <a:pt x="17066" y="25400"/>
                  <a:pt x="38100" y="25400"/>
                </a:cubicBezTo>
                <a:lnTo>
                  <a:pt x="114300" y="25400"/>
                </a:lnTo>
                <a:cubicBezTo>
                  <a:pt x="135334" y="25400"/>
                  <a:pt x="152400" y="42466"/>
                  <a:pt x="152400" y="63500"/>
                </a:cubicBezTo>
                <a:lnTo>
                  <a:pt x="152400" y="76200"/>
                </a:lnTo>
                <a:lnTo>
                  <a:pt x="254000" y="76200"/>
                </a:lnTo>
                <a:lnTo>
                  <a:pt x="254000" y="63500"/>
                </a:lnTo>
                <a:cubicBezTo>
                  <a:pt x="254000" y="42466"/>
                  <a:pt x="271066" y="25400"/>
                  <a:pt x="29210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139700"/>
                </a:lnTo>
                <a:cubicBezTo>
                  <a:pt x="406400" y="160734"/>
                  <a:pt x="389334" y="177800"/>
                  <a:pt x="368300" y="177800"/>
                </a:cubicBezTo>
                <a:lnTo>
                  <a:pt x="292100" y="177800"/>
                </a:lnTo>
                <a:cubicBezTo>
                  <a:pt x="271066" y="177800"/>
                  <a:pt x="254000" y="160734"/>
                  <a:pt x="254000" y="139700"/>
                </a:cubicBezTo>
                <a:lnTo>
                  <a:pt x="254000" y="127000"/>
                </a:lnTo>
                <a:lnTo>
                  <a:pt x="152400" y="127000"/>
                </a:lnTo>
                <a:lnTo>
                  <a:pt x="152400" y="139700"/>
                </a:lnTo>
                <a:cubicBezTo>
                  <a:pt x="152400" y="145494"/>
                  <a:pt x="151051" y="151051"/>
                  <a:pt x="148749" y="155972"/>
                </a:cubicBezTo>
                <a:lnTo>
                  <a:pt x="203200" y="228600"/>
                </a:lnTo>
                <a:lnTo>
                  <a:pt x="266700" y="228600"/>
                </a:lnTo>
                <a:cubicBezTo>
                  <a:pt x="287734" y="228600"/>
                  <a:pt x="304800" y="245666"/>
                  <a:pt x="304800" y="266700"/>
                </a:cubicBezTo>
                <a:lnTo>
                  <a:pt x="304800" y="342900"/>
                </a:lnTo>
                <a:cubicBezTo>
                  <a:pt x="304800" y="363934"/>
                  <a:pt x="287734" y="381000"/>
                  <a:pt x="266700" y="381000"/>
                </a:cubicBezTo>
                <a:lnTo>
                  <a:pt x="190500" y="381000"/>
                </a:lnTo>
                <a:cubicBezTo>
                  <a:pt x="169466" y="381000"/>
                  <a:pt x="152400" y="363934"/>
                  <a:pt x="152400" y="342900"/>
                </a:cubicBezTo>
                <a:lnTo>
                  <a:pt x="152400" y="266700"/>
                </a:lnTo>
                <a:cubicBezTo>
                  <a:pt x="152400" y="260906"/>
                  <a:pt x="153749" y="255349"/>
                  <a:pt x="156051" y="250428"/>
                </a:cubicBezTo>
                <a:lnTo>
                  <a:pt x="101600" y="177800"/>
                </a:lnTo>
                <a:lnTo>
                  <a:pt x="38100" y="177800"/>
                </a:lnTo>
                <a:cubicBezTo>
                  <a:pt x="17066" y="177800"/>
                  <a:pt x="0" y="160734"/>
                  <a:pt x="0" y="139700"/>
                </a:cubicBezTo>
                <a:lnTo>
                  <a:pt x="0" y="635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9652000" y="4889500"/>
            <a:ext cx="495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JEPA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Yann LeCun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Joint Embedding Predictive Architecture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17000" y="6096000"/>
            <a:ext cx="558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Brain connection: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Predictive processing theory — the brain is fundamentally a prediction machine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Approaches to AGI Development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97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3543" y="38100"/>
                </a:moveTo>
                <a:cubicBezTo>
                  <a:pt x="19458" y="38100"/>
                  <a:pt x="0" y="55126"/>
                  <a:pt x="0" y="76200"/>
                </a:cubicBezTo>
                <a:lnTo>
                  <a:pt x="0" y="190500"/>
                </a:lnTo>
                <a:cubicBezTo>
                  <a:pt x="0" y="211574"/>
                  <a:pt x="19458" y="228600"/>
                  <a:pt x="43543" y="228600"/>
                </a:cubicBezTo>
                <a:cubicBezTo>
                  <a:pt x="67628" y="228600"/>
                  <a:pt x="87086" y="211574"/>
                  <a:pt x="87086" y="190500"/>
                </a:cubicBezTo>
                <a:lnTo>
                  <a:pt x="87086" y="114300"/>
                </a:lnTo>
                <a:lnTo>
                  <a:pt x="174171" y="114300"/>
                </a:lnTo>
                <a:cubicBezTo>
                  <a:pt x="198256" y="114300"/>
                  <a:pt x="217714" y="97274"/>
                  <a:pt x="217714" y="76200"/>
                </a:cubicBezTo>
                <a:cubicBezTo>
                  <a:pt x="217714" y="55126"/>
                  <a:pt x="198256" y="38100"/>
                  <a:pt x="174171" y="38100"/>
                </a:cubicBezTo>
                <a:lnTo>
                  <a:pt x="43543" y="38100"/>
                </a:lnTo>
                <a:close/>
                <a:moveTo>
                  <a:pt x="87086" y="419100"/>
                </a:moveTo>
                <a:cubicBezTo>
                  <a:pt x="87086" y="398026"/>
                  <a:pt x="67628" y="381000"/>
                  <a:pt x="43543" y="381000"/>
                </a:cubicBezTo>
                <a:cubicBezTo>
                  <a:pt x="19458" y="381000"/>
                  <a:pt x="0" y="398026"/>
                  <a:pt x="0" y="419100"/>
                </a:cubicBezTo>
                <a:lnTo>
                  <a:pt x="0" y="533400"/>
                </a:lnTo>
                <a:cubicBezTo>
                  <a:pt x="0" y="554474"/>
                  <a:pt x="19458" y="571500"/>
                  <a:pt x="43543" y="571500"/>
                </a:cubicBezTo>
                <a:lnTo>
                  <a:pt x="174171" y="571500"/>
                </a:lnTo>
                <a:cubicBezTo>
                  <a:pt x="198256" y="571500"/>
                  <a:pt x="217714" y="554474"/>
                  <a:pt x="217714" y="533400"/>
                </a:cubicBezTo>
                <a:cubicBezTo>
                  <a:pt x="217714" y="512326"/>
                  <a:pt x="198256" y="495300"/>
                  <a:pt x="174171" y="495300"/>
                </a:cubicBezTo>
                <a:lnTo>
                  <a:pt x="87086" y="495300"/>
                </a:lnTo>
                <a:lnTo>
                  <a:pt x="87086" y="419100"/>
                </a:lnTo>
                <a:close/>
                <a:moveTo>
                  <a:pt x="435429" y="38100"/>
                </a:moveTo>
                <a:cubicBezTo>
                  <a:pt x="411344" y="38100"/>
                  <a:pt x="391886" y="55126"/>
                  <a:pt x="391886" y="76200"/>
                </a:cubicBezTo>
                <a:cubicBezTo>
                  <a:pt x="391886" y="97274"/>
                  <a:pt x="411344" y="114300"/>
                  <a:pt x="435429" y="114300"/>
                </a:cubicBezTo>
                <a:lnTo>
                  <a:pt x="522514" y="114300"/>
                </a:lnTo>
                <a:lnTo>
                  <a:pt x="522514" y="190500"/>
                </a:lnTo>
                <a:cubicBezTo>
                  <a:pt x="522514" y="211574"/>
                  <a:pt x="541973" y="228600"/>
                  <a:pt x="566057" y="228600"/>
                </a:cubicBezTo>
                <a:cubicBezTo>
                  <a:pt x="590142" y="228600"/>
                  <a:pt x="609600" y="211574"/>
                  <a:pt x="609600" y="190500"/>
                </a:cubicBezTo>
                <a:lnTo>
                  <a:pt x="609600" y="76200"/>
                </a:lnTo>
                <a:cubicBezTo>
                  <a:pt x="609600" y="55126"/>
                  <a:pt x="590142" y="38100"/>
                  <a:pt x="566057" y="38100"/>
                </a:cubicBezTo>
                <a:lnTo>
                  <a:pt x="435429" y="38100"/>
                </a:lnTo>
                <a:close/>
                <a:moveTo>
                  <a:pt x="609600" y="419100"/>
                </a:moveTo>
                <a:cubicBezTo>
                  <a:pt x="609600" y="398026"/>
                  <a:pt x="590142" y="381000"/>
                  <a:pt x="566057" y="381000"/>
                </a:cubicBezTo>
                <a:cubicBezTo>
                  <a:pt x="541973" y="381000"/>
                  <a:pt x="522514" y="398026"/>
                  <a:pt x="522514" y="419100"/>
                </a:cubicBezTo>
                <a:lnTo>
                  <a:pt x="522514" y="495300"/>
                </a:lnTo>
                <a:lnTo>
                  <a:pt x="435429" y="495300"/>
                </a:lnTo>
                <a:cubicBezTo>
                  <a:pt x="411344" y="495300"/>
                  <a:pt x="391886" y="512326"/>
                  <a:pt x="391886" y="533400"/>
                </a:cubicBezTo>
                <a:cubicBezTo>
                  <a:pt x="391886" y="554474"/>
                  <a:pt x="411344" y="571500"/>
                  <a:pt x="435429" y="571500"/>
                </a:cubicBezTo>
                <a:lnTo>
                  <a:pt x="566057" y="571500"/>
                </a:lnTo>
                <a:cubicBezTo>
                  <a:pt x="590142" y="571500"/>
                  <a:pt x="609600" y="554474"/>
                  <a:pt x="609600" y="533400"/>
                </a:cubicBezTo>
                <a:lnTo>
                  <a:pt x="609600" y="4191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3556000"/>
            <a:ext cx="381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Larger models + more data + compute →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emergent capabilities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GPT-4, Claude, Gemini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Debate: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 scale sufficient or are architectural innovations needed?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96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66700" y="0"/>
                </a:moveTo>
                <a:cubicBezTo>
                  <a:pt x="308729" y="0"/>
                  <a:pt x="342900" y="25598"/>
                  <a:pt x="342900" y="57150"/>
                </a:cubicBezTo>
                <a:cubicBezTo>
                  <a:pt x="342900" y="69533"/>
                  <a:pt x="337661" y="80962"/>
                  <a:pt x="328613" y="90368"/>
                </a:cubicBezTo>
                <a:cubicBezTo>
                  <a:pt x="320754" y="98584"/>
                  <a:pt x="314325" y="108585"/>
                  <a:pt x="314325" y="120015"/>
                </a:cubicBezTo>
                <a:cubicBezTo>
                  <a:pt x="314325" y="137874"/>
                  <a:pt x="328851" y="152400"/>
                  <a:pt x="346710" y="152400"/>
                </a:cubicBezTo>
                <a:lnTo>
                  <a:pt x="400050" y="152400"/>
                </a:lnTo>
                <a:cubicBezTo>
                  <a:pt x="431602" y="152400"/>
                  <a:pt x="457200" y="177998"/>
                  <a:pt x="457200" y="209550"/>
                </a:cubicBezTo>
                <a:lnTo>
                  <a:pt x="457200" y="262890"/>
                </a:lnTo>
                <a:cubicBezTo>
                  <a:pt x="457200" y="280749"/>
                  <a:pt x="471726" y="295275"/>
                  <a:pt x="489585" y="295275"/>
                </a:cubicBezTo>
                <a:cubicBezTo>
                  <a:pt x="500896" y="295275"/>
                  <a:pt x="511016" y="288846"/>
                  <a:pt x="519232" y="280987"/>
                </a:cubicBezTo>
                <a:cubicBezTo>
                  <a:pt x="528638" y="272058"/>
                  <a:pt x="540068" y="266700"/>
                  <a:pt x="552450" y="266700"/>
                </a:cubicBezTo>
                <a:cubicBezTo>
                  <a:pt x="584002" y="266700"/>
                  <a:pt x="609600" y="300871"/>
                  <a:pt x="609600" y="342900"/>
                </a:cubicBezTo>
                <a:cubicBezTo>
                  <a:pt x="609600" y="384929"/>
                  <a:pt x="584002" y="419100"/>
                  <a:pt x="552450" y="419100"/>
                </a:cubicBezTo>
                <a:cubicBezTo>
                  <a:pt x="540068" y="419100"/>
                  <a:pt x="528518" y="413861"/>
                  <a:pt x="519232" y="404813"/>
                </a:cubicBezTo>
                <a:cubicBezTo>
                  <a:pt x="511016" y="396954"/>
                  <a:pt x="501015" y="390525"/>
                  <a:pt x="489585" y="390525"/>
                </a:cubicBezTo>
                <a:cubicBezTo>
                  <a:pt x="471726" y="390525"/>
                  <a:pt x="457200" y="405051"/>
                  <a:pt x="457200" y="422910"/>
                </a:cubicBezTo>
                <a:lnTo>
                  <a:pt x="457200" y="552450"/>
                </a:lnTo>
                <a:cubicBezTo>
                  <a:pt x="457200" y="584002"/>
                  <a:pt x="431602" y="609600"/>
                  <a:pt x="400050" y="609600"/>
                </a:cubicBezTo>
                <a:lnTo>
                  <a:pt x="332423" y="609600"/>
                </a:lnTo>
                <a:cubicBezTo>
                  <a:pt x="317183" y="609600"/>
                  <a:pt x="304800" y="597218"/>
                  <a:pt x="304800" y="581978"/>
                </a:cubicBezTo>
                <a:cubicBezTo>
                  <a:pt x="304800" y="571024"/>
                  <a:pt x="311706" y="561380"/>
                  <a:pt x="320516" y="554831"/>
                </a:cubicBezTo>
                <a:cubicBezTo>
                  <a:pt x="334328" y="544473"/>
                  <a:pt x="342900" y="530185"/>
                  <a:pt x="342900" y="514350"/>
                </a:cubicBezTo>
                <a:cubicBezTo>
                  <a:pt x="342900" y="482798"/>
                  <a:pt x="308729" y="457200"/>
                  <a:pt x="266700" y="457200"/>
                </a:cubicBezTo>
                <a:cubicBezTo>
                  <a:pt x="224671" y="457200"/>
                  <a:pt x="190500" y="482798"/>
                  <a:pt x="190500" y="514350"/>
                </a:cubicBezTo>
                <a:cubicBezTo>
                  <a:pt x="190500" y="530185"/>
                  <a:pt x="199072" y="544473"/>
                  <a:pt x="212884" y="554831"/>
                </a:cubicBezTo>
                <a:cubicBezTo>
                  <a:pt x="221694" y="561380"/>
                  <a:pt x="228600" y="570905"/>
                  <a:pt x="228600" y="581978"/>
                </a:cubicBezTo>
                <a:cubicBezTo>
                  <a:pt x="228600" y="597218"/>
                  <a:pt x="216218" y="609600"/>
                  <a:pt x="200978" y="609600"/>
                </a:cubicBezTo>
                <a:lnTo>
                  <a:pt x="57150" y="609600"/>
                </a:lnTo>
                <a:cubicBezTo>
                  <a:pt x="25598" y="609600"/>
                  <a:pt x="0" y="584002"/>
                  <a:pt x="0" y="552450"/>
                </a:cubicBezTo>
                <a:lnTo>
                  <a:pt x="0" y="408623"/>
                </a:lnTo>
                <a:cubicBezTo>
                  <a:pt x="0" y="393383"/>
                  <a:pt x="12383" y="381000"/>
                  <a:pt x="27622" y="381000"/>
                </a:cubicBezTo>
                <a:cubicBezTo>
                  <a:pt x="38576" y="381000"/>
                  <a:pt x="48220" y="387906"/>
                  <a:pt x="54769" y="396716"/>
                </a:cubicBezTo>
                <a:cubicBezTo>
                  <a:pt x="65127" y="410528"/>
                  <a:pt x="79415" y="419100"/>
                  <a:pt x="95250" y="419100"/>
                </a:cubicBezTo>
                <a:cubicBezTo>
                  <a:pt x="126802" y="419100"/>
                  <a:pt x="152400" y="384929"/>
                  <a:pt x="152400" y="342900"/>
                </a:cubicBezTo>
                <a:cubicBezTo>
                  <a:pt x="152400" y="300871"/>
                  <a:pt x="126802" y="266700"/>
                  <a:pt x="95250" y="266700"/>
                </a:cubicBezTo>
                <a:cubicBezTo>
                  <a:pt x="79415" y="266700"/>
                  <a:pt x="65127" y="275273"/>
                  <a:pt x="54769" y="289084"/>
                </a:cubicBezTo>
                <a:cubicBezTo>
                  <a:pt x="48220" y="297894"/>
                  <a:pt x="38695" y="304800"/>
                  <a:pt x="27622" y="304800"/>
                </a:cubicBezTo>
                <a:cubicBezTo>
                  <a:pt x="12382" y="304800"/>
                  <a:pt x="0" y="292418"/>
                  <a:pt x="0" y="277178"/>
                </a:cubicBezTo>
                <a:lnTo>
                  <a:pt x="0" y="209550"/>
                </a:lnTo>
                <a:cubicBezTo>
                  <a:pt x="0" y="177998"/>
                  <a:pt x="25598" y="152400"/>
                  <a:pt x="57150" y="152400"/>
                </a:cubicBezTo>
                <a:lnTo>
                  <a:pt x="186690" y="152400"/>
                </a:lnTo>
                <a:cubicBezTo>
                  <a:pt x="204549" y="152400"/>
                  <a:pt x="219075" y="137874"/>
                  <a:pt x="219075" y="120015"/>
                </a:cubicBezTo>
                <a:cubicBezTo>
                  <a:pt x="219075" y="108704"/>
                  <a:pt x="212646" y="98584"/>
                  <a:pt x="204787" y="90368"/>
                </a:cubicBezTo>
                <a:cubicBezTo>
                  <a:pt x="195858" y="80962"/>
                  <a:pt x="190500" y="69533"/>
                  <a:pt x="190500" y="57150"/>
                </a:cubicBezTo>
                <a:cubicBezTo>
                  <a:pt x="190500" y="25598"/>
                  <a:pt x="224671" y="0"/>
                  <a:pt x="266700" y="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Modular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23000" y="3556000"/>
            <a:ext cx="381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 components into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integrated systems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SOAR, ACT-R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Approach: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Cognitive architectures with explicit knowledge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584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395200" y="222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58800" y="0"/>
                </a:moveTo>
                <a:cubicBezTo>
                  <a:pt x="586899" y="0"/>
                  <a:pt x="609600" y="17026"/>
                  <a:pt x="609600" y="38100"/>
                </a:cubicBezTo>
                <a:cubicBezTo>
                  <a:pt x="609600" y="106918"/>
                  <a:pt x="570865" y="162878"/>
                  <a:pt x="518478" y="210145"/>
                </a:cubicBezTo>
                <a:cubicBezTo>
                  <a:pt x="480219" y="244554"/>
                  <a:pt x="433070" y="275749"/>
                  <a:pt x="385763" y="304800"/>
                </a:cubicBezTo>
                <a:cubicBezTo>
                  <a:pt x="433070" y="333970"/>
                  <a:pt x="480219" y="365046"/>
                  <a:pt x="518478" y="399455"/>
                </a:cubicBezTo>
                <a:cubicBezTo>
                  <a:pt x="570865" y="446603"/>
                  <a:pt x="609600" y="502682"/>
                  <a:pt x="609600" y="571500"/>
                </a:cubicBezTo>
                <a:cubicBezTo>
                  <a:pt x="609600" y="592574"/>
                  <a:pt x="586899" y="609600"/>
                  <a:pt x="558800" y="609600"/>
                </a:cubicBezTo>
                <a:cubicBezTo>
                  <a:pt x="530701" y="609600"/>
                  <a:pt x="508000" y="592574"/>
                  <a:pt x="508000" y="571500"/>
                </a:cubicBezTo>
                <a:lnTo>
                  <a:pt x="101600" y="571500"/>
                </a:lnTo>
                <a:cubicBezTo>
                  <a:pt x="101600" y="592574"/>
                  <a:pt x="78899" y="609600"/>
                  <a:pt x="50800" y="609600"/>
                </a:cubicBezTo>
                <a:cubicBezTo>
                  <a:pt x="22701" y="609600"/>
                  <a:pt x="0" y="592574"/>
                  <a:pt x="0" y="571500"/>
                </a:cubicBezTo>
                <a:cubicBezTo>
                  <a:pt x="0" y="502682"/>
                  <a:pt x="38735" y="446723"/>
                  <a:pt x="91123" y="399455"/>
                </a:cubicBezTo>
                <a:cubicBezTo>
                  <a:pt x="129381" y="365046"/>
                  <a:pt x="176530" y="333970"/>
                  <a:pt x="223838" y="304800"/>
                </a:cubicBezTo>
                <a:cubicBezTo>
                  <a:pt x="176530" y="275630"/>
                  <a:pt x="129381" y="244554"/>
                  <a:pt x="91123" y="210145"/>
                </a:cubicBezTo>
                <a:cubicBezTo>
                  <a:pt x="38735" y="162878"/>
                  <a:pt x="0" y="106918"/>
                  <a:pt x="0" y="38100"/>
                </a:cubicBezTo>
                <a:cubicBezTo>
                  <a:pt x="0" y="17026"/>
                  <a:pt x="22701" y="0"/>
                  <a:pt x="50800" y="0"/>
                </a:cubicBezTo>
                <a:cubicBezTo>
                  <a:pt x="78899" y="0"/>
                  <a:pt x="101600" y="17026"/>
                  <a:pt x="101600" y="38100"/>
                </a:cubicBezTo>
                <a:lnTo>
                  <a:pt x="508000" y="38100"/>
                </a:lnTo>
                <a:cubicBezTo>
                  <a:pt x="508000" y="17026"/>
                  <a:pt x="530701" y="0"/>
                  <a:pt x="558800" y="0"/>
                </a:cubicBezTo>
                <a:close/>
                <a:moveTo>
                  <a:pt x="450056" y="457200"/>
                </a:moveTo>
                <a:lnTo>
                  <a:pt x="159703" y="457200"/>
                </a:lnTo>
                <a:cubicBezTo>
                  <a:pt x="146685" y="469702"/>
                  <a:pt x="135731" y="482322"/>
                  <a:pt x="127000" y="495300"/>
                </a:cubicBezTo>
                <a:lnTo>
                  <a:pt x="482917" y="495300"/>
                </a:lnTo>
                <a:cubicBezTo>
                  <a:pt x="474028" y="482322"/>
                  <a:pt x="463074" y="469702"/>
                  <a:pt x="450215" y="457200"/>
                </a:cubicBezTo>
                <a:close/>
                <a:moveTo>
                  <a:pt x="377825" y="400050"/>
                </a:moveTo>
                <a:cubicBezTo>
                  <a:pt x="355124" y="384572"/>
                  <a:pt x="330518" y="369332"/>
                  <a:pt x="304800" y="353616"/>
                </a:cubicBezTo>
                <a:cubicBezTo>
                  <a:pt x="279083" y="369213"/>
                  <a:pt x="254476" y="384572"/>
                  <a:pt x="231775" y="400050"/>
                </a:cubicBezTo>
                <a:lnTo>
                  <a:pt x="377825" y="400050"/>
                </a:lnTo>
                <a:close/>
                <a:moveTo>
                  <a:pt x="159544" y="152400"/>
                </a:moveTo>
                <a:lnTo>
                  <a:pt x="449898" y="152400"/>
                </a:lnTo>
                <a:cubicBezTo>
                  <a:pt x="462915" y="139898"/>
                  <a:pt x="473869" y="127278"/>
                  <a:pt x="482600" y="114300"/>
                </a:cubicBezTo>
                <a:lnTo>
                  <a:pt x="126841" y="114300"/>
                </a:lnTo>
                <a:cubicBezTo>
                  <a:pt x="135731" y="127278"/>
                  <a:pt x="146685" y="139898"/>
                  <a:pt x="159544" y="152400"/>
                </a:cubicBezTo>
                <a:close/>
                <a:moveTo>
                  <a:pt x="231775" y="209550"/>
                </a:moveTo>
                <a:cubicBezTo>
                  <a:pt x="254476" y="225028"/>
                  <a:pt x="279083" y="240268"/>
                  <a:pt x="304800" y="255984"/>
                </a:cubicBezTo>
                <a:cubicBezTo>
                  <a:pt x="330518" y="240387"/>
                  <a:pt x="355124" y="225028"/>
                  <a:pt x="377825" y="209550"/>
                </a:cubicBezTo>
                <a:lnTo>
                  <a:pt x="231775" y="2095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984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22000" y="3556000"/>
            <a:ext cx="381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+ symbolic reasoning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DeepMind, OpenAI research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Neural pattern recognition + logical reasoning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— Components of AGI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6040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47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0684" y="5159"/>
                </a:moveTo>
                <a:cubicBezTo>
                  <a:pt x="245467" y="-1687"/>
                  <a:pt x="262533" y="-1687"/>
                  <a:pt x="277316" y="5159"/>
                </a:cubicBezTo>
                <a:lnTo>
                  <a:pt x="494209" y="105370"/>
                </a:lnTo>
                <a:cubicBezTo>
                  <a:pt x="502642" y="109240"/>
                  <a:pt x="508000" y="117673"/>
                  <a:pt x="508000" y="127000"/>
                </a:cubicBezTo>
                <a:cubicBezTo>
                  <a:pt x="508000" y="136327"/>
                  <a:pt x="502642" y="144760"/>
                  <a:pt x="494209" y="148630"/>
                </a:cubicBezTo>
                <a:lnTo>
                  <a:pt x="277316" y="248841"/>
                </a:lnTo>
                <a:cubicBezTo>
                  <a:pt x="262533" y="255687"/>
                  <a:pt x="245467" y="255687"/>
                  <a:pt x="230684" y="248841"/>
                </a:cubicBezTo>
                <a:lnTo>
                  <a:pt x="13791" y="148630"/>
                </a:lnTo>
                <a:cubicBezTo>
                  <a:pt x="5358" y="144661"/>
                  <a:pt x="0" y="136227"/>
                  <a:pt x="0" y="127000"/>
                </a:cubicBezTo>
                <a:cubicBezTo>
                  <a:pt x="0" y="117773"/>
                  <a:pt x="5358" y="109240"/>
                  <a:pt x="13791" y="105370"/>
                </a:cubicBezTo>
                <a:lnTo>
                  <a:pt x="230684" y="5159"/>
                </a:lnTo>
                <a:close/>
                <a:moveTo>
                  <a:pt x="47724" y="216694"/>
                </a:moveTo>
                <a:lnTo>
                  <a:pt x="210741" y="292001"/>
                </a:lnTo>
                <a:cubicBezTo>
                  <a:pt x="238224" y="304701"/>
                  <a:pt x="269875" y="304701"/>
                  <a:pt x="297359" y="292001"/>
                </a:cubicBezTo>
                <a:lnTo>
                  <a:pt x="460375" y="216694"/>
                </a:lnTo>
                <a:lnTo>
                  <a:pt x="494209" y="232370"/>
                </a:lnTo>
                <a:cubicBezTo>
                  <a:pt x="502642" y="236240"/>
                  <a:pt x="508000" y="244673"/>
                  <a:pt x="508000" y="254000"/>
                </a:cubicBezTo>
                <a:cubicBezTo>
                  <a:pt x="508000" y="263327"/>
                  <a:pt x="502642" y="271760"/>
                  <a:pt x="494209" y="275630"/>
                </a:cubicBezTo>
                <a:lnTo>
                  <a:pt x="277316" y="375841"/>
                </a:lnTo>
                <a:cubicBezTo>
                  <a:pt x="262533" y="382687"/>
                  <a:pt x="245467" y="382687"/>
                  <a:pt x="230684" y="375841"/>
                </a:cubicBezTo>
                <a:lnTo>
                  <a:pt x="13791" y="275630"/>
                </a:lnTo>
                <a:cubicBezTo>
                  <a:pt x="5358" y="271661"/>
                  <a:pt x="0" y="263227"/>
                  <a:pt x="0" y="254000"/>
                </a:cubicBezTo>
                <a:cubicBezTo>
                  <a:pt x="0" y="244773"/>
                  <a:pt x="5358" y="236240"/>
                  <a:pt x="13791" y="232370"/>
                </a:cubicBezTo>
                <a:lnTo>
                  <a:pt x="47625" y="216694"/>
                </a:lnTo>
                <a:close/>
                <a:moveTo>
                  <a:pt x="13791" y="359370"/>
                </a:moveTo>
                <a:lnTo>
                  <a:pt x="47625" y="343694"/>
                </a:lnTo>
                <a:lnTo>
                  <a:pt x="210641" y="419001"/>
                </a:lnTo>
                <a:cubicBezTo>
                  <a:pt x="238125" y="431701"/>
                  <a:pt x="269776" y="431701"/>
                  <a:pt x="297259" y="419001"/>
                </a:cubicBezTo>
                <a:lnTo>
                  <a:pt x="460276" y="343694"/>
                </a:lnTo>
                <a:lnTo>
                  <a:pt x="494109" y="359370"/>
                </a:lnTo>
                <a:cubicBezTo>
                  <a:pt x="502543" y="363240"/>
                  <a:pt x="507901" y="371673"/>
                  <a:pt x="507901" y="381000"/>
                </a:cubicBezTo>
                <a:cubicBezTo>
                  <a:pt x="507901" y="390327"/>
                  <a:pt x="502543" y="398760"/>
                  <a:pt x="494109" y="402630"/>
                </a:cubicBezTo>
                <a:lnTo>
                  <a:pt x="277217" y="502841"/>
                </a:lnTo>
                <a:cubicBezTo>
                  <a:pt x="262434" y="509687"/>
                  <a:pt x="245368" y="509687"/>
                  <a:pt x="230584" y="502841"/>
                </a:cubicBezTo>
                <a:lnTo>
                  <a:pt x="13791" y="402630"/>
                </a:lnTo>
                <a:cubicBezTo>
                  <a:pt x="5358" y="398661"/>
                  <a:pt x="0" y="390227"/>
                  <a:pt x="0" y="381000"/>
                </a:cubicBezTo>
                <a:cubicBezTo>
                  <a:pt x="0" y="371773"/>
                  <a:pt x="5358" y="363240"/>
                  <a:pt x="13791" y="35937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413000" y="2286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AGI requires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integrating multiple components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perception, reasoning, learning, memory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0" y="2032000"/>
            <a:ext cx="66040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63000" y="247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69976" y="95250"/>
                </a:moveTo>
                <a:cubicBezTo>
                  <a:pt x="355335" y="95250"/>
                  <a:pt x="341136" y="99715"/>
                  <a:pt x="328701" y="107851"/>
                </a:cubicBezTo>
                <a:cubicBezTo>
                  <a:pt x="314766" y="91976"/>
                  <a:pt x="298538" y="78680"/>
                  <a:pt x="280635" y="68659"/>
                </a:cubicBezTo>
                <a:cubicBezTo>
                  <a:pt x="305506" y="44847"/>
                  <a:pt x="337167" y="31750"/>
                  <a:pt x="369976" y="31750"/>
                </a:cubicBezTo>
                <a:cubicBezTo>
                  <a:pt x="446176" y="31750"/>
                  <a:pt x="508000" y="101203"/>
                  <a:pt x="508000" y="187027"/>
                </a:cubicBezTo>
                <a:cubicBezTo>
                  <a:pt x="508000" y="228203"/>
                  <a:pt x="493448" y="267692"/>
                  <a:pt x="467607" y="296763"/>
                </a:cubicBezTo>
                <a:lnTo>
                  <a:pt x="404901" y="367308"/>
                </a:lnTo>
                <a:cubicBezTo>
                  <a:pt x="379060" y="396379"/>
                  <a:pt x="343958" y="412750"/>
                  <a:pt x="307358" y="412750"/>
                </a:cubicBezTo>
                <a:cubicBezTo>
                  <a:pt x="231158" y="412750"/>
                  <a:pt x="169333" y="343297"/>
                  <a:pt x="169333" y="257473"/>
                </a:cubicBezTo>
                <a:cubicBezTo>
                  <a:pt x="169333" y="255984"/>
                  <a:pt x="169333" y="254496"/>
                  <a:pt x="169422" y="253008"/>
                </a:cubicBezTo>
                <a:cubicBezTo>
                  <a:pt x="169863" y="235446"/>
                  <a:pt x="182827" y="221655"/>
                  <a:pt x="198438" y="222151"/>
                </a:cubicBezTo>
                <a:cubicBezTo>
                  <a:pt x="214048" y="222647"/>
                  <a:pt x="226307" y="237232"/>
                  <a:pt x="225866" y="254794"/>
                </a:cubicBezTo>
                <a:cubicBezTo>
                  <a:pt x="225866" y="255687"/>
                  <a:pt x="225866" y="256580"/>
                  <a:pt x="225866" y="257373"/>
                </a:cubicBezTo>
                <a:cubicBezTo>
                  <a:pt x="225866" y="308074"/>
                  <a:pt x="262378" y="349151"/>
                  <a:pt x="307446" y="349151"/>
                </a:cubicBezTo>
                <a:cubicBezTo>
                  <a:pt x="329053" y="349151"/>
                  <a:pt x="349779" y="339527"/>
                  <a:pt x="365125" y="322263"/>
                </a:cubicBezTo>
                <a:lnTo>
                  <a:pt x="427831" y="251718"/>
                </a:lnTo>
                <a:cubicBezTo>
                  <a:pt x="443089" y="234553"/>
                  <a:pt x="451732" y="211138"/>
                  <a:pt x="451732" y="186829"/>
                </a:cubicBezTo>
                <a:cubicBezTo>
                  <a:pt x="451732" y="136128"/>
                  <a:pt x="415219" y="95052"/>
                  <a:pt x="370152" y="95052"/>
                </a:cubicBezTo>
                <a:close/>
                <a:moveTo>
                  <a:pt x="242711" y="171946"/>
                </a:moveTo>
                <a:cubicBezTo>
                  <a:pt x="241035" y="171152"/>
                  <a:pt x="239360" y="170061"/>
                  <a:pt x="237860" y="168870"/>
                </a:cubicBezTo>
                <a:cubicBezTo>
                  <a:pt x="226748" y="162421"/>
                  <a:pt x="214048" y="158750"/>
                  <a:pt x="200731" y="158750"/>
                </a:cubicBezTo>
                <a:cubicBezTo>
                  <a:pt x="179123" y="158750"/>
                  <a:pt x="158397" y="168374"/>
                  <a:pt x="143051" y="185638"/>
                </a:cubicBezTo>
                <a:lnTo>
                  <a:pt x="80345" y="256183"/>
                </a:lnTo>
                <a:cubicBezTo>
                  <a:pt x="65088" y="273348"/>
                  <a:pt x="56444" y="296763"/>
                  <a:pt x="56444" y="321072"/>
                </a:cubicBezTo>
                <a:cubicBezTo>
                  <a:pt x="56444" y="371773"/>
                  <a:pt x="92957" y="412849"/>
                  <a:pt x="138024" y="412849"/>
                </a:cubicBezTo>
                <a:cubicBezTo>
                  <a:pt x="152576" y="412849"/>
                  <a:pt x="166776" y="408484"/>
                  <a:pt x="179211" y="400348"/>
                </a:cubicBezTo>
                <a:cubicBezTo>
                  <a:pt x="193146" y="416223"/>
                  <a:pt x="209374" y="429518"/>
                  <a:pt x="227365" y="439539"/>
                </a:cubicBezTo>
                <a:cubicBezTo>
                  <a:pt x="202494" y="463252"/>
                  <a:pt x="170921" y="476448"/>
                  <a:pt x="138024" y="476448"/>
                </a:cubicBezTo>
                <a:cubicBezTo>
                  <a:pt x="61824" y="476448"/>
                  <a:pt x="0" y="406995"/>
                  <a:pt x="0" y="321171"/>
                </a:cubicBezTo>
                <a:cubicBezTo>
                  <a:pt x="0" y="279995"/>
                  <a:pt x="14552" y="240506"/>
                  <a:pt x="40393" y="211435"/>
                </a:cubicBezTo>
                <a:lnTo>
                  <a:pt x="103099" y="140891"/>
                </a:lnTo>
                <a:cubicBezTo>
                  <a:pt x="128940" y="111820"/>
                  <a:pt x="164042" y="95448"/>
                  <a:pt x="200642" y="95448"/>
                </a:cubicBezTo>
                <a:cubicBezTo>
                  <a:pt x="277019" y="95448"/>
                  <a:pt x="338667" y="165497"/>
                  <a:pt x="338667" y="251123"/>
                </a:cubicBezTo>
                <a:cubicBezTo>
                  <a:pt x="338667" y="252413"/>
                  <a:pt x="338667" y="253702"/>
                  <a:pt x="338667" y="254992"/>
                </a:cubicBezTo>
                <a:cubicBezTo>
                  <a:pt x="338314" y="272554"/>
                  <a:pt x="325349" y="286345"/>
                  <a:pt x="309739" y="285948"/>
                </a:cubicBezTo>
                <a:cubicBezTo>
                  <a:pt x="294128" y="285552"/>
                  <a:pt x="281869" y="270966"/>
                  <a:pt x="282222" y="253405"/>
                </a:cubicBezTo>
                <a:cubicBezTo>
                  <a:pt x="282222" y="252611"/>
                  <a:pt x="282222" y="251916"/>
                  <a:pt x="282222" y="251123"/>
                </a:cubicBezTo>
                <a:cubicBezTo>
                  <a:pt x="282222" y="217686"/>
                  <a:pt x="266347" y="188317"/>
                  <a:pt x="242711" y="17214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0" y="2286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interaction between components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creates general intelligence, not any single module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064000"/>
            <a:ext cx="66040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51000" y="450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68585" y="0"/>
                  <a:pt x="281980" y="8037"/>
                  <a:pt x="288925" y="20836"/>
                </a:cubicBezTo>
                <a:lnTo>
                  <a:pt x="503238" y="417711"/>
                </a:lnTo>
                <a:cubicBezTo>
                  <a:pt x="509885" y="430014"/>
                  <a:pt x="509588" y="444897"/>
                  <a:pt x="502444" y="456902"/>
                </a:cubicBezTo>
                <a:cubicBezTo>
                  <a:pt x="495300" y="468908"/>
                  <a:pt x="482302" y="476250"/>
                  <a:pt x="468313" y="476250"/>
                </a:cubicBezTo>
                <a:lnTo>
                  <a:pt x="39688" y="476250"/>
                </a:lnTo>
                <a:cubicBezTo>
                  <a:pt x="25698" y="476250"/>
                  <a:pt x="12799" y="468908"/>
                  <a:pt x="5556" y="456902"/>
                </a:cubicBezTo>
                <a:cubicBezTo>
                  <a:pt x="-1687" y="444897"/>
                  <a:pt x="-1885" y="430014"/>
                  <a:pt x="4763" y="417711"/>
                </a:cubicBezTo>
                <a:lnTo>
                  <a:pt x="219075" y="20836"/>
                </a:lnTo>
                <a:cubicBezTo>
                  <a:pt x="226020" y="8037"/>
                  <a:pt x="239415" y="0"/>
                  <a:pt x="254000" y="0"/>
                </a:cubicBezTo>
                <a:close/>
                <a:moveTo>
                  <a:pt x="254000" y="166688"/>
                </a:moveTo>
                <a:cubicBezTo>
                  <a:pt x="240804" y="166688"/>
                  <a:pt x="230188" y="177304"/>
                  <a:pt x="230188" y="190500"/>
                </a:cubicBezTo>
                <a:lnTo>
                  <a:pt x="230188" y="301625"/>
                </a:lnTo>
                <a:cubicBezTo>
                  <a:pt x="230188" y="314821"/>
                  <a:pt x="240804" y="325438"/>
                  <a:pt x="254000" y="325438"/>
                </a:cubicBezTo>
                <a:cubicBezTo>
                  <a:pt x="267196" y="325438"/>
                  <a:pt x="277813" y="314821"/>
                  <a:pt x="277813" y="301625"/>
                </a:cubicBezTo>
                <a:lnTo>
                  <a:pt x="277813" y="190500"/>
                </a:lnTo>
                <a:cubicBezTo>
                  <a:pt x="277813" y="177304"/>
                  <a:pt x="267196" y="166688"/>
                  <a:pt x="254000" y="166688"/>
                </a:cubicBezTo>
                <a:close/>
                <a:moveTo>
                  <a:pt x="280491" y="381000"/>
                </a:moveTo>
                <a:cubicBezTo>
                  <a:pt x="281094" y="371167"/>
                  <a:pt x="276190" y="361811"/>
                  <a:pt x="267761" y="356712"/>
                </a:cubicBezTo>
                <a:cubicBezTo>
                  <a:pt x="259331" y="351613"/>
                  <a:pt x="248768" y="351613"/>
                  <a:pt x="240339" y="356712"/>
                </a:cubicBezTo>
                <a:cubicBezTo>
                  <a:pt x="231909" y="361811"/>
                  <a:pt x="227005" y="371167"/>
                  <a:pt x="227608" y="381000"/>
                </a:cubicBezTo>
                <a:cubicBezTo>
                  <a:pt x="227005" y="390833"/>
                  <a:pt x="231909" y="400189"/>
                  <a:pt x="240339" y="405288"/>
                </a:cubicBezTo>
                <a:cubicBezTo>
                  <a:pt x="248768" y="410387"/>
                  <a:pt x="259331" y="410387"/>
                  <a:pt x="267761" y="405288"/>
                </a:cubicBezTo>
                <a:cubicBezTo>
                  <a:pt x="276190" y="400189"/>
                  <a:pt x="281094" y="390833"/>
                  <a:pt x="280491" y="3810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2413000" y="4318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challenges: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catastrophic forgetting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sample efficiency, common-sense reasoning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4064000"/>
            <a:ext cx="66040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63000" y="450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151" y="31750"/>
                </a:moveTo>
                <a:lnTo>
                  <a:pt x="146546" y="31750"/>
                </a:lnTo>
                <a:cubicBezTo>
                  <a:pt x="117376" y="31750"/>
                  <a:pt x="91877" y="51693"/>
                  <a:pt x="84931" y="79970"/>
                </a:cubicBezTo>
                <a:lnTo>
                  <a:pt x="1389" y="417215"/>
                </a:lnTo>
                <a:cubicBezTo>
                  <a:pt x="-6052" y="447179"/>
                  <a:pt x="16669" y="476250"/>
                  <a:pt x="47625" y="476250"/>
                </a:cubicBezTo>
                <a:lnTo>
                  <a:pt x="222151" y="476250"/>
                </a:lnTo>
                <a:lnTo>
                  <a:pt x="222151" y="412750"/>
                </a:lnTo>
                <a:cubicBezTo>
                  <a:pt x="222151" y="395188"/>
                  <a:pt x="236339" y="381000"/>
                  <a:pt x="253901" y="381000"/>
                </a:cubicBezTo>
                <a:cubicBezTo>
                  <a:pt x="271463" y="381000"/>
                  <a:pt x="285651" y="395188"/>
                  <a:pt x="285651" y="412750"/>
                </a:cubicBezTo>
                <a:lnTo>
                  <a:pt x="285651" y="476250"/>
                </a:lnTo>
                <a:lnTo>
                  <a:pt x="460375" y="476250"/>
                </a:lnTo>
                <a:cubicBezTo>
                  <a:pt x="491331" y="476250"/>
                  <a:pt x="514052" y="447179"/>
                  <a:pt x="506611" y="417215"/>
                </a:cubicBezTo>
                <a:lnTo>
                  <a:pt x="423168" y="79970"/>
                </a:lnTo>
                <a:cubicBezTo>
                  <a:pt x="416123" y="51693"/>
                  <a:pt x="390723" y="31750"/>
                  <a:pt x="361454" y="31750"/>
                </a:cubicBezTo>
                <a:lnTo>
                  <a:pt x="285651" y="31750"/>
                </a:lnTo>
                <a:lnTo>
                  <a:pt x="285651" y="95250"/>
                </a:lnTo>
                <a:cubicBezTo>
                  <a:pt x="285651" y="112812"/>
                  <a:pt x="271462" y="127000"/>
                  <a:pt x="253901" y="127000"/>
                </a:cubicBezTo>
                <a:cubicBezTo>
                  <a:pt x="236339" y="127000"/>
                  <a:pt x="222151" y="112812"/>
                  <a:pt x="222151" y="95250"/>
                </a:cubicBezTo>
                <a:lnTo>
                  <a:pt x="222151" y="31750"/>
                </a:lnTo>
                <a:close/>
                <a:moveTo>
                  <a:pt x="285651" y="222250"/>
                </a:moveTo>
                <a:lnTo>
                  <a:pt x="285651" y="285750"/>
                </a:lnTo>
                <a:cubicBezTo>
                  <a:pt x="285651" y="303312"/>
                  <a:pt x="271462" y="317500"/>
                  <a:pt x="253901" y="317500"/>
                </a:cubicBezTo>
                <a:cubicBezTo>
                  <a:pt x="236339" y="317500"/>
                  <a:pt x="222151" y="303312"/>
                  <a:pt x="222151" y="285750"/>
                </a:cubicBezTo>
                <a:lnTo>
                  <a:pt x="222151" y="222250"/>
                </a:lnTo>
                <a:cubicBezTo>
                  <a:pt x="222151" y="204688"/>
                  <a:pt x="236339" y="190500"/>
                  <a:pt x="253901" y="190500"/>
                </a:cubicBezTo>
                <a:cubicBezTo>
                  <a:pt x="271462" y="190500"/>
                  <a:pt x="285651" y="204688"/>
                  <a:pt x="285651" y="2222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0" y="4318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path to AGI requires both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scale and architectural innovation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6096000"/>
            <a:ext cx="13716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1778000" y="62865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 Questions: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emergent capability from scale sufficient? · How to achieve continual learning? · What is the right cognitive architecture? · How to ensure alignment?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Perception to AGI: Connecting the Pieces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Perception is the Foundation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sensory interface between an intelligent system and its environment.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 Components Build Upon It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Reasoning, learning, and action all depend on perceptual representations.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Full Pipeline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Sense → Perceive → Represent → Reason → Plan → Act → Learn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closed loop enables continuous improvement and adaptation.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1905000"/>
            <a:ext cx="6350000" cy="596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159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Intelligence Loop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0" y="2667000"/>
            <a:ext cx="5334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28575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Sense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Capture raw data from environment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684000" y="3403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2051" y="249337"/>
                </a:moveTo>
                <a:cubicBezTo>
                  <a:pt x="120319" y="255538"/>
                  <a:pt x="133747" y="255538"/>
                  <a:pt x="142015" y="249337"/>
                </a:cubicBezTo>
                <a:lnTo>
                  <a:pt x="247848" y="169962"/>
                </a:lnTo>
                <a:cubicBezTo>
                  <a:pt x="256117" y="163761"/>
                  <a:pt x="256117" y="153690"/>
                  <a:pt x="247848" y="147489"/>
                </a:cubicBezTo>
                <a:cubicBezTo>
                  <a:pt x="239580" y="141288"/>
                  <a:pt x="226153" y="141288"/>
                  <a:pt x="217884" y="147489"/>
                </a:cubicBezTo>
                <a:lnTo>
                  <a:pt x="148167" y="199777"/>
                </a:lnTo>
                <a:lnTo>
                  <a:pt x="148167" y="15875"/>
                </a:lnTo>
                <a:cubicBezTo>
                  <a:pt x="148167" y="7094"/>
                  <a:pt x="138708" y="0"/>
                  <a:pt x="127000" y="0"/>
                </a:cubicBezTo>
                <a:cubicBezTo>
                  <a:pt x="115292" y="0"/>
                  <a:pt x="105833" y="7094"/>
                  <a:pt x="105833" y="15875"/>
                </a:cubicBezTo>
                <a:lnTo>
                  <a:pt x="105833" y="199777"/>
                </a:lnTo>
                <a:lnTo>
                  <a:pt x="36116" y="147489"/>
                </a:lnTo>
                <a:cubicBezTo>
                  <a:pt x="27847" y="141287"/>
                  <a:pt x="14420" y="141287"/>
                  <a:pt x="6152" y="147489"/>
                </a:cubicBezTo>
                <a:cubicBezTo>
                  <a:pt x="-2117" y="153690"/>
                  <a:pt x="-2117" y="163761"/>
                  <a:pt x="6152" y="169962"/>
                </a:cubicBezTo>
                <a:lnTo>
                  <a:pt x="111985" y="249337"/>
                </a:lnTo>
                <a:close/>
              </a:path>
            </a:pathLst>
          </a:custGeom>
          <a:solidFill>
            <a:srgbClr val="D0D6D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0" y="37465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Perceive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Extract features and patterns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684000" y="4292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2051" y="249337"/>
                </a:moveTo>
                <a:cubicBezTo>
                  <a:pt x="120319" y="255538"/>
                  <a:pt x="133747" y="255538"/>
                  <a:pt x="142015" y="249337"/>
                </a:cubicBezTo>
                <a:lnTo>
                  <a:pt x="247848" y="169962"/>
                </a:lnTo>
                <a:cubicBezTo>
                  <a:pt x="256117" y="163761"/>
                  <a:pt x="256117" y="153690"/>
                  <a:pt x="247848" y="147489"/>
                </a:cubicBezTo>
                <a:cubicBezTo>
                  <a:pt x="239580" y="141288"/>
                  <a:pt x="226153" y="141288"/>
                  <a:pt x="217884" y="147489"/>
                </a:cubicBezTo>
                <a:lnTo>
                  <a:pt x="148167" y="199777"/>
                </a:lnTo>
                <a:lnTo>
                  <a:pt x="148167" y="15875"/>
                </a:lnTo>
                <a:cubicBezTo>
                  <a:pt x="148167" y="7094"/>
                  <a:pt x="138708" y="0"/>
                  <a:pt x="127000" y="0"/>
                </a:cubicBezTo>
                <a:cubicBezTo>
                  <a:pt x="115292" y="0"/>
                  <a:pt x="105833" y="7094"/>
                  <a:pt x="105833" y="15875"/>
                </a:cubicBezTo>
                <a:lnTo>
                  <a:pt x="105833" y="199777"/>
                </a:lnTo>
                <a:lnTo>
                  <a:pt x="36116" y="147489"/>
                </a:lnTo>
                <a:cubicBezTo>
                  <a:pt x="27847" y="141287"/>
                  <a:pt x="14420" y="141287"/>
                  <a:pt x="6152" y="147489"/>
                </a:cubicBezTo>
                <a:cubicBezTo>
                  <a:pt x="-2117" y="153690"/>
                  <a:pt x="-2117" y="163761"/>
                  <a:pt x="6152" y="169962"/>
                </a:cubicBezTo>
                <a:lnTo>
                  <a:pt x="111985" y="249337"/>
                </a:lnTo>
                <a:close/>
              </a:path>
            </a:pathLst>
          </a:custGeom>
          <a:solidFill>
            <a:srgbClr val="D0D6D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46355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Reason &amp; Plan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Decide on action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684000" y="5181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2051" y="249337"/>
                </a:moveTo>
                <a:cubicBezTo>
                  <a:pt x="120319" y="255538"/>
                  <a:pt x="133747" y="255538"/>
                  <a:pt x="142015" y="249337"/>
                </a:cubicBezTo>
                <a:lnTo>
                  <a:pt x="247848" y="169962"/>
                </a:lnTo>
                <a:cubicBezTo>
                  <a:pt x="256117" y="163761"/>
                  <a:pt x="256117" y="153690"/>
                  <a:pt x="247848" y="147489"/>
                </a:cubicBezTo>
                <a:cubicBezTo>
                  <a:pt x="239580" y="141288"/>
                  <a:pt x="226153" y="141288"/>
                  <a:pt x="217884" y="147489"/>
                </a:cubicBezTo>
                <a:lnTo>
                  <a:pt x="148167" y="199777"/>
                </a:lnTo>
                <a:lnTo>
                  <a:pt x="148167" y="15875"/>
                </a:lnTo>
                <a:cubicBezTo>
                  <a:pt x="148167" y="7094"/>
                  <a:pt x="138708" y="0"/>
                  <a:pt x="127000" y="0"/>
                </a:cubicBezTo>
                <a:cubicBezTo>
                  <a:pt x="115292" y="0"/>
                  <a:pt x="105833" y="7094"/>
                  <a:pt x="105833" y="15875"/>
                </a:cubicBezTo>
                <a:lnTo>
                  <a:pt x="105833" y="199777"/>
                </a:lnTo>
                <a:lnTo>
                  <a:pt x="36116" y="147489"/>
                </a:lnTo>
                <a:cubicBezTo>
                  <a:pt x="27847" y="141287"/>
                  <a:pt x="14420" y="141287"/>
                  <a:pt x="6152" y="147489"/>
                </a:cubicBezTo>
                <a:cubicBezTo>
                  <a:pt x="-2117" y="153690"/>
                  <a:pt x="-2117" y="163761"/>
                  <a:pt x="6152" y="169962"/>
                </a:cubicBezTo>
                <a:lnTo>
                  <a:pt x="111985" y="249337"/>
                </a:lnTo>
                <a:close/>
              </a:path>
            </a:pathLst>
          </a:custGeom>
          <a:solidFill>
            <a:srgbClr val="D0D6D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55245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Act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Execute in environment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684000" y="6070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2051" y="249337"/>
                </a:moveTo>
                <a:cubicBezTo>
                  <a:pt x="120319" y="255538"/>
                  <a:pt x="133747" y="255538"/>
                  <a:pt x="142015" y="249337"/>
                </a:cubicBezTo>
                <a:lnTo>
                  <a:pt x="247848" y="169962"/>
                </a:lnTo>
                <a:cubicBezTo>
                  <a:pt x="256117" y="163761"/>
                  <a:pt x="256117" y="153690"/>
                  <a:pt x="247848" y="147489"/>
                </a:cubicBezTo>
                <a:cubicBezTo>
                  <a:pt x="239580" y="141288"/>
                  <a:pt x="226153" y="141288"/>
                  <a:pt x="217884" y="147489"/>
                </a:cubicBezTo>
                <a:lnTo>
                  <a:pt x="148167" y="199777"/>
                </a:lnTo>
                <a:lnTo>
                  <a:pt x="148167" y="15875"/>
                </a:lnTo>
                <a:cubicBezTo>
                  <a:pt x="148167" y="7094"/>
                  <a:pt x="138708" y="0"/>
                  <a:pt x="127000" y="0"/>
                </a:cubicBezTo>
                <a:cubicBezTo>
                  <a:pt x="115292" y="0"/>
                  <a:pt x="105833" y="7094"/>
                  <a:pt x="105833" y="15875"/>
                </a:cubicBezTo>
                <a:lnTo>
                  <a:pt x="105833" y="199777"/>
                </a:lnTo>
                <a:lnTo>
                  <a:pt x="36116" y="147489"/>
                </a:lnTo>
                <a:cubicBezTo>
                  <a:pt x="27847" y="141287"/>
                  <a:pt x="14420" y="141287"/>
                  <a:pt x="6152" y="147489"/>
                </a:cubicBezTo>
                <a:cubicBezTo>
                  <a:pt x="-2117" y="153690"/>
                  <a:pt x="-2117" y="163761"/>
                  <a:pt x="6152" y="169962"/>
                </a:cubicBezTo>
                <a:lnTo>
                  <a:pt x="111985" y="249337"/>
                </a:lnTo>
                <a:close/>
              </a:path>
            </a:pathLst>
          </a:custGeom>
          <a:solidFill>
            <a:srgbClr val="D0D6D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64135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Learn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Update from feedback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684000" y="695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6644" y="37058"/>
                </a:moveTo>
                <a:lnTo>
                  <a:pt x="222250" y="42366"/>
                </a:lnTo>
                <a:lnTo>
                  <a:pt x="222250" y="15875"/>
                </a:lnTo>
                <a:cubicBezTo>
                  <a:pt x="222250" y="7094"/>
                  <a:pt x="229344" y="0"/>
                  <a:pt x="238125" y="0"/>
                </a:cubicBezTo>
                <a:cubicBezTo>
                  <a:pt x="246906" y="0"/>
                  <a:pt x="254000" y="7094"/>
                  <a:pt x="254000" y="15875"/>
                </a:cubicBezTo>
                <a:lnTo>
                  <a:pt x="254000" y="79375"/>
                </a:lnTo>
                <a:cubicBezTo>
                  <a:pt x="254000" y="88156"/>
                  <a:pt x="246906" y="95250"/>
                  <a:pt x="238125" y="95250"/>
                </a:cubicBezTo>
                <a:lnTo>
                  <a:pt x="174625" y="95250"/>
                </a:lnTo>
                <a:cubicBezTo>
                  <a:pt x="165844" y="95250"/>
                  <a:pt x="158750" y="88156"/>
                  <a:pt x="158750" y="79375"/>
                </a:cubicBezTo>
                <a:cubicBezTo>
                  <a:pt x="158750" y="70594"/>
                  <a:pt x="165844" y="63500"/>
                  <a:pt x="174625" y="63500"/>
                </a:cubicBezTo>
                <a:lnTo>
                  <a:pt x="198388" y="63500"/>
                </a:lnTo>
                <a:lnTo>
                  <a:pt x="194618" y="59928"/>
                </a:lnTo>
                <a:cubicBezTo>
                  <a:pt x="194518" y="59829"/>
                  <a:pt x="194419" y="59730"/>
                  <a:pt x="194320" y="59630"/>
                </a:cubicBezTo>
                <a:cubicBezTo>
                  <a:pt x="157113" y="22423"/>
                  <a:pt x="96837" y="22423"/>
                  <a:pt x="59630" y="59630"/>
                </a:cubicBezTo>
                <a:cubicBezTo>
                  <a:pt x="22423" y="96837"/>
                  <a:pt x="22423" y="157113"/>
                  <a:pt x="59630" y="194320"/>
                </a:cubicBezTo>
                <a:cubicBezTo>
                  <a:pt x="96837" y="231527"/>
                  <a:pt x="157113" y="231527"/>
                  <a:pt x="194320" y="194320"/>
                </a:cubicBezTo>
                <a:cubicBezTo>
                  <a:pt x="198388" y="190252"/>
                  <a:pt x="202009" y="185936"/>
                  <a:pt x="205184" y="181372"/>
                </a:cubicBezTo>
                <a:cubicBezTo>
                  <a:pt x="210195" y="174179"/>
                  <a:pt x="220117" y="172442"/>
                  <a:pt x="227310" y="177453"/>
                </a:cubicBezTo>
                <a:cubicBezTo>
                  <a:pt x="234504" y="182463"/>
                  <a:pt x="236240" y="192385"/>
                  <a:pt x="231229" y="199579"/>
                </a:cubicBezTo>
                <a:cubicBezTo>
                  <a:pt x="227012" y="205631"/>
                  <a:pt x="222200" y="211386"/>
                  <a:pt x="216793" y="216793"/>
                </a:cubicBezTo>
                <a:cubicBezTo>
                  <a:pt x="167184" y="266402"/>
                  <a:pt x="86767" y="266402"/>
                  <a:pt x="37207" y="216793"/>
                </a:cubicBezTo>
                <a:cubicBezTo>
                  <a:pt x="-12353" y="167184"/>
                  <a:pt x="-12402" y="86816"/>
                  <a:pt x="37207" y="37207"/>
                </a:cubicBezTo>
                <a:cubicBezTo>
                  <a:pt x="86767" y="-12353"/>
                  <a:pt x="167035" y="-12402"/>
                  <a:pt x="216644" y="37058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7302500"/>
            <a:ext cx="533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← Back to Sense (closed loop)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Representation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778000" y="3683000"/>
            <a:ext cx="1270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"The question of whether a machine can think is no more interesting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78000" y="4191000"/>
            <a:ext cx="1270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 the question of whether a submarine can swim."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588000" y="5080000"/>
            <a:ext cx="508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Edsger Dijkstra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53000" y="60960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15 · Artificial Intelligence Course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15</dc:title>
  <dc:subject>week 15</dc:subject>
  <dc:creator>Kimi</dc:creator>
  <cp:lastModifiedBy>Kimi</cp:lastModifiedBy>
  <cp:revision>1</cp:revision>
  <dcterms:created xsi:type="dcterms:W3CDTF">2026-06-26T14:40:58Z</dcterms:created>
  <dcterms:modified xsi:type="dcterms:W3CDTF">2026-06-26T14:40:58Z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15","ContentProducer":"001191110108MACG2KBH8F10000","ProduceID":"19f04301-6dd2-80db-8000-0000966f4858","ReservedCode1":"","ContentPropagator":"001191110108MACG2KBH8F20000","PropagateID":"19f042df-c7d2-8570-8000-09b1cf2e3723","ReservedCode2":""}</vt:lpwstr>
  </property>
</Properties>
</file>