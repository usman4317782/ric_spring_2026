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6256000" cy="9144000"/>
  <p:notesSz cx="9144000" cy="16256000"/>
  <p:embeddedFontLst>
    <p:embeddedFont>
      <p:font typeface="Liter" charset="-122" pitchFamily="34"/>
      <p:regular r:id="rId34"/>
    </p:embeddedFont>
    <p:embeddedFont>
      <p:font typeface="Quattrocento Sans" charset="-122" pitchFamily="34"/>
      <p:regular r:id="rId3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76000" y="1016000"/>
            <a:ext cx="4064000" cy="4064000"/>
          </a:xfrm>
          <a:prstGeom prst="ellipse">
            <a:avLst/>
          </a:prstGeom>
          <a:solidFill>
            <a:srgbClr val="64748B">
              <a:alpha val="8235"/>
            </a:srgbClr>
          </a:solidFill>
          <a:ln w="12700">
            <a:solidFill>
              <a:srgbClr val="64748B">
                <a:alpha val="25098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65000" y="4445000"/>
            <a:ext cx="2286000" cy="2286000"/>
          </a:xfrm>
          <a:prstGeom prst="ellipse">
            <a:avLst/>
          </a:prstGeom>
          <a:solidFill>
            <a:srgbClr val="64748B">
              <a:alpha val="6275"/>
            </a:srgbClr>
          </a:solidFill>
          <a:ln w="12700">
            <a:solidFill>
              <a:srgbClr val="64748B">
                <a:alpha val="18824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7620000"/>
            <a:ext cx="2540000" cy="0"/>
          </a:xfrm>
          <a:prstGeom prst="straightConnector1">
            <a:avLst/>
          </a:prstGeom>
          <a:noFill/>
          <a:ln w="12700">
            <a:solidFill>
              <a:srgbClr val="64748B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318000" y="304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spc="400" kern="0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13000" y="3556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spc="300" kern="0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5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175500" y="4508500"/>
            <a:ext cx="1905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8" name="Text 6"/>
          <p:cNvSpPr/>
          <p:nvPr/>
        </p:nvSpPr>
        <p:spPr>
          <a:xfrm>
            <a:off x="3048000" y="4762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4F2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Machine Learning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83000" y="54610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L9. Accuracy &amp; Performance Metrics | L10. Supervised Learning &amp; Linear Regression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78000"/>
            <a:ext cx="7112000" cy="635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159000"/>
            <a:ext cx="127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984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&amp; Performance Metrics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492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 how to evaluate classification models using confusion matrices, accuracy, precision, recall, and F1-score.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4445000"/>
            <a:ext cx="6350000" cy="12700"/>
          </a:xfrm>
          <a:prstGeom prst="rect">
            <a:avLst/>
          </a:prstGeom>
          <a:solidFill>
            <a:srgbClr val="E2E0DC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699000"/>
            <a:ext cx="635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20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20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Why Evaluate ML Models?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20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Confusion Matrix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20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Accuracy, Precision &amp; Recall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20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Precision-Recall Trade-off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20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F1-Score &amp; Metrics Comparison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1778000"/>
            <a:ext cx="7112000" cy="635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63000" y="2159000"/>
            <a:ext cx="127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63000" y="2984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 &amp; Linear Regression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63000" y="3492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 supervised learning paradigms, algorithms, and dive deep into linear regression mathematics.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763000" y="4445000"/>
            <a:ext cx="6350000" cy="12700"/>
          </a:xfrm>
          <a:prstGeom prst="rect">
            <a:avLst/>
          </a:prstGeom>
          <a:solidFill>
            <a:srgbClr val="E2E0DC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0" y="4699000"/>
            <a:ext cx="635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20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20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What is Supervised Learning?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20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ML Pipeline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20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Classification vs Regression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20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Linear Regression &amp; Cost Function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20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Gradient Descent &amp; Algorithm Selection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4000"/>
            <a:ext cx="6350000" cy="355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0" b="1" dirty="0">
                <a:solidFill>
                  <a:srgbClr val="F4F2EE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2700000" y="5080000"/>
            <a:ext cx="2540000" cy="2540000"/>
          </a:xfrm>
          <a:prstGeom prst="ellipse">
            <a:avLst/>
          </a:prstGeom>
          <a:solidFill>
            <a:srgbClr val="64748B">
              <a:alpha val="6275"/>
            </a:srgbClr>
          </a:solidFill>
          <a:ln w="12700">
            <a:solidFill>
              <a:srgbClr val="64748B">
                <a:alpha val="1451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6000" y="3937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400" kern="0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9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43815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635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&amp; Performance Metrics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5524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Evaluating How Well Your Model Performs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Evaluate Machine Learning Models?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 evaluation is essential to understand how well a trained model will perform on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unseen data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Without proper evaluation, we risk deploying models that overfit (memorize training data) or underfit (fail to capture patterns).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286000"/>
            <a:ext cx="4699000" cy="292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2000" y="2286000"/>
            <a:ext cx="50800" cy="2921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476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28956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 Generalization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32766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 how well the model performs on new, unseen data rather than just memorizing the training set.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0" y="2286000"/>
            <a:ext cx="4699000" cy="292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78500" y="2286000"/>
            <a:ext cx="50800" cy="2921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4" name="Text 12"/>
          <p:cNvSpPr/>
          <p:nvPr/>
        </p:nvSpPr>
        <p:spPr>
          <a:xfrm>
            <a:off x="6083300" y="2476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83300" y="28956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 Models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83300" y="32766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Benchmark different algorithms or configurations to select the best approach for your specific problem.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795000" y="2286000"/>
            <a:ext cx="4699000" cy="292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795000" y="2286000"/>
            <a:ext cx="50800" cy="2921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099800" y="2476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99800" y="28956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 Problems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99800" y="32766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issues like overfitting, underfitting, or data leakage before deployment to production.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63900" y="5524500"/>
            <a:ext cx="4699000" cy="292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63900" y="5524500"/>
            <a:ext cx="50800" cy="2921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24" name="Text 22"/>
          <p:cNvSpPr/>
          <p:nvPr/>
        </p:nvSpPr>
        <p:spPr>
          <a:xfrm>
            <a:off x="3568700" y="5715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68700" y="61341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Guide Improvement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568700" y="65151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hyperparameter tuning and iterative model refinement based on quantitative feedback.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80400" y="5524500"/>
            <a:ext cx="4699000" cy="292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0400" y="5524500"/>
            <a:ext cx="50800" cy="2921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29" name="Text 27"/>
          <p:cNvSpPr/>
          <p:nvPr/>
        </p:nvSpPr>
        <p:spPr>
          <a:xfrm>
            <a:off x="8585200" y="5715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85200" y="61341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Confidence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85200" y="65151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 trust and validate readiness before deploying models in real-world applications.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Confusion Matrix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1016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Foundation of Classification Evaluation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587500"/>
            <a:ext cx="685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confusion matrix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N x N table that summarizes a classification model's performance by comparing predicted labels against actual labels.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binary classification, it is a 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2x2 matrix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four outcomes: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4381500"/>
            <a:ext cx="101600" cy="101600"/>
          </a:xfrm>
          <a:prstGeom prst="rect">
            <a:avLst/>
          </a:prstGeom>
          <a:solidFill>
            <a:srgbClr val="4A9B5E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4292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4A9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Positive (TP)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correctly predicts positive class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724400"/>
            <a:ext cx="101600" cy="101600"/>
          </a:xfrm>
          <a:prstGeom prst="rect">
            <a:avLst/>
          </a:prstGeom>
          <a:solidFill>
            <a:srgbClr val="4A7C9B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4673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4A7C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Negative (TN)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correctly predicts negative class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067300"/>
            <a:ext cx="101600" cy="1016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5054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Positive (FP)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Type I Error, actual is negative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410200"/>
            <a:ext cx="101600" cy="101600"/>
          </a:xfrm>
          <a:prstGeom prst="rect">
            <a:avLst/>
          </a:prstGeom>
          <a:solidFill>
            <a:srgbClr val="C43030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5435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C430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Negative (FN)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Type II Error, actual is positive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0" y="1587500"/>
            <a:ext cx="7366000" cy="431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922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82000" y="17145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Confusion Matrix (Binary Classification)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36000" y="2222500"/>
          <a:ext cx="6858000" cy="2540000"/>
        </p:xfrm>
        <a:graphic>
          <a:graphicData uri="http://schemas.openxmlformats.org/drawingml/2006/table">
            <a:tbl>
              <a:tblPr/>
              <a:tblGrid>
                <a:gridCol w="1920240"/>
                <a:gridCol w="2468880"/>
                <a:gridCol w="2468880"/>
              </a:tblGrid>
              <a:tr h="753065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Predicted +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Predicted -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</a:tr>
              <a:tr h="89346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Actual +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4A9B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430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89346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Actual -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45D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4A7C9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762000" y="6223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confusion matrix is the </a:t>
            </a:r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1B2A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</a:t>
            </a:r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calculating all major classification metrics: accuracy, precision, recall, and F1-score.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Confusion Matrix — Worked Example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Scenario: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model classifies 100 images as "Dog" or "Not Dog". There are 50 actual Dog images and 50 actual Not Dog images.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159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Results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603500"/>
          <a:ext cx="6604000" cy="2540000"/>
        </p:xfrm>
        <a:graphic>
          <a:graphicData uri="http://schemas.openxmlformats.org/drawingml/2006/table">
            <a:tbl>
              <a:tblPr/>
              <a:tblGrid>
                <a:gridCol w="3632200"/>
                <a:gridCol w="29718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Outcome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4A9B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 Positives (TP) — Correctly identified Dogs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4A7C9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True Negatives (TN) — Correctly identified Not Dogs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45D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 Positives (FP) — Not Dog predicted as Dog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430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 Negatives (FN) — Dog predicted as Not Dog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0" y="21590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Confusion Matrix</a:t>
            </a:r>
            <a:endParaRPr lang="en-US" sz="16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0" y="2603500"/>
          <a:ext cx="7366000" cy="2540000"/>
        </p:xfrm>
        <a:graphic>
          <a:graphicData uri="http://schemas.openxmlformats.org/drawingml/2006/table">
            <a:tbl>
              <a:tblPr/>
              <a:tblGrid>
                <a:gridCol w="1841500"/>
                <a:gridCol w="2762250"/>
                <a:gridCol w="276225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Predicted Dog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Predicted Not Dog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Actual Dog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9B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30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Actual Not Dog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5D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7C9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62000" y="5588000"/>
            <a:ext cx="14732000" cy="1270000"/>
          </a:xfrm>
          <a:prstGeom prst="rect">
            <a:avLst/>
          </a:prstGeom>
          <a:solidFill>
            <a:srgbClr val="1B2A3C">
              <a:alpha val="3922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762000" y="5588000"/>
            <a:ext cx="50800" cy="1270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3" name="Text 9"/>
          <p:cNvSpPr/>
          <p:nvPr/>
        </p:nvSpPr>
        <p:spPr>
          <a:xfrm>
            <a:off x="1066800" y="5715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confusion matrix reveals the model is better at finding actual Dogs (only 5 missed) than at avoiding false alarms (10 false positives). Understanding </a:t>
            </a:r>
            <a:pPr>
              <a:lnSpc>
                <a:spcPct val="155000"/>
              </a:lnSpc>
            </a:pPr>
            <a:r>
              <a:rPr lang="en-US" sz="1600" i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model fails guides targeted improvements — we might need more diverse "Not Dog" training examples.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— The Simplest Performance Metric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14732000" cy="127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333500"/>
            <a:ext cx="50800" cy="1270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422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1778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= </a:t>
            </a:r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(TP + TN)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1B2A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(TP + TN + FP + FN)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921000"/>
            <a:ext cx="698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Worked Example (Dog Classifier)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429000"/>
            <a:ext cx="6985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 = 45, TN = 40, FP = 10, FN = 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= 100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= (45 + 40) / 100 =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2921000"/>
            <a:ext cx="2540000" cy="15240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13" name="Text 11"/>
          <p:cNvSpPr/>
          <p:nvPr/>
        </p:nvSpPr>
        <p:spPr>
          <a:xfrm>
            <a:off x="8128000" y="304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128000" y="3873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533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778500"/>
            <a:ext cx="698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answers: </a:t>
            </a:r>
            <a:pPr>
              <a:lnSpc>
                <a:spcPct val="160000"/>
              </a:lnSpc>
            </a:pPr>
            <a:r>
              <a:rPr lang="en-US" sz="1600" i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"How often is the model correct overall?"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is intuitive and easy to interpret — but can be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misleading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imbalanced datasets.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0" y="5334000"/>
            <a:ext cx="7366000" cy="19685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8000" y="5334000"/>
            <a:ext cx="50800" cy="196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9" name="Text 17"/>
          <p:cNvSpPr/>
          <p:nvPr/>
        </p:nvSpPr>
        <p:spPr>
          <a:xfrm>
            <a:off x="8432800" y="5461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32800" y="5842000"/>
            <a:ext cx="673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95% of emails are "not spam", a model that always predicts "not spam" achieves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 accuracy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being completely useless.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alone is insufficient.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 — When False Positives Are Costly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14732000" cy="127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333500"/>
            <a:ext cx="50800" cy="1270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422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1778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= </a:t>
            </a:r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1B2A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(TP + FP)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921000"/>
            <a:ext cx="698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Worked Example (Dog Classifier)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429000"/>
            <a:ext cx="698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 = 45, FP = 10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= 45 / (45 + 10) = 45 / 55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=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81.8%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2921000"/>
            <a:ext cx="2540000" cy="15240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13" name="Text 11"/>
          <p:cNvSpPr/>
          <p:nvPr/>
        </p:nvSpPr>
        <p:spPr>
          <a:xfrm>
            <a:off x="8128000" y="304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81.8%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128000" y="3873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508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Precision Tells Us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524500"/>
            <a:ext cx="698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all positive predictions made by the model,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81.8%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were actually correct. High precision means the model is conservative and reliable when it predicts positive.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0" y="5080000"/>
            <a:ext cx="73660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32800" y="520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Precision Matters Most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2800" y="5613400"/>
            <a:ext cx="673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Spam filtering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don't flag important emails as spam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diagnosis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don't falsely diagnose disease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 detection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don't block legitimate transactions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Recall (Sensitivity) — When False Negatives Are Costly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14732000" cy="127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333500"/>
            <a:ext cx="50800" cy="1270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422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1778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 = </a:t>
            </a:r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1B2A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(TP + FN)   also called </a:t>
            </a:r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Positive Rate (TPR)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921000"/>
            <a:ext cx="698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Worked Example (Dog Classifier)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429000"/>
            <a:ext cx="698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 = 45, FN = 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 = 45 / (45 + 5) = 45 / 50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 =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2921000"/>
            <a:ext cx="2540000" cy="15240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13" name="Text 11"/>
          <p:cNvSpPr/>
          <p:nvPr/>
        </p:nvSpPr>
        <p:spPr>
          <a:xfrm>
            <a:off x="8128000" y="304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128000" y="3873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508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Recall Tells Us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524500"/>
            <a:ext cx="698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all actual positive cases, the model correctly identified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High recall means the model is thorough — it catches most positive cases.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0" y="5080000"/>
            <a:ext cx="73660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32800" y="520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Recall Matters Most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2800" y="5613400"/>
            <a:ext cx="673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Disease screening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don't miss actual patients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systems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don't miss threats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engines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don't miss relevant results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Precision-Recall Trade-off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Precision and Recall often have an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inverse relationship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improving one typically degrades the other. The balance is controlled by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classification threshold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7112000" cy="355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2000" y="2222500"/>
            <a:ext cx="7112000" cy="50800"/>
          </a:xfrm>
          <a:prstGeom prst="rect">
            <a:avLst/>
          </a:prstGeom>
          <a:solidFill>
            <a:srgbClr val="4A7C9B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4765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A7C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Threshold (Conservative)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2946400"/>
            <a:ext cx="647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7C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Predicts "positive" only when extremely confident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7C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Precision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most positive predictions are correct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7C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Recall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misses many actual positives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i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Only flag transactions as fraud when 99% certain. Very few false alarms, but some fraud goes undetected.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2222500"/>
            <a:ext cx="7112000" cy="355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82000" y="2222500"/>
            <a:ext cx="7112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24765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Threshold (Liberal)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0" y="2946400"/>
            <a:ext cx="647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Predicts "positive" liberally, even with low confidence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Recall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catches most actual positives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Precision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many false positives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i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Flag any transaction that looks even slightly suspicious. Catches most fraud, but many legitimate transactions are blocked.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6159500"/>
            <a:ext cx="14732000" cy="1016000"/>
          </a:xfrm>
          <a:prstGeom prst="rect">
            <a:avLst/>
          </a:prstGeom>
          <a:solidFill>
            <a:srgbClr val="1B2A3C">
              <a:alpha val="3922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6159500"/>
            <a:ext cx="50800" cy="1016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62865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Choosing the right balance depends on your problem's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structure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Are false positives or false negatives more expensive? The answer guides your threshold selection.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F1-Score — Balancing Precision and Recall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14732000" cy="139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333500"/>
            <a:ext cx="50800" cy="1397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422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177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 = 2 x (Precision x Recall) / (Precision + Recall)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2311400"/>
            <a:ext cx="889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Harmonic mean — penalizes extreme values more than arithmetic mean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048000"/>
            <a:ext cx="698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Worked Example (Dog Classifier)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556000"/>
            <a:ext cx="698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= 0.818, Recall = 0.90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 = 2 x (0.818 x 0.90) / (0.818 + 0.90)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 = 2 x 0.736 / 1.718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 =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0.857 or 85.7%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0" y="3048000"/>
            <a:ext cx="2540000" cy="16510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14" name="Text 12"/>
          <p:cNvSpPr/>
          <p:nvPr/>
        </p:nvSpPr>
        <p:spPr>
          <a:xfrm>
            <a:off x="8128000" y="3175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85.7%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128000" y="4127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Use the Harmonic Mean?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778500"/>
            <a:ext cx="698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model with 100% precision and 0% recall gets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 = 0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50%). The harmonic mean ensures both metrics must be reasonably high for a good F1 score.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5334000"/>
            <a:ext cx="7366000" cy="177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32800" y="546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F1-Score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32800" y="58674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Need a single metric to compare models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Dataset has class imbalance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Both precision and recall are equally important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Metrics Comparison — When to Use Which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4826000"/>
        </p:xfrm>
        <a:graphic>
          <a:graphicData uri="http://schemas.openxmlformats.org/drawingml/2006/table">
            <a:tbl>
              <a:tblPr/>
              <a:tblGrid>
                <a:gridCol w="2209800"/>
                <a:gridCol w="4419600"/>
                <a:gridCol w="4419600"/>
                <a:gridCol w="3683000"/>
              </a:tblGrid>
              <a:tr h="67133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Metric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Used When...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 Scenarios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Question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</a:tr>
              <a:tr h="103866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B2A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Accuracy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Classes are balanced and all errors are equally costly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General balanced classification tasks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"How often correct?"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866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45D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Precision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 positives are more costly than false negatives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Spam filtering, recommendation systems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"How reliable are positive predictions?"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103866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4A7C9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Recall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 negatives are more costly than false positives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Medical screening, fraud detection, security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"How complete is detection?"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866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4A9B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F1-Score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Need balance between precision and recall; imbalanced data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Information retrieval, class-imbalanced datasets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"What's the harmonic balance?"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647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Beyond These Metrics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6921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2A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Specificity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(TN rate) — focuses on negative class performance.   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AUC-ROC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threshold-independent evaluation of model discrimination.   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4A7C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Log-Loss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evaluates probabilistic predictions. Always choose metrics aligned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objectives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9 — 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14732000" cy="673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714500"/>
            <a:ext cx="50800" cy="69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7145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confusion matrix (TP, TN, FP, FN) is the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all classification evaluation.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43000" y="2603500"/>
            <a:ext cx="50800" cy="69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6035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simple but misleading on imbalanced datasets — always check class distribution.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3492500"/>
            <a:ext cx="50800" cy="69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4925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tells us how reliable positive predictions are — critical when false positives are costly.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43000" y="4381500"/>
            <a:ext cx="50800" cy="69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3815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tells us how complete positive detection is — critical when false negatives are costly.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3000" y="5270500"/>
            <a:ext cx="50800" cy="69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52705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balances precision and recall into a single comparable metric using the harmonic mean.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43000" y="6159500"/>
            <a:ext cx="50800" cy="69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61595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single metric is perfect — choose evaluation criteria based on your problem's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structure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3000" y="7048500"/>
            <a:ext cx="50800" cy="69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70485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Evaluation is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re-evaluate as you tune models and gather more data.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4000"/>
            <a:ext cx="6350000" cy="355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0" b="1" dirty="0">
                <a:solidFill>
                  <a:srgbClr val="F4F2EE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2700000" y="5080000"/>
            <a:ext cx="2540000" cy="2540000"/>
          </a:xfrm>
          <a:prstGeom prst="ellipse">
            <a:avLst/>
          </a:prstGeom>
          <a:solidFill>
            <a:srgbClr val="64748B">
              <a:alpha val="6275"/>
            </a:srgbClr>
          </a:solidFill>
          <a:ln w="12700">
            <a:solidFill>
              <a:srgbClr val="64748B">
                <a:alpha val="1451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6000" y="3937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400" kern="0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43815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6355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 &amp; Linear Regression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5524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from Labeled Data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Supervised Learning?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Supervised learning is a machine learning paradigm where the model learns from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labeled training data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input-output pairs (x, y). The goal is to learn a function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f: X -&gt; Y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maps inputs to outputs, enabling predictions on new, unseen data.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41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Major Problem Types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921000"/>
            <a:ext cx="7112000" cy="317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2000" y="2921000"/>
            <a:ext cx="7112000" cy="50800"/>
          </a:xfrm>
          <a:prstGeom prst="rect">
            <a:avLst/>
          </a:prstGeom>
          <a:solidFill>
            <a:srgbClr val="4A7C9B"/>
          </a:solidFill>
          <a:ln/>
        </p:spPr>
      </p:sp>
      <p:sp>
        <p:nvSpPr>
          <p:cNvPr id="10" name="Shape 8"/>
          <p:cNvSpPr/>
          <p:nvPr/>
        </p:nvSpPr>
        <p:spPr>
          <a:xfrm>
            <a:off x="1041400" y="3175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18453" y="31036"/>
                </a:moveTo>
                <a:lnTo>
                  <a:pt x="436086" y="150336"/>
                </a:lnTo>
                <a:cubicBezTo>
                  <a:pt x="458073" y="172641"/>
                  <a:pt x="458073" y="208359"/>
                  <a:pt x="436086" y="230664"/>
                </a:cubicBezTo>
                <a:lnTo>
                  <a:pt x="311944" y="356314"/>
                </a:lnTo>
                <a:cubicBezTo>
                  <a:pt x="304562" y="363776"/>
                  <a:pt x="292497" y="363855"/>
                  <a:pt x="285036" y="356473"/>
                </a:cubicBezTo>
                <a:cubicBezTo>
                  <a:pt x="277574" y="349091"/>
                  <a:pt x="277495" y="337026"/>
                  <a:pt x="284877" y="329565"/>
                </a:cubicBezTo>
                <a:lnTo>
                  <a:pt x="409019" y="203835"/>
                </a:lnTo>
                <a:cubicBezTo>
                  <a:pt x="416322" y="196453"/>
                  <a:pt x="416322" y="184468"/>
                  <a:pt x="409019" y="177086"/>
                </a:cubicBezTo>
                <a:lnTo>
                  <a:pt x="291306" y="57864"/>
                </a:lnTo>
                <a:cubicBezTo>
                  <a:pt x="283924" y="50403"/>
                  <a:pt x="284004" y="38338"/>
                  <a:pt x="291465" y="30956"/>
                </a:cubicBezTo>
                <a:cubicBezTo>
                  <a:pt x="298926" y="23574"/>
                  <a:pt x="310991" y="23654"/>
                  <a:pt x="318373" y="31115"/>
                </a:cubicBezTo>
                <a:close/>
                <a:moveTo>
                  <a:pt x="25479" y="182166"/>
                </a:moveTo>
                <a:lnTo>
                  <a:pt x="25479" y="76200"/>
                </a:lnTo>
                <a:cubicBezTo>
                  <a:pt x="25479" y="48181"/>
                  <a:pt x="48260" y="25400"/>
                  <a:pt x="76279" y="25400"/>
                </a:cubicBezTo>
                <a:lnTo>
                  <a:pt x="182245" y="25400"/>
                </a:lnTo>
                <a:cubicBezTo>
                  <a:pt x="195739" y="25400"/>
                  <a:pt x="208677" y="30718"/>
                  <a:pt x="218202" y="40243"/>
                </a:cubicBezTo>
                <a:lnTo>
                  <a:pt x="332502" y="154543"/>
                </a:lnTo>
                <a:cubicBezTo>
                  <a:pt x="352346" y="174387"/>
                  <a:pt x="352346" y="206534"/>
                  <a:pt x="332502" y="226377"/>
                </a:cubicBezTo>
                <a:lnTo>
                  <a:pt x="226536" y="332343"/>
                </a:lnTo>
                <a:cubicBezTo>
                  <a:pt x="206692" y="352187"/>
                  <a:pt x="174546" y="352187"/>
                  <a:pt x="154702" y="332343"/>
                </a:cubicBezTo>
                <a:lnTo>
                  <a:pt x="40402" y="218043"/>
                </a:lnTo>
                <a:cubicBezTo>
                  <a:pt x="30877" y="208518"/>
                  <a:pt x="25559" y="195580"/>
                  <a:pt x="25559" y="182086"/>
                </a:cubicBezTo>
                <a:close/>
                <a:moveTo>
                  <a:pt x="139779" y="114300"/>
                </a:moveTo>
                <a:cubicBezTo>
                  <a:pt x="139779" y="100281"/>
                  <a:pt x="128398" y="88900"/>
                  <a:pt x="114379" y="88900"/>
                </a:cubicBezTo>
                <a:cubicBezTo>
                  <a:pt x="100361" y="88900"/>
                  <a:pt x="88979" y="100281"/>
                  <a:pt x="88979" y="114300"/>
                </a:cubicBezTo>
                <a:cubicBezTo>
                  <a:pt x="88979" y="128319"/>
                  <a:pt x="100361" y="139700"/>
                  <a:pt x="114379" y="139700"/>
                </a:cubicBezTo>
                <a:cubicBezTo>
                  <a:pt x="128398" y="139700"/>
                  <a:pt x="139779" y="128319"/>
                  <a:pt x="139779" y="114300"/>
                </a:cubicBezTo>
                <a:close/>
              </a:path>
            </a:pathLst>
          </a:custGeom>
          <a:solidFill>
            <a:srgbClr val="4A7C9B"/>
          </a:solidFill>
          <a:ln/>
        </p:spPr>
      </p:sp>
      <p:sp>
        <p:nvSpPr>
          <p:cNvPr id="11" name="Text 9"/>
          <p:cNvSpPr/>
          <p:nvPr/>
        </p:nvSpPr>
        <p:spPr>
          <a:xfrm>
            <a:off x="1625600" y="3175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A7C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800" y="3746500"/>
            <a:ext cx="647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Predicts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discrete categories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Answers "Which category?"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4A7C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Email spam detection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4A7C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Image recognition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4A7C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Medical diagnosis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4A7C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Sentiment analysis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2921000"/>
            <a:ext cx="7112000" cy="317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82000" y="2921000"/>
            <a:ext cx="7112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0" y="317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C45D2B"/>
          </a:solidFill>
          <a:ln/>
        </p:spPr>
      </p:sp>
      <p:sp>
        <p:nvSpPr>
          <p:cNvPr id="16" name="Text 14"/>
          <p:cNvSpPr/>
          <p:nvPr/>
        </p:nvSpPr>
        <p:spPr>
          <a:xfrm>
            <a:off x="9245600" y="3175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0" y="3746500"/>
            <a:ext cx="647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Predicts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values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Answers "How much?"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House price prediction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Stock price forecasting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Temperature prediction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Sales revenue estimation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477000"/>
            <a:ext cx="14732000" cy="889000"/>
          </a:xfrm>
          <a:prstGeom prst="rect">
            <a:avLst/>
          </a:prstGeom>
          <a:solidFill>
            <a:srgbClr val="1B2A3C">
              <a:alpha val="3922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6477000"/>
            <a:ext cx="50800" cy="889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6604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Idea: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"supervision" comes from labeled examples acting as a "teacher" that guides the learning process. It is the most widely used ML approach.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Supervised Learning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Shape 4"/>
          <p:cNvSpPr/>
          <p:nvPr/>
        </p:nvSpPr>
        <p:spPr>
          <a:xfrm>
            <a:off x="1524000" y="2476500"/>
            <a:ext cx="132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1206500" y="2222500"/>
            <a:ext cx="508000" cy="508000"/>
          </a:xfrm>
          <a:prstGeom prst="ellipse">
            <a:avLst/>
          </a:prstGeom>
          <a:solidFill>
            <a:srgbClr val="1B2A3C"/>
          </a:solidFill>
          <a:ln/>
        </p:spPr>
      </p:sp>
      <p:sp>
        <p:nvSpPr>
          <p:cNvPr id="8" name="Text 6"/>
          <p:cNvSpPr/>
          <p:nvPr/>
        </p:nvSpPr>
        <p:spPr>
          <a:xfrm>
            <a:off x="1206500" y="2222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8575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5000" y="3200400"/>
            <a:ext cx="165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Gather relevant, high-quality labeled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38500" y="2222500"/>
            <a:ext cx="508000" cy="508000"/>
          </a:xfrm>
          <a:prstGeom prst="ellipse">
            <a:avLst/>
          </a:prstGeom>
          <a:solidFill>
            <a:srgbClr val="1B2A3C"/>
          </a:solidFill>
          <a:ln/>
        </p:spPr>
      </p:sp>
      <p:sp>
        <p:nvSpPr>
          <p:cNvPr id="12" name="Text 10"/>
          <p:cNvSpPr/>
          <p:nvPr/>
        </p:nvSpPr>
        <p:spPr>
          <a:xfrm>
            <a:off x="3238500" y="2222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94000" y="28575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67000" y="3200400"/>
            <a:ext cx="165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Clean, normalize, handle missing values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70500" y="2222500"/>
            <a:ext cx="508000" cy="508000"/>
          </a:xfrm>
          <a:prstGeom prst="ellipse">
            <a:avLst/>
          </a:prstGeom>
          <a:solidFill>
            <a:srgbClr val="1B2A3C"/>
          </a:solidFill>
          <a:ln/>
        </p:spPr>
      </p:sp>
      <p:sp>
        <p:nvSpPr>
          <p:cNvPr id="16" name="Text 14"/>
          <p:cNvSpPr/>
          <p:nvPr/>
        </p:nvSpPr>
        <p:spPr>
          <a:xfrm>
            <a:off x="5270500" y="2222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26000" y="28575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Split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99000" y="3200400"/>
            <a:ext cx="165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 training / 20% testing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02500" y="2222500"/>
            <a:ext cx="508000" cy="508000"/>
          </a:xfrm>
          <a:prstGeom prst="ellipse">
            <a:avLst/>
          </a:prstGeom>
          <a:solidFill>
            <a:srgbClr val="C45D2B"/>
          </a:solidFill>
          <a:ln/>
        </p:spPr>
      </p:sp>
      <p:sp>
        <p:nvSpPr>
          <p:cNvPr id="20" name="Text 18"/>
          <p:cNvSpPr/>
          <p:nvPr/>
        </p:nvSpPr>
        <p:spPr>
          <a:xfrm>
            <a:off x="7302500" y="2222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28575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Model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31000" y="3200400"/>
            <a:ext cx="165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 learns patterns from training set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334500" y="2222500"/>
            <a:ext cx="508000" cy="508000"/>
          </a:xfrm>
          <a:prstGeom prst="ellipse">
            <a:avLst/>
          </a:prstGeom>
          <a:solidFill>
            <a:srgbClr val="1B2A3C"/>
          </a:solidFill>
          <a:ln/>
        </p:spPr>
      </p:sp>
      <p:sp>
        <p:nvSpPr>
          <p:cNvPr id="24" name="Text 22"/>
          <p:cNvSpPr/>
          <p:nvPr/>
        </p:nvSpPr>
        <p:spPr>
          <a:xfrm>
            <a:off x="9334500" y="2222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90000" y="28575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63000" y="3200400"/>
            <a:ext cx="165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 performance on test set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366500" y="2222500"/>
            <a:ext cx="508000" cy="508000"/>
          </a:xfrm>
          <a:prstGeom prst="ellipse">
            <a:avLst/>
          </a:prstGeom>
          <a:solidFill>
            <a:srgbClr val="1B2A3C"/>
          </a:solidFill>
          <a:ln/>
        </p:spPr>
      </p:sp>
      <p:sp>
        <p:nvSpPr>
          <p:cNvPr id="28" name="Text 26"/>
          <p:cNvSpPr/>
          <p:nvPr/>
        </p:nvSpPr>
        <p:spPr>
          <a:xfrm>
            <a:off x="11366500" y="2222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95000" y="2857500"/>
            <a:ext cx="165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Tune &amp; Deploy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795000" y="3200400"/>
            <a:ext cx="165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and put into production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431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Principles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4826000"/>
            <a:ext cx="4699000" cy="190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2000" y="4826000"/>
            <a:ext cx="50800" cy="1905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4" name="Text 32"/>
          <p:cNvSpPr/>
          <p:nvPr/>
        </p:nvSpPr>
        <p:spPr>
          <a:xfrm>
            <a:off x="1016000" y="49530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test on training data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80/20 split ensures the model generalizes, not memorizes.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778500" y="4826000"/>
            <a:ext cx="4699000" cy="190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78500" y="4826000"/>
            <a:ext cx="50800" cy="1905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7" name="Text 35"/>
          <p:cNvSpPr/>
          <p:nvPr/>
        </p:nvSpPr>
        <p:spPr>
          <a:xfrm>
            <a:off x="6032500" y="49530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 is paramount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Garbage in, garbage out. Poor data invalidates even the best algorithms.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795000" y="4826000"/>
            <a:ext cx="4699000" cy="190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795000" y="4826000"/>
            <a:ext cx="50800" cy="1905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40" name="Text 38"/>
          <p:cNvSpPr/>
          <p:nvPr/>
        </p:nvSpPr>
        <p:spPr>
          <a:xfrm>
            <a:off x="11049000" y="49530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Iteration is essential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step feeds back into the others. ML is a cyclical process.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vs Regression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4572000"/>
        </p:xfrm>
        <a:graphic>
          <a:graphicData uri="http://schemas.openxmlformats.org/drawingml/2006/table">
            <a:tbl>
              <a:tblPr/>
              <a:tblGrid>
                <a:gridCol w="2651760"/>
                <a:gridCol w="6040120"/>
                <a:gridCol w="6040120"/>
              </a:tblGrid>
              <a:tr h="547621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Classification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Regression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</a:tr>
              <a:tr h="66224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Output Type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Discrete categories (classes)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 numerical values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24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Question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"Which category?"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"How much?" / "What value?"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66224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Spam detection, image recognition, diagnosis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House prices, stock forecasting, temperature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24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Algorithms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Logistic Regression, SVM, Decision Trees, Naive Bayes, KNN, Neural Networks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Linear Regression, Decision Trees, Random Forest, KNN, Neural Networks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66224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Evaluation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Accuracy, Precision, Recall, F1-Score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MSE, RMSE, MAE, R-squared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18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Output Format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 label (e.g., "Spam", "Not Spam")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Numerical value (e.g., $250,000, 23.5 C)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6286500"/>
            <a:ext cx="14732000" cy="1016000"/>
          </a:xfrm>
          <a:prstGeom prst="rect">
            <a:avLst/>
          </a:prstGeom>
          <a:solidFill>
            <a:srgbClr val="1B2A3C">
              <a:alpha val="3922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6286500"/>
            <a:ext cx="50800" cy="1016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9" name="Text 6"/>
          <p:cNvSpPr/>
          <p:nvPr/>
        </p:nvSpPr>
        <p:spPr>
          <a:xfrm>
            <a:off x="1066800" y="63500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Difference: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nature of the target variable —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categorical vs continuous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Some algorithms (Decision Trees, Random Forest, KNN, Neural Networks) work for both types.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Supervised Learning Algorithms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4826000" cy="215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333500"/>
            <a:ext cx="482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524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1879600"/>
            <a:ext cx="431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Simplest regression algorithm. Models linear relationships between features and target. Highly interpretable.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1333500"/>
            <a:ext cx="4826000" cy="215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42000" y="1333500"/>
            <a:ext cx="4826000" cy="50800"/>
          </a:xfrm>
          <a:prstGeom prst="rect">
            <a:avLst/>
          </a:prstGeom>
          <a:solidFill>
            <a:srgbClr val="4A7C9B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1524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1879600"/>
            <a:ext cx="431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algorithm using the sigmoid function to estimate probabilities. Outputs 0 or 1 based on threshold.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1333500"/>
            <a:ext cx="4572000" cy="215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22000" y="1333500"/>
            <a:ext cx="4572000" cy="50800"/>
          </a:xfrm>
          <a:prstGeom prst="rect">
            <a:avLst/>
          </a:prstGeom>
          <a:solidFill>
            <a:srgbClr val="4A9B5E"/>
          </a:solidFill>
          <a:ln/>
        </p:spPr>
      </p:sp>
      <p:sp>
        <p:nvSpPr>
          <p:cNvPr id="16" name="Text 14"/>
          <p:cNvSpPr/>
          <p:nvPr/>
        </p:nvSpPr>
        <p:spPr>
          <a:xfrm>
            <a:off x="11176000" y="15240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76000" y="18796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Flowchart-like structure that splits data based on feature values. Easy to interpret and visualize.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746500"/>
            <a:ext cx="4826000" cy="215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2000" y="3746500"/>
            <a:ext cx="4826000" cy="50800"/>
          </a:xfrm>
          <a:prstGeom prst="rect">
            <a:avLst/>
          </a:prstGeom>
          <a:solidFill>
            <a:srgbClr val="8B6F4E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3937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292600"/>
            <a:ext cx="431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of multiple decision trees. More stable and accurate than a single tree. Great for tabular data.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42000" y="3746500"/>
            <a:ext cx="4826000" cy="215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42000" y="3746500"/>
            <a:ext cx="4826000" cy="50800"/>
          </a:xfrm>
          <a:prstGeom prst="rect">
            <a:avLst/>
          </a:prstGeom>
          <a:solidFill>
            <a:srgbClr val="7B4A9B"/>
          </a:solidFill>
          <a:ln/>
        </p:spPr>
      </p:sp>
      <p:sp>
        <p:nvSpPr>
          <p:cNvPr id="24" name="Text 22"/>
          <p:cNvSpPr/>
          <p:nvPr/>
        </p:nvSpPr>
        <p:spPr>
          <a:xfrm>
            <a:off x="6096000" y="3937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 Vector Machines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96000" y="4292600"/>
            <a:ext cx="431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Finds optimal boundary (hyperplane) separating classes. Excellent for high-dimensional data with clear margins.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922000" y="3746500"/>
            <a:ext cx="4572000" cy="215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922000" y="3746500"/>
            <a:ext cx="4572000" cy="50800"/>
          </a:xfrm>
          <a:prstGeom prst="rect">
            <a:avLst/>
          </a:prstGeom>
          <a:solidFill>
            <a:srgbClr val="C43030"/>
          </a:solidFill>
          <a:ln/>
        </p:spPr>
      </p:sp>
      <p:sp>
        <p:nvSpPr>
          <p:cNvPr id="28" name="Text 26"/>
          <p:cNvSpPr/>
          <p:nvPr/>
        </p:nvSpPr>
        <p:spPr>
          <a:xfrm>
            <a:off x="11176000" y="39370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K-Nearest Neighbors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76000" y="42926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Classifies based on the classes of closest training examples. Simple, intuitive, effective for small datasets.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159500"/>
            <a:ext cx="48260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2000" y="6159500"/>
            <a:ext cx="4826000" cy="50800"/>
          </a:xfrm>
          <a:prstGeom prst="rect">
            <a:avLst/>
          </a:prstGeom>
          <a:solidFill>
            <a:srgbClr val="2B9B8B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6350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Naive Bayes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6000" y="67056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Probabilistic classifier based on Bayes' theorem. Fast and effective for text classification and spam filtering.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42000" y="6159500"/>
            <a:ext cx="96520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42000" y="6159500"/>
            <a:ext cx="9652000" cy="508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36" name="Text 34"/>
          <p:cNvSpPr/>
          <p:nvPr/>
        </p:nvSpPr>
        <p:spPr>
          <a:xfrm>
            <a:off x="6096000" y="63500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Neural Networks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96000" y="6705600"/>
            <a:ext cx="914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Multi-layer architectures that mimic the human brain. Capable of finding subtle, complex patterns in unstructured data like images, text, and speech. Foundation of deep learning.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 — Modeling with a 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Linear Regression is the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fundamental supervised learning algorithm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predicting continuous values. It models the relationship between a dependent variable (y) and one or more independent variables (x) by fitting a straight line that best represents the data.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41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Assumptions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8575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There is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relationship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input and output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best-fit line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make predictions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Residuals (errors) are normally distributed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Features are independent of each other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0" y="2413000"/>
            <a:ext cx="7366000" cy="215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28000" y="2413000"/>
            <a:ext cx="50800" cy="2159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1" name="Text 9"/>
          <p:cNvSpPr/>
          <p:nvPr/>
        </p:nvSpPr>
        <p:spPr>
          <a:xfrm>
            <a:off x="8432800" y="254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Classic Example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2800" y="2946400"/>
            <a:ext cx="6731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Predicting a student's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 score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based on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hours studied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study hours increase, scores tend to increase in a roughly linear fashion. The model learns this line and uses it to predict scores for new students.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95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Types of Linear Regression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461000"/>
            <a:ext cx="71120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2000" y="5461000"/>
            <a:ext cx="7112000" cy="50800"/>
          </a:xfrm>
          <a:prstGeom prst="rect">
            <a:avLst/>
          </a:prstGeom>
          <a:solidFill>
            <a:srgbClr val="4A7C9B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56515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A7C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Linear Regression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60325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independent variable. Equation: y_hat = theta_0 + theta_1 * x. Also called univariate regression.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5461000"/>
            <a:ext cx="71120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82000" y="5461000"/>
            <a:ext cx="7112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20" name="Text 18"/>
          <p:cNvSpPr/>
          <p:nvPr/>
        </p:nvSpPr>
        <p:spPr>
          <a:xfrm>
            <a:off x="8636000" y="56515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Linear Regression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36000" y="60325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independent variables. Equation: y_hat = theta_0 + theta_1*x_1 + theta_2*x_2 + ... + theta_n*x_n.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Linear Regression — The Mathematics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14732000" cy="15240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1422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300" kern="0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HYPOTHESIS FUNCTION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18034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y_hat = theta_0 + theta_1 * 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0" y="1460500"/>
            <a:ext cx="508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y_hat = predicted value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 = input feature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theta_0 = intercept (bias)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theta_1 = slope (coefficient)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175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Parameters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683000"/>
            <a:ext cx="71120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2000" y="3683000"/>
            <a:ext cx="50800" cy="1651000"/>
          </a:xfrm>
          <a:prstGeom prst="rect">
            <a:avLst/>
          </a:prstGeom>
          <a:solidFill>
            <a:srgbClr val="4A7C9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38100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4A7C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theta_0 — The Intercept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41910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value of y_hat when x = 0. It represents the starting point or baseline prediction. Also called the "bias term."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3683000"/>
            <a:ext cx="71120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2000" y="3683000"/>
            <a:ext cx="50800" cy="1651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7" name="Text 15"/>
          <p:cNvSpPr/>
          <p:nvPr/>
        </p:nvSpPr>
        <p:spPr>
          <a:xfrm>
            <a:off x="8636000" y="38100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theta_1 — The Slope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36000" y="41910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much y_hat changes for a one-unit change in x. Represents the strength and direction of the relationship.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5651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Worked Example: Salary Prediction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159500"/>
            <a:ext cx="14732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66800" y="6286500"/>
            <a:ext cx="1409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 salary (y) from years of experience (x)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Learned model: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theta_0 = $30,000, theta_1 = $5,000 per year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for 3 years: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y_hat = 30,000 + 5,000 x 3 =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$45,000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Linear Regression — Multiple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14732000" cy="12700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1422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300" kern="0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HYPOTHESIS FUNCTION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17780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y_hat = theta_0 + theta_1*x_1 + theta_2*x_2 + ... + theta_n*x_n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921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coefficient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theta_i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represents the contribution of feature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x_i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the prediction, holding all other features constant. The model learns the optimal weights for all features simultaneously.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387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Use Cases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381500"/>
            <a:ext cx="3429000" cy="215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2000" y="4381500"/>
            <a:ext cx="3429000" cy="50800"/>
          </a:xfrm>
          <a:prstGeom prst="rect">
            <a:avLst/>
          </a:prstGeom>
          <a:solidFill>
            <a:srgbClr val="4A7C9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459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5378" y="5120"/>
                </a:moveTo>
                <a:cubicBezTo>
                  <a:pt x="158055" y="-1667"/>
                  <a:pt x="146745" y="-1667"/>
                  <a:pt x="139482" y="5120"/>
                </a:cubicBezTo>
                <a:lnTo>
                  <a:pt x="6132" y="128945"/>
                </a:lnTo>
                <a:cubicBezTo>
                  <a:pt x="417" y="134303"/>
                  <a:pt x="-1488" y="142577"/>
                  <a:pt x="1369" y="149840"/>
                </a:cubicBezTo>
                <a:cubicBezTo>
                  <a:pt x="4227" y="157103"/>
                  <a:pt x="11192" y="161925"/>
                  <a:pt x="19050" y="161925"/>
                </a:cubicBezTo>
                <a:lnTo>
                  <a:pt x="28575" y="161925"/>
                </a:lnTo>
                <a:lnTo>
                  <a:pt x="28575" y="266700"/>
                </a:lnTo>
                <a:cubicBezTo>
                  <a:pt x="28575" y="287715"/>
                  <a:pt x="45660" y="304800"/>
                  <a:pt x="66675" y="304800"/>
                </a:cubicBezTo>
                <a:lnTo>
                  <a:pt x="238125" y="304800"/>
                </a:lnTo>
                <a:cubicBezTo>
                  <a:pt x="259140" y="304800"/>
                  <a:pt x="276225" y="287715"/>
                  <a:pt x="276225" y="266700"/>
                </a:cubicBezTo>
                <a:lnTo>
                  <a:pt x="276225" y="161925"/>
                </a:lnTo>
                <a:lnTo>
                  <a:pt x="285750" y="161925"/>
                </a:lnTo>
                <a:cubicBezTo>
                  <a:pt x="293608" y="161925"/>
                  <a:pt x="300633" y="157103"/>
                  <a:pt x="303490" y="149840"/>
                </a:cubicBezTo>
                <a:cubicBezTo>
                  <a:pt x="306348" y="142577"/>
                  <a:pt x="304443" y="134243"/>
                  <a:pt x="298728" y="128945"/>
                </a:cubicBezTo>
                <a:lnTo>
                  <a:pt x="165378" y="5120"/>
                </a:lnTo>
                <a:close/>
                <a:moveTo>
                  <a:pt x="142875" y="190500"/>
                </a:moveTo>
                <a:lnTo>
                  <a:pt x="161925" y="190500"/>
                </a:lnTo>
                <a:cubicBezTo>
                  <a:pt x="177701" y="190500"/>
                  <a:pt x="190500" y="203299"/>
                  <a:pt x="190500" y="219075"/>
                </a:cubicBezTo>
                <a:lnTo>
                  <a:pt x="190500" y="276225"/>
                </a:lnTo>
                <a:lnTo>
                  <a:pt x="114300" y="276225"/>
                </a:lnTo>
                <a:lnTo>
                  <a:pt x="114300" y="219075"/>
                </a:lnTo>
                <a:cubicBezTo>
                  <a:pt x="114300" y="203299"/>
                  <a:pt x="127099" y="190500"/>
                  <a:pt x="142875" y="190500"/>
                </a:cubicBezTo>
                <a:close/>
              </a:path>
            </a:pathLst>
          </a:custGeom>
          <a:solidFill>
            <a:srgbClr val="4A7C9B"/>
          </a:solidFill>
          <a:ln/>
        </p:spPr>
      </p:sp>
      <p:sp>
        <p:nvSpPr>
          <p:cNvPr id="14" name="Text 12"/>
          <p:cNvSpPr/>
          <p:nvPr/>
        </p:nvSpPr>
        <p:spPr>
          <a:xfrm>
            <a:off x="1422400" y="4597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Estate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5016500"/>
            <a:ext cx="29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 property prices using location, size, bedrooms, and age of the building.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08500" y="4381500"/>
            <a:ext cx="3429000" cy="215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08500" y="4381500"/>
            <a:ext cx="3429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8" name="Shape 16"/>
          <p:cNvSpPr/>
          <p:nvPr/>
        </p:nvSpPr>
        <p:spPr>
          <a:xfrm>
            <a:off x="4762500" y="459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C45D2B"/>
          </a:solidFill>
          <a:ln/>
        </p:spPr>
      </p:sp>
      <p:sp>
        <p:nvSpPr>
          <p:cNvPr id="19" name="Text 17"/>
          <p:cNvSpPr/>
          <p:nvPr/>
        </p:nvSpPr>
        <p:spPr>
          <a:xfrm>
            <a:off x="5168900" y="4597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62500" y="5016500"/>
            <a:ext cx="29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stock prices using interest rates, inflation, and market indices.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55000" y="4381500"/>
            <a:ext cx="3429000" cy="215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55000" y="4381500"/>
            <a:ext cx="3429000" cy="50800"/>
          </a:xfrm>
          <a:prstGeom prst="rect">
            <a:avLst/>
          </a:prstGeom>
          <a:solidFill>
            <a:srgbClr val="4A9B5E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9000" y="459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9050"/>
                </a:moveTo>
                <a:cubicBezTo>
                  <a:pt x="304800" y="83403"/>
                  <a:pt x="259199" y="137100"/>
                  <a:pt x="198596" y="149662"/>
                </a:cubicBezTo>
                <a:cubicBezTo>
                  <a:pt x="193893" y="115074"/>
                  <a:pt x="178356" y="83939"/>
                  <a:pt x="155436" y="59829"/>
                </a:cubicBezTo>
                <a:cubicBezTo>
                  <a:pt x="179308" y="23813"/>
                  <a:pt x="220206" y="0"/>
                  <a:pt x="266700" y="0"/>
                </a:cubicBezTo>
                <a:lnTo>
                  <a:pt x="285750" y="0"/>
                </a:lnTo>
                <a:cubicBezTo>
                  <a:pt x="296287" y="0"/>
                  <a:pt x="304800" y="8513"/>
                  <a:pt x="304800" y="19050"/>
                </a:cubicBezTo>
                <a:close/>
                <a:moveTo>
                  <a:pt x="0" y="57150"/>
                </a:moveTo>
                <a:cubicBezTo>
                  <a:pt x="0" y="46613"/>
                  <a:pt x="8513" y="38100"/>
                  <a:pt x="19050" y="38100"/>
                </a:cubicBezTo>
                <a:lnTo>
                  <a:pt x="38100" y="38100"/>
                </a:lnTo>
                <a:cubicBezTo>
                  <a:pt x="111740" y="38100"/>
                  <a:pt x="171450" y="97810"/>
                  <a:pt x="171450" y="171450"/>
                </a:cubicBezTo>
                <a:lnTo>
                  <a:pt x="171450" y="285750"/>
                </a:lnTo>
                <a:cubicBezTo>
                  <a:pt x="171450" y="296287"/>
                  <a:pt x="162937" y="304800"/>
                  <a:pt x="152400" y="304800"/>
                </a:cubicBezTo>
                <a:cubicBezTo>
                  <a:pt x="141863" y="304800"/>
                  <a:pt x="133350" y="296287"/>
                  <a:pt x="133350" y="285750"/>
                </a:cubicBezTo>
                <a:lnTo>
                  <a:pt x="133350" y="190500"/>
                </a:lnTo>
                <a:cubicBezTo>
                  <a:pt x="59710" y="190500"/>
                  <a:pt x="0" y="130790"/>
                  <a:pt x="0" y="57150"/>
                </a:cubicBezTo>
                <a:close/>
              </a:path>
            </a:pathLst>
          </a:custGeom>
          <a:solidFill>
            <a:srgbClr val="4A9B5E"/>
          </a:solidFill>
          <a:ln/>
        </p:spPr>
      </p:sp>
      <p:sp>
        <p:nvSpPr>
          <p:cNvPr id="24" name="Text 22"/>
          <p:cNvSpPr/>
          <p:nvPr/>
        </p:nvSpPr>
        <p:spPr>
          <a:xfrm>
            <a:off x="8915400" y="4597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Agriculture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9000" y="5016500"/>
            <a:ext cx="29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 crop yield from rainfall, temperature, and soil quality measurements.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001500" y="4381500"/>
            <a:ext cx="3492500" cy="215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001500" y="4381500"/>
            <a:ext cx="3492500" cy="50800"/>
          </a:xfrm>
          <a:prstGeom prst="rect">
            <a:avLst/>
          </a:prstGeom>
          <a:solidFill>
            <a:srgbClr val="7B4A9B"/>
          </a:solidFill>
          <a:ln/>
        </p:spPr>
      </p:sp>
      <p:sp>
        <p:nvSpPr>
          <p:cNvPr id="28" name="Shape 26"/>
          <p:cNvSpPr/>
          <p:nvPr/>
        </p:nvSpPr>
        <p:spPr>
          <a:xfrm>
            <a:off x="12217400" y="4597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4288" y="-9525"/>
                </a:moveTo>
                <a:cubicBezTo>
                  <a:pt x="6370" y="-9525"/>
                  <a:pt x="0" y="-3155"/>
                  <a:pt x="0" y="4763"/>
                </a:cubicBezTo>
                <a:cubicBezTo>
                  <a:pt x="0" y="12680"/>
                  <a:pt x="6370" y="19050"/>
                  <a:pt x="14288" y="19050"/>
                </a:cubicBezTo>
                <a:lnTo>
                  <a:pt x="41255" y="19050"/>
                </a:lnTo>
                <a:cubicBezTo>
                  <a:pt x="43577" y="19050"/>
                  <a:pt x="45541" y="20717"/>
                  <a:pt x="45958" y="22979"/>
                </a:cubicBezTo>
                <a:lnTo>
                  <a:pt x="76974" y="193417"/>
                </a:lnTo>
                <a:cubicBezTo>
                  <a:pt x="80665" y="213777"/>
                  <a:pt x="98405" y="228600"/>
                  <a:pt x="119122" y="228600"/>
                </a:cubicBezTo>
                <a:lnTo>
                  <a:pt x="271463" y="228600"/>
                </a:lnTo>
                <a:cubicBezTo>
                  <a:pt x="279380" y="228600"/>
                  <a:pt x="285750" y="222230"/>
                  <a:pt x="285750" y="214313"/>
                </a:cubicBezTo>
                <a:cubicBezTo>
                  <a:pt x="285750" y="206395"/>
                  <a:pt x="279380" y="200025"/>
                  <a:pt x="271463" y="200025"/>
                </a:cubicBezTo>
                <a:lnTo>
                  <a:pt x="119122" y="200025"/>
                </a:lnTo>
                <a:cubicBezTo>
                  <a:pt x="112216" y="200025"/>
                  <a:pt x="106323" y="195084"/>
                  <a:pt x="105073" y="188297"/>
                </a:cubicBezTo>
                <a:lnTo>
                  <a:pt x="102037" y="171450"/>
                </a:lnTo>
                <a:lnTo>
                  <a:pt x="282773" y="171450"/>
                </a:lnTo>
                <a:cubicBezTo>
                  <a:pt x="301109" y="171450"/>
                  <a:pt x="316825" y="158413"/>
                  <a:pt x="320219" y="140375"/>
                </a:cubicBezTo>
                <a:lnTo>
                  <a:pt x="338673" y="41612"/>
                </a:lnTo>
                <a:cubicBezTo>
                  <a:pt x="340876" y="29885"/>
                  <a:pt x="331887" y="19050"/>
                  <a:pt x="319921" y="19050"/>
                </a:cubicBezTo>
                <a:lnTo>
                  <a:pt x="74235" y="19050"/>
                </a:lnTo>
                <a:lnTo>
                  <a:pt x="73997" y="17859"/>
                </a:lnTo>
                <a:cubicBezTo>
                  <a:pt x="71140" y="2024"/>
                  <a:pt x="57329" y="-9525"/>
                  <a:pt x="41196" y="-9525"/>
                </a:cubicBezTo>
                <a:lnTo>
                  <a:pt x="14288" y="-9525"/>
                </a:lnTo>
                <a:close/>
                <a:moveTo>
                  <a:pt x="123825" y="304800"/>
                </a:moveTo>
                <a:cubicBezTo>
                  <a:pt x="139596" y="304800"/>
                  <a:pt x="152400" y="291996"/>
                  <a:pt x="152400" y="276225"/>
                </a:cubicBezTo>
                <a:cubicBezTo>
                  <a:pt x="152400" y="260454"/>
                  <a:pt x="139596" y="247650"/>
                  <a:pt x="123825" y="247650"/>
                </a:cubicBezTo>
                <a:cubicBezTo>
                  <a:pt x="108054" y="247650"/>
                  <a:pt x="95250" y="260454"/>
                  <a:pt x="95250" y="276225"/>
                </a:cubicBezTo>
                <a:cubicBezTo>
                  <a:pt x="95250" y="291996"/>
                  <a:pt x="108054" y="304800"/>
                  <a:pt x="123825" y="304800"/>
                </a:cubicBezTo>
                <a:close/>
                <a:moveTo>
                  <a:pt x="257175" y="304800"/>
                </a:moveTo>
                <a:cubicBezTo>
                  <a:pt x="272946" y="304800"/>
                  <a:pt x="285750" y="291996"/>
                  <a:pt x="285750" y="276225"/>
                </a:cubicBezTo>
                <a:cubicBezTo>
                  <a:pt x="285750" y="260454"/>
                  <a:pt x="272946" y="247650"/>
                  <a:pt x="257175" y="247650"/>
                </a:cubicBezTo>
                <a:cubicBezTo>
                  <a:pt x="241404" y="247650"/>
                  <a:pt x="228600" y="260454"/>
                  <a:pt x="228600" y="276225"/>
                </a:cubicBezTo>
                <a:cubicBezTo>
                  <a:pt x="228600" y="291996"/>
                  <a:pt x="241404" y="304800"/>
                  <a:pt x="257175" y="304800"/>
                </a:cubicBezTo>
                <a:close/>
              </a:path>
            </a:pathLst>
          </a:custGeom>
          <a:solidFill>
            <a:srgbClr val="7B4A9B"/>
          </a:solidFill>
          <a:ln/>
        </p:spPr>
      </p:sp>
      <p:sp>
        <p:nvSpPr>
          <p:cNvPr id="29" name="Text 27"/>
          <p:cNvSpPr/>
          <p:nvPr/>
        </p:nvSpPr>
        <p:spPr>
          <a:xfrm>
            <a:off x="12661900" y="4597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255500" y="5016500"/>
            <a:ext cx="2984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how price, promotions, and seasons affect product sales and revenue.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Function — Measuring Prediction Error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cost function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(also called loss function) quantifies how far the model's predictions are from the actual values. For linear regression, we use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Mean Squared Error (MSE)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14732000" cy="16510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2311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300" kern="0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 SQUARED ERROR (MSE)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26924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MSE = (1/m) * sum((y_i - y_hat_i)^2)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33274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m = number of training examples, y_i = actual value, y_hat_i = predicted value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0" y="2413000"/>
            <a:ext cx="3810000" cy="1270000"/>
          </a:xfrm>
          <a:prstGeom prst="rect">
            <a:avLst/>
          </a:prstGeom>
          <a:solidFill>
            <a:srgbClr val="1B2A3C"/>
          </a:solidFill>
          <a:ln w="12700">
            <a:solidFill>
              <a:srgbClr val="64748B">
                <a:alpha val="25098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57000" y="2540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spc="200" kern="0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57000" y="2895600"/>
            <a:ext cx="355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4F2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MSE by finding optimal theta values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191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Squared Error?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699000"/>
            <a:ext cx="4699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2000" y="4699000"/>
            <a:ext cx="50800" cy="1524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4826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errors are positive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Squaring ensures positive and negative errors don't cancel each other out.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78500" y="4699000"/>
            <a:ext cx="4699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78500" y="4699000"/>
            <a:ext cx="50800" cy="1524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20" name="Text 18"/>
          <p:cNvSpPr/>
          <p:nvPr/>
        </p:nvSpPr>
        <p:spPr>
          <a:xfrm>
            <a:off x="6032500" y="4826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Larger errors penalized more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Squaring heavily penalizes outliers, forcing the model to account for them.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95000" y="4699000"/>
            <a:ext cx="46990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795000" y="4699000"/>
            <a:ext cx="50800" cy="1651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0" y="4826000"/>
            <a:ext cx="4191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Mathematically convenient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MSE is differentiable everywhere, making optimization with gradient descent straightforward.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604000"/>
            <a:ext cx="14732000" cy="762000"/>
          </a:xfrm>
          <a:prstGeom prst="rect">
            <a:avLst/>
          </a:prstGeom>
          <a:solidFill>
            <a:srgbClr val="1B2A3C">
              <a:alpha val="3922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62000" y="6604000"/>
            <a:ext cx="50800" cy="762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800" y="67056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= Optimization: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goal of training is to find parameters (theta values) that minimize the cost function. A lower cost means a better model fit.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Gradient Descent — Finding Optimal Parameters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Intuition: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Imagine walking down a hill blindfolded — you feel the slope under your feet and take steps in the steepest downward direction. Gradient Descent does exactly this to minimize the cost function.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222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Algorithm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730500"/>
            <a:ext cx="4699000" cy="127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819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22400" y="2857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random values for theta_0 and theta_1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2730500"/>
            <a:ext cx="4699000" cy="127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30900" y="2819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38900" y="2857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 Gradient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partial derivatives of the cost function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2730500"/>
            <a:ext cx="4699000" cy="127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47400" y="2819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55400" y="2857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Parameters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theta = theta - learning_rate * gradient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63900" y="4254500"/>
            <a:ext cx="4699000" cy="127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16300" y="4343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24300" y="4381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Iterate until cost stops decreasing significantly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80400" y="4254500"/>
            <a:ext cx="4699000" cy="127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32800" y="4343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40800" y="4381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Reach the global minimum of the cost function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5905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Learning Rate — A Critical Hyperparameter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413500"/>
            <a:ext cx="7112000" cy="127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2000" y="6413500"/>
            <a:ext cx="7112000" cy="50800"/>
          </a:xfrm>
          <a:prstGeom prst="rect">
            <a:avLst/>
          </a:prstGeom>
          <a:solidFill>
            <a:srgbClr val="4A7C9B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65786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4A7C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 Small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6921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is very slow. May take thousands of iterations to converge. Risk of getting stuck.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6413500"/>
            <a:ext cx="7112000" cy="127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82000" y="6413500"/>
            <a:ext cx="7112000" cy="50800"/>
          </a:xfrm>
          <a:prstGeom prst="rect">
            <a:avLst/>
          </a:prstGeom>
          <a:solidFill>
            <a:srgbClr val="C43030"/>
          </a:solidFill>
          <a:ln/>
        </p:spPr>
      </p:sp>
      <p:sp>
        <p:nvSpPr>
          <p:cNvPr id="30" name="Text 28"/>
          <p:cNvSpPr/>
          <p:nvPr/>
        </p:nvSpPr>
        <p:spPr>
          <a:xfrm>
            <a:off x="8636000" y="65786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C4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 Large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36000" y="6921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overshoot the minimum and diverge. Cost increases instead of decreasing. Model fails to learn.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 — Worked Example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Predict house prices based on square footage.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1879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Data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86000"/>
          <a:ext cx="6858000" cy="241300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</a:tblGrid>
              <a:tr h="404272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Square Footage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</a:tr>
              <a:tr h="40427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1,000 sqft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$150,000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27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1,500 sqft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$200,000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40427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2,000 sqft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$250,000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27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2,500 sqft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$300,000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39163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3,000 sqft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$350,000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0" y="1879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Learned Model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128000" y="2286000"/>
            <a:ext cx="7366000" cy="2413000"/>
          </a:xfrm>
          <a:prstGeom prst="rect">
            <a:avLst/>
          </a:prstGeom>
          <a:solidFill>
            <a:srgbClr val="1B2A3C"/>
          </a:solidFill>
          <a:ln/>
        </p:spPr>
      </p:sp>
      <p:sp>
        <p:nvSpPr>
          <p:cNvPr id="11" name="Text 8"/>
          <p:cNvSpPr/>
          <p:nvPr/>
        </p:nvSpPr>
        <p:spPr>
          <a:xfrm>
            <a:off x="8432800" y="2476500"/>
            <a:ext cx="673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y_hat = 50 + 0.1 * x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32800" y="3111500"/>
            <a:ext cx="673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 = square footage (in 1000s)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 = price (in $K)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Intercept = $50K (base price)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Slope = $100 per sqft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2000" y="5016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Making Predictions</a:t>
            </a:r>
            <a:endParaRPr lang="en-US" sz="16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435600"/>
          <a:ext cx="14732000" cy="1905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  <a:gridCol w="3683000"/>
              </a:tblGrid>
              <a:tr h="567715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Sqft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Calculation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Predicted Price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Actual Price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C"/>
                    </a:solidFill>
                  </a:tcPr>
                </a:tc>
              </a:tr>
              <a:tr h="66864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2,000 sqft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 + 0.1 x 2000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45D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$250,000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4A9B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$250,000 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864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3,500 sqft (unseen)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 + 0.1 x 3500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45D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$400,000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Generalization test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762000" y="7620000"/>
            <a:ext cx="14732000" cy="825500"/>
          </a:xfrm>
          <a:prstGeom prst="rect">
            <a:avLst/>
          </a:prstGeom>
          <a:solidFill>
            <a:srgbClr val="1B2A3C">
              <a:alpha val="3922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762000" y="7620000"/>
            <a:ext cx="50800" cy="825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7" name="Text 13"/>
          <p:cNvSpPr/>
          <p:nvPr/>
        </p:nvSpPr>
        <p:spPr>
          <a:xfrm>
            <a:off x="1066800" y="76835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linear relationship (price increases $50K per 500 sqft) is captured by the slope of 0.1. For unseen data (3,500 sqft), the model generalizes to predict $400K.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Selection Guide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to choose the right supervised learning algorithm for your problem: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1905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2000" y="1905000"/>
            <a:ext cx="50800" cy="196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006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4000" y="2006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Problem Type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24384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it classification or regression? This is the first and most fundamental decision that narrows your algorithm choices.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0" y="1905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78500" y="1905000"/>
            <a:ext cx="50800" cy="196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4" name="Text 12"/>
          <p:cNvSpPr/>
          <p:nvPr/>
        </p:nvSpPr>
        <p:spPr>
          <a:xfrm>
            <a:off x="6032500" y="2006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40500" y="2006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 Dataset Size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24384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datasets favor simpler models (Naive Bayes, KNN). Large datasets can leverage complex models (Random Forest, Neural Networks).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795000" y="1905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795000" y="1905000"/>
            <a:ext cx="50800" cy="196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049000" y="2006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557000" y="2006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 Interpretability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24384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you need to explain model decisions? Decision Trees and Linear Regression are highly interpretable; Neural Networks are black boxes.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4191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2000" y="4191000"/>
            <a:ext cx="50800" cy="196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4292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4000" y="4292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 Feature Types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" y="47244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Numerical features work with most algorithms. Text data favors Naive Bayes. Image data typically requires Neural Networks.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78500" y="4191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78500" y="4191000"/>
            <a:ext cx="50800" cy="196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29" name="Text 27"/>
          <p:cNvSpPr/>
          <p:nvPr/>
        </p:nvSpPr>
        <p:spPr>
          <a:xfrm>
            <a:off x="6032500" y="4292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40500" y="4292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 Accuracy vs Speed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32500" y="47244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Simpler models train faster and use less memory. Ensemble methods are more accurate but computationally expensive.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795000" y="4191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795000" y="4191000"/>
            <a:ext cx="50800" cy="196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4" name="Text 32"/>
          <p:cNvSpPr/>
          <p:nvPr/>
        </p:nvSpPr>
        <p:spPr>
          <a:xfrm>
            <a:off x="11049000" y="4292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5D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557000" y="4292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Validate Rigorously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049000" y="47244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use cross-validation and multiple metrics. Never rely on a single train-test split or a single performance metric.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6540500"/>
            <a:ext cx="14732000" cy="762000"/>
          </a:xfrm>
          <a:prstGeom prst="rect">
            <a:avLst/>
          </a:prstGeom>
          <a:solidFill>
            <a:srgbClr val="1B2A3C">
              <a:alpha val="3922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62000" y="6540500"/>
            <a:ext cx="50800" cy="762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9" name="Text 37"/>
          <p:cNvSpPr/>
          <p:nvPr/>
        </p:nvSpPr>
        <p:spPr>
          <a:xfrm>
            <a:off x="1066800" y="66421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There is no "best" algorithm. The right choice depends on your data, constraints, and objectives. Experimentation is key.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Week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10 — 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14732000" cy="673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651000"/>
            <a:ext cx="50800" cy="69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51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Supervised learning learns from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labeled (x, y) pairs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predict outputs for new inputs.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43000" y="2476500"/>
            <a:ext cx="50800" cy="69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4765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predicts discrete categories;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predicts continuous values.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3302000"/>
            <a:ext cx="50800" cy="69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302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ML pipeline: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 -&gt; preprocess -&gt; split -&gt; train -&gt; evaluate -&gt; tune -&gt; deploy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43000" y="4127500"/>
            <a:ext cx="50800" cy="69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1275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Linear regression: y_hat = theta_0 + theta_1*x (simple) or with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features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3000" y="4953000"/>
            <a:ext cx="50800" cy="69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953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function (MSE)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measures prediction error;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Descent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minimizes it.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43000" y="5778500"/>
            <a:ext cx="50800" cy="69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57785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Common algorithms: Linear/Logistic Regression, Decision Trees, Random Forest, SVM, KNN, Naive Bayes, Neural Networks.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3000" y="6604000"/>
            <a:ext cx="50800" cy="6985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6604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Algorithm selection depends on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type, data size, interpretability needs, and feature characteristics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43000" y="7429500"/>
            <a:ext cx="50800" cy="5080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74295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45D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validate with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cross-validation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multiple metrics — no single metric tells the full story.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5080000"/>
            <a:ext cx="3175000" cy="3175000"/>
          </a:xfrm>
          <a:prstGeom prst="ellipse">
            <a:avLst/>
          </a:prstGeom>
          <a:solidFill>
            <a:srgbClr val="64748B">
              <a:alpha val="6275"/>
            </a:srgbClr>
          </a:solidFill>
          <a:ln w="12700">
            <a:solidFill>
              <a:srgbClr val="64748B">
                <a:alpha val="1451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65000" y="1016000"/>
            <a:ext cx="2540000" cy="2540000"/>
          </a:xfrm>
          <a:prstGeom prst="ellipse">
            <a:avLst/>
          </a:prstGeom>
          <a:solidFill>
            <a:srgbClr val="64748B">
              <a:alpha val="3137"/>
            </a:srgbClr>
          </a:solidFill>
          <a:ln w="12700">
            <a:solidFill>
              <a:srgbClr val="64748B">
                <a:alpha val="12549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954000" y="7366000"/>
            <a:ext cx="2540000" cy="0"/>
          </a:xfrm>
          <a:prstGeom prst="straightConnector1">
            <a:avLst/>
          </a:prstGeom>
          <a:noFill/>
          <a:ln w="12700">
            <a:solidFill>
              <a:srgbClr val="64748B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3048000" y="2794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spc="600" kern="0" dirty="0">
                <a:solidFill>
                  <a:srgbClr val="F4F2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3810000"/>
            <a:ext cx="2540000" cy="38100"/>
          </a:xfrm>
          <a:prstGeom prst="rect">
            <a:avLst/>
          </a:prstGeom>
          <a:solidFill>
            <a:srgbClr val="C45D2B"/>
          </a:solidFill>
          <a:ln/>
        </p:spPr>
      </p:sp>
      <p:sp>
        <p:nvSpPr>
          <p:cNvPr id="7" name="Text 5"/>
          <p:cNvSpPr/>
          <p:nvPr/>
        </p:nvSpPr>
        <p:spPr>
          <a:xfrm>
            <a:off x="3683000" y="4064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Intelligence — Week 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18000" y="4635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- Week 5: Machine Learning</dc:title>
  <dc:subject>Artificial Intelligence - Week 5: Machine Learning</dc:subject>
  <dc:creator>Kimi</dc:creator>
  <cp:lastModifiedBy>Kimi</cp:lastModifiedBy>
  <cp:revision>1</cp:revision>
  <dcterms:created xsi:type="dcterms:W3CDTF">2026-05-25T19:21:43Z</dcterms:created>
  <dcterms:modified xsi:type="dcterms:W3CDTF">2026-05-25T19:21:43Z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{"Label":"Artificial Intelligence - Week 5: Machine Learning","ContentProducer":"001191110108MACG2KBH8F10000","ProduceID":"19e60478-88d2-8d05-8000-000046455fd9","ReservedCode1":"","ContentPropagator":"001191110108MACG2KBH8F20000","PropagateID":"19e60478-88d2-8d05-8000-000046455fd9","ReservedCode2":""}</vt:lpwstr>
  </property>
</Properties>
</file>