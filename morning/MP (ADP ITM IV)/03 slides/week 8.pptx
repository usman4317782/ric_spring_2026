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 Size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Exp. 1 (Screen)</c:v>
                  </c:pt>
                  <c:pt idx="1">
                    <c:v>Exp. 2 (Screen)</c:v>
                  </c:pt>
                  <c:pt idx="2">
                    <c:v>Exp. 3 (Game)</c:v>
                  </c:pt>
                  <c:pt idx="3">
                    <c:v>Exp. 4 (Game)</c:v>
                  </c:pt>
                  <c:pt idx="4">
                    <c:v>Exp. 5 (Game)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</c:v>
                </c:pt>
                <c:pt idx="1">
                  <c:v>1.6</c:v>
                </c:pt>
                <c:pt idx="2">
                  <c:v>1.55</c:v>
                </c:pt>
                <c:pt idx="3">
                  <c:v>1.59</c:v>
                </c:pt>
                <c:pt idx="4">
                  <c:v>0.88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zqhx7qzgd7uo/mnt/agents/output/multimedia_production/images/8_Creative_Media_Production_BA_Hons.png">    </p:cNvPr>
          <p:cNvPicPr>
            <a:picLocks noChangeAspect="1"/>
          </p:cNvPicPr>
          <p:nvPr/>
        </p:nvPicPr>
        <p:blipFill>
          <a:blip r:embed="rId1"/>
          <a:srcRect l="18889" r="1888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0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476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29845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Principles &amp; Techniques for</a:t>
            </a:r>
            <a:endParaRPr lang="en-US" sz="1600" dirty="0"/>
          </a:p>
          <a:p>
            <a:pPr algn="ctr">
              <a:lnSpc>
                <a:spcPct val="125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Managing Essential Processing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75500" y="47625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8 — Lessons 15 &amp; 16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Personalization Principle · Voice Principle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914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25400"/>
          </a:xfrm>
          <a:prstGeom prst="rect">
            <a:avLst/>
          </a:prstGeom>
          <a:solidFill>
            <a:srgbClr val="E6F0E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3048000"/>
            <a:ext cx="213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Essential 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4445000"/>
            <a:ext cx="213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CTML foundations, cognitive load theory, and the three instructional design goals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59200" y="19685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0" name="Text 8"/>
          <p:cNvSpPr/>
          <p:nvPr/>
        </p:nvSpPr>
        <p:spPr>
          <a:xfrm>
            <a:off x="4064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64000" y="3048000"/>
            <a:ext cx="213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Personalization Principle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4000" y="4445000"/>
            <a:ext cx="213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style, social agency theory, research evidence, and practical guidelines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56400" y="19685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4" name="Text 12"/>
          <p:cNvSpPr/>
          <p:nvPr/>
        </p:nvSpPr>
        <p:spPr>
          <a:xfrm>
            <a:off x="70612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1200" y="30480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Voice Principle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61200" y="4445000"/>
            <a:ext cx="213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voice vs. machine voice, voice characteristics, and best practices for narration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53600" y="19685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0" y="3048000"/>
            <a:ext cx="213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&amp; Combining Principles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0" y="4445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Connections, differences, and synergistic effects of Personalization and Voice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50800" y="19685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22" name="Text 20"/>
          <p:cNvSpPr/>
          <p:nvPr/>
        </p:nvSpPr>
        <p:spPr>
          <a:xfrm>
            <a:off x="130556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055600" y="30480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Applications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055600" y="4445000"/>
            <a:ext cx="213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strategies for e-learning, video production, and presentation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zqhx7qzgd7uo/mnt/agents/output/multimedia_production/images/4_Abstract_Digital_Network_Connections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44" r="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5000"/>
                </a:srgbClr>
              </a:gs>
              <a:gs pos="60000">
                <a:srgbClr val="1A1A2E">
                  <a:alpha val="80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D494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Essential Processing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 of cognitive load management in multimedia learning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 of Multimedia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core assumptions that form the foundation of CTML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4572000" cy="3048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209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705100"/>
            <a:ext cx="3962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Dual-Channel 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1115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possess separate information processing channels — one for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visual/pictorial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material and one for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auditory/verbal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material.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0" y="1841500"/>
            <a:ext cx="4572000" cy="3048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0" name="Shape 8"/>
          <p:cNvSpPr/>
          <p:nvPr/>
        </p:nvSpPr>
        <p:spPr>
          <a:xfrm>
            <a:off x="58928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892800" y="2705100"/>
            <a:ext cx="3962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Capacity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2800" y="31115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channel can process only a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amount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information at one time. Overloading either channel impairs learning.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414000" y="1841500"/>
            <a:ext cx="5080000" cy="3048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188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0718800" y="2705100"/>
            <a:ext cx="4470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18800" y="3111500"/>
            <a:ext cx="447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learning requires learners to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select, organize, and integrate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information — engaging actively with the material.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27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Cognitive Processes in Multimedia Learning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842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842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29000" y="6223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937000" y="5842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3937000" y="5842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04000" y="6223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112000" y="5842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7112000" y="5842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79000" y="6223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0287000" y="5842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7000" y="5842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954000" y="6223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3462000" y="6032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3462000" y="6121400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736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Mayer, R. E. (2009). Multimedia Learning. Cambridge University Press.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Theory of Multimedia Learning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Goals of Multimedia Instructional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Mayer organizes principles into three categories based on instructional goals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8415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415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Reduce Extraneous 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unnecessary cognitive load: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 Principle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Signaling Principle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 Principle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Contiguity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Contiguity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8415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8415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8415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Manage Essential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5400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complex material without overwhelming learners: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 Principle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Principle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841500"/>
            <a:ext cx="4826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8B5E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68000" y="1841500"/>
            <a:ext cx="4826000" cy="508000"/>
          </a:xfrm>
          <a:prstGeom prst="roundRect">
            <a:avLst>
              <a:gd name="adj" fmla="val 8000"/>
            </a:avLst>
          </a:prstGeom>
          <a:solidFill>
            <a:srgbClr val="8B5E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0" y="18415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Foster Generative 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540000"/>
            <a:ext cx="431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Encourage deeper cognitive engagement: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Personalization Principle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Principle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Embodiment Principle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E6F0E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727200" y="52705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course focuses on the principles that manage essential processing and foster generative processing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specifically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Personalization Principle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Principle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Instructional Goals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Essential Processing?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270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processing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(also called intrinsic cognitive load) refers to the cognitive effort required to understand the core material being taught.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overload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occurs when the amount of essential cognitive processing exceeds the learner's cognitive capacity.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393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Essential Overload Happens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5200" y="44450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7" name="Shape 5"/>
          <p:cNvSpPr/>
          <p:nvPr/>
        </p:nvSpPr>
        <p:spPr>
          <a:xfrm>
            <a:off x="1727200" y="459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092200" y="50292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 is inherently complex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8200" y="44450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0" name="Shape 8"/>
          <p:cNvSpPr/>
          <p:nvPr/>
        </p:nvSpPr>
        <p:spPr>
          <a:xfrm>
            <a:off x="4140200" y="459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752" y="331708"/>
                </a:moveTo>
                <a:cubicBezTo>
                  <a:pt x="22086" y="335181"/>
                  <a:pt x="31601" y="333236"/>
                  <a:pt x="37991" y="326916"/>
                </a:cubicBezTo>
                <a:lnTo>
                  <a:pt x="155575" y="209262"/>
                </a:lnTo>
                <a:lnTo>
                  <a:pt x="155575" y="311150"/>
                </a:lnTo>
                <a:cubicBezTo>
                  <a:pt x="155575" y="320109"/>
                  <a:pt x="160992" y="328235"/>
                  <a:pt x="169327" y="331708"/>
                </a:cubicBezTo>
                <a:cubicBezTo>
                  <a:pt x="177661" y="335181"/>
                  <a:pt x="187176" y="333236"/>
                  <a:pt x="193566" y="326916"/>
                </a:cubicBezTo>
                <a:lnTo>
                  <a:pt x="311150" y="209262"/>
                </a:lnTo>
                <a:lnTo>
                  <a:pt x="311150" y="311150"/>
                </a:lnTo>
                <a:cubicBezTo>
                  <a:pt x="311150" y="323443"/>
                  <a:pt x="321082" y="333375"/>
                  <a:pt x="333375" y="333375"/>
                </a:cubicBezTo>
                <a:cubicBezTo>
                  <a:pt x="345668" y="333375"/>
                  <a:pt x="355600" y="323443"/>
                  <a:pt x="355600" y="311150"/>
                </a:cubicBezTo>
                <a:lnTo>
                  <a:pt x="355600" y="44450"/>
                </a:lnTo>
                <a:cubicBezTo>
                  <a:pt x="355600" y="32157"/>
                  <a:pt x="345668" y="22225"/>
                  <a:pt x="333375" y="22225"/>
                </a:cubicBezTo>
                <a:cubicBezTo>
                  <a:pt x="321082" y="22225"/>
                  <a:pt x="311150" y="32157"/>
                  <a:pt x="311150" y="44450"/>
                </a:cubicBezTo>
                <a:lnTo>
                  <a:pt x="311150" y="146338"/>
                </a:lnTo>
                <a:lnTo>
                  <a:pt x="193496" y="28684"/>
                </a:lnTo>
                <a:cubicBezTo>
                  <a:pt x="187107" y="22294"/>
                  <a:pt x="177592" y="20419"/>
                  <a:pt x="169257" y="23892"/>
                </a:cubicBezTo>
                <a:cubicBezTo>
                  <a:pt x="160923" y="27365"/>
                  <a:pt x="155575" y="35491"/>
                  <a:pt x="155575" y="44450"/>
                </a:cubicBezTo>
                <a:lnTo>
                  <a:pt x="155575" y="146338"/>
                </a:lnTo>
                <a:lnTo>
                  <a:pt x="37921" y="28754"/>
                </a:lnTo>
                <a:cubicBezTo>
                  <a:pt x="31532" y="22364"/>
                  <a:pt x="22017" y="20489"/>
                  <a:pt x="13682" y="23961"/>
                </a:cubicBezTo>
                <a:cubicBezTo>
                  <a:pt x="5348" y="27434"/>
                  <a:pt x="0" y="35491"/>
                  <a:pt x="0" y="44450"/>
                </a:cubicBezTo>
                <a:lnTo>
                  <a:pt x="0" y="311150"/>
                </a:lnTo>
                <a:cubicBezTo>
                  <a:pt x="0" y="320109"/>
                  <a:pt x="5417" y="328235"/>
                  <a:pt x="13752" y="331708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505200" y="50292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 presented too fast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1200" y="44450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0975" y="4597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5918200" y="5029200"/>
            <a:ext cx="190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prerequisite knowledge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1270000"/>
            <a:ext cx="6858000" cy="444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0" y="152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Managing Essential Processing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17000" y="2095500"/>
            <a:ext cx="609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essential processing is properly managed: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can devote cognitive resources to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understanding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memory is freed for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processing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material becomes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accessible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outcomes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significantly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 is not to eliminate essential processing — it is necessary for learning. The goal is to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it effectively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 it does not overwhelm the learner.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Processing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zqhx7qzgd7uo/mnt/agents/output/multimedia_production/images/7_21_696_Two_People_Talking_Each_Other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9219" b="921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5000"/>
                </a:srgbClr>
              </a:gs>
              <a:gs pos="60000">
                <a:srgbClr val="1A1A2E">
                  <a:alpha val="80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D494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Personalization 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25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conversational style to enhance learning through social presence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Personalization Principle?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1092200" y="1498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460500"/>
            <a:ext cx="134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from multimedia lessons when words are in conversational style rather than formal style."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133600"/>
            <a:ext cx="508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 (2009)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2385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principle is based on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Agency Theory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social cues in a multimedia message prime a social conversation schema in learners.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informal conversational style establishes: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proximity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educator and learner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presence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enhances engagement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processing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2730500"/>
            <a:ext cx="7366000" cy="3048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1" name="Text 9"/>
          <p:cNvSpPr/>
          <p:nvPr/>
        </p:nvSpPr>
        <p:spPr>
          <a:xfrm>
            <a:off x="8509000" y="2984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9000" y="3492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 detects conversational language cues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9000" y="4127500"/>
            <a:ext cx="6604000" cy="0"/>
          </a:xfrm>
          <a:prstGeom prst="straightConnector1">
            <a:avLst/>
          </a:prstGeom>
          <a:noFill/>
          <a:ln w="12700">
            <a:solidFill>
              <a:srgbClr val="5A6B7B"/>
            </a:solidFill>
            <a:prstDash val="sysDot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509000" y="4254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Social conversation schema is activated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9000" y="4889500"/>
            <a:ext cx="6604000" cy="0"/>
          </a:xfrm>
          <a:prstGeom prst="straightConnector1">
            <a:avLst/>
          </a:prstGeom>
          <a:noFill/>
          <a:ln w="12700">
            <a:solidFill>
              <a:srgbClr val="5A6B7B"/>
            </a:solidFill>
            <a:prstDash val="sysDot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509000" y="5016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 invests more effort in understanding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096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6800" y="622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" y="6540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1.55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94000" y="6540500"/>
            <a:ext cx="1244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effect size — one of the strongest effects in multimedia learning research (Moreno &amp; Mayer, 2000)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Personalization Principle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Agency Theory Explained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theoretical foundation behind the Personalization Principle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E6F0EF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2095500"/>
            <a:ext cx="2921000" cy="190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2225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Cues Detected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3800" y="2603500"/>
            <a:ext cx="266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language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voice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Human-like gestures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2984500"/>
            <a:ext cx="635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876800" y="2095500"/>
            <a:ext cx="2921000" cy="190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876800" y="22225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Activation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03800" y="2603500"/>
            <a:ext cx="266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conversation schema is primed in the learner's mind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24800" y="2984500"/>
            <a:ext cx="635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686800" y="2095500"/>
            <a:ext cx="2921000" cy="190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2225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Deeper 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13800" y="2603500"/>
            <a:ext cx="266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effort to understand as in real conversation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734800" y="2984500"/>
            <a:ext cx="635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2496800" y="20955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8B5E3C"/>
          </a:solidFill>
          <a:ln/>
        </p:spPr>
      </p:sp>
      <p:sp>
        <p:nvSpPr>
          <p:cNvPr id="19" name="Text 17"/>
          <p:cNvSpPr/>
          <p:nvPr/>
        </p:nvSpPr>
        <p:spPr>
          <a:xfrm>
            <a:off x="12496800" y="2222500"/>
            <a:ext cx="266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23800" y="2603500"/>
            <a:ext cx="241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retention, transfer, and problem-solving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When the Schema is Activated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70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2200" y="558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27397" y="-20955"/>
                </a:moveTo>
                <a:cubicBezTo>
                  <a:pt x="134779" y="-27146"/>
                  <a:pt x="145653" y="-26908"/>
                  <a:pt x="152718" y="-20241"/>
                </a:cubicBezTo>
                <a:cubicBezTo>
                  <a:pt x="162481" y="-11033"/>
                  <a:pt x="171212" y="-873"/>
                  <a:pt x="179626" y="9446"/>
                </a:cubicBezTo>
                <a:cubicBezTo>
                  <a:pt x="190341" y="22543"/>
                  <a:pt x="203200" y="39846"/>
                  <a:pt x="215583" y="60404"/>
                </a:cubicBezTo>
                <a:cubicBezTo>
                  <a:pt x="219710" y="55007"/>
                  <a:pt x="223520" y="50244"/>
                  <a:pt x="226854" y="46196"/>
                </a:cubicBezTo>
                <a:cubicBezTo>
                  <a:pt x="227727" y="45164"/>
                  <a:pt x="228600" y="44053"/>
                  <a:pt x="229473" y="42942"/>
                </a:cubicBezTo>
                <a:cubicBezTo>
                  <a:pt x="235744" y="35163"/>
                  <a:pt x="243523" y="25400"/>
                  <a:pt x="253921" y="25400"/>
                </a:cubicBezTo>
                <a:cubicBezTo>
                  <a:pt x="264557" y="25400"/>
                  <a:pt x="272018" y="34846"/>
                  <a:pt x="278368" y="42942"/>
                </a:cubicBezTo>
                <a:cubicBezTo>
                  <a:pt x="279400" y="44291"/>
                  <a:pt x="280432" y="45561"/>
                  <a:pt x="281464" y="46752"/>
                </a:cubicBezTo>
                <a:cubicBezTo>
                  <a:pt x="289639" y="56594"/>
                  <a:pt x="300514" y="70802"/>
                  <a:pt x="311388" y="88344"/>
                </a:cubicBezTo>
                <a:cubicBezTo>
                  <a:pt x="332978" y="123190"/>
                  <a:pt x="355521" y="172799"/>
                  <a:pt x="355521" y="228521"/>
                </a:cubicBezTo>
                <a:cubicBezTo>
                  <a:pt x="355521" y="326707"/>
                  <a:pt x="275908" y="406321"/>
                  <a:pt x="177721" y="406321"/>
                </a:cubicBezTo>
                <a:cubicBezTo>
                  <a:pt x="79534" y="406321"/>
                  <a:pt x="0" y="326787"/>
                  <a:pt x="0" y="228600"/>
                </a:cubicBezTo>
                <a:cubicBezTo>
                  <a:pt x="0" y="156289"/>
                  <a:pt x="32623" y="93663"/>
                  <a:pt x="63897" y="50006"/>
                </a:cubicBezTo>
                <a:cubicBezTo>
                  <a:pt x="79693" y="28019"/>
                  <a:pt x="95409" y="10398"/>
                  <a:pt x="107236" y="-1667"/>
                </a:cubicBezTo>
                <a:cubicBezTo>
                  <a:pt x="113744" y="-8334"/>
                  <a:pt x="120333" y="-14922"/>
                  <a:pt x="127476" y="-20876"/>
                </a:cubicBezTo>
                <a:close/>
                <a:moveTo>
                  <a:pt x="179149" y="330200"/>
                </a:moveTo>
                <a:cubicBezTo>
                  <a:pt x="199231" y="330200"/>
                  <a:pt x="217011" y="324644"/>
                  <a:pt x="233759" y="313531"/>
                </a:cubicBezTo>
                <a:cubicBezTo>
                  <a:pt x="267176" y="290195"/>
                  <a:pt x="276146" y="243523"/>
                  <a:pt x="256064" y="206851"/>
                </a:cubicBezTo>
                <a:cubicBezTo>
                  <a:pt x="252492" y="199708"/>
                  <a:pt x="243364" y="199231"/>
                  <a:pt x="238204" y="205264"/>
                </a:cubicBezTo>
                <a:lnTo>
                  <a:pt x="218202" y="228521"/>
                </a:lnTo>
                <a:cubicBezTo>
                  <a:pt x="212963" y="234553"/>
                  <a:pt x="203518" y="234394"/>
                  <a:pt x="198596" y="228124"/>
                </a:cubicBezTo>
                <a:cubicBezTo>
                  <a:pt x="184864" y="210582"/>
                  <a:pt x="159623" y="178594"/>
                  <a:pt x="146764" y="162243"/>
                </a:cubicBezTo>
                <a:cubicBezTo>
                  <a:pt x="142478" y="156766"/>
                  <a:pt x="134699" y="155893"/>
                  <a:pt x="129699" y="160734"/>
                </a:cubicBezTo>
                <a:cubicBezTo>
                  <a:pt x="115173" y="174863"/>
                  <a:pt x="88821" y="205819"/>
                  <a:pt x="88821" y="243523"/>
                </a:cubicBezTo>
                <a:cubicBezTo>
                  <a:pt x="88821" y="297974"/>
                  <a:pt x="128984" y="330200"/>
                  <a:pt x="179070" y="3302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5461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effort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understand the material — as in a real conversation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5270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198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6604000" y="5461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Deeper engagement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treating content as dialogue rather than broadcast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68000" y="52705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728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1294" y="69136"/>
                </a:moveTo>
                <a:lnTo>
                  <a:pt x="203200" y="85566"/>
                </a:lnTo>
                <a:lnTo>
                  <a:pt x="215106" y="69136"/>
                </a:lnTo>
                <a:cubicBezTo>
                  <a:pt x="234950" y="41672"/>
                  <a:pt x="266859" y="25400"/>
                  <a:pt x="300752" y="25400"/>
                </a:cubicBezTo>
                <a:cubicBezTo>
                  <a:pt x="359093" y="25400"/>
                  <a:pt x="406400" y="72708"/>
                  <a:pt x="406400" y="131048"/>
                </a:cubicBezTo>
                <a:lnTo>
                  <a:pt x="406400" y="133112"/>
                </a:lnTo>
                <a:cubicBezTo>
                  <a:pt x="406400" y="222171"/>
                  <a:pt x="295354" y="325596"/>
                  <a:pt x="237411" y="369808"/>
                </a:cubicBezTo>
                <a:cubicBezTo>
                  <a:pt x="227568" y="377269"/>
                  <a:pt x="215503" y="381000"/>
                  <a:pt x="203200" y="381000"/>
                </a:cubicBezTo>
                <a:cubicBezTo>
                  <a:pt x="190897" y="381000"/>
                  <a:pt x="178753" y="377349"/>
                  <a:pt x="168989" y="369808"/>
                </a:cubicBezTo>
                <a:cubicBezTo>
                  <a:pt x="111046" y="325596"/>
                  <a:pt x="0" y="222171"/>
                  <a:pt x="0" y="133112"/>
                </a:cubicBezTo>
                <a:lnTo>
                  <a:pt x="0" y="131048"/>
                </a:lnTo>
                <a:cubicBezTo>
                  <a:pt x="0" y="72708"/>
                  <a:pt x="47308" y="25400"/>
                  <a:pt x="105648" y="25400"/>
                </a:cubicBezTo>
                <a:cubicBezTo>
                  <a:pt x="139541" y="25400"/>
                  <a:pt x="171450" y="41672"/>
                  <a:pt x="191294" y="6913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11557000" y="5461000"/>
            <a:ext cx="368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Stronger motivation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make sense of the material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112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Learners invest more cognitive resources in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processing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leading to better learning outcomes.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Social Agency Theory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Evidence — Personalization Effect Sizes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Strong empirical support across multiple experiments by Moreno &amp; Mayer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8890000" cy="3556000"/>
        </p:xfrm>
        <a:graphic>
          <a:graphicData uri="http://schemas.openxmlformats.org/drawingml/2006/table">
            <a:tbl>
              <a:tblPr/>
              <a:tblGrid>
                <a:gridCol w="3378200"/>
                <a:gridCol w="1955800"/>
                <a:gridCol w="1955800"/>
                <a:gridCol w="16002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Effect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Moreno &amp; Mayer, 2000, Exp. 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Screen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Moreno &amp; Mayer, 2000, Exp.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Screen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1.60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Moreno &amp; Mayer, 2000, Exp.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Moreno &amp; Mayer, 2000, Exp.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Moreno &amp; Mayer, 2000, Exp.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778000"/>
            <a:ext cx="5461000" cy="1651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10414000" y="1968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EFFECT SIZE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14000" y="228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1.55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14000" y="31115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Exceptionally strong — 5 of 5 comparisons supported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033000" y="3683000"/>
            <a:ext cx="5461000" cy="1651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1" name="Text 8"/>
          <p:cNvSpPr/>
          <p:nvPr/>
        </p:nvSpPr>
        <p:spPr>
          <a:xfrm>
            <a:off x="10414000" y="3873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FINDING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14000" y="41910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Respiratory system study showed effect size =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1.69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confirming the robustness of the personalization effect across different content domains.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62000" y="5715000"/>
          <a:ext cx="14732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Evidence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 in Practice — Before &amp;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B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45720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FORMAL STYLE (Before)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1250" y="215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667000"/>
            <a:ext cx="6502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program is about what type of plant survives on different planets. For each planet, a plant will be designed. The goal is to learn what type of roots, stem, and leaves allow plants to survive in each environment."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2000" y="1397000"/>
            <a:ext cx="711200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0" y="1397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CONVERSATIONAL STYLE (After)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09025" y="215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01982" y="48687"/>
                </a:moveTo>
                <a:cubicBezTo>
                  <a:pt x="311914" y="55910"/>
                  <a:pt x="314136" y="69800"/>
                  <a:pt x="306913" y="79732"/>
                </a:cubicBezTo>
                <a:lnTo>
                  <a:pt x="129113" y="324207"/>
                </a:lnTo>
                <a:cubicBezTo>
                  <a:pt x="125293" y="329486"/>
                  <a:pt x="119390" y="332750"/>
                  <a:pt x="112861" y="333306"/>
                </a:cubicBezTo>
                <a:cubicBezTo>
                  <a:pt x="106333" y="333861"/>
                  <a:pt x="100013" y="331430"/>
                  <a:pt x="95429" y="326846"/>
                </a:cubicBezTo>
                <a:lnTo>
                  <a:pt x="6529" y="237946"/>
                </a:lnTo>
                <a:cubicBezTo>
                  <a:pt x="-2153" y="229265"/>
                  <a:pt x="-2153" y="215166"/>
                  <a:pt x="6529" y="206484"/>
                </a:cubicBezTo>
                <a:cubicBezTo>
                  <a:pt x="15210" y="197803"/>
                  <a:pt x="29309" y="197803"/>
                  <a:pt x="37991" y="206484"/>
                </a:cubicBezTo>
                <a:lnTo>
                  <a:pt x="108486" y="276979"/>
                </a:lnTo>
                <a:lnTo>
                  <a:pt x="271006" y="53548"/>
                </a:lnTo>
                <a:cubicBezTo>
                  <a:pt x="278229" y="43617"/>
                  <a:pt x="292120" y="41394"/>
                  <a:pt x="302052" y="48617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667000"/>
            <a:ext cx="6502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about to start on a journey where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will be visiting different planets. For each planet,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will need to design a plant.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mission is to learn what type of roots, stem, and leaves will allow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plant to survive in each environment."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Changes Made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9055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5050" y="6159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" y="6096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"you/your"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passive voice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5000" y="59055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990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73428" y="0"/>
                  <a:pt x="190500" y="17072"/>
                  <a:pt x="190500" y="38100"/>
                </a:cubicBezTo>
                <a:cubicBezTo>
                  <a:pt x="190500" y="59128"/>
                  <a:pt x="173428" y="76200"/>
                  <a:pt x="152400" y="76200"/>
                </a:cubicBezTo>
                <a:cubicBezTo>
                  <a:pt x="131372" y="76200"/>
                  <a:pt x="114300" y="59128"/>
                  <a:pt x="114300" y="38100"/>
                </a:cubicBezTo>
                <a:cubicBezTo>
                  <a:pt x="114300" y="17072"/>
                  <a:pt x="131372" y="0"/>
                  <a:pt x="152400" y="0"/>
                </a:cubicBezTo>
                <a:close/>
                <a:moveTo>
                  <a:pt x="209550" y="185738"/>
                </a:moveTo>
                <a:cubicBezTo>
                  <a:pt x="209550" y="200620"/>
                  <a:pt x="201990" y="213717"/>
                  <a:pt x="190500" y="221397"/>
                </a:cubicBezTo>
                <a:lnTo>
                  <a:pt x="190500" y="276225"/>
                </a:lnTo>
                <a:cubicBezTo>
                  <a:pt x="190500" y="292001"/>
                  <a:pt x="177701" y="304800"/>
                  <a:pt x="161925" y="304800"/>
                </a:cubicBezTo>
                <a:lnTo>
                  <a:pt x="142875" y="304800"/>
                </a:lnTo>
                <a:cubicBezTo>
                  <a:pt x="127099" y="304800"/>
                  <a:pt x="114300" y="292001"/>
                  <a:pt x="114300" y="276225"/>
                </a:cubicBezTo>
                <a:lnTo>
                  <a:pt x="114300" y="221397"/>
                </a:lnTo>
                <a:cubicBezTo>
                  <a:pt x="102810" y="213717"/>
                  <a:pt x="95250" y="200620"/>
                  <a:pt x="95250" y="185738"/>
                </a:cubicBezTo>
                <a:lnTo>
                  <a:pt x="95250" y="161925"/>
                </a:lnTo>
                <a:cubicBezTo>
                  <a:pt x="95250" y="130373"/>
                  <a:pt x="120848" y="104775"/>
                  <a:pt x="152400" y="104775"/>
                </a:cubicBezTo>
                <a:cubicBezTo>
                  <a:pt x="183952" y="104775"/>
                  <a:pt x="209550" y="130373"/>
                  <a:pt x="209550" y="161925"/>
                </a:cubicBezTo>
                <a:lnTo>
                  <a:pt x="209550" y="185738"/>
                </a:lnTo>
                <a:close/>
                <a:moveTo>
                  <a:pt x="57150" y="19050"/>
                </a:moveTo>
                <a:cubicBezTo>
                  <a:pt x="75549" y="19050"/>
                  <a:pt x="90488" y="33988"/>
                  <a:pt x="90488" y="52388"/>
                </a:cubicBezTo>
                <a:cubicBezTo>
                  <a:pt x="90488" y="70787"/>
                  <a:pt x="75549" y="85725"/>
                  <a:pt x="57150" y="85725"/>
                </a:cubicBezTo>
                <a:cubicBezTo>
                  <a:pt x="38751" y="85725"/>
                  <a:pt x="23813" y="70787"/>
                  <a:pt x="23813" y="52388"/>
                </a:cubicBezTo>
                <a:cubicBezTo>
                  <a:pt x="23813" y="33988"/>
                  <a:pt x="38751" y="19050"/>
                  <a:pt x="57150" y="19050"/>
                </a:cubicBezTo>
                <a:close/>
                <a:moveTo>
                  <a:pt x="66675" y="161925"/>
                </a:moveTo>
                <a:lnTo>
                  <a:pt x="66675" y="180975"/>
                </a:lnTo>
                <a:cubicBezTo>
                  <a:pt x="66675" y="200323"/>
                  <a:pt x="73878" y="217944"/>
                  <a:pt x="85725" y="231398"/>
                </a:cubicBezTo>
                <a:lnTo>
                  <a:pt x="85725" y="276225"/>
                </a:lnTo>
                <a:cubicBezTo>
                  <a:pt x="85725" y="276939"/>
                  <a:pt x="85725" y="277713"/>
                  <a:pt x="85785" y="278428"/>
                </a:cubicBezTo>
                <a:cubicBezTo>
                  <a:pt x="80724" y="282952"/>
                  <a:pt x="74057" y="285750"/>
                  <a:pt x="66675" y="285750"/>
                </a:cubicBezTo>
                <a:lnTo>
                  <a:pt x="47625" y="285750"/>
                </a:lnTo>
                <a:cubicBezTo>
                  <a:pt x="31849" y="285750"/>
                  <a:pt x="19050" y="272951"/>
                  <a:pt x="19050" y="257175"/>
                </a:cubicBezTo>
                <a:lnTo>
                  <a:pt x="19050" y="223480"/>
                </a:lnTo>
                <a:cubicBezTo>
                  <a:pt x="7680" y="216932"/>
                  <a:pt x="0" y="204609"/>
                  <a:pt x="0" y="190500"/>
                </a:cubicBezTo>
                <a:lnTo>
                  <a:pt x="0" y="171450"/>
                </a:lnTo>
                <a:cubicBezTo>
                  <a:pt x="0" y="139898"/>
                  <a:pt x="25598" y="114300"/>
                  <a:pt x="57150" y="114300"/>
                </a:cubicBezTo>
                <a:cubicBezTo>
                  <a:pt x="64710" y="114300"/>
                  <a:pt x="71914" y="115788"/>
                  <a:pt x="78522" y="118408"/>
                </a:cubicBezTo>
                <a:cubicBezTo>
                  <a:pt x="71021" y="131147"/>
                  <a:pt x="66675" y="146030"/>
                  <a:pt x="66675" y="161925"/>
                </a:cubicBezTo>
                <a:close/>
                <a:moveTo>
                  <a:pt x="219075" y="276225"/>
                </a:moveTo>
                <a:lnTo>
                  <a:pt x="219075" y="231398"/>
                </a:lnTo>
                <a:cubicBezTo>
                  <a:pt x="230922" y="218003"/>
                  <a:pt x="238125" y="200323"/>
                  <a:pt x="238125" y="180975"/>
                </a:cubicBezTo>
                <a:lnTo>
                  <a:pt x="238125" y="161925"/>
                </a:lnTo>
                <a:cubicBezTo>
                  <a:pt x="238125" y="146030"/>
                  <a:pt x="233779" y="131207"/>
                  <a:pt x="226278" y="118408"/>
                </a:cubicBezTo>
                <a:cubicBezTo>
                  <a:pt x="232886" y="115729"/>
                  <a:pt x="240090" y="114300"/>
                  <a:pt x="247650" y="114300"/>
                </a:cubicBezTo>
                <a:cubicBezTo>
                  <a:pt x="279202" y="114300"/>
                  <a:pt x="304800" y="139898"/>
                  <a:pt x="304800" y="171450"/>
                </a:cubicBezTo>
                <a:lnTo>
                  <a:pt x="304800" y="190500"/>
                </a:lnTo>
                <a:cubicBezTo>
                  <a:pt x="304800" y="204609"/>
                  <a:pt x="297120" y="216932"/>
                  <a:pt x="285750" y="223480"/>
                </a:cubicBezTo>
                <a:lnTo>
                  <a:pt x="285750" y="257175"/>
                </a:lnTo>
                <a:cubicBezTo>
                  <a:pt x="285750" y="272951"/>
                  <a:pt x="272951" y="285750"/>
                  <a:pt x="257175" y="285750"/>
                </a:cubicBezTo>
                <a:lnTo>
                  <a:pt x="238125" y="285750"/>
                </a:lnTo>
                <a:cubicBezTo>
                  <a:pt x="230803" y="285750"/>
                  <a:pt x="224076" y="283012"/>
                  <a:pt x="219015" y="278428"/>
                </a:cubicBezTo>
                <a:cubicBezTo>
                  <a:pt x="219015" y="277713"/>
                  <a:pt x="219075" y="276939"/>
                  <a:pt x="219075" y="276225"/>
                </a:cubicBezTo>
                <a:close/>
                <a:moveTo>
                  <a:pt x="247650" y="19050"/>
                </a:moveTo>
                <a:cubicBezTo>
                  <a:pt x="266049" y="19050"/>
                  <a:pt x="280987" y="33988"/>
                  <a:pt x="280987" y="52388"/>
                </a:cubicBezTo>
                <a:cubicBezTo>
                  <a:pt x="280987" y="70787"/>
                  <a:pt x="266049" y="85725"/>
                  <a:pt x="247650" y="85725"/>
                </a:cubicBezTo>
                <a:cubicBezTo>
                  <a:pt x="229251" y="85725"/>
                  <a:pt x="214313" y="70787"/>
                  <a:pt x="214313" y="52388"/>
                </a:cubicBezTo>
                <a:cubicBezTo>
                  <a:pt x="214313" y="33988"/>
                  <a:pt x="229251" y="19050"/>
                  <a:pt x="247650" y="190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130800" y="6096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create partnership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59055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20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104775"/>
                </a:moveTo>
                <a:cubicBezTo>
                  <a:pt x="141863" y="104775"/>
                  <a:pt x="133350" y="113288"/>
                  <a:pt x="133350" y="123825"/>
                </a:cubicBezTo>
                <a:cubicBezTo>
                  <a:pt x="133350" y="131743"/>
                  <a:pt x="126980" y="138113"/>
                  <a:pt x="119062" y="138113"/>
                </a:cubicBezTo>
                <a:cubicBezTo>
                  <a:pt x="111145" y="138113"/>
                  <a:pt x="104775" y="131743"/>
                  <a:pt x="104775" y="123825"/>
                </a:cubicBezTo>
                <a:cubicBezTo>
                  <a:pt x="104775" y="97512"/>
                  <a:pt x="126087" y="76200"/>
                  <a:pt x="152400" y="76200"/>
                </a:cubicBezTo>
                <a:cubicBezTo>
                  <a:pt x="178713" y="76200"/>
                  <a:pt x="200025" y="97512"/>
                  <a:pt x="200025" y="123825"/>
                </a:cubicBezTo>
                <a:cubicBezTo>
                  <a:pt x="200025" y="151924"/>
                  <a:pt x="178594" y="163830"/>
                  <a:pt x="166688" y="168176"/>
                </a:cubicBezTo>
                <a:lnTo>
                  <a:pt x="166688" y="170438"/>
                </a:lnTo>
                <a:cubicBezTo>
                  <a:pt x="166688" y="178356"/>
                  <a:pt x="160318" y="184725"/>
                  <a:pt x="152400" y="184725"/>
                </a:cubicBezTo>
                <a:cubicBezTo>
                  <a:pt x="144482" y="184725"/>
                  <a:pt x="138113" y="178356"/>
                  <a:pt x="138113" y="170438"/>
                </a:cubicBezTo>
                <a:lnTo>
                  <a:pt x="138113" y="165616"/>
                </a:lnTo>
                <a:cubicBezTo>
                  <a:pt x="138113" y="153412"/>
                  <a:pt x="146923" y="144661"/>
                  <a:pt x="156031" y="141684"/>
                </a:cubicBezTo>
                <a:cubicBezTo>
                  <a:pt x="159841" y="140434"/>
                  <a:pt x="163890" y="138410"/>
                  <a:pt x="166866" y="135553"/>
                </a:cubicBezTo>
                <a:cubicBezTo>
                  <a:pt x="169426" y="133052"/>
                  <a:pt x="171450" y="129600"/>
                  <a:pt x="171450" y="123885"/>
                </a:cubicBezTo>
                <a:cubicBezTo>
                  <a:pt x="171450" y="113348"/>
                  <a:pt x="162937" y="104835"/>
                  <a:pt x="152400" y="104835"/>
                </a:cubicBezTo>
                <a:close/>
                <a:moveTo>
                  <a:pt x="133350" y="219075"/>
                </a:moveTo>
                <a:cubicBezTo>
                  <a:pt x="133350" y="208561"/>
                  <a:pt x="141886" y="200025"/>
                  <a:pt x="152400" y="200025"/>
                </a:cubicBezTo>
                <a:cubicBezTo>
                  <a:pt x="162914" y="200025"/>
                  <a:pt x="171450" y="208561"/>
                  <a:pt x="171450" y="219075"/>
                </a:cubicBezTo>
                <a:cubicBezTo>
                  <a:pt x="171450" y="229589"/>
                  <a:pt x="162914" y="238125"/>
                  <a:pt x="152400" y="238125"/>
                </a:cubicBezTo>
                <a:cubicBezTo>
                  <a:pt x="141886" y="238125"/>
                  <a:pt x="133350" y="229589"/>
                  <a:pt x="133350" y="21907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8813800" y="6096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rhetorical questions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11000" y="5905500"/>
            <a:ext cx="3683000" cy="1016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650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12496800" y="60960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address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engage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&amp; After Comparison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Guidelines for Applying Personalization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techniques for implementing the Personalization Principle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90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905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First &amp; Second Person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349500"/>
            <a:ext cx="4241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 passive voice with "you," "your," "we," and "our" to create direct connection with the learner.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778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18200" y="190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0" y="1905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 Polite Phrases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8200" y="2349500"/>
            <a:ext cx="4241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courteous invitations: "Please examine the diagram," "Let's look at how this works..."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78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871200" y="190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0" y="190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 Rhetorical Questions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71200" y="2349500"/>
            <a:ext cx="436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like "Why does this matter?" engage learners and prompt active thinking.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683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3810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3810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Natural Contractions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" y="4254500"/>
            <a:ext cx="4241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"Don't," "can't," "it's" — contractions make language feel natural and conversational.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3683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18200" y="3810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0" y="3810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Warm Tone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18200" y="4254500"/>
            <a:ext cx="4241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encouraging, friendly tone creates a safe learning environment and builds rapport.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3683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871200" y="3810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0" y="381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Bureaucratic Language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71200" y="4254500"/>
            <a:ext cx="436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Steer clear of overly academic or formal phrasing that creates distance between you and the learner.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715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1250" y="5943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574800" y="5842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Personalization applies to the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language, not the content. The information must remain accurate, precise, and complete.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Guidelines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 &amp;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Pitfalls to avoid when applying the Personalization Principle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196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Overdoing Informality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324100"/>
            <a:ext cx="609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casualness can undermine credibility and professionalism.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778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196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Sacrificing Clarity for Style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2324100"/>
            <a:ext cx="609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content must remain precise, accurate, and clearly communicated.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302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3492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Cultural Considerations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3848100"/>
            <a:ext cx="609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norms vary across cultures — adapt style to your audience.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302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60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3492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Audience Mismatch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848100"/>
            <a:ext cx="609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technical audiences may prefer more formal presentation styles.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826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514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5016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a Substitute for Good Content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5372100"/>
            <a:ext cx="1371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Personalization enhances delivery but cannot replace well-structured, accurate material. The principle works best when combined with other multimedia design principles.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477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E6F0E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68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1574800" y="666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 Recommendation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74800" y="7048500"/>
            <a:ext cx="1358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personalization as a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on top of solid content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never let style compromise the accuracy or completeness of the information being taught.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Limitations &amp; Cautions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zqhx7qzgd7uo/mnt/agents/output/multimedia_production/images/7_How_To_Make_Your_Podcast_Sound_Professional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5000"/>
                </a:srgbClr>
              </a:gs>
              <a:gs pos="60000">
                <a:srgbClr val="1A1A2E">
                  <a:alpha val="80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D494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Voice 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25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human voice matters more than machine voice in multimedia learning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Voice Principle?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1092200" y="1498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460500"/>
            <a:ext cx="134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when the narration in multimedia lessons is spoken in a friendly human voice rather than a machine voice."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133600"/>
            <a:ext cx="508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 (2009)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2385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the Personalization Principle, the Voice Principle is rooted in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Agency Theory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human voice serves as a social cue that primes the learner's social conversation schema.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friendly human voice contributes to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proximity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presence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more effective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processing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2730500"/>
            <a:ext cx="7366000" cy="3048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1" name="Text 9"/>
          <p:cNvSpPr/>
          <p:nvPr/>
        </p:nvSpPr>
        <p:spPr>
          <a:xfrm>
            <a:off x="8509000" y="2984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Human vs. Machine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9000" y="34925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principle extends to voice characteristics: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Accent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familiar vs. foreign accents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Warmth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friendly vs. cold tone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Naturalness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human vs. synthesized prosody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Clarity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clear vs. muffled articulation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096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6800" y="622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65405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13000" y="6540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vs. machine voice effect size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65405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04200" y="6540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Nonaccented vs. foreign accent effect size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Principle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Voice vs. Machine Voice Research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research findings on voice characteristics in multimedia learning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1130300" y="2032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90500" y="0"/>
                </a:moveTo>
                <a:cubicBezTo>
                  <a:pt x="137914" y="0"/>
                  <a:pt x="95250" y="42664"/>
                  <a:pt x="95250" y="95250"/>
                </a:cubicBezTo>
                <a:lnTo>
                  <a:pt x="95250" y="222250"/>
                </a:lnTo>
                <a:cubicBezTo>
                  <a:pt x="95250" y="274836"/>
                  <a:pt x="137914" y="317500"/>
                  <a:pt x="190500" y="317500"/>
                </a:cubicBezTo>
                <a:cubicBezTo>
                  <a:pt x="243086" y="317500"/>
                  <a:pt x="285750" y="274836"/>
                  <a:pt x="285750" y="222250"/>
                </a:cubicBezTo>
                <a:lnTo>
                  <a:pt x="285750" y="95250"/>
                </a:lnTo>
                <a:cubicBezTo>
                  <a:pt x="285750" y="42664"/>
                  <a:pt x="243086" y="0"/>
                  <a:pt x="190500" y="0"/>
                </a:cubicBezTo>
                <a:close/>
                <a:moveTo>
                  <a:pt x="47625" y="182563"/>
                </a:moveTo>
                <a:cubicBezTo>
                  <a:pt x="47625" y="169366"/>
                  <a:pt x="37009" y="158750"/>
                  <a:pt x="23812" y="158750"/>
                </a:cubicBezTo>
                <a:cubicBezTo>
                  <a:pt x="10616" y="158750"/>
                  <a:pt x="0" y="169366"/>
                  <a:pt x="0" y="182563"/>
                </a:cubicBezTo>
                <a:lnTo>
                  <a:pt x="0" y="222250"/>
                </a:lnTo>
                <a:cubicBezTo>
                  <a:pt x="0" y="319385"/>
                  <a:pt x="72727" y="399554"/>
                  <a:pt x="166688" y="411262"/>
                </a:cubicBezTo>
                <a:lnTo>
                  <a:pt x="166688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261937" y="508000"/>
                </a:lnTo>
                <a:cubicBezTo>
                  <a:pt x="275134" y="508000"/>
                  <a:pt x="285750" y="497384"/>
                  <a:pt x="285750" y="484187"/>
                </a:cubicBezTo>
                <a:cubicBezTo>
                  <a:pt x="285750" y="470991"/>
                  <a:pt x="275134" y="460375"/>
                  <a:pt x="261937" y="460375"/>
                </a:cubicBezTo>
                <a:lnTo>
                  <a:pt x="214313" y="460375"/>
                </a:lnTo>
                <a:lnTo>
                  <a:pt x="214313" y="411262"/>
                </a:lnTo>
                <a:cubicBezTo>
                  <a:pt x="308273" y="399554"/>
                  <a:pt x="381000" y="319385"/>
                  <a:pt x="381000" y="222250"/>
                </a:cubicBezTo>
                <a:lnTo>
                  <a:pt x="381000" y="182563"/>
                </a:lnTo>
                <a:cubicBezTo>
                  <a:pt x="381000" y="169366"/>
                  <a:pt x="370384" y="158750"/>
                  <a:pt x="357188" y="158750"/>
                </a:cubicBezTo>
                <a:cubicBezTo>
                  <a:pt x="343991" y="158750"/>
                  <a:pt x="333375" y="169366"/>
                  <a:pt x="333375" y="182563"/>
                </a:cubicBezTo>
                <a:lnTo>
                  <a:pt x="333375" y="222250"/>
                </a:lnTo>
                <a:cubicBezTo>
                  <a:pt x="333375" y="301129"/>
                  <a:pt x="269379" y="365125"/>
                  <a:pt x="190500" y="365125"/>
                </a:cubicBezTo>
                <a:cubicBezTo>
                  <a:pt x="111621" y="365125"/>
                  <a:pt x="47625" y="301129"/>
                  <a:pt x="47625" y="222250"/>
                </a:cubicBezTo>
                <a:lnTo>
                  <a:pt x="47625" y="18256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2032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Friendly Human Voice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667000"/>
            <a:ext cx="6502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prosody and intonation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Warmth and emotional expression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presence signals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conversation schema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Better learning outcomes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778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/>
        </p:spPr>
      </p:sp>
      <p:sp>
        <p:nvSpPr>
          <p:cNvPr id="10" name="Shape 8"/>
          <p:cNvSpPr/>
          <p:nvPr/>
        </p:nvSpPr>
        <p:spPr>
          <a:xfrm>
            <a:off x="8623300" y="2032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FFFFFF">
              <a:alpha val="37647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032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Machine-Simulated Voice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2667000"/>
            <a:ext cx="6502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Flat, monotone delivery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Lacks natural prosody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social presence cues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activate conversation schema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Poorer learning outcomes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Findings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905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032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5405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size: human voice vs. machine-simulated voice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0" y="5905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8" name="Text 16"/>
          <p:cNvSpPr/>
          <p:nvPr/>
        </p:nvSpPr>
        <p:spPr>
          <a:xfrm>
            <a:off x="5969000" y="6032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9000" y="65405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size: nonaccented vs. foreign-accented voice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59055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22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0" y="6096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high-quality TTS systems may not match human narration for learning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 vs. Machine Voice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Evidence — Voice Effect Sizes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 of voice principle experimental results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032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349500"/>
            <a:ext cx="650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Machine-Simulated vs. Human Voice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857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619500"/>
            <a:ext cx="6502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with human voice generated significantly more correct answers on transfer tests.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8415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2032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2349500"/>
            <a:ext cx="650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Foreign-Accented vs. Nonaccented Voice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2857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3619500"/>
            <a:ext cx="650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with nonaccented voice performed better on transfer tests.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82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from the Research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397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200" y="571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423545" y="25797"/>
                </a:moveTo>
                <a:cubicBezTo>
                  <a:pt x="415369" y="19129"/>
                  <a:pt x="403384" y="20399"/>
                  <a:pt x="396716" y="28575"/>
                </a:cubicBezTo>
                <a:cubicBezTo>
                  <a:pt x="390049" y="36751"/>
                  <a:pt x="391319" y="48736"/>
                  <a:pt x="399494" y="55404"/>
                </a:cubicBezTo>
                <a:cubicBezTo>
                  <a:pt x="442516" y="90329"/>
                  <a:pt x="469900" y="143510"/>
                  <a:pt x="469900" y="203200"/>
                </a:cubicBezTo>
                <a:cubicBezTo>
                  <a:pt x="469900" y="262890"/>
                  <a:pt x="442516" y="316071"/>
                  <a:pt x="399494" y="351076"/>
                </a:cubicBezTo>
                <a:cubicBezTo>
                  <a:pt x="391319" y="357743"/>
                  <a:pt x="390128" y="369729"/>
                  <a:pt x="396716" y="377904"/>
                </a:cubicBezTo>
                <a:cubicBezTo>
                  <a:pt x="403304" y="386080"/>
                  <a:pt x="415369" y="387271"/>
                  <a:pt x="423545" y="380683"/>
                </a:cubicBezTo>
                <a:cubicBezTo>
                  <a:pt x="475059" y="338693"/>
                  <a:pt x="508000" y="274796"/>
                  <a:pt x="508000" y="203200"/>
                </a:cubicBezTo>
                <a:cubicBezTo>
                  <a:pt x="508000" y="131604"/>
                  <a:pt x="475059" y="67628"/>
                  <a:pt x="423545" y="25797"/>
                </a:cubicBezTo>
                <a:close/>
                <a:moveTo>
                  <a:pt x="375523" y="84931"/>
                </a:moveTo>
                <a:cubicBezTo>
                  <a:pt x="367348" y="78264"/>
                  <a:pt x="355362" y="79534"/>
                  <a:pt x="348694" y="87709"/>
                </a:cubicBezTo>
                <a:cubicBezTo>
                  <a:pt x="342027" y="95885"/>
                  <a:pt x="343297" y="107871"/>
                  <a:pt x="351473" y="114538"/>
                </a:cubicBezTo>
                <a:cubicBezTo>
                  <a:pt x="377269" y="135493"/>
                  <a:pt x="393700" y="167402"/>
                  <a:pt x="393700" y="203200"/>
                </a:cubicBezTo>
                <a:cubicBezTo>
                  <a:pt x="393700" y="238998"/>
                  <a:pt x="377269" y="270907"/>
                  <a:pt x="351473" y="291941"/>
                </a:cubicBezTo>
                <a:cubicBezTo>
                  <a:pt x="343297" y="298609"/>
                  <a:pt x="342106" y="310594"/>
                  <a:pt x="348694" y="318770"/>
                </a:cubicBezTo>
                <a:cubicBezTo>
                  <a:pt x="355283" y="326946"/>
                  <a:pt x="367348" y="328136"/>
                  <a:pt x="375523" y="321548"/>
                </a:cubicBezTo>
                <a:cubicBezTo>
                  <a:pt x="409813" y="293608"/>
                  <a:pt x="431800" y="250984"/>
                  <a:pt x="431800" y="203279"/>
                </a:cubicBezTo>
                <a:cubicBezTo>
                  <a:pt x="431800" y="155575"/>
                  <a:pt x="409813" y="112951"/>
                  <a:pt x="375523" y="85011"/>
                </a:cubicBezTo>
                <a:close/>
                <a:moveTo>
                  <a:pt x="327501" y="144066"/>
                </a:moveTo>
                <a:cubicBezTo>
                  <a:pt x="319326" y="137398"/>
                  <a:pt x="307340" y="138668"/>
                  <a:pt x="300673" y="146844"/>
                </a:cubicBezTo>
                <a:cubicBezTo>
                  <a:pt x="294005" y="155019"/>
                  <a:pt x="295275" y="167005"/>
                  <a:pt x="303451" y="173673"/>
                </a:cubicBezTo>
                <a:cubicBezTo>
                  <a:pt x="312023" y="180658"/>
                  <a:pt x="317500" y="191294"/>
                  <a:pt x="317500" y="203200"/>
                </a:cubicBezTo>
                <a:cubicBezTo>
                  <a:pt x="317500" y="215106"/>
                  <a:pt x="312023" y="225742"/>
                  <a:pt x="303451" y="232807"/>
                </a:cubicBezTo>
                <a:cubicBezTo>
                  <a:pt x="295275" y="239474"/>
                  <a:pt x="294084" y="251460"/>
                  <a:pt x="300673" y="259636"/>
                </a:cubicBezTo>
                <a:cubicBezTo>
                  <a:pt x="307261" y="267811"/>
                  <a:pt x="319326" y="269002"/>
                  <a:pt x="327501" y="262414"/>
                </a:cubicBezTo>
                <a:cubicBezTo>
                  <a:pt x="344567" y="248364"/>
                  <a:pt x="355600" y="227092"/>
                  <a:pt x="355600" y="203200"/>
                </a:cubicBezTo>
                <a:cubicBezTo>
                  <a:pt x="355600" y="179308"/>
                  <a:pt x="344567" y="158036"/>
                  <a:pt x="327501" y="144066"/>
                </a:cubicBezTo>
                <a:close/>
                <a:moveTo>
                  <a:pt x="63500" y="279400"/>
                </a:moveTo>
                <a:lnTo>
                  <a:pt x="101600" y="279400"/>
                </a:lnTo>
                <a:lnTo>
                  <a:pt x="208042" y="374015"/>
                </a:lnTo>
                <a:cubicBezTo>
                  <a:pt x="213122" y="378539"/>
                  <a:pt x="219631" y="381000"/>
                  <a:pt x="226378" y="381000"/>
                </a:cubicBezTo>
                <a:cubicBezTo>
                  <a:pt x="241618" y="381000"/>
                  <a:pt x="254000" y="368617"/>
                  <a:pt x="254000" y="353378"/>
                </a:cubicBezTo>
                <a:lnTo>
                  <a:pt x="254000" y="53023"/>
                </a:lnTo>
                <a:cubicBezTo>
                  <a:pt x="254000" y="37783"/>
                  <a:pt x="241618" y="25400"/>
                  <a:pt x="226378" y="25400"/>
                </a:cubicBezTo>
                <a:cubicBezTo>
                  <a:pt x="219631" y="25400"/>
                  <a:pt x="213122" y="27861"/>
                  <a:pt x="208042" y="32385"/>
                </a:cubicBezTo>
                <a:lnTo>
                  <a:pt x="101600" y="127000"/>
                </a:lnTo>
                <a:lnTo>
                  <a:pt x="63500" y="127000"/>
                </a:lnTo>
                <a:cubicBezTo>
                  <a:pt x="42466" y="127000"/>
                  <a:pt x="25400" y="144066"/>
                  <a:pt x="25400" y="165100"/>
                </a:cubicBezTo>
                <a:lnTo>
                  <a:pt x="25400" y="241300"/>
                </a:lnTo>
                <a:cubicBezTo>
                  <a:pt x="25400" y="262334"/>
                  <a:pt x="42466" y="279400"/>
                  <a:pt x="63500" y="279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1574800" y="5588000"/>
            <a:ext cx="363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characteristics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powerful social cues that directly influence learning outcomes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5397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69000" y="571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527800" y="5588000"/>
            <a:ext cx="363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sizes are comparable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other major multimedia learning principles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68000" y="53975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0" y="5715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98358" y="53022"/>
                </a:moveTo>
                <a:cubicBezTo>
                  <a:pt x="206613" y="41672"/>
                  <a:pt x="204073" y="25797"/>
                  <a:pt x="192723" y="17542"/>
                </a:cubicBezTo>
                <a:cubicBezTo>
                  <a:pt x="181372" y="9287"/>
                  <a:pt x="165497" y="11827"/>
                  <a:pt x="157242" y="23177"/>
                </a:cubicBezTo>
                <a:lnTo>
                  <a:pt x="73104" y="138827"/>
                </a:lnTo>
                <a:lnTo>
                  <a:pt x="43339" y="109061"/>
                </a:lnTo>
                <a:cubicBezTo>
                  <a:pt x="33417" y="99139"/>
                  <a:pt x="17304" y="99139"/>
                  <a:pt x="7382" y="109061"/>
                </a:cubicBezTo>
                <a:cubicBezTo>
                  <a:pt x="-2540" y="118983"/>
                  <a:pt x="-2540" y="135096"/>
                  <a:pt x="7382" y="145018"/>
                </a:cubicBezTo>
                <a:lnTo>
                  <a:pt x="58182" y="195818"/>
                </a:lnTo>
                <a:cubicBezTo>
                  <a:pt x="63421" y="201057"/>
                  <a:pt x="70723" y="203756"/>
                  <a:pt x="78105" y="203200"/>
                </a:cubicBezTo>
                <a:cubicBezTo>
                  <a:pt x="85487" y="202644"/>
                  <a:pt x="92313" y="198834"/>
                  <a:pt x="96679" y="192802"/>
                </a:cubicBezTo>
                <a:lnTo>
                  <a:pt x="198279" y="53102"/>
                </a:lnTo>
                <a:close/>
                <a:moveTo>
                  <a:pt x="299958" y="160973"/>
                </a:moveTo>
                <a:cubicBezTo>
                  <a:pt x="308213" y="149622"/>
                  <a:pt x="305673" y="133747"/>
                  <a:pt x="294322" y="125492"/>
                </a:cubicBezTo>
                <a:cubicBezTo>
                  <a:pt x="282972" y="117237"/>
                  <a:pt x="267097" y="119777"/>
                  <a:pt x="258842" y="131128"/>
                </a:cubicBezTo>
                <a:lnTo>
                  <a:pt x="123904" y="316627"/>
                </a:lnTo>
                <a:lnTo>
                  <a:pt x="68739" y="261461"/>
                </a:lnTo>
                <a:cubicBezTo>
                  <a:pt x="58817" y="251539"/>
                  <a:pt x="42704" y="251539"/>
                  <a:pt x="32782" y="261461"/>
                </a:cubicBezTo>
                <a:cubicBezTo>
                  <a:pt x="22860" y="271383"/>
                  <a:pt x="22860" y="287496"/>
                  <a:pt x="32782" y="297418"/>
                </a:cubicBezTo>
                <a:lnTo>
                  <a:pt x="108982" y="373618"/>
                </a:lnTo>
                <a:cubicBezTo>
                  <a:pt x="114221" y="378857"/>
                  <a:pt x="121523" y="381556"/>
                  <a:pt x="128905" y="381000"/>
                </a:cubicBezTo>
                <a:cubicBezTo>
                  <a:pt x="136287" y="380444"/>
                  <a:pt x="143113" y="376634"/>
                  <a:pt x="147479" y="370602"/>
                </a:cubicBezTo>
                <a:lnTo>
                  <a:pt x="299879" y="161052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11480800" y="5588000"/>
            <a:ext cx="37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are consistent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robust across multiple experimental conditions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302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findings confirm the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importance of voice selection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multimedia instructional design.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Research Evidence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Characteristics That Matter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voice attributes that influence learning outcomes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1400" y="2006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319326" y="406400"/>
                </a:lnTo>
                <a:cubicBezTo>
                  <a:pt x="332343" y="406400"/>
                  <a:pt x="342900" y="395843"/>
                  <a:pt x="342900" y="382826"/>
                </a:cubicBezTo>
                <a:cubicBezTo>
                  <a:pt x="342900" y="304641"/>
                  <a:pt x="279559" y="241300"/>
                  <a:pt x="201374" y="241300"/>
                </a:cubicBezTo>
                <a:lnTo>
                  <a:pt x="154226" y="2413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574800" y="2006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vs. Machine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146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voices consistently outperform synthesized voices in learning outcomes.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778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200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4212" y="158512"/>
                </a:moveTo>
                <a:lnTo>
                  <a:pt x="68739" y="183039"/>
                </a:lnTo>
                <a:cubicBezTo>
                  <a:pt x="73501" y="187801"/>
                  <a:pt x="79931" y="190500"/>
                  <a:pt x="86678" y="190500"/>
                </a:cubicBezTo>
                <a:lnTo>
                  <a:pt x="103743" y="190500"/>
                </a:lnTo>
                <a:cubicBezTo>
                  <a:pt x="110490" y="190500"/>
                  <a:pt x="116919" y="193199"/>
                  <a:pt x="121682" y="197961"/>
                </a:cubicBezTo>
                <a:lnTo>
                  <a:pt x="144939" y="221218"/>
                </a:lnTo>
                <a:cubicBezTo>
                  <a:pt x="149701" y="225981"/>
                  <a:pt x="152400" y="232410"/>
                  <a:pt x="152400" y="239157"/>
                </a:cubicBezTo>
                <a:lnTo>
                  <a:pt x="152400" y="268923"/>
                </a:lnTo>
                <a:cubicBezTo>
                  <a:pt x="152400" y="275669"/>
                  <a:pt x="155099" y="282099"/>
                  <a:pt x="159861" y="286861"/>
                </a:cubicBezTo>
                <a:lnTo>
                  <a:pt x="170418" y="297418"/>
                </a:lnTo>
                <a:cubicBezTo>
                  <a:pt x="175181" y="302181"/>
                  <a:pt x="177879" y="308610"/>
                  <a:pt x="177879" y="315357"/>
                </a:cubicBezTo>
                <a:lnTo>
                  <a:pt x="177879" y="330200"/>
                </a:lnTo>
                <a:cubicBezTo>
                  <a:pt x="177879" y="344249"/>
                  <a:pt x="189230" y="355600"/>
                  <a:pt x="203279" y="355600"/>
                </a:cubicBezTo>
                <a:cubicBezTo>
                  <a:pt x="217329" y="355600"/>
                  <a:pt x="228679" y="344249"/>
                  <a:pt x="228679" y="330200"/>
                </a:cubicBezTo>
                <a:lnTo>
                  <a:pt x="228679" y="328057"/>
                </a:lnTo>
                <a:cubicBezTo>
                  <a:pt x="228679" y="321310"/>
                  <a:pt x="231378" y="314881"/>
                  <a:pt x="236141" y="310118"/>
                </a:cubicBezTo>
                <a:lnTo>
                  <a:pt x="272098" y="274161"/>
                </a:lnTo>
                <a:cubicBezTo>
                  <a:pt x="276860" y="269399"/>
                  <a:pt x="279559" y="262969"/>
                  <a:pt x="279559" y="256223"/>
                </a:cubicBezTo>
                <a:lnTo>
                  <a:pt x="279559" y="228679"/>
                </a:lnTo>
                <a:cubicBezTo>
                  <a:pt x="279559" y="214630"/>
                  <a:pt x="268208" y="203279"/>
                  <a:pt x="254159" y="203279"/>
                </a:cubicBezTo>
                <a:lnTo>
                  <a:pt x="188516" y="203279"/>
                </a:lnTo>
                <a:cubicBezTo>
                  <a:pt x="181769" y="203279"/>
                  <a:pt x="175339" y="200581"/>
                  <a:pt x="170577" y="195818"/>
                </a:cubicBezTo>
                <a:lnTo>
                  <a:pt x="157877" y="183118"/>
                </a:lnTo>
                <a:cubicBezTo>
                  <a:pt x="154543" y="179784"/>
                  <a:pt x="152638" y="175181"/>
                  <a:pt x="152638" y="170418"/>
                </a:cubicBezTo>
                <a:cubicBezTo>
                  <a:pt x="152638" y="160496"/>
                  <a:pt x="160655" y="152479"/>
                  <a:pt x="170577" y="152479"/>
                </a:cubicBezTo>
                <a:lnTo>
                  <a:pt x="198120" y="152479"/>
                </a:lnTo>
                <a:cubicBezTo>
                  <a:pt x="208042" y="152479"/>
                  <a:pt x="216059" y="144463"/>
                  <a:pt x="216059" y="134541"/>
                </a:cubicBezTo>
                <a:cubicBezTo>
                  <a:pt x="216059" y="129778"/>
                  <a:pt x="214154" y="125174"/>
                  <a:pt x="210820" y="121841"/>
                </a:cubicBezTo>
                <a:lnTo>
                  <a:pt x="195183" y="106204"/>
                </a:lnTo>
                <a:cubicBezTo>
                  <a:pt x="192088" y="103188"/>
                  <a:pt x="190500" y="99298"/>
                  <a:pt x="190500" y="95250"/>
                </a:cubicBezTo>
                <a:cubicBezTo>
                  <a:pt x="190500" y="91202"/>
                  <a:pt x="192088" y="87313"/>
                  <a:pt x="195024" y="84376"/>
                </a:cubicBezTo>
                <a:lnTo>
                  <a:pt x="208756" y="70644"/>
                </a:lnTo>
                <a:cubicBezTo>
                  <a:pt x="213360" y="66040"/>
                  <a:pt x="215979" y="59769"/>
                  <a:pt x="215979" y="53261"/>
                </a:cubicBezTo>
                <a:cubicBezTo>
                  <a:pt x="215979" y="47546"/>
                  <a:pt x="214074" y="42386"/>
                  <a:pt x="210899" y="38259"/>
                </a:cubicBezTo>
                <a:cubicBezTo>
                  <a:pt x="208359" y="38179"/>
                  <a:pt x="205819" y="38100"/>
                  <a:pt x="203279" y="38100"/>
                </a:cubicBezTo>
                <a:cubicBezTo>
                  <a:pt x="127556" y="38100"/>
                  <a:pt x="63818" y="89059"/>
                  <a:pt x="44291" y="158512"/>
                </a:cubicBezTo>
                <a:close/>
                <a:moveTo>
                  <a:pt x="368300" y="203200"/>
                </a:moveTo>
                <a:cubicBezTo>
                  <a:pt x="368300" y="175736"/>
                  <a:pt x="361633" y="149860"/>
                  <a:pt x="349726" y="127159"/>
                </a:cubicBezTo>
                <a:cubicBezTo>
                  <a:pt x="344646" y="127873"/>
                  <a:pt x="339646" y="130254"/>
                  <a:pt x="335518" y="134382"/>
                </a:cubicBezTo>
                <a:lnTo>
                  <a:pt x="324882" y="145018"/>
                </a:lnTo>
                <a:cubicBezTo>
                  <a:pt x="320119" y="149781"/>
                  <a:pt x="317421" y="156210"/>
                  <a:pt x="317421" y="162957"/>
                </a:cubicBezTo>
                <a:lnTo>
                  <a:pt x="317421" y="190500"/>
                </a:lnTo>
                <a:cubicBezTo>
                  <a:pt x="317421" y="204549"/>
                  <a:pt x="328771" y="215900"/>
                  <a:pt x="342821" y="215900"/>
                </a:cubicBezTo>
                <a:lnTo>
                  <a:pt x="361950" y="215900"/>
                </a:lnTo>
                <a:cubicBezTo>
                  <a:pt x="363934" y="215900"/>
                  <a:pt x="365919" y="215662"/>
                  <a:pt x="367744" y="215265"/>
                </a:cubicBezTo>
                <a:cubicBezTo>
                  <a:pt x="368062" y="211296"/>
                  <a:pt x="368141" y="207248"/>
                  <a:pt x="368141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527800" y="2006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5146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Familiar accents are easier to process, reducing extraneous cognitive load.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780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98200" y="2006600"/>
            <a:ext cx="254000" cy="406400"/>
          </a:xfrm>
          <a:custGeom>
            <a:avLst/>
            <a:gdLst/>
            <a:ahLst/>
            <a:cxnLst/>
            <a:rect l="l" t="t" r="r" b="b"/>
            <a:pathLst>
              <a:path w="254000" h="406400">
                <a:moveTo>
                  <a:pt x="127000" y="0"/>
                </a:moveTo>
                <a:cubicBezTo>
                  <a:pt x="84931" y="0"/>
                  <a:pt x="50800" y="34131"/>
                  <a:pt x="50800" y="76200"/>
                </a:cubicBezTo>
                <a:lnTo>
                  <a:pt x="50800" y="206931"/>
                </a:lnTo>
                <a:cubicBezTo>
                  <a:pt x="27384" y="227806"/>
                  <a:pt x="12700" y="258286"/>
                  <a:pt x="12700" y="292100"/>
                </a:cubicBezTo>
                <a:cubicBezTo>
                  <a:pt x="12700" y="355203"/>
                  <a:pt x="63897" y="406400"/>
                  <a:pt x="127000" y="406400"/>
                </a:cubicBezTo>
                <a:cubicBezTo>
                  <a:pt x="190103" y="406400"/>
                  <a:pt x="241300" y="355203"/>
                  <a:pt x="241300" y="292100"/>
                </a:cubicBezTo>
                <a:cubicBezTo>
                  <a:pt x="241300" y="258286"/>
                  <a:pt x="226616" y="227806"/>
                  <a:pt x="203200" y="206931"/>
                </a:cubicBezTo>
                <a:lnTo>
                  <a:pt x="203200" y="76200"/>
                </a:lnTo>
                <a:cubicBezTo>
                  <a:pt x="203200" y="34131"/>
                  <a:pt x="169069" y="0"/>
                  <a:pt x="127000" y="0"/>
                </a:cubicBezTo>
                <a:close/>
                <a:moveTo>
                  <a:pt x="177800" y="292100"/>
                </a:moveTo>
                <a:cubicBezTo>
                  <a:pt x="177800" y="320119"/>
                  <a:pt x="155019" y="342900"/>
                  <a:pt x="127000" y="342900"/>
                </a:cubicBezTo>
                <a:cubicBezTo>
                  <a:pt x="98981" y="342900"/>
                  <a:pt x="76200" y="320119"/>
                  <a:pt x="76200" y="292100"/>
                </a:cubicBezTo>
                <a:cubicBezTo>
                  <a:pt x="76200" y="270748"/>
                  <a:pt x="89297" y="252492"/>
                  <a:pt x="107950" y="245031"/>
                </a:cubicBezTo>
                <a:lnTo>
                  <a:pt x="107950" y="171450"/>
                </a:lnTo>
                <a:cubicBezTo>
                  <a:pt x="107950" y="160893"/>
                  <a:pt x="116443" y="152400"/>
                  <a:pt x="127000" y="152400"/>
                </a:cubicBezTo>
                <a:cubicBezTo>
                  <a:pt x="137557" y="152400"/>
                  <a:pt x="146050" y="160893"/>
                  <a:pt x="146050" y="171450"/>
                </a:cubicBezTo>
                <a:lnTo>
                  <a:pt x="146050" y="245031"/>
                </a:lnTo>
                <a:cubicBezTo>
                  <a:pt x="164703" y="252571"/>
                  <a:pt x="177800" y="270828"/>
                  <a:pt x="177800" y="2921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480800" y="2006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5146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Warm, friendly tones create better social presence than cold, monotone delivery.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93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416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54000" y="279400"/>
                </a:moveTo>
                <a:cubicBezTo>
                  <a:pt x="254000" y="258048"/>
                  <a:pt x="240903" y="239792"/>
                  <a:pt x="222250" y="232331"/>
                </a:cubicBez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lnTo>
                  <a:pt x="184150" y="232331"/>
                </a:lnTo>
                <a:cubicBezTo>
                  <a:pt x="165497" y="239871"/>
                  <a:pt x="152400" y="258128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ubicBezTo>
                  <a:pt x="231219" y="330200"/>
                  <a:pt x="254000" y="307419"/>
                  <a:pt x="254000" y="279400"/>
                </a:cubicBezTo>
                <a:close/>
                <a:moveTo>
                  <a:pt x="114300" y="139700"/>
                </a:moveTo>
                <a:cubicBezTo>
                  <a:pt x="128319" y="139700"/>
                  <a:pt x="139700" y="128319"/>
                  <a:pt x="139700" y="114300"/>
                </a:cubicBez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lose/>
                <a:moveTo>
                  <a:pt x="101600" y="203200"/>
                </a:move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ubicBezTo>
                  <a:pt x="90219" y="228600"/>
                  <a:pt x="101600" y="217219"/>
                  <a:pt x="101600" y="203200"/>
                </a:cubicBezTo>
                <a:close/>
                <a:moveTo>
                  <a:pt x="330200" y="228600"/>
                </a:moveTo>
                <a:cubicBezTo>
                  <a:pt x="344219" y="228600"/>
                  <a:pt x="355600" y="217219"/>
                  <a:pt x="355600" y="203200"/>
                </a:cubicBez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lose/>
                <a:moveTo>
                  <a:pt x="317500" y="114300"/>
                </a:moveTo>
                <a:cubicBezTo>
                  <a:pt x="317500" y="100281"/>
                  <a:pt x="306119" y="88900"/>
                  <a:pt x="292100" y="88900"/>
                </a:cubicBezTo>
                <a:cubicBezTo>
                  <a:pt x="278081" y="88900"/>
                  <a:pt x="266700" y="100281"/>
                  <a:pt x="266700" y="114300"/>
                </a:cubicBezTo>
                <a:cubicBezTo>
                  <a:pt x="266700" y="128319"/>
                  <a:pt x="278081" y="139700"/>
                  <a:pt x="292100" y="139700"/>
                </a:cubicBezTo>
                <a:cubicBezTo>
                  <a:pt x="306119" y="139700"/>
                  <a:pt x="317500" y="128319"/>
                  <a:pt x="317500" y="1143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574800" y="4165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6736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speed allows processing without rushing or dragging the content.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393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69000" y="416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6077" y="15002"/>
                </a:moveTo>
                <a:cubicBezTo>
                  <a:pt x="375206" y="19050"/>
                  <a:pt x="381000" y="28099"/>
                  <a:pt x="381000" y="38100"/>
                </a:cubicBezTo>
                <a:lnTo>
                  <a:pt x="381000" y="368300"/>
                </a:lnTo>
                <a:cubicBezTo>
                  <a:pt x="381000" y="378301"/>
                  <a:pt x="375206" y="387350"/>
                  <a:pt x="366077" y="391398"/>
                </a:cubicBezTo>
                <a:cubicBezTo>
                  <a:pt x="356949" y="395446"/>
                  <a:pt x="346393" y="393938"/>
                  <a:pt x="338852" y="387350"/>
                </a:cubicBezTo>
                <a:lnTo>
                  <a:pt x="301863" y="355044"/>
                </a:lnTo>
                <a:cubicBezTo>
                  <a:pt x="267256" y="324803"/>
                  <a:pt x="223520" y="307181"/>
                  <a:pt x="177721" y="305038"/>
                </a:cubicBezTo>
                <a:lnTo>
                  <a:pt x="177721" y="381000"/>
                </a:lnTo>
                <a:cubicBezTo>
                  <a:pt x="177721" y="395049"/>
                  <a:pt x="166370" y="406400"/>
                  <a:pt x="152321" y="406400"/>
                </a:cubicBezTo>
                <a:lnTo>
                  <a:pt x="126921" y="406400"/>
                </a:lnTo>
                <a:cubicBezTo>
                  <a:pt x="112871" y="406400"/>
                  <a:pt x="101521" y="395049"/>
                  <a:pt x="101521" y="381000"/>
                </a:cubicBezTo>
                <a:lnTo>
                  <a:pt x="101521" y="304800"/>
                </a:lnTo>
                <a:cubicBezTo>
                  <a:pt x="45482" y="304800"/>
                  <a:pt x="0" y="259318"/>
                  <a:pt x="0" y="203200"/>
                </a:cubicBezTo>
                <a:cubicBezTo>
                  <a:pt x="0" y="147082"/>
                  <a:pt x="45482" y="101600"/>
                  <a:pt x="101600" y="101600"/>
                </a:cubicBezTo>
                <a:lnTo>
                  <a:pt x="168672" y="101600"/>
                </a:lnTo>
                <a:cubicBezTo>
                  <a:pt x="217726" y="101441"/>
                  <a:pt x="265033" y="83582"/>
                  <a:pt x="301943" y="51356"/>
                </a:cubicBezTo>
                <a:lnTo>
                  <a:pt x="338931" y="19050"/>
                </a:lnTo>
                <a:cubicBezTo>
                  <a:pt x="346393" y="12462"/>
                  <a:pt x="357108" y="10954"/>
                  <a:pt x="366157" y="15002"/>
                </a:cubicBezTo>
                <a:close/>
                <a:moveTo>
                  <a:pt x="177800" y="254000"/>
                </a:moveTo>
                <a:lnTo>
                  <a:pt x="177800" y="254159"/>
                </a:lnTo>
                <a:cubicBezTo>
                  <a:pt x="233601" y="256302"/>
                  <a:pt x="287179" y="276781"/>
                  <a:pt x="330200" y="312420"/>
                </a:cubicBezTo>
                <a:lnTo>
                  <a:pt x="330200" y="93901"/>
                </a:lnTo>
                <a:cubicBezTo>
                  <a:pt x="287179" y="129540"/>
                  <a:pt x="233601" y="150019"/>
                  <a:pt x="177800" y="152162"/>
                </a:cubicBezTo>
                <a:lnTo>
                  <a:pt x="177800" y="2540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6527800" y="4165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46736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articulation ensures the verbal channel is not overloaded.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39370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96600" y="4165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80800" y="4165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Enthusiasm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0" y="46736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interest in the material is contagious and highly motivating.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223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68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574800" y="6350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the listener feel they are in a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 with a real person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receiving a broadcast from a machine.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Characteristics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Guidelines for Voice in Multimedia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practices for implementing the Voice Principle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90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905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Real Human Narrators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349500"/>
            <a:ext cx="424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text-to-speech for instructional content whenever possible.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778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18200" y="190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0" y="1905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Clear, Familiar Accents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8200" y="2349500"/>
            <a:ext cx="424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narrators with accents familiar to your target audience.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780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871200" y="190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0" y="190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Speak Naturally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71200" y="2349500"/>
            <a:ext cx="436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Encourage narrators to speak conversationally, not robotically.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556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368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3683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Consistent Voice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" y="4127500"/>
            <a:ext cx="424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same voice throughout a lesson to avoid distraction.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3556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18200" y="368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0" y="36830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Audio Quality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18200" y="4127500"/>
            <a:ext cx="424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in a quiet environment with professional equipment.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35560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871200" y="3683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0" y="368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Tone to Content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71200" y="4127500"/>
            <a:ext cx="436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Enthusiasm for engaging topics; calmness for sensitive subjects.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461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E6F0E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12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574800" y="5651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Reminder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74800" y="6032500"/>
            <a:ext cx="1358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voice is a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cue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sets the emotional tone for the entire learning experience. Choose your narrator as carefully as you choose your content.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Guidelines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zqhx7qzgd7uo/mnt/agents/output/multimedia_production/images/5_Professional_Video_Editing_Setup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850" b="785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5000"/>
                </a:srgbClr>
              </a:gs>
              <a:gs pos="60000">
                <a:srgbClr val="1A1A2E">
                  <a:alpha val="80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D494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&amp; Combining Principles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25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Personalization and Voice work together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Personalization &amp; Voice Are Connected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Both principles share the same theoretical foundation and goal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1092200" y="2032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406400"/>
                </a:moveTo>
                <a:lnTo>
                  <a:pt x="76200" y="406400"/>
                </a:lnTo>
                <a:cubicBezTo>
                  <a:pt x="34131" y="406400"/>
                  <a:pt x="0" y="372269"/>
                  <a:pt x="0" y="330200"/>
                </a:cubicBezTo>
                <a:lnTo>
                  <a:pt x="0" y="76200"/>
                </a:lnTo>
                <a:cubicBezTo>
                  <a:pt x="0" y="34131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7066"/>
                  <a:pt x="355600" y="38100"/>
                </a:cubicBezTo>
                <a:lnTo>
                  <a:pt x="355600" y="266700"/>
                </a:lnTo>
                <a:cubicBezTo>
                  <a:pt x="355600" y="283289"/>
                  <a:pt x="344964" y="297418"/>
                  <a:pt x="330200" y="302657"/>
                </a:cubicBez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304800" y="406400"/>
                </a:lnTo>
                <a:close/>
                <a:moveTo>
                  <a:pt x="76200" y="304800"/>
                </a:moveTo>
                <a:cubicBezTo>
                  <a:pt x="62151" y="304800"/>
                  <a:pt x="50800" y="316151"/>
                  <a:pt x="50800" y="330200"/>
                </a:cubicBezTo>
                <a:cubicBezTo>
                  <a:pt x="50800" y="344249"/>
                  <a:pt x="62151" y="355600"/>
                  <a:pt x="76200" y="355600"/>
                </a:cubicBezTo>
                <a:lnTo>
                  <a:pt x="279400" y="355600"/>
                </a:lnTo>
                <a:lnTo>
                  <a:pt x="279400" y="304800"/>
                </a:lnTo>
                <a:lnTo>
                  <a:pt x="76200" y="304800"/>
                </a:lnTo>
                <a:close/>
                <a:moveTo>
                  <a:pt x="101600" y="120650"/>
                </a:moveTo>
                <a:cubicBezTo>
                  <a:pt x="101600" y="131207"/>
                  <a:pt x="110093" y="139700"/>
                  <a:pt x="120650" y="139700"/>
                </a:cubicBezTo>
                <a:lnTo>
                  <a:pt x="260350" y="139700"/>
                </a:lnTo>
                <a:cubicBezTo>
                  <a:pt x="270907" y="139700"/>
                  <a:pt x="279400" y="131207"/>
                  <a:pt x="279400" y="120650"/>
                </a:cubicBezTo>
                <a:cubicBezTo>
                  <a:pt x="279400" y="110093"/>
                  <a:pt x="270907" y="101600"/>
                  <a:pt x="260350" y="101600"/>
                </a:cubicBezTo>
                <a:lnTo>
                  <a:pt x="120650" y="101600"/>
                </a:lnTo>
                <a:cubicBezTo>
                  <a:pt x="110093" y="101600"/>
                  <a:pt x="101600" y="110093"/>
                  <a:pt x="101600" y="120650"/>
                </a:cubicBezTo>
                <a:close/>
                <a:moveTo>
                  <a:pt x="120650" y="177800"/>
                </a:moveTo>
                <a:cubicBezTo>
                  <a:pt x="110093" y="177800"/>
                  <a:pt x="101600" y="186293"/>
                  <a:pt x="101600" y="196850"/>
                </a:cubicBezTo>
                <a:cubicBezTo>
                  <a:pt x="101600" y="207407"/>
                  <a:pt x="110093" y="215900"/>
                  <a:pt x="120650" y="215900"/>
                </a:cubicBezTo>
                <a:lnTo>
                  <a:pt x="260350" y="215900"/>
                </a:lnTo>
                <a:cubicBezTo>
                  <a:pt x="270907" y="215900"/>
                  <a:pt x="279400" y="207407"/>
                  <a:pt x="279400" y="196850"/>
                </a:cubicBezTo>
                <a:cubicBezTo>
                  <a:pt x="279400" y="186293"/>
                  <a:pt x="270907" y="177800"/>
                  <a:pt x="260350" y="177800"/>
                </a:cubicBezTo>
                <a:lnTo>
                  <a:pt x="120650" y="17780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540000"/>
            <a:ext cx="4089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946400"/>
            <a:ext cx="408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are based on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Agency Theory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using social cues to activate conversational schema.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7780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0" name="Shape 8"/>
          <p:cNvSpPr/>
          <p:nvPr/>
        </p:nvSpPr>
        <p:spPr>
          <a:xfrm>
            <a:off x="60198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019800" y="2540000"/>
            <a:ext cx="4089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Goal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19800" y="2946400"/>
            <a:ext cx="4089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aim to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foster generative processing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creating social presence between educator and learner.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780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8B5E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47400" y="203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13439" y="67628"/>
                </a:moveTo>
                <a:lnTo>
                  <a:pt x="120888" y="170498"/>
                </a:lnTo>
                <a:cubicBezTo>
                  <a:pt x="117237" y="174546"/>
                  <a:pt x="117396" y="180816"/>
                  <a:pt x="121285" y="184706"/>
                </a:cubicBezTo>
                <a:cubicBezTo>
                  <a:pt x="145494" y="208915"/>
                  <a:pt x="184785" y="208915"/>
                  <a:pt x="208994" y="184706"/>
                </a:cubicBezTo>
                <a:lnTo>
                  <a:pt x="234236" y="159464"/>
                </a:lnTo>
                <a:cubicBezTo>
                  <a:pt x="237569" y="156131"/>
                  <a:pt x="241776" y="154305"/>
                  <a:pt x="246063" y="153988"/>
                </a:cubicBezTo>
                <a:cubicBezTo>
                  <a:pt x="251460" y="153511"/>
                  <a:pt x="257016" y="155337"/>
                  <a:pt x="261144" y="159464"/>
                </a:cubicBezTo>
                <a:lnTo>
                  <a:pt x="401320" y="298450"/>
                </a:lnTo>
                <a:lnTo>
                  <a:pt x="457200" y="254000"/>
                </a:lnTo>
                <a:lnTo>
                  <a:pt x="457200" y="25400"/>
                </a:lnTo>
                <a:lnTo>
                  <a:pt x="368300" y="76200"/>
                </a:lnTo>
                <a:lnTo>
                  <a:pt x="349409" y="63579"/>
                </a:lnTo>
                <a:cubicBezTo>
                  <a:pt x="336867" y="55245"/>
                  <a:pt x="322183" y="50800"/>
                  <a:pt x="307102" y="50800"/>
                </a:cubicBezTo>
                <a:lnTo>
                  <a:pt x="251222" y="50800"/>
                </a:lnTo>
                <a:cubicBezTo>
                  <a:pt x="250349" y="50800"/>
                  <a:pt x="249396" y="50800"/>
                  <a:pt x="248523" y="50879"/>
                </a:cubicBezTo>
                <a:cubicBezTo>
                  <a:pt x="235109" y="51594"/>
                  <a:pt x="222488" y="57626"/>
                  <a:pt x="213439" y="67627"/>
                </a:cubicBezTo>
                <a:close/>
                <a:moveTo>
                  <a:pt x="92551" y="145018"/>
                </a:moveTo>
                <a:lnTo>
                  <a:pt x="177324" y="50800"/>
                </a:lnTo>
                <a:lnTo>
                  <a:pt x="145891" y="50800"/>
                </a:lnTo>
                <a:cubicBezTo>
                  <a:pt x="125651" y="50800"/>
                  <a:pt x="106283" y="58817"/>
                  <a:pt x="91996" y="73104"/>
                </a:cubicBezTo>
                <a:lnTo>
                  <a:pt x="88900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24143" y="357426"/>
                </a:lnTo>
                <a:cubicBezTo>
                  <a:pt x="142399" y="372666"/>
                  <a:pt x="165418" y="381000"/>
                  <a:pt x="189151" y="381000"/>
                </a:cubicBezTo>
                <a:lnTo>
                  <a:pt x="201613" y="381000"/>
                </a:lnTo>
                <a:lnTo>
                  <a:pt x="196056" y="375444"/>
                </a:lnTo>
                <a:cubicBezTo>
                  <a:pt x="188595" y="367983"/>
                  <a:pt x="188595" y="355918"/>
                  <a:pt x="196056" y="348536"/>
                </a:cubicBezTo>
                <a:cubicBezTo>
                  <a:pt x="203518" y="341154"/>
                  <a:pt x="215583" y="341074"/>
                  <a:pt x="222964" y="348536"/>
                </a:cubicBezTo>
                <a:lnTo>
                  <a:pt x="255508" y="381079"/>
                </a:lnTo>
                <a:lnTo>
                  <a:pt x="262652" y="381079"/>
                </a:lnTo>
                <a:cubicBezTo>
                  <a:pt x="277813" y="381079"/>
                  <a:pt x="292656" y="377666"/>
                  <a:pt x="306149" y="371316"/>
                </a:cubicBezTo>
                <a:lnTo>
                  <a:pt x="284956" y="350044"/>
                </a:lnTo>
                <a:cubicBezTo>
                  <a:pt x="277495" y="342583"/>
                  <a:pt x="277495" y="330518"/>
                  <a:pt x="284956" y="323136"/>
                </a:cubicBezTo>
                <a:cubicBezTo>
                  <a:pt x="292418" y="315754"/>
                  <a:pt x="304483" y="315674"/>
                  <a:pt x="311864" y="323136"/>
                </a:cubicBezTo>
                <a:lnTo>
                  <a:pt x="337264" y="348536"/>
                </a:lnTo>
                <a:lnTo>
                  <a:pt x="351155" y="334645"/>
                </a:lnTo>
                <a:cubicBezTo>
                  <a:pt x="358219" y="327581"/>
                  <a:pt x="360283" y="317341"/>
                  <a:pt x="357188" y="308372"/>
                </a:cubicBezTo>
                <a:lnTo>
                  <a:pt x="247729" y="199787"/>
                </a:lnTo>
                <a:lnTo>
                  <a:pt x="235903" y="211614"/>
                </a:lnTo>
                <a:cubicBezTo>
                  <a:pt x="196771" y="250746"/>
                  <a:pt x="133429" y="250746"/>
                  <a:pt x="94298" y="211614"/>
                </a:cubicBezTo>
                <a:cubicBezTo>
                  <a:pt x="76041" y="193357"/>
                  <a:pt x="75327" y="164068"/>
                  <a:pt x="92551" y="1449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2540000"/>
            <a:ext cx="4216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 Together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0" y="2946400"/>
            <a:ext cx="421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complement each other to create a complete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learning experience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508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Complementary Relationship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080000"/>
            <a:ext cx="7048500" cy="127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8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9407" y="18822"/>
                </a:moveTo>
                <a:cubicBezTo>
                  <a:pt x="269825" y="6876"/>
                  <a:pt x="284897" y="0"/>
                  <a:pt x="300801" y="0"/>
                </a:cubicBezTo>
                <a:cubicBezTo>
                  <a:pt x="331083" y="0"/>
                  <a:pt x="355669" y="24586"/>
                  <a:pt x="355669" y="54868"/>
                </a:cubicBezTo>
                <a:cubicBezTo>
                  <a:pt x="355669" y="70703"/>
                  <a:pt x="348794" y="85844"/>
                  <a:pt x="336848" y="96262"/>
                </a:cubicBezTo>
                <a:lnTo>
                  <a:pt x="197039" y="217944"/>
                </a:lnTo>
                <a:lnTo>
                  <a:pt x="189607" y="210443"/>
                </a:lnTo>
                <a:lnTo>
                  <a:pt x="145157" y="165993"/>
                </a:lnTo>
                <a:lnTo>
                  <a:pt x="137656" y="158561"/>
                </a:lnTo>
                <a:lnTo>
                  <a:pt x="259407" y="18822"/>
                </a:lnTo>
                <a:close/>
                <a:moveTo>
                  <a:pt x="111889" y="179884"/>
                </a:moveTo>
                <a:cubicBezTo>
                  <a:pt x="112514" y="180578"/>
                  <a:pt x="130572" y="198636"/>
                  <a:pt x="165993" y="234057"/>
                </a:cubicBezTo>
                <a:lnTo>
                  <a:pt x="175647" y="243711"/>
                </a:lnTo>
                <a:lnTo>
                  <a:pt x="163770" y="295245"/>
                </a:lnTo>
                <a:cubicBezTo>
                  <a:pt x="161062" y="307122"/>
                  <a:pt x="152033" y="316567"/>
                  <a:pt x="140295" y="319832"/>
                </a:cubicBezTo>
                <a:lnTo>
                  <a:pt x="22364" y="352822"/>
                </a:lnTo>
                <a:lnTo>
                  <a:pt x="86469" y="288717"/>
                </a:lnTo>
                <a:cubicBezTo>
                  <a:pt x="87303" y="288786"/>
                  <a:pt x="88067" y="288856"/>
                  <a:pt x="88900" y="288856"/>
                </a:cubicBezTo>
                <a:cubicBezTo>
                  <a:pt x="101193" y="288856"/>
                  <a:pt x="111125" y="278924"/>
                  <a:pt x="111125" y="266631"/>
                </a:cubicBezTo>
                <a:cubicBezTo>
                  <a:pt x="111125" y="254337"/>
                  <a:pt x="101193" y="244406"/>
                  <a:pt x="88900" y="244406"/>
                </a:cubicBezTo>
                <a:cubicBezTo>
                  <a:pt x="76607" y="244406"/>
                  <a:pt x="66675" y="254337"/>
                  <a:pt x="66675" y="266631"/>
                </a:cubicBezTo>
                <a:cubicBezTo>
                  <a:pt x="66675" y="267464"/>
                  <a:pt x="66744" y="268297"/>
                  <a:pt x="66814" y="269061"/>
                </a:cubicBezTo>
                <a:lnTo>
                  <a:pt x="2709" y="333236"/>
                </a:lnTo>
                <a:lnTo>
                  <a:pt x="35768" y="215305"/>
                </a:lnTo>
                <a:cubicBezTo>
                  <a:pt x="39033" y="203567"/>
                  <a:pt x="48478" y="194538"/>
                  <a:pt x="60355" y="191830"/>
                </a:cubicBezTo>
                <a:lnTo>
                  <a:pt x="111889" y="179884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1574800" y="5270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74800" y="5588000"/>
            <a:ext cx="603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the conversational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words you use ("you," "your," "we")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45500" y="5080000"/>
            <a:ext cx="7048500" cy="1270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23" name="Shape 21"/>
          <p:cNvSpPr/>
          <p:nvPr/>
        </p:nvSpPr>
        <p:spPr>
          <a:xfrm>
            <a:off x="8731250" y="5397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0"/>
                </a:moveTo>
                <a:cubicBezTo>
                  <a:pt x="96540" y="0"/>
                  <a:pt x="66675" y="29865"/>
                  <a:pt x="66675" y="66675"/>
                </a:cubicBezTo>
                <a:lnTo>
                  <a:pt x="66675" y="155575"/>
                </a:lnTo>
                <a:cubicBezTo>
                  <a:pt x="66675" y="192385"/>
                  <a:pt x="96540" y="222250"/>
                  <a:pt x="133350" y="222250"/>
                </a:cubicBezTo>
                <a:cubicBezTo>
                  <a:pt x="170160" y="222250"/>
                  <a:pt x="200025" y="192385"/>
                  <a:pt x="200025" y="155575"/>
                </a:cubicBezTo>
                <a:lnTo>
                  <a:pt x="200025" y="66675"/>
                </a:lnTo>
                <a:cubicBezTo>
                  <a:pt x="200025" y="29865"/>
                  <a:pt x="170160" y="0"/>
                  <a:pt x="133350" y="0"/>
                </a:cubicBezTo>
                <a:close/>
                <a:moveTo>
                  <a:pt x="33337" y="127794"/>
                </a:moveTo>
                <a:cubicBezTo>
                  <a:pt x="33337" y="118556"/>
                  <a:pt x="25906" y="111125"/>
                  <a:pt x="16669" y="111125"/>
                </a:cubicBezTo>
                <a:cubicBezTo>
                  <a:pt x="7431" y="111125"/>
                  <a:pt x="0" y="118556"/>
                  <a:pt x="0" y="127794"/>
                </a:cubicBezTo>
                <a:lnTo>
                  <a:pt x="0" y="155575"/>
                </a:lnTo>
                <a:cubicBezTo>
                  <a:pt x="0" y="223570"/>
                  <a:pt x="50909" y="279688"/>
                  <a:pt x="116681" y="287883"/>
                </a:cubicBezTo>
                <a:lnTo>
                  <a:pt x="116681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183356" y="355600"/>
                </a:lnTo>
                <a:cubicBezTo>
                  <a:pt x="192594" y="355600"/>
                  <a:pt x="200025" y="348169"/>
                  <a:pt x="200025" y="338931"/>
                </a:cubicBezTo>
                <a:cubicBezTo>
                  <a:pt x="200025" y="329694"/>
                  <a:pt x="192594" y="322263"/>
                  <a:pt x="183356" y="322263"/>
                </a:cubicBezTo>
                <a:lnTo>
                  <a:pt x="150019" y="322263"/>
                </a:lnTo>
                <a:lnTo>
                  <a:pt x="150019" y="287883"/>
                </a:lnTo>
                <a:cubicBezTo>
                  <a:pt x="215791" y="279688"/>
                  <a:pt x="266700" y="223570"/>
                  <a:pt x="266700" y="155575"/>
                </a:cubicBezTo>
                <a:lnTo>
                  <a:pt x="266700" y="127794"/>
                </a:lnTo>
                <a:cubicBezTo>
                  <a:pt x="266700" y="118556"/>
                  <a:pt x="259269" y="111125"/>
                  <a:pt x="250031" y="111125"/>
                </a:cubicBezTo>
                <a:cubicBezTo>
                  <a:pt x="240794" y="111125"/>
                  <a:pt x="233363" y="118556"/>
                  <a:pt x="233363" y="127794"/>
                </a:cubicBezTo>
                <a:lnTo>
                  <a:pt x="233363" y="155575"/>
                </a:lnTo>
                <a:cubicBezTo>
                  <a:pt x="233363" y="210790"/>
                  <a:pt x="188565" y="255587"/>
                  <a:pt x="133350" y="255587"/>
                </a:cubicBezTo>
                <a:cubicBezTo>
                  <a:pt x="78135" y="255587"/>
                  <a:pt x="33337" y="210790"/>
                  <a:pt x="33337" y="155575"/>
                </a:cubicBezTo>
                <a:lnTo>
                  <a:pt x="33337" y="127794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9194800" y="5270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58300" y="5588000"/>
            <a:ext cx="603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the conversational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how those words are delivered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48600" y="5461000"/>
            <a:ext cx="55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731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6731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 Effect: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powerful sense of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"being in a conversation"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maximizes learner engagement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Connected Principles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Differences Between the Two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distinct contributions of each principle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D737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Personalization Principle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Voice Principle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/ SCRIPT design — the written or spoken words themselves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AUDIO DELIVERY — the vocal characteristics of the narrator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Applies 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Both text and narration (any written or spoken words)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Specifically to spoken narration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Language style and word choice — HOW you say it in words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Voice quality, accent, and tone — HOW it sounds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Effect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1.55 (exceptionally strong)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0.80-0.81 (strong)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71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 Three Scenarios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286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413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 Only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6794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Written conversational text without narration — works for reading materials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0" y="6286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969000" y="6413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Only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69000" y="6794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Friendly delivery of formal content — limited social presence activation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668000" y="62865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4" name="Text 11"/>
          <p:cNvSpPr/>
          <p:nvPr/>
        </p:nvSpPr>
        <p:spPr>
          <a:xfrm>
            <a:off x="10922000" y="64135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Together (Optimal)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22000" y="67945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conversational learning experience — maximum engagement and learning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Differences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Power of Combined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applying both principles together creates synergistic effects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E6F0EF"/>
          </a:solidFill>
          <a:ln/>
        </p:spPr>
      </p:sp>
      <p:sp>
        <p:nvSpPr>
          <p:cNvPr id="6" name="Shape 4"/>
          <p:cNvSpPr/>
          <p:nvPr/>
        </p:nvSpPr>
        <p:spPr>
          <a:xfrm>
            <a:off x="1092200" y="2032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28600" y="0"/>
                </a:moveTo>
                <a:lnTo>
                  <a:pt x="101600" y="0"/>
                </a:lnTo>
                <a:cubicBezTo>
                  <a:pt x="87551" y="0"/>
                  <a:pt x="76200" y="11351"/>
                  <a:pt x="76200" y="25400"/>
                </a:cubicBezTo>
                <a:cubicBezTo>
                  <a:pt x="76200" y="39449"/>
                  <a:pt x="87551" y="50800"/>
                  <a:pt x="101600" y="50800"/>
                </a:cubicBezTo>
                <a:lnTo>
                  <a:pt x="101600" y="171053"/>
                </a:lnTo>
                <a:lnTo>
                  <a:pt x="5953" y="338376"/>
                </a:lnTo>
                <a:cubicBezTo>
                  <a:pt x="2064" y="345281"/>
                  <a:pt x="0" y="352981"/>
                  <a:pt x="0" y="360918"/>
                </a:cubicBezTo>
                <a:cubicBezTo>
                  <a:pt x="0" y="386080"/>
                  <a:pt x="20320" y="406400"/>
                  <a:pt x="45482" y="406400"/>
                </a:cubicBezTo>
                <a:lnTo>
                  <a:pt x="310118" y="406400"/>
                </a:lnTo>
                <a:cubicBezTo>
                  <a:pt x="335201" y="406400"/>
                  <a:pt x="355600" y="386080"/>
                  <a:pt x="355600" y="360918"/>
                </a:cubicBezTo>
                <a:cubicBezTo>
                  <a:pt x="355600" y="352981"/>
                  <a:pt x="353536" y="345202"/>
                  <a:pt x="349647" y="338376"/>
                </a:cubicBezTo>
                <a:lnTo>
                  <a:pt x="254000" y="171053"/>
                </a:lnTo>
                <a:lnTo>
                  <a:pt x="254000" y="50800"/>
                </a:lnTo>
                <a:cubicBezTo>
                  <a:pt x="268049" y="50800"/>
                  <a:pt x="279400" y="39449"/>
                  <a:pt x="279400" y="25400"/>
                </a:cubicBezTo>
                <a:cubicBezTo>
                  <a:pt x="279400" y="11351"/>
                  <a:pt x="268049" y="0"/>
                  <a:pt x="254000" y="0"/>
                </a:cubicBezTo>
                <a:lnTo>
                  <a:pt x="228600" y="0"/>
                </a:lnTo>
                <a:close/>
                <a:moveTo>
                  <a:pt x="152400" y="171053"/>
                </a:moveTo>
                <a:lnTo>
                  <a:pt x="152400" y="50800"/>
                </a:lnTo>
                <a:lnTo>
                  <a:pt x="203200" y="50800"/>
                </a:lnTo>
                <a:lnTo>
                  <a:pt x="203200" y="171053"/>
                </a:lnTo>
                <a:cubicBezTo>
                  <a:pt x="203200" y="179864"/>
                  <a:pt x="205502" y="188595"/>
                  <a:pt x="209868" y="196294"/>
                </a:cubicBezTo>
                <a:lnTo>
                  <a:pt x="242888" y="254000"/>
                </a:lnTo>
                <a:lnTo>
                  <a:pt x="112713" y="254000"/>
                </a:lnTo>
                <a:lnTo>
                  <a:pt x="145733" y="196294"/>
                </a:lnTo>
                <a:cubicBezTo>
                  <a:pt x="150098" y="188595"/>
                  <a:pt x="152400" y="179943"/>
                  <a:pt x="152400" y="171053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1968500"/>
            <a:ext cx="135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suggests: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social cues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 each other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When learners detect both conversational language AND a human voice, the social conversation schema is activated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strongly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with either cue alone.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302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Leads To: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873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41400" y="4127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6355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Stronger motivation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engage with material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45000" y="3873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99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4699000" y="46355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effort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making sense of content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3873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46355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retention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transfer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3873500"/>
            <a:ext cx="3683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65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31286" y="255508"/>
                </a:moveTo>
                <a:cubicBezTo>
                  <a:pt x="147479" y="277733"/>
                  <a:pt x="173673" y="292100"/>
                  <a:pt x="203200" y="292100"/>
                </a:cubicBezTo>
                <a:cubicBezTo>
                  <a:pt x="232727" y="292100"/>
                  <a:pt x="258921" y="277733"/>
                  <a:pt x="275114" y="255508"/>
                </a:cubicBezTo>
                <a:cubicBezTo>
                  <a:pt x="281305" y="247015"/>
                  <a:pt x="293211" y="245110"/>
                  <a:pt x="301704" y="251301"/>
                </a:cubicBezTo>
                <a:cubicBezTo>
                  <a:pt x="310198" y="257493"/>
                  <a:pt x="312103" y="269399"/>
                  <a:pt x="305911" y="277892"/>
                </a:cubicBezTo>
                <a:cubicBezTo>
                  <a:pt x="282813" y="309563"/>
                  <a:pt x="245428" y="330200"/>
                  <a:pt x="203200" y="330200"/>
                </a:cubicBezTo>
                <a:cubicBezTo>
                  <a:pt x="160973" y="330200"/>
                  <a:pt x="123587" y="309563"/>
                  <a:pt x="100489" y="277892"/>
                </a:cubicBezTo>
                <a:cubicBezTo>
                  <a:pt x="94298" y="269399"/>
                  <a:pt x="96202" y="257493"/>
                  <a:pt x="104696" y="251301"/>
                </a:cubicBezTo>
                <a:cubicBezTo>
                  <a:pt x="113189" y="245110"/>
                  <a:pt x="125095" y="247015"/>
                  <a:pt x="131286" y="255508"/>
                </a:cubicBezTo>
                <a:close/>
                <a:moveTo>
                  <a:pt x="114300" y="165100"/>
                </a:moveTo>
                <a:cubicBezTo>
                  <a:pt x="114300" y="151081"/>
                  <a:pt x="125681" y="139700"/>
                  <a:pt x="139700" y="139700"/>
                </a:cubicBezTo>
                <a:cubicBezTo>
                  <a:pt x="153719" y="139700"/>
                  <a:pt x="165100" y="151081"/>
                  <a:pt x="165100" y="165100"/>
                </a:cubicBezTo>
                <a:cubicBezTo>
                  <a:pt x="165100" y="179119"/>
                  <a:pt x="153719" y="190500"/>
                  <a:pt x="139700" y="190500"/>
                </a:cubicBezTo>
                <a:cubicBezTo>
                  <a:pt x="125681" y="190500"/>
                  <a:pt x="114300" y="179119"/>
                  <a:pt x="114300" y="165100"/>
                </a:cubicBezTo>
                <a:close/>
                <a:moveTo>
                  <a:pt x="266700" y="139700"/>
                </a:moveTo>
                <a:cubicBezTo>
                  <a:pt x="280719" y="139700"/>
                  <a:pt x="292100" y="151081"/>
                  <a:pt x="292100" y="165100"/>
                </a:cubicBezTo>
                <a:cubicBezTo>
                  <a:pt x="292100" y="179119"/>
                  <a:pt x="280719" y="190500"/>
                  <a:pt x="266700" y="190500"/>
                </a:cubicBezTo>
                <a:cubicBezTo>
                  <a:pt x="252681" y="190500"/>
                  <a:pt x="241300" y="179119"/>
                  <a:pt x="241300" y="165100"/>
                </a:cubicBezTo>
                <a:cubicBezTo>
                  <a:pt x="241300" y="151081"/>
                  <a:pt x="252681" y="139700"/>
                  <a:pt x="266700" y="1397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2065000" y="46355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positive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learning experience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969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1250" y="6286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574800" y="615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Implication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74800" y="6477000"/>
            <a:ext cx="1358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designers should apply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principles simultaneously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choosing one. The combination creates a learning experience that feels genuinely conversational and socially engaging.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Synergistic Effects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zqhx7qzgd7uo/mnt/agents/output/multimedia_production/images/3_Student_Learning_Online_Headphones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5000"/>
                </a:srgbClr>
              </a:gs>
              <a:gs pos="60000">
                <a:srgbClr val="1A1A2E">
                  <a:alpha val="80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D494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191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44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Applications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Applying Personalization and Voice principles in real-world multimedia production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in E-Learning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strategies for e-learning course development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4333" y="17224"/>
                </a:moveTo>
                <a:cubicBezTo>
                  <a:pt x="356949" y="-159"/>
                  <a:pt x="328851" y="-159"/>
                  <a:pt x="311468" y="17224"/>
                </a:cubicBezTo>
                <a:lnTo>
                  <a:pt x="292100" y="36592"/>
                </a:lnTo>
                <a:lnTo>
                  <a:pt x="369808" y="114300"/>
                </a:lnTo>
                <a:lnTo>
                  <a:pt x="389176" y="94932"/>
                </a:lnTo>
                <a:cubicBezTo>
                  <a:pt x="406559" y="77549"/>
                  <a:pt x="406559" y="49451"/>
                  <a:pt x="389176" y="32067"/>
                </a:cubicBezTo>
                <a:lnTo>
                  <a:pt x="374333" y="17224"/>
                </a:lnTo>
                <a:close/>
                <a:moveTo>
                  <a:pt x="136843" y="191849"/>
                </a:moveTo>
                <a:cubicBezTo>
                  <a:pt x="132001" y="196691"/>
                  <a:pt x="128270" y="202644"/>
                  <a:pt x="126127" y="209232"/>
                </a:cubicBezTo>
                <a:lnTo>
                  <a:pt x="102632" y="279717"/>
                </a:lnTo>
                <a:cubicBezTo>
                  <a:pt x="100330" y="286544"/>
                  <a:pt x="102156" y="294084"/>
                  <a:pt x="107236" y="299244"/>
                </a:cubicBezTo>
                <a:cubicBezTo>
                  <a:pt x="112316" y="304403"/>
                  <a:pt x="119856" y="306149"/>
                  <a:pt x="126762" y="303848"/>
                </a:cubicBezTo>
                <a:lnTo>
                  <a:pt x="197247" y="280352"/>
                </a:lnTo>
                <a:cubicBezTo>
                  <a:pt x="203756" y="278209"/>
                  <a:pt x="209709" y="274479"/>
                  <a:pt x="214630" y="269637"/>
                </a:cubicBezTo>
                <a:lnTo>
                  <a:pt x="342900" y="141208"/>
                </a:lnTo>
                <a:lnTo>
                  <a:pt x="265192" y="63500"/>
                </a:lnTo>
                <a:lnTo>
                  <a:pt x="136843" y="191849"/>
                </a:lnTo>
                <a:close/>
                <a:moveTo>
                  <a:pt x="76200" y="50800"/>
                </a:moveTo>
                <a:cubicBezTo>
                  <a:pt x="34131" y="50800"/>
                  <a:pt x="0" y="84931"/>
                  <a:pt x="0" y="127000"/>
                </a:cubicBezTo>
                <a:lnTo>
                  <a:pt x="0" y="330200"/>
                </a:lnTo>
                <a:cubicBezTo>
                  <a:pt x="0" y="372269"/>
                  <a:pt x="34131" y="406400"/>
                  <a:pt x="76200" y="406400"/>
                </a:cubicBezTo>
                <a:lnTo>
                  <a:pt x="279400" y="406400"/>
                </a:lnTo>
                <a:cubicBezTo>
                  <a:pt x="321469" y="406400"/>
                  <a:pt x="355600" y="372269"/>
                  <a:pt x="355600" y="330200"/>
                </a:cubicBezTo>
                <a:lnTo>
                  <a:pt x="355600" y="254000"/>
                </a:lnTo>
                <a:cubicBezTo>
                  <a:pt x="355600" y="239951"/>
                  <a:pt x="344249" y="228600"/>
                  <a:pt x="330200" y="228600"/>
                </a:cubicBezTo>
                <a:cubicBezTo>
                  <a:pt x="316151" y="228600"/>
                  <a:pt x="304800" y="239951"/>
                  <a:pt x="304800" y="254000"/>
                </a:cubicBezTo>
                <a:lnTo>
                  <a:pt x="304800" y="330200"/>
                </a:lnTo>
                <a:cubicBezTo>
                  <a:pt x="304800" y="344249"/>
                  <a:pt x="293449" y="355600"/>
                  <a:pt x="279400" y="355600"/>
                </a:cubicBezTo>
                <a:lnTo>
                  <a:pt x="76200" y="355600"/>
                </a:lnTo>
                <a:cubicBezTo>
                  <a:pt x="62151" y="355600"/>
                  <a:pt x="50800" y="344249"/>
                  <a:pt x="50800" y="330200"/>
                </a:cubicBezTo>
                <a:lnTo>
                  <a:pt x="50800" y="127000"/>
                </a:lnTo>
                <a:cubicBezTo>
                  <a:pt x="50800" y="112951"/>
                  <a:pt x="62151" y="101600"/>
                  <a:pt x="76200" y="101600"/>
                </a:cubicBezTo>
                <a:lnTo>
                  <a:pt x="152400" y="101600"/>
                </a:lnTo>
                <a:cubicBezTo>
                  <a:pt x="166449" y="101600"/>
                  <a:pt x="177800" y="90249"/>
                  <a:pt x="177800" y="76200"/>
                </a:cubicBezTo>
                <a:cubicBezTo>
                  <a:pt x="177800" y="62151"/>
                  <a:pt x="166449" y="50800"/>
                  <a:pt x="152400" y="50800"/>
                </a:cubicBezTo>
                <a:lnTo>
                  <a:pt x="76200" y="508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574800" y="2006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 Writing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476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as if speaking to one learner directly. Use "you" and "your" throughout. Include encouraging statements.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778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0" y="2032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76200" y="76200"/>
                </a:moveTo>
                <a:cubicBezTo>
                  <a:pt x="76200" y="34131"/>
                  <a:pt x="110331" y="0"/>
                  <a:pt x="152400" y="0"/>
                </a:cubicBezTo>
                <a:cubicBezTo>
                  <a:pt x="192326" y="0"/>
                  <a:pt x="225108" y="30718"/>
                  <a:pt x="228362" y="69850"/>
                </a:cubicBezTo>
                <a:lnTo>
                  <a:pt x="184150" y="69850"/>
                </a:lnTo>
                <a:cubicBezTo>
                  <a:pt x="173593" y="69850"/>
                  <a:pt x="165100" y="78343"/>
                  <a:pt x="165100" y="88900"/>
                </a:cubicBezTo>
                <a:cubicBezTo>
                  <a:pt x="165100" y="99457"/>
                  <a:pt x="173593" y="107950"/>
                  <a:pt x="184150" y="107950"/>
                </a:cubicBezTo>
                <a:lnTo>
                  <a:pt x="228600" y="107950"/>
                </a:lnTo>
                <a:lnTo>
                  <a:pt x="228600" y="146050"/>
                </a:lnTo>
                <a:lnTo>
                  <a:pt x="184150" y="146050"/>
                </a:lnTo>
                <a:cubicBezTo>
                  <a:pt x="173593" y="146050"/>
                  <a:pt x="165100" y="154543"/>
                  <a:pt x="165100" y="165100"/>
                </a:cubicBezTo>
                <a:cubicBezTo>
                  <a:pt x="165100" y="175657"/>
                  <a:pt x="173593" y="184150"/>
                  <a:pt x="184150" y="184150"/>
                </a:cubicBezTo>
                <a:lnTo>
                  <a:pt x="228362" y="184150"/>
                </a:lnTo>
                <a:cubicBezTo>
                  <a:pt x="225107" y="223282"/>
                  <a:pt x="192405" y="254000"/>
                  <a:pt x="152400" y="254000"/>
                </a:cubicBezTo>
                <a:cubicBezTo>
                  <a:pt x="110331" y="254000"/>
                  <a:pt x="76200" y="219869"/>
                  <a:pt x="76200" y="177800"/>
                </a:cubicBezTo>
                <a:lnTo>
                  <a:pt x="76200" y="76200"/>
                </a:lnTo>
                <a:close/>
                <a:moveTo>
                  <a:pt x="19050" y="127000"/>
                </a:moveTo>
                <a:cubicBezTo>
                  <a:pt x="29607" y="127000"/>
                  <a:pt x="38100" y="135493"/>
                  <a:pt x="38100" y="146050"/>
                </a:cubicBezTo>
                <a:lnTo>
                  <a:pt x="38100" y="177800"/>
                </a:lnTo>
                <a:cubicBezTo>
                  <a:pt x="38100" y="240903"/>
                  <a:pt x="89297" y="292100"/>
                  <a:pt x="152400" y="292100"/>
                </a:cubicBezTo>
                <a:cubicBezTo>
                  <a:pt x="215503" y="292100"/>
                  <a:pt x="266700" y="240903"/>
                  <a:pt x="266700" y="177800"/>
                </a:cubicBezTo>
                <a:lnTo>
                  <a:pt x="266700" y="146050"/>
                </a:lnTo>
                <a:cubicBezTo>
                  <a:pt x="266700" y="135493"/>
                  <a:pt x="275193" y="127000"/>
                  <a:pt x="285750" y="127000"/>
                </a:cubicBezTo>
                <a:cubicBezTo>
                  <a:pt x="296307" y="127000"/>
                  <a:pt x="304800" y="135493"/>
                  <a:pt x="304800" y="146050"/>
                </a:cubicBezTo>
                <a:lnTo>
                  <a:pt x="304800" y="177800"/>
                </a:lnTo>
                <a:cubicBezTo>
                  <a:pt x="304800" y="255508"/>
                  <a:pt x="246618" y="319643"/>
                  <a:pt x="171450" y="329009"/>
                </a:cubicBezTo>
                <a:lnTo>
                  <a:pt x="171450" y="368300"/>
                </a:lnTo>
                <a:lnTo>
                  <a:pt x="209550" y="368300"/>
                </a:lnTo>
                <a:cubicBezTo>
                  <a:pt x="220107" y="368300"/>
                  <a:pt x="228600" y="376793"/>
                  <a:pt x="228600" y="387350"/>
                </a:cubicBezTo>
                <a:cubicBezTo>
                  <a:pt x="228600" y="397907"/>
                  <a:pt x="220107" y="406400"/>
                  <a:pt x="209550" y="406400"/>
                </a:cubicBezTo>
                <a:lnTo>
                  <a:pt x="95250" y="406400"/>
                </a:lnTo>
                <a:cubicBezTo>
                  <a:pt x="84693" y="406400"/>
                  <a:pt x="76200" y="397907"/>
                  <a:pt x="76200" y="387350"/>
                </a:cubicBezTo>
                <a:cubicBezTo>
                  <a:pt x="76200" y="376793"/>
                  <a:pt x="84693" y="368300"/>
                  <a:pt x="95250" y="368300"/>
                </a:cubicBezTo>
                <a:lnTo>
                  <a:pt x="133350" y="368300"/>
                </a:lnTo>
                <a:lnTo>
                  <a:pt x="133350" y="329009"/>
                </a:lnTo>
                <a:cubicBezTo>
                  <a:pt x="58182" y="319643"/>
                  <a:pt x="0" y="255508"/>
                  <a:pt x="0" y="177800"/>
                </a:cubicBezTo>
                <a:lnTo>
                  <a:pt x="0" y="146050"/>
                </a:lnTo>
                <a:cubicBezTo>
                  <a:pt x="0" y="135493"/>
                  <a:pt x="8493" y="127000"/>
                  <a:pt x="19050" y="1270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9194800" y="2006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Talent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476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Hire professional voice actors with warm, clear voices. Avoid synthetic voices. Consider cultural accent preferences.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83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1400" y="3937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574800" y="3911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Elements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381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conversational feedback ("Great job!" vs. "Correct"). Include virtual agents with human-like gestures.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683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6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1351" y="50800"/>
                  <a:pt x="0" y="62151"/>
                  <a:pt x="0" y="76200"/>
                </a:cubicBezTo>
                <a:cubicBezTo>
                  <a:pt x="0" y="90249"/>
                  <a:pt x="11351" y="101600"/>
                  <a:pt x="25400" y="101600"/>
                </a:cubicBezTo>
                <a:lnTo>
                  <a:pt x="94218" y="101600"/>
                </a:lnTo>
                <a:cubicBezTo>
                  <a:pt x="103981" y="124063"/>
                  <a:pt x="126365" y="139700"/>
                  <a:pt x="152400" y="139700"/>
                </a:cubicBezTo>
                <a:cubicBezTo>
                  <a:pt x="178435" y="139700"/>
                  <a:pt x="200819" y="124063"/>
                  <a:pt x="210582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210582" y="50800"/>
                </a:lnTo>
                <a:cubicBezTo>
                  <a:pt x="200819" y="28337"/>
                  <a:pt x="178435" y="12700"/>
                  <a:pt x="152400" y="12700"/>
                </a:cubicBezTo>
                <a:cubicBezTo>
                  <a:pt x="126365" y="12700"/>
                  <a:pt x="103981" y="28337"/>
                  <a:pt x="94218" y="50800"/>
                </a:cubicBezTo>
                <a:lnTo>
                  <a:pt x="25400" y="50800"/>
                </a:lnTo>
                <a:close/>
                <a:moveTo>
                  <a:pt x="25400" y="177800"/>
                </a:move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221218" y="228600"/>
                </a:lnTo>
                <a:cubicBezTo>
                  <a:pt x="230981" y="251063"/>
                  <a:pt x="253365" y="266700"/>
                  <a:pt x="279400" y="266700"/>
                </a:cubicBezTo>
                <a:cubicBezTo>
                  <a:pt x="305435" y="266700"/>
                  <a:pt x="327819" y="251063"/>
                  <a:pt x="337582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337582" y="177800"/>
                </a:lnTo>
                <a:cubicBezTo>
                  <a:pt x="327819" y="155337"/>
                  <a:pt x="305435" y="139700"/>
                  <a:pt x="279400" y="139700"/>
                </a:cubicBezTo>
                <a:cubicBezTo>
                  <a:pt x="253365" y="139700"/>
                  <a:pt x="230981" y="155337"/>
                  <a:pt x="221218" y="177800"/>
                </a:cubicBezTo>
                <a:lnTo>
                  <a:pt x="25400" y="177800"/>
                </a:lnTo>
                <a:close/>
                <a:moveTo>
                  <a:pt x="25400" y="304800"/>
                </a:moveTo>
                <a:cubicBezTo>
                  <a:pt x="11351" y="304800"/>
                  <a:pt x="0" y="316151"/>
                  <a:pt x="0" y="330200"/>
                </a:cubicBezTo>
                <a:cubicBezTo>
                  <a:pt x="0" y="344249"/>
                  <a:pt x="11351" y="355600"/>
                  <a:pt x="25400" y="355600"/>
                </a:cubicBezTo>
                <a:lnTo>
                  <a:pt x="68818" y="355600"/>
                </a:lnTo>
                <a:cubicBezTo>
                  <a:pt x="78581" y="378063"/>
                  <a:pt x="100965" y="393700"/>
                  <a:pt x="127000" y="393700"/>
                </a:cubicBezTo>
                <a:cubicBezTo>
                  <a:pt x="153035" y="393700"/>
                  <a:pt x="175419" y="378063"/>
                  <a:pt x="185182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85182" y="304800"/>
                </a:lnTo>
                <a:cubicBezTo>
                  <a:pt x="175419" y="282337"/>
                  <a:pt x="153035" y="266700"/>
                  <a:pt x="127000" y="266700"/>
                </a:cubicBezTo>
                <a:cubicBezTo>
                  <a:pt x="100965" y="266700"/>
                  <a:pt x="78581" y="282337"/>
                  <a:pt x="68818" y="304800"/>
                </a:cubicBezTo>
                <a:lnTo>
                  <a:pt x="25400" y="30480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9194800" y="3911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Features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4381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 learner-paced navigation (Segmenting). Provide pre-training for complex terminology (Pre-training).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715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E6F0E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6800" y="599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1574800" y="58420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Personalization and Voice with other multimedia principles (Segmenting, Pre-training, Modality) for a comprehensive, learner-centered e-learning experience.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E-Learning Applications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in Video &amp; Audio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Guidelines for multimedia production professionals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68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PRE-PRODUCTION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66800" y="2349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101600" y="203200"/>
                </a:move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ubicBezTo>
                  <a:pt x="90219" y="228600"/>
                  <a:pt x="101600" y="217219"/>
                  <a:pt x="101600" y="203200"/>
                </a:cubicBezTo>
                <a:close/>
                <a:moveTo>
                  <a:pt x="127000" y="203200"/>
                </a:moveTo>
                <a:cubicBezTo>
                  <a:pt x="127000" y="213757"/>
                  <a:pt x="135493" y="222250"/>
                  <a:pt x="146050" y="222250"/>
                </a:cubicBezTo>
                <a:lnTo>
                  <a:pt x="234950" y="222250"/>
                </a:lnTo>
                <a:cubicBezTo>
                  <a:pt x="245507" y="222250"/>
                  <a:pt x="254000" y="213757"/>
                  <a:pt x="254000" y="203200"/>
                </a:cubicBezTo>
                <a:cubicBezTo>
                  <a:pt x="254000" y="192643"/>
                  <a:pt x="245507" y="184150"/>
                  <a:pt x="234950" y="184150"/>
                </a:cubicBezTo>
                <a:lnTo>
                  <a:pt x="146050" y="184150"/>
                </a:lnTo>
                <a:cubicBezTo>
                  <a:pt x="135493" y="184150"/>
                  <a:pt x="127000" y="192643"/>
                  <a:pt x="127000" y="203200"/>
                </a:cubicBezTo>
                <a:close/>
                <a:moveTo>
                  <a:pt x="127000" y="304800"/>
                </a:moveTo>
                <a:cubicBezTo>
                  <a:pt x="127000" y="315357"/>
                  <a:pt x="135493" y="323850"/>
                  <a:pt x="146050" y="323850"/>
                </a:cubicBezTo>
                <a:lnTo>
                  <a:pt x="234950" y="323850"/>
                </a:lnTo>
                <a:cubicBezTo>
                  <a:pt x="245507" y="323850"/>
                  <a:pt x="254000" y="315357"/>
                  <a:pt x="254000" y="304800"/>
                </a:cubicBezTo>
                <a:cubicBezTo>
                  <a:pt x="254000" y="294243"/>
                  <a:pt x="245507" y="285750"/>
                  <a:pt x="234950" y="285750"/>
                </a:cubicBezTo>
                <a:lnTo>
                  <a:pt x="146050" y="285750"/>
                </a:lnTo>
                <a:cubicBezTo>
                  <a:pt x="135493" y="285750"/>
                  <a:pt x="127000" y="294243"/>
                  <a:pt x="127000" y="304800"/>
                </a:cubicBezTo>
                <a:close/>
                <a:moveTo>
                  <a:pt x="76200" y="330200"/>
                </a:moveTo>
                <a:cubicBezTo>
                  <a:pt x="90219" y="330200"/>
                  <a:pt x="101600" y="318819"/>
                  <a:pt x="101600" y="304800"/>
                </a:cubicBezTo>
                <a:cubicBezTo>
                  <a:pt x="101600" y="290781"/>
                  <a:pt x="90219" y="279400"/>
                  <a:pt x="76200" y="279400"/>
                </a:cubicBezTo>
                <a:cubicBezTo>
                  <a:pt x="62181" y="279400"/>
                  <a:pt x="50800" y="290781"/>
                  <a:pt x="50800" y="304800"/>
                </a:cubicBezTo>
                <a:cubicBezTo>
                  <a:pt x="50800" y="318819"/>
                  <a:pt x="62181" y="330200"/>
                  <a:pt x="76200" y="3302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95600"/>
            <a:ext cx="292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conversational scripts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for natural delivery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overly formal language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direct address to viewer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3429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826000" y="1778000"/>
            <a:ext cx="3429000" cy="3746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0" y="1968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30800" y="2349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52400" y="0"/>
                </a:moveTo>
                <a:cubicBezTo>
                  <a:pt x="110331" y="0"/>
                  <a:pt x="76200" y="34131"/>
                  <a:pt x="76200" y="76200"/>
                </a:cubicBezTo>
                <a:lnTo>
                  <a:pt x="76200" y="177800"/>
                </a:lnTo>
                <a:cubicBezTo>
                  <a:pt x="76200" y="219869"/>
                  <a:pt x="110331" y="254000"/>
                  <a:pt x="152400" y="254000"/>
                </a:cubicBezTo>
                <a:cubicBezTo>
                  <a:pt x="194469" y="254000"/>
                  <a:pt x="228600" y="219869"/>
                  <a:pt x="228600" y="177800"/>
                </a:cubicBezTo>
                <a:lnTo>
                  <a:pt x="228600" y="76200"/>
                </a:lnTo>
                <a:cubicBezTo>
                  <a:pt x="228600" y="34131"/>
                  <a:pt x="194469" y="0"/>
                  <a:pt x="152400" y="0"/>
                </a:cubicBezTo>
                <a:close/>
                <a:moveTo>
                  <a:pt x="38100" y="146050"/>
                </a:moveTo>
                <a:cubicBezTo>
                  <a:pt x="38100" y="135493"/>
                  <a:pt x="29607" y="127000"/>
                  <a:pt x="19050" y="127000"/>
                </a:cubicBezTo>
                <a:cubicBezTo>
                  <a:pt x="8493" y="127000"/>
                  <a:pt x="0" y="135493"/>
                  <a:pt x="0" y="146050"/>
                </a:cubicBezTo>
                <a:lnTo>
                  <a:pt x="0" y="177800"/>
                </a:lnTo>
                <a:cubicBezTo>
                  <a:pt x="0" y="255508"/>
                  <a:pt x="58182" y="319643"/>
                  <a:pt x="133350" y="329009"/>
                </a:cubicBezTo>
                <a:lnTo>
                  <a:pt x="13335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209550" y="406400"/>
                </a:lnTo>
                <a:cubicBezTo>
                  <a:pt x="220107" y="406400"/>
                  <a:pt x="228600" y="397907"/>
                  <a:pt x="228600" y="387350"/>
                </a:cubicBezTo>
                <a:cubicBezTo>
                  <a:pt x="228600" y="376793"/>
                  <a:pt x="220107" y="368300"/>
                  <a:pt x="209550" y="368300"/>
                </a:cubicBezTo>
                <a:lnTo>
                  <a:pt x="171450" y="368300"/>
                </a:lnTo>
                <a:lnTo>
                  <a:pt x="171450" y="329009"/>
                </a:lnTo>
                <a:cubicBezTo>
                  <a:pt x="246618" y="319643"/>
                  <a:pt x="304800" y="255508"/>
                  <a:pt x="304800" y="177800"/>
                </a:cubicBezTo>
                <a:lnTo>
                  <a:pt x="304800" y="146050"/>
                </a:lnTo>
                <a:cubicBezTo>
                  <a:pt x="304800" y="135493"/>
                  <a:pt x="296307" y="127000"/>
                  <a:pt x="285750" y="127000"/>
                </a:cubicBezTo>
                <a:cubicBezTo>
                  <a:pt x="275193" y="127000"/>
                  <a:pt x="266700" y="135493"/>
                  <a:pt x="266700" y="146050"/>
                </a:cubicBezTo>
                <a:lnTo>
                  <a:pt x="266700" y="177800"/>
                </a:lnTo>
                <a:cubicBezTo>
                  <a:pt x="266700" y="240903"/>
                  <a:pt x="215503" y="292100"/>
                  <a:pt x="152400" y="292100"/>
                </a:cubicBezTo>
                <a:cubicBezTo>
                  <a:pt x="89297" y="292100"/>
                  <a:pt x="38100" y="240903"/>
                  <a:pt x="38100" y="177800"/>
                </a:cubicBezTo>
                <a:lnTo>
                  <a:pt x="38100" y="1460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80000" y="2895600"/>
            <a:ext cx="292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high-quality microphones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in treated acoustic spaces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narrators to speak as if to a friend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429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890000" y="1778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8B5E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968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POST-PRODUCTION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18600" y="2349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895600"/>
            <a:ext cx="292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 for natural pacing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awkward pauses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natural breaths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consistent volume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446000" y="3429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954000" y="1778000"/>
            <a:ext cx="2540000" cy="355600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/>
        </p:spPr>
      </p:sp>
      <p:sp>
        <p:nvSpPr>
          <p:cNvPr id="21" name="Text 19"/>
          <p:cNvSpPr/>
          <p:nvPr/>
        </p:nvSpPr>
        <p:spPr>
          <a:xfrm>
            <a:off x="13208000" y="19685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258800" y="2349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98358" y="53022"/>
                </a:moveTo>
                <a:cubicBezTo>
                  <a:pt x="206613" y="41672"/>
                  <a:pt x="204073" y="25797"/>
                  <a:pt x="192723" y="17542"/>
                </a:cubicBezTo>
                <a:cubicBezTo>
                  <a:pt x="181372" y="9287"/>
                  <a:pt x="165497" y="11827"/>
                  <a:pt x="157242" y="23177"/>
                </a:cubicBezTo>
                <a:lnTo>
                  <a:pt x="73104" y="138827"/>
                </a:lnTo>
                <a:lnTo>
                  <a:pt x="43339" y="109061"/>
                </a:lnTo>
                <a:cubicBezTo>
                  <a:pt x="33417" y="99139"/>
                  <a:pt x="17304" y="99139"/>
                  <a:pt x="7382" y="109061"/>
                </a:cubicBezTo>
                <a:cubicBezTo>
                  <a:pt x="-2540" y="118983"/>
                  <a:pt x="-2540" y="135096"/>
                  <a:pt x="7382" y="145018"/>
                </a:cubicBezTo>
                <a:lnTo>
                  <a:pt x="58182" y="195818"/>
                </a:lnTo>
                <a:cubicBezTo>
                  <a:pt x="63421" y="201057"/>
                  <a:pt x="70723" y="203756"/>
                  <a:pt x="78105" y="203200"/>
                </a:cubicBezTo>
                <a:cubicBezTo>
                  <a:pt x="85487" y="202644"/>
                  <a:pt x="92313" y="198834"/>
                  <a:pt x="96679" y="192802"/>
                </a:cubicBezTo>
                <a:lnTo>
                  <a:pt x="198279" y="53102"/>
                </a:lnTo>
                <a:close/>
                <a:moveTo>
                  <a:pt x="299958" y="160973"/>
                </a:moveTo>
                <a:cubicBezTo>
                  <a:pt x="308213" y="149622"/>
                  <a:pt x="305673" y="133747"/>
                  <a:pt x="294322" y="125492"/>
                </a:cubicBezTo>
                <a:cubicBezTo>
                  <a:pt x="282972" y="117237"/>
                  <a:pt x="267097" y="119777"/>
                  <a:pt x="258842" y="131128"/>
                </a:cubicBezTo>
                <a:lnTo>
                  <a:pt x="123904" y="316627"/>
                </a:lnTo>
                <a:lnTo>
                  <a:pt x="68739" y="261461"/>
                </a:lnTo>
                <a:cubicBezTo>
                  <a:pt x="58817" y="251539"/>
                  <a:pt x="42704" y="251539"/>
                  <a:pt x="32782" y="261461"/>
                </a:cubicBezTo>
                <a:cubicBezTo>
                  <a:pt x="22860" y="271383"/>
                  <a:pt x="22860" y="287496"/>
                  <a:pt x="32782" y="297418"/>
                </a:cubicBezTo>
                <a:lnTo>
                  <a:pt x="108982" y="373618"/>
                </a:lnTo>
                <a:cubicBezTo>
                  <a:pt x="114221" y="378857"/>
                  <a:pt x="121523" y="381556"/>
                  <a:pt x="128905" y="381000"/>
                </a:cubicBezTo>
                <a:cubicBezTo>
                  <a:pt x="136287" y="380444"/>
                  <a:pt x="143113" y="376634"/>
                  <a:pt x="147479" y="370602"/>
                </a:cubicBezTo>
                <a:lnTo>
                  <a:pt x="299879" y="1610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3208000" y="2895600"/>
            <a:ext cx="203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learners review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with target audience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human vs. machine voice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715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6F0E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6800" y="594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5041" y="4862"/>
                </a:moveTo>
                <a:cubicBezTo>
                  <a:pt x="330319" y="9098"/>
                  <a:pt x="333375" y="15488"/>
                  <a:pt x="333375" y="22225"/>
                </a:cubicBezTo>
                <a:lnTo>
                  <a:pt x="333375" y="233363"/>
                </a:lnTo>
                <a:cubicBezTo>
                  <a:pt x="333375" y="264061"/>
                  <a:pt x="303510" y="288925"/>
                  <a:pt x="266700" y="288925"/>
                </a:cubicBezTo>
                <a:cubicBezTo>
                  <a:pt x="229890" y="288925"/>
                  <a:pt x="200025" y="264061"/>
                  <a:pt x="200025" y="233363"/>
                </a:cubicBezTo>
                <a:cubicBezTo>
                  <a:pt x="200025" y="202664"/>
                  <a:pt x="229890" y="177800"/>
                  <a:pt x="266700" y="177800"/>
                </a:cubicBezTo>
                <a:cubicBezTo>
                  <a:pt x="274479" y="177800"/>
                  <a:pt x="281980" y="178911"/>
                  <a:pt x="288925" y="180995"/>
                </a:cubicBezTo>
                <a:lnTo>
                  <a:pt x="288925" y="99943"/>
                </a:lnTo>
                <a:lnTo>
                  <a:pt x="133350" y="134531"/>
                </a:lnTo>
                <a:lnTo>
                  <a:pt x="133350" y="277813"/>
                </a:lnTo>
                <a:cubicBezTo>
                  <a:pt x="133350" y="308511"/>
                  <a:pt x="103485" y="333375"/>
                  <a:pt x="66675" y="333375"/>
                </a:cubicBezTo>
                <a:cubicBezTo>
                  <a:pt x="29865" y="333375"/>
                  <a:pt x="0" y="308511"/>
                  <a:pt x="0" y="277813"/>
                </a:cubicBezTo>
                <a:cubicBezTo>
                  <a:pt x="0" y="247114"/>
                  <a:pt x="29865" y="222250"/>
                  <a:pt x="66675" y="222250"/>
                </a:cubicBezTo>
                <a:cubicBezTo>
                  <a:pt x="74454" y="222250"/>
                  <a:pt x="81955" y="223361"/>
                  <a:pt x="88900" y="225445"/>
                </a:cubicBezTo>
                <a:lnTo>
                  <a:pt x="88900" y="66675"/>
                </a:lnTo>
                <a:cubicBezTo>
                  <a:pt x="88900" y="56257"/>
                  <a:pt x="96123" y="47228"/>
                  <a:pt x="106333" y="45006"/>
                </a:cubicBezTo>
                <a:lnTo>
                  <a:pt x="306358" y="556"/>
                </a:lnTo>
                <a:cubicBezTo>
                  <a:pt x="312956" y="-903"/>
                  <a:pt x="319832" y="695"/>
                  <a:pt x="325110" y="493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1574800" y="5842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Note: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subtle background music only if it supports learning (Coherence Principle). When in doubt, leave it out — narration quality matters far more than background effects.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Video &amp; Audio Production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in Presentation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200" y="11684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Applying the principles to live and recorded presentations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565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conversational language in slide text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direct address to audience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bullet points that read like formal reports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77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918200" y="2032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52400" y="63500"/>
                </a:moveTo>
                <a:cubicBezTo>
                  <a:pt x="176933" y="63500"/>
                  <a:pt x="196850" y="43583"/>
                  <a:pt x="196850" y="19050"/>
                </a:cubicBezTo>
                <a:cubicBezTo>
                  <a:pt x="196850" y="-5483"/>
                  <a:pt x="176933" y="-25400"/>
                  <a:pt x="152400" y="-25400"/>
                </a:cubicBezTo>
                <a:cubicBezTo>
                  <a:pt x="127867" y="-25400"/>
                  <a:pt x="107950" y="-5483"/>
                  <a:pt x="107950" y="19050"/>
                </a:cubicBezTo>
                <a:cubicBezTo>
                  <a:pt x="107950" y="43583"/>
                  <a:pt x="127867" y="63500"/>
                  <a:pt x="152400" y="63500"/>
                </a:cubicBezTo>
                <a:close/>
                <a:moveTo>
                  <a:pt x="139700" y="406400"/>
                </a:moveTo>
                <a:lnTo>
                  <a:pt x="139700" y="279400"/>
                </a:lnTo>
                <a:cubicBezTo>
                  <a:pt x="139700" y="272415"/>
                  <a:pt x="145415" y="266700"/>
                  <a:pt x="152400" y="266700"/>
                </a:cubicBezTo>
                <a:cubicBezTo>
                  <a:pt x="159385" y="266700"/>
                  <a:pt x="165100" y="272415"/>
                  <a:pt x="165100" y="279400"/>
                </a:cubicBezTo>
                <a:lnTo>
                  <a:pt x="165100" y="406400"/>
                </a:lnTo>
                <a:cubicBezTo>
                  <a:pt x="165100" y="420449"/>
                  <a:pt x="176451" y="431800"/>
                  <a:pt x="190500" y="431800"/>
                </a:cubicBezTo>
                <a:cubicBezTo>
                  <a:pt x="204549" y="431800"/>
                  <a:pt x="215900" y="420449"/>
                  <a:pt x="215900" y="406400"/>
                </a:cubicBezTo>
                <a:lnTo>
                  <a:pt x="215900" y="139700"/>
                </a:lnTo>
                <a:lnTo>
                  <a:pt x="317500" y="139700"/>
                </a:lnTo>
                <a:cubicBezTo>
                  <a:pt x="331549" y="139700"/>
                  <a:pt x="342900" y="128349"/>
                  <a:pt x="342900" y="114300"/>
                </a:cubicBezTo>
                <a:cubicBezTo>
                  <a:pt x="342900" y="100251"/>
                  <a:pt x="331549" y="88900"/>
                  <a:pt x="317500" y="88900"/>
                </a:cubicBezTo>
                <a:lnTo>
                  <a:pt x="304800" y="88900"/>
                </a:lnTo>
                <a:lnTo>
                  <a:pt x="304800" y="50800"/>
                </a:lnTo>
                <a:lnTo>
                  <a:pt x="457200" y="50800"/>
                </a:lnTo>
                <a:lnTo>
                  <a:pt x="457200" y="203200"/>
                </a:lnTo>
                <a:lnTo>
                  <a:pt x="304800" y="203200"/>
                </a:lnTo>
                <a:lnTo>
                  <a:pt x="304800" y="177800"/>
                </a:lnTo>
                <a:lnTo>
                  <a:pt x="254000" y="177800"/>
                </a:lnTo>
                <a:lnTo>
                  <a:pt x="254000" y="215900"/>
                </a:lnTo>
                <a:cubicBezTo>
                  <a:pt x="254000" y="236934"/>
                  <a:pt x="271066" y="254000"/>
                  <a:pt x="292100" y="254000"/>
                </a:cubicBezTo>
                <a:lnTo>
                  <a:pt x="469900" y="254000"/>
                </a:lnTo>
                <a:cubicBezTo>
                  <a:pt x="490934" y="254000"/>
                  <a:pt x="508000" y="236934"/>
                  <a:pt x="508000" y="215900"/>
                </a:cubicBezTo>
                <a:lnTo>
                  <a:pt x="508000" y="38100"/>
                </a:lnTo>
                <a:cubicBezTo>
                  <a:pt x="508000" y="17066"/>
                  <a:pt x="490934" y="0"/>
                  <a:pt x="469900" y="0"/>
                </a:cubicBezTo>
                <a:lnTo>
                  <a:pt x="292100" y="0"/>
                </a:lnTo>
                <a:cubicBezTo>
                  <a:pt x="271066" y="0"/>
                  <a:pt x="254000" y="17066"/>
                  <a:pt x="254000" y="38100"/>
                </a:cubicBezTo>
                <a:lnTo>
                  <a:pt x="254000" y="88900"/>
                </a:lnTo>
                <a:lnTo>
                  <a:pt x="156607" y="88900"/>
                </a:lnTo>
                <a:cubicBezTo>
                  <a:pt x="120412" y="88900"/>
                  <a:pt x="86360" y="106045"/>
                  <a:pt x="64849" y="135096"/>
                </a:cubicBezTo>
                <a:lnTo>
                  <a:pt x="11351" y="207089"/>
                </a:lnTo>
                <a:cubicBezTo>
                  <a:pt x="3016" y="218361"/>
                  <a:pt x="5318" y="234236"/>
                  <a:pt x="16589" y="242649"/>
                </a:cubicBezTo>
                <a:cubicBezTo>
                  <a:pt x="27861" y="251063"/>
                  <a:pt x="43736" y="248682"/>
                  <a:pt x="52149" y="237411"/>
                </a:cubicBezTo>
                <a:lnTo>
                  <a:pt x="88900" y="187881"/>
                </a:lnTo>
                <a:lnTo>
                  <a:pt x="88900" y="406400"/>
                </a:lnTo>
                <a:cubicBezTo>
                  <a:pt x="88900" y="420449"/>
                  <a:pt x="100251" y="431800"/>
                  <a:pt x="114300" y="431800"/>
                </a:cubicBezTo>
                <a:cubicBezTo>
                  <a:pt x="128349" y="431800"/>
                  <a:pt x="139700" y="420449"/>
                  <a:pt x="139700" y="406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2565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Delivery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984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 naturally, not word-for-word from script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eye contact with the audience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Vary vocal tone and pace for emphasis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78000"/>
            <a:ext cx="4826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96600" y="203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25654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Recorded Presentations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9845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your own voice rather than text-to-speech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in a quiet environment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for natural, conversational delivery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16500"/>
            <a:ext cx="14732000" cy="1524000"/>
          </a:xfrm>
          <a:prstGeom prst="roundRect">
            <a:avLst>
              <a:gd name="adj" fmla="val 8000"/>
            </a:avLst>
          </a:prstGeom>
          <a:solidFill>
            <a:srgbClr val="E6F0E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5397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574800" y="527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Handouts &amp; Supplementary Materials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74800" y="5689600"/>
            <a:ext cx="1366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supplementary materials in the same conversational style. Include reflective questions for learners to encourage active engagement with the content.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Presentation Design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zqhx7qzgd7uo/mnt/agents/output/multimedia_production/images/9_Advancing_Education_with_Technology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3000"/>
                </a:srgbClr>
              </a:gs>
              <a:gs pos="50000">
                <a:srgbClr val="1A1A2E">
                  <a:alpha val="87000"/>
                </a:srgbClr>
              </a:gs>
              <a:gs pos="100000">
                <a:srgbClr val="1A1A2E">
                  <a:alpha val="8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1016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14605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We've Learned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75500" y="2286000"/>
            <a:ext cx="190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2667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2794000"/>
            <a:ext cx="152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1.55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800" y="3403600"/>
            <a:ext cx="6502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Personalization Principle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" y="37846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conversational style — "you," "your," "we" — to create social presence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82000" y="2667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686800" y="2794000"/>
            <a:ext cx="152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3403600"/>
            <a:ext cx="6502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Voice Principle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0" y="37846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friendly human voice rather than machine voice for narration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48260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16" name="Text 13"/>
          <p:cNvSpPr/>
          <p:nvPr/>
        </p:nvSpPr>
        <p:spPr>
          <a:xfrm>
            <a:off x="1066800" y="48260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Together: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principles foster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processing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activating the learner's social conversation schema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88000" y="62230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032000" y="654050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when multimedia messages are designed in ways consistent with how the human mind works."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0" y="74295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18000" y="8255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 · Week 8 · Lessons 15 &amp;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&amp; Techniques for Managing Essential Processing</dc:title>
  <dc:subject>Principles &amp; Techniques for Managing Essential Processing</dc:subject>
  <dc:creator>Kimi</dc:creator>
  <cp:lastModifiedBy>Kimi</cp:lastModifiedBy>
  <cp:revision>1</cp:revision>
  <dcterms:created xsi:type="dcterms:W3CDTF">2026-05-26T11:32:29Z</dcterms:created>
  <dcterms:modified xsi:type="dcterms:W3CDTF">2026-05-26T11:32:29Z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{"Label":"Principles &amp; Techniques for Managing Essential Processing","ContentProducer":"001191110108MACG2KBH8F10000","ProduceID":"19e63fc6-ccf2-80e1-8000-00007ea03161","ReservedCode1":"","ContentPropagator":"001191110108MACG2KBH8F20000","PropagateID":"19e63fc6-ccf2-80e1-8000-00007ea03161","ReservedCode2":""}</vt:lpwstr>
  </property>
</Properties>
</file>