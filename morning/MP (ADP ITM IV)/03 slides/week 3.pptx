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charts/chart1.xml" ContentType="application/vnd.openxmlformats-officedocument.drawingml.chart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6256000" cy="9144000"/>
  <p:notesSz cx="9144000" cy="16256000"/>
  <p:embeddedFontLst>
    <p:embeddedFont>
      <p:font typeface="Quattrocento Sans" charset="-122" pitchFamily="34"/>
      <p:regular r:id="rId39"/>
    </p:embeddedFont>
    <p:embeddedFont>
      <p:font typeface="Liter" charset="-122" pitchFamily="34"/>
      <p:regular r:id="rId4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Relationship Id="rId39" Type="http://schemas.openxmlformats.org/officeDocument/2006/relationships/font" Target="fonts/font1.fntdata"/><Relationship Id="rId40" Type="http://schemas.openxmlformats.org/officeDocument/2006/relationships/font" Target="fonts/font2.fntdata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Response Time</c:v>
                </c:pt>
              </c:strCache>
            </c:strRef>
          </c:tx>
          <c:spPr>
            <a:solidFill>
              <a:srgbClr val="1A5F6E"/>
            </a:solidFill>
            <a:ln w="25400" cap="flat">
              <a:solidFill>
                <a:srgbClr val="1A5F6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A5F6E"/>
              </a:solidFill>
              <a:ln w="9525" cap="flat">
                <a:solidFill>
                  <a:srgbClr val="1A5F6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</c:v>
                  </c:pt>
                  <c:pt idx="1">
                    <c:v>5</c:v>
                  </c:pt>
                  <c:pt idx="2">
                    <c:v>10</c:v>
                  </c:pt>
                  <c:pt idx="3">
                    <c:v>20</c:v>
                  </c:pt>
                  <c:pt idx="4">
                    <c:v>50</c:v>
                  </c:pt>
                  <c:pt idx="5">
                    <c:v>100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100</c:v>
                </c:pt>
                <c:pt idx="1">
                  <c:v>65</c:v>
                </c:pt>
                <c:pt idx="2">
                  <c:v>45</c:v>
                </c:pt>
                <c:pt idx="3">
                  <c:v>30</c:v>
                </c:pt>
                <c:pt idx="4">
                  <c:v>18</c:v>
                </c:pt>
                <c:pt idx="5">
                  <c:v>12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Practice Trials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0e0e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Response Time (arbitrary units)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swua77wo7otzg/mnt/agents/output/multimedia_production_w3/images/9_Free_Neural_Network_Visualization.png">    </p:cNvPr>
          <p:cNvPicPr>
            <a:picLocks noChangeAspect="1"/>
          </p:cNvPicPr>
          <p:nvPr/>
        </p:nvPicPr>
        <p:blipFill>
          <a:blip r:embed="rId1"/>
          <a:srcRect l="0" r="0" t="21875" b="21875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63D47">
                  <a:alpha val="94000"/>
                </a:srgbClr>
              </a:gs>
              <a:gs pos="55000">
                <a:srgbClr val="163D47">
                  <a:alpha val="82000"/>
                </a:srgbClr>
              </a:gs>
              <a:gs pos="100000">
                <a:srgbClr val="163D47">
                  <a:alpha val="50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762000" y="762000"/>
            <a:ext cx="1016000" cy="508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Text 2"/>
          <p:cNvSpPr/>
          <p:nvPr/>
        </p:nvSpPr>
        <p:spPr>
          <a:xfrm>
            <a:off x="762000" y="1016000"/>
            <a:ext cx="635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MULTIMEDIA PRODUCTION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62000" y="1778000"/>
            <a:ext cx="8890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5000"/>
              </a:lnSpc>
            </a:pPr>
            <a:r>
              <a:rPr lang="en-US" sz="4600" spc="4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IMPLICATION OF THEORIES</a:t>
            </a:r>
            <a:endParaRPr lang="en-US" sz="4000" dirty="0"/>
          </a:p>
          <a:p>
            <a:pPr>
              <a:lnSpc>
                <a:spcPct val="125000"/>
              </a:lnSpc>
            </a:pPr>
            <a:r>
              <a:rPr lang="en-US" sz="4600" spc="4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AND INTEGRATED MODELS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762000" y="3683000"/>
            <a:ext cx="787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Understanding How Cognitive Science Shapes Instructional Design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62000" y="4318000"/>
            <a:ext cx="2540000" cy="25400"/>
          </a:xfrm>
          <a:prstGeom prst="rect">
            <a:avLst/>
          </a:prstGeom>
          <a:solidFill>
            <a:srgbClr val="FFFFFF">
              <a:alpha val="31373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762000" y="45720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 3 — Lectures 5 &amp; 6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62000" y="8382000"/>
            <a:ext cx="14732000" cy="38100"/>
          </a:xfrm>
          <a:prstGeom prst="rect">
            <a:avLst/>
          </a:prstGeom>
          <a:solidFill>
            <a:srgbClr val="D4943A">
              <a:alpha val="37647"/>
            </a:srgbClr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1A5F6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635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400" kern="0" dirty="0">
                <a:solidFill>
                  <a:srgbClr val="1A5F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CONTENTS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62000" y="1079500"/>
            <a:ext cx="508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600" dirty="0">
                <a:solidFill>
                  <a:srgbClr val="1A5F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Learning Roadmap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905000"/>
            <a:ext cx="762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2413000"/>
            <a:ext cx="101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8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905000" y="24765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2B2B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Cognitive Load Theory &amp; Multimedia Learning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905000" y="2895600"/>
            <a:ext cx="660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Understanding working memory limitations and evidence-based design principles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62000" y="3429000"/>
            <a:ext cx="7620000" cy="12700"/>
          </a:xfrm>
          <a:prstGeom prst="rect">
            <a:avLst/>
          </a:prstGeom>
          <a:solidFill>
            <a:srgbClr val="D4CFC6"/>
          </a:solidFill>
          <a:ln/>
        </p:spPr>
      </p:sp>
      <p:sp>
        <p:nvSpPr>
          <p:cNvPr id="10" name="Text 8"/>
          <p:cNvSpPr/>
          <p:nvPr/>
        </p:nvSpPr>
        <p:spPr>
          <a:xfrm>
            <a:off x="762000" y="3810000"/>
            <a:ext cx="101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8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905000" y="38735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2B2B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Integrated Models of Text &amp; Picture Comprehension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905000" y="4292600"/>
            <a:ext cx="635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How descriptive and depictive representations work together in learning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62000" y="4826000"/>
            <a:ext cx="7620000" cy="12700"/>
          </a:xfrm>
          <a:prstGeom prst="rect">
            <a:avLst/>
          </a:prstGeom>
          <a:solidFill>
            <a:srgbClr val="D4CFC6"/>
          </a:solidFill>
          <a:ln/>
        </p:spPr>
      </p:sp>
      <p:sp>
        <p:nvSpPr>
          <p:cNvPr id="14" name="Text 12"/>
          <p:cNvSpPr/>
          <p:nvPr/>
        </p:nvSpPr>
        <p:spPr>
          <a:xfrm>
            <a:off x="762000" y="5207000"/>
            <a:ext cx="101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8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905000" y="52705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2B2B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Four-Component Instructional Design Model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905000" y="5689600"/>
            <a:ext cx="635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systematic blueprint for designing instruction for complex learning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62000" y="6223000"/>
            <a:ext cx="7620000" cy="12700"/>
          </a:xfrm>
          <a:prstGeom prst="rect">
            <a:avLst/>
          </a:prstGeom>
          <a:solidFill>
            <a:srgbClr val="D4CFC6"/>
          </a:solidFill>
          <a:ln/>
        </p:spPr>
      </p:sp>
      <p:pic>
        <p:nvPicPr>
          <p:cNvPr id="18" name="Image 0" descr="https://kimi-img.moonshot.cn/pub/slides/okc/swua77wo7otzg/mnt/agents/output/multimedia_production_w3/images/6_Open_Antique_Book_with_Glowing_Pages.png">    </p:cNvPr>
          <p:cNvPicPr>
            <a:picLocks noChangeAspect="1"/>
          </p:cNvPicPr>
          <p:nvPr/>
        </p:nvPicPr>
        <p:blipFill>
          <a:blip r:embed="rId1"/>
          <a:srcRect l="0" r="0" t="7128" b="7128"/>
          <a:stretch/>
        </p:blipFill>
        <p:spPr>
          <a:xfrm>
            <a:off x="9525000" y="635000"/>
            <a:ext cx="5969000" cy="7874000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9525000" y="635000"/>
            <a:ext cx="5969000" cy="7874000"/>
          </a:xfrm>
          <a:prstGeom prst="rect">
            <a:avLst/>
          </a:prstGeom>
          <a:gradFill rotWithShape="1" flip="none">
            <a:gsLst>
              <a:gs pos="0">
                <a:srgbClr val="F5F3EF"/>
              </a:gs>
              <a:gs pos="30000">
                <a:srgbClr val="F5F3EF">
                  <a:alpha val="0"/>
                </a:srgbClr>
              </a:gs>
              <a:gs pos="100000">
                <a:srgbClr val="F5F3EF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20" name="Text 17"/>
          <p:cNvSpPr/>
          <p:nvPr/>
        </p:nvSpPr>
        <p:spPr>
          <a:xfrm>
            <a:off x="14986000" y="8636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02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swua77wo7otzg/mnt/agents/output/multimedia_production_w3/images/4_134_500_Brain_Abstract_Stock_Photos.png">    </p:cNvPr>
          <p:cNvPicPr>
            <a:picLocks noChangeAspect="1"/>
          </p:cNvPicPr>
          <p:nvPr/>
        </p:nvPicPr>
        <p:blipFill>
          <a:blip r:embed="rId1"/>
          <a:srcRect l="36" r="36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63D47">
                  <a:alpha val="94000"/>
                </a:srgbClr>
              </a:gs>
              <a:gs pos="50000">
                <a:srgbClr val="163D47">
                  <a:alpha val="82000"/>
                </a:srgbClr>
              </a:gs>
              <a:gs pos="100000">
                <a:srgbClr val="163D47">
                  <a:alpha val="50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1524000"/>
            <a:ext cx="5080000" cy="254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0" dirty="0">
                <a:solidFill>
                  <a:srgbClr val="FFFFFF">
                    <a:alpha val="3137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62000" y="30480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300" kern="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ONE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762000" y="3492500"/>
            <a:ext cx="762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7" name="Text 4"/>
          <p:cNvSpPr/>
          <p:nvPr/>
        </p:nvSpPr>
        <p:spPr>
          <a:xfrm>
            <a:off x="762000" y="3746500"/>
            <a:ext cx="889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8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COGNITIVE LOAD THEORY</a:t>
            </a:r>
            <a:endParaRPr lang="en-US" sz="4000" dirty="0"/>
          </a:p>
          <a:p>
            <a:pPr>
              <a:lnSpc>
                <a:spcPct val="130000"/>
              </a:lnSpc>
            </a:pPr>
            <a:r>
              <a:rPr lang="en-US" sz="38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&amp; MULTIMEDIA LEARNING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762000" y="5461000"/>
            <a:ext cx="825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Understanding how cognitive constraints shape multimedia instructional design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62000" y="8382000"/>
            <a:ext cx="14732000" cy="38100"/>
          </a:xfrm>
          <a:prstGeom prst="rect">
            <a:avLst/>
          </a:prstGeom>
          <a:solidFill>
            <a:srgbClr val="D4943A">
              <a:alpha val="37647"/>
            </a:srgbClr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1A5F6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44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A5F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Cognitive Load Theory?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016000"/>
            <a:ext cx="635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333500"/>
            <a:ext cx="14732000" cy="1143000"/>
          </a:xfrm>
          <a:prstGeom prst="rect">
            <a:avLst/>
          </a:prstGeom>
          <a:solidFill>
            <a:srgbClr val="EDEAE5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1422400"/>
            <a:ext cx="14224000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A5F6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Cognitive Load Theory (CLT)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developed by John Sweller (1988), explains how the limitations of human working memory affect learning. CLT provides a framework for designing instruction that aligns with human cognitive architecture.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62000" y="27305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1A5F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CONCEPTS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62000" y="3238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83344" y="38894"/>
                </a:moveTo>
                <a:cubicBezTo>
                  <a:pt x="83344" y="17433"/>
                  <a:pt x="100776" y="0"/>
                  <a:pt x="122238" y="0"/>
                </a:cubicBezTo>
                <a:lnTo>
                  <a:pt x="138906" y="0"/>
                </a:lnTo>
                <a:cubicBezTo>
                  <a:pt x="151199" y="0"/>
                  <a:pt x="161131" y="9932"/>
                  <a:pt x="161131" y="22225"/>
                </a:cubicBezTo>
                <a:lnTo>
                  <a:pt x="161131" y="333375"/>
                </a:lnTo>
                <a:cubicBezTo>
                  <a:pt x="161131" y="345668"/>
                  <a:pt x="151199" y="355600"/>
                  <a:pt x="138906" y="355600"/>
                </a:cubicBezTo>
                <a:lnTo>
                  <a:pt x="116681" y="355600"/>
                </a:lnTo>
                <a:cubicBezTo>
                  <a:pt x="95984" y="355600"/>
                  <a:pt x="78551" y="341432"/>
                  <a:pt x="73620" y="322263"/>
                </a:cubicBezTo>
                <a:cubicBezTo>
                  <a:pt x="73134" y="322263"/>
                  <a:pt x="72717" y="322263"/>
                  <a:pt x="72231" y="322263"/>
                </a:cubicBezTo>
                <a:cubicBezTo>
                  <a:pt x="41533" y="322263"/>
                  <a:pt x="16669" y="297398"/>
                  <a:pt x="16669" y="266700"/>
                </a:cubicBezTo>
                <a:cubicBezTo>
                  <a:pt x="16669" y="254198"/>
                  <a:pt x="20836" y="242669"/>
                  <a:pt x="27781" y="233363"/>
                </a:cubicBezTo>
                <a:cubicBezTo>
                  <a:pt x="14307" y="223222"/>
                  <a:pt x="5556" y="207109"/>
                  <a:pt x="5556" y="188913"/>
                </a:cubicBezTo>
                <a:cubicBezTo>
                  <a:pt x="5556" y="167451"/>
                  <a:pt x="17780" y="148769"/>
                  <a:pt x="35560" y="139531"/>
                </a:cubicBezTo>
                <a:cubicBezTo>
                  <a:pt x="30629" y="131197"/>
                  <a:pt x="27781" y="121474"/>
                  <a:pt x="27781" y="111125"/>
                </a:cubicBezTo>
                <a:cubicBezTo>
                  <a:pt x="27781" y="80427"/>
                  <a:pt x="52645" y="55563"/>
                  <a:pt x="83344" y="55563"/>
                </a:cubicBezTo>
                <a:lnTo>
                  <a:pt x="83344" y="38894"/>
                </a:lnTo>
                <a:close/>
                <a:moveTo>
                  <a:pt x="272256" y="38894"/>
                </a:moveTo>
                <a:lnTo>
                  <a:pt x="272256" y="55563"/>
                </a:lnTo>
                <a:cubicBezTo>
                  <a:pt x="302955" y="55563"/>
                  <a:pt x="327819" y="80427"/>
                  <a:pt x="327819" y="111125"/>
                </a:cubicBezTo>
                <a:cubicBezTo>
                  <a:pt x="327819" y="121543"/>
                  <a:pt x="324971" y="131266"/>
                  <a:pt x="320040" y="139531"/>
                </a:cubicBezTo>
                <a:cubicBezTo>
                  <a:pt x="337889" y="148769"/>
                  <a:pt x="350044" y="167382"/>
                  <a:pt x="350044" y="188913"/>
                </a:cubicBezTo>
                <a:cubicBezTo>
                  <a:pt x="350044" y="207109"/>
                  <a:pt x="341293" y="223222"/>
                  <a:pt x="327819" y="233363"/>
                </a:cubicBezTo>
                <a:cubicBezTo>
                  <a:pt x="334764" y="242669"/>
                  <a:pt x="338931" y="254198"/>
                  <a:pt x="338931" y="266700"/>
                </a:cubicBezTo>
                <a:cubicBezTo>
                  <a:pt x="338931" y="297398"/>
                  <a:pt x="314067" y="322263"/>
                  <a:pt x="283369" y="322263"/>
                </a:cubicBezTo>
                <a:cubicBezTo>
                  <a:pt x="282883" y="322263"/>
                  <a:pt x="282466" y="322263"/>
                  <a:pt x="281980" y="322263"/>
                </a:cubicBezTo>
                <a:cubicBezTo>
                  <a:pt x="277049" y="341432"/>
                  <a:pt x="259616" y="355600"/>
                  <a:pt x="238919" y="355600"/>
                </a:cubicBezTo>
                <a:lnTo>
                  <a:pt x="216694" y="355600"/>
                </a:lnTo>
                <a:cubicBezTo>
                  <a:pt x="204401" y="355600"/>
                  <a:pt x="194469" y="345668"/>
                  <a:pt x="194469" y="333375"/>
                </a:cubicBezTo>
                <a:lnTo>
                  <a:pt x="194469" y="22225"/>
                </a:lnTo>
                <a:cubicBezTo>
                  <a:pt x="194469" y="9932"/>
                  <a:pt x="204401" y="0"/>
                  <a:pt x="216694" y="0"/>
                </a:cubicBezTo>
                <a:lnTo>
                  <a:pt x="233363" y="0"/>
                </a:lnTo>
                <a:cubicBezTo>
                  <a:pt x="254824" y="0"/>
                  <a:pt x="272256" y="17433"/>
                  <a:pt x="272256" y="38894"/>
                </a:cubicBezTo>
                <a:close/>
              </a:path>
            </a:pathLst>
          </a:custGeom>
          <a:solidFill>
            <a:srgbClr val="1A5F6E"/>
          </a:solidFill>
          <a:ln/>
        </p:spPr>
      </p:sp>
      <p:sp>
        <p:nvSpPr>
          <p:cNvPr id="9" name="Text 7"/>
          <p:cNvSpPr/>
          <p:nvPr/>
        </p:nvSpPr>
        <p:spPr>
          <a:xfrm>
            <a:off x="1270000" y="32131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2B2B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Limited Working Memory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270000" y="3632200"/>
            <a:ext cx="6096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Working memory can hold only 7±2 items (Miller, 1956) or about 4 chunks (Cowan, 2001) at once.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62000" y="4572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61479" y="3612"/>
                </a:moveTo>
                <a:cubicBezTo>
                  <a:pt x="171827" y="-1181"/>
                  <a:pt x="183773" y="-1181"/>
                  <a:pt x="194121" y="3612"/>
                </a:cubicBezTo>
                <a:lnTo>
                  <a:pt x="345946" y="73759"/>
                </a:lnTo>
                <a:cubicBezTo>
                  <a:pt x="351850" y="76468"/>
                  <a:pt x="355600" y="82371"/>
                  <a:pt x="355600" y="88900"/>
                </a:cubicBezTo>
                <a:cubicBezTo>
                  <a:pt x="355600" y="95429"/>
                  <a:pt x="351850" y="101332"/>
                  <a:pt x="345946" y="104041"/>
                </a:cubicBezTo>
                <a:lnTo>
                  <a:pt x="194121" y="174188"/>
                </a:lnTo>
                <a:cubicBezTo>
                  <a:pt x="183773" y="178981"/>
                  <a:pt x="171827" y="178981"/>
                  <a:pt x="161479" y="174188"/>
                </a:cubicBezTo>
                <a:lnTo>
                  <a:pt x="9654" y="104041"/>
                </a:lnTo>
                <a:cubicBezTo>
                  <a:pt x="3750" y="101263"/>
                  <a:pt x="0" y="95359"/>
                  <a:pt x="0" y="88900"/>
                </a:cubicBezTo>
                <a:cubicBezTo>
                  <a:pt x="0" y="82441"/>
                  <a:pt x="3750" y="76468"/>
                  <a:pt x="9654" y="73759"/>
                </a:cubicBezTo>
                <a:lnTo>
                  <a:pt x="161479" y="3612"/>
                </a:lnTo>
                <a:close/>
                <a:moveTo>
                  <a:pt x="33407" y="151686"/>
                </a:moveTo>
                <a:lnTo>
                  <a:pt x="147518" y="204401"/>
                </a:lnTo>
                <a:cubicBezTo>
                  <a:pt x="166757" y="213291"/>
                  <a:pt x="188913" y="213291"/>
                  <a:pt x="208151" y="204401"/>
                </a:cubicBezTo>
                <a:lnTo>
                  <a:pt x="322263" y="151686"/>
                </a:lnTo>
                <a:lnTo>
                  <a:pt x="345946" y="162659"/>
                </a:lnTo>
                <a:cubicBezTo>
                  <a:pt x="351850" y="165368"/>
                  <a:pt x="355600" y="171271"/>
                  <a:pt x="355600" y="177800"/>
                </a:cubicBezTo>
                <a:cubicBezTo>
                  <a:pt x="355600" y="184329"/>
                  <a:pt x="351850" y="190232"/>
                  <a:pt x="345946" y="192941"/>
                </a:cubicBezTo>
                <a:lnTo>
                  <a:pt x="194121" y="263088"/>
                </a:lnTo>
                <a:cubicBezTo>
                  <a:pt x="183773" y="267881"/>
                  <a:pt x="171827" y="267881"/>
                  <a:pt x="161479" y="263088"/>
                </a:cubicBezTo>
                <a:lnTo>
                  <a:pt x="9654" y="192941"/>
                </a:lnTo>
                <a:cubicBezTo>
                  <a:pt x="3750" y="190163"/>
                  <a:pt x="0" y="184259"/>
                  <a:pt x="0" y="177800"/>
                </a:cubicBezTo>
                <a:cubicBezTo>
                  <a:pt x="0" y="171341"/>
                  <a:pt x="3750" y="165368"/>
                  <a:pt x="9654" y="162659"/>
                </a:cubicBezTo>
                <a:lnTo>
                  <a:pt x="33337" y="151686"/>
                </a:lnTo>
                <a:close/>
                <a:moveTo>
                  <a:pt x="9654" y="251559"/>
                </a:moveTo>
                <a:lnTo>
                  <a:pt x="33337" y="240586"/>
                </a:lnTo>
                <a:lnTo>
                  <a:pt x="147449" y="293301"/>
                </a:lnTo>
                <a:cubicBezTo>
                  <a:pt x="166688" y="302191"/>
                  <a:pt x="188843" y="302191"/>
                  <a:pt x="208082" y="293301"/>
                </a:cubicBezTo>
                <a:lnTo>
                  <a:pt x="322193" y="240586"/>
                </a:lnTo>
                <a:lnTo>
                  <a:pt x="345877" y="251559"/>
                </a:lnTo>
                <a:cubicBezTo>
                  <a:pt x="351780" y="254268"/>
                  <a:pt x="355531" y="260171"/>
                  <a:pt x="355531" y="266700"/>
                </a:cubicBezTo>
                <a:cubicBezTo>
                  <a:pt x="355531" y="273229"/>
                  <a:pt x="351780" y="279132"/>
                  <a:pt x="345877" y="281841"/>
                </a:cubicBezTo>
                <a:lnTo>
                  <a:pt x="194052" y="351988"/>
                </a:lnTo>
                <a:cubicBezTo>
                  <a:pt x="183704" y="356781"/>
                  <a:pt x="171758" y="356781"/>
                  <a:pt x="161409" y="351988"/>
                </a:cubicBezTo>
                <a:lnTo>
                  <a:pt x="9654" y="281841"/>
                </a:lnTo>
                <a:cubicBezTo>
                  <a:pt x="3750" y="279063"/>
                  <a:pt x="0" y="273159"/>
                  <a:pt x="0" y="266700"/>
                </a:cubicBezTo>
                <a:cubicBezTo>
                  <a:pt x="0" y="260241"/>
                  <a:pt x="3750" y="254268"/>
                  <a:pt x="9654" y="251559"/>
                </a:cubicBezTo>
                <a:close/>
              </a:path>
            </a:pathLst>
          </a:custGeom>
          <a:solidFill>
            <a:srgbClr val="1A5F6E"/>
          </a:solidFill>
          <a:ln/>
        </p:spPr>
      </p:sp>
      <p:sp>
        <p:nvSpPr>
          <p:cNvPr id="12" name="Text 10"/>
          <p:cNvSpPr/>
          <p:nvPr/>
        </p:nvSpPr>
        <p:spPr>
          <a:xfrm>
            <a:off x="1270000" y="45466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2B2B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Unlimited Long-Term Memory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270000" y="4965700"/>
            <a:ext cx="6096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Knowledge is organized into schemas. Expert performance relies on automated schemas that reduce working memory load.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2000" y="5905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45770" y="158700"/>
                </a:moveTo>
                <a:cubicBezTo>
                  <a:pt x="55007" y="94109"/>
                  <a:pt x="110639" y="44450"/>
                  <a:pt x="177800" y="44450"/>
                </a:cubicBezTo>
                <a:cubicBezTo>
                  <a:pt x="214610" y="44450"/>
                  <a:pt x="247948" y="59382"/>
                  <a:pt x="272117" y="83483"/>
                </a:cubicBezTo>
                <a:cubicBezTo>
                  <a:pt x="272256" y="83622"/>
                  <a:pt x="272395" y="83760"/>
                  <a:pt x="272534" y="83899"/>
                </a:cubicBezTo>
                <a:lnTo>
                  <a:pt x="277813" y="88900"/>
                </a:lnTo>
                <a:lnTo>
                  <a:pt x="244544" y="88900"/>
                </a:lnTo>
                <a:cubicBezTo>
                  <a:pt x="232251" y="88900"/>
                  <a:pt x="222319" y="98832"/>
                  <a:pt x="222319" y="111125"/>
                </a:cubicBezTo>
                <a:cubicBezTo>
                  <a:pt x="222319" y="123418"/>
                  <a:pt x="232251" y="133350"/>
                  <a:pt x="244544" y="133350"/>
                </a:cubicBezTo>
                <a:lnTo>
                  <a:pt x="333444" y="133350"/>
                </a:lnTo>
                <a:cubicBezTo>
                  <a:pt x="345738" y="133350"/>
                  <a:pt x="355669" y="123418"/>
                  <a:pt x="355669" y="111125"/>
                </a:cubicBezTo>
                <a:lnTo>
                  <a:pt x="355669" y="22225"/>
                </a:lnTo>
                <a:cubicBezTo>
                  <a:pt x="355669" y="9932"/>
                  <a:pt x="345738" y="0"/>
                  <a:pt x="333444" y="0"/>
                </a:cubicBezTo>
                <a:cubicBezTo>
                  <a:pt x="321151" y="0"/>
                  <a:pt x="311219" y="9932"/>
                  <a:pt x="311219" y="22225"/>
                </a:cubicBezTo>
                <a:lnTo>
                  <a:pt x="311219" y="59313"/>
                </a:lnTo>
                <a:lnTo>
                  <a:pt x="303371" y="51881"/>
                </a:lnTo>
                <a:cubicBezTo>
                  <a:pt x="271214" y="19864"/>
                  <a:pt x="226764" y="0"/>
                  <a:pt x="177800" y="0"/>
                </a:cubicBezTo>
                <a:cubicBezTo>
                  <a:pt x="88205" y="0"/>
                  <a:pt x="14099" y="66258"/>
                  <a:pt x="1806" y="152450"/>
                </a:cubicBezTo>
                <a:cubicBezTo>
                  <a:pt x="69" y="164604"/>
                  <a:pt x="8473" y="175855"/>
                  <a:pt x="20628" y="177592"/>
                </a:cubicBezTo>
                <a:cubicBezTo>
                  <a:pt x="32782" y="179328"/>
                  <a:pt x="44033" y="170855"/>
                  <a:pt x="45770" y="158770"/>
                </a:cubicBezTo>
                <a:close/>
                <a:moveTo>
                  <a:pt x="353794" y="203150"/>
                </a:moveTo>
                <a:cubicBezTo>
                  <a:pt x="355531" y="190996"/>
                  <a:pt x="347057" y="179745"/>
                  <a:pt x="334972" y="178008"/>
                </a:cubicBezTo>
                <a:cubicBezTo>
                  <a:pt x="322888" y="176272"/>
                  <a:pt x="311567" y="184745"/>
                  <a:pt x="309830" y="196830"/>
                </a:cubicBezTo>
                <a:cubicBezTo>
                  <a:pt x="300593" y="261422"/>
                  <a:pt x="244961" y="311081"/>
                  <a:pt x="177800" y="311081"/>
                </a:cubicBezTo>
                <a:cubicBezTo>
                  <a:pt x="140990" y="311081"/>
                  <a:pt x="107652" y="296148"/>
                  <a:pt x="83483" y="272048"/>
                </a:cubicBezTo>
                <a:cubicBezTo>
                  <a:pt x="83344" y="271909"/>
                  <a:pt x="83205" y="271770"/>
                  <a:pt x="83066" y="271631"/>
                </a:cubicBezTo>
                <a:lnTo>
                  <a:pt x="77787" y="266631"/>
                </a:lnTo>
                <a:lnTo>
                  <a:pt x="111056" y="266631"/>
                </a:lnTo>
                <a:cubicBezTo>
                  <a:pt x="123349" y="266631"/>
                  <a:pt x="133281" y="256699"/>
                  <a:pt x="133281" y="244406"/>
                </a:cubicBezTo>
                <a:cubicBezTo>
                  <a:pt x="133281" y="232112"/>
                  <a:pt x="123349" y="222181"/>
                  <a:pt x="111056" y="222181"/>
                </a:cubicBezTo>
                <a:lnTo>
                  <a:pt x="22225" y="222250"/>
                </a:lnTo>
                <a:cubicBezTo>
                  <a:pt x="16321" y="222250"/>
                  <a:pt x="10626" y="224611"/>
                  <a:pt x="6459" y="228848"/>
                </a:cubicBezTo>
                <a:cubicBezTo>
                  <a:pt x="2292" y="233085"/>
                  <a:pt x="-69" y="238710"/>
                  <a:pt x="0" y="244683"/>
                </a:cubicBezTo>
                <a:lnTo>
                  <a:pt x="695" y="332889"/>
                </a:lnTo>
                <a:cubicBezTo>
                  <a:pt x="764" y="345182"/>
                  <a:pt x="10835" y="355044"/>
                  <a:pt x="23128" y="354905"/>
                </a:cubicBezTo>
                <a:cubicBezTo>
                  <a:pt x="35421" y="354767"/>
                  <a:pt x="45283" y="344765"/>
                  <a:pt x="45145" y="332472"/>
                </a:cubicBezTo>
                <a:lnTo>
                  <a:pt x="44867" y="296704"/>
                </a:lnTo>
                <a:lnTo>
                  <a:pt x="52298" y="303719"/>
                </a:lnTo>
                <a:cubicBezTo>
                  <a:pt x="84455" y="335736"/>
                  <a:pt x="128836" y="355600"/>
                  <a:pt x="177800" y="355600"/>
                </a:cubicBezTo>
                <a:cubicBezTo>
                  <a:pt x="267395" y="355600"/>
                  <a:pt x="341501" y="289342"/>
                  <a:pt x="353794" y="203150"/>
                </a:cubicBezTo>
                <a:close/>
              </a:path>
            </a:pathLst>
          </a:custGeom>
          <a:solidFill>
            <a:srgbClr val="1A5F6E"/>
          </a:solidFill>
          <a:ln/>
        </p:spPr>
      </p:sp>
      <p:sp>
        <p:nvSpPr>
          <p:cNvPr id="15" name="Text 13"/>
          <p:cNvSpPr/>
          <p:nvPr/>
        </p:nvSpPr>
        <p:spPr>
          <a:xfrm>
            <a:off x="1270000" y="58801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2B2B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Schema Automation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270000" y="6299200"/>
            <a:ext cx="6096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Learning occurs when information is processed in working memory and encoded into long-term memory as schemas.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128000" y="2730500"/>
            <a:ext cx="7366000" cy="4699000"/>
          </a:xfrm>
          <a:prstGeom prst="rect">
            <a:avLst/>
          </a:prstGeom>
          <a:solidFill>
            <a:srgbClr val="EDEAE5"/>
          </a:solidFill>
          <a:ln/>
        </p:spPr>
      </p:sp>
      <p:sp>
        <p:nvSpPr>
          <p:cNvPr id="18" name="Text 16"/>
          <p:cNvSpPr/>
          <p:nvPr/>
        </p:nvSpPr>
        <p:spPr>
          <a:xfrm>
            <a:off x="8382000" y="28575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1A5F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COGNITIVE LOAD EQUATION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509000" y="3429000"/>
            <a:ext cx="2032000" cy="635000"/>
          </a:xfrm>
          <a:prstGeom prst="rect">
            <a:avLst/>
          </a:prstGeom>
          <a:solidFill>
            <a:srgbClr val="1A5F6E"/>
          </a:solidFill>
          <a:ln/>
        </p:spPr>
      </p:sp>
      <p:sp>
        <p:nvSpPr>
          <p:cNvPr id="20" name="Text 18"/>
          <p:cNvSpPr/>
          <p:nvPr/>
        </p:nvSpPr>
        <p:spPr>
          <a:xfrm>
            <a:off x="8509000" y="3429000"/>
            <a:ext cx="203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Intrinsic Load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604500" y="3429000"/>
            <a:ext cx="50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2B2B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1176000" y="3429000"/>
            <a:ext cx="2032000" cy="635000"/>
          </a:xfrm>
          <a:prstGeom prst="rect">
            <a:avLst/>
          </a:prstGeom>
          <a:solidFill>
            <a:srgbClr val="6B7B8D"/>
          </a:solidFill>
          <a:ln/>
        </p:spPr>
      </p:sp>
      <p:sp>
        <p:nvSpPr>
          <p:cNvPr id="23" name="Text 21"/>
          <p:cNvSpPr/>
          <p:nvPr/>
        </p:nvSpPr>
        <p:spPr>
          <a:xfrm>
            <a:off x="11176000" y="3429000"/>
            <a:ext cx="203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Extraneous Load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3271500" y="3429000"/>
            <a:ext cx="50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2B2B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3843000" y="3429000"/>
            <a:ext cx="1397000" cy="6350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26" name="Text 24"/>
          <p:cNvSpPr/>
          <p:nvPr/>
        </p:nvSpPr>
        <p:spPr>
          <a:xfrm>
            <a:off x="13843000" y="3429000"/>
            <a:ext cx="1397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Germane Load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668000" y="43180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2B2B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=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1557000" y="4318000"/>
            <a:ext cx="2540000" cy="571500"/>
          </a:xfrm>
          <a:prstGeom prst="rect">
            <a:avLst/>
          </a:prstGeom>
          <a:solidFill>
            <a:srgbClr val="163D47"/>
          </a:solidFill>
          <a:ln/>
        </p:spPr>
      </p:sp>
      <p:sp>
        <p:nvSpPr>
          <p:cNvPr id="29" name="Text 27"/>
          <p:cNvSpPr/>
          <p:nvPr/>
        </p:nvSpPr>
        <p:spPr>
          <a:xfrm>
            <a:off x="11557000" y="4318000"/>
            <a:ext cx="254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Cognitive Load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509000" y="5207000"/>
            <a:ext cx="673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Effective instruction minimizes extraneous load, manages intrinsic load, and maximizes germane load (Sweller, van Merriënboer &amp; Paas, 1998).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62000" y="7620000"/>
            <a:ext cx="762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Sources: Sweller (1988); Paas &amp; Sweller (2014), Cambridge Handbook of Multimedia Learning; Mayer (2009)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4986000" y="8636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1A5F6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44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A5F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Human Cognitive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016000"/>
            <a:ext cx="635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524000"/>
            <a:ext cx="4318000" cy="2540000"/>
          </a:xfrm>
          <a:prstGeom prst="rect">
            <a:avLst/>
          </a:prstGeom>
          <a:solidFill>
            <a:srgbClr val="EDEAE5"/>
          </a:solidFill>
          <a:ln/>
        </p:spPr>
      </p:sp>
      <p:sp>
        <p:nvSpPr>
          <p:cNvPr id="6" name="Shape 4"/>
          <p:cNvSpPr/>
          <p:nvPr/>
        </p:nvSpPr>
        <p:spPr>
          <a:xfrm>
            <a:off x="990600" y="17145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228600" y="25400"/>
                </a:moveTo>
                <a:cubicBezTo>
                  <a:pt x="164465" y="25400"/>
                  <a:pt x="113109" y="54610"/>
                  <a:pt x="75724" y="89376"/>
                </a:cubicBezTo>
                <a:cubicBezTo>
                  <a:pt x="38576" y="123904"/>
                  <a:pt x="13732" y="165100"/>
                  <a:pt x="1905" y="193437"/>
                </a:cubicBezTo>
                <a:cubicBezTo>
                  <a:pt x="-714" y="199708"/>
                  <a:pt x="-714" y="206692"/>
                  <a:pt x="1905" y="212963"/>
                </a:cubicBezTo>
                <a:cubicBezTo>
                  <a:pt x="13732" y="241300"/>
                  <a:pt x="38576" y="282575"/>
                  <a:pt x="75724" y="317024"/>
                </a:cubicBezTo>
                <a:cubicBezTo>
                  <a:pt x="113109" y="351711"/>
                  <a:pt x="164465" y="381000"/>
                  <a:pt x="228600" y="381000"/>
                </a:cubicBezTo>
                <a:cubicBezTo>
                  <a:pt x="292735" y="381000"/>
                  <a:pt x="344091" y="351790"/>
                  <a:pt x="381476" y="317024"/>
                </a:cubicBezTo>
                <a:cubicBezTo>
                  <a:pt x="418624" y="282496"/>
                  <a:pt x="443468" y="241300"/>
                  <a:pt x="455295" y="212963"/>
                </a:cubicBezTo>
                <a:cubicBezTo>
                  <a:pt x="457914" y="206692"/>
                  <a:pt x="457914" y="199707"/>
                  <a:pt x="455295" y="193437"/>
                </a:cubicBezTo>
                <a:cubicBezTo>
                  <a:pt x="443468" y="165100"/>
                  <a:pt x="418624" y="123825"/>
                  <a:pt x="381476" y="89376"/>
                </a:cubicBezTo>
                <a:cubicBezTo>
                  <a:pt x="344091" y="54689"/>
                  <a:pt x="292735" y="25400"/>
                  <a:pt x="228600" y="25400"/>
                </a:cubicBezTo>
                <a:close/>
                <a:moveTo>
                  <a:pt x="114300" y="203200"/>
                </a:moveTo>
                <a:cubicBezTo>
                  <a:pt x="114300" y="140116"/>
                  <a:pt x="165516" y="88900"/>
                  <a:pt x="228600" y="88900"/>
                </a:cubicBezTo>
                <a:cubicBezTo>
                  <a:pt x="291684" y="88900"/>
                  <a:pt x="342900" y="140116"/>
                  <a:pt x="342900" y="203200"/>
                </a:cubicBezTo>
                <a:cubicBezTo>
                  <a:pt x="342900" y="266284"/>
                  <a:pt x="291684" y="317500"/>
                  <a:pt x="228600" y="317500"/>
                </a:cubicBezTo>
                <a:cubicBezTo>
                  <a:pt x="165516" y="317500"/>
                  <a:pt x="114300" y="266284"/>
                  <a:pt x="114300" y="203200"/>
                </a:cubicBezTo>
                <a:close/>
                <a:moveTo>
                  <a:pt x="228600" y="152400"/>
                </a:moveTo>
                <a:cubicBezTo>
                  <a:pt x="228600" y="180419"/>
                  <a:pt x="205819" y="203200"/>
                  <a:pt x="177800" y="203200"/>
                </a:cubicBezTo>
                <a:cubicBezTo>
                  <a:pt x="168672" y="203200"/>
                  <a:pt x="160099" y="200819"/>
                  <a:pt x="152638" y="196533"/>
                </a:cubicBezTo>
                <a:cubicBezTo>
                  <a:pt x="151844" y="205184"/>
                  <a:pt x="152559" y="214074"/>
                  <a:pt x="154940" y="222885"/>
                </a:cubicBezTo>
                <a:cubicBezTo>
                  <a:pt x="165814" y="263525"/>
                  <a:pt x="207645" y="287655"/>
                  <a:pt x="248285" y="276781"/>
                </a:cubicBezTo>
                <a:cubicBezTo>
                  <a:pt x="288925" y="265906"/>
                  <a:pt x="313055" y="224076"/>
                  <a:pt x="302181" y="183436"/>
                </a:cubicBezTo>
                <a:cubicBezTo>
                  <a:pt x="292497" y="147161"/>
                  <a:pt x="258128" y="124063"/>
                  <a:pt x="221933" y="127238"/>
                </a:cubicBezTo>
                <a:cubicBezTo>
                  <a:pt x="226139" y="134620"/>
                  <a:pt x="228600" y="143193"/>
                  <a:pt x="228600" y="152400"/>
                </a:cubicBezTo>
                <a:close/>
              </a:path>
            </a:pathLst>
          </a:custGeom>
          <a:solidFill>
            <a:srgbClr val="1A5F6E"/>
          </a:solidFill>
          <a:ln/>
        </p:spPr>
      </p:sp>
      <p:sp>
        <p:nvSpPr>
          <p:cNvPr id="7" name="Text 5"/>
          <p:cNvSpPr/>
          <p:nvPr/>
        </p:nvSpPr>
        <p:spPr>
          <a:xfrm>
            <a:off x="1549400" y="1714500"/>
            <a:ext cx="317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2B2B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 Sensory Memory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16000" y="2222500"/>
            <a:ext cx="3810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Receives vast amounts of information from the environment through visual and auditory channels. Most information is filtered out within milliseconds. Only attended information passes to working memory.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080000" y="2603500"/>
            <a:ext cx="508000" cy="0"/>
          </a:xfrm>
          <a:prstGeom prst="straightConnector1">
            <a:avLst/>
          </a:prstGeom>
          <a:noFill/>
          <a:ln w="25400">
            <a:solidFill>
              <a:srgbClr val="1A5F6E"/>
            </a:solidFill>
            <a:prstDash val="solid"/>
            <a:headEnd type="none"/>
            <a:tailEnd type="arrow"/>
          </a:ln>
        </p:spPr>
      </p:sp>
      <p:sp>
        <p:nvSpPr>
          <p:cNvPr id="10" name="Shape 8"/>
          <p:cNvSpPr/>
          <p:nvPr/>
        </p:nvSpPr>
        <p:spPr>
          <a:xfrm>
            <a:off x="5588000" y="1524000"/>
            <a:ext cx="4318000" cy="2540000"/>
          </a:xfrm>
          <a:prstGeom prst="rect">
            <a:avLst/>
          </a:prstGeom>
          <a:solidFill>
            <a:srgbClr val="1A5F6E"/>
          </a:solidFill>
          <a:ln/>
        </p:spPr>
      </p:sp>
      <p:sp>
        <p:nvSpPr>
          <p:cNvPr id="11" name="Shape 9"/>
          <p:cNvSpPr/>
          <p:nvPr/>
        </p:nvSpPr>
        <p:spPr>
          <a:xfrm>
            <a:off x="5842000" y="1714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39700" y="19050"/>
                </a:moveTo>
                <a:cubicBezTo>
                  <a:pt x="139700" y="8493"/>
                  <a:pt x="131207" y="0"/>
                  <a:pt x="120650" y="0"/>
                </a:cubicBezTo>
                <a:cubicBezTo>
                  <a:pt x="110093" y="0"/>
                  <a:pt x="101600" y="8493"/>
                  <a:pt x="101600" y="19050"/>
                </a:cubicBezTo>
                <a:lnTo>
                  <a:pt x="101600" y="50800"/>
                </a:lnTo>
                <a:cubicBezTo>
                  <a:pt x="73581" y="50800"/>
                  <a:pt x="50800" y="73581"/>
                  <a:pt x="50800" y="101600"/>
                </a:cubicBezTo>
                <a:lnTo>
                  <a:pt x="19050" y="101600"/>
                </a:lnTo>
                <a:cubicBezTo>
                  <a:pt x="8493" y="101600"/>
                  <a:pt x="0" y="110093"/>
                  <a:pt x="0" y="120650"/>
                </a:cubicBezTo>
                <a:cubicBezTo>
                  <a:pt x="0" y="131207"/>
                  <a:pt x="8493" y="139700"/>
                  <a:pt x="19050" y="139700"/>
                </a:cubicBezTo>
                <a:lnTo>
                  <a:pt x="50800" y="139700"/>
                </a:lnTo>
                <a:lnTo>
                  <a:pt x="50800" y="184150"/>
                </a:lnTo>
                <a:lnTo>
                  <a:pt x="19050" y="184150"/>
                </a:lnTo>
                <a:cubicBezTo>
                  <a:pt x="8493" y="184150"/>
                  <a:pt x="0" y="192643"/>
                  <a:pt x="0" y="203200"/>
                </a:cubicBezTo>
                <a:cubicBezTo>
                  <a:pt x="0" y="213757"/>
                  <a:pt x="8493" y="222250"/>
                  <a:pt x="19050" y="222250"/>
                </a:cubicBezTo>
                <a:lnTo>
                  <a:pt x="50800" y="222250"/>
                </a:lnTo>
                <a:lnTo>
                  <a:pt x="50800" y="266700"/>
                </a:lnTo>
                <a:lnTo>
                  <a:pt x="19050" y="266700"/>
                </a:lnTo>
                <a:cubicBezTo>
                  <a:pt x="8493" y="266700"/>
                  <a:pt x="0" y="275193"/>
                  <a:pt x="0" y="285750"/>
                </a:cubicBezTo>
                <a:cubicBezTo>
                  <a:pt x="0" y="296307"/>
                  <a:pt x="8493" y="304800"/>
                  <a:pt x="19050" y="304800"/>
                </a:cubicBezTo>
                <a:lnTo>
                  <a:pt x="50800" y="304800"/>
                </a:lnTo>
                <a:cubicBezTo>
                  <a:pt x="50800" y="332819"/>
                  <a:pt x="73581" y="355600"/>
                  <a:pt x="101600" y="355600"/>
                </a:cubicBezTo>
                <a:lnTo>
                  <a:pt x="101600" y="387350"/>
                </a:lnTo>
                <a:cubicBezTo>
                  <a:pt x="101600" y="397907"/>
                  <a:pt x="110093" y="406400"/>
                  <a:pt x="120650" y="406400"/>
                </a:cubicBezTo>
                <a:cubicBezTo>
                  <a:pt x="131207" y="406400"/>
                  <a:pt x="139700" y="397907"/>
                  <a:pt x="139700" y="387350"/>
                </a:cubicBezTo>
                <a:lnTo>
                  <a:pt x="139700" y="355600"/>
                </a:lnTo>
                <a:lnTo>
                  <a:pt x="184150" y="355600"/>
                </a:lnTo>
                <a:lnTo>
                  <a:pt x="184150" y="387350"/>
                </a:lnTo>
                <a:cubicBezTo>
                  <a:pt x="184150" y="397907"/>
                  <a:pt x="192643" y="406400"/>
                  <a:pt x="203200" y="406400"/>
                </a:cubicBezTo>
                <a:cubicBezTo>
                  <a:pt x="213757" y="406400"/>
                  <a:pt x="222250" y="397907"/>
                  <a:pt x="222250" y="387350"/>
                </a:cubicBezTo>
                <a:lnTo>
                  <a:pt x="222250" y="355600"/>
                </a:lnTo>
                <a:lnTo>
                  <a:pt x="266700" y="355600"/>
                </a:lnTo>
                <a:lnTo>
                  <a:pt x="266700" y="387350"/>
                </a:lnTo>
                <a:cubicBezTo>
                  <a:pt x="266700" y="397907"/>
                  <a:pt x="275193" y="406400"/>
                  <a:pt x="285750" y="406400"/>
                </a:cubicBezTo>
                <a:cubicBezTo>
                  <a:pt x="296307" y="406400"/>
                  <a:pt x="304800" y="397907"/>
                  <a:pt x="304800" y="387350"/>
                </a:cubicBezTo>
                <a:lnTo>
                  <a:pt x="304800" y="355600"/>
                </a:lnTo>
                <a:cubicBezTo>
                  <a:pt x="332819" y="355600"/>
                  <a:pt x="355600" y="332819"/>
                  <a:pt x="355600" y="304800"/>
                </a:cubicBezTo>
                <a:lnTo>
                  <a:pt x="387350" y="304800"/>
                </a:lnTo>
                <a:cubicBezTo>
                  <a:pt x="397907" y="304800"/>
                  <a:pt x="406400" y="296307"/>
                  <a:pt x="406400" y="285750"/>
                </a:cubicBezTo>
                <a:cubicBezTo>
                  <a:pt x="406400" y="275193"/>
                  <a:pt x="397907" y="266700"/>
                  <a:pt x="387350" y="266700"/>
                </a:cubicBezTo>
                <a:lnTo>
                  <a:pt x="355600" y="266700"/>
                </a:lnTo>
                <a:lnTo>
                  <a:pt x="355600" y="222250"/>
                </a:lnTo>
                <a:lnTo>
                  <a:pt x="387350" y="222250"/>
                </a:lnTo>
                <a:cubicBezTo>
                  <a:pt x="397907" y="222250"/>
                  <a:pt x="406400" y="213757"/>
                  <a:pt x="406400" y="203200"/>
                </a:cubicBezTo>
                <a:cubicBezTo>
                  <a:pt x="406400" y="192643"/>
                  <a:pt x="397907" y="184150"/>
                  <a:pt x="387350" y="184150"/>
                </a:cubicBezTo>
                <a:lnTo>
                  <a:pt x="355600" y="184150"/>
                </a:lnTo>
                <a:lnTo>
                  <a:pt x="355600" y="139700"/>
                </a:lnTo>
                <a:lnTo>
                  <a:pt x="387350" y="139700"/>
                </a:lnTo>
                <a:cubicBezTo>
                  <a:pt x="397907" y="139700"/>
                  <a:pt x="406400" y="131207"/>
                  <a:pt x="406400" y="120650"/>
                </a:cubicBezTo>
                <a:cubicBezTo>
                  <a:pt x="406400" y="110093"/>
                  <a:pt x="397907" y="101600"/>
                  <a:pt x="387350" y="101600"/>
                </a:cubicBezTo>
                <a:lnTo>
                  <a:pt x="355600" y="101600"/>
                </a:lnTo>
                <a:cubicBezTo>
                  <a:pt x="355600" y="73581"/>
                  <a:pt x="332819" y="50800"/>
                  <a:pt x="304800" y="50800"/>
                </a:cubicBezTo>
                <a:lnTo>
                  <a:pt x="304800" y="19050"/>
                </a:lnTo>
                <a:cubicBezTo>
                  <a:pt x="304800" y="8493"/>
                  <a:pt x="296307" y="0"/>
                  <a:pt x="285750" y="0"/>
                </a:cubicBezTo>
                <a:cubicBezTo>
                  <a:pt x="275193" y="0"/>
                  <a:pt x="266700" y="8493"/>
                  <a:pt x="266700" y="19050"/>
                </a:cubicBezTo>
                <a:lnTo>
                  <a:pt x="266700" y="50800"/>
                </a:lnTo>
                <a:lnTo>
                  <a:pt x="222250" y="50800"/>
                </a:lnTo>
                <a:lnTo>
                  <a:pt x="222250" y="19050"/>
                </a:lnTo>
                <a:cubicBezTo>
                  <a:pt x="222250" y="8493"/>
                  <a:pt x="213757" y="0"/>
                  <a:pt x="203200" y="0"/>
                </a:cubicBezTo>
                <a:cubicBezTo>
                  <a:pt x="192643" y="0"/>
                  <a:pt x="184150" y="8493"/>
                  <a:pt x="184150" y="19050"/>
                </a:cubicBezTo>
                <a:lnTo>
                  <a:pt x="184150" y="50800"/>
                </a:lnTo>
                <a:lnTo>
                  <a:pt x="139700" y="50800"/>
                </a:lnTo>
                <a:lnTo>
                  <a:pt x="139700" y="19050"/>
                </a:lnTo>
                <a:close/>
                <a:moveTo>
                  <a:pt x="127000" y="101600"/>
                </a:moveTo>
                <a:lnTo>
                  <a:pt x="279400" y="101600"/>
                </a:lnTo>
                <a:cubicBezTo>
                  <a:pt x="293449" y="101600"/>
                  <a:pt x="304800" y="112951"/>
                  <a:pt x="304800" y="127000"/>
                </a:cubicBezTo>
                <a:lnTo>
                  <a:pt x="304800" y="279400"/>
                </a:lnTo>
                <a:cubicBezTo>
                  <a:pt x="304800" y="293449"/>
                  <a:pt x="293449" y="304800"/>
                  <a:pt x="279400" y="304800"/>
                </a:cubicBezTo>
                <a:lnTo>
                  <a:pt x="127000" y="304800"/>
                </a:lnTo>
                <a:cubicBezTo>
                  <a:pt x="112951" y="304800"/>
                  <a:pt x="101600" y="293449"/>
                  <a:pt x="101600" y="279400"/>
                </a:cubicBezTo>
                <a:lnTo>
                  <a:pt x="101600" y="127000"/>
                </a:lnTo>
                <a:cubicBezTo>
                  <a:pt x="101600" y="112951"/>
                  <a:pt x="112951" y="101600"/>
                  <a:pt x="127000" y="101600"/>
                </a:cubicBezTo>
                <a:close/>
                <a:moveTo>
                  <a:pt x="139700" y="139700"/>
                </a:moveTo>
                <a:lnTo>
                  <a:pt x="139700" y="266700"/>
                </a:lnTo>
                <a:lnTo>
                  <a:pt x="266700" y="266700"/>
                </a:lnTo>
                <a:lnTo>
                  <a:pt x="266700" y="139700"/>
                </a:lnTo>
                <a:lnTo>
                  <a:pt x="139700" y="1397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6375400" y="1714500"/>
            <a:ext cx="317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2. Working Memory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842000" y="2222500"/>
            <a:ext cx="3810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bottleneck of cognition. Conscious processing occurs here with severely limited capacity (~4 chunks) and duration (~20-30 seconds). Where learning actively happens.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906000" y="2603500"/>
            <a:ext cx="508000" cy="0"/>
          </a:xfrm>
          <a:prstGeom prst="straightConnector1">
            <a:avLst/>
          </a:prstGeom>
          <a:noFill/>
          <a:ln w="25400">
            <a:solidFill>
              <a:srgbClr val="1A5F6E"/>
            </a:solidFill>
            <a:prstDash val="solid"/>
            <a:headEnd type="none"/>
            <a:tailEnd type="arrow"/>
          </a:ln>
        </p:spPr>
      </p:sp>
      <p:sp>
        <p:nvSpPr>
          <p:cNvPr id="15" name="Shape 13"/>
          <p:cNvSpPr/>
          <p:nvPr/>
        </p:nvSpPr>
        <p:spPr>
          <a:xfrm>
            <a:off x="10414000" y="1524000"/>
            <a:ext cx="5080000" cy="2540000"/>
          </a:xfrm>
          <a:prstGeom prst="rect">
            <a:avLst/>
          </a:prstGeom>
          <a:solidFill>
            <a:srgbClr val="EDEAE5"/>
          </a:solidFill>
          <a:ln/>
        </p:spPr>
      </p:sp>
      <p:sp>
        <p:nvSpPr>
          <p:cNvPr id="16" name="Shape 14"/>
          <p:cNvSpPr/>
          <p:nvPr/>
        </p:nvSpPr>
        <p:spPr>
          <a:xfrm>
            <a:off x="10693400" y="1714500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355600" y="163354"/>
                </a:moveTo>
                <a:cubicBezTo>
                  <a:pt x="343853" y="171133"/>
                  <a:pt x="330359" y="177403"/>
                  <a:pt x="316309" y="182404"/>
                </a:cubicBezTo>
                <a:cubicBezTo>
                  <a:pt x="279003" y="195739"/>
                  <a:pt x="230029" y="203200"/>
                  <a:pt x="177800" y="203200"/>
                </a:cubicBezTo>
                <a:cubicBezTo>
                  <a:pt x="125571" y="203200"/>
                  <a:pt x="76518" y="195659"/>
                  <a:pt x="39291" y="182404"/>
                </a:cubicBezTo>
                <a:cubicBezTo>
                  <a:pt x="25321" y="177403"/>
                  <a:pt x="11747" y="171133"/>
                  <a:pt x="0" y="163354"/>
                </a:cubicBezTo>
                <a:lnTo>
                  <a:pt x="0" y="228600"/>
                </a:lnTo>
                <a:cubicBezTo>
                  <a:pt x="0" y="263684"/>
                  <a:pt x="79613" y="292100"/>
                  <a:pt x="177800" y="292100"/>
                </a:cubicBezTo>
                <a:cubicBezTo>
                  <a:pt x="275987" y="292100"/>
                  <a:pt x="355600" y="263684"/>
                  <a:pt x="355600" y="228600"/>
                </a:cubicBezTo>
                <a:lnTo>
                  <a:pt x="355600" y="163354"/>
                </a:lnTo>
                <a:close/>
                <a:moveTo>
                  <a:pt x="355600" y="101600"/>
                </a:moveTo>
                <a:lnTo>
                  <a:pt x="355600" y="63500"/>
                </a:lnTo>
                <a:cubicBezTo>
                  <a:pt x="355600" y="28416"/>
                  <a:pt x="275987" y="0"/>
                  <a:pt x="177800" y="0"/>
                </a:cubicBezTo>
                <a:cubicBezTo>
                  <a:pt x="79613" y="0"/>
                  <a:pt x="0" y="28416"/>
                  <a:pt x="0" y="63500"/>
                </a:cubicBezTo>
                <a:lnTo>
                  <a:pt x="0" y="101600"/>
                </a:lnTo>
                <a:cubicBezTo>
                  <a:pt x="0" y="136684"/>
                  <a:pt x="79613" y="165100"/>
                  <a:pt x="177800" y="165100"/>
                </a:cubicBezTo>
                <a:cubicBezTo>
                  <a:pt x="275987" y="165100"/>
                  <a:pt x="355600" y="136684"/>
                  <a:pt x="355600" y="101600"/>
                </a:cubicBezTo>
                <a:close/>
                <a:moveTo>
                  <a:pt x="316309" y="309404"/>
                </a:moveTo>
                <a:cubicBezTo>
                  <a:pt x="279083" y="322659"/>
                  <a:pt x="230108" y="330200"/>
                  <a:pt x="177800" y="330200"/>
                </a:cubicBezTo>
                <a:cubicBezTo>
                  <a:pt x="125492" y="330200"/>
                  <a:pt x="76518" y="322659"/>
                  <a:pt x="39291" y="309404"/>
                </a:cubicBezTo>
                <a:cubicBezTo>
                  <a:pt x="25321" y="304403"/>
                  <a:pt x="11747" y="298133"/>
                  <a:pt x="0" y="290354"/>
                </a:cubicBezTo>
                <a:lnTo>
                  <a:pt x="0" y="342900"/>
                </a:lnTo>
                <a:cubicBezTo>
                  <a:pt x="0" y="377984"/>
                  <a:pt x="79613" y="406400"/>
                  <a:pt x="177800" y="406400"/>
                </a:cubicBezTo>
                <a:cubicBezTo>
                  <a:pt x="275987" y="406400"/>
                  <a:pt x="355600" y="377984"/>
                  <a:pt x="355600" y="342900"/>
                </a:cubicBezTo>
                <a:lnTo>
                  <a:pt x="355600" y="290354"/>
                </a:lnTo>
                <a:cubicBezTo>
                  <a:pt x="343853" y="298133"/>
                  <a:pt x="330359" y="304403"/>
                  <a:pt x="316309" y="309404"/>
                </a:cubicBezTo>
                <a:close/>
              </a:path>
            </a:pathLst>
          </a:custGeom>
          <a:solidFill>
            <a:srgbClr val="1A5F6E"/>
          </a:solidFill>
          <a:ln/>
        </p:spPr>
      </p:sp>
      <p:sp>
        <p:nvSpPr>
          <p:cNvPr id="17" name="Text 15"/>
          <p:cNvSpPr/>
          <p:nvPr/>
        </p:nvSpPr>
        <p:spPr>
          <a:xfrm>
            <a:off x="11201400" y="1714500"/>
            <a:ext cx="406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2B2B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 Long-Term Memory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668000" y="2222500"/>
            <a:ext cx="4572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Virtually unlimited storage where knowledge is organized into schemas. Automated schemas are the foundation of expertise, enabling efficient performance without overloading working memory.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62000" y="4445000"/>
            <a:ext cx="1473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A5F6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Key Insight: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Learning occurs when information is processed in working memory and encoded into long-term memory as schemas. The goal of instruction is to facilitate this transfer while respecting working memory limitations.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62000" y="54610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1A5F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SCHEMA DEVELOPMENT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62000" y="5969000"/>
            <a:ext cx="3302000" cy="1016000"/>
          </a:xfrm>
          <a:prstGeom prst="rect">
            <a:avLst/>
          </a:prstGeom>
          <a:solidFill>
            <a:srgbClr val="EDEAE5"/>
          </a:solidFill>
          <a:ln/>
        </p:spPr>
      </p:sp>
      <p:sp>
        <p:nvSpPr>
          <p:cNvPr id="22" name="Text 20"/>
          <p:cNvSpPr/>
          <p:nvPr/>
        </p:nvSpPr>
        <p:spPr>
          <a:xfrm>
            <a:off x="889000" y="6070600"/>
            <a:ext cx="30480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b="1" dirty="0">
                <a:solidFill>
                  <a:srgbClr val="1A5F6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Novice</a:t>
            </a:r>
            <a:endParaRPr lang="en-US" sz="1800" dirty="0"/>
          </a:p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Many interacting elements in WM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4064000" y="6413500"/>
            <a:ext cx="762000" cy="0"/>
          </a:xfrm>
          <a:prstGeom prst="straightConnector1">
            <a:avLst/>
          </a:prstGeom>
          <a:noFill/>
          <a:ln w="25400">
            <a:solidFill>
              <a:srgbClr val="D4943A"/>
            </a:solidFill>
            <a:prstDash val="solid"/>
            <a:headEnd type="none"/>
            <a:tailEnd type="arrow"/>
          </a:ln>
        </p:spPr>
      </p:sp>
      <p:sp>
        <p:nvSpPr>
          <p:cNvPr id="24" name="Shape 22"/>
          <p:cNvSpPr/>
          <p:nvPr/>
        </p:nvSpPr>
        <p:spPr>
          <a:xfrm>
            <a:off x="4826000" y="5969000"/>
            <a:ext cx="3302000" cy="1016000"/>
          </a:xfrm>
          <a:prstGeom prst="rect">
            <a:avLst/>
          </a:prstGeom>
          <a:solidFill>
            <a:srgbClr val="EDEAE5"/>
          </a:solidFill>
          <a:ln/>
        </p:spPr>
      </p:sp>
      <p:sp>
        <p:nvSpPr>
          <p:cNvPr id="25" name="Text 23"/>
          <p:cNvSpPr/>
          <p:nvPr/>
        </p:nvSpPr>
        <p:spPr>
          <a:xfrm>
            <a:off x="4953000" y="6070600"/>
            <a:ext cx="30480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b="1" dirty="0">
                <a:solidFill>
                  <a:srgbClr val="1A5F6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Developing</a:t>
            </a:r>
            <a:endParaRPr lang="en-US" sz="1800" dirty="0"/>
          </a:p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Schemas begin to form in LTM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8128000" y="6413500"/>
            <a:ext cx="762000" cy="0"/>
          </a:xfrm>
          <a:prstGeom prst="straightConnector1">
            <a:avLst/>
          </a:prstGeom>
          <a:noFill/>
          <a:ln w="25400">
            <a:solidFill>
              <a:srgbClr val="D4943A"/>
            </a:solidFill>
            <a:prstDash val="solid"/>
            <a:headEnd type="none"/>
            <a:tailEnd type="arrow"/>
          </a:ln>
        </p:spPr>
      </p:sp>
      <p:sp>
        <p:nvSpPr>
          <p:cNvPr id="27" name="Shape 25"/>
          <p:cNvSpPr/>
          <p:nvPr/>
        </p:nvSpPr>
        <p:spPr>
          <a:xfrm>
            <a:off x="8890000" y="5969000"/>
            <a:ext cx="3302000" cy="1016000"/>
          </a:xfrm>
          <a:prstGeom prst="rect">
            <a:avLst/>
          </a:prstGeom>
          <a:solidFill>
            <a:srgbClr val="1A5F6E"/>
          </a:solidFill>
          <a:ln/>
        </p:spPr>
      </p:sp>
      <p:sp>
        <p:nvSpPr>
          <p:cNvPr id="28" name="Text 26"/>
          <p:cNvSpPr/>
          <p:nvPr/>
        </p:nvSpPr>
        <p:spPr>
          <a:xfrm>
            <a:off x="9017000" y="6070600"/>
            <a:ext cx="304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Expert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Automated schemas — minimal WM load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2192000" y="6413500"/>
            <a:ext cx="762000" cy="0"/>
          </a:xfrm>
          <a:prstGeom prst="straightConnector1">
            <a:avLst/>
          </a:prstGeom>
          <a:noFill/>
          <a:ln w="25400">
            <a:solidFill>
              <a:srgbClr val="D4943A"/>
            </a:solidFill>
            <a:prstDash val="solid"/>
            <a:headEnd type="none"/>
            <a:tailEnd type="arrow"/>
          </a:ln>
        </p:spPr>
      </p:sp>
      <p:sp>
        <p:nvSpPr>
          <p:cNvPr id="30" name="Shape 28"/>
          <p:cNvSpPr/>
          <p:nvPr/>
        </p:nvSpPr>
        <p:spPr>
          <a:xfrm>
            <a:off x="12954000" y="5969000"/>
            <a:ext cx="2540000" cy="10160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31" name="Text 29"/>
          <p:cNvSpPr/>
          <p:nvPr/>
        </p:nvSpPr>
        <p:spPr>
          <a:xfrm>
            <a:off x="13081000" y="6070600"/>
            <a:ext cx="22860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Automation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Effortless performance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62000" y="7366000"/>
            <a:ext cx="762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Source: Sweller (1994, 1999); Atkinson &amp; Shiffrin (1971); Baddeley (1986)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4986000" y="8636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05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1A5F6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44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A5F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Three Types of Cognitive Load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016000"/>
            <a:ext cx="635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397000"/>
            <a:ext cx="4699000" cy="5334000"/>
          </a:xfrm>
          <a:prstGeom prst="rect">
            <a:avLst/>
          </a:prstGeom>
          <a:solidFill>
            <a:srgbClr val="EDEAE5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397000"/>
            <a:ext cx="4699000" cy="635000"/>
          </a:xfrm>
          <a:prstGeom prst="rect">
            <a:avLst/>
          </a:prstGeom>
          <a:solidFill>
            <a:srgbClr val="1A5F6E"/>
          </a:solidFill>
          <a:ln/>
        </p:spPr>
      </p:sp>
      <p:sp>
        <p:nvSpPr>
          <p:cNvPr id="7" name="Shape 5"/>
          <p:cNvSpPr/>
          <p:nvPr/>
        </p:nvSpPr>
        <p:spPr>
          <a:xfrm>
            <a:off x="952500" y="1498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97247" y="-903"/>
                </a:moveTo>
                <a:cubicBezTo>
                  <a:pt x="185231" y="-7848"/>
                  <a:pt x="170369" y="-7848"/>
                  <a:pt x="158353" y="-903"/>
                </a:cubicBezTo>
                <a:lnTo>
                  <a:pt x="99874" y="32851"/>
                </a:lnTo>
                <a:cubicBezTo>
                  <a:pt x="87858" y="39797"/>
                  <a:pt x="80427" y="52645"/>
                  <a:pt x="80427" y="66536"/>
                </a:cubicBezTo>
                <a:lnTo>
                  <a:pt x="80427" y="137309"/>
                </a:lnTo>
                <a:lnTo>
                  <a:pt x="19100" y="172730"/>
                </a:lnTo>
                <a:cubicBezTo>
                  <a:pt x="7084" y="179675"/>
                  <a:pt x="-347" y="192524"/>
                  <a:pt x="-347" y="206415"/>
                </a:cubicBezTo>
                <a:lnTo>
                  <a:pt x="-347" y="273993"/>
                </a:lnTo>
                <a:cubicBezTo>
                  <a:pt x="-347" y="287883"/>
                  <a:pt x="7084" y="300732"/>
                  <a:pt x="19100" y="307677"/>
                </a:cubicBezTo>
                <a:lnTo>
                  <a:pt x="77649" y="341432"/>
                </a:lnTo>
                <a:cubicBezTo>
                  <a:pt x="89664" y="348377"/>
                  <a:pt x="104527" y="348377"/>
                  <a:pt x="116542" y="341432"/>
                </a:cubicBezTo>
                <a:lnTo>
                  <a:pt x="177869" y="306010"/>
                </a:lnTo>
                <a:lnTo>
                  <a:pt x="239197" y="341432"/>
                </a:lnTo>
                <a:cubicBezTo>
                  <a:pt x="251212" y="348377"/>
                  <a:pt x="266075" y="348377"/>
                  <a:pt x="278090" y="341432"/>
                </a:cubicBezTo>
                <a:lnTo>
                  <a:pt x="336500" y="307677"/>
                </a:lnTo>
                <a:cubicBezTo>
                  <a:pt x="348516" y="300732"/>
                  <a:pt x="355947" y="287883"/>
                  <a:pt x="355947" y="273993"/>
                </a:cubicBezTo>
                <a:lnTo>
                  <a:pt x="355947" y="206415"/>
                </a:lnTo>
                <a:cubicBezTo>
                  <a:pt x="355947" y="192524"/>
                  <a:pt x="348516" y="179675"/>
                  <a:pt x="336500" y="172730"/>
                </a:cubicBezTo>
                <a:lnTo>
                  <a:pt x="275173" y="137309"/>
                </a:lnTo>
                <a:lnTo>
                  <a:pt x="275173" y="66536"/>
                </a:lnTo>
                <a:cubicBezTo>
                  <a:pt x="275173" y="52645"/>
                  <a:pt x="267742" y="39797"/>
                  <a:pt x="255726" y="32851"/>
                </a:cubicBezTo>
                <a:lnTo>
                  <a:pt x="197247" y="-903"/>
                </a:lnTo>
                <a:close/>
                <a:moveTo>
                  <a:pt x="161131" y="203220"/>
                </a:moveTo>
                <a:lnTo>
                  <a:pt x="161131" y="277187"/>
                </a:lnTo>
                <a:lnTo>
                  <a:pt x="99804" y="312609"/>
                </a:lnTo>
                <a:cubicBezTo>
                  <a:pt x="98971" y="313095"/>
                  <a:pt x="97998" y="313373"/>
                  <a:pt x="97026" y="313373"/>
                </a:cubicBezTo>
                <a:lnTo>
                  <a:pt x="97026" y="240238"/>
                </a:lnTo>
                <a:lnTo>
                  <a:pt x="161131" y="203220"/>
                </a:lnTo>
                <a:close/>
                <a:moveTo>
                  <a:pt x="321846" y="203637"/>
                </a:moveTo>
                <a:cubicBezTo>
                  <a:pt x="322332" y="204470"/>
                  <a:pt x="322610" y="205442"/>
                  <a:pt x="322610" y="206415"/>
                </a:cubicBezTo>
                <a:lnTo>
                  <a:pt x="322610" y="273993"/>
                </a:lnTo>
                <a:cubicBezTo>
                  <a:pt x="322610" y="276007"/>
                  <a:pt x="321568" y="277813"/>
                  <a:pt x="319832" y="278785"/>
                </a:cubicBezTo>
                <a:lnTo>
                  <a:pt x="261283" y="312539"/>
                </a:lnTo>
                <a:cubicBezTo>
                  <a:pt x="260449" y="313025"/>
                  <a:pt x="259477" y="313303"/>
                  <a:pt x="258505" y="313303"/>
                </a:cubicBezTo>
                <a:lnTo>
                  <a:pt x="258505" y="240169"/>
                </a:lnTo>
                <a:lnTo>
                  <a:pt x="321846" y="203637"/>
                </a:lnTo>
                <a:close/>
                <a:moveTo>
                  <a:pt x="241905" y="66536"/>
                </a:moveTo>
                <a:lnTo>
                  <a:pt x="241905" y="137309"/>
                </a:lnTo>
                <a:lnTo>
                  <a:pt x="177800" y="174327"/>
                </a:lnTo>
                <a:lnTo>
                  <a:pt x="177800" y="100360"/>
                </a:lnTo>
                <a:lnTo>
                  <a:pt x="241141" y="63827"/>
                </a:lnTo>
                <a:cubicBezTo>
                  <a:pt x="241627" y="64661"/>
                  <a:pt x="241905" y="65633"/>
                  <a:pt x="241905" y="6660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397000" y="14986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Intrinsic Load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52500" y="2222500"/>
            <a:ext cx="431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100" kern="0" dirty="0">
                <a:solidFill>
                  <a:srgbClr val="1A5F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INHERENT COMPLEXITY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52500" y="2603500"/>
            <a:ext cx="4318000" cy="406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5000"/>
              </a:lnSpc>
            </a:pPr>
            <a:r>
              <a:rPr lang="en-US" sz="15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Determined by </a:t>
            </a:r>
            <a:pPr>
              <a:lnSpc>
                <a:spcPct val="155000"/>
              </a:lnSpc>
            </a:pPr>
            <a:r>
              <a:rPr lang="en-US" sz="1500" b="1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element interactivity</a:t>
            </a:r>
            <a:pPr>
              <a:lnSpc>
                <a:spcPct val="155000"/>
              </a:lnSpc>
            </a:pPr>
            <a:r>
              <a:rPr lang="en-US" sz="15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how many elements must be processed simultaneously</a:t>
            </a:r>
            <a:endParaRPr lang="en-US" sz="1800" dirty="0"/>
          </a:p>
          <a:p>
            <a:pPr>
              <a:lnSpc>
                <a:spcPct val="155000"/>
              </a:lnSpc>
            </a:pPr>
            <a:r>
              <a:rPr lang="en-US" sz="15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Depends on learner's </a:t>
            </a:r>
            <a:pPr>
              <a:lnSpc>
                <a:spcPct val="155000"/>
              </a:lnSpc>
            </a:pPr>
            <a:r>
              <a:rPr lang="en-US" sz="1500" b="1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prior knowledge</a:t>
            </a:r>
            <a:pPr>
              <a:lnSpc>
                <a:spcPct val="155000"/>
              </a:lnSpc>
            </a:pPr>
            <a:r>
              <a:rPr lang="en-US" sz="15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and expertise</a:t>
            </a:r>
            <a:endParaRPr lang="en-US" sz="1800" dirty="0"/>
          </a:p>
          <a:p>
            <a:pPr>
              <a:lnSpc>
                <a:spcPct val="155000"/>
              </a:lnSpc>
            </a:pPr>
            <a:r>
              <a:rPr lang="en-US" sz="15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High for novices, lower for experts with automated schemas</a:t>
            </a:r>
            <a:endParaRPr lang="en-US" sz="1800" dirty="0"/>
          </a:p>
          <a:p>
            <a:pPr>
              <a:lnSpc>
                <a:spcPct val="155000"/>
              </a:lnSpc>
            </a:pPr>
            <a:r>
              <a:rPr lang="en-US" sz="15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</a:t>
            </a:r>
            <a:pPr>
              <a:lnSpc>
                <a:spcPct val="155000"/>
              </a:lnSpc>
            </a:pPr>
            <a:r>
              <a:rPr lang="en-US" sz="1500" b="1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Cannot be eliminated</a:t>
            </a:r>
            <a:pPr>
              <a:lnSpc>
                <a:spcPct val="155000"/>
              </a:lnSpc>
            </a:pPr>
            <a:r>
              <a:rPr lang="en-US" sz="15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but can be managed through instructional design</a:t>
            </a:r>
            <a:endParaRPr lang="en-US" sz="1800" dirty="0"/>
          </a:p>
          <a:p>
            <a:pPr>
              <a:lnSpc>
                <a:spcPct val="155000"/>
              </a:lnSpc>
              <a:spcBef>
                <a:spcPts val="1000"/>
              </a:spcBef>
            </a:pPr>
            <a:r>
              <a:rPr lang="en-US" sz="1500" b="1" dirty="0">
                <a:solidFill>
                  <a:srgbClr val="1A5F6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Strategy:</a:t>
            </a:r>
            <a:pPr>
              <a:lnSpc>
                <a:spcPct val="155000"/>
              </a:lnSpc>
              <a:spcBef>
                <a:spcPts val="1000"/>
              </a:spcBef>
            </a:pPr>
            <a:r>
              <a:rPr lang="en-US" sz="15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Part-whole sequencing, worked examples, pre-training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778500" y="1397000"/>
            <a:ext cx="4699000" cy="5334000"/>
          </a:xfrm>
          <a:prstGeom prst="rect">
            <a:avLst/>
          </a:prstGeom>
          <a:solidFill>
            <a:srgbClr val="EDEAE5"/>
          </a:solidFill>
          <a:ln/>
        </p:spPr>
      </p:sp>
      <p:sp>
        <p:nvSpPr>
          <p:cNvPr id="12" name="Shape 10"/>
          <p:cNvSpPr/>
          <p:nvPr/>
        </p:nvSpPr>
        <p:spPr>
          <a:xfrm>
            <a:off x="5778500" y="1397000"/>
            <a:ext cx="4699000" cy="635000"/>
          </a:xfrm>
          <a:prstGeom prst="rect">
            <a:avLst/>
          </a:prstGeom>
          <a:solidFill>
            <a:srgbClr val="6B7B8D"/>
          </a:solidFill>
          <a:ln/>
        </p:spPr>
      </p:sp>
      <p:sp>
        <p:nvSpPr>
          <p:cNvPr id="13" name="Shape 11"/>
          <p:cNvSpPr/>
          <p:nvPr/>
        </p:nvSpPr>
        <p:spPr>
          <a:xfrm>
            <a:off x="5969000" y="1498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55032" y="286494"/>
                </a:moveTo>
                <a:lnTo>
                  <a:pt x="69106" y="100568"/>
                </a:lnTo>
                <a:cubicBezTo>
                  <a:pt x="53548" y="122376"/>
                  <a:pt x="44450" y="149046"/>
                  <a:pt x="44450" y="177800"/>
                </a:cubicBezTo>
                <a:cubicBezTo>
                  <a:pt x="44450" y="251420"/>
                  <a:pt x="104180" y="311150"/>
                  <a:pt x="177800" y="311150"/>
                </a:cubicBezTo>
                <a:cubicBezTo>
                  <a:pt x="206623" y="311150"/>
                  <a:pt x="233293" y="302052"/>
                  <a:pt x="255032" y="286494"/>
                </a:cubicBezTo>
                <a:close/>
                <a:moveTo>
                  <a:pt x="286494" y="255032"/>
                </a:moveTo>
                <a:cubicBezTo>
                  <a:pt x="302052" y="233224"/>
                  <a:pt x="311150" y="206554"/>
                  <a:pt x="311150" y="177800"/>
                </a:cubicBezTo>
                <a:cubicBezTo>
                  <a:pt x="311150" y="104180"/>
                  <a:pt x="251420" y="44450"/>
                  <a:pt x="177800" y="44450"/>
                </a:cubicBezTo>
                <a:cubicBezTo>
                  <a:pt x="148977" y="44450"/>
                  <a:pt x="122307" y="53548"/>
                  <a:pt x="100568" y="69106"/>
                </a:cubicBezTo>
                <a:lnTo>
                  <a:pt x="286494" y="255032"/>
                </a:lnTo>
                <a:close/>
                <a:moveTo>
                  <a:pt x="0" y="177800"/>
                </a:moveTo>
                <a:cubicBezTo>
                  <a:pt x="0" y="79670"/>
                  <a:pt x="79670" y="0"/>
                  <a:pt x="177800" y="0"/>
                </a:cubicBezTo>
                <a:cubicBezTo>
                  <a:pt x="275930" y="0"/>
                  <a:pt x="355600" y="79670"/>
                  <a:pt x="355600" y="177800"/>
                </a:cubicBezTo>
                <a:cubicBezTo>
                  <a:pt x="355600" y="275930"/>
                  <a:pt x="275930" y="355600"/>
                  <a:pt x="177800" y="355600"/>
                </a:cubicBezTo>
                <a:cubicBezTo>
                  <a:pt x="79670" y="355600"/>
                  <a:pt x="0" y="275930"/>
                  <a:pt x="0" y="1778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6413500" y="14986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Extraneous Load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969000" y="2222500"/>
            <a:ext cx="431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100" kern="0" dirty="0">
                <a:solidFill>
                  <a:srgbClr val="6B7B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AVOIDABLE — POOR DESIGN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969000" y="2603500"/>
            <a:ext cx="4318000" cy="393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5000"/>
              </a:lnSpc>
            </a:pPr>
            <a:r>
              <a:rPr lang="en-US" sz="15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Caused by </a:t>
            </a:r>
            <a:pPr>
              <a:lnSpc>
                <a:spcPct val="155000"/>
              </a:lnSpc>
            </a:pPr>
            <a:r>
              <a:rPr lang="en-US" sz="1500" b="1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unnecessary</a:t>
            </a:r>
            <a:pPr>
              <a:lnSpc>
                <a:spcPct val="155000"/>
              </a:lnSpc>
            </a:pPr>
            <a:r>
              <a:rPr lang="en-US" sz="15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processing demands from poor instructional design</a:t>
            </a:r>
            <a:endParaRPr lang="en-US" sz="1800" dirty="0"/>
          </a:p>
          <a:p>
            <a:pPr>
              <a:lnSpc>
                <a:spcPct val="155000"/>
              </a:lnSpc>
            </a:pPr>
            <a:r>
              <a:rPr lang="en-US" sz="15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Sources: split-attention, redundancy, irrelevant information</a:t>
            </a:r>
            <a:endParaRPr lang="en-US" sz="1800" dirty="0"/>
          </a:p>
          <a:p>
            <a:pPr>
              <a:lnSpc>
                <a:spcPct val="155000"/>
              </a:lnSpc>
            </a:pPr>
            <a:r>
              <a:rPr lang="en-US" sz="15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Wastes limited working memory capacity</a:t>
            </a:r>
            <a:endParaRPr lang="en-US" sz="1800" dirty="0"/>
          </a:p>
          <a:p>
            <a:pPr>
              <a:lnSpc>
                <a:spcPct val="155000"/>
              </a:lnSpc>
            </a:pPr>
            <a:r>
              <a:rPr lang="en-US" sz="15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</a:t>
            </a:r>
            <a:pPr>
              <a:lnSpc>
                <a:spcPct val="155000"/>
              </a:lnSpc>
            </a:pPr>
            <a:r>
              <a:rPr lang="en-US" sz="1500" b="1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Should be eliminated</a:t>
            </a:r>
            <a:pPr>
              <a:lnSpc>
                <a:spcPct val="155000"/>
              </a:lnSpc>
            </a:pPr>
            <a:r>
              <a:rPr lang="en-US" sz="15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entirely through good design</a:t>
            </a:r>
            <a:endParaRPr lang="en-US" sz="1800" dirty="0"/>
          </a:p>
          <a:p>
            <a:pPr>
              <a:lnSpc>
                <a:spcPct val="155000"/>
              </a:lnSpc>
              <a:spcBef>
                <a:spcPts val="1000"/>
              </a:spcBef>
            </a:pPr>
            <a:r>
              <a:rPr lang="en-US" sz="1500" b="1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Strategy:</a:t>
            </a:r>
            <a:pPr>
              <a:lnSpc>
                <a:spcPct val="155000"/>
              </a:lnSpc>
              <a:spcBef>
                <a:spcPts val="1000"/>
              </a:spcBef>
            </a:pPr>
            <a:r>
              <a:rPr lang="en-US" sz="15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Coherence, signaling, spatial/temporal contiguity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0795000" y="1397000"/>
            <a:ext cx="4699000" cy="5334000"/>
          </a:xfrm>
          <a:prstGeom prst="rect">
            <a:avLst/>
          </a:prstGeom>
          <a:solidFill>
            <a:srgbClr val="EDEAE5"/>
          </a:solidFill>
          <a:ln/>
        </p:spPr>
      </p:sp>
      <p:sp>
        <p:nvSpPr>
          <p:cNvPr id="18" name="Shape 16"/>
          <p:cNvSpPr/>
          <p:nvPr/>
        </p:nvSpPr>
        <p:spPr>
          <a:xfrm>
            <a:off x="10795000" y="1397000"/>
            <a:ext cx="4699000" cy="6350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19" name="Shape 17"/>
          <p:cNvSpPr/>
          <p:nvPr/>
        </p:nvSpPr>
        <p:spPr>
          <a:xfrm>
            <a:off x="11029950" y="14986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203428" y="266700"/>
                </a:moveTo>
                <a:cubicBezTo>
                  <a:pt x="208498" y="251212"/>
                  <a:pt x="218638" y="237182"/>
                  <a:pt x="230098" y="225098"/>
                </a:cubicBezTo>
                <a:cubicBezTo>
                  <a:pt x="252809" y="201206"/>
                  <a:pt x="266700" y="168910"/>
                  <a:pt x="266700" y="133350"/>
                </a:cubicBezTo>
                <a:cubicBezTo>
                  <a:pt x="266700" y="59730"/>
                  <a:pt x="206970" y="0"/>
                  <a:pt x="133350" y="0"/>
                </a:cubicBezTo>
                <a:cubicBezTo>
                  <a:pt x="59730" y="0"/>
                  <a:pt x="0" y="59730"/>
                  <a:pt x="0" y="133350"/>
                </a:cubicBezTo>
                <a:cubicBezTo>
                  <a:pt x="0" y="168910"/>
                  <a:pt x="13891" y="201206"/>
                  <a:pt x="36602" y="225098"/>
                </a:cubicBezTo>
                <a:cubicBezTo>
                  <a:pt x="48062" y="237182"/>
                  <a:pt x="58271" y="251212"/>
                  <a:pt x="63272" y="266700"/>
                </a:cubicBezTo>
                <a:lnTo>
                  <a:pt x="203359" y="266700"/>
                </a:lnTo>
                <a:close/>
                <a:moveTo>
                  <a:pt x="200025" y="300038"/>
                </a:moveTo>
                <a:lnTo>
                  <a:pt x="66675" y="300038"/>
                </a:lnTo>
                <a:lnTo>
                  <a:pt x="66675" y="311150"/>
                </a:lnTo>
                <a:cubicBezTo>
                  <a:pt x="66675" y="341848"/>
                  <a:pt x="91539" y="366712"/>
                  <a:pt x="122238" y="366712"/>
                </a:cubicBezTo>
                <a:lnTo>
                  <a:pt x="144463" y="366712"/>
                </a:lnTo>
                <a:cubicBezTo>
                  <a:pt x="175161" y="366712"/>
                  <a:pt x="200025" y="341848"/>
                  <a:pt x="200025" y="311150"/>
                </a:cubicBezTo>
                <a:lnTo>
                  <a:pt x="200025" y="300038"/>
                </a:lnTo>
                <a:close/>
                <a:moveTo>
                  <a:pt x="127794" y="77788"/>
                </a:moveTo>
                <a:cubicBezTo>
                  <a:pt x="100151" y="77788"/>
                  <a:pt x="77788" y="100151"/>
                  <a:pt x="77788" y="127794"/>
                </a:cubicBezTo>
                <a:cubicBezTo>
                  <a:pt x="77788" y="137031"/>
                  <a:pt x="70356" y="144463"/>
                  <a:pt x="61119" y="144463"/>
                </a:cubicBezTo>
                <a:cubicBezTo>
                  <a:pt x="51881" y="144463"/>
                  <a:pt x="44450" y="137031"/>
                  <a:pt x="44450" y="127794"/>
                </a:cubicBezTo>
                <a:cubicBezTo>
                  <a:pt x="44450" y="81746"/>
                  <a:pt x="81746" y="44450"/>
                  <a:pt x="127794" y="44450"/>
                </a:cubicBezTo>
                <a:cubicBezTo>
                  <a:pt x="137031" y="44450"/>
                  <a:pt x="144463" y="51881"/>
                  <a:pt x="144463" y="61119"/>
                </a:cubicBezTo>
                <a:cubicBezTo>
                  <a:pt x="144463" y="70356"/>
                  <a:pt x="137031" y="77788"/>
                  <a:pt x="127794" y="7778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11430000" y="14986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Germane Load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985500" y="2222500"/>
            <a:ext cx="431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100" kern="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DESIRABLE — DEEP LEARNING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985500" y="2603500"/>
            <a:ext cx="4318000" cy="393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5000"/>
              </a:lnSpc>
            </a:pPr>
            <a:r>
              <a:rPr lang="en-US" sz="15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Devoted to </a:t>
            </a:r>
            <a:pPr>
              <a:lnSpc>
                <a:spcPct val="155000"/>
              </a:lnSpc>
            </a:pPr>
            <a:r>
              <a:rPr lang="en-US" sz="1500" b="1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schema construction</a:t>
            </a:r>
            <a:pPr>
              <a:lnSpc>
                <a:spcPct val="155000"/>
              </a:lnSpc>
            </a:pPr>
            <a:r>
              <a:rPr lang="en-US" sz="15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and automation</a:t>
            </a:r>
            <a:endParaRPr lang="en-US" sz="1800" dirty="0"/>
          </a:p>
          <a:p>
            <a:pPr>
              <a:lnSpc>
                <a:spcPct val="155000"/>
              </a:lnSpc>
            </a:pPr>
            <a:r>
              <a:rPr lang="en-US" sz="15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Occurs during deep cognitive processing</a:t>
            </a:r>
            <a:endParaRPr lang="en-US" sz="1800" dirty="0"/>
          </a:p>
          <a:p>
            <a:pPr>
              <a:lnSpc>
                <a:spcPct val="155000"/>
              </a:lnSpc>
            </a:pPr>
            <a:r>
              <a:rPr lang="en-US" sz="15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Organizing, integrating, abstracting</a:t>
            </a:r>
            <a:endParaRPr lang="en-US" sz="1800" dirty="0"/>
          </a:p>
          <a:p>
            <a:pPr>
              <a:lnSpc>
                <a:spcPct val="155000"/>
              </a:lnSpc>
            </a:pPr>
            <a:r>
              <a:rPr lang="en-US" sz="15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</a:t>
            </a:r>
            <a:pPr>
              <a:lnSpc>
                <a:spcPct val="155000"/>
              </a:lnSpc>
            </a:pPr>
            <a:r>
              <a:rPr lang="en-US" sz="1500" b="1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Should be maximized</a:t>
            </a:r>
            <a:pPr>
              <a:lnSpc>
                <a:spcPct val="155000"/>
              </a:lnSpc>
            </a:pPr>
            <a:r>
              <a:rPr lang="en-US" sz="15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the "good" load</a:t>
            </a:r>
            <a:endParaRPr lang="en-US" sz="1800" dirty="0"/>
          </a:p>
          <a:p>
            <a:pPr>
              <a:lnSpc>
                <a:spcPct val="155000"/>
              </a:lnSpc>
              <a:spcBef>
                <a:spcPts val="1000"/>
              </a:spcBef>
            </a:pPr>
            <a:r>
              <a:rPr lang="en-US" sz="1500" b="1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Strategy:</a:t>
            </a:r>
            <a:pPr>
              <a:lnSpc>
                <a:spcPct val="155000"/>
              </a:lnSpc>
              <a:spcBef>
                <a:spcPts val="1000"/>
              </a:spcBef>
            </a:pPr>
            <a:r>
              <a:rPr lang="en-US" sz="15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Varied examples, self-explanation, elaboration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62000" y="7048500"/>
            <a:ext cx="1473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1800" b="1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Total Cognitive Load</a:t>
            </a:r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= </a:t>
            </a:r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1A5F6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Intrinsic</a:t>
            </a:r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+ </a:t>
            </a:r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Extraneous</a:t>
            </a:r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+ </a:t>
            </a:r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Germane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62000" y="7747000"/>
            <a:ext cx="762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Source: Sweller, van Merriënboer &amp; Paas (1998); Sweller (2020)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4986000" y="8636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06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1A5F6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44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A5F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Intrinsic Cognitive Load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016000"/>
            <a:ext cx="635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333500"/>
            <a:ext cx="7112000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Intrinsic cognitive load is determined by the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inherent complexity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of the learning material and the learner's prior knowledge. The key factor is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A5F6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element interactivity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the number of elements that must be processed simultaneously.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For 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novices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even simple material can have high intrinsic load because they lack automated schemas. For 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experts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the same material has low intrinsic load due to existing schemas in long-term memory.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382000" y="1333500"/>
            <a:ext cx="7112000" cy="2540000"/>
          </a:xfrm>
          <a:prstGeom prst="rect">
            <a:avLst/>
          </a:prstGeom>
          <a:solidFill>
            <a:srgbClr val="EDEAE5"/>
          </a:solidFill>
          <a:ln/>
        </p:spPr>
      </p:sp>
      <p:sp>
        <p:nvSpPr>
          <p:cNvPr id="7" name="Text 5"/>
          <p:cNvSpPr/>
          <p:nvPr/>
        </p:nvSpPr>
        <p:spPr>
          <a:xfrm>
            <a:off x="8636000" y="14605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1A5F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EXAMPLE: ELEMENT INTERACTIVITY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36000" y="1841500"/>
            <a:ext cx="6604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Low interactivity: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Learning vocabulary words — each word can be learned independently.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High interactivity: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Understanding a electrical circuit — must process voltage, current, resistance, and Ohm's Law simultaneously.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62000" y="43180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1A5F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INSTRUCTIONAL STRATEGIES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62000" y="4699000"/>
            <a:ext cx="4699000" cy="1206500"/>
          </a:xfrm>
          <a:prstGeom prst="rect">
            <a:avLst/>
          </a:prstGeom>
          <a:solidFill>
            <a:srgbClr val="EDEAE5"/>
          </a:solidFill>
          <a:ln/>
        </p:spPr>
      </p:sp>
      <p:sp>
        <p:nvSpPr>
          <p:cNvPr id="11" name="Shape 9"/>
          <p:cNvSpPr/>
          <p:nvPr/>
        </p:nvSpPr>
        <p:spPr>
          <a:xfrm>
            <a:off x="952500" y="4826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42863"/>
                </a:moveTo>
                <a:cubicBezTo>
                  <a:pt x="0" y="35004"/>
                  <a:pt x="6370" y="28575"/>
                  <a:pt x="14288" y="28575"/>
                </a:cubicBezTo>
                <a:lnTo>
                  <a:pt x="42863" y="28575"/>
                </a:lnTo>
                <a:cubicBezTo>
                  <a:pt x="50780" y="28575"/>
                  <a:pt x="57150" y="34945"/>
                  <a:pt x="57150" y="42863"/>
                </a:cubicBezTo>
                <a:lnTo>
                  <a:pt x="57150" y="104775"/>
                </a:lnTo>
                <a:lnTo>
                  <a:pt x="71438" y="104775"/>
                </a:lnTo>
                <a:cubicBezTo>
                  <a:pt x="79355" y="104775"/>
                  <a:pt x="85725" y="111145"/>
                  <a:pt x="85725" y="119062"/>
                </a:cubicBezTo>
                <a:cubicBezTo>
                  <a:pt x="85725" y="126980"/>
                  <a:pt x="79355" y="133350"/>
                  <a:pt x="71438" y="133350"/>
                </a:cubicBezTo>
                <a:lnTo>
                  <a:pt x="14288" y="133350"/>
                </a:lnTo>
                <a:cubicBezTo>
                  <a:pt x="6370" y="133350"/>
                  <a:pt x="0" y="126980"/>
                  <a:pt x="0" y="119062"/>
                </a:cubicBezTo>
                <a:cubicBezTo>
                  <a:pt x="0" y="111145"/>
                  <a:pt x="6370" y="104775"/>
                  <a:pt x="14288" y="104775"/>
                </a:cubicBezTo>
                <a:lnTo>
                  <a:pt x="28575" y="104775"/>
                </a:lnTo>
                <a:lnTo>
                  <a:pt x="28575" y="57150"/>
                </a:lnTo>
                <a:lnTo>
                  <a:pt x="14288" y="57150"/>
                </a:lnTo>
                <a:cubicBezTo>
                  <a:pt x="6370" y="57150"/>
                  <a:pt x="0" y="50780"/>
                  <a:pt x="0" y="42863"/>
                </a:cubicBezTo>
                <a:close/>
                <a:moveTo>
                  <a:pt x="18098" y="179308"/>
                </a:moveTo>
                <a:cubicBezTo>
                  <a:pt x="24884" y="174188"/>
                  <a:pt x="33159" y="171450"/>
                  <a:pt x="41672" y="171450"/>
                </a:cubicBezTo>
                <a:lnTo>
                  <a:pt x="44589" y="171450"/>
                </a:lnTo>
                <a:cubicBezTo>
                  <a:pt x="64651" y="171450"/>
                  <a:pt x="80962" y="187762"/>
                  <a:pt x="80962" y="207824"/>
                </a:cubicBezTo>
                <a:cubicBezTo>
                  <a:pt x="80962" y="219492"/>
                  <a:pt x="75367" y="230386"/>
                  <a:pt x="65961" y="237232"/>
                </a:cubicBezTo>
                <a:lnTo>
                  <a:pt x="51673" y="247650"/>
                </a:lnTo>
                <a:lnTo>
                  <a:pt x="71438" y="247650"/>
                </a:lnTo>
                <a:cubicBezTo>
                  <a:pt x="79355" y="247650"/>
                  <a:pt x="85725" y="254020"/>
                  <a:pt x="85725" y="261937"/>
                </a:cubicBezTo>
                <a:cubicBezTo>
                  <a:pt x="85725" y="269855"/>
                  <a:pt x="79355" y="276225"/>
                  <a:pt x="71438" y="276225"/>
                </a:cubicBezTo>
                <a:lnTo>
                  <a:pt x="17443" y="276225"/>
                </a:lnTo>
                <a:cubicBezTo>
                  <a:pt x="7799" y="276225"/>
                  <a:pt x="0" y="268426"/>
                  <a:pt x="0" y="258782"/>
                </a:cubicBezTo>
                <a:cubicBezTo>
                  <a:pt x="0" y="253186"/>
                  <a:pt x="2679" y="247948"/>
                  <a:pt x="7203" y="244673"/>
                </a:cubicBezTo>
                <a:lnTo>
                  <a:pt x="49173" y="214134"/>
                </a:lnTo>
                <a:cubicBezTo>
                  <a:pt x="51197" y="212646"/>
                  <a:pt x="52388" y="210324"/>
                  <a:pt x="52388" y="207824"/>
                </a:cubicBezTo>
                <a:cubicBezTo>
                  <a:pt x="52388" y="203537"/>
                  <a:pt x="48875" y="200025"/>
                  <a:pt x="44589" y="200025"/>
                </a:cubicBezTo>
                <a:lnTo>
                  <a:pt x="41672" y="200025"/>
                </a:lnTo>
                <a:cubicBezTo>
                  <a:pt x="39350" y="200025"/>
                  <a:pt x="37088" y="200799"/>
                  <a:pt x="35243" y="202168"/>
                </a:cubicBezTo>
                <a:lnTo>
                  <a:pt x="22860" y="211455"/>
                </a:lnTo>
                <a:cubicBezTo>
                  <a:pt x="16550" y="216218"/>
                  <a:pt x="7620" y="214908"/>
                  <a:pt x="2857" y="208597"/>
                </a:cubicBezTo>
                <a:cubicBezTo>
                  <a:pt x="-1905" y="202287"/>
                  <a:pt x="-595" y="193358"/>
                  <a:pt x="5715" y="188595"/>
                </a:cubicBezTo>
                <a:lnTo>
                  <a:pt x="18098" y="179308"/>
                </a:lnTo>
                <a:close/>
                <a:moveTo>
                  <a:pt x="133350" y="38100"/>
                </a:moveTo>
                <a:lnTo>
                  <a:pt x="285750" y="38100"/>
                </a:lnTo>
                <a:cubicBezTo>
                  <a:pt x="296287" y="38100"/>
                  <a:pt x="304800" y="46613"/>
                  <a:pt x="304800" y="57150"/>
                </a:cubicBezTo>
                <a:cubicBezTo>
                  <a:pt x="304800" y="67687"/>
                  <a:pt x="296287" y="76200"/>
                  <a:pt x="285750" y="76200"/>
                </a:cubicBezTo>
                <a:lnTo>
                  <a:pt x="133350" y="76200"/>
                </a:lnTo>
                <a:cubicBezTo>
                  <a:pt x="122813" y="76200"/>
                  <a:pt x="114300" y="67687"/>
                  <a:pt x="114300" y="57150"/>
                </a:cubicBezTo>
                <a:cubicBezTo>
                  <a:pt x="114300" y="46613"/>
                  <a:pt x="122813" y="38100"/>
                  <a:pt x="133350" y="38100"/>
                </a:cubicBezTo>
                <a:close/>
                <a:moveTo>
                  <a:pt x="133350" y="133350"/>
                </a:moveTo>
                <a:lnTo>
                  <a:pt x="285750" y="133350"/>
                </a:lnTo>
                <a:cubicBezTo>
                  <a:pt x="296287" y="133350"/>
                  <a:pt x="304800" y="141863"/>
                  <a:pt x="304800" y="152400"/>
                </a:cubicBezTo>
                <a:cubicBezTo>
                  <a:pt x="304800" y="162937"/>
                  <a:pt x="296287" y="171450"/>
                  <a:pt x="285750" y="171450"/>
                </a:cubicBezTo>
                <a:lnTo>
                  <a:pt x="133350" y="171450"/>
                </a:lnTo>
                <a:cubicBezTo>
                  <a:pt x="122813" y="171450"/>
                  <a:pt x="114300" y="162937"/>
                  <a:pt x="114300" y="152400"/>
                </a:cubicBezTo>
                <a:cubicBezTo>
                  <a:pt x="114300" y="141863"/>
                  <a:pt x="122813" y="133350"/>
                  <a:pt x="133350" y="133350"/>
                </a:cubicBezTo>
                <a:close/>
                <a:moveTo>
                  <a:pt x="133350" y="228600"/>
                </a:moveTo>
                <a:lnTo>
                  <a:pt x="285750" y="228600"/>
                </a:lnTo>
                <a:cubicBezTo>
                  <a:pt x="296287" y="228600"/>
                  <a:pt x="304800" y="237113"/>
                  <a:pt x="304800" y="247650"/>
                </a:cubicBezTo>
                <a:cubicBezTo>
                  <a:pt x="304800" y="258187"/>
                  <a:pt x="296287" y="266700"/>
                  <a:pt x="285750" y="266700"/>
                </a:cubicBezTo>
                <a:lnTo>
                  <a:pt x="133350" y="266700"/>
                </a:lnTo>
                <a:cubicBezTo>
                  <a:pt x="122813" y="266700"/>
                  <a:pt x="114300" y="258187"/>
                  <a:pt x="114300" y="247650"/>
                </a:cubicBezTo>
                <a:cubicBezTo>
                  <a:pt x="114300" y="237113"/>
                  <a:pt x="122813" y="228600"/>
                  <a:pt x="133350" y="228600"/>
                </a:cubicBezTo>
                <a:close/>
              </a:path>
            </a:pathLst>
          </a:custGeom>
          <a:solidFill>
            <a:srgbClr val="1A5F6E"/>
          </a:solidFill>
          <a:ln/>
        </p:spPr>
      </p:sp>
      <p:sp>
        <p:nvSpPr>
          <p:cNvPr id="12" name="Text 10"/>
          <p:cNvSpPr/>
          <p:nvPr/>
        </p:nvSpPr>
        <p:spPr>
          <a:xfrm>
            <a:off x="1397000" y="48006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2B2B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Part-Whole Sequencing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397000" y="5181600"/>
            <a:ext cx="381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Teach component skills before integrating them into the whole task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778500" y="4699000"/>
            <a:ext cx="4699000" cy="1206500"/>
          </a:xfrm>
          <a:prstGeom prst="rect">
            <a:avLst/>
          </a:prstGeom>
          <a:solidFill>
            <a:srgbClr val="EDEAE5"/>
          </a:solidFill>
          <a:ln/>
        </p:spPr>
      </p:sp>
      <p:sp>
        <p:nvSpPr>
          <p:cNvPr id="15" name="Shape 13"/>
          <p:cNvSpPr/>
          <p:nvPr/>
        </p:nvSpPr>
        <p:spPr>
          <a:xfrm>
            <a:off x="5969000" y="4826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40506" y="0"/>
                </a:moveTo>
                <a:cubicBezTo>
                  <a:pt x="251936" y="0"/>
                  <a:pt x="262890" y="4524"/>
                  <a:pt x="270927" y="12621"/>
                </a:cubicBezTo>
                <a:lnTo>
                  <a:pt x="292179" y="33873"/>
                </a:lnTo>
                <a:cubicBezTo>
                  <a:pt x="300276" y="41910"/>
                  <a:pt x="304800" y="52864"/>
                  <a:pt x="304800" y="64294"/>
                </a:cubicBezTo>
                <a:cubicBezTo>
                  <a:pt x="304800" y="75724"/>
                  <a:pt x="300276" y="86678"/>
                  <a:pt x="292179" y="94714"/>
                </a:cubicBezTo>
                <a:lnTo>
                  <a:pt x="265450" y="121444"/>
                </a:lnTo>
                <a:lnTo>
                  <a:pt x="183356" y="39350"/>
                </a:lnTo>
                <a:lnTo>
                  <a:pt x="210086" y="12621"/>
                </a:lnTo>
                <a:cubicBezTo>
                  <a:pt x="218123" y="4524"/>
                  <a:pt x="229076" y="0"/>
                  <a:pt x="240506" y="0"/>
                </a:cubicBezTo>
                <a:close/>
                <a:moveTo>
                  <a:pt x="35064" y="187583"/>
                </a:moveTo>
                <a:lnTo>
                  <a:pt x="163175" y="59531"/>
                </a:lnTo>
                <a:lnTo>
                  <a:pt x="245269" y="141625"/>
                </a:lnTo>
                <a:lnTo>
                  <a:pt x="117217" y="269736"/>
                </a:lnTo>
                <a:cubicBezTo>
                  <a:pt x="110847" y="276106"/>
                  <a:pt x="102870" y="280749"/>
                  <a:pt x="94178" y="283190"/>
                </a:cubicBezTo>
                <a:lnTo>
                  <a:pt x="18098" y="304264"/>
                </a:lnTo>
                <a:cubicBezTo>
                  <a:pt x="13156" y="305633"/>
                  <a:pt x="7799" y="304264"/>
                  <a:pt x="4167" y="300573"/>
                </a:cubicBezTo>
                <a:cubicBezTo>
                  <a:pt x="536" y="296882"/>
                  <a:pt x="-893" y="291584"/>
                  <a:pt x="476" y="286643"/>
                </a:cubicBezTo>
                <a:lnTo>
                  <a:pt x="21669" y="210622"/>
                </a:lnTo>
                <a:cubicBezTo>
                  <a:pt x="24110" y="201930"/>
                  <a:pt x="28694" y="194012"/>
                  <a:pt x="35123" y="187583"/>
                </a:cubicBezTo>
                <a:close/>
                <a:moveTo>
                  <a:pt x="134183" y="48101"/>
                </a:moveTo>
                <a:lnTo>
                  <a:pt x="48101" y="134183"/>
                </a:lnTo>
                <a:lnTo>
                  <a:pt x="6965" y="93047"/>
                </a:lnTo>
                <a:cubicBezTo>
                  <a:pt x="-2322" y="83760"/>
                  <a:pt x="-2322" y="68699"/>
                  <a:pt x="6965" y="59353"/>
                </a:cubicBezTo>
                <a:lnTo>
                  <a:pt x="59353" y="6965"/>
                </a:lnTo>
                <a:cubicBezTo>
                  <a:pt x="68640" y="-2322"/>
                  <a:pt x="83701" y="-2322"/>
                  <a:pt x="93047" y="6965"/>
                </a:cubicBezTo>
                <a:lnTo>
                  <a:pt x="96560" y="10478"/>
                </a:lnTo>
                <a:lnTo>
                  <a:pt x="63044" y="43994"/>
                </a:lnTo>
                <a:cubicBezTo>
                  <a:pt x="58400" y="48637"/>
                  <a:pt x="58400" y="56198"/>
                  <a:pt x="63044" y="60841"/>
                </a:cubicBezTo>
                <a:cubicBezTo>
                  <a:pt x="67687" y="65484"/>
                  <a:pt x="75248" y="65484"/>
                  <a:pt x="79891" y="60841"/>
                </a:cubicBezTo>
                <a:lnTo>
                  <a:pt x="113407" y="27325"/>
                </a:lnTo>
                <a:lnTo>
                  <a:pt x="134183" y="48101"/>
                </a:lnTo>
                <a:close/>
                <a:moveTo>
                  <a:pt x="256699" y="170617"/>
                </a:moveTo>
                <a:lnTo>
                  <a:pt x="277475" y="191393"/>
                </a:lnTo>
                <a:lnTo>
                  <a:pt x="243959" y="224909"/>
                </a:lnTo>
                <a:cubicBezTo>
                  <a:pt x="239316" y="229553"/>
                  <a:pt x="239316" y="237113"/>
                  <a:pt x="243959" y="241756"/>
                </a:cubicBezTo>
                <a:cubicBezTo>
                  <a:pt x="248602" y="246400"/>
                  <a:pt x="256163" y="246400"/>
                  <a:pt x="260806" y="241756"/>
                </a:cubicBezTo>
                <a:lnTo>
                  <a:pt x="294322" y="208240"/>
                </a:lnTo>
                <a:lnTo>
                  <a:pt x="297835" y="211753"/>
                </a:lnTo>
                <a:cubicBezTo>
                  <a:pt x="307122" y="221040"/>
                  <a:pt x="307122" y="236101"/>
                  <a:pt x="297835" y="245447"/>
                </a:cubicBezTo>
                <a:lnTo>
                  <a:pt x="245447" y="297835"/>
                </a:lnTo>
                <a:cubicBezTo>
                  <a:pt x="236160" y="307122"/>
                  <a:pt x="221099" y="307122"/>
                  <a:pt x="211753" y="297835"/>
                </a:cubicBezTo>
                <a:lnTo>
                  <a:pt x="170617" y="256699"/>
                </a:lnTo>
                <a:lnTo>
                  <a:pt x="256699" y="170617"/>
                </a:lnTo>
                <a:close/>
              </a:path>
            </a:pathLst>
          </a:custGeom>
          <a:solidFill>
            <a:srgbClr val="1A5F6E"/>
          </a:solidFill>
          <a:ln/>
        </p:spPr>
      </p:sp>
      <p:sp>
        <p:nvSpPr>
          <p:cNvPr id="16" name="Text 14"/>
          <p:cNvSpPr/>
          <p:nvPr/>
        </p:nvSpPr>
        <p:spPr>
          <a:xfrm>
            <a:off x="6413500" y="48006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2B2B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Worked Examples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413500" y="5181600"/>
            <a:ext cx="381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Provide step-by-step solutions to reduce processing demands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0795000" y="4699000"/>
            <a:ext cx="4699000" cy="1206500"/>
          </a:xfrm>
          <a:prstGeom prst="rect">
            <a:avLst/>
          </a:prstGeom>
          <a:solidFill>
            <a:srgbClr val="EDEAE5"/>
          </a:solidFill>
          <a:ln/>
        </p:spPr>
      </p:sp>
      <p:sp>
        <p:nvSpPr>
          <p:cNvPr id="19" name="Shape 17"/>
          <p:cNvSpPr/>
          <p:nvPr/>
        </p:nvSpPr>
        <p:spPr>
          <a:xfrm>
            <a:off x="10966450" y="48260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28575" y="116562"/>
                </a:moveTo>
                <a:lnTo>
                  <a:pt x="153114" y="167819"/>
                </a:lnTo>
                <a:cubicBezTo>
                  <a:pt x="158948" y="170200"/>
                  <a:pt x="165140" y="171450"/>
                  <a:pt x="171450" y="171450"/>
                </a:cubicBezTo>
                <a:cubicBezTo>
                  <a:pt x="177760" y="171450"/>
                  <a:pt x="183952" y="170200"/>
                  <a:pt x="189786" y="167819"/>
                </a:cubicBezTo>
                <a:lnTo>
                  <a:pt x="334089" y="108406"/>
                </a:lnTo>
                <a:cubicBezTo>
                  <a:pt x="339447" y="106204"/>
                  <a:pt x="342900" y="101025"/>
                  <a:pt x="342900" y="95250"/>
                </a:cubicBezTo>
                <a:cubicBezTo>
                  <a:pt x="342900" y="89475"/>
                  <a:pt x="339447" y="84296"/>
                  <a:pt x="334089" y="82094"/>
                </a:cubicBezTo>
                <a:lnTo>
                  <a:pt x="189786" y="22681"/>
                </a:lnTo>
                <a:cubicBezTo>
                  <a:pt x="183952" y="20300"/>
                  <a:pt x="177760" y="19050"/>
                  <a:pt x="171450" y="19050"/>
                </a:cubicBezTo>
                <a:cubicBezTo>
                  <a:pt x="165140" y="19050"/>
                  <a:pt x="158948" y="20300"/>
                  <a:pt x="153114" y="22681"/>
                </a:cubicBezTo>
                <a:lnTo>
                  <a:pt x="8811" y="82094"/>
                </a:lnTo>
                <a:cubicBezTo>
                  <a:pt x="3453" y="84296"/>
                  <a:pt x="0" y="89475"/>
                  <a:pt x="0" y="95250"/>
                </a:cubicBezTo>
                <a:lnTo>
                  <a:pt x="0" y="271463"/>
                </a:lnTo>
                <a:cubicBezTo>
                  <a:pt x="0" y="279380"/>
                  <a:pt x="6370" y="285750"/>
                  <a:pt x="14288" y="285750"/>
                </a:cubicBezTo>
                <a:cubicBezTo>
                  <a:pt x="22205" y="285750"/>
                  <a:pt x="28575" y="279380"/>
                  <a:pt x="28575" y="271463"/>
                </a:cubicBezTo>
                <a:lnTo>
                  <a:pt x="28575" y="116562"/>
                </a:lnTo>
                <a:close/>
                <a:moveTo>
                  <a:pt x="57150" y="159246"/>
                </a:moveTo>
                <a:lnTo>
                  <a:pt x="57150" y="228600"/>
                </a:lnTo>
                <a:cubicBezTo>
                  <a:pt x="57150" y="260152"/>
                  <a:pt x="108347" y="285750"/>
                  <a:pt x="171450" y="285750"/>
                </a:cubicBezTo>
                <a:cubicBezTo>
                  <a:pt x="234553" y="285750"/>
                  <a:pt x="285750" y="260152"/>
                  <a:pt x="285750" y="228600"/>
                </a:cubicBezTo>
                <a:lnTo>
                  <a:pt x="285750" y="159187"/>
                </a:lnTo>
                <a:lnTo>
                  <a:pt x="200680" y="194250"/>
                </a:lnTo>
                <a:cubicBezTo>
                  <a:pt x="191393" y="198060"/>
                  <a:pt x="181511" y="200025"/>
                  <a:pt x="171450" y="200025"/>
                </a:cubicBezTo>
                <a:cubicBezTo>
                  <a:pt x="161389" y="200025"/>
                  <a:pt x="151507" y="198060"/>
                  <a:pt x="142220" y="194250"/>
                </a:cubicBezTo>
                <a:lnTo>
                  <a:pt x="57150" y="159187"/>
                </a:lnTo>
                <a:close/>
              </a:path>
            </a:pathLst>
          </a:custGeom>
          <a:solidFill>
            <a:srgbClr val="1A5F6E"/>
          </a:solidFill>
          <a:ln/>
        </p:spPr>
      </p:sp>
      <p:sp>
        <p:nvSpPr>
          <p:cNvPr id="20" name="Text 18"/>
          <p:cNvSpPr/>
          <p:nvPr/>
        </p:nvSpPr>
        <p:spPr>
          <a:xfrm>
            <a:off x="11430000" y="48006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2B2B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Pre-Training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1430000" y="5181600"/>
            <a:ext cx="381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Teach key component concepts before the main lesson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62000" y="60325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1A5F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EXPERTISE REVERSAL EFFECT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62000" y="6375400"/>
            <a:ext cx="1473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Instructional techniques that help novices (like worked examples) can actually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hinder experts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who have already automated the skills. Experts benefit more from problem-solving practice than from worked examples. This is why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adaptive instruction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that adjusts to learner expertise is critical.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62000" y="7493000"/>
            <a:ext cx="762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Source: Sweller (1994); Kalyuga et al. (2003) — Expertise Reversal Effect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4986000" y="8636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07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1A5F6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44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A5F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Extraneous Cognitive Load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016000"/>
            <a:ext cx="635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333500"/>
            <a:ext cx="147320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Extraneous cognitive load is caused by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unnecessary processing demands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from poor instructional design. Unlike intrinsic load, extraneous load is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completely avoidable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 It represents wasted working memory capacity that could be devoted to learning.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62000" y="22860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1A5F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COMMON SOURCES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62000" y="2730500"/>
            <a:ext cx="3429000" cy="1778000"/>
          </a:xfrm>
          <a:prstGeom prst="rect">
            <a:avLst/>
          </a:prstGeom>
          <a:solidFill>
            <a:srgbClr val="EDEAE5"/>
          </a:solidFill>
          <a:ln/>
        </p:spPr>
      </p:sp>
      <p:sp>
        <p:nvSpPr>
          <p:cNvPr id="8" name="Shape 6"/>
          <p:cNvSpPr/>
          <p:nvPr/>
        </p:nvSpPr>
        <p:spPr>
          <a:xfrm>
            <a:off x="952500" y="2895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14300" y="152400"/>
                </a:moveTo>
                <a:lnTo>
                  <a:pt x="90785" y="175915"/>
                </a:lnTo>
                <a:cubicBezTo>
                  <a:pt x="83284" y="172998"/>
                  <a:pt x="75188" y="171450"/>
                  <a:pt x="66675" y="171450"/>
                </a:cubicBezTo>
                <a:cubicBezTo>
                  <a:pt x="29825" y="171450"/>
                  <a:pt x="0" y="201275"/>
                  <a:pt x="0" y="238125"/>
                </a:cubicBezTo>
                <a:cubicBezTo>
                  <a:pt x="0" y="274975"/>
                  <a:pt x="29825" y="304800"/>
                  <a:pt x="66675" y="304800"/>
                </a:cubicBezTo>
                <a:cubicBezTo>
                  <a:pt x="103525" y="304800"/>
                  <a:pt x="133350" y="274975"/>
                  <a:pt x="133350" y="238125"/>
                </a:cubicBezTo>
                <a:cubicBezTo>
                  <a:pt x="133350" y="229612"/>
                  <a:pt x="131743" y="221516"/>
                  <a:pt x="128885" y="214015"/>
                </a:cubicBezTo>
                <a:lnTo>
                  <a:pt x="297180" y="45720"/>
                </a:lnTo>
                <a:cubicBezTo>
                  <a:pt x="301407" y="41493"/>
                  <a:pt x="301407" y="34707"/>
                  <a:pt x="297180" y="30480"/>
                </a:cubicBezTo>
                <a:cubicBezTo>
                  <a:pt x="280333" y="13633"/>
                  <a:pt x="253067" y="13633"/>
                  <a:pt x="236220" y="30480"/>
                </a:cubicBezTo>
                <a:lnTo>
                  <a:pt x="152400" y="114300"/>
                </a:lnTo>
                <a:lnTo>
                  <a:pt x="128885" y="90785"/>
                </a:lnTo>
                <a:cubicBezTo>
                  <a:pt x="131802" y="83284"/>
                  <a:pt x="133350" y="75188"/>
                  <a:pt x="133350" y="66675"/>
                </a:cubicBezTo>
                <a:cubicBezTo>
                  <a:pt x="133350" y="29825"/>
                  <a:pt x="103525" y="0"/>
                  <a:pt x="66675" y="0"/>
                </a:cubicBezTo>
                <a:cubicBezTo>
                  <a:pt x="29825" y="0"/>
                  <a:pt x="0" y="29825"/>
                  <a:pt x="0" y="66675"/>
                </a:cubicBezTo>
                <a:cubicBezTo>
                  <a:pt x="0" y="103525"/>
                  <a:pt x="29825" y="133350"/>
                  <a:pt x="66675" y="133350"/>
                </a:cubicBezTo>
                <a:cubicBezTo>
                  <a:pt x="75188" y="133350"/>
                  <a:pt x="83284" y="131743"/>
                  <a:pt x="90785" y="128885"/>
                </a:cubicBezTo>
                <a:lnTo>
                  <a:pt x="114300" y="152400"/>
                </a:lnTo>
                <a:close/>
                <a:moveTo>
                  <a:pt x="172581" y="210681"/>
                </a:moveTo>
                <a:lnTo>
                  <a:pt x="236220" y="274320"/>
                </a:lnTo>
                <a:cubicBezTo>
                  <a:pt x="253067" y="291167"/>
                  <a:pt x="280333" y="291167"/>
                  <a:pt x="297180" y="274320"/>
                </a:cubicBezTo>
                <a:cubicBezTo>
                  <a:pt x="301407" y="270093"/>
                  <a:pt x="301407" y="263307"/>
                  <a:pt x="297180" y="259080"/>
                </a:cubicBezTo>
                <a:lnTo>
                  <a:pt x="210681" y="172581"/>
                </a:lnTo>
                <a:lnTo>
                  <a:pt x="172581" y="210681"/>
                </a:lnTo>
                <a:close/>
                <a:moveTo>
                  <a:pt x="38100" y="66675"/>
                </a:moveTo>
                <a:cubicBezTo>
                  <a:pt x="38100" y="50904"/>
                  <a:pt x="50904" y="38100"/>
                  <a:pt x="66675" y="38100"/>
                </a:cubicBezTo>
                <a:cubicBezTo>
                  <a:pt x="82446" y="38100"/>
                  <a:pt x="95250" y="50904"/>
                  <a:pt x="95250" y="66675"/>
                </a:cubicBezTo>
                <a:cubicBezTo>
                  <a:pt x="95250" y="82446"/>
                  <a:pt x="82446" y="95250"/>
                  <a:pt x="66675" y="95250"/>
                </a:cubicBezTo>
                <a:cubicBezTo>
                  <a:pt x="50904" y="95250"/>
                  <a:pt x="38100" y="82446"/>
                  <a:pt x="38100" y="66675"/>
                </a:cubicBezTo>
                <a:close/>
                <a:moveTo>
                  <a:pt x="66675" y="209550"/>
                </a:moveTo>
                <a:cubicBezTo>
                  <a:pt x="82446" y="209550"/>
                  <a:pt x="95250" y="222354"/>
                  <a:pt x="95250" y="238125"/>
                </a:cubicBezTo>
                <a:cubicBezTo>
                  <a:pt x="95250" y="253896"/>
                  <a:pt x="82446" y="266700"/>
                  <a:pt x="66675" y="266700"/>
                </a:cubicBezTo>
                <a:cubicBezTo>
                  <a:pt x="50904" y="266700"/>
                  <a:pt x="38100" y="253896"/>
                  <a:pt x="38100" y="238125"/>
                </a:cubicBezTo>
                <a:cubicBezTo>
                  <a:pt x="38100" y="222354"/>
                  <a:pt x="50904" y="209550"/>
                  <a:pt x="66675" y="209550"/>
                </a:cubicBezTo>
                <a:close/>
              </a:path>
            </a:pathLst>
          </a:custGeom>
          <a:solidFill>
            <a:srgbClr val="6B7B8D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28702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2B2B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Split-Attention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52500" y="3276600"/>
            <a:ext cx="3048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Related information is physically or temporally separated, forcing learners to mentally integrate it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508500" y="2730500"/>
            <a:ext cx="3429000" cy="1778000"/>
          </a:xfrm>
          <a:prstGeom prst="rect">
            <a:avLst/>
          </a:prstGeom>
          <a:solidFill>
            <a:srgbClr val="EDEAE5"/>
          </a:solidFill>
          <a:ln/>
        </p:spPr>
      </p:sp>
      <p:sp>
        <p:nvSpPr>
          <p:cNvPr id="12" name="Shape 10"/>
          <p:cNvSpPr/>
          <p:nvPr/>
        </p:nvSpPr>
        <p:spPr>
          <a:xfrm>
            <a:off x="4718050" y="28956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114300" y="0"/>
                </a:moveTo>
                <a:cubicBezTo>
                  <a:pt x="93285" y="0"/>
                  <a:pt x="76200" y="17085"/>
                  <a:pt x="76200" y="38100"/>
                </a:cubicBezTo>
                <a:lnTo>
                  <a:pt x="76200" y="190500"/>
                </a:lnTo>
                <a:cubicBezTo>
                  <a:pt x="76200" y="211515"/>
                  <a:pt x="93285" y="228600"/>
                  <a:pt x="114300" y="228600"/>
                </a:cubicBezTo>
                <a:lnTo>
                  <a:pt x="228600" y="228600"/>
                </a:lnTo>
                <a:cubicBezTo>
                  <a:pt x="249615" y="228600"/>
                  <a:pt x="266700" y="211515"/>
                  <a:pt x="266700" y="190500"/>
                </a:cubicBezTo>
                <a:lnTo>
                  <a:pt x="266700" y="71080"/>
                </a:lnTo>
                <a:cubicBezTo>
                  <a:pt x="266700" y="60722"/>
                  <a:pt x="262473" y="50780"/>
                  <a:pt x="254972" y="43577"/>
                </a:cubicBezTo>
                <a:lnTo>
                  <a:pt x="220623" y="10597"/>
                </a:lnTo>
                <a:cubicBezTo>
                  <a:pt x="213539" y="3810"/>
                  <a:pt x="204073" y="0"/>
                  <a:pt x="194250" y="0"/>
                </a:cubicBezTo>
                <a:lnTo>
                  <a:pt x="114300" y="0"/>
                </a:lnTo>
                <a:close/>
                <a:moveTo>
                  <a:pt x="38100" y="76200"/>
                </a:moveTo>
                <a:cubicBezTo>
                  <a:pt x="17085" y="76200"/>
                  <a:pt x="0" y="93285"/>
                  <a:pt x="0" y="114300"/>
                </a:cubicBezTo>
                <a:lnTo>
                  <a:pt x="0" y="266700"/>
                </a:lnTo>
                <a:cubicBezTo>
                  <a:pt x="0" y="287715"/>
                  <a:pt x="17085" y="304800"/>
                  <a:pt x="38100" y="304800"/>
                </a:cubicBezTo>
                <a:lnTo>
                  <a:pt x="152400" y="304800"/>
                </a:lnTo>
                <a:cubicBezTo>
                  <a:pt x="173415" y="304800"/>
                  <a:pt x="190500" y="287715"/>
                  <a:pt x="190500" y="266700"/>
                </a:cubicBezTo>
                <a:lnTo>
                  <a:pt x="190500" y="257175"/>
                </a:lnTo>
                <a:lnTo>
                  <a:pt x="152400" y="257175"/>
                </a:lnTo>
                <a:lnTo>
                  <a:pt x="152400" y="266700"/>
                </a:lnTo>
                <a:lnTo>
                  <a:pt x="38100" y="266700"/>
                </a:lnTo>
                <a:lnTo>
                  <a:pt x="38100" y="114300"/>
                </a:lnTo>
                <a:lnTo>
                  <a:pt x="47625" y="114300"/>
                </a:lnTo>
                <a:lnTo>
                  <a:pt x="47625" y="76200"/>
                </a:lnTo>
                <a:lnTo>
                  <a:pt x="38100" y="76200"/>
                </a:lnTo>
                <a:close/>
              </a:path>
            </a:pathLst>
          </a:custGeom>
          <a:solidFill>
            <a:srgbClr val="6B7B8D"/>
          </a:solidFill>
          <a:ln/>
        </p:spPr>
      </p:sp>
      <p:sp>
        <p:nvSpPr>
          <p:cNvPr id="13" name="Text 11"/>
          <p:cNvSpPr/>
          <p:nvPr/>
        </p:nvSpPr>
        <p:spPr>
          <a:xfrm>
            <a:off x="5118100" y="28702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2B2B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Redundancy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699000" y="3276600"/>
            <a:ext cx="3048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Presenting identical information in multiple formats when one would suffice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255000" y="2730500"/>
            <a:ext cx="3429000" cy="1778000"/>
          </a:xfrm>
          <a:prstGeom prst="rect">
            <a:avLst/>
          </a:prstGeom>
          <a:solidFill>
            <a:srgbClr val="EDEAE5"/>
          </a:solidFill>
          <a:ln/>
        </p:spPr>
      </p:sp>
      <p:sp>
        <p:nvSpPr>
          <p:cNvPr id="16" name="Shape 14"/>
          <p:cNvSpPr/>
          <p:nvPr/>
        </p:nvSpPr>
        <p:spPr>
          <a:xfrm>
            <a:off x="8464550" y="28956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38100" y="19050"/>
                </a:moveTo>
                <a:cubicBezTo>
                  <a:pt x="17085" y="19050"/>
                  <a:pt x="0" y="36135"/>
                  <a:pt x="0" y="57150"/>
                </a:cubicBezTo>
                <a:lnTo>
                  <a:pt x="0" y="247650"/>
                </a:lnTo>
                <a:cubicBezTo>
                  <a:pt x="0" y="268665"/>
                  <a:pt x="17085" y="285750"/>
                  <a:pt x="38100" y="285750"/>
                </a:cubicBezTo>
                <a:lnTo>
                  <a:pt x="228600" y="285750"/>
                </a:lnTo>
                <a:cubicBezTo>
                  <a:pt x="249615" y="285750"/>
                  <a:pt x="266700" y="268665"/>
                  <a:pt x="266700" y="247650"/>
                </a:cubicBezTo>
                <a:lnTo>
                  <a:pt x="266700" y="57150"/>
                </a:lnTo>
                <a:cubicBezTo>
                  <a:pt x="266700" y="36135"/>
                  <a:pt x="249615" y="19050"/>
                  <a:pt x="228600" y="19050"/>
                </a:cubicBezTo>
                <a:lnTo>
                  <a:pt x="38100" y="19050"/>
                </a:lnTo>
                <a:close/>
                <a:moveTo>
                  <a:pt x="76200" y="66675"/>
                </a:moveTo>
                <a:cubicBezTo>
                  <a:pt x="91971" y="66675"/>
                  <a:pt x="104775" y="79479"/>
                  <a:pt x="104775" y="95250"/>
                </a:cubicBezTo>
                <a:cubicBezTo>
                  <a:pt x="104775" y="111021"/>
                  <a:pt x="91971" y="123825"/>
                  <a:pt x="76200" y="123825"/>
                </a:cubicBezTo>
                <a:cubicBezTo>
                  <a:pt x="60429" y="123825"/>
                  <a:pt x="47625" y="111021"/>
                  <a:pt x="47625" y="95250"/>
                </a:cubicBezTo>
                <a:cubicBezTo>
                  <a:pt x="47625" y="79479"/>
                  <a:pt x="60429" y="66675"/>
                  <a:pt x="76200" y="66675"/>
                </a:cubicBezTo>
                <a:close/>
                <a:moveTo>
                  <a:pt x="161925" y="133350"/>
                </a:moveTo>
                <a:cubicBezTo>
                  <a:pt x="166926" y="133350"/>
                  <a:pt x="171510" y="135969"/>
                  <a:pt x="174129" y="140196"/>
                </a:cubicBezTo>
                <a:lnTo>
                  <a:pt x="226516" y="225921"/>
                </a:lnTo>
                <a:cubicBezTo>
                  <a:pt x="229195" y="230326"/>
                  <a:pt x="229314" y="235863"/>
                  <a:pt x="226814" y="240387"/>
                </a:cubicBezTo>
                <a:cubicBezTo>
                  <a:pt x="224314" y="244912"/>
                  <a:pt x="219492" y="247650"/>
                  <a:pt x="214313" y="247650"/>
                </a:cubicBezTo>
                <a:lnTo>
                  <a:pt x="52388" y="247650"/>
                </a:lnTo>
                <a:cubicBezTo>
                  <a:pt x="47089" y="247650"/>
                  <a:pt x="42148" y="244673"/>
                  <a:pt x="39707" y="239970"/>
                </a:cubicBezTo>
                <a:cubicBezTo>
                  <a:pt x="37267" y="235268"/>
                  <a:pt x="37624" y="229553"/>
                  <a:pt x="40660" y="225207"/>
                </a:cubicBezTo>
                <a:lnTo>
                  <a:pt x="73997" y="177582"/>
                </a:lnTo>
                <a:cubicBezTo>
                  <a:pt x="76676" y="173772"/>
                  <a:pt x="81022" y="171510"/>
                  <a:pt x="85725" y="171510"/>
                </a:cubicBezTo>
                <a:cubicBezTo>
                  <a:pt x="90428" y="171510"/>
                  <a:pt x="94774" y="173772"/>
                  <a:pt x="97453" y="177582"/>
                </a:cubicBezTo>
                <a:lnTo>
                  <a:pt x="113169" y="200085"/>
                </a:lnTo>
                <a:lnTo>
                  <a:pt x="149721" y="140256"/>
                </a:lnTo>
                <a:cubicBezTo>
                  <a:pt x="152340" y="136029"/>
                  <a:pt x="156924" y="133410"/>
                  <a:pt x="161925" y="133410"/>
                </a:cubicBezTo>
                <a:close/>
              </a:path>
            </a:pathLst>
          </a:custGeom>
          <a:solidFill>
            <a:srgbClr val="6B7B8D"/>
          </a:solidFill>
          <a:ln/>
        </p:spPr>
      </p:sp>
      <p:sp>
        <p:nvSpPr>
          <p:cNvPr id="17" name="Text 15"/>
          <p:cNvSpPr/>
          <p:nvPr/>
        </p:nvSpPr>
        <p:spPr>
          <a:xfrm>
            <a:off x="8864600" y="28702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2B2B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Irrelevant Info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445500" y="3276600"/>
            <a:ext cx="3048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Decorative elements, unnecessary details, or distracting content that doesn't support learning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2001500" y="2730500"/>
            <a:ext cx="3492500" cy="1778000"/>
          </a:xfrm>
          <a:prstGeom prst="rect">
            <a:avLst/>
          </a:prstGeom>
          <a:solidFill>
            <a:srgbClr val="EDEAE5"/>
          </a:solidFill>
          <a:ln/>
        </p:spPr>
      </p:sp>
      <p:sp>
        <p:nvSpPr>
          <p:cNvPr id="20" name="Shape 18"/>
          <p:cNvSpPr/>
          <p:nvPr/>
        </p:nvSpPr>
        <p:spPr>
          <a:xfrm>
            <a:off x="12192000" y="2895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33350" y="0"/>
                </a:moveTo>
                <a:cubicBezTo>
                  <a:pt x="154365" y="0"/>
                  <a:pt x="171450" y="12799"/>
                  <a:pt x="171450" y="28575"/>
                </a:cubicBezTo>
                <a:cubicBezTo>
                  <a:pt x="171450" y="34766"/>
                  <a:pt x="168831" y="40481"/>
                  <a:pt x="164306" y="45184"/>
                </a:cubicBezTo>
                <a:cubicBezTo>
                  <a:pt x="160377" y="49292"/>
                  <a:pt x="157163" y="54293"/>
                  <a:pt x="157163" y="60008"/>
                </a:cubicBezTo>
                <a:cubicBezTo>
                  <a:pt x="157163" y="68937"/>
                  <a:pt x="164425" y="76200"/>
                  <a:pt x="173355" y="76200"/>
                </a:cubicBezTo>
                <a:lnTo>
                  <a:pt x="200025" y="76200"/>
                </a:lnTo>
                <a:cubicBezTo>
                  <a:pt x="215801" y="76200"/>
                  <a:pt x="228600" y="88999"/>
                  <a:pt x="228600" y="104775"/>
                </a:cubicBezTo>
                <a:lnTo>
                  <a:pt x="228600" y="131445"/>
                </a:lnTo>
                <a:cubicBezTo>
                  <a:pt x="228600" y="140375"/>
                  <a:pt x="235863" y="147638"/>
                  <a:pt x="244793" y="147638"/>
                </a:cubicBezTo>
                <a:cubicBezTo>
                  <a:pt x="250448" y="147638"/>
                  <a:pt x="255508" y="144423"/>
                  <a:pt x="259616" y="140494"/>
                </a:cubicBezTo>
                <a:cubicBezTo>
                  <a:pt x="264319" y="136029"/>
                  <a:pt x="270034" y="133350"/>
                  <a:pt x="276225" y="133350"/>
                </a:cubicBezTo>
                <a:cubicBezTo>
                  <a:pt x="292001" y="133350"/>
                  <a:pt x="304800" y="150435"/>
                  <a:pt x="304800" y="171450"/>
                </a:cubicBezTo>
                <a:cubicBezTo>
                  <a:pt x="304800" y="192465"/>
                  <a:pt x="292001" y="209550"/>
                  <a:pt x="276225" y="209550"/>
                </a:cubicBezTo>
                <a:cubicBezTo>
                  <a:pt x="270034" y="209550"/>
                  <a:pt x="264259" y="206931"/>
                  <a:pt x="259616" y="202406"/>
                </a:cubicBezTo>
                <a:cubicBezTo>
                  <a:pt x="255508" y="198477"/>
                  <a:pt x="250507" y="195263"/>
                  <a:pt x="244793" y="195263"/>
                </a:cubicBezTo>
                <a:cubicBezTo>
                  <a:pt x="235863" y="195263"/>
                  <a:pt x="228600" y="202525"/>
                  <a:pt x="228600" y="211455"/>
                </a:cubicBezTo>
                <a:lnTo>
                  <a:pt x="228600" y="276225"/>
                </a:lnTo>
                <a:cubicBezTo>
                  <a:pt x="228600" y="292001"/>
                  <a:pt x="215801" y="304800"/>
                  <a:pt x="200025" y="304800"/>
                </a:cubicBezTo>
                <a:lnTo>
                  <a:pt x="166211" y="304800"/>
                </a:lnTo>
                <a:cubicBezTo>
                  <a:pt x="158591" y="304800"/>
                  <a:pt x="152400" y="298609"/>
                  <a:pt x="152400" y="290989"/>
                </a:cubicBezTo>
                <a:cubicBezTo>
                  <a:pt x="152400" y="285512"/>
                  <a:pt x="155853" y="280690"/>
                  <a:pt x="160258" y="277416"/>
                </a:cubicBezTo>
                <a:cubicBezTo>
                  <a:pt x="167164" y="272236"/>
                  <a:pt x="171450" y="265093"/>
                  <a:pt x="171450" y="257175"/>
                </a:cubicBezTo>
                <a:cubicBezTo>
                  <a:pt x="171450" y="241399"/>
                  <a:pt x="154365" y="228600"/>
                  <a:pt x="133350" y="228600"/>
                </a:cubicBezTo>
                <a:cubicBezTo>
                  <a:pt x="112335" y="228600"/>
                  <a:pt x="95250" y="241399"/>
                  <a:pt x="95250" y="257175"/>
                </a:cubicBezTo>
                <a:cubicBezTo>
                  <a:pt x="95250" y="265093"/>
                  <a:pt x="99536" y="272236"/>
                  <a:pt x="106442" y="277416"/>
                </a:cubicBezTo>
                <a:cubicBezTo>
                  <a:pt x="110847" y="280690"/>
                  <a:pt x="114300" y="285452"/>
                  <a:pt x="114300" y="290989"/>
                </a:cubicBezTo>
                <a:cubicBezTo>
                  <a:pt x="114300" y="298609"/>
                  <a:pt x="108109" y="304800"/>
                  <a:pt x="100489" y="304800"/>
                </a:cubicBezTo>
                <a:lnTo>
                  <a:pt x="28575" y="304800"/>
                </a:lnTo>
                <a:cubicBezTo>
                  <a:pt x="12799" y="304800"/>
                  <a:pt x="0" y="292001"/>
                  <a:pt x="0" y="276225"/>
                </a:cubicBezTo>
                <a:lnTo>
                  <a:pt x="0" y="204311"/>
                </a:lnTo>
                <a:cubicBezTo>
                  <a:pt x="0" y="196691"/>
                  <a:pt x="6191" y="190500"/>
                  <a:pt x="13811" y="190500"/>
                </a:cubicBezTo>
                <a:cubicBezTo>
                  <a:pt x="19288" y="190500"/>
                  <a:pt x="24110" y="193953"/>
                  <a:pt x="27384" y="198358"/>
                </a:cubicBezTo>
                <a:cubicBezTo>
                  <a:pt x="32564" y="205264"/>
                  <a:pt x="39707" y="209550"/>
                  <a:pt x="47625" y="209550"/>
                </a:cubicBezTo>
                <a:cubicBezTo>
                  <a:pt x="63401" y="209550"/>
                  <a:pt x="76200" y="192465"/>
                  <a:pt x="76200" y="171450"/>
                </a:cubicBezTo>
                <a:cubicBezTo>
                  <a:pt x="76200" y="150435"/>
                  <a:pt x="63401" y="133350"/>
                  <a:pt x="47625" y="133350"/>
                </a:cubicBezTo>
                <a:cubicBezTo>
                  <a:pt x="39707" y="133350"/>
                  <a:pt x="32564" y="137636"/>
                  <a:pt x="27384" y="144542"/>
                </a:cubicBezTo>
                <a:cubicBezTo>
                  <a:pt x="24110" y="148947"/>
                  <a:pt x="19348" y="152400"/>
                  <a:pt x="13811" y="152400"/>
                </a:cubicBezTo>
                <a:cubicBezTo>
                  <a:pt x="6191" y="152400"/>
                  <a:pt x="0" y="146209"/>
                  <a:pt x="0" y="138589"/>
                </a:cubicBezTo>
                <a:lnTo>
                  <a:pt x="0" y="104775"/>
                </a:lnTo>
                <a:cubicBezTo>
                  <a:pt x="0" y="88999"/>
                  <a:pt x="12799" y="76200"/>
                  <a:pt x="28575" y="76200"/>
                </a:cubicBezTo>
                <a:lnTo>
                  <a:pt x="93345" y="76200"/>
                </a:lnTo>
                <a:cubicBezTo>
                  <a:pt x="102275" y="76200"/>
                  <a:pt x="109537" y="68937"/>
                  <a:pt x="109537" y="60007"/>
                </a:cubicBezTo>
                <a:cubicBezTo>
                  <a:pt x="109537" y="54352"/>
                  <a:pt x="106323" y="49292"/>
                  <a:pt x="102394" y="45184"/>
                </a:cubicBezTo>
                <a:cubicBezTo>
                  <a:pt x="97929" y="40481"/>
                  <a:pt x="95250" y="34766"/>
                  <a:pt x="95250" y="28575"/>
                </a:cubicBezTo>
                <a:cubicBezTo>
                  <a:pt x="95250" y="12799"/>
                  <a:pt x="112335" y="0"/>
                  <a:pt x="133350" y="0"/>
                </a:cubicBezTo>
                <a:close/>
              </a:path>
            </a:pathLst>
          </a:custGeom>
          <a:solidFill>
            <a:srgbClr val="6B7B8D"/>
          </a:solidFill>
          <a:ln/>
        </p:spPr>
      </p:sp>
      <p:sp>
        <p:nvSpPr>
          <p:cNvPr id="21" name="Text 19"/>
          <p:cNvSpPr/>
          <p:nvPr/>
        </p:nvSpPr>
        <p:spPr>
          <a:xfrm>
            <a:off x="12611100" y="28702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2B2B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Poor Formatting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2192000" y="3276600"/>
            <a:ext cx="3048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Unclear navigation, confusing layouts, or inconsistent visual organization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762000" y="4826000"/>
            <a:ext cx="14732000" cy="889000"/>
          </a:xfrm>
          <a:prstGeom prst="rect">
            <a:avLst/>
          </a:prstGeom>
          <a:solidFill>
            <a:srgbClr val="6B7B8D"/>
          </a:solidFill>
          <a:ln/>
        </p:spPr>
      </p:sp>
      <p:sp>
        <p:nvSpPr>
          <p:cNvPr id="24" name="Text 22"/>
          <p:cNvSpPr/>
          <p:nvPr/>
        </p:nvSpPr>
        <p:spPr>
          <a:xfrm>
            <a:off x="1016000" y="4927600"/>
            <a:ext cx="1422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Principle:</a:t>
            </a:r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Every element in instructional materials should serve a learning purpose. If it doesn't, it creates extraneous load.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62000" y="60325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1A5F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MAYER'S TARGET PRINCIPLES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62000" y="6413500"/>
            <a:ext cx="147320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5000"/>
              </a:lnSpc>
            </a:pPr>
            <a:r>
              <a:rPr lang="en-US" sz="1500" b="1" dirty="0">
                <a:solidFill>
                  <a:srgbClr val="1A5F6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Coherence Principle:</a:t>
            </a:r>
            <a:pPr>
              <a:lnSpc>
                <a:spcPct val="155000"/>
              </a:lnSpc>
            </a:pPr>
            <a:r>
              <a:rPr lang="en-US" sz="15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Exclude extraneous words, pictures, and sounds</a:t>
            </a:r>
            <a:endParaRPr lang="en-US" sz="1800" dirty="0"/>
          </a:p>
          <a:p>
            <a:pPr>
              <a:lnSpc>
                <a:spcPct val="155000"/>
              </a:lnSpc>
            </a:pPr>
            <a:r>
              <a:rPr lang="en-US" sz="1500" b="1" dirty="0">
                <a:solidFill>
                  <a:srgbClr val="1A5F6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Signaling Principle:</a:t>
            </a:r>
            <a:pPr>
              <a:lnSpc>
                <a:spcPct val="155000"/>
              </a:lnSpc>
            </a:pPr>
            <a:r>
              <a:rPr lang="en-US" sz="15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Use cues to highlight essential material</a:t>
            </a:r>
            <a:endParaRPr lang="en-US" sz="1800" dirty="0"/>
          </a:p>
          <a:p>
            <a:pPr>
              <a:lnSpc>
                <a:spcPct val="155000"/>
              </a:lnSpc>
            </a:pPr>
            <a:r>
              <a:rPr lang="en-US" sz="1500" b="1" dirty="0">
                <a:solidFill>
                  <a:srgbClr val="1A5F6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Redundancy Principle:</a:t>
            </a:r>
            <a:pPr>
              <a:lnSpc>
                <a:spcPct val="155000"/>
              </a:lnSpc>
            </a:pPr>
            <a:r>
              <a:rPr lang="en-US" sz="15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Don't present identical info as narration + on-screen text</a:t>
            </a:r>
            <a:endParaRPr lang="en-US" sz="1800" dirty="0"/>
          </a:p>
          <a:p>
            <a:pPr>
              <a:lnSpc>
                <a:spcPct val="155000"/>
              </a:lnSpc>
            </a:pPr>
            <a:r>
              <a:rPr lang="en-US" sz="1500" b="1" dirty="0">
                <a:solidFill>
                  <a:srgbClr val="1A5F6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Spatial &amp; Temporal Contiguity:</a:t>
            </a:r>
            <a:pPr>
              <a:lnSpc>
                <a:spcPct val="155000"/>
              </a:lnSpc>
            </a:pPr>
            <a:r>
              <a:rPr lang="en-US" sz="15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Place corresponding words and pictures together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62000" y="7874000"/>
            <a:ext cx="762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Source: Mayer (2009, 2014); Sweller (2020)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4986000" y="8636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08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1A5F6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44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A5F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Germane Cognitive Load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016000"/>
            <a:ext cx="635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333500"/>
            <a:ext cx="71120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Germane cognitive load is the cognitive effort devoted to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schema construction, integration, and automation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it is the "good" load that directly contributes to learning.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When learners engage in 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deep cognitive processing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organizing information into coherent structures, integrating new knowledge with prior knowledge, and abstracting general principles — they invest germane resources.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382000" y="1333500"/>
            <a:ext cx="7112000" cy="22225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7" name="Text 5"/>
          <p:cNvSpPr/>
          <p:nvPr/>
        </p:nvSpPr>
        <p:spPr>
          <a:xfrm>
            <a:off x="8636000" y="1460500"/>
            <a:ext cx="660400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Goal of Instruction: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Free working memory capacity by reducing extraneous load, so learners can invest more cognitive resources in germane processing that builds deep understanding.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39370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1A5F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GERMANE PROCESSING ACTIVITIES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62000" y="4381500"/>
            <a:ext cx="3429000" cy="1524000"/>
          </a:xfrm>
          <a:prstGeom prst="rect">
            <a:avLst/>
          </a:prstGeom>
          <a:solidFill>
            <a:srgbClr val="EDEAE5"/>
          </a:solidFill>
          <a:ln/>
        </p:spPr>
      </p:sp>
      <p:sp>
        <p:nvSpPr>
          <p:cNvPr id="10" name="Shape 8"/>
          <p:cNvSpPr/>
          <p:nvPr/>
        </p:nvSpPr>
        <p:spPr>
          <a:xfrm>
            <a:off x="952500" y="4546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14300" y="38100"/>
                </a:moveTo>
                <a:cubicBezTo>
                  <a:pt x="114300" y="27563"/>
                  <a:pt x="122813" y="19050"/>
                  <a:pt x="133350" y="19050"/>
                </a:cubicBezTo>
                <a:lnTo>
                  <a:pt x="171450" y="19050"/>
                </a:lnTo>
                <a:cubicBezTo>
                  <a:pt x="181987" y="19050"/>
                  <a:pt x="190500" y="27563"/>
                  <a:pt x="190500" y="38100"/>
                </a:cubicBezTo>
                <a:lnTo>
                  <a:pt x="190500" y="76200"/>
                </a:lnTo>
                <a:cubicBezTo>
                  <a:pt x="190500" y="86737"/>
                  <a:pt x="181987" y="95250"/>
                  <a:pt x="171450" y="95250"/>
                </a:cubicBezTo>
                <a:lnTo>
                  <a:pt x="166688" y="95250"/>
                </a:lnTo>
                <a:lnTo>
                  <a:pt x="166688" y="133350"/>
                </a:lnTo>
                <a:lnTo>
                  <a:pt x="238125" y="133350"/>
                </a:lnTo>
                <a:cubicBezTo>
                  <a:pt x="261818" y="133350"/>
                  <a:pt x="280987" y="152519"/>
                  <a:pt x="280987" y="176212"/>
                </a:cubicBezTo>
                <a:lnTo>
                  <a:pt x="280987" y="209550"/>
                </a:lnTo>
                <a:lnTo>
                  <a:pt x="285750" y="209550"/>
                </a:lnTo>
                <a:cubicBezTo>
                  <a:pt x="296287" y="209550"/>
                  <a:pt x="304800" y="218063"/>
                  <a:pt x="304800" y="228600"/>
                </a:cubicBezTo>
                <a:lnTo>
                  <a:pt x="304800" y="266700"/>
                </a:lnTo>
                <a:cubicBezTo>
                  <a:pt x="304800" y="277237"/>
                  <a:pt x="296287" y="285750"/>
                  <a:pt x="285750" y="285750"/>
                </a:cubicBezTo>
                <a:lnTo>
                  <a:pt x="247650" y="285750"/>
                </a:lnTo>
                <a:cubicBezTo>
                  <a:pt x="237113" y="285750"/>
                  <a:pt x="228600" y="277237"/>
                  <a:pt x="228600" y="266700"/>
                </a:cubicBezTo>
                <a:lnTo>
                  <a:pt x="228600" y="228600"/>
                </a:lnTo>
                <a:cubicBezTo>
                  <a:pt x="228600" y="218063"/>
                  <a:pt x="237113" y="209550"/>
                  <a:pt x="247650" y="209550"/>
                </a:cubicBezTo>
                <a:lnTo>
                  <a:pt x="252413" y="209550"/>
                </a:lnTo>
                <a:lnTo>
                  <a:pt x="252413" y="176212"/>
                </a:lnTo>
                <a:cubicBezTo>
                  <a:pt x="252413" y="168295"/>
                  <a:pt x="246043" y="161925"/>
                  <a:pt x="238125" y="161925"/>
                </a:cubicBezTo>
                <a:lnTo>
                  <a:pt x="166688" y="161925"/>
                </a:lnTo>
                <a:lnTo>
                  <a:pt x="166688" y="209550"/>
                </a:lnTo>
                <a:lnTo>
                  <a:pt x="171450" y="209550"/>
                </a:lnTo>
                <a:cubicBezTo>
                  <a:pt x="181987" y="209550"/>
                  <a:pt x="190500" y="218063"/>
                  <a:pt x="190500" y="228600"/>
                </a:cubicBezTo>
                <a:lnTo>
                  <a:pt x="190500" y="266700"/>
                </a:lnTo>
                <a:cubicBezTo>
                  <a:pt x="190500" y="277237"/>
                  <a:pt x="181987" y="285750"/>
                  <a:pt x="171450" y="285750"/>
                </a:cubicBezTo>
                <a:lnTo>
                  <a:pt x="133350" y="285750"/>
                </a:lnTo>
                <a:cubicBezTo>
                  <a:pt x="122813" y="285750"/>
                  <a:pt x="114300" y="277237"/>
                  <a:pt x="114300" y="266700"/>
                </a:cubicBezTo>
                <a:lnTo>
                  <a:pt x="114300" y="228600"/>
                </a:lnTo>
                <a:cubicBezTo>
                  <a:pt x="114300" y="218063"/>
                  <a:pt x="122813" y="209550"/>
                  <a:pt x="133350" y="209550"/>
                </a:cubicBezTo>
                <a:lnTo>
                  <a:pt x="138113" y="209550"/>
                </a:lnTo>
                <a:lnTo>
                  <a:pt x="138113" y="161925"/>
                </a:lnTo>
                <a:lnTo>
                  <a:pt x="66675" y="161925"/>
                </a:lnTo>
                <a:cubicBezTo>
                  <a:pt x="58757" y="161925"/>
                  <a:pt x="52388" y="168295"/>
                  <a:pt x="52388" y="176212"/>
                </a:cubicBezTo>
                <a:lnTo>
                  <a:pt x="52388" y="209550"/>
                </a:lnTo>
                <a:lnTo>
                  <a:pt x="57150" y="209550"/>
                </a:lnTo>
                <a:cubicBezTo>
                  <a:pt x="67687" y="209550"/>
                  <a:pt x="76200" y="218063"/>
                  <a:pt x="76200" y="228600"/>
                </a:cubicBezTo>
                <a:lnTo>
                  <a:pt x="76200" y="266700"/>
                </a:lnTo>
                <a:cubicBezTo>
                  <a:pt x="76200" y="277237"/>
                  <a:pt x="67687" y="285750"/>
                  <a:pt x="57150" y="285750"/>
                </a:cubicBezTo>
                <a:lnTo>
                  <a:pt x="19050" y="285750"/>
                </a:lnTo>
                <a:cubicBezTo>
                  <a:pt x="8513" y="285750"/>
                  <a:pt x="0" y="277237"/>
                  <a:pt x="0" y="266700"/>
                </a:cubicBezTo>
                <a:lnTo>
                  <a:pt x="0" y="228600"/>
                </a:lnTo>
                <a:cubicBezTo>
                  <a:pt x="0" y="218063"/>
                  <a:pt x="8513" y="209550"/>
                  <a:pt x="19050" y="209550"/>
                </a:cubicBezTo>
                <a:lnTo>
                  <a:pt x="23813" y="209550"/>
                </a:lnTo>
                <a:lnTo>
                  <a:pt x="23813" y="176212"/>
                </a:lnTo>
                <a:cubicBezTo>
                  <a:pt x="23813" y="152519"/>
                  <a:pt x="42982" y="133350"/>
                  <a:pt x="66675" y="133350"/>
                </a:cubicBezTo>
                <a:lnTo>
                  <a:pt x="138113" y="133350"/>
                </a:lnTo>
                <a:lnTo>
                  <a:pt x="138113" y="95250"/>
                </a:lnTo>
                <a:lnTo>
                  <a:pt x="133350" y="95250"/>
                </a:lnTo>
                <a:cubicBezTo>
                  <a:pt x="122813" y="95250"/>
                  <a:pt x="114300" y="86737"/>
                  <a:pt x="114300" y="76200"/>
                </a:cubicBezTo>
                <a:lnTo>
                  <a:pt x="114300" y="38100"/>
                </a:ln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45212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2B2B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Organizing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52500" y="4927600"/>
            <a:ext cx="3048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Structuring information into coherent mental representations and meaningful categories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508500" y="4381500"/>
            <a:ext cx="3429000" cy="1524000"/>
          </a:xfrm>
          <a:prstGeom prst="rect">
            <a:avLst/>
          </a:prstGeom>
          <a:solidFill>
            <a:srgbClr val="EDEAE5"/>
          </a:solidFill>
          <a:ln/>
        </p:spPr>
      </p:sp>
      <p:sp>
        <p:nvSpPr>
          <p:cNvPr id="14" name="Shape 12"/>
          <p:cNvSpPr/>
          <p:nvPr/>
        </p:nvSpPr>
        <p:spPr>
          <a:xfrm>
            <a:off x="4679950" y="45466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249734" y="57150"/>
                </a:moveTo>
                <a:cubicBezTo>
                  <a:pt x="239851" y="57150"/>
                  <a:pt x="230267" y="59829"/>
                  <a:pt x="221873" y="64710"/>
                </a:cubicBezTo>
                <a:cubicBezTo>
                  <a:pt x="212467" y="55185"/>
                  <a:pt x="201513" y="47208"/>
                  <a:pt x="189428" y="41196"/>
                </a:cubicBezTo>
                <a:cubicBezTo>
                  <a:pt x="206216" y="26908"/>
                  <a:pt x="227588" y="19050"/>
                  <a:pt x="249734" y="19050"/>
                </a:cubicBezTo>
                <a:cubicBezTo>
                  <a:pt x="301169" y="19050"/>
                  <a:pt x="342900" y="60722"/>
                  <a:pt x="342900" y="112216"/>
                </a:cubicBezTo>
                <a:cubicBezTo>
                  <a:pt x="342900" y="136922"/>
                  <a:pt x="333077" y="160615"/>
                  <a:pt x="315635" y="178058"/>
                </a:cubicBezTo>
                <a:lnTo>
                  <a:pt x="273308" y="220385"/>
                </a:lnTo>
                <a:cubicBezTo>
                  <a:pt x="255865" y="237827"/>
                  <a:pt x="232172" y="247650"/>
                  <a:pt x="207466" y="247650"/>
                </a:cubicBezTo>
                <a:cubicBezTo>
                  <a:pt x="156031" y="247650"/>
                  <a:pt x="114300" y="205978"/>
                  <a:pt x="114300" y="154484"/>
                </a:cubicBezTo>
                <a:cubicBezTo>
                  <a:pt x="114300" y="153591"/>
                  <a:pt x="114300" y="152698"/>
                  <a:pt x="114360" y="151805"/>
                </a:cubicBezTo>
                <a:cubicBezTo>
                  <a:pt x="114657" y="141268"/>
                  <a:pt x="123408" y="132993"/>
                  <a:pt x="133945" y="133290"/>
                </a:cubicBezTo>
                <a:cubicBezTo>
                  <a:pt x="144482" y="133588"/>
                  <a:pt x="152757" y="142339"/>
                  <a:pt x="152460" y="152876"/>
                </a:cubicBezTo>
                <a:cubicBezTo>
                  <a:pt x="152460" y="153412"/>
                  <a:pt x="152460" y="153948"/>
                  <a:pt x="152460" y="154424"/>
                </a:cubicBezTo>
                <a:cubicBezTo>
                  <a:pt x="152460" y="184845"/>
                  <a:pt x="177105" y="209490"/>
                  <a:pt x="207526" y="209490"/>
                </a:cubicBezTo>
                <a:cubicBezTo>
                  <a:pt x="222111" y="209490"/>
                  <a:pt x="236101" y="203716"/>
                  <a:pt x="246459" y="193358"/>
                </a:cubicBezTo>
                <a:lnTo>
                  <a:pt x="288786" y="151031"/>
                </a:lnTo>
                <a:cubicBezTo>
                  <a:pt x="299085" y="140732"/>
                  <a:pt x="304919" y="126683"/>
                  <a:pt x="304919" y="112097"/>
                </a:cubicBezTo>
                <a:cubicBezTo>
                  <a:pt x="304919" y="81677"/>
                  <a:pt x="280273" y="57031"/>
                  <a:pt x="249853" y="57031"/>
                </a:cubicBezTo>
                <a:close/>
                <a:moveTo>
                  <a:pt x="163830" y="103168"/>
                </a:moveTo>
                <a:cubicBezTo>
                  <a:pt x="162699" y="102691"/>
                  <a:pt x="161568" y="102037"/>
                  <a:pt x="160556" y="101322"/>
                </a:cubicBezTo>
                <a:cubicBezTo>
                  <a:pt x="153055" y="97453"/>
                  <a:pt x="144482" y="95250"/>
                  <a:pt x="135493" y="95250"/>
                </a:cubicBezTo>
                <a:cubicBezTo>
                  <a:pt x="120908" y="95250"/>
                  <a:pt x="106918" y="101025"/>
                  <a:pt x="96560" y="111383"/>
                </a:cubicBezTo>
                <a:lnTo>
                  <a:pt x="54233" y="153710"/>
                </a:lnTo>
                <a:cubicBezTo>
                  <a:pt x="43934" y="164009"/>
                  <a:pt x="38100" y="178058"/>
                  <a:pt x="38100" y="192643"/>
                </a:cubicBezTo>
                <a:cubicBezTo>
                  <a:pt x="38100" y="223064"/>
                  <a:pt x="62746" y="247710"/>
                  <a:pt x="93166" y="247710"/>
                </a:cubicBezTo>
                <a:cubicBezTo>
                  <a:pt x="102989" y="247710"/>
                  <a:pt x="112574" y="245090"/>
                  <a:pt x="120967" y="240209"/>
                </a:cubicBezTo>
                <a:cubicBezTo>
                  <a:pt x="130373" y="249734"/>
                  <a:pt x="141327" y="257711"/>
                  <a:pt x="153472" y="263723"/>
                </a:cubicBezTo>
                <a:cubicBezTo>
                  <a:pt x="136684" y="277951"/>
                  <a:pt x="115372" y="285869"/>
                  <a:pt x="93166" y="285869"/>
                </a:cubicBezTo>
                <a:cubicBezTo>
                  <a:pt x="41731" y="285869"/>
                  <a:pt x="0" y="244197"/>
                  <a:pt x="0" y="192703"/>
                </a:cubicBezTo>
                <a:cubicBezTo>
                  <a:pt x="0" y="167997"/>
                  <a:pt x="9823" y="144304"/>
                  <a:pt x="27265" y="126861"/>
                </a:cubicBezTo>
                <a:lnTo>
                  <a:pt x="69592" y="84534"/>
                </a:lnTo>
                <a:cubicBezTo>
                  <a:pt x="87035" y="67092"/>
                  <a:pt x="110728" y="57269"/>
                  <a:pt x="135434" y="57269"/>
                </a:cubicBezTo>
                <a:cubicBezTo>
                  <a:pt x="186988" y="57269"/>
                  <a:pt x="228600" y="99298"/>
                  <a:pt x="228600" y="150674"/>
                </a:cubicBezTo>
                <a:cubicBezTo>
                  <a:pt x="228600" y="151448"/>
                  <a:pt x="228600" y="152221"/>
                  <a:pt x="228600" y="152995"/>
                </a:cubicBezTo>
                <a:cubicBezTo>
                  <a:pt x="228362" y="163532"/>
                  <a:pt x="219611" y="171807"/>
                  <a:pt x="209074" y="171569"/>
                </a:cubicBezTo>
                <a:cubicBezTo>
                  <a:pt x="198537" y="171331"/>
                  <a:pt x="190262" y="162580"/>
                  <a:pt x="190500" y="152043"/>
                </a:cubicBezTo>
                <a:cubicBezTo>
                  <a:pt x="190500" y="151567"/>
                  <a:pt x="190500" y="151150"/>
                  <a:pt x="190500" y="150674"/>
                </a:cubicBezTo>
                <a:cubicBezTo>
                  <a:pt x="190500" y="130612"/>
                  <a:pt x="179784" y="112990"/>
                  <a:pt x="163830" y="103287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15" name="Text 13"/>
          <p:cNvSpPr/>
          <p:nvPr/>
        </p:nvSpPr>
        <p:spPr>
          <a:xfrm>
            <a:off x="5118100" y="45212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2B2B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Integrating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699000" y="4927600"/>
            <a:ext cx="3048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Connecting new knowledge with relevant prior knowledge from long-term memory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255000" y="4381500"/>
            <a:ext cx="3429000" cy="1524000"/>
          </a:xfrm>
          <a:prstGeom prst="rect">
            <a:avLst/>
          </a:prstGeom>
          <a:solidFill>
            <a:srgbClr val="EDEAE5"/>
          </a:solidFill>
          <a:ln/>
        </p:spPr>
      </p:sp>
      <p:sp>
        <p:nvSpPr>
          <p:cNvPr id="18" name="Shape 16"/>
          <p:cNvSpPr/>
          <p:nvPr/>
        </p:nvSpPr>
        <p:spPr>
          <a:xfrm>
            <a:off x="8445500" y="4546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03954" y="-13454"/>
                </a:moveTo>
                <a:cubicBezTo>
                  <a:pt x="196513" y="-20895"/>
                  <a:pt x="184428" y="-20895"/>
                  <a:pt x="176986" y="-13454"/>
                </a:cubicBezTo>
                <a:lnTo>
                  <a:pt x="119836" y="43696"/>
                </a:lnTo>
                <a:cubicBezTo>
                  <a:pt x="112395" y="51137"/>
                  <a:pt x="112395" y="63222"/>
                  <a:pt x="119836" y="70664"/>
                </a:cubicBezTo>
                <a:cubicBezTo>
                  <a:pt x="127278" y="78105"/>
                  <a:pt x="139363" y="78105"/>
                  <a:pt x="146804" y="70664"/>
                </a:cubicBezTo>
                <a:lnTo>
                  <a:pt x="171450" y="46018"/>
                </a:lnTo>
                <a:lnTo>
                  <a:pt x="171450" y="162639"/>
                </a:lnTo>
                <a:cubicBezTo>
                  <a:pt x="160258" y="156150"/>
                  <a:pt x="147221" y="152460"/>
                  <a:pt x="133350" y="152460"/>
                </a:cubicBezTo>
                <a:lnTo>
                  <a:pt x="65068" y="152460"/>
                </a:lnTo>
                <a:lnTo>
                  <a:pt x="89714" y="127814"/>
                </a:lnTo>
                <a:cubicBezTo>
                  <a:pt x="97155" y="120372"/>
                  <a:pt x="97155" y="108287"/>
                  <a:pt x="89714" y="100846"/>
                </a:cubicBezTo>
                <a:cubicBezTo>
                  <a:pt x="82272" y="93405"/>
                  <a:pt x="70187" y="93405"/>
                  <a:pt x="62746" y="100846"/>
                </a:cubicBezTo>
                <a:lnTo>
                  <a:pt x="5596" y="157996"/>
                </a:lnTo>
                <a:cubicBezTo>
                  <a:pt x="-1845" y="165437"/>
                  <a:pt x="-1845" y="177522"/>
                  <a:pt x="5596" y="184964"/>
                </a:cubicBezTo>
                <a:lnTo>
                  <a:pt x="62746" y="242114"/>
                </a:lnTo>
                <a:cubicBezTo>
                  <a:pt x="70187" y="249555"/>
                  <a:pt x="82272" y="249555"/>
                  <a:pt x="89714" y="242114"/>
                </a:cubicBezTo>
                <a:cubicBezTo>
                  <a:pt x="97155" y="234672"/>
                  <a:pt x="97155" y="222587"/>
                  <a:pt x="89714" y="215146"/>
                </a:cubicBezTo>
                <a:lnTo>
                  <a:pt x="65068" y="190500"/>
                </a:lnTo>
                <a:lnTo>
                  <a:pt x="133350" y="190500"/>
                </a:lnTo>
                <a:cubicBezTo>
                  <a:pt x="154365" y="190500"/>
                  <a:pt x="171450" y="207585"/>
                  <a:pt x="171450" y="228600"/>
                </a:cubicBezTo>
                <a:cubicBezTo>
                  <a:pt x="171450" y="270689"/>
                  <a:pt x="205561" y="304800"/>
                  <a:pt x="247650" y="304800"/>
                </a:cubicBezTo>
                <a:lnTo>
                  <a:pt x="266700" y="304800"/>
                </a:lnTo>
                <a:cubicBezTo>
                  <a:pt x="277237" y="304800"/>
                  <a:pt x="285750" y="296287"/>
                  <a:pt x="285750" y="285750"/>
                </a:cubicBezTo>
                <a:cubicBezTo>
                  <a:pt x="285750" y="275213"/>
                  <a:pt x="277237" y="266700"/>
                  <a:pt x="266700" y="266700"/>
                </a:cubicBezTo>
                <a:lnTo>
                  <a:pt x="247650" y="266700"/>
                </a:lnTo>
                <a:cubicBezTo>
                  <a:pt x="226635" y="266700"/>
                  <a:pt x="209550" y="249615"/>
                  <a:pt x="209550" y="228600"/>
                </a:cubicBezTo>
                <a:lnTo>
                  <a:pt x="209550" y="46018"/>
                </a:lnTo>
                <a:lnTo>
                  <a:pt x="234196" y="70664"/>
                </a:lnTo>
                <a:cubicBezTo>
                  <a:pt x="241637" y="78105"/>
                  <a:pt x="253722" y="78105"/>
                  <a:pt x="261164" y="70664"/>
                </a:cubicBezTo>
                <a:cubicBezTo>
                  <a:pt x="268605" y="63222"/>
                  <a:pt x="268605" y="51137"/>
                  <a:pt x="261164" y="43696"/>
                </a:cubicBezTo>
                <a:lnTo>
                  <a:pt x="204014" y="-13454"/>
                </a:ln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19" name="Text 17"/>
          <p:cNvSpPr/>
          <p:nvPr/>
        </p:nvSpPr>
        <p:spPr>
          <a:xfrm>
            <a:off x="8864600" y="45212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2B2B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Abstracting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445500" y="4927600"/>
            <a:ext cx="3048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Extracting general principles from specific examples for broader application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2001500" y="4381500"/>
            <a:ext cx="3492500" cy="1524000"/>
          </a:xfrm>
          <a:prstGeom prst="rect">
            <a:avLst/>
          </a:prstGeom>
          <a:solidFill>
            <a:srgbClr val="EDEAE5"/>
          </a:solidFill>
          <a:ln/>
        </p:spPr>
      </p:sp>
      <p:sp>
        <p:nvSpPr>
          <p:cNvPr id="22" name="Shape 20"/>
          <p:cNvSpPr/>
          <p:nvPr/>
        </p:nvSpPr>
        <p:spPr>
          <a:xfrm>
            <a:off x="12192000" y="4546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85810" y="114300"/>
                </a:moveTo>
                <a:lnTo>
                  <a:pt x="290513" y="114300"/>
                </a:lnTo>
                <a:cubicBezTo>
                  <a:pt x="298430" y="114300"/>
                  <a:pt x="304800" y="107930"/>
                  <a:pt x="304800" y="100013"/>
                </a:cubicBezTo>
                <a:lnTo>
                  <a:pt x="304800" y="14288"/>
                </a:lnTo>
                <a:cubicBezTo>
                  <a:pt x="304800" y="8513"/>
                  <a:pt x="301347" y="3274"/>
                  <a:pt x="295989" y="1072"/>
                </a:cubicBezTo>
                <a:cubicBezTo>
                  <a:pt x="290632" y="-1131"/>
                  <a:pt x="284500" y="119"/>
                  <a:pt x="280392" y="4167"/>
                </a:cubicBezTo>
                <a:lnTo>
                  <a:pt x="249615" y="35004"/>
                </a:lnTo>
                <a:cubicBezTo>
                  <a:pt x="223242" y="13156"/>
                  <a:pt x="189309" y="0"/>
                  <a:pt x="152400" y="0"/>
                </a:cubicBezTo>
                <a:cubicBezTo>
                  <a:pt x="75605" y="0"/>
                  <a:pt x="12085" y="56793"/>
                  <a:pt x="1548" y="130671"/>
                </a:cubicBezTo>
                <a:cubicBezTo>
                  <a:pt x="60" y="141089"/>
                  <a:pt x="7263" y="150733"/>
                  <a:pt x="17681" y="152221"/>
                </a:cubicBezTo>
                <a:cubicBezTo>
                  <a:pt x="28099" y="153710"/>
                  <a:pt x="37743" y="146447"/>
                  <a:pt x="39231" y="136088"/>
                </a:cubicBezTo>
                <a:cubicBezTo>
                  <a:pt x="47149" y="80665"/>
                  <a:pt x="94833" y="38100"/>
                  <a:pt x="152400" y="38100"/>
                </a:cubicBezTo>
                <a:cubicBezTo>
                  <a:pt x="178832" y="38100"/>
                  <a:pt x="203121" y="47030"/>
                  <a:pt x="222468" y="62091"/>
                </a:cubicBezTo>
                <a:lnTo>
                  <a:pt x="194667" y="89892"/>
                </a:lnTo>
                <a:cubicBezTo>
                  <a:pt x="190560" y="94000"/>
                  <a:pt x="189369" y="100132"/>
                  <a:pt x="191572" y="105489"/>
                </a:cubicBezTo>
                <a:cubicBezTo>
                  <a:pt x="193774" y="110847"/>
                  <a:pt x="199013" y="114300"/>
                  <a:pt x="204787" y="114300"/>
                </a:cubicBezTo>
                <a:lnTo>
                  <a:pt x="285810" y="114300"/>
                </a:lnTo>
                <a:close/>
                <a:moveTo>
                  <a:pt x="303312" y="174129"/>
                </a:moveTo>
                <a:cubicBezTo>
                  <a:pt x="304800" y="163711"/>
                  <a:pt x="297537" y="154067"/>
                  <a:pt x="287179" y="152579"/>
                </a:cubicBezTo>
                <a:cubicBezTo>
                  <a:pt x="276820" y="151090"/>
                  <a:pt x="267117" y="158353"/>
                  <a:pt x="265628" y="168712"/>
                </a:cubicBezTo>
                <a:cubicBezTo>
                  <a:pt x="257711" y="224076"/>
                  <a:pt x="210026" y="266640"/>
                  <a:pt x="152460" y="266640"/>
                </a:cubicBezTo>
                <a:cubicBezTo>
                  <a:pt x="126028" y="266640"/>
                  <a:pt x="101739" y="257711"/>
                  <a:pt x="82391" y="242649"/>
                </a:cubicBezTo>
                <a:lnTo>
                  <a:pt x="110133" y="214908"/>
                </a:lnTo>
                <a:cubicBezTo>
                  <a:pt x="114240" y="210800"/>
                  <a:pt x="115431" y="204668"/>
                  <a:pt x="113228" y="199311"/>
                </a:cubicBezTo>
                <a:cubicBezTo>
                  <a:pt x="111026" y="193953"/>
                  <a:pt x="105787" y="190500"/>
                  <a:pt x="100013" y="190500"/>
                </a:cubicBezTo>
                <a:lnTo>
                  <a:pt x="14288" y="190500"/>
                </a:lnTo>
                <a:cubicBezTo>
                  <a:pt x="6370" y="190500"/>
                  <a:pt x="0" y="196870"/>
                  <a:pt x="0" y="204787"/>
                </a:cubicBezTo>
                <a:lnTo>
                  <a:pt x="0" y="290513"/>
                </a:lnTo>
                <a:cubicBezTo>
                  <a:pt x="0" y="296287"/>
                  <a:pt x="3453" y="301526"/>
                  <a:pt x="8811" y="303728"/>
                </a:cubicBezTo>
                <a:cubicBezTo>
                  <a:pt x="14168" y="305931"/>
                  <a:pt x="20300" y="304681"/>
                  <a:pt x="24408" y="300633"/>
                </a:cubicBezTo>
                <a:lnTo>
                  <a:pt x="55245" y="269796"/>
                </a:lnTo>
                <a:cubicBezTo>
                  <a:pt x="81558" y="291644"/>
                  <a:pt x="115491" y="304800"/>
                  <a:pt x="152400" y="304800"/>
                </a:cubicBezTo>
                <a:cubicBezTo>
                  <a:pt x="229195" y="304800"/>
                  <a:pt x="292715" y="248007"/>
                  <a:pt x="303252" y="174129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23" name="Text 21"/>
          <p:cNvSpPr/>
          <p:nvPr/>
        </p:nvSpPr>
        <p:spPr>
          <a:xfrm>
            <a:off x="12611100" y="45212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2B2B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Automating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2192000" y="4927600"/>
            <a:ext cx="3048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Practicing until skills become effortless, freeing working memory capacity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62000" y="62865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1A5F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INSTRUCTIONAL STRATEGIES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62000" y="6667500"/>
            <a:ext cx="1473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5000"/>
              </a:lnSpc>
            </a:pPr>
            <a:r>
              <a:rPr lang="en-US" sz="1500" b="1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Varied Context Examples:</a:t>
            </a:r>
            <a:pPr>
              <a:lnSpc>
                <a:spcPct val="155000"/>
              </a:lnSpc>
            </a:pPr>
            <a:r>
              <a:rPr lang="en-US" sz="15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Present multiple examples in different contexts to promote abstraction and transfer</a:t>
            </a:r>
            <a:endParaRPr lang="en-US" sz="1800" dirty="0"/>
          </a:p>
          <a:p>
            <a:pPr>
              <a:lnSpc>
                <a:spcPct val="155000"/>
              </a:lnSpc>
            </a:pPr>
            <a:r>
              <a:rPr lang="en-US" sz="1500" b="1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Self-Explanation Prompts:</a:t>
            </a:r>
            <a:pPr>
              <a:lnSpc>
                <a:spcPct val="155000"/>
              </a:lnSpc>
            </a:pPr>
            <a:r>
              <a:rPr lang="en-US" sz="15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Ask learners to explain concepts in their own words to deepen processing</a:t>
            </a:r>
            <a:endParaRPr lang="en-US" sz="1800" dirty="0"/>
          </a:p>
          <a:p>
            <a:pPr>
              <a:lnSpc>
                <a:spcPct val="155000"/>
              </a:lnSpc>
            </a:pPr>
            <a:r>
              <a:rPr lang="en-US" sz="1500" b="1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Elaborative Interrogation:</a:t>
            </a:r>
            <a:pPr>
              <a:lnSpc>
                <a:spcPct val="155000"/>
              </a:lnSpc>
            </a:pPr>
            <a:r>
              <a:rPr lang="en-US" sz="15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Encourage learners to ask "why" and "how" questions about the material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62000" y="7874000"/>
            <a:ext cx="762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Source: Sweller, van Merriënboer &amp; Paas (1998); Mayer (2009)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4986000" y="8636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09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1A5F6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44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A5F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Mayer's Cognitive Theory of Multimedia Learning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016000"/>
            <a:ext cx="635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3335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1A5F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THREE FOUNDATIONAL ASSUMPTIONS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62000" y="1778000"/>
            <a:ext cx="4699000" cy="1905000"/>
          </a:xfrm>
          <a:prstGeom prst="rect">
            <a:avLst/>
          </a:prstGeom>
          <a:solidFill>
            <a:srgbClr val="1A5F6E"/>
          </a:solidFill>
          <a:ln/>
        </p:spPr>
      </p:sp>
      <p:sp>
        <p:nvSpPr>
          <p:cNvPr id="7" name="Text 5"/>
          <p:cNvSpPr/>
          <p:nvPr/>
        </p:nvSpPr>
        <p:spPr>
          <a:xfrm>
            <a:off x="952500" y="1879600"/>
            <a:ext cx="50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60500" y="1879600"/>
            <a:ext cx="3683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Dual-Channel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52500" y="2311400"/>
            <a:ext cx="42545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Humans possess separate channels for processing visual/pictorial and auditory/verbal information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78500" y="1778000"/>
            <a:ext cx="4699000" cy="1905000"/>
          </a:xfrm>
          <a:prstGeom prst="rect">
            <a:avLst/>
          </a:prstGeom>
          <a:solidFill>
            <a:srgbClr val="1A5F6E"/>
          </a:solidFill>
          <a:ln/>
        </p:spPr>
      </p:sp>
      <p:sp>
        <p:nvSpPr>
          <p:cNvPr id="11" name="Text 9"/>
          <p:cNvSpPr/>
          <p:nvPr/>
        </p:nvSpPr>
        <p:spPr>
          <a:xfrm>
            <a:off x="5969000" y="1879600"/>
            <a:ext cx="50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77000" y="1879600"/>
            <a:ext cx="3683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Limited Capacity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969000" y="2311400"/>
            <a:ext cx="42545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Each channel has limited processing capacity — only a small amount of information can be processed at once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795000" y="1778000"/>
            <a:ext cx="4699000" cy="1905000"/>
          </a:xfrm>
          <a:prstGeom prst="rect">
            <a:avLst/>
          </a:prstGeom>
          <a:solidFill>
            <a:srgbClr val="1A5F6E"/>
          </a:solidFill>
          <a:ln/>
        </p:spPr>
      </p:sp>
      <p:sp>
        <p:nvSpPr>
          <p:cNvPr id="15" name="Text 13"/>
          <p:cNvSpPr/>
          <p:nvPr/>
        </p:nvSpPr>
        <p:spPr>
          <a:xfrm>
            <a:off x="10985500" y="1879600"/>
            <a:ext cx="50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493500" y="1879600"/>
            <a:ext cx="3683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Active Processing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985500" y="2311400"/>
            <a:ext cx="42545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Meaningful learning requires selecting, organizing, and integrating information with prior knowledge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62000" y="40640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1A5F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FIVE COGNITIVE PROCESSES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2000" y="4508500"/>
            <a:ext cx="14732000" cy="1270000"/>
          </a:xfrm>
          <a:prstGeom prst="rect">
            <a:avLst/>
          </a:prstGeom>
          <a:solidFill>
            <a:srgbClr val="EDEAE5"/>
          </a:solidFill>
          <a:ln/>
        </p:spPr>
      </p:sp>
      <p:sp>
        <p:nvSpPr>
          <p:cNvPr id="20" name="Shape 18"/>
          <p:cNvSpPr/>
          <p:nvPr/>
        </p:nvSpPr>
        <p:spPr>
          <a:xfrm>
            <a:off x="1016000" y="4699000"/>
            <a:ext cx="2286000" cy="889000"/>
          </a:xfrm>
          <a:prstGeom prst="rect">
            <a:avLst/>
          </a:prstGeom>
          <a:solidFill>
            <a:srgbClr val="F5F3EF"/>
          </a:solidFill>
          <a:ln/>
        </p:spPr>
      </p:sp>
      <p:sp>
        <p:nvSpPr>
          <p:cNvPr id="21" name="Text 19"/>
          <p:cNvSpPr/>
          <p:nvPr/>
        </p:nvSpPr>
        <p:spPr>
          <a:xfrm>
            <a:off x="1016000" y="4699000"/>
            <a:ext cx="228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0" b="1" dirty="0">
                <a:solidFill>
                  <a:srgbClr val="1A5F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Selecting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3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Words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302000" y="5080000"/>
            <a:ext cx="381000" cy="0"/>
          </a:xfrm>
          <a:prstGeom prst="straightConnector1">
            <a:avLst/>
          </a:prstGeom>
          <a:noFill/>
          <a:ln w="25400">
            <a:solidFill>
              <a:srgbClr val="1A5F6E"/>
            </a:solidFill>
            <a:prstDash val="solid"/>
            <a:headEnd type="none"/>
            <a:tailEnd type="arrow"/>
          </a:ln>
        </p:spPr>
      </p:sp>
      <p:sp>
        <p:nvSpPr>
          <p:cNvPr id="23" name="Shape 21"/>
          <p:cNvSpPr/>
          <p:nvPr/>
        </p:nvSpPr>
        <p:spPr>
          <a:xfrm>
            <a:off x="3683000" y="4699000"/>
            <a:ext cx="2286000" cy="889000"/>
          </a:xfrm>
          <a:prstGeom prst="rect">
            <a:avLst/>
          </a:prstGeom>
          <a:solidFill>
            <a:srgbClr val="F5F3EF"/>
          </a:solidFill>
          <a:ln/>
        </p:spPr>
      </p:sp>
      <p:sp>
        <p:nvSpPr>
          <p:cNvPr id="24" name="Text 22"/>
          <p:cNvSpPr/>
          <p:nvPr/>
        </p:nvSpPr>
        <p:spPr>
          <a:xfrm>
            <a:off x="3683000" y="4699000"/>
            <a:ext cx="228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0" b="1" dirty="0">
                <a:solidFill>
                  <a:srgbClr val="1A5F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Selecting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3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Images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969000" y="5080000"/>
            <a:ext cx="381000" cy="0"/>
          </a:xfrm>
          <a:prstGeom prst="straightConnector1">
            <a:avLst/>
          </a:prstGeom>
          <a:noFill/>
          <a:ln w="25400">
            <a:solidFill>
              <a:srgbClr val="1A5F6E"/>
            </a:solidFill>
            <a:prstDash val="solid"/>
            <a:headEnd type="none"/>
            <a:tailEnd type="arrow"/>
          </a:ln>
        </p:spPr>
      </p:sp>
      <p:sp>
        <p:nvSpPr>
          <p:cNvPr id="26" name="Shape 24"/>
          <p:cNvSpPr/>
          <p:nvPr/>
        </p:nvSpPr>
        <p:spPr>
          <a:xfrm>
            <a:off x="6350000" y="4699000"/>
            <a:ext cx="2286000" cy="889000"/>
          </a:xfrm>
          <a:prstGeom prst="rect">
            <a:avLst/>
          </a:prstGeom>
          <a:solidFill>
            <a:srgbClr val="F5F3EF"/>
          </a:solidFill>
          <a:ln/>
        </p:spPr>
      </p:sp>
      <p:sp>
        <p:nvSpPr>
          <p:cNvPr id="27" name="Text 25"/>
          <p:cNvSpPr/>
          <p:nvPr/>
        </p:nvSpPr>
        <p:spPr>
          <a:xfrm>
            <a:off x="6350000" y="4699000"/>
            <a:ext cx="228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0" b="1" dirty="0">
                <a:solidFill>
                  <a:srgbClr val="1A5F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Organizing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3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Words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636000" y="5080000"/>
            <a:ext cx="381000" cy="0"/>
          </a:xfrm>
          <a:prstGeom prst="straightConnector1">
            <a:avLst/>
          </a:prstGeom>
          <a:noFill/>
          <a:ln w="25400">
            <a:solidFill>
              <a:srgbClr val="1A5F6E"/>
            </a:solidFill>
            <a:prstDash val="solid"/>
            <a:headEnd type="none"/>
            <a:tailEnd type="arrow"/>
          </a:ln>
        </p:spPr>
      </p:sp>
      <p:sp>
        <p:nvSpPr>
          <p:cNvPr id="29" name="Shape 27"/>
          <p:cNvSpPr/>
          <p:nvPr/>
        </p:nvSpPr>
        <p:spPr>
          <a:xfrm>
            <a:off x="9017000" y="4699000"/>
            <a:ext cx="2286000" cy="889000"/>
          </a:xfrm>
          <a:prstGeom prst="rect">
            <a:avLst/>
          </a:prstGeom>
          <a:solidFill>
            <a:srgbClr val="F5F3EF"/>
          </a:solidFill>
          <a:ln/>
        </p:spPr>
      </p:sp>
      <p:sp>
        <p:nvSpPr>
          <p:cNvPr id="30" name="Text 28"/>
          <p:cNvSpPr/>
          <p:nvPr/>
        </p:nvSpPr>
        <p:spPr>
          <a:xfrm>
            <a:off x="9017000" y="4699000"/>
            <a:ext cx="228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0" b="1" dirty="0">
                <a:solidFill>
                  <a:srgbClr val="1A5F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Organizing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3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Images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1303000" y="5080000"/>
            <a:ext cx="381000" cy="0"/>
          </a:xfrm>
          <a:prstGeom prst="straightConnector1">
            <a:avLst/>
          </a:prstGeom>
          <a:noFill/>
          <a:ln w="25400">
            <a:solidFill>
              <a:srgbClr val="1A5F6E"/>
            </a:solidFill>
            <a:prstDash val="solid"/>
            <a:headEnd type="none"/>
            <a:tailEnd type="arrow"/>
          </a:ln>
        </p:spPr>
      </p:sp>
      <p:sp>
        <p:nvSpPr>
          <p:cNvPr id="32" name="Shape 30"/>
          <p:cNvSpPr/>
          <p:nvPr/>
        </p:nvSpPr>
        <p:spPr>
          <a:xfrm>
            <a:off x="11684000" y="4699000"/>
            <a:ext cx="2286000" cy="8890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33" name="Text 31"/>
          <p:cNvSpPr/>
          <p:nvPr/>
        </p:nvSpPr>
        <p:spPr>
          <a:xfrm>
            <a:off x="11684000" y="4699000"/>
            <a:ext cx="228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Integrating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with Prior Knowledge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62000" y="6096000"/>
            <a:ext cx="1473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These five processes work together to transform external multimedia information into coherent mental representations. The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A5F6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first four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processes build individual mental models, while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integration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connects them with existing knowledge for meaningful learning.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762000" y="7112000"/>
            <a:ext cx="762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Source: Mayer (2009, 2014), Cambridge Handbook of Multimedia Learning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4986000" y="8636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10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1A5F6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44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A5F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Three Types of Cognitive Processing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016000"/>
            <a:ext cx="635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333500"/>
            <a:ext cx="1473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Mayer (2009) maps the three types of cognitive load to three corresponding cognitive processes during multimedia learning:</a:t>
            </a:r>
            <a:endParaRPr lang="en-US" sz="1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2222500"/>
          <a:ext cx="14732000" cy="3556000"/>
        </p:xfrm>
        <a:graphic>
          <a:graphicData uri="http://schemas.openxmlformats.org/drawingml/2006/table">
            <a:tbl>
              <a:tblPr/>
              <a:tblGrid>
                <a:gridCol w="3241040"/>
                <a:gridCol w="3241040"/>
                <a:gridCol w="4124960"/>
                <a:gridCol w="4124960"/>
              </a:tblGrid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Processing Type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F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Cognitive Load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F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Description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F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Instructional Goal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F6E"/>
                    </a:solidFill>
                  </a:tcPr>
                </a:tc>
              </a:tr>
              <a:tr h="9652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5F6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Essential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Intrinsic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Selecting and organizing relevant information into coherent mental representations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Manage through scaffolding and sequencing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  <a:tr h="9652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6B7B8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Extraneous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Extraneous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Cognitive processing that does not support learning goals, caused by poor design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Eliminate through design principles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5"/>
                    </a:solidFill>
                  </a:tcPr>
                </a:tc>
              </a:tr>
              <a:tr h="9906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D4943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Generative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Germane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Deep cognitive processing that contributes to meaningful learning through integration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Foster through active learning strategies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62000" y="61595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1A5F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DESIGN IMPLICATIONS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62000" y="6540500"/>
            <a:ext cx="1473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5000"/>
              </a:lnSpc>
            </a:pPr>
            <a:r>
              <a:rPr lang="en-US" sz="1500" b="1" dirty="0">
                <a:solidFill>
                  <a:srgbClr val="1A5F6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Manage Essential:</a:t>
            </a:r>
            <a:pPr>
              <a:lnSpc>
                <a:spcPct val="155000"/>
              </a:lnSpc>
            </a:pPr>
            <a:r>
              <a:rPr lang="en-US" sz="15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Use segmenting, pre-training, and modality principles to help learners process essential content</a:t>
            </a:r>
            <a:endParaRPr lang="en-US" sz="1800" dirty="0"/>
          </a:p>
          <a:p>
            <a:pPr>
              <a:lnSpc>
                <a:spcPct val="155000"/>
              </a:lnSpc>
            </a:pPr>
            <a:r>
              <a:rPr lang="en-US" sz="1500" b="1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Reduce Extraneous:</a:t>
            </a:r>
            <a:pPr>
              <a:lnSpc>
                <a:spcPct val="155000"/>
              </a:lnSpc>
            </a:pPr>
            <a:r>
              <a:rPr lang="en-US" sz="15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Apply coherence, signaling, redundancy, and contiguity principles to eliminate wasteful processing</a:t>
            </a:r>
            <a:endParaRPr lang="en-US" sz="1800" dirty="0"/>
          </a:p>
          <a:p>
            <a:pPr>
              <a:lnSpc>
                <a:spcPct val="155000"/>
              </a:lnSpc>
            </a:pPr>
            <a:r>
              <a:rPr lang="en-US" sz="1500" b="1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Foster Generative:</a:t>
            </a:r>
            <a:pPr>
              <a:lnSpc>
                <a:spcPct val="155000"/>
              </a:lnSpc>
            </a:pPr>
            <a:r>
              <a:rPr lang="en-US" sz="15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Use multimedia, personalization, and embodiment principles to motivate deeper cognitive engagement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62000" y="8001000"/>
            <a:ext cx="762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Source: Mayer (2009), Chapter 2 — Cognitive Theory of Multimedia Learning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4986000" y="8636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11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1A5F6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44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A5F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Design Principles — Reducing Extraneous Processing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016000"/>
            <a:ext cx="635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333500"/>
            <a:ext cx="1473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Mayer's evidence-based principles for reducing extraneous cognitive load: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2000" y="1968500"/>
            <a:ext cx="7112000" cy="1206500"/>
          </a:xfrm>
          <a:prstGeom prst="rect">
            <a:avLst/>
          </a:prstGeom>
          <a:solidFill>
            <a:srgbClr val="EDEAE5"/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1968500"/>
            <a:ext cx="508000" cy="508000"/>
          </a:xfrm>
          <a:prstGeom prst="rect">
            <a:avLst/>
          </a:prstGeom>
          <a:solidFill>
            <a:srgbClr val="1A5F6E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19685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22400" y="20066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00" b="1" dirty="0">
                <a:solidFill>
                  <a:srgbClr val="1A5F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Coherence Principle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422400" y="2387600"/>
            <a:ext cx="6223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Exclude extraneous words, pictures, and sounds. Every element should serve a learning purpose.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382000" y="1968500"/>
            <a:ext cx="7112000" cy="1206500"/>
          </a:xfrm>
          <a:prstGeom prst="rect">
            <a:avLst/>
          </a:prstGeom>
          <a:solidFill>
            <a:srgbClr val="EDEAE5"/>
          </a:solidFill>
          <a:ln/>
        </p:spPr>
      </p:sp>
      <p:sp>
        <p:nvSpPr>
          <p:cNvPr id="12" name="Shape 10"/>
          <p:cNvSpPr/>
          <p:nvPr/>
        </p:nvSpPr>
        <p:spPr>
          <a:xfrm>
            <a:off x="8382000" y="1968500"/>
            <a:ext cx="508000" cy="508000"/>
          </a:xfrm>
          <a:prstGeom prst="rect">
            <a:avLst/>
          </a:prstGeom>
          <a:solidFill>
            <a:srgbClr val="1A5F6E"/>
          </a:solidFill>
          <a:ln/>
        </p:spPr>
      </p:sp>
      <p:sp>
        <p:nvSpPr>
          <p:cNvPr id="13" name="Text 11"/>
          <p:cNvSpPr/>
          <p:nvPr/>
        </p:nvSpPr>
        <p:spPr>
          <a:xfrm>
            <a:off x="8382000" y="19685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042400" y="20066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00" b="1" dirty="0">
                <a:solidFill>
                  <a:srgbClr val="1A5F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Signaling Principle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042400" y="2387600"/>
            <a:ext cx="6223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Use cues (arrows, highlighting, headings) to guide attention to essential material.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62000" y="3429000"/>
            <a:ext cx="7112000" cy="1206500"/>
          </a:xfrm>
          <a:prstGeom prst="rect">
            <a:avLst/>
          </a:prstGeom>
          <a:solidFill>
            <a:srgbClr val="EDEAE5"/>
          </a:solidFill>
          <a:ln/>
        </p:spPr>
      </p:sp>
      <p:sp>
        <p:nvSpPr>
          <p:cNvPr id="17" name="Shape 15"/>
          <p:cNvSpPr/>
          <p:nvPr/>
        </p:nvSpPr>
        <p:spPr>
          <a:xfrm>
            <a:off x="762000" y="3429000"/>
            <a:ext cx="508000" cy="508000"/>
          </a:xfrm>
          <a:prstGeom prst="rect">
            <a:avLst/>
          </a:prstGeom>
          <a:solidFill>
            <a:srgbClr val="1A5F6E"/>
          </a:solidFill>
          <a:ln/>
        </p:spPr>
      </p:sp>
      <p:sp>
        <p:nvSpPr>
          <p:cNvPr id="18" name="Text 16"/>
          <p:cNvSpPr/>
          <p:nvPr/>
        </p:nvSpPr>
        <p:spPr>
          <a:xfrm>
            <a:off x="762000" y="34290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22400" y="34671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00" b="1" dirty="0">
                <a:solidFill>
                  <a:srgbClr val="1A5F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Redundancy Principle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422400" y="3848100"/>
            <a:ext cx="6223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Avoid presenting identical information as both narration and on-screen text simultaneously.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8382000" y="3429000"/>
            <a:ext cx="7112000" cy="1206500"/>
          </a:xfrm>
          <a:prstGeom prst="rect">
            <a:avLst/>
          </a:prstGeom>
          <a:solidFill>
            <a:srgbClr val="EDEAE5"/>
          </a:solidFill>
          <a:ln/>
        </p:spPr>
      </p:sp>
      <p:sp>
        <p:nvSpPr>
          <p:cNvPr id="22" name="Shape 20"/>
          <p:cNvSpPr/>
          <p:nvPr/>
        </p:nvSpPr>
        <p:spPr>
          <a:xfrm>
            <a:off x="8382000" y="3429000"/>
            <a:ext cx="508000" cy="508000"/>
          </a:xfrm>
          <a:prstGeom prst="rect">
            <a:avLst/>
          </a:prstGeom>
          <a:solidFill>
            <a:srgbClr val="1A5F6E"/>
          </a:solidFill>
          <a:ln/>
        </p:spPr>
      </p:sp>
      <p:sp>
        <p:nvSpPr>
          <p:cNvPr id="23" name="Text 21"/>
          <p:cNvSpPr/>
          <p:nvPr/>
        </p:nvSpPr>
        <p:spPr>
          <a:xfrm>
            <a:off x="8382000" y="34290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042400" y="34671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00" b="1" dirty="0">
                <a:solidFill>
                  <a:srgbClr val="1A5F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Spatial Contiguity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042400" y="3848100"/>
            <a:ext cx="6223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Place corresponding words and pictures near each other rather than far apart.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762000" y="4889500"/>
            <a:ext cx="7112000" cy="1206500"/>
          </a:xfrm>
          <a:prstGeom prst="rect">
            <a:avLst/>
          </a:prstGeom>
          <a:solidFill>
            <a:srgbClr val="EDEAE5"/>
          </a:solidFill>
          <a:ln/>
        </p:spPr>
      </p:sp>
      <p:sp>
        <p:nvSpPr>
          <p:cNvPr id="27" name="Shape 25"/>
          <p:cNvSpPr/>
          <p:nvPr/>
        </p:nvSpPr>
        <p:spPr>
          <a:xfrm>
            <a:off x="762000" y="4889500"/>
            <a:ext cx="508000" cy="508000"/>
          </a:xfrm>
          <a:prstGeom prst="rect">
            <a:avLst/>
          </a:prstGeom>
          <a:solidFill>
            <a:srgbClr val="1A5F6E"/>
          </a:solidFill>
          <a:ln/>
        </p:spPr>
      </p:sp>
      <p:sp>
        <p:nvSpPr>
          <p:cNvPr id="28" name="Text 26"/>
          <p:cNvSpPr/>
          <p:nvPr/>
        </p:nvSpPr>
        <p:spPr>
          <a:xfrm>
            <a:off x="762000" y="48895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422400" y="4927600"/>
            <a:ext cx="4445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00" b="1" dirty="0">
                <a:solidFill>
                  <a:srgbClr val="1A5F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Temporal Contiguity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1422400" y="5308600"/>
            <a:ext cx="6223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Present corresponding narration and animation simultaneously rather than sequentially.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8382000" y="4889500"/>
            <a:ext cx="7112000" cy="12065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32" name="Text 30"/>
          <p:cNvSpPr/>
          <p:nvPr/>
        </p:nvSpPr>
        <p:spPr>
          <a:xfrm>
            <a:off x="8636000" y="5016500"/>
            <a:ext cx="6604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Each principle is grounded in experimental research</a:t>
            </a:r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showing medium-to-large effect sizes on learning outcomes across diverse populations.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62000" y="6477000"/>
            <a:ext cx="762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Source: Mayer (2009, 2014); Mayer &amp; Pilegard (2014)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4986000" y="8636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12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1A5F6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44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A5F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Design Principles — Managing Essential &amp; Generative Processing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016000"/>
            <a:ext cx="635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333500"/>
            <a:ext cx="635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1A5F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MANAGING ESSENTIAL PROCESSING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62000" y="1778000"/>
            <a:ext cx="4699000" cy="1524000"/>
          </a:xfrm>
          <a:prstGeom prst="rect">
            <a:avLst/>
          </a:prstGeom>
          <a:solidFill>
            <a:srgbClr val="EDEAE5"/>
          </a:solidFill>
          <a:ln/>
        </p:spPr>
      </p:sp>
      <p:sp>
        <p:nvSpPr>
          <p:cNvPr id="7" name="Shape 5"/>
          <p:cNvSpPr/>
          <p:nvPr/>
        </p:nvSpPr>
        <p:spPr>
          <a:xfrm>
            <a:off x="952500" y="1930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14300" y="152400"/>
                </a:moveTo>
                <a:lnTo>
                  <a:pt x="90785" y="175915"/>
                </a:lnTo>
                <a:cubicBezTo>
                  <a:pt x="83284" y="172998"/>
                  <a:pt x="75188" y="171450"/>
                  <a:pt x="66675" y="171450"/>
                </a:cubicBezTo>
                <a:cubicBezTo>
                  <a:pt x="29825" y="171450"/>
                  <a:pt x="0" y="201275"/>
                  <a:pt x="0" y="238125"/>
                </a:cubicBezTo>
                <a:cubicBezTo>
                  <a:pt x="0" y="274975"/>
                  <a:pt x="29825" y="304800"/>
                  <a:pt x="66675" y="304800"/>
                </a:cubicBezTo>
                <a:cubicBezTo>
                  <a:pt x="103525" y="304800"/>
                  <a:pt x="133350" y="274975"/>
                  <a:pt x="133350" y="238125"/>
                </a:cubicBezTo>
                <a:cubicBezTo>
                  <a:pt x="133350" y="229612"/>
                  <a:pt x="131743" y="221516"/>
                  <a:pt x="128885" y="214015"/>
                </a:cubicBezTo>
                <a:lnTo>
                  <a:pt x="297180" y="45720"/>
                </a:lnTo>
                <a:cubicBezTo>
                  <a:pt x="301407" y="41493"/>
                  <a:pt x="301407" y="34707"/>
                  <a:pt x="297180" y="30480"/>
                </a:cubicBezTo>
                <a:cubicBezTo>
                  <a:pt x="280333" y="13633"/>
                  <a:pt x="253067" y="13633"/>
                  <a:pt x="236220" y="30480"/>
                </a:cubicBezTo>
                <a:lnTo>
                  <a:pt x="152400" y="114300"/>
                </a:lnTo>
                <a:lnTo>
                  <a:pt x="128885" y="90785"/>
                </a:lnTo>
                <a:cubicBezTo>
                  <a:pt x="131802" y="83284"/>
                  <a:pt x="133350" y="75188"/>
                  <a:pt x="133350" y="66675"/>
                </a:cubicBezTo>
                <a:cubicBezTo>
                  <a:pt x="133350" y="29825"/>
                  <a:pt x="103525" y="0"/>
                  <a:pt x="66675" y="0"/>
                </a:cubicBezTo>
                <a:cubicBezTo>
                  <a:pt x="29825" y="0"/>
                  <a:pt x="0" y="29825"/>
                  <a:pt x="0" y="66675"/>
                </a:cubicBezTo>
                <a:cubicBezTo>
                  <a:pt x="0" y="103525"/>
                  <a:pt x="29825" y="133350"/>
                  <a:pt x="66675" y="133350"/>
                </a:cubicBezTo>
                <a:cubicBezTo>
                  <a:pt x="75188" y="133350"/>
                  <a:pt x="83284" y="131743"/>
                  <a:pt x="90785" y="128885"/>
                </a:cubicBezTo>
                <a:lnTo>
                  <a:pt x="114300" y="152400"/>
                </a:lnTo>
                <a:close/>
                <a:moveTo>
                  <a:pt x="172581" y="210681"/>
                </a:moveTo>
                <a:lnTo>
                  <a:pt x="236220" y="274320"/>
                </a:lnTo>
                <a:cubicBezTo>
                  <a:pt x="253067" y="291167"/>
                  <a:pt x="280333" y="291167"/>
                  <a:pt x="297180" y="274320"/>
                </a:cubicBezTo>
                <a:cubicBezTo>
                  <a:pt x="301407" y="270093"/>
                  <a:pt x="301407" y="263307"/>
                  <a:pt x="297180" y="259080"/>
                </a:cubicBezTo>
                <a:lnTo>
                  <a:pt x="210681" y="172581"/>
                </a:lnTo>
                <a:lnTo>
                  <a:pt x="172581" y="210681"/>
                </a:lnTo>
                <a:close/>
                <a:moveTo>
                  <a:pt x="38100" y="66675"/>
                </a:moveTo>
                <a:cubicBezTo>
                  <a:pt x="38100" y="50904"/>
                  <a:pt x="50904" y="38100"/>
                  <a:pt x="66675" y="38100"/>
                </a:cubicBezTo>
                <a:cubicBezTo>
                  <a:pt x="82446" y="38100"/>
                  <a:pt x="95250" y="50904"/>
                  <a:pt x="95250" y="66675"/>
                </a:cubicBezTo>
                <a:cubicBezTo>
                  <a:pt x="95250" y="82446"/>
                  <a:pt x="82446" y="95250"/>
                  <a:pt x="66675" y="95250"/>
                </a:cubicBezTo>
                <a:cubicBezTo>
                  <a:pt x="50904" y="95250"/>
                  <a:pt x="38100" y="82446"/>
                  <a:pt x="38100" y="66675"/>
                </a:cubicBezTo>
                <a:close/>
                <a:moveTo>
                  <a:pt x="66675" y="209550"/>
                </a:moveTo>
                <a:cubicBezTo>
                  <a:pt x="82446" y="209550"/>
                  <a:pt x="95250" y="222354"/>
                  <a:pt x="95250" y="238125"/>
                </a:cubicBezTo>
                <a:cubicBezTo>
                  <a:pt x="95250" y="253896"/>
                  <a:pt x="82446" y="266700"/>
                  <a:pt x="66675" y="266700"/>
                </a:cubicBezTo>
                <a:cubicBezTo>
                  <a:pt x="50904" y="266700"/>
                  <a:pt x="38100" y="253896"/>
                  <a:pt x="38100" y="238125"/>
                </a:cubicBezTo>
                <a:cubicBezTo>
                  <a:pt x="38100" y="222354"/>
                  <a:pt x="50904" y="209550"/>
                  <a:pt x="66675" y="209550"/>
                </a:cubicBezTo>
                <a:close/>
              </a:path>
            </a:pathLst>
          </a:custGeom>
          <a:solidFill>
            <a:srgbClr val="1A5F6E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1905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2B2B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Segmenting Principle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52500" y="2311400"/>
            <a:ext cx="4318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Break continuous lessons into learner-paced segments to prevent overload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778500" y="1778000"/>
            <a:ext cx="4699000" cy="1524000"/>
          </a:xfrm>
          <a:prstGeom prst="rect">
            <a:avLst/>
          </a:prstGeom>
          <a:solidFill>
            <a:srgbClr val="EDEAE5"/>
          </a:solidFill>
          <a:ln/>
        </p:spPr>
      </p:sp>
      <p:sp>
        <p:nvSpPr>
          <p:cNvPr id="11" name="Shape 9"/>
          <p:cNvSpPr/>
          <p:nvPr/>
        </p:nvSpPr>
        <p:spPr>
          <a:xfrm>
            <a:off x="5949950" y="19304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28575" y="116562"/>
                </a:moveTo>
                <a:lnTo>
                  <a:pt x="153114" y="167819"/>
                </a:lnTo>
                <a:cubicBezTo>
                  <a:pt x="158948" y="170200"/>
                  <a:pt x="165140" y="171450"/>
                  <a:pt x="171450" y="171450"/>
                </a:cubicBezTo>
                <a:cubicBezTo>
                  <a:pt x="177760" y="171450"/>
                  <a:pt x="183952" y="170200"/>
                  <a:pt x="189786" y="167819"/>
                </a:cubicBezTo>
                <a:lnTo>
                  <a:pt x="334089" y="108406"/>
                </a:lnTo>
                <a:cubicBezTo>
                  <a:pt x="339447" y="106204"/>
                  <a:pt x="342900" y="101025"/>
                  <a:pt x="342900" y="95250"/>
                </a:cubicBezTo>
                <a:cubicBezTo>
                  <a:pt x="342900" y="89475"/>
                  <a:pt x="339447" y="84296"/>
                  <a:pt x="334089" y="82094"/>
                </a:cubicBezTo>
                <a:lnTo>
                  <a:pt x="189786" y="22681"/>
                </a:lnTo>
                <a:cubicBezTo>
                  <a:pt x="183952" y="20300"/>
                  <a:pt x="177760" y="19050"/>
                  <a:pt x="171450" y="19050"/>
                </a:cubicBezTo>
                <a:cubicBezTo>
                  <a:pt x="165140" y="19050"/>
                  <a:pt x="158948" y="20300"/>
                  <a:pt x="153114" y="22681"/>
                </a:cubicBezTo>
                <a:lnTo>
                  <a:pt x="8811" y="82094"/>
                </a:lnTo>
                <a:cubicBezTo>
                  <a:pt x="3453" y="84296"/>
                  <a:pt x="0" y="89475"/>
                  <a:pt x="0" y="95250"/>
                </a:cubicBezTo>
                <a:lnTo>
                  <a:pt x="0" y="271463"/>
                </a:lnTo>
                <a:cubicBezTo>
                  <a:pt x="0" y="279380"/>
                  <a:pt x="6370" y="285750"/>
                  <a:pt x="14288" y="285750"/>
                </a:cubicBezTo>
                <a:cubicBezTo>
                  <a:pt x="22205" y="285750"/>
                  <a:pt x="28575" y="279380"/>
                  <a:pt x="28575" y="271463"/>
                </a:cubicBezTo>
                <a:lnTo>
                  <a:pt x="28575" y="116562"/>
                </a:lnTo>
                <a:close/>
                <a:moveTo>
                  <a:pt x="57150" y="159246"/>
                </a:moveTo>
                <a:lnTo>
                  <a:pt x="57150" y="228600"/>
                </a:lnTo>
                <a:cubicBezTo>
                  <a:pt x="57150" y="260152"/>
                  <a:pt x="108347" y="285750"/>
                  <a:pt x="171450" y="285750"/>
                </a:cubicBezTo>
                <a:cubicBezTo>
                  <a:pt x="234553" y="285750"/>
                  <a:pt x="285750" y="260152"/>
                  <a:pt x="285750" y="228600"/>
                </a:cubicBezTo>
                <a:lnTo>
                  <a:pt x="285750" y="159187"/>
                </a:lnTo>
                <a:lnTo>
                  <a:pt x="200680" y="194250"/>
                </a:lnTo>
                <a:cubicBezTo>
                  <a:pt x="191393" y="198060"/>
                  <a:pt x="181511" y="200025"/>
                  <a:pt x="171450" y="200025"/>
                </a:cubicBezTo>
                <a:cubicBezTo>
                  <a:pt x="161389" y="200025"/>
                  <a:pt x="151507" y="198060"/>
                  <a:pt x="142220" y="194250"/>
                </a:cubicBezTo>
                <a:lnTo>
                  <a:pt x="57150" y="159187"/>
                </a:lnTo>
                <a:close/>
              </a:path>
            </a:pathLst>
          </a:custGeom>
          <a:solidFill>
            <a:srgbClr val="1A5F6E"/>
          </a:solidFill>
          <a:ln/>
        </p:spPr>
      </p:sp>
      <p:sp>
        <p:nvSpPr>
          <p:cNvPr id="12" name="Text 10"/>
          <p:cNvSpPr/>
          <p:nvPr/>
        </p:nvSpPr>
        <p:spPr>
          <a:xfrm>
            <a:off x="6388100" y="1905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2B2B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Pre-training Principle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969000" y="2311400"/>
            <a:ext cx="4318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Teach key component concepts before the main lesson to reduce element interactivity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0795000" y="1778000"/>
            <a:ext cx="4699000" cy="1524000"/>
          </a:xfrm>
          <a:prstGeom prst="rect">
            <a:avLst/>
          </a:prstGeom>
          <a:solidFill>
            <a:srgbClr val="EDEAE5"/>
          </a:solidFill>
          <a:ln/>
        </p:spPr>
      </p:sp>
      <p:sp>
        <p:nvSpPr>
          <p:cNvPr id="15" name="Shape 13"/>
          <p:cNvSpPr/>
          <p:nvPr/>
        </p:nvSpPr>
        <p:spPr>
          <a:xfrm>
            <a:off x="11004550" y="19304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38100" y="133350"/>
                </a:moveTo>
                <a:cubicBezTo>
                  <a:pt x="38100" y="80724"/>
                  <a:pt x="80724" y="38100"/>
                  <a:pt x="133350" y="38100"/>
                </a:cubicBezTo>
                <a:cubicBezTo>
                  <a:pt x="185976" y="38100"/>
                  <a:pt x="228600" y="80724"/>
                  <a:pt x="228600" y="133350"/>
                </a:cubicBezTo>
                <a:lnTo>
                  <a:pt x="228600" y="155674"/>
                </a:lnTo>
                <a:cubicBezTo>
                  <a:pt x="222647" y="153591"/>
                  <a:pt x="216218" y="152400"/>
                  <a:pt x="209550" y="152400"/>
                </a:cubicBezTo>
                <a:lnTo>
                  <a:pt x="200025" y="152400"/>
                </a:lnTo>
                <a:cubicBezTo>
                  <a:pt x="184249" y="152400"/>
                  <a:pt x="171450" y="165199"/>
                  <a:pt x="171450" y="180975"/>
                </a:cubicBezTo>
                <a:lnTo>
                  <a:pt x="171450" y="257175"/>
                </a:lnTo>
                <a:cubicBezTo>
                  <a:pt x="171450" y="272951"/>
                  <a:pt x="184249" y="285750"/>
                  <a:pt x="200025" y="285750"/>
                </a:cubicBezTo>
                <a:lnTo>
                  <a:pt x="209550" y="285750"/>
                </a:lnTo>
                <a:cubicBezTo>
                  <a:pt x="241102" y="285750"/>
                  <a:pt x="266700" y="260152"/>
                  <a:pt x="266700" y="228600"/>
                </a:cubicBezTo>
                <a:lnTo>
                  <a:pt x="266700" y="133350"/>
                </a:lnTo>
                <a:cubicBezTo>
                  <a:pt x="266700" y="59710"/>
                  <a:pt x="206990" y="0"/>
                  <a:pt x="133350" y="0"/>
                </a:cubicBezTo>
                <a:cubicBezTo>
                  <a:pt x="59710" y="0"/>
                  <a:pt x="0" y="59710"/>
                  <a:pt x="0" y="133350"/>
                </a:cubicBezTo>
                <a:lnTo>
                  <a:pt x="0" y="228600"/>
                </a:lnTo>
                <a:cubicBezTo>
                  <a:pt x="0" y="260152"/>
                  <a:pt x="25598" y="285750"/>
                  <a:pt x="57150" y="285750"/>
                </a:cubicBezTo>
                <a:lnTo>
                  <a:pt x="66675" y="285750"/>
                </a:lnTo>
                <a:cubicBezTo>
                  <a:pt x="82451" y="285750"/>
                  <a:pt x="95250" y="272951"/>
                  <a:pt x="95250" y="257175"/>
                </a:cubicBezTo>
                <a:lnTo>
                  <a:pt x="95250" y="180975"/>
                </a:lnTo>
                <a:cubicBezTo>
                  <a:pt x="95250" y="165199"/>
                  <a:pt x="82451" y="152400"/>
                  <a:pt x="66675" y="152400"/>
                </a:cubicBezTo>
                <a:lnTo>
                  <a:pt x="57150" y="152400"/>
                </a:lnTo>
                <a:cubicBezTo>
                  <a:pt x="50483" y="152400"/>
                  <a:pt x="44053" y="153531"/>
                  <a:pt x="38100" y="155674"/>
                </a:cubicBezTo>
                <a:lnTo>
                  <a:pt x="38100" y="133350"/>
                </a:lnTo>
                <a:close/>
              </a:path>
            </a:pathLst>
          </a:custGeom>
          <a:solidFill>
            <a:srgbClr val="1A5F6E"/>
          </a:solidFill>
          <a:ln/>
        </p:spPr>
      </p:sp>
      <p:sp>
        <p:nvSpPr>
          <p:cNvPr id="16" name="Text 14"/>
          <p:cNvSpPr/>
          <p:nvPr/>
        </p:nvSpPr>
        <p:spPr>
          <a:xfrm>
            <a:off x="11404600" y="1905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2B2B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Modality Principle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985500" y="2311400"/>
            <a:ext cx="4318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Present words as narration rather than on-screen text to use auditory channel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62000" y="3683000"/>
            <a:ext cx="635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1A5F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FOSTERING GENERATIVE PROCESSING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2000" y="4127500"/>
            <a:ext cx="3429000" cy="1651000"/>
          </a:xfrm>
          <a:prstGeom prst="rect">
            <a:avLst/>
          </a:prstGeom>
          <a:solidFill>
            <a:srgbClr val="EDEAE5"/>
          </a:solidFill>
          <a:ln/>
        </p:spPr>
      </p:sp>
      <p:sp>
        <p:nvSpPr>
          <p:cNvPr id="20" name="Shape 18"/>
          <p:cNvSpPr/>
          <p:nvPr/>
        </p:nvSpPr>
        <p:spPr>
          <a:xfrm>
            <a:off x="933450" y="42926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57150" y="57150"/>
                </a:moveTo>
                <a:cubicBezTo>
                  <a:pt x="57150" y="36135"/>
                  <a:pt x="74235" y="19050"/>
                  <a:pt x="95250" y="19050"/>
                </a:cubicBezTo>
                <a:lnTo>
                  <a:pt x="285750" y="19050"/>
                </a:lnTo>
                <a:cubicBezTo>
                  <a:pt x="306765" y="19050"/>
                  <a:pt x="323850" y="36135"/>
                  <a:pt x="323850" y="57150"/>
                </a:cubicBezTo>
                <a:lnTo>
                  <a:pt x="323850" y="209550"/>
                </a:lnTo>
                <a:cubicBezTo>
                  <a:pt x="323850" y="230565"/>
                  <a:pt x="306765" y="247650"/>
                  <a:pt x="285750" y="247650"/>
                </a:cubicBezTo>
                <a:lnTo>
                  <a:pt x="95250" y="247650"/>
                </a:lnTo>
                <a:cubicBezTo>
                  <a:pt x="74235" y="247650"/>
                  <a:pt x="57150" y="230565"/>
                  <a:pt x="57150" y="209550"/>
                </a:cubicBezTo>
                <a:lnTo>
                  <a:pt x="57150" y="57150"/>
                </a:lnTo>
                <a:close/>
                <a:moveTo>
                  <a:pt x="14288" y="76200"/>
                </a:moveTo>
                <a:cubicBezTo>
                  <a:pt x="22205" y="76200"/>
                  <a:pt x="28575" y="82570"/>
                  <a:pt x="28575" y="90488"/>
                </a:cubicBezTo>
                <a:lnTo>
                  <a:pt x="28575" y="266700"/>
                </a:lnTo>
                <a:cubicBezTo>
                  <a:pt x="28575" y="271939"/>
                  <a:pt x="32861" y="276225"/>
                  <a:pt x="38100" y="276225"/>
                </a:cubicBezTo>
                <a:lnTo>
                  <a:pt x="252413" y="276225"/>
                </a:lnTo>
                <a:cubicBezTo>
                  <a:pt x="260330" y="276225"/>
                  <a:pt x="266700" y="282595"/>
                  <a:pt x="266700" y="290513"/>
                </a:cubicBezTo>
                <a:cubicBezTo>
                  <a:pt x="266700" y="298430"/>
                  <a:pt x="260330" y="304800"/>
                  <a:pt x="252413" y="304800"/>
                </a:cubicBezTo>
                <a:lnTo>
                  <a:pt x="38100" y="304800"/>
                </a:lnTo>
                <a:cubicBezTo>
                  <a:pt x="17085" y="304800"/>
                  <a:pt x="0" y="287715"/>
                  <a:pt x="0" y="266700"/>
                </a:cubicBezTo>
                <a:lnTo>
                  <a:pt x="0" y="90488"/>
                </a:lnTo>
                <a:cubicBezTo>
                  <a:pt x="0" y="82570"/>
                  <a:pt x="6370" y="76200"/>
                  <a:pt x="14288" y="76200"/>
                </a:cubicBezTo>
                <a:close/>
                <a:moveTo>
                  <a:pt x="114300" y="95250"/>
                </a:moveTo>
                <a:cubicBezTo>
                  <a:pt x="124814" y="95250"/>
                  <a:pt x="133350" y="86714"/>
                  <a:pt x="133350" y="76200"/>
                </a:cubicBezTo>
                <a:cubicBezTo>
                  <a:pt x="133350" y="65686"/>
                  <a:pt x="124814" y="57150"/>
                  <a:pt x="114300" y="57150"/>
                </a:cubicBezTo>
                <a:cubicBezTo>
                  <a:pt x="103786" y="57150"/>
                  <a:pt x="95250" y="65686"/>
                  <a:pt x="95250" y="76200"/>
                </a:cubicBezTo>
                <a:cubicBezTo>
                  <a:pt x="95250" y="86714"/>
                  <a:pt x="103786" y="95250"/>
                  <a:pt x="114300" y="95250"/>
                </a:cubicBezTo>
                <a:close/>
                <a:moveTo>
                  <a:pt x="231279" y="102096"/>
                </a:moveTo>
                <a:cubicBezTo>
                  <a:pt x="228660" y="97869"/>
                  <a:pt x="224076" y="95250"/>
                  <a:pt x="219075" y="95250"/>
                </a:cubicBezTo>
                <a:cubicBezTo>
                  <a:pt x="214074" y="95250"/>
                  <a:pt x="209490" y="97869"/>
                  <a:pt x="206871" y="102096"/>
                </a:cubicBezTo>
                <a:lnTo>
                  <a:pt x="173355" y="156924"/>
                </a:lnTo>
                <a:lnTo>
                  <a:pt x="158770" y="138708"/>
                </a:lnTo>
                <a:cubicBezTo>
                  <a:pt x="156031" y="135315"/>
                  <a:pt x="151983" y="133350"/>
                  <a:pt x="147638" y="133350"/>
                </a:cubicBezTo>
                <a:cubicBezTo>
                  <a:pt x="143292" y="133350"/>
                  <a:pt x="139184" y="135315"/>
                  <a:pt x="136505" y="138708"/>
                </a:cubicBezTo>
                <a:lnTo>
                  <a:pt x="98405" y="186333"/>
                </a:lnTo>
                <a:cubicBezTo>
                  <a:pt x="94952" y="190619"/>
                  <a:pt x="94298" y="196513"/>
                  <a:pt x="96679" y="201454"/>
                </a:cubicBezTo>
                <a:cubicBezTo>
                  <a:pt x="99060" y="206395"/>
                  <a:pt x="104061" y="209550"/>
                  <a:pt x="109537" y="209550"/>
                </a:cubicBezTo>
                <a:lnTo>
                  <a:pt x="271463" y="209550"/>
                </a:lnTo>
                <a:cubicBezTo>
                  <a:pt x="276642" y="209550"/>
                  <a:pt x="281404" y="206752"/>
                  <a:pt x="283905" y="202228"/>
                </a:cubicBezTo>
                <a:cubicBezTo>
                  <a:pt x="286405" y="197703"/>
                  <a:pt x="286345" y="192226"/>
                  <a:pt x="283607" y="187762"/>
                </a:cubicBezTo>
                <a:lnTo>
                  <a:pt x="231219" y="102037"/>
                </a:ln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21" name="Text 19"/>
          <p:cNvSpPr/>
          <p:nvPr/>
        </p:nvSpPr>
        <p:spPr>
          <a:xfrm>
            <a:off x="1371600" y="42672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2B2B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Multimedia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52500" y="4673600"/>
            <a:ext cx="3048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People learn better from words and pictures than from words alone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4508500" y="4127500"/>
            <a:ext cx="3429000" cy="1651000"/>
          </a:xfrm>
          <a:prstGeom prst="rect">
            <a:avLst/>
          </a:prstGeom>
          <a:solidFill>
            <a:srgbClr val="EDEAE5"/>
          </a:solidFill>
          <a:ln/>
        </p:spPr>
      </p:sp>
      <p:sp>
        <p:nvSpPr>
          <p:cNvPr id="24" name="Shape 22"/>
          <p:cNvSpPr/>
          <p:nvPr/>
        </p:nvSpPr>
        <p:spPr>
          <a:xfrm>
            <a:off x="4679950" y="42926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228600" y="85725"/>
                </a:moveTo>
                <a:cubicBezTo>
                  <a:pt x="228600" y="143589"/>
                  <a:pt x="177403" y="190500"/>
                  <a:pt x="114300" y="190500"/>
                </a:cubicBezTo>
                <a:cubicBezTo>
                  <a:pt x="98405" y="190500"/>
                  <a:pt x="83284" y="187523"/>
                  <a:pt x="69533" y="182166"/>
                </a:cubicBezTo>
                <a:lnTo>
                  <a:pt x="20955" y="207883"/>
                </a:lnTo>
                <a:cubicBezTo>
                  <a:pt x="15419" y="210800"/>
                  <a:pt x="8632" y="209788"/>
                  <a:pt x="4167" y="205383"/>
                </a:cubicBezTo>
                <a:cubicBezTo>
                  <a:pt x="-298" y="200978"/>
                  <a:pt x="-1310" y="194131"/>
                  <a:pt x="1667" y="188595"/>
                </a:cubicBezTo>
                <a:lnTo>
                  <a:pt x="22860" y="148590"/>
                </a:lnTo>
                <a:cubicBezTo>
                  <a:pt x="8513" y="131088"/>
                  <a:pt x="0" y="109299"/>
                  <a:pt x="0" y="85725"/>
                </a:cubicBezTo>
                <a:cubicBezTo>
                  <a:pt x="0" y="27861"/>
                  <a:pt x="51197" y="-19050"/>
                  <a:pt x="114300" y="-19050"/>
                </a:cubicBezTo>
                <a:cubicBezTo>
                  <a:pt x="177403" y="-19050"/>
                  <a:pt x="228600" y="27861"/>
                  <a:pt x="228600" y="85725"/>
                </a:cubicBezTo>
                <a:close/>
                <a:moveTo>
                  <a:pt x="228600" y="304800"/>
                </a:moveTo>
                <a:cubicBezTo>
                  <a:pt x="172581" y="304800"/>
                  <a:pt x="125968" y="267831"/>
                  <a:pt x="116205" y="219075"/>
                </a:cubicBezTo>
                <a:cubicBezTo>
                  <a:pt x="187643" y="218182"/>
                  <a:pt x="249734" y="167342"/>
                  <a:pt x="256580" y="98405"/>
                </a:cubicBezTo>
                <a:cubicBezTo>
                  <a:pt x="306169" y="109835"/>
                  <a:pt x="342900" y="150971"/>
                  <a:pt x="342900" y="200025"/>
                </a:cubicBezTo>
                <a:cubicBezTo>
                  <a:pt x="342900" y="223599"/>
                  <a:pt x="334387" y="245388"/>
                  <a:pt x="320040" y="262890"/>
                </a:cubicBezTo>
                <a:lnTo>
                  <a:pt x="341233" y="302895"/>
                </a:lnTo>
                <a:cubicBezTo>
                  <a:pt x="344150" y="308431"/>
                  <a:pt x="343138" y="315218"/>
                  <a:pt x="338733" y="319683"/>
                </a:cubicBezTo>
                <a:cubicBezTo>
                  <a:pt x="334328" y="324148"/>
                  <a:pt x="327481" y="325160"/>
                  <a:pt x="321945" y="322183"/>
                </a:cubicBezTo>
                <a:lnTo>
                  <a:pt x="273368" y="296466"/>
                </a:lnTo>
                <a:cubicBezTo>
                  <a:pt x="259616" y="301823"/>
                  <a:pt x="244495" y="304800"/>
                  <a:pt x="228600" y="304800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25" name="Text 23"/>
          <p:cNvSpPr/>
          <p:nvPr/>
        </p:nvSpPr>
        <p:spPr>
          <a:xfrm>
            <a:off x="5118100" y="42672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2B2B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Personalization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699000" y="4673600"/>
            <a:ext cx="3048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Use conversational style rather than formal style to increase engagement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8255000" y="4127500"/>
            <a:ext cx="3429000" cy="1651000"/>
          </a:xfrm>
          <a:prstGeom prst="rect">
            <a:avLst/>
          </a:prstGeom>
          <a:solidFill>
            <a:srgbClr val="EDEAE5"/>
          </a:solidFill>
          <a:ln/>
        </p:spPr>
      </p:sp>
      <p:sp>
        <p:nvSpPr>
          <p:cNvPr id="28" name="Shape 26"/>
          <p:cNvSpPr/>
          <p:nvPr/>
        </p:nvSpPr>
        <p:spPr>
          <a:xfrm>
            <a:off x="8445500" y="4292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04800" y="95250"/>
                </a:moveTo>
                <a:lnTo>
                  <a:pt x="304740" y="138470"/>
                </a:lnTo>
                <a:cubicBezTo>
                  <a:pt x="304740" y="165140"/>
                  <a:pt x="294263" y="190321"/>
                  <a:pt x="276225" y="208955"/>
                </a:cubicBezTo>
                <a:cubicBezTo>
                  <a:pt x="276046" y="163116"/>
                  <a:pt x="252353" y="120610"/>
                  <a:pt x="213479" y="96262"/>
                </a:cubicBezTo>
                <a:lnTo>
                  <a:pt x="212348" y="95548"/>
                </a:lnTo>
                <a:cubicBezTo>
                  <a:pt x="213836" y="93345"/>
                  <a:pt x="214015" y="90428"/>
                  <a:pt x="212586" y="87987"/>
                </a:cubicBezTo>
                <a:lnTo>
                  <a:pt x="175677" y="24051"/>
                </a:lnTo>
                <a:cubicBezTo>
                  <a:pt x="171748" y="17205"/>
                  <a:pt x="174069" y="8453"/>
                  <a:pt x="180915" y="4524"/>
                </a:cubicBezTo>
                <a:cubicBezTo>
                  <a:pt x="187762" y="595"/>
                  <a:pt x="196453" y="2977"/>
                  <a:pt x="200382" y="9823"/>
                </a:cubicBezTo>
                <a:lnTo>
                  <a:pt x="240863" y="79950"/>
                </a:lnTo>
                <a:lnTo>
                  <a:pt x="240863" y="79950"/>
                </a:lnTo>
                <a:lnTo>
                  <a:pt x="240863" y="79950"/>
                </a:lnTo>
                <a:lnTo>
                  <a:pt x="266640" y="124599"/>
                </a:lnTo>
                <a:lnTo>
                  <a:pt x="266700" y="95250"/>
                </a:lnTo>
                <a:cubicBezTo>
                  <a:pt x="266700" y="84713"/>
                  <a:pt x="275273" y="76200"/>
                  <a:pt x="285750" y="76200"/>
                </a:cubicBezTo>
                <a:cubicBezTo>
                  <a:pt x="296228" y="76200"/>
                  <a:pt x="304800" y="84773"/>
                  <a:pt x="304800" y="95250"/>
                </a:cubicBezTo>
                <a:close/>
                <a:moveTo>
                  <a:pt x="177641" y="73938"/>
                </a:moveTo>
                <a:cubicBezTo>
                  <a:pt x="169247" y="68699"/>
                  <a:pt x="159901" y="66377"/>
                  <a:pt x="150733" y="66735"/>
                </a:cubicBezTo>
                <a:lnTo>
                  <a:pt x="129004" y="29051"/>
                </a:lnTo>
                <a:cubicBezTo>
                  <a:pt x="125075" y="22205"/>
                  <a:pt x="127397" y="13454"/>
                  <a:pt x="134243" y="9525"/>
                </a:cubicBezTo>
                <a:cubicBezTo>
                  <a:pt x="141089" y="5596"/>
                  <a:pt x="149840" y="7918"/>
                  <a:pt x="153769" y="14764"/>
                </a:cubicBezTo>
                <a:lnTo>
                  <a:pt x="193715" y="83939"/>
                </a:lnTo>
                <a:lnTo>
                  <a:pt x="177641" y="73878"/>
                </a:lnTo>
                <a:close/>
                <a:moveTo>
                  <a:pt x="126147" y="52685"/>
                </a:moveTo>
                <a:lnTo>
                  <a:pt x="135910" y="69592"/>
                </a:lnTo>
                <a:cubicBezTo>
                  <a:pt x="126921" y="72866"/>
                  <a:pt x="118884" y="78879"/>
                  <a:pt x="113109" y="87273"/>
                </a:cubicBezTo>
                <a:lnTo>
                  <a:pt x="101382" y="66913"/>
                </a:lnTo>
                <a:cubicBezTo>
                  <a:pt x="97453" y="60067"/>
                  <a:pt x="99774" y="51316"/>
                  <a:pt x="106620" y="47387"/>
                </a:cubicBezTo>
                <a:cubicBezTo>
                  <a:pt x="113467" y="43458"/>
                  <a:pt x="122218" y="45780"/>
                  <a:pt x="126147" y="52626"/>
                </a:cubicBezTo>
                <a:close/>
                <a:moveTo>
                  <a:pt x="98524" y="90607"/>
                </a:moveTo>
                <a:lnTo>
                  <a:pt x="105966" y="103525"/>
                </a:lnTo>
                <a:cubicBezTo>
                  <a:pt x="104775" y="108645"/>
                  <a:pt x="104477" y="113943"/>
                  <a:pt x="104954" y="119062"/>
                </a:cubicBezTo>
                <a:lnTo>
                  <a:pt x="102394" y="119062"/>
                </a:lnTo>
                <a:lnTo>
                  <a:pt x="102394" y="119062"/>
                </a:lnTo>
                <a:lnTo>
                  <a:pt x="81915" y="119062"/>
                </a:lnTo>
                <a:lnTo>
                  <a:pt x="73759" y="104894"/>
                </a:lnTo>
                <a:cubicBezTo>
                  <a:pt x="69830" y="98048"/>
                  <a:pt x="72152" y="89297"/>
                  <a:pt x="78998" y="85368"/>
                </a:cubicBezTo>
                <a:cubicBezTo>
                  <a:pt x="85844" y="81439"/>
                  <a:pt x="94595" y="83760"/>
                  <a:pt x="98524" y="90607"/>
                </a:cubicBezTo>
                <a:close/>
                <a:moveTo>
                  <a:pt x="136267" y="104180"/>
                </a:moveTo>
                <a:cubicBezTo>
                  <a:pt x="141863" y="95250"/>
                  <a:pt x="153591" y="92571"/>
                  <a:pt x="162520" y="98108"/>
                </a:cubicBezTo>
                <a:lnTo>
                  <a:pt x="198358" y="120491"/>
                </a:lnTo>
                <a:cubicBezTo>
                  <a:pt x="229017" y="139720"/>
                  <a:pt x="247650" y="173355"/>
                  <a:pt x="247650" y="209550"/>
                </a:cubicBezTo>
                <a:lnTo>
                  <a:pt x="247650" y="214313"/>
                </a:lnTo>
                <a:cubicBezTo>
                  <a:pt x="247650" y="264259"/>
                  <a:pt x="207109" y="304800"/>
                  <a:pt x="157163" y="304800"/>
                </a:cubicBezTo>
                <a:lnTo>
                  <a:pt x="52388" y="304800"/>
                </a:lnTo>
                <a:cubicBezTo>
                  <a:pt x="44470" y="304800"/>
                  <a:pt x="38100" y="298430"/>
                  <a:pt x="38100" y="290513"/>
                </a:cubicBezTo>
                <a:cubicBezTo>
                  <a:pt x="38100" y="282595"/>
                  <a:pt x="44470" y="276225"/>
                  <a:pt x="52388" y="276225"/>
                </a:cubicBezTo>
                <a:lnTo>
                  <a:pt x="107156" y="276225"/>
                </a:lnTo>
                <a:cubicBezTo>
                  <a:pt x="111085" y="276225"/>
                  <a:pt x="114300" y="273010"/>
                  <a:pt x="114300" y="269081"/>
                </a:cubicBezTo>
                <a:cubicBezTo>
                  <a:pt x="114300" y="265152"/>
                  <a:pt x="111085" y="261937"/>
                  <a:pt x="107156" y="261937"/>
                </a:cubicBezTo>
                <a:lnTo>
                  <a:pt x="33338" y="261937"/>
                </a:lnTo>
                <a:cubicBezTo>
                  <a:pt x="25420" y="261937"/>
                  <a:pt x="19050" y="255568"/>
                  <a:pt x="19050" y="247650"/>
                </a:cubicBezTo>
                <a:cubicBezTo>
                  <a:pt x="19050" y="239732"/>
                  <a:pt x="25420" y="233363"/>
                  <a:pt x="33338" y="233363"/>
                </a:cubicBezTo>
                <a:lnTo>
                  <a:pt x="107156" y="233363"/>
                </a:lnTo>
                <a:cubicBezTo>
                  <a:pt x="111085" y="233363"/>
                  <a:pt x="114300" y="230148"/>
                  <a:pt x="114300" y="226219"/>
                </a:cubicBezTo>
                <a:cubicBezTo>
                  <a:pt x="114300" y="222290"/>
                  <a:pt x="111085" y="219075"/>
                  <a:pt x="107156" y="219075"/>
                </a:cubicBezTo>
                <a:lnTo>
                  <a:pt x="14288" y="219075"/>
                </a:lnTo>
                <a:cubicBezTo>
                  <a:pt x="6370" y="219075"/>
                  <a:pt x="0" y="212705"/>
                  <a:pt x="0" y="204787"/>
                </a:cubicBezTo>
                <a:cubicBezTo>
                  <a:pt x="0" y="196870"/>
                  <a:pt x="6370" y="190500"/>
                  <a:pt x="14288" y="190500"/>
                </a:cubicBezTo>
                <a:lnTo>
                  <a:pt x="107156" y="190500"/>
                </a:lnTo>
                <a:cubicBezTo>
                  <a:pt x="111085" y="190500"/>
                  <a:pt x="114300" y="187285"/>
                  <a:pt x="114300" y="183356"/>
                </a:cubicBezTo>
                <a:cubicBezTo>
                  <a:pt x="114300" y="179427"/>
                  <a:pt x="111085" y="176212"/>
                  <a:pt x="107156" y="176212"/>
                </a:cubicBezTo>
                <a:lnTo>
                  <a:pt x="33338" y="176212"/>
                </a:lnTo>
                <a:cubicBezTo>
                  <a:pt x="25420" y="176212"/>
                  <a:pt x="19050" y="169843"/>
                  <a:pt x="19050" y="161925"/>
                </a:cubicBezTo>
                <a:cubicBezTo>
                  <a:pt x="19050" y="154007"/>
                  <a:pt x="25420" y="147638"/>
                  <a:pt x="33338" y="147638"/>
                </a:cubicBezTo>
                <a:lnTo>
                  <a:pt x="114300" y="147638"/>
                </a:lnTo>
                <a:lnTo>
                  <a:pt x="114300" y="147638"/>
                </a:lnTo>
                <a:lnTo>
                  <a:pt x="114300" y="147638"/>
                </a:lnTo>
                <a:lnTo>
                  <a:pt x="169783" y="147638"/>
                </a:lnTo>
                <a:lnTo>
                  <a:pt x="142280" y="130433"/>
                </a:lnTo>
                <a:cubicBezTo>
                  <a:pt x="133350" y="124837"/>
                  <a:pt x="130671" y="113109"/>
                  <a:pt x="136208" y="104180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29" name="Text 27"/>
          <p:cNvSpPr/>
          <p:nvPr/>
        </p:nvSpPr>
        <p:spPr>
          <a:xfrm>
            <a:off x="8864600" y="42672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2B2B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Embodiment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8445500" y="4673600"/>
            <a:ext cx="3048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Show instructor's gesturing hands to guide attention and increase social presence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2001500" y="4127500"/>
            <a:ext cx="3492500" cy="1651000"/>
          </a:xfrm>
          <a:prstGeom prst="rect">
            <a:avLst/>
          </a:prstGeom>
          <a:solidFill>
            <a:srgbClr val="EDEAE5"/>
          </a:solidFill>
          <a:ln/>
        </p:spPr>
      </p:sp>
      <p:sp>
        <p:nvSpPr>
          <p:cNvPr id="32" name="Shape 30"/>
          <p:cNvSpPr/>
          <p:nvPr/>
        </p:nvSpPr>
        <p:spPr>
          <a:xfrm>
            <a:off x="12192000" y="4292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88761" y="38576"/>
                </a:moveTo>
                <a:lnTo>
                  <a:pt x="82570" y="57150"/>
                </a:lnTo>
                <a:lnTo>
                  <a:pt x="38100" y="57150"/>
                </a:lnTo>
                <a:cubicBezTo>
                  <a:pt x="17085" y="57150"/>
                  <a:pt x="0" y="74235"/>
                  <a:pt x="0" y="95250"/>
                </a:cubicBezTo>
                <a:lnTo>
                  <a:pt x="0" y="247650"/>
                </a:lnTo>
                <a:cubicBezTo>
                  <a:pt x="0" y="268665"/>
                  <a:pt x="17085" y="285750"/>
                  <a:pt x="38100" y="285750"/>
                </a:cubicBezTo>
                <a:lnTo>
                  <a:pt x="266700" y="285750"/>
                </a:lnTo>
                <a:cubicBezTo>
                  <a:pt x="287715" y="285750"/>
                  <a:pt x="304800" y="268665"/>
                  <a:pt x="304800" y="247650"/>
                </a:cubicBezTo>
                <a:lnTo>
                  <a:pt x="304800" y="95250"/>
                </a:lnTo>
                <a:cubicBezTo>
                  <a:pt x="304800" y="74235"/>
                  <a:pt x="287715" y="57150"/>
                  <a:pt x="266700" y="57150"/>
                </a:cubicBezTo>
                <a:lnTo>
                  <a:pt x="222230" y="57150"/>
                </a:lnTo>
                <a:lnTo>
                  <a:pt x="216039" y="38576"/>
                </a:lnTo>
                <a:cubicBezTo>
                  <a:pt x="212169" y="26908"/>
                  <a:pt x="201275" y="19050"/>
                  <a:pt x="188952" y="19050"/>
                </a:cubicBezTo>
                <a:lnTo>
                  <a:pt x="115848" y="19050"/>
                </a:lnTo>
                <a:cubicBezTo>
                  <a:pt x="103525" y="19050"/>
                  <a:pt x="92631" y="26908"/>
                  <a:pt x="88761" y="38576"/>
                </a:cubicBezTo>
                <a:close/>
                <a:moveTo>
                  <a:pt x="152400" y="114300"/>
                </a:moveTo>
                <a:cubicBezTo>
                  <a:pt x="183942" y="114300"/>
                  <a:pt x="209550" y="139908"/>
                  <a:pt x="209550" y="171450"/>
                </a:cubicBezTo>
                <a:cubicBezTo>
                  <a:pt x="209550" y="202992"/>
                  <a:pt x="183942" y="228600"/>
                  <a:pt x="152400" y="228600"/>
                </a:cubicBezTo>
                <a:cubicBezTo>
                  <a:pt x="120858" y="228600"/>
                  <a:pt x="95250" y="202992"/>
                  <a:pt x="95250" y="171450"/>
                </a:cubicBezTo>
                <a:cubicBezTo>
                  <a:pt x="95250" y="139908"/>
                  <a:pt x="120858" y="114300"/>
                  <a:pt x="152400" y="114300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33" name="Text 31"/>
          <p:cNvSpPr/>
          <p:nvPr/>
        </p:nvSpPr>
        <p:spPr>
          <a:xfrm>
            <a:off x="12611100" y="42672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2B2B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Image Principle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12192000" y="4673600"/>
            <a:ext cx="3048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People do not necessarily learn better from a photo of the instructor's face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762000" y="6159500"/>
            <a:ext cx="1473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A5F6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Key Insight: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These principles work together as a system. Reducing extraneous processing frees capacity for essential processing, which in turn enables generative processing that builds deep understanding.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762000" y="7175500"/>
            <a:ext cx="762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Source: Mayer (2014), Cambridge Handbook of Multimedia Learning, 2nd Ed.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4986000" y="8636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13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1A5F6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44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A5F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CLT Implications — Summary for Multimedia Design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016000"/>
            <a:ext cx="635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397000"/>
            <a:ext cx="7112000" cy="889000"/>
          </a:xfrm>
          <a:prstGeom prst="rect">
            <a:avLst/>
          </a:prstGeom>
          <a:solidFill>
            <a:srgbClr val="EDEAE5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397000"/>
            <a:ext cx="571500" cy="571500"/>
          </a:xfrm>
          <a:prstGeom prst="rect">
            <a:avLst/>
          </a:prstGeom>
          <a:solidFill>
            <a:srgbClr val="1A5F6E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1397000"/>
            <a:ext cx="5715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24000" y="1460500"/>
            <a:ext cx="6096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5000"/>
              </a:lnSpc>
            </a:pPr>
            <a:r>
              <a:rPr lang="en-US" sz="1500" b="1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Respect working memory limitations</a:t>
            </a:r>
            <a:pPr>
              <a:lnSpc>
                <a:spcPct val="145000"/>
              </a:lnSpc>
            </a:pPr>
            <a:r>
              <a:rPr lang="en-US" sz="15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design for limited capacity, not unlimited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382000" y="1397000"/>
            <a:ext cx="7112000" cy="889000"/>
          </a:xfrm>
          <a:prstGeom prst="rect">
            <a:avLst/>
          </a:prstGeom>
          <a:solidFill>
            <a:srgbClr val="EDEAE5"/>
          </a:solidFill>
          <a:ln/>
        </p:spPr>
      </p:sp>
      <p:sp>
        <p:nvSpPr>
          <p:cNvPr id="10" name="Shape 8"/>
          <p:cNvSpPr/>
          <p:nvPr/>
        </p:nvSpPr>
        <p:spPr>
          <a:xfrm>
            <a:off x="8382000" y="1397000"/>
            <a:ext cx="571500" cy="571500"/>
          </a:xfrm>
          <a:prstGeom prst="rect">
            <a:avLst/>
          </a:prstGeom>
          <a:solidFill>
            <a:srgbClr val="1A5F6E"/>
          </a:solidFill>
          <a:ln/>
        </p:spPr>
      </p:sp>
      <p:sp>
        <p:nvSpPr>
          <p:cNvPr id="11" name="Text 9"/>
          <p:cNvSpPr/>
          <p:nvPr/>
        </p:nvSpPr>
        <p:spPr>
          <a:xfrm>
            <a:off x="8382000" y="1397000"/>
            <a:ext cx="5715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0" y="1460500"/>
            <a:ext cx="6096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5000"/>
              </a:lnSpc>
            </a:pPr>
            <a:r>
              <a:rPr lang="en-US" sz="1500" b="1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Minimize extraneous load</a:t>
            </a:r>
            <a:pPr>
              <a:lnSpc>
                <a:spcPct val="145000"/>
              </a:lnSpc>
            </a:pPr>
            <a:r>
              <a:rPr lang="en-US" sz="15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every element should serve a learning purpose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62000" y="2540000"/>
            <a:ext cx="7112000" cy="889000"/>
          </a:xfrm>
          <a:prstGeom prst="rect">
            <a:avLst/>
          </a:prstGeom>
          <a:solidFill>
            <a:srgbClr val="EDEAE5"/>
          </a:solidFill>
          <a:ln/>
        </p:spPr>
      </p:sp>
      <p:sp>
        <p:nvSpPr>
          <p:cNvPr id="14" name="Shape 12"/>
          <p:cNvSpPr/>
          <p:nvPr/>
        </p:nvSpPr>
        <p:spPr>
          <a:xfrm>
            <a:off x="762000" y="2540000"/>
            <a:ext cx="571500" cy="571500"/>
          </a:xfrm>
          <a:prstGeom prst="rect">
            <a:avLst/>
          </a:prstGeom>
          <a:solidFill>
            <a:srgbClr val="1A5F6E"/>
          </a:solidFill>
          <a:ln/>
        </p:spPr>
      </p:sp>
      <p:sp>
        <p:nvSpPr>
          <p:cNvPr id="15" name="Text 13"/>
          <p:cNvSpPr/>
          <p:nvPr/>
        </p:nvSpPr>
        <p:spPr>
          <a:xfrm>
            <a:off x="762000" y="2540000"/>
            <a:ext cx="5715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524000" y="2603500"/>
            <a:ext cx="6096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5000"/>
              </a:lnSpc>
            </a:pPr>
            <a:r>
              <a:rPr lang="en-US" sz="1500" b="1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Manage intrinsic load</a:t>
            </a:r>
            <a:pPr>
              <a:lnSpc>
                <a:spcPct val="145000"/>
              </a:lnSpc>
            </a:pPr>
            <a:r>
              <a:rPr lang="en-US" sz="15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through scaffolding, worked examples, and sequencing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382000" y="2540000"/>
            <a:ext cx="7112000" cy="889000"/>
          </a:xfrm>
          <a:prstGeom prst="rect">
            <a:avLst/>
          </a:prstGeom>
          <a:solidFill>
            <a:srgbClr val="EDEAE5"/>
          </a:solidFill>
          <a:ln/>
        </p:spPr>
      </p:sp>
      <p:sp>
        <p:nvSpPr>
          <p:cNvPr id="18" name="Shape 16"/>
          <p:cNvSpPr/>
          <p:nvPr/>
        </p:nvSpPr>
        <p:spPr>
          <a:xfrm>
            <a:off x="8382000" y="2540000"/>
            <a:ext cx="571500" cy="571500"/>
          </a:xfrm>
          <a:prstGeom prst="rect">
            <a:avLst/>
          </a:prstGeom>
          <a:solidFill>
            <a:srgbClr val="1A5F6E"/>
          </a:solidFill>
          <a:ln/>
        </p:spPr>
      </p:sp>
      <p:sp>
        <p:nvSpPr>
          <p:cNvPr id="19" name="Text 17"/>
          <p:cNvSpPr/>
          <p:nvPr/>
        </p:nvSpPr>
        <p:spPr>
          <a:xfrm>
            <a:off x="8382000" y="2540000"/>
            <a:ext cx="5715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144000" y="2603500"/>
            <a:ext cx="6096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5000"/>
              </a:lnSpc>
            </a:pPr>
            <a:r>
              <a:rPr lang="en-US" sz="1500" b="1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Foster germane processing</a:t>
            </a:r>
            <a:pPr>
              <a:lnSpc>
                <a:spcPct val="145000"/>
              </a:lnSpc>
            </a:pPr>
            <a:r>
              <a:rPr lang="en-US" sz="15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through active learning and self-explanation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762000" y="3683000"/>
            <a:ext cx="7112000" cy="889000"/>
          </a:xfrm>
          <a:prstGeom prst="rect">
            <a:avLst/>
          </a:prstGeom>
          <a:solidFill>
            <a:srgbClr val="EDEAE5"/>
          </a:solidFill>
          <a:ln/>
        </p:spPr>
      </p:sp>
      <p:sp>
        <p:nvSpPr>
          <p:cNvPr id="22" name="Shape 20"/>
          <p:cNvSpPr/>
          <p:nvPr/>
        </p:nvSpPr>
        <p:spPr>
          <a:xfrm>
            <a:off x="762000" y="3683000"/>
            <a:ext cx="571500" cy="5715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23" name="Text 21"/>
          <p:cNvSpPr/>
          <p:nvPr/>
        </p:nvSpPr>
        <p:spPr>
          <a:xfrm>
            <a:off x="762000" y="3683000"/>
            <a:ext cx="5715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524000" y="3746500"/>
            <a:ext cx="6096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5000"/>
              </a:lnSpc>
            </a:pPr>
            <a:r>
              <a:rPr lang="en-US" sz="1500" b="1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Apply Mayer's principles systematically</a:t>
            </a:r>
            <a:pPr>
              <a:lnSpc>
                <a:spcPct val="145000"/>
              </a:lnSpc>
            </a:pPr>
            <a:r>
              <a:rPr lang="en-US" sz="15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they are evidence-based guidelines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8382000" y="3683000"/>
            <a:ext cx="7112000" cy="889000"/>
          </a:xfrm>
          <a:prstGeom prst="rect">
            <a:avLst/>
          </a:prstGeom>
          <a:solidFill>
            <a:srgbClr val="EDEAE5"/>
          </a:solidFill>
          <a:ln/>
        </p:spPr>
      </p:sp>
      <p:sp>
        <p:nvSpPr>
          <p:cNvPr id="26" name="Shape 24"/>
          <p:cNvSpPr/>
          <p:nvPr/>
        </p:nvSpPr>
        <p:spPr>
          <a:xfrm>
            <a:off x="8382000" y="3683000"/>
            <a:ext cx="571500" cy="5715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27" name="Text 25"/>
          <p:cNvSpPr/>
          <p:nvPr/>
        </p:nvSpPr>
        <p:spPr>
          <a:xfrm>
            <a:off x="8382000" y="3683000"/>
            <a:ext cx="5715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144000" y="3746500"/>
            <a:ext cx="6096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5000"/>
              </a:lnSpc>
            </a:pPr>
            <a:r>
              <a:rPr lang="en-US" sz="1500" b="1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Consider learner expertise</a:t>
            </a:r>
            <a:pPr>
              <a:lnSpc>
                <a:spcPct val="145000"/>
              </a:lnSpc>
            </a:pPr>
            <a:r>
              <a:rPr lang="en-US" sz="15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what helps novices may hinder experts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4572000" y="4826000"/>
            <a:ext cx="7112000" cy="889000"/>
          </a:xfrm>
          <a:prstGeom prst="rect">
            <a:avLst/>
          </a:prstGeom>
          <a:solidFill>
            <a:srgbClr val="1A5F6E"/>
          </a:solidFill>
          <a:ln/>
        </p:spPr>
      </p:sp>
      <p:sp>
        <p:nvSpPr>
          <p:cNvPr id="30" name="Shape 28"/>
          <p:cNvSpPr/>
          <p:nvPr/>
        </p:nvSpPr>
        <p:spPr>
          <a:xfrm>
            <a:off x="4572000" y="4826000"/>
            <a:ext cx="571500" cy="5715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0" y="4826000"/>
            <a:ext cx="5715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334000" y="4889500"/>
            <a:ext cx="6096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5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Test and iterate</a:t>
            </a:r>
            <a:pPr>
              <a:lnSpc>
                <a:spcPct val="145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measure cognitive load and learning outcomes to refine designs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62000" y="6159500"/>
            <a:ext cx="1473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600" b="1" dirty="0">
                <a:solidFill>
                  <a:srgbClr val="1A5F6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CLT provides both a theoretical foundation and practical design guidance</a:t>
            </a:r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for creating effective multimedia instruction that aligns with how the human mind actually works.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762000" y="7239000"/>
            <a:ext cx="762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Source: Sweller (2020); Mayer (2014); Paas &amp; Sweller (2014)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4986000" y="8636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14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swua77wo7otzg/mnt/agents/output/multimedia_production_w3/images/6_Open_Antique_Book_with_Glowing_Pages.png">    </p:cNvPr>
          <p:cNvPicPr>
            <a:picLocks noChangeAspect="1"/>
          </p:cNvPicPr>
          <p:nvPr/>
        </p:nvPicPr>
        <p:blipFill>
          <a:blip r:embed="rId1"/>
          <a:srcRect l="0" r="0" t="31719" b="31719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63D47">
                  <a:alpha val="94000"/>
                </a:srgbClr>
              </a:gs>
              <a:gs pos="50000">
                <a:srgbClr val="163D47">
                  <a:alpha val="82000"/>
                </a:srgbClr>
              </a:gs>
              <a:gs pos="100000">
                <a:srgbClr val="163D47">
                  <a:alpha val="50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1524000"/>
            <a:ext cx="5080000" cy="254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0" dirty="0">
                <a:solidFill>
                  <a:srgbClr val="FFFFFF">
                    <a:alpha val="3137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62000" y="30480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300" kern="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TWO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762000" y="3492500"/>
            <a:ext cx="762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7" name="Text 4"/>
          <p:cNvSpPr/>
          <p:nvPr/>
        </p:nvSpPr>
        <p:spPr>
          <a:xfrm>
            <a:off x="762000" y="3746500"/>
            <a:ext cx="9525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6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INTEGRATED MODELS OF TEXT</a:t>
            </a:r>
            <a:endParaRPr lang="en-US" sz="4000" dirty="0"/>
          </a:p>
          <a:p>
            <a:pPr>
              <a:lnSpc>
                <a:spcPct val="130000"/>
              </a:lnSpc>
            </a:pPr>
            <a:r>
              <a:rPr lang="en-US" sz="36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&amp; PICTURE COMPREHENSION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762000" y="5461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How text and pictures work together to build mental representations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62000" y="8382000"/>
            <a:ext cx="14732000" cy="38100"/>
          </a:xfrm>
          <a:prstGeom prst="rect">
            <a:avLst/>
          </a:prstGeom>
          <a:solidFill>
            <a:srgbClr val="D4943A">
              <a:alpha val="37647"/>
            </a:srgbClr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1A5F6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44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A5F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ITPC Model — An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016000"/>
            <a:ext cx="635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333500"/>
            <a:ext cx="7112000" cy="289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A5F6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Integrated Model of Text and Picture Comprehension (ITPC)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developed by Schnotz and Bannert (2003) and refined by Schnotz (2014), provides a theoretical framework for understanding how learners process text and pictures.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Unlike dual-coding theory, ITPC emphasizes that 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text and pictures have fundamentally different functions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 comprehension — they are not simply two ways of encoding the same information.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382000" y="1333500"/>
            <a:ext cx="7112000" cy="2540000"/>
          </a:xfrm>
          <a:prstGeom prst="rect">
            <a:avLst/>
          </a:prstGeom>
          <a:solidFill>
            <a:srgbClr val="EDEAE5"/>
          </a:solidFill>
          <a:ln/>
        </p:spPr>
      </p:sp>
      <p:sp>
        <p:nvSpPr>
          <p:cNvPr id="7" name="Text 5"/>
          <p:cNvSpPr/>
          <p:nvPr/>
        </p:nvSpPr>
        <p:spPr>
          <a:xfrm>
            <a:off x="8636000" y="14605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1A5F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ASSUMPTIONS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36000" y="1841500"/>
            <a:ext cx="6604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Text and pictures are processed through </a:t>
            </a:r>
            <a:pPr>
              <a:lnSpc>
                <a:spcPct val="155000"/>
              </a:lnSpc>
            </a:pPr>
            <a:r>
              <a:rPr lang="en-US" sz="1400" b="1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different but complementary</a:t>
            </a:r>
            <a:pPr>
              <a:lnSpc>
                <a:spcPct val="155000"/>
              </a:lnSpc>
            </a:pPr>
            <a:r>
              <a:rPr lang="en-US" sz="14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routes</a:t>
            </a:r>
            <a:endParaRPr lang="en-US" sz="1800" dirty="0"/>
          </a:p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Both lead to mental models and propositional representations</a:t>
            </a:r>
            <a:endParaRPr lang="en-US" sz="1800" dirty="0"/>
          </a:p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</a:t>
            </a:r>
            <a:pPr>
              <a:lnSpc>
                <a:spcPct val="155000"/>
              </a:lnSpc>
            </a:pPr>
            <a:r>
              <a:rPr lang="en-US" sz="1400" b="1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Prior knowledge</a:t>
            </a:r>
            <a:pPr>
              <a:lnSpc>
                <a:spcPct val="155000"/>
              </a:lnSpc>
            </a:pPr>
            <a:r>
              <a:rPr lang="en-US" sz="14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is a critical third resource</a:t>
            </a:r>
            <a:endParaRPr lang="en-US" sz="1800" dirty="0"/>
          </a:p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Processing involves both </a:t>
            </a:r>
            <a:pPr>
              <a:lnSpc>
                <a:spcPct val="155000"/>
              </a:lnSpc>
            </a:pPr>
            <a:r>
              <a:rPr lang="en-US" sz="1400" b="1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descriptive</a:t>
            </a:r>
            <a:pPr>
              <a:lnSpc>
                <a:spcPct val="155000"/>
              </a:lnSpc>
            </a:pPr>
            <a:r>
              <a:rPr lang="en-US" sz="14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and </a:t>
            </a:r>
            <a:pPr>
              <a:lnSpc>
                <a:spcPct val="155000"/>
              </a:lnSpc>
            </a:pPr>
            <a:r>
              <a:rPr lang="en-US" sz="1400" b="1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depictive</a:t>
            </a:r>
            <a:pPr>
              <a:lnSpc>
                <a:spcPct val="155000"/>
              </a:lnSpc>
            </a:pPr>
            <a:r>
              <a:rPr lang="en-US" sz="14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subsystems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62000" y="42545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1A5F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TWO PROCESSING BRANCHES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62000" y="4699000"/>
            <a:ext cx="7112000" cy="2286000"/>
          </a:xfrm>
          <a:prstGeom prst="rect">
            <a:avLst/>
          </a:prstGeom>
          <a:solidFill>
            <a:srgbClr val="1A5F6E"/>
          </a:solidFill>
          <a:ln/>
        </p:spPr>
      </p:sp>
      <p:sp>
        <p:nvSpPr>
          <p:cNvPr id="11" name="Shape 9"/>
          <p:cNvSpPr/>
          <p:nvPr/>
        </p:nvSpPr>
        <p:spPr>
          <a:xfrm>
            <a:off x="1016000" y="4889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98011" y="35213"/>
                </a:moveTo>
                <a:cubicBezTo>
                  <a:pt x="194399" y="27295"/>
                  <a:pt x="186482" y="22225"/>
                  <a:pt x="177800" y="22225"/>
                </a:cubicBezTo>
                <a:cubicBezTo>
                  <a:pt x="169118" y="22225"/>
                  <a:pt x="161201" y="27295"/>
                  <a:pt x="157589" y="35213"/>
                </a:cubicBezTo>
                <a:lnTo>
                  <a:pt x="41325" y="288925"/>
                </a:lnTo>
                <a:lnTo>
                  <a:pt x="33337" y="288925"/>
                </a:lnTo>
                <a:cubicBezTo>
                  <a:pt x="21044" y="288925"/>
                  <a:pt x="11112" y="298857"/>
                  <a:pt x="11112" y="311150"/>
                </a:cubicBezTo>
                <a:cubicBezTo>
                  <a:pt x="11112" y="323443"/>
                  <a:pt x="21044" y="333375"/>
                  <a:pt x="33337" y="333375"/>
                </a:cubicBezTo>
                <a:lnTo>
                  <a:pt x="94456" y="333375"/>
                </a:lnTo>
                <a:cubicBezTo>
                  <a:pt x="106749" y="333375"/>
                  <a:pt x="116681" y="323443"/>
                  <a:pt x="116681" y="311150"/>
                </a:cubicBezTo>
                <a:cubicBezTo>
                  <a:pt x="116681" y="298857"/>
                  <a:pt x="106749" y="288925"/>
                  <a:pt x="94456" y="288925"/>
                </a:cubicBezTo>
                <a:lnTo>
                  <a:pt x="90220" y="288925"/>
                </a:lnTo>
                <a:lnTo>
                  <a:pt x="105499" y="255587"/>
                </a:lnTo>
                <a:lnTo>
                  <a:pt x="250170" y="255587"/>
                </a:lnTo>
                <a:lnTo>
                  <a:pt x="265450" y="288925"/>
                </a:lnTo>
                <a:lnTo>
                  <a:pt x="261213" y="288925"/>
                </a:lnTo>
                <a:cubicBezTo>
                  <a:pt x="248920" y="288925"/>
                  <a:pt x="238988" y="298857"/>
                  <a:pt x="238988" y="311150"/>
                </a:cubicBezTo>
                <a:cubicBezTo>
                  <a:pt x="238988" y="323443"/>
                  <a:pt x="248920" y="333375"/>
                  <a:pt x="261213" y="333375"/>
                </a:cubicBezTo>
                <a:lnTo>
                  <a:pt x="322332" y="333375"/>
                </a:lnTo>
                <a:cubicBezTo>
                  <a:pt x="334625" y="333375"/>
                  <a:pt x="344557" y="323443"/>
                  <a:pt x="344557" y="311150"/>
                </a:cubicBezTo>
                <a:cubicBezTo>
                  <a:pt x="344557" y="298857"/>
                  <a:pt x="334625" y="288925"/>
                  <a:pt x="322332" y="288925"/>
                </a:cubicBezTo>
                <a:lnTo>
                  <a:pt x="314345" y="288925"/>
                </a:lnTo>
                <a:lnTo>
                  <a:pt x="198080" y="35213"/>
                </a:lnTo>
                <a:close/>
                <a:moveTo>
                  <a:pt x="229751" y="211138"/>
                </a:moveTo>
                <a:lnTo>
                  <a:pt x="125849" y="211138"/>
                </a:lnTo>
                <a:lnTo>
                  <a:pt x="177800" y="97790"/>
                </a:lnTo>
                <a:lnTo>
                  <a:pt x="229751" y="211138"/>
                </a:ln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12" name="Text 10"/>
          <p:cNvSpPr/>
          <p:nvPr/>
        </p:nvSpPr>
        <p:spPr>
          <a:xfrm>
            <a:off x="1498600" y="48641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Descriptive Branch (Text)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16000" y="5334000"/>
            <a:ext cx="66040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Based on </a:t>
            </a:r>
            <a:pPr>
              <a:lnSpc>
                <a:spcPct val="150000"/>
              </a:lnSpc>
            </a:pPr>
            <a:r>
              <a:rPr lang="en-US" sz="1400" b="1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symbol structures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Processing involves semantic analysis of symbols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Text has predetermined processing order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Provides explicit conceptual guidance step-by-step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382000" y="4699000"/>
            <a:ext cx="7112000" cy="2286000"/>
          </a:xfrm>
          <a:prstGeom prst="rect">
            <a:avLst/>
          </a:prstGeom>
          <a:solidFill>
            <a:srgbClr val="163D47"/>
          </a:solidFill>
          <a:ln/>
        </p:spPr>
      </p:sp>
      <p:sp>
        <p:nvSpPr>
          <p:cNvPr id="15" name="Shape 13"/>
          <p:cNvSpPr/>
          <p:nvPr/>
        </p:nvSpPr>
        <p:spPr>
          <a:xfrm>
            <a:off x="8658225" y="48895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44450" y="22225"/>
                </a:moveTo>
                <a:cubicBezTo>
                  <a:pt x="19933" y="22225"/>
                  <a:pt x="0" y="42158"/>
                  <a:pt x="0" y="66675"/>
                </a:cubicBezTo>
                <a:lnTo>
                  <a:pt x="0" y="288925"/>
                </a:lnTo>
                <a:cubicBezTo>
                  <a:pt x="0" y="313442"/>
                  <a:pt x="19933" y="333375"/>
                  <a:pt x="44450" y="333375"/>
                </a:cubicBezTo>
                <a:lnTo>
                  <a:pt x="266700" y="333375"/>
                </a:lnTo>
                <a:cubicBezTo>
                  <a:pt x="291217" y="333375"/>
                  <a:pt x="311150" y="313442"/>
                  <a:pt x="311150" y="288925"/>
                </a:cubicBezTo>
                <a:lnTo>
                  <a:pt x="311150" y="66675"/>
                </a:lnTo>
                <a:cubicBezTo>
                  <a:pt x="311150" y="42158"/>
                  <a:pt x="291217" y="22225"/>
                  <a:pt x="266700" y="22225"/>
                </a:cubicBezTo>
                <a:lnTo>
                  <a:pt x="44450" y="22225"/>
                </a:lnTo>
                <a:close/>
                <a:moveTo>
                  <a:pt x="88900" y="77788"/>
                </a:moveTo>
                <a:cubicBezTo>
                  <a:pt x="107299" y="77788"/>
                  <a:pt x="122238" y="92726"/>
                  <a:pt x="122238" y="111125"/>
                </a:cubicBezTo>
                <a:cubicBezTo>
                  <a:pt x="122238" y="129524"/>
                  <a:pt x="107299" y="144463"/>
                  <a:pt x="88900" y="144463"/>
                </a:cubicBezTo>
                <a:cubicBezTo>
                  <a:pt x="70501" y="144463"/>
                  <a:pt x="55563" y="129524"/>
                  <a:pt x="55563" y="111125"/>
                </a:cubicBezTo>
                <a:cubicBezTo>
                  <a:pt x="55563" y="92726"/>
                  <a:pt x="70501" y="77788"/>
                  <a:pt x="88900" y="77788"/>
                </a:cubicBezTo>
                <a:close/>
                <a:moveTo>
                  <a:pt x="188913" y="155575"/>
                </a:moveTo>
                <a:cubicBezTo>
                  <a:pt x="194747" y="155575"/>
                  <a:pt x="200094" y="158631"/>
                  <a:pt x="203150" y="163562"/>
                </a:cubicBezTo>
                <a:lnTo>
                  <a:pt x="264269" y="263575"/>
                </a:lnTo>
                <a:cubicBezTo>
                  <a:pt x="267395" y="268714"/>
                  <a:pt x="267533" y="275173"/>
                  <a:pt x="264616" y="280452"/>
                </a:cubicBezTo>
                <a:cubicBezTo>
                  <a:pt x="261699" y="285730"/>
                  <a:pt x="256074" y="288925"/>
                  <a:pt x="250031" y="288925"/>
                </a:cubicBezTo>
                <a:lnTo>
                  <a:pt x="61119" y="288925"/>
                </a:lnTo>
                <a:cubicBezTo>
                  <a:pt x="54937" y="288925"/>
                  <a:pt x="49173" y="285452"/>
                  <a:pt x="46325" y="279966"/>
                </a:cubicBezTo>
                <a:cubicBezTo>
                  <a:pt x="43478" y="274479"/>
                  <a:pt x="43894" y="267811"/>
                  <a:pt x="47436" y="262741"/>
                </a:cubicBezTo>
                <a:lnTo>
                  <a:pt x="86330" y="207179"/>
                </a:lnTo>
                <a:cubicBezTo>
                  <a:pt x="89456" y="202734"/>
                  <a:pt x="94526" y="200094"/>
                  <a:pt x="100013" y="200094"/>
                </a:cubicBezTo>
                <a:cubicBezTo>
                  <a:pt x="105499" y="200094"/>
                  <a:pt x="110569" y="202734"/>
                  <a:pt x="113695" y="207179"/>
                </a:cubicBezTo>
                <a:lnTo>
                  <a:pt x="132030" y="233432"/>
                </a:lnTo>
                <a:lnTo>
                  <a:pt x="174675" y="163632"/>
                </a:lnTo>
                <a:cubicBezTo>
                  <a:pt x="177731" y="158700"/>
                  <a:pt x="183078" y="155644"/>
                  <a:pt x="188913" y="155644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16" name="Text 14"/>
          <p:cNvSpPr/>
          <p:nvPr/>
        </p:nvSpPr>
        <p:spPr>
          <a:xfrm>
            <a:off x="9118600" y="48641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Depictive Branch (Pictures)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636000" y="5334000"/>
            <a:ext cx="66040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Based on </a:t>
            </a:r>
            <a:pPr>
              <a:lnSpc>
                <a:spcPct val="150000"/>
              </a:lnSpc>
            </a:pPr>
            <a:r>
              <a:rPr lang="en-US" sz="1400" b="1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analog structures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Processing involves structure-mapping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No predetermined processing order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Serves as external cognitive tools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62000" y="7366000"/>
            <a:ext cx="762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Source: Schnotz &amp; Bannert (2003); Schnotz (2014), Cambridge Handbook of Multimedia Learning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986000" y="8636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16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1A5F6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44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A5F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Descriptive vs. Depictive Representations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016000"/>
            <a:ext cx="635000" cy="38100"/>
          </a:xfrm>
          <a:prstGeom prst="rect">
            <a:avLst/>
          </a:prstGeom>
          <a:solidFill>
            <a:srgbClr val="D4943A"/>
          </a:solidFill>
          <a:ln/>
        </p:spPr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397000"/>
          <a:ext cx="14732000" cy="3937000"/>
        </p:xfrm>
        <a:graphic>
          <a:graphicData uri="http://schemas.openxmlformats.org/drawingml/2006/table">
            <a:tbl>
              <a:tblPr/>
              <a:tblGrid>
                <a:gridCol w="3683000"/>
                <a:gridCol w="5524500"/>
                <a:gridCol w="5524500"/>
              </a:tblGrid>
              <a:tr h="549646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Dimension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F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Descriptive (Text)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F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Depictive (Pictures)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F6E"/>
                    </a:solidFill>
                  </a:tcPr>
                </a:tc>
              </a:tr>
              <a:tr h="677471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Structure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Symbol-based — arbitrary signs (words) represent meaning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Analog-based — visual structure resembles referent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  <a:tr h="677471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Processing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Semantic analysis — decoding symbols into meaning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Structure-mapping — perceptual organization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5"/>
                    </a:solidFill>
                  </a:tcPr>
                </a:tc>
              </a:tr>
              <a:tr h="677471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Order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Predetermined — linear, left-to-right, top-to-bottom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 fixed order — learner-driven exploration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  <a:tr h="677471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Guidance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High — explicit conceptual guidance step-by-step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Low — less clearly defined semantic content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5"/>
                    </a:solidFill>
                  </a:tcPr>
                </a:tc>
              </a:tr>
              <a:tr h="677471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Function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Systematic conceptual analysis and description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Visual scaffolding for mental model construction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62000" y="5651500"/>
            <a:ext cx="14732000" cy="1016000"/>
          </a:xfrm>
          <a:prstGeom prst="rect">
            <a:avLst/>
          </a:prstGeom>
          <a:solidFill>
            <a:srgbClr val="EDEAE5"/>
          </a:solidFill>
          <a:ln/>
        </p:spPr>
      </p:sp>
      <p:sp>
        <p:nvSpPr>
          <p:cNvPr id="7" name="Text 4"/>
          <p:cNvSpPr/>
          <p:nvPr/>
        </p:nvSpPr>
        <p:spPr>
          <a:xfrm>
            <a:off x="1016000" y="5753100"/>
            <a:ext cx="14224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A5F6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Key Insight: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The benefits of combining text with pictures (the multimedia effect) are not due to dual versus single coding of information. Instead, text and pictures have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fundamentally different functions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 comprehension and learning.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62000" y="6985000"/>
            <a:ext cx="1473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ITPC model corresponds to Paivio's (1986) dual-coding concept of verbal and image systems, but goes further by assuming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multiple representations are formed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 both text comprehension and picture comprehension — not just one code per modality.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62000" y="8001000"/>
            <a:ext cx="762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Source: Schnotz (2014); Paivio (1986)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4986000" y="8636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17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1A5F6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44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A5F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Text Processing Route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016000"/>
            <a:ext cx="635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333500"/>
            <a:ext cx="1473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 the descriptive branch, text comprehension involves three sequential stages: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2000" y="2032000"/>
            <a:ext cx="4445000" cy="1778000"/>
          </a:xfrm>
          <a:prstGeom prst="rect">
            <a:avLst/>
          </a:prstGeom>
          <a:solidFill>
            <a:srgbClr val="1A5F6E"/>
          </a:solidFill>
          <a:ln/>
        </p:spPr>
      </p:sp>
      <p:sp>
        <p:nvSpPr>
          <p:cNvPr id="7" name="Text 5"/>
          <p:cNvSpPr/>
          <p:nvPr/>
        </p:nvSpPr>
        <p:spPr>
          <a:xfrm>
            <a:off x="952500" y="2133600"/>
            <a:ext cx="38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97000" y="2133600"/>
            <a:ext cx="355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External Text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2514600"/>
            <a:ext cx="4572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D494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97000" y="2514600"/>
            <a:ext cx="355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Mental Text Surface Representation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52500" y="2984500"/>
            <a:ext cx="4064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Readers form a mental representation of the exact wording and syntax structure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207000" y="2857500"/>
            <a:ext cx="508000" cy="0"/>
          </a:xfrm>
          <a:prstGeom prst="straightConnector1">
            <a:avLst/>
          </a:prstGeom>
          <a:noFill/>
          <a:ln w="25400">
            <a:solidFill>
              <a:srgbClr val="D4943A"/>
            </a:solidFill>
            <a:prstDash val="solid"/>
            <a:headEnd type="none"/>
            <a:tailEnd type="arrow"/>
          </a:ln>
        </p:spPr>
      </p:sp>
      <p:sp>
        <p:nvSpPr>
          <p:cNvPr id="13" name="Shape 11"/>
          <p:cNvSpPr/>
          <p:nvPr/>
        </p:nvSpPr>
        <p:spPr>
          <a:xfrm>
            <a:off x="5715000" y="2032000"/>
            <a:ext cx="4445000" cy="1778000"/>
          </a:xfrm>
          <a:prstGeom prst="rect">
            <a:avLst/>
          </a:prstGeom>
          <a:solidFill>
            <a:srgbClr val="1A5F6E"/>
          </a:solidFill>
          <a:ln/>
        </p:spPr>
      </p:sp>
      <p:sp>
        <p:nvSpPr>
          <p:cNvPr id="14" name="Text 12"/>
          <p:cNvSpPr/>
          <p:nvPr/>
        </p:nvSpPr>
        <p:spPr>
          <a:xfrm>
            <a:off x="5867400" y="2133600"/>
            <a:ext cx="4572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50000" y="2133600"/>
            <a:ext cx="355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Semantic Analysis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867400" y="2514600"/>
            <a:ext cx="4572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D494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50000" y="2514600"/>
            <a:ext cx="355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Propositional Representation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905500" y="2984500"/>
            <a:ext cx="4064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Text surface is transformed into abstract propositions — meaning-based, not word-based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0160000" y="2857500"/>
            <a:ext cx="508000" cy="0"/>
          </a:xfrm>
          <a:prstGeom prst="straightConnector1">
            <a:avLst/>
          </a:prstGeom>
          <a:noFill/>
          <a:ln w="25400">
            <a:solidFill>
              <a:srgbClr val="D4943A"/>
            </a:solidFill>
            <a:prstDash val="solid"/>
            <a:headEnd type="none"/>
            <a:tailEnd type="arrow"/>
          </a:ln>
        </p:spPr>
      </p:sp>
      <p:sp>
        <p:nvSpPr>
          <p:cNvPr id="20" name="Shape 18"/>
          <p:cNvSpPr/>
          <p:nvPr/>
        </p:nvSpPr>
        <p:spPr>
          <a:xfrm>
            <a:off x="10668000" y="2032000"/>
            <a:ext cx="4826000" cy="17780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21" name="Text 19"/>
          <p:cNvSpPr/>
          <p:nvPr/>
        </p:nvSpPr>
        <p:spPr>
          <a:xfrm>
            <a:off x="10820400" y="2133600"/>
            <a:ext cx="4572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303000" y="2133600"/>
            <a:ext cx="3937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Mental Model Construction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820400" y="2514600"/>
            <a:ext cx="4572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↓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303000" y="2514600"/>
            <a:ext cx="3937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Integrated Mental Model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858500" y="2984500"/>
            <a:ext cx="4445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Propositions are used to construct a mental model of the subject matter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62000" y="43815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1A5F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CHARACTERISTICS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62000" y="4762500"/>
            <a:ext cx="14732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1A5F6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Systematic and guided: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Text processing is conceptually guided — it describes the subject matter step-by-step, providing explicit guidance for mental model construction.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1A5F6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Poor readers struggle: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Learners with weak reading skills may have difficulty with this route, making picture comprehension more important for them.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1A5F6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Multiple representations: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Contrary to traditional dual-coding theory, multiple representations are formed in text comprehension — both surface representation and propositional representation.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62000" y="6921500"/>
            <a:ext cx="762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Source: Schnotz (2014); van Dijk &amp; Kintsch (1983)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4986000" y="8636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18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1A5F6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44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A5F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Picture Processing Route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016000"/>
            <a:ext cx="635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333500"/>
            <a:ext cx="1473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 the depictive branch, picture comprehension involves three stages: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2000" y="2032000"/>
            <a:ext cx="4445000" cy="1778000"/>
          </a:xfrm>
          <a:prstGeom prst="rect">
            <a:avLst/>
          </a:prstGeom>
          <a:solidFill>
            <a:srgbClr val="163D47"/>
          </a:solidFill>
          <a:ln/>
        </p:spPr>
      </p:sp>
      <p:sp>
        <p:nvSpPr>
          <p:cNvPr id="7" name="Text 5"/>
          <p:cNvSpPr/>
          <p:nvPr/>
        </p:nvSpPr>
        <p:spPr>
          <a:xfrm>
            <a:off x="952500" y="2133600"/>
            <a:ext cx="38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97000" y="2133600"/>
            <a:ext cx="355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External Picture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2514600"/>
            <a:ext cx="4572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D494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97000" y="2514600"/>
            <a:ext cx="355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Visual Image (Percept)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52500" y="2984500"/>
            <a:ext cx="4064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Learners form a visual percept of the picture through bottom-up processing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207000" y="2857500"/>
            <a:ext cx="508000" cy="0"/>
          </a:xfrm>
          <a:prstGeom prst="straightConnector1">
            <a:avLst/>
          </a:prstGeom>
          <a:noFill/>
          <a:ln w="25400">
            <a:solidFill>
              <a:srgbClr val="D4943A"/>
            </a:solidFill>
            <a:prstDash val="solid"/>
            <a:headEnd type="none"/>
            <a:tailEnd type="arrow"/>
          </a:ln>
        </p:spPr>
      </p:sp>
      <p:sp>
        <p:nvSpPr>
          <p:cNvPr id="13" name="Shape 11"/>
          <p:cNvSpPr/>
          <p:nvPr/>
        </p:nvSpPr>
        <p:spPr>
          <a:xfrm>
            <a:off x="5715000" y="2032000"/>
            <a:ext cx="4445000" cy="1778000"/>
          </a:xfrm>
          <a:prstGeom prst="rect">
            <a:avLst/>
          </a:prstGeom>
          <a:solidFill>
            <a:srgbClr val="163D47"/>
          </a:solidFill>
          <a:ln/>
        </p:spPr>
      </p:sp>
      <p:sp>
        <p:nvSpPr>
          <p:cNvPr id="14" name="Text 12"/>
          <p:cNvSpPr/>
          <p:nvPr/>
        </p:nvSpPr>
        <p:spPr>
          <a:xfrm>
            <a:off x="5867400" y="2133600"/>
            <a:ext cx="4572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50000" y="2133600"/>
            <a:ext cx="355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Structure Mapping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867400" y="2514600"/>
            <a:ext cx="4572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D494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50000" y="2514600"/>
            <a:ext cx="355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Mental Model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905500" y="2984500"/>
            <a:ext cx="4064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Visual information is transformed into a mental model through analog structure-mapping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0160000" y="2857500"/>
            <a:ext cx="508000" cy="0"/>
          </a:xfrm>
          <a:prstGeom prst="straightConnector1">
            <a:avLst/>
          </a:prstGeom>
          <a:noFill/>
          <a:ln w="25400">
            <a:solidFill>
              <a:srgbClr val="D4943A"/>
            </a:solidFill>
            <a:prstDash val="solid"/>
            <a:headEnd type="none"/>
            <a:tailEnd type="arrow"/>
          </a:ln>
        </p:spPr>
      </p:sp>
      <p:sp>
        <p:nvSpPr>
          <p:cNvPr id="20" name="Shape 18"/>
          <p:cNvSpPr/>
          <p:nvPr/>
        </p:nvSpPr>
        <p:spPr>
          <a:xfrm>
            <a:off x="10668000" y="2032000"/>
            <a:ext cx="4826000" cy="17780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21" name="Text 19"/>
          <p:cNvSpPr/>
          <p:nvPr/>
        </p:nvSpPr>
        <p:spPr>
          <a:xfrm>
            <a:off x="10820400" y="2133600"/>
            <a:ext cx="4572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303000" y="2133600"/>
            <a:ext cx="3937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Conceptual Elaboration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820400" y="2514600"/>
            <a:ext cx="4572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↓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303000" y="2514600"/>
            <a:ext cx="3937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Propositional Knowledge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858500" y="2984500"/>
            <a:ext cx="4445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mental model yields propositional knowledge for deeper understanding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62000" y="43815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1A5F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CHARACTERISTICS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62000" y="4762500"/>
            <a:ext cx="14732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1A5F6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External cognitive tools: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Pictures function as external cognitive tools — learners can search them for specific information and quickly grasp the outline of the mental model.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1A5F6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Learner-driven: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Picture processing is less task-dependent and more learner-driven than text processing. The learner decides what to attend to and when.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1A5F6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Quick overview: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Pictures provide useful scaffolds for constructing an initial mental model — learners can easily search for specific information and quickly grasp the structure.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62000" y="6921500"/>
            <a:ext cx="762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Source: Schnotz (2014); Schnotz &amp; Wagner (2018)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4986000" y="8636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19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1A5F6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44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A5F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Integration of Text and Pictures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016000"/>
            <a:ext cx="635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333500"/>
            <a:ext cx="1473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ITPC model describes how text and pictures interact during comprehension: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2000" y="2032000"/>
            <a:ext cx="7112000" cy="1270000"/>
          </a:xfrm>
          <a:prstGeom prst="rect">
            <a:avLst/>
          </a:prstGeom>
          <a:solidFill>
            <a:srgbClr val="EDEAE5"/>
          </a:solidFill>
          <a:ln/>
        </p:spPr>
      </p:sp>
      <p:sp>
        <p:nvSpPr>
          <p:cNvPr id="7" name="Shape 5"/>
          <p:cNvSpPr/>
          <p:nvPr/>
        </p:nvSpPr>
        <p:spPr>
          <a:xfrm>
            <a:off x="952500" y="2222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33350" y="0"/>
                </a:moveTo>
                <a:cubicBezTo>
                  <a:pt x="154365" y="0"/>
                  <a:pt x="171450" y="12799"/>
                  <a:pt x="171450" y="28575"/>
                </a:cubicBezTo>
                <a:cubicBezTo>
                  <a:pt x="171450" y="34766"/>
                  <a:pt x="168831" y="40481"/>
                  <a:pt x="164306" y="45184"/>
                </a:cubicBezTo>
                <a:cubicBezTo>
                  <a:pt x="160377" y="49292"/>
                  <a:pt x="157163" y="54293"/>
                  <a:pt x="157163" y="60008"/>
                </a:cubicBezTo>
                <a:cubicBezTo>
                  <a:pt x="157163" y="68937"/>
                  <a:pt x="164425" y="76200"/>
                  <a:pt x="173355" y="76200"/>
                </a:cubicBezTo>
                <a:lnTo>
                  <a:pt x="200025" y="76200"/>
                </a:lnTo>
                <a:cubicBezTo>
                  <a:pt x="215801" y="76200"/>
                  <a:pt x="228600" y="88999"/>
                  <a:pt x="228600" y="104775"/>
                </a:cubicBezTo>
                <a:lnTo>
                  <a:pt x="228600" y="131445"/>
                </a:lnTo>
                <a:cubicBezTo>
                  <a:pt x="228600" y="140375"/>
                  <a:pt x="235863" y="147638"/>
                  <a:pt x="244793" y="147638"/>
                </a:cubicBezTo>
                <a:cubicBezTo>
                  <a:pt x="250448" y="147638"/>
                  <a:pt x="255508" y="144423"/>
                  <a:pt x="259616" y="140494"/>
                </a:cubicBezTo>
                <a:cubicBezTo>
                  <a:pt x="264319" y="136029"/>
                  <a:pt x="270034" y="133350"/>
                  <a:pt x="276225" y="133350"/>
                </a:cubicBezTo>
                <a:cubicBezTo>
                  <a:pt x="292001" y="133350"/>
                  <a:pt x="304800" y="150435"/>
                  <a:pt x="304800" y="171450"/>
                </a:cubicBezTo>
                <a:cubicBezTo>
                  <a:pt x="304800" y="192465"/>
                  <a:pt x="292001" y="209550"/>
                  <a:pt x="276225" y="209550"/>
                </a:cubicBezTo>
                <a:cubicBezTo>
                  <a:pt x="270034" y="209550"/>
                  <a:pt x="264259" y="206931"/>
                  <a:pt x="259616" y="202406"/>
                </a:cubicBezTo>
                <a:cubicBezTo>
                  <a:pt x="255508" y="198477"/>
                  <a:pt x="250507" y="195263"/>
                  <a:pt x="244793" y="195263"/>
                </a:cubicBezTo>
                <a:cubicBezTo>
                  <a:pt x="235863" y="195263"/>
                  <a:pt x="228600" y="202525"/>
                  <a:pt x="228600" y="211455"/>
                </a:cubicBezTo>
                <a:lnTo>
                  <a:pt x="228600" y="276225"/>
                </a:lnTo>
                <a:cubicBezTo>
                  <a:pt x="228600" y="292001"/>
                  <a:pt x="215801" y="304800"/>
                  <a:pt x="200025" y="304800"/>
                </a:cubicBezTo>
                <a:lnTo>
                  <a:pt x="166211" y="304800"/>
                </a:lnTo>
                <a:cubicBezTo>
                  <a:pt x="158591" y="304800"/>
                  <a:pt x="152400" y="298609"/>
                  <a:pt x="152400" y="290989"/>
                </a:cubicBezTo>
                <a:cubicBezTo>
                  <a:pt x="152400" y="285512"/>
                  <a:pt x="155853" y="280690"/>
                  <a:pt x="160258" y="277416"/>
                </a:cubicBezTo>
                <a:cubicBezTo>
                  <a:pt x="167164" y="272236"/>
                  <a:pt x="171450" y="265093"/>
                  <a:pt x="171450" y="257175"/>
                </a:cubicBezTo>
                <a:cubicBezTo>
                  <a:pt x="171450" y="241399"/>
                  <a:pt x="154365" y="228600"/>
                  <a:pt x="133350" y="228600"/>
                </a:cubicBezTo>
                <a:cubicBezTo>
                  <a:pt x="112335" y="228600"/>
                  <a:pt x="95250" y="241399"/>
                  <a:pt x="95250" y="257175"/>
                </a:cubicBezTo>
                <a:cubicBezTo>
                  <a:pt x="95250" y="265093"/>
                  <a:pt x="99536" y="272236"/>
                  <a:pt x="106442" y="277416"/>
                </a:cubicBezTo>
                <a:cubicBezTo>
                  <a:pt x="110847" y="280690"/>
                  <a:pt x="114300" y="285452"/>
                  <a:pt x="114300" y="290989"/>
                </a:cubicBezTo>
                <a:cubicBezTo>
                  <a:pt x="114300" y="298609"/>
                  <a:pt x="108109" y="304800"/>
                  <a:pt x="100489" y="304800"/>
                </a:cubicBezTo>
                <a:lnTo>
                  <a:pt x="28575" y="304800"/>
                </a:lnTo>
                <a:cubicBezTo>
                  <a:pt x="12799" y="304800"/>
                  <a:pt x="0" y="292001"/>
                  <a:pt x="0" y="276225"/>
                </a:cubicBezTo>
                <a:lnTo>
                  <a:pt x="0" y="204311"/>
                </a:lnTo>
                <a:cubicBezTo>
                  <a:pt x="0" y="196691"/>
                  <a:pt x="6191" y="190500"/>
                  <a:pt x="13811" y="190500"/>
                </a:cubicBezTo>
                <a:cubicBezTo>
                  <a:pt x="19288" y="190500"/>
                  <a:pt x="24110" y="193953"/>
                  <a:pt x="27384" y="198358"/>
                </a:cubicBezTo>
                <a:cubicBezTo>
                  <a:pt x="32564" y="205264"/>
                  <a:pt x="39707" y="209550"/>
                  <a:pt x="47625" y="209550"/>
                </a:cubicBezTo>
                <a:cubicBezTo>
                  <a:pt x="63401" y="209550"/>
                  <a:pt x="76200" y="192465"/>
                  <a:pt x="76200" y="171450"/>
                </a:cubicBezTo>
                <a:cubicBezTo>
                  <a:pt x="76200" y="150435"/>
                  <a:pt x="63401" y="133350"/>
                  <a:pt x="47625" y="133350"/>
                </a:cubicBezTo>
                <a:cubicBezTo>
                  <a:pt x="39707" y="133350"/>
                  <a:pt x="32564" y="137636"/>
                  <a:pt x="27384" y="144542"/>
                </a:cubicBezTo>
                <a:cubicBezTo>
                  <a:pt x="24110" y="148947"/>
                  <a:pt x="19348" y="152400"/>
                  <a:pt x="13811" y="152400"/>
                </a:cubicBezTo>
                <a:cubicBezTo>
                  <a:pt x="6191" y="152400"/>
                  <a:pt x="0" y="146209"/>
                  <a:pt x="0" y="138589"/>
                </a:cubicBezTo>
                <a:lnTo>
                  <a:pt x="0" y="104775"/>
                </a:lnTo>
                <a:cubicBezTo>
                  <a:pt x="0" y="88999"/>
                  <a:pt x="12799" y="76200"/>
                  <a:pt x="28575" y="76200"/>
                </a:cubicBezTo>
                <a:lnTo>
                  <a:pt x="93345" y="76200"/>
                </a:lnTo>
                <a:cubicBezTo>
                  <a:pt x="102275" y="76200"/>
                  <a:pt x="109537" y="68937"/>
                  <a:pt x="109537" y="60007"/>
                </a:cubicBezTo>
                <a:cubicBezTo>
                  <a:pt x="109537" y="54352"/>
                  <a:pt x="106323" y="49292"/>
                  <a:pt x="102394" y="45184"/>
                </a:cubicBezTo>
                <a:cubicBezTo>
                  <a:pt x="97929" y="40481"/>
                  <a:pt x="95250" y="34766"/>
                  <a:pt x="95250" y="28575"/>
                </a:cubicBezTo>
                <a:cubicBezTo>
                  <a:pt x="95250" y="12799"/>
                  <a:pt x="112335" y="0"/>
                  <a:pt x="133350" y="0"/>
                </a:cubicBezTo>
                <a:close/>
              </a:path>
            </a:pathLst>
          </a:custGeom>
          <a:solidFill>
            <a:srgbClr val="1A5F6E"/>
          </a:solidFill>
          <a:ln/>
        </p:spPr>
      </p:sp>
      <p:sp>
        <p:nvSpPr>
          <p:cNvPr id="8" name="Text 6"/>
          <p:cNvSpPr/>
          <p:nvPr/>
        </p:nvSpPr>
        <p:spPr>
          <a:xfrm>
            <a:off x="1397000" y="21971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2B2B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Complementary Functions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397000" y="2578100"/>
            <a:ext cx="6223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Text guides systematic conceptual analysis, while pictures provide visual scaffolding for mental model construction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382000" y="2032000"/>
            <a:ext cx="7112000" cy="1270000"/>
          </a:xfrm>
          <a:prstGeom prst="rect">
            <a:avLst/>
          </a:prstGeom>
          <a:solidFill>
            <a:srgbClr val="EDEAE5"/>
          </a:solidFill>
          <a:ln/>
        </p:spPr>
      </p:sp>
      <p:sp>
        <p:nvSpPr>
          <p:cNvPr id="11" name="Shape 9"/>
          <p:cNvSpPr/>
          <p:nvPr/>
        </p:nvSpPr>
        <p:spPr>
          <a:xfrm>
            <a:off x="8572500" y="2222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99204" y="89654"/>
                </a:moveTo>
                <a:lnTo>
                  <a:pt x="242054" y="146804"/>
                </a:lnTo>
                <a:cubicBezTo>
                  <a:pt x="234613" y="154245"/>
                  <a:pt x="222528" y="154245"/>
                  <a:pt x="215086" y="146804"/>
                </a:cubicBezTo>
                <a:cubicBezTo>
                  <a:pt x="207645" y="139363"/>
                  <a:pt x="207645" y="127278"/>
                  <a:pt x="215086" y="119836"/>
                </a:cubicBezTo>
                <a:lnTo>
                  <a:pt x="239732" y="95250"/>
                </a:lnTo>
                <a:lnTo>
                  <a:pt x="19050" y="95250"/>
                </a:lnTo>
                <a:cubicBezTo>
                  <a:pt x="8513" y="95250"/>
                  <a:pt x="0" y="86737"/>
                  <a:pt x="0" y="76200"/>
                </a:cubicBezTo>
                <a:cubicBezTo>
                  <a:pt x="0" y="65663"/>
                  <a:pt x="8513" y="57150"/>
                  <a:pt x="19050" y="57150"/>
                </a:cubicBezTo>
                <a:lnTo>
                  <a:pt x="239732" y="57150"/>
                </a:lnTo>
                <a:lnTo>
                  <a:pt x="215086" y="32504"/>
                </a:lnTo>
                <a:cubicBezTo>
                  <a:pt x="207645" y="25063"/>
                  <a:pt x="207645" y="12978"/>
                  <a:pt x="215086" y="5536"/>
                </a:cubicBezTo>
                <a:cubicBezTo>
                  <a:pt x="222528" y="-1905"/>
                  <a:pt x="234613" y="-1905"/>
                  <a:pt x="242054" y="5536"/>
                </a:cubicBezTo>
                <a:lnTo>
                  <a:pt x="299204" y="62686"/>
                </a:lnTo>
                <a:cubicBezTo>
                  <a:pt x="306645" y="70128"/>
                  <a:pt x="306645" y="82213"/>
                  <a:pt x="299204" y="89654"/>
                </a:cubicBezTo>
                <a:close/>
                <a:moveTo>
                  <a:pt x="62686" y="299204"/>
                </a:moveTo>
                <a:lnTo>
                  <a:pt x="5536" y="242054"/>
                </a:lnTo>
                <a:cubicBezTo>
                  <a:pt x="-1905" y="234613"/>
                  <a:pt x="-1905" y="222528"/>
                  <a:pt x="5536" y="215086"/>
                </a:cubicBezTo>
                <a:lnTo>
                  <a:pt x="62686" y="157936"/>
                </a:lnTo>
                <a:cubicBezTo>
                  <a:pt x="70128" y="150495"/>
                  <a:pt x="82213" y="150495"/>
                  <a:pt x="89654" y="157936"/>
                </a:cubicBezTo>
                <a:cubicBezTo>
                  <a:pt x="97095" y="165378"/>
                  <a:pt x="97095" y="177463"/>
                  <a:pt x="89654" y="184904"/>
                </a:cubicBezTo>
                <a:lnTo>
                  <a:pt x="65068" y="209550"/>
                </a:lnTo>
                <a:lnTo>
                  <a:pt x="285750" y="209550"/>
                </a:lnTo>
                <a:cubicBezTo>
                  <a:pt x="296287" y="209550"/>
                  <a:pt x="304800" y="218063"/>
                  <a:pt x="304800" y="228600"/>
                </a:cubicBezTo>
                <a:cubicBezTo>
                  <a:pt x="304800" y="239137"/>
                  <a:pt x="296287" y="247650"/>
                  <a:pt x="285750" y="247650"/>
                </a:cubicBezTo>
                <a:lnTo>
                  <a:pt x="65068" y="247650"/>
                </a:lnTo>
                <a:lnTo>
                  <a:pt x="89714" y="272296"/>
                </a:lnTo>
                <a:cubicBezTo>
                  <a:pt x="97155" y="279737"/>
                  <a:pt x="97155" y="291822"/>
                  <a:pt x="89714" y="299264"/>
                </a:cubicBezTo>
                <a:cubicBezTo>
                  <a:pt x="82272" y="306705"/>
                  <a:pt x="70187" y="306705"/>
                  <a:pt x="62746" y="299264"/>
                </a:cubicBezTo>
                <a:close/>
              </a:path>
            </a:pathLst>
          </a:custGeom>
          <a:solidFill>
            <a:srgbClr val="1A5F6E"/>
          </a:solidFill>
          <a:ln/>
        </p:spPr>
      </p:sp>
      <p:sp>
        <p:nvSpPr>
          <p:cNvPr id="12" name="Text 10"/>
          <p:cNvSpPr/>
          <p:nvPr/>
        </p:nvSpPr>
        <p:spPr>
          <a:xfrm>
            <a:off x="9017000" y="21971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2B2B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Crossed Processing Order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9017000" y="2578100"/>
            <a:ext cx="6223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Text: descriptive → depictive. Pictures: depictive → descriptive. Both subsystems are activated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2000" y="3556000"/>
            <a:ext cx="7112000" cy="1270000"/>
          </a:xfrm>
          <a:prstGeom prst="rect">
            <a:avLst/>
          </a:prstGeom>
          <a:solidFill>
            <a:srgbClr val="EDEAE5"/>
          </a:solidFill>
          <a:ln/>
        </p:spPr>
      </p:sp>
      <p:sp>
        <p:nvSpPr>
          <p:cNvPr id="15" name="Shape 13"/>
          <p:cNvSpPr/>
          <p:nvPr/>
        </p:nvSpPr>
        <p:spPr>
          <a:xfrm>
            <a:off x="933450" y="37465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160080" y="50721"/>
                </a:moveTo>
                <a:lnTo>
                  <a:pt x="90666" y="127873"/>
                </a:lnTo>
                <a:cubicBezTo>
                  <a:pt x="87928" y="130909"/>
                  <a:pt x="88047" y="135612"/>
                  <a:pt x="90964" y="138529"/>
                </a:cubicBezTo>
                <a:cubicBezTo>
                  <a:pt x="109121" y="156686"/>
                  <a:pt x="138589" y="156686"/>
                  <a:pt x="156746" y="138529"/>
                </a:cubicBezTo>
                <a:lnTo>
                  <a:pt x="175677" y="119598"/>
                </a:lnTo>
                <a:cubicBezTo>
                  <a:pt x="178177" y="117098"/>
                  <a:pt x="181332" y="115729"/>
                  <a:pt x="184547" y="115491"/>
                </a:cubicBezTo>
                <a:cubicBezTo>
                  <a:pt x="188595" y="115133"/>
                  <a:pt x="192762" y="116503"/>
                  <a:pt x="195858" y="119598"/>
                </a:cubicBezTo>
                <a:lnTo>
                  <a:pt x="300990" y="223838"/>
                </a:lnTo>
                <a:lnTo>
                  <a:pt x="342900" y="190500"/>
                </a:lnTo>
                <a:lnTo>
                  <a:pt x="342900" y="19050"/>
                </a:lnTo>
                <a:lnTo>
                  <a:pt x="276225" y="57150"/>
                </a:lnTo>
                <a:lnTo>
                  <a:pt x="262057" y="47685"/>
                </a:lnTo>
                <a:cubicBezTo>
                  <a:pt x="252651" y="41434"/>
                  <a:pt x="241637" y="38100"/>
                  <a:pt x="230326" y="38100"/>
                </a:cubicBezTo>
                <a:lnTo>
                  <a:pt x="188416" y="38100"/>
                </a:lnTo>
                <a:cubicBezTo>
                  <a:pt x="187762" y="38100"/>
                  <a:pt x="187047" y="38100"/>
                  <a:pt x="186392" y="38160"/>
                </a:cubicBezTo>
                <a:cubicBezTo>
                  <a:pt x="176332" y="38695"/>
                  <a:pt x="166866" y="43220"/>
                  <a:pt x="160080" y="50721"/>
                </a:cubicBezTo>
                <a:close/>
                <a:moveTo>
                  <a:pt x="69413" y="108764"/>
                </a:moveTo>
                <a:lnTo>
                  <a:pt x="132993" y="38100"/>
                </a:lnTo>
                <a:lnTo>
                  <a:pt x="109418" y="38100"/>
                </a:lnTo>
                <a:cubicBezTo>
                  <a:pt x="94238" y="38100"/>
                  <a:pt x="79712" y="44113"/>
                  <a:pt x="68997" y="54828"/>
                </a:cubicBezTo>
                <a:lnTo>
                  <a:pt x="66675" y="57150"/>
                </a:lnTo>
                <a:lnTo>
                  <a:pt x="0" y="19050"/>
                </a:lnTo>
                <a:lnTo>
                  <a:pt x="0" y="190500"/>
                </a:lnTo>
                <a:lnTo>
                  <a:pt x="93107" y="268069"/>
                </a:lnTo>
                <a:cubicBezTo>
                  <a:pt x="106799" y="279499"/>
                  <a:pt x="124063" y="285750"/>
                  <a:pt x="141863" y="285750"/>
                </a:cubicBezTo>
                <a:lnTo>
                  <a:pt x="151209" y="285750"/>
                </a:lnTo>
                <a:lnTo>
                  <a:pt x="147042" y="281583"/>
                </a:lnTo>
                <a:cubicBezTo>
                  <a:pt x="141446" y="275987"/>
                  <a:pt x="141446" y="266938"/>
                  <a:pt x="147042" y="261402"/>
                </a:cubicBezTo>
                <a:cubicBezTo>
                  <a:pt x="152638" y="255865"/>
                  <a:pt x="161687" y="255806"/>
                  <a:pt x="167223" y="261402"/>
                </a:cubicBezTo>
                <a:lnTo>
                  <a:pt x="191631" y="285810"/>
                </a:lnTo>
                <a:lnTo>
                  <a:pt x="196989" y="285810"/>
                </a:lnTo>
                <a:cubicBezTo>
                  <a:pt x="208359" y="285810"/>
                  <a:pt x="219492" y="283250"/>
                  <a:pt x="229612" y="278487"/>
                </a:cubicBezTo>
                <a:lnTo>
                  <a:pt x="213717" y="262533"/>
                </a:lnTo>
                <a:cubicBezTo>
                  <a:pt x="208121" y="256937"/>
                  <a:pt x="208121" y="247888"/>
                  <a:pt x="213717" y="242352"/>
                </a:cubicBezTo>
                <a:cubicBezTo>
                  <a:pt x="219313" y="236815"/>
                  <a:pt x="228362" y="236756"/>
                  <a:pt x="233898" y="242352"/>
                </a:cubicBezTo>
                <a:lnTo>
                  <a:pt x="252948" y="261402"/>
                </a:lnTo>
                <a:lnTo>
                  <a:pt x="263366" y="250984"/>
                </a:lnTo>
                <a:cubicBezTo>
                  <a:pt x="268665" y="245685"/>
                  <a:pt x="270212" y="238006"/>
                  <a:pt x="267891" y="231279"/>
                </a:cubicBezTo>
                <a:lnTo>
                  <a:pt x="185797" y="149840"/>
                </a:lnTo>
                <a:lnTo>
                  <a:pt x="176927" y="158710"/>
                </a:lnTo>
                <a:cubicBezTo>
                  <a:pt x="147578" y="188059"/>
                  <a:pt x="100072" y="188059"/>
                  <a:pt x="70723" y="158710"/>
                </a:cubicBezTo>
                <a:cubicBezTo>
                  <a:pt x="57031" y="145018"/>
                  <a:pt x="56495" y="123051"/>
                  <a:pt x="69413" y="108704"/>
                </a:cubicBezTo>
                <a:close/>
              </a:path>
            </a:pathLst>
          </a:custGeom>
          <a:solidFill>
            <a:srgbClr val="1A5F6E"/>
          </a:solidFill>
          <a:ln/>
        </p:spPr>
      </p:sp>
      <p:sp>
        <p:nvSpPr>
          <p:cNvPr id="16" name="Text 14"/>
          <p:cNvSpPr/>
          <p:nvPr/>
        </p:nvSpPr>
        <p:spPr>
          <a:xfrm>
            <a:off x="1397000" y="37211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2B2B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Mutual Support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397000" y="4102100"/>
            <a:ext cx="6223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Text helps interpret ambiguous picture elements; pictures help ground abstract text descriptions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382000" y="3556000"/>
            <a:ext cx="7112000" cy="1270000"/>
          </a:xfrm>
          <a:prstGeom prst="rect">
            <a:avLst/>
          </a:prstGeom>
          <a:solidFill>
            <a:srgbClr val="EDEAE5"/>
          </a:solidFill>
          <a:ln/>
        </p:spPr>
      </p:sp>
      <p:sp>
        <p:nvSpPr>
          <p:cNvPr id="19" name="Shape 17"/>
          <p:cNvSpPr/>
          <p:nvPr/>
        </p:nvSpPr>
        <p:spPr>
          <a:xfrm>
            <a:off x="8572500" y="3746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cubicBezTo>
                  <a:pt x="161151" y="0"/>
                  <a:pt x="169188" y="4822"/>
                  <a:pt x="173355" y="12502"/>
                </a:cubicBezTo>
                <a:lnTo>
                  <a:pt x="301943" y="250627"/>
                </a:lnTo>
                <a:cubicBezTo>
                  <a:pt x="305931" y="258008"/>
                  <a:pt x="305753" y="266938"/>
                  <a:pt x="301466" y="274141"/>
                </a:cubicBezTo>
                <a:cubicBezTo>
                  <a:pt x="297180" y="281345"/>
                  <a:pt x="289381" y="285750"/>
                  <a:pt x="280987" y="285750"/>
                </a:cubicBezTo>
                <a:lnTo>
                  <a:pt x="23813" y="285750"/>
                </a:lnTo>
                <a:cubicBezTo>
                  <a:pt x="15419" y="285750"/>
                  <a:pt x="7680" y="281345"/>
                  <a:pt x="3334" y="274141"/>
                </a:cubicBezTo>
                <a:cubicBezTo>
                  <a:pt x="-1012" y="266938"/>
                  <a:pt x="-1131" y="258008"/>
                  <a:pt x="2858" y="250627"/>
                </a:cubicBezTo>
                <a:lnTo>
                  <a:pt x="131445" y="12502"/>
                </a:lnTo>
                <a:cubicBezTo>
                  <a:pt x="135612" y="4822"/>
                  <a:pt x="143649" y="0"/>
                  <a:pt x="152400" y="0"/>
                </a:cubicBezTo>
                <a:close/>
                <a:moveTo>
                  <a:pt x="152400" y="100013"/>
                </a:moveTo>
                <a:cubicBezTo>
                  <a:pt x="144482" y="100013"/>
                  <a:pt x="138113" y="106382"/>
                  <a:pt x="138113" y="114300"/>
                </a:cubicBezTo>
                <a:lnTo>
                  <a:pt x="138113" y="180975"/>
                </a:lnTo>
                <a:cubicBezTo>
                  <a:pt x="138113" y="188893"/>
                  <a:pt x="144482" y="195263"/>
                  <a:pt x="152400" y="195263"/>
                </a:cubicBezTo>
                <a:cubicBezTo>
                  <a:pt x="160318" y="195263"/>
                  <a:pt x="166688" y="188893"/>
                  <a:pt x="166688" y="180975"/>
                </a:cubicBezTo>
                <a:lnTo>
                  <a:pt x="166688" y="114300"/>
                </a:lnTo>
                <a:cubicBezTo>
                  <a:pt x="166688" y="106382"/>
                  <a:pt x="160318" y="100013"/>
                  <a:pt x="152400" y="100013"/>
                </a:cubicBezTo>
                <a:close/>
                <a:moveTo>
                  <a:pt x="168295" y="228600"/>
                </a:moveTo>
                <a:cubicBezTo>
                  <a:pt x="168656" y="222700"/>
                  <a:pt x="165714" y="217087"/>
                  <a:pt x="160656" y="214027"/>
                </a:cubicBezTo>
                <a:cubicBezTo>
                  <a:pt x="155599" y="210968"/>
                  <a:pt x="149261" y="210968"/>
                  <a:pt x="144203" y="214027"/>
                </a:cubicBezTo>
                <a:cubicBezTo>
                  <a:pt x="139145" y="217087"/>
                  <a:pt x="136203" y="222700"/>
                  <a:pt x="136565" y="228600"/>
                </a:cubicBezTo>
                <a:cubicBezTo>
                  <a:pt x="136203" y="234500"/>
                  <a:pt x="139145" y="240113"/>
                  <a:pt x="144203" y="243173"/>
                </a:cubicBezTo>
                <a:cubicBezTo>
                  <a:pt x="149261" y="246232"/>
                  <a:pt x="155599" y="246232"/>
                  <a:pt x="160656" y="243173"/>
                </a:cubicBezTo>
                <a:cubicBezTo>
                  <a:pt x="165714" y="240113"/>
                  <a:pt x="168656" y="234500"/>
                  <a:pt x="168295" y="228600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20" name="Text 18"/>
          <p:cNvSpPr/>
          <p:nvPr/>
        </p:nvSpPr>
        <p:spPr>
          <a:xfrm>
            <a:off x="9017000" y="37211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2B2B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Split Attention Risk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017000" y="4102100"/>
            <a:ext cx="6223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Occurs when one channel must process multiple sources, creating extraneous cognitive load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62000" y="52070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1A5F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EYE-TRACKING EVIDENCE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62000" y="5588000"/>
            <a:ext cx="14732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5000"/>
              </a:lnSpc>
            </a:pPr>
            <a:r>
              <a:rPr lang="en-US" sz="15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Hochpochler et al. (2014) found that processing is primarily </a:t>
            </a:r>
            <a:pPr>
              <a:lnSpc>
                <a:spcPct val="155000"/>
              </a:lnSpc>
            </a:pPr>
            <a:r>
              <a:rPr lang="en-US" sz="1500" b="1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text-driven</a:t>
            </a:r>
            <a:pPr>
              <a:lnSpc>
                <a:spcPct val="155000"/>
              </a:lnSpc>
            </a:pPr>
            <a:r>
              <a:rPr lang="en-US" sz="15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during the initial phase of mental model construction, with brief looks at the picture for scaffolding. After initial construction, the text is used for task-specific model updates, while the picture is used intensively as an easily accessible visual tool.</a:t>
            </a:r>
            <a:endParaRPr lang="en-US" sz="1800" dirty="0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500" b="1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Text processing is less task-dependent than picture processing.</a:t>
            </a:r>
            <a:pPr>
              <a:lnSpc>
                <a:spcPct val="155000"/>
              </a:lnSpc>
              <a:spcBef>
                <a:spcPts val="600"/>
              </a:spcBef>
            </a:pPr>
            <a:r>
              <a:rPr lang="en-US" sz="15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Texts guide conceptual analysis systematically, whereas pictures function as on-demand cognitive substitutes for the subject matter.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62000" y="7175500"/>
            <a:ext cx="889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Source: Schnotz (2014); Hochpochler et al. (2014); Eitel &amp; Scheiter (2015)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4986000" y="8636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20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1A5F6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44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A5F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Multimedia Effect &amp; Key Predictions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016000"/>
            <a:ext cx="635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397000"/>
            <a:ext cx="14732000" cy="889000"/>
          </a:xfrm>
          <a:prstGeom prst="rect">
            <a:avLst/>
          </a:prstGeom>
          <a:solidFill>
            <a:srgbClr val="1A5F6E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1498600"/>
            <a:ext cx="1422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Multimedia Effect:</a:t>
            </a:r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Learners understand better from words and pictures than from words alone (Mayer, 1997). The ITPC model explains this through complementary processing routes.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26670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1A5F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PREDICTIONS OF THE ITPC MODEL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62000" y="3149600"/>
            <a:ext cx="7112000" cy="1206500"/>
          </a:xfrm>
          <a:prstGeom prst="rect">
            <a:avLst/>
          </a:prstGeom>
          <a:solidFill>
            <a:srgbClr val="EDEAE5"/>
          </a:solidFill>
          <a:ln/>
        </p:spPr>
      </p:sp>
      <p:sp>
        <p:nvSpPr>
          <p:cNvPr id="9" name="Shape 7"/>
          <p:cNvSpPr/>
          <p:nvPr/>
        </p:nvSpPr>
        <p:spPr>
          <a:xfrm>
            <a:off x="762000" y="3149600"/>
            <a:ext cx="508000" cy="5080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10" name="Text 8"/>
          <p:cNvSpPr/>
          <p:nvPr/>
        </p:nvSpPr>
        <p:spPr>
          <a:xfrm>
            <a:off x="762000" y="31496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22400" y="3187700"/>
            <a:ext cx="6223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2B2B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Poor Readers Benefit More from Illustrations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422400" y="3556000"/>
            <a:ext cx="6223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Pictures provide an alternative comprehension route when the text processing route is weak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382000" y="3149600"/>
            <a:ext cx="7112000" cy="1206500"/>
          </a:xfrm>
          <a:prstGeom prst="rect">
            <a:avLst/>
          </a:prstGeom>
          <a:solidFill>
            <a:srgbClr val="EDEAE5"/>
          </a:solidFill>
          <a:ln/>
        </p:spPr>
      </p:sp>
      <p:sp>
        <p:nvSpPr>
          <p:cNvPr id="14" name="Shape 12"/>
          <p:cNvSpPr/>
          <p:nvPr/>
        </p:nvSpPr>
        <p:spPr>
          <a:xfrm>
            <a:off x="8382000" y="3149600"/>
            <a:ext cx="508000" cy="5080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15" name="Text 13"/>
          <p:cNvSpPr/>
          <p:nvPr/>
        </p:nvSpPr>
        <p:spPr>
          <a:xfrm>
            <a:off x="8382000" y="31496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042400" y="3187700"/>
            <a:ext cx="6223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2B2B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Low Prior Knowledge Learners Benefit More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042400" y="3556000"/>
            <a:ext cx="6223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They lack sufficient internal information for mental model construction without visual support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62000" y="4610100"/>
            <a:ext cx="7112000" cy="1206500"/>
          </a:xfrm>
          <a:prstGeom prst="rect">
            <a:avLst/>
          </a:prstGeom>
          <a:solidFill>
            <a:srgbClr val="EDEAE5"/>
          </a:solidFill>
          <a:ln/>
        </p:spPr>
      </p:sp>
      <p:sp>
        <p:nvSpPr>
          <p:cNvPr id="19" name="Shape 17"/>
          <p:cNvSpPr/>
          <p:nvPr/>
        </p:nvSpPr>
        <p:spPr>
          <a:xfrm>
            <a:off x="762000" y="4610100"/>
            <a:ext cx="508000" cy="5080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20" name="Text 18"/>
          <p:cNvSpPr/>
          <p:nvPr/>
        </p:nvSpPr>
        <p:spPr>
          <a:xfrm>
            <a:off x="762000" y="46101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22400" y="4648200"/>
            <a:ext cx="6223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2B2B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Pictures May Reduce Text Processing Depth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422400" y="5016500"/>
            <a:ext cx="6223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When pictures provide sufficient information, text may be processed less deeply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8382000" y="4610100"/>
            <a:ext cx="7112000" cy="1206500"/>
          </a:xfrm>
          <a:prstGeom prst="rect">
            <a:avLst/>
          </a:prstGeom>
          <a:solidFill>
            <a:srgbClr val="EDEAE5"/>
          </a:solidFill>
          <a:ln/>
        </p:spPr>
      </p:sp>
      <p:sp>
        <p:nvSpPr>
          <p:cNvPr id="24" name="Shape 22"/>
          <p:cNvSpPr/>
          <p:nvPr/>
        </p:nvSpPr>
        <p:spPr>
          <a:xfrm>
            <a:off x="8382000" y="4610100"/>
            <a:ext cx="508000" cy="5080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25" name="Text 23"/>
          <p:cNvSpPr/>
          <p:nvPr/>
        </p:nvSpPr>
        <p:spPr>
          <a:xfrm>
            <a:off x="8382000" y="46101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042400" y="4648200"/>
            <a:ext cx="6223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2B2B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Processing Shifts from Text to Pictures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042400" y="5016500"/>
            <a:ext cx="6223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Initial learning is text-driven, followed by picture-intensive task-specific processing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62000" y="62230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1A5F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EMPIRICAL SUPPORT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62000" y="6604000"/>
            <a:ext cx="1473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These predictions are supported by numerous studies: Cooney &amp; Swanson (1987), Levie &amp; Lentz (1982), Mastropieri &amp; Scruggs (1989), Mayer &amp; Gallini (1990), Schnotz &amp; Bannert (1999), and Mayer (2009). Eye-tracking studies by Hochpochler et al. (2014) and Schnotz &amp; Wagner (2018) provide direct process evidence.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62000" y="7747000"/>
            <a:ext cx="889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Source: Schnotz (2014); Mayer (2009); Hochpochler et al. (2014)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4986000" y="8636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21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1A5F6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44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A5F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ITPC Implications for Multimedia Design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016000"/>
            <a:ext cx="635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397000"/>
            <a:ext cx="4699000" cy="1905000"/>
          </a:xfrm>
          <a:prstGeom prst="rect">
            <a:avLst/>
          </a:prstGeom>
          <a:solidFill>
            <a:srgbClr val="EDEAE5"/>
          </a:solidFill>
          <a:ln/>
        </p:spPr>
      </p:sp>
      <p:sp>
        <p:nvSpPr>
          <p:cNvPr id="6" name="Shape 4"/>
          <p:cNvSpPr/>
          <p:nvPr/>
        </p:nvSpPr>
        <p:spPr>
          <a:xfrm>
            <a:off x="933450" y="15494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249734" y="57150"/>
                </a:moveTo>
                <a:cubicBezTo>
                  <a:pt x="239851" y="57150"/>
                  <a:pt x="230267" y="59829"/>
                  <a:pt x="221873" y="64710"/>
                </a:cubicBezTo>
                <a:cubicBezTo>
                  <a:pt x="212467" y="55185"/>
                  <a:pt x="201513" y="47208"/>
                  <a:pt x="189428" y="41196"/>
                </a:cubicBezTo>
                <a:cubicBezTo>
                  <a:pt x="206216" y="26908"/>
                  <a:pt x="227588" y="19050"/>
                  <a:pt x="249734" y="19050"/>
                </a:cubicBezTo>
                <a:cubicBezTo>
                  <a:pt x="301169" y="19050"/>
                  <a:pt x="342900" y="60722"/>
                  <a:pt x="342900" y="112216"/>
                </a:cubicBezTo>
                <a:cubicBezTo>
                  <a:pt x="342900" y="136922"/>
                  <a:pt x="333077" y="160615"/>
                  <a:pt x="315635" y="178058"/>
                </a:cubicBezTo>
                <a:lnTo>
                  <a:pt x="273308" y="220385"/>
                </a:lnTo>
                <a:cubicBezTo>
                  <a:pt x="255865" y="237827"/>
                  <a:pt x="232172" y="247650"/>
                  <a:pt x="207466" y="247650"/>
                </a:cubicBezTo>
                <a:cubicBezTo>
                  <a:pt x="156031" y="247650"/>
                  <a:pt x="114300" y="205978"/>
                  <a:pt x="114300" y="154484"/>
                </a:cubicBezTo>
                <a:cubicBezTo>
                  <a:pt x="114300" y="153591"/>
                  <a:pt x="114300" y="152698"/>
                  <a:pt x="114360" y="151805"/>
                </a:cubicBezTo>
                <a:cubicBezTo>
                  <a:pt x="114657" y="141268"/>
                  <a:pt x="123408" y="132993"/>
                  <a:pt x="133945" y="133290"/>
                </a:cubicBezTo>
                <a:cubicBezTo>
                  <a:pt x="144482" y="133588"/>
                  <a:pt x="152757" y="142339"/>
                  <a:pt x="152460" y="152876"/>
                </a:cubicBezTo>
                <a:cubicBezTo>
                  <a:pt x="152460" y="153412"/>
                  <a:pt x="152460" y="153948"/>
                  <a:pt x="152460" y="154424"/>
                </a:cubicBezTo>
                <a:cubicBezTo>
                  <a:pt x="152460" y="184845"/>
                  <a:pt x="177105" y="209490"/>
                  <a:pt x="207526" y="209490"/>
                </a:cubicBezTo>
                <a:cubicBezTo>
                  <a:pt x="222111" y="209490"/>
                  <a:pt x="236101" y="203716"/>
                  <a:pt x="246459" y="193358"/>
                </a:cubicBezTo>
                <a:lnTo>
                  <a:pt x="288786" y="151031"/>
                </a:lnTo>
                <a:cubicBezTo>
                  <a:pt x="299085" y="140732"/>
                  <a:pt x="304919" y="126683"/>
                  <a:pt x="304919" y="112097"/>
                </a:cubicBezTo>
                <a:cubicBezTo>
                  <a:pt x="304919" y="81677"/>
                  <a:pt x="280273" y="57031"/>
                  <a:pt x="249853" y="57031"/>
                </a:cubicBezTo>
                <a:close/>
                <a:moveTo>
                  <a:pt x="163830" y="103168"/>
                </a:moveTo>
                <a:cubicBezTo>
                  <a:pt x="162699" y="102691"/>
                  <a:pt x="161568" y="102037"/>
                  <a:pt x="160556" y="101322"/>
                </a:cubicBezTo>
                <a:cubicBezTo>
                  <a:pt x="153055" y="97453"/>
                  <a:pt x="144482" y="95250"/>
                  <a:pt x="135493" y="95250"/>
                </a:cubicBezTo>
                <a:cubicBezTo>
                  <a:pt x="120908" y="95250"/>
                  <a:pt x="106918" y="101025"/>
                  <a:pt x="96560" y="111383"/>
                </a:cubicBezTo>
                <a:lnTo>
                  <a:pt x="54233" y="153710"/>
                </a:lnTo>
                <a:cubicBezTo>
                  <a:pt x="43934" y="164009"/>
                  <a:pt x="38100" y="178058"/>
                  <a:pt x="38100" y="192643"/>
                </a:cubicBezTo>
                <a:cubicBezTo>
                  <a:pt x="38100" y="223064"/>
                  <a:pt x="62746" y="247710"/>
                  <a:pt x="93166" y="247710"/>
                </a:cubicBezTo>
                <a:cubicBezTo>
                  <a:pt x="102989" y="247710"/>
                  <a:pt x="112574" y="245090"/>
                  <a:pt x="120967" y="240209"/>
                </a:cubicBezTo>
                <a:cubicBezTo>
                  <a:pt x="130373" y="249734"/>
                  <a:pt x="141327" y="257711"/>
                  <a:pt x="153472" y="263723"/>
                </a:cubicBezTo>
                <a:cubicBezTo>
                  <a:pt x="136684" y="277951"/>
                  <a:pt x="115372" y="285869"/>
                  <a:pt x="93166" y="285869"/>
                </a:cubicBezTo>
                <a:cubicBezTo>
                  <a:pt x="41731" y="285869"/>
                  <a:pt x="0" y="244197"/>
                  <a:pt x="0" y="192703"/>
                </a:cubicBezTo>
                <a:cubicBezTo>
                  <a:pt x="0" y="167997"/>
                  <a:pt x="9823" y="144304"/>
                  <a:pt x="27265" y="126861"/>
                </a:cubicBezTo>
                <a:lnTo>
                  <a:pt x="69592" y="84534"/>
                </a:lnTo>
                <a:cubicBezTo>
                  <a:pt x="87035" y="67092"/>
                  <a:pt x="110728" y="57269"/>
                  <a:pt x="135434" y="57269"/>
                </a:cubicBezTo>
                <a:cubicBezTo>
                  <a:pt x="186988" y="57269"/>
                  <a:pt x="228600" y="99298"/>
                  <a:pt x="228600" y="150674"/>
                </a:cubicBezTo>
                <a:cubicBezTo>
                  <a:pt x="228600" y="151448"/>
                  <a:pt x="228600" y="152221"/>
                  <a:pt x="228600" y="152995"/>
                </a:cubicBezTo>
                <a:cubicBezTo>
                  <a:pt x="228362" y="163532"/>
                  <a:pt x="219611" y="171807"/>
                  <a:pt x="209074" y="171569"/>
                </a:cubicBezTo>
                <a:cubicBezTo>
                  <a:pt x="198537" y="171331"/>
                  <a:pt x="190262" y="162580"/>
                  <a:pt x="190500" y="152043"/>
                </a:cubicBezTo>
                <a:cubicBezTo>
                  <a:pt x="190500" y="151567"/>
                  <a:pt x="190500" y="151150"/>
                  <a:pt x="190500" y="150674"/>
                </a:cubicBezTo>
                <a:cubicBezTo>
                  <a:pt x="190500" y="130612"/>
                  <a:pt x="179784" y="112990"/>
                  <a:pt x="163830" y="103287"/>
                </a:cubicBezTo>
                <a:close/>
              </a:path>
            </a:pathLst>
          </a:custGeom>
          <a:solidFill>
            <a:srgbClr val="1A5F6E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1524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2B2B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Text-Picture Correspondence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52500" y="1930400"/>
            <a:ext cx="4318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Ensure each element in the text has a corresponding visual element. Learners must be able to map between representations.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778500" y="1397000"/>
            <a:ext cx="4699000" cy="1905000"/>
          </a:xfrm>
          <a:prstGeom prst="rect">
            <a:avLst/>
          </a:prstGeom>
          <a:solidFill>
            <a:srgbClr val="EDEAE5"/>
          </a:solidFill>
          <a:ln/>
        </p:spPr>
      </p:sp>
      <p:sp>
        <p:nvSpPr>
          <p:cNvPr id="10" name="Shape 8"/>
          <p:cNvSpPr/>
          <p:nvPr/>
        </p:nvSpPr>
        <p:spPr>
          <a:xfrm>
            <a:off x="5988050" y="15494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46018" y="1488"/>
                </a:moveTo>
                <a:cubicBezTo>
                  <a:pt x="50840" y="-952"/>
                  <a:pt x="56674" y="-417"/>
                  <a:pt x="60960" y="2858"/>
                </a:cubicBezTo>
                <a:lnTo>
                  <a:pt x="251460" y="145673"/>
                </a:lnTo>
                <a:cubicBezTo>
                  <a:pt x="256401" y="149364"/>
                  <a:pt x="258366" y="155793"/>
                  <a:pt x="256461" y="161627"/>
                </a:cubicBezTo>
                <a:cubicBezTo>
                  <a:pt x="254556" y="167461"/>
                  <a:pt x="249079" y="171390"/>
                  <a:pt x="242888" y="171390"/>
                </a:cubicBezTo>
                <a:lnTo>
                  <a:pt x="152221" y="171390"/>
                </a:lnTo>
                <a:lnTo>
                  <a:pt x="205145" y="277178"/>
                </a:lnTo>
                <a:cubicBezTo>
                  <a:pt x="209848" y="286583"/>
                  <a:pt x="206038" y="298013"/>
                  <a:pt x="196632" y="302716"/>
                </a:cubicBezTo>
                <a:cubicBezTo>
                  <a:pt x="187226" y="307419"/>
                  <a:pt x="175796" y="303609"/>
                  <a:pt x="171093" y="294203"/>
                </a:cubicBezTo>
                <a:lnTo>
                  <a:pt x="118170" y="188416"/>
                </a:lnTo>
                <a:lnTo>
                  <a:pt x="63817" y="260925"/>
                </a:lnTo>
                <a:cubicBezTo>
                  <a:pt x="60127" y="265867"/>
                  <a:pt x="53697" y="267831"/>
                  <a:pt x="47863" y="265926"/>
                </a:cubicBezTo>
                <a:cubicBezTo>
                  <a:pt x="42029" y="264021"/>
                  <a:pt x="38100" y="258544"/>
                  <a:pt x="38100" y="252413"/>
                </a:cubicBezTo>
                <a:lnTo>
                  <a:pt x="38100" y="14288"/>
                </a:lnTo>
                <a:cubicBezTo>
                  <a:pt x="38100" y="8870"/>
                  <a:pt x="41136" y="3929"/>
                  <a:pt x="46018" y="1488"/>
                </a:cubicBezTo>
                <a:close/>
              </a:path>
            </a:pathLst>
          </a:custGeom>
          <a:solidFill>
            <a:srgbClr val="1A5F6E"/>
          </a:solidFill>
          <a:ln/>
        </p:spPr>
      </p:sp>
      <p:sp>
        <p:nvSpPr>
          <p:cNvPr id="11" name="Text 9"/>
          <p:cNvSpPr/>
          <p:nvPr/>
        </p:nvSpPr>
        <p:spPr>
          <a:xfrm>
            <a:off x="6388100" y="1524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2B2B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 Signaling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969000" y="1930400"/>
            <a:ext cx="4318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Arrows, color coding, and labels help learners connect text and picture elements, reducing mapping effort.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0795000" y="1397000"/>
            <a:ext cx="4699000" cy="1905000"/>
          </a:xfrm>
          <a:prstGeom prst="rect">
            <a:avLst/>
          </a:prstGeom>
          <a:solidFill>
            <a:srgbClr val="EDEAE5"/>
          </a:solidFill>
          <a:ln/>
        </p:spPr>
      </p:sp>
      <p:sp>
        <p:nvSpPr>
          <p:cNvPr id="14" name="Shape 12"/>
          <p:cNvSpPr/>
          <p:nvPr/>
        </p:nvSpPr>
        <p:spPr>
          <a:xfrm>
            <a:off x="11004550" y="15494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143649" y="-7739"/>
                </a:moveTo>
                <a:cubicBezTo>
                  <a:pt x="136862" y="-9108"/>
                  <a:pt x="129897" y="-9108"/>
                  <a:pt x="123111" y="-7739"/>
                </a:cubicBezTo>
                <a:lnTo>
                  <a:pt x="11490" y="14585"/>
                </a:lnTo>
                <a:cubicBezTo>
                  <a:pt x="4822" y="15895"/>
                  <a:pt x="0" y="21788"/>
                  <a:pt x="0" y="28575"/>
                </a:cubicBezTo>
                <a:cubicBezTo>
                  <a:pt x="0" y="34707"/>
                  <a:pt x="3870" y="40065"/>
                  <a:pt x="9525" y="42029"/>
                </a:cubicBezTo>
                <a:lnTo>
                  <a:pt x="9525" y="85725"/>
                </a:lnTo>
                <a:lnTo>
                  <a:pt x="179" y="132517"/>
                </a:lnTo>
                <a:cubicBezTo>
                  <a:pt x="60" y="133052"/>
                  <a:pt x="0" y="133648"/>
                  <a:pt x="0" y="134243"/>
                </a:cubicBezTo>
                <a:cubicBezTo>
                  <a:pt x="0" y="139005"/>
                  <a:pt x="3870" y="142935"/>
                  <a:pt x="8692" y="142935"/>
                </a:cubicBezTo>
                <a:lnTo>
                  <a:pt x="29468" y="142935"/>
                </a:lnTo>
                <a:cubicBezTo>
                  <a:pt x="34230" y="142935"/>
                  <a:pt x="38160" y="139065"/>
                  <a:pt x="38160" y="134243"/>
                </a:cubicBezTo>
                <a:cubicBezTo>
                  <a:pt x="38160" y="133648"/>
                  <a:pt x="38100" y="133112"/>
                  <a:pt x="37981" y="132517"/>
                </a:cubicBezTo>
                <a:lnTo>
                  <a:pt x="28575" y="85725"/>
                </a:lnTo>
                <a:lnTo>
                  <a:pt x="28575" y="46018"/>
                </a:lnTo>
                <a:lnTo>
                  <a:pt x="57150" y="51733"/>
                </a:lnTo>
                <a:lnTo>
                  <a:pt x="57150" y="85725"/>
                </a:lnTo>
                <a:cubicBezTo>
                  <a:pt x="57150" y="127814"/>
                  <a:pt x="91261" y="161925"/>
                  <a:pt x="133350" y="161925"/>
                </a:cubicBezTo>
                <a:cubicBezTo>
                  <a:pt x="175439" y="161925"/>
                  <a:pt x="209550" y="127814"/>
                  <a:pt x="209550" y="85725"/>
                </a:cubicBezTo>
                <a:lnTo>
                  <a:pt x="209550" y="51733"/>
                </a:lnTo>
                <a:lnTo>
                  <a:pt x="255210" y="42624"/>
                </a:lnTo>
                <a:cubicBezTo>
                  <a:pt x="261878" y="41255"/>
                  <a:pt x="266700" y="35362"/>
                  <a:pt x="266700" y="28575"/>
                </a:cubicBezTo>
                <a:cubicBezTo>
                  <a:pt x="266700" y="21788"/>
                  <a:pt x="261878" y="15895"/>
                  <a:pt x="255210" y="14585"/>
                </a:cubicBezTo>
                <a:lnTo>
                  <a:pt x="143649" y="-7739"/>
                </a:lnTo>
                <a:close/>
                <a:moveTo>
                  <a:pt x="133350" y="133350"/>
                </a:moveTo>
                <a:cubicBezTo>
                  <a:pt x="107037" y="133350"/>
                  <a:pt x="85725" y="112038"/>
                  <a:pt x="85725" y="85725"/>
                </a:cubicBezTo>
                <a:lnTo>
                  <a:pt x="180975" y="85725"/>
                </a:lnTo>
                <a:cubicBezTo>
                  <a:pt x="180975" y="112038"/>
                  <a:pt x="159663" y="133350"/>
                  <a:pt x="133350" y="133350"/>
                </a:cubicBezTo>
                <a:close/>
                <a:moveTo>
                  <a:pt x="71497" y="190560"/>
                </a:moveTo>
                <a:cubicBezTo>
                  <a:pt x="34945" y="207347"/>
                  <a:pt x="9525" y="244257"/>
                  <a:pt x="9525" y="287119"/>
                </a:cubicBezTo>
                <a:cubicBezTo>
                  <a:pt x="9525" y="296882"/>
                  <a:pt x="17443" y="304800"/>
                  <a:pt x="27206" y="304800"/>
                </a:cubicBezTo>
                <a:lnTo>
                  <a:pt x="119062" y="304800"/>
                </a:lnTo>
                <a:lnTo>
                  <a:pt x="119062" y="217884"/>
                </a:lnTo>
                <a:lnTo>
                  <a:pt x="84892" y="192286"/>
                </a:lnTo>
                <a:cubicBezTo>
                  <a:pt x="81022" y="189369"/>
                  <a:pt x="75843" y="188595"/>
                  <a:pt x="71438" y="190619"/>
                </a:cubicBezTo>
                <a:close/>
                <a:moveTo>
                  <a:pt x="147638" y="304800"/>
                </a:moveTo>
                <a:lnTo>
                  <a:pt x="239494" y="304800"/>
                </a:lnTo>
                <a:cubicBezTo>
                  <a:pt x="249257" y="304800"/>
                  <a:pt x="257175" y="296882"/>
                  <a:pt x="257175" y="287119"/>
                </a:cubicBezTo>
                <a:cubicBezTo>
                  <a:pt x="257175" y="244257"/>
                  <a:pt x="231755" y="207347"/>
                  <a:pt x="195203" y="190619"/>
                </a:cubicBezTo>
                <a:cubicBezTo>
                  <a:pt x="190798" y="188595"/>
                  <a:pt x="185618" y="189369"/>
                  <a:pt x="181749" y="192286"/>
                </a:cubicBezTo>
                <a:lnTo>
                  <a:pt x="147578" y="217884"/>
                </a:lnTo>
                <a:lnTo>
                  <a:pt x="147578" y="304800"/>
                </a:lnTo>
                <a:close/>
              </a:path>
            </a:pathLst>
          </a:custGeom>
          <a:solidFill>
            <a:srgbClr val="1A5F6E"/>
          </a:solidFill>
          <a:ln/>
        </p:spPr>
      </p:sp>
      <p:sp>
        <p:nvSpPr>
          <p:cNvPr id="15" name="Text 13"/>
          <p:cNvSpPr/>
          <p:nvPr/>
        </p:nvSpPr>
        <p:spPr>
          <a:xfrm>
            <a:off x="11404600" y="1524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2B2B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Consider Learner Characteristics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985500" y="1930400"/>
            <a:ext cx="4318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Poor readers and low-knowledge learners need more visual support to compensate for weak text processing.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62000" y="3619500"/>
            <a:ext cx="4699000" cy="1905000"/>
          </a:xfrm>
          <a:prstGeom prst="rect">
            <a:avLst/>
          </a:prstGeom>
          <a:solidFill>
            <a:srgbClr val="EDEAE5"/>
          </a:solidFill>
          <a:ln/>
        </p:spPr>
      </p:sp>
      <p:sp>
        <p:nvSpPr>
          <p:cNvPr id="18" name="Shape 16"/>
          <p:cNvSpPr/>
          <p:nvPr/>
        </p:nvSpPr>
        <p:spPr>
          <a:xfrm>
            <a:off x="933450" y="37719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19050" y="71080"/>
                </a:moveTo>
                <a:cubicBezTo>
                  <a:pt x="7680" y="64532"/>
                  <a:pt x="0" y="52209"/>
                  <a:pt x="0" y="38100"/>
                </a:cubicBezTo>
                <a:cubicBezTo>
                  <a:pt x="0" y="17085"/>
                  <a:pt x="17085" y="0"/>
                  <a:pt x="38100" y="0"/>
                </a:cubicBezTo>
                <a:cubicBezTo>
                  <a:pt x="52209" y="0"/>
                  <a:pt x="64532" y="7680"/>
                  <a:pt x="71080" y="19050"/>
                </a:cubicBezTo>
                <a:lnTo>
                  <a:pt x="271760" y="19050"/>
                </a:lnTo>
                <a:cubicBezTo>
                  <a:pt x="278368" y="7680"/>
                  <a:pt x="290632" y="0"/>
                  <a:pt x="304740" y="0"/>
                </a:cubicBezTo>
                <a:cubicBezTo>
                  <a:pt x="325755" y="0"/>
                  <a:pt x="342840" y="17085"/>
                  <a:pt x="342840" y="38100"/>
                </a:cubicBezTo>
                <a:cubicBezTo>
                  <a:pt x="342840" y="52209"/>
                  <a:pt x="335161" y="64532"/>
                  <a:pt x="323790" y="71080"/>
                </a:cubicBezTo>
                <a:lnTo>
                  <a:pt x="323790" y="233660"/>
                </a:lnTo>
                <a:cubicBezTo>
                  <a:pt x="335161" y="240268"/>
                  <a:pt x="342840" y="252532"/>
                  <a:pt x="342840" y="266640"/>
                </a:cubicBezTo>
                <a:cubicBezTo>
                  <a:pt x="342840" y="287655"/>
                  <a:pt x="325755" y="304740"/>
                  <a:pt x="304740" y="304740"/>
                </a:cubicBezTo>
                <a:cubicBezTo>
                  <a:pt x="290632" y="304740"/>
                  <a:pt x="278309" y="297061"/>
                  <a:pt x="271760" y="285690"/>
                </a:cubicBezTo>
                <a:lnTo>
                  <a:pt x="71080" y="285690"/>
                </a:lnTo>
                <a:cubicBezTo>
                  <a:pt x="64472" y="297061"/>
                  <a:pt x="52209" y="304740"/>
                  <a:pt x="38100" y="304740"/>
                </a:cubicBezTo>
                <a:cubicBezTo>
                  <a:pt x="17085" y="304740"/>
                  <a:pt x="0" y="287655"/>
                  <a:pt x="0" y="266640"/>
                </a:cubicBezTo>
                <a:cubicBezTo>
                  <a:pt x="0" y="252532"/>
                  <a:pt x="7680" y="240209"/>
                  <a:pt x="19050" y="233660"/>
                </a:cubicBezTo>
                <a:lnTo>
                  <a:pt x="19050" y="71080"/>
                </a:lnTo>
                <a:close/>
                <a:moveTo>
                  <a:pt x="285750" y="71080"/>
                </a:moveTo>
                <a:cubicBezTo>
                  <a:pt x="279975" y="67747"/>
                  <a:pt x="275153" y="62925"/>
                  <a:pt x="271820" y="57150"/>
                </a:cubicBezTo>
                <a:lnTo>
                  <a:pt x="71080" y="57150"/>
                </a:lnTo>
                <a:cubicBezTo>
                  <a:pt x="67747" y="62925"/>
                  <a:pt x="62925" y="67747"/>
                  <a:pt x="57150" y="71080"/>
                </a:cubicBezTo>
                <a:lnTo>
                  <a:pt x="57150" y="233660"/>
                </a:lnTo>
                <a:cubicBezTo>
                  <a:pt x="62925" y="236994"/>
                  <a:pt x="67747" y="241816"/>
                  <a:pt x="71080" y="247590"/>
                </a:cubicBezTo>
                <a:lnTo>
                  <a:pt x="271760" y="247590"/>
                </a:lnTo>
                <a:cubicBezTo>
                  <a:pt x="275094" y="241816"/>
                  <a:pt x="279916" y="236994"/>
                  <a:pt x="285690" y="233660"/>
                </a:cubicBezTo>
                <a:lnTo>
                  <a:pt x="285690" y="71080"/>
                </a:lnTo>
                <a:close/>
                <a:moveTo>
                  <a:pt x="85725" y="104775"/>
                </a:moveTo>
                <a:cubicBezTo>
                  <a:pt x="85725" y="94238"/>
                  <a:pt x="94238" y="85725"/>
                  <a:pt x="104775" y="85725"/>
                </a:cubicBezTo>
                <a:lnTo>
                  <a:pt x="171450" y="85725"/>
                </a:lnTo>
                <a:cubicBezTo>
                  <a:pt x="181987" y="85725"/>
                  <a:pt x="190500" y="94238"/>
                  <a:pt x="190500" y="104775"/>
                </a:cubicBezTo>
                <a:lnTo>
                  <a:pt x="190500" y="142875"/>
                </a:lnTo>
                <a:cubicBezTo>
                  <a:pt x="190500" y="153412"/>
                  <a:pt x="181987" y="161925"/>
                  <a:pt x="171450" y="161925"/>
                </a:cubicBezTo>
                <a:lnTo>
                  <a:pt x="104775" y="161925"/>
                </a:lnTo>
                <a:cubicBezTo>
                  <a:pt x="94238" y="161925"/>
                  <a:pt x="85725" y="153412"/>
                  <a:pt x="85725" y="142875"/>
                </a:cubicBezTo>
                <a:lnTo>
                  <a:pt x="85725" y="104775"/>
                </a:lnTo>
                <a:close/>
                <a:moveTo>
                  <a:pt x="152400" y="190500"/>
                </a:moveTo>
                <a:lnTo>
                  <a:pt x="171450" y="190500"/>
                </a:lnTo>
                <a:cubicBezTo>
                  <a:pt x="197763" y="190500"/>
                  <a:pt x="219075" y="169188"/>
                  <a:pt x="219075" y="142875"/>
                </a:cubicBezTo>
                <a:lnTo>
                  <a:pt x="238125" y="142875"/>
                </a:lnTo>
                <a:cubicBezTo>
                  <a:pt x="248662" y="142875"/>
                  <a:pt x="257175" y="151388"/>
                  <a:pt x="257175" y="161925"/>
                </a:cubicBezTo>
                <a:lnTo>
                  <a:pt x="257175" y="200025"/>
                </a:lnTo>
                <a:cubicBezTo>
                  <a:pt x="257175" y="210562"/>
                  <a:pt x="248662" y="219075"/>
                  <a:pt x="238125" y="219075"/>
                </a:cubicBezTo>
                <a:lnTo>
                  <a:pt x="171450" y="219075"/>
                </a:lnTo>
                <a:cubicBezTo>
                  <a:pt x="160913" y="219075"/>
                  <a:pt x="152400" y="210562"/>
                  <a:pt x="152400" y="200025"/>
                </a:cubicBezTo>
                <a:lnTo>
                  <a:pt x="152400" y="190500"/>
                </a:lnTo>
                <a:close/>
              </a:path>
            </a:pathLst>
          </a:custGeom>
          <a:solidFill>
            <a:srgbClr val="1A5F6E"/>
          </a:solidFill>
          <a:ln/>
        </p:spPr>
      </p:sp>
      <p:sp>
        <p:nvSpPr>
          <p:cNvPr id="19" name="Text 17"/>
          <p:cNvSpPr/>
          <p:nvPr/>
        </p:nvSpPr>
        <p:spPr>
          <a:xfrm>
            <a:off x="1371600" y="37465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2B2B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Avoid Split-Attention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52500" y="4152900"/>
            <a:ext cx="4318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Integrate text labels directly into diagrams rather than placing them in separate captions or legends.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778500" y="3619500"/>
            <a:ext cx="4699000" cy="1905000"/>
          </a:xfrm>
          <a:prstGeom prst="rect">
            <a:avLst/>
          </a:prstGeom>
          <a:solidFill>
            <a:srgbClr val="EDEAE5"/>
          </a:solidFill>
          <a:ln/>
        </p:spPr>
      </p:sp>
      <p:sp>
        <p:nvSpPr>
          <p:cNvPr id="22" name="Shape 20"/>
          <p:cNvSpPr/>
          <p:nvPr/>
        </p:nvSpPr>
        <p:spPr>
          <a:xfrm>
            <a:off x="5969000" y="37719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cubicBezTo>
                  <a:pt x="236512" y="0"/>
                  <a:pt x="304800" y="68288"/>
                  <a:pt x="304800" y="152400"/>
                </a:cubicBezTo>
                <a:cubicBezTo>
                  <a:pt x="304800" y="236512"/>
                  <a:pt x="236512" y="304800"/>
                  <a:pt x="152400" y="304800"/>
                </a:cubicBezTo>
                <a:cubicBezTo>
                  <a:pt x="68288" y="304800"/>
                  <a:pt x="0" y="236512"/>
                  <a:pt x="0" y="152400"/>
                </a:cubicBezTo>
                <a:cubicBezTo>
                  <a:pt x="0" y="68288"/>
                  <a:pt x="68288" y="0"/>
                  <a:pt x="152400" y="0"/>
                </a:cubicBezTo>
                <a:close/>
                <a:moveTo>
                  <a:pt x="138113" y="71438"/>
                </a:moveTo>
                <a:lnTo>
                  <a:pt x="138113" y="152400"/>
                </a:lnTo>
                <a:cubicBezTo>
                  <a:pt x="138113" y="157163"/>
                  <a:pt x="140494" y="161627"/>
                  <a:pt x="144482" y="164306"/>
                </a:cubicBezTo>
                <a:lnTo>
                  <a:pt x="201632" y="202406"/>
                </a:lnTo>
                <a:cubicBezTo>
                  <a:pt x="208181" y="206812"/>
                  <a:pt x="217051" y="205026"/>
                  <a:pt x="221456" y="198418"/>
                </a:cubicBezTo>
                <a:cubicBezTo>
                  <a:pt x="225862" y="191810"/>
                  <a:pt x="224076" y="182999"/>
                  <a:pt x="217468" y="178594"/>
                </a:cubicBezTo>
                <a:lnTo>
                  <a:pt x="166688" y="144780"/>
                </a:lnTo>
                <a:lnTo>
                  <a:pt x="166688" y="71438"/>
                </a:lnTo>
                <a:cubicBezTo>
                  <a:pt x="166688" y="63520"/>
                  <a:pt x="160318" y="57150"/>
                  <a:pt x="152400" y="57150"/>
                </a:cubicBezTo>
                <a:cubicBezTo>
                  <a:pt x="144482" y="57150"/>
                  <a:pt x="138113" y="63520"/>
                  <a:pt x="138113" y="71438"/>
                </a:cubicBezTo>
                <a:close/>
              </a:path>
            </a:pathLst>
          </a:custGeom>
          <a:solidFill>
            <a:srgbClr val="1A5F6E"/>
          </a:solidFill>
          <a:ln/>
        </p:spPr>
      </p:sp>
      <p:sp>
        <p:nvSpPr>
          <p:cNvPr id="23" name="Text 21"/>
          <p:cNvSpPr/>
          <p:nvPr/>
        </p:nvSpPr>
        <p:spPr>
          <a:xfrm>
            <a:off x="6388100" y="37465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2B2B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Sequence Matters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969000" y="4152900"/>
            <a:ext cx="4318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Present text and pictures to support construction-then-elaboration. Initial model building needs systematic guidance.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0795000" y="3619500"/>
            <a:ext cx="4699000" cy="1905000"/>
          </a:xfrm>
          <a:prstGeom prst="rect">
            <a:avLst/>
          </a:prstGeom>
          <a:solidFill>
            <a:srgbClr val="1A5F6E"/>
          </a:solidFill>
          <a:ln/>
        </p:spPr>
      </p:sp>
      <p:sp>
        <p:nvSpPr>
          <p:cNvPr id="26" name="Shape 24"/>
          <p:cNvSpPr/>
          <p:nvPr/>
        </p:nvSpPr>
        <p:spPr>
          <a:xfrm>
            <a:off x="10966450" y="37719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133410" y="57805"/>
                </a:moveTo>
                <a:lnTo>
                  <a:pt x="133410" y="87332"/>
                </a:lnTo>
                <a:lnTo>
                  <a:pt x="133707" y="87630"/>
                </a:lnTo>
                <a:cubicBezTo>
                  <a:pt x="137577" y="38576"/>
                  <a:pt x="178594" y="0"/>
                  <a:pt x="228660" y="0"/>
                </a:cubicBezTo>
                <a:cubicBezTo>
                  <a:pt x="240625" y="0"/>
                  <a:pt x="252115" y="2203"/>
                  <a:pt x="262652" y="6251"/>
                </a:cubicBezTo>
                <a:cubicBezTo>
                  <a:pt x="268605" y="8513"/>
                  <a:pt x="269677" y="16073"/>
                  <a:pt x="265212" y="20598"/>
                </a:cubicBezTo>
                <a:lnTo>
                  <a:pt x="212408" y="73402"/>
                </a:lnTo>
                <a:cubicBezTo>
                  <a:pt x="210622" y="75188"/>
                  <a:pt x="209610" y="77629"/>
                  <a:pt x="209610" y="80129"/>
                </a:cubicBezTo>
                <a:lnTo>
                  <a:pt x="209610" y="104775"/>
                </a:lnTo>
                <a:cubicBezTo>
                  <a:pt x="209610" y="110014"/>
                  <a:pt x="213896" y="114300"/>
                  <a:pt x="219135" y="114300"/>
                </a:cubicBezTo>
                <a:lnTo>
                  <a:pt x="243780" y="114300"/>
                </a:lnTo>
                <a:cubicBezTo>
                  <a:pt x="246281" y="114300"/>
                  <a:pt x="248722" y="113288"/>
                  <a:pt x="250508" y="111502"/>
                </a:cubicBezTo>
                <a:lnTo>
                  <a:pt x="303312" y="58698"/>
                </a:lnTo>
                <a:cubicBezTo>
                  <a:pt x="307836" y="54173"/>
                  <a:pt x="315397" y="55305"/>
                  <a:pt x="317659" y="61258"/>
                </a:cubicBezTo>
                <a:cubicBezTo>
                  <a:pt x="321707" y="71795"/>
                  <a:pt x="323910" y="83284"/>
                  <a:pt x="323910" y="95250"/>
                </a:cubicBezTo>
                <a:cubicBezTo>
                  <a:pt x="323910" y="131326"/>
                  <a:pt x="303848" y="162758"/>
                  <a:pt x="274201" y="178891"/>
                </a:cubicBezTo>
                <a:lnTo>
                  <a:pt x="322719" y="227409"/>
                </a:lnTo>
                <a:cubicBezTo>
                  <a:pt x="333851" y="238542"/>
                  <a:pt x="333851" y="256639"/>
                  <a:pt x="322719" y="267831"/>
                </a:cubicBezTo>
                <a:lnTo>
                  <a:pt x="286941" y="303609"/>
                </a:lnTo>
                <a:cubicBezTo>
                  <a:pt x="275808" y="314742"/>
                  <a:pt x="257711" y="314742"/>
                  <a:pt x="246519" y="303609"/>
                </a:cubicBezTo>
                <a:lnTo>
                  <a:pt x="171510" y="228600"/>
                </a:lnTo>
                <a:cubicBezTo>
                  <a:pt x="155198" y="212288"/>
                  <a:pt x="151507" y="188178"/>
                  <a:pt x="160496" y="168295"/>
                </a:cubicBezTo>
                <a:lnTo>
                  <a:pt x="106501" y="114300"/>
                </a:lnTo>
                <a:lnTo>
                  <a:pt x="76974" y="114300"/>
                </a:lnTo>
                <a:cubicBezTo>
                  <a:pt x="70604" y="114300"/>
                  <a:pt x="64651" y="111145"/>
                  <a:pt x="61139" y="105847"/>
                </a:cubicBezTo>
                <a:lnTo>
                  <a:pt x="13930" y="35064"/>
                </a:lnTo>
                <a:cubicBezTo>
                  <a:pt x="11430" y="31313"/>
                  <a:pt x="11906" y="26253"/>
                  <a:pt x="15121" y="23039"/>
                </a:cubicBezTo>
                <a:lnTo>
                  <a:pt x="42148" y="-3989"/>
                </a:lnTo>
                <a:cubicBezTo>
                  <a:pt x="45363" y="-7203"/>
                  <a:pt x="50363" y="-7680"/>
                  <a:pt x="54173" y="-5179"/>
                </a:cubicBezTo>
                <a:lnTo>
                  <a:pt x="124956" y="41970"/>
                </a:lnTo>
                <a:cubicBezTo>
                  <a:pt x="130254" y="45482"/>
                  <a:pt x="133410" y="51435"/>
                  <a:pt x="133410" y="57805"/>
                </a:cubicBezTo>
                <a:close/>
                <a:moveTo>
                  <a:pt x="128349" y="176570"/>
                </a:moveTo>
                <a:cubicBezTo>
                  <a:pt x="124599" y="198596"/>
                  <a:pt x="129778" y="221873"/>
                  <a:pt x="144066" y="240506"/>
                </a:cubicBezTo>
                <a:lnTo>
                  <a:pt x="87511" y="297001"/>
                </a:lnTo>
                <a:cubicBezTo>
                  <a:pt x="70783" y="313730"/>
                  <a:pt x="43636" y="313730"/>
                  <a:pt x="26908" y="297001"/>
                </a:cubicBezTo>
                <a:cubicBezTo>
                  <a:pt x="10180" y="280273"/>
                  <a:pt x="10180" y="253127"/>
                  <a:pt x="26908" y="236399"/>
                </a:cubicBezTo>
                <a:lnTo>
                  <a:pt x="107513" y="155793"/>
                </a:lnTo>
                <a:lnTo>
                  <a:pt x="128349" y="176629"/>
                </a:ln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27" name="Text 25"/>
          <p:cNvSpPr/>
          <p:nvPr/>
        </p:nvSpPr>
        <p:spPr>
          <a:xfrm>
            <a:off x="11404600" y="37465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Pictures Are Not Decoration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985500" y="4152900"/>
            <a:ext cx="4318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They serve as cognitive tools for mental model construction. Every image should have a clear informational function.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62000" y="5969000"/>
            <a:ext cx="147320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A5F6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Central Message: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The ITPC model teaches us that effective multimedia design is not about adding pictures to text — it's about creating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complementary representational systems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that leverage the unique strengths of each modality.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62000" y="6985000"/>
            <a:ext cx="762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Source: Schnotz (2014); Schnotz &amp; Bannert (2003)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4986000" y="8636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22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swua77wo7otzg/mnt/agents/output/multimedia_production_w3/images/1_Abstract_Teal_Neural_Network_Connection.png">    </p:cNvPr>
          <p:cNvPicPr>
            <a:picLocks noChangeAspect="1"/>
          </p:cNvPicPr>
          <p:nvPr/>
        </p:nvPicPr>
        <p:blipFill>
          <a:blip r:embed="rId1"/>
          <a:srcRect l="111" r="111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63D47">
                  <a:alpha val="94000"/>
                </a:srgbClr>
              </a:gs>
              <a:gs pos="50000">
                <a:srgbClr val="163D47">
                  <a:alpha val="82000"/>
                </a:srgbClr>
              </a:gs>
              <a:gs pos="100000">
                <a:srgbClr val="163D47">
                  <a:alpha val="50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1524000"/>
            <a:ext cx="5080000" cy="254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0" dirty="0">
                <a:solidFill>
                  <a:srgbClr val="FFFFFF">
                    <a:alpha val="3137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62000" y="3048000"/>
            <a:ext cx="279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300" kern="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THREE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762000" y="3492500"/>
            <a:ext cx="762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7" name="Text 4"/>
          <p:cNvSpPr/>
          <p:nvPr/>
        </p:nvSpPr>
        <p:spPr>
          <a:xfrm>
            <a:off x="762000" y="3746500"/>
            <a:ext cx="9525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6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FOUR-COMPONENT</a:t>
            </a:r>
            <a:endParaRPr lang="en-US" sz="4000" dirty="0"/>
          </a:p>
          <a:p>
            <a:pPr>
              <a:lnSpc>
                <a:spcPct val="130000"/>
              </a:lnSpc>
            </a:pPr>
            <a:r>
              <a:rPr lang="en-US" sz="36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INSTRUCTIONAL DESIGN MODEL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762000" y="5461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blueprint for designing instruction for complex learning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62000" y="8382000"/>
            <a:ext cx="14732000" cy="38100"/>
          </a:xfrm>
          <a:prstGeom prst="rect">
            <a:avLst/>
          </a:prstGeom>
          <a:solidFill>
            <a:srgbClr val="D4943A">
              <a:alpha val="37647"/>
            </a:srgbClr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1A5F6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44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A5F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Complex Learning &amp; Theoretical Foundations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016000"/>
            <a:ext cx="635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333500"/>
            <a:ext cx="71120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1A5F6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Complex learning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involves integrating knowledge, skills, and attitudes to perform real-world tasks holistically. It requires learners to coordinate multiple constituent skills simultaneously.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4C/ID model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(van Merriënboer, 1997; van Merriënboer &amp; Kirschner, 2007) was developed specifically for designing instruction for complex learning — where simplified, fragmented approaches fail.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382000" y="1333500"/>
            <a:ext cx="7112000" cy="1778000"/>
          </a:xfrm>
          <a:prstGeom prst="rect">
            <a:avLst/>
          </a:prstGeom>
          <a:solidFill>
            <a:srgbClr val="1A5F6E"/>
          </a:solidFill>
          <a:ln/>
        </p:spPr>
      </p:sp>
      <p:sp>
        <p:nvSpPr>
          <p:cNvPr id="7" name="Text 5"/>
          <p:cNvSpPr/>
          <p:nvPr/>
        </p:nvSpPr>
        <p:spPr>
          <a:xfrm>
            <a:off x="8636000" y="14605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4C/ID?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36000" y="1816100"/>
            <a:ext cx="660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Traditional ID models simplify learning into isolated fragments. 4C/ID uses whole-task approaches where learners practice complete, authentic tasks from the start — developing integrated expertise.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39116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1A5F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THEORETICAL FOUNDATIONS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62000" y="4318000"/>
            <a:ext cx="2794000" cy="1968500"/>
          </a:xfrm>
          <a:prstGeom prst="rect">
            <a:avLst/>
          </a:prstGeom>
          <a:solidFill>
            <a:srgbClr val="EDEAE5"/>
          </a:solidFill>
          <a:ln/>
        </p:spPr>
      </p:sp>
      <p:sp>
        <p:nvSpPr>
          <p:cNvPr id="11" name="Shape 9"/>
          <p:cNvSpPr/>
          <p:nvPr/>
        </p:nvSpPr>
        <p:spPr>
          <a:xfrm>
            <a:off x="1778000" y="4419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83344" y="38894"/>
                </a:moveTo>
                <a:cubicBezTo>
                  <a:pt x="83344" y="17433"/>
                  <a:pt x="100776" y="0"/>
                  <a:pt x="122238" y="0"/>
                </a:cubicBezTo>
                <a:lnTo>
                  <a:pt x="138906" y="0"/>
                </a:lnTo>
                <a:cubicBezTo>
                  <a:pt x="151199" y="0"/>
                  <a:pt x="161131" y="9932"/>
                  <a:pt x="161131" y="22225"/>
                </a:cubicBezTo>
                <a:lnTo>
                  <a:pt x="161131" y="333375"/>
                </a:lnTo>
                <a:cubicBezTo>
                  <a:pt x="161131" y="345668"/>
                  <a:pt x="151199" y="355600"/>
                  <a:pt x="138906" y="355600"/>
                </a:cubicBezTo>
                <a:lnTo>
                  <a:pt x="116681" y="355600"/>
                </a:lnTo>
                <a:cubicBezTo>
                  <a:pt x="95984" y="355600"/>
                  <a:pt x="78551" y="341432"/>
                  <a:pt x="73620" y="322263"/>
                </a:cubicBezTo>
                <a:cubicBezTo>
                  <a:pt x="73134" y="322263"/>
                  <a:pt x="72717" y="322263"/>
                  <a:pt x="72231" y="322263"/>
                </a:cubicBezTo>
                <a:cubicBezTo>
                  <a:pt x="41533" y="322263"/>
                  <a:pt x="16669" y="297398"/>
                  <a:pt x="16669" y="266700"/>
                </a:cubicBezTo>
                <a:cubicBezTo>
                  <a:pt x="16669" y="254198"/>
                  <a:pt x="20836" y="242669"/>
                  <a:pt x="27781" y="233363"/>
                </a:cubicBezTo>
                <a:cubicBezTo>
                  <a:pt x="14307" y="223222"/>
                  <a:pt x="5556" y="207109"/>
                  <a:pt x="5556" y="188913"/>
                </a:cubicBezTo>
                <a:cubicBezTo>
                  <a:pt x="5556" y="167451"/>
                  <a:pt x="17780" y="148769"/>
                  <a:pt x="35560" y="139531"/>
                </a:cubicBezTo>
                <a:cubicBezTo>
                  <a:pt x="30629" y="131197"/>
                  <a:pt x="27781" y="121474"/>
                  <a:pt x="27781" y="111125"/>
                </a:cubicBezTo>
                <a:cubicBezTo>
                  <a:pt x="27781" y="80427"/>
                  <a:pt x="52645" y="55563"/>
                  <a:pt x="83344" y="55563"/>
                </a:cubicBezTo>
                <a:lnTo>
                  <a:pt x="83344" y="38894"/>
                </a:lnTo>
                <a:close/>
                <a:moveTo>
                  <a:pt x="272256" y="38894"/>
                </a:moveTo>
                <a:lnTo>
                  <a:pt x="272256" y="55563"/>
                </a:lnTo>
                <a:cubicBezTo>
                  <a:pt x="302955" y="55563"/>
                  <a:pt x="327819" y="80427"/>
                  <a:pt x="327819" y="111125"/>
                </a:cubicBezTo>
                <a:cubicBezTo>
                  <a:pt x="327819" y="121543"/>
                  <a:pt x="324971" y="131266"/>
                  <a:pt x="320040" y="139531"/>
                </a:cubicBezTo>
                <a:cubicBezTo>
                  <a:pt x="337889" y="148769"/>
                  <a:pt x="350044" y="167382"/>
                  <a:pt x="350044" y="188913"/>
                </a:cubicBezTo>
                <a:cubicBezTo>
                  <a:pt x="350044" y="207109"/>
                  <a:pt x="341293" y="223222"/>
                  <a:pt x="327819" y="233363"/>
                </a:cubicBezTo>
                <a:cubicBezTo>
                  <a:pt x="334764" y="242669"/>
                  <a:pt x="338931" y="254198"/>
                  <a:pt x="338931" y="266700"/>
                </a:cubicBezTo>
                <a:cubicBezTo>
                  <a:pt x="338931" y="297398"/>
                  <a:pt x="314067" y="322263"/>
                  <a:pt x="283369" y="322263"/>
                </a:cubicBezTo>
                <a:cubicBezTo>
                  <a:pt x="282883" y="322263"/>
                  <a:pt x="282466" y="322263"/>
                  <a:pt x="281980" y="322263"/>
                </a:cubicBezTo>
                <a:cubicBezTo>
                  <a:pt x="277049" y="341432"/>
                  <a:pt x="259616" y="355600"/>
                  <a:pt x="238919" y="355600"/>
                </a:cubicBezTo>
                <a:lnTo>
                  <a:pt x="216694" y="355600"/>
                </a:lnTo>
                <a:cubicBezTo>
                  <a:pt x="204401" y="355600"/>
                  <a:pt x="194469" y="345668"/>
                  <a:pt x="194469" y="333375"/>
                </a:cubicBezTo>
                <a:lnTo>
                  <a:pt x="194469" y="22225"/>
                </a:lnTo>
                <a:cubicBezTo>
                  <a:pt x="194469" y="9932"/>
                  <a:pt x="204401" y="0"/>
                  <a:pt x="216694" y="0"/>
                </a:cubicBezTo>
                <a:lnTo>
                  <a:pt x="233363" y="0"/>
                </a:lnTo>
                <a:cubicBezTo>
                  <a:pt x="254824" y="0"/>
                  <a:pt x="272256" y="17433"/>
                  <a:pt x="272256" y="38894"/>
                </a:cubicBezTo>
                <a:close/>
              </a:path>
            </a:pathLst>
          </a:custGeom>
          <a:solidFill>
            <a:srgbClr val="1A5F6E"/>
          </a:solidFill>
          <a:ln/>
        </p:spPr>
      </p:sp>
      <p:sp>
        <p:nvSpPr>
          <p:cNvPr id="12" name="Text 10"/>
          <p:cNvSpPr/>
          <p:nvPr/>
        </p:nvSpPr>
        <p:spPr>
          <a:xfrm>
            <a:off x="889000" y="45466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1400" b="1" dirty="0">
                <a:solidFill>
                  <a:srgbClr val="2B2B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Cognitive Load Theory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89000" y="4902200"/>
            <a:ext cx="2540000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Managing limited working memory capacity during complex skill acquisition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873500" y="4318000"/>
            <a:ext cx="2794000" cy="1968500"/>
          </a:xfrm>
          <a:prstGeom prst="rect">
            <a:avLst/>
          </a:prstGeom>
          <a:solidFill>
            <a:srgbClr val="EDEAE5"/>
          </a:solidFill>
          <a:ln/>
        </p:spPr>
      </p:sp>
      <p:sp>
        <p:nvSpPr>
          <p:cNvPr id="15" name="Shape 13"/>
          <p:cNvSpPr/>
          <p:nvPr/>
        </p:nvSpPr>
        <p:spPr>
          <a:xfrm>
            <a:off x="4889500" y="4419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33350" y="44450"/>
                </a:moveTo>
                <a:cubicBezTo>
                  <a:pt x="133350" y="32157"/>
                  <a:pt x="143282" y="22225"/>
                  <a:pt x="155575" y="22225"/>
                </a:cubicBezTo>
                <a:lnTo>
                  <a:pt x="200025" y="22225"/>
                </a:lnTo>
                <a:cubicBezTo>
                  <a:pt x="212318" y="22225"/>
                  <a:pt x="222250" y="32157"/>
                  <a:pt x="222250" y="44450"/>
                </a:cubicBezTo>
                <a:lnTo>
                  <a:pt x="222250" y="88900"/>
                </a:lnTo>
                <a:cubicBezTo>
                  <a:pt x="222250" y="101193"/>
                  <a:pt x="212318" y="111125"/>
                  <a:pt x="200025" y="111125"/>
                </a:cubicBezTo>
                <a:lnTo>
                  <a:pt x="194469" y="111125"/>
                </a:lnTo>
                <a:lnTo>
                  <a:pt x="194469" y="155575"/>
                </a:lnTo>
                <a:lnTo>
                  <a:pt x="277813" y="155575"/>
                </a:lnTo>
                <a:cubicBezTo>
                  <a:pt x="305455" y="155575"/>
                  <a:pt x="327819" y="177939"/>
                  <a:pt x="327819" y="205581"/>
                </a:cubicBezTo>
                <a:lnTo>
                  <a:pt x="327819" y="244475"/>
                </a:lnTo>
                <a:lnTo>
                  <a:pt x="333375" y="244475"/>
                </a:lnTo>
                <a:cubicBezTo>
                  <a:pt x="345668" y="244475"/>
                  <a:pt x="355600" y="254407"/>
                  <a:pt x="355600" y="266700"/>
                </a:cubicBezTo>
                <a:lnTo>
                  <a:pt x="355600" y="311150"/>
                </a:lnTo>
                <a:cubicBezTo>
                  <a:pt x="355600" y="323443"/>
                  <a:pt x="345668" y="333375"/>
                  <a:pt x="333375" y="333375"/>
                </a:cubicBezTo>
                <a:lnTo>
                  <a:pt x="288925" y="333375"/>
                </a:lnTo>
                <a:cubicBezTo>
                  <a:pt x="276632" y="333375"/>
                  <a:pt x="266700" y="323443"/>
                  <a:pt x="266700" y="311150"/>
                </a:cubicBezTo>
                <a:lnTo>
                  <a:pt x="266700" y="266700"/>
                </a:lnTo>
                <a:cubicBezTo>
                  <a:pt x="266700" y="254407"/>
                  <a:pt x="276632" y="244475"/>
                  <a:pt x="288925" y="244475"/>
                </a:cubicBezTo>
                <a:lnTo>
                  <a:pt x="294481" y="244475"/>
                </a:lnTo>
                <a:lnTo>
                  <a:pt x="294481" y="205581"/>
                </a:lnTo>
                <a:cubicBezTo>
                  <a:pt x="294481" y="196344"/>
                  <a:pt x="287050" y="188913"/>
                  <a:pt x="277813" y="188913"/>
                </a:cubicBezTo>
                <a:lnTo>
                  <a:pt x="194469" y="188913"/>
                </a:lnTo>
                <a:lnTo>
                  <a:pt x="194469" y="244475"/>
                </a:lnTo>
                <a:lnTo>
                  <a:pt x="200025" y="244475"/>
                </a:lnTo>
                <a:cubicBezTo>
                  <a:pt x="212318" y="244475"/>
                  <a:pt x="222250" y="254407"/>
                  <a:pt x="222250" y="266700"/>
                </a:cubicBezTo>
                <a:lnTo>
                  <a:pt x="222250" y="311150"/>
                </a:lnTo>
                <a:cubicBezTo>
                  <a:pt x="222250" y="323443"/>
                  <a:pt x="212318" y="333375"/>
                  <a:pt x="200025" y="333375"/>
                </a:cubicBezTo>
                <a:lnTo>
                  <a:pt x="155575" y="333375"/>
                </a:lnTo>
                <a:cubicBezTo>
                  <a:pt x="143282" y="333375"/>
                  <a:pt x="133350" y="323443"/>
                  <a:pt x="133350" y="311150"/>
                </a:cubicBezTo>
                <a:lnTo>
                  <a:pt x="133350" y="266700"/>
                </a:lnTo>
                <a:cubicBezTo>
                  <a:pt x="133350" y="254407"/>
                  <a:pt x="143282" y="244475"/>
                  <a:pt x="155575" y="244475"/>
                </a:cubicBezTo>
                <a:lnTo>
                  <a:pt x="161131" y="244475"/>
                </a:lnTo>
                <a:lnTo>
                  <a:pt x="161131" y="188913"/>
                </a:lnTo>
                <a:lnTo>
                  <a:pt x="77788" y="188913"/>
                </a:lnTo>
                <a:cubicBezTo>
                  <a:pt x="68550" y="188913"/>
                  <a:pt x="61119" y="196344"/>
                  <a:pt x="61119" y="205581"/>
                </a:cubicBezTo>
                <a:lnTo>
                  <a:pt x="61119" y="244475"/>
                </a:lnTo>
                <a:lnTo>
                  <a:pt x="66675" y="244475"/>
                </a:lnTo>
                <a:cubicBezTo>
                  <a:pt x="78968" y="244475"/>
                  <a:pt x="88900" y="254407"/>
                  <a:pt x="88900" y="266700"/>
                </a:cubicBezTo>
                <a:lnTo>
                  <a:pt x="88900" y="311150"/>
                </a:lnTo>
                <a:cubicBezTo>
                  <a:pt x="88900" y="323443"/>
                  <a:pt x="78968" y="333375"/>
                  <a:pt x="66675" y="333375"/>
                </a:cubicBezTo>
                <a:lnTo>
                  <a:pt x="22225" y="333375"/>
                </a:lnTo>
                <a:cubicBezTo>
                  <a:pt x="9932" y="333375"/>
                  <a:pt x="0" y="323443"/>
                  <a:pt x="0" y="311150"/>
                </a:cubicBezTo>
                <a:lnTo>
                  <a:pt x="0" y="266700"/>
                </a:lnTo>
                <a:cubicBezTo>
                  <a:pt x="0" y="254407"/>
                  <a:pt x="9932" y="244475"/>
                  <a:pt x="22225" y="244475"/>
                </a:cubicBezTo>
                <a:lnTo>
                  <a:pt x="27781" y="244475"/>
                </a:lnTo>
                <a:lnTo>
                  <a:pt x="27781" y="205581"/>
                </a:lnTo>
                <a:cubicBezTo>
                  <a:pt x="27781" y="177939"/>
                  <a:pt x="50145" y="155575"/>
                  <a:pt x="77788" y="155575"/>
                </a:cubicBezTo>
                <a:lnTo>
                  <a:pt x="161131" y="155575"/>
                </a:lnTo>
                <a:lnTo>
                  <a:pt x="161131" y="111125"/>
                </a:lnTo>
                <a:lnTo>
                  <a:pt x="155575" y="111125"/>
                </a:lnTo>
                <a:cubicBezTo>
                  <a:pt x="143282" y="111125"/>
                  <a:pt x="133350" y="101193"/>
                  <a:pt x="133350" y="88900"/>
                </a:cubicBezTo>
                <a:lnTo>
                  <a:pt x="133350" y="44450"/>
                </a:lnTo>
                <a:close/>
              </a:path>
            </a:pathLst>
          </a:custGeom>
          <a:solidFill>
            <a:srgbClr val="1A5F6E"/>
          </a:solidFill>
          <a:ln/>
        </p:spPr>
      </p:sp>
      <p:sp>
        <p:nvSpPr>
          <p:cNvPr id="16" name="Text 14"/>
          <p:cNvSpPr/>
          <p:nvPr/>
        </p:nvSpPr>
        <p:spPr>
          <a:xfrm>
            <a:off x="4000500" y="45466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1400" b="1" dirty="0">
                <a:solidFill>
                  <a:srgbClr val="2B2B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Schema Theory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000500" y="4902200"/>
            <a:ext cx="2540000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Knowledge organized in LTM as schemas that enable expert performance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985000" y="4318000"/>
            <a:ext cx="2794000" cy="1968500"/>
          </a:xfrm>
          <a:prstGeom prst="rect">
            <a:avLst/>
          </a:prstGeom>
          <a:solidFill>
            <a:srgbClr val="EDEAE5"/>
          </a:solidFill>
          <a:ln/>
        </p:spPr>
      </p:sp>
      <p:sp>
        <p:nvSpPr>
          <p:cNvPr id="19" name="Shape 17"/>
          <p:cNvSpPr/>
          <p:nvPr/>
        </p:nvSpPr>
        <p:spPr>
          <a:xfrm>
            <a:off x="8001000" y="4419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90592" y="109666"/>
                </a:moveTo>
                <a:cubicBezTo>
                  <a:pt x="315109" y="103902"/>
                  <a:pt x="333375" y="81885"/>
                  <a:pt x="333375" y="55563"/>
                </a:cubicBezTo>
                <a:cubicBezTo>
                  <a:pt x="333375" y="24864"/>
                  <a:pt x="308511" y="0"/>
                  <a:pt x="277813" y="0"/>
                </a:cubicBezTo>
                <a:cubicBezTo>
                  <a:pt x="247670" y="0"/>
                  <a:pt x="223153" y="23961"/>
                  <a:pt x="222250" y="53826"/>
                </a:cubicBezTo>
                <a:lnTo>
                  <a:pt x="94595" y="104944"/>
                </a:lnTo>
                <a:cubicBezTo>
                  <a:pt x="84524" y="95012"/>
                  <a:pt x="70773" y="88900"/>
                  <a:pt x="55563" y="88900"/>
                </a:cubicBezTo>
                <a:cubicBezTo>
                  <a:pt x="24864" y="88900"/>
                  <a:pt x="0" y="113764"/>
                  <a:pt x="0" y="144463"/>
                </a:cubicBezTo>
                <a:cubicBezTo>
                  <a:pt x="0" y="175161"/>
                  <a:pt x="24864" y="200025"/>
                  <a:pt x="55563" y="200025"/>
                </a:cubicBezTo>
                <a:cubicBezTo>
                  <a:pt x="64036" y="200025"/>
                  <a:pt x="72092" y="198150"/>
                  <a:pt x="79246" y="194747"/>
                </a:cubicBezTo>
                <a:lnTo>
                  <a:pt x="180370" y="283230"/>
                </a:lnTo>
                <a:cubicBezTo>
                  <a:pt x="178703" y="288508"/>
                  <a:pt x="177800" y="294203"/>
                  <a:pt x="177800" y="300038"/>
                </a:cubicBezTo>
                <a:cubicBezTo>
                  <a:pt x="177800" y="330736"/>
                  <a:pt x="202664" y="355600"/>
                  <a:pt x="233363" y="355600"/>
                </a:cubicBezTo>
                <a:cubicBezTo>
                  <a:pt x="264061" y="355600"/>
                  <a:pt x="288925" y="330736"/>
                  <a:pt x="288925" y="300038"/>
                </a:cubicBezTo>
                <a:cubicBezTo>
                  <a:pt x="288925" y="280799"/>
                  <a:pt x="279202" y="263852"/>
                  <a:pt x="264339" y="253921"/>
                </a:cubicBezTo>
                <a:lnTo>
                  <a:pt x="290592" y="109666"/>
                </a:lnTo>
                <a:close/>
                <a:moveTo>
                  <a:pt x="108555" y="161270"/>
                </a:moveTo>
                <a:cubicBezTo>
                  <a:pt x="110083" y="156478"/>
                  <a:pt x="110986" y="151408"/>
                  <a:pt x="111125" y="146199"/>
                </a:cubicBezTo>
                <a:lnTo>
                  <a:pt x="238780" y="95151"/>
                </a:lnTo>
                <a:cubicBezTo>
                  <a:pt x="241280" y="97582"/>
                  <a:pt x="243919" y="99804"/>
                  <a:pt x="246836" y="101749"/>
                </a:cubicBezTo>
                <a:lnTo>
                  <a:pt x="220583" y="245934"/>
                </a:lnTo>
                <a:cubicBezTo>
                  <a:pt x="216763" y="246836"/>
                  <a:pt x="213082" y="248087"/>
                  <a:pt x="209610" y="249753"/>
                </a:cubicBezTo>
                <a:lnTo>
                  <a:pt x="108555" y="161270"/>
                </a:lnTo>
                <a:close/>
              </a:path>
            </a:pathLst>
          </a:custGeom>
          <a:solidFill>
            <a:srgbClr val="1A5F6E"/>
          </a:solidFill>
          <a:ln/>
        </p:spPr>
      </p:sp>
      <p:sp>
        <p:nvSpPr>
          <p:cNvPr id="20" name="Text 18"/>
          <p:cNvSpPr/>
          <p:nvPr/>
        </p:nvSpPr>
        <p:spPr>
          <a:xfrm>
            <a:off x="7112000" y="45466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1400" b="1" dirty="0">
                <a:solidFill>
                  <a:srgbClr val="2B2B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Elaboration Theory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112000" y="4902200"/>
            <a:ext cx="2540000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Starting with simple wholes and progressively elaborating detail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0096500" y="4318000"/>
            <a:ext cx="2794000" cy="1968500"/>
          </a:xfrm>
          <a:prstGeom prst="rect">
            <a:avLst/>
          </a:prstGeom>
          <a:solidFill>
            <a:srgbClr val="EDEAE5"/>
          </a:solidFill>
          <a:ln/>
        </p:spPr>
      </p:sp>
      <p:sp>
        <p:nvSpPr>
          <p:cNvPr id="23" name="Shape 21"/>
          <p:cNvSpPr/>
          <p:nvPr/>
        </p:nvSpPr>
        <p:spPr>
          <a:xfrm>
            <a:off x="11068050" y="4419600"/>
            <a:ext cx="444500" cy="355600"/>
          </a:xfrm>
          <a:custGeom>
            <a:avLst/>
            <a:gdLst/>
            <a:ahLst/>
            <a:cxnLst/>
            <a:rect l="l" t="t" r="r" b="b"/>
            <a:pathLst>
              <a:path w="444500" h="355600">
                <a:moveTo>
                  <a:pt x="288856" y="146199"/>
                </a:moveTo>
                <a:cubicBezTo>
                  <a:pt x="297329" y="143907"/>
                  <a:pt x="306219" y="147935"/>
                  <a:pt x="310039" y="155783"/>
                </a:cubicBezTo>
                <a:lnTo>
                  <a:pt x="322957" y="181898"/>
                </a:lnTo>
                <a:cubicBezTo>
                  <a:pt x="330111" y="182870"/>
                  <a:pt x="337125" y="184815"/>
                  <a:pt x="343724" y="187523"/>
                </a:cubicBezTo>
                <a:lnTo>
                  <a:pt x="368032" y="171341"/>
                </a:lnTo>
                <a:cubicBezTo>
                  <a:pt x="375325" y="166479"/>
                  <a:pt x="384979" y="167451"/>
                  <a:pt x="391160" y="173633"/>
                </a:cubicBezTo>
                <a:lnTo>
                  <a:pt x="404495" y="186968"/>
                </a:lnTo>
                <a:cubicBezTo>
                  <a:pt x="410676" y="193149"/>
                  <a:pt x="411649" y="202873"/>
                  <a:pt x="406787" y="210096"/>
                </a:cubicBezTo>
                <a:lnTo>
                  <a:pt x="390604" y="234335"/>
                </a:lnTo>
                <a:cubicBezTo>
                  <a:pt x="391924" y="237599"/>
                  <a:pt x="393105" y="241002"/>
                  <a:pt x="394077" y="244544"/>
                </a:cubicBezTo>
                <a:cubicBezTo>
                  <a:pt x="395049" y="248087"/>
                  <a:pt x="395674" y="251559"/>
                  <a:pt x="396161" y="255101"/>
                </a:cubicBezTo>
                <a:lnTo>
                  <a:pt x="422344" y="268020"/>
                </a:lnTo>
                <a:cubicBezTo>
                  <a:pt x="430193" y="271909"/>
                  <a:pt x="434221" y="280799"/>
                  <a:pt x="431929" y="289203"/>
                </a:cubicBezTo>
                <a:lnTo>
                  <a:pt x="427067" y="307400"/>
                </a:lnTo>
                <a:cubicBezTo>
                  <a:pt x="424775" y="315803"/>
                  <a:pt x="416927" y="321499"/>
                  <a:pt x="408176" y="320943"/>
                </a:cubicBezTo>
                <a:lnTo>
                  <a:pt x="379006" y="319068"/>
                </a:lnTo>
                <a:cubicBezTo>
                  <a:pt x="374630" y="324693"/>
                  <a:pt x="369560" y="329902"/>
                  <a:pt x="363795" y="334347"/>
                </a:cubicBezTo>
                <a:lnTo>
                  <a:pt x="365671" y="363448"/>
                </a:lnTo>
                <a:cubicBezTo>
                  <a:pt x="366226" y="372199"/>
                  <a:pt x="360531" y="380117"/>
                  <a:pt x="352127" y="382339"/>
                </a:cubicBezTo>
                <a:lnTo>
                  <a:pt x="333931" y="387201"/>
                </a:lnTo>
                <a:cubicBezTo>
                  <a:pt x="325457" y="389493"/>
                  <a:pt x="316637" y="385465"/>
                  <a:pt x="312747" y="377617"/>
                </a:cubicBezTo>
                <a:lnTo>
                  <a:pt x="299829" y="351502"/>
                </a:lnTo>
                <a:cubicBezTo>
                  <a:pt x="292675" y="350530"/>
                  <a:pt x="285661" y="348585"/>
                  <a:pt x="279063" y="345877"/>
                </a:cubicBezTo>
                <a:lnTo>
                  <a:pt x="254754" y="362059"/>
                </a:lnTo>
                <a:cubicBezTo>
                  <a:pt x="247461" y="366921"/>
                  <a:pt x="237808" y="365949"/>
                  <a:pt x="231626" y="359767"/>
                </a:cubicBezTo>
                <a:lnTo>
                  <a:pt x="218291" y="346432"/>
                </a:lnTo>
                <a:cubicBezTo>
                  <a:pt x="212110" y="340251"/>
                  <a:pt x="211138" y="330597"/>
                  <a:pt x="215999" y="323304"/>
                </a:cubicBezTo>
                <a:lnTo>
                  <a:pt x="232182" y="298996"/>
                </a:lnTo>
                <a:cubicBezTo>
                  <a:pt x="230862" y="295731"/>
                  <a:pt x="229681" y="292328"/>
                  <a:pt x="228709" y="288786"/>
                </a:cubicBezTo>
                <a:cubicBezTo>
                  <a:pt x="227737" y="285244"/>
                  <a:pt x="227112" y="281702"/>
                  <a:pt x="226626" y="278229"/>
                </a:cubicBezTo>
                <a:lnTo>
                  <a:pt x="200442" y="265311"/>
                </a:lnTo>
                <a:cubicBezTo>
                  <a:pt x="192594" y="261422"/>
                  <a:pt x="188635" y="252532"/>
                  <a:pt x="190857" y="244128"/>
                </a:cubicBezTo>
                <a:lnTo>
                  <a:pt x="195719" y="225931"/>
                </a:lnTo>
                <a:cubicBezTo>
                  <a:pt x="198011" y="217527"/>
                  <a:pt x="205859" y="211832"/>
                  <a:pt x="214610" y="212388"/>
                </a:cubicBezTo>
                <a:lnTo>
                  <a:pt x="243711" y="214263"/>
                </a:lnTo>
                <a:cubicBezTo>
                  <a:pt x="248087" y="208637"/>
                  <a:pt x="253157" y="203428"/>
                  <a:pt x="258921" y="198983"/>
                </a:cubicBezTo>
                <a:lnTo>
                  <a:pt x="257046" y="169952"/>
                </a:lnTo>
                <a:cubicBezTo>
                  <a:pt x="256490" y="161201"/>
                  <a:pt x="262186" y="153283"/>
                  <a:pt x="270589" y="151061"/>
                </a:cubicBezTo>
                <a:lnTo>
                  <a:pt x="288786" y="146199"/>
                </a:lnTo>
                <a:close/>
                <a:moveTo>
                  <a:pt x="311428" y="236141"/>
                </a:moveTo>
                <a:cubicBezTo>
                  <a:pt x="294562" y="236160"/>
                  <a:pt x="280884" y="249869"/>
                  <a:pt x="280903" y="266735"/>
                </a:cubicBezTo>
                <a:cubicBezTo>
                  <a:pt x="280922" y="283601"/>
                  <a:pt x="294631" y="297279"/>
                  <a:pt x="311497" y="297259"/>
                </a:cubicBezTo>
                <a:cubicBezTo>
                  <a:pt x="328363" y="297240"/>
                  <a:pt x="342041" y="283531"/>
                  <a:pt x="342022" y="266665"/>
                </a:cubicBezTo>
                <a:cubicBezTo>
                  <a:pt x="342003" y="249799"/>
                  <a:pt x="328294" y="236121"/>
                  <a:pt x="311428" y="236141"/>
                </a:cubicBezTo>
                <a:close/>
                <a:moveTo>
                  <a:pt x="156200" y="-31601"/>
                </a:moveTo>
                <a:lnTo>
                  <a:pt x="174397" y="-26739"/>
                </a:lnTo>
                <a:cubicBezTo>
                  <a:pt x="182801" y="-24448"/>
                  <a:pt x="188496" y="-16530"/>
                  <a:pt x="187940" y="-7848"/>
                </a:cubicBezTo>
                <a:lnTo>
                  <a:pt x="186065" y="21183"/>
                </a:lnTo>
                <a:cubicBezTo>
                  <a:pt x="191830" y="25628"/>
                  <a:pt x="196900" y="30768"/>
                  <a:pt x="201275" y="36463"/>
                </a:cubicBezTo>
                <a:lnTo>
                  <a:pt x="230445" y="34588"/>
                </a:lnTo>
                <a:cubicBezTo>
                  <a:pt x="239127" y="34032"/>
                  <a:pt x="247045" y="39727"/>
                  <a:pt x="249337" y="48131"/>
                </a:cubicBezTo>
                <a:lnTo>
                  <a:pt x="254198" y="66328"/>
                </a:lnTo>
                <a:cubicBezTo>
                  <a:pt x="256421" y="74732"/>
                  <a:pt x="252462" y="83622"/>
                  <a:pt x="244614" y="87511"/>
                </a:cubicBezTo>
                <a:lnTo>
                  <a:pt x="218430" y="100429"/>
                </a:lnTo>
                <a:cubicBezTo>
                  <a:pt x="217944" y="103971"/>
                  <a:pt x="217249" y="107513"/>
                  <a:pt x="216346" y="110986"/>
                </a:cubicBezTo>
                <a:cubicBezTo>
                  <a:pt x="215444" y="114459"/>
                  <a:pt x="214193" y="117931"/>
                  <a:pt x="212874" y="121196"/>
                </a:cubicBezTo>
                <a:lnTo>
                  <a:pt x="229056" y="145504"/>
                </a:lnTo>
                <a:cubicBezTo>
                  <a:pt x="233918" y="152797"/>
                  <a:pt x="232946" y="162451"/>
                  <a:pt x="226764" y="168632"/>
                </a:cubicBezTo>
                <a:lnTo>
                  <a:pt x="213429" y="181967"/>
                </a:lnTo>
                <a:cubicBezTo>
                  <a:pt x="207248" y="188149"/>
                  <a:pt x="197594" y="189121"/>
                  <a:pt x="190302" y="184259"/>
                </a:cubicBezTo>
                <a:lnTo>
                  <a:pt x="165993" y="168077"/>
                </a:lnTo>
                <a:cubicBezTo>
                  <a:pt x="159395" y="170785"/>
                  <a:pt x="152380" y="172730"/>
                  <a:pt x="145226" y="173702"/>
                </a:cubicBezTo>
                <a:lnTo>
                  <a:pt x="132308" y="199817"/>
                </a:lnTo>
                <a:cubicBezTo>
                  <a:pt x="128419" y="207665"/>
                  <a:pt x="119529" y="211624"/>
                  <a:pt x="111125" y="209401"/>
                </a:cubicBezTo>
                <a:lnTo>
                  <a:pt x="92928" y="204539"/>
                </a:lnTo>
                <a:cubicBezTo>
                  <a:pt x="84455" y="202248"/>
                  <a:pt x="78829" y="194330"/>
                  <a:pt x="79385" y="185648"/>
                </a:cubicBezTo>
                <a:lnTo>
                  <a:pt x="81260" y="156547"/>
                </a:lnTo>
                <a:cubicBezTo>
                  <a:pt x="75496" y="152102"/>
                  <a:pt x="70425" y="146963"/>
                  <a:pt x="66050" y="141268"/>
                </a:cubicBezTo>
                <a:lnTo>
                  <a:pt x="36880" y="143143"/>
                </a:lnTo>
                <a:cubicBezTo>
                  <a:pt x="28198" y="143699"/>
                  <a:pt x="20280" y="138003"/>
                  <a:pt x="17988" y="129600"/>
                </a:cubicBezTo>
                <a:lnTo>
                  <a:pt x="13127" y="111403"/>
                </a:lnTo>
                <a:cubicBezTo>
                  <a:pt x="10904" y="102999"/>
                  <a:pt x="14863" y="94109"/>
                  <a:pt x="22711" y="90220"/>
                </a:cubicBezTo>
                <a:lnTo>
                  <a:pt x="48895" y="77301"/>
                </a:lnTo>
                <a:cubicBezTo>
                  <a:pt x="49381" y="73759"/>
                  <a:pt x="50076" y="70287"/>
                  <a:pt x="50979" y="66744"/>
                </a:cubicBezTo>
                <a:cubicBezTo>
                  <a:pt x="51951" y="63202"/>
                  <a:pt x="53062" y="59799"/>
                  <a:pt x="54451" y="56535"/>
                </a:cubicBezTo>
                <a:lnTo>
                  <a:pt x="38269" y="32296"/>
                </a:lnTo>
                <a:cubicBezTo>
                  <a:pt x="33407" y="25003"/>
                  <a:pt x="34379" y="15349"/>
                  <a:pt x="40561" y="9168"/>
                </a:cubicBezTo>
                <a:lnTo>
                  <a:pt x="53896" y="-4167"/>
                </a:lnTo>
                <a:cubicBezTo>
                  <a:pt x="60077" y="-10349"/>
                  <a:pt x="69731" y="-11321"/>
                  <a:pt x="77024" y="-6459"/>
                </a:cubicBezTo>
                <a:lnTo>
                  <a:pt x="101332" y="9723"/>
                </a:lnTo>
                <a:cubicBezTo>
                  <a:pt x="107930" y="7015"/>
                  <a:pt x="114945" y="5070"/>
                  <a:pt x="122099" y="4098"/>
                </a:cubicBezTo>
                <a:lnTo>
                  <a:pt x="135017" y="-22017"/>
                </a:lnTo>
                <a:cubicBezTo>
                  <a:pt x="138906" y="-29865"/>
                  <a:pt x="147727" y="-33824"/>
                  <a:pt x="156200" y="-31601"/>
                </a:cubicBezTo>
                <a:close/>
                <a:moveTo>
                  <a:pt x="133628" y="58341"/>
                </a:moveTo>
                <a:cubicBezTo>
                  <a:pt x="116762" y="58341"/>
                  <a:pt x="103068" y="72034"/>
                  <a:pt x="103068" y="88900"/>
                </a:cubicBezTo>
                <a:cubicBezTo>
                  <a:pt x="103068" y="105766"/>
                  <a:pt x="116762" y="119459"/>
                  <a:pt x="133628" y="119459"/>
                </a:cubicBezTo>
                <a:cubicBezTo>
                  <a:pt x="150494" y="119459"/>
                  <a:pt x="164187" y="105766"/>
                  <a:pt x="164187" y="88900"/>
                </a:cubicBezTo>
                <a:cubicBezTo>
                  <a:pt x="164187" y="72034"/>
                  <a:pt x="150494" y="58341"/>
                  <a:pt x="133628" y="58341"/>
                </a:cubicBezTo>
                <a:close/>
              </a:path>
            </a:pathLst>
          </a:custGeom>
          <a:solidFill>
            <a:srgbClr val="1A5F6E"/>
          </a:solidFill>
          <a:ln/>
        </p:spPr>
      </p:sp>
      <p:sp>
        <p:nvSpPr>
          <p:cNvPr id="24" name="Text 22"/>
          <p:cNvSpPr/>
          <p:nvPr/>
        </p:nvSpPr>
        <p:spPr>
          <a:xfrm>
            <a:off x="10223500" y="45466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1400" b="1" dirty="0">
                <a:solidFill>
                  <a:srgbClr val="2B2B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ACT-R Theory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0223500" y="4902200"/>
            <a:ext cx="2540000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Skill acquisition through declarative to procedural knowledge transition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3208000" y="4318000"/>
            <a:ext cx="2286000" cy="1968500"/>
          </a:xfrm>
          <a:prstGeom prst="rect">
            <a:avLst/>
          </a:prstGeom>
          <a:solidFill>
            <a:srgbClr val="EDEAE5"/>
          </a:solidFill>
          <a:ln/>
        </p:spPr>
      </p:sp>
      <p:sp>
        <p:nvSpPr>
          <p:cNvPr id="27" name="Shape 25"/>
          <p:cNvSpPr/>
          <p:nvPr/>
        </p:nvSpPr>
        <p:spPr>
          <a:xfrm>
            <a:off x="13970000" y="4419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44450" y="44450"/>
                </a:moveTo>
                <a:cubicBezTo>
                  <a:pt x="44450" y="32157"/>
                  <a:pt x="34518" y="22225"/>
                  <a:pt x="22225" y="22225"/>
                </a:cubicBezTo>
                <a:cubicBezTo>
                  <a:pt x="9932" y="22225"/>
                  <a:pt x="0" y="32157"/>
                  <a:pt x="0" y="44450"/>
                </a:cubicBezTo>
                <a:lnTo>
                  <a:pt x="0" y="277813"/>
                </a:lnTo>
                <a:cubicBezTo>
                  <a:pt x="0" y="308511"/>
                  <a:pt x="24864" y="333375"/>
                  <a:pt x="55563" y="333375"/>
                </a:cubicBezTo>
                <a:lnTo>
                  <a:pt x="333375" y="333375"/>
                </a:lnTo>
                <a:cubicBezTo>
                  <a:pt x="345668" y="333375"/>
                  <a:pt x="355600" y="323443"/>
                  <a:pt x="355600" y="311150"/>
                </a:cubicBezTo>
                <a:cubicBezTo>
                  <a:pt x="355600" y="298857"/>
                  <a:pt x="345668" y="288925"/>
                  <a:pt x="333375" y="288925"/>
                </a:cubicBezTo>
                <a:lnTo>
                  <a:pt x="55563" y="288925"/>
                </a:lnTo>
                <a:cubicBezTo>
                  <a:pt x="49451" y="288925"/>
                  <a:pt x="44450" y="283924"/>
                  <a:pt x="44450" y="277813"/>
                </a:cubicBezTo>
                <a:lnTo>
                  <a:pt x="44450" y="44450"/>
                </a:lnTo>
                <a:close/>
                <a:moveTo>
                  <a:pt x="326846" y="104596"/>
                </a:moveTo>
                <a:cubicBezTo>
                  <a:pt x="335528" y="95915"/>
                  <a:pt x="335528" y="81816"/>
                  <a:pt x="326846" y="73134"/>
                </a:cubicBezTo>
                <a:cubicBezTo>
                  <a:pt x="318165" y="64453"/>
                  <a:pt x="304066" y="64453"/>
                  <a:pt x="295384" y="73134"/>
                </a:cubicBezTo>
                <a:lnTo>
                  <a:pt x="222250" y="146338"/>
                </a:lnTo>
                <a:lnTo>
                  <a:pt x="182384" y="106541"/>
                </a:lnTo>
                <a:cubicBezTo>
                  <a:pt x="173702" y="97859"/>
                  <a:pt x="159603" y="97859"/>
                  <a:pt x="150922" y="106541"/>
                </a:cubicBezTo>
                <a:lnTo>
                  <a:pt x="84247" y="173216"/>
                </a:lnTo>
                <a:cubicBezTo>
                  <a:pt x="75565" y="181898"/>
                  <a:pt x="75565" y="195997"/>
                  <a:pt x="84247" y="204678"/>
                </a:cubicBezTo>
                <a:cubicBezTo>
                  <a:pt x="92928" y="213360"/>
                  <a:pt x="107027" y="213360"/>
                  <a:pt x="115709" y="204678"/>
                </a:cubicBezTo>
                <a:lnTo>
                  <a:pt x="166688" y="153700"/>
                </a:lnTo>
                <a:lnTo>
                  <a:pt x="206554" y="193566"/>
                </a:lnTo>
                <a:cubicBezTo>
                  <a:pt x="215235" y="202248"/>
                  <a:pt x="229334" y="202248"/>
                  <a:pt x="238016" y="193566"/>
                </a:cubicBezTo>
                <a:lnTo>
                  <a:pt x="326916" y="104666"/>
                </a:lnTo>
                <a:close/>
              </a:path>
            </a:pathLst>
          </a:custGeom>
          <a:solidFill>
            <a:srgbClr val="1A5F6E"/>
          </a:solidFill>
          <a:ln/>
        </p:spPr>
      </p:sp>
      <p:sp>
        <p:nvSpPr>
          <p:cNvPr id="28" name="Text 26"/>
          <p:cNvSpPr/>
          <p:nvPr/>
        </p:nvSpPr>
        <p:spPr>
          <a:xfrm>
            <a:off x="13335000" y="4546600"/>
            <a:ext cx="2032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1400" b="1" dirty="0">
                <a:solidFill>
                  <a:srgbClr val="2B2B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Power Law of Practice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13335000" y="4902200"/>
            <a:ext cx="2032000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Performance improves logarithmically with practice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62000" y="6477000"/>
            <a:ext cx="147320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A5F6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4C/ID model integrates these theories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into a practical blueprint for designing instruction that develops professional competencies through whole-task practice, appropriate scaffolding, and targeted skill automation.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62000" y="7366000"/>
            <a:ext cx="762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Source: van Merriënboer (1997); van Merriënboer &amp; Kirschner (2007)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4986000" y="8636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24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1A5F6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44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A5F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Component 1 — Learning Tasks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016000"/>
            <a:ext cx="635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333500"/>
            <a:ext cx="14732000" cy="863600"/>
          </a:xfrm>
          <a:prstGeom prst="rect">
            <a:avLst/>
          </a:prstGeom>
          <a:solidFill>
            <a:srgbClr val="1A5F6E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1422400"/>
            <a:ext cx="14224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Learning tasks</a:t>
            </a:r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are concrete, authentic, whole-task experiences based on real-life professional tasks that develop knowledge, skills, and attitudes in an integrated manner.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24765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1A5F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CHARACTERISTICS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62000" y="2921000"/>
            <a:ext cx="3429000" cy="2159000"/>
          </a:xfrm>
          <a:prstGeom prst="rect">
            <a:avLst/>
          </a:prstGeom>
          <a:solidFill>
            <a:srgbClr val="EDEAE5"/>
          </a:solidFill>
          <a:ln/>
        </p:spPr>
      </p:sp>
      <p:sp>
        <p:nvSpPr>
          <p:cNvPr id="9" name="Shape 7"/>
          <p:cNvSpPr/>
          <p:nvPr/>
        </p:nvSpPr>
        <p:spPr>
          <a:xfrm>
            <a:off x="952500" y="30734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80452" y="23892"/>
                </a:moveTo>
                <a:cubicBezTo>
                  <a:pt x="288786" y="20419"/>
                  <a:pt x="298301" y="22364"/>
                  <a:pt x="304691" y="28684"/>
                </a:cubicBezTo>
                <a:lnTo>
                  <a:pt x="349141" y="73134"/>
                </a:lnTo>
                <a:cubicBezTo>
                  <a:pt x="353308" y="77301"/>
                  <a:pt x="355669" y="82927"/>
                  <a:pt x="355669" y="88831"/>
                </a:cubicBezTo>
                <a:cubicBezTo>
                  <a:pt x="355669" y="94734"/>
                  <a:pt x="353308" y="100360"/>
                  <a:pt x="349141" y="104527"/>
                </a:cubicBezTo>
                <a:lnTo>
                  <a:pt x="304691" y="148977"/>
                </a:lnTo>
                <a:cubicBezTo>
                  <a:pt x="298301" y="155367"/>
                  <a:pt x="288786" y="157242"/>
                  <a:pt x="280452" y="153769"/>
                </a:cubicBezTo>
                <a:cubicBezTo>
                  <a:pt x="272117" y="150297"/>
                  <a:pt x="266700" y="142309"/>
                  <a:pt x="266700" y="133350"/>
                </a:cubicBezTo>
                <a:lnTo>
                  <a:pt x="266700" y="111125"/>
                </a:lnTo>
                <a:lnTo>
                  <a:pt x="244475" y="111125"/>
                </a:lnTo>
                <a:cubicBezTo>
                  <a:pt x="237460" y="111125"/>
                  <a:pt x="230862" y="114389"/>
                  <a:pt x="226695" y="120015"/>
                </a:cubicBezTo>
                <a:lnTo>
                  <a:pt x="204192" y="150019"/>
                </a:lnTo>
                <a:lnTo>
                  <a:pt x="176411" y="113000"/>
                </a:lnTo>
                <a:lnTo>
                  <a:pt x="191135" y="93345"/>
                </a:lnTo>
                <a:cubicBezTo>
                  <a:pt x="203706" y="76537"/>
                  <a:pt x="223500" y="66675"/>
                  <a:pt x="244475" y="66675"/>
                </a:cubicBezTo>
                <a:lnTo>
                  <a:pt x="266700" y="66675"/>
                </a:lnTo>
                <a:lnTo>
                  <a:pt x="266700" y="44450"/>
                </a:lnTo>
                <a:cubicBezTo>
                  <a:pt x="266700" y="35491"/>
                  <a:pt x="272117" y="27365"/>
                  <a:pt x="280452" y="23892"/>
                </a:cubicBezTo>
                <a:close/>
                <a:moveTo>
                  <a:pt x="106958" y="205581"/>
                </a:moveTo>
                <a:lnTo>
                  <a:pt x="134739" y="242600"/>
                </a:lnTo>
                <a:lnTo>
                  <a:pt x="120015" y="262255"/>
                </a:lnTo>
                <a:cubicBezTo>
                  <a:pt x="107444" y="279063"/>
                  <a:pt x="87650" y="288925"/>
                  <a:pt x="66675" y="288925"/>
                </a:cubicBezTo>
                <a:lnTo>
                  <a:pt x="22225" y="288925"/>
                </a:lnTo>
                <a:cubicBezTo>
                  <a:pt x="9932" y="288925"/>
                  <a:pt x="0" y="278993"/>
                  <a:pt x="0" y="266700"/>
                </a:cubicBezTo>
                <a:cubicBezTo>
                  <a:pt x="0" y="254407"/>
                  <a:pt x="9932" y="244475"/>
                  <a:pt x="22225" y="244475"/>
                </a:cubicBezTo>
                <a:lnTo>
                  <a:pt x="66675" y="244475"/>
                </a:lnTo>
                <a:cubicBezTo>
                  <a:pt x="73690" y="244475"/>
                  <a:pt x="80288" y="241211"/>
                  <a:pt x="84455" y="235585"/>
                </a:cubicBezTo>
                <a:lnTo>
                  <a:pt x="106958" y="205581"/>
                </a:lnTo>
                <a:close/>
                <a:moveTo>
                  <a:pt x="304621" y="326846"/>
                </a:moveTo>
                <a:cubicBezTo>
                  <a:pt x="298232" y="333236"/>
                  <a:pt x="288717" y="335111"/>
                  <a:pt x="280382" y="331639"/>
                </a:cubicBezTo>
                <a:cubicBezTo>
                  <a:pt x="272048" y="328166"/>
                  <a:pt x="266700" y="320109"/>
                  <a:pt x="266700" y="311150"/>
                </a:cubicBezTo>
                <a:lnTo>
                  <a:pt x="266700" y="288925"/>
                </a:lnTo>
                <a:lnTo>
                  <a:pt x="244475" y="288925"/>
                </a:lnTo>
                <a:cubicBezTo>
                  <a:pt x="223500" y="288925"/>
                  <a:pt x="203706" y="279063"/>
                  <a:pt x="191135" y="262255"/>
                </a:cubicBezTo>
                <a:lnTo>
                  <a:pt x="84455" y="120015"/>
                </a:lnTo>
                <a:cubicBezTo>
                  <a:pt x="80288" y="114389"/>
                  <a:pt x="73690" y="111125"/>
                  <a:pt x="66675" y="111125"/>
                </a:cubicBezTo>
                <a:lnTo>
                  <a:pt x="22225" y="111125"/>
                </a:lnTo>
                <a:cubicBezTo>
                  <a:pt x="9932" y="111125"/>
                  <a:pt x="0" y="101193"/>
                  <a:pt x="0" y="88900"/>
                </a:cubicBezTo>
                <a:cubicBezTo>
                  <a:pt x="0" y="76607"/>
                  <a:pt x="9932" y="66675"/>
                  <a:pt x="22225" y="66675"/>
                </a:cubicBezTo>
                <a:lnTo>
                  <a:pt x="66675" y="66675"/>
                </a:lnTo>
                <a:cubicBezTo>
                  <a:pt x="87650" y="66675"/>
                  <a:pt x="107444" y="76537"/>
                  <a:pt x="120015" y="93345"/>
                </a:cubicBezTo>
                <a:lnTo>
                  <a:pt x="226695" y="235585"/>
                </a:lnTo>
                <a:cubicBezTo>
                  <a:pt x="230862" y="241211"/>
                  <a:pt x="237460" y="244475"/>
                  <a:pt x="244475" y="244475"/>
                </a:cubicBezTo>
                <a:lnTo>
                  <a:pt x="266700" y="244475"/>
                </a:lnTo>
                <a:lnTo>
                  <a:pt x="266700" y="222250"/>
                </a:lnTo>
                <a:cubicBezTo>
                  <a:pt x="266700" y="213291"/>
                  <a:pt x="272117" y="205165"/>
                  <a:pt x="280452" y="201692"/>
                </a:cubicBezTo>
                <a:cubicBezTo>
                  <a:pt x="288786" y="198219"/>
                  <a:pt x="298301" y="200164"/>
                  <a:pt x="304691" y="206484"/>
                </a:cubicBezTo>
                <a:lnTo>
                  <a:pt x="349141" y="250934"/>
                </a:lnTo>
                <a:cubicBezTo>
                  <a:pt x="353308" y="255101"/>
                  <a:pt x="355669" y="260727"/>
                  <a:pt x="355669" y="266631"/>
                </a:cubicBezTo>
                <a:cubicBezTo>
                  <a:pt x="355669" y="272534"/>
                  <a:pt x="353308" y="278160"/>
                  <a:pt x="349141" y="282327"/>
                </a:cubicBezTo>
                <a:lnTo>
                  <a:pt x="304691" y="326777"/>
                </a:lnTo>
                <a:close/>
              </a:path>
            </a:pathLst>
          </a:custGeom>
          <a:solidFill>
            <a:srgbClr val="1A5F6E"/>
          </a:solidFill>
          <a:ln/>
        </p:spPr>
      </p:sp>
      <p:sp>
        <p:nvSpPr>
          <p:cNvPr id="10" name="Text 8"/>
          <p:cNvSpPr/>
          <p:nvPr/>
        </p:nvSpPr>
        <p:spPr>
          <a:xfrm>
            <a:off x="1397000" y="30480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2B2B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Variability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52500" y="3454400"/>
            <a:ext cx="30480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Tasks differ in context and surface features to promote transfer to new situations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508500" y="2921000"/>
            <a:ext cx="3429000" cy="2159000"/>
          </a:xfrm>
          <a:prstGeom prst="rect">
            <a:avLst/>
          </a:prstGeom>
          <a:solidFill>
            <a:srgbClr val="EDEAE5"/>
          </a:solidFill>
          <a:ln/>
        </p:spPr>
      </p:sp>
      <p:sp>
        <p:nvSpPr>
          <p:cNvPr id="13" name="Shape 11"/>
          <p:cNvSpPr/>
          <p:nvPr/>
        </p:nvSpPr>
        <p:spPr>
          <a:xfrm>
            <a:off x="4699000" y="30734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61479" y="3612"/>
                </a:moveTo>
                <a:cubicBezTo>
                  <a:pt x="171827" y="-1181"/>
                  <a:pt x="183773" y="-1181"/>
                  <a:pt x="194121" y="3612"/>
                </a:cubicBezTo>
                <a:lnTo>
                  <a:pt x="345946" y="73759"/>
                </a:lnTo>
                <a:cubicBezTo>
                  <a:pt x="351850" y="76468"/>
                  <a:pt x="355600" y="82371"/>
                  <a:pt x="355600" y="88900"/>
                </a:cubicBezTo>
                <a:cubicBezTo>
                  <a:pt x="355600" y="95429"/>
                  <a:pt x="351850" y="101332"/>
                  <a:pt x="345946" y="104041"/>
                </a:cubicBezTo>
                <a:lnTo>
                  <a:pt x="194121" y="174188"/>
                </a:lnTo>
                <a:cubicBezTo>
                  <a:pt x="183773" y="178981"/>
                  <a:pt x="171827" y="178981"/>
                  <a:pt x="161479" y="174188"/>
                </a:cubicBezTo>
                <a:lnTo>
                  <a:pt x="9654" y="104041"/>
                </a:lnTo>
                <a:cubicBezTo>
                  <a:pt x="3750" y="101263"/>
                  <a:pt x="0" y="95359"/>
                  <a:pt x="0" y="88900"/>
                </a:cubicBezTo>
                <a:cubicBezTo>
                  <a:pt x="0" y="82441"/>
                  <a:pt x="3750" y="76468"/>
                  <a:pt x="9654" y="73759"/>
                </a:cubicBezTo>
                <a:lnTo>
                  <a:pt x="161479" y="3612"/>
                </a:lnTo>
                <a:close/>
                <a:moveTo>
                  <a:pt x="33407" y="151686"/>
                </a:moveTo>
                <a:lnTo>
                  <a:pt x="147518" y="204401"/>
                </a:lnTo>
                <a:cubicBezTo>
                  <a:pt x="166757" y="213291"/>
                  <a:pt x="188913" y="213291"/>
                  <a:pt x="208151" y="204401"/>
                </a:cubicBezTo>
                <a:lnTo>
                  <a:pt x="322263" y="151686"/>
                </a:lnTo>
                <a:lnTo>
                  <a:pt x="345946" y="162659"/>
                </a:lnTo>
                <a:cubicBezTo>
                  <a:pt x="351850" y="165368"/>
                  <a:pt x="355600" y="171271"/>
                  <a:pt x="355600" y="177800"/>
                </a:cubicBezTo>
                <a:cubicBezTo>
                  <a:pt x="355600" y="184329"/>
                  <a:pt x="351850" y="190232"/>
                  <a:pt x="345946" y="192941"/>
                </a:cubicBezTo>
                <a:lnTo>
                  <a:pt x="194121" y="263088"/>
                </a:lnTo>
                <a:cubicBezTo>
                  <a:pt x="183773" y="267881"/>
                  <a:pt x="171827" y="267881"/>
                  <a:pt x="161479" y="263088"/>
                </a:cubicBezTo>
                <a:lnTo>
                  <a:pt x="9654" y="192941"/>
                </a:lnTo>
                <a:cubicBezTo>
                  <a:pt x="3750" y="190163"/>
                  <a:pt x="0" y="184259"/>
                  <a:pt x="0" y="177800"/>
                </a:cubicBezTo>
                <a:cubicBezTo>
                  <a:pt x="0" y="171341"/>
                  <a:pt x="3750" y="165368"/>
                  <a:pt x="9654" y="162659"/>
                </a:cubicBezTo>
                <a:lnTo>
                  <a:pt x="33337" y="151686"/>
                </a:lnTo>
                <a:close/>
                <a:moveTo>
                  <a:pt x="9654" y="251559"/>
                </a:moveTo>
                <a:lnTo>
                  <a:pt x="33337" y="240586"/>
                </a:lnTo>
                <a:lnTo>
                  <a:pt x="147449" y="293301"/>
                </a:lnTo>
                <a:cubicBezTo>
                  <a:pt x="166688" y="302191"/>
                  <a:pt x="188843" y="302191"/>
                  <a:pt x="208082" y="293301"/>
                </a:cubicBezTo>
                <a:lnTo>
                  <a:pt x="322193" y="240586"/>
                </a:lnTo>
                <a:lnTo>
                  <a:pt x="345877" y="251559"/>
                </a:lnTo>
                <a:cubicBezTo>
                  <a:pt x="351780" y="254268"/>
                  <a:pt x="355531" y="260171"/>
                  <a:pt x="355531" y="266700"/>
                </a:cubicBezTo>
                <a:cubicBezTo>
                  <a:pt x="355531" y="273229"/>
                  <a:pt x="351780" y="279132"/>
                  <a:pt x="345877" y="281841"/>
                </a:cubicBezTo>
                <a:lnTo>
                  <a:pt x="194052" y="351988"/>
                </a:lnTo>
                <a:cubicBezTo>
                  <a:pt x="183704" y="356781"/>
                  <a:pt x="171758" y="356781"/>
                  <a:pt x="161409" y="351988"/>
                </a:cubicBezTo>
                <a:lnTo>
                  <a:pt x="9654" y="281841"/>
                </a:lnTo>
                <a:cubicBezTo>
                  <a:pt x="3750" y="279063"/>
                  <a:pt x="0" y="273159"/>
                  <a:pt x="0" y="266700"/>
                </a:cubicBezTo>
                <a:cubicBezTo>
                  <a:pt x="0" y="260241"/>
                  <a:pt x="3750" y="254268"/>
                  <a:pt x="9654" y="251559"/>
                </a:cubicBezTo>
                <a:close/>
              </a:path>
            </a:pathLst>
          </a:custGeom>
          <a:solidFill>
            <a:srgbClr val="1A5F6E"/>
          </a:solidFill>
          <a:ln/>
        </p:spPr>
      </p:sp>
      <p:sp>
        <p:nvSpPr>
          <p:cNvPr id="14" name="Text 12"/>
          <p:cNvSpPr/>
          <p:nvPr/>
        </p:nvSpPr>
        <p:spPr>
          <a:xfrm>
            <a:off x="5143500" y="30480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2B2B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Task Classes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699000" y="3454400"/>
            <a:ext cx="30480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Groups of tasks at the same complexity level, progressing from simple to complex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255000" y="2921000"/>
            <a:ext cx="3429000" cy="2159000"/>
          </a:xfrm>
          <a:prstGeom prst="rect">
            <a:avLst/>
          </a:prstGeom>
          <a:solidFill>
            <a:srgbClr val="EDEAE5"/>
          </a:solidFill>
          <a:ln/>
        </p:spPr>
      </p:sp>
      <p:sp>
        <p:nvSpPr>
          <p:cNvPr id="17" name="Shape 15"/>
          <p:cNvSpPr/>
          <p:nvPr/>
        </p:nvSpPr>
        <p:spPr>
          <a:xfrm>
            <a:off x="8423275" y="30734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266700" y="44450"/>
                </a:moveTo>
                <a:cubicBezTo>
                  <a:pt x="266700" y="32157"/>
                  <a:pt x="276632" y="22225"/>
                  <a:pt x="288925" y="22225"/>
                </a:cubicBezTo>
                <a:lnTo>
                  <a:pt x="377825" y="22225"/>
                </a:lnTo>
                <a:cubicBezTo>
                  <a:pt x="390118" y="22225"/>
                  <a:pt x="400050" y="32157"/>
                  <a:pt x="400050" y="44450"/>
                </a:cubicBezTo>
                <a:cubicBezTo>
                  <a:pt x="400050" y="56743"/>
                  <a:pt x="390118" y="66675"/>
                  <a:pt x="377825" y="66675"/>
                </a:cubicBezTo>
                <a:lnTo>
                  <a:pt x="311150" y="66675"/>
                </a:lnTo>
                <a:lnTo>
                  <a:pt x="311150" y="133350"/>
                </a:lnTo>
                <a:cubicBezTo>
                  <a:pt x="311150" y="145643"/>
                  <a:pt x="301218" y="155575"/>
                  <a:pt x="288925" y="155575"/>
                </a:cubicBezTo>
                <a:lnTo>
                  <a:pt x="222250" y="155575"/>
                </a:lnTo>
                <a:lnTo>
                  <a:pt x="222250" y="222250"/>
                </a:lnTo>
                <a:cubicBezTo>
                  <a:pt x="222250" y="234543"/>
                  <a:pt x="212318" y="244475"/>
                  <a:pt x="200025" y="244475"/>
                </a:cubicBezTo>
                <a:lnTo>
                  <a:pt x="133350" y="244475"/>
                </a:lnTo>
                <a:lnTo>
                  <a:pt x="133350" y="311150"/>
                </a:lnTo>
                <a:cubicBezTo>
                  <a:pt x="133350" y="323443"/>
                  <a:pt x="123418" y="333375"/>
                  <a:pt x="111125" y="333375"/>
                </a:cubicBezTo>
                <a:lnTo>
                  <a:pt x="22225" y="333375"/>
                </a:lnTo>
                <a:cubicBezTo>
                  <a:pt x="9932" y="333375"/>
                  <a:pt x="0" y="323443"/>
                  <a:pt x="0" y="311150"/>
                </a:cubicBezTo>
                <a:cubicBezTo>
                  <a:pt x="0" y="298857"/>
                  <a:pt x="9932" y="288925"/>
                  <a:pt x="22225" y="288925"/>
                </a:cubicBezTo>
                <a:lnTo>
                  <a:pt x="88900" y="288925"/>
                </a:lnTo>
                <a:lnTo>
                  <a:pt x="88900" y="222250"/>
                </a:lnTo>
                <a:cubicBezTo>
                  <a:pt x="88900" y="209957"/>
                  <a:pt x="98832" y="200025"/>
                  <a:pt x="111125" y="200025"/>
                </a:cubicBezTo>
                <a:lnTo>
                  <a:pt x="177800" y="200025"/>
                </a:lnTo>
                <a:lnTo>
                  <a:pt x="177800" y="133350"/>
                </a:lnTo>
                <a:cubicBezTo>
                  <a:pt x="177800" y="121057"/>
                  <a:pt x="187732" y="111125"/>
                  <a:pt x="200025" y="111125"/>
                </a:cubicBezTo>
                <a:lnTo>
                  <a:pt x="266700" y="111125"/>
                </a:lnTo>
                <a:lnTo>
                  <a:pt x="266700" y="44450"/>
                </a:lnTo>
                <a:close/>
              </a:path>
            </a:pathLst>
          </a:custGeom>
          <a:solidFill>
            <a:srgbClr val="1A5F6E"/>
          </a:solidFill>
          <a:ln/>
        </p:spPr>
      </p:sp>
      <p:sp>
        <p:nvSpPr>
          <p:cNvPr id="18" name="Text 16"/>
          <p:cNvSpPr/>
          <p:nvPr/>
        </p:nvSpPr>
        <p:spPr>
          <a:xfrm>
            <a:off x="8890000" y="30480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2B2B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Scaffolding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445500" y="3454400"/>
            <a:ext cx="30480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High support for early tasks, gradually faded: worked examples → completion → conventional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2001500" y="2921000"/>
            <a:ext cx="3492500" cy="2159000"/>
          </a:xfrm>
          <a:prstGeom prst="rect">
            <a:avLst/>
          </a:prstGeom>
          <a:solidFill>
            <a:srgbClr val="EDEAE5"/>
          </a:solidFill>
          <a:ln/>
        </p:spPr>
      </p:sp>
      <p:sp>
        <p:nvSpPr>
          <p:cNvPr id="21" name="Shape 19"/>
          <p:cNvSpPr/>
          <p:nvPr/>
        </p:nvSpPr>
        <p:spPr>
          <a:xfrm>
            <a:off x="12169775" y="30734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166132" y="-5556"/>
                </a:moveTo>
                <a:cubicBezTo>
                  <a:pt x="161895" y="-9862"/>
                  <a:pt x="155714" y="-11599"/>
                  <a:pt x="149880" y="-10001"/>
                </a:cubicBezTo>
                <a:cubicBezTo>
                  <a:pt x="144046" y="-8404"/>
                  <a:pt x="139531" y="-3889"/>
                  <a:pt x="138073" y="1945"/>
                </a:cubicBezTo>
                <a:lnTo>
                  <a:pt x="127446" y="43755"/>
                </a:lnTo>
                <a:cubicBezTo>
                  <a:pt x="126683" y="46811"/>
                  <a:pt x="123557" y="48617"/>
                  <a:pt x="120571" y="47714"/>
                </a:cubicBezTo>
                <a:lnTo>
                  <a:pt x="79038" y="36046"/>
                </a:lnTo>
                <a:cubicBezTo>
                  <a:pt x="73204" y="34379"/>
                  <a:pt x="66953" y="36046"/>
                  <a:pt x="62716" y="40283"/>
                </a:cubicBezTo>
                <a:cubicBezTo>
                  <a:pt x="58480" y="44519"/>
                  <a:pt x="56813" y="50770"/>
                  <a:pt x="58480" y="56604"/>
                </a:cubicBezTo>
                <a:lnTo>
                  <a:pt x="70217" y="98137"/>
                </a:lnTo>
                <a:cubicBezTo>
                  <a:pt x="71051" y="101124"/>
                  <a:pt x="69245" y="104249"/>
                  <a:pt x="66258" y="105013"/>
                </a:cubicBezTo>
                <a:lnTo>
                  <a:pt x="24378" y="115639"/>
                </a:lnTo>
                <a:cubicBezTo>
                  <a:pt x="18544" y="117098"/>
                  <a:pt x="13960" y="121682"/>
                  <a:pt x="12363" y="127516"/>
                </a:cubicBezTo>
                <a:cubicBezTo>
                  <a:pt x="10765" y="133350"/>
                  <a:pt x="12502" y="139531"/>
                  <a:pt x="16808" y="143768"/>
                </a:cubicBezTo>
                <a:lnTo>
                  <a:pt x="47714" y="173841"/>
                </a:lnTo>
                <a:cubicBezTo>
                  <a:pt x="49937" y="175994"/>
                  <a:pt x="49937" y="179606"/>
                  <a:pt x="47714" y="181828"/>
                </a:cubicBezTo>
                <a:lnTo>
                  <a:pt x="16877" y="211901"/>
                </a:lnTo>
                <a:cubicBezTo>
                  <a:pt x="12571" y="216138"/>
                  <a:pt x="10835" y="222319"/>
                  <a:pt x="12432" y="228154"/>
                </a:cubicBezTo>
                <a:cubicBezTo>
                  <a:pt x="14030" y="233988"/>
                  <a:pt x="18613" y="238502"/>
                  <a:pt x="24448" y="240030"/>
                </a:cubicBezTo>
                <a:lnTo>
                  <a:pt x="66258" y="250656"/>
                </a:lnTo>
                <a:cubicBezTo>
                  <a:pt x="69314" y="251420"/>
                  <a:pt x="71120" y="254546"/>
                  <a:pt x="70217" y="257532"/>
                </a:cubicBezTo>
                <a:lnTo>
                  <a:pt x="58480" y="298996"/>
                </a:lnTo>
                <a:cubicBezTo>
                  <a:pt x="56813" y="304830"/>
                  <a:pt x="58480" y="311081"/>
                  <a:pt x="62716" y="315317"/>
                </a:cubicBezTo>
                <a:cubicBezTo>
                  <a:pt x="66953" y="319554"/>
                  <a:pt x="73204" y="321221"/>
                  <a:pt x="79038" y="319554"/>
                </a:cubicBezTo>
                <a:lnTo>
                  <a:pt x="120571" y="307816"/>
                </a:lnTo>
                <a:cubicBezTo>
                  <a:pt x="123557" y="306983"/>
                  <a:pt x="126683" y="308789"/>
                  <a:pt x="127446" y="311775"/>
                </a:cubicBezTo>
                <a:lnTo>
                  <a:pt x="138073" y="353586"/>
                </a:lnTo>
                <a:cubicBezTo>
                  <a:pt x="139531" y="359420"/>
                  <a:pt x="144115" y="364004"/>
                  <a:pt x="149949" y="365601"/>
                </a:cubicBezTo>
                <a:cubicBezTo>
                  <a:pt x="155783" y="367199"/>
                  <a:pt x="161965" y="365462"/>
                  <a:pt x="166201" y="361156"/>
                </a:cubicBezTo>
                <a:lnTo>
                  <a:pt x="196275" y="330250"/>
                </a:lnTo>
                <a:cubicBezTo>
                  <a:pt x="198428" y="328027"/>
                  <a:pt x="202039" y="328027"/>
                  <a:pt x="204262" y="330250"/>
                </a:cubicBezTo>
                <a:lnTo>
                  <a:pt x="234265" y="361156"/>
                </a:lnTo>
                <a:cubicBezTo>
                  <a:pt x="238502" y="365462"/>
                  <a:pt x="244683" y="367199"/>
                  <a:pt x="250517" y="365601"/>
                </a:cubicBezTo>
                <a:cubicBezTo>
                  <a:pt x="256351" y="364004"/>
                  <a:pt x="260866" y="359420"/>
                  <a:pt x="262394" y="353586"/>
                </a:cubicBezTo>
                <a:lnTo>
                  <a:pt x="273020" y="311845"/>
                </a:lnTo>
                <a:cubicBezTo>
                  <a:pt x="273784" y="308789"/>
                  <a:pt x="276910" y="306983"/>
                  <a:pt x="279896" y="307886"/>
                </a:cubicBezTo>
                <a:lnTo>
                  <a:pt x="321429" y="319623"/>
                </a:lnTo>
                <a:cubicBezTo>
                  <a:pt x="327263" y="321290"/>
                  <a:pt x="333514" y="319623"/>
                  <a:pt x="337751" y="315387"/>
                </a:cubicBezTo>
                <a:cubicBezTo>
                  <a:pt x="341987" y="311150"/>
                  <a:pt x="343654" y="304899"/>
                  <a:pt x="341987" y="299065"/>
                </a:cubicBezTo>
                <a:lnTo>
                  <a:pt x="330250" y="257532"/>
                </a:lnTo>
                <a:cubicBezTo>
                  <a:pt x="329416" y="254546"/>
                  <a:pt x="331222" y="251420"/>
                  <a:pt x="334208" y="250656"/>
                </a:cubicBezTo>
                <a:lnTo>
                  <a:pt x="376019" y="240030"/>
                </a:lnTo>
                <a:cubicBezTo>
                  <a:pt x="381853" y="238571"/>
                  <a:pt x="386437" y="233988"/>
                  <a:pt x="388035" y="228154"/>
                </a:cubicBezTo>
                <a:cubicBezTo>
                  <a:pt x="389632" y="222319"/>
                  <a:pt x="387896" y="216069"/>
                  <a:pt x="383590" y="211901"/>
                </a:cubicBezTo>
                <a:lnTo>
                  <a:pt x="352683" y="181828"/>
                </a:lnTo>
                <a:cubicBezTo>
                  <a:pt x="350460" y="179675"/>
                  <a:pt x="350460" y="176064"/>
                  <a:pt x="352683" y="173841"/>
                </a:cubicBezTo>
                <a:lnTo>
                  <a:pt x="383590" y="143768"/>
                </a:lnTo>
                <a:cubicBezTo>
                  <a:pt x="387896" y="139531"/>
                  <a:pt x="389632" y="133350"/>
                  <a:pt x="388035" y="127516"/>
                </a:cubicBezTo>
                <a:cubicBezTo>
                  <a:pt x="386437" y="121682"/>
                  <a:pt x="381853" y="117167"/>
                  <a:pt x="376019" y="115639"/>
                </a:cubicBezTo>
                <a:lnTo>
                  <a:pt x="334208" y="105013"/>
                </a:lnTo>
                <a:cubicBezTo>
                  <a:pt x="331153" y="104249"/>
                  <a:pt x="329347" y="101124"/>
                  <a:pt x="330250" y="98137"/>
                </a:cubicBezTo>
                <a:lnTo>
                  <a:pt x="341987" y="56604"/>
                </a:lnTo>
                <a:cubicBezTo>
                  <a:pt x="343654" y="50770"/>
                  <a:pt x="341987" y="44519"/>
                  <a:pt x="337751" y="40283"/>
                </a:cubicBezTo>
                <a:cubicBezTo>
                  <a:pt x="333514" y="36046"/>
                  <a:pt x="327263" y="34379"/>
                  <a:pt x="321429" y="36046"/>
                </a:cubicBezTo>
                <a:lnTo>
                  <a:pt x="279896" y="47784"/>
                </a:lnTo>
                <a:cubicBezTo>
                  <a:pt x="276910" y="48617"/>
                  <a:pt x="273784" y="46811"/>
                  <a:pt x="273020" y="43825"/>
                </a:cubicBezTo>
                <a:lnTo>
                  <a:pt x="262394" y="1945"/>
                </a:lnTo>
                <a:cubicBezTo>
                  <a:pt x="260935" y="-3889"/>
                  <a:pt x="256351" y="-8473"/>
                  <a:pt x="250517" y="-10071"/>
                </a:cubicBezTo>
                <a:cubicBezTo>
                  <a:pt x="244683" y="-11668"/>
                  <a:pt x="238502" y="-9932"/>
                  <a:pt x="234265" y="-5626"/>
                </a:cubicBezTo>
                <a:lnTo>
                  <a:pt x="204192" y="25350"/>
                </a:lnTo>
                <a:cubicBezTo>
                  <a:pt x="202039" y="27573"/>
                  <a:pt x="198428" y="27573"/>
                  <a:pt x="196205" y="25350"/>
                </a:cubicBezTo>
                <a:lnTo>
                  <a:pt x="166132" y="-5556"/>
                </a:lnTo>
                <a:close/>
              </a:path>
            </a:pathLst>
          </a:custGeom>
          <a:solidFill>
            <a:srgbClr val="1A5F6E"/>
          </a:solidFill>
          <a:ln/>
        </p:spPr>
      </p:sp>
      <p:sp>
        <p:nvSpPr>
          <p:cNvPr id="22" name="Text 20"/>
          <p:cNvSpPr/>
          <p:nvPr/>
        </p:nvSpPr>
        <p:spPr>
          <a:xfrm>
            <a:off x="12636500" y="30480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2B2B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Authenticity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2192000" y="3454400"/>
            <a:ext cx="30480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Tasks mirror real-world professional practice, not simplified abstractions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62000" y="54610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1A5F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SCAFFOLDING PROGRESSION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62000" y="5905500"/>
            <a:ext cx="3556000" cy="1016000"/>
          </a:xfrm>
          <a:prstGeom prst="rect">
            <a:avLst/>
          </a:prstGeom>
          <a:solidFill>
            <a:srgbClr val="1A5F6E"/>
          </a:solidFill>
          <a:ln/>
        </p:spPr>
      </p:sp>
      <p:sp>
        <p:nvSpPr>
          <p:cNvPr id="26" name="Text 24"/>
          <p:cNvSpPr/>
          <p:nvPr/>
        </p:nvSpPr>
        <p:spPr>
          <a:xfrm>
            <a:off x="889000" y="6007100"/>
            <a:ext cx="33020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Worked Examples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Full solution provided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318000" y="6350000"/>
            <a:ext cx="508000" cy="0"/>
          </a:xfrm>
          <a:prstGeom prst="straightConnector1">
            <a:avLst/>
          </a:prstGeom>
          <a:noFill/>
          <a:ln w="25400">
            <a:solidFill>
              <a:srgbClr val="D4943A"/>
            </a:solidFill>
            <a:prstDash val="solid"/>
            <a:headEnd type="none"/>
            <a:tailEnd type="arrow"/>
          </a:ln>
        </p:spPr>
      </p:sp>
      <p:sp>
        <p:nvSpPr>
          <p:cNvPr id="28" name="Shape 26"/>
          <p:cNvSpPr/>
          <p:nvPr/>
        </p:nvSpPr>
        <p:spPr>
          <a:xfrm>
            <a:off x="4826000" y="5905500"/>
            <a:ext cx="3556000" cy="1016000"/>
          </a:xfrm>
          <a:prstGeom prst="rect">
            <a:avLst/>
          </a:prstGeom>
          <a:solidFill>
            <a:srgbClr val="1A5F6E"/>
          </a:solidFill>
          <a:ln/>
        </p:spPr>
      </p:sp>
      <p:sp>
        <p:nvSpPr>
          <p:cNvPr id="29" name="Text 27"/>
          <p:cNvSpPr/>
          <p:nvPr/>
        </p:nvSpPr>
        <p:spPr>
          <a:xfrm>
            <a:off x="4953000" y="6007100"/>
            <a:ext cx="33020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Completion Problems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Partial solution given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382000" y="6350000"/>
            <a:ext cx="508000" cy="0"/>
          </a:xfrm>
          <a:prstGeom prst="straightConnector1">
            <a:avLst/>
          </a:prstGeom>
          <a:noFill/>
          <a:ln w="25400">
            <a:solidFill>
              <a:srgbClr val="D4943A"/>
            </a:solidFill>
            <a:prstDash val="solid"/>
            <a:headEnd type="none"/>
            <a:tailEnd type="arrow"/>
          </a:ln>
        </p:spPr>
      </p:sp>
      <p:sp>
        <p:nvSpPr>
          <p:cNvPr id="31" name="Shape 29"/>
          <p:cNvSpPr/>
          <p:nvPr/>
        </p:nvSpPr>
        <p:spPr>
          <a:xfrm>
            <a:off x="8890000" y="5905500"/>
            <a:ext cx="3556000" cy="10160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32" name="Text 30"/>
          <p:cNvSpPr/>
          <p:nvPr/>
        </p:nvSpPr>
        <p:spPr>
          <a:xfrm>
            <a:off x="9017000" y="6007100"/>
            <a:ext cx="33020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Conventional Tasks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support provided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2446000" y="6350000"/>
            <a:ext cx="508000" cy="0"/>
          </a:xfrm>
          <a:prstGeom prst="straightConnector1">
            <a:avLst/>
          </a:prstGeom>
          <a:noFill/>
          <a:ln w="25400">
            <a:solidFill>
              <a:srgbClr val="D4943A"/>
            </a:solidFill>
            <a:prstDash val="solid"/>
            <a:headEnd type="none"/>
            <a:tailEnd type="arrow"/>
          </a:ln>
        </p:spPr>
      </p:sp>
      <p:sp>
        <p:nvSpPr>
          <p:cNvPr id="34" name="Shape 32"/>
          <p:cNvSpPr/>
          <p:nvPr/>
        </p:nvSpPr>
        <p:spPr>
          <a:xfrm>
            <a:off x="12954000" y="5905500"/>
            <a:ext cx="2540000" cy="1016000"/>
          </a:xfrm>
          <a:prstGeom prst="rect">
            <a:avLst/>
          </a:prstGeom>
          <a:solidFill>
            <a:srgbClr val="163D47"/>
          </a:solidFill>
          <a:ln/>
        </p:spPr>
      </p:sp>
      <p:sp>
        <p:nvSpPr>
          <p:cNvPr id="35" name="Text 33"/>
          <p:cNvSpPr/>
          <p:nvPr/>
        </p:nvSpPr>
        <p:spPr>
          <a:xfrm>
            <a:off x="13081000" y="6007100"/>
            <a:ext cx="22860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Expertise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Independent performance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62000" y="7366000"/>
            <a:ext cx="762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Source: van Merriënboer &amp; Kirschner (2007); van Merriënboer et al. (2002)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4986000" y="8636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25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1A5F6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44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A5F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Component 2 — Supportive Information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016000"/>
            <a:ext cx="635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333500"/>
            <a:ext cx="14732000" cy="863600"/>
          </a:xfrm>
          <a:prstGeom prst="rect">
            <a:avLst/>
          </a:prstGeom>
          <a:solidFill>
            <a:srgbClr val="1A5F6E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1422400"/>
            <a:ext cx="14224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Supportive information</a:t>
            </a:r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helps learners perform non-routine, problem-solving aspects of learning tasks. It bridges what learners already know with what they need to learn.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24765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1A5F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TWO TYPES OF SUPPORTIVE INFORMATION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62000" y="2946400"/>
            <a:ext cx="7112000" cy="2603500"/>
          </a:xfrm>
          <a:prstGeom prst="rect">
            <a:avLst/>
          </a:prstGeom>
          <a:solidFill>
            <a:srgbClr val="EDEAE5"/>
          </a:solidFill>
          <a:ln/>
        </p:spPr>
      </p:sp>
      <p:sp>
        <p:nvSpPr>
          <p:cNvPr id="9" name="Shape 7"/>
          <p:cNvSpPr/>
          <p:nvPr/>
        </p:nvSpPr>
        <p:spPr>
          <a:xfrm>
            <a:off x="1016000" y="31496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33350" y="44450"/>
                </a:moveTo>
                <a:lnTo>
                  <a:pt x="133350" y="76200"/>
                </a:lnTo>
                <a:lnTo>
                  <a:pt x="71358" y="76200"/>
                </a:lnTo>
                <a:cubicBezTo>
                  <a:pt x="60008" y="76200"/>
                  <a:pt x="50800" y="85408"/>
                  <a:pt x="50800" y="96758"/>
                </a:cubicBezTo>
                <a:cubicBezTo>
                  <a:pt x="50800" y="99933"/>
                  <a:pt x="51514" y="103108"/>
                  <a:pt x="52943" y="105966"/>
                </a:cubicBezTo>
                <a:lnTo>
                  <a:pt x="79454" y="158988"/>
                </a:lnTo>
                <a:cubicBezTo>
                  <a:pt x="70406" y="160417"/>
                  <a:pt x="63421" y="168275"/>
                  <a:pt x="63421" y="177800"/>
                </a:cubicBezTo>
                <a:cubicBezTo>
                  <a:pt x="63421" y="188357"/>
                  <a:pt x="71914" y="196850"/>
                  <a:pt x="82471" y="196850"/>
                </a:cubicBezTo>
                <a:lnTo>
                  <a:pt x="86916" y="196850"/>
                </a:lnTo>
                <a:lnTo>
                  <a:pt x="76121" y="304800"/>
                </a:lnTo>
                <a:lnTo>
                  <a:pt x="31512" y="360601"/>
                </a:lnTo>
                <a:cubicBezTo>
                  <a:pt x="27543" y="365601"/>
                  <a:pt x="25321" y="371793"/>
                  <a:pt x="25321" y="378222"/>
                </a:cubicBezTo>
                <a:cubicBezTo>
                  <a:pt x="25321" y="393779"/>
                  <a:pt x="37941" y="406400"/>
                  <a:pt x="53499" y="406400"/>
                </a:cubicBezTo>
                <a:lnTo>
                  <a:pt x="251063" y="406400"/>
                </a:lnTo>
                <a:cubicBezTo>
                  <a:pt x="266621" y="406400"/>
                  <a:pt x="279241" y="393779"/>
                  <a:pt x="279241" y="378222"/>
                </a:cubicBezTo>
                <a:cubicBezTo>
                  <a:pt x="279241" y="371793"/>
                  <a:pt x="277098" y="365601"/>
                  <a:pt x="273050" y="360601"/>
                </a:cubicBezTo>
                <a:lnTo>
                  <a:pt x="228600" y="304800"/>
                </a:lnTo>
                <a:lnTo>
                  <a:pt x="217805" y="196850"/>
                </a:lnTo>
                <a:lnTo>
                  <a:pt x="222250" y="196850"/>
                </a:lnTo>
                <a:cubicBezTo>
                  <a:pt x="232807" y="196850"/>
                  <a:pt x="241300" y="188357"/>
                  <a:pt x="241300" y="177800"/>
                </a:cubicBezTo>
                <a:cubicBezTo>
                  <a:pt x="241300" y="168354"/>
                  <a:pt x="234394" y="160417"/>
                  <a:pt x="225266" y="158988"/>
                </a:cubicBezTo>
                <a:lnTo>
                  <a:pt x="251777" y="105966"/>
                </a:lnTo>
                <a:cubicBezTo>
                  <a:pt x="253206" y="103108"/>
                  <a:pt x="253921" y="99933"/>
                  <a:pt x="253921" y="96758"/>
                </a:cubicBezTo>
                <a:cubicBezTo>
                  <a:pt x="253921" y="85408"/>
                  <a:pt x="244713" y="76200"/>
                  <a:pt x="233362" y="76200"/>
                </a:cubicBezTo>
                <a:lnTo>
                  <a:pt x="171371" y="76200"/>
                </a:lnTo>
                <a:lnTo>
                  <a:pt x="171371" y="44450"/>
                </a:lnTo>
                <a:lnTo>
                  <a:pt x="184071" y="44450"/>
                </a:lnTo>
                <a:cubicBezTo>
                  <a:pt x="194628" y="44450"/>
                  <a:pt x="203121" y="35957"/>
                  <a:pt x="203121" y="25400"/>
                </a:cubicBezTo>
                <a:cubicBezTo>
                  <a:pt x="203121" y="14843"/>
                  <a:pt x="194707" y="6350"/>
                  <a:pt x="184150" y="6350"/>
                </a:cubicBezTo>
                <a:lnTo>
                  <a:pt x="171450" y="6350"/>
                </a:lnTo>
                <a:lnTo>
                  <a:pt x="171450" y="-6350"/>
                </a:lnTo>
                <a:cubicBezTo>
                  <a:pt x="171450" y="-16907"/>
                  <a:pt x="162957" y="-25400"/>
                  <a:pt x="152400" y="-25400"/>
                </a:cubicBezTo>
                <a:cubicBezTo>
                  <a:pt x="141843" y="-25400"/>
                  <a:pt x="133350" y="-16907"/>
                  <a:pt x="133350" y="-6350"/>
                </a:cubicBezTo>
                <a:lnTo>
                  <a:pt x="133350" y="6350"/>
                </a:lnTo>
                <a:lnTo>
                  <a:pt x="120650" y="6350"/>
                </a:lnTo>
                <a:cubicBezTo>
                  <a:pt x="110093" y="6350"/>
                  <a:pt x="101600" y="14843"/>
                  <a:pt x="101600" y="25400"/>
                </a:cubicBezTo>
                <a:cubicBezTo>
                  <a:pt x="101600" y="35957"/>
                  <a:pt x="110093" y="44450"/>
                  <a:pt x="120650" y="44450"/>
                </a:cubicBezTo>
                <a:lnTo>
                  <a:pt x="133350" y="44450"/>
                </a:lnTo>
                <a:close/>
                <a:moveTo>
                  <a:pt x="258604" y="221933"/>
                </a:moveTo>
                <a:lnTo>
                  <a:pt x="265351" y="289798"/>
                </a:lnTo>
                <a:lnTo>
                  <a:pt x="302974" y="336788"/>
                </a:lnTo>
                <a:lnTo>
                  <a:pt x="306308" y="341313"/>
                </a:lnTo>
                <a:cubicBezTo>
                  <a:pt x="313611" y="352187"/>
                  <a:pt x="317500" y="365046"/>
                  <a:pt x="317500" y="378222"/>
                </a:cubicBezTo>
                <a:cubicBezTo>
                  <a:pt x="317500" y="388303"/>
                  <a:pt x="315278" y="397907"/>
                  <a:pt x="311229" y="406400"/>
                </a:cubicBezTo>
                <a:lnTo>
                  <a:pt x="377190" y="406400"/>
                </a:lnTo>
                <a:cubicBezTo>
                  <a:pt x="393303" y="406400"/>
                  <a:pt x="406400" y="393303"/>
                  <a:pt x="406400" y="377190"/>
                </a:cubicBezTo>
                <a:cubicBezTo>
                  <a:pt x="406400" y="371396"/>
                  <a:pt x="404654" y="365760"/>
                  <a:pt x="401479" y="360998"/>
                </a:cubicBezTo>
                <a:lnTo>
                  <a:pt x="381000" y="330279"/>
                </a:lnTo>
                <a:lnTo>
                  <a:pt x="381000" y="279479"/>
                </a:lnTo>
                <a:lnTo>
                  <a:pt x="391557" y="268923"/>
                </a:lnTo>
                <a:cubicBezTo>
                  <a:pt x="401082" y="259398"/>
                  <a:pt x="406400" y="246459"/>
                  <a:pt x="406400" y="232966"/>
                </a:cubicBezTo>
                <a:lnTo>
                  <a:pt x="406400" y="152400"/>
                </a:lnTo>
                <a:cubicBezTo>
                  <a:pt x="406400" y="138351"/>
                  <a:pt x="395049" y="127000"/>
                  <a:pt x="381000" y="127000"/>
                </a:cubicBezTo>
                <a:cubicBezTo>
                  <a:pt x="366951" y="127000"/>
                  <a:pt x="355600" y="138351"/>
                  <a:pt x="355600" y="152400"/>
                </a:cubicBezTo>
                <a:lnTo>
                  <a:pt x="355600" y="165100"/>
                </a:lnTo>
                <a:lnTo>
                  <a:pt x="330200" y="165100"/>
                </a:lnTo>
                <a:lnTo>
                  <a:pt x="330200" y="152400"/>
                </a:lnTo>
                <a:cubicBezTo>
                  <a:pt x="330200" y="138351"/>
                  <a:pt x="318849" y="127000"/>
                  <a:pt x="304800" y="127000"/>
                </a:cubicBezTo>
                <a:cubicBezTo>
                  <a:pt x="290751" y="127000"/>
                  <a:pt x="279400" y="138351"/>
                  <a:pt x="279400" y="152400"/>
                </a:cubicBezTo>
                <a:lnTo>
                  <a:pt x="279400" y="177800"/>
                </a:lnTo>
                <a:cubicBezTo>
                  <a:pt x="279400" y="195580"/>
                  <a:pt x="271304" y="211455"/>
                  <a:pt x="258604" y="221933"/>
                </a:cubicBezTo>
                <a:close/>
              </a:path>
            </a:pathLst>
          </a:custGeom>
          <a:solidFill>
            <a:srgbClr val="1A5F6E"/>
          </a:solidFill>
          <a:ln/>
        </p:spPr>
      </p:sp>
      <p:sp>
        <p:nvSpPr>
          <p:cNvPr id="10" name="Text 8"/>
          <p:cNvSpPr/>
          <p:nvPr/>
        </p:nvSpPr>
        <p:spPr>
          <a:xfrm>
            <a:off x="1549400" y="3149600"/>
            <a:ext cx="5080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2B2B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Cognitive Strategies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16000" y="3657600"/>
            <a:ext cx="6604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Heuristics and systematic approaches to problem-solving. These are the "how to think" guidelines that help learners reason about the task, make decisions, and approach novel situations.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500" i="1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Example: "When diagnosing a patient, first rule out life-threatening conditions before considering common ailments."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382000" y="2946400"/>
            <a:ext cx="7112000" cy="2603500"/>
          </a:xfrm>
          <a:prstGeom prst="rect">
            <a:avLst/>
          </a:prstGeom>
          <a:solidFill>
            <a:srgbClr val="EDEAE5"/>
          </a:solidFill>
          <a:ln/>
        </p:spPr>
      </p:sp>
      <p:sp>
        <p:nvSpPr>
          <p:cNvPr id="13" name="Shape 11"/>
          <p:cNvSpPr/>
          <p:nvPr/>
        </p:nvSpPr>
        <p:spPr>
          <a:xfrm>
            <a:off x="8636000" y="31496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32105" y="125333"/>
                </a:moveTo>
                <a:cubicBezTo>
                  <a:pt x="360124" y="118745"/>
                  <a:pt x="381000" y="93583"/>
                  <a:pt x="381000" y="63500"/>
                </a:cubicBezTo>
                <a:cubicBezTo>
                  <a:pt x="381000" y="28416"/>
                  <a:pt x="352584" y="0"/>
                  <a:pt x="317500" y="0"/>
                </a:cubicBezTo>
                <a:cubicBezTo>
                  <a:pt x="283051" y="0"/>
                  <a:pt x="255032" y="27384"/>
                  <a:pt x="254000" y="61516"/>
                </a:cubicBezTo>
                <a:lnTo>
                  <a:pt x="108109" y="119936"/>
                </a:lnTo>
                <a:cubicBezTo>
                  <a:pt x="96599" y="108585"/>
                  <a:pt x="80883" y="101600"/>
                  <a:pt x="63500" y="101600"/>
                </a:cubicBezTo>
                <a:cubicBezTo>
                  <a:pt x="28416" y="101600"/>
                  <a:pt x="0" y="130016"/>
                  <a:pt x="0" y="165100"/>
                </a:cubicBezTo>
                <a:cubicBezTo>
                  <a:pt x="0" y="200184"/>
                  <a:pt x="28416" y="228600"/>
                  <a:pt x="63500" y="228600"/>
                </a:cubicBezTo>
                <a:cubicBezTo>
                  <a:pt x="73184" y="228600"/>
                  <a:pt x="82391" y="226457"/>
                  <a:pt x="90567" y="222567"/>
                </a:cubicBezTo>
                <a:lnTo>
                  <a:pt x="206137" y="323691"/>
                </a:lnTo>
                <a:cubicBezTo>
                  <a:pt x="204232" y="329724"/>
                  <a:pt x="203200" y="336233"/>
                  <a:pt x="203200" y="342900"/>
                </a:cubicBezTo>
                <a:cubicBezTo>
                  <a:pt x="203200" y="377984"/>
                  <a:pt x="231616" y="406400"/>
                  <a:pt x="266700" y="406400"/>
                </a:cubicBezTo>
                <a:cubicBezTo>
                  <a:pt x="301784" y="406400"/>
                  <a:pt x="330200" y="377984"/>
                  <a:pt x="330200" y="342900"/>
                </a:cubicBezTo>
                <a:cubicBezTo>
                  <a:pt x="330200" y="320913"/>
                  <a:pt x="319088" y="301546"/>
                  <a:pt x="302101" y="290195"/>
                </a:cubicBezTo>
                <a:lnTo>
                  <a:pt x="332105" y="125333"/>
                </a:lnTo>
                <a:close/>
                <a:moveTo>
                  <a:pt x="124063" y="184309"/>
                </a:moveTo>
                <a:cubicBezTo>
                  <a:pt x="125809" y="178832"/>
                  <a:pt x="126841" y="173038"/>
                  <a:pt x="127000" y="167084"/>
                </a:cubicBezTo>
                <a:lnTo>
                  <a:pt x="272891" y="108744"/>
                </a:lnTo>
                <a:cubicBezTo>
                  <a:pt x="275749" y="111522"/>
                  <a:pt x="278765" y="114062"/>
                  <a:pt x="282099" y="116284"/>
                </a:cubicBezTo>
                <a:lnTo>
                  <a:pt x="252095" y="281067"/>
                </a:lnTo>
                <a:cubicBezTo>
                  <a:pt x="247729" y="282099"/>
                  <a:pt x="243523" y="283528"/>
                  <a:pt x="239554" y="285433"/>
                </a:cubicBezTo>
                <a:lnTo>
                  <a:pt x="124063" y="184309"/>
                </a:lnTo>
                <a:close/>
              </a:path>
            </a:pathLst>
          </a:custGeom>
          <a:solidFill>
            <a:srgbClr val="1A5F6E"/>
          </a:solidFill>
          <a:ln/>
        </p:spPr>
      </p:sp>
      <p:sp>
        <p:nvSpPr>
          <p:cNvPr id="14" name="Text 12"/>
          <p:cNvSpPr/>
          <p:nvPr/>
        </p:nvSpPr>
        <p:spPr>
          <a:xfrm>
            <a:off x="9169400" y="31496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2B2B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Mental Models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636000" y="3657600"/>
            <a:ext cx="6604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Conceptual models of how a domain works. Mental models enable learners to predict outcomes, explain phenomena, and diagnose problems by understanding underlying causal mechanisms.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500" i="1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Example: Understanding how the circulatory system works enables diagnosis of cardiovascular issues.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62000" y="56896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1A5F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DELIVERY CHARACTERISTICS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62000" y="6070600"/>
            <a:ext cx="14732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1A5F6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Timing: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Presented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before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learners begin a task class — they need this information to plan their approach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1A5F6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Availability: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Always available as reference during task performance — learners can consult it as needed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1A5F6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Function: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Supports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schema construction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helps learners build the cognitive frameworks needed for non-routine problem solving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62000" y="7620000"/>
            <a:ext cx="762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Source: van Merriënboer &amp; Kirschner (2007)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986000" y="8636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26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1A5F6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44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A5F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Component 3 — Procedural Information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016000"/>
            <a:ext cx="635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333500"/>
            <a:ext cx="14732000" cy="762000"/>
          </a:xfrm>
          <a:prstGeom prst="rect">
            <a:avLst/>
          </a:prstGeom>
          <a:solidFill>
            <a:srgbClr val="163D47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1422400"/>
            <a:ext cx="142240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Procedural information</a:t>
            </a:r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provides step-by-step guidance for routine aspects of tasks — exactly how to perform specific actions when needed.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24765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1A5F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CHARACTERISTICS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62000" y="2921000"/>
            <a:ext cx="3429000" cy="1905000"/>
          </a:xfrm>
          <a:prstGeom prst="rect">
            <a:avLst/>
          </a:prstGeom>
          <a:solidFill>
            <a:srgbClr val="EDEAE5"/>
          </a:solidFill>
          <a:ln/>
        </p:spPr>
      </p:sp>
      <p:sp>
        <p:nvSpPr>
          <p:cNvPr id="9" name="Shape 7"/>
          <p:cNvSpPr/>
          <p:nvPr/>
        </p:nvSpPr>
        <p:spPr>
          <a:xfrm>
            <a:off x="952500" y="3073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cubicBezTo>
                  <a:pt x="236512" y="0"/>
                  <a:pt x="304800" y="68288"/>
                  <a:pt x="304800" y="152400"/>
                </a:cubicBezTo>
                <a:cubicBezTo>
                  <a:pt x="304800" y="236512"/>
                  <a:pt x="236512" y="304800"/>
                  <a:pt x="152400" y="304800"/>
                </a:cubicBezTo>
                <a:cubicBezTo>
                  <a:pt x="68288" y="304800"/>
                  <a:pt x="0" y="236512"/>
                  <a:pt x="0" y="152400"/>
                </a:cubicBezTo>
                <a:cubicBezTo>
                  <a:pt x="0" y="68288"/>
                  <a:pt x="68288" y="0"/>
                  <a:pt x="152400" y="0"/>
                </a:cubicBezTo>
                <a:close/>
                <a:moveTo>
                  <a:pt x="138113" y="71438"/>
                </a:moveTo>
                <a:lnTo>
                  <a:pt x="138113" y="152400"/>
                </a:lnTo>
                <a:cubicBezTo>
                  <a:pt x="138113" y="157163"/>
                  <a:pt x="140494" y="161627"/>
                  <a:pt x="144482" y="164306"/>
                </a:cubicBezTo>
                <a:lnTo>
                  <a:pt x="201632" y="202406"/>
                </a:lnTo>
                <a:cubicBezTo>
                  <a:pt x="208181" y="206812"/>
                  <a:pt x="217051" y="205026"/>
                  <a:pt x="221456" y="198418"/>
                </a:cubicBezTo>
                <a:cubicBezTo>
                  <a:pt x="225862" y="191810"/>
                  <a:pt x="224076" y="182999"/>
                  <a:pt x="217468" y="178594"/>
                </a:cubicBezTo>
                <a:lnTo>
                  <a:pt x="166688" y="144780"/>
                </a:lnTo>
                <a:lnTo>
                  <a:pt x="166688" y="71438"/>
                </a:lnTo>
                <a:cubicBezTo>
                  <a:pt x="166688" y="63520"/>
                  <a:pt x="160318" y="57150"/>
                  <a:pt x="152400" y="57150"/>
                </a:cubicBezTo>
                <a:cubicBezTo>
                  <a:pt x="144482" y="57150"/>
                  <a:pt x="138113" y="63520"/>
                  <a:pt x="138113" y="71438"/>
                </a:cubicBezTo>
                <a:close/>
              </a:path>
            </a:pathLst>
          </a:custGeom>
          <a:solidFill>
            <a:srgbClr val="1A5F6E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3048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2B2B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Just-in-Time (JIT)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52500" y="3454400"/>
            <a:ext cx="3048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Presented precisely when needed during task performance, not before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508500" y="2921000"/>
            <a:ext cx="3429000" cy="1905000"/>
          </a:xfrm>
          <a:prstGeom prst="rect">
            <a:avLst/>
          </a:prstGeom>
          <a:solidFill>
            <a:srgbClr val="EDEAE5"/>
          </a:solidFill>
          <a:ln/>
        </p:spPr>
      </p:sp>
      <p:sp>
        <p:nvSpPr>
          <p:cNvPr id="13" name="Shape 11"/>
          <p:cNvSpPr/>
          <p:nvPr/>
        </p:nvSpPr>
        <p:spPr>
          <a:xfrm>
            <a:off x="4699000" y="3073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/>
            </a:pathLst>
          </a:custGeom>
          <a:solidFill>
            <a:srgbClr val="1A5F6E"/>
          </a:solidFill>
          <a:ln/>
        </p:spPr>
      </p:sp>
      <p:sp>
        <p:nvSpPr>
          <p:cNvPr id="14" name="Text 12"/>
          <p:cNvSpPr/>
          <p:nvPr/>
        </p:nvSpPr>
        <p:spPr>
          <a:xfrm>
            <a:off x="5118100" y="3048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2B2B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Fading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699000" y="3454400"/>
            <a:ext cx="3048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Gradually removed as learners internalize procedures and build automaticity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255000" y="2921000"/>
            <a:ext cx="3429000" cy="1905000"/>
          </a:xfrm>
          <a:prstGeom prst="rect">
            <a:avLst/>
          </a:prstGeom>
          <a:solidFill>
            <a:srgbClr val="EDEAE5"/>
          </a:solidFill>
          <a:ln/>
        </p:spPr>
      </p:sp>
      <p:sp>
        <p:nvSpPr>
          <p:cNvPr id="17" name="Shape 15"/>
          <p:cNvSpPr/>
          <p:nvPr/>
        </p:nvSpPr>
        <p:spPr>
          <a:xfrm>
            <a:off x="8445500" y="3073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9653" y="21610"/>
                </a:moveTo>
                <a:cubicBezTo>
                  <a:pt x="86142" y="26134"/>
                  <a:pt x="87690" y="35064"/>
                  <a:pt x="83165" y="41493"/>
                </a:cubicBezTo>
                <a:lnTo>
                  <a:pt x="49828" y="89118"/>
                </a:lnTo>
                <a:cubicBezTo>
                  <a:pt x="47387" y="92571"/>
                  <a:pt x="43577" y="94774"/>
                  <a:pt x="39350" y="95131"/>
                </a:cubicBezTo>
                <a:cubicBezTo>
                  <a:pt x="35123" y="95488"/>
                  <a:pt x="30956" y="94059"/>
                  <a:pt x="27980" y="91083"/>
                </a:cubicBezTo>
                <a:lnTo>
                  <a:pt x="4167" y="67270"/>
                </a:lnTo>
                <a:cubicBezTo>
                  <a:pt x="-1369" y="61674"/>
                  <a:pt x="-1369" y="52626"/>
                  <a:pt x="4167" y="47030"/>
                </a:cubicBezTo>
                <a:cubicBezTo>
                  <a:pt x="9704" y="41434"/>
                  <a:pt x="18812" y="41493"/>
                  <a:pt x="24408" y="47030"/>
                </a:cubicBezTo>
                <a:lnTo>
                  <a:pt x="36195" y="58817"/>
                </a:lnTo>
                <a:lnTo>
                  <a:pt x="59769" y="25122"/>
                </a:lnTo>
                <a:cubicBezTo>
                  <a:pt x="64294" y="18633"/>
                  <a:pt x="73223" y="17085"/>
                  <a:pt x="79653" y="21610"/>
                </a:cubicBezTo>
                <a:close/>
                <a:moveTo>
                  <a:pt x="79653" y="116860"/>
                </a:moveTo>
                <a:cubicBezTo>
                  <a:pt x="86142" y="121384"/>
                  <a:pt x="87690" y="130314"/>
                  <a:pt x="83165" y="136743"/>
                </a:cubicBezTo>
                <a:lnTo>
                  <a:pt x="49828" y="184368"/>
                </a:lnTo>
                <a:cubicBezTo>
                  <a:pt x="47387" y="187821"/>
                  <a:pt x="43577" y="190024"/>
                  <a:pt x="39350" y="190381"/>
                </a:cubicBezTo>
                <a:cubicBezTo>
                  <a:pt x="35123" y="190738"/>
                  <a:pt x="30956" y="189309"/>
                  <a:pt x="27980" y="186333"/>
                </a:cubicBezTo>
                <a:lnTo>
                  <a:pt x="4167" y="162520"/>
                </a:lnTo>
                <a:cubicBezTo>
                  <a:pt x="-1429" y="156924"/>
                  <a:pt x="-1429" y="147876"/>
                  <a:pt x="4167" y="142339"/>
                </a:cubicBezTo>
                <a:cubicBezTo>
                  <a:pt x="9763" y="136803"/>
                  <a:pt x="18812" y="136743"/>
                  <a:pt x="24348" y="142339"/>
                </a:cubicBezTo>
                <a:lnTo>
                  <a:pt x="36135" y="154126"/>
                </a:lnTo>
                <a:lnTo>
                  <a:pt x="59710" y="120432"/>
                </a:lnTo>
                <a:cubicBezTo>
                  <a:pt x="64234" y="113943"/>
                  <a:pt x="73164" y="112395"/>
                  <a:pt x="79593" y="116919"/>
                </a:cubicBezTo>
                <a:close/>
                <a:moveTo>
                  <a:pt x="133350" y="57150"/>
                </a:moveTo>
                <a:cubicBezTo>
                  <a:pt x="133350" y="46613"/>
                  <a:pt x="141863" y="38100"/>
                  <a:pt x="152400" y="38100"/>
                </a:cubicBezTo>
                <a:lnTo>
                  <a:pt x="285750" y="38100"/>
                </a:lnTo>
                <a:cubicBezTo>
                  <a:pt x="296287" y="38100"/>
                  <a:pt x="304800" y="46613"/>
                  <a:pt x="304800" y="57150"/>
                </a:cubicBezTo>
                <a:cubicBezTo>
                  <a:pt x="304800" y="67687"/>
                  <a:pt x="296287" y="76200"/>
                  <a:pt x="285750" y="76200"/>
                </a:cubicBezTo>
                <a:lnTo>
                  <a:pt x="152400" y="76200"/>
                </a:lnTo>
                <a:cubicBezTo>
                  <a:pt x="141863" y="76200"/>
                  <a:pt x="133350" y="67687"/>
                  <a:pt x="133350" y="57150"/>
                </a:cubicBezTo>
                <a:close/>
                <a:moveTo>
                  <a:pt x="133350" y="152400"/>
                </a:moveTo>
                <a:cubicBezTo>
                  <a:pt x="133350" y="141863"/>
                  <a:pt x="141863" y="133350"/>
                  <a:pt x="152400" y="133350"/>
                </a:cubicBezTo>
                <a:lnTo>
                  <a:pt x="285750" y="133350"/>
                </a:lnTo>
                <a:cubicBezTo>
                  <a:pt x="296287" y="133350"/>
                  <a:pt x="304800" y="141863"/>
                  <a:pt x="304800" y="152400"/>
                </a:cubicBezTo>
                <a:cubicBezTo>
                  <a:pt x="304800" y="162937"/>
                  <a:pt x="296287" y="171450"/>
                  <a:pt x="285750" y="171450"/>
                </a:cubicBezTo>
                <a:lnTo>
                  <a:pt x="152400" y="171450"/>
                </a:lnTo>
                <a:cubicBezTo>
                  <a:pt x="141863" y="171450"/>
                  <a:pt x="133350" y="162937"/>
                  <a:pt x="133350" y="152400"/>
                </a:cubicBezTo>
                <a:close/>
                <a:moveTo>
                  <a:pt x="95250" y="247650"/>
                </a:moveTo>
                <a:cubicBezTo>
                  <a:pt x="95250" y="237113"/>
                  <a:pt x="103763" y="228600"/>
                  <a:pt x="114300" y="228600"/>
                </a:cubicBezTo>
                <a:lnTo>
                  <a:pt x="285750" y="228600"/>
                </a:lnTo>
                <a:cubicBezTo>
                  <a:pt x="296287" y="228600"/>
                  <a:pt x="304800" y="237113"/>
                  <a:pt x="304800" y="247650"/>
                </a:cubicBezTo>
                <a:cubicBezTo>
                  <a:pt x="304800" y="258187"/>
                  <a:pt x="296287" y="266700"/>
                  <a:pt x="285750" y="266700"/>
                </a:cubicBezTo>
                <a:lnTo>
                  <a:pt x="114300" y="266700"/>
                </a:lnTo>
                <a:cubicBezTo>
                  <a:pt x="103763" y="266700"/>
                  <a:pt x="95250" y="258187"/>
                  <a:pt x="95250" y="247650"/>
                </a:cubicBezTo>
                <a:close/>
                <a:moveTo>
                  <a:pt x="38100" y="223838"/>
                </a:moveTo>
                <a:cubicBezTo>
                  <a:pt x="51242" y="223838"/>
                  <a:pt x="61912" y="234508"/>
                  <a:pt x="61912" y="247650"/>
                </a:cubicBezTo>
                <a:cubicBezTo>
                  <a:pt x="61912" y="260792"/>
                  <a:pt x="51242" y="271463"/>
                  <a:pt x="38100" y="271463"/>
                </a:cubicBezTo>
                <a:cubicBezTo>
                  <a:pt x="24958" y="271463"/>
                  <a:pt x="14288" y="260792"/>
                  <a:pt x="14288" y="247650"/>
                </a:cubicBezTo>
                <a:cubicBezTo>
                  <a:pt x="14288" y="234508"/>
                  <a:pt x="24958" y="223838"/>
                  <a:pt x="38100" y="223838"/>
                </a:cubicBezTo>
                <a:close/>
              </a:path>
            </a:pathLst>
          </a:custGeom>
          <a:solidFill>
            <a:srgbClr val="1A5F6E"/>
          </a:solidFill>
          <a:ln/>
        </p:spPr>
      </p:sp>
      <p:sp>
        <p:nvSpPr>
          <p:cNvPr id="18" name="Text 16"/>
          <p:cNvSpPr/>
          <p:nvPr/>
        </p:nvSpPr>
        <p:spPr>
          <a:xfrm>
            <a:off x="8864600" y="3048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2B2B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Rule-Based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445500" y="3454400"/>
            <a:ext cx="3048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Consists of "if-then" rules for consistent, recurring task elements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2001500" y="2921000"/>
            <a:ext cx="3492500" cy="1905000"/>
          </a:xfrm>
          <a:prstGeom prst="rect">
            <a:avLst/>
          </a:prstGeom>
          <a:solidFill>
            <a:srgbClr val="EDEAE5"/>
          </a:solidFill>
          <a:ln/>
        </p:spPr>
      </p:sp>
      <p:sp>
        <p:nvSpPr>
          <p:cNvPr id="21" name="Shape 19"/>
          <p:cNvSpPr/>
          <p:nvPr/>
        </p:nvSpPr>
        <p:spPr>
          <a:xfrm>
            <a:off x="12192000" y="3073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cubicBezTo>
                  <a:pt x="236512" y="304800"/>
                  <a:pt x="304800" y="236512"/>
                  <a:pt x="304800" y="152400"/>
                </a:cubicBezTo>
                <a:cubicBezTo>
                  <a:pt x="304800" y="68288"/>
                  <a:pt x="236512" y="0"/>
                  <a:pt x="152400" y="0"/>
                </a:cubicBezTo>
                <a:cubicBezTo>
                  <a:pt x="68288" y="0"/>
                  <a:pt x="0" y="68288"/>
                  <a:pt x="0" y="152400"/>
                </a:cubicBezTo>
                <a:cubicBezTo>
                  <a:pt x="0" y="236512"/>
                  <a:pt x="68288" y="304800"/>
                  <a:pt x="152400" y="304800"/>
                </a:cubicBezTo>
                <a:close/>
                <a:moveTo>
                  <a:pt x="202644" y="126623"/>
                </a:moveTo>
                <a:lnTo>
                  <a:pt x="155019" y="202823"/>
                </a:lnTo>
                <a:cubicBezTo>
                  <a:pt x="152519" y="206812"/>
                  <a:pt x="148233" y="209312"/>
                  <a:pt x="143530" y="209550"/>
                </a:cubicBezTo>
                <a:cubicBezTo>
                  <a:pt x="138827" y="209788"/>
                  <a:pt x="134302" y="207645"/>
                  <a:pt x="131505" y="203835"/>
                </a:cubicBezTo>
                <a:lnTo>
                  <a:pt x="102930" y="165735"/>
                </a:lnTo>
                <a:cubicBezTo>
                  <a:pt x="98167" y="159425"/>
                  <a:pt x="99477" y="150495"/>
                  <a:pt x="105787" y="145733"/>
                </a:cubicBezTo>
                <a:cubicBezTo>
                  <a:pt x="112097" y="140970"/>
                  <a:pt x="121027" y="142280"/>
                  <a:pt x="125790" y="148590"/>
                </a:cubicBezTo>
                <a:lnTo>
                  <a:pt x="141863" y="170021"/>
                </a:lnTo>
                <a:lnTo>
                  <a:pt x="178415" y="111502"/>
                </a:lnTo>
                <a:cubicBezTo>
                  <a:pt x="182582" y="104835"/>
                  <a:pt x="191393" y="102751"/>
                  <a:pt x="198120" y="106978"/>
                </a:cubicBezTo>
                <a:cubicBezTo>
                  <a:pt x="204847" y="111204"/>
                  <a:pt x="206871" y="119955"/>
                  <a:pt x="202644" y="126683"/>
                </a:cubicBezTo>
                <a:close/>
              </a:path>
            </a:pathLst>
          </a:custGeom>
          <a:solidFill>
            <a:srgbClr val="1A5F6E"/>
          </a:solidFill>
          <a:ln/>
        </p:spPr>
      </p:sp>
      <p:sp>
        <p:nvSpPr>
          <p:cNvPr id="22" name="Text 20"/>
          <p:cNvSpPr/>
          <p:nvPr/>
        </p:nvSpPr>
        <p:spPr>
          <a:xfrm>
            <a:off x="12611100" y="3048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2B2B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Corrective Feedback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2192000" y="3454400"/>
            <a:ext cx="3048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Immediately informs learners of errors in routine task aspects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62000" y="5270500"/>
            <a:ext cx="635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1A5F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SUPPORTIVE VS. PROCEDURAL INFORMATION</a:t>
            </a:r>
            <a:endParaRPr lang="en-US" sz="14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5715000"/>
          <a:ext cx="14732000" cy="2032000"/>
        </p:xfrm>
        <a:graphic>
          <a:graphicData uri="http://schemas.openxmlformats.org/drawingml/2006/table">
            <a:tbl>
              <a:tblPr/>
              <a:tblGrid>
                <a:gridCol w="3683000"/>
                <a:gridCol w="5524500"/>
                <a:gridCol w="5524500"/>
              </a:tblGrid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Dimension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F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Supportive Information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F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Procedural Information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F6E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Purpose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Problem-solving and reasoning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Step-by-step task execution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Timing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Before task class (always available)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During task (JIT), then faded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5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Content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Concepts, principles, strategies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"If-then" rules, checklists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</a:tbl>
          </a:graphicData>
        </a:graphic>
      </p:graphicFrame>
      <p:sp>
        <p:nvSpPr>
          <p:cNvPr id="26" name="Text 23"/>
          <p:cNvSpPr/>
          <p:nvPr/>
        </p:nvSpPr>
        <p:spPr>
          <a:xfrm>
            <a:off x="762000" y="8064500"/>
            <a:ext cx="762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Source: van Merriënboer &amp; Kirschner (2007)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14986000" y="8636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27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1A5F6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44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A5F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Component 4 — Part-Task Practice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016000"/>
            <a:ext cx="635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333500"/>
            <a:ext cx="14732000" cy="7620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1422400"/>
            <a:ext cx="142240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Part-task practice</a:t>
            </a:r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provides additional repetition for specific constituent skills that need to reach high levels of automaticity through drill-and-practice.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2476500"/>
            <a:ext cx="635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1A5F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WHEN IS PART-TASK PRACTICE NEEDED?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62000" y="2921000"/>
            <a:ext cx="4699000" cy="1016000"/>
          </a:xfrm>
          <a:prstGeom prst="rect">
            <a:avLst/>
          </a:prstGeom>
          <a:solidFill>
            <a:srgbClr val="EDEAE5"/>
          </a:solidFill>
          <a:ln/>
        </p:spPr>
      </p:sp>
      <p:sp>
        <p:nvSpPr>
          <p:cNvPr id="9" name="Shape 7"/>
          <p:cNvSpPr/>
          <p:nvPr/>
        </p:nvSpPr>
        <p:spPr>
          <a:xfrm>
            <a:off x="952500" y="3175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80154" y="70604"/>
                </a:moveTo>
                <a:cubicBezTo>
                  <a:pt x="287595" y="63163"/>
                  <a:pt x="287595" y="51078"/>
                  <a:pt x="280154" y="43636"/>
                </a:cubicBezTo>
                <a:lnTo>
                  <a:pt x="242054" y="5536"/>
                </a:lnTo>
                <a:cubicBezTo>
                  <a:pt x="236577" y="60"/>
                  <a:pt x="228421" y="-1548"/>
                  <a:pt x="221278" y="1429"/>
                </a:cubicBezTo>
                <a:cubicBezTo>
                  <a:pt x="214134" y="4405"/>
                  <a:pt x="209550" y="11370"/>
                  <a:pt x="209550" y="19050"/>
                </a:cubicBezTo>
                <a:lnTo>
                  <a:pt x="209550" y="38100"/>
                </a:lnTo>
                <a:lnTo>
                  <a:pt x="114300" y="38100"/>
                </a:lnTo>
                <a:cubicBezTo>
                  <a:pt x="51197" y="38100"/>
                  <a:pt x="0" y="89297"/>
                  <a:pt x="0" y="152400"/>
                </a:cubicBezTo>
                <a:cubicBezTo>
                  <a:pt x="0" y="162937"/>
                  <a:pt x="8513" y="171450"/>
                  <a:pt x="19050" y="171450"/>
                </a:cubicBezTo>
                <a:cubicBezTo>
                  <a:pt x="29587" y="171450"/>
                  <a:pt x="38100" y="162937"/>
                  <a:pt x="38100" y="152400"/>
                </a:cubicBezTo>
                <a:cubicBezTo>
                  <a:pt x="38100" y="110311"/>
                  <a:pt x="72211" y="76200"/>
                  <a:pt x="114300" y="76200"/>
                </a:cubicBezTo>
                <a:lnTo>
                  <a:pt x="209550" y="76200"/>
                </a:lnTo>
                <a:lnTo>
                  <a:pt x="209550" y="95250"/>
                </a:lnTo>
                <a:cubicBezTo>
                  <a:pt x="209550" y="102930"/>
                  <a:pt x="214193" y="109895"/>
                  <a:pt x="221337" y="112871"/>
                </a:cubicBezTo>
                <a:cubicBezTo>
                  <a:pt x="228481" y="115848"/>
                  <a:pt x="236637" y="114181"/>
                  <a:pt x="242114" y="108764"/>
                </a:cubicBezTo>
                <a:lnTo>
                  <a:pt x="280214" y="70664"/>
                </a:lnTo>
                <a:close/>
                <a:moveTo>
                  <a:pt x="24646" y="234196"/>
                </a:moveTo>
                <a:cubicBezTo>
                  <a:pt x="17205" y="241637"/>
                  <a:pt x="17205" y="253722"/>
                  <a:pt x="24646" y="261164"/>
                </a:cubicBezTo>
                <a:lnTo>
                  <a:pt x="62746" y="299264"/>
                </a:lnTo>
                <a:cubicBezTo>
                  <a:pt x="68223" y="304740"/>
                  <a:pt x="76379" y="306348"/>
                  <a:pt x="83522" y="303371"/>
                </a:cubicBezTo>
                <a:cubicBezTo>
                  <a:pt x="90666" y="300395"/>
                  <a:pt x="95250" y="293430"/>
                  <a:pt x="95250" y="285750"/>
                </a:cubicBezTo>
                <a:lnTo>
                  <a:pt x="95250" y="266700"/>
                </a:lnTo>
                <a:lnTo>
                  <a:pt x="190500" y="266700"/>
                </a:lnTo>
                <a:cubicBezTo>
                  <a:pt x="253603" y="266700"/>
                  <a:pt x="304800" y="215503"/>
                  <a:pt x="304800" y="152400"/>
                </a:cubicBezTo>
                <a:cubicBezTo>
                  <a:pt x="304800" y="141863"/>
                  <a:pt x="296287" y="133350"/>
                  <a:pt x="285750" y="133350"/>
                </a:cubicBezTo>
                <a:cubicBezTo>
                  <a:pt x="275213" y="133350"/>
                  <a:pt x="266700" y="141863"/>
                  <a:pt x="266700" y="152400"/>
                </a:cubicBezTo>
                <a:cubicBezTo>
                  <a:pt x="266700" y="194489"/>
                  <a:pt x="232589" y="228600"/>
                  <a:pt x="190500" y="228600"/>
                </a:cubicBezTo>
                <a:lnTo>
                  <a:pt x="95250" y="228600"/>
                </a:lnTo>
                <a:lnTo>
                  <a:pt x="95250" y="209550"/>
                </a:lnTo>
                <a:cubicBezTo>
                  <a:pt x="95250" y="201870"/>
                  <a:pt x="90607" y="194905"/>
                  <a:pt x="83463" y="191929"/>
                </a:cubicBezTo>
                <a:cubicBezTo>
                  <a:pt x="76319" y="188952"/>
                  <a:pt x="68163" y="190619"/>
                  <a:pt x="62686" y="196036"/>
                </a:cubicBezTo>
                <a:lnTo>
                  <a:pt x="24586" y="234136"/>
                </a:ln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10" name="Text 8"/>
          <p:cNvSpPr/>
          <p:nvPr/>
        </p:nvSpPr>
        <p:spPr>
          <a:xfrm>
            <a:off x="1397000" y="3111500"/>
            <a:ext cx="381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Skills that are </a:t>
            </a:r>
            <a:pPr>
              <a:lnSpc>
                <a:spcPct val="145000"/>
              </a:lnSpc>
            </a:pPr>
            <a:r>
              <a:rPr lang="en-US" sz="1400" b="1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recurrent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across many different tasks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778500" y="2921000"/>
            <a:ext cx="4699000" cy="1016000"/>
          </a:xfrm>
          <a:prstGeom prst="rect">
            <a:avLst/>
          </a:prstGeom>
          <a:solidFill>
            <a:srgbClr val="EDEAE5"/>
          </a:solidFill>
          <a:ln/>
        </p:spPr>
      </p:sp>
      <p:sp>
        <p:nvSpPr>
          <p:cNvPr id="12" name="Shape 10"/>
          <p:cNvSpPr/>
          <p:nvPr/>
        </p:nvSpPr>
        <p:spPr>
          <a:xfrm>
            <a:off x="5969000" y="3175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152400"/>
                </a:moveTo>
                <a:cubicBezTo>
                  <a:pt x="0" y="68288"/>
                  <a:pt x="68288" y="0"/>
                  <a:pt x="152400" y="0"/>
                </a:cubicBezTo>
                <a:cubicBezTo>
                  <a:pt x="236512" y="0"/>
                  <a:pt x="304800" y="68288"/>
                  <a:pt x="304800" y="152400"/>
                </a:cubicBezTo>
                <a:cubicBezTo>
                  <a:pt x="304800" y="236512"/>
                  <a:pt x="236512" y="304800"/>
                  <a:pt x="152400" y="304800"/>
                </a:cubicBezTo>
                <a:cubicBezTo>
                  <a:pt x="68288" y="304800"/>
                  <a:pt x="0" y="236512"/>
                  <a:pt x="0" y="152400"/>
                </a:cubicBezTo>
                <a:close/>
                <a:moveTo>
                  <a:pt x="171450" y="57150"/>
                </a:moveTo>
                <a:cubicBezTo>
                  <a:pt x="171450" y="46636"/>
                  <a:pt x="162914" y="38100"/>
                  <a:pt x="152400" y="38100"/>
                </a:cubicBezTo>
                <a:cubicBezTo>
                  <a:pt x="141886" y="38100"/>
                  <a:pt x="133350" y="46636"/>
                  <a:pt x="133350" y="57150"/>
                </a:cubicBezTo>
                <a:cubicBezTo>
                  <a:pt x="133350" y="67664"/>
                  <a:pt x="141886" y="76200"/>
                  <a:pt x="152400" y="76200"/>
                </a:cubicBezTo>
                <a:cubicBezTo>
                  <a:pt x="162914" y="76200"/>
                  <a:pt x="171450" y="67664"/>
                  <a:pt x="171450" y="57150"/>
                </a:cubicBezTo>
                <a:close/>
                <a:moveTo>
                  <a:pt x="152400" y="247650"/>
                </a:moveTo>
                <a:cubicBezTo>
                  <a:pt x="173415" y="247650"/>
                  <a:pt x="190500" y="230565"/>
                  <a:pt x="190500" y="209550"/>
                </a:cubicBezTo>
                <a:cubicBezTo>
                  <a:pt x="190500" y="199906"/>
                  <a:pt x="186928" y="191036"/>
                  <a:pt x="180975" y="184368"/>
                </a:cubicBezTo>
                <a:lnTo>
                  <a:pt x="222349" y="101679"/>
                </a:lnTo>
                <a:cubicBezTo>
                  <a:pt x="225862" y="94595"/>
                  <a:pt x="223004" y="86023"/>
                  <a:pt x="215979" y="82510"/>
                </a:cubicBezTo>
                <a:cubicBezTo>
                  <a:pt x="208955" y="78998"/>
                  <a:pt x="200323" y="81855"/>
                  <a:pt x="196810" y="88880"/>
                </a:cubicBezTo>
                <a:lnTo>
                  <a:pt x="155436" y="171569"/>
                </a:lnTo>
                <a:cubicBezTo>
                  <a:pt x="154424" y="171510"/>
                  <a:pt x="153412" y="171450"/>
                  <a:pt x="152400" y="171450"/>
                </a:cubicBezTo>
                <a:cubicBezTo>
                  <a:pt x="131385" y="171450"/>
                  <a:pt x="114300" y="188535"/>
                  <a:pt x="114300" y="209550"/>
                </a:cubicBezTo>
                <a:cubicBezTo>
                  <a:pt x="114300" y="230565"/>
                  <a:pt x="131385" y="247650"/>
                  <a:pt x="152400" y="247650"/>
                </a:cubicBezTo>
                <a:close/>
                <a:moveTo>
                  <a:pt x="104775" y="85725"/>
                </a:moveTo>
                <a:cubicBezTo>
                  <a:pt x="104775" y="75211"/>
                  <a:pt x="96239" y="66675"/>
                  <a:pt x="85725" y="66675"/>
                </a:cubicBezTo>
                <a:cubicBezTo>
                  <a:pt x="75211" y="66675"/>
                  <a:pt x="66675" y="75211"/>
                  <a:pt x="66675" y="85725"/>
                </a:cubicBezTo>
                <a:cubicBezTo>
                  <a:pt x="66675" y="96239"/>
                  <a:pt x="75211" y="104775"/>
                  <a:pt x="85725" y="104775"/>
                </a:cubicBezTo>
                <a:cubicBezTo>
                  <a:pt x="96239" y="104775"/>
                  <a:pt x="104775" y="96239"/>
                  <a:pt x="104775" y="85725"/>
                </a:cubicBezTo>
                <a:close/>
                <a:moveTo>
                  <a:pt x="57150" y="171450"/>
                </a:moveTo>
                <a:cubicBezTo>
                  <a:pt x="67664" y="171450"/>
                  <a:pt x="76200" y="162914"/>
                  <a:pt x="76200" y="152400"/>
                </a:cubicBezTo>
                <a:cubicBezTo>
                  <a:pt x="76200" y="141886"/>
                  <a:pt x="67664" y="133350"/>
                  <a:pt x="57150" y="133350"/>
                </a:cubicBezTo>
                <a:cubicBezTo>
                  <a:pt x="46636" y="133350"/>
                  <a:pt x="38100" y="141886"/>
                  <a:pt x="38100" y="152400"/>
                </a:cubicBezTo>
                <a:cubicBezTo>
                  <a:pt x="38100" y="162914"/>
                  <a:pt x="46636" y="171450"/>
                  <a:pt x="57150" y="171450"/>
                </a:cubicBezTo>
                <a:close/>
                <a:moveTo>
                  <a:pt x="266700" y="152400"/>
                </a:moveTo>
                <a:cubicBezTo>
                  <a:pt x="266700" y="141886"/>
                  <a:pt x="258164" y="133350"/>
                  <a:pt x="247650" y="133350"/>
                </a:cubicBezTo>
                <a:cubicBezTo>
                  <a:pt x="237136" y="133350"/>
                  <a:pt x="228600" y="141886"/>
                  <a:pt x="228600" y="152400"/>
                </a:cubicBezTo>
                <a:cubicBezTo>
                  <a:pt x="228600" y="162914"/>
                  <a:pt x="237136" y="171450"/>
                  <a:pt x="247650" y="171450"/>
                </a:cubicBezTo>
                <a:cubicBezTo>
                  <a:pt x="258164" y="171450"/>
                  <a:pt x="266700" y="162914"/>
                  <a:pt x="266700" y="152400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13" name="Text 11"/>
          <p:cNvSpPr/>
          <p:nvPr/>
        </p:nvSpPr>
        <p:spPr>
          <a:xfrm>
            <a:off x="6413500" y="3111500"/>
            <a:ext cx="381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Skills that must be performed </a:t>
            </a:r>
            <a:pPr>
              <a:lnSpc>
                <a:spcPct val="145000"/>
              </a:lnSpc>
            </a:pPr>
            <a:r>
              <a:rPr lang="en-US" sz="1400" b="1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quickly and accurately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0795000" y="2921000"/>
            <a:ext cx="4699000" cy="1016000"/>
          </a:xfrm>
          <a:prstGeom prst="rect">
            <a:avLst/>
          </a:prstGeom>
          <a:solidFill>
            <a:srgbClr val="EDEAE5"/>
          </a:solidFill>
          <a:ln/>
        </p:spPr>
      </p:sp>
      <p:sp>
        <p:nvSpPr>
          <p:cNvPr id="15" name="Shape 13"/>
          <p:cNvSpPr/>
          <p:nvPr/>
        </p:nvSpPr>
        <p:spPr>
          <a:xfrm>
            <a:off x="10985500" y="3175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/>
            </a:pathLst>
          </a:custGeom>
          <a:solidFill>
            <a:srgbClr val="D4943A"/>
          </a:solidFill>
          <a:ln/>
        </p:spPr>
      </p:sp>
      <p:sp>
        <p:nvSpPr>
          <p:cNvPr id="16" name="Text 14"/>
          <p:cNvSpPr/>
          <p:nvPr/>
        </p:nvSpPr>
        <p:spPr>
          <a:xfrm>
            <a:off x="11430000" y="3111500"/>
            <a:ext cx="381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Skills that would otherwise create a </a:t>
            </a:r>
            <a:pPr>
              <a:lnSpc>
                <a:spcPct val="145000"/>
              </a:lnSpc>
            </a:pPr>
            <a:r>
              <a:rPr lang="en-US" sz="1400" b="1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bottleneck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62000" y="4318000"/>
            <a:ext cx="635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1A5F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POWER LAW OF PRACTICE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62000" y="4724400"/>
            <a:ext cx="711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According to the Power Law of Practice, performance improves as a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logarithmic function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of practice. The more a skill is practiced, the faster and more accurate it becomes — but with diminishing returns.</a:t>
            </a:r>
            <a:endParaRPr lang="en-US" sz="180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8382000" y="4318000"/>
          <a:ext cx="7112000" cy="2921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Text 17"/>
          <p:cNvSpPr/>
          <p:nvPr/>
        </p:nvSpPr>
        <p:spPr>
          <a:xfrm>
            <a:off x="762000" y="6350000"/>
            <a:ext cx="71120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 the 4C/ID blueprint, part-task practice is represented by a series of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small circles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alongside the learning tasks, indicating repeated drill exercises for specific skills.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762000" y="7620000"/>
            <a:ext cx="762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Source: van Merriënboer &amp; Kirschner (2007); Newell &amp; Rosenbloom (1981)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14986000" y="8636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28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1A5F6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44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A5F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4C/ID Blueprint &amp; Ten Steps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016000"/>
            <a:ext cx="635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333500"/>
            <a:ext cx="147320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4C/ID blueprint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visually represents all four components and their relationships. The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Ten Steps to Complex Learning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(van Merriënboer &amp; Kirschner, 2007) provide a practical implementation guide.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62000" y="22225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1A5F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TEN STEPS TO COMPLEX LEARNING</a:t>
            </a:r>
            <a:endParaRPr lang="en-US" sz="14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2641600"/>
          <a:ext cx="14732000" cy="4699000"/>
        </p:xfrm>
        <a:graphic>
          <a:graphicData uri="http://schemas.openxmlformats.org/drawingml/2006/table">
            <a:tbl>
              <a:tblPr/>
              <a:tblGrid>
                <a:gridCol w="736600"/>
                <a:gridCol w="5156200"/>
                <a:gridCol w="4419600"/>
                <a:gridCol w="4419600"/>
              </a:tblGrid>
              <a:tr h="415729">
                <a:tc>
                  <a:txBody>
                    <a:bodyPr/>
                    <a:lstStyle/>
                    <a:p>
                      <a:pPr algn="l"/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F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Step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F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Component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F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Focus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F6E"/>
                    </a:solidFill>
                  </a:tcPr>
                </a:tc>
              </a:tr>
              <a:tr h="42832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5F6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Design Learning Tasks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Learning Tasks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Define whole-task experiences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  <a:tr h="42832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5F6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Sequence Task Classes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Learning Tasks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Simple to complex progression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5"/>
                    </a:solidFill>
                  </a:tcPr>
                </a:tc>
              </a:tr>
              <a:tr h="42832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5F6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Set Performance Objectives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Learning Tasks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Standards for each task class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  <a:tr h="42832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D4943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4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Design Supportive Information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Supportive Info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Cognitive strategies &amp; mental models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5"/>
                    </a:solidFill>
                  </a:tcPr>
                </a:tc>
              </a:tr>
              <a:tr h="42832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D4943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5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Analyze Cognitive Strategies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Supportive Info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Problem-solving heuristics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  <a:tr h="42832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D4943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6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Analyze Mental Models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Supportive Info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Domain conceptual models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5"/>
                    </a:solidFill>
                  </a:tcPr>
                </a:tc>
              </a:tr>
              <a:tr h="42832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6B7B8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7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Design Procedural Information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Procedural Info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Step-by-step guidance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  <a:tr h="42832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6B7B8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8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Analyze Cognitive Rules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Procedural Info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"If-then" production rules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5"/>
                    </a:solidFill>
                  </a:tcPr>
                </a:tc>
              </a:tr>
              <a:tr h="42832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6B7B8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9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Analyze Prerequisite Knowledge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Procedural Info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Required entry skills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  <a:tr h="42832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63D4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Design Part-Task Practice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Part-Task Practice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Drill for automaticity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5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762000" y="76200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1A5F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BEST SUITED FOR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62000" y="7975600"/>
            <a:ext cx="1473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Vocational education, professional training, university programs (medicine, business, law), competency-based training in industry and military.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4986000" y="8636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29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1A5F6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44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A5F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4C/ID Implications for Multimedia Design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016000"/>
            <a:ext cx="635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333500"/>
            <a:ext cx="1473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4C/ID model has significant implications for designing multimedia-based instruction: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2000" y="2032000"/>
            <a:ext cx="4699000" cy="2159000"/>
          </a:xfrm>
          <a:prstGeom prst="rect">
            <a:avLst/>
          </a:prstGeom>
          <a:solidFill>
            <a:srgbClr val="EDEAE5"/>
          </a:solidFill>
          <a:ln/>
        </p:spPr>
      </p:sp>
      <p:sp>
        <p:nvSpPr>
          <p:cNvPr id="7" name="Shape 5"/>
          <p:cNvSpPr/>
          <p:nvPr/>
        </p:nvSpPr>
        <p:spPr>
          <a:xfrm>
            <a:off x="952500" y="21844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33350" y="22225"/>
                </a:moveTo>
                <a:cubicBezTo>
                  <a:pt x="133350" y="9932"/>
                  <a:pt x="143282" y="0"/>
                  <a:pt x="155575" y="0"/>
                </a:cubicBezTo>
                <a:lnTo>
                  <a:pt x="200025" y="0"/>
                </a:lnTo>
                <a:cubicBezTo>
                  <a:pt x="212318" y="0"/>
                  <a:pt x="222250" y="9932"/>
                  <a:pt x="222250" y="22225"/>
                </a:cubicBezTo>
                <a:lnTo>
                  <a:pt x="222250" y="66675"/>
                </a:lnTo>
                <a:cubicBezTo>
                  <a:pt x="222250" y="78968"/>
                  <a:pt x="212318" y="88900"/>
                  <a:pt x="200025" y="88900"/>
                </a:cubicBezTo>
                <a:lnTo>
                  <a:pt x="155575" y="88900"/>
                </a:lnTo>
                <a:cubicBezTo>
                  <a:pt x="143282" y="88900"/>
                  <a:pt x="133350" y="78968"/>
                  <a:pt x="133350" y="66675"/>
                </a:cubicBezTo>
                <a:lnTo>
                  <a:pt x="133350" y="22225"/>
                </a:lnTo>
                <a:close/>
                <a:moveTo>
                  <a:pt x="155575" y="266700"/>
                </a:moveTo>
                <a:lnTo>
                  <a:pt x="200025" y="266700"/>
                </a:lnTo>
                <a:cubicBezTo>
                  <a:pt x="212318" y="266700"/>
                  <a:pt x="222250" y="276632"/>
                  <a:pt x="222250" y="288925"/>
                </a:cubicBezTo>
                <a:lnTo>
                  <a:pt x="222250" y="333375"/>
                </a:lnTo>
                <a:cubicBezTo>
                  <a:pt x="222250" y="345668"/>
                  <a:pt x="212318" y="355600"/>
                  <a:pt x="200025" y="355600"/>
                </a:cubicBezTo>
                <a:lnTo>
                  <a:pt x="155575" y="355600"/>
                </a:lnTo>
                <a:cubicBezTo>
                  <a:pt x="143282" y="355600"/>
                  <a:pt x="133350" y="345668"/>
                  <a:pt x="133350" y="333375"/>
                </a:cubicBezTo>
                <a:lnTo>
                  <a:pt x="133350" y="288925"/>
                </a:lnTo>
                <a:cubicBezTo>
                  <a:pt x="133350" y="276632"/>
                  <a:pt x="143282" y="266700"/>
                  <a:pt x="155575" y="266700"/>
                </a:cubicBezTo>
                <a:close/>
                <a:moveTo>
                  <a:pt x="288925" y="266700"/>
                </a:moveTo>
                <a:lnTo>
                  <a:pt x="333375" y="266700"/>
                </a:lnTo>
                <a:cubicBezTo>
                  <a:pt x="345668" y="266700"/>
                  <a:pt x="355600" y="276632"/>
                  <a:pt x="355600" y="288925"/>
                </a:cubicBezTo>
                <a:lnTo>
                  <a:pt x="355600" y="333375"/>
                </a:lnTo>
                <a:cubicBezTo>
                  <a:pt x="355600" y="345668"/>
                  <a:pt x="345668" y="355600"/>
                  <a:pt x="333375" y="355600"/>
                </a:cubicBezTo>
                <a:lnTo>
                  <a:pt x="288925" y="355600"/>
                </a:lnTo>
                <a:cubicBezTo>
                  <a:pt x="276632" y="355600"/>
                  <a:pt x="266700" y="345668"/>
                  <a:pt x="266700" y="333375"/>
                </a:cubicBezTo>
                <a:lnTo>
                  <a:pt x="266700" y="288925"/>
                </a:lnTo>
                <a:cubicBezTo>
                  <a:pt x="266700" y="276632"/>
                  <a:pt x="276632" y="266700"/>
                  <a:pt x="288925" y="266700"/>
                </a:cubicBezTo>
                <a:close/>
                <a:moveTo>
                  <a:pt x="222250" y="133350"/>
                </a:moveTo>
                <a:lnTo>
                  <a:pt x="266700" y="133350"/>
                </a:lnTo>
                <a:cubicBezTo>
                  <a:pt x="278993" y="133350"/>
                  <a:pt x="288925" y="143282"/>
                  <a:pt x="288925" y="155575"/>
                </a:cubicBezTo>
                <a:lnTo>
                  <a:pt x="288925" y="200025"/>
                </a:lnTo>
                <a:cubicBezTo>
                  <a:pt x="288925" y="212318"/>
                  <a:pt x="278993" y="222250"/>
                  <a:pt x="266700" y="222250"/>
                </a:cubicBezTo>
                <a:lnTo>
                  <a:pt x="222250" y="222250"/>
                </a:lnTo>
                <a:cubicBezTo>
                  <a:pt x="209957" y="222250"/>
                  <a:pt x="200025" y="212318"/>
                  <a:pt x="200025" y="200025"/>
                </a:cubicBezTo>
                <a:lnTo>
                  <a:pt x="200025" y="155575"/>
                </a:lnTo>
                <a:cubicBezTo>
                  <a:pt x="200025" y="143282"/>
                  <a:pt x="209957" y="133350"/>
                  <a:pt x="222250" y="133350"/>
                </a:cubicBezTo>
                <a:close/>
                <a:moveTo>
                  <a:pt x="95429" y="130641"/>
                </a:moveTo>
                <a:cubicBezTo>
                  <a:pt x="104110" y="121960"/>
                  <a:pt x="118209" y="121960"/>
                  <a:pt x="126891" y="130641"/>
                </a:cubicBezTo>
                <a:lnTo>
                  <a:pt x="158353" y="162104"/>
                </a:lnTo>
                <a:cubicBezTo>
                  <a:pt x="167035" y="170785"/>
                  <a:pt x="167035" y="184884"/>
                  <a:pt x="158353" y="193566"/>
                </a:cubicBezTo>
                <a:lnTo>
                  <a:pt x="126891" y="225028"/>
                </a:lnTo>
                <a:cubicBezTo>
                  <a:pt x="118209" y="233710"/>
                  <a:pt x="104110" y="233710"/>
                  <a:pt x="95429" y="225028"/>
                </a:cubicBezTo>
                <a:lnTo>
                  <a:pt x="63966" y="193496"/>
                </a:lnTo>
                <a:cubicBezTo>
                  <a:pt x="55285" y="184815"/>
                  <a:pt x="55285" y="170716"/>
                  <a:pt x="63966" y="162034"/>
                </a:cubicBezTo>
                <a:lnTo>
                  <a:pt x="95429" y="130572"/>
                </a:lnTo>
                <a:close/>
                <a:moveTo>
                  <a:pt x="22225" y="266700"/>
                </a:moveTo>
                <a:lnTo>
                  <a:pt x="66675" y="266700"/>
                </a:lnTo>
                <a:cubicBezTo>
                  <a:pt x="78968" y="266700"/>
                  <a:pt x="88900" y="276632"/>
                  <a:pt x="88900" y="288925"/>
                </a:cubicBezTo>
                <a:lnTo>
                  <a:pt x="88900" y="333375"/>
                </a:lnTo>
                <a:cubicBezTo>
                  <a:pt x="88900" y="345668"/>
                  <a:pt x="78968" y="355600"/>
                  <a:pt x="66675" y="355600"/>
                </a:cubicBezTo>
                <a:lnTo>
                  <a:pt x="22225" y="355600"/>
                </a:lnTo>
                <a:cubicBezTo>
                  <a:pt x="9932" y="355600"/>
                  <a:pt x="0" y="345668"/>
                  <a:pt x="0" y="333375"/>
                </a:cubicBezTo>
                <a:lnTo>
                  <a:pt x="0" y="288925"/>
                </a:lnTo>
                <a:cubicBezTo>
                  <a:pt x="0" y="276632"/>
                  <a:pt x="9932" y="266700"/>
                  <a:pt x="22225" y="266700"/>
                </a:cubicBezTo>
                <a:close/>
              </a:path>
            </a:pathLst>
          </a:custGeom>
          <a:solidFill>
            <a:srgbClr val="1A5F6E"/>
          </a:solidFill>
          <a:ln/>
        </p:spPr>
      </p:sp>
      <p:sp>
        <p:nvSpPr>
          <p:cNvPr id="8" name="Text 6"/>
          <p:cNvSpPr/>
          <p:nvPr/>
        </p:nvSpPr>
        <p:spPr>
          <a:xfrm>
            <a:off x="1397000" y="21590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2B2B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Whole-Task Sequencing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52500" y="2565400"/>
            <a:ext cx="43180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Multimedia can present authentic complex tasks that would be difficult or impossible in traditional formats — simulations, virtual environments, interactive scenarios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778500" y="2032000"/>
            <a:ext cx="4699000" cy="2159000"/>
          </a:xfrm>
          <a:prstGeom prst="rect">
            <a:avLst/>
          </a:prstGeom>
          <a:solidFill>
            <a:srgbClr val="EDEAE5"/>
          </a:solidFill>
          <a:ln/>
        </p:spPr>
      </p:sp>
      <p:sp>
        <p:nvSpPr>
          <p:cNvPr id="11" name="Shape 9"/>
          <p:cNvSpPr/>
          <p:nvPr/>
        </p:nvSpPr>
        <p:spPr>
          <a:xfrm>
            <a:off x="5969000" y="21844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2225" y="44450"/>
                </a:moveTo>
                <a:cubicBezTo>
                  <a:pt x="9932" y="44450"/>
                  <a:pt x="0" y="54382"/>
                  <a:pt x="0" y="66675"/>
                </a:cubicBezTo>
                <a:cubicBezTo>
                  <a:pt x="0" y="78968"/>
                  <a:pt x="9932" y="88900"/>
                  <a:pt x="22225" y="88900"/>
                </a:cubicBezTo>
                <a:lnTo>
                  <a:pt x="82441" y="88900"/>
                </a:lnTo>
                <a:cubicBezTo>
                  <a:pt x="90984" y="108555"/>
                  <a:pt x="110569" y="122238"/>
                  <a:pt x="133350" y="122238"/>
                </a:cubicBezTo>
                <a:cubicBezTo>
                  <a:pt x="156131" y="122238"/>
                  <a:pt x="175716" y="108555"/>
                  <a:pt x="184259" y="88900"/>
                </a:cubicBezTo>
                <a:lnTo>
                  <a:pt x="333375" y="88900"/>
                </a:lnTo>
                <a:cubicBezTo>
                  <a:pt x="345668" y="88900"/>
                  <a:pt x="355600" y="78968"/>
                  <a:pt x="355600" y="66675"/>
                </a:cubicBezTo>
                <a:cubicBezTo>
                  <a:pt x="355600" y="54382"/>
                  <a:pt x="345668" y="44450"/>
                  <a:pt x="333375" y="44450"/>
                </a:cubicBezTo>
                <a:lnTo>
                  <a:pt x="184259" y="44450"/>
                </a:lnTo>
                <a:cubicBezTo>
                  <a:pt x="175716" y="24795"/>
                  <a:pt x="156131" y="11112"/>
                  <a:pt x="133350" y="11112"/>
                </a:cubicBezTo>
                <a:cubicBezTo>
                  <a:pt x="110569" y="11112"/>
                  <a:pt x="90984" y="24795"/>
                  <a:pt x="82441" y="44450"/>
                </a:cubicBezTo>
                <a:lnTo>
                  <a:pt x="22225" y="44450"/>
                </a:lnTo>
                <a:close/>
                <a:moveTo>
                  <a:pt x="22225" y="155575"/>
                </a:moveTo>
                <a:cubicBezTo>
                  <a:pt x="9932" y="155575"/>
                  <a:pt x="0" y="165507"/>
                  <a:pt x="0" y="177800"/>
                </a:cubicBezTo>
                <a:cubicBezTo>
                  <a:pt x="0" y="190093"/>
                  <a:pt x="9932" y="200025"/>
                  <a:pt x="22225" y="200025"/>
                </a:cubicBezTo>
                <a:lnTo>
                  <a:pt x="193566" y="200025"/>
                </a:lnTo>
                <a:cubicBezTo>
                  <a:pt x="202109" y="219680"/>
                  <a:pt x="221694" y="233363"/>
                  <a:pt x="244475" y="233363"/>
                </a:cubicBezTo>
                <a:cubicBezTo>
                  <a:pt x="267256" y="233363"/>
                  <a:pt x="286841" y="219680"/>
                  <a:pt x="295384" y="200025"/>
                </a:cubicBezTo>
                <a:lnTo>
                  <a:pt x="333375" y="200025"/>
                </a:lnTo>
                <a:cubicBezTo>
                  <a:pt x="345668" y="200025"/>
                  <a:pt x="355600" y="190093"/>
                  <a:pt x="355600" y="177800"/>
                </a:cubicBezTo>
                <a:cubicBezTo>
                  <a:pt x="355600" y="165507"/>
                  <a:pt x="345668" y="155575"/>
                  <a:pt x="333375" y="155575"/>
                </a:cubicBezTo>
                <a:lnTo>
                  <a:pt x="295384" y="155575"/>
                </a:lnTo>
                <a:cubicBezTo>
                  <a:pt x="286841" y="135920"/>
                  <a:pt x="267256" y="122238"/>
                  <a:pt x="244475" y="122238"/>
                </a:cubicBezTo>
                <a:cubicBezTo>
                  <a:pt x="221694" y="122238"/>
                  <a:pt x="202109" y="135920"/>
                  <a:pt x="193566" y="155575"/>
                </a:cubicBezTo>
                <a:lnTo>
                  <a:pt x="22225" y="155575"/>
                </a:lnTo>
                <a:close/>
                <a:moveTo>
                  <a:pt x="22225" y="266700"/>
                </a:moveTo>
                <a:cubicBezTo>
                  <a:pt x="9932" y="266700"/>
                  <a:pt x="0" y="276632"/>
                  <a:pt x="0" y="288925"/>
                </a:cubicBezTo>
                <a:cubicBezTo>
                  <a:pt x="0" y="301218"/>
                  <a:pt x="9932" y="311150"/>
                  <a:pt x="22225" y="311150"/>
                </a:cubicBezTo>
                <a:lnTo>
                  <a:pt x="60216" y="311150"/>
                </a:lnTo>
                <a:cubicBezTo>
                  <a:pt x="68759" y="330805"/>
                  <a:pt x="88344" y="344488"/>
                  <a:pt x="111125" y="344488"/>
                </a:cubicBezTo>
                <a:cubicBezTo>
                  <a:pt x="133906" y="344488"/>
                  <a:pt x="153491" y="330805"/>
                  <a:pt x="162034" y="311150"/>
                </a:cubicBezTo>
                <a:lnTo>
                  <a:pt x="333375" y="311150"/>
                </a:lnTo>
                <a:cubicBezTo>
                  <a:pt x="345668" y="311150"/>
                  <a:pt x="355600" y="301218"/>
                  <a:pt x="355600" y="288925"/>
                </a:cubicBezTo>
                <a:cubicBezTo>
                  <a:pt x="355600" y="276632"/>
                  <a:pt x="345668" y="266700"/>
                  <a:pt x="333375" y="266700"/>
                </a:cubicBezTo>
                <a:lnTo>
                  <a:pt x="162034" y="266700"/>
                </a:lnTo>
                <a:cubicBezTo>
                  <a:pt x="153491" y="247045"/>
                  <a:pt x="133906" y="233363"/>
                  <a:pt x="111125" y="233363"/>
                </a:cubicBezTo>
                <a:cubicBezTo>
                  <a:pt x="88344" y="233363"/>
                  <a:pt x="68759" y="247045"/>
                  <a:pt x="60216" y="266700"/>
                </a:cubicBezTo>
                <a:lnTo>
                  <a:pt x="22225" y="266700"/>
                </a:lnTo>
                <a:close/>
              </a:path>
            </a:pathLst>
          </a:custGeom>
          <a:solidFill>
            <a:srgbClr val="1A5F6E"/>
          </a:solidFill>
          <a:ln/>
        </p:spPr>
      </p:sp>
      <p:sp>
        <p:nvSpPr>
          <p:cNvPr id="12" name="Text 10"/>
          <p:cNvSpPr/>
          <p:nvPr/>
        </p:nvSpPr>
        <p:spPr>
          <a:xfrm>
            <a:off x="6413500" y="21590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2B2B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Dynamic Scaffolding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969000" y="2565400"/>
            <a:ext cx="43180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Computer-based systems can adapt support based on learner performance, automatically fading guidance as expertise develops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0795000" y="2032000"/>
            <a:ext cx="4699000" cy="2159000"/>
          </a:xfrm>
          <a:prstGeom prst="rect">
            <a:avLst/>
          </a:prstGeom>
          <a:solidFill>
            <a:srgbClr val="EDEAE5"/>
          </a:solidFill>
          <a:ln/>
        </p:spPr>
      </p:sp>
      <p:sp>
        <p:nvSpPr>
          <p:cNvPr id="15" name="Shape 13"/>
          <p:cNvSpPr/>
          <p:nvPr/>
        </p:nvSpPr>
        <p:spPr>
          <a:xfrm>
            <a:off x="11007725" y="21844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235307" y="-6876"/>
                </a:moveTo>
                <a:cubicBezTo>
                  <a:pt x="243572" y="-903"/>
                  <a:pt x="246628" y="9932"/>
                  <a:pt x="242878" y="19377"/>
                </a:cubicBezTo>
                <a:lnTo>
                  <a:pt x="188426" y="155575"/>
                </a:lnTo>
                <a:lnTo>
                  <a:pt x="288925" y="155575"/>
                </a:lnTo>
                <a:cubicBezTo>
                  <a:pt x="298301" y="155575"/>
                  <a:pt x="306636" y="161409"/>
                  <a:pt x="309830" y="170230"/>
                </a:cubicBezTo>
                <a:cubicBezTo>
                  <a:pt x="313025" y="179050"/>
                  <a:pt x="310317" y="188913"/>
                  <a:pt x="303163" y="194885"/>
                </a:cubicBezTo>
                <a:lnTo>
                  <a:pt x="103138" y="361573"/>
                </a:lnTo>
                <a:cubicBezTo>
                  <a:pt x="95290" y="368102"/>
                  <a:pt x="84108" y="368449"/>
                  <a:pt x="75843" y="362476"/>
                </a:cubicBezTo>
                <a:cubicBezTo>
                  <a:pt x="67578" y="356503"/>
                  <a:pt x="64522" y="345668"/>
                  <a:pt x="68272" y="336223"/>
                </a:cubicBezTo>
                <a:lnTo>
                  <a:pt x="122724" y="200025"/>
                </a:lnTo>
                <a:lnTo>
                  <a:pt x="22225" y="200025"/>
                </a:lnTo>
                <a:cubicBezTo>
                  <a:pt x="12849" y="200025"/>
                  <a:pt x="4514" y="194191"/>
                  <a:pt x="1320" y="185370"/>
                </a:cubicBezTo>
                <a:cubicBezTo>
                  <a:pt x="-1875" y="176550"/>
                  <a:pt x="833" y="166688"/>
                  <a:pt x="7987" y="160715"/>
                </a:cubicBezTo>
                <a:lnTo>
                  <a:pt x="208012" y="-5973"/>
                </a:lnTo>
                <a:cubicBezTo>
                  <a:pt x="215860" y="-12502"/>
                  <a:pt x="227042" y="-12849"/>
                  <a:pt x="235307" y="-6876"/>
                </a:cubicBezTo>
                <a:close/>
              </a:path>
            </a:pathLst>
          </a:custGeom>
          <a:solidFill>
            <a:srgbClr val="1A5F6E"/>
          </a:solidFill>
          <a:ln/>
        </p:spPr>
      </p:sp>
      <p:sp>
        <p:nvSpPr>
          <p:cNvPr id="16" name="Text 14"/>
          <p:cNvSpPr/>
          <p:nvPr/>
        </p:nvSpPr>
        <p:spPr>
          <a:xfrm>
            <a:off x="11430000" y="21590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2B2B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JIT Information Delivery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985500" y="2565400"/>
            <a:ext cx="43180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Multimedia enables precise timing of procedural information — presenting help exactly when the learner needs it during task performance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62000" y="4508500"/>
            <a:ext cx="4699000" cy="2159000"/>
          </a:xfrm>
          <a:prstGeom prst="rect">
            <a:avLst/>
          </a:prstGeom>
          <a:solidFill>
            <a:srgbClr val="EDEAE5"/>
          </a:solidFill>
          <a:ln/>
        </p:spPr>
      </p:sp>
      <p:sp>
        <p:nvSpPr>
          <p:cNvPr id="19" name="Shape 17"/>
          <p:cNvSpPr/>
          <p:nvPr/>
        </p:nvSpPr>
        <p:spPr>
          <a:xfrm>
            <a:off x="930275" y="46609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355600" y="66675"/>
                </a:moveTo>
                <a:lnTo>
                  <a:pt x="44450" y="66675"/>
                </a:lnTo>
                <a:cubicBezTo>
                  <a:pt x="19933" y="66675"/>
                  <a:pt x="0" y="86608"/>
                  <a:pt x="0" y="111125"/>
                </a:cubicBezTo>
                <a:lnTo>
                  <a:pt x="0" y="244475"/>
                </a:lnTo>
                <a:cubicBezTo>
                  <a:pt x="0" y="268992"/>
                  <a:pt x="19933" y="288925"/>
                  <a:pt x="44450" y="288925"/>
                </a:cubicBezTo>
                <a:lnTo>
                  <a:pt x="126057" y="288925"/>
                </a:lnTo>
                <a:cubicBezTo>
                  <a:pt x="137864" y="288925"/>
                  <a:pt x="149185" y="284272"/>
                  <a:pt x="157520" y="275937"/>
                </a:cubicBezTo>
                <a:lnTo>
                  <a:pt x="181064" y="252393"/>
                </a:lnTo>
                <a:cubicBezTo>
                  <a:pt x="186065" y="247392"/>
                  <a:pt x="192941" y="244544"/>
                  <a:pt x="200025" y="244544"/>
                </a:cubicBezTo>
                <a:cubicBezTo>
                  <a:pt x="207109" y="244544"/>
                  <a:pt x="213985" y="247392"/>
                  <a:pt x="218986" y="252393"/>
                </a:cubicBezTo>
                <a:lnTo>
                  <a:pt x="242530" y="275937"/>
                </a:lnTo>
                <a:cubicBezTo>
                  <a:pt x="250865" y="284272"/>
                  <a:pt x="262186" y="288925"/>
                  <a:pt x="273993" y="288925"/>
                </a:cubicBezTo>
                <a:lnTo>
                  <a:pt x="355600" y="288925"/>
                </a:lnTo>
                <a:cubicBezTo>
                  <a:pt x="380117" y="288925"/>
                  <a:pt x="400050" y="268992"/>
                  <a:pt x="400050" y="244475"/>
                </a:cubicBezTo>
                <a:lnTo>
                  <a:pt x="400050" y="111125"/>
                </a:lnTo>
                <a:cubicBezTo>
                  <a:pt x="400050" y="86608"/>
                  <a:pt x="380117" y="66675"/>
                  <a:pt x="355600" y="66675"/>
                </a:cubicBezTo>
                <a:close/>
                <a:moveTo>
                  <a:pt x="55563" y="166688"/>
                </a:moveTo>
                <a:cubicBezTo>
                  <a:pt x="55563" y="142155"/>
                  <a:pt x="75480" y="122238"/>
                  <a:pt x="100013" y="122238"/>
                </a:cubicBezTo>
                <a:cubicBezTo>
                  <a:pt x="124545" y="122238"/>
                  <a:pt x="144463" y="142155"/>
                  <a:pt x="144463" y="166688"/>
                </a:cubicBezTo>
                <a:cubicBezTo>
                  <a:pt x="144463" y="191220"/>
                  <a:pt x="124545" y="211138"/>
                  <a:pt x="100013" y="211138"/>
                </a:cubicBezTo>
                <a:cubicBezTo>
                  <a:pt x="75480" y="211138"/>
                  <a:pt x="55563" y="191220"/>
                  <a:pt x="55563" y="166688"/>
                </a:cubicBezTo>
                <a:close/>
                <a:moveTo>
                  <a:pt x="300038" y="122238"/>
                </a:moveTo>
                <a:cubicBezTo>
                  <a:pt x="324570" y="122238"/>
                  <a:pt x="344488" y="142155"/>
                  <a:pt x="344488" y="166688"/>
                </a:cubicBezTo>
                <a:cubicBezTo>
                  <a:pt x="344488" y="191220"/>
                  <a:pt x="324570" y="211138"/>
                  <a:pt x="300038" y="211138"/>
                </a:cubicBezTo>
                <a:cubicBezTo>
                  <a:pt x="275505" y="211138"/>
                  <a:pt x="255587" y="191220"/>
                  <a:pt x="255587" y="166688"/>
                </a:cubicBezTo>
                <a:cubicBezTo>
                  <a:pt x="255587" y="142155"/>
                  <a:pt x="275505" y="122238"/>
                  <a:pt x="300038" y="122238"/>
                </a:cubicBezTo>
                <a:close/>
              </a:path>
            </a:pathLst>
          </a:custGeom>
          <a:solidFill>
            <a:srgbClr val="1A5F6E"/>
          </a:solidFill>
          <a:ln/>
        </p:spPr>
      </p:sp>
      <p:sp>
        <p:nvSpPr>
          <p:cNvPr id="20" name="Text 18"/>
          <p:cNvSpPr/>
          <p:nvPr/>
        </p:nvSpPr>
        <p:spPr>
          <a:xfrm>
            <a:off x="1397000" y="46355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2B2B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 Mental Models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52500" y="5041900"/>
            <a:ext cx="43180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Animations, simulations, and interactive diagrams help build cognitive schemas that support problem-solving in complex domains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778500" y="4508500"/>
            <a:ext cx="4699000" cy="2159000"/>
          </a:xfrm>
          <a:prstGeom prst="rect">
            <a:avLst/>
          </a:prstGeom>
          <a:solidFill>
            <a:srgbClr val="EDEAE5"/>
          </a:solidFill>
          <a:ln/>
        </p:spPr>
      </p:sp>
      <p:sp>
        <p:nvSpPr>
          <p:cNvPr id="23" name="Shape 21"/>
          <p:cNvSpPr/>
          <p:nvPr/>
        </p:nvSpPr>
        <p:spPr>
          <a:xfrm>
            <a:off x="5969000" y="46609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80452" y="23892"/>
                </a:moveTo>
                <a:cubicBezTo>
                  <a:pt x="288786" y="20419"/>
                  <a:pt x="298301" y="22364"/>
                  <a:pt x="304691" y="28684"/>
                </a:cubicBezTo>
                <a:lnTo>
                  <a:pt x="349141" y="73134"/>
                </a:lnTo>
                <a:cubicBezTo>
                  <a:pt x="353308" y="77301"/>
                  <a:pt x="355669" y="82927"/>
                  <a:pt x="355669" y="88831"/>
                </a:cubicBezTo>
                <a:cubicBezTo>
                  <a:pt x="355669" y="94734"/>
                  <a:pt x="353308" y="100360"/>
                  <a:pt x="349141" y="104527"/>
                </a:cubicBezTo>
                <a:lnTo>
                  <a:pt x="304691" y="148977"/>
                </a:lnTo>
                <a:cubicBezTo>
                  <a:pt x="298301" y="155367"/>
                  <a:pt x="288786" y="157242"/>
                  <a:pt x="280452" y="153769"/>
                </a:cubicBezTo>
                <a:cubicBezTo>
                  <a:pt x="272117" y="150297"/>
                  <a:pt x="266700" y="142309"/>
                  <a:pt x="266700" y="133350"/>
                </a:cubicBezTo>
                <a:lnTo>
                  <a:pt x="266700" y="111125"/>
                </a:lnTo>
                <a:lnTo>
                  <a:pt x="244475" y="111125"/>
                </a:lnTo>
                <a:cubicBezTo>
                  <a:pt x="237460" y="111125"/>
                  <a:pt x="230862" y="114389"/>
                  <a:pt x="226695" y="120015"/>
                </a:cubicBezTo>
                <a:lnTo>
                  <a:pt x="204192" y="150019"/>
                </a:lnTo>
                <a:lnTo>
                  <a:pt x="176411" y="113000"/>
                </a:lnTo>
                <a:lnTo>
                  <a:pt x="191135" y="93345"/>
                </a:lnTo>
                <a:cubicBezTo>
                  <a:pt x="203706" y="76537"/>
                  <a:pt x="223500" y="66675"/>
                  <a:pt x="244475" y="66675"/>
                </a:cubicBezTo>
                <a:lnTo>
                  <a:pt x="266700" y="66675"/>
                </a:lnTo>
                <a:lnTo>
                  <a:pt x="266700" y="44450"/>
                </a:lnTo>
                <a:cubicBezTo>
                  <a:pt x="266700" y="35491"/>
                  <a:pt x="272117" y="27365"/>
                  <a:pt x="280452" y="23892"/>
                </a:cubicBezTo>
                <a:close/>
                <a:moveTo>
                  <a:pt x="106958" y="205581"/>
                </a:moveTo>
                <a:lnTo>
                  <a:pt x="134739" y="242600"/>
                </a:lnTo>
                <a:lnTo>
                  <a:pt x="120015" y="262255"/>
                </a:lnTo>
                <a:cubicBezTo>
                  <a:pt x="107444" y="279063"/>
                  <a:pt x="87650" y="288925"/>
                  <a:pt x="66675" y="288925"/>
                </a:cubicBezTo>
                <a:lnTo>
                  <a:pt x="22225" y="288925"/>
                </a:lnTo>
                <a:cubicBezTo>
                  <a:pt x="9932" y="288925"/>
                  <a:pt x="0" y="278993"/>
                  <a:pt x="0" y="266700"/>
                </a:cubicBezTo>
                <a:cubicBezTo>
                  <a:pt x="0" y="254407"/>
                  <a:pt x="9932" y="244475"/>
                  <a:pt x="22225" y="244475"/>
                </a:cubicBezTo>
                <a:lnTo>
                  <a:pt x="66675" y="244475"/>
                </a:lnTo>
                <a:cubicBezTo>
                  <a:pt x="73690" y="244475"/>
                  <a:pt x="80288" y="241211"/>
                  <a:pt x="84455" y="235585"/>
                </a:cubicBezTo>
                <a:lnTo>
                  <a:pt x="106958" y="205581"/>
                </a:lnTo>
                <a:close/>
                <a:moveTo>
                  <a:pt x="304621" y="326846"/>
                </a:moveTo>
                <a:cubicBezTo>
                  <a:pt x="298232" y="333236"/>
                  <a:pt x="288717" y="335111"/>
                  <a:pt x="280382" y="331639"/>
                </a:cubicBezTo>
                <a:cubicBezTo>
                  <a:pt x="272048" y="328166"/>
                  <a:pt x="266700" y="320109"/>
                  <a:pt x="266700" y="311150"/>
                </a:cubicBezTo>
                <a:lnTo>
                  <a:pt x="266700" y="288925"/>
                </a:lnTo>
                <a:lnTo>
                  <a:pt x="244475" y="288925"/>
                </a:lnTo>
                <a:cubicBezTo>
                  <a:pt x="223500" y="288925"/>
                  <a:pt x="203706" y="279063"/>
                  <a:pt x="191135" y="262255"/>
                </a:cubicBezTo>
                <a:lnTo>
                  <a:pt x="84455" y="120015"/>
                </a:lnTo>
                <a:cubicBezTo>
                  <a:pt x="80288" y="114389"/>
                  <a:pt x="73690" y="111125"/>
                  <a:pt x="66675" y="111125"/>
                </a:cubicBezTo>
                <a:lnTo>
                  <a:pt x="22225" y="111125"/>
                </a:lnTo>
                <a:cubicBezTo>
                  <a:pt x="9932" y="111125"/>
                  <a:pt x="0" y="101193"/>
                  <a:pt x="0" y="88900"/>
                </a:cubicBezTo>
                <a:cubicBezTo>
                  <a:pt x="0" y="76607"/>
                  <a:pt x="9932" y="66675"/>
                  <a:pt x="22225" y="66675"/>
                </a:cubicBezTo>
                <a:lnTo>
                  <a:pt x="66675" y="66675"/>
                </a:lnTo>
                <a:cubicBezTo>
                  <a:pt x="87650" y="66675"/>
                  <a:pt x="107444" y="76537"/>
                  <a:pt x="120015" y="93345"/>
                </a:cubicBezTo>
                <a:lnTo>
                  <a:pt x="226695" y="235585"/>
                </a:lnTo>
                <a:cubicBezTo>
                  <a:pt x="230862" y="241211"/>
                  <a:pt x="237460" y="244475"/>
                  <a:pt x="244475" y="244475"/>
                </a:cubicBezTo>
                <a:lnTo>
                  <a:pt x="266700" y="244475"/>
                </a:lnTo>
                <a:lnTo>
                  <a:pt x="266700" y="222250"/>
                </a:lnTo>
                <a:cubicBezTo>
                  <a:pt x="266700" y="213291"/>
                  <a:pt x="272117" y="205165"/>
                  <a:pt x="280452" y="201692"/>
                </a:cubicBezTo>
                <a:cubicBezTo>
                  <a:pt x="288786" y="198219"/>
                  <a:pt x="298301" y="200164"/>
                  <a:pt x="304691" y="206484"/>
                </a:cubicBezTo>
                <a:lnTo>
                  <a:pt x="349141" y="250934"/>
                </a:lnTo>
                <a:cubicBezTo>
                  <a:pt x="353308" y="255101"/>
                  <a:pt x="355669" y="260727"/>
                  <a:pt x="355669" y="266631"/>
                </a:cubicBezTo>
                <a:cubicBezTo>
                  <a:pt x="355669" y="272534"/>
                  <a:pt x="353308" y="278160"/>
                  <a:pt x="349141" y="282327"/>
                </a:cubicBezTo>
                <a:lnTo>
                  <a:pt x="304691" y="326777"/>
                </a:lnTo>
                <a:close/>
              </a:path>
            </a:pathLst>
          </a:custGeom>
          <a:solidFill>
            <a:srgbClr val="1A5F6E"/>
          </a:solidFill>
          <a:ln/>
        </p:spPr>
      </p:sp>
      <p:sp>
        <p:nvSpPr>
          <p:cNvPr id="24" name="Text 22"/>
          <p:cNvSpPr/>
          <p:nvPr/>
        </p:nvSpPr>
        <p:spPr>
          <a:xfrm>
            <a:off x="6413500" y="46355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2B2B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Varied Practice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969000" y="5041900"/>
            <a:ext cx="43180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Digital environments can easily generate task variations, supporting the variability of practice principle for better transfer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0795000" y="4508500"/>
            <a:ext cx="4699000" cy="2159000"/>
          </a:xfrm>
          <a:prstGeom prst="rect">
            <a:avLst/>
          </a:prstGeom>
          <a:solidFill>
            <a:srgbClr val="1A5F6E"/>
          </a:solidFill>
          <a:ln/>
        </p:spPr>
      </p:sp>
      <p:sp>
        <p:nvSpPr>
          <p:cNvPr id="27" name="Shape 25"/>
          <p:cNvSpPr/>
          <p:nvPr/>
        </p:nvSpPr>
        <p:spPr>
          <a:xfrm>
            <a:off x="10941050" y="4660900"/>
            <a:ext cx="444500" cy="355600"/>
          </a:xfrm>
          <a:custGeom>
            <a:avLst/>
            <a:gdLst/>
            <a:ahLst/>
            <a:cxnLst/>
            <a:rect l="l" t="t" r="r" b="b"/>
            <a:pathLst>
              <a:path w="444500" h="355600">
                <a:moveTo>
                  <a:pt x="178147" y="5556"/>
                </a:moveTo>
                <a:cubicBezTo>
                  <a:pt x="224146" y="5556"/>
                  <a:pt x="261491" y="42901"/>
                  <a:pt x="261491" y="88900"/>
                </a:cubicBezTo>
                <a:cubicBezTo>
                  <a:pt x="261491" y="134899"/>
                  <a:pt x="224146" y="172244"/>
                  <a:pt x="178147" y="172244"/>
                </a:cubicBezTo>
                <a:cubicBezTo>
                  <a:pt x="132149" y="172244"/>
                  <a:pt x="94804" y="134899"/>
                  <a:pt x="94804" y="88900"/>
                </a:cubicBezTo>
                <a:cubicBezTo>
                  <a:pt x="94804" y="42901"/>
                  <a:pt x="132149" y="5556"/>
                  <a:pt x="178147" y="5556"/>
                </a:cubicBezTo>
                <a:close/>
                <a:moveTo>
                  <a:pt x="157450" y="211138"/>
                </a:moveTo>
                <a:lnTo>
                  <a:pt x="198705" y="211138"/>
                </a:lnTo>
                <a:lnTo>
                  <a:pt x="199747" y="211138"/>
                </a:lnTo>
                <a:cubicBezTo>
                  <a:pt x="190788" y="229751"/>
                  <a:pt x="194330" y="251559"/>
                  <a:pt x="207734" y="266353"/>
                </a:cubicBezTo>
                <a:cubicBezTo>
                  <a:pt x="193705" y="281841"/>
                  <a:pt x="190510" y="305108"/>
                  <a:pt x="201206" y="324277"/>
                </a:cubicBezTo>
                <a:lnTo>
                  <a:pt x="216833" y="352336"/>
                </a:lnTo>
                <a:cubicBezTo>
                  <a:pt x="217458" y="353447"/>
                  <a:pt x="218152" y="354558"/>
                  <a:pt x="218847" y="355600"/>
                </a:cubicBezTo>
                <a:lnTo>
                  <a:pt x="54243" y="355600"/>
                </a:lnTo>
                <a:cubicBezTo>
                  <a:pt x="42853" y="355600"/>
                  <a:pt x="33615" y="346363"/>
                  <a:pt x="33615" y="334972"/>
                </a:cubicBezTo>
                <a:cubicBezTo>
                  <a:pt x="33615" y="266561"/>
                  <a:pt x="89039" y="211137"/>
                  <a:pt x="157450" y="211137"/>
                </a:cubicBezTo>
                <a:close/>
                <a:moveTo>
                  <a:pt x="300454" y="171966"/>
                </a:moveTo>
                <a:cubicBezTo>
                  <a:pt x="300454" y="162729"/>
                  <a:pt x="307886" y="155297"/>
                  <a:pt x="317123" y="155297"/>
                </a:cubicBezTo>
                <a:lnTo>
                  <a:pt x="350460" y="155297"/>
                </a:lnTo>
                <a:cubicBezTo>
                  <a:pt x="359698" y="155297"/>
                  <a:pt x="367129" y="162729"/>
                  <a:pt x="367129" y="171966"/>
                </a:cubicBezTo>
                <a:lnTo>
                  <a:pt x="367129" y="176203"/>
                </a:lnTo>
                <a:cubicBezTo>
                  <a:pt x="367129" y="189329"/>
                  <a:pt x="383867" y="198983"/>
                  <a:pt x="395258" y="192455"/>
                </a:cubicBezTo>
                <a:lnTo>
                  <a:pt x="398730" y="190440"/>
                </a:lnTo>
                <a:cubicBezTo>
                  <a:pt x="406787" y="185787"/>
                  <a:pt x="417135" y="188635"/>
                  <a:pt x="421650" y="196761"/>
                </a:cubicBezTo>
                <a:lnTo>
                  <a:pt x="437207" y="224681"/>
                </a:lnTo>
                <a:cubicBezTo>
                  <a:pt x="441514" y="232460"/>
                  <a:pt x="439013" y="242183"/>
                  <a:pt x="431512" y="246906"/>
                </a:cubicBezTo>
                <a:lnTo>
                  <a:pt x="428248" y="248920"/>
                </a:lnTo>
                <a:cubicBezTo>
                  <a:pt x="416997" y="255935"/>
                  <a:pt x="416997" y="276632"/>
                  <a:pt x="428248" y="283716"/>
                </a:cubicBezTo>
                <a:lnTo>
                  <a:pt x="431443" y="285730"/>
                </a:lnTo>
                <a:cubicBezTo>
                  <a:pt x="438944" y="290453"/>
                  <a:pt x="441514" y="300176"/>
                  <a:pt x="437207" y="307955"/>
                </a:cubicBezTo>
                <a:lnTo>
                  <a:pt x="421580" y="336014"/>
                </a:lnTo>
                <a:cubicBezTo>
                  <a:pt x="417066" y="344140"/>
                  <a:pt x="406718" y="347057"/>
                  <a:pt x="398661" y="342334"/>
                </a:cubicBezTo>
                <a:lnTo>
                  <a:pt x="395258" y="340320"/>
                </a:lnTo>
                <a:cubicBezTo>
                  <a:pt x="383867" y="333722"/>
                  <a:pt x="367129" y="343446"/>
                  <a:pt x="367129" y="356572"/>
                </a:cubicBezTo>
                <a:lnTo>
                  <a:pt x="367129" y="360809"/>
                </a:lnTo>
                <a:cubicBezTo>
                  <a:pt x="367129" y="370046"/>
                  <a:pt x="359698" y="377478"/>
                  <a:pt x="350460" y="377478"/>
                </a:cubicBezTo>
                <a:lnTo>
                  <a:pt x="317123" y="377478"/>
                </a:lnTo>
                <a:cubicBezTo>
                  <a:pt x="307886" y="377478"/>
                  <a:pt x="300454" y="370046"/>
                  <a:pt x="300454" y="360809"/>
                </a:cubicBezTo>
                <a:lnTo>
                  <a:pt x="300454" y="356711"/>
                </a:lnTo>
                <a:cubicBezTo>
                  <a:pt x="300454" y="343515"/>
                  <a:pt x="283647" y="333792"/>
                  <a:pt x="272187" y="340390"/>
                </a:cubicBezTo>
                <a:lnTo>
                  <a:pt x="268853" y="342334"/>
                </a:lnTo>
                <a:cubicBezTo>
                  <a:pt x="260796" y="346988"/>
                  <a:pt x="250517" y="344140"/>
                  <a:pt x="245934" y="336014"/>
                </a:cubicBezTo>
                <a:lnTo>
                  <a:pt x="230237" y="307955"/>
                </a:lnTo>
                <a:cubicBezTo>
                  <a:pt x="225931" y="300176"/>
                  <a:pt x="228431" y="290384"/>
                  <a:pt x="236002" y="285661"/>
                </a:cubicBezTo>
                <a:lnTo>
                  <a:pt x="239058" y="283785"/>
                </a:lnTo>
                <a:cubicBezTo>
                  <a:pt x="250379" y="276771"/>
                  <a:pt x="250379" y="255935"/>
                  <a:pt x="239058" y="248920"/>
                </a:cubicBezTo>
                <a:lnTo>
                  <a:pt x="235932" y="246975"/>
                </a:lnTo>
                <a:cubicBezTo>
                  <a:pt x="228362" y="242253"/>
                  <a:pt x="225862" y="232460"/>
                  <a:pt x="230168" y="224681"/>
                </a:cubicBezTo>
                <a:lnTo>
                  <a:pt x="245795" y="196691"/>
                </a:lnTo>
                <a:cubicBezTo>
                  <a:pt x="250309" y="188565"/>
                  <a:pt x="260658" y="185718"/>
                  <a:pt x="268645" y="190371"/>
                </a:cubicBezTo>
                <a:lnTo>
                  <a:pt x="271978" y="192316"/>
                </a:lnTo>
                <a:cubicBezTo>
                  <a:pt x="283438" y="198914"/>
                  <a:pt x="300246" y="189190"/>
                  <a:pt x="300246" y="175994"/>
                </a:cubicBezTo>
                <a:lnTo>
                  <a:pt x="300246" y="171896"/>
                </a:lnTo>
                <a:close/>
                <a:moveTo>
                  <a:pt x="369838" y="266561"/>
                </a:moveTo>
                <a:cubicBezTo>
                  <a:pt x="369838" y="246628"/>
                  <a:pt x="353655" y="230445"/>
                  <a:pt x="333722" y="230445"/>
                </a:cubicBezTo>
                <a:cubicBezTo>
                  <a:pt x="313790" y="230445"/>
                  <a:pt x="297607" y="246628"/>
                  <a:pt x="297607" y="266561"/>
                </a:cubicBezTo>
                <a:cubicBezTo>
                  <a:pt x="297607" y="286494"/>
                  <a:pt x="313790" y="302677"/>
                  <a:pt x="333722" y="302677"/>
                </a:cubicBezTo>
                <a:cubicBezTo>
                  <a:pt x="353655" y="302677"/>
                  <a:pt x="369838" y="286494"/>
                  <a:pt x="369838" y="266561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28" name="Text 26"/>
          <p:cNvSpPr/>
          <p:nvPr/>
        </p:nvSpPr>
        <p:spPr>
          <a:xfrm>
            <a:off x="11430000" y="46355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Self-Directed Learning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985500" y="5041900"/>
            <a:ext cx="43180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model supports adaptive, individualized learning paths where learners progress at their own pace with appropriate scaffolding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62000" y="7048500"/>
            <a:ext cx="147320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A5F6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4C/ID model bridges cognitive load theory with practical instructional design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providing a systematic approach to creating multimedia instruction that develops integrated expertise rather than fragmented knowledge.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62000" y="8001000"/>
            <a:ext cx="889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Source: van Merriënboer &amp; Kirschner (2007); van Merriënboer et al. (2002)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4986000" y="8636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30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1A5F6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44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A5F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Comparing the Three Frameworks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016000"/>
            <a:ext cx="635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333500"/>
            <a:ext cx="1473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synthesis of the three theoretical frameworks covered in this module:</a:t>
            </a:r>
            <a:endParaRPr lang="en-US" sz="18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2032000"/>
          <a:ext cx="14732000" cy="3683000"/>
        </p:xfrm>
        <a:graphic>
          <a:graphicData uri="http://schemas.openxmlformats.org/drawingml/2006/table">
            <a:tbl>
              <a:tblPr/>
              <a:tblGrid>
                <a:gridCol w="2651760"/>
                <a:gridCol w="3977640"/>
                <a:gridCol w="3977640"/>
                <a:gridCol w="4124960"/>
              </a:tblGrid>
              <a:tr h="58420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Dimension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F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Cognitive Load Theory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F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ITPC Model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F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4C/ID Model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F6E"/>
                    </a:solidFill>
                  </a:tcPr>
                </a:tc>
              </a:tr>
              <a:tr h="7747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Primary Role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Cognitive foundation — explains why certain designs work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Representational mechanisms — how text and pictures contribute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Instructional architecture — systematic blueprint for design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  <a:tr h="7747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Design Level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Micro-level design decisions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Media selection and integration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Macro-level curriculum structure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5"/>
                    </a:solidFill>
                  </a:tcPr>
                </a:tc>
              </a:tr>
              <a:tr h="7747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Core Focus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Working memory limitations and load types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Descriptive vs. depictive representations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Whole-task practice and skill integration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  <a:tr h="7747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Key Output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Evidence-based design principles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Guidelines for text-picture integration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Complete instructional blueprint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5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62000" y="60960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1A5F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INTEGRATED APPROACH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62000" y="6502400"/>
            <a:ext cx="14732000" cy="167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Together, these three frameworks offer a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comprehensive approach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to evidence-based multimedia instructional design: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1A5F6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CLT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guides micro-level design decisions — what to include and exclude, how to reduce cognitive load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ITPC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guides media selection and integration — how to combine text and pictures for optimal comprehension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163D4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4C/ID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B2B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guides macro-level curriculum structure — how to sequence tasks and provide support for complex learning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62000" y="8255000"/>
            <a:ext cx="7620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Sources: Sweller (2020); Schnotz (2014); van Merriënboer &amp; Kirschner (2007)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4986000" y="8636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31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swua77wo7otzg/mnt/agents/output/multimedia_production_w3/images/7_Abstract_Network_Of_Glowing_Neural.png">    </p:cNvPr>
          <p:cNvPicPr>
            <a:picLocks noChangeAspect="1"/>
          </p:cNvPicPr>
          <p:nvPr/>
        </p:nvPicPr>
        <p:blipFill>
          <a:blip r:embed="rId1"/>
          <a:srcRect l="0" r="0" t="10641" b="10641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63D47">
                  <a:alpha val="94000"/>
                </a:srgbClr>
              </a:gs>
              <a:gs pos="50000">
                <a:srgbClr val="163D47">
                  <a:alpha val="85000"/>
                </a:srgbClr>
              </a:gs>
              <a:gs pos="100000">
                <a:srgbClr val="163D47">
                  <a:alpha val="63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858000" y="1524000"/>
            <a:ext cx="2540000" cy="508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Text 2"/>
          <p:cNvSpPr/>
          <p:nvPr/>
        </p:nvSpPr>
        <p:spPr>
          <a:xfrm>
            <a:off x="4318000" y="1778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400" spc="400" kern="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778000" y="2349500"/>
            <a:ext cx="1270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6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Three Pillars of Evidence-Based Multimedia Design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762000" y="3556000"/>
            <a:ext cx="4699000" cy="2032000"/>
          </a:xfrm>
          <a:prstGeom prst="rect">
            <a:avLst/>
          </a:prstGeom>
          <a:solidFill>
            <a:srgbClr val="FFFFFF">
              <a:alpha val="8235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952500" y="3683000"/>
            <a:ext cx="508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524000" y="37084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Respect Cognitive Architecture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52500" y="4191000"/>
            <a:ext cx="42545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Design for limited working memory. Minimize extraneous load, manage intrinsic load, and foster germane processing.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778500" y="3556000"/>
            <a:ext cx="4699000" cy="2032000"/>
          </a:xfrm>
          <a:prstGeom prst="rect">
            <a:avLst/>
          </a:prstGeom>
          <a:solidFill>
            <a:srgbClr val="FFFFFF">
              <a:alpha val="8235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5969000" y="3683000"/>
            <a:ext cx="508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540500" y="3708400"/>
            <a:ext cx="3873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 Complementary Representations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969000" y="4191000"/>
            <a:ext cx="42545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Text and pictures serve different cognitive functions. Design them to work together, not redundantly.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10795000" y="3556000"/>
            <a:ext cx="4699000" cy="2032000"/>
          </a:xfrm>
          <a:prstGeom prst="rect">
            <a:avLst/>
          </a:prstGeom>
          <a:solidFill>
            <a:srgbClr val="FFFFFF">
              <a:alpha val="8235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10985500" y="3683000"/>
            <a:ext cx="508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1557000" y="37084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 Systematic Blueprints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0985500" y="4191000"/>
            <a:ext cx="42545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Whole-task approaches build integrated expertise. Scaffold learning, fade support, and practice for automaticity.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5588000" y="6223000"/>
            <a:ext cx="5080000" cy="25400"/>
          </a:xfrm>
          <a:prstGeom prst="rect">
            <a:avLst/>
          </a:prstGeom>
          <a:solidFill>
            <a:srgbClr val="FFFFFF">
              <a:alpha val="18824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2413000" y="6477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i="1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"The art of teaching is the art of assisting discovery."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588000" y="70485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4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— Mark Van Doren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762000" y="8382000"/>
            <a:ext cx="14732000" cy="38100"/>
          </a:xfrm>
          <a:prstGeom prst="rect">
            <a:avLst/>
          </a:prstGeom>
          <a:solidFill>
            <a:srgbClr val="D4943A">
              <a:alpha val="37647"/>
            </a:srgbClr>
          </a:solidFill>
          <a:ln/>
        </p:spPr>
      </p:sp>
      <p:sp>
        <p:nvSpPr>
          <p:cNvPr id="23" name="Text 20"/>
          <p:cNvSpPr/>
          <p:nvPr/>
        </p:nvSpPr>
        <p:spPr>
          <a:xfrm>
            <a:off x="4318000" y="8509000"/>
            <a:ext cx="762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4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Multimedia Production — Week 3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Implication of Theories and Integrated Models</dc:title>
  <dc:subject>Implication of Theories and Integrated Models</dc:subject>
  <dc:creator>Kimi</dc:creator>
  <cp:lastModifiedBy>Kimi</cp:lastModifiedBy>
  <cp:revision>1</cp:revision>
  <dcterms:created xsi:type="dcterms:W3CDTF">2026-05-26T11:32:04Z</dcterms:created>
  <dcterms:modified xsi:type="dcterms:W3CDTF">2026-05-26T11:32:04Z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{"Label":"Implication of Theories and Integrated Models","ContentProducer":"001191110108MACG2KBH8F10000","ProduceID":"19e6405d-2b62-8ab8-8000-0000ce0c0d59","ReservedCode1":"","ContentPropagator":"001191110108MACG2KBH8F20000","PropagateID":"19e6405d-2b62-8ab8-8000-0000ce0c0d59","ReservedCode2":""}</vt:lpwstr>
  </property>
</Properties>
</file>