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6256000" cy="9144000"/>
  <p:notesSz cx="9144000" cy="16256000"/>
  <p:embeddedFontLst>
    <p:embeddedFont>
      <p:font typeface="Quattrocento Sans" charset="-122" pitchFamily="34"/>
      <p:regular r:id="rId34"/>
    </p:embeddedFont>
    <p:embeddedFont>
      <p:font typeface="Liter" charset="-122" pitchFamily="34"/>
      <p:regular r:id="rId3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rc2hjyp5mpiq/mnt/agents/output/multimedia_production/images/7_Dark_geometric_Images_Free_Download.png">    </p:cNvPr>
          <p:cNvPicPr>
            <a:picLocks noChangeAspect="1"/>
          </p:cNvPicPr>
          <p:nvPr/>
        </p:nvPicPr>
        <p:blipFill>
          <a:blip r:embed="rId1"/>
          <a:srcRect l="0" r="0" t="7784" b="778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3436">
                  <a:alpha val="94000"/>
                </a:srgbClr>
              </a:gs>
              <a:gs pos="55000">
                <a:srgbClr val="2D3436">
                  <a:alpha val="80000"/>
                </a:srgbClr>
              </a:gs>
              <a:gs pos="100000">
                <a:srgbClr val="2D3436">
                  <a:alpha val="25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2286000"/>
            <a:ext cx="1016000" cy="508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2540000"/>
            <a:ext cx="889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0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GRAPHICS FUNCTIONS</a:t>
            </a:r>
            <a:endParaRPr lang="en-US" sz="4000" dirty="0"/>
          </a:p>
          <a:p>
            <a:pPr>
              <a:lnSpc>
                <a:spcPct val="120000"/>
              </a:lnSpc>
            </a:pPr>
            <a:r>
              <a:rPr lang="en-US" sz="40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MULTIMEDIA</a:t>
            </a:r>
            <a:endParaRPr lang="en-US" sz="4000" dirty="0"/>
          </a:p>
          <a:p>
            <a:pPr>
              <a:lnSpc>
                <a:spcPct val="120000"/>
              </a:lnSpc>
            </a:pPr>
            <a:r>
              <a:rPr lang="en-US" sz="40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PRINCIPLES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16000" y="482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Overview of Visual Communication &amp; Learning Design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16000" y="5461000"/>
            <a:ext cx="508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5715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Production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4 — Lesson 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Today's Learning Journey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1270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540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5000" y="2540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Functions of Graphics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05000" y="3048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how visual elements communicate, organize, and transform information in multimedia presentations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05000" y="41910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What are graphics in multimedia?</a:t>
            </a:r>
            <a:endParaRPr lang="en-US" sz="14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Five functions: decorative, representational, organizational, interpretive, transformational</a:t>
            </a:r>
            <a:endParaRPr lang="en-US" sz="14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Graphics selection framework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6223000"/>
            <a:ext cx="7620000" cy="12700"/>
          </a:xfrm>
          <a:prstGeom prst="rect">
            <a:avLst/>
          </a:prstGeom>
          <a:solidFill>
            <a:srgbClr val="D5CFC8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6604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05000" y="6604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Learning Principles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05000" y="7112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Evidence-based strategies for designing effective multimedia learning experiences based on cognitive science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05000" y="8255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Mayer's Cognitive Theory of Multimedia Learning</a:t>
            </a:r>
            <a:endParaRPr lang="en-US" sz="14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12 principles across 3 strategic pillars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906000" y="1524000"/>
            <a:ext cx="5588000" cy="6096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79100" y="2286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0" y="2286000"/>
            <a:ext cx="355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Functions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617200" y="35560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353020" y="346591"/>
                </a:moveTo>
                <a:cubicBezTo>
                  <a:pt x="382191" y="315754"/>
                  <a:pt x="400050" y="274320"/>
                  <a:pt x="400050" y="228600"/>
                </a:cubicBezTo>
                <a:cubicBezTo>
                  <a:pt x="400050" y="133945"/>
                  <a:pt x="323255" y="57150"/>
                  <a:pt x="228600" y="57150"/>
                </a:cubicBezTo>
                <a:cubicBezTo>
                  <a:pt x="133945" y="57150"/>
                  <a:pt x="57150" y="133945"/>
                  <a:pt x="57150" y="228600"/>
                </a:cubicBezTo>
                <a:cubicBezTo>
                  <a:pt x="57150" y="274320"/>
                  <a:pt x="75009" y="315754"/>
                  <a:pt x="104180" y="346591"/>
                </a:cubicBezTo>
                <a:cubicBezTo>
                  <a:pt x="129540" y="373261"/>
                  <a:pt x="157639" y="410885"/>
                  <a:pt x="167640" y="457200"/>
                </a:cubicBezTo>
                <a:lnTo>
                  <a:pt x="289560" y="457200"/>
                </a:lnTo>
                <a:cubicBezTo>
                  <a:pt x="299561" y="410766"/>
                  <a:pt x="327660" y="373261"/>
                  <a:pt x="353020" y="346591"/>
                </a:cubicBezTo>
                <a:close/>
                <a:moveTo>
                  <a:pt x="394454" y="385882"/>
                </a:moveTo>
                <a:cubicBezTo>
                  <a:pt x="366355" y="415528"/>
                  <a:pt x="342900" y="451723"/>
                  <a:pt x="342900" y="492562"/>
                </a:cubicBezTo>
                <a:lnTo>
                  <a:pt x="342900" y="514350"/>
                </a:lnTo>
                <a:cubicBezTo>
                  <a:pt x="342900" y="566976"/>
                  <a:pt x="300276" y="609600"/>
                  <a:pt x="247650" y="609600"/>
                </a:cubicBezTo>
                <a:lnTo>
                  <a:pt x="209550" y="609600"/>
                </a:lnTo>
                <a:cubicBezTo>
                  <a:pt x="156924" y="609600"/>
                  <a:pt x="114300" y="566976"/>
                  <a:pt x="114300" y="514350"/>
                </a:cubicBezTo>
                <a:lnTo>
                  <a:pt x="114300" y="492562"/>
                </a:lnTo>
                <a:cubicBezTo>
                  <a:pt x="114300" y="451723"/>
                  <a:pt x="90845" y="415528"/>
                  <a:pt x="62746" y="385882"/>
                </a:cubicBezTo>
                <a:cubicBezTo>
                  <a:pt x="23813" y="344924"/>
                  <a:pt x="0" y="289560"/>
                  <a:pt x="0" y="228600"/>
                </a:cubicBezTo>
                <a:cubicBezTo>
                  <a:pt x="0" y="102394"/>
                  <a:pt x="102394" y="0"/>
                  <a:pt x="228600" y="0"/>
                </a:cubicBezTo>
                <a:cubicBezTo>
                  <a:pt x="354806" y="0"/>
                  <a:pt x="457200" y="102394"/>
                  <a:pt x="457200" y="228600"/>
                </a:cubicBezTo>
                <a:cubicBezTo>
                  <a:pt x="457200" y="289560"/>
                  <a:pt x="433388" y="344924"/>
                  <a:pt x="394454" y="385882"/>
                </a:cubicBezTo>
                <a:close/>
                <a:moveTo>
                  <a:pt x="171450" y="219075"/>
                </a:moveTo>
                <a:cubicBezTo>
                  <a:pt x="171450" y="234910"/>
                  <a:pt x="158710" y="247650"/>
                  <a:pt x="142875" y="247650"/>
                </a:cubicBezTo>
                <a:cubicBezTo>
                  <a:pt x="127040" y="247650"/>
                  <a:pt x="114300" y="234910"/>
                  <a:pt x="114300" y="219075"/>
                </a:cubicBezTo>
                <a:cubicBezTo>
                  <a:pt x="114300" y="161211"/>
                  <a:pt x="161211" y="114300"/>
                  <a:pt x="219075" y="114300"/>
                </a:cubicBezTo>
                <a:cubicBezTo>
                  <a:pt x="234910" y="114300"/>
                  <a:pt x="247650" y="127040"/>
                  <a:pt x="247650" y="142875"/>
                </a:cubicBezTo>
                <a:cubicBezTo>
                  <a:pt x="247650" y="158710"/>
                  <a:pt x="234910" y="171450"/>
                  <a:pt x="219075" y="171450"/>
                </a:cubicBezTo>
                <a:cubicBezTo>
                  <a:pt x="192762" y="171450"/>
                  <a:pt x="171450" y="192762"/>
                  <a:pt x="171450" y="219075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0" y="3556000"/>
            <a:ext cx="355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Principles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541000" y="482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7150" y="66675"/>
                </a:moveTo>
                <a:cubicBezTo>
                  <a:pt x="57150" y="50840"/>
                  <a:pt x="44410" y="38100"/>
                  <a:pt x="28575" y="38100"/>
                </a:cubicBezTo>
                <a:cubicBezTo>
                  <a:pt x="12740" y="38100"/>
                  <a:pt x="0" y="50840"/>
                  <a:pt x="0" y="66675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81025" y="571500"/>
                </a:lnTo>
                <a:cubicBezTo>
                  <a:pt x="596860" y="571500"/>
                  <a:pt x="609600" y="558760"/>
                  <a:pt x="609600" y="542925"/>
                </a:cubicBezTo>
                <a:cubicBezTo>
                  <a:pt x="609600" y="527090"/>
                  <a:pt x="596860" y="514350"/>
                  <a:pt x="581025" y="514350"/>
                </a:cubicBezTo>
                <a:lnTo>
                  <a:pt x="95250" y="514350"/>
                </a:lnTo>
                <a:cubicBezTo>
                  <a:pt x="74176" y="514350"/>
                  <a:pt x="57150" y="497324"/>
                  <a:pt x="57150" y="476250"/>
                </a:cubicBezTo>
                <a:lnTo>
                  <a:pt x="57150" y="66675"/>
                </a:lnTo>
                <a:close/>
                <a:moveTo>
                  <a:pt x="180975" y="152400"/>
                </a:moveTo>
                <a:lnTo>
                  <a:pt x="428625" y="152400"/>
                </a:lnTo>
                <a:cubicBezTo>
                  <a:pt x="444460" y="152400"/>
                  <a:pt x="457200" y="139660"/>
                  <a:pt x="457200" y="123825"/>
                </a:cubicBezTo>
                <a:cubicBezTo>
                  <a:pt x="457200" y="107990"/>
                  <a:pt x="444460" y="95250"/>
                  <a:pt x="428625" y="95250"/>
                </a:cubicBezTo>
                <a:lnTo>
                  <a:pt x="180975" y="95250"/>
                </a:lnTo>
                <a:cubicBezTo>
                  <a:pt x="165140" y="95250"/>
                  <a:pt x="152400" y="107990"/>
                  <a:pt x="152400" y="123825"/>
                </a:cubicBezTo>
                <a:cubicBezTo>
                  <a:pt x="152400" y="139660"/>
                  <a:pt x="165140" y="152400"/>
                  <a:pt x="180975" y="152400"/>
                </a:cubicBezTo>
                <a:close/>
                <a:moveTo>
                  <a:pt x="180975" y="228600"/>
                </a:moveTo>
                <a:cubicBezTo>
                  <a:pt x="165140" y="228600"/>
                  <a:pt x="152400" y="241340"/>
                  <a:pt x="152400" y="257175"/>
                </a:cubicBezTo>
                <a:cubicBezTo>
                  <a:pt x="152400" y="273010"/>
                  <a:pt x="165140" y="285750"/>
                  <a:pt x="180975" y="285750"/>
                </a:cubicBezTo>
                <a:lnTo>
                  <a:pt x="352425" y="285750"/>
                </a:lnTo>
                <a:cubicBezTo>
                  <a:pt x="368260" y="285750"/>
                  <a:pt x="381000" y="273010"/>
                  <a:pt x="381000" y="257175"/>
                </a:cubicBezTo>
                <a:cubicBezTo>
                  <a:pt x="381000" y="241340"/>
                  <a:pt x="368260" y="228600"/>
                  <a:pt x="352425" y="228600"/>
                </a:cubicBezTo>
                <a:lnTo>
                  <a:pt x="180975" y="228600"/>
                </a:lnTo>
                <a:close/>
                <a:moveTo>
                  <a:pt x="180975" y="361950"/>
                </a:moveTo>
                <a:cubicBezTo>
                  <a:pt x="165140" y="361950"/>
                  <a:pt x="152400" y="374690"/>
                  <a:pt x="152400" y="390525"/>
                </a:cubicBezTo>
                <a:cubicBezTo>
                  <a:pt x="152400" y="406360"/>
                  <a:pt x="165140" y="419100"/>
                  <a:pt x="180975" y="419100"/>
                </a:cubicBezTo>
                <a:lnTo>
                  <a:pt x="504825" y="419100"/>
                </a:lnTo>
                <a:cubicBezTo>
                  <a:pt x="520660" y="419100"/>
                  <a:pt x="533400" y="406360"/>
                  <a:pt x="533400" y="390525"/>
                </a:cubicBezTo>
                <a:cubicBezTo>
                  <a:pt x="533400" y="374690"/>
                  <a:pt x="520660" y="361950"/>
                  <a:pt x="504825" y="361950"/>
                </a:cubicBezTo>
                <a:lnTo>
                  <a:pt x="180975" y="361950"/>
                </a:ln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4826000"/>
            <a:ext cx="355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Evidence-Based Design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541000" y="5969000"/>
            <a:ext cx="4318000" cy="254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23" name="Text 21"/>
          <p:cNvSpPr/>
          <p:nvPr/>
        </p:nvSpPr>
        <p:spPr>
          <a:xfrm>
            <a:off x="10541000" y="6223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i="1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better from words and pictures than from words alone."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Richard E. Mayer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rc2hjyp5mpiq/mnt/agents/output/multimedia_production/images/2_Black_Geometric_Background_Vector.png">    </p:cNvPr>
          <p:cNvPicPr>
            <a:picLocks noChangeAspect="1"/>
          </p:cNvPicPr>
          <p:nvPr/>
        </p:nvPicPr>
        <p:blipFill>
          <a:blip r:embed="rId1"/>
          <a:srcRect l="9934" r="993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3436">
                  <a:alpha val="0"/>
                </a:srgbClr>
              </a:gs>
              <a:gs pos="40000">
                <a:srgbClr val="2D3436">
                  <a:alpha val="50000"/>
                </a:srgbClr>
              </a:gs>
              <a:gs pos="100000">
                <a:srgbClr val="2D3436">
                  <a:alpha val="91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302000"/>
            <a:ext cx="2540000" cy="508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5" name="Text 2"/>
          <p:cNvSpPr/>
          <p:nvPr/>
        </p:nvSpPr>
        <p:spPr>
          <a:xfrm>
            <a:off x="4318000" y="3556000"/>
            <a:ext cx="762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spc="600" kern="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48000" y="4572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spc="5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FUNCTIONS OF GRAPHICS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683000" y="5461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how visual elements communicate, organize, and transform information in multimedia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Graphics in Multimedia?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are visual elements — illustrations, diagrams, photographs, charts, icons, and animations — used to convey information. Unlike text alone, graphics tap into the brain's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processing channel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enabling dual-channel learning.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28600"/>
                </a:moveTo>
                <a:cubicBezTo>
                  <a:pt x="457200" y="229404"/>
                  <a:pt x="457200" y="230207"/>
                  <a:pt x="457200" y="231011"/>
                </a:cubicBezTo>
                <a:cubicBezTo>
                  <a:pt x="456843" y="263604"/>
                  <a:pt x="427196" y="285750"/>
                  <a:pt x="394603" y="285750"/>
                </a:cubicBezTo>
                <a:lnTo>
                  <a:pt x="307181" y="285750"/>
                </a:lnTo>
                <a:cubicBezTo>
                  <a:pt x="283518" y="285750"/>
                  <a:pt x="264319" y="304949"/>
                  <a:pt x="264319" y="328613"/>
                </a:cubicBezTo>
                <a:cubicBezTo>
                  <a:pt x="264319" y="331649"/>
                  <a:pt x="264676" y="334595"/>
                  <a:pt x="265212" y="337453"/>
                </a:cubicBezTo>
                <a:cubicBezTo>
                  <a:pt x="267087" y="346561"/>
                  <a:pt x="271016" y="355312"/>
                  <a:pt x="274856" y="364153"/>
                </a:cubicBezTo>
                <a:cubicBezTo>
                  <a:pt x="280303" y="376476"/>
                  <a:pt x="285661" y="388709"/>
                  <a:pt x="285661" y="401657"/>
                </a:cubicBezTo>
                <a:cubicBezTo>
                  <a:pt x="285661" y="430054"/>
                  <a:pt x="266373" y="455861"/>
                  <a:pt x="237976" y="457021"/>
                </a:cubicBezTo>
                <a:cubicBezTo>
                  <a:pt x="234851" y="457111"/>
                  <a:pt x="231725" y="457200"/>
                  <a:pt x="228511" y="457200"/>
                </a:cubicBezTo>
                <a:cubicBezTo>
                  <a:pt x="102245" y="457200"/>
                  <a:pt x="-89" y="354866"/>
                  <a:pt x="-89" y="228600"/>
                </a:cubicBezTo>
                <a:cubicBezTo>
                  <a:pt x="-89" y="102334"/>
                  <a:pt x="102334" y="0"/>
                  <a:pt x="228600" y="0"/>
                </a:cubicBezTo>
                <a:cubicBezTo>
                  <a:pt x="354866" y="0"/>
                  <a:pt x="457200" y="102334"/>
                  <a:pt x="457200" y="228600"/>
                </a:cubicBezTo>
                <a:close/>
                <a:moveTo>
                  <a:pt x="114300" y="257175"/>
                </a:moveTo>
                <a:cubicBezTo>
                  <a:pt x="114300" y="241404"/>
                  <a:pt x="101496" y="228600"/>
                  <a:pt x="85725" y="228600"/>
                </a:cubicBezTo>
                <a:cubicBezTo>
                  <a:pt x="69954" y="228600"/>
                  <a:pt x="57150" y="241404"/>
                  <a:pt x="57150" y="257175"/>
                </a:cubicBezTo>
                <a:cubicBezTo>
                  <a:pt x="57150" y="272946"/>
                  <a:pt x="69954" y="285750"/>
                  <a:pt x="85725" y="285750"/>
                </a:cubicBezTo>
                <a:cubicBezTo>
                  <a:pt x="101496" y="285750"/>
                  <a:pt x="114300" y="272946"/>
                  <a:pt x="114300" y="257175"/>
                </a:cubicBezTo>
                <a:close/>
                <a:moveTo>
                  <a:pt x="114300" y="171450"/>
                </a:moveTo>
                <a:cubicBezTo>
                  <a:pt x="130071" y="171450"/>
                  <a:pt x="142875" y="158646"/>
                  <a:pt x="142875" y="142875"/>
                </a:cubicBezTo>
                <a:cubicBezTo>
                  <a:pt x="142875" y="127104"/>
                  <a:pt x="130071" y="114300"/>
                  <a:pt x="114300" y="114300"/>
                </a:cubicBezTo>
                <a:cubicBezTo>
                  <a:pt x="98529" y="114300"/>
                  <a:pt x="85725" y="127104"/>
                  <a:pt x="85725" y="142875"/>
                </a:cubicBezTo>
                <a:cubicBezTo>
                  <a:pt x="85725" y="158646"/>
                  <a:pt x="98529" y="171450"/>
                  <a:pt x="114300" y="17145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342900" y="171450"/>
                </a:moveTo>
                <a:cubicBezTo>
                  <a:pt x="358671" y="171450"/>
                  <a:pt x="371475" y="158646"/>
                  <a:pt x="371475" y="142875"/>
                </a:cubicBezTo>
                <a:cubicBezTo>
                  <a:pt x="371475" y="127104"/>
                  <a:pt x="358671" y="114300"/>
                  <a:pt x="342900" y="114300"/>
                </a:cubicBezTo>
                <a:cubicBezTo>
                  <a:pt x="327129" y="114300"/>
                  <a:pt x="314325" y="127104"/>
                  <a:pt x="314325" y="142875"/>
                </a:cubicBezTo>
                <a:cubicBezTo>
                  <a:pt x="314325" y="158646"/>
                  <a:pt x="327129" y="171450"/>
                  <a:pt x="342900" y="17145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24130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Elements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3048000"/>
            <a:ext cx="393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Illustrations, diagrams, photos, charts, icons, animations, and infographics that communicate visually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42000" y="2159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0" name="Shape 8"/>
          <p:cNvSpPr/>
          <p:nvPr/>
        </p:nvSpPr>
        <p:spPr>
          <a:xfrm>
            <a:off x="6159500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1" name="Text 9"/>
          <p:cNvSpPr/>
          <p:nvPr/>
        </p:nvSpPr>
        <p:spPr>
          <a:xfrm>
            <a:off x="6794500" y="24130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Dual-Channel Processing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59500" y="3048000"/>
            <a:ext cx="393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activate the visual channel while text activates the verbal channel — together they enhance learning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22000" y="2159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9500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5" name="Text 13"/>
          <p:cNvSpPr/>
          <p:nvPr/>
        </p:nvSpPr>
        <p:spPr>
          <a:xfrm>
            <a:off x="11874500" y="24130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Core Functions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239500" y="3048000"/>
            <a:ext cx="393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serve as decorative, representational, organizational, interpretive, and transformational tools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334000"/>
            <a:ext cx="14732000" cy="3175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588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Graphics Matter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6159500"/>
            <a:ext cx="1397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Picture Superiority Effect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People remember images better than words alone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Cognitive Load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Well-designed graphics make complex information easier to process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Engagement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Visual elements capture and maintain learner attention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Comprehension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Graphics help build accurate mental models of concepts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81000"/>
            <a:ext cx="2032000" cy="381000"/>
          </a:xfrm>
          <a:prstGeom prst="roundRect">
            <a:avLst>
              <a:gd name="adj" fmla="val 12000"/>
            </a:avLst>
          </a:prstGeom>
          <a:solidFill>
            <a:srgbClr val="E1705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 1 OF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Decorative Function — Adding Visual Appeal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651000"/>
            <a:ext cx="8128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Decorative graphics enhance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aesthetic appeal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multimedia content without directly contributing to the learning message. Examples include background images, ornamental borders, and stylistic illustrations.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While decoration can increase engagement, research shows that purely decorative elements may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increase extraneous cognitive load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if overused.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98000" y="1651000"/>
            <a:ext cx="6096000" cy="2286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8" name="Text 6"/>
          <p:cNvSpPr/>
          <p:nvPr/>
        </p:nvSpPr>
        <p:spPr>
          <a:xfrm>
            <a:off x="9779000" y="1841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79000" y="2286000"/>
            <a:ext cx="533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Enhances visual appeal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Increases engagement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 direct learning value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Risk of cognitive overload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4318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11" name="Shape 9"/>
          <p:cNvSpPr/>
          <p:nvPr/>
        </p:nvSpPr>
        <p:spPr>
          <a:xfrm>
            <a:off x="1079500" y="457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2" name="Text 10"/>
          <p:cNvSpPr/>
          <p:nvPr/>
        </p:nvSpPr>
        <p:spPr>
          <a:xfrm>
            <a:off x="1714500" y="44450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decoration to create visual interest without distracting from core content. Every decorative element should serve a purpose — when in doubt, remove it.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71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Examples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62000" y="6286500"/>
            <a:ext cx="3429000" cy="203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1400" y="6540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101600" y="88900"/>
                </a:moveTo>
                <a:cubicBezTo>
                  <a:pt x="122628" y="88900"/>
                  <a:pt x="139700" y="105972"/>
                  <a:pt x="139700" y="127000"/>
                </a:cubicBezTo>
                <a:cubicBezTo>
                  <a:pt x="139700" y="148028"/>
                  <a:pt x="122628" y="165100"/>
                  <a:pt x="101600" y="165100"/>
                </a:cubicBezTo>
                <a:cubicBezTo>
                  <a:pt x="80572" y="165100"/>
                  <a:pt x="63500" y="148028"/>
                  <a:pt x="63500" y="127000"/>
                </a:cubicBezTo>
                <a:cubicBezTo>
                  <a:pt x="63500" y="105972"/>
                  <a:pt x="80572" y="88900"/>
                  <a:pt x="101600" y="88900"/>
                </a:cubicBezTo>
                <a:close/>
                <a:moveTo>
                  <a:pt x="215900" y="177800"/>
                </a:moveTo>
                <a:cubicBezTo>
                  <a:pt x="222567" y="177800"/>
                  <a:pt x="228679" y="181293"/>
                  <a:pt x="232172" y="186928"/>
                </a:cubicBezTo>
                <a:lnTo>
                  <a:pt x="302022" y="301228"/>
                </a:lnTo>
                <a:cubicBezTo>
                  <a:pt x="305594" y="307102"/>
                  <a:pt x="305753" y="314484"/>
                  <a:pt x="302419" y="320516"/>
                </a:cubicBezTo>
                <a:cubicBezTo>
                  <a:pt x="299085" y="326549"/>
                  <a:pt x="292656" y="330200"/>
                  <a:pt x="285750" y="330200"/>
                </a:cubicBezTo>
                <a:lnTo>
                  <a:pt x="69850" y="330200"/>
                </a:lnTo>
                <a:cubicBezTo>
                  <a:pt x="62786" y="330200"/>
                  <a:pt x="56198" y="326231"/>
                  <a:pt x="52943" y="319961"/>
                </a:cubicBezTo>
                <a:cubicBezTo>
                  <a:pt x="49689" y="313690"/>
                  <a:pt x="50165" y="306070"/>
                  <a:pt x="54213" y="300276"/>
                </a:cubicBezTo>
                <a:lnTo>
                  <a:pt x="98663" y="236776"/>
                </a:lnTo>
                <a:cubicBezTo>
                  <a:pt x="102235" y="231696"/>
                  <a:pt x="108029" y="228679"/>
                  <a:pt x="114300" y="228679"/>
                </a:cubicBezTo>
                <a:cubicBezTo>
                  <a:pt x="120571" y="228679"/>
                  <a:pt x="126365" y="231696"/>
                  <a:pt x="129937" y="236776"/>
                </a:cubicBezTo>
                <a:lnTo>
                  <a:pt x="150892" y="266779"/>
                </a:lnTo>
                <a:lnTo>
                  <a:pt x="199628" y="187008"/>
                </a:lnTo>
                <a:cubicBezTo>
                  <a:pt x="203121" y="181372"/>
                  <a:pt x="209233" y="177879"/>
                  <a:pt x="215900" y="177879"/>
                </a:cubicBezTo>
                <a:close/>
              </a:path>
            </a:pathLst>
          </a:custGeom>
          <a:solidFill>
            <a:srgbClr val="636E72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71120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 Images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Subtle textures and patterns behind content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6286500"/>
            <a:ext cx="3429000" cy="203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8" name="Shape 16"/>
          <p:cNvSpPr/>
          <p:nvPr/>
        </p:nvSpPr>
        <p:spPr>
          <a:xfrm>
            <a:off x="4851400" y="6540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355600"/>
                </a:moveTo>
                <a:cubicBezTo>
                  <a:pt x="0" y="369649"/>
                  <a:pt x="11351" y="381000"/>
                  <a:pt x="25400" y="381000"/>
                </a:cubicBezTo>
                <a:cubicBezTo>
                  <a:pt x="39449" y="381000"/>
                  <a:pt x="50800" y="369649"/>
                  <a:pt x="50800" y="355600"/>
                </a:cubicBezTo>
                <a:lnTo>
                  <a:pt x="50800" y="76200"/>
                </a:lnTo>
                <a:lnTo>
                  <a:pt x="330200" y="76200"/>
                </a:lnTo>
                <a:cubicBezTo>
                  <a:pt x="344249" y="76200"/>
                  <a:pt x="355600" y="64849"/>
                  <a:pt x="355600" y="50800"/>
                </a:cubicBezTo>
                <a:cubicBezTo>
                  <a:pt x="355600" y="36751"/>
                  <a:pt x="344249" y="25400"/>
                  <a:pt x="330200" y="25400"/>
                </a:cubicBezTo>
                <a:lnTo>
                  <a:pt x="50800" y="25400"/>
                </a:lnTo>
                <a:cubicBezTo>
                  <a:pt x="22781" y="25400"/>
                  <a:pt x="0" y="48181"/>
                  <a:pt x="0" y="76200"/>
                </a:cubicBezTo>
                <a:lnTo>
                  <a:pt x="0" y="355600"/>
                </a:lnTo>
                <a:close/>
                <a:moveTo>
                  <a:pt x="101600" y="355600"/>
                </a:moveTo>
                <a:cubicBezTo>
                  <a:pt x="101600" y="369649"/>
                  <a:pt x="112951" y="381000"/>
                  <a:pt x="127000" y="381000"/>
                </a:cubicBezTo>
                <a:cubicBezTo>
                  <a:pt x="141049" y="381000"/>
                  <a:pt x="152400" y="369649"/>
                  <a:pt x="152400" y="355600"/>
                </a:cubicBezTo>
                <a:cubicBezTo>
                  <a:pt x="152400" y="341551"/>
                  <a:pt x="141049" y="330200"/>
                  <a:pt x="127000" y="330200"/>
                </a:cubicBezTo>
                <a:cubicBezTo>
                  <a:pt x="112951" y="330200"/>
                  <a:pt x="101600" y="341551"/>
                  <a:pt x="101600" y="355600"/>
                </a:cubicBezTo>
                <a:close/>
                <a:moveTo>
                  <a:pt x="203200" y="355600"/>
                </a:moveTo>
                <a:cubicBezTo>
                  <a:pt x="203200" y="369649"/>
                  <a:pt x="214551" y="381000"/>
                  <a:pt x="228600" y="381000"/>
                </a:cubicBezTo>
                <a:cubicBezTo>
                  <a:pt x="242649" y="381000"/>
                  <a:pt x="254000" y="369649"/>
                  <a:pt x="254000" y="355600"/>
                </a:cubicBezTo>
                <a:cubicBezTo>
                  <a:pt x="254000" y="341551"/>
                  <a:pt x="242649" y="330200"/>
                  <a:pt x="228600" y="330200"/>
                </a:cubicBezTo>
                <a:cubicBezTo>
                  <a:pt x="214551" y="330200"/>
                  <a:pt x="203200" y="341551"/>
                  <a:pt x="203200" y="355600"/>
                </a:cubicBezTo>
                <a:close/>
                <a:moveTo>
                  <a:pt x="330200" y="381000"/>
                </a:moveTo>
                <a:cubicBezTo>
                  <a:pt x="344249" y="381000"/>
                  <a:pt x="355600" y="369649"/>
                  <a:pt x="355600" y="355600"/>
                </a:cubicBezTo>
                <a:cubicBezTo>
                  <a:pt x="355600" y="341551"/>
                  <a:pt x="344249" y="330200"/>
                  <a:pt x="330200" y="330200"/>
                </a:cubicBezTo>
                <a:cubicBezTo>
                  <a:pt x="316151" y="330200"/>
                  <a:pt x="304800" y="341551"/>
                  <a:pt x="304800" y="355600"/>
                </a:cubicBezTo>
                <a:cubicBezTo>
                  <a:pt x="304800" y="369649"/>
                  <a:pt x="316151" y="381000"/>
                  <a:pt x="330200" y="381000"/>
                </a:cubicBezTo>
                <a:close/>
                <a:moveTo>
                  <a:pt x="304800" y="152400"/>
                </a:moveTo>
                <a:cubicBezTo>
                  <a:pt x="304800" y="166419"/>
                  <a:pt x="316181" y="177800"/>
                  <a:pt x="330200" y="177800"/>
                </a:cubicBezTo>
                <a:cubicBezTo>
                  <a:pt x="344219" y="177800"/>
                  <a:pt x="355600" y="166419"/>
                  <a:pt x="355600" y="152400"/>
                </a:cubicBezTo>
                <a:cubicBezTo>
                  <a:pt x="355600" y="138381"/>
                  <a:pt x="344219" y="127000"/>
                  <a:pt x="330200" y="127000"/>
                </a:cubicBezTo>
                <a:cubicBezTo>
                  <a:pt x="316181" y="127000"/>
                  <a:pt x="304800" y="138381"/>
                  <a:pt x="304800" y="152400"/>
                </a:cubicBezTo>
                <a:close/>
                <a:moveTo>
                  <a:pt x="330200" y="279400"/>
                </a:moveTo>
                <a:cubicBezTo>
                  <a:pt x="344219" y="279400"/>
                  <a:pt x="355600" y="268019"/>
                  <a:pt x="355600" y="254000"/>
                </a:cubicBezTo>
                <a:cubicBezTo>
                  <a:pt x="355600" y="239981"/>
                  <a:pt x="344219" y="228600"/>
                  <a:pt x="330200" y="228600"/>
                </a:cubicBezTo>
                <a:cubicBezTo>
                  <a:pt x="316181" y="228600"/>
                  <a:pt x="304800" y="239981"/>
                  <a:pt x="304800" y="254000"/>
                </a:cubicBezTo>
                <a:cubicBezTo>
                  <a:pt x="304800" y="268019"/>
                  <a:pt x="316181" y="279400"/>
                  <a:pt x="330200" y="279400"/>
                </a:cubicBezTo>
                <a:close/>
              </a:path>
            </a:pathLst>
          </a:custGeom>
          <a:solidFill>
            <a:srgbClr val="636E72"/>
          </a:solidFill>
          <a:ln/>
        </p:spPr>
      </p:sp>
      <p:sp>
        <p:nvSpPr>
          <p:cNvPr id="19" name="Text 17"/>
          <p:cNvSpPr/>
          <p:nvPr/>
        </p:nvSpPr>
        <p:spPr>
          <a:xfrm>
            <a:off x="4826000" y="71120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Ornamental Borders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Decorative frames and dividers around content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6286500"/>
            <a:ext cx="3429000" cy="203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21" name="Shape 19"/>
          <p:cNvSpPr/>
          <p:nvPr/>
        </p:nvSpPr>
        <p:spPr>
          <a:xfrm>
            <a:off x="8610600" y="6540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81397" y="8176"/>
                </a:moveTo>
                <a:lnTo>
                  <a:pt x="205661" y="125413"/>
                </a:lnTo>
                <a:cubicBezTo>
                  <a:pt x="182563" y="140811"/>
                  <a:pt x="167878" y="165814"/>
                  <a:pt x="165497" y="193119"/>
                </a:cubicBezTo>
                <a:cubicBezTo>
                  <a:pt x="214948" y="203279"/>
                  <a:pt x="253921" y="242253"/>
                  <a:pt x="264160" y="291783"/>
                </a:cubicBezTo>
                <a:cubicBezTo>
                  <a:pt x="291544" y="289401"/>
                  <a:pt x="316468" y="274717"/>
                  <a:pt x="331867" y="251619"/>
                </a:cubicBezTo>
                <a:lnTo>
                  <a:pt x="449024" y="75803"/>
                </a:lnTo>
                <a:cubicBezTo>
                  <a:pt x="454343" y="67786"/>
                  <a:pt x="457200" y="58420"/>
                  <a:pt x="457200" y="48736"/>
                </a:cubicBezTo>
                <a:cubicBezTo>
                  <a:pt x="457200" y="21828"/>
                  <a:pt x="435372" y="0"/>
                  <a:pt x="408464" y="0"/>
                </a:cubicBezTo>
                <a:cubicBezTo>
                  <a:pt x="398859" y="0"/>
                  <a:pt x="389414" y="2858"/>
                  <a:pt x="381397" y="8176"/>
                </a:cubicBezTo>
                <a:close/>
                <a:moveTo>
                  <a:pt x="228600" y="317500"/>
                </a:moveTo>
                <a:cubicBezTo>
                  <a:pt x="228600" y="268367"/>
                  <a:pt x="188833" y="228600"/>
                  <a:pt x="139700" y="228600"/>
                </a:cubicBezTo>
                <a:cubicBezTo>
                  <a:pt x="90567" y="228600"/>
                  <a:pt x="50800" y="268367"/>
                  <a:pt x="50800" y="317500"/>
                </a:cubicBezTo>
                <a:cubicBezTo>
                  <a:pt x="50800" y="320596"/>
                  <a:pt x="50959" y="323691"/>
                  <a:pt x="51276" y="326708"/>
                </a:cubicBezTo>
                <a:cubicBezTo>
                  <a:pt x="52705" y="340598"/>
                  <a:pt x="43180" y="355600"/>
                  <a:pt x="29210" y="355600"/>
                </a:cubicBezTo>
                <a:lnTo>
                  <a:pt x="25400" y="355600"/>
                </a:lnTo>
                <a:cubicBezTo>
                  <a:pt x="11351" y="355600"/>
                  <a:pt x="0" y="366951"/>
                  <a:pt x="0" y="381000"/>
                </a:cubicBezTo>
                <a:cubicBezTo>
                  <a:pt x="0" y="395049"/>
                  <a:pt x="11351" y="406400"/>
                  <a:pt x="25400" y="406400"/>
                </a:cubicBezTo>
                <a:lnTo>
                  <a:pt x="139700" y="406400"/>
                </a:lnTo>
                <a:cubicBezTo>
                  <a:pt x="188833" y="406400"/>
                  <a:pt x="228600" y="366633"/>
                  <a:pt x="228600" y="317500"/>
                </a:cubicBezTo>
                <a:close/>
              </a:path>
            </a:pathLst>
          </a:custGeom>
          <a:solidFill>
            <a:srgbClr val="636E72"/>
          </a:solidFill>
          <a:ln/>
        </p:spPr>
      </p:sp>
      <p:sp>
        <p:nvSpPr>
          <p:cNvPr id="22" name="Text 20"/>
          <p:cNvSpPr/>
          <p:nvPr/>
        </p:nvSpPr>
        <p:spPr>
          <a:xfrm>
            <a:off x="8636000" y="71120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Stylistic Icons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embellishments without informational value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192000" y="6286500"/>
            <a:ext cx="3302000" cy="203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24" name="Shape 22"/>
          <p:cNvSpPr/>
          <p:nvPr/>
        </p:nvSpPr>
        <p:spPr>
          <a:xfrm>
            <a:off x="12446000" y="654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/>
            </a:pathLst>
          </a:custGeom>
          <a:solidFill>
            <a:srgbClr val="636E72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6000" y="7112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Animated Accents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Motion graphics that add visual flair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81000"/>
            <a:ext cx="2032000" cy="381000"/>
          </a:xfrm>
          <a:prstGeom prst="roundRect">
            <a:avLst>
              <a:gd name="adj" fmla="val 12000"/>
            </a:avLst>
          </a:prstGeom>
          <a:solidFill>
            <a:srgbClr val="E1705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 2 OF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Representational Function — Showing Reality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651000"/>
            <a:ext cx="8128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Representational graphics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directly depict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content being described, helping learners form accurate mental models. These graphics answer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"What does it look like?"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closer the graphic matches the real object, the stronger its representational value.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98000" y="1651000"/>
            <a:ext cx="6096000" cy="1905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8" name="Text 6"/>
          <p:cNvSpPr/>
          <p:nvPr/>
        </p:nvSpPr>
        <p:spPr>
          <a:xfrm>
            <a:off x="9779000" y="1841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79000" y="2286000"/>
            <a:ext cx="533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Object identification tasks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Showing real-world examples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Building accurate mental models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406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Representational Graphics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46355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488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3142" y="57864"/>
                </a:moveTo>
                <a:lnTo>
                  <a:pt x="123855" y="85725"/>
                </a:lnTo>
                <a:lnTo>
                  <a:pt x="57150" y="85725"/>
                </a:lnTo>
                <a:cubicBezTo>
                  <a:pt x="25628" y="85725"/>
                  <a:pt x="0" y="111353"/>
                  <a:pt x="0" y="14287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400050" y="428625"/>
                </a:lnTo>
                <a:cubicBezTo>
                  <a:pt x="431572" y="428625"/>
                  <a:pt x="457200" y="402997"/>
                  <a:pt x="457200" y="371475"/>
                </a:cubicBezTo>
                <a:lnTo>
                  <a:pt x="457200" y="142875"/>
                </a:lnTo>
                <a:cubicBezTo>
                  <a:pt x="457200" y="111353"/>
                  <a:pt x="431572" y="85725"/>
                  <a:pt x="400050" y="85725"/>
                </a:cubicBezTo>
                <a:lnTo>
                  <a:pt x="333345" y="85725"/>
                </a:lnTo>
                <a:lnTo>
                  <a:pt x="324058" y="57864"/>
                </a:lnTo>
                <a:cubicBezTo>
                  <a:pt x="318254" y="40362"/>
                  <a:pt x="301913" y="28575"/>
                  <a:pt x="283428" y="28575"/>
                </a:cubicBezTo>
                <a:lnTo>
                  <a:pt x="173772" y="28575"/>
                </a:lnTo>
                <a:cubicBezTo>
                  <a:pt x="155287" y="28575"/>
                  <a:pt x="138946" y="40362"/>
                  <a:pt x="133142" y="57864"/>
                </a:cubicBezTo>
                <a:close/>
                <a:moveTo>
                  <a:pt x="228600" y="171450"/>
                </a:moveTo>
                <a:cubicBezTo>
                  <a:pt x="275913" y="171450"/>
                  <a:pt x="314325" y="209862"/>
                  <a:pt x="314325" y="257175"/>
                </a:cubicBezTo>
                <a:cubicBezTo>
                  <a:pt x="314325" y="304488"/>
                  <a:pt x="275913" y="342900"/>
                  <a:pt x="228600" y="342900"/>
                </a:cubicBezTo>
                <a:cubicBezTo>
                  <a:pt x="181287" y="342900"/>
                  <a:pt x="142875" y="304488"/>
                  <a:pt x="142875" y="257175"/>
                </a:cubicBezTo>
                <a:cubicBezTo>
                  <a:pt x="142875" y="209862"/>
                  <a:pt x="181287" y="171450"/>
                  <a:pt x="228600" y="17145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3" name="Text 11"/>
          <p:cNvSpPr/>
          <p:nvPr/>
        </p:nvSpPr>
        <p:spPr>
          <a:xfrm>
            <a:off x="1651000" y="48895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Photographs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461000"/>
            <a:ext cx="292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images of actual objects, people, or environments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46355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6" name="Shape 14"/>
          <p:cNvSpPr/>
          <p:nvPr/>
        </p:nvSpPr>
        <p:spPr>
          <a:xfrm>
            <a:off x="4826000" y="488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0"/>
                </a:moveTo>
                <a:cubicBezTo>
                  <a:pt x="78313" y="0"/>
                  <a:pt x="96798" y="11519"/>
                  <a:pt x="106620" y="28575"/>
                </a:cubicBezTo>
                <a:lnTo>
                  <a:pt x="350490" y="28575"/>
                </a:lnTo>
                <a:cubicBezTo>
                  <a:pt x="360402" y="11519"/>
                  <a:pt x="378797" y="0"/>
                  <a:pt x="399961" y="0"/>
                </a:cubicBezTo>
                <a:cubicBezTo>
                  <a:pt x="431483" y="0"/>
                  <a:pt x="457111" y="25628"/>
                  <a:pt x="457111" y="57150"/>
                </a:cubicBezTo>
                <a:cubicBezTo>
                  <a:pt x="457111" y="87511"/>
                  <a:pt x="433447" y="112335"/>
                  <a:pt x="403533" y="114211"/>
                </a:cubicBezTo>
                <a:lnTo>
                  <a:pt x="401657" y="116800"/>
                </a:lnTo>
                <a:lnTo>
                  <a:pt x="337810" y="205294"/>
                </a:lnTo>
                <a:cubicBezTo>
                  <a:pt x="341025" y="212437"/>
                  <a:pt x="342811" y="220385"/>
                  <a:pt x="342811" y="228689"/>
                </a:cubicBezTo>
                <a:cubicBezTo>
                  <a:pt x="342811" y="236994"/>
                  <a:pt x="341025" y="244941"/>
                  <a:pt x="337810" y="252085"/>
                </a:cubicBezTo>
                <a:lnTo>
                  <a:pt x="339775" y="254853"/>
                </a:lnTo>
                <a:lnTo>
                  <a:pt x="401657" y="340578"/>
                </a:lnTo>
                <a:lnTo>
                  <a:pt x="403533" y="343168"/>
                </a:lnTo>
                <a:cubicBezTo>
                  <a:pt x="433447" y="345043"/>
                  <a:pt x="457111" y="369868"/>
                  <a:pt x="457111" y="400229"/>
                </a:cubicBezTo>
                <a:cubicBezTo>
                  <a:pt x="457111" y="431750"/>
                  <a:pt x="431483" y="457379"/>
                  <a:pt x="399961" y="457379"/>
                </a:cubicBezTo>
                <a:cubicBezTo>
                  <a:pt x="378797" y="457379"/>
                  <a:pt x="360313" y="445859"/>
                  <a:pt x="350490" y="428804"/>
                </a:cubicBezTo>
                <a:lnTo>
                  <a:pt x="106620" y="428804"/>
                </a:lnTo>
                <a:cubicBezTo>
                  <a:pt x="96709" y="445859"/>
                  <a:pt x="78313" y="457379"/>
                  <a:pt x="57150" y="457379"/>
                </a:cubicBezTo>
                <a:cubicBezTo>
                  <a:pt x="25628" y="457379"/>
                  <a:pt x="0" y="431750"/>
                  <a:pt x="0" y="400229"/>
                </a:cubicBezTo>
                <a:cubicBezTo>
                  <a:pt x="0" y="379065"/>
                  <a:pt x="11519" y="360581"/>
                  <a:pt x="28575" y="350758"/>
                </a:cubicBezTo>
                <a:lnTo>
                  <a:pt x="28575" y="106888"/>
                </a:lnTo>
                <a:cubicBezTo>
                  <a:pt x="11519" y="96798"/>
                  <a:pt x="0" y="78313"/>
                  <a:pt x="0" y="57150"/>
                </a:cubicBezTo>
                <a:cubicBezTo>
                  <a:pt x="0" y="25628"/>
                  <a:pt x="25628" y="0"/>
                  <a:pt x="57150" y="0"/>
                </a:cubicBezTo>
                <a:close/>
                <a:moveTo>
                  <a:pt x="352008" y="369153"/>
                </a:moveTo>
                <a:lnTo>
                  <a:pt x="293519" y="288250"/>
                </a:lnTo>
                <a:lnTo>
                  <a:pt x="291554" y="285482"/>
                </a:lnTo>
                <a:cubicBezTo>
                  <a:pt x="289679" y="285661"/>
                  <a:pt x="287715" y="285750"/>
                  <a:pt x="285750" y="285750"/>
                </a:cubicBezTo>
                <a:cubicBezTo>
                  <a:pt x="254228" y="285750"/>
                  <a:pt x="228600" y="260122"/>
                  <a:pt x="228600" y="228600"/>
                </a:cubicBezTo>
                <a:cubicBezTo>
                  <a:pt x="228600" y="197078"/>
                  <a:pt x="254228" y="171450"/>
                  <a:pt x="285750" y="171450"/>
                </a:cubicBezTo>
                <a:cubicBezTo>
                  <a:pt x="287715" y="171450"/>
                  <a:pt x="289679" y="171539"/>
                  <a:pt x="291554" y="171718"/>
                </a:cubicBezTo>
                <a:lnTo>
                  <a:pt x="352008" y="88047"/>
                </a:lnTo>
                <a:cubicBezTo>
                  <a:pt x="351472" y="87243"/>
                  <a:pt x="351026" y="86529"/>
                  <a:pt x="350580" y="85725"/>
                </a:cubicBezTo>
                <a:lnTo>
                  <a:pt x="106620" y="85725"/>
                </a:lnTo>
                <a:cubicBezTo>
                  <a:pt x="101620" y="94387"/>
                  <a:pt x="94387" y="101620"/>
                  <a:pt x="85725" y="106620"/>
                </a:cubicBezTo>
                <a:lnTo>
                  <a:pt x="85725" y="350490"/>
                </a:lnTo>
                <a:cubicBezTo>
                  <a:pt x="94387" y="355491"/>
                  <a:pt x="101620" y="362724"/>
                  <a:pt x="106620" y="371386"/>
                </a:cubicBezTo>
                <a:lnTo>
                  <a:pt x="350490" y="371386"/>
                </a:lnTo>
                <a:cubicBezTo>
                  <a:pt x="350937" y="370582"/>
                  <a:pt x="351473" y="369778"/>
                  <a:pt x="351919" y="369064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7" name="Text 15"/>
          <p:cNvSpPr/>
          <p:nvPr/>
        </p:nvSpPr>
        <p:spPr>
          <a:xfrm>
            <a:off x="5461000" y="48895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Realistic Illustrations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26000" y="5461000"/>
            <a:ext cx="292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Detailed drawings that closely match real appearance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46355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07425" y="4889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85725" y="57150"/>
                </a:moveTo>
                <a:cubicBezTo>
                  <a:pt x="54203" y="57150"/>
                  <a:pt x="28575" y="82778"/>
                  <a:pt x="28575" y="114300"/>
                </a:cubicBezTo>
                <a:lnTo>
                  <a:pt x="28575" y="342900"/>
                </a:lnTo>
                <a:cubicBezTo>
                  <a:pt x="28575" y="374422"/>
                  <a:pt x="54203" y="400050"/>
                  <a:pt x="85725" y="400050"/>
                </a:cubicBezTo>
                <a:lnTo>
                  <a:pt x="314325" y="400050"/>
                </a:lnTo>
                <a:cubicBezTo>
                  <a:pt x="345847" y="400050"/>
                  <a:pt x="371475" y="374422"/>
                  <a:pt x="371475" y="342900"/>
                </a:cubicBezTo>
                <a:lnTo>
                  <a:pt x="371475" y="114300"/>
                </a:lnTo>
                <a:cubicBezTo>
                  <a:pt x="371475" y="82778"/>
                  <a:pt x="345847" y="57150"/>
                  <a:pt x="314325" y="57150"/>
                </a:cubicBezTo>
                <a:lnTo>
                  <a:pt x="85725" y="57150"/>
                </a:lnTo>
                <a:close/>
                <a:moveTo>
                  <a:pt x="414338" y="300038"/>
                </a:moveTo>
                <a:lnTo>
                  <a:pt x="479971" y="352544"/>
                </a:lnTo>
                <a:cubicBezTo>
                  <a:pt x="483721" y="355580"/>
                  <a:pt x="488365" y="357188"/>
                  <a:pt x="493187" y="357188"/>
                </a:cubicBezTo>
                <a:cubicBezTo>
                  <a:pt x="504885" y="357188"/>
                  <a:pt x="514350" y="347722"/>
                  <a:pt x="514350" y="336024"/>
                </a:cubicBezTo>
                <a:lnTo>
                  <a:pt x="514350" y="121176"/>
                </a:lnTo>
                <a:cubicBezTo>
                  <a:pt x="514350" y="109478"/>
                  <a:pt x="504885" y="100013"/>
                  <a:pt x="493187" y="100013"/>
                </a:cubicBezTo>
                <a:cubicBezTo>
                  <a:pt x="488365" y="100013"/>
                  <a:pt x="483721" y="101620"/>
                  <a:pt x="479971" y="104656"/>
                </a:cubicBezTo>
                <a:lnTo>
                  <a:pt x="414338" y="157163"/>
                </a:lnTo>
                <a:lnTo>
                  <a:pt x="414338" y="300038"/>
                </a:ln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21" name="Text 19"/>
          <p:cNvSpPr/>
          <p:nvPr/>
        </p:nvSpPr>
        <p:spPr>
          <a:xfrm>
            <a:off x="9271000" y="48895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Footage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6000" y="5461000"/>
            <a:ext cx="292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Moving images showing processes or environments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192000" y="4635500"/>
            <a:ext cx="3302000" cy="1651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24" name="Shape 22"/>
          <p:cNvSpPr/>
          <p:nvPr/>
        </p:nvSpPr>
        <p:spPr>
          <a:xfrm>
            <a:off x="12446000" y="488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293" y="-2232"/>
                </a:moveTo>
                <a:cubicBezTo>
                  <a:pt x="217974" y="-12412"/>
                  <a:pt x="239762" y="-12412"/>
                  <a:pt x="257443" y="-2232"/>
                </a:cubicBezTo>
                <a:lnTo>
                  <a:pt x="414516" y="88404"/>
                </a:lnTo>
                <a:cubicBezTo>
                  <a:pt x="432197" y="98584"/>
                  <a:pt x="443091" y="117515"/>
                  <a:pt x="443091" y="137874"/>
                </a:cubicBezTo>
                <a:lnTo>
                  <a:pt x="443091" y="319147"/>
                </a:lnTo>
                <a:cubicBezTo>
                  <a:pt x="443091" y="339596"/>
                  <a:pt x="432197" y="358438"/>
                  <a:pt x="414516" y="368617"/>
                </a:cubicBezTo>
                <a:lnTo>
                  <a:pt x="257443" y="459432"/>
                </a:lnTo>
                <a:cubicBezTo>
                  <a:pt x="239762" y="469612"/>
                  <a:pt x="217974" y="469612"/>
                  <a:pt x="200293" y="459432"/>
                </a:cubicBezTo>
                <a:lnTo>
                  <a:pt x="43309" y="368796"/>
                </a:lnTo>
                <a:cubicBezTo>
                  <a:pt x="25628" y="358616"/>
                  <a:pt x="14734" y="339685"/>
                  <a:pt x="14734" y="319326"/>
                </a:cubicBezTo>
                <a:lnTo>
                  <a:pt x="14734" y="138053"/>
                </a:lnTo>
                <a:cubicBezTo>
                  <a:pt x="14734" y="117604"/>
                  <a:pt x="25628" y="98762"/>
                  <a:pt x="43309" y="88583"/>
                </a:cubicBezTo>
                <a:lnTo>
                  <a:pt x="200293" y="-2232"/>
                </a:lnTo>
                <a:close/>
                <a:moveTo>
                  <a:pt x="385852" y="319236"/>
                </a:moveTo>
                <a:lnTo>
                  <a:pt x="385852" y="170914"/>
                </a:lnTo>
                <a:lnTo>
                  <a:pt x="257443" y="245031"/>
                </a:lnTo>
                <a:lnTo>
                  <a:pt x="257443" y="393353"/>
                </a:lnTo>
                <a:lnTo>
                  <a:pt x="385852" y="319236"/>
                </a:ln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25" name="Text 23"/>
          <p:cNvSpPr/>
          <p:nvPr/>
        </p:nvSpPr>
        <p:spPr>
          <a:xfrm>
            <a:off x="13081000" y="4889500"/>
            <a:ext cx="215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3D Renders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446000" y="5461000"/>
            <a:ext cx="279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Computer-generated realistic object models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858000"/>
            <a:ext cx="14732000" cy="1397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30300" y="7239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29" name="Text 27"/>
          <p:cNvSpPr/>
          <p:nvPr/>
        </p:nvSpPr>
        <p:spPr>
          <a:xfrm>
            <a:off x="1651000" y="7048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Tip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51000" y="74422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representational graphics when learners need to recognize, identify, or understand the physical appearance of objects. The more realistic the graphic, the stronger its representational power.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81000"/>
            <a:ext cx="2032000" cy="381000"/>
          </a:xfrm>
          <a:prstGeom prst="roundRect">
            <a:avLst>
              <a:gd name="adj" fmla="val 12000"/>
            </a:avLst>
          </a:prstGeom>
          <a:solidFill>
            <a:srgbClr val="E1705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 3 OF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Organizational Function — Structuring Information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651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Organizational graphics show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relationships, hierarchies, and structures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among concepts. They answer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"How do the parts relate?"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help learners see the big picture by reducing the mental effort needed to understand relationships.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921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0500" y="63500"/>
                </a:moveTo>
                <a:cubicBezTo>
                  <a:pt x="190500" y="45938"/>
                  <a:pt x="204688" y="31750"/>
                  <a:pt x="222250" y="31750"/>
                </a:cubicBezTo>
                <a:lnTo>
                  <a:pt x="285750" y="31750"/>
                </a:lnTo>
                <a:cubicBezTo>
                  <a:pt x="303312" y="31750"/>
                  <a:pt x="317500" y="45938"/>
                  <a:pt x="317500" y="63500"/>
                </a:cubicBezTo>
                <a:lnTo>
                  <a:pt x="317500" y="127000"/>
                </a:lnTo>
                <a:cubicBezTo>
                  <a:pt x="317500" y="144562"/>
                  <a:pt x="303312" y="158750"/>
                  <a:pt x="285750" y="158750"/>
                </a:cubicBezTo>
                <a:lnTo>
                  <a:pt x="277813" y="158750"/>
                </a:lnTo>
                <a:lnTo>
                  <a:pt x="277813" y="222250"/>
                </a:lnTo>
                <a:lnTo>
                  <a:pt x="396875" y="222250"/>
                </a:lnTo>
                <a:cubicBezTo>
                  <a:pt x="436364" y="222250"/>
                  <a:pt x="468313" y="254198"/>
                  <a:pt x="468313" y="293688"/>
                </a:cubicBezTo>
                <a:lnTo>
                  <a:pt x="468313" y="349250"/>
                </a:lnTo>
                <a:lnTo>
                  <a:pt x="476250" y="349250"/>
                </a:lnTo>
                <a:cubicBezTo>
                  <a:pt x="493812" y="349250"/>
                  <a:pt x="508000" y="363438"/>
                  <a:pt x="508000" y="381000"/>
                </a:cubicBezTo>
                <a:lnTo>
                  <a:pt x="508000" y="444500"/>
                </a:lnTo>
                <a:cubicBezTo>
                  <a:pt x="508000" y="462062"/>
                  <a:pt x="493812" y="476250"/>
                  <a:pt x="476250" y="476250"/>
                </a:cubicBezTo>
                <a:lnTo>
                  <a:pt x="412750" y="476250"/>
                </a:lnTo>
                <a:cubicBezTo>
                  <a:pt x="395188" y="476250"/>
                  <a:pt x="381000" y="462062"/>
                  <a:pt x="381000" y="444500"/>
                </a:cubicBezTo>
                <a:lnTo>
                  <a:pt x="381000" y="381000"/>
                </a:lnTo>
                <a:cubicBezTo>
                  <a:pt x="381000" y="363438"/>
                  <a:pt x="395188" y="349250"/>
                  <a:pt x="412750" y="349250"/>
                </a:cubicBezTo>
                <a:lnTo>
                  <a:pt x="420688" y="349250"/>
                </a:lnTo>
                <a:lnTo>
                  <a:pt x="420688" y="293688"/>
                </a:lnTo>
                <a:cubicBezTo>
                  <a:pt x="420688" y="280491"/>
                  <a:pt x="410071" y="269875"/>
                  <a:pt x="396875" y="269875"/>
                </a:cubicBezTo>
                <a:lnTo>
                  <a:pt x="277813" y="269875"/>
                </a:lnTo>
                <a:lnTo>
                  <a:pt x="277813" y="349250"/>
                </a:lnTo>
                <a:lnTo>
                  <a:pt x="285750" y="349250"/>
                </a:lnTo>
                <a:cubicBezTo>
                  <a:pt x="303312" y="349250"/>
                  <a:pt x="317500" y="363438"/>
                  <a:pt x="317500" y="381000"/>
                </a:cubicBezTo>
                <a:lnTo>
                  <a:pt x="317500" y="444500"/>
                </a:lnTo>
                <a:cubicBezTo>
                  <a:pt x="317500" y="462062"/>
                  <a:pt x="303312" y="476250"/>
                  <a:pt x="285750" y="476250"/>
                </a:cubicBezTo>
                <a:lnTo>
                  <a:pt x="222250" y="476250"/>
                </a:lnTo>
                <a:cubicBezTo>
                  <a:pt x="204688" y="476250"/>
                  <a:pt x="190500" y="462062"/>
                  <a:pt x="190500" y="444500"/>
                </a:cubicBezTo>
                <a:lnTo>
                  <a:pt x="190500" y="381000"/>
                </a:lnTo>
                <a:cubicBezTo>
                  <a:pt x="190500" y="363438"/>
                  <a:pt x="204688" y="349250"/>
                  <a:pt x="222250" y="349250"/>
                </a:cubicBezTo>
                <a:lnTo>
                  <a:pt x="230188" y="349250"/>
                </a:lnTo>
                <a:lnTo>
                  <a:pt x="230188" y="269875"/>
                </a:lnTo>
                <a:lnTo>
                  <a:pt x="111125" y="269875"/>
                </a:lnTo>
                <a:cubicBezTo>
                  <a:pt x="97929" y="269875"/>
                  <a:pt x="87313" y="280491"/>
                  <a:pt x="87313" y="293688"/>
                </a:cubicBezTo>
                <a:lnTo>
                  <a:pt x="87313" y="349250"/>
                </a:lnTo>
                <a:lnTo>
                  <a:pt x="95250" y="349250"/>
                </a:lnTo>
                <a:cubicBezTo>
                  <a:pt x="112812" y="349250"/>
                  <a:pt x="127000" y="363438"/>
                  <a:pt x="127000" y="381000"/>
                </a:cubicBezTo>
                <a:lnTo>
                  <a:pt x="127000" y="444500"/>
                </a:lnTo>
                <a:cubicBezTo>
                  <a:pt x="127000" y="462062"/>
                  <a:pt x="112812" y="476250"/>
                  <a:pt x="95250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381000"/>
                </a:lnTo>
                <a:cubicBezTo>
                  <a:pt x="0" y="363438"/>
                  <a:pt x="14188" y="349250"/>
                  <a:pt x="31750" y="349250"/>
                </a:cubicBezTo>
                <a:lnTo>
                  <a:pt x="39688" y="349250"/>
                </a:lnTo>
                <a:lnTo>
                  <a:pt x="39688" y="293688"/>
                </a:lnTo>
                <a:cubicBezTo>
                  <a:pt x="39688" y="254198"/>
                  <a:pt x="71636" y="222250"/>
                  <a:pt x="111125" y="222250"/>
                </a:cubicBezTo>
                <a:lnTo>
                  <a:pt x="230188" y="222250"/>
                </a:lnTo>
                <a:lnTo>
                  <a:pt x="230188" y="158750"/>
                </a:lnTo>
                <a:lnTo>
                  <a:pt x="222250" y="158750"/>
                </a:lnTo>
                <a:cubicBezTo>
                  <a:pt x="204688" y="158750"/>
                  <a:pt x="190500" y="144562"/>
                  <a:pt x="190500" y="127000"/>
                </a:cubicBezTo>
                <a:lnTo>
                  <a:pt x="190500" y="63500"/>
                </a:ln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9" name="Text 7"/>
          <p:cNvSpPr/>
          <p:nvPr/>
        </p:nvSpPr>
        <p:spPr>
          <a:xfrm>
            <a:off x="1778000" y="3175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Flowcharts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9500" y="38100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Show step-by-step processes and decision paths with directional flow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42000" y="2921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2" name="Shape 10"/>
          <p:cNvSpPr/>
          <p:nvPr/>
        </p:nvSpPr>
        <p:spPr>
          <a:xfrm>
            <a:off x="61595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79375"/>
                </a:moveTo>
                <a:cubicBezTo>
                  <a:pt x="0" y="53082"/>
                  <a:pt x="21332" y="31750"/>
                  <a:pt x="47625" y="31750"/>
                </a:cubicBezTo>
                <a:lnTo>
                  <a:pt x="142875" y="31750"/>
                </a:lnTo>
                <a:cubicBezTo>
                  <a:pt x="169168" y="31750"/>
                  <a:pt x="190500" y="53082"/>
                  <a:pt x="190500" y="79375"/>
                </a:cubicBezTo>
                <a:lnTo>
                  <a:pt x="190500" y="95250"/>
                </a:lnTo>
                <a:lnTo>
                  <a:pt x="317500" y="95250"/>
                </a:lnTo>
                <a:lnTo>
                  <a:pt x="317500" y="79375"/>
                </a:lnTo>
                <a:cubicBezTo>
                  <a:pt x="317500" y="53082"/>
                  <a:pt x="338832" y="31750"/>
                  <a:pt x="365125" y="31750"/>
                </a:cubicBezTo>
                <a:lnTo>
                  <a:pt x="460375" y="31750"/>
                </a:lnTo>
                <a:cubicBezTo>
                  <a:pt x="486668" y="31750"/>
                  <a:pt x="508000" y="53082"/>
                  <a:pt x="508000" y="79375"/>
                </a:cubicBezTo>
                <a:lnTo>
                  <a:pt x="508000" y="174625"/>
                </a:lnTo>
                <a:cubicBezTo>
                  <a:pt x="508000" y="200918"/>
                  <a:pt x="486668" y="222250"/>
                  <a:pt x="460375" y="222250"/>
                </a:cubicBezTo>
                <a:lnTo>
                  <a:pt x="365125" y="222250"/>
                </a:lnTo>
                <a:cubicBezTo>
                  <a:pt x="338832" y="222250"/>
                  <a:pt x="317500" y="200918"/>
                  <a:pt x="317500" y="174625"/>
                </a:cubicBezTo>
                <a:lnTo>
                  <a:pt x="317500" y="158750"/>
                </a:lnTo>
                <a:lnTo>
                  <a:pt x="190500" y="158750"/>
                </a:lnTo>
                <a:lnTo>
                  <a:pt x="190500" y="174625"/>
                </a:lnTo>
                <a:cubicBezTo>
                  <a:pt x="190500" y="181868"/>
                  <a:pt x="188813" y="188813"/>
                  <a:pt x="185936" y="194965"/>
                </a:cubicBezTo>
                <a:lnTo>
                  <a:pt x="254000" y="285750"/>
                </a:lnTo>
                <a:lnTo>
                  <a:pt x="333375" y="285750"/>
                </a:lnTo>
                <a:cubicBezTo>
                  <a:pt x="359668" y="285750"/>
                  <a:pt x="381000" y="307082"/>
                  <a:pt x="381000" y="333375"/>
                </a:cubicBezTo>
                <a:lnTo>
                  <a:pt x="381000" y="428625"/>
                </a:lnTo>
                <a:cubicBezTo>
                  <a:pt x="381000" y="454918"/>
                  <a:pt x="359668" y="476250"/>
                  <a:pt x="333375" y="476250"/>
                </a:cubicBezTo>
                <a:lnTo>
                  <a:pt x="238125" y="476250"/>
                </a:lnTo>
                <a:cubicBezTo>
                  <a:pt x="211832" y="476250"/>
                  <a:pt x="190500" y="454918"/>
                  <a:pt x="190500" y="428625"/>
                </a:cubicBezTo>
                <a:lnTo>
                  <a:pt x="190500" y="333375"/>
                </a:lnTo>
                <a:cubicBezTo>
                  <a:pt x="190500" y="326132"/>
                  <a:pt x="192187" y="319187"/>
                  <a:pt x="195064" y="313035"/>
                </a:cubicBezTo>
                <a:lnTo>
                  <a:pt x="127000" y="222250"/>
                </a:lnTo>
                <a:lnTo>
                  <a:pt x="47625" y="222250"/>
                </a:lnTo>
                <a:cubicBezTo>
                  <a:pt x="21332" y="222250"/>
                  <a:pt x="0" y="200918"/>
                  <a:pt x="0" y="174625"/>
                </a:cubicBezTo>
                <a:lnTo>
                  <a:pt x="0" y="79375"/>
                </a:ln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3175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Mind Maps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59500" y="38100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Visualize connections between central concepts and related ideas radially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922000" y="2921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395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95250"/>
                </a:moveTo>
                <a:cubicBezTo>
                  <a:pt x="0" y="77688"/>
                  <a:pt x="14188" y="63500"/>
                  <a:pt x="31750" y="63500"/>
                </a:cubicBezTo>
                <a:lnTo>
                  <a:pt x="412750" y="63500"/>
                </a:lnTo>
                <a:cubicBezTo>
                  <a:pt x="430312" y="63500"/>
                  <a:pt x="444500" y="77688"/>
                  <a:pt x="444500" y="95250"/>
                </a:cubicBezTo>
                <a:cubicBezTo>
                  <a:pt x="444500" y="112812"/>
                  <a:pt x="430312" y="127000"/>
                  <a:pt x="412750" y="127000"/>
                </a:cubicBezTo>
                <a:lnTo>
                  <a:pt x="31750" y="127000"/>
                </a:lnTo>
                <a:cubicBezTo>
                  <a:pt x="14188" y="127000"/>
                  <a:pt x="0" y="112812"/>
                  <a:pt x="0" y="95250"/>
                </a:cubicBezTo>
                <a:close/>
                <a:moveTo>
                  <a:pt x="63500" y="254000"/>
                </a:moveTo>
                <a:cubicBezTo>
                  <a:pt x="63500" y="236438"/>
                  <a:pt x="77688" y="222250"/>
                  <a:pt x="95250" y="222250"/>
                </a:cubicBezTo>
                <a:lnTo>
                  <a:pt x="476250" y="222250"/>
                </a:lnTo>
                <a:cubicBezTo>
                  <a:pt x="493812" y="222250"/>
                  <a:pt x="508000" y="236438"/>
                  <a:pt x="508000" y="254000"/>
                </a:cubicBezTo>
                <a:cubicBezTo>
                  <a:pt x="508000" y="271562"/>
                  <a:pt x="493812" y="285750"/>
                  <a:pt x="476250" y="285750"/>
                </a:cubicBezTo>
                <a:lnTo>
                  <a:pt x="95250" y="285750"/>
                </a:lnTo>
                <a:cubicBezTo>
                  <a:pt x="77688" y="285750"/>
                  <a:pt x="63500" y="271562"/>
                  <a:pt x="63500" y="254000"/>
                </a:cubicBezTo>
                <a:close/>
                <a:moveTo>
                  <a:pt x="444500" y="412750"/>
                </a:moveTo>
                <a:cubicBezTo>
                  <a:pt x="444500" y="430312"/>
                  <a:pt x="430312" y="444500"/>
                  <a:pt x="412750" y="444500"/>
                </a:cubicBezTo>
                <a:lnTo>
                  <a:pt x="31750" y="444500"/>
                </a:lnTo>
                <a:cubicBezTo>
                  <a:pt x="14188" y="444500"/>
                  <a:pt x="0" y="430312"/>
                  <a:pt x="0" y="412750"/>
                </a:cubicBezTo>
                <a:cubicBezTo>
                  <a:pt x="0" y="395188"/>
                  <a:pt x="14188" y="381000"/>
                  <a:pt x="31750" y="381000"/>
                </a:cubicBezTo>
                <a:lnTo>
                  <a:pt x="412750" y="381000"/>
                </a:lnTo>
                <a:cubicBezTo>
                  <a:pt x="430312" y="381000"/>
                  <a:pt x="444500" y="395188"/>
                  <a:pt x="444500" y="41275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7" name="Text 15"/>
          <p:cNvSpPr/>
          <p:nvPr/>
        </p:nvSpPr>
        <p:spPr>
          <a:xfrm>
            <a:off x="11938000" y="3175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239500" y="38100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Display chronological sequences and historical progression of events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5842000"/>
            <a:ext cx="7112000" cy="2540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609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Benefit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66040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Organizational graphics support the cognitive process of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organizing information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coherent mental representations. They act as visual scaffolds that reduce extraneous cognitive load.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5842000"/>
            <a:ext cx="7112000" cy="2540000"/>
          </a:xfrm>
          <a:prstGeom prst="roundRect">
            <a:avLst>
              <a:gd name="adj" fmla="val 6000"/>
            </a:avLst>
          </a:prstGeom>
          <a:solidFill>
            <a:srgbClr val="E8E2DA"/>
          </a:solidFill>
          <a:ln/>
        </p:spPr>
      </p:sp>
      <p:sp>
        <p:nvSpPr>
          <p:cNvPr id="23" name="Text 21"/>
          <p:cNvSpPr/>
          <p:nvPr/>
        </p:nvSpPr>
        <p:spPr>
          <a:xfrm>
            <a:off x="8763000" y="609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Other Examples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63000" y="6604000"/>
            <a:ext cx="635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Organizational charts (hierarchy)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Venn diagrams (relationships)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Classification trees (categories)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Concept maps (connections)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81000"/>
            <a:ext cx="2032000" cy="381000"/>
          </a:xfrm>
          <a:prstGeom prst="roundRect">
            <a:avLst>
              <a:gd name="adj" fmla="val 12000"/>
            </a:avLst>
          </a:prstGeom>
          <a:solidFill>
            <a:srgbClr val="E1705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 4 OF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Interpretive Function — Explaining the Abstract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651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Interpretive graphics make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abstract or invisible concepts concrete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understandable. They answer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"How does it work?"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are essential for explaining processes that cannot be directly observed.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9210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17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Interpretive Graphics 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683000"/>
            <a:ext cx="635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Transform complex information into visual form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 invisible processes visible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 integration of new knowledge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Build bridges between abstract concepts and concrete understanding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 cognitive load through visual explanation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29210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E8E2DA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0" y="317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Examples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3000" y="36830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Molecular diagrams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showing atomic structures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visualizations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making numbers meaningful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Exploded views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revealing internal components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Conceptual illustrations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explaining abstract ideas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diagrams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showing how systems work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858000"/>
            <a:ext cx="14732000" cy="1397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25400">
            <a:solidFill>
              <a:srgbClr val="E170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1725" y="7112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0" y="150019"/>
                </a:moveTo>
                <a:cubicBezTo>
                  <a:pt x="0" y="103971"/>
                  <a:pt x="37296" y="66675"/>
                  <a:pt x="83344" y="66675"/>
                </a:cubicBezTo>
                <a:lnTo>
                  <a:pt x="88900" y="66675"/>
                </a:lnTo>
                <a:cubicBezTo>
                  <a:pt x="101193" y="66675"/>
                  <a:pt x="111125" y="76607"/>
                  <a:pt x="111125" y="88900"/>
                </a:cubicBezTo>
                <a:cubicBezTo>
                  <a:pt x="111125" y="101193"/>
                  <a:pt x="101193" y="111125"/>
                  <a:pt x="88900" y="111125"/>
                </a:cubicBezTo>
                <a:lnTo>
                  <a:pt x="83344" y="111125"/>
                </a:lnTo>
                <a:cubicBezTo>
                  <a:pt x="61883" y="111125"/>
                  <a:pt x="44450" y="128558"/>
                  <a:pt x="44450" y="150019"/>
                </a:cubicBezTo>
                <a:lnTo>
                  <a:pt x="44450" y="155575"/>
                </a:lnTo>
                <a:lnTo>
                  <a:pt x="88900" y="155575"/>
                </a:lnTo>
                <a:cubicBezTo>
                  <a:pt x="113417" y="155575"/>
                  <a:pt x="133350" y="175508"/>
                  <a:pt x="133350" y="200025"/>
                </a:cubicBezTo>
                <a:lnTo>
                  <a:pt x="133350" y="244475"/>
                </a:lnTo>
                <a:cubicBezTo>
                  <a:pt x="133350" y="268992"/>
                  <a:pt x="113417" y="288925"/>
                  <a:pt x="88900" y="288925"/>
                </a:cubicBezTo>
                <a:lnTo>
                  <a:pt x="44450" y="288925"/>
                </a:lnTo>
                <a:cubicBezTo>
                  <a:pt x="19933" y="288925"/>
                  <a:pt x="0" y="268992"/>
                  <a:pt x="0" y="244475"/>
                </a:cubicBezTo>
                <a:lnTo>
                  <a:pt x="0" y="150019"/>
                </a:lnTo>
                <a:close/>
                <a:moveTo>
                  <a:pt x="177800" y="150019"/>
                </a:moveTo>
                <a:cubicBezTo>
                  <a:pt x="177800" y="103971"/>
                  <a:pt x="215096" y="66675"/>
                  <a:pt x="261144" y="66675"/>
                </a:cubicBezTo>
                <a:lnTo>
                  <a:pt x="266700" y="66675"/>
                </a:lnTo>
                <a:cubicBezTo>
                  <a:pt x="278993" y="66675"/>
                  <a:pt x="288925" y="76607"/>
                  <a:pt x="288925" y="88900"/>
                </a:cubicBezTo>
                <a:cubicBezTo>
                  <a:pt x="288925" y="101193"/>
                  <a:pt x="278993" y="111125"/>
                  <a:pt x="266700" y="111125"/>
                </a:cubicBezTo>
                <a:lnTo>
                  <a:pt x="261144" y="111125"/>
                </a:lnTo>
                <a:cubicBezTo>
                  <a:pt x="239683" y="111125"/>
                  <a:pt x="222250" y="128558"/>
                  <a:pt x="222250" y="150019"/>
                </a:cubicBezTo>
                <a:lnTo>
                  <a:pt x="222250" y="155575"/>
                </a:lnTo>
                <a:lnTo>
                  <a:pt x="266700" y="155575"/>
                </a:lnTo>
                <a:cubicBezTo>
                  <a:pt x="291217" y="155575"/>
                  <a:pt x="311150" y="175508"/>
                  <a:pt x="311150" y="200025"/>
                </a:cubicBezTo>
                <a:lnTo>
                  <a:pt x="311150" y="244475"/>
                </a:lnTo>
                <a:cubicBezTo>
                  <a:pt x="311150" y="268992"/>
                  <a:pt x="291217" y="288925"/>
                  <a:pt x="266700" y="288925"/>
                </a:cubicBezTo>
                <a:lnTo>
                  <a:pt x="222250" y="288925"/>
                </a:lnTo>
                <a:cubicBezTo>
                  <a:pt x="197733" y="288925"/>
                  <a:pt x="177800" y="268992"/>
                  <a:pt x="177800" y="244475"/>
                </a:cubicBezTo>
                <a:lnTo>
                  <a:pt x="177800" y="150019"/>
                </a:ln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5" name="Text 13"/>
          <p:cNvSpPr/>
          <p:nvPr/>
        </p:nvSpPr>
        <p:spPr>
          <a:xfrm>
            <a:off x="1587500" y="70485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i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Interpretive graphics are the bridge between what learners already know and what they need to understand. They transform the abstract into the concrete.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81000"/>
            <a:ext cx="2032000" cy="381000"/>
          </a:xfrm>
          <a:prstGeom prst="roundRect">
            <a:avLst>
              <a:gd name="adj" fmla="val 12000"/>
            </a:avLst>
          </a:prstGeom>
          <a:solidFill>
            <a:srgbClr val="E1705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 5 OF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Transformational Function — Enhancing Memory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651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Transformational graphics are designed to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improve recall and retention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information. They answer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"How can I remember this?"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 creating memorable visual associations that leverage the picture superiority effect.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9210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2250" y="0"/>
                </a:moveTo>
                <a:cubicBezTo>
                  <a:pt x="257274" y="0"/>
                  <a:pt x="285750" y="21332"/>
                  <a:pt x="285750" y="47625"/>
                </a:cubicBezTo>
                <a:cubicBezTo>
                  <a:pt x="285750" y="57944"/>
                  <a:pt x="281384" y="67469"/>
                  <a:pt x="273844" y="75307"/>
                </a:cubicBezTo>
                <a:cubicBezTo>
                  <a:pt x="267295" y="82153"/>
                  <a:pt x="261937" y="90488"/>
                  <a:pt x="261937" y="100013"/>
                </a:cubicBezTo>
                <a:cubicBezTo>
                  <a:pt x="261937" y="114895"/>
                  <a:pt x="274042" y="127000"/>
                  <a:pt x="288925" y="127000"/>
                </a:cubicBezTo>
                <a:lnTo>
                  <a:pt x="333375" y="127000"/>
                </a:lnTo>
                <a:cubicBezTo>
                  <a:pt x="359668" y="127000"/>
                  <a:pt x="381000" y="148332"/>
                  <a:pt x="381000" y="174625"/>
                </a:cubicBezTo>
                <a:lnTo>
                  <a:pt x="381000" y="219075"/>
                </a:lnTo>
                <a:cubicBezTo>
                  <a:pt x="381000" y="233958"/>
                  <a:pt x="393105" y="246063"/>
                  <a:pt x="407988" y="246063"/>
                </a:cubicBezTo>
                <a:cubicBezTo>
                  <a:pt x="417413" y="246063"/>
                  <a:pt x="425847" y="240705"/>
                  <a:pt x="432693" y="234156"/>
                </a:cubicBezTo>
                <a:cubicBezTo>
                  <a:pt x="440531" y="226715"/>
                  <a:pt x="450056" y="222250"/>
                  <a:pt x="460375" y="222250"/>
                </a:cubicBezTo>
                <a:cubicBezTo>
                  <a:pt x="486668" y="222250"/>
                  <a:pt x="508000" y="250726"/>
                  <a:pt x="508000" y="285750"/>
                </a:cubicBezTo>
                <a:cubicBezTo>
                  <a:pt x="508000" y="320774"/>
                  <a:pt x="486668" y="349250"/>
                  <a:pt x="460375" y="349250"/>
                </a:cubicBezTo>
                <a:cubicBezTo>
                  <a:pt x="450056" y="349250"/>
                  <a:pt x="440432" y="344884"/>
                  <a:pt x="432693" y="337344"/>
                </a:cubicBezTo>
                <a:cubicBezTo>
                  <a:pt x="425847" y="330795"/>
                  <a:pt x="417513" y="325438"/>
                  <a:pt x="407988" y="325438"/>
                </a:cubicBezTo>
                <a:cubicBezTo>
                  <a:pt x="393105" y="325438"/>
                  <a:pt x="381000" y="337542"/>
                  <a:pt x="381000" y="352425"/>
                </a:cubicBezTo>
                <a:lnTo>
                  <a:pt x="381000" y="460375"/>
                </a:lnTo>
                <a:cubicBezTo>
                  <a:pt x="381000" y="486668"/>
                  <a:pt x="359668" y="508000"/>
                  <a:pt x="333375" y="508000"/>
                </a:cubicBezTo>
                <a:lnTo>
                  <a:pt x="277019" y="508000"/>
                </a:lnTo>
                <a:cubicBezTo>
                  <a:pt x="264319" y="508000"/>
                  <a:pt x="254000" y="497681"/>
                  <a:pt x="254000" y="484981"/>
                </a:cubicBezTo>
                <a:cubicBezTo>
                  <a:pt x="254000" y="475853"/>
                  <a:pt x="259755" y="467816"/>
                  <a:pt x="267097" y="462359"/>
                </a:cubicBezTo>
                <a:cubicBezTo>
                  <a:pt x="278606" y="453727"/>
                  <a:pt x="285750" y="441821"/>
                  <a:pt x="285750" y="428625"/>
                </a:cubicBezTo>
                <a:cubicBezTo>
                  <a:pt x="285750" y="402332"/>
                  <a:pt x="257274" y="381000"/>
                  <a:pt x="222250" y="381000"/>
                </a:cubicBezTo>
                <a:cubicBezTo>
                  <a:pt x="187226" y="381000"/>
                  <a:pt x="158750" y="402332"/>
                  <a:pt x="158750" y="428625"/>
                </a:cubicBezTo>
                <a:cubicBezTo>
                  <a:pt x="158750" y="441821"/>
                  <a:pt x="165894" y="453727"/>
                  <a:pt x="177403" y="462359"/>
                </a:cubicBezTo>
                <a:cubicBezTo>
                  <a:pt x="184745" y="467816"/>
                  <a:pt x="190500" y="475754"/>
                  <a:pt x="190500" y="484981"/>
                </a:cubicBezTo>
                <a:cubicBezTo>
                  <a:pt x="190500" y="497681"/>
                  <a:pt x="180181" y="508000"/>
                  <a:pt x="167481" y="508000"/>
                </a:cubicBezTo>
                <a:lnTo>
                  <a:pt x="47625" y="508000"/>
                </a:lnTo>
                <a:cubicBezTo>
                  <a:pt x="21332" y="508000"/>
                  <a:pt x="0" y="486668"/>
                  <a:pt x="0" y="460375"/>
                </a:cubicBezTo>
                <a:lnTo>
                  <a:pt x="0" y="340519"/>
                </a:lnTo>
                <a:cubicBezTo>
                  <a:pt x="0" y="327819"/>
                  <a:pt x="10319" y="317500"/>
                  <a:pt x="23019" y="317500"/>
                </a:cubicBezTo>
                <a:cubicBezTo>
                  <a:pt x="32147" y="317500"/>
                  <a:pt x="40184" y="323255"/>
                  <a:pt x="45641" y="330597"/>
                </a:cubicBezTo>
                <a:cubicBezTo>
                  <a:pt x="54273" y="342106"/>
                  <a:pt x="66179" y="349250"/>
                  <a:pt x="79375" y="349250"/>
                </a:cubicBezTo>
                <a:cubicBezTo>
                  <a:pt x="105668" y="349250"/>
                  <a:pt x="127000" y="320774"/>
                  <a:pt x="127000" y="285750"/>
                </a:cubicBezTo>
                <a:cubicBezTo>
                  <a:pt x="127000" y="250726"/>
                  <a:pt x="105668" y="222250"/>
                  <a:pt x="79375" y="222250"/>
                </a:cubicBezTo>
                <a:cubicBezTo>
                  <a:pt x="66179" y="222250"/>
                  <a:pt x="54273" y="229394"/>
                  <a:pt x="45641" y="240903"/>
                </a:cubicBezTo>
                <a:cubicBezTo>
                  <a:pt x="40184" y="248245"/>
                  <a:pt x="32246" y="254000"/>
                  <a:pt x="23019" y="254000"/>
                </a:cubicBezTo>
                <a:cubicBezTo>
                  <a:pt x="10319" y="254000"/>
                  <a:pt x="0" y="243681"/>
                  <a:pt x="0" y="230981"/>
                </a:cubicBezTo>
                <a:lnTo>
                  <a:pt x="0" y="174625"/>
                </a:lnTo>
                <a:cubicBezTo>
                  <a:pt x="0" y="148332"/>
                  <a:pt x="21332" y="127000"/>
                  <a:pt x="47625" y="127000"/>
                </a:cubicBezTo>
                <a:lnTo>
                  <a:pt x="155575" y="127000"/>
                </a:lnTo>
                <a:cubicBezTo>
                  <a:pt x="170458" y="127000"/>
                  <a:pt x="182563" y="114895"/>
                  <a:pt x="182563" y="100013"/>
                </a:cubicBezTo>
                <a:cubicBezTo>
                  <a:pt x="182563" y="90587"/>
                  <a:pt x="177205" y="82153"/>
                  <a:pt x="170656" y="75307"/>
                </a:cubicBezTo>
                <a:cubicBezTo>
                  <a:pt x="163215" y="67469"/>
                  <a:pt x="158750" y="57944"/>
                  <a:pt x="158750" y="47625"/>
                </a:cubicBezTo>
                <a:cubicBezTo>
                  <a:pt x="158750" y="21332"/>
                  <a:pt x="187226" y="0"/>
                  <a:pt x="222250" y="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9" name="Text 7"/>
          <p:cNvSpPr/>
          <p:nvPr/>
        </p:nvSpPr>
        <p:spPr>
          <a:xfrm>
            <a:off x="1778000" y="3175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Mnemonic Devices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9500" y="38100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memory aids that create associations between new information and familiar images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29210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89843" y="893"/>
                </a:moveTo>
                <a:lnTo>
                  <a:pt x="297160" y="75009"/>
                </a:lnTo>
                <a:lnTo>
                  <a:pt x="299442" y="45938"/>
                </a:lnTo>
                <a:cubicBezTo>
                  <a:pt x="300434" y="33238"/>
                  <a:pt x="286742" y="24606"/>
                  <a:pt x="275630" y="30956"/>
                </a:cubicBezTo>
                <a:lnTo>
                  <a:pt x="100509" y="132358"/>
                </a:lnTo>
                <a:cubicBezTo>
                  <a:pt x="38298" y="168374"/>
                  <a:pt x="0" y="234752"/>
                  <a:pt x="0" y="306586"/>
                </a:cubicBezTo>
                <a:cubicBezTo>
                  <a:pt x="0" y="417810"/>
                  <a:pt x="90190" y="508000"/>
                  <a:pt x="201414" y="508000"/>
                </a:cubicBezTo>
                <a:cubicBezTo>
                  <a:pt x="273248" y="508000"/>
                  <a:pt x="339626" y="469702"/>
                  <a:pt x="375642" y="407491"/>
                </a:cubicBezTo>
                <a:lnTo>
                  <a:pt x="477044" y="232470"/>
                </a:lnTo>
                <a:cubicBezTo>
                  <a:pt x="483493" y="221456"/>
                  <a:pt x="474861" y="207665"/>
                  <a:pt x="462062" y="208657"/>
                </a:cubicBezTo>
                <a:lnTo>
                  <a:pt x="432991" y="210939"/>
                </a:lnTo>
                <a:lnTo>
                  <a:pt x="507107" y="18256"/>
                </a:lnTo>
                <a:cubicBezTo>
                  <a:pt x="507702" y="16768"/>
                  <a:pt x="508000" y="15081"/>
                  <a:pt x="508000" y="13494"/>
                </a:cubicBezTo>
                <a:cubicBezTo>
                  <a:pt x="508000" y="6052"/>
                  <a:pt x="502047" y="99"/>
                  <a:pt x="494605" y="99"/>
                </a:cubicBezTo>
                <a:cubicBezTo>
                  <a:pt x="492919" y="99"/>
                  <a:pt x="491331" y="397"/>
                  <a:pt x="489843" y="992"/>
                </a:cubicBezTo>
                <a:close/>
                <a:moveTo>
                  <a:pt x="190500" y="190500"/>
                </a:moveTo>
                <a:cubicBezTo>
                  <a:pt x="260593" y="190500"/>
                  <a:pt x="317500" y="247407"/>
                  <a:pt x="317500" y="317500"/>
                </a:cubicBezTo>
                <a:cubicBezTo>
                  <a:pt x="317500" y="387593"/>
                  <a:pt x="260593" y="444500"/>
                  <a:pt x="190500" y="444500"/>
                </a:cubicBezTo>
                <a:cubicBezTo>
                  <a:pt x="120407" y="444500"/>
                  <a:pt x="63500" y="387593"/>
                  <a:pt x="63500" y="317500"/>
                </a:cubicBezTo>
                <a:cubicBezTo>
                  <a:pt x="63500" y="247407"/>
                  <a:pt x="120407" y="190500"/>
                  <a:pt x="190500" y="190500"/>
                </a:cubicBezTo>
                <a:close/>
                <a:moveTo>
                  <a:pt x="190500" y="285750"/>
                </a:moveTo>
                <a:cubicBezTo>
                  <a:pt x="190500" y="268227"/>
                  <a:pt x="176273" y="254000"/>
                  <a:pt x="158750" y="254000"/>
                </a:cubicBezTo>
                <a:cubicBezTo>
                  <a:pt x="141227" y="254000"/>
                  <a:pt x="127000" y="268227"/>
                  <a:pt x="127000" y="285750"/>
                </a:cubicBezTo>
                <a:cubicBezTo>
                  <a:pt x="127000" y="303273"/>
                  <a:pt x="141227" y="317500"/>
                  <a:pt x="158750" y="317500"/>
                </a:cubicBezTo>
                <a:cubicBezTo>
                  <a:pt x="176273" y="317500"/>
                  <a:pt x="190500" y="303273"/>
                  <a:pt x="190500" y="285750"/>
                </a:cubicBezTo>
                <a:close/>
                <a:moveTo>
                  <a:pt x="206375" y="381000"/>
                </a:moveTo>
                <a:cubicBezTo>
                  <a:pt x="215137" y="381000"/>
                  <a:pt x="222250" y="373887"/>
                  <a:pt x="222250" y="365125"/>
                </a:cubicBezTo>
                <a:cubicBezTo>
                  <a:pt x="222250" y="356363"/>
                  <a:pt x="215137" y="349250"/>
                  <a:pt x="206375" y="349250"/>
                </a:cubicBezTo>
                <a:cubicBezTo>
                  <a:pt x="197613" y="349250"/>
                  <a:pt x="190500" y="356363"/>
                  <a:pt x="190500" y="365125"/>
                </a:cubicBezTo>
                <a:cubicBezTo>
                  <a:pt x="190500" y="373887"/>
                  <a:pt x="197613" y="381000"/>
                  <a:pt x="206375" y="38100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3" name="Text 11"/>
          <p:cNvSpPr/>
          <p:nvPr/>
        </p:nvSpPr>
        <p:spPr>
          <a:xfrm>
            <a:off x="6794500" y="3175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Metaphors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96000" y="38100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Using familiar visual concepts to explain unfamiliar ideas through analogy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95000" y="29210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0750" y="3175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508397" y="238125"/>
                </a:moveTo>
                <a:lnTo>
                  <a:pt x="333772" y="238125"/>
                </a:lnTo>
                <a:cubicBezTo>
                  <a:pt x="316210" y="238125"/>
                  <a:pt x="302022" y="223937"/>
                  <a:pt x="302022" y="206375"/>
                </a:cubicBezTo>
                <a:lnTo>
                  <a:pt x="302022" y="31750"/>
                </a:lnTo>
                <a:cubicBezTo>
                  <a:pt x="302022" y="14188"/>
                  <a:pt x="316309" y="-198"/>
                  <a:pt x="333673" y="2084"/>
                </a:cubicBezTo>
                <a:cubicBezTo>
                  <a:pt x="439837" y="16173"/>
                  <a:pt x="523974" y="100310"/>
                  <a:pt x="538063" y="206474"/>
                </a:cubicBezTo>
                <a:cubicBezTo>
                  <a:pt x="540345" y="223838"/>
                  <a:pt x="525959" y="238125"/>
                  <a:pt x="508397" y="238125"/>
                </a:cubicBezTo>
                <a:close/>
                <a:moveTo>
                  <a:pt x="220861" y="36909"/>
                </a:moveTo>
                <a:cubicBezTo>
                  <a:pt x="238820" y="33139"/>
                  <a:pt x="254397" y="47823"/>
                  <a:pt x="254397" y="66179"/>
                </a:cubicBezTo>
                <a:lnTo>
                  <a:pt x="254397" y="261937"/>
                </a:lnTo>
                <a:cubicBezTo>
                  <a:pt x="254397" y="267494"/>
                  <a:pt x="256381" y="272852"/>
                  <a:pt x="259854" y="277118"/>
                </a:cubicBezTo>
                <a:lnTo>
                  <a:pt x="390922" y="435273"/>
                </a:lnTo>
                <a:cubicBezTo>
                  <a:pt x="402530" y="449263"/>
                  <a:pt x="400050" y="470396"/>
                  <a:pt x="384076" y="479028"/>
                </a:cubicBezTo>
                <a:cubicBezTo>
                  <a:pt x="350242" y="497483"/>
                  <a:pt x="311448" y="508000"/>
                  <a:pt x="270272" y="508000"/>
                </a:cubicBezTo>
                <a:cubicBezTo>
                  <a:pt x="138807" y="508000"/>
                  <a:pt x="32147" y="401340"/>
                  <a:pt x="32147" y="269875"/>
                </a:cubicBezTo>
                <a:cubicBezTo>
                  <a:pt x="32147" y="155277"/>
                  <a:pt x="113010" y="59630"/>
                  <a:pt x="220861" y="36909"/>
                </a:cubicBezTo>
                <a:close/>
                <a:moveTo>
                  <a:pt x="474067" y="285750"/>
                </a:moveTo>
                <a:lnTo>
                  <a:pt x="537567" y="285750"/>
                </a:lnTo>
                <a:cubicBezTo>
                  <a:pt x="555923" y="285750"/>
                  <a:pt x="570607" y="301327"/>
                  <a:pt x="566837" y="319286"/>
                </a:cubicBezTo>
                <a:cubicBezTo>
                  <a:pt x="556716" y="367308"/>
                  <a:pt x="532110" y="409972"/>
                  <a:pt x="497780" y="442516"/>
                </a:cubicBezTo>
                <a:cubicBezTo>
                  <a:pt x="485577" y="454124"/>
                  <a:pt x="466427" y="451644"/>
                  <a:pt x="455712" y="438646"/>
                </a:cubicBezTo>
                <a:lnTo>
                  <a:pt x="371971" y="337741"/>
                </a:lnTo>
                <a:cubicBezTo>
                  <a:pt x="354806" y="317004"/>
                  <a:pt x="369590" y="285750"/>
                  <a:pt x="396379" y="285750"/>
                </a:cubicBezTo>
                <a:lnTo>
                  <a:pt x="473968" y="285750"/>
                </a:ln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0" y="3175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Infographic Summaries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112500" y="38100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Condensed visual overviews that combine key points into memorable, scannable formats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58420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596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Picture Superiority Effect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6413500"/>
            <a:ext cx="139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People remember images better than words alone — transformational graphics leverage this effect to support long-term memory encoding and retrieval.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7302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25400">
            <a:solidFill>
              <a:srgbClr val="E170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7275" y="7556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4957" y="-13127"/>
                </a:moveTo>
                <a:cubicBezTo>
                  <a:pt x="212110" y="-18683"/>
                  <a:pt x="206345" y="-22225"/>
                  <a:pt x="200094" y="-22225"/>
                </a:cubicBezTo>
                <a:cubicBezTo>
                  <a:pt x="193844" y="-22225"/>
                  <a:pt x="188079" y="-18683"/>
                  <a:pt x="185231" y="-13127"/>
                </a:cubicBezTo>
                <a:lnTo>
                  <a:pt x="134114" y="87025"/>
                </a:lnTo>
                <a:lnTo>
                  <a:pt x="23058" y="104666"/>
                </a:lnTo>
                <a:cubicBezTo>
                  <a:pt x="16877" y="105638"/>
                  <a:pt x="11738" y="110014"/>
                  <a:pt x="9793" y="115987"/>
                </a:cubicBezTo>
                <a:cubicBezTo>
                  <a:pt x="7848" y="121960"/>
                  <a:pt x="9446" y="128488"/>
                  <a:pt x="13821" y="132933"/>
                </a:cubicBezTo>
                <a:lnTo>
                  <a:pt x="93276" y="212457"/>
                </a:lnTo>
                <a:lnTo>
                  <a:pt x="75773" y="323513"/>
                </a:lnTo>
                <a:cubicBezTo>
                  <a:pt x="74801" y="329694"/>
                  <a:pt x="77371" y="335945"/>
                  <a:pt x="82441" y="339626"/>
                </a:cubicBezTo>
                <a:cubicBezTo>
                  <a:pt x="87511" y="343307"/>
                  <a:pt x="94178" y="343862"/>
                  <a:pt x="99804" y="341015"/>
                </a:cubicBezTo>
                <a:lnTo>
                  <a:pt x="200094" y="290036"/>
                </a:lnTo>
                <a:lnTo>
                  <a:pt x="300315" y="341015"/>
                </a:lnTo>
                <a:cubicBezTo>
                  <a:pt x="305872" y="343862"/>
                  <a:pt x="312609" y="343307"/>
                  <a:pt x="317679" y="339626"/>
                </a:cubicBezTo>
                <a:cubicBezTo>
                  <a:pt x="322749" y="335945"/>
                  <a:pt x="325318" y="329763"/>
                  <a:pt x="324346" y="323513"/>
                </a:cubicBezTo>
                <a:lnTo>
                  <a:pt x="306774" y="212457"/>
                </a:lnTo>
                <a:lnTo>
                  <a:pt x="386229" y="132933"/>
                </a:lnTo>
                <a:cubicBezTo>
                  <a:pt x="390674" y="128488"/>
                  <a:pt x="392202" y="121960"/>
                  <a:pt x="390257" y="115987"/>
                </a:cubicBezTo>
                <a:cubicBezTo>
                  <a:pt x="388312" y="110014"/>
                  <a:pt x="383242" y="105638"/>
                  <a:pt x="376992" y="104666"/>
                </a:cubicBezTo>
                <a:lnTo>
                  <a:pt x="266005" y="87025"/>
                </a:lnTo>
                <a:lnTo>
                  <a:pt x="214957" y="-13127"/>
                </a:ln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24" name="Text 22"/>
          <p:cNvSpPr/>
          <p:nvPr/>
        </p:nvSpPr>
        <p:spPr>
          <a:xfrm>
            <a:off x="1587500" y="74295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most effective transformational graphics are those that create a strong, unique visual association with the content — the more distinctive the image, the better the recall.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Graphics Function Selection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Choosing the right graphic function depends on three key factors. Use this framework to make intentional design decisions.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E17055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32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2032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603500"/>
            <a:ext cx="419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should learners know or do?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968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10" name="Text 8"/>
          <p:cNvSpPr/>
          <p:nvPr/>
        </p:nvSpPr>
        <p:spPr>
          <a:xfrm>
            <a:off x="5969000" y="2095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67500" y="2095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Type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6035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the content concrete or abstract?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968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85500" y="2095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84000" y="2095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Learner Characteristics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6035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their prior knowledge level?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361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Selection Guide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127500"/>
          <a:ext cx="14732000" cy="4191000"/>
        </p:xfrm>
        <a:graphic>
          <a:graphicData uri="http://schemas.openxmlformats.org/drawingml/2006/table">
            <a:tbl>
              <a:tblPr/>
              <a:tblGrid>
                <a:gridCol w="3241040"/>
                <a:gridCol w="4124960"/>
                <a:gridCol w="3683000"/>
                <a:gridCol w="3683000"/>
              </a:tblGrid>
              <a:tr h="677204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Graphic Function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Content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 Use Case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70275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Decorative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Aesthetic appeal, engagement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Any (use sparingly)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Background textures, borders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70275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Representational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Identification tasks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Concrete objects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 photos, anatomical diagrams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A"/>
                    </a:solidFill>
                  </a:tcPr>
                </a:tc>
              </a:tr>
              <a:tr h="70275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Organizational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Understanding relationships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Structured content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Flowcharts, org charts, timelines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70275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Interpretive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Explaining processes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Abstract concepts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visualizations, exploded views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A"/>
                    </a:solidFill>
                  </a:tcPr>
                </a:tc>
              </a:tr>
              <a:tr h="70275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Transformational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Improving retention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Memorable content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Mnemonics, infographics, metaphors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 — Graphics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2743200" cy="330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46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28600"/>
                </a:moveTo>
                <a:cubicBezTo>
                  <a:pt x="457200" y="229404"/>
                  <a:pt x="457200" y="230207"/>
                  <a:pt x="457200" y="231011"/>
                </a:cubicBezTo>
                <a:cubicBezTo>
                  <a:pt x="456843" y="263604"/>
                  <a:pt x="427196" y="285750"/>
                  <a:pt x="394603" y="285750"/>
                </a:cubicBezTo>
                <a:lnTo>
                  <a:pt x="307181" y="285750"/>
                </a:lnTo>
                <a:cubicBezTo>
                  <a:pt x="283518" y="285750"/>
                  <a:pt x="264319" y="304949"/>
                  <a:pt x="264319" y="328613"/>
                </a:cubicBezTo>
                <a:cubicBezTo>
                  <a:pt x="264319" y="331649"/>
                  <a:pt x="264676" y="334595"/>
                  <a:pt x="265212" y="337453"/>
                </a:cubicBezTo>
                <a:cubicBezTo>
                  <a:pt x="267087" y="346561"/>
                  <a:pt x="271016" y="355312"/>
                  <a:pt x="274856" y="364153"/>
                </a:cubicBezTo>
                <a:cubicBezTo>
                  <a:pt x="280303" y="376476"/>
                  <a:pt x="285661" y="388709"/>
                  <a:pt x="285661" y="401657"/>
                </a:cubicBezTo>
                <a:cubicBezTo>
                  <a:pt x="285661" y="430054"/>
                  <a:pt x="266373" y="455861"/>
                  <a:pt x="237976" y="457021"/>
                </a:cubicBezTo>
                <a:cubicBezTo>
                  <a:pt x="234851" y="457111"/>
                  <a:pt x="231725" y="457200"/>
                  <a:pt x="228511" y="457200"/>
                </a:cubicBezTo>
                <a:cubicBezTo>
                  <a:pt x="102245" y="457200"/>
                  <a:pt x="-89" y="354866"/>
                  <a:pt x="-89" y="228600"/>
                </a:cubicBezTo>
                <a:cubicBezTo>
                  <a:pt x="-89" y="102334"/>
                  <a:pt x="102334" y="0"/>
                  <a:pt x="228600" y="0"/>
                </a:cubicBezTo>
                <a:cubicBezTo>
                  <a:pt x="354866" y="0"/>
                  <a:pt x="457200" y="102334"/>
                  <a:pt x="457200" y="228600"/>
                </a:cubicBezTo>
                <a:close/>
                <a:moveTo>
                  <a:pt x="114300" y="257175"/>
                </a:moveTo>
                <a:cubicBezTo>
                  <a:pt x="114300" y="241404"/>
                  <a:pt x="101496" y="228600"/>
                  <a:pt x="85725" y="228600"/>
                </a:cubicBezTo>
                <a:cubicBezTo>
                  <a:pt x="69954" y="228600"/>
                  <a:pt x="57150" y="241404"/>
                  <a:pt x="57150" y="257175"/>
                </a:cubicBezTo>
                <a:cubicBezTo>
                  <a:pt x="57150" y="272946"/>
                  <a:pt x="69954" y="285750"/>
                  <a:pt x="85725" y="285750"/>
                </a:cubicBezTo>
                <a:cubicBezTo>
                  <a:pt x="101496" y="285750"/>
                  <a:pt x="114300" y="272946"/>
                  <a:pt x="114300" y="257175"/>
                </a:cubicBezTo>
                <a:close/>
                <a:moveTo>
                  <a:pt x="114300" y="171450"/>
                </a:moveTo>
                <a:cubicBezTo>
                  <a:pt x="130071" y="171450"/>
                  <a:pt x="142875" y="158646"/>
                  <a:pt x="142875" y="142875"/>
                </a:cubicBezTo>
                <a:cubicBezTo>
                  <a:pt x="142875" y="127104"/>
                  <a:pt x="130071" y="114300"/>
                  <a:pt x="114300" y="114300"/>
                </a:cubicBezTo>
                <a:cubicBezTo>
                  <a:pt x="98529" y="114300"/>
                  <a:pt x="85725" y="127104"/>
                  <a:pt x="85725" y="142875"/>
                </a:cubicBezTo>
                <a:cubicBezTo>
                  <a:pt x="85725" y="158646"/>
                  <a:pt x="98529" y="171450"/>
                  <a:pt x="114300" y="17145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342900" y="171450"/>
                </a:moveTo>
                <a:cubicBezTo>
                  <a:pt x="358671" y="171450"/>
                  <a:pt x="371475" y="158646"/>
                  <a:pt x="371475" y="142875"/>
                </a:cubicBezTo>
                <a:cubicBezTo>
                  <a:pt x="371475" y="127104"/>
                  <a:pt x="358671" y="114300"/>
                  <a:pt x="342900" y="114300"/>
                </a:cubicBezTo>
                <a:cubicBezTo>
                  <a:pt x="327129" y="114300"/>
                  <a:pt x="314325" y="127104"/>
                  <a:pt x="314325" y="142875"/>
                </a:cubicBezTo>
                <a:cubicBezTo>
                  <a:pt x="314325" y="158646"/>
                  <a:pt x="327129" y="171450"/>
                  <a:pt x="342900" y="17145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95500"/>
            <a:ext cx="2235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Decorative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514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Aesthetic appeal and visual engagement without direct learning value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59200" y="1206500"/>
            <a:ext cx="2743200" cy="330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9" name="Shape 7"/>
          <p:cNvSpPr/>
          <p:nvPr/>
        </p:nvSpPr>
        <p:spPr>
          <a:xfrm>
            <a:off x="4013200" y="146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3142" y="57864"/>
                </a:moveTo>
                <a:lnTo>
                  <a:pt x="123855" y="85725"/>
                </a:lnTo>
                <a:lnTo>
                  <a:pt x="57150" y="85725"/>
                </a:lnTo>
                <a:cubicBezTo>
                  <a:pt x="25628" y="85725"/>
                  <a:pt x="0" y="111353"/>
                  <a:pt x="0" y="14287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400050" y="428625"/>
                </a:lnTo>
                <a:cubicBezTo>
                  <a:pt x="431572" y="428625"/>
                  <a:pt x="457200" y="402997"/>
                  <a:pt x="457200" y="371475"/>
                </a:cubicBezTo>
                <a:lnTo>
                  <a:pt x="457200" y="142875"/>
                </a:lnTo>
                <a:cubicBezTo>
                  <a:pt x="457200" y="111353"/>
                  <a:pt x="431572" y="85725"/>
                  <a:pt x="400050" y="85725"/>
                </a:cubicBezTo>
                <a:lnTo>
                  <a:pt x="333345" y="85725"/>
                </a:lnTo>
                <a:lnTo>
                  <a:pt x="324058" y="57864"/>
                </a:lnTo>
                <a:cubicBezTo>
                  <a:pt x="318254" y="40362"/>
                  <a:pt x="301913" y="28575"/>
                  <a:pt x="283428" y="28575"/>
                </a:cubicBezTo>
                <a:lnTo>
                  <a:pt x="173772" y="28575"/>
                </a:lnTo>
                <a:cubicBezTo>
                  <a:pt x="155287" y="28575"/>
                  <a:pt x="138946" y="40362"/>
                  <a:pt x="133142" y="57864"/>
                </a:cubicBezTo>
                <a:close/>
                <a:moveTo>
                  <a:pt x="228600" y="171450"/>
                </a:moveTo>
                <a:cubicBezTo>
                  <a:pt x="275913" y="171450"/>
                  <a:pt x="314325" y="209862"/>
                  <a:pt x="314325" y="257175"/>
                </a:cubicBezTo>
                <a:cubicBezTo>
                  <a:pt x="314325" y="304488"/>
                  <a:pt x="275913" y="342900"/>
                  <a:pt x="228600" y="342900"/>
                </a:cubicBezTo>
                <a:cubicBezTo>
                  <a:pt x="181287" y="342900"/>
                  <a:pt x="142875" y="304488"/>
                  <a:pt x="142875" y="257175"/>
                </a:cubicBezTo>
                <a:cubicBezTo>
                  <a:pt x="142875" y="209862"/>
                  <a:pt x="181287" y="171450"/>
                  <a:pt x="228600" y="17145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0" name="Text 8"/>
          <p:cNvSpPr/>
          <p:nvPr/>
        </p:nvSpPr>
        <p:spPr>
          <a:xfrm>
            <a:off x="4013200" y="2095500"/>
            <a:ext cx="2235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Representational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13200" y="2514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depiction of content to help form accurate mental models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56400" y="1206500"/>
            <a:ext cx="2743200" cy="330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3" name="Shape 11"/>
          <p:cNvSpPr/>
          <p:nvPr/>
        </p:nvSpPr>
        <p:spPr>
          <a:xfrm>
            <a:off x="7010400" y="146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57150"/>
                </a:moveTo>
                <a:cubicBezTo>
                  <a:pt x="171450" y="41344"/>
                  <a:pt x="184219" y="28575"/>
                  <a:pt x="200025" y="28575"/>
                </a:cubicBezTo>
                <a:lnTo>
                  <a:pt x="257175" y="28575"/>
                </a:lnTo>
                <a:cubicBezTo>
                  <a:pt x="272981" y="28575"/>
                  <a:pt x="285750" y="41344"/>
                  <a:pt x="285750" y="57150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250031" y="142875"/>
                </a:lnTo>
                <a:lnTo>
                  <a:pt x="250031" y="200025"/>
                </a:lnTo>
                <a:lnTo>
                  <a:pt x="357188" y="200025"/>
                </a:lnTo>
                <a:cubicBezTo>
                  <a:pt x="392728" y="200025"/>
                  <a:pt x="421481" y="228779"/>
                  <a:pt x="421481" y="264319"/>
                </a:cubicBezTo>
                <a:lnTo>
                  <a:pt x="421481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371475" y="428625"/>
                </a:lnTo>
                <a:cubicBezTo>
                  <a:pt x="355669" y="428625"/>
                  <a:pt x="342900" y="415856"/>
                  <a:pt x="342900" y="400050"/>
                </a:cubicBezTo>
                <a:lnTo>
                  <a:pt x="342900" y="342900"/>
                </a:lnTo>
                <a:cubicBezTo>
                  <a:pt x="342900" y="327094"/>
                  <a:pt x="355669" y="314325"/>
                  <a:pt x="371475" y="314325"/>
                </a:cubicBezTo>
                <a:lnTo>
                  <a:pt x="378619" y="314325"/>
                </a:lnTo>
                <a:lnTo>
                  <a:pt x="378619" y="264319"/>
                </a:lnTo>
                <a:cubicBezTo>
                  <a:pt x="378619" y="252442"/>
                  <a:pt x="369064" y="242888"/>
                  <a:pt x="357188" y="242888"/>
                </a:cubicBezTo>
                <a:lnTo>
                  <a:pt x="250031" y="242888"/>
                </a:lnTo>
                <a:lnTo>
                  <a:pt x="250031" y="314325"/>
                </a:lnTo>
                <a:lnTo>
                  <a:pt x="257175" y="314325"/>
                </a:lnTo>
                <a:cubicBezTo>
                  <a:pt x="272981" y="314325"/>
                  <a:pt x="285750" y="327094"/>
                  <a:pt x="285750" y="342900"/>
                </a:cubicBezTo>
                <a:lnTo>
                  <a:pt x="285750" y="400050"/>
                </a:lnTo>
                <a:cubicBezTo>
                  <a:pt x="285750" y="415856"/>
                  <a:pt x="272981" y="428625"/>
                  <a:pt x="257175" y="428625"/>
                </a:cubicBezTo>
                <a:lnTo>
                  <a:pt x="200025" y="428625"/>
                </a:lnTo>
                <a:cubicBezTo>
                  <a:pt x="184219" y="428625"/>
                  <a:pt x="171450" y="415856"/>
                  <a:pt x="171450" y="400050"/>
                </a:cubicBezTo>
                <a:lnTo>
                  <a:pt x="171450" y="342900"/>
                </a:lnTo>
                <a:cubicBezTo>
                  <a:pt x="171450" y="327094"/>
                  <a:pt x="184219" y="314325"/>
                  <a:pt x="200025" y="314325"/>
                </a:cubicBezTo>
                <a:lnTo>
                  <a:pt x="207169" y="314325"/>
                </a:lnTo>
                <a:lnTo>
                  <a:pt x="207169" y="242888"/>
                </a:lnTo>
                <a:lnTo>
                  <a:pt x="100013" y="242888"/>
                </a:lnTo>
                <a:cubicBezTo>
                  <a:pt x="88136" y="242888"/>
                  <a:pt x="78581" y="252442"/>
                  <a:pt x="78581" y="264319"/>
                </a:cubicBezTo>
                <a:lnTo>
                  <a:pt x="78581" y="314325"/>
                </a:lnTo>
                <a:lnTo>
                  <a:pt x="85725" y="314325"/>
                </a:lnTo>
                <a:cubicBezTo>
                  <a:pt x="101531" y="314325"/>
                  <a:pt x="114300" y="327094"/>
                  <a:pt x="114300" y="342900"/>
                </a:cubicBezTo>
                <a:lnTo>
                  <a:pt x="114300" y="400050"/>
                </a:lnTo>
                <a:cubicBezTo>
                  <a:pt x="114300" y="415856"/>
                  <a:pt x="101531" y="428625"/>
                  <a:pt x="8572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42900"/>
                </a:lnTo>
                <a:cubicBezTo>
                  <a:pt x="0" y="327094"/>
                  <a:pt x="12769" y="314325"/>
                  <a:pt x="28575" y="314325"/>
                </a:cubicBezTo>
                <a:lnTo>
                  <a:pt x="35719" y="314325"/>
                </a:lnTo>
                <a:lnTo>
                  <a:pt x="35719" y="264319"/>
                </a:lnTo>
                <a:cubicBezTo>
                  <a:pt x="35719" y="228779"/>
                  <a:pt x="64472" y="200025"/>
                  <a:pt x="100013" y="200025"/>
                </a:cubicBezTo>
                <a:lnTo>
                  <a:pt x="207169" y="200025"/>
                </a:lnTo>
                <a:lnTo>
                  <a:pt x="207169" y="142875"/>
                </a:lnTo>
                <a:lnTo>
                  <a:pt x="200025" y="142875"/>
                </a:lnTo>
                <a:cubicBezTo>
                  <a:pt x="184219" y="142875"/>
                  <a:pt x="171450" y="130106"/>
                  <a:pt x="171450" y="114300"/>
                </a:cubicBezTo>
                <a:lnTo>
                  <a:pt x="171450" y="57150"/>
                </a:ln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4" name="Text 12"/>
          <p:cNvSpPr/>
          <p:nvPr/>
        </p:nvSpPr>
        <p:spPr>
          <a:xfrm>
            <a:off x="7010400" y="2095500"/>
            <a:ext cx="2235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10400" y="2514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 relationships, hierarchies, and structures among concepts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753600" y="1206500"/>
            <a:ext cx="2743200" cy="330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36175" y="1460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356116"/>
                </a:moveTo>
                <a:cubicBezTo>
                  <a:pt x="189488" y="360670"/>
                  <a:pt x="179130" y="364778"/>
                  <a:pt x="168860" y="368171"/>
                </a:cubicBezTo>
                <a:cubicBezTo>
                  <a:pt x="183773" y="398353"/>
                  <a:pt x="196542" y="400050"/>
                  <a:pt x="200025" y="400050"/>
                </a:cubicBezTo>
                <a:cubicBezTo>
                  <a:pt x="203508" y="400050"/>
                  <a:pt x="216188" y="398353"/>
                  <a:pt x="231190" y="368171"/>
                </a:cubicBezTo>
                <a:cubicBezTo>
                  <a:pt x="221010" y="364688"/>
                  <a:pt x="210562" y="360670"/>
                  <a:pt x="200025" y="356116"/>
                </a:cubicBezTo>
                <a:close/>
                <a:moveTo>
                  <a:pt x="369689" y="228600"/>
                </a:moveTo>
                <a:cubicBezTo>
                  <a:pt x="399157" y="268962"/>
                  <a:pt x="409248" y="309771"/>
                  <a:pt x="390763" y="342900"/>
                </a:cubicBezTo>
                <a:cubicBezTo>
                  <a:pt x="372725" y="375315"/>
                  <a:pt x="334953" y="386923"/>
                  <a:pt x="287893" y="381476"/>
                </a:cubicBezTo>
                <a:cubicBezTo>
                  <a:pt x="268248" y="428000"/>
                  <a:pt x="238155" y="457200"/>
                  <a:pt x="200025" y="457200"/>
                </a:cubicBezTo>
                <a:cubicBezTo>
                  <a:pt x="161895" y="457200"/>
                  <a:pt x="131802" y="428000"/>
                  <a:pt x="112157" y="381476"/>
                </a:cubicBezTo>
                <a:cubicBezTo>
                  <a:pt x="65097" y="386923"/>
                  <a:pt x="27325" y="375315"/>
                  <a:pt x="9287" y="342900"/>
                </a:cubicBezTo>
                <a:cubicBezTo>
                  <a:pt x="-9198" y="309771"/>
                  <a:pt x="893" y="268962"/>
                  <a:pt x="30361" y="228600"/>
                </a:cubicBezTo>
                <a:cubicBezTo>
                  <a:pt x="893" y="188238"/>
                  <a:pt x="-9198" y="147429"/>
                  <a:pt x="9287" y="114300"/>
                </a:cubicBezTo>
                <a:cubicBezTo>
                  <a:pt x="27325" y="81885"/>
                  <a:pt x="65097" y="70277"/>
                  <a:pt x="112157" y="75724"/>
                </a:cubicBezTo>
                <a:cubicBezTo>
                  <a:pt x="131802" y="29200"/>
                  <a:pt x="161806" y="0"/>
                  <a:pt x="200025" y="0"/>
                </a:cubicBezTo>
                <a:cubicBezTo>
                  <a:pt x="238244" y="0"/>
                  <a:pt x="268248" y="29200"/>
                  <a:pt x="287893" y="75724"/>
                </a:cubicBezTo>
                <a:cubicBezTo>
                  <a:pt x="334953" y="70277"/>
                  <a:pt x="372725" y="81796"/>
                  <a:pt x="390763" y="114300"/>
                </a:cubicBezTo>
                <a:cubicBezTo>
                  <a:pt x="409248" y="147429"/>
                  <a:pt x="399157" y="188238"/>
                  <a:pt x="369689" y="228600"/>
                </a:cubicBezTo>
                <a:close/>
                <a:moveTo>
                  <a:pt x="310932" y="288786"/>
                </a:moveTo>
                <a:cubicBezTo>
                  <a:pt x="309414" y="301466"/>
                  <a:pt x="307449" y="313789"/>
                  <a:pt x="304949" y="325576"/>
                </a:cubicBezTo>
                <a:cubicBezTo>
                  <a:pt x="333345" y="326827"/>
                  <a:pt x="339417" y="317808"/>
                  <a:pt x="340846" y="315129"/>
                </a:cubicBezTo>
                <a:cubicBezTo>
                  <a:pt x="342900" y="311378"/>
                  <a:pt x="347097" y="299145"/>
                  <a:pt x="330220" y="272177"/>
                </a:cubicBezTo>
                <a:cubicBezTo>
                  <a:pt x="324148" y="277803"/>
                  <a:pt x="317718" y="283339"/>
                  <a:pt x="310932" y="288786"/>
                </a:cubicBezTo>
                <a:close/>
                <a:moveTo>
                  <a:pt x="304949" y="131713"/>
                </a:moveTo>
                <a:cubicBezTo>
                  <a:pt x="307449" y="143411"/>
                  <a:pt x="309414" y="155734"/>
                  <a:pt x="310932" y="168503"/>
                </a:cubicBezTo>
                <a:cubicBezTo>
                  <a:pt x="317718" y="173950"/>
                  <a:pt x="324148" y="179487"/>
                  <a:pt x="330220" y="185112"/>
                </a:cubicBezTo>
                <a:cubicBezTo>
                  <a:pt x="347097" y="158145"/>
                  <a:pt x="342900" y="145822"/>
                  <a:pt x="340846" y="142161"/>
                </a:cubicBezTo>
                <a:cubicBezTo>
                  <a:pt x="339417" y="139571"/>
                  <a:pt x="333345" y="130552"/>
                  <a:pt x="304949" y="131713"/>
                </a:cubicBezTo>
                <a:close/>
                <a:moveTo>
                  <a:pt x="231190" y="89029"/>
                </a:moveTo>
                <a:cubicBezTo>
                  <a:pt x="216188" y="58847"/>
                  <a:pt x="203508" y="57150"/>
                  <a:pt x="200025" y="57150"/>
                </a:cubicBezTo>
                <a:cubicBezTo>
                  <a:pt x="196542" y="57150"/>
                  <a:pt x="183862" y="58847"/>
                  <a:pt x="168860" y="89029"/>
                </a:cubicBezTo>
                <a:cubicBezTo>
                  <a:pt x="179040" y="92512"/>
                  <a:pt x="189488" y="96530"/>
                  <a:pt x="200025" y="101084"/>
                </a:cubicBezTo>
                <a:cubicBezTo>
                  <a:pt x="210562" y="96530"/>
                  <a:pt x="220920" y="92422"/>
                  <a:pt x="231190" y="89029"/>
                </a:cubicBezTo>
                <a:close/>
                <a:moveTo>
                  <a:pt x="89208" y="168414"/>
                </a:moveTo>
                <a:cubicBezTo>
                  <a:pt x="90726" y="155644"/>
                  <a:pt x="92690" y="143411"/>
                  <a:pt x="95190" y="131624"/>
                </a:cubicBezTo>
                <a:cubicBezTo>
                  <a:pt x="66794" y="130373"/>
                  <a:pt x="60722" y="139392"/>
                  <a:pt x="59293" y="142071"/>
                </a:cubicBezTo>
                <a:cubicBezTo>
                  <a:pt x="57239" y="145822"/>
                  <a:pt x="53042" y="158055"/>
                  <a:pt x="69919" y="185023"/>
                </a:cubicBezTo>
                <a:cubicBezTo>
                  <a:pt x="75992" y="179397"/>
                  <a:pt x="82421" y="173861"/>
                  <a:pt x="89208" y="168414"/>
                </a:cubicBezTo>
                <a:close/>
                <a:moveTo>
                  <a:pt x="69830" y="272177"/>
                </a:moveTo>
                <a:cubicBezTo>
                  <a:pt x="52953" y="299145"/>
                  <a:pt x="57150" y="311468"/>
                  <a:pt x="59204" y="315129"/>
                </a:cubicBezTo>
                <a:cubicBezTo>
                  <a:pt x="60633" y="317718"/>
                  <a:pt x="66705" y="326737"/>
                  <a:pt x="95101" y="325576"/>
                </a:cubicBezTo>
                <a:cubicBezTo>
                  <a:pt x="92601" y="313879"/>
                  <a:pt x="90636" y="301556"/>
                  <a:pt x="89118" y="288786"/>
                </a:cubicBezTo>
                <a:cubicBezTo>
                  <a:pt x="82332" y="283339"/>
                  <a:pt x="75902" y="277803"/>
                  <a:pt x="69830" y="272177"/>
                </a:cubicBezTo>
                <a:close/>
                <a:moveTo>
                  <a:pt x="271463" y="228600"/>
                </a:moveTo>
                <a:cubicBezTo>
                  <a:pt x="271463" y="189173"/>
                  <a:pt x="239452" y="157163"/>
                  <a:pt x="200025" y="157163"/>
                </a:cubicBezTo>
                <a:cubicBezTo>
                  <a:pt x="160598" y="157163"/>
                  <a:pt x="128588" y="189173"/>
                  <a:pt x="128588" y="228600"/>
                </a:cubicBezTo>
                <a:cubicBezTo>
                  <a:pt x="128588" y="268027"/>
                  <a:pt x="160598" y="300038"/>
                  <a:pt x="200025" y="300038"/>
                </a:cubicBezTo>
                <a:cubicBezTo>
                  <a:pt x="239452" y="300038"/>
                  <a:pt x="271463" y="268027"/>
                  <a:pt x="271463" y="228600"/>
                </a:cubicBezTo>
                <a:close/>
                <a:moveTo>
                  <a:pt x="200025" y="200025"/>
                </a:moveTo>
                <a:cubicBezTo>
                  <a:pt x="215796" y="200025"/>
                  <a:pt x="228600" y="212829"/>
                  <a:pt x="228600" y="228600"/>
                </a:cubicBezTo>
                <a:cubicBezTo>
                  <a:pt x="228600" y="244371"/>
                  <a:pt x="215796" y="257175"/>
                  <a:pt x="200025" y="257175"/>
                </a:cubicBezTo>
                <a:cubicBezTo>
                  <a:pt x="184254" y="257175"/>
                  <a:pt x="171450" y="244371"/>
                  <a:pt x="171450" y="228600"/>
                </a:cubicBezTo>
                <a:cubicBezTo>
                  <a:pt x="171450" y="212829"/>
                  <a:pt x="184254" y="200025"/>
                  <a:pt x="200025" y="200025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8" name="Text 16"/>
          <p:cNvSpPr/>
          <p:nvPr/>
        </p:nvSpPr>
        <p:spPr>
          <a:xfrm>
            <a:off x="10007600" y="2095500"/>
            <a:ext cx="2235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07600" y="2514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abstract or invisible concepts concrete and understandable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50800" y="1206500"/>
            <a:ext cx="2743200" cy="330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21" name="Shape 19"/>
          <p:cNvSpPr/>
          <p:nvPr/>
        </p:nvSpPr>
        <p:spPr>
          <a:xfrm>
            <a:off x="13004800" y="146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22" name="Text 20"/>
          <p:cNvSpPr/>
          <p:nvPr/>
        </p:nvSpPr>
        <p:spPr>
          <a:xfrm>
            <a:off x="13004800" y="2095500"/>
            <a:ext cx="2235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004800" y="2514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recall and retention through memorable visual associations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4953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5143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5588000"/>
            <a:ext cx="1397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graphic should serve a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instructional purpose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Before adding any visual element, ask: "What cognitive process does this support?" When in doubt, remove it. Clarity always beats decoration.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985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25400">
            <a:solidFill>
              <a:srgbClr val="E170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9500" y="730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122238"/>
                </a:moveTo>
                <a:cubicBezTo>
                  <a:pt x="165507" y="122238"/>
                  <a:pt x="155575" y="132169"/>
                  <a:pt x="155575" y="144463"/>
                </a:cubicBezTo>
                <a:cubicBezTo>
                  <a:pt x="155575" y="153700"/>
                  <a:pt x="148144" y="161131"/>
                  <a:pt x="138906" y="161131"/>
                </a:cubicBezTo>
                <a:cubicBezTo>
                  <a:pt x="129669" y="161131"/>
                  <a:pt x="122238" y="153700"/>
                  <a:pt x="122238" y="144463"/>
                </a:cubicBezTo>
                <a:cubicBezTo>
                  <a:pt x="122238" y="113764"/>
                  <a:pt x="147102" y="88900"/>
                  <a:pt x="177800" y="88900"/>
                </a:cubicBezTo>
                <a:cubicBezTo>
                  <a:pt x="208498" y="88900"/>
                  <a:pt x="233363" y="113764"/>
                  <a:pt x="233363" y="144463"/>
                </a:cubicBezTo>
                <a:cubicBezTo>
                  <a:pt x="233363" y="177244"/>
                  <a:pt x="208359" y="191135"/>
                  <a:pt x="194469" y="196205"/>
                </a:cubicBezTo>
                <a:lnTo>
                  <a:pt x="194469" y="198844"/>
                </a:lnTo>
                <a:cubicBezTo>
                  <a:pt x="194469" y="208082"/>
                  <a:pt x="187037" y="215513"/>
                  <a:pt x="177800" y="215513"/>
                </a:cubicBezTo>
                <a:cubicBezTo>
                  <a:pt x="168563" y="215513"/>
                  <a:pt x="161131" y="208082"/>
                  <a:pt x="161131" y="198844"/>
                </a:cubicBezTo>
                <a:lnTo>
                  <a:pt x="161131" y="193219"/>
                </a:lnTo>
                <a:cubicBezTo>
                  <a:pt x="161131" y="178981"/>
                  <a:pt x="171410" y="168771"/>
                  <a:pt x="182037" y="165298"/>
                </a:cubicBezTo>
                <a:cubicBezTo>
                  <a:pt x="186482" y="163840"/>
                  <a:pt x="191204" y="161479"/>
                  <a:pt x="194677" y="158145"/>
                </a:cubicBezTo>
                <a:cubicBezTo>
                  <a:pt x="197664" y="155228"/>
                  <a:pt x="200025" y="151199"/>
                  <a:pt x="200025" y="144532"/>
                </a:cubicBezTo>
                <a:cubicBezTo>
                  <a:pt x="200025" y="132239"/>
                  <a:pt x="190093" y="122307"/>
                  <a:pt x="177800" y="122307"/>
                </a:cubicBezTo>
                <a:close/>
                <a:moveTo>
                  <a:pt x="155575" y="255587"/>
                </a:moveTo>
                <a:cubicBezTo>
                  <a:pt x="155575" y="243321"/>
                  <a:pt x="165534" y="233363"/>
                  <a:pt x="177800" y="233363"/>
                </a:cubicBezTo>
                <a:cubicBezTo>
                  <a:pt x="190066" y="233363"/>
                  <a:pt x="200025" y="243321"/>
                  <a:pt x="200025" y="255587"/>
                </a:cubicBezTo>
                <a:cubicBezTo>
                  <a:pt x="200025" y="267854"/>
                  <a:pt x="190066" y="277813"/>
                  <a:pt x="177800" y="277813"/>
                </a:cubicBezTo>
                <a:cubicBezTo>
                  <a:pt x="165534" y="277813"/>
                  <a:pt x="155575" y="267854"/>
                  <a:pt x="155575" y="255587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29" name="Text 27"/>
          <p:cNvSpPr/>
          <p:nvPr/>
        </p:nvSpPr>
        <p:spPr>
          <a:xfrm>
            <a:off x="1587500" y="711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Discussion Question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87500" y="7493000"/>
            <a:ext cx="1358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 at a recent presentation you've seen. Which graphic functions were used? Were they effective? What would you change?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rc2hjyp5mpiq/mnt/agents/output/multimedia_production/images/6_Free_Illuminated_Neural_Network_Image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3436">
                  <a:alpha val="0"/>
                </a:srgbClr>
              </a:gs>
              <a:gs pos="40000">
                <a:srgbClr val="2D3436">
                  <a:alpha val="50000"/>
                </a:srgbClr>
              </a:gs>
              <a:gs pos="100000">
                <a:srgbClr val="2D3436">
                  <a:alpha val="91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302000"/>
            <a:ext cx="2540000" cy="508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5" name="Text 2"/>
          <p:cNvSpPr/>
          <p:nvPr/>
        </p:nvSpPr>
        <p:spPr>
          <a:xfrm>
            <a:off x="4318000" y="3556000"/>
            <a:ext cx="762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spc="600" kern="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78000" y="4572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spc="5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LEARNING PRINCIPLES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048000" y="5461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Evidence-based strategies for designing effective multimedia learning experiences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Science Behind Multimedia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Richard Mayer's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Cognitive Theory of Multimedia Learning (CTML)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built on three foundational assumptions from cognitive science. These principles guide how we design multimedia to maximize learning outcomes.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6" name="Shape 4"/>
          <p:cNvSpPr/>
          <p:nvPr/>
        </p:nvSpPr>
        <p:spPr>
          <a:xfrm>
            <a:off x="1114425" y="2540000"/>
            <a:ext cx="488950" cy="558800"/>
          </a:xfrm>
          <a:custGeom>
            <a:avLst/>
            <a:gdLst/>
            <a:ahLst/>
            <a:cxnLst/>
            <a:rect l="l" t="t" r="r" b="b"/>
            <a:pathLst>
              <a:path w="488950" h="558800">
                <a:moveTo>
                  <a:pt x="87313" y="113506"/>
                </a:moveTo>
                <a:cubicBezTo>
                  <a:pt x="101769" y="113506"/>
                  <a:pt x="113506" y="101769"/>
                  <a:pt x="113506" y="87313"/>
                </a:cubicBezTo>
                <a:cubicBezTo>
                  <a:pt x="113506" y="72856"/>
                  <a:pt x="101769" y="61119"/>
                  <a:pt x="87313" y="61119"/>
                </a:cubicBezTo>
                <a:cubicBezTo>
                  <a:pt x="72856" y="61119"/>
                  <a:pt x="61119" y="72856"/>
                  <a:pt x="61119" y="87313"/>
                </a:cubicBezTo>
                <a:cubicBezTo>
                  <a:pt x="61119" y="101769"/>
                  <a:pt x="72856" y="113506"/>
                  <a:pt x="87313" y="113506"/>
                </a:cubicBezTo>
                <a:close/>
                <a:moveTo>
                  <a:pt x="174625" y="87313"/>
                </a:moveTo>
                <a:cubicBezTo>
                  <a:pt x="174625" y="123111"/>
                  <a:pt x="153124" y="153888"/>
                  <a:pt x="122238" y="167313"/>
                </a:cubicBezTo>
                <a:lnTo>
                  <a:pt x="122238" y="244475"/>
                </a:lnTo>
                <a:lnTo>
                  <a:pt x="314325" y="244475"/>
                </a:lnTo>
                <a:cubicBezTo>
                  <a:pt x="343247" y="244475"/>
                  <a:pt x="366713" y="221010"/>
                  <a:pt x="366713" y="192088"/>
                </a:cubicBezTo>
                <a:lnTo>
                  <a:pt x="366713" y="167313"/>
                </a:lnTo>
                <a:cubicBezTo>
                  <a:pt x="335826" y="153888"/>
                  <a:pt x="314325" y="123111"/>
                  <a:pt x="314325" y="87313"/>
                </a:cubicBezTo>
                <a:cubicBezTo>
                  <a:pt x="314325" y="39072"/>
                  <a:pt x="353397" y="0"/>
                  <a:pt x="401637" y="0"/>
                </a:cubicBezTo>
                <a:cubicBezTo>
                  <a:pt x="449878" y="0"/>
                  <a:pt x="488950" y="39072"/>
                  <a:pt x="488950" y="87313"/>
                </a:cubicBezTo>
                <a:cubicBezTo>
                  <a:pt x="488950" y="123111"/>
                  <a:pt x="467449" y="153888"/>
                  <a:pt x="436563" y="167313"/>
                </a:cubicBezTo>
                <a:lnTo>
                  <a:pt x="436563" y="192088"/>
                </a:lnTo>
                <a:cubicBezTo>
                  <a:pt x="436563" y="259646"/>
                  <a:pt x="381883" y="314325"/>
                  <a:pt x="314325" y="314325"/>
                </a:cubicBezTo>
                <a:lnTo>
                  <a:pt x="122238" y="314325"/>
                </a:lnTo>
                <a:lnTo>
                  <a:pt x="122238" y="391487"/>
                </a:lnTo>
                <a:cubicBezTo>
                  <a:pt x="153124" y="404912"/>
                  <a:pt x="174625" y="435689"/>
                  <a:pt x="174625" y="471488"/>
                </a:cubicBezTo>
                <a:cubicBezTo>
                  <a:pt x="174625" y="519728"/>
                  <a:pt x="135553" y="558800"/>
                  <a:pt x="87313" y="558800"/>
                </a:cubicBezTo>
                <a:cubicBezTo>
                  <a:pt x="39072" y="558800"/>
                  <a:pt x="0" y="519728"/>
                  <a:pt x="0" y="471488"/>
                </a:cubicBezTo>
                <a:cubicBezTo>
                  <a:pt x="0" y="435689"/>
                  <a:pt x="21501" y="404912"/>
                  <a:pt x="52388" y="391487"/>
                </a:cubicBezTo>
                <a:lnTo>
                  <a:pt x="52388" y="167422"/>
                </a:lnTo>
                <a:cubicBezTo>
                  <a:pt x="21501" y="153888"/>
                  <a:pt x="0" y="123111"/>
                  <a:pt x="0" y="87313"/>
                </a:cubicBezTo>
                <a:cubicBezTo>
                  <a:pt x="0" y="39072"/>
                  <a:pt x="39072" y="0"/>
                  <a:pt x="87313" y="0"/>
                </a:cubicBezTo>
                <a:cubicBezTo>
                  <a:pt x="135553" y="0"/>
                  <a:pt x="174625" y="39072"/>
                  <a:pt x="174625" y="87313"/>
                </a:cubicBezTo>
                <a:close/>
                <a:moveTo>
                  <a:pt x="427831" y="87313"/>
                </a:moveTo>
                <a:cubicBezTo>
                  <a:pt x="427831" y="72856"/>
                  <a:pt x="416094" y="61119"/>
                  <a:pt x="401637" y="61119"/>
                </a:cubicBezTo>
                <a:cubicBezTo>
                  <a:pt x="387181" y="61119"/>
                  <a:pt x="375444" y="72856"/>
                  <a:pt x="375444" y="87313"/>
                </a:cubicBezTo>
                <a:cubicBezTo>
                  <a:pt x="375444" y="101769"/>
                  <a:pt x="387181" y="113506"/>
                  <a:pt x="401637" y="113506"/>
                </a:cubicBezTo>
                <a:cubicBezTo>
                  <a:pt x="416094" y="113506"/>
                  <a:pt x="427831" y="101769"/>
                  <a:pt x="427831" y="87313"/>
                </a:cubicBezTo>
                <a:close/>
                <a:moveTo>
                  <a:pt x="87313" y="497681"/>
                </a:moveTo>
                <a:cubicBezTo>
                  <a:pt x="101769" y="497681"/>
                  <a:pt x="113506" y="485944"/>
                  <a:pt x="113506" y="471488"/>
                </a:cubicBezTo>
                <a:cubicBezTo>
                  <a:pt x="113506" y="457031"/>
                  <a:pt x="101769" y="445294"/>
                  <a:pt x="87313" y="445294"/>
                </a:cubicBezTo>
                <a:cubicBezTo>
                  <a:pt x="72856" y="445294"/>
                  <a:pt x="61119" y="457031"/>
                  <a:pt x="61119" y="471488"/>
                </a:cubicBezTo>
                <a:cubicBezTo>
                  <a:pt x="61119" y="485944"/>
                  <a:pt x="72856" y="497681"/>
                  <a:pt x="87313" y="497681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3302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Channels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8100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Humans process visual and auditory information through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channels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Presenting information across both channels maximizes processing capacity.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2225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0" y="2540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279400"/>
                </a:moveTo>
                <a:cubicBezTo>
                  <a:pt x="0" y="125195"/>
                  <a:pt x="125195" y="0"/>
                  <a:pt x="279400" y="0"/>
                </a:cubicBezTo>
                <a:cubicBezTo>
                  <a:pt x="433605" y="0"/>
                  <a:pt x="558800" y="125195"/>
                  <a:pt x="558800" y="279400"/>
                </a:cubicBezTo>
                <a:cubicBezTo>
                  <a:pt x="558800" y="433605"/>
                  <a:pt x="433605" y="558800"/>
                  <a:pt x="279400" y="558800"/>
                </a:cubicBezTo>
                <a:cubicBezTo>
                  <a:pt x="125195" y="558800"/>
                  <a:pt x="0" y="433605"/>
                  <a:pt x="0" y="279400"/>
                </a:cubicBezTo>
                <a:close/>
                <a:moveTo>
                  <a:pt x="314325" y="104775"/>
                </a:moveTo>
                <a:cubicBezTo>
                  <a:pt x="314325" y="85499"/>
                  <a:pt x="298676" y="69850"/>
                  <a:pt x="279400" y="69850"/>
                </a:cubicBezTo>
                <a:cubicBezTo>
                  <a:pt x="260124" y="69850"/>
                  <a:pt x="244475" y="85499"/>
                  <a:pt x="244475" y="104775"/>
                </a:cubicBezTo>
                <a:cubicBezTo>
                  <a:pt x="244475" y="124051"/>
                  <a:pt x="260124" y="139700"/>
                  <a:pt x="279400" y="139700"/>
                </a:cubicBezTo>
                <a:cubicBezTo>
                  <a:pt x="298676" y="139700"/>
                  <a:pt x="314325" y="124051"/>
                  <a:pt x="314325" y="104775"/>
                </a:cubicBezTo>
                <a:close/>
                <a:moveTo>
                  <a:pt x="279400" y="454025"/>
                </a:moveTo>
                <a:cubicBezTo>
                  <a:pt x="317927" y="454025"/>
                  <a:pt x="349250" y="422702"/>
                  <a:pt x="349250" y="384175"/>
                </a:cubicBezTo>
                <a:cubicBezTo>
                  <a:pt x="349250" y="366494"/>
                  <a:pt x="342702" y="350232"/>
                  <a:pt x="331788" y="338009"/>
                </a:cubicBezTo>
                <a:lnTo>
                  <a:pt x="407640" y="186412"/>
                </a:lnTo>
                <a:cubicBezTo>
                  <a:pt x="414080" y="173424"/>
                  <a:pt x="408841" y="157708"/>
                  <a:pt x="395962" y="151269"/>
                </a:cubicBezTo>
                <a:cubicBezTo>
                  <a:pt x="383084" y="144830"/>
                  <a:pt x="367258" y="150068"/>
                  <a:pt x="360819" y="162947"/>
                </a:cubicBezTo>
                <a:lnTo>
                  <a:pt x="284966" y="314543"/>
                </a:lnTo>
                <a:cubicBezTo>
                  <a:pt x="283111" y="314434"/>
                  <a:pt x="281255" y="314325"/>
                  <a:pt x="279400" y="314325"/>
                </a:cubicBezTo>
                <a:cubicBezTo>
                  <a:pt x="240873" y="314325"/>
                  <a:pt x="209550" y="345648"/>
                  <a:pt x="209550" y="384175"/>
                </a:cubicBezTo>
                <a:cubicBezTo>
                  <a:pt x="209550" y="422702"/>
                  <a:pt x="240873" y="454025"/>
                  <a:pt x="279400" y="454025"/>
                </a:cubicBezTo>
                <a:close/>
                <a:moveTo>
                  <a:pt x="192088" y="157163"/>
                </a:moveTo>
                <a:cubicBezTo>
                  <a:pt x="192088" y="137887"/>
                  <a:pt x="176438" y="122238"/>
                  <a:pt x="157163" y="122238"/>
                </a:cubicBezTo>
                <a:cubicBezTo>
                  <a:pt x="137887" y="122238"/>
                  <a:pt x="122238" y="137887"/>
                  <a:pt x="122238" y="157163"/>
                </a:cubicBezTo>
                <a:cubicBezTo>
                  <a:pt x="122238" y="176438"/>
                  <a:pt x="137887" y="192088"/>
                  <a:pt x="157163" y="192088"/>
                </a:cubicBezTo>
                <a:cubicBezTo>
                  <a:pt x="176438" y="192088"/>
                  <a:pt x="192088" y="176438"/>
                  <a:pt x="192088" y="157163"/>
                </a:cubicBezTo>
                <a:close/>
                <a:moveTo>
                  <a:pt x="104775" y="314325"/>
                </a:moveTo>
                <a:cubicBezTo>
                  <a:pt x="124051" y="314325"/>
                  <a:pt x="139700" y="298676"/>
                  <a:pt x="139700" y="279400"/>
                </a:cubicBezTo>
                <a:cubicBezTo>
                  <a:pt x="139700" y="260124"/>
                  <a:pt x="124051" y="244475"/>
                  <a:pt x="104775" y="244475"/>
                </a:cubicBezTo>
                <a:cubicBezTo>
                  <a:pt x="85499" y="244475"/>
                  <a:pt x="69850" y="260124"/>
                  <a:pt x="69850" y="279400"/>
                </a:cubicBezTo>
                <a:cubicBezTo>
                  <a:pt x="69850" y="298676"/>
                  <a:pt x="85499" y="314325"/>
                  <a:pt x="104775" y="314325"/>
                </a:cubicBezTo>
                <a:close/>
                <a:moveTo>
                  <a:pt x="488950" y="279400"/>
                </a:moveTo>
                <a:cubicBezTo>
                  <a:pt x="488950" y="260124"/>
                  <a:pt x="473301" y="244475"/>
                  <a:pt x="454025" y="244475"/>
                </a:cubicBezTo>
                <a:cubicBezTo>
                  <a:pt x="434749" y="244475"/>
                  <a:pt x="419100" y="260124"/>
                  <a:pt x="419100" y="279400"/>
                </a:cubicBezTo>
                <a:cubicBezTo>
                  <a:pt x="419100" y="298676"/>
                  <a:pt x="434749" y="314325"/>
                  <a:pt x="454025" y="314325"/>
                </a:cubicBezTo>
                <a:cubicBezTo>
                  <a:pt x="473301" y="314325"/>
                  <a:pt x="488950" y="298676"/>
                  <a:pt x="488950" y="27940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3302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Capacity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0" y="38100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channel can only process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amount of information at once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Overloading either channel reduces learning effectiveness.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2225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42650" y="2540000"/>
            <a:ext cx="698500" cy="558800"/>
          </a:xfrm>
          <a:custGeom>
            <a:avLst/>
            <a:gdLst/>
            <a:ahLst/>
            <a:cxnLst/>
            <a:rect l="l" t="t" r="r" b="b"/>
            <a:pathLst>
              <a:path w="698500" h="558800">
                <a:moveTo>
                  <a:pt x="453916" y="229741"/>
                </a:moveTo>
                <a:cubicBezTo>
                  <a:pt x="467231" y="226139"/>
                  <a:pt x="481201" y="232470"/>
                  <a:pt x="487204" y="244802"/>
                </a:cubicBezTo>
                <a:lnTo>
                  <a:pt x="507504" y="285839"/>
                </a:lnTo>
                <a:cubicBezTo>
                  <a:pt x="518745" y="287367"/>
                  <a:pt x="529769" y="290423"/>
                  <a:pt x="540137" y="294680"/>
                </a:cubicBezTo>
                <a:lnTo>
                  <a:pt x="578336" y="269250"/>
                </a:lnTo>
                <a:cubicBezTo>
                  <a:pt x="589796" y="261610"/>
                  <a:pt x="604966" y="263138"/>
                  <a:pt x="614680" y="272852"/>
                </a:cubicBezTo>
                <a:lnTo>
                  <a:pt x="635635" y="293807"/>
                </a:lnTo>
                <a:cubicBezTo>
                  <a:pt x="645349" y="303520"/>
                  <a:pt x="646876" y="318800"/>
                  <a:pt x="639237" y="330150"/>
                </a:cubicBezTo>
                <a:lnTo>
                  <a:pt x="613807" y="368240"/>
                </a:lnTo>
                <a:cubicBezTo>
                  <a:pt x="615881" y="373370"/>
                  <a:pt x="617736" y="378718"/>
                  <a:pt x="619264" y="384284"/>
                </a:cubicBezTo>
                <a:cubicBezTo>
                  <a:pt x="620792" y="389850"/>
                  <a:pt x="621774" y="395307"/>
                  <a:pt x="622538" y="400874"/>
                </a:cubicBezTo>
                <a:lnTo>
                  <a:pt x="663684" y="421174"/>
                </a:lnTo>
                <a:cubicBezTo>
                  <a:pt x="676017" y="427286"/>
                  <a:pt x="682347" y="441256"/>
                  <a:pt x="678746" y="454462"/>
                </a:cubicBezTo>
                <a:lnTo>
                  <a:pt x="671106" y="483056"/>
                </a:lnTo>
                <a:cubicBezTo>
                  <a:pt x="667504" y="496262"/>
                  <a:pt x="655171" y="505212"/>
                  <a:pt x="641419" y="504339"/>
                </a:cubicBezTo>
                <a:lnTo>
                  <a:pt x="595580" y="501392"/>
                </a:lnTo>
                <a:cubicBezTo>
                  <a:pt x="588705" y="510232"/>
                  <a:pt x="580737" y="518418"/>
                  <a:pt x="571679" y="525403"/>
                </a:cubicBezTo>
                <a:lnTo>
                  <a:pt x="574625" y="571133"/>
                </a:lnTo>
                <a:cubicBezTo>
                  <a:pt x="575499" y="584885"/>
                  <a:pt x="566549" y="597327"/>
                  <a:pt x="553343" y="600819"/>
                </a:cubicBezTo>
                <a:lnTo>
                  <a:pt x="524748" y="608459"/>
                </a:lnTo>
                <a:cubicBezTo>
                  <a:pt x="511433" y="612061"/>
                  <a:pt x="497572" y="605730"/>
                  <a:pt x="491460" y="593398"/>
                </a:cubicBezTo>
                <a:lnTo>
                  <a:pt x="471160" y="552361"/>
                </a:lnTo>
                <a:cubicBezTo>
                  <a:pt x="459919" y="550833"/>
                  <a:pt x="448895" y="547777"/>
                  <a:pt x="438527" y="543520"/>
                </a:cubicBezTo>
                <a:lnTo>
                  <a:pt x="400328" y="568950"/>
                </a:lnTo>
                <a:cubicBezTo>
                  <a:pt x="388868" y="576590"/>
                  <a:pt x="373698" y="575062"/>
                  <a:pt x="363984" y="565348"/>
                </a:cubicBezTo>
                <a:lnTo>
                  <a:pt x="343029" y="544393"/>
                </a:lnTo>
                <a:cubicBezTo>
                  <a:pt x="333315" y="534680"/>
                  <a:pt x="331788" y="519509"/>
                  <a:pt x="339427" y="508050"/>
                </a:cubicBezTo>
                <a:lnTo>
                  <a:pt x="364857" y="469850"/>
                </a:lnTo>
                <a:cubicBezTo>
                  <a:pt x="362783" y="464721"/>
                  <a:pt x="360928" y="459373"/>
                  <a:pt x="359400" y="453807"/>
                </a:cubicBezTo>
                <a:cubicBezTo>
                  <a:pt x="357872" y="448241"/>
                  <a:pt x="356890" y="442674"/>
                  <a:pt x="356126" y="437217"/>
                </a:cubicBezTo>
                <a:lnTo>
                  <a:pt x="314980" y="416917"/>
                </a:lnTo>
                <a:cubicBezTo>
                  <a:pt x="302647" y="410805"/>
                  <a:pt x="296426" y="396835"/>
                  <a:pt x="299918" y="383629"/>
                </a:cubicBezTo>
                <a:lnTo>
                  <a:pt x="307558" y="355034"/>
                </a:lnTo>
                <a:cubicBezTo>
                  <a:pt x="311160" y="341828"/>
                  <a:pt x="323493" y="332879"/>
                  <a:pt x="337245" y="333752"/>
                </a:cubicBezTo>
                <a:lnTo>
                  <a:pt x="382974" y="336699"/>
                </a:lnTo>
                <a:cubicBezTo>
                  <a:pt x="389850" y="327858"/>
                  <a:pt x="397818" y="319673"/>
                  <a:pt x="406876" y="312688"/>
                </a:cubicBezTo>
                <a:lnTo>
                  <a:pt x="403929" y="267067"/>
                </a:lnTo>
                <a:cubicBezTo>
                  <a:pt x="403056" y="253315"/>
                  <a:pt x="412006" y="240873"/>
                  <a:pt x="425212" y="237381"/>
                </a:cubicBezTo>
                <a:lnTo>
                  <a:pt x="453807" y="229741"/>
                </a:lnTo>
                <a:close/>
                <a:moveTo>
                  <a:pt x="489387" y="371078"/>
                </a:moveTo>
                <a:cubicBezTo>
                  <a:pt x="462883" y="371108"/>
                  <a:pt x="441389" y="392651"/>
                  <a:pt x="441419" y="419155"/>
                </a:cubicBezTo>
                <a:cubicBezTo>
                  <a:pt x="441449" y="445659"/>
                  <a:pt x="462992" y="467152"/>
                  <a:pt x="489496" y="467122"/>
                </a:cubicBezTo>
                <a:cubicBezTo>
                  <a:pt x="516000" y="467092"/>
                  <a:pt x="537493" y="445549"/>
                  <a:pt x="537463" y="419045"/>
                </a:cubicBezTo>
                <a:cubicBezTo>
                  <a:pt x="537433" y="392541"/>
                  <a:pt x="515891" y="371048"/>
                  <a:pt x="489387" y="371078"/>
                </a:cubicBezTo>
                <a:close/>
                <a:moveTo>
                  <a:pt x="245457" y="-49659"/>
                </a:moveTo>
                <a:lnTo>
                  <a:pt x="274052" y="-42019"/>
                </a:lnTo>
                <a:cubicBezTo>
                  <a:pt x="287258" y="-38417"/>
                  <a:pt x="296208" y="-25975"/>
                  <a:pt x="295335" y="-12333"/>
                </a:cubicBezTo>
                <a:lnTo>
                  <a:pt x="292388" y="33288"/>
                </a:lnTo>
                <a:cubicBezTo>
                  <a:pt x="301446" y="40273"/>
                  <a:pt x="309414" y="48349"/>
                  <a:pt x="316290" y="57299"/>
                </a:cubicBezTo>
                <a:lnTo>
                  <a:pt x="362129" y="54352"/>
                </a:lnTo>
                <a:cubicBezTo>
                  <a:pt x="375771" y="53479"/>
                  <a:pt x="388213" y="62428"/>
                  <a:pt x="391815" y="75634"/>
                </a:cubicBezTo>
                <a:lnTo>
                  <a:pt x="399455" y="104229"/>
                </a:lnTo>
                <a:cubicBezTo>
                  <a:pt x="402947" y="117435"/>
                  <a:pt x="396726" y="131405"/>
                  <a:pt x="384393" y="137517"/>
                </a:cubicBezTo>
                <a:lnTo>
                  <a:pt x="343247" y="157817"/>
                </a:lnTo>
                <a:cubicBezTo>
                  <a:pt x="342483" y="163384"/>
                  <a:pt x="341392" y="168950"/>
                  <a:pt x="339973" y="174407"/>
                </a:cubicBezTo>
                <a:cubicBezTo>
                  <a:pt x="338554" y="179864"/>
                  <a:pt x="336590" y="185321"/>
                  <a:pt x="334516" y="190450"/>
                </a:cubicBezTo>
                <a:lnTo>
                  <a:pt x="359946" y="228650"/>
                </a:lnTo>
                <a:cubicBezTo>
                  <a:pt x="367586" y="240109"/>
                  <a:pt x="366058" y="255280"/>
                  <a:pt x="356344" y="264993"/>
                </a:cubicBezTo>
                <a:lnTo>
                  <a:pt x="335389" y="285948"/>
                </a:lnTo>
                <a:cubicBezTo>
                  <a:pt x="325676" y="295662"/>
                  <a:pt x="310505" y="297190"/>
                  <a:pt x="299045" y="289550"/>
                </a:cubicBezTo>
                <a:lnTo>
                  <a:pt x="260846" y="264120"/>
                </a:lnTo>
                <a:cubicBezTo>
                  <a:pt x="250478" y="268377"/>
                  <a:pt x="239455" y="271433"/>
                  <a:pt x="228213" y="272961"/>
                </a:cubicBezTo>
                <a:lnTo>
                  <a:pt x="207913" y="313998"/>
                </a:lnTo>
                <a:cubicBezTo>
                  <a:pt x="201801" y="326330"/>
                  <a:pt x="187831" y="332551"/>
                  <a:pt x="174625" y="329059"/>
                </a:cubicBezTo>
                <a:lnTo>
                  <a:pt x="146030" y="321419"/>
                </a:lnTo>
                <a:cubicBezTo>
                  <a:pt x="132715" y="317818"/>
                  <a:pt x="123875" y="305375"/>
                  <a:pt x="124748" y="291733"/>
                </a:cubicBezTo>
                <a:lnTo>
                  <a:pt x="127695" y="246003"/>
                </a:lnTo>
                <a:cubicBezTo>
                  <a:pt x="118636" y="239018"/>
                  <a:pt x="110669" y="230942"/>
                  <a:pt x="103793" y="221992"/>
                </a:cubicBezTo>
                <a:lnTo>
                  <a:pt x="57954" y="224939"/>
                </a:lnTo>
                <a:cubicBezTo>
                  <a:pt x="44311" y="225812"/>
                  <a:pt x="31869" y="216862"/>
                  <a:pt x="28267" y="203656"/>
                </a:cubicBezTo>
                <a:lnTo>
                  <a:pt x="20628" y="175062"/>
                </a:lnTo>
                <a:cubicBezTo>
                  <a:pt x="17135" y="161856"/>
                  <a:pt x="23356" y="147886"/>
                  <a:pt x="35689" y="141774"/>
                </a:cubicBezTo>
                <a:lnTo>
                  <a:pt x="76835" y="121474"/>
                </a:lnTo>
                <a:cubicBezTo>
                  <a:pt x="77599" y="115907"/>
                  <a:pt x="78690" y="110450"/>
                  <a:pt x="80109" y="104884"/>
                </a:cubicBezTo>
                <a:cubicBezTo>
                  <a:pt x="81637" y="99318"/>
                  <a:pt x="83383" y="93970"/>
                  <a:pt x="85566" y="88840"/>
                </a:cubicBezTo>
                <a:lnTo>
                  <a:pt x="60136" y="50750"/>
                </a:lnTo>
                <a:cubicBezTo>
                  <a:pt x="52497" y="39291"/>
                  <a:pt x="54025" y="24120"/>
                  <a:pt x="63738" y="14407"/>
                </a:cubicBezTo>
                <a:lnTo>
                  <a:pt x="84693" y="-6548"/>
                </a:lnTo>
                <a:cubicBezTo>
                  <a:pt x="94407" y="-16262"/>
                  <a:pt x="109577" y="-17790"/>
                  <a:pt x="121037" y="-10150"/>
                </a:cubicBezTo>
                <a:lnTo>
                  <a:pt x="159236" y="15280"/>
                </a:lnTo>
                <a:cubicBezTo>
                  <a:pt x="169605" y="11023"/>
                  <a:pt x="180628" y="7967"/>
                  <a:pt x="191869" y="6439"/>
                </a:cubicBezTo>
                <a:lnTo>
                  <a:pt x="212169" y="-34598"/>
                </a:lnTo>
                <a:cubicBezTo>
                  <a:pt x="218281" y="-46930"/>
                  <a:pt x="232142" y="-53151"/>
                  <a:pt x="245457" y="-49659"/>
                </a:cubicBezTo>
                <a:close/>
                <a:moveTo>
                  <a:pt x="209987" y="91678"/>
                </a:moveTo>
                <a:cubicBezTo>
                  <a:pt x="183483" y="91678"/>
                  <a:pt x="161965" y="113196"/>
                  <a:pt x="161965" y="139700"/>
                </a:cubicBezTo>
                <a:cubicBezTo>
                  <a:pt x="161965" y="166204"/>
                  <a:pt x="183483" y="187722"/>
                  <a:pt x="209987" y="187722"/>
                </a:cubicBezTo>
                <a:cubicBezTo>
                  <a:pt x="236491" y="187722"/>
                  <a:pt x="258008" y="166204"/>
                  <a:pt x="258008" y="139700"/>
                </a:cubicBezTo>
                <a:cubicBezTo>
                  <a:pt x="258008" y="113196"/>
                  <a:pt x="236491" y="91678"/>
                  <a:pt x="209987" y="91678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5" name="Text 13"/>
          <p:cNvSpPr/>
          <p:nvPr/>
        </p:nvSpPr>
        <p:spPr>
          <a:xfrm>
            <a:off x="11112500" y="3302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Processing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12500" y="38100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 learning occurs when learners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select, organize, and integrate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information into coherent mental models.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223000"/>
            <a:ext cx="14732000" cy="2032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6477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Insight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6985000"/>
            <a:ext cx="1397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 multimedia design is not about adding more elements — it's about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strategically managing cognitive resources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goal is to make the cognitive processes associated with learning as effective and efficient as possible.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Pillars of Effective Multimedia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Mayer's 12 principles are organized into three strategic goals, each addressing a different aspect of cognitive processing: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4699000" cy="4699000"/>
          </a:xfrm>
          <a:prstGeom prst="roundRect">
            <a:avLst>
              <a:gd name="adj" fmla="val 8000"/>
            </a:avLst>
          </a:prstGeom>
          <a:solidFill>
            <a:srgbClr val="E17055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159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857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Extraneous Processing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365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 distractions and unnecessary cognitive load so learners can focus on what matters.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508500"/>
            <a:ext cx="419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Coherence Principle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Signaling Principle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Redundancy Principle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Spatial Contiguity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Temporal Contiguity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968500"/>
            <a:ext cx="4699000" cy="4699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2159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857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Essential Processing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3365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 learners process complex material efficiently without overwhelming their cognitive capacity.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45085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Segmenting Principle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Pre-training Principle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Modality Principle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968500"/>
            <a:ext cx="4699000" cy="4699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0" y="2159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2857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Foster Generative Processing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3365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Encourage deep, meaningful engagement that promotes active construction of knowledge.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45085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Personalization Principle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Voice Principle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Embodiment Principle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70485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25400">
            <a:solidFill>
              <a:srgbClr val="E170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72390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Apply these principles in order — first reduce extraneous load, then manage essential processing, and finally foster generative engagement. Each pillar builds on the previous one.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81000"/>
            <a:ext cx="3556000" cy="381000"/>
          </a:xfrm>
          <a:prstGeom prst="roundRect">
            <a:avLst>
              <a:gd name="adj" fmla="val 12000"/>
            </a:avLst>
          </a:prstGeom>
          <a:solidFill>
            <a:srgbClr val="E1705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EXTRANEOUS 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Coherence Principle — Less Is More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651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51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i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more deeply from a multimedia message when extraneous material is excluded rather than included."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Mayer, 2009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3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to Eliminate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3175000"/>
            <a:ext cx="7112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Humorous but irrelevant graphics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Unnecessary animations and transitions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Background music during narration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Excessive decorative elements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Interesting but irrelevant facts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Redundant text on slides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2730500"/>
            <a:ext cx="7112000" cy="28194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0" y="2921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Works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63000" y="3429000"/>
            <a:ext cx="6350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Extraneous material interferes with learning through three mechanisms: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Distraction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takes attention from core content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Disruption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breaks the organizational flow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Diversion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primes irrelevant prior knowledge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5842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1705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969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 SIZE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62865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 = 1.11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64000" y="5969000"/>
            <a:ext cx="1104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of the most impactful principles. Eliminating seductive details consistently produces strong learning improvements across all learner types and content domains.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70485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9500" y="736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9" name="Text 17"/>
          <p:cNvSpPr/>
          <p:nvPr/>
        </p:nvSpPr>
        <p:spPr>
          <a:xfrm>
            <a:off x="1587500" y="71755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finalizing your multimedia content, do a "coherence check" — remove every element that doesn't directly support the learning objective. If it doesn't serve a purpose, delete it.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81000"/>
            <a:ext cx="3556000" cy="381000"/>
          </a:xfrm>
          <a:prstGeom prst="roundRect">
            <a:avLst>
              <a:gd name="adj" fmla="val 12000"/>
            </a:avLst>
          </a:prstGeom>
          <a:solidFill>
            <a:srgbClr val="E1705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EXTRANEOUS 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Signaling Principle — Guide Attention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651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51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i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more deeply from a multimedia message when cues are added that highlight the organization of essential material."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Mayer, 2009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30500"/>
            <a:ext cx="1473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Signaling reduces cognitive load by showing learners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to pay attention to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Figuring out what's important counts as cognitive load — signaling frees up working memory for deeper processing.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74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Effective Signaling Techniques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318000"/>
            <a:ext cx="2743200" cy="18796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1" name="Shape 9"/>
          <p:cNvSpPr/>
          <p:nvPr/>
        </p:nvSpPr>
        <p:spPr>
          <a:xfrm>
            <a:off x="1041400" y="45466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50800"/>
                </a:moveTo>
                <a:cubicBezTo>
                  <a:pt x="0" y="36751"/>
                  <a:pt x="11351" y="25400"/>
                  <a:pt x="25400" y="25400"/>
                </a:cubicBezTo>
                <a:lnTo>
                  <a:pt x="101600" y="25400"/>
                </a:lnTo>
                <a:cubicBezTo>
                  <a:pt x="115649" y="25400"/>
                  <a:pt x="127000" y="36751"/>
                  <a:pt x="127000" y="50800"/>
                </a:cubicBezTo>
                <a:cubicBezTo>
                  <a:pt x="127000" y="64849"/>
                  <a:pt x="115649" y="76200"/>
                  <a:pt x="101600" y="76200"/>
                </a:cubicBezTo>
                <a:lnTo>
                  <a:pt x="88900" y="76200"/>
                </a:lnTo>
                <a:lnTo>
                  <a:pt x="88900" y="165100"/>
                </a:lnTo>
                <a:lnTo>
                  <a:pt x="266700" y="165100"/>
                </a:lnTo>
                <a:lnTo>
                  <a:pt x="266700" y="76200"/>
                </a:lnTo>
                <a:lnTo>
                  <a:pt x="254000" y="76200"/>
                </a:lnTo>
                <a:cubicBezTo>
                  <a:pt x="239951" y="76200"/>
                  <a:pt x="228600" y="64849"/>
                  <a:pt x="228600" y="50800"/>
                </a:cubicBezTo>
                <a:cubicBezTo>
                  <a:pt x="228600" y="36751"/>
                  <a:pt x="239951" y="25400"/>
                  <a:pt x="254000" y="25400"/>
                </a:cubicBezTo>
                <a:lnTo>
                  <a:pt x="330200" y="25400"/>
                </a:lnTo>
                <a:cubicBezTo>
                  <a:pt x="344249" y="25400"/>
                  <a:pt x="355600" y="36751"/>
                  <a:pt x="355600" y="50800"/>
                </a:cubicBezTo>
                <a:cubicBezTo>
                  <a:pt x="355600" y="64849"/>
                  <a:pt x="344249" y="76200"/>
                  <a:pt x="330200" y="76200"/>
                </a:cubicBezTo>
                <a:lnTo>
                  <a:pt x="317500" y="76200"/>
                </a:lnTo>
                <a:lnTo>
                  <a:pt x="317500" y="330200"/>
                </a:lnTo>
                <a:lnTo>
                  <a:pt x="330200" y="330200"/>
                </a:lnTo>
                <a:cubicBezTo>
                  <a:pt x="344249" y="330200"/>
                  <a:pt x="355600" y="341551"/>
                  <a:pt x="355600" y="355600"/>
                </a:cubicBezTo>
                <a:cubicBezTo>
                  <a:pt x="355600" y="369649"/>
                  <a:pt x="344249" y="381000"/>
                  <a:pt x="330200" y="381000"/>
                </a:cubicBezTo>
                <a:lnTo>
                  <a:pt x="254000" y="381000"/>
                </a:lnTo>
                <a:cubicBezTo>
                  <a:pt x="239951" y="381000"/>
                  <a:pt x="228600" y="369649"/>
                  <a:pt x="228600" y="355600"/>
                </a:cubicBezTo>
                <a:cubicBezTo>
                  <a:pt x="228600" y="341551"/>
                  <a:pt x="239951" y="330200"/>
                  <a:pt x="254000" y="330200"/>
                </a:cubicBezTo>
                <a:lnTo>
                  <a:pt x="266700" y="330200"/>
                </a:lnTo>
                <a:lnTo>
                  <a:pt x="266700" y="215900"/>
                </a:lnTo>
                <a:lnTo>
                  <a:pt x="88900" y="215900"/>
                </a:lnTo>
                <a:lnTo>
                  <a:pt x="88900" y="330200"/>
                </a:lnTo>
                <a:lnTo>
                  <a:pt x="101600" y="330200"/>
                </a:lnTo>
                <a:cubicBezTo>
                  <a:pt x="115649" y="330200"/>
                  <a:pt x="127000" y="341551"/>
                  <a:pt x="127000" y="355600"/>
                </a:cubicBezTo>
                <a:cubicBezTo>
                  <a:pt x="127000" y="369649"/>
                  <a:pt x="115649" y="381000"/>
                  <a:pt x="1016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cubicBezTo>
                  <a:pt x="0" y="341551"/>
                  <a:pt x="11351" y="330200"/>
                  <a:pt x="25400" y="330200"/>
                </a:cubicBezTo>
                <a:lnTo>
                  <a:pt x="38100" y="330200"/>
                </a:lnTo>
                <a:lnTo>
                  <a:pt x="38100" y="76200"/>
                </a:lnTo>
                <a:lnTo>
                  <a:pt x="25400" y="76200"/>
                </a:lnTo>
                <a:cubicBezTo>
                  <a:pt x="11351" y="76200"/>
                  <a:pt x="0" y="64849"/>
                  <a:pt x="0" y="5080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5080000"/>
            <a:ext cx="22352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Headings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 with clear titles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59200" y="4318000"/>
            <a:ext cx="2743200" cy="1778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4" name="Shape 12"/>
          <p:cNvSpPr/>
          <p:nvPr/>
        </p:nvSpPr>
        <p:spPr>
          <a:xfrm>
            <a:off x="4013200" y="4546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98939" y="221139"/>
                </a:moveTo>
                <a:cubicBezTo>
                  <a:pt x="408861" y="211217"/>
                  <a:pt x="408861" y="195104"/>
                  <a:pt x="398939" y="185182"/>
                </a:cubicBezTo>
                <a:lnTo>
                  <a:pt x="271939" y="58182"/>
                </a:lnTo>
                <a:cubicBezTo>
                  <a:pt x="262017" y="48260"/>
                  <a:pt x="245904" y="48260"/>
                  <a:pt x="235982" y="58182"/>
                </a:cubicBezTo>
                <a:cubicBezTo>
                  <a:pt x="226060" y="68104"/>
                  <a:pt x="226060" y="84217"/>
                  <a:pt x="235982" y="94139"/>
                </a:cubicBezTo>
                <a:lnTo>
                  <a:pt x="319643" y="177800"/>
                </a:lnTo>
                <a:lnTo>
                  <a:pt x="25400" y="177800"/>
                </a:ln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319643" y="228600"/>
                </a:lnTo>
                <a:lnTo>
                  <a:pt x="235982" y="312261"/>
                </a:lnTo>
                <a:cubicBezTo>
                  <a:pt x="226060" y="322183"/>
                  <a:pt x="226060" y="338296"/>
                  <a:pt x="235982" y="348218"/>
                </a:cubicBezTo>
                <a:cubicBezTo>
                  <a:pt x="245904" y="358140"/>
                  <a:pt x="262017" y="358140"/>
                  <a:pt x="271939" y="348218"/>
                </a:cubicBezTo>
                <a:lnTo>
                  <a:pt x="398939" y="221218"/>
                </a:ln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5" name="Text 13"/>
          <p:cNvSpPr/>
          <p:nvPr/>
        </p:nvSpPr>
        <p:spPr>
          <a:xfrm>
            <a:off x="4013200" y="5080000"/>
            <a:ext cx="2235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Arrows &amp; Pointers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visual attention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56400" y="4318000"/>
            <a:ext cx="2743200" cy="18796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7" name="Shape 15"/>
          <p:cNvSpPr/>
          <p:nvPr/>
        </p:nvSpPr>
        <p:spPr>
          <a:xfrm>
            <a:off x="6985000" y="4546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50031" y="250031"/>
                </a:moveTo>
                <a:lnTo>
                  <a:pt x="375761" y="79296"/>
                </a:lnTo>
                <a:lnTo>
                  <a:pt x="352504" y="56039"/>
                </a:lnTo>
                <a:lnTo>
                  <a:pt x="181769" y="181769"/>
                </a:lnTo>
                <a:lnTo>
                  <a:pt x="250031" y="250031"/>
                </a:lnTo>
                <a:close/>
                <a:moveTo>
                  <a:pt x="101600" y="254000"/>
                </a:moveTo>
                <a:lnTo>
                  <a:pt x="101600" y="254000"/>
                </a:lnTo>
                <a:lnTo>
                  <a:pt x="101600" y="197088"/>
                </a:lnTo>
                <a:cubicBezTo>
                  <a:pt x="101600" y="184944"/>
                  <a:pt x="107315" y="173593"/>
                  <a:pt x="117078" y="166449"/>
                </a:cubicBezTo>
                <a:lnTo>
                  <a:pt x="333851" y="6668"/>
                </a:lnTo>
                <a:cubicBezTo>
                  <a:pt x="339725" y="2302"/>
                  <a:pt x="346869" y="0"/>
                  <a:pt x="354171" y="0"/>
                </a:cubicBezTo>
                <a:cubicBezTo>
                  <a:pt x="363220" y="0"/>
                  <a:pt x="371872" y="3572"/>
                  <a:pt x="378301" y="10001"/>
                </a:cubicBezTo>
                <a:lnTo>
                  <a:pt x="421799" y="53499"/>
                </a:lnTo>
                <a:cubicBezTo>
                  <a:pt x="428228" y="59928"/>
                  <a:pt x="431800" y="68580"/>
                  <a:pt x="431800" y="77708"/>
                </a:cubicBezTo>
                <a:cubicBezTo>
                  <a:pt x="431800" y="85011"/>
                  <a:pt x="429498" y="92154"/>
                  <a:pt x="425133" y="98028"/>
                </a:cubicBezTo>
                <a:lnTo>
                  <a:pt x="265430" y="314722"/>
                </a:lnTo>
                <a:cubicBezTo>
                  <a:pt x="258286" y="324485"/>
                  <a:pt x="246856" y="330200"/>
                  <a:pt x="234791" y="330200"/>
                </a:cubicBezTo>
                <a:lnTo>
                  <a:pt x="177879" y="330200"/>
                </a:lnTo>
                <a:lnTo>
                  <a:pt x="157718" y="350361"/>
                </a:lnTo>
                <a:cubicBezTo>
                  <a:pt x="147796" y="360283"/>
                  <a:pt x="131683" y="360283"/>
                  <a:pt x="121761" y="350361"/>
                </a:cubicBezTo>
                <a:lnTo>
                  <a:pt x="81518" y="310118"/>
                </a:lnTo>
                <a:cubicBezTo>
                  <a:pt x="71596" y="300196"/>
                  <a:pt x="71596" y="284083"/>
                  <a:pt x="81518" y="274161"/>
                </a:cubicBezTo>
                <a:lnTo>
                  <a:pt x="101600" y="254000"/>
                </a:lnTo>
                <a:close/>
                <a:moveTo>
                  <a:pt x="5556" y="370126"/>
                </a:moveTo>
                <a:lnTo>
                  <a:pt x="46593" y="329089"/>
                </a:lnTo>
                <a:lnTo>
                  <a:pt x="102632" y="385128"/>
                </a:lnTo>
                <a:lnTo>
                  <a:pt x="86995" y="400764"/>
                </a:lnTo>
                <a:cubicBezTo>
                  <a:pt x="83423" y="404336"/>
                  <a:pt x="78581" y="406321"/>
                  <a:pt x="73501" y="406321"/>
                </a:cubicBezTo>
                <a:lnTo>
                  <a:pt x="19050" y="406400"/>
                </a:lnTo>
                <a:cubicBezTo>
                  <a:pt x="8493" y="406400"/>
                  <a:pt x="0" y="397907"/>
                  <a:pt x="0" y="387350"/>
                </a:cubicBezTo>
                <a:lnTo>
                  <a:pt x="0" y="383619"/>
                </a:lnTo>
                <a:cubicBezTo>
                  <a:pt x="0" y="378539"/>
                  <a:pt x="1984" y="373698"/>
                  <a:pt x="5556" y="370126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8" name="Text 16"/>
          <p:cNvSpPr/>
          <p:nvPr/>
        </p:nvSpPr>
        <p:spPr>
          <a:xfrm>
            <a:off x="7010400" y="5080000"/>
            <a:ext cx="22352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Highlighting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Bold key terms and data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753600" y="4318000"/>
            <a:ext cx="2743200" cy="1778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07600" y="4546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57150"/>
                </a:moveTo>
                <a:cubicBezTo>
                  <a:pt x="0" y="46673"/>
                  <a:pt x="8493" y="38100"/>
                  <a:pt x="19050" y="38100"/>
                </a:cubicBezTo>
                <a:lnTo>
                  <a:pt x="57150" y="38100"/>
                </a:lnTo>
                <a:cubicBezTo>
                  <a:pt x="67707" y="38100"/>
                  <a:pt x="76200" y="46593"/>
                  <a:pt x="76200" y="57150"/>
                </a:cubicBezTo>
                <a:lnTo>
                  <a:pt x="76200" y="139700"/>
                </a:lnTo>
                <a:lnTo>
                  <a:pt x="95250" y="139700"/>
                </a:lnTo>
                <a:cubicBezTo>
                  <a:pt x="105807" y="139700"/>
                  <a:pt x="114300" y="148193"/>
                  <a:pt x="114300" y="158750"/>
                </a:cubicBezTo>
                <a:cubicBezTo>
                  <a:pt x="114300" y="169307"/>
                  <a:pt x="105807" y="177800"/>
                  <a:pt x="95250" y="177800"/>
                </a:cubicBezTo>
                <a:lnTo>
                  <a:pt x="19050" y="177800"/>
                </a:lnTo>
                <a:cubicBezTo>
                  <a:pt x="8493" y="177800"/>
                  <a:pt x="0" y="169307"/>
                  <a:pt x="0" y="158750"/>
                </a:cubicBezTo>
                <a:cubicBezTo>
                  <a:pt x="0" y="148193"/>
                  <a:pt x="8493" y="139700"/>
                  <a:pt x="19050" y="139700"/>
                </a:cubicBezTo>
                <a:lnTo>
                  <a:pt x="38100" y="139700"/>
                </a:lnTo>
                <a:lnTo>
                  <a:pt x="38100" y="76200"/>
                </a:lnTo>
                <a:lnTo>
                  <a:pt x="19050" y="76200"/>
                </a:lnTo>
                <a:cubicBezTo>
                  <a:pt x="8493" y="76200"/>
                  <a:pt x="0" y="67707"/>
                  <a:pt x="0" y="57150"/>
                </a:cubicBezTo>
                <a:close/>
                <a:moveTo>
                  <a:pt x="24130" y="239078"/>
                </a:moveTo>
                <a:cubicBezTo>
                  <a:pt x="33179" y="232251"/>
                  <a:pt x="44212" y="228600"/>
                  <a:pt x="55563" y="228600"/>
                </a:cubicBezTo>
                <a:lnTo>
                  <a:pt x="59452" y="228600"/>
                </a:lnTo>
                <a:cubicBezTo>
                  <a:pt x="86201" y="228600"/>
                  <a:pt x="107950" y="250349"/>
                  <a:pt x="107950" y="277098"/>
                </a:cubicBezTo>
                <a:cubicBezTo>
                  <a:pt x="107950" y="292656"/>
                  <a:pt x="100489" y="307181"/>
                  <a:pt x="87947" y="316309"/>
                </a:cubicBezTo>
                <a:lnTo>
                  <a:pt x="68898" y="330200"/>
                </a:lnTo>
                <a:lnTo>
                  <a:pt x="95250" y="330200"/>
                </a:lnTo>
                <a:cubicBezTo>
                  <a:pt x="105807" y="330200"/>
                  <a:pt x="114300" y="338693"/>
                  <a:pt x="114300" y="349250"/>
                </a:cubicBezTo>
                <a:cubicBezTo>
                  <a:pt x="114300" y="359807"/>
                  <a:pt x="105807" y="368300"/>
                  <a:pt x="95250" y="368300"/>
                </a:cubicBezTo>
                <a:lnTo>
                  <a:pt x="23257" y="368300"/>
                </a:lnTo>
                <a:cubicBezTo>
                  <a:pt x="10398" y="368300"/>
                  <a:pt x="0" y="357902"/>
                  <a:pt x="0" y="345043"/>
                </a:cubicBezTo>
                <a:cubicBezTo>
                  <a:pt x="0" y="337582"/>
                  <a:pt x="3572" y="330597"/>
                  <a:pt x="9604" y="326231"/>
                </a:cubicBezTo>
                <a:lnTo>
                  <a:pt x="65564" y="285512"/>
                </a:lnTo>
                <a:cubicBezTo>
                  <a:pt x="68263" y="283528"/>
                  <a:pt x="69850" y="280432"/>
                  <a:pt x="69850" y="277098"/>
                </a:cubicBezTo>
                <a:cubicBezTo>
                  <a:pt x="69850" y="271383"/>
                  <a:pt x="65167" y="266700"/>
                  <a:pt x="59452" y="266700"/>
                </a:cubicBezTo>
                <a:lnTo>
                  <a:pt x="55563" y="266700"/>
                </a:lnTo>
                <a:cubicBezTo>
                  <a:pt x="52467" y="266700"/>
                  <a:pt x="49451" y="267732"/>
                  <a:pt x="46990" y="269558"/>
                </a:cubicBezTo>
                <a:lnTo>
                  <a:pt x="30480" y="281940"/>
                </a:lnTo>
                <a:cubicBezTo>
                  <a:pt x="22066" y="288290"/>
                  <a:pt x="10160" y="286544"/>
                  <a:pt x="3810" y="278130"/>
                </a:cubicBezTo>
                <a:cubicBezTo>
                  <a:pt x="-2540" y="269716"/>
                  <a:pt x="-794" y="257810"/>
                  <a:pt x="7620" y="251460"/>
                </a:cubicBezTo>
                <a:lnTo>
                  <a:pt x="24130" y="239078"/>
                </a:lnTo>
                <a:close/>
                <a:moveTo>
                  <a:pt x="177800" y="50800"/>
                </a:moveTo>
                <a:lnTo>
                  <a:pt x="381000" y="50800"/>
                </a:lnTo>
                <a:cubicBezTo>
                  <a:pt x="395049" y="50800"/>
                  <a:pt x="406400" y="62151"/>
                  <a:pt x="406400" y="76200"/>
                </a:cubicBezTo>
                <a:cubicBezTo>
                  <a:pt x="406400" y="90249"/>
                  <a:pt x="395049" y="101600"/>
                  <a:pt x="381000" y="101600"/>
                </a:cubicBezTo>
                <a:lnTo>
                  <a:pt x="177800" y="101600"/>
                </a:lnTo>
                <a:cubicBezTo>
                  <a:pt x="163751" y="101600"/>
                  <a:pt x="152400" y="90249"/>
                  <a:pt x="152400" y="76200"/>
                </a:cubicBezTo>
                <a:cubicBezTo>
                  <a:pt x="152400" y="62151"/>
                  <a:pt x="163751" y="50800"/>
                  <a:pt x="177800" y="50800"/>
                </a:cubicBezTo>
                <a:close/>
                <a:moveTo>
                  <a:pt x="177800" y="177800"/>
                </a:moveTo>
                <a:lnTo>
                  <a:pt x="381000" y="177800"/>
                </a:lnTo>
                <a:cubicBezTo>
                  <a:pt x="395049" y="177800"/>
                  <a:pt x="406400" y="189151"/>
                  <a:pt x="406400" y="203200"/>
                </a:cubicBezTo>
                <a:cubicBezTo>
                  <a:pt x="406400" y="217249"/>
                  <a:pt x="395049" y="228600"/>
                  <a:pt x="381000" y="228600"/>
                </a:cubicBezTo>
                <a:lnTo>
                  <a:pt x="177800" y="228600"/>
                </a:lnTo>
                <a:cubicBezTo>
                  <a:pt x="163751" y="228600"/>
                  <a:pt x="152400" y="217249"/>
                  <a:pt x="152400" y="203200"/>
                </a:cubicBezTo>
                <a:cubicBezTo>
                  <a:pt x="152400" y="189151"/>
                  <a:pt x="163751" y="177800"/>
                  <a:pt x="177800" y="177800"/>
                </a:cubicBezTo>
                <a:close/>
                <a:moveTo>
                  <a:pt x="177800" y="304800"/>
                </a:move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77800" y="355600"/>
                </a:lnTo>
                <a:cubicBezTo>
                  <a:pt x="163751" y="355600"/>
                  <a:pt x="152400" y="344249"/>
                  <a:pt x="152400" y="330200"/>
                </a:cubicBezTo>
                <a:cubicBezTo>
                  <a:pt x="152400" y="316151"/>
                  <a:pt x="163751" y="304800"/>
                  <a:pt x="177800" y="30480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07600" y="5080000"/>
            <a:ext cx="2235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Sequence steps clearly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750800" y="4318000"/>
            <a:ext cx="2743200" cy="1778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23" name="Shape 21"/>
          <p:cNvSpPr/>
          <p:nvPr/>
        </p:nvSpPr>
        <p:spPr>
          <a:xfrm>
            <a:off x="13004800" y="4546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203200"/>
                </a:moveTo>
                <a:cubicBezTo>
                  <a:pt x="406400" y="203914"/>
                  <a:pt x="406400" y="204629"/>
                  <a:pt x="406400" y="205343"/>
                </a:cubicBezTo>
                <a:cubicBezTo>
                  <a:pt x="406083" y="234315"/>
                  <a:pt x="379730" y="254000"/>
                  <a:pt x="350758" y="254000"/>
                </a:cubicBezTo>
                <a:lnTo>
                  <a:pt x="273050" y="254000"/>
                </a:lnTo>
                <a:cubicBezTo>
                  <a:pt x="252016" y="254000"/>
                  <a:pt x="234950" y="271066"/>
                  <a:pt x="234950" y="292100"/>
                </a:cubicBezTo>
                <a:cubicBezTo>
                  <a:pt x="234950" y="294799"/>
                  <a:pt x="235267" y="297418"/>
                  <a:pt x="235744" y="299958"/>
                </a:cubicBezTo>
                <a:cubicBezTo>
                  <a:pt x="237411" y="308054"/>
                  <a:pt x="240903" y="315833"/>
                  <a:pt x="244316" y="323691"/>
                </a:cubicBezTo>
                <a:cubicBezTo>
                  <a:pt x="249158" y="334645"/>
                  <a:pt x="253921" y="345519"/>
                  <a:pt x="253921" y="357029"/>
                </a:cubicBezTo>
                <a:cubicBezTo>
                  <a:pt x="253921" y="382270"/>
                  <a:pt x="236776" y="405209"/>
                  <a:pt x="211534" y="406241"/>
                </a:cubicBezTo>
                <a:cubicBezTo>
                  <a:pt x="208756" y="406321"/>
                  <a:pt x="205978" y="406400"/>
                  <a:pt x="203121" y="406400"/>
                </a:cubicBezTo>
                <a:cubicBezTo>
                  <a:pt x="90884" y="406400"/>
                  <a:pt x="-79" y="315436"/>
                  <a:pt x="-79" y="203200"/>
                </a:cubicBezTo>
                <a:cubicBezTo>
                  <a:pt x="-79" y="90964"/>
                  <a:pt x="90964" y="0"/>
                  <a:pt x="203200" y="0"/>
                </a:cubicBezTo>
                <a:cubicBezTo>
                  <a:pt x="315436" y="0"/>
                  <a:pt x="406400" y="90964"/>
                  <a:pt x="406400" y="203200"/>
                </a:cubicBezTo>
                <a:close/>
                <a:moveTo>
                  <a:pt x="101600" y="228600"/>
                </a:moveTo>
                <a:cubicBezTo>
                  <a:pt x="101600" y="214581"/>
                  <a:pt x="90219" y="203200"/>
                  <a:pt x="76200" y="203200"/>
                </a:cubicBezTo>
                <a:cubicBezTo>
                  <a:pt x="62181" y="203200"/>
                  <a:pt x="50800" y="214581"/>
                  <a:pt x="50800" y="228600"/>
                </a:cubicBezTo>
                <a:cubicBezTo>
                  <a:pt x="50800" y="242619"/>
                  <a:pt x="62181" y="254000"/>
                  <a:pt x="76200" y="254000"/>
                </a:cubicBezTo>
                <a:cubicBezTo>
                  <a:pt x="90219" y="254000"/>
                  <a:pt x="101600" y="242619"/>
                  <a:pt x="101600" y="228600"/>
                </a:cubicBezTo>
                <a:close/>
                <a:moveTo>
                  <a:pt x="101600" y="152400"/>
                </a:moveTo>
                <a:cubicBezTo>
                  <a:pt x="115619" y="152400"/>
                  <a:pt x="127000" y="141019"/>
                  <a:pt x="127000" y="127000"/>
                </a:cubicBezTo>
                <a:cubicBezTo>
                  <a:pt x="127000" y="112981"/>
                  <a:pt x="115619" y="101600"/>
                  <a:pt x="101600" y="101600"/>
                </a:cubicBezTo>
                <a:cubicBezTo>
                  <a:pt x="87581" y="101600"/>
                  <a:pt x="76200" y="112981"/>
                  <a:pt x="76200" y="127000"/>
                </a:cubicBezTo>
                <a:cubicBezTo>
                  <a:pt x="76200" y="141019"/>
                  <a:pt x="87581" y="152400"/>
                  <a:pt x="101600" y="1524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304800" y="152400"/>
                </a:moveTo>
                <a:cubicBezTo>
                  <a:pt x="318819" y="152400"/>
                  <a:pt x="330200" y="141019"/>
                  <a:pt x="330200" y="127000"/>
                </a:cubicBezTo>
                <a:cubicBezTo>
                  <a:pt x="330200" y="112981"/>
                  <a:pt x="318819" y="101600"/>
                  <a:pt x="304800" y="101600"/>
                </a:cubicBezTo>
                <a:cubicBezTo>
                  <a:pt x="290781" y="101600"/>
                  <a:pt x="279400" y="112981"/>
                  <a:pt x="279400" y="127000"/>
                </a:cubicBezTo>
                <a:cubicBezTo>
                  <a:pt x="279400" y="141019"/>
                  <a:pt x="290781" y="152400"/>
                  <a:pt x="304800" y="15240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24" name="Text 22"/>
          <p:cNvSpPr/>
          <p:nvPr/>
        </p:nvSpPr>
        <p:spPr>
          <a:xfrm>
            <a:off x="13004800" y="5080000"/>
            <a:ext cx="2235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 Coding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related concepts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477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E17055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65405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 = 0.60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64000" y="6540500"/>
            <a:ext cx="1104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 but consistent effect. Signaling is particularly effective for complex content where learners might struggle to identify key information.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81000"/>
            <a:ext cx="3556000" cy="381000"/>
          </a:xfrm>
          <a:prstGeom prst="roundRect">
            <a:avLst>
              <a:gd name="adj" fmla="val 12000"/>
            </a:avLst>
          </a:prstGeom>
          <a:solidFill>
            <a:srgbClr val="E1705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EXTRANEOUS 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914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Redundancy &amp; Contiguity Principles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6510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90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Redundancy Principle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413000"/>
            <a:ext cx="635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i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more deeply from graphics and narration than from graphics, narration, and on-screen text."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1750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Don't read your slides word-for-word. When identical information is presented in both spoken and written form, learners waste cognitive resources trying to reconcile the two verbal streams.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 size: g = 0.84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6510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E8E2DA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0" y="190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Contiguity Principle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3000" y="2413000"/>
            <a:ext cx="635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i="1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"Place corresponding words and graphics near each other to reduce visual scanning effort."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0" y="31750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labels are placed far from their corresponding graphics, learners must scan back and forth, increasing extraneous cognitive load. Keep text near the visuals it describes.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 size: g = 1.12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588000"/>
            <a:ext cx="14732000" cy="1397000"/>
          </a:xfrm>
          <a:prstGeom prst="roundRect">
            <a:avLst>
              <a:gd name="adj" fmla="val 6000"/>
            </a:avLst>
          </a:prstGeom>
          <a:solidFill>
            <a:srgbClr val="E8E2D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778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Contiguity Principle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62230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i="1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"Present corresponding audio and visuals simultaneously."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74000" y="58420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is most effective when narration and corresponding graphics are presented at the same time rather than successively.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7366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E17055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74295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Contiguity Effect Size: g = 1.30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One of the strongest principles. Simultaneous presentation ensures corresponding verbal and pictorial representations are in working memory together.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81000"/>
            <a:ext cx="3556000" cy="381000"/>
          </a:xfrm>
          <a:prstGeom prst="roundRect">
            <a:avLst>
              <a:gd name="adj" fmla="val 12000"/>
            </a:avLst>
          </a:prstGeom>
          <a:solidFill>
            <a:srgbClr val="2D343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ESSENTIAL 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Segmenting Principle — Break It Down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651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51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i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more deeply when a multimedia message is presented in learner-paced segments rather than as a continuous unit."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Mayer, 2009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30500"/>
            <a:ext cx="7112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Breaking content into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manageable chunks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allows learners to fully process one segment before moving to the next. Chunk size should be determined by content complexity and learner level.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principle is especially critical for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complex procedural content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where learners must build understanding step-by-step.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2730500"/>
            <a:ext cx="7112000" cy="23114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0" name="Text 8"/>
          <p:cNvSpPr/>
          <p:nvPr/>
        </p:nvSpPr>
        <p:spPr>
          <a:xfrm>
            <a:off x="8763000" y="2921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Strategies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3365500"/>
            <a:ext cx="6350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pause points between sections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 interactive checkpoints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Let learners control pacing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Break complex topics into modules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143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Segmenting in Action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5715000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E17055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5842000"/>
            <a:ext cx="2362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1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Introduce concept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32200" y="6223000"/>
            <a:ext cx="381000" cy="0"/>
          </a:xfrm>
          <a:prstGeom prst="straightConnector1">
            <a:avLst/>
          </a:prstGeom>
          <a:noFill/>
          <a:ln w="25400">
            <a:solidFill>
              <a:srgbClr val="E17055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140200" y="5715000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17" name="Text 15"/>
          <p:cNvSpPr/>
          <p:nvPr/>
        </p:nvSpPr>
        <p:spPr>
          <a:xfrm>
            <a:off x="4330700" y="5842000"/>
            <a:ext cx="2362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2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 example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10400" y="6223000"/>
            <a:ext cx="381000" cy="0"/>
          </a:xfrm>
          <a:prstGeom prst="straightConnector1">
            <a:avLst/>
          </a:prstGeom>
          <a:noFill/>
          <a:ln w="25400">
            <a:solidFill>
              <a:srgbClr val="E17055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7518400" y="5715000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20" name="Text 18"/>
          <p:cNvSpPr/>
          <p:nvPr/>
        </p:nvSpPr>
        <p:spPr>
          <a:xfrm>
            <a:off x="7708900" y="5842000"/>
            <a:ext cx="2362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3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exercise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388600" y="6223000"/>
            <a:ext cx="381000" cy="0"/>
          </a:xfrm>
          <a:prstGeom prst="straightConnector1">
            <a:avLst/>
          </a:prstGeom>
          <a:noFill/>
          <a:ln w="25400">
            <a:solidFill>
              <a:srgbClr val="E17055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0896600" y="5715000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E17055"/>
          </a:solidFill>
          <a:ln/>
        </p:spPr>
      </p:sp>
      <p:sp>
        <p:nvSpPr>
          <p:cNvPr id="23" name="Text 21"/>
          <p:cNvSpPr/>
          <p:nvPr/>
        </p:nvSpPr>
        <p:spPr>
          <a:xfrm>
            <a:off x="11087100" y="5842000"/>
            <a:ext cx="2362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4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&amp; assess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7366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25400">
            <a:solidFill>
              <a:srgbClr val="E170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7493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Segmenting allows learners to fully process one "chunk" before moving to the next. If learners control the pace, they can match processing to their own cognitive capacity.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81000"/>
            <a:ext cx="3556000" cy="381000"/>
          </a:xfrm>
          <a:prstGeom prst="roundRect">
            <a:avLst>
              <a:gd name="adj" fmla="val 12000"/>
            </a:avLst>
          </a:prstGeom>
          <a:solidFill>
            <a:srgbClr val="2D343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ESSENTIAL 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914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Pre-training &amp; Modality Principles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651000"/>
            <a:ext cx="7112000" cy="3937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90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Pre-training Principle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413000"/>
            <a:ext cx="635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i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more deeply when they know the names and characteristics of the main concepts before the lesson."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175000"/>
            <a:ext cx="635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Introduce key vocabulary and concepts upfront to free cognitive capacity for understanding relationships between ideas.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Teach the names of cloud types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i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explaining weather patterns.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 size: g = 1.39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651000"/>
            <a:ext cx="7112000" cy="3937000"/>
          </a:xfrm>
          <a:prstGeom prst="roundRect">
            <a:avLst>
              <a:gd name="adj" fmla="val 6000"/>
            </a:avLst>
          </a:prstGeom>
          <a:solidFill>
            <a:srgbClr val="E8E2DA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0" y="190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Modality Principle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3000" y="2413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i="1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more deeply when words are spoken rather than printed."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0" y="3175000"/>
            <a:ext cx="635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Spread information across visual and auditory channels — use narration with graphics rather than on-screen text with graphics.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visual channel processes the graphic while the verbal channel processes the narration.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 size: g = 1.13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9690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E17055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609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COMBINED STRATEGY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64770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pre-training to introduce concepts, then present content with narration + graphics (not on-screen text) for maximum learning efficiency.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81000"/>
            <a:ext cx="3683000" cy="381000"/>
          </a:xfrm>
          <a:prstGeom prst="roundRect">
            <a:avLst>
              <a:gd name="adj" fmla="val 12000"/>
            </a:avLst>
          </a:prstGeom>
          <a:solidFill>
            <a:srgbClr val="2D343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FOSTER GENERATIVE 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Personalization &amp; Voice Principles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651000"/>
            <a:ext cx="7112000" cy="3810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90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Personalization Principle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413000"/>
            <a:ext cx="635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i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better when words are in conversational style rather than formal style."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Mayer, 2009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175000"/>
            <a:ext cx="635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"you" and "your"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create social proximity between educator and learner. An informal conversational style establishes an environment of social presence.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Say "You'll be able to spot the key parts" instead of "The student should be able to identify..."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651000"/>
            <a:ext cx="7112000" cy="3810000"/>
          </a:xfrm>
          <a:prstGeom prst="roundRect">
            <a:avLst>
              <a:gd name="adj" fmla="val 6000"/>
            </a:avLst>
          </a:prstGeom>
          <a:solidFill>
            <a:srgbClr val="E8E2DA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0" y="190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Principle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3000" y="2413000"/>
            <a:ext cx="635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i="1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better when narration is spoken in a friendly human voice rather than a machine voice."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0" y="3175000"/>
            <a:ext cx="635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voice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creates social presence and connection, increasing motivation and engagement. This is especially important in online learning where students may feel isolated.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 text-to-speech and robotic narration whenever possible.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842000"/>
            <a:ext cx="147320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25400">
            <a:solidFill>
              <a:srgbClr val="E170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9500" y="622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7382" y="60494"/>
                </a:moveTo>
                <a:lnTo>
                  <a:pt x="177800" y="74870"/>
                </a:lnTo>
                <a:lnTo>
                  <a:pt x="188218" y="60494"/>
                </a:lnTo>
                <a:cubicBezTo>
                  <a:pt x="205581" y="36463"/>
                  <a:pt x="233501" y="22225"/>
                  <a:pt x="263158" y="22225"/>
                </a:cubicBezTo>
                <a:cubicBezTo>
                  <a:pt x="314206" y="22225"/>
                  <a:pt x="355600" y="63619"/>
                  <a:pt x="355600" y="114667"/>
                </a:cubicBezTo>
                <a:lnTo>
                  <a:pt x="355600" y="116473"/>
                </a:lnTo>
                <a:cubicBezTo>
                  <a:pt x="355600" y="194399"/>
                  <a:pt x="258435" y="284897"/>
                  <a:pt x="207734" y="323582"/>
                </a:cubicBezTo>
                <a:cubicBezTo>
                  <a:pt x="199122" y="330111"/>
                  <a:pt x="188565" y="333375"/>
                  <a:pt x="177800" y="333375"/>
                </a:cubicBezTo>
                <a:cubicBezTo>
                  <a:pt x="167035" y="333375"/>
                  <a:pt x="156408" y="330180"/>
                  <a:pt x="147866" y="323582"/>
                </a:cubicBezTo>
                <a:cubicBezTo>
                  <a:pt x="97165" y="284897"/>
                  <a:pt x="0" y="194399"/>
                  <a:pt x="0" y="116473"/>
                </a:cubicBezTo>
                <a:lnTo>
                  <a:pt x="0" y="114667"/>
                </a:lnTo>
                <a:cubicBezTo>
                  <a:pt x="0" y="63619"/>
                  <a:pt x="41394" y="22225"/>
                  <a:pt x="92442" y="22225"/>
                </a:cubicBezTo>
                <a:cubicBezTo>
                  <a:pt x="122099" y="22225"/>
                  <a:pt x="150019" y="36463"/>
                  <a:pt x="167382" y="60494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6" name="Text 14"/>
          <p:cNvSpPr/>
          <p:nvPr/>
        </p:nvSpPr>
        <p:spPr>
          <a:xfrm>
            <a:off x="1587500" y="6032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Agency Theory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87500" y="6413500"/>
            <a:ext cx="13589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principles leverage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cues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prime learners' motivation to exert effort and make sense of the material — creating a sense of partnership in the learning process.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81000"/>
            <a:ext cx="3683000" cy="381000"/>
          </a:xfrm>
          <a:prstGeom prst="roundRect">
            <a:avLst>
              <a:gd name="adj" fmla="val 12000"/>
            </a:avLst>
          </a:prstGeom>
          <a:solidFill>
            <a:srgbClr val="2D343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FOSTER GENERATIVE 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Embodiment &amp; Image Principles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651000"/>
            <a:ext cx="7112000" cy="3683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90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Embodiment Principle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413000"/>
            <a:ext cx="635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i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 learn more effectively when on-screen instructors demonstrate movement, eye contact, and genuine human connectedness."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175000"/>
            <a:ext cx="635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gestures, facial expressions, and eye contact contribute to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presence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sense of being with a real person.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human connection motivates learners to engage more deeply with the material.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651000"/>
            <a:ext cx="7112000" cy="3683000"/>
          </a:xfrm>
          <a:prstGeom prst="roundRect">
            <a:avLst>
              <a:gd name="adj" fmla="val 6000"/>
            </a:avLst>
          </a:prstGeom>
          <a:solidFill>
            <a:srgbClr val="E8E2DA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0" y="190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Principle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3000" y="2413000"/>
            <a:ext cx="635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i="1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do not necessarily learn more deeply when the speaker's image is visible on screen."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Mayer, 2009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0" y="3175000"/>
            <a:ext cx="635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instructor's face adds information that must be processed — it doesn't automatically improve learning.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 instructional benefits against affective considerations.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visible instructor may increase motivation even if it doesn't directly improve comprehension.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715000"/>
            <a:ext cx="14732000" cy="1397000"/>
          </a:xfrm>
          <a:prstGeom prst="roundRect">
            <a:avLst>
              <a:gd name="adj" fmla="val 6000"/>
            </a:avLst>
          </a:prstGeom>
          <a:solidFill>
            <a:srgbClr val="E17055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90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DISTINCTION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62865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Embodiment (gestures, movement) helps learning. Simply showing a talking head (Image Principle) does not necessarily help — though it may increase learner satisfaction and motivation.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81000"/>
            <a:ext cx="2540000" cy="381000"/>
          </a:xfrm>
          <a:prstGeom prst="roundRect">
            <a:avLst>
              <a:gd name="adj" fmla="val 12000"/>
            </a:avLst>
          </a:prstGeom>
          <a:solidFill>
            <a:srgbClr val="E1705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9144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 — Words + Pictures &gt; Words Alone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651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E17055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51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better from words and pictures than from words alone."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Mayer, 2009 |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 size: g = 1.39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730500"/>
            <a:ext cx="7112000" cy="3429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984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Coding Theory Connection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492500"/>
            <a:ext cx="6350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principle aligns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Paivio's Dual Coding Theory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memory is maximized when both verbal and nonverbal representations are constructed.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learners build both verbal and pictorial mental representations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i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 connections between them, deeper learning occurs.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2730500"/>
            <a:ext cx="7112000" cy="3429000"/>
          </a:xfrm>
          <a:prstGeom prst="roundRect">
            <a:avLst>
              <a:gd name="adj" fmla="val 6000"/>
            </a:avLst>
          </a:prstGeom>
          <a:solidFill>
            <a:srgbClr val="E8E2DA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0" y="2984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0" y="3492500"/>
            <a:ext cx="6350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Words activate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verbal channel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Pictures activate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channel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Learners build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referential connections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the two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connections create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deeper, more durable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learning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Better retention, transfer, and problem-solving.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540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25400">
            <a:solidFill>
              <a:srgbClr val="E170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4100" y="6794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6" name="Text 14"/>
          <p:cNvSpPr/>
          <p:nvPr/>
        </p:nvSpPr>
        <p:spPr>
          <a:xfrm>
            <a:off x="1651000" y="66675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the foundational principle of multimedia learning.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other principles build on this core insight — combining words and pictures creates learning that is greater than the sum of its parts.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Matching Principles to Learning Goals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principles support different cognitive processes. Match your multimedia strategy to what you want learners to achieve: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E17055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63500"/>
                </a:moveTo>
                <a:cubicBezTo>
                  <a:pt x="18951" y="63500"/>
                  <a:pt x="7342" y="71239"/>
                  <a:pt x="2381" y="83145"/>
                </a:cubicBezTo>
                <a:cubicBezTo>
                  <a:pt x="-2580" y="95052"/>
                  <a:pt x="198" y="108645"/>
                  <a:pt x="9327" y="117673"/>
                </a:cubicBezTo>
                <a:lnTo>
                  <a:pt x="190500" y="298946"/>
                </a:lnTo>
                <a:lnTo>
                  <a:pt x="190500" y="412750"/>
                </a:lnTo>
                <a:cubicBezTo>
                  <a:pt x="190500" y="421184"/>
                  <a:pt x="193873" y="429220"/>
                  <a:pt x="199827" y="435173"/>
                </a:cubicBezTo>
                <a:lnTo>
                  <a:pt x="263327" y="498673"/>
                </a:lnTo>
                <a:cubicBezTo>
                  <a:pt x="272455" y="507802"/>
                  <a:pt x="286048" y="510480"/>
                  <a:pt x="297954" y="505520"/>
                </a:cubicBezTo>
                <a:cubicBezTo>
                  <a:pt x="309860" y="500559"/>
                  <a:pt x="317500" y="489049"/>
                  <a:pt x="317500" y="476250"/>
                </a:cubicBezTo>
                <a:lnTo>
                  <a:pt x="317500" y="298946"/>
                </a:lnTo>
                <a:lnTo>
                  <a:pt x="498673" y="117773"/>
                </a:lnTo>
                <a:cubicBezTo>
                  <a:pt x="507802" y="108645"/>
                  <a:pt x="510480" y="95052"/>
                  <a:pt x="505520" y="83145"/>
                </a:cubicBezTo>
                <a:cubicBezTo>
                  <a:pt x="500559" y="71239"/>
                  <a:pt x="489049" y="63500"/>
                  <a:pt x="476250" y="63500"/>
                </a:cubicBezTo>
                <a:lnTo>
                  <a:pt x="31750" y="6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921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Factual Learning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3020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Selection-heavy processes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7465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Remove seductive details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basic visual cues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 content focused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Highlight key facts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9685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0500" y="63500"/>
                </a:moveTo>
                <a:cubicBezTo>
                  <a:pt x="190500" y="45938"/>
                  <a:pt x="204688" y="31750"/>
                  <a:pt x="222250" y="31750"/>
                </a:cubicBezTo>
                <a:lnTo>
                  <a:pt x="285750" y="31750"/>
                </a:lnTo>
                <a:cubicBezTo>
                  <a:pt x="303312" y="31750"/>
                  <a:pt x="317500" y="45938"/>
                  <a:pt x="317500" y="63500"/>
                </a:cubicBezTo>
                <a:lnTo>
                  <a:pt x="317500" y="127000"/>
                </a:lnTo>
                <a:cubicBezTo>
                  <a:pt x="317500" y="144562"/>
                  <a:pt x="303312" y="158750"/>
                  <a:pt x="285750" y="158750"/>
                </a:cubicBezTo>
                <a:lnTo>
                  <a:pt x="277813" y="158750"/>
                </a:lnTo>
                <a:lnTo>
                  <a:pt x="277813" y="222250"/>
                </a:lnTo>
                <a:lnTo>
                  <a:pt x="396875" y="222250"/>
                </a:lnTo>
                <a:cubicBezTo>
                  <a:pt x="436364" y="222250"/>
                  <a:pt x="468313" y="254198"/>
                  <a:pt x="468313" y="293688"/>
                </a:cubicBezTo>
                <a:lnTo>
                  <a:pt x="468313" y="349250"/>
                </a:lnTo>
                <a:lnTo>
                  <a:pt x="476250" y="349250"/>
                </a:lnTo>
                <a:cubicBezTo>
                  <a:pt x="493812" y="349250"/>
                  <a:pt x="508000" y="363438"/>
                  <a:pt x="508000" y="381000"/>
                </a:cubicBezTo>
                <a:lnTo>
                  <a:pt x="508000" y="444500"/>
                </a:lnTo>
                <a:cubicBezTo>
                  <a:pt x="508000" y="462062"/>
                  <a:pt x="493812" y="476250"/>
                  <a:pt x="476250" y="476250"/>
                </a:cubicBezTo>
                <a:lnTo>
                  <a:pt x="412750" y="476250"/>
                </a:lnTo>
                <a:cubicBezTo>
                  <a:pt x="395188" y="476250"/>
                  <a:pt x="381000" y="462062"/>
                  <a:pt x="381000" y="444500"/>
                </a:cubicBezTo>
                <a:lnTo>
                  <a:pt x="381000" y="381000"/>
                </a:lnTo>
                <a:cubicBezTo>
                  <a:pt x="381000" y="363438"/>
                  <a:pt x="395188" y="349250"/>
                  <a:pt x="412750" y="349250"/>
                </a:cubicBezTo>
                <a:lnTo>
                  <a:pt x="420688" y="349250"/>
                </a:lnTo>
                <a:lnTo>
                  <a:pt x="420688" y="293688"/>
                </a:lnTo>
                <a:cubicBezTo>
                  <a:pt x="420688" y="280491"/>
                  <a:pt x="410071" y="269875"/>
                  <a:pt x="396875" y="269875"/>
                </a:cubicBezTo>
                <a:lnTo>
                  <a:pt x="277813" y="269875"/>
                </a:lnTo>
                <a:lnTo>
                  <a:pt x="277813" y="349250"/>
                </a:lnTo>
                <a:lnTo>
                  <a:pt x="285750" y="349250"/>
                </a:lnTo>
                <a:cubicBezTo>
                  <a:pt x="303312" y="349250"/>
                  <a:pt x="317500" y="363438"/>
                  <a:pt x="317500" y="381000"/>
                </a:cubicBezTo>
                <a:lnTo>
                  <a:pt x="317500" y="444500"/>
                </a:lnTo>
                <a:cubicBezTo>
                  <a:pt x="317500" y="462062"/>
                  <a:pt x="303312" y="476250"/>
                  <a:pt x="285750" y="476250"/>
                </a:cubicBezTo>
                <a:lnTo>
                  <a:pt x="222250" y="476250"/>
                </a:lnTo>
                <a:cubicBezTo>
                  <a:pt x="204688" y="476250"/>
                  <a:pt x="190500" y="462062"/>
                  <a:pt x="190500" y="444500"/>
                </a:cubicBezTo>
                <a:lnTo>
                  <a:pt x="190500" y="381000"/>
                </a:lnTo>
                <a:cubicBezTo>
                  <a:pt x="190500" y="363438"/>
                  <a:pt x="204688" y="349250"/>
                  <a:pt x="222250" y="349250"/>
                </a:cubicBezTo>
                <a:lnTo>
                  <a:pt x="230188" y="349250"/>
                </a:lnTo>
                <a:lnTo>
                  <a:pt x="230188" y="269875"/>
                </a:lnTo>
                <a:lnTo>
                  <a:pt x="111125" y="269875"/>
                </a:lnTo>
                <a:cubicBezTo>
                  <a:pt x="97929" y="269875"/>
                  <a:pt x="87313" y="280491"/>
                  <a:pt x="87313" y="293688"/>
                </a:cubicBezTo>
                <a:lnTo>
                  <a:pt x="87313" y="349250"/>
                </a:lnTo>
                <a:lnTo>
                  <a:pt x="95250" y="349250"/>
                </a:lnTo>
                <a:cubicBezTo>
                  <a:pt x="112812" y="349250"/>
                  <a:pt x="127000" y="363438"/>
                  <a:pt x="127000" y="381000"/>
                </a:cubicBezTo>
                <a:lnTo>
                  <a:pt x="127000" y="444500"/>
                </a:lnTo>
                <a:cubicBezTo>
                  <a:pt x="127000" y="462062"/>
                  <a:pt x="112812" y="476250"/>
                  <a:pt x="95250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381000"/>
                </a:lnTo>
                <a:cubicBezTo>
                  <a:pt x="0" y="363438"/>
                  <a:pt x="14188" y="349250"/>
                  <a:pt x="31750" y="349250"/>
                </a:cubicBezTo>
                <a:lnTo>
                  <a:pt x="39688" y="349250"/>
                </a:lnTo>
                <a:lnTo>
                  <a:pt x="39688" y="293688"/>
                </a:lnTo>
                <a:cubicBezTo>
                  <a:pt x="39688" y="254198"/>
                  <a:pt x="71636" y="222250"/>
                  <a:pt x="111125" y="222250"/>
                </a:cubicBezTo>
                <a:lnTo>
                  <a:pt x="230188" y="222250"/>
                </a:lnTo>
                <a:lnTo>
                  <a:pt x="230188" y="158750"/>
                </a:lnTo>
                <a:lnTo>
                  <a:pt x="222250" y="158750"/>
                </a:lnTo>
                <a:cubicBezTo>
                  <a:pt x="204688" y="158750"/>
                  <a:pt x="190500" y="144562"/>
                  <a:pt x="190500" y="127000"/>
                </a:cubicBezTo>
                <a:lnTo>
                  <a:pt x="190500" y="63500"/>
                </a:ln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2921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Inferential Learning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33020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Organization-heavy processes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37465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segmenting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 organizational scaffolds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organizational graphics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 relationships clearly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9685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125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317500"/>
                </a:moveTo>
                <a:lnTo>
                  <a:pt x="24309" y="317500"/>
                </a:lnTo>
                <a:cubicBezTo>
                  <a:pt x="-397" y="317500"/>
                  <a:pt x="-15577" y="290612"/>
                  <a:pt x="-2877" y="269379"/>
                </a:cubicBezTo>
                <a:lnTo>
                  <a:pt x="49609" y="181868"/>
                </a:lnTo>
                <a:cubicBezTo>
                  <a:pt x="58241" y="167481"/>
                  <a:pt x="73720" y="158750"/>
                  <a:pt x="90488" y="158750"/>
                </a:cubicBezTo>
                <a:lnTo>
                  <a:pt x="184745" y="158750"/>
                </a:lnTo>
                <a:cubicBezTo>
                  <a:pt x="260251" y="30857"/>
                  <a:pt x="372864" y="24408"/>
                  <a:pt x="448171" y="35421"/>
                </a:cubicBezTo>
                <a:cubicBezTo>
                  <a:pt x="460871" y="37306"/>
                  <a:pt x="470793" y="47228"/>
                  <a:pt x="472579" y="59829"/>
                </a:cubicBezTo>
                <a:cubicBezTo>
                  <a:pt x="483592" y="135136"/>
                  <a:pt x="477143" y="247749"/>
                  <a:pt x="349250" y="323255"/>
                </a:cubicBezTo>
                <a:lnTo>
                  <a:pt x="349250" y="417513"/>
                </a:lnTo>
                <a:cubicBezTo>
                  <a:pt x="349250" y="434280"/>
                  <a:pt x="340519" y="449759"/>
                  <a:pt x="326132" y="458391"/>
                </a:cubicBezTo>
                <a:lnTo>
                  <a:pt x="238621" y="510877"/>
                </a:lnTo>
                <a:cubicBezTo>
                  <a:pt x="217488" y="523577"/>
                  <a:pt x="190500" y="508298"/>
                  <a:pt x="190500" y="483691"/>
                </a:cubicBezTo>
                <a:lnTo>
                  <a:pt x="190500" y="381000"/>
                </a:lnTo>
                <a:cubicBezTo>
                  <a:pt x="190500" y="345976"/>
                  <a:pt x="162024" y="317500"/>
                  <a:pt x="127000" y="317500"/>
                </a:cubicBezTo>
                <a:lnTo>
                  <a:pt x="126901" y="317500"/>
                </a:lnTo>
                <a:close/>
                <a:moveTo>
                  <a:pt x="396875" y="158750"/>
                </a:moveTo>
                <a:cubicBezTo>
                  <a:pt x="396875" y="132465"/>
                  <a:pt x="375535" y="111125"/>
                  <a:pt x="349250" y="111125"/>
                </a:cubicBezTo>
                <a:cubicBezTo>
                  <a:pt x="322965" y="111125"/>
                  <a:pt x="301625" y="132465"/>
                  <a:pt x="301625" y="158750"/>
                </a:cubicBezTo>
                <a:cubicBezTo>
                  <a:pt x="301625" y="185035"/>
                  <a:pt x="322965" y="206375"/>
                  <a:pt x="349250" y="206375"/>
                </a:cubicBezTo>
                <a:cubicBezTo>
                  <a:pt x="375535" y="206375"/>
                  <a:pt x="396875" y="185035"/>
                  <a:pt x="396875" y="15875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17" name="Text 15"/>
          <p:cNvSpPr/>
          <p:nvPr/>
        </p:nvSpPr>
        <p:spPr>
          <a:xfrm>
            <a:off x="11112500" y="2921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12500" y="33020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Integration-heavy processes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12500" y="37465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Encourage self-explanation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personalization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active engagement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Promote deep reasoning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9690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6096000"/>
            <a:ext cx="1397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Text + diagrams works consistently because it efficiently supports both selection (clear visual organization) and integration (explicit connections between verbal and visual information).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7493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25400">
            <a:solidFill>
              <a:srgbClr val="E170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76200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lens: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every multimedia intervention, ask — "Which cognitive process does this support? Does that match what my students need to achieve?"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Design Checklist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 publishing your multimedia content, verify each of these evidence-based criteria: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714500"/>
            <a:ext cx="7112000" cy="76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7780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1778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every element support the learning objective?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(Coherence)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714500"/>
            <a:ext cx="7112000" cy="76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9" name="Text 7"/>
          <p:cNvSpPr/>
          <p:nvPr/>
        </p:nvSpPr>
        <p:spPr>
          <a:xfrm>
            <a:off x="8572500" y="17780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0" y="1778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key points visually highlighted?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(Signaling)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2667000"/>
            <a:ext cx="7112000" cy="76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27305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24000" y="2730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words and graphics placed near each other?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(Spatial Contiguity)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2667000"/>
            <a:ext cx="7112000" cy="76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5" name="Text 13"/>
          <p:cNvSpPr/>
          <p:nvPr/>
        </p:nvSpPr>
        <p:spPr>
          <a:xfrm>
            <a:off x="8572500" y="27305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0" y="27305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narration used instead of on-screen text?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(Modality)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619500"/>
            <a:ext cx="7112000" cy="76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36830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000" y="3683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content broken into manageable chunks?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(Segmenting)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3619500"/>
            <a:ext cx="7112000" cy="76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0" y="36830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3683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key concepts introduced before the lesson?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(Pre-training)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4572000"/>
            <a:ext cx="7112000" cy="76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46355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4000" y="46355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the tone conversational and engaging?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(Personalization)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4572000"/>
            <a:ext cx="7112000" cy="762000"/>
          </a:xfrm>
          <a:prstGeom prst="roundRect">
            <a:avLst>
              <a:gd name="adj" fmla="val 8000"/>
            </a:avLst>
          </a:prstGeom>
          <a:solidFill>
            <a:srgbClr val="E8E2DA"/>
          </a:solidFill>
          <a:ln/>
        </p:spPr>
      </p:sp>
      <p:sp>
        <p:nvSpPr>
          <p:cNvPr id="27" name="Text 25"/>
          <p:cNvSpPr/>
          <p:nvPr/>
        </p:nvSpPr>
        <p:spPr>
          <a:xfrm>
            <a:off x="8572500" y="46355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0" y="46355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words and pictures presented together?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(Multimedia)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7785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596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Remember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" y="6413500"/>
            <a:ext cx="1397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Clarity beats novelty. The most effective multimedia prioritizes </a:t>
            </a:r>
            <a:pPr>
              <a:lnSpc>
                <a:spcPct val="14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cognitive engagement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 entertainment.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Design Mistakes to Avoid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Even well-intentioned multimedia designs can fall into these common traps: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714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ADBD8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90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879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Reading Slides Verbatim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349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redundancy overload. Use narration + graphics instead.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714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ADBD8"/>
          </a:solidFill>
          <a:ln/>
        </p:spPr>
      </p:sp>
      <p:sp>
        <p:nvSpPr>
          <p:cNvPr id="10" name="Shape 8"/>
          <p:cNvSpPr/>
          <p:nvPr/>
        </p:nvSpPr>
        <p:spPr>
          <a:xfrm>
            <a:off x="6032500" y="190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515100" y="1879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Decorative Clip Art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349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Increases extraneous load without learning benefit. Remove it.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714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ADB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49000" y="190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11531600" y="1879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Labels Far from Graphics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349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Forces visual scanning. Keep text near corresponding visuals.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492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ADBD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368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1498600" y="3657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Audio-Visual Mismatch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4127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Presenting audio and visuals at different times breaks temporal contiguity.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3492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ADBD8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2500" y="368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6515100" y="3657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Text-Heavy Slides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0" y="4127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Overwhelms the visual channel. Use bullets, not paragraphs.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3492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ADBD8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49000" y="368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11531600" y="3657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Robot-Like Narration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49000" y="4127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social presence. Use a friendly, human voice.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270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FADBD8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6000" y="546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1498600" y="5435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Interesting but Irrelevant Facts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6000" y="59055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Seductive details divert attention from core content. Even fun facts can harm learning if they're off-topic.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71755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730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Fix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43000" y="7721600"/>
            <a:ext cx="1397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every mistake above, there is a corresponding Mayer principle. Use the principles as your design guardrails.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7112000" cy="3810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397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1: Graphics Functions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905000"/>
            <a:ext cx="635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Decorative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aesthetic appeal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Representational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show reality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Organizational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structure relationships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Interpretive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explain abstract concepts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Transformational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enhance memory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i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graphic should serve a clear instructional purpose.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0" y="1143000"/>
            <a:ext cx="7112000" cy="3810000"/>
          </a:xfrm>
          <a:prstGeom prst="roundRect">
            <a:avLst>
              <a:gd name="adj" fmla="val 6000"/>
            </a:avLst>
          </a:prstGeom>
          <a:solidFill>
            <a:srgbClr val="E8E2DA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0" y="1397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2: Multimedia Principles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63000" y="1905000"/>
            <a:ext cx="635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Strategic Goals: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 Extraneous Processing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Manage Essential Processing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Foster Generative Processing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Evidence-Based Principles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guide effective multimedia design across all three pillars.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270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Impactful Principles (Effect Sizes)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5842000"/>
            <a:ext cx="2286000" cy="1016000"/>
          </a:xfrm>
          <a:prstGeom prst="roundRect">
            <a:avLst>
              <a:gd name="adj" fmla="val 8000"/>
            </a:avLst>
          </a:prstGeom>
          <a:solidFill>
            <a:srgbClr val="E17055"/>
          </a:solidFill>
          <a:ln/>
        </p:spPr>
      </p:sp>
      <p:sp>
        <p:nvSpPr>
          <p:cNvPr id="12" name="Text 10"/>
          <p:cNvSpPr/>
          <p:nvPr/>
        </p:nvSpPr>
        <p:spPr>
          <a:xfrm>
            <a:off x="825500" y="5905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 = 1.39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5500" y="6451600"/>
            <a:ext cx="215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02000" y="5842000"/>
            <a:ext cx="2286000" cy="1016000"/>
          </a:xfrm>
          <a:prstGeom prst="roundRect">
            <a:avLst>
              <a:gd name="adj" fmla="val 8000"/>
            </a:avLst>
          </a:prstGeom>
          <a:solidFill>
            <a:srgbClr val="E17055"/>
          </a:solidFill>
          <a:ln/>
        </p:spPr>
      </p:sp>
      <p:sp>
        <p:nvSpPr>
          <p:cNvPr id="15" name="Text 13"/>
          <p:cNvSpPr/>
          <p:nvPr/>
        </p:nvSpPr>
        <p:spPr>
          <a:xfrm>
            <a:off x="3365500" y="5905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 = 1.39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65500" y="6451600"/>
            <a:ext cx="215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42000" y="5842000"/>
            <a:ext cx="2286000" cy="1016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18" name="Text 16"/>
          <p:cNvSpPr/>
          <p:nvPr/>
        </p:nvSpPr>
        <p:spPr>
          <a:xfrm>
            <a:off x="5905500" y="5905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 = 1.30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05500" y="6451600"/>
            <a:ext cx="215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Contiguity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5842000"/>
            <a:ext cx="2286000" cy="1016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21" name="Text 19"/>
          <p:cNvSpPr/>
          <p:nvPr/>
        </p:nvSpPr>
        <p:spPr>
          <a:xfrm>
            <a:off x="8445500" y="5905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 = 1.13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5500" y="6451600"/>
            <a:ext cx="215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Modality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22000" y="5842000"/>
            <a:ext cx="2286000" cy="1016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24" name="Text 22"/>
          <p:cNvSpPr/>
          <p:nvPr/>
        </p:nvSpPr>
        <p:spPr>
          <a:xfrm>
            <a:off x="10985500" y="5905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 = 1.12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85500" y="6451600"/>
            <a:ext cx="215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Spatial Contiguity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462000" y="5842000"/>
            <a:ext cx="2032000" cy="1016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27" name="Text 25"/>
          <p:cNvSpPr/>
          <p:nvPr/>
        </p:nvSpPr>
        <p:spPr>
          <a:xfrm>
            <a:off x="13525500" y="59055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 = 1.11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525500" y="6451600"/>
            <a:ext cx="190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Coherence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7302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17055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74295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Message: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Clarity beats novelty — effective multimedia design prioritizes cognitive engagement over entertainment. Match your strategy to your learning goals.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rc2hjyp5mpiq/mnt/agents/output/multimedia_production/images/8_Abstract_art_with_gold_wave_line.png">    </p:cNvPr>
          <p:cNvPicPr>
            <a:picLocks noChangeAspect="1"/>
          </p:cNvPicPr>
          <p:nvPr/>
        </p:nvPicPr>
        <p:blipFill>
          <a:blip r:embed="rId1"/>
          <a:srcRect l="1712" r="1712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3436">
                  <a:alpha val="94000"/>
                </a:srgbClr>
              </a:gs>
              <a:gs pos="55000">
                <a:srgbClr val="2D3436">
                  <a:alpha val="80000"/>
                </a:srgbClr>
              </a:gs>
              <a:gs pos="100000">
                <a:srgbClr val="2D3436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5080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048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83000" y="4064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Graphics Functions &amp; Multimedia Principles Overview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23000" y="4762500"/>
            <a:ext cx="381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18000" y="5016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53000" y="5842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Production — Week 4, Lesson 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Graphics Functions &amp; Multimedia Principles Overview</dc:title>
  <dc:subject>Graphics Functions &amp; Multimedia Principles Overview</dc:subject>
  <dc:creator>Kimi</dc:creator>
  <cp:lastModifiedBy>Kimi</cp:lastModifiedBy>
  <cp:revision>1</cp:revision>
  <dcterms:created xsi:type="dcterms:W3CDTF">2026-05-26T11:32:05Z</dcterms:created>
  <dcterms:modified xsi:type="dcterms:W3CDTF">2026-05-26T11:32:05Z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{"Label":"Graphics Functions &amp; Multimedia Principles Overview","ContentProducer":"001191110108MACG2KBH8F10000","ProduceID":"19e63ff6-d722-8f9c-8000-0000c3519d65","ReservedCode1":"","ContentPropagator":"001191110108MACG2KBH8F20000","PropagateID":"19e63ff6-d722-8f9c-8000-0000c3519d65","ReservedCode2":""}</vt:lpwstr>
  </property>
</Properties>
</file>