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794000"/>
            <a:ext cx="1270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Applications of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1778000" y="3937000"/>
            <a:ext cx="1270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Tools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1778000" y="5334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W10 · L19-L20 · Professional Toolkit for Modern Content Creation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0" y="6096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953000" y="6477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Tools Workshop ·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498600" y="2476500"/>
            <a:ext cx="558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98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Multimedia Tools &amp; Trends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24000" y="3683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3619500"/>
            <a:ext cx="558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3683000"/>
            <a:ext cx="698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of Multimedia Tools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524000" y="4826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1473200" y="4762500"/>
            <a:ext cx="6096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4826000"/>
            <a:ext cx="698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 Comparison &amp; Selection Guide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524000" y="5969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473200" y="5905500"/>
            <a:ext cx="6096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86000" y="5969000"/>
            <a:ext cx="698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Trends &amp; Key Takeaways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2794000"/>
            <a:ext cx="1066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Multimedia Tools &amp; Trends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826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the multimedia landscape, tool categories, and industry evolution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Multimedia?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032000"/>
            <a:ext cx="6604000" cy="622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is the integration of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text, graphics, audio, video, and animation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into a unified digital experience.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Interactivity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User engagement and control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Multiple media forms combined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Delivery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Distributed via digital channels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Domains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Marketing &amp; Advertising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Education &amp; E-Learning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Entertainment &amp; Gaming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Corporate Communication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0" y="2032000"/>
            <a:ext cx="6604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98000" y="2540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424309" y="75456"/>
                </a:moveTo>
                <a:cubicBezTo>
                  <a:pt x="416570" y="58489"/>
                  <a:pt x="399604" y="47625"/>
                  <a:pt x="381000" y="47625"/>
                </a:cubicBezTo>
                <a:cubicBezTo>
                  <a:pt x="362396" y="47625"/>
                  <a:pt x="345430" y="58489"/>
                  <a:pt x="337691" y="75456"/>
                </a:cubicBezTo>
                <a:lnTo>
                  <a:pt x="88553" y="619125"/>
                </a:lnTo>
                <a:lnTo>
                  <a:pt x="71438" y="619125"/>
                </a:lnTo>
                <a:cubicBezTo>
                  <a:pt x="45095" y="619125"/>
                  <a:pt x="23812" y="640407"/>
                  <a:pt x="23812" y="666750"/>
                </a:cubicBezTo>
                <a:cubicBezTo>
                  <a:pt x="23812" y="693093"/>
                  <a:pt x="45095" y="714375"/>
                  <a:pt x="71438" y="714375"/>
                </a:cubicBezTo>
                <a:lnTo>
                  <a:pt x="202406" y="714375"/>
                </a:lnTo>
                <a:cubicBezTo>
                  <a:pt x="228749" y="714375"/>
                  <a:pt x="250031" y="693093"/>
                  <a:pt x="250031" y="666750"/>
                </a:cubicBezTo>
                <a:cubicBezTo>
                  <a:pt x="250031" y="640407"/>
                  <a:pt x="228749" y="619125"/>
                  <a:pt x="202406" y="619125"/>
                </a:cubicBezTo>
                <a:lnTo>
                  <a:pt x="193328" y="619125"/>
                </a:lnTo>
                <a:lnTo>
                  <a:pt x="226070" y="547687"/>
                </a:lnTo>
                <a:lnTo>
                  <a:pt x="536079" y="547687"/>
                </a:lnTo>
                <a:lnTo>
                  <a:pt x="568821" y="619125"/>
                </a:lnTo>
                <a:lnTo>
                  <a:pt x="559743" y="619125"/>
                </a:lnTo>
                <a:cubicBezTo>
                  <a:pt x="533400" y="619125"/>
                  <a:pt x="512118" y="640407"/>
                  <a:pt x="512118" y="666750"/>
                </a:cubicBezTo>
                <a:cubicBezTo>
                  <a:pt x="512118" y="693093"/>
                  <a:pt x="533400" y="714375"/>
                  <a:pt x="559743" y="714375"/>
                </a:cubicBezTo>
                <a:lnTo>
                  <a:pt x="690711" y="714375"/>
                </a:lnTo>
                <a:cubicBezTo>
                  <a:pt x="717054" y="714375"/>
                  <a:pt x="738336" y="693093"/>
                  <a:pt x="738336" y="666750"/>
                </a:cubicBezTo>
                <a:cubicBezTo>
                  <a:pt x="738336" y="640407"/>
                  <a:pt x="717054" y="619125"/>
                  <a:pt x="690711" y="619125"/>
                </a:cubicBezTo>
                <a:lnTo>
                  <a:pt x="673596" y="619125"/>
                </a:lnTo>
                <a:lnTo>
                  <a:pt x="424458" y="75456"/>
                </a:lnTo>
                <a:close/>
                <a:moveTo>
                  <a:pt x="492323" y="452438"/>
                </a:moveTo>
                <a:lnTo>
                  <a:pt x="269677" y="452438"/>
                </a:lnTo>
                <a:lnTo>
                  <a:pt x="381000" y="209550"/>
                </a:lnTo>
                <a:lnTo>
                  <a:pt x="492323" y="452438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7" name="Shape 5"/>
          <p:cNvSpPr/>
          <p:nvPr/>
        </p:nvSpPr>
        <p:spPr>
          <a:xfrm>
            <a:off x="10668000" y="2540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08857" y="47625"/>
                </a:moveTo>
                <a:cubicBezTo>
                  <a:pt x="48816" y="47625"/>
                  <a:pt x="0" y="90339"/>
                  <a:pt x="0" y="142875"/>
                </a:cubicBezTo>
                <a:lnTo>
                  <a:pt x="0" y="619125"/>
                </a:lnTo>
                <a:cubicBezTo>
                  <a:pt x="0" y="671661"/>
                  <a:pt x="48816" y="714375"/>
                  <a:pt x="108857" y="714375"/>
                </a:cubicBezTo>
                <a:lnTo>
                  <a:pt x="653143" y="714375"/>
                </a:lnTo>
                <a:cubicBezTo>
                  <a:pt x="713184" y="714375"/>
                  <a:pt x="762000" y="671661"/>
                  <a:pt x="762000" y="619125"/>
                </a:cubicBezTo>
                <a:lnTo>
                  <a:pt x="762000" y="142875"/>
                </a:lnTo>
                <a:cubicBezTo>
                  <a:pt x="762000" y="90339"/>
                  <a:pt x="713184" y="47625"/>
                  <a:pt x="653143" y="47625"/>
                </a:cubicBezTo>
                <a:lnTo>
                  <a:pt x="108857" y="47625"/>
                </a:lnTo>
                <a:close/>
                <a:moveTo>
                  <a:pt x="217714" y="166688"/>
                </a:moveTo>
                <a:cubicBezTo>
                  <a:pt x="262774" y="166688"/>
                  <a:pt x="299357" y="198698"/>
                  <a:pt x="299357" y="238125"/>
                </a:cubicBezTo>
                <a:cubicBezTo>
                  <a:pt x="299357" y="277552"/>
                  <a:pt x="262774" y="309563"/>
                  <a:pt x="217714" y="309563"/>
                </a:cubicBezTo>
                <a:cubicBezTo>
                  <a:pt x="172654" y="309563"/>
                  <a:pt x="136071" y="277552"/>
                  <a:pt x="136071" y="238125"/>
                </a:cubicBezTo>
                <a:cubicBezTo>
                  <a:pt x="136071" y="198698"/>
                  <a:pt x="172654" y="166688"/>
                  <a:pt x="217714" y="166688"/>
                </a:cubicBezTo>
                <a:close/>
                <a:moveTo>
                  <a:pt x="462643" y="333375"/>
                </a:moveTo>
                <a:cubicBezTo>
                  <a:pt x="476930" y="333375"/>
                  <a:pt x="490027" y="339923"/>
                  <a:pt x="497511" y="350490"/>
                </a:cubicBezTo>
                <a:lnTo>
                  <a:pt x="647190" y="564803"/>
                </a:lnTo>
                <a:cubicBezTo>
                  <a:pt x="654844" y="575816"/>
                  <a:pt x="655184" y="589657"/>
                  <a:pt x="648040" y="600968"/>
                </a:cubicBezTo>
                <a:cubicBezTo>
                  <a:pt x="640896" y="612279"/>
                  <a:pt x="627119" y="619125"/>
                  <a:pt x="612321" y="619125"/>
                </a:cubicBezTo>
                <a:lnTo>
                  <a:pt x="149679" y="619125"/>
                </a:lnTo>
                <a:cubicBezTo>
                  <a:pt x="134541" y="619125"/>
                  <a:pt x="120423" y="611684"/>
                  <a:pt x="113450" y="599926"/>
                </a:cubicBezTo>
                <a:cubicBezTo>
                  <a:pt x="106476" y="588169"/>
                  <a:pt x="107496" y="573881"/>
                  <a:pt x="116171" y="563017"/>
                </a:cubicBezTo>
                <a:lnTo>
                  <a:pt x="211421" y="443954"/>
                </a:lnTo>
                <a:cubicBezTo>
                  <a:pt x="219075" y="434429"/>
                  <a:pt x="231492" y="428774"/>
                  <a:pt x="244929" y="428774"/>
                </a:cubicBezTo>
                <a:cubicBezTo>
                  <a:pt x="258366" y="428774"/>
                  <a:pt x="270782" y="434429"/>
                  <a:pt x="278436" y="443954"/>
                </a:cubicBezTo>
                <a:lnTo>
                  <a:pt x="323340" y="500211"/>
                </a:lnTo>
                <a:lnTo>
                  <a:pt x="427775" y="350639"/>
                </a:lnTo>
                <a:cubicBezTo>
                  <a:pt x="435258" y="340072"/>
                  <a:pt x="448355" y="333524"/>
                  <a:pt x="462643" y="333524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8" name="Shape 6"/>
          <p:cNvSpPr/>
          <p:nvPr/>
        </p:nvSpPr>
        <p:spPr>
          <a:xfrm>
            <a:off x="11938000" y="2540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696516" y="10418"/>
                </a:moveTo>
                <a:cubicBezTo>
                  <a:pt x="707827" y="19496"/>
                  <a:pt x="714375" y="33189"/>
                  <a:pt x="714375" y="47625"/>
                </a:cubicBezTo>
                <a:lnTo>
                  <a:pt x="714375" y="500063"/>
                </a:lnTo>
                <a:cubicBezTo>
                  <a:pt x="714375" y="565845"/>
                  <a:pt x="650379" y="619125"/>
                  <a:pt x="571500" y="619125"/>
                </a:cubicBezTo>
                <a:cubicBezTo>
                  <a:pt x="492621" y="619125"/>
                  <a:pt x="428625" y="565845"/>
                  <a:pt x="428625" y="500063"/>
                </a:cubicBezTo>
                <a:cubicBezTo>
                  <a:pt x="428625" y="434280"/>
                  <a:pt x="492621" y="381000"/>
                  <a:pt x="571500" y="381000"/>
                </a:cubicBezTo>
                <a:cubicBezTo>
                  <a:pt x="588169" y="381000"/>
                  <a:pt x="604242" y="383381"/>
                  <a:pt x="619125" y="387846"/>
                </a:cubicBezTo>
                <a:lnTo>
                  <a:pt x="619125" y="214164"/>
                </a:lnTo>
                <a:lnTo>
                  <a:pt x="285750" y="288280"/>
                </a:lnTo>
                <a:lnTo>
                  <a:pt x="285750" y="595313"/>
                </a:lnTo>
                <a:cubicBezTo>
                  <a:pt x="285750" y="661095"/>
                  <a:pt x="221754" y="714375"/>
                  <a:pt x="142875" y="714375"/>
                </a:cubicBezTo>
                <a:cubicBezTo>
                  <a:pt x="63996" y="714375"/>
                  <a:pt x="0" y="661095"/>
                  <a:pt x="0" y="595313"/>
                </a:cubicBezTo>
                <a:cubicBezTo>
                  <a:pt x="0" y="529530"/>
                  <a:pt x="63996" y="476250"/>
                  <a:pt x="142875" y="476250"/>
                </a:cubicBezTo>
                <a:cubicBezTo>
                  <a:pt x="159544" y="476250"/>
                  <a:pt x="175617" y="478631"/>
                  <a:pt x="190500" y="483096"/>
                </a:cubicBezTo>
                <a:lnTo>
                  <a:pt x="190500" y="142875"/>
                </a:lnTo>
                <a:cubicBezTo>
                  <a:pt x="190500" y="120551"/>
                  <a:pt x="205978" y="101203"/>
                  <a:pt x="227856" y="96441"/>
                </a:cubicBezTo>
                <a:lnTo>
                  <a:pt x="656481" y="1191"/>
                </a:lnTo>
                <a:cubicBezTo>
                  <a:pt x="670620" y="-1935"/>
                  <a:pt x="685354" y="1488"/>
                  <a:pt x="696664" y="10567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9" name="Shape 7"/>
          <p:cNvSpPr/>
          <p:nvPr/>
        </p:nvSpPr>
        <p:spPr>
          <a:xfrm>
            <a:off x="13208000" y="2540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27000" y="95250"/>
                </a:moveTo>
                <a:cubicBezTo>
                  <a:pt x="80301" y="95250"/>
                  <a:pt x="42333" y="137964"/>
                  <a:pt x="42333" y="190500"/>
                </a:cubicBezTo>
                <a:lnTo>
                  <a:pt x="42333" y="571500"/>
                </a:lnTo>
                <a:cubicBezTo>
                  <a:pt x="42333" y="624036"/>
                  <a:pt x="80301" y="666750"/>
                  <a:pt x="127000" y="666750"/>
                </a:cubicBezTo>
                <a:lnTo>
                  <a:pt x="465667" y="666750"/>
                </a:lnTo>
                <a:cubicBezTo>
                  <a:pt x="512366" y="666750"/>
                  <a:pt x="550333" y="624036"/>
                  <a:pt x="550333" y="571500"/>
                </a:cubicBezTo>
                <a:lnTo>
                  <a:pt x="550333" y="190500"/>
                </a:lnTo>
                <a:cubicBezTo>
                  <a:pt x="550333" y="137964"/>
                  <a:pt x="512366" y="95250"/>
                  <a:pt x="465667" y="95250"/>
                </a:cubicBezTo>
                <a:lnTo>
                  <a:pt x="127000" y="95250"/>
                </a:lnTo>
                <a:close/>
                <a:moveTo>
                  <a:pt x="613833" y="500063"/>
                </a:moveTo>
                <a:lnTo>
                  <a:pt x="711068" y="587573"/>
                </a:lnTo>
                <a:cubicBezTo>
                  <a:pt x="716624" y="592634"/>
                  <a:pt x="723503" y="595313"/>
                  <a:pt x="730647" y="595313"/>
                </a:cubicBezTo>
                <a:cubicBezTo>
                  <a:pt x="747977" y="595313"/>
                  <a:pt x="762000" y="579537"/>
                  <a:pt x="762000" y="560040"/>
                </a:cubicBezTo>
                <a:lnTo>
                  <a:pt x="762000" y="201960"/>
                </a:lnTo>
                <a:cubicBezTo>
                  <a:pt x="762000" y="182463"/>
                  <a:pt x="747977" y="166688"/>
                  <a:pt x="730647" y="166688"/>
                </a:cubicBezTo>
                <a:cubicBezTo>
                  <a:pt x="723503" y="166688"/>
                  <a:pt x="716624" y="169366"/>
                  <a:pt x="711068" y="174427"/>
                </a:cubicBezTo>
                <a:lnTo>
                  <a:pt x="613833" y="261938"/>
                </a:lnTo>
                <a:lnTo>
                  <a:pt x="613833" y="500063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0" y="3683000"/>
            <a:ext cx="558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Multimedia Ecosystem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spans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core media types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each requiring specialized tools.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Professionals navigate a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diverse tool landscape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from free open-source to enterprise suites.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global creative software market reached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$12.5B in 2025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Multimedia Content Creation Pipeline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540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5" name="Shape 3"/>
          <p:cNvSpPr/>
          <p:nvPr/>
        </p:nvSpPr>
        <p:spPr>
          <a:xfrm>
            <a:off x="1524000" y="279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1956" y="31750"/>
                </a:moveTo>
                <a:lnTo>
                  <a:pt x="423333" y="31750"/>
                </a:lnTo>
                <a:cubicBezTo>
                  <a:pt x="470032" y="31750"/>
                  <a:pt x="508000" y="60226"/>
                  <a:pt x="508000" y="95250"/>
                </a:cubicBezTo>
                <a:lnTo>
                  <a:pt x="508000" y="444500"/>
                </a:lnTo>
                <a:cubicBezTo>
                  <a:pt x="508000" y="479524"/>
                  <a:pt x="470032" y="508000"/>
                  <a:pt x="423333" y="508000"/>
                </a:cubicBezTo>
                <a:lnTo>
                  <a:pt x="84667" y="508000"/>
                </a:lnTo>
                <a:cubicBezTo>
                  <a:pt x="37968" y="508000"/>
                  <a:pt x="0" y="479524"/>
                  <a:pt x="0" y="444500"/>
                </a:cubicBezTo>
                <a:lnTo>
                  <a:pt x="0" y="95250"/>
                </a:lnTo>
                <a:cubicBezTo>
                  <a:pt x="0" y="60226"/>
                  <a:pt x="37968" y="31750"/>
                  <a:pt x="84667" y="31750"/>
                </a:cubicBezTo>
                <a:lnTo>
                  <a:pt x="96044" y="31750"/>
                </a:lnTo>
                <a:cubicBezTo>
                  <a:pt x="110596" y="12799"/>
                  <a:pt x="137980" y="0"/>
                  <a:pt x="169333" y="0"/>
                </a:cubicBezTo>
                <a:lnTo>
                  <a:pt x="338667" y="0"/>
                </a:lnTo>
                <a:cubicBezTo>
                  <a:pt x="370020" y="0"/>
                  <a:pt x="397404" y="12799"/>
                  <a:pt x="411956" y="31750"/>
                </a:cubicBezTo>
                <a:close/>
                <a:moveTo>
                  <a:pt x="328083" y="111125"/>
                </a:moveTo>
                <a:cubicBezTo>
                  <a:pt x="345678" y="111125"/>
                  <a:pt x="359833" y="100509"/>
                  <a:pt x="359833" y="87313"/>
                </a:cubicBezTo>
                <a:cubicBezTo>
                  <a:pt x="359833" y="74116"/>
                  <a:pt x="345678" y="63500"/>
                  <a:pt x="328083" y="63500"/>
                </a:cubicBezTo>
                <a:lnTo>
                  <a:pt x="179917" y="63500"/>
                </a:lnTo>
                <a:cubicBezTo>
                  <a:pt x="162322" y="63500"/>
                  <a:pt x="148167" y="74116"/>
                  <a:pt x="148167" y="87313"/>
                </a:cubicBezTo>
                <a:cubicBezTo>
                  <a:pt x="148167" y="100509"/>
                  <a:pt x="162322" y="111125"/>
                  <a:pt x="179917" y="111125"/>
                </a:cubicBezTo>
                <a:lnTo>
                  <a:pt x="328083" y="111125"/>
                </a:lnTo>
                <a:close/>
                <a:moveTo>
                  <a:pt x="169333" y="254000"/>
                </a:moveTo>
                <a:cubicBezTo>
                  <a:pt x="169333" y="236477"/>
                  <a:pt x="150364" y="222250"/>
                  <a:pt x="127000" y="222250"/>
                </a:cubicBezTo>
                <a:cubicBezTo>
                  <a:pt x="103636" y="222250"/>
                  <a:pt x="84667" y="236477"/>
                  <a:pt x="84667" y="254000"/>
                </a:cubicBezTo>
                <a:cubicBezTo>
                  <a:pt x="84667" y="271523"/>
                  <a:pt x="103636" y="285750"/>
                  <a:pt x="127000" y="285750"/>
                </a:cubicBezTo>
                <a:cubicBezTo>
                  <a:pt x="150364" y="285750"/>
                  <a:pt x="169333" y="271523"/>
                  <a:pt x="169333" y="254000"/>
                </a:cubicBezTo>
                <a:close/>
                <a:moveTo>
                  <a:pt x="211667" y="254000"/>
                </a:moveTo>
                <a:cubicBezTo>
                  <a:pt x="211667" y="267196"/>
                  <a:pt x="225822" y="277813"/>
                  <a:pt x="243417" y="277813"/>
                </a:cubicBezTo>
                <a:lnTo>
                  <a:pt x="391583" y="277813"/>
                </a:lnTo>
                <a:cubicBezTo>
                  <a:pt x="409178" y="277813"/>
                  <a:pt x="423333" y="267196"/>
                  <a:pt x="423333" y="254000"/>
                </a:cubicBezTo>
                <a:cubicBezTo>
                  <a:pt x="423333" y="240804"/>
                  <a:pt x="409178" y="230188"/>
                  <a:pt x="391583" y="230188"/>
                </a:cubicBezTo>
                <a:lnTo>
                  <a:pt x="243417" y="230188"/>
                </a:lnTo>
                <a:cubicBezTo>
                  <a:pt x="225822" y="230188"/>
                  <a:pt x="211667" y="240804"/>
                  <a:pt x="211667" y="254000"/>
                </a:cubicBezTo>
                <a:close/>
                <a:moveTo>
                  <a:pt x="211667" y="381000"/>
                </a:moveTo>
                <a:cubicBezTo>
                  <a:pt x="211667" y="394196"/>
                  <a:pt x="225822" y="404813"/>
                  <a:pt x="243417" y="404813"/>
                </a:cubicBezTo>
                <a:lnTo>
                  <a:pt x="391583" y="404813"/>
                </a:lnTo>
                <a:cubicBezTo>
                  <a:pt x="409178" y="404813"/>
                  <a:pt x="423333" y="394196"/>
                  <a:pt x="423333" y="381000"/>
                </a:cubicBezTo>
                <a:cubicBezTo>
                  <a:pt x="423333" y="367804"/>
                  <a:pt x="409178" y="357188"/>
                  <a:pt x="391583" y="357188"/>
                </a:cubicBezTo>
                <a:lnTo>
                  <a:pt x="243417" y="357188"/>
                </a:lnTo>
                <a:cubicBezTo>
                  <a:pt x="225822" y="357188"/>
                  <a:pt x="211667" y="367804"/>
                  <a:pt x="211667" y="381000"/>
                </a:cubicBezTo>
                <a:close/>
                <a:moveTo>
                  <a:pt x="127000" y="412750"/>
                </a:moveTo>
                <a:cubicBezTo>
                  <a:pt x="150364" y="412750"/>
                  <a:pt x="169333" y="398523"/>
                  <a:pt x="169333" y="381000"/>
                </a:cubicBezTo>
                <a:cubicBezTo>
                  <a:pt x="169333" y="363477"/>
                  <a:pt x="150364" y="349250"/>
                  <a:pt x="127000" y="349250"/>
                </a:cubicBezTo>
                <a:cubicBezTo>
                  <a:pt x="103636" y="349250"/>
                  <a:pt x="84667" y="363477"/>
                  <a:pt x="84667" y="381000"/>
                </a:cubicBezTo>
                <a:cubicBezTo>
                  <a:pt x="84667" y="398523"/>
                  <a:pt x="103636" y="412750"/>
                  <a:pt x="127000" y="4127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3810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Planning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89000" y="4318000"/>
            <a:ext cx="177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Concept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Scripting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Storyboard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3048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3302000" y="2540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0" name="Shape 8"/>
          <p:cNvSpPr/>
          <p:nvPr/>
        </p:nvSpPr>
        <p:spPr>
          <a:xfrm>
            <a:off x="3556000" y="279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47935" y="64294"/>
                </a:moveTo>
                <a:lnTo>
                  <a:pt x="137616" y="95250"/>
                </a:lnTo>
                <a:lnTo>
                  <a:pt x="63500" y="95250"/>
                </a:lnTo>
                <a:cubicBezTo>
                  <a:pt x="28476" y="95250"/>
                  <a:pt x="0" y="123726"/>
                  <a:pt x="0" y="158750"/>
                </a:cubicBezTo>
                <a:lnTo>
                  <a:pt x="0" y="412750"/>
                </a:lnTo>
                <a:cubicBezTo>
                  <a:pt x="0" y="447774"/>
                  <a:pt x="28476" y="476250"/>
                  <a:pt x="63500" y="476250"/>
                </a:cubicBezTo>
                <a:lnTo>
                  <a:pt x="444500" y="476250"/>
                </a:lnTo>
                <a:cubicBezTo>
                  <a:pt x="479524" y="476250"/>
                  <a:pt x="508000" y="447774"/>
                  <a:pt x="508000" y="412750"/>
                </a:cubicBezTo>
                <a:lnTo>
                  <a:pt x="508000" y="158750"/>
                </a:lnTo>
                <a:cubicBezTo>
                  <a:pt x="508000" y="123726"/>
                  <a:pt x="479524" y="95250"/>
                  <a:pt x="444500" y="95250"/>
                </a:cubicBezTo>
                <a:lnTo>
                  <a:pt x="370384" y="95250"/>
                </a:lnTo>
                <a:lnTo>
                  <a:pt x="360065" y="64294"/>
                </a:lnTo>
                <a:cubicBezTo>
                  <a:pt x="353616" y="44847"/>
                  <a:pt x="335459" y="31750"/>
                  <a:pt x="314920" y="31750"/>
                </a:cubicBezTo>
                <a:lnTo>
                  <a:pt x="193080" y="31750"/>
                </a:lnTo>
                <a:cubicBezTo>
                  <a:pt x="172541" y="31750"/>
                  <a:pt x="154384" y="44847"/>
                  <a:pt x="147935" y="64294"/>
                </a:cubicBezTo>
                <a:close/>
                <a:moveTo>
                  <a:pt x="254000" y="190500"/>
                </a:moveTo>
                <a:cubicBezTo>
                  <a:pt x="306570" y="190500"/>
                  <a:pt x="349250" y="233180"/>
                  <a:pt x="349250" y="285750"/>
                </a:cubicBezTo>
                <a:cubicBezTo>
                  <a:pt x="349250" y="338320"/>
                  <a:pt x="306570" y="381000"/>
                  <a:pt x="254000" y="381000"/>
                </a:cubicBezTo>
                <a:cubicBezTo>
                  <a:pt x="201430" y="381000"/>
                  <a:pt x="158750" y="338320"/>
                  <a:pt x="158750" y="285750"/>
                </a:cubicBezTo>
                <a:cubicBezTo>
                  <a:pt x="158750" y="233180"/>
                  <a:pt x="201430" y="190500"/>
                  <a:pt x="254000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048000" y="3810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21000" y="4318000"/>
            <a:ext cx="177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Recording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Capture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18000" y="3048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334000" y="2540000"/>
            <a:ext cx="1016000" cy="1016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5" name="Shape 13"/>
          <p:cNvSpPr/>
          <p:nvPr/>
        </p:nvSpPr>
        <p:spPr>
          <a:xfrm>
            <a:off x="5588000" y="279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00844" y="0"/>
                </a:moveTo>
                <a:cubicBezTo>
                  <a:pt x="419894" y="0"/>
                  <a:pt x="438150" y="7541"/>
                  <a:pt x="451545" y="21034"/>
                </a:cubicBezTo>
                <a:lnTo>
                  <a:pt x="486966" y="56455"/>
                </a:lnTo>
                <a:cubicBezTo>
                  <a:pt x="500459" y="69850"/>
                  <a:pt x="508000" y="88106"/>
                  <a:pt x="508000" y="107156"/>
                </a:cubicBezTo>
                <a:cubicBezTo>
                  <a:pt x="508000" y="126206"/>
                  <a:pt x="500459" y="144463"/>
                  <a:pt x="486966" y="157857"/>
                </a:cubicBezTo>
                <a:lnTo>
                  <a:pt x="442416" y="202406"/>
                </a:lnTo>
                <a:lnTo>
                  <a:pt x="305594" y="65584"/>
                </a:lnTo>
                <a:lnTo>
                  <a:pt x="350143" y="21034"/>
                </a:lnTo>
                <a:cubicBezTo>
                  <a:pt x="363538" y="7541"/>
                  <a:pt x="381794" y="0"/>
                  <a:pt x="400844" y="0"/>
                </a:cubicBezTo>
                <a:close/>
                <a:moveTo>
                  <a:pt x="58440" y="312638"/>
                </a:moveTo>
                <a:lnTo>
                  <a:pt x="271959" y="99219"/>
                </a:lnTo>
                <a:lnTo>
                  <a:pt x="408781" y="236041"/>
                </a:lnTo>
                <a:lnTo>
                  <a:pt x="195362" y="449560"/>
                </a:lnTo>
                <a:cubicBezTo>
                  <a:pt x="184745" y="460177"/>
                  <a:pt x="171450" y="467916"/>
                  <a:pt x="156964" y="471984"/>
                </a:cubicBezTo>
                <a:lnTo>
                  <a:pt x="30163" y="507107"/>
                </a:lnTo>
                <a:cubicBezTo>
                  <a:pt x="21927" y="509389"/>
                  <a:pt x="12998" y="507107"/>
                  <a:pt x="6945" y="500955"/>
                </a:cubicBezTo>
                <a:cubicBezTo>
                  <a:pt x="893" y="494804"/>
                  <a:pt x="-1488" y="485973"/>
                  <a:pt x="794" y="477738"/>
                </a:cubicBezTo>
                <a:lnTo>
                  <a:pt x="36116" y="351036"/>
                </a:lnTo>
                <a:cubicBezTo>
                  <a:pt x="40184" y="336550"/>
                  <a:pt x="47823" y="323354"/>
                  <a:pt x="58539" y="312638"/>
                </a:cubicBezTo>
                <a:close/>
                <a:moveTo>
                  <a:pt x="223639" y="80169"/>
                </a:moveTo>
                <a:lnTo>
                  <a:pt x="80169" y="223639"/>
                </a:lnTo>
                <a:lnTo>
                  <a:pt x="11609" y="155079"/>
                </a:lnTo>
                <a:cubicBezTo>
                  <a:pt x="-3870" y="139601"/>
                  <a:pt x="-3870" y="114498"/>
                  <a:pt x="11609" y="98921"/>
                </a:cubicBezTo>
                <a:lnTo>
                  <a:pt x="98921" y="11609"/>
                </a:lnTo>
                <a:cubicBezTo>
                  <a:pt x="114399" y="-3870"/>
                  <a:pt x="139502" y="-3870"/>
                  <a:pt x="155079" y="11609"/>
                </a:cubicBezTo>
                <a:lnTo>
                  <a:pt x="160933" y="17463"/>
                </a:lnTo>
                <a:lnTo>
                  <a:pt x="105073" y="73323"/>
                </a:lnTo>
                <a:cubicBezTo>
                  <a:pt x="97334" y="81062"/>
                  <a:pt x="97334" y="93663"/>
                  <a:pt x="105073" y="101402"/>
                </a:cubicBezTo>
                <a:cubicBezTo>
                  <a:pt x="112812" y="109141"/>
                  <a:pt x="125413" y="109141"/>
                  <a:pt x="133152" y="101402"/>
                </a:cubicBezTo>
                <a:lnTo>
                  <a:pt x="189012" y="45541"/>
                </a:lnTo>
                <a:lnTo>
                  <a:pt x="223639" y="80169"/>
                </a:lnTo>
                <a:close/>
                <a:moveTo>
                  <a:pt x="427831" y="284361"/>
                </a:moveTo>
                <a:lnTo>
                  <a:pt x="462459" y="318988"/>
                </a:lnTo>
                <a:lnTo>
                  <a:pt x="406598" y="374848"/>
                </a:lnTo>
                <a:cubicBezTo>
                  <a:pt x="398859" y="382588"/>
                  <a:pt x="398859" y="395188"/>
                  <a:pt x="406598" y="402927"/>
                </a:cubicBezTo>
                <a:cubicBezTo>
                  <a:pt x="414338" y="410666"/>
                  <a:pt x="426938" y="410666"/>
                  <a:pt x="434677" y="402927"/>
                </a:cubicBezTo>
                <a:lnTo>
                  <a:pt x="490537" y="347067"/>
                </a:lnTo>
                <a:lnTo>
                  <a:pt x="496391" y="352921"/>
                </a:lnTo>
                <a:cubicBezTo>
                  <a:pt x="511870" y="368399"/>
                  <a:pt x="511870" y="393502"/>
                  <a:pt x="496391" y="409079"/>
                </a:cubicBezTo>
                <a:lnTo>
                  <a:pt x="409079" y="496391"/>
                </a:lnTo>
                <a:cubicBezTo>
                  <a:pt x="393601" y="511870"/>
                  <a:pt x="368498" y="511870"/>
                  <a:pt x="352921" y="496391"/>
                </a:cubicBezTo>
                <a:lnTo>
                  <a:pt x="284361" y="427831"/>
                </a:lnTo>
                <a:lnTo>
                  <a:pt x="427831" y="2843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80000" y="3810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Editing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53000" y="4318000"/>
            <a:ext cx="177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Cut &amp; Trim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Effects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Color Grade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50000" y="3048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7366000" y="2540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0" y="279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1000" y="190500"/>
                </a:moveTo>
                <a:cubicBezTo>
                  <a:pt x="433586" y="190500"/>
                  <a:pt x="476250" y="147836"/>
                  <a:pt x="476250" y="95250"/>
                </a:cubicBezTo>
                <a:cubicBezTo>
                  <a:pt x="476250" y="42664"/>
                  <a:pt x="433586" y="0"/>
                  <a:pt x="381000" y="0"/>
                </a:cubicBezTo>
                <a:cubicBezTo>
                  <a:pt x="328414" y="0"/>
                  <a:pt x="285750" y="42664"/>
                  <a:pt x="285750" y="95250"/>
                </a:cubicBezTo>
                <a:cubicBezTo>
                  <a:pt x="285750" y="100608"/>
                  <a:pt x="286246" y="105966"/>
                  <a:pt x="287040" y="111125"/>
                </a:cubicBezTo>
                <a:lnTo>
                  <a:pt x="158353" y="182662"/>
                </a:lnTo>
                <a:cubicBezTo>
                  <a:pt x="141585" y="167779"/>
                  <a:pt x="119459" y="158750"/>
                  <a:pt x="95250" y="158750"/>
                </a:cubicBezTo>
                <a:cubicBezTo>
                  <a:pt x="42664" y="158750"/>
                  <a:pt x="0" y="201414"/>
                  <a:pt x="0" y="254000"/>
                </a:cubicBezTo>
                <a:cubicBezTo>
                  <a:pt x="0" y="306586"/>
                  <a:pt x="42664" y="349250"/>
                  <a:pt x="95250" y="349250"/>
                </a:cubicBezTo>
                <a:cubicBezTo>
                  <a:pt x="119459" y="349250"/>
                  <a:pt x="141486" y="340221"/>
                  <a:pt x="158353" y="325338"/>
                </a:cubicBezTo>
                <a:lnTo>
                  <a:pt x="287040" y="396875"/>
                </a:lnTo>
                <a:cubicBezTo>
                  <a:pt x="286147" y="402034"/>
                  <a:pt x="285750" y="407293"/>
                  <a:pt x="285750" y="412750"/>
                </a:cubicBezTo>
                <a:cubicBezTo>
                  <a:pt x="285750" y="465336"/>
                  <a:pt x="328414" y="508000"/>
                  <a:pt x="381000" y="508000"/>
                </a:cubicBezTo>
                <a:cubicBezTo>
                  <a:pt x="433586" y="508000"/>
                  <a:pt x="476250" y="465336"/>
                  <a:pt x="476250" y="412750"/>
                </a:cubicBezTo>
                <a:cubicBezTo>
                  <a:pt x="476250" y="360164"/>
                  <a:pt x="433586" y="317500"/>
                  <a:pt x="381000" y="317500"/>
                </a:cubicBezTo>
                <a:cubicBezTo>
                  <a:pt x="356791" y="317500"/>
                  <a:pt x="334764" y="326529"/>
                  <a:pt x="317897" y="341412"/>
                </a:cubicBezTo>
                <a:lnTo>
                  <a:pt x="189210" y="269875"/>
                </a:lnTo>
                <a:cubicBezTo>
                  <a:pt x="190103" y="264716"/>
                  <a:pt x="190500" y="259457"/>
                  <a:pt x="190500" y="254000"/>
                </a:cubicBezTo>
                <a:cubicBezTo>
                  <a:pt x="190500" y="248543"/>
                  <a:pt x="190004" y="243284"/>
                  <a:pt x="189210" y="238125"/>
                </a:cubicBezTo>
                <a:lnTo>
                  <a:pt x="317897" y="166588"/>
                </a:lnTo>
                <a:cubicBezTo>
                  <a:pt x="334665" y="181471"/>
                  <a:pt x="356791" y="190500"/>
                  <a:pt x="381000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810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85000" y="4318000"/>
            <a:ext cx="177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Export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Publish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82000" y="3048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9398000" y="2540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5" name="Shape 23"/>
          <p:cNvSpPr/>
          <p:nvPr/>
        </p:nvSpPr>
        <p:spPr>
          <a:xfrm>
            <a:off x="9652000" y="279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0" y="3810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Analytics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17000" y="4318000"/>
            <a:ext cx="177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Metrics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Feedback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Iterate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0000" y="6096000"/>
            <a:ext cx="13716000" cy="101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778000" y="6223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Each stage requires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specialized tools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professional workflows demand seamless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integration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between them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1176000" y="2540000"/>
            <a:ext cx="3810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pipeline helps teams select the optimal toolstack for their specific needs and budget constraints.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Categories of Multimedia Tools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2540000" cy="3048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59000" y="2349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275828" y="0"/>
                  <a:pt x="190500" y="63996"/>
                  <a:pt x="190500" y="142875"/>
                </a:cubicBezTo>
                <a:lnTo>
                  <a:pt x="190500" y="333375"/>
                </a:lnTo>
                <a:cubicBezTo>
                  <a:pt x="190500" y="412254"/>
                  <a:pt x="275828" y="476250"/>
                  <a:pt x="381000" y="476250"/>
                </a:cubicBezTo>
                <a:cubicBezTo>
                  <a:pt x="486172" y="476250"/>
                  <a:pt x="571500" y="412254"/>
                  <a:pt x="571500" y="333375"/>
                </a:cubicBezTo>
                <a:lnTo>
                  <a:pt x="571500" y="142875"/>
                </a:lnTo>
                <a:cubicBezTo>
                  <a:pt x="571500" y="63996"/>
                  <a:pt x="486172" y="0"/>
                  <a:pt x="381000" y="0"/>
                </a:cubicBezTo>
                <a:close/>
                <a:moveTo>
                  <a:pt x="95250" y="273844"/>
                </a:moveTo>
                <a:cubicBezTo>
                  <a:pt x="95250" y="254050"/>
                  <a:pt x="74017" y="238125"/>
                  <a:pt x="47625" y="238125"/>
                </a:cubicBezTo>
                <a:cubicBezTo>
                  <a:pt x="21233" y="238125"/>
                  <a:pt x="0" y="254050"/>
                  <a:pt x="0" y="273844"/>
                </a:cubicBezTo>
                <a:lnTo>
                  <a:pt x="0" y="333375"/>
                </a:lnTo>
                <a:cubicBezTo>
                  <a:pt x="0" y="479078"/>
                  <a:pt x="145455" y="599331"/>
                  <a:pt x="333375" y="616893"/>
                </a:cubicBezTo>
                <a:lnTo>
                  <a:pt x="333375" y="690563"/>
                </a:lnTo>
                <a:lnTo>
                  <a:pt x="238125" y="690563"/>
                </a:lnTo>
                <a:cubicBezTo>
                  <a:pt x="211733" y="690563"/>
                  <a:pt x="190500" y="706487"/>
                  <a:pt x="190500" y="726281"/>
                </a:cubicBezTo>
                <a:cubicBezTo>
                  <a:pt x="190500" y="746075"/>
                  <a:pt x="211733" y="762000"/>
                  <a:pt x="238125" y="762000"/>
                </a:cubicBezTo>
                <a:lnTo>
                  <a:pt x="523875" y="762000"/>
                </a:lnTo>
                <a:cubicBezTo>
                  <a:pt x="550267" y="762000"/>
                  <a:pt x="571500" y="746075"/>
                  <a:pt x="571500" y="726281"/>
                </a:cubicBezTo>
                <a:cubicBezTo>
                  <a:pt x="571500" y="706487"/>
                  <a:pt x="550267" y="690563"/>
                  <a:pt x="523875" y="690563"/>
                </a:cubicBezTo>
                <a:lnTo>
                  <a:pt x="428625" y="690563"/>
                </a:lnTo>
                <a:lnTo>
                  <a:pt x="428625" y="616893"/>
                </a:lnTo>
                <a:cubicBezTo>
                  <a:pt x="616545" y="599331"/>
                  <a:pt x="762000" y="479078"/>
                  <a:pt x="762000" y="333375"/>
                </a:cubicBezTo>
                <a:lnTo>
                  <a:pt x="762000" y="273844"/>
                </a:lnTo>
                <a:cubicBezTo>
                  <a:pt x="762000" y="254050"/>
                  <a:pt x="740767" y="238125"/>
                  <a:pt x="714375" y="238125"/>
                </a:cubicBezTo>
                <a:cubicBezTo>
                  <a:pt x="687983" y="238125"/>
                  <a:pt x="666750" y="254050"/>
                  <a:pt x="666750" y="273844"/>
                </a:cubicBezTo>
                <a:lnTo>
                  <a:pt x="666750" y="333375"/>
                </a:lnTo>
                <a:cubicBezTo>
                  <a:pt x="666750" y="451693"/>
                  <a:pt x="538758" y="547687"/>
                  <a:pt x="381000" y="547687"/>
                </a:cubicBezTo>
                <a:cubicBezTo>
                  <a:pt x="223242" y="547687"/>
                  <a:pt x="95250" y="451693"/>
                  <a:pt x="95250" y="333375"/>
                </a:cubicBezTo>
                <a:lnTo>
                  <a:pt x="95250" y="273844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397000" y="3302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Audio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97000" y="3810000"/>
            <a:ext cx="2286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Recording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Editing &amp; Mixing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Sound Design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64000" y="2032000"/>
            <a:ext cx="2540000" cy="3048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53000" y="2349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142875"/>
                </a:moveTo>
                <a:cubicBezTo>
                  <a:pt x="0" y="90339"/>
                  <a:pt x="48816" y="47625"/>
                  <a:pt x="108857" y="47625"/>
                </a:cubicBezTo>
                <a:lnTo>
                  <a:pt x="653143" y="47625"/>
                </a:lnTo>
                <a:cubicBezTo>
                  <a:pt x="713184" y="47625"/>
                  <a:pt x="762000" y="90339"/>
                  <a:pt x="762000" y="142875"/>
                </a:cubicBezTo>
                <a:lnTo>
                  <a:pt x="762000" y="619125"/>
                </a:lnTo>
                <a:cubicBezTo>
                  <a:pt x="762000" y="671661"/>
                  <a:pt x="713184" y="714375"/>
                  <a:pt x="653143" y="714375"/>
                </a:cubicBezTo>
                <a:lnTo>
                  <a:pt x="108857" y="714375"/>
                </a:lnTo>
                <a:cubicBezTo>
                  <a:pt x="48816" y="714375"/>
                  <a:pt x="0" y="671661"/>
                  <a:pt x="0" y="619125"/>
                </a:cubicBezTo>
                <a:lnTo>
                  <a:pt x="0" y="142875"/>
                </a:lnTo>
                <a:close/>
                <a:moveTo>
                  <a:pt x="81643" y="547687"/>
                </a:moveTo>
                <a:lnTo>
                  <a:pt x="81643" y="595313"/>
                </a:lnTo>
                <a:cubicBezTo>
                  <a:pt x="81643" y="608409"/>
                  <a:pt x="93889" y="619125"/>
                  <a:pt x="108857" y="619125"/>
                </a:cubicBezTo>
                <a:lnTo>
                  <a:pt x="163286" y="619125"/>
                </a:lnTo>
                <a:cubicBezTo>
                  <a:pt x="178254" y="619125"/>
                  <a:pt x="190500" y="608409"/>
                  <a:pt x="190500" y="595313"/>
                </a:cubicBezTo>
                <a:lnTo>
                  <a:pt x="190500" y="547687"/>
                </a:lnTo>
                <a:cubicBezTo>
                  <a:pt x="190500" y="534591"/>
                  <a:pt x="178254" y="523875"/>
                  <a:pt x="163286" y="523875"/>
                </a:cubicBezTo>
                <a:lnTo>
                  <a:pt x="108857" y="523875"/>
                </a:lnTo>
                <a:cubicBezTo>
                  <a:pt x="93889" y="523875"/>
                  <a:pt x="81643" y="534591"/>
                  <a:pt x="81643" y="547687"/>
                </a:cubicBezTo>
                <a:close/>
                <a:moveTo>
                  <a:pt x="598714" y="523875"/>
                </a:moveTo>
                <a:cubicBezTo>
                  <a:pt x="583746" y="523875"/>
                  <a:pt x="571500" y="534591"/>
                  <a:pt x="571500" y="547687"/>
                </a:cubicBezTo>
                <a:lnTo>
                  <a:pt x="571500" y="595313"/>
                </a:lnTo>
                <a:cubicBezTo>
                  <a:pt x="571500" y="608409"/>
                  <a:pt x="583746" y="619125"/>
                  <a:pt x="598714" y="619125"/>
                </a:cubicBezTo>
                <a:lnTo>
                  <a:pt x="653143" y="619125"/>
                </a:lnTo>
                <a:cubicBezTo>
                  <a:pt x="668111" y="619125"/>
                  <a:pt x="680357" y="608409"/>
                  <a:pt x="680357" y="595313"/>
                </a:cubicBezTo>
                <a:lnTo>
                  <a:pt x="680357" y="547687"/>
                </a:lnTo>
                <a:cubicBezTo>
                  <a:pt x="680357" y="534591"/>
                  <a:pt x="668111" y="523875"/>
                  <a:pt x="653143" y="523875"/>
                </a:cubicBezTo>
                <a:lnTo>
                  <a:pt x="598714" y="523875"/>
                </a:lnTo>
                <a:close/>
                <a:moveTo>
                  <a:pt x="81643" y="357188"/>
                </a:moveTo>
                <a:lnTo>
                  <a:pt x="81643" y="404813"/>
                </a:lnTo>
                <a:cubicBezTo>
                  <a:pt x="81643" y="417909"/>
                  <a:pt x="93889" y="428625"/>
                  <a:pt x="108857" y="428625"/>
                </a:cubicBezTo>
                <a:lnTo>
                  <a:pt x="163286" y="428625"/>
                </a:lnTo>
                <a:cubicBezTo>
                  <a:pt x="178254" y="428625"/>
                  <a:pt x="190500" y="417909"/>
                  <a:pt x="190500" y="404813"/>
                </a:cubicBezTo>
                <a:lnTo>
                  <a:pt x="190500" y="357188"/>
                </a:lnTo>
                <a:cubicBezTo>
                  <a:pt x="190500" y="344091"/>
                  <a:pt x="178254" y="333375"/>
                  <a:pt x="163286" y="333375"/>
                </a:cubicBezTo>
                <a:lnTo>
                  <a:pt x="108857" y="333375"/>
                </a:lnTo>
                <a:cubicBezTo>
                  <a:pt x="93889" y="333375"/>
                  <a:pt x="81643" y="344091"/>
                  <a:pt x="81643" y="357188"/>
                </a:cubicBezTo>
                <a:close/>
                <a:moveTo>
                  <a:pt x="598714" y="333375"/>
                </a:moveTo>
                <a:cubicBezTo>
                  <a:pt x="583746" y="333375"/>
                  <a:pt x="571500" y="344091"/>
                  <a:pt x="571500" y="357188"/>
                </a:cubicBezTo>
                <a:lnTo>
                  <a:pt x="571500" y="404813"/>
                </a:lnTo>
                <a:cubicBezTo>
                  <a:pt x="571500" y="417909"/>
                  <a:pt x="583746" y="428625"/>
                  <a:pt x="598714" y="428625"/>
                </a:cubicBezTo>
                <a:lnTo>
                  <a:pt x="653143" y="428625"/>
                </a:lnTo>
                <a:cubicBezTo>
                  <a:pt x="668111" y="428625"/>
                  <a:pt x="680357" y="417909"/>
                  <a:pt x="680357" y="404813"/>
                </a:cubicBezTo>
                <a:lnTo>
                  <a:pt x="680357" y="357188"/>
                </a:lnTo>
                <a:cubicBezTo>
                  <a:pt x="680357" y="344091"/>
                  <a:pt x="668111" y="333375"/>
                  <a:pt x="653143" y="333375"/>
                </a:cubicBezTo>
                <a:lnTo>
                  <a:pt x="598714" y="333375"/>
                </a:lnTo>
                <a:close/>
                <a:moveTo>
                  <a:pt x="81643" y="166688"/>
                </a:moveTo>
                <a:lnTo>
                  <a:pt x="81643" y="214313"/>
                </a:lnTo>
                <a:cubicBezTo>
                  <a:pt x="81643" y="227409"/>
                  <a:pt x="93889" y="238125"/>
                  <a:pt x="108857" y="238125"/>
                </a:cubicBezTo>
                <a:lnTo>
                  <a:pt x="163286" y="238125"/>
                </a:lnTo>
                <a:cubicBezTo>
                  <a:pt x="178254" y="238125"/>
                  <a:pt x="190500" y="227409"/>
                  <a:pt x="190500" y="214313"/>
                </a:cubicBezTo>
                <a:lnTo>
                  <a:pt x="190500" y="166688"/>
                </a:lnTo>
                <a:cubicBezTo>
                  <a:pt x="190500" y="153591"/>
                  <a:pt x="178254" y="142875"/>
                  <a:pt x="163286" y="142875"/>
                </a:cubicBezTo>
                <a:lnTo>
                  <a:pt x="108857" y="142875"/>
                </a:lnTo>
                <a:cubicBezTo>
                  <a:pt x="93889" y="142875"/>
                  <a:pt x="81643" y="153591"/>
                  <a:pt x="81643" y="166688"/>
                </a:cubicBezTo>
                <a:close/>
                <a:moveTo>
                  <a:pt x="598714" y="142875"/>
                </a:moveTo>
                <a:cubicBezTo>
                  <a:pt x="583746" y="142875"/>
                  <a:pt x="571500" y="153591"/>
                  <a:pt x="571500" y="166688"/>
                </a:cubicBezTo>
                <a:lnTo>
                  <a:pt x="571500" y="214313"/>
                </a:lnTo>
                <a:cubicBezTo>
                  <a:pt x="571500" y="227409"/>
                  <a:pt x="583746" y="238125"/>
                  <a:pt x="598714" y="238125"/>
                </a:cubicBezTo>
                <a:lnTo>
                  <a:pt x="653143" y="238125"/>
                </a:lnTo>
                <a:cubicBezTo>
                  <a:pt x="668111" y="238125"/>
                  <a:pt x="680357" y="227409"/>
                  <a:pt x="680357" y="214313"/>
                </a:cubicBezTo>
                <a:lnTo>
                  <a:pt x="680357" y="166688"/>
                </a:lnTo>
                <a:cubicBezTo>
                  <a:pt x="680357" y="153591"/>
                  <a:pt x="668111" y="142875"/>
                  <a:pt x="653143" y="142875"/>
                </a:cubicBezTo>
                <a:lnTo>
                  <a:pt x="598714" y="142875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4191000" y="3302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Video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91000" y="3810000"/>
            <a:ext cx="2286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Editing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Effects &amp; Color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Rendering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0" y="2032000"/>
            <a:ext cx="2540000" cy="3048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47000" y="2349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62000" y="381000"/>
                </a:moveTo>
                <a:cubicBezTo>
                  <a:pt x="762000" y="382339"/>
                  <a:pt x="762000" y="383679"/>
                  <a:pt x="762000" y="385018"/>
                </a:cubicBezTo>
                <a:cubicBezTo>
                  <a:pt x="761405" y="439341"/>
                  <a:pt x="711994" y="476250"/>
                  <a:pt x="657671" y="476250"/>
                </a:cubicBezTo>
                <a:lnTo>
                  <a:pt x="511969" y="476250"/>
                </a:lnTo>
                <a:cubicBezTo>
                  <a:pt x="472529" y="476250"/>
                  <a:pt x="440531" y="508248"/>
                  <a:pt x="440531" y="547687"/>
                </a:cubicBezTo>
                <a:cubicBezTo>
                  <a:pt x="440531" y="552748"/>
                  <a:pt x="441127" y="557659"/>
                  <a:pt x="442020" y="562421"/>
                </a:cubicBezTo>
                <a:cubicBezTo>
                  <a:pt x="445145" y="577602"/>
                  <a:pt x="451693" y="592187"/>
                  <a:pt x="458093" y="606921"/>
                </a:cubicBezTo>
                <a:cubicBezTo>
                  <a:pt x="467171" y="627459"/>
                  <a:pt x="476101" y="647849"/>
                  <a:pt x="476101" y="669429"/>
                </a:cubicBezTo>
                <a:cubicBezTo>
                  <a:pt x="476101" y="716756"/>
                  <a:pt x="443954" y="759768"/>
                  <a:pt x="396627" y="761702"/>
                </a:cubicBezTo>
                <a:cubicBezTo>
                  <a:pt x="391418" y="761851"/>
                  <a:pt x="386209" y="762000"/>
                  <a:pt x="380851" y="762000"/>
                </a:cubicBezTo>
                <a:cubicBezTo>
                  <a:pt x="170408" y="762000"/>
                  <a:pt x="-149" y="591443"/>
                  <a:pt x="-149" y="381000"/>
                </a:cubicBezTo>
                <a:cubicBezTo>
                  <a:pt x="-149" y="170557"/>
                  <a:pt x="170557" y="0"/>
                  <a:pt x="381000" y="0"/>
                </a:cubicBezTo>
                <a:cubicBezTo>
                  <a:pt x="591443" y="0"/>
                  <a:pt x="762000" y="170557"/>
                  <a:pt x="762000" y="381000"/>
                </a:cubicBezTo>
                <a:close/>
                <a:moveTo>
                  <a:pt x="190500" y="428625"/>
                </a:moveTo>
                <a:cubicBezTo>
                  <a:pt x="190500" y="402340"/>
                  <a:pt x="169160" y="381000"/>
                  <a:pt x="142875" y="381000"/>
                </a:cubicBezTo>
                <a:cubicBezTo>
                  <a:pt x="116590" y="381000"/>
                  <a:pt x="95250" y="402340"/>
                  <a:pt x="95250" y="428625"/>
                </a:cubicBezTo>
                <a:cubicBezTo>
                  <a:pt x="95250" y="454910"/>
                  <a:pt x="116590" y="476250"/>
                  <a:pt x="142875" y="476250"/>
                </a:cubicBezTo>
                <a:cubicBezTo>
                  <a:pt x="169160" y="476250"/>
                  <a:pt x="190500" y="454910"/>
                  <a:pt x="190500" y="428625"/>
                </a:cubicBezTo>
                <a:close/>
                <a:moveTo>
                  <a:pt x="190500" y="285750"/>
                </a:moveTo>
                <a:cubicBezTo>
                  <a:pt x="216785" y="285750"/>
                  <a:pt x="238125" y="264410"/>
                  <a:pt x="238125" y="238125"/>
                </a:cubicBezTo>
                <a:cubicBezTo>
                  <a:pt x="238125" y="211840"/>
                  <a:pt x="216785" y="190500"/>
                  <a:pt x="190500" y="190500"/>
                </a:cubicBezTo>
                <a:cubicBezTo>
                  <a:pt x="164215" y="190500"/>
                  <a:pt x="142875" y="211840"/>
                  <a:pt x="142875" y="238125"/>
                </a:cubicBezTo>
                <a:cubicBezTo>
                  <a:pt x="142875" y="264410"/>
                  <a:pt x="164215" y="285750"/>
                  <a:pt x="190500" y="285750"/>
                </a:cubicBezTo>
                <a:close/>
                <a:moveTo>
                  <a:pt x="428625" y="142875"/>
                </a:moveTo>
                <a:cubicBezTo>
                  <a:pt x="428625" y="116590"/>
                  <a:pt x="407285" y="95250"/>
                  <a:pt x="381000" y="95250"/>
                </a:cubicBezTo>
                <a:cubicBezTo>
                  <a:pt x="354715" y="95250"/>
                  <a:pt x="333375" y="116590"/>
                  <a:pt x="333375" y="142875"/>
                </a:cubicBezTo>
                <a:cubicBezTo>
                  <a:pt x="333375" y="169160"/>
                  <a:pt x="354715" y="190500"/>
                  <a:pt x="381000" y="190500"/>
                </a:cubicBezTo>
                <a:cubicBezTo>
                  <a:pt x="407285" y="190500"/>
                  <a:pt x="428625" y="169160"/>
                  <a:pt x="428625" y="142875"/>
                </a:cubicBezTo>
                <a:close/>
                <a:moveTo>
                  <a:pt x="571500" y="285750"/>
                </a:moveTo>
                <a:cubicBezTo>
                  <a:pt x="597785" y="285750"/>
                  <a:pt x="619125" y="264410"/>
                  <a:pt x="619125" y="238125"/>
                </a:cubicBezTo>
                <a:cubicBezTo>
                  <a:pt x="619125" y="211840"/>
                  <a:pt x="597785" y="190500"/>
                  <a:pt x="571500" y="190500"/>
                </a:cubicBezTo>
                <a:cubicBezTo>
                  <a:pt x="545215" y="190500"/>
                  <a:pt x="523875" y="211840"/>
                  <a:pt x="523875" y="238125"/>
                </a:cubicBezTo>
                <a:cubicBezTo>
                  <a:pt x="523875" y="264410"/>
                  <a:pt x="545215" y="285750"/>
                  <a:pt x="571500" y="2857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6985000" y="3302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Graphics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85000" y="3810000"/>
            <a:ext cx="2286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 Editing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UI/UX Design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Illustration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52000" y="2032000"/>
            <a:ext cx="2540000" cy="3048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41000" y="2349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533400" y="95250"/>
                </a:moveTo>
                <a:cubicBezTo>
                  <a:pt x="659606" y="95250"/>
                  <a:pt x="762000" y="223242"/>
                  <a:pt x="762000" y="381000"/>
                </a:cubicBezTo>
                <a:cubicBezTo>
                  <a:pt x="762000" y="538758"/>
                  <a:pt x="659606" y="666750"/>
                  <a:pt x="533400" y="666750"/>
                </a:cubicBezTo>
                <a:lnTo>
                  <a:pt x="228600" y="666750"/>
                </a:lnTo>
                <a:cubicBezTo>
                  <a:pt x="102394" y="666750"/>
                  <a:pt x="0" y="538758"/>
                  <a:pt x="0" y="381000"/>
                </a:cubicBezTo>
                <a:cubicBezTo>
                  <a:pt x="0" y="223242"/>
                  <a:pt x="102394" y="95250"/>
                  <a:pt x="228600" y="95250"/>
                </a:cubicBezTo>
                <a:lnTo>
                  <a:pt x="533400" y="95250"/>
                </a:lnTo>
                <a:close/>
                <a:moveTo>
                  <a:pt x="228600" y="261938"/>
                </a:moveTo>
                <a:cubicBezTo>
                  <a:pt x="212765" y="261938"/>
                  <a:pt x="200025" y="277862"/>
                  <a:pt x="200025" y="297656"/>
                </a:cubicBezTo>
                <a:lnTo>
                  <a:pt x="200025" y="345281"/>
                </a:lnTo>
                <a:lnTo>
                  <a:pt x="161925" y="345281"/>
                </a:lnTo>
                <a:cubicBezTo>
                  <a:pt x="146090" y="345281"/>
                  <a:pt x="133350" y="361206"/>
                  <a:pt x="133350" y="381000"/>
                </a:cubicBezTo>
                <a:cubicBezTo>
                  <a:pt x="133350" y="400794"/>
                  <a:pt x="146090" y="416719"/>
                  <a:pt x="161925" y="416719"/>
                </a:cubicBezTo>
                <a:lnTo>
                  <a:pt x="200025" y="416719"/>
                </a:lnTo>
                <a:lnTo>
                  <a:pt x="200025" y="464344"/>
                </a:lnTo>
                <a:cubicBezTo>
                  <a:pt x="200025" y="484138"/>
                  <a:pt x="212765" y="500063"/>
                  <a:pt x="228600" y="500063"/>
                </a:cubicBezTo>
                <a:cubicBezTo>
                  <a:pt x="244435" y="500063"/>
                  <a:pt x="257175" y="484138"/>
                  <a:pt x="257175" y="464344"/>
                </a:cubicBezTo>
                <a:lnTo>
                  <a:pt x="257175" y="416719"/>
                </a:lnTo>
                <a:lnTo>
                  <a:pt x="295275" y="416719"/>
                </a:lnTo>
                <a:cubicBezTo>
                  <a:pt x="311110" y="416719"/>
                  <a:pt x="323850" y="400794"/>
                  <a:pt x="323850" y="381000"/>
                </a:cubicBezTo>
                <a:cubicBezTo>
                  <a:pt x="323850" y="361206"/>
                  <a:pt x="311110" y="345281"/>
                  <a:pt x="295275" y="345281"/>
                </a:cubicBezTo>
                <a:lnTo>
                  <a:pt x="257175" y="345281"/>
                </a:lnTo>
                <a:lnTo>
                  <a:pt x="257175" y="297656"/>
                </a:lnTo>
                <a:cubicBezTo>
                  <a:pt x="257175" y="277862"/>
                  <a:pt x="244435" y="261938"/>
                  <a:pt x="228600" y="261938"/>
                </a:cubicBezTo>
                <a:close/>
                <a:moveTo>
                  <a:pt x="514350" y="404813"/>
                </a:moveTo>
                <a:cubicBezTo>
                  <a:pt x="493322" y="404813"/>
                  <a:pt x="476250" y="426153"/>
                  <a:pt x="476250" y="452438"/>
                </a:cubicBezTo>
                <a:cubicBezTo>
                  <a:pt x="476250" y="478722"/>
                  <a:pt x="493322" y="500063"/>
                  <a:pt x="514350" y="500063"/>
                </a:cubicBezTo>
                <a:cubicBezTo>
                  <a:pt x="535378" y="500063"/>
                  <a:pt x="552450" y="478722"/>
                  <a:pt x="552450" y="452438"/>
                </a:cubicBezTo>
                <a:cubicBezTo>
                  <a:pt x="552450" y="426153"/>
                  <a:pt x="535378" y="404813"/>
                  <a:pt x="514350" y="404813"/>
                </a:cubicBezTo>
                <a:close/>
                <a:moveTo>
                  <a:pt x="590550" y="261938"/>
                </a:moveTo>
                <a:cubicBezTo>
                  <a:pt x="569522" y="261938"/>
                  <a:pt x="552450" y="283278"/>
                  <a:pt x="552450" y="309563"/>
                </a:cubicBezTo>
                <a:cubicBezTo>
                  <a:pt x="552450" y="335847"/>
                  <a:pt x="569522" y="357188"/>
                  <a:pt x="590550" y="357188"/>
                </a:cubicBezTo>
                <a:cubicBezTo>
                  <a:pt x="611578" y="357188"/>
                  <a:pt x="628650" y="335847"/>
                  <a:pt x="628650" y="309563"/>
                </a:cubicBezTo>
                <a:cubicBezTo>
                  <a:pt x="628650" y="283278"/>
                  <a:pt x="611578" y="261938"/>
                  <a:pt x="590550" y="261938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9779000" y="3302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Interactive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779000" y="3810000"/>
            <a:ext cx="2286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Programming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Animation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Game Dev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446000" y="2032000"/>
            <a:ext cx="2540000" cy="3048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13335000" y="2349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46025" y="7739"/>
                </a:moveTo>
                <a:cubicBezTo>
                  <a:pt x="368201" y="-2530"/>
                  <a:pt x="393799" y="-2530"/>
                  <a:pt x="415975" y="7739"/>
                </a:cubicBezTo>
                <a:lnTo>
                  <a:pt x="741313" y="158055"/>
                </a:lnTo>
                <a:cubicBezTo>
                  <a:pt x="753963" y="163860"/>
                  <a:pt x="762000" y="176510"/>
                  <a:pt x="762000" y="190500"/>
                </a:cubicBezTo>
                <a:cubicBezTo>
                  <a:pt x="762000" y="204490"/>
                  <a:pt x="753963" y="217140"/>
                  <a:pt x="741313" y="222945"/>
                </a:cubicBezTo>
                <a:lnTo>
                  <a:pt x="415975" y="373261"/>
                </a:lnTo>
                <a:cubicBezTo>
                  <a:pt x="393799" y="383530"/>
                  <a:pt x="368201" y="383530"/>
                  <a:pt x="346025" y="373261"/>
                </a:cubicBezTo>
                <a:lnTo>
                  <a:pt x="20687" y="222945"/>
                </a:lnTo>
                <a:cubicBezTo>
                  <a:pt x="8037" y="216991"/>
                  <a:pt x="0" y="204341"/>
                  <a:pt x="0" y="190500"/>
                </a:cubicBezTo>
                <a:cubicBezTo>
                  <a:pt x="0" y="176659"/>
                  <a:pt x="8037" y="163860"/>
                  <a:pt x="20687" y="158055"/>
                </a:cubicBezTo>
                <a:lnTo>
                  <a:pt x="346025" y="7739"/>
                </a:lnTo>
                <a:close/>
                <a:moveTo>
                  <a:pt x="71586" y="325041"/>
                </a:moveTo>
                <a:lnTo>
                  <a:pt x="316111" y="438001"/>
                </a:lnTo>
                <a:cubicBezTo>
                  <a:pt x="357336" y="457051"/>
                  <a:pt x="404813" y="457051"/>
                  <a:pt x="446038" y="438001"/>
                </a:cubicBezTo>
                <a:lnTo>
                  <a:pt x="690563" y="325041"/>
                </a:lnTo>
                <a:lnTo>
                  <a:pt x="741313" y="348555"/>
                </a:lnTo>
                <a:cubicBezTo>
                  <a:pt x="753963" y="354360"/>
                  <a:pt x="762000" y="367010"/>
                  <a:pt x="762000" y="381000"/>
                </a:cubicBezTo>
                <a:cubicBezTo>
                  <a:pt x="762000" y="394990"/>
                  <a:pt x="753963" y="407640"/>
                  <a:pt x="741313" y="413445"/>
                </a:cubicBezTo>
                <a:lnTo>
                  <a:pt x="415975" y="563761"/>
                </a:lnTo>
                <a:cubicBezTo>
                  <a:pt x="393799" y="574030"/>
                  <a:pt x="368201" y="574030"/>
                  <a:pt x="346025" y="563761"/>
                </a:cubicBezTo>
                <a:lnTo>
                  <a:pt x="20687" y="413445"/>
                </a:lnTo>
                <a:cubicBezTo>
                  <a:pt x="8037" y="407491"/>
                  <a:pt x="0" y="394841"/>
                  <a:pt x="0" y="381000"/>
                </a:cubicBezTo>
                <a:cubicBezTo>
                  <a:pt x="0" y="367159"/>
                  <a:pt x="8037" y="354360"/>
                  <a:pt x="20687" y="348555"/>
                </a:cubicBezTo>
                <a:lnTo>
                  <a:pt x="71438" y="325041"/>
                </a:lnTo>
                <a:close/>
                <a:moveTo>
                  <a:pt x="20687" y="539055"/>
                </a:moveTo>
                <a:lnTo>
                  <a:pt x="71438" y="515541"/>
                </a:lnTo>
                <a:lnTo>
                  <a:pt x="315962" y="628501"/>
                </a:lnTo>
                <a:cubicBezTo>
                  <a:pt x="357188" y="647551"/>
                  <a:pt x="404664" y="647551"/>
                  <a:pt x="445889" y="628501"/>
                </a:cubicBezTo>
                <a:lnTo>
                  <a:pt x="690414" y="515541"/>
                </a:lnTo>
                <a:lnTo>
                  <a:pt x="741164" y="539055"/>
                </a:lnTo>
                <a:cubicBezTo>
                  <a:pt x="753814" y="544860"/>
                  <a:pt x="761851" y="557510"/>
                  <a:pt x="761851" y="571500"/>
                </a:cubicBezTo>
                <a:cubicBezTo>
                  <a:pt x="761851" y="585490"/>
                  <a:pt x="753814" y="598140"/>
                  <a:pt x="741164" y="603945"/>
                </a:cubicBezTo>
                <a:lnTo>
                  <a:pt x="415826" y="754261"/>
                </a:lnTo>
                <a:cubicBezTo>
                  <a:pt x="393650" y="764530"/>
                  <a:pt x="368052" y="764530"/>
                  <a:pt x="345877" y="754261"/>
                </a:cubicBezTo>
                <a:lnTo>
                  <a:pt x="20687" y="603945"/>
                </a:lnTo>
                <a:cubicBezTo>
                  <a:pt x="8037" y="597991"/>
                  <a:pt x="0" y="585341"/>
                  <a:pt x="0" y="571500"/>
                </a:cubicBezTo>
                <a:cubicBezTo>
                  <a:pt x="0" y="557659"/>
                  <a:pt x="8037" y="544860"/>
                  <a:pt x="20687" y="53905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2573000" y="3302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573000" y="3810000"/>
            <a:ext cx="2286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Workflow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Asset Mgmt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0000" y="5397500"/>
            <a:ext cx="13716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 Examples by Category: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Audacity, Adobe Audition, Logic Pro, Descript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Video: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Premiere Pro, CapCut, DaVinci Resolve, Final Cut Pro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8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Graphics: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Photoshop, Figma, Illustrator, Canva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Interactive: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Scratch, Unity, Blender, After Effects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8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Integration:</a:t>
            </a:r>
            <a:pPr algn="l">
              <a:lnSpc>
                <a:spcPct val="16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Zapier, Make, Frame.io, Dropbox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Evolution of Multimedia Tools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4572000"/>
            <a:ext cx="13716000" cy="50800"/>
          </a:xfrm>
          <a:prstGeom prst="rect">
            <a:avLst/>
          </a:prstGeom>
          <a:solidFill>
            <a:srgbClr val="2E5E8A"/>
          </a:solidFill>
          <a:ln/>
        </p:spPr>
      </p:sp>
      <p:sp>
        <p:nvSpPr>
          <p:cNvPr id="5" name="Shape 3"/>
          <p:cNvSpPr/>
          <p:nvPr/>
        </p:nvSpPr>
        <p:spPr>
          <a:xfrm>
            <a:off x="1778000" y="4419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70000" y="4953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1990s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16000" y="2286000"/>
            <a:ext cx="2286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79500" y="2413000"/>
            <a:ext cx="2032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Desktop Era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Photoshop 1.0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Premiere launch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Pro-only tools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26000" y="4419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8000" y="4953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2000s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64000" y="5588000"/>
            <a:ext cx="2286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64000" y="5651500"/>
            <a:ext cx="2159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Consumer Era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Windows Movie Maker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Audacity launch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YouTube 2005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74000" y="4419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6000" y="4953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2010s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12000" y="2286000"/>
            <a:ext cx="2286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12000" y="2349500"/>
            <a:ext cx="2159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Cloud &amp; Mobile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Figma (2012)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CapCut / TikTok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Browser-based tools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922000" y="4419600"/>
            <a:ext cx="355600" cy="355600"/>
          </a:xfrm>
          <a:prstGeom prst="ellipse">
            <a:avLst/>
          </a:prstGeom>
          <a:solidFill>
            <a:srgbClr val="2E5E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14000" y="4953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2020s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160000" y="5588000"/>
            <a:ext cx="2540000" cy="177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0" name="Text 18"/>
          <p:cNvSpPr/>
          <p:nvPr/>
        </p:nvSpPr>
        <p:spPr>
          <a:xfrm>
            <a:off x="10223500" y="5651500"/>
            <a:ext cx="241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AI-Powered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Generative AI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Auto-editing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Democratized creation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778000" y="1778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professional-only suites to democratized creation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Industry Trends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3048000" cy="2286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70000" y="2286000"/>
            <a:ext cx="304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$12.5B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270000" y="3302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Market (2025)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70000" y="37465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↑ 8.3% CAGR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2032000"/>
            <a:ext cx="3048000" cy="2286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286000"/>
            <a:ext cx="304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78%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0" y="3302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AI Tools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37465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Creative Professionals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74000" y="2032000"/>
            <a:ext cx="3048000" cy="2286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74000" y="2286000"/>
            <a:ext cx="304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200M+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7874000" y="3302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CapCut MAU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74000" y="37465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Mobile-First Editing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176000" y="2032000"/>
            <a:ext cx="3048000" cy="2286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Text 15"/>
          <p:cNvSpPr/>
          <p:nvPr/>
        </p:nvSpPr>
        <p:spPr>
          <a:xfrm>
            <a:off x="11176000" y="2286000"/>
            <a:ext cx="304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Free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11176000" y="3302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Quality Alternatives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76000" y="37465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Enterprise Adoption Rising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0000" y="4826000"/>
            <a:ext cx="13716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78000" y="508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Trends Shaping the Industry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78000" y="5588000"/>
            <a:ext cx="1270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AI Integration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Auto editing, generative content, intelligent assistance now standard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Cloud Collaboration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Real-time teamwork, browser workflows, seamless sharing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Mobile-First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Pro-grade editing on smartphones and tablets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Open Source Rise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Enterprise adoption of free alternatives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Revolution in Multimedia Creation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032000"/>
            <a:ext cx="6604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Capabilities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Video Editing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Scene detection, smart cuts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Cloning &amp; Synthesis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Realistic text-to-speech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 Removal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Instant green screen effect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Generative Fill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AI-powered image completion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Text-to-Image/Video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Create from descriptions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Auto-Captions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Real-time transcription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Leading AI Tools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Adobe Firefly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·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Runway ML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·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·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CapCut AI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82000" y="2032000"/>
            <a:ext cx="6604000" cy="2540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8636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636000" y="33020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Reduction in production time with AI-assisted workflows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382000" y="4953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763000" y="5207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 &amp; Considerations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763000" y="5715000"/>
            <a:ext cx="584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Faster content creation cycles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Lower barrier to entry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Consistent quality output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⚠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Creative authenticity concerns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⚠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Copyright &amp; ownership issues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Cloud-Based &amp; Collaborative Workflows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19050"/>
                </a:moveTo>
                <a:cubicBezTo>
                  <a:pt x="359473" y="19050"/>
                  <a:pt x="403860" y="74534"/>
                  <a:pt x="403860" y="142875"/>
                </a:cubicBezTo>
                <a:cubicBezTo>
                  <a:pt x="403860" y="211216"/>
                  <a:pt x="359473" y="266700"/>
                  <a:pt x="304800" y="266700"/>
                </a:cubicBezTo>
                <a:cubicBezTo>
                  <a:pt x="250127" y="266700"/>
                  <a:pt x="205740" y="211216"/>
                  <a:pt x="205740" y="142875"/>
                </a:cubicBezTo>
                <a:cubicBezTo>
                  <a:pt x="205740" y="74534"/>
                  <a:pt x="250127" y="19050"/>
                  <a:pt x="304800" y="19050"/>
                </a:cubicBezTo>
                <a:close/>
                <a:moveTo>
                  <a:pt x="91440" y="104775"/>
                </a:moveTo>
                <a:cubicBezTo>
                  <a:pt x="129290" y="104775"/>
                  <a:pt x="160020" y="143187"/>
                  <a:pt x="160020" y="190500"/>
                </a:cubicBezTo>
                <a:cubicBezTo>
                  <a:pt x="160020" y="237813"/>
                  <a:pt x="129290" y="276225"/>
                  <a:pt x="91440" y="276225"/>
                </a:cubicBezTo>
                <a:cubicBezTo>
                  <a:pt x="53590" y="276225"/>
                  <a:pt x="22860" y="237813"/>
                  <a:pt x="22860" y="190500"/>
                </a:cubicBezTo>
                <a:cubicBezTo>
                  <a:pt x="22860" y="143187"/>
                  <a:pt x="53590" y="104775"/>
                  <a:pt x="91440" y="104775"/>
                </a:cubicBezTo>
                <a:close/>
                <a:moveTo>
                  <a:pt x="0" y="495300"/>
                </a:moveTo>
                <a:cubicBezTo>
                  <a:pt x="0" y="411123"/>
                  <a:pt x="54578" y="342900"/>
                  <a:pt x="121920" y="342900"/>
                </a:cubicBezTo>
                <a:cubicBezTo>
                  <a:pt x="134112" y="342900"/>
                  <a:pt x="145923" y="345162"/>
                  <a:pt x="157067" y="349329"/>
                </a:cubicBezTo>
                <a:cubicBezTo>
                  <a:pt x="125730" y="393144"/>
                  <a:pt x="106680" y="451009"/>
                  <a:pt x="106680" y="514350"/>
                </a:cubicBezTo>
                <a:lnTo>
                  <a:pt x="106680" y="533400"/>
                </a:lnTo>
                <a:cubicBezTo>
                  <a:pt x="106680" y="546973"/>
                  <a:pt x="108966" y="559832"/>
                  <a:pt x="113062" y="571500"/>
                </a:cubicBezTo>
                <a:lnTo>
                  <a:pt x="30480" y="571500"/>
                </a:lnTo>
                <a:cubicBezTo>
                  <a:pt x="13621" y="571500"/>
                  <a:pt x="0" y="554474"/>
                  <a:pt x="0" y="533400"/>
                </a:cubicBezTo>
                <a:lnTo>
                  <a:pt x="0" y="495300"/>
                </a:lnTo>
                <a:close/>
                <a:moveTo>
                  <a:pt x="496538" y="571500"/>
                </a:moveTo>
                <a:cubicBezTo>
                  <a:pt x="500634" y="559832"/>
                  <a:pt x="502920" y="546973"/>
                  <a:pt x="502920" y="533400"/>
                </a:cubicBezTo>
                <a:lnTo>
                  <a:pt x="502920" y="514350"/>
                </a:lnTo>
                <a:cubicBezTo>
                  <a:pt x="502920" y="451009"/>
                  <a:pt x="483870" y="393144"/>
                  <a:pt x="452533" y="349329"/>
                </a:cubicBezTo>
                <a:cubicBezTo>
                  <a:pt x="463677" y="345162"/>
                  <a:pt x="475488" y="342900"/>
                  <a:pt x="487680" y="342900"/>
                </a:cubicBezTo>
                <a:cubicBezTo>
                  <a:pt x="555022" y="342900"/>
                  <a:pt x="609600" y="411123"/>
                  <a:pt x="609600" y="495300"/>
                </a:cubicBezTo>
                <a:lnTo>
                  <a:pt x="609600" y="533400"/>
                </a:lnTo>
                <a:cubicBezTo>
                  <a:pt x="609600" y="554474"/>
                  <a:pt x="595979" y="571500"/>
                  <a:pt x="579120" y="571500"/>
                </a:cubicBezTo>
                <a:lnTo>
                  <a:pt x="496538" y="571500"/>
                </a:lnTo>
                <a:close/>
                <a:moveTo>
                  <a:pt x="449580" y="190500"/>
                </a:moveTo>
                <a:cubicBezTo>
                  <a:pt x="449580" y="143187"/>
                  <a:pt x="480310" y="104775"/>
                  <a:pt x="518160" y="104775"/>
                </a:cubicBezTo>
                <a:cubicBezTo>
                  <a:pt x="556010" y="104775"/>
                  <a:pt x="586740" y="143187"/>
                  <a:pt x="586740" y="190500"/>
                </a:cubicBezTo>
                <a:cubicBezTo>
                  <a:pt x="586740" y="237813"/>
                  <a:pt x="556010" y="276225"/>
                  <a:pt x="518160" y="276225"/>
                </a:cubicBezTo>
                <a:cubicBezTo>
                  <a:pt x="480310" y="276225"/>
                  <a:pt x="449580" y="237813"/>
                  <a:pt x="449580" y="190500"/>
                </a:cubicBezTo>
                <a:close/>
                <a:moveTo>
                  <a:pt x="152400" y="514350"/>
                </a:moveTo>
                <a:cubicBezTo>
                  <a:pt x="152400" y="409099"/>
                  <a:pt x="220599" y="323850"/>
                  <a:pt x="304800" y="323850"/>
                </a:cubicBezTo>
                <a:cubicBezTo>
                  <a:pt x="389001" y="323850"/>
                  <a:pt x="457200" y="409099"/>
                  <a:pt x="457200" y="514350"/>
                </a:cubicBezTo>
                <a:lnTo>
                  <a:pt x="457200" y="533400"/>
                </a:lnTo>
                <a:cubicBezTo>
                  <a:pt x="457200" y="554474"/>
                  <a:pt x="443579" y="571500"/>
                  <a:pt x="426720" y="571500"/>
                </a:cubicBezTo>
                <a:lnTo>
                  <a:pt x="182880" y="571500"/>
                </a:lnTo>
                <a:cubicBezTo>
                  <a:pt x="166021" y="571500"/>
                  <a:pt x="152400" y="554474"/>
                  <a:pt x="152400" y="533400"/>
                </a:cubicBezTo>
                <a:lnTo>
                  <a:pt x="152400" y="51435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3020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Collaboration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3937000"/>
            <a:ext cx="3556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users editing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simultaneously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Figma set the standard — now expected across all tools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Comments, annotations, and version history built-in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470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400050"/>
                </a:moveTo>
                <a:cubicBezTo>
                  <a:pt x="0" y="494705"/>
                  <a:pt x="68263" y="571500"/>
                  <a:pt x="152400" y="571500"/>
                </a:cubicBezTo>
                <a:lnTo>
                  <a:pt x="474133" y="571500"/>
                </a:lnTo>
                <a:cubicBezTo>
                  <a:pt x="548958" y="571500"/>
                  <a:pt x="609600" y="503277"/>
                  <a:pt x="609600" y="419100"/>
                </a:cubicBezTo>
                <a:cubicBezTo>
                  <a:pt x="609600" y="357664"/>
                  <a:pt x="577321" y="304681"/>
                  <a:pt x="530754" y="280630"/>
                </a:cubicBezTo>
                <a:cubicBezTo>
                  <a:pt x="537845" y="265033"/>
                  <a:pt x="541867" y="247293"/>
                  <a:pt x="541867" y="228600"/>
                </a:cubicBezTo>
                <a:cubicBezTo>
                  <a:pt x="541867" y="165497"/>
                  <a:pt x="496358" y="114300"/>
                  <a:pt x="440267" y="114300"/>
                </a:cubicBezTo>
                <a:cubicBezTo>
                  <a:pt x="421534" y="114300"/>
                  <a:pt x="404072" y="120015"/>
                  <a:pt x="389043" y="129897"/>
                </a:cubicBezTo>
                <a:cubicBezTo>
                  <a:pt x="363538" y="75367"/>
                  <a:pt x="312632" y="38100"/>
                  <a:pt x="254000" y="38100"/>
                </a:cubicBezTo>
                <a:cubicBezTo>
                  <a:pt x="169863" y="38100"/>
                  <a:pt x="101600" y="114895"/>
                  <a:pt x="101600" y="209550"/>
                </a:cubicBezTo>
                <a:cubicBezTo>
                  <a:pt x="101600" y="219075"/>
                  <a:pt x="102341" y="228481"/>
                  <a:pt x="103611" y="237530"/>
                </a:cubicBezTo>
                <a:cubicBezTo>
                  <a:pt x="43392" y="260390"/>
                  <a:pt x="0" y="324564"/>
                  <a:pt x="0" y="4000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350000" y="33020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Cloud Rendering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50000" y="3937000"/>
            <a:ext cx="3556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hardware requirements with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processing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 complex projects on any device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backups and disaster recovery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558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4460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10277" y="0"/>
                  <a:pt x="315754" y="1191"/>
                  <a:pt x="320754" y="3453"/>
                </a:cubicBezTo>
                <a:lnTo>
                  <a:pt x="545068" y="98584"/>
                </a:lnTo>
                <a:cubicBezTo>
                  <a:pt x="571262" y="109657"/>
                  <a:pt x="590788" y="135493"/>
                  <a:pt x="590669" y="166688"/>
                </a:cubicBezTo>
                <a:cubicBezTo>
                  <a:pt x="590074" y="284797"/>
                  <a:pt x="541496" y="500896"/>
                  <a:pt x="336352" y="599123"/>
                </a:cubicBezTo>
                <a:cubicBezTo>
                  <a:pt x="316468" y="608647"/>
                  <a:pt x="293370" y="608647"/>
                  <a:pt x="273487" y="599123"/>
                </a:cubicBezTo>
                <a:cubicBezTo>
                  <a:pt x="68223" y="500896"/>
                  <a:pt x="19764" y="284797"/>
                  <a:pt x="19169" y="166688"/>
                </a:cubicBezTo>
                <a:cubicBezTo>
                  <a:pt x="19050" y="135493"/>
                  <a:pt x="38576" y="109657"/>
                  <a:pt x="64770" y="98584"/>
                </a:cubicBezTo>
                <a:lnTo>
                  <a:pt x="288965" y="3453"/>
                </a:lnTo>
                <a:cubicBezTo>
                  <a:pt x="293965" y="1191"/>
                  <a:pt x="299323" y="0"/>
                  <a:pt x="304800" y="0"/>
                </a:cubicBezTo>
                <a:close/>
                <a:moveTo>
                  <a:pt x="304800" y="79534"/>
                </a:moveTo>
                <a:lnTo>
                  <a:pt x="304800" y="529709"/>
                </a:lnTo>
                <a:cubicBezTo>
                  <a:pt x="469106" y="450175"/>
                  <a:pt x="513278" y="273963"/>
                  <a:pt x="514350" y="168473"/>
                </a:cubicBezTo>
                <a:lnTo>
                  <a:pt x="304800" y="79653"/>
                </a:lnTo>
                <a:lnTo>
                  <a:pt x="304800" y="7965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33020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Security Concerns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049000" y="3937000"/>
            <a:ext cx="3556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sovereignty remains a key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enterprise concern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Version control and asset sharing streamline workflows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Browser-based tools lower the barrier to entry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2794000"/>
            <a:ext cx="1066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of Multimedia Tools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826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dive into Audacity, Movie Maker, Scratch, Premiere Pro, CapCut, Photoshop, and Figma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Editing with Audacity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2032000" cy="406400"/>
          </a:xfrm>
          <a:prstGeom prst="roundRect">
            <a:avLst>
              <a:gd name="adj" fmla="val 16000"/>
            </a:avLst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032000"/>
            <a:ext cx="203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FREE &amp; Open Source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70000" y="2667000"/>
            <a:ext cx="6858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Multi-track recording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Record and mix multiple sources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Noise reduction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Clean up recordings automatically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EQ &amp; Effects chain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Pro-grade audio processing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Spectrogram analysis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Visual frequency editing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Plugin support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VST, LV2, AU compatibility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Podcasts · Music · Voice-over · Audio restoration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MIDI support, basic UI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36000" y="2032000"/>
            <a:ext cx="6350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303000" y="2413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45143" y="444500"/>
                </a:moveTo>
                <a:cubicBezTo>
                  <a:pt x="145143" y="269081"/>
                  <a:pt x="307521" y="127000"/>
                  <a:pt x="508000" y="127000"/>
                </a:cubicBezTo>
                <a:cubicBezTo>
                  <a:pt x="708479" y="127000"/>
                  <a:pt x="870857" y="269081"/>
                  <a:pt x="870857" y="444500"/>
                </a:cubicBezTo>
                <a:lnTo>
                  <a:pt x="870857" y="518914"/>
                </a:lnTo>
                <a:cubicBezTo>
                  <a:pt x="848179" y="511969"/>
                  <a:pt x="823686" y="508000"/>
                  <a:pt x="798286" y="508000"/>
                </a:cubicBezTo>
                <a:lnTo>
                  <a:pt x="762000" y="508000"/>
                </a:lnTo>
                <a:cubicBezTo>
                  <a:pt x="701902" y="508000"/>
                  <a:pt x="653143" y="550664"/>
                  <a:pt x="653143" y="603250"/>
                </a:cubicBezTo>
                <a:lnTo>
                  <a:pt x="653143" y="857250"/>
                </a:lnTo>
                <a:cubicBezTo>
                  <a:pt x="653143" y="909836"/>
                  <a:pt x="701902" y="952500"/>
                  <a:pt x="762000" y="952500"/>
                </a:cubicBezTo>
                <a:lnTo>
                  <a:pt x="798286" y="952500"/>
                </a:lnTo>
                <a:cubicBezTo>
                  <a:pt x="918482" y="952500"/>
                  <a:pt x="1016000" y="867172"/>
                  <a:pt x="1016000" y="762000"/>
                </a:cubicBezTo>
                <a:lnTo>
                  <a:pt x="1016000" y="444500"/>
                </a:lnTo>
                <a:cubicBezTo>
                  <a:pt x="1016000" y="199033"/>
                  <a:pt x="788534" y="0"/>
                  <a:pt x="508000" y="0"/>
                </a:cubicBezTo>
                <a:cubicBezTo>
                  <a:pt x="227466" y="0"/>
                  <a:pt x="0" y="199033"/>
                  <a:pt x="0" y="444500"/>
                </a:cubicBezTo>
                <a:lnTo>
                  <a:pt x="0" y="762000"/>
                </a:lnTo>
                <a:cubicBezTo>
                  <a:pt x="0" y="867172"/>
                  <a:pt x="97518" y="952500"/>
                  <a:pt x="217714" y="952500"/>
                </a:cubicBezTo>
                <a:lnTo>
                  <a:pt x="254000" y="952500"/>
                </a:lnTo>
                <a:cubicBezTo>
                  <a:pt x="314098" y="952500"/>
                  <a:pt x="362857" y="909836"/>
                  <a:pt x="362857" y="857250"/>
                </a:cubicBezTo>
                <a:lnTo>
                  <a:pt x="362857" y="603250"/>
                </a:lnTo>
                <a:cubicBezTo>
                  <a:pt x="362857" y="550664"/>
                  <a:pt x="314098" y="508000"/>
                  <a:pt x="254000" y="508000"/>
                </a:cubicBezTo>
                <a:lnTo>
                  <a:pt x="217714" y="508000"/>
                </a:lnTo>
                <a:cubicBezTo>
                  <a:pt x="192314" y="508000"/>
                  <a:pt x="167821" y="511770"/>
                  <a:pt x="145143" y="518914"/>
                </a:cubicBezTo>
                <a:lnTo>
                  <a:pt x="145143" y="44450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0" y="36830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Audacity at a Glance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0" y="4318000"/>
            <a:ext cx="5334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Platform: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Windows, Mac, Linux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Completely Free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 Level: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Beginner to Intermediate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Community: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100M+ downloads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5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 Tip:</a:t>
            </a:r>
            <a:pPr algn="l">
              <a:lnSpc>
                <a:spcPct val="17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 the Noise Reduction effect with a profile sample for best results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Editing with Windows Movie Maker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1524000" cy="406400"/>
          </a:xfrm>
          <a:prstGeom prst="roundRect">
            <a:avLst>
              <a:gd name="adj" fmla="val 16000"/>
            </a:avLst>
          </a:prstGeom>
          <a:solidFill>
            <a:srgbClr val="6B9CBF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0320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LEGACY TOOL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70000" y="2667000"/>
            <a:ext cx="6858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Significance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Windows Movie Maker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introduced millions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video editing as a bundled free tool.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 (Legacy)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Timeline editing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Drag-and-drop simplicity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Transitions &amp; effects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Built-in visual options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Title overlays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Text and credit generation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 export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YouTube, DVD, email formats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Discontinued: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2017, replaced by Photos &amp; Clipchamp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36000" y="2032000"/>
            <a:ext cx="6350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303000" y="2413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889000" y="127000"/>
                </a:moveTo>
                <a:cubicBezTo>
                  <a:pt x="892969" y="127000"/>
                  <a:pt x="896739" y="127198"/>
                  <a:pt x="900509" y="127595"/>
                </a:cubicBezTo>
                <a:lnTo>
                  <a:pt x="710605" y="317500"/>
                </a:lnTo>
                <a:lnTo>
                  <a:pt x="845344" y="317500"/>
                </a:lnTo>
                <a:lnTo>
                  <a:pt x="988219" y="174625"/>
                </a:lnTo>
                <a:cubicBezTo>
                  <a:pt x="1005681" y="196453"/>
                  <a:pt x="1016000" y="224036"/>
                  <a:pt x="1016000" y="254000"/>
                </a:cubicBezTo>
                <a:lnTo>
                  <a:pt x="1016000" y="762000"/>
                </a:lnTo>
                <a:cubicBezTo>
                  <a:pt x="1016000" y="832048"/>
                  <a:pt x="959048" y="889000"/>
                  <a:pt x="889000" y="889000"/>
                </a:cubicBezTo>
                <a:lnTo>
                  <a:pt x="127000" y="889000"/>
                </a:lnTo>
                <a:cubicBezTo>
                  <a:pt x="56952" y="889000"/>
                  <a:pt x="0" y="832048"/>
                  <a:pt x="0" y="762000"/>
                </a:cubicBezTo>
                <a:lnTo>
                  <a:pt x="0" y="254000"/>
                </a:lnTo>
                <a:cubicBezTo>
                  <a:pt x="0" y="183952"/>
                  <a:pt x="56952" y="127000"/>
                  <a:pt x="127000" y="127000"/>
                </a:cubicBezTo>
                <a:lnTo>
                  <a:pt x="266105" y="127000"/>
                </a:lnTo>
                <a:lnTo>
                  <a:pt x="75605" y="317500"/>
                </a:lnTo>
                <a:lnTo>
                  <a:pt x="210344" y="317500"/>
                </a:lnTo>
                <a:lnTo>
                  <a:pt x="398859" y="128984"/>
                </a:lnTo>
                <a:lnTo>
                  <a:pt x="400844" y="127000"/>
                </a:lnTo>
                <a:lnTo>
                  <a:pt x="583605" y="127000"/>
                </a:lnTo>
                <a:lnTo>
                  <a:pt x="393105" y="317500"/>
                </a:lnTo>
                <a:lnTo>
                  <a:pt x="527844" y="317500"/>
                </a:lnTo>
                <a:lnTo>
                  <a:pt x="716359" y="128984"/>
                </a:lnTo>
                <a:lnTo>
                  <a:pt x="718344" y="127000"/>
                </a:lnTo>
                <a:lnTo>
                  <a:pt x="889198" y="127000"/>
                </a:lnTo>
                <a:close/>
              </a:path>
            </a:pathLst>
          </a:custGeom>
          <a:solidFill>
            <a:srgbClr val="6B9CB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0" y="36830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Legacy &amp; Impact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0" y="4318000"/>
            <a:ext cx="5334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Era: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2000-2017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Platform: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Windows only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Free (bundled)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Lesson:</a:t>
            </a:r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Showed massive demand for accessible video editing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Replacements:</a:t>
            </a:r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Clipchamp, CapCut, iMovie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 Video Editing — Premiere Pro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1778000" cy="406400"/>
          </a:xfrm>
          <a:prstGeom prst="roundRect">
            <a:avLst>
              <a:gd name="adj" fmla="val 16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0320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INDUSTRY STANDARD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70000" y="2667000"/>
            <a:ext cx="6858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Multi-cam editing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Sync and cut multiple angles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Lumetri Color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Professional color grading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mixing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Integrated audio workstation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 Effects integration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Motion graphics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Proxy workflow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Edit 8K on any hardware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Film · TV · Commercials · Professional content creators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36000" y="2032000"/>
            <a:ext cx="6350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303000" y="2413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190500"/>
                </a:moveTo>
                <a:cubicBezTo>
                  <a:pt x="0" y="120452"/>
                  <a:pt x="65088" y="63500"/>
                  <a:pt x="145143" y="63500"/>
                </a:cubicBezTo>
                <a:lnTo>
                  <a:pt x="870857" y="63500"/>
                </a:lnTo>
                <a:cubicBezTo>
                  <a:pt x="950913" y="63500"/>
                  <a:pt x="1016000" y="120452"/>
                  <a:pt x="1016000" y="190500"/>
                </a:cubicBezTo>
                <a:lnTo>
                  <a:pt x="1016000" y="825500"/>
                </a:lnTo>
                <a:cubicBezTo>
                  <a:pt x="1016000" y="895548"/>
                  <a:pt x="950913" y="952500"/>
                  <a:pt x="870857" y="952500"/>
                </a:cubicBezTo>
                <a:lnTo>
                  <a:pt x="145143" y="952500"/>
                </a:lnTo>
                <a:cubicBezTo>
                  <a:pt x="65088" y="952500"/>
                  <a:pt x="0" y="895548"/>
                  <a:pt x="0" y="825500"/>
                </a:cubicBezTo>
                <a:lnTo>
                  <a:pt x="0" y="190500"/>
                </a:lnTo>
                <a:close/>
                <a:moveTo>
                  <a:pt x="108857" y="730250"/>
                </a:moveTo>
                <a:lnTo>
                  <a:pt x="108857" y="793750"/>
                </a:lnTo>
                <a:cubicBezTo>
                  <a:pt x="108857" y="811213"/>
                  <a:pt x="125186" y="825500"/>
                  <a:pt x="145143" y="825500"/>
                </a:cubicBezTo>
                <a:lnTo>
                  <a:pt x="217714" y="825500"/>
                </a:lnTo>
                <a:cubicBezTo>
                  <a:pt x="237671" y="825500"/>
                  <a:pt x="254000" y="811213"/>
                  <a:pt x="254000" y="793750"/>
                </a:cubicBezTo>
                <a:lnTo>
                  <a:pt x="254000" y="730250"/>
                </a:lnTo>
                <a:cubicBezTo>
                  <a:pt x="254000" y="712788"/>
                  <a:pt x="237671" y="698500"/>
                  <a:pt x="217714" y="698500"/>
                </a:cubicBezTo>
                <a:lnTo>
                  <a:pt x="145143" y="698500"/>
                </a:lnTo>
                <a:cubicBezTo>
                  <a:pt x="125186" y="698500"/>
                  <a:pt x="108857" y="712788"/>
                  <a:pt x="108857" y="730250"/>
                </a:cubicBezTo>
                <a:close/>
                <a:moveTo>
                  <a:pt x="798286" y="698500"/>
                </a:moveTo>
                <a:cubicBezTo>
                  <a:pt x="778329" y="698500"/>
                  <a:pt x="762000" y="712788"/>
                  <a:pt x="762000" y="730250"/>
                </a:cubicBezTo>
                <a:lnTo>
                  <a:pt x="762000" y="793750"/>
                </a:lnTo>
                <a:cubicBezTo>
                  <a:pt x="762000" y="811213"/>
                  <a:pt x="778329" y="825500"/>
                  <a:pt x="798286" y="825500"/>
                </a:cubicBezTo>
                <a:lnTo>
                  <a:pt x="870857" y="825500"/>
                </a:lnTo>
                <a:cubicBezTo>
                  <a:pt x="890814" y="825500"/>
                  <a:pt x="907143" y="811213"/>
                  <a:pt x="907143" y="793750"/>
                </a:cubicBezTo>
                <a:lnTo>
                  <a:pt x="907143" y="730250"/>
                </a:lnTo>
                <a:cubicBezTo>
                  <a:pt x="907143" y="712788"/>
                  <a:pt x="890814" y="698500"/>
                  <a:pt x="870857" y="698500"/>
                </a:cubicBezTo>
                <a:lnTo>
                  <a:pt x="798286" y="698500"/>
                </a:lnTo>
                <a:close/>
                <a:moveTo>
                  <a:pt x="108857" y="476250"/>
                </a:moveTo>
                <a:lnTo>
                  <a:pt x="108857" y="539750"/>
                </a:lnTo>
                <a:cubicBezTo>
                  <a:pt x="108857" y="557213"/>
                  <a:pt x="125186" y="571500"/>
                  <a:pt x="145143" y="571500"/>
                </a:cubicBezTo>
                <a:lnTo>
                  <a:pt x="217714" y="571500"/>
                </a:lnTo>
                <a:cubicBezTo>
                  <a:pt x="237671" y="571500"/>
                  <a:pt x="254000" y="557213"/>
                  <a:pt x="254000" y="539750"/>
                </a:cubicBezTo>
                <a:lnTo>
                  <a:pt x="254000" y="476250"/>
                </a:lnTo>
                <a:cubicBezTo>
                  <a:pt x="254000" y="458787"/>
                  <a:pt x="237671" y="444500"/>
                  <a:pt x="217714" y="444500"/>
                </a:cubicBezTo>
                <a:lnTo>
                  <a:pt x="145143" y="444500"/>
                </a:lnTo>
                <a:cubicBezTo>
                  <a:pt x="125186" y="444500"/>
                  <a:pt x="108857" y="458787"/>
                  <a:pt x="108857" y="476250"/>
                </a:cubicBezTo>
                <a:close/>
                <a:moveTo>
                  <a:pt x="798286" y="444500"/>
                </a:moveTo>
                <a:cubicBezTo>
                  <a:pt x="778329" y="444500"/>
                  <a:pt x="762000" y="458787"/>
                  <a:pt x="762000" y="476250"/>
                </a:cubicBezTo>
                <a:lnTo>
                  <a:pt x="762000" y="539750"/>
                </a:lnTo>
                <a:cubicBezTo>
                  <a:pt x="762000" y="557213"/>
                  <a:pt x="778329" y="571500"/>
                  <a:pt x="798286" y="571500"/>
                </a:cubicBezTo>
                <a:lnTo>
                  <a:pt x="870857" y="571500"/>
                </a:lnTo>
                <a:cubicBezTo>
                  <a:pt x="890814" y="571500"/>
                  <a:pt x="907143" y="557213"/>
                  <a:pt x="907143" y="539750"/>
                </a:cubicBezTo>
                <a:lnTo>
                  <a:pt x="907143" y="476250"/>
                </a:lnTo>
                <a:cubicBezTo>
                  <a:pt x="907143" y="458787"/>
                  <a:pt x="890814" y="444500"/>
                  <a:pt x="870857" y="444500"/>
                </a:cubicBezTo>
                <a:lnTo>
                  <a:pt x="798286" y="444500"/>
                </a:lnTo>
                <a:close/>
                <a:moveTo>
                  <a:pt x="108857" y="222250"/>
                </a:moveTo>
                <a:lnTo>
                  <a:pt x="108857" y="285750"/>
                </a:lnTo>
                <a:cubicBezTo>
                  <a:pt x="108857" y="303213"/>
                  <a:pt x="125186" y="317500"/>
                  <a:pt x="145143" y="317500"/>
                </a:cubicBezTo>
                <a:lnTo>
                  <a:pt x="217714" y="317500"/>
                </a:lnTo>
                <a:cubicBezTo>
                  <a:pt x="237671" y="317500"/>
                  <a:pt x="254000" y="303213"/>
                  <a:pt x="254000" y="285750"/>
                </a:cubicBezTo>
                <a:lnTo>
                  <a:pt x="254000" y="222250"/>
                </a:lnTo>
                <a:cubicBezTo>
                  <a:pt x="254000" y="204788"/>
                  <a:pt x="237671" y="190500"/>
                  <a:pt x="217714" y="190500"/>
                </a:cubicBezTo>
                <a:lnTo>
                  <a:pt x="145143" y="190500"/>
                </a:lnTo>
                <a:cubicBezTo>
                  <a:pt x="125186" y="190500"/>
                  <a:pt x="108857" y="204788"/>
                  <a:pt x="108857" y="222250"/>
                </a:cubicBezTo>
                <a:close/>
                <a:moveTo>
                  <a:pt x="798286" y="190500"/>
                </a:moveTo>
                <a:cubicBezTo>
                  <a:pt x="778329" y="190500"/>
                  <a:pt x="762000" y="204788"/>
                  <a:pt x="762000" y="222250"/>
                </a:cubicBezTo>
                <a:lnTo>
                  <a:pt x="762000" y="285750"/>
                </a:lnTo>
                <a:cubicBezTo>
                  <a:pt x="762000" y="303213"/>
                  <a:pt x="778329" y="317500"/>
                  <a:pt x="798286" y="317500"/>
                </a:cubicBezTo>
                <a:lnTo>
                  <a:pt x="870857" y="317500"/>
                </a:lnTo>
                <a:cubicBezTo>
                  <a:pt x="890814" y="317500"/>
                  <a:pt x="907143" y="303213"/>
                  <a:pt x="907143" y="285750"/>
                </a:cubicBezTo>
                <a:lnTo>
                  <a:pt x="907143" y="222250"/>
                </a:lnTo>
                <a:cubicBezTo>
                  <a:pt x="907143" y="204788"/>
                  <a:pt x="890814" y="190500"/>
                  <a:pt x="870857" y="190500"/>
                </a:cubicBezTo>
                <a:lnTo>
                  <a:pt x="798286" y="19050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0" y="36830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Premiere Pro at a Glance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0" y="4318000"/>
            <a:ext cx="5334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Platform: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Windows, Mac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$22.99/month (subscription)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 Level: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Intermediate to Advanced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Ecosystem: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Adobe Creative Cloud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5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Learning Curve:</a:t>
            </a:r>
            <a:pPr algn="l">
              <a:lnSpc>
                <a:spcPct val="17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Steep but unmatched capabilities for professional work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Mobile-First Video Editing — CapCut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1016000" cy="406400"/>
          </a:xfrm>
          <a:prstGeom prst="roundRect">
            <a:avLst>
              <a:gd name="adj" fmla="val 16000"/>
            </a:avLst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032000"/>
            <a:ext cx="101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70000" y="2667000"/>
            <a:ext cx="6858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Auto-captions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AI-powered subtitle generation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effects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Background removal, filters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Templates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Trending video formats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Green screen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Chroma key without setup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 ramping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Cinematic time control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media · TikTok · Reels · Shorts · Quick content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36000" y="2032000"/>
            <a:ext cx="6350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303000" y="2413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42333" y="127000"/>
                </a:moveTo>
                <a:cubicBezTo>
                  <a:pt x="42333" y="56952"/>
                  <a:pt x="118269" y="0"/>
                  <a:pt x="211667" y="0"/>
                </a:cubicBezTo>
                <a:lnTo>
                  <a:pt x="804333" y="0"/>
                </a:lnTo>
                <a:cubicBezTo>
                  <a:pt x="897731" y="0"/>
                  <a:pt x="973667" y="56952"/>
                  <a:pt x="973667" y="127000"/>
                </a:cubicBezTo>
                <a:lnTo>
                  <a:pt x="973667" y="889000"/>
                </a:lnTo>
                <a:cubicBezTo>
                  <a:pt x="973667" y="959048"/>
                  <a:pt x="897731" y="1016000"/>
                  <a:pt x="804333" y="1016000"/>
                </a:cubicBezTo>
                <a:lnTo>
                  <a:pt x="211667" y="1016000"/>
                </a:lnTo>
                <a:cubicBezTo>
                  <a:pt x="118269" y="1016000"/>
                  <a:pt x="42333" y="959048"/>
                  <a:pt x="42333" y="889000"/>
                </a:cubicBezTo>
                <a:lnTo>
                  <a:pt x="42333" y="127000"/>
                </a:lnTo>
                <a:close/>
                <a:moveTo>
                  <a:pt x="338667" y="873125"/>
                </a:moveTo>
                <a:cubicBezTo>
                  <a:pt x="338667" y="899517"/>
                  <a:pt x="366977" y="920750"/>
                  <a:pt x="402167" y="920750"/>
                </a:cubicBezTo>
                <a:lnTo>
                  <a:pt x="613833" y="920750"/>
                </a:lnTo>
                <a:cubicBezTo>
                  <a:pt x="649023" y="920750"/>
                  <a:pt x="677333" y="899517"/>
                  <a:pt x="677333" y="873125"/>
                </a:cubicBezTo>
                <a:cubicBezTo>
                  <a:pt x="677333" y="846733"/>
                  <a:pt x="649023" y="825500"/>
                  <a:pt x="613833" y="825500"/>
                </a:cubicBezTo>
                <a:lnTo>
                  <a:pt x="402167" y="825500"/>
                </a:lnTo>
                <a:cubicBezTo>
                  <a:pt x="366977" y="825500"/>
                  <a:pt x="338667" y="846733"/>
                  <a:pt x="338667" y="873125"/>
                </a:cubicBezTo>
                <a:close/>
                <a:moveTo>
                  <a:pt x="804333" y="127000"/>
                </a:moveTo>
                <a:lnTo>
                  <a:pt x="211667" y="127000"/>
                </a:lnTo>
                <a:lnTo>
                  <a:pt x="211667" y="730250"/>
                </a:lnTo>
                <a:lnTo>
                  <a:pt x="804333" y="730250"/>
                </a:lnTo>
                <a:lnTo>
                  <a:pt x="804333" y="1270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0" y="36830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CapCut at a Glance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0" y="4318000"/>
            <a:ext cx="5334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Platform: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iOS, Android, Mac, Windows, Web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Free (Pro tier available)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 Level: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Beginner to Intermediate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Users: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200M+ monthly active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5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Strength:</a:t>
            </a:r>
            <a:pPr algn="l">
              <a:lnSpc>
                <a:spcPct val="17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Rapid feature updates following social media trends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Premiere Pro vs CapCut — Comparison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5334000"/>
        </p:xfrm>
        <a:graphic>
          <a:graphicData uri="http://schemas.openxmlformats.org/drawingml/2006/table">
            <a:tbl>
              <a:tblPr/>
              <a:tblGrid>
                <a:gridCol w="3429000"/>
                <a:gridCol w="5143500"/>
                <a:gridCol w="51435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Premiere Pro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CapCut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Pricing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$22.99/month subscription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Free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(Pro optional)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Target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Professionals, filmmakers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Social media creators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Platform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Desktop-focused (Win/Mac)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Mobile-first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+ Desktop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Learning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Steep curve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Gentle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Advanced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Extensive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— color, audio, FX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Moderate — AI-powered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Export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Professional codecs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Social-optimized presets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Collab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Team Projects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Cloud sync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Verdict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Best for </a:t>
                      </a:r>
                      <a:pPr algn="ctr"/>
                      <a:r>
                        <a:rPr lang="en-US" sz="1800" b="1" dirty="0">
                          <a:solidFill>
                            <a:srgbClr val="2E5E8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professional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work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Best for </a:t>
                      </a:r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social content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270000" y="7366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choice depends on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case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budget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many use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both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Programming with Scratch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1524000" cy="406400"/>
          </a:xfrm>
          <a:prstGeom prst="roundRect">
            <a:avLst>
              <a:gd name="adj" fmla="val 16000"/>
            </a:avLst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032000"/>
            <a:ext cx="203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FREE &amp; Educational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70000" y="2667000"/>
            <a:ext cx="6858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Block-based coding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No syntax, just logic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Sprite animation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Character and object control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Sound integration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Built-in audio library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Story creation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Interactive narratives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Community sharing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100M+ projects shared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 · Programming · Interactive media · Prototyping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36000" y="2032000"/>
            <a:ext cx="6350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303000" y="2413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636411" y="2381"/>
                </a:moveTo>
                <a:cubicBezTo>
                  <a:pt x="606425" y="-7342"/>
                  <a:pt x="575204" y="12303"/>
                  <a:pt x="566561" y="46037"/>
                </a:cubicBezTo>
                <a:lnTo>
                  <a:pt x="340783" y="935038"/>
                </a:lnTo>
                <a:cubicBezTo>
                  <a:pt x="332140" y="968772"/>
                  <a:pt x="349603" y="1003895"/>
                  <a:pt x="379589" y="1013619"/>
                </a:cubicBezTo>
                <a:cubicBezTo>
                  <a:pt x="409575" y="1023342"/>
                  <a:pt x="440796" y="1003697"/>
                  <a:pt x="449439" y="969963"/>
                </a:cubicBezTo>
                <a:lnTo>
                  <a:pt x="675217" y="80963"/>
                </a:lnTo>
                <a:cubicBezTo>
                  <a:pt x="683860" y="47228"/>
                  <a:pt x="666397" y="12105"/>
                  <a:pt x="636411" y="2381"/>
                </a:cubicBezTo>
                <a:close/>
                <a:moveTo>
                  <a:pt x="750358" y="272455"/>
                </a:moveTo>
                <a:cubicBezTo>
                  <a:pt x="728310" y="297259"/>
                  <a:pt x="728310" y="337542"/>
                  <a:pt x="750358" y="362347"/>
                </a:cubicBezTo>
                <a:lnTo>
                  <a:pt x="879828" y="508000"/>
                </a:lnTo>
                <a:lnTo>
                  <a:pt x="750358" y="653653"/>
                </a:lnTo>
                <a:cubicBezTo>
                  <a:pt x="728310" y="678458"/>
                  <a:pt x="728310" y="718741"/>
                  <a:pt x="750358" y="743545"/>
                </a:cubicBezTo>
                <a:cubicBezTo>
                  <a:pt x="772407" y="768350"/>
                  <a:pt x="808214" y="768350"/>
                  <a:pt x="830263" y="743545"/>
                </a:cubicBezTo>
                <a:lnTo>
                  <a:pt x="999596" y="553045"/>
                </a:lnTo>
                <a:cubicBezTo>
                  <a:pt x="1021644" y="528241"/>
                  <a:pt x="1021644" y="487958"/>
                  <a:pt x="999596" y="463153"/>
                </a:cubicBezTo>
                <a:lnTo>
                  <a:pt x="830263" y="272653"/>
                </a:lnTo>
                <a:cubicBezTo>
                  <a:pt x="808214" y="247848"/>
                  <a:pt x="772407" y="247848"/>
                  <a:pt x="750358" y="272653"/>
                </a:cubicBezTo>
                <a:close/>
                <a:moveTo>
                  <a:pt x="265818" y="272455"/>
                </a:moveTo>
                <a:cubicBezTo>
                  <a:pt x="243769" y="247650"/>
                  <a:pt x="207963" y="247650"/>
                  <a:pt x="185914" y="272455"/>
                </a:cubicBezTo>
                <a:lnTo>
                  <a:pt x="16581" y="462955"/>
                </a:lnTo>
                <a:cubicBezTo>
                  <a:pt x="-5468" y="487759"/>
                  <a:pt x="-5468" y="528042"/>
                  <a:pt x="16581" y="552847"/>
                </a:cubicBezTo>
                <a:lnTo>
                  <a:pt x="185914" y="743347"/>
                </a:lnTo>
                <a:cubicBezTo>
                  <a:pt x="207963" y="768152"/>
                  <a:pt x="243769" y="768152"/>
                  <a:pt x="265818" y="743347"/>
                </a:cubicBezTo>
                <a:cubicBezTo>
                  <a:pt x="287867" y="718542"/>
                  <a:pt x="287867" y="678259"/>
                  <a:pt x="265818" y="653455"/>
                </a:cubicBezTo>
                <a:lnTo>
                  <a:pt x="136349" y="508000"/>
                </a:lnTo>
                <a:lnTo>
                  <a:pt x="265642" y="362347"/>
                </a:lnTo>
                <a:cubicBezTo>
                  <a:pt x="287690" y="337542"/>
                  <a:pt x="287690" y="297259"/>
                  <a:pt x="265642" y="27245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0" y="36830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Scratch at a Glance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0" y="4318000"/>
            <a:ext cx="5334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Developer: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MIT Media Lab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Platform: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Browser (scratch.mit.edu)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Completely Free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Audience: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Ages 8-16 (and beyond)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5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Notable:</a:t>
            </a:r>
            <a:pPr algn="l">
              <a:lnSpc>
                <a:spcPct val="17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Used in professional settings for rapid interactive prototyping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Editing with Adobe Photoshop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1778000" cy="406400"/>
          </a:xfrm>
          <a:prstGeom prst="roundRect">
            <a:avLst>
              <a:gd name="adj" fmla="val 16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0320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INDUSTRY STANDARD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70000" y="2667000"/>
            <a:ext cx="6858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Layers &amp; masks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Non-destructive editing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Content-aware fill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AI-powered object removal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compositing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Complex image merging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processing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Camera file optimization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3D capabilities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Basic 3D object handling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Photo retouching · Digital art · Web assets · Print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36000" y="2032000"/>
            <a:ext cx="6350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303000" y="2413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45143" y="63500"/>
                </a:moveTo>
                <a:cubicBezTo>
                  <a:pt x="65088" y="63500"/>
                  <a:pt x="0" y="120452"/>
                  <a:pt x="0" y="190500"/>
                </a:cubicBezTo>
                <a:lnTo>
                  <a:pt x="0" y="825500"/>
                </a:lnTo>
                <a:cubicBezTo>
                  <a:pt x="0" y="895548"/>
                  <a:pt x="65088" y="952500"/>
                  <a:pt x="145143" y="952500"/>
                </a:cubicBezTo>
                <a:lnTo>
                  <a:pt x="870857" y="952500"/>
                </a:lnTo>
                <a:cubicBezTo>
                  <a:pt x="950913" y="952500"/>
                  <a:pt x="1016000" y="895548"/>
                  <a:pt x="1016000" y="825500"/>
                </a:cubicBezTo>
                <a:lnTo>
                  <a:pt x="1016000" y="190500"/>
                </a:lnTo>
                <a:cubicBezTo>
                  <a:pt x="1016000" y="120452"/>
                  <a:pt x="950913" y="63500"/>
                  <a:pt x="870857" y="63500"/>
                </a:cubicBezTo>
                <a:lnTo>
                  <a:pt x="145143" y="63500"/>
                </a:lnTo>
                <a:close/>
                <a:moveTo>
                  <a:pt x="290286" y="222250"/>
                </a:moveTo>
                <a:cubicBezTo>
                  <a:pt x="350366" y="222250"/>
                  <a:pt x="399143" y="264930"/>
                  <a:pt x="399143" y="317500"/>
                </a:cubicBezTo>
                <a:cubicBezTo>
                  <a:pt x="399143" y="370070"/>
                  <a:pt x="350366" y="412750"/>
                  <a:pt x="290286" y="412750"/>
                </a:cubicBezTo>
                <a:cubicBezTo>
                  <a:pt x="230206" y="412750"/>
                  <a:pt x="181429" y="370070"/>
                  <a:pt x="181429" y="317500"/>
                </a:cubicBezTo>
                <a:cubicBezTo>
                  <a:pt x="181429" y="264930"/>
                  <a:pt x="230206" y="222250"/>
                  <a:pt x="290286" y="222250"/>
                </a:cubicBezTo>
                <a:close/>
                <a:moveTo>
                  <a:pt x="616857" y="444500"/>
                </a:moveTo>
                <a:cubicBezTo>
                  <a:pt x="635907" y="444500"/>
                  <a:pt x="653370" y="453231"/>
                  <a:pt x="663348" y="467320"/>
                </a:cubicBezTo>
                <a:lnTo>
                  <a:pt x="862920" y="753070"/>
                </a:lnTo>
                <a:cubicBezTo>
                  <a:pt x="873125" y="767755"/>
                  <a:pt x="873579" y="786209"/>
                  <a:pt x="864054" y="801291"/>
                </a:cubicBezTo>
                <a:cubicBezTo>
                  <a:pt x="854529" y="816372"/>
                  <a:pt x="836159" y="825500"/>
                  <a:pt x="816429" y="825500"/>
                </a:cubicBezTo>
                <a:lnTo>
                  <a:pt x="199571" y="825500"/>
                </a:lnTo>
                <a:cubicBezTo>
                  <a:pt x="179387" y="825500"/>
                  <a:pt x="160564" y="815578"/>
                  <a:pt x="151266" y="799902"/>
                </a:cubicBezTo>
                <a:cubicBezTo>
                  <a:pt x="141968" y="784225"/>
                  <a:pt x="143329" y="765175"/>
                  <a:pt x="154895" y="750689"/>
                </a:cubicBezTo>
                <a:lnTo>
                  <a:pt x="281895" y="591939"/>
                </a:lnTo>
                <a:cubicBezTo>
                  <a:pt x="292100" y="579239"/>
                  <a:pt x="308655" y="571698"/>
                  <a:pt x="326571" y="571698"/>
                </a:cubicBezTo>
                <a:cubicBezTo>
                  <a:pt x="344488" y="571698"/>
                  <a:pt x="361043" y="579239"/>
                  <a:pt x="371248" y="591939"/>
                </a:cubicBezTo>
                <a:lnTo>
                  <a:pt x="431120" y="666948"/>
                </a:lnTo>
                <a:lnTo>
                  <a:pt x="570366" y="467519"/>
                </a:lnTo>
                <a:cubicBezTo>
                  <a:pt x="580345" y="453430"/>
                  <a:pt x="597807" y="444698"/>
                  <a:pt x="616857" y="444698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0" y="36830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Photoshop at a Glance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0" y="4318000"/>
            <a:ext cx="5334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Platform: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Windows, Mac, iPad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$22.99/month (subscription)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 Level: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Beginner to Expert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History: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30+ years of dominance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5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Ecosystem:</a:t>
            </a:r>
            <a:pPr algn="l">
              <a:lnSpc>
                <a:spcPct val="17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Extensive plugin library and integrations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UI/UX Design with Figma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1270000" cy="406400"/>
          </a:xfrm>
          <a:prstGeom prst="roundRect">
            <a:avLst>
              <a:gd name="adj" fmla="val 16000"/>
            </a:avLst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032000"/>
            <a:ext cx="127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FREE TIER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70000" y="2667000"/>
            <a:ext cx="6858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collaboration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Multiple designers, one file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system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Reusable design elements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Auto-layout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Responsive design automation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Prototyping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Interactive mockups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handoff</a:t>
            </a:r>
            <a:pPr algn="l">
              <a:lnSpc>
                <a:spcPct val="160000"/>
              </a:lnSpc>
              <a:spcBef>
                <a:spcPts val="5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CSS, specs, assets export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500"/>
              </a:spcBef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UI/UX design · Design systems · Wireframing · Teams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36000" y="2032000"/>
            <a:ext cx="6350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303000" y="2413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731242" y="36314"/>
                </a:moveTo>
                <a:lnTo>
                  <a:pt x="631825" y="135731"/>
                </a:lnTo>
                <a:lnTo>
                  <a:pt x="880467" y="384373"/>
                </a:lnTo>
                <a:lnTo>
                  <a:pt x="979884" y="284956"/>
                </a:lnTo>
                <a:cubicBezTo>
                  <a:pt x="1023342" y="241498"/>
                  <a:pt x="1023342" y="171252"/>
                  <a:pt x="979884" y="127794"/>
                </a:cubicBezTo>
                <a:lnTo>
                  <a:pt x="888405" y="36314"/>
                </a:lnTo>
                <a:cubicBezTo>
                  <a:pt x="844947" y="-7144"/>
                  <a:pt x="774700" y="-7144"/>
                  <a:pt x="731242" y="36314"/>
                </a:cubicBezTo>
                <a:close/>
                <a:moveTo>
                  <a:pt x="554236" y="192881"/>
                </a:moveTo>
                <a:lnTo>
                  <a:pt x="553244" y="193080"/>
                </a:lnTo>
                <a:lnTo>
                  <a:pt x="267295" y="278805"/>
                </a:lnTo>
                <a:cubicBezTo>
                  <a:pt x="227806" y="290711"/>
                  <a:pt x="196453" y="320873"/>
                  <a:pt x="183356" y="360164"/>
                </a:cubicBezTo>
                <a:lnTo>
                  <a:pt x="7541" y="884634"/>
                </a:lnTo>
                <a:cubicBezTo>
                  <a:pt x="1786" y="901898"/>
                  <a:pt x="3770" y="920750"/>
                  <a:pt x="12502" y="936228"/>
                </a:cubicBezTo>
                <a:lnTo>
                  <a:pt x="320873" y="627856"/>
                </a:lnTo>
                <a:cubicBezTo>
                  <a:pt x="318691" y="619919"/>
                  <a:pt x="317698" y="611783"/>
                  <a:pt x="317698" y="603250"/>
                </a:cubicBezTo>
                <a:cubicBezTo>
                  <a:pt x="317698" y="550664"/>
                  <a:pt x="360363" y="508000"/>
                  <a:pt x="412948" y="508000"/>
                </a:cubicBezTo>
                <a:cubicBezTo>
                  <a:pt x="465534" y="508000"/>
                  <a:pt x="508198" y="550664"/>
                  <a:pt x="508198" y="603250"/>
                </a:cubicBezTo>
                <a:cubicBezTo>
                  <a:pt x="508198" y="655836"/>
                  <a:pt x="465534" y="698500"/>
                  <a:pt x="412948" y="698500"/>
                </a:cubicBezTo>
                <a:cubicBezTo>
                  <a:pt x="404416" y="698500"/>
                  <a:pt x="396081" y="697309"/>
                  <a:pt x="388342" y="695325"/>
                </a:cubicBezTo>
                <a:lnTo>
                  <a:pt x="79970" y="1003498"/>
                </a:lnTo>
                <a:cubicBezTo>
                  <a:pt x="95448" y="1012230"/>
                  <a:pt x="114102" y="1014214"/>
                  <a:pt x="131564" y="1008459"/>
                </a:cubicBezTo>
                <a:lnTo>
                  <a:pt x="656034" y="832644"/>
                </a:lnTo>
                <a:cubicBezTo>
                  <a:pt x="695127" y="819547"/>
                  <a:pt x="725488" y="788194"/>
                  <a:pt x="737394" y="748705"/>
                </a:cubicBezTo>
                <a:lnTo>
                  <a:pt x="823119" y="462756"/>
                </a:lnTo>
                <a:lnTo>
                  <a:pt x="823317" y="461764"/>
                </a:lnTo>
                <a:lnTo>
                  <a:pt x="554434" y="192881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0" y="36830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Figma at a Glance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0" y="4318000"/>
            <a:ext cx="5334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Platform: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Browser, Mac, Windows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Free / Pro $12/editor/mo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 Level: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Beginner to Advanced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Status: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Replaced Sketch as standard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5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Acquisition:</a:t>
            </a:r>
            <a:pPr algn="l">
              <a:lnSpc>
                <a:spcPct val="170000"/>
              </a:lnSpc>
              <a:spcBef>
                <a:spcPts val="15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Adobe, $20B (2022) — still independent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Photoshop vs Figma — Design Tool Comparison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5334000"/>
        </p:xfrm>
        <a:graphic>
          <a:graphicData uri="http://schemas.openxmlformats.org/drawingml/2006/table">
            <a:tbl>
              <a:tblPr/>
              <a:tblGrid>
                <a:gridCol w="3429000"/>
                <a:gridCol w="5143500"/>
                <a:gridCol w="51435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Photoshop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Figma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Primary Use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Image editing &amp; compositing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UI/UX design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Collaboration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Limited (Creative Cloud)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Real-time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multi-user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Platform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Desktop (Win/Mac/iPad)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Browser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+ Desktop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File Type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Local PSD files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Cloud-native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Learning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Steep curve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Moderate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Pricing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$22.99/month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Free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/ Pro $12/mo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Asset Type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2E5E8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Raster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(pixel-based)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Vector-first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Verdict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Best for </a:t>
                      </a:r>
                      <a:pPr algn="ctr"/>
                      <a:r>
                        <a:rPr lang="en-US" sz="1800" b="1" dirty="0">
                          <a:solidFill>
                            <a:srgbClr val="2E5E8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images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Best for </a:t>
                      </a:r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interfaces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270000" y="7366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Complementary tools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most use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both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 their workflow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Tool Comparison Matrix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714500"/>
          <a:ext cx="13716000" cy="635000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  <a:gridCol w="1920240"/>
                <a:gridCol w="1920240"/>
                <a:gridCol w="1920240"/>
                <a:gridCol w="1920240"/>
                <a:gridCol w="1920240"/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Criteria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Audacity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Premiere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CapCut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Scratch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Photoshop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Figma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Audio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Video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Video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Interactive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Graphics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Design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Free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Paid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Free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Free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Paid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Free*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Skill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Beginner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Advanced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Beginner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Beginner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Intermediate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Intermediate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Platform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Win/Mac/Lin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Win/Mac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All + Mobile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Browser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Win/Mac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Browser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Best For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Podcasts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Film/TV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Social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Education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Photos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UI/UX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Strength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Audio quality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Professional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Speed &amp; ease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Learning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Versatility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Collaboration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Weakness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MIDI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Basic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Limited scope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Steep curve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Online req.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270000" y="80010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Figma has a generous free tier; Pro features require subscription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 Selection by Use Case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445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34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2900" y="321290"/>
                </a:moveTo>
                <a:cubicBezTo>
                  <a:pt x="382803" y="292447"/>
                  <a:pt x="408214" y="248870"/>
                  <a:pt x="408214" y="200025"/>
                </a:cubicBezTo>
                <a:cubicBezTo>
                  <a:pt x="408214" y="113228"/>
                  <a:pt x="327796" y="42863"/>
                  <a:pt x="228600" y="42863"/>
                </a:cubicBezTo>
                <a:cubicBezTo>
                  <a:pt x="129404" y="42863"/>
                  <a:pt x="48986" y="113228"/>
                  <a:pt x="48986" y="200025"/>
                </a:cubicBezTo>
                <a:cubicBezTo>
                  <a:pt x="48986" y="248870"/>
                  <a:pt x="74397" y="292447"/>
                  <a:pt x="114300" y="321290"/>
                </a:cubicBezTo>
                <a:cubicBezTo>
                  <a:pt x="114708" y="337006"/>
                  <a:pt x="117566" y="357366"/>
                  <a:pt x="120831" y="376476"/>
                </a:cubicBezTo>
                <a:cubicBezTo>
                  <a:pt x="48986" y="342811"/>
                  <a:pt x="0" y="276374"/>
                  <a:pt x="0" y="200025"/>
                </a:cubicBezTo>
                <a:cubicBezTo>
                  <a:pt x="0" y="89565"/>
                  <a:pt x="102360" y="0"/>
                  <a:pt x="228600" y="0"/>
                </a:cubicBezTo>
                <a:cubicBezTo>
                  <a:pt x="354840" y="0"/>
                  <a:pt x="457200" y="89565"/>
                  <a:pt x="457200" y="200025"/>
                </a:cubicBezTo>
                <a:cubicBezTo>
                  <a:pt x="457200" y="276463"/>
                  <a:pt x="408214" y="342811"/>
                  <a:pt x="336267" y="376476"/>
                </a:cubicBezTo>
                <a:cubicBezTo>
                  <a:pt x="339634" y="357366"/>
                  <a:pt x="342390" y="337006"/>
                  <a:pt x="342798" y="321290"/>
                </a:cubicBezTo>
                <a:close/>
                <a:moveTo>
                  <a:pt x="328613" y="273606"/>
                </a:moveTo>
                <a:cubicBezTo>
                  <a:pt x="320142" y="262354"/>
                  <a:pt x="309018" y="254318"/>
                  <a:pt x="297588" y="248781"/>
                </a:cubicBezTo>
                <a:cubicBezTo>
                  <a:pt x="295445" y="247799"/>
                  <a:pt x="293302" y="246817"/>
                  <a:pt x="291159" y="245924"/>
                </a:cubicBezTo>
                <a:cubicBezTo>
                  <a:pt x="303099" y="233511"/>
                  <a:pt x="310345" y="217438"/>
                  <a:pt x="310345" y="199936"/>
                </a:cubicBezTo>
                <a:cubicBezTo>
                  <a:pt x="310345" y="160466"/>
                  <a:pt x="273810" y="128498"/>
                  <a:pt x="228702" y="128498"/>
                </a:cubicBezTo>
                <a:cubicBezTo>
                  <a:pt x="183594" y="128498"/>
                  <a:pt x="147059" y="160466"/>
                  <a:pt x="147059" y="199936"/>
                </a:cubicBezTo>
                <a:cubicBezTo>
                  <a:pt x="147059" y="217438"/>
                  <a:pt x="154305" y="233511"/>
                  <a:pt x="166245" y="245924"/>
                </a:cubicBezTo>
                <a:cubicBezTo>
                  <a:pt x="164102" y="246817"/>
                  <a:pt x="161959" y="247710"/>
                  <a:pt x="159816" y="248781"/>
                </a:cubicBezTo>
                <a:cubicBezTo>
                  <a:pt x="148386" y="254318"/>
                  <a:pt x="137262" y="262354"/>
                  <a:pt x="128792" y="273606"/>
                </a:cubicBezTo>
                <a:cubicBezTo>
                  <a:pt x="109606" y="253692"/>
                  <a:pt x="98073" y="228064"/>
                  <a:pt x="98073" y="200025"/>
                </a:cubicBezTo>
                <a:cubicBezTo>
                  <a:pt x="98073" y="136892"/>
                  <a:pt x="156550" y="85725"/>
                  <a:pt x="228702" y="85725"/>
                </a:cubicBezTo>
                <a:cubicBezTo>
                  <a:pt x="300854" y="85725"/>
                  <a:pt x="359331" y="136892"/>
                  <a:pt x="359331" y="200025"/>
                </a:cubicBezTo>
                <a:cubicBezTo>
                  <a:pt x="359331" y="228064"/>
                  <a:pt x="347799" y="253782"/>
                  <a:pt x="328613" y="273606"/>
                </a:cubicBezTo>
                <a:close/>
                <a:moveTo>
                  <a:pt x="228600" y="278606"/>
                </a:moveTo>
                <a:cubicBezTo>
                  <a:pt x="262176" y="278606"/>
                  <a:pt x="293914" y="286286"/>
                  <a:pt x="293914" y="317718"/>
                </a:cubicBezTo>
                <a:cubicBezTo>
                  <a:pt x="293914" y="347186"/>
                  <a:pt x="280749" y="410676"/>
                  <a:pt x="272891" y="436394"/>
                </a:cubicBezTo>
                <a:cubicBezTo>
                  <a:pt x="267687" y="453360"/>
                  <a:pt x="247888" y="457289"/>
                  <a:pt x="228600" y="457289"/>
                </a:cubicBezTo>
                <a:cubicBezTo>
                  <a:pt x="209312" y="457289"/>
                  <a:pt x="189616" y="453360"/>
                  <a:pt x="184309" y="436394"/>
                </a:cubicBezTo>
                <a:cubicBezTo>
                  <a:pt x="176349" y="410944"/>
                  <a:pt x="163286" y="347365"/>
                  <a:pt x="163286" y="317808"/>
                </a:cubicBezTo>
                <a:cubicBezTo>
                  <a:pt x="163286" y="286464"/>
                  <a:pt x="195024" y="278696"/>
                  <a:pt x="228600" y="278696"/>
                </a:cubicBezTo>
                <a:close/>
                <a:moveTo>
                  <a:pt x="228600" y="164306"/>
                </a:moveTo>
                <a:cubicBezTo>
                  <a:pt x="251130" y="164306"/>
                  <a:pt x="269421" y="180311"/>
                  <a:pt x="269421" y="200025"/>
                </a:cubicBezTo>
                <a:cubicBezTo>
                  <a:pt x="269421" y="219739"/>
                  <a:pt x="251130" y="235744"/>
                  <a:pt x="228600" y="235744"/>
                </a:cubicBezTo>
                <a:cubicBezTo>
                  <a:pt x="206070" y="235744"/>
                  <a:pt x="187779" y="219739"/>
                  <a:pt x="187779" y="200025"/>
                </a:cubicBezTo>
                <a:cubicBezTo>
                  <a:pt x="187779" y="180311"/>
                  <a:pt x="206070" y="164306"/>
                  <a:pt x="228600" y="164306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159000" y="22860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Podcast Production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59000" y="2730500"/>
            <a:ext cx="330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Audacity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Descript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Recording &amp; editing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445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23000" y="234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0" y="57150"/>
                </a:moveTo>
                <a:cubicBezTo>
                  <a:pt x="48181" y="57150"/>
                  <a:pt x="25400" y="82778"/>
                  <a:pt x="25400" y="114300"/>
                </a:cubicBezTo>
                <a:lnTo>
                  <a:pt x="25400" y="342900"/>
                </a:lnTo>
                <a:cubicBezTo>
                  <a:pt x="25400" y="374422"/>
                  <a:pt x="48181" y="400050"/>
                  <a:pt x="76200" y="400050"/>
                </a:cubicBezTo>
                <a:lnTo>
                  <a:pt x="279400" y="400050"/>
                </a:lnTo>
                <a:cubicBezTo>
                  <a:pt x="307419" y="400050"/>
                  <a:pt x="330200" y="374422"/>
                  <a:pt x="330200" y="342900"/>
                </a:cubicBezTo>
                <a:lnTo>
                  <a:pt x="330200" y="114300"/>
                </a:lnTo>
                <a:cubicBezTo>
                  <a:pt x="330200" y="82778"/>
                  <a:pt x="307419" y="57150"/>
                  <a:pt x="279400" y="57150"/>
                </a:cubicBezTo>
                <a:lnTo>
                  <a:pt x="76200" y="57150"/>
                </a:lnTo>
                <a:close/>
                <a:moveTo>
                  <a:pt x="368300" y="300038"/>
                </a:moveTo>
                <a:lnTo>
                  <a:pt x="426641" y="352544"/>
                </a:lnTo>
                <a:cubicBezTo>
                  <a:pt x="429974" y="355580"/>
                  <a:pt x="434102" y="357188"/>
                  <a:pt x="438388" y="357188"/>
                </a:cubicBezTo>
                <a:cubicBezTo>
                  <a:pt x="448786" y="357188"/>
                  <a:pt x="457200" y="347722"/>
                  <a:pt x="457200" y="336024"/>
                </a:cubicBezTo>
                <a:lnTo>
                  <a:pt x="457200" y="121176"/>
                </a:lnTo>
                <a:cubicBezTo>
                  <a:pt x="457200" y="109478"/>
                  <a:pt x="448786" y="100013"/>
                  <a:pt x="438388" y="100013"/>
                </a:cubicBezTo>
                <a:cubicBezTo>
                  <a:pt x="434102" y="100013"/>
                  <a:pt x="429974" y="101620"/>
                  <a:pt x="426641" y="104656"/>
                </a:cubicBezTo>
                <a:lnTo>
                  <a:pt x="368300" y="157163"/>
                </a:lnTo>
                <a:lnTo>
                  <a:pt x="368300" y="300038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22860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Social Media Videos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0" y="2730500"/>
            <a:ext cx="330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CapCut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Quick, trendy content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22000" y="234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85725"/>
                </a:moveTo>
                <a:cubicBezTo>
                  <a:pt x="0" y="54203"/>
                  <a:pt x="29289" y="28575"/>
                  <a:pt x="65314" y="28575"/>
                </a:cubicBezTo>
                <a:lnTo>
                  <a:pt x="391886" y="28575"/>
                </a:lnTo>
                <a:cubicBezTo>
                  <a:pt x="427911" y="28575"/>
                  <a:pt x="457200" y="54203"/>
                  <a:pt x="457200" y="85725"/>
                </a:cubicBezTo>
                <a:lnTo>
                  <a:pt x="457200" y="371475"/>
                </a:lnTo>
                <a:cubicBezTo>
                  <a:pt x="457200" y="402997"/>
                  <a:pt x="427911" y="428625"/>
                  <a:pt x="391886" y="428625"/>
                </a:cubicBezTo>
                <a:lnTo>
                  <a:pt x="65314" y="428625"/>
                </a:lnTo>
                <a:cubicBezTo>
                  <a:pt x="29289" y="428625"/>
                  <a:pt x="0" y="402997"/>
                  <a:pt x="0" y="371475"/>
                </a:cubicBezTo>
                <a:lnTo>
                  <a:pt x="0" y="85725"/>
                </a:lnTo>
                <a:close/>
                <a:moveTo>
                  <a:pt x="48986" y="328613"/>
                </a:moveTo>
                <a:lnTo>
                  <a:pt x="48986" y="357188"/>
                </a:lnTo>
                <a:cubicBezTo>
                  <a:pt x="48986" y="365046"/>
                  <a:pt x="56334" y="371475"/>
                  <a:pt x="65314" y="371475"/>
                </a:cubicBezTo>
                <a:lnTo>
                  <a:pt x="97971" y="371475"/>
                </a:lnTo>
                <a:cubicBezTo>
                  <a:pt x="106952" y="371475"/>
                  <a:pt x="114300" y="365046"/>
                  <a:pt x="114300" y="357188"/>
                </a:cubicBezTo>
                <a:lnTo>
                  <a:pt x="114300" y="328613"/>
                </a:lnTo>
                <a:cubicBezTo>
                  <a:pt x="114300" y="320754"/>
                  <a:pt x="106952" y="314325"/>
                  <a:pt x="97971" y="314325"/>
                </a:cubicBezTo>
                <a:lnTo>
                  <a:pt x="65314" y="314325"/>
                </a:lnTo>
                <a:cubicBezTo>
                  <a:pt x="56334" y="314325"/>
                  <a:pt x="48986" y="320754"/>
                  <a:pt x="48986" y="328613"/>
                </a:cubicBezTo>
                <a:close/>
                <a:moveTo>
                  <a:pt x="359229" y="314325"/>
                </a:moveTo>
                <a:cubicBezTo>
                  <a:pt x="350248" y="314325"/>
                  <a:pt x="342900" y="320754"/>
                  <a:pt x="342900" y="328613"/>
                </a:cubicBezTo>
                <a:lnTo>
                  <a:pt x="342900" y="357188"/>
                </a:lnTo>
                <a:cubicBezTo>
                  <a:pt x="342900" y="365046"/>
                  <a:pt x="350248" y="371475"/>
                  <a:pt x="359229" y="371475"/>
                </a:cubicBezTo>
                <a:lnTo>
                  <a:pt x="391886" y="371475"/>
                </a:lnTo>
                <a:cubicBezTo>
                  <a:pt x="400866" y="371475"/>
                  <a:pt x="408214" y="365046"/>
                  <a:pt x="408214" y="357188"/>
                </a:cubicBezTo>
                <a:lnTo>
                  <a:pt x="408214" y="328613"/>
                </a:lnTo>
                <a:cubicBezTo>
                  <a:pt x="408214" y="320754"/>
                  <a:pt x="400866" y="314325"/>
                  <a:pt x="391886" y="314325"/>
                </a:cubicBezTo>
                <a:lnTo>
                  <a:pt x="359229" y="314325"/>
                </a:lnTo>
                <a:close/>
                <a:moveTo>
                  <a:pt x="48986" y="214313"/>
                </a:moveTo>
                <a:lnTo>
                  <a:pt x="48986" y="242888"/>
                </a:lnTo>
                <a:cubicBezTo>
                  <a:pt x="48986" y="250746"/>
                  <a:pt x="56334" y="257175"/>
                  <a:pt x="65314" y="257175"/>
                </a:cubicBezTo>
                <a:lnTo>
                  <a:pt x="97971" y="257175"/>
                </a:lnTo>
                <a:cubicBezTo>
                  <a:pt x="106952" y="257175"/>
                  <a:pt x="114300" y="250746"/>
                  <a:pt x="114300" y="242888"/>
                </a:cubicBezTo>
                <a:lnTo>
                  <a:pt x="114300" y="214313"/>
                </a:lnTo>
                <a:cubicBezTo>
                  <a:pt x="114300" y="206454"/>
                  <a:pt x="106952" y="200025"/>
                  <a:pt x="97971" y="200025"/>
                </a:cubicBezTo>
                <a:lnTo>
                  <a:pt x="65314" y="200025"/>
                </a:lnTo>
                <a:cubicBezTo>
                  <a:pt x="56334" y="200025"/>
                  <a:pt x="48986" y="206454"/>
                  <a:pt x="48986" y="214313"/>
                </a:cubicBezTo>
                <a:close/>
                <a:moveTo>
                  <a:pt x="359229" y="200025"/>
                </a:moveTo>
                <a:cubicBezTo>
                  <a:pt x="350248" y="200025"/>
                  <a:pt x="342900" y="206454"/>
                  <a:pt x="342900" y="214313"/>
                </a:cubicBezTo>
                <a:lnTo>
                  <a:pt x="342900" y="242888"/>
                </a:lnTo>
                <a:cubicBezTo>
                  <a:pt x="342900" y="250746"/>
                  <a:pt x="350248" y="257175"/>
                  <a:pt x="359229" y="257175"/>
                </a:cubicBezTo>
                <a:lnTo>
                  <a:pt x="391886" y="257175"/>
                </a:lnTo>
                <a:cubicBezTo>
                  <a:pt x="400866" y="257175"/>
                  <a:pt x="408214" y="250746"/>
                  <a:pt x="408214" y="242888"/>
                </a:cubicBezTo>
                <a:lnTo>
                  <a:pt x="408214" y="214313"/>
                </a:lnTo>
                <a:cubicBezTo>
                  <a:pt x="408214" y="206454"/>
                  <a:pt x="400866" y="200025"/>
                  <a:pt x="391886" y="200025"/>
                </a:cubicBezTo>
                <a:lnTo>
                  <a:pt x="359229" y="200025"/>
                </a:lnTo>
                <a:close/>
                <a:moveTo>
                  <a:pt x="48986" y="100013"/>
                </a:moveTo>
                <a:lnTo>
                  <a:pt x="48986" y="128588"/>
                </a:lnTo>
                <a:cubicBezTo>
                  <a:pt x="48986" y="136446"/>
                  <a:pt x="56334" y="142875"/>
                  <a:pt x="65314" y="142875"/>
                </a:cubicBezTo>
                <a:lnTo>
                  <a:pt x="97971" y="142875"/>
                </a:lnTo>
                <a:cubicBezTo>
                  <a:pt x="106952" y="142875"/>
                  <a:pt x="114300" y="136446"/>
                  <a:pt x="114300" y="128588"/>
                </a:cubicBezTo>
                <a:lnTo>
                  <a:pt x="114300" y="100013"/>
                </a:lnTo>
                <a:cubicBezTo>
                  <a:pt x="114300" y="92154"/>
                  <a:pt x="106952" y="85725"/>
                  <a:pt x="97971" y="85725"/>
                </a:cubicBezTo>
                <a:lnTo>
                  <a:pt x="65314" y="85725"/>
                </a:lnTo>
                <a:cubicBezTo>
                  <a:pt x="56334" y="85725"/>
                  <a:pt x="48986" y="92154"/>
                  <a:pt x="48986" y="100013"/>
                </a:cubicBezTo>
                <a:close/>
                <a:moveTo>
                  <a:pt x="359229" y="85725"/>
                </a:moveTo>
                <a:cubicBezTo>
                  <a:pt x="350248" y="85725"/>
                  <a:pt x="342900" y="92154"/>
                  <a:pt x="342900" y="100013"/>
                </a:cubicBezTo>
                <a:lnTo>
                  <a:pt x="342900" y="128588"/>
                </a:lnTo>
                <a:cubicBezTo>
                  <a:pt x="342900" y="136446"/>
                  <a:pt x="350248" y="142875"/>
                  <a:pt x="359229" y="142875"/>
                </a:cubicBezTo>
                <a:lnTo>
                  <a:pt x="391886" y="142875"/>
                </a:lnTo>
                <a:cubicBezTo>
                  <a:pt x="400866" y="142875"/>
                  <a:pt x="408214" y="136446"/>
                  <a:pt x="408214" y="128588"/>
                </a:cubicBezTo>
                <a:lnTo>
                  <a:pt x="408214" y="100013"/>
                </a:lnTo>
                <a:cubicBezTo>
                  <a:pt x="408214" y="92154"/>
                  <a:pt x="400866" y="85725"/>
                  <a:pt x="391886" y="85725"/>
                </a:cubicBezTo>
                <a:lnTo>
                  <a:pt x="359229" y="8572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11557000" y="2286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Professional Film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557000" y="2730500"/>
            <a:ext cx="317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Premiere Pro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After Effects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 production pipeline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3937000"/>
            <a:ext cx="4445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24000" y="425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100" y="174843"/>
                </a:moveTo>
                <a:lnTo>
                  <a:pt x="204152" y="251728"/>
                </a:lnTo>
                <a:cubicBezTo>
                  <a:pt x="211931" y="255300"/>
                  <a:pt x="220186" y="257175"/>
                  <a:pt x="228600" y="257175"/>
                </a:cubicBezTo>
                <a:cubicBezTo>
                  <a:pt x="237014" y="257175"/>
                  <a:pt x="245269" y="255300"/>
                  <a:pt x="253048" y="251728"/>
                </a:cubicBezTo>
                <a:lnTo>
                  <a:pt x="445453" y="162610"/>
                </a:lnTo>
                <a:cubicBezTo>
                  <a:pt x="452596" y="159306"/>
                  <a:pt x="457200" y="151537"/>
                  <a:pt x="457200" y="142875"/>
                </a:cubicBezTo>
                <a:cubicBezTo>
                  <a:pt x="457200" y="134213"/>
                  <a:pt x="452596" y="126444"/>
                  <a:pt x="445453" y="123140"/>
                </a:cubicBezTo>
                <a:lnTo>
                  <a:pt x="253048" y="34022"/>
                </a:lnTo>
                <a:cubicBezTo>
                  <a:pt x="245269" y="30450"/>
                  <a:pt x="237014" y="28575"/>
                  <a:pt x="228600" y="28575"/>
                </a:cubicBezTo>
                <a:cubicBezTo>
                  <a:pt x="220186" y="28575"/>
                  <a:pt x="211931" y="30450"/>
                  <a:pt x="204152" y="34022"/>
                </a:cubicBezTo>
                <a:lnTo>
                  <a:pt x="11748" y="123140"/>
                </a:lnTo>
                <a:cubicBezTo>
                  <a:pt x="4604" y="126444"/>
                  <a:pt x="0" y="134213"/>
                  <a:pt x="0" y="142875"/>
                </a:cubicBezTo>
                <a:lnTo>
                  <a:pt x="0" y="407194"/>
                </a:lnTo>
                <a:cubicBezTo>
                  <a:pt x="0" y="419070"/>
                  <a:pt x="8493" y="428625"/>
                  <a:pt x="19050" y="428625"/>
                </a:cubicBezTo>
                <a:cubicBezTo>
                  <a:pt x="29607" y="428625"/>
                  <a:pt x="38100" y="419070"/>
                  <a:pt x="38100" y="407194"/>
                </a:cubicBezTo>
                <a:lnTo>
                  <a:pt x="38100" y="174843"/>
                </a:lnTo>
                <a:close/>
                <a:moveTo>
                  <a:pt x="76200" y="238869"/>
                </a:moveTo>
                <a:lnTo>
                  <a:pt x="76200" y="342900"/>
                </a:lnTo>
                <a:cubicBezTo>
                  <a:pt x="76200" y="390227"/>
                  <a:pt x="144463" y="428625"/>
                  <a:pt x="228600" y="428625"/>
                </a:cubicBezTo>
                <a:cubicBezTo>
                  <a:pt x="312738" y="428625"/>
                  <a:pt x="381000" y="390227"/>
                  <a:pt x="381000" y="342900"/>
                </a:cubicBezTo>
                <a:lnTo>
                  <a:pt x="381000" y="238780"/>
                </a:lnTo>
                <a:lnTo>
                  <a:pt x="267573" y="291376"/>
                </a:lnTo>
                <a:cubicBezTo>
                  <a:pt x="255191" y="297091"/>
                  <a:pt x="242014" y="300037"/>
                  <a:pt x="228600" y="300037"/>
                </a:cubicBezTo>
                <a:cubicBezTo>
                  <a:pt x="215186" y="300037"/>
                  <a:pt x="202009" y="297091"/>
                  <a:pt x="189627" y="291376"/>
                </a:cubicBezTo>
                <a:lnTo>
                  <a:pt x="76200" y="23878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2159000" y="41910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Teaching Programming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59000" y="4635500"/>
            <a:ext cx="330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Scratch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 coding concepts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69000" y="3937000"/>
            <a:ext cx="4445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23000" y="425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33142" y="57864"/>
                </a:moveTo>
                <a:lnTo>
                  <a:pt x="123855" y="85725"/>
                </a:lnTo>
                <a:lnTo>
                  <a:pt x="57150" y="85725"/>
                </a:lnTo>
                <a:cubicBezTo>
                  <a:pt x="25628" y="85725"/>
                  <a:pt x="0" y="111353"/>
                  <a:pt x="0" y="14287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400050" y="428625"/>
                </a:lnTo>
                <a:cubicBezTo>
                  <a:pt x="431572" y="428625"/>
                  <a:pt x="457200" y="402997"/>
                  <a:pt x="457200" y="371475"/>
                </a:cubicBezTo>
                <a:lnTo>
                  <a:pt x="457200" y="142875"/>
                </a:lnTo>
                <a:cubicBezTo>
                  <a:pt x="457200" y="111353"/>
                  <a:pt x="431572" y="85725"/>
                  <a:pt x="400050" y="85725"/>
                </a:cubicBezTo>
                <a:lnTo>
                  <a:pt x="333345" y="85725"/>
                </a:lnTo>
                <a:lnTo>
                  <a:pt x="324058" y="57864"/>
                </a:lnTo>
                <a:cubicBezTo>
                  <a:pt x="318254" y="40362"/>
                  <a:pt x="301913" y="28575"/>
                  <a:pt x="283428" y="28575"/>
                </a:cubicBezTo>
                <a:lnTo>
                  <a:pt x="173772" y="28575"/>
                </a:lnTo>
                <a:cubicBezTo>
                  <a:pt x="155287" y="28575"/>
                  <a:pt x="138946" y="40362"/>
                  <a:pt x="133142" y="57864"/>
                </a:cubicBezTo>
                <a:close/>
                <a:moveTo>
                  <a:pt x="228600" y="171450"/>
                </a:moveTo>
                <a:cubicBezTo>
                  <a:pt x="275913" y="171450"/>
                  <a:pt x="314325" y="209862"/>
                  <a:pt x="314325" y="257175"/>
                </a:cubicBezTo>
                <a:cubicBezTo>
                  <a:pt x="314325" y="304488"/>
                  <a:pt x="275913" y="342900"/>
                  <a:pt x="228600" y="342900"/>
                </a:cubicBezTo>
                <a:cubicBezTo>
                  <a:pt x="181287" y="342900"/>
                  <a:pt x="142875" y="304488"/>
                  <a:pt x="142875" y="257175"/>
                </a:cubicBezTo>
                <a:cubicBezTo>
                  <a:pt x="142875" y="209862"/>
                  <a:pt x="181287" y="171450"/>
                  <a:pt x="228600" y="1714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41910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Photo Editing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4635500"/>
            <a:ext cx="330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Photoshop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or GIMP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Retouching &amp; compositing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3937000"/>
            <a:ext cx="4318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22000" y="425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9050" y="57150"/>
                </a:moveTo>
                <a:cubicBezTo>
                  <a:pt x="19050" y="25628"/>
                  <a:pt x="53221" y="0"/>
                  <a:pt x="95250" y="0"/>
                </a:cubicBezTo>
                <a:lnTo>
                  <a:pt x="361950" y="0"/>
                </a:lnTo>
                <a:cubicBezTo>
                  <a:pt x="403979" y="0"/>
                  <a:pt x="438150" y="25628"/>
                  <a:pt x="438150" y="57150"/>
                </a:cubicBezTo>
                <a:lnTo>
                  <a:pt x="438150" y="400050"/>
                </a:lnTo>
                <a:cubicBezTo>
                  <a:pt x="438150" y="431572"/>
                  <a:pt x="403979" y="457200"/>
                  <a:pt x="361950" y="457200"/>
                </a:cubicBezTo>
                <a:lnTo>
                  <a:pt x="95250" y="457200"/>
                </a:lnTo>
                <a:cubicBezTo>
                  <a:pt x="53221" y="457200"/>
                  <a:pt x="19050" y="431572"/>
                  <a:pt x="19050" y="400050"/>
                </a:cubicBezTo>
                <a:lnTo>
                  <a:pt x="19050" y="57150"/>
                </a:lnTo>
                <a:close/>
                <a:moveTo>
                  <a:pt x="95250" y="57150"/>
                </a:moveTo>
                <a:lnTo>
                  <a:pt x="95250" y="328613"/>
                </a:lnTo>
                <a:lnTo>
                  <a:pt x="361950" y="328613"/>
                </a:lnTo>
                <a:lnTo>
                  <a:pt x="361950" y="57150"/>
                </a:lnTo>
                <a:lnTo>
                  <a:pt x="95250" y="57150"/>
                </a:lnTo>
                <a:close/>
                <a:moveTo>
                  <a:pt x="228600" y="421481"/>
                </a:moveTo>
                <a:cubicBezTo>
                  <a:pt x="249674" y="421481"/>
                  <a:pt x="266700" y="408712"/>
                  <a:pt x="266700" y="392906"/>
                </a:cubicBezTo>
                <a:cubicBezTo>
                  <a:pt x="266700" y="377101"/>
                  <a:pt x="249674" y="364331"/>
                  <a:pt x="228600" y="364331"/>
                </a:cubicBezTo>
                <a:cubicBezTo>
                  <a:pt x="207526" y="364331"/>
                  <a:pt x="190500" y="377101"/>
                  <a:pt x="190500" y="392906"/>
                </a:cubicBezTo>
                <a:cubicBezTo>
                  <a:pt x="190500" y="408712"/>
                  <a:pt x="207526" y="421481"/>
                  <a:pt x="228600" y="421481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6" name="Text 24"/>
          <p:cNvSpPr/>
          <p:nvPr/>
        </p:nvSpPr>
        <p:spPr>
          <a:xfrm>
            <a:off x="11557000" y="4191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 Design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557000" y="4635500"/>
            <a:ext cx="317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Figma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UI/UX &amp; prototyping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0000" y="5969000"/>
            <a:ext cx="13716000" cy="177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1778000" y="6477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64979" y="457200"/>
                </a:moveTo>
                <a:cubicBezTo>
                  <a:pt x="476568" y="430649"/>
                  <a:pt x="499745" y="406598"/>
                  <a:pt x="525939" y="385882"/>
                </a:cubicBezTo>
                <a:cubicBezTo>
                  <a:pt x="577850" y="344924"/>
                  <a:pt x="609600" y="289560"/>
                  <a:pt x="609600" y="228600"/>
                </a:cubicBezTo>
                <a:cubicBezTo>
                  <a:pt x="609600" y="102394"/>
                  <a:pt x="473075" y="0"/>
                  <a:pt x="304800" y="0"/>
                </a:cubicBezTo>
                <a:cubicBezTo>
                  <a:pt x="136525" y="0"/>
                  <a:pt x="0" y="102394"/>
                  <a:pt x="0" y="228600"/>
                </a:cubicBezTo>
                <a:cubicBezTo>
                  <a:pt x="0" y="289560"/>
                  <a:pt x="31750" y="344924"/>
                  <a:pt x="83661" y="385882"/>
                </a:cubicBezTo>
                <a:cubicBezTo>
                  <a:pt x="109855" y="406598"/>
                  <a:pt x="133191" y="430649"/>
                  <a:pt x="144621" y="457200"/>
                </a:cubicBezTo>
                <a:lnTo>
                  <a:pt x="464820" y="457200"/>
                </a:lnTo>
                <a:close/>
                <a:moveTo>
                  <a:pt x="457200" y="514350"/>
                </a:moveTo>
                <a:lnTo>
                  <a:pt x="152400" y="514350"/>
                </a:lnTo>
                <a:lnTo>
                  <a:pt x="152400" y="533400"/>
                </a:lnTo>
                <a:cubicBezTo>
                  <a:pt x="152400" y="586026"/>
                  <a:pt x="209233" y="628650"/>
                  <a:pt x="279400" y="628650"/>
                </a:cubicBezTo>
                <a:lnTo>
                  <a:pt x="330200" y="628650"/>
                </a:lnTo>
                <a:cubicBezTo>
                  <a:pt x="400368" y="628650"/>
                  <a:pt x="457200" y="586026"/>
                  <a:pt x="457200" y="533400"/>
                </a:cubicBezTo>
                <a:lnTo>
                  <a:pt x="457200" y="514350"/>
                </a:lnTo>
                <a:close/>
                <a:moveTo>
                  <a:pt x="292100" y="133350"/>
                </a:moveTo>
                <a:cubicBezTo>
                  <a:pt x="228918" y="133350"/>
                  <a:pt x="177800" y="171688"/>
                  <a:pt x="177800" y="219075"/>
                </a:cubicBezTo>
                <a:cubicBezTo>
                  <a:pt x="177800" y="234910"/>
                  <a:pt x="160814" y="247650"/>
                  <a:pt x="139700" y="247650"/>
                </a:cubicBezTo>
                <a:cubicBezTo>
                  <a:pt x="118586" y="247650"/>
                  <a:pt x="101600" y="234910"/>
                  <a:pt x="101600" y="219075"/>
                </a:cubicBezTo>
                <a:cubicBezTo>
                  <a:pt x="101600" y="140137"/>
                  <a:pt x="186849" y="76200"/>
                  <a:pt x="292100" y="76200"/>
                </a:cubicBezTo>
                <a:cubicBezTo>
                  <a:pt x="313214" y="76200"/>
                  <a:pt x="330200" y="88940"/>
                  <a:pt x="330200" y="104775"/>
                </a:cubicBezTo>
                <a:cubicBezTo>
                  <a:pt x="330200" y="120610"/>
                  <a:pt x="313214" y="133350"/>
                  <a:pt x="292100" y="1333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667000" y="6223000"/>
            <a:ext cx="1193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Selection Principle: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Match tool capabilities to project requirements. Consider your budget, skill level, and delivery platform. Many professionals use multiple tools in their workflow.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an Integrated Workflow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 Professional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70000" y="2540000"/>
            <a:ext cx="2286000" cy="1016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2540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Figma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Design &amp; mockups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556000" y="29210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064000" y="2540000"/>
            <a:ext cx="2286000" cy="1016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4064000" y="2540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Photoshop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Asset preparation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50000" y="29210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6858000" y="2540000"/>
            <a:ext cx="2286000" cy="1016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2540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Premiere Pro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Video assembly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0" y="29210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9652000" y="2540000"/>
            <a:ext cx="2286000" cy="1016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2540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Audacity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Audio polish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38000" y="29210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2446000" y="2540000"/>
            <a:ext cx="2286000" cy="1016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12446000" y="2540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CapCut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Social clips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70000" y="4064000"/>
            <a:ext cx="4318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48000" y="438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5108" y="0"/>
                </a:moveTo>
                <a:cubicBezTo>
                  <a:pt x="53975" y="0"/>
                  <a:pt x="28663" y="28476"/>
                  <a:pt x="28663" y="63500"/>
                </a:cubicBezTo>
                <a:lnTo>
                  <a:pt x="28663" y="444500"/>
                </a:lnTo>
                <a:cubicBezTo>
                  <a:pt x="28663" y="479524"/>
                  <a:pt x="53975" y="508000"/>
                  <a:pt x="85108" y="508000"/>
                </a:cubicBezTo>
                <a:lnTo>
                  <a:pt x="310885" y="508000"/>
                </a:lnTo>
                <a:cubicBezTo>
                  <a:pt x="342018" y="508000"/>
                  <a:pt x="367330" y="479524"/>
                  <a:pt x="367330" y="444500"/>
                </a:cubicBezTo>
                <a:lnTo>
                  <a:pt x="367330" y="349250"/>
                </a:lnTo>
                <a:lnTo>
                  <a:pt x="436210" y="349250"/>
                </a:lnTo>
                <a:lnTo>
                  <a:pt x="408869" y="380008"/>
                </a:lnTo>
                <a:cubicBezTo>
                  <a:pt x="400579" y="389334"/>
                  <a:pt x="400579" y="404416"/>
                  <a:pt x="408869" y="413643"/>
                </a:cubicBezTo>
                <a:cubicBezTo>
                  <a:pt x="417160" y="422870"/>
                  <a:pt x="430565" y="422970"/>
                  <a:pt x="438767" y="413643"/>
                </a:cubicBezTo>
                <a:lnTo>
                  <a:pt x="502267" y="342205"/>
                </a:lnTo>
                <a:cubicBezTo>
                  <a:pt x="510558" y="332879"/>
                  <a:pt x="510558" y="317798"/>
                  <a:pt x="502267" y="308570"/>
                </a:cubicBezTo>
                <a:lnTo>
                  <a:pt x="438767" y="237133"/>
                </a:lnTo>
                <a:cubicBezTo>
                  <a:pt x="430477" y="227806"/>
                  <a:pt x="417072" y="227806"/>
                  <a:pt x="408869" y="237133"/>
                </a:cubicBezTo>
                <a:cubicBezTo>
                  <a:pt x="400667" y="246459"/>
                  <a:pt x="400579" y="261541"/>
                  <a:pt x="408869" y="270768"/>
                </a:cubicBezTo>
                <a:lnTo>
                  <a:pt x="436210" y="301526"/>
                </a:lnTo>
                <a:lnTo>
                  <a:pt x="367330" y="301526"/>
                </a:lnTo>
                <a:lnTo>
                  <a:pt x="367330" y="169069"/>
                </a:lnTo>
                <a:cubicBezTo>
                  <a:pt x="367330" y="152202"/>
                  <a:pt x="361421" y="136029"/>
                  <a:pt x="350838" y="124123"/>
                </a:cubicBezTo>
                <a:lnTo>
                  <a:pt x="256822" y="18554"/>
                </a:lnTo>
                <a:cubicBezTo>
                  <a:pt x="246239" y="6648"/>
                  <a:pt x="231951" y="0"/>
                  <a:pt x="216958" y="0"/>
                </a:cubicBezTo>
                <a:lnTo>
                  <a:pt x="85108" y="0"/>
                </a:lnTo>
                <a:close/>
                <a:moveTo>
                  <a:pt x="315736" y="174625"/>
                </a:moveTo>
                <a:lnTo>
                  <a:pt x="233274" y="174625"/>
                </a:lnTo>
                <a:cubicBezTo>
                  <a:pt x="221544" y="174625"/>
                  <a:pt x="212108" y="164009"/>
                  <a:pt x="212108" y="150813"/>
                </a:cubicBezTo>
                <a:lnTo>
                  <a:pt x="212108" y="58043"/>
                </a:lnTo>
                <a:lnTo>
                  <a:pt x="315736" y="174625"/>
                </a:lnTo>
                <a:close/>
                <a:moveTo>
                  <a:pt x="197997" y="325438"/>
                </a:moveTo>
                <a:cubicBezTo>
                  <a:pt x="197997" y="312241"/>
                  <a:pt x="207433" y="301625"/>
                  <a:pt x="219163" y="301625"/>
                </a:cubicBezTo>
                <a:lnTo>
                  <a:pt x="310885" y="301625"/>
                </a:lnTo>
                <a:lnTo>
                  <a:pt x="310885" y="349250"/>
                </a:lnTo>
                <a:lnTo>
                  <a:pt x="219163" y="349250"/>
                </a:lnTo>
                <a:cubicBezTo>
                  <a:pt x="207433" y="349250"/>
                  <a:pt x="197997" y="338634"/>
                  <a:pt x="197997" y="325438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1" name="Text 19"/>
          <p:cNvSpPr/>
          <p:nvPr/>
        </p:nvSpPr>
        <p:spPr>
          <a:xfrm>
            <a:off x="1651000" y="5080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 Compatibility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51000" y="5588000"/>
            <a:ext cx="355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Ensure consistent file formats between tools. Use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standard formats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PNG, MP4, WAV, PSD.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969000" y="4064000"/>
            <a:ext cx="4318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47000" y="438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476250"/>
                </a:moveTo>
                <a:cubicBezTo>
                  <a:pt x="56885" y="476250"/>
                  <a:pt x="0" y="412254"/>
                  <a:pt x="0" y="333375"/>
                </a:cubicBezTo>
                <a:cubicBezTo>
                  <a:pt x="0" y="270470"/>
                  <a:pt x="36160" y="217091"/>
                  <a:pt x="86342" y="197941"/>
                </a:cubicBezTo>
                <a:cubicBezTo>
                  <a:pt x="85196" y="190302"/>
                  <a:pt x="84667" y="182563"/>
                  <a:pt x="84667" y="174625"/>
                </a:cubicBezTo>
                <a:cubicBezTo>
                  <a:pt x="84667" y="95746"/>
                  <a:pt x="141552" y="31750"/>
                  <a:pt x="211667" y="31750"/>
                </a:cubicBezTo>
                <a:cubicBezTo>
                  <a:pt x="260526" y="31750"/>
                  <a:pt x="302948" y="62805"/>
                  <a:pt x="324203" y="108248"/>
                </a:cubicBezTo>
                <a:cubicBezTo>
                  <a:pt x="336726" y="100013"/>
                  <a:pt x="351367" y="95250"/>
                  <a:pt x="366889" y="95250"/>
                </a:cubicBezTo>
                <a:cubicBezTo>
                  <a:pt x="413632" y="95250"/>
                  <a:pt x="451556" y="137914"/>
                  <a:pt x="451556" y="190500"/>
                </a:cubicBezTo>
                <a:cubicBezTo>
                  <a:pt x="451556" y="206077"/>
                  <a:pt x="448204" y="220861"/>
                  <a:pt x="442295" y="233859"/>
                </a:cubicBezTo>
                <a:cubicBezTo>
                  <a:pt x="481101" y="254000"/>
                  <a:pt x="508000" y="298053"/>
                  <a:pt x="508000" y="349250"/>
                </a:cubicBezTo>
                <a:cubicBezTo>
                  <a:pt x="508000" y="419398"/>
                  <a:pt x="457465" y="476250"/>
                  <a:pt x="395111" y="476250"/>
                </a:cubicBezTo>
                <a:lnTo>
                  <a:pt x="127000" y="476250"/>
                </a:lnTo>
                <a:close/>
                <a:moveTo>
                  <a:pt x="268993" y="189508"/>
                </a:moveTo>
                <a:cubicBezTo>
                  <a:pt x="260703" y="180181"/>
                  <a:pt x="247297" y="180181"/>
                  <a:pt x="239095" y="189508"/>
                </a:cubicBezTo>
                <a:lnTo>
                  <a:pt x="175595" y="260945"/>
                </a:lnTo>
                <a:cubicBezTo>
                  <a:pt x="167305" y="270272"/>
                  <a:pt x="167305" y="285353"/>
                  <a:pt x="175595" y="294580"/>
                </a:cubicBezTo>
                <a:cubicBezTo>
                  <a:pt x="183885" y="303808"/>
                  <a:pt x="197291" y="303907"/>
                  <a:pt x="205493" y="294580"/>
                </a:cubicBezTo>
                <a:lnTo>
                  <a:pt x="232833" y="263823"/>
                </a:lnTo>
                <a:lnTo>
                  <a:pt x="232833" y="365125"/>
                </a:lnTo>
                <a:cubicBezTo>
                  <a:pt x="232833" y="378321"/>
                  <a:pt x="242270" y="388938"/>
                  <a:pt x="254000" y="388938"/>
                </a:cubicBezTo>
                <a:cubicBezTo>
                  <a:pt x="265730" y="388938"/>
                  <a:pt x="275167" y="378321"/>
                  <a:pt x="275167" y="365125"/>
                </a:cubicBezTo>
                <a:lnTo>
                  <a:pt x="275167" y="263823"/>
                </a:lnTo>
                <a:lnTo>
                  <a:pt x="302507" y="294580"/>
                </a:lnTo>
                <a:cubicBezTo>
                  <a:pt x="310797" y="303907"/>
                  <a:pt x="324203" y="303907"/>
                  <a:pt x="332405" y="294580"/>
                </a:cubicBezTo>
                <a:cubicBezTo>
                  <a:pt x="340607" y="285254"/>
                  <a:pt x="340695" y="270173"/>
                  <a:pt x="332405" y="260945"/>
                </a:cubicBezTo>
                <a:lnTo>
                  <a:pt x="268905" y="189508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5" name="Text 23"/>
          <p:cNvSpPr/>
          <p:nvPr/>
        </p:nvSpPr>
        <p:spPr>
          <a:xfrm>
            <a:off x="6350000" y="5080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Cloud Storage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50000" y="5588000"/>
            <a:ext cx="355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Drive, Dropbox, or Frame.io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bridge gaps between team members and tools.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668000" y="4064000"/>
            <a:ext cx="4318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446000" y="438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9400" y="0"/>
                </a:moveTo>
                <a:cubicBezTo>
                  <a:pt x="279400" y="-17562"/>
                  <a:pt x="268049" y="-31750"/>
                  <a:pt x="254000" y="-31750"/>
                </a:cubicBezTo>
                <a:cubicBezTo>
                  <a:pt x="239951" y="-31750"/>
                  <a:pt x="228600" y="-17562"/>
                  <a:pt x="228600" y="0"/>
                </a:cubicBezTo>
                <a:lnTo>
                  <a:pt x="228600" y="63500"/>
                </a:lnTo>
                <a:lnTo>
                  <a:pt x="152400" y="63500"/>
                </a:lnTo>
                <a:cubicBezTo>
                  <a:pt x="110331" y="63500"/>
                  <a:pt x="76200" y="106164"/>
                  <a:pt x="76200" y="158750"/>
                </a:cubicBezTo>
                <a:lnTo>
                  <a:pt x="76200" y="381000"/>
                </a:lnTo>
                <a:cubicBezTo>
                  <a:pt x="76200" y="433586"/>
                  <a:pt x="110331" y="476250"/>
                  <a:pt x="152400" y="476250"/>
                </a:cubicBezTo>
                <a:lnTo>
                  <a:pt x="355600" y="476250"/>
                </a:lnTo>
                <a:cubicBezTo>
                  <a:pt x="397669" y="476250"/>
                  <a:pt x="431800" y="433586"/>
                  <a:pt x="431800" y="381000"/>
                </a:cubicBezTo>
                <a:lnTo>
                  <a:pt x="431800" y="158750"/>
                </a:lnTo>
                <a:cubicBezTo>
                  <a:pt x="431800" y="106164"/>
                  <a:pt x="397669" y="63500"/>
                  <a:pt x="355600" y="63500"/>
                </a:cubicBezTo>
                <a:lnTo>
                  <a:pt x="279400" y="63500"/>
                </a:lnTo>
                <a:lnTo>
                  <a:pt x="279400" y="0"/>
                </a:lnTo>
                <a:close/>
                <a:moveTo>
                  <a:pt x="127000" y="365125"/>
                </a:moveTo>
                <a:cubicBezTo>
                  <a:pt x="127000" y="351929"/>
                  <a:pt x="135493" y="341313"/>
                  <a:pt x="146050" y="341313"/>
                </a:cubicBezTo>
                <a:lnTo>
                  <a:pt x="171450" y="341313"/>
                </a:lnTo>
                <a:cubicBezTo>
                  <a:pt x="182007" y="341313"/>
                  <a:pt x="190500" y="351929"/>
                  <a:pt x="190500" y="365125"/>
                </a:cubicBezTo>
                <a:cubicBezTo>
                  <a:pt x="190500" y="378321"/>
                  <a:pt x="182007" y="388938"/>
                  <a:pt x="171450" y="388938"/>
                </a:cubicBezTo>
                <a:lnTo>
                  <a:pt x="146050" y="388938"/>
                </a:lnTo>
                <a:cubicBezTo>
                  <a:pt x="135493" y="388938"/>
                  <a:pt x="127000" y="378321"/>
                  <a:pt x="127000" y="365125"/>
                </a:cubicBezTo>
                <a:close/>
                <a:moveTo>
                  <a:pt x="222250" y="365125"/>
                </a:moveTo>
                <a:cubicBezTo>
                  <a:pt x="222250" y="351929"/>
                  <a:pt x="230743" y="341313"/>
                  <a:pt x="241300" y="341313"/>
                </a:cubicBezTo>
                <a:lnTo>
                  <a:pt x="266700" y="341313"/>
                </a:lnTo>
                <a:cubicBezTo>
                  <a:pt x="277257" y="341313"/>
                  <a:pt x="285750" y="351929"/>
                  <a:pt x="285750" y="365125"/>
                </a:cubicBezTo>
                <a:cubicBezTo>
                  <a:pt x="285750" y="378321"/>
                  <a:pt x="277257" y="388938"/>
                  <a:pt x="266700" y="388938"/>
                </a:cubicBezTo>
                <a:lnTo>
                  <a:pt x="241300" y="388938"/>
                </a:lnTo>
                <a:cubicBezTo>
                  <a:pt x="230743" y="388938"/>
                  <a:pt x="222250" y="378321"/>
                  <a:pt x="222250" y="365125"/>
                </a:cubicBezTo>
                <a:close/>
                <a:moveTo>
                  <a:pt x="317500" y="365125"/>
                </a:moveTo>
                <a:cubicBezTo>
                  <a:pt x="317500" y="351929"/>
                  <a:pt x="325993" y="341313"/>
                  <a:pt x="336550" y="341313"/>
                </a:cubicBezTo>
                <a:lnTo>
                  <a:pt x="361950" y="341313"/>
                </a:lnTo>
                <a:cubicBezTo>
                  <a:pt x="372507" y="341313"/>
                  <a:pt x="381000" y="351929"/>
                  <a:pt x="381000" y="365125"/>
                </a:cubicBezTo>
                <a:cubicBezTo>
                  <a:pt x="381000" y="378321"/>
                  <a:pt x="372507" y="388938"/>
                  <a:pt x="361950" y="388938"/>
                </a:cubicBezTo>
                <a:lnTo>
                  <a:pt x="336550" y="388938"/>
                </a:lnTo>
                <a:cubicBezTo>
                  <a:pt x="325993" y="388938"/>
                  <a:pt x="317500" y="378321"/>
                  <a:pt x="317500" y="365125"/>
                </a:cubicBezTo>
                <a:close/>
                <a:moveTo>
                  <a:pt x="177800" y="174625"/>
                </a:moveTo>
                <a:cubicBezTo>
                  <a:pt x="198828" y="174625"/>
                  <a:pt x="215900" y="195965"/>
                  <a:pt x="215900" y="222250"/>
                </a:cubicBezTo>
                <a:cubicBezTo>
                  <a:pt x="215900" y="248535"/>
                  <a:pt x="198828" y="269875"/>
                  <a:pt x="177800" y="269875"/>
                </a:cubicBezTo>
                <a:cubicBezTo>
                  <a:pt x="156772" y="269875"/>
                  <a:pt x="139700" y="248535"/>
                  <a:pt x="139700" y="222250"/>
                </a:cubicBezTo>
                <a:cubicBezTo>
                  <a:pt x="139700" y="195965"/>
                  <a:pt x="156772" y="174625"/>
                  <a:pt x="177800" y="174625"/>
                </a:cubicBezTo>
                <a:close/>
                <a:moveTo>
                  <a:pt x="292100" y="222250"/>
                </a:moveTo>
                <a:cubicBezTo>
                  <a:pt x="292100" y="195965"/>
                  <a:pt x="309172" y="174625"/>
                  <a:pt x="330200" y="174625"/>
                </a:cubicBezTo>
                <a:cubicBezTo>
                  <a:pt x="351228" y="174625"/>
                  <a:pt x="368300" y="195965"/>
                  <a:pt x="368300" y="222250"/>
                </a:cubicBezTo>
                <a:cubicBezTo>
                  <a:pt x="368300" y="248535"/>
                  <a:pt x="351228" y="269875"/>
                  <a:pt x="330200" y="269875"/>
                </a:cubicBezTo>
                <a:cubicBezTo>
                  <a:pt x="309172" y="269875"/>
                  <a:pt x="292100" y="248535"/>
                  <a:pt x="292100" y="222250"/>
                </a:cubicBezTo>
                <a:close/>
                <a:moveTo>
                  <a:pt x="50800" y="222250"/>
                </a:moveTo>
                <a:cubicBezTo>
                  <a:pt x="50800" y="204688"/>
                  <a:pt x="39449" y="190500"/>
                  <a:pt x="25400" y="190500"/>
                </a:cubicBezTo>
                <a:cubicBezTo>
                  <a:pt x="11351" y="190500"/>
                  <a:pt x="0" y="204688"/>
                  <a:pt x="0" y="222250"/>
                </a:cubicBezTo>
                <a:lnTo>
                  <a:pt x="0" y="317500"/>
                </a:lnTo>
                <a:cubicBezTo>
                  <a:pt x="0" y="335062"/>
                  <a:pt x="11351" y="349250"/>
                  <a:pt x="25400" y="349250"/>
                </a:cubicBezTo>
                <a:cubicBezTo>
                  <a:pt x="39449" y="349250"/>
                  <a:pt x="50800" y="335062"/>
                  <a:pt x="50800" y="317500"/>
                </a:cubicBezTo>
                <a:lnTo>
                  <a:pt x="50800" y="222250"/>
                </a:lnTo>
                <a:close/>
                <a:moveTo>
                  <a:pt x="482600" y="190500"/>
                </a:moveTo>
                <a:cubicBezTo>
                  <a:pt x="468551" y="190500"/>
                  <a:pt x="457200" y="204688"/>
                  <a:pt x="457200" y="222250"/>
                </a:cubicBezTo>
                <a:lnTo>
                  <a:pt x="457200" y="317500"/>
                </a:lnTo>
                <a:cubicBezTo>
                  <a:pt x="457200" y="335062"/>
                  <a:pt x="468551" y="349250"/>
                  <a:pt x="482600" y="349250"/>
                </a:cubicBezTo>
                <a:cubicBezTo>
                  <a:pt x="496649" y="349250"/>
                  <a:pt x="508000" y="335062"/>
                  <a:pt x="508000" y="317500"/>
                </a:cubicBezTo>
                <a:lnTo>
                  <a:pt x="508000" y="222250"/>
                </a:lnTo>
                <a:cubicBezTo>
                  <a:pt x="508000" y="204688"/>
                  <a:pt x="496649" y="190500"/>
                  <a:pt x="482600" y="1905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9" name="Text 27"/>
          <p:cNvSpPr/>
          <p:nvPr/>
        </p:nvSpPr>
        <p:spPr>
          <a:xfrm>
            <a:off x="11049000" y="5080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Automation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1049000" y="5588000"/>
            <a:ext cx="355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Zapier or Make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automate repetitive handoffs between tools and platforms.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Trends &amp; Emerging Technologies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4318000"/>
            <a:ext cx="13716000" cy="50800"/>
          </a:xfrm>
          <a:prstGeom prst="rect">
            <a:avLst/>
          </a:prstGeom>
          <a:solidFill>
            <a:srgbClr val="2E5E8A"/>
          </a:solidFill>
          <a:ln/>
        </p:spPr>
      </p:sp>
      <p:sp>
        <p:nvSpPr>
          <p:cNvPr id="5" name="Shape 3"/>
          <p:cNvSpPr/>
          <p:nvPr/>
        </p:nvSpPr>
        <p:spPr>
          <a:xfrm>
            <a:off x="1651000" y="4165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4699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89000" y="2286000"/>
            <a:ext cx="2286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16000" y="2413000"/>
            <a:ext cx="20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Mainstream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Generative video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Auto-editing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Voice synthesis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99000" y="4165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4000" y="46990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2026-27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37000" y="5334000"/>
            <a:ext cx="2286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64000" y="5461000"/>
            <a:ext cx="203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Collab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Universal sync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Cross-tool edit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Live preview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47000" y="4165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2000" y="46990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2027-28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85000" y="2286000"/>
            <a:ext cx="2286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12000" y="2413000"/>
            <a:ext cx="203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VR/AR Mature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Spatial editing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3D authoring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Immersive UX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795000" y="4165600"/>
            <a:ext cx="355600" cy="355600"/>
          </a:xfrm>
          <a:prstGeom prst="ellipse">
            <a:avLst/>
          </a:prstGeom>
          <a:solidFill>
            <a:srgbClr val="2E5E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60000" y="46990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2028-30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33000" y="5334000"/>
            <a:ext cx="2540000" cy="165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0" name="Text 18"/>
          <p:cNvSpPr/>
          <p:nvPr/>
        </p:nvSpPr>
        <p:spPr>
          <a:xfrm>
            <a:off x="10160000" y="5461000"/>
            <a:ext cx="2286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No-Code &amp; Quantum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Visual creation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Quantum render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Blockchain rights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270000" y="7239000"/>
            <a:ext cx="13716000" cy="76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78000" y="73025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Implication: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Professionals must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continuously adapt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their toolstack to stay competitive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540000" y="1778000"/>
            <a:ext cx="1117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Predicted developments that will reshape the multimedia creation landscape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558800" cy="5588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032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32000" y="1968500"/>
            <a:ext cx="673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right tool depends on your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case, budget, and skill level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2921000"/>
            <a:ext cx="558800" cy="5588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2921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32000" y="2857500"/>
            <a:ext cx="673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 tools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(Audacity, CapCut, Scratch)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surprisingly capable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3810000"/>
            <a:ext cx="558800" cy="5588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3810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32000" y="3746500"/>
            <a:ext cx="673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 tools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(Premiere, Photoshop)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offer unmatched depth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70000" y="4699000"/>
            <a:ext cx="558800" cy="5588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1270000" y="4699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32000" y="4635500"/>
            <a:ext cx="673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Collaboration is the new standard —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Figma proved it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5588000"/>
            <a:ext cx="558800" cy="5588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1270000" y="5588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32000" y="5524500"/>
            <a:ext cx="673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is transforming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every aspect of multimedia creation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70000" y="6477000"/>
            <a:ext cx="558800" cy="5588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0" name="Text 18"/>
          <p:cNvSpPr/>
          <p:nvPr/>
        </p:nvSpPr>
        <p:spPr>
          <a:xfrm>
            <a:off x="1270000" y="6477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032000" y="6413500"/>
            <a:ext cx="673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learning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essential in this rapidly evolving field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0" y="2032000"/>
            <a:ext cx="5842000" cy="5334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11684000" y="2540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409443" y="-28129"/>
                </a:moveTo>
                <a:cubicBezTo>
                  <a:pt x="404019" y="-40035"/>
                  <a:pt x="393039" y="-47625"/>
                  <a:pt x="381132" y="-47625"/>
                </a:cubicBezTo>
                <a:cubicBezTo>
                  <a:pt x="369226" y="-47625"/>
                  <a:pt x="358246" y="-40035"/>
                  <a:pt x="352822" y="-28129"/>
                </a:cubicBezTo>
                <a:lnTo>
                  <a:pt x="255455" y="186482"/>
                </a:lnTo>
                <a:lnTo>
                  <a:pt x="43921" y="224284"/>
                </a:lnTo>
                <a:cubicBezTo>
                  <a:pt x="32147" y="226368"/>
                  <a:pt x="22357" y="235744"/>
                  <a:pt x="18653" y="248543"/>
                </a:cubicBezTo>
                <a:cubicBezTo>
                  <a:pt x="14949" y="261342"/>
                  <a:pt x="17992" y="275332"/>
                  <a:pt x="26326" y="284857"/>
                </a:cubicBezTo>
                <a:lnTo>
                  <a:pt x="177668" y="455265"/>
                </a:lnTo>
                <a:lnTo>
                  <a:pt x="144330" y="693241"/>
                </a:lnTo>
                <a:cubicBezTo>
                  <a:pt x="142478" y="706487"/>
                  <a:pt x="147373" y="719882"/>
                  <a:pt x="157030" y="727770"/>
                </a:cubicBezTo>
                <a:cubicBezTo>
                  <a:pt x="166688" y="735657"/>
                  <a:pt x="179388" y="736848"/>
                  <a:pt x="190103" y="730746"/>
                </a:cubicBezTo>
                <a:lnTo>
                  <a:pt x="381132" y="621506"/>
                </a:lnTo>
                <a:lnTo>
                  <a:pt x="572029" y="730746"/>
                </a:lnTo>
                <a:cubicBezTo>
                  <a:pt x="582613" y="736848"/>
                  <a:pt x="595445" y="735657"/>
                  <a:pt x="605102" y="727770"/>
                </a:cubicBezTo>
                <a:cubicBezTo>
                  <a:pt x="614759" y="719882"/>
                  <a:pt x="619654" y="706636"/>
                  <a:pt x="617802" y="693241"/>
                </a:cubicBezTo>
                <a:lnTo>
                  <a:pt x="584332" y="455265"/>
                </a:lnTo>
                <a:lnTo>
                  <a:pt x="735674" y="284857"/>
                </a:lnTo>
                <a:cubicBezTo>
                  <a:pt x="744141" y="275332"/>
                  <a:pt x="747051" y="261342"/>
                  <a:pt x="743347" y="248543"/>
                </a:cubicBezTo>
                <a:cubicBezTo>
                  <a:pt x="739643" y="235744"/>
                  <a:pt x="729985" y="226368"/>
                  <a:pt x="718079" y="224284"/>
                </a:cubicBezTo>
                <a:lnTo>
                  <a:pt x="506677" y="186482"/>
                </a:lnTo>
                <a:lnTo>
                  <a:pt x="409443" y="-2812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652000" y="3556000"/>
            <a:ext cx="482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Remember This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652000" y="4191000"/>
            <a:ext cx="4826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There is no "best" tool — only the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right tool for the job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 with your project's requirements, evaluate constraints, and choose accordingly.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most successful creators are 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tool-agnostic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adapt their workflow.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Resources for Further Learning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22514" y="609600"/>
                </a:moveTo>
                <a:lnTo>
                  <a:pt x="130629" y="609600"/>
                </a:lnTo>
                <a:cubicBezTo>
                  <a:pt x="58511" y="609600"/>
                  <a:pt x="0" y="558403"/>
                  <a:pt x="0" y="495300"/>
                </a:cubicBezTo>
                <a:lnTo>
                  <a:pt x="0" y="114300"/>
                </a:lnTo>
                <a:cubicBezTo>
                  <a:pt x="0" y="51197"/>
                  <a:pt x="58511" y="0"/>
                  <a:pt x="130629" y="0"/>
                </a:cubicBezTo>
                <a:lnTo>
                  <a:pt x="544286" y="0"/>
                </a:lnTo>
                <a:cubicBezTo>
                  <a:pt x="580345" y="0"/>
                  <a:pt x="609600" y="25598"/>
                  <a:pt x="609600" y="57150"/>
                </a:cubicBezTo>
                <a:lnTo>
                  <a:pt x="609600" y="400050"/>
                </a:lnTo>
                <a:cubicBezTo>
                  <a:pt x="609600" y="424934"/>
                  <a:pt x="591366" y="446127"/>
                  <a:pt x="566057" y="453985"/>
                </a:cubicBezTo>
                <a:lnTo>
                  <a:pt x="566057" y="533400"/>
                </a:lnTo>
                <a:cubicBezTo>
                  <a:pt x="590142" y="533400"/>
                  <a:pt x="609600" y="550426"/>
                  <a:pt x="609600" y="571500"/>
                </a:cubicBezTo>
                <a:cubicBezTo>
                  <a:pt x="609600" y="592574"/>
                  <a:pt x="590142" y="609600"/>
                  <a:pt x="566057" y="609600"/>
                </a:cubicBezTo>
                <a:lnTo>
                  <a:pt x="522514" y="609600"/>
                </a:lnTo>
                <a:close/>
                <a:moveTo>
                  <a:pt x="130629" y="457200"/>
                </a:moveTo>
                <a:cubicBezTo>
                  <a:pt x="106544" y="457200"/>
                  <a:pt x="87086" y="474226"/>
                  <a:pt x="87086" y="495300"/>
                </a:cubicBezTo>
                <a:cubicBezTo>
                  <a:pt x="87086" y="516374"/>
                  <a:pt x="106544" y="533400"/>
                  <a:pt x="130629" y="533400"/>
                </a:cubicBezTo>
                <a:lnTo>
                  <a:pt x="478971" y="533400"/>
                </a:lnTo>
                <a:lnTo>
                  <a:pt x="478971" y="457200"/>
                </a:lnTo>
                <a:lnTo>
                  <a:pt x="130629" y="457200"/>
                </a:lnTo>
                <a:close/>
                <a:moveTo>
                  <a:pt x="174171" y="180975"/>
                </a:moveTo>
                <a:cubicBezTo>
                  <a:pt x="174171" y="196810"/>
                  <a:pt x="188731" y="209550"/>
                  <a:pt x="206829" y="209550"/>
                </a:cubicBezTo>
                <a:lnTo>
                  <a:pt x="446314" y="209550"/>
                </a:lnTo>
                <a:cubicBezTo>
                  <a:pt x="464412" y="209550"/>
                  <a:pt x="478971" y="196810"/>
                  <a:pt x="478971" y="180975"/>
                </a:cubicBezTo>
                <a:cubicBezTo>
                  <a:pt x="478971" y="165140"/>
                  <a:pt x="464412" y="152400"/>
                  <a:pt x="446314" y="152400"/>
                </a:cubicBezTo>
                <a:lnTo>
                  <a:pt x="206829" y="152400"/>
                </a:lnTo>
                <a:cubicBezTo>
                  <a:pt x="188731" y="152400"/>
                  <a:pt x="174171" y="165140"/>
                  <a:pt x="174171" y="180975"/>
                </a:cubicBezTo>
                <a:close/>
                <a:moveTo>
                  <a:pt x="206829" y="266700"/>
                </a:moveTo>
                <a:cubicBezTo>
                  <a:pt x="188731" y="266700"/>
                  <a:pt x="174171" y="279440"/>
                  <a:pt x="174171" y="295275"/>
                </a:cubicBezTo>
                <a:cubicBezTo>
                  <a:pt x="174171" y="311110"/>
                  <a:pt x="188731" y="323850"/>
                  <a:pt x="206829" y="323850"/>
                </a:cubicBezTo>
                <a:lnTo>
                  <a:pt x="446314" y="323850"/>
                </a:lnTo>
                <a:cubicBezTo>
                  <a:pt x="464412" y="323850"/>
                  <a:pt x="478971" y="311110"/>
                  <a:pt x="478971" y="295275"/>
                </a:cubicBezTo>
                <a:cubicBezTo>
                  <a:pt x="478971" y="279440"/>
                  <a:pt x="464412" y="266700"/>
                  <a:pt x="446314" y="266700"/>
                </a:cubicBezTo>
                <a:lnTo>
                  <a:pt x="206829" y="26670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302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Official Resources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3937000"/>
            <a:ext cx="355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Adobe Learn (Premiere, Photoshop)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Figma YouTube channel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Audacity Manual &amp; Wiki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Scratch Tutorial Library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CapCut Help Center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 with official docs for accuracy.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470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800" y="233124"/>
                </a:moveTo>
                <a:lnTo>
                  <a:pt x="272203" y="335637"/>
                </a:lnTo>
                <a:cubicBezTo>
                  <a:pt x="282575" y="340400"/>
                  <a:pt x="293582" y="342900"/>
                  <a:pt x="304800" y="342900"/>
                </a:cubicBezTo>
                <a:cubicBezTo>
                  <a:pt x="316018" y="342900"/>
                  <a:pt x="327025" y="340400"/>
                  <a:pt x="337397" y="335637"/>
                </a:cubicBezTo>
                <a:lnTo>
                  <a:pt x="593937" y="216813"/>
                </a:lnTo>
                <a:cubicBezTo>
                  <a:pt x="603462" y="212407"/>
                  <a:pt x="609600" y="202049"/>
                  <a:pt x="609600" y="190500"/>
                </a:cubicBezTo>
                <a:cubicBezTo>
                  <a:pt x="609600" y="178951"/>
                  <a:pt x="603462" y="168592"/>
                  <a:pt x="593937" y="164187"/>
                </a:cubicBezTo>
                <a:lnTo>
                  <a:pt x="337397" y="45363"/>
                </a:lnTo>
                <a:cubicBezTo>
                  <a:pt x="327025" y="40600"/>
                  <a:pt x="316018" y="38100"/>
                  <a:pt x="304800" y="38100"/>
                </a:cubicBezTo>
                <a:cubicBezTo>
                  <a:pt x="293582" y="38100"/>
                  <a:pt x="282575" y="40600"/>
                  <a:pt x="272203" y="45363"/>
                </a:cubicBezTo>
                <a:lnTo>
                  <a:pt x="15663" y="164187"/>
                </a:lnTo>
                <a:cubicBezTo>
                  <a:pt x="6138" y="168592"/>
                  <a:pt x="0" y="178951"/>
                  <a:pt x="0" y="190500"/>
                </a:cubicBezTo>
                <a:lnTo>
                  <a:pt x="0" y="542925"/>
                </a:lnTo>
                <a:cubicBezTo>
                  <a:pt x="0" y="558760"/>
                  <a:pt x="11324" y="571500"/>
                  <a:pt x="25400" y="571500"/>
                </a:cubicBezTo>
                <a:cubicBezTo>
                  <a:pt x="39476" y="571500"/>
                  <a:pt x="50800" y="558760"/>
                  <a:pt x="50800" y="542925"/>
                </a:cubicBezTo>
                <a:lnTo>
                  <a:pt x="50800" y="233124"/>
                </a:lnTo>
                <a:close/>
                <a:moveTo>
                  <a:pt x="101600" y="318492"/>
                </a:moveTo>
                <a:lnTo>
                  <a:pt x="101600" y="457200"/>
                </a:lnTo>
                <a:cubicBezTo>
                  <a:pt x="101600" y="520303"/>
                  <a:pt x="192617" y="571500"/>
                  <a:pt x="304800" y="571500"/>
                </a:cubicBezTo>
                <a:cubicBezTo>
                  <a:pt x="416983" y="571500"/>
                  <a:pt x="508000" y="520303"/>
                  <a:pt x="508000" y="457200"/>
                </a:cubicBezTo>
                <a:lnTo>
                  <a:pt x="508000" y="318373"/>
                </a:lnTo>
                <a:lnTo>
                  <a:pt x="356764" y="388501"/>
                </a:lnTo>
                <a:cubicBezTo>
                  <a:pt x="340254" y="396121"/>
                  <a:pt x="322686" y="400050"/>
                  <a:pt x="304800" y="400050"/>
                </a:cubicBezTo>
                <a:cubicBezTo>
                  <a:pt x="286914" y="400050"/>
                  <a:pt x="269346" y="396121"/>
                  <a:pt x="252836" y="388501"/>
                </a:cubicBezTo>
                <a:lnTo>
                  <a:pt x="101600" y="318373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350000" y="3302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Learning Platforms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50000" y="3937000"/>
            <a:ext cx="355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YouTube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Free tutorials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Udemy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Structured courses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LinkedIn Learning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Professional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Skillshare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Creative focus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Coursera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Academic depth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Mix free and paid resources.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558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4460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19050"/>
                </a:moveTo>
                <a:cubicBezTo>
                  <a:pt x="359473" y="19050"/>
                  <a:pt x="403860" y="74534"/>
                  <a:pt x="403860" y="142875"/>
                </a:cubicBezTo>
                <a:cubicBezTo>
                  <a:pt x="403860" y="211216"/>
                  <a:pt x="359473" y="266700"/>
                  <a:pt x="304800" y="266700"/>
                </a:cubicBezTo>
                <a:cubicBezTo>
                  <a:pt x="250127" y="266700"/>
                  <a:pt x="205740" y="211216"/>
                  <a:pt x="205740" y="142875"/>
                </a:cubicBezTo>
                <a:cubicBezTo>
                  <a:pt x="205740" y="74534"/>
                  <a:pt x="250127" y="19050"/>
                  <a:pt x="304800" y="19050"/>
                </a:cubicBezTo>
                <a:close/>
                <a:moveTo>
                  <a:pt x="91440" y="104775"/>
                </a:moveTo>
                <a:cubicBezTo>
                  <a:pt x="129290" y="104775"/>
                  <a:pt x="160020" y="143187"/>
                  <a:pt x="160020" y="190500"/>
                </a:cubicBezTo>
                <a:cubicBezTo>
                  <a:pt x="160020" y="237813"/>
                  <a:pt x="129290" y="276225"/>
                  <a:pt x="91440" y="276225"/>
                </a:cubicBezTo>
                <a:cubicBezTo>
                  <a:pt x="53590" y="276225"/>
                  <a:pt x="22860" y="237813"/>
                  <a:pt x="22860" y="190500"/>
                </a:cubicBezTo>
                <a:cubicBezTo>
                  <a:pt x="22860" y="143187"/>
                  <a:pt x="53590" y="104775"/>
                  <a:pt x="91440" y="104775"/>
                </a:cubicBezTo>
                <a:close/>
                <a:moveTo>
                  <a:pt x="0" y="495300"/>
                </a:moveTo>
                <a:cubicBezTo>
                  <a:pt x="0" y="411123"/>
                  <a:pt x="54578" y="342900"/>
                  <a:pt x="121920" y="342900"/>
                </a:cubicBezTo>
                <a:cubicBezTo>
                  <a:pt x="134112" y="342900"/>
                  <a:pt x="145923" y="345162"/>
                  <a:pt x="157067" y="349329"/>
                </a:cubicBezTo>
                <a:cubicBezTo>
                  <a:pt x="125730" y="393144"/>
                  <a:pt x="106680" y="451009"/>
                  <a:pt x="106680" y="514350"/>
                </a:cubicBezTo>
                <a:lnTo>
                  <a:pt x="106680" y="533400"/>
                </a:lnTo>
                <a:cubicBezTo>
                  <a:pt x="106680" y="546973"/>
                  <a:pt x="108966" y="559832"/>
                  <a:pt x="113062" y="571500"/>
                </a:cubicBezTo>
                <a:lnTo>
                  <a:pt x="30480" y="571500"/>
                </a:lnTo>
                <a:cubicBezTo>
                  <a:pt x="13621" y="571500"/>
                  <a:pt x="0" y="554474"/>
                  <a:pt x="0" y="533400"/>
                </a:cubicBezTo>
                <a:lnTo>
                  <a:pt x="0" y="495300"/>
                </a:lnTo>
                <a:close/>
                <a:moveTo>
                  <a:pt x="496538" y="571500"/>
                </a:moveTo>
                <a:cubicBezTo>
                  <a:pt x="500634" y="559832"/>
                  <a:pt x="502920" y="546973"/>
                  <a:pt x="502920" y="533400"/>
                </a:cubicBezTo>
                <a:lnTo>
                  <a:pt x="502920" y="514350"/>
                </a:lnTo>
                <a:cubicBezTo>
                  <a:pt x="502920" y="451009"/>
                  <a:pt x="483870" y="393144"/>
                  <a:pt x="452533" y="349329"/>
                </a:cubicBezTo>
                <a:cubicBezTo>
                  <a:pt x="463677" y="345162"/>
                  <a:pt x="475488" y="342900"/>
                  <a:pt x="487680" y="342900"/>
                </a:cubicBezTo>
                <a:cubicBezTo>
                  <a:pt x="555022" y="342900"/>
                  <a:pt x="609600" y="411123"/>
                  <a:pt x="609600" y="495300"/>
                </a:cubicBezTo>
                <a:lnTo>
                  <a:pt x="609600" y="533400"/>
                </a:lnTo>
                <a:cubicBezTo>
                  <a:pt x="609600" y="554474"/>
                  <a:pt x="595979" y="571500"/>
                  <a:pt x="579120" y="571500"/>
                </a:cubicBezTo>
                <a:lnTo>
                  <a:pt x="496538" y="571500"/>
                </a:lnTo>
                <a:close/>
                <a:moveTo>
                  <a:pt x="449580" y="190500"/>
                </a:moveTo>
                <a:cubicBezTo>
                  <a:pt x="449580" y="143187"/>
                  <a:pt x="480310" y="104775"/>
                  <a:pt x="518160" y="104775"/>
                </a:cubicBezTo>
                <a:cubicBezTo>
                  <a:pt x="556010" y="104775"/>
                  <a:pt x="586740" y="143187"/>
                  <a:pt x="586740" y="190500"/>
                </a:cubicBezTo>
                <a:cubicBezTo>
                  <a:pt x="586740" y="237813"/>
                  <a:pt x="556010" y="276225"/>
                  <a:pt x="518160" y="276225"/>
                </a:cubicBezTo>
                <a:cubicBezTo>
                  <a:pt x="480310" y="276225"/>
                  <a:pt x="449580" y="237813"/>
                  <a:pt x="449580" y="190500"/>
                </a:cubicBezTo>
                <a:close/>
                <a:moveTo>
                  <a:pt x="152400" y="514350"/>
                </a:moveTo>
                <a:cubicBezTo>
                  <a:pt x="152400" y="409099"/>
                  <a:pt x="220599" y="323850"/>
                  <a:pt x="304800" y="323850"/>
                </a:cubicBezTo>
                <a:cubicBezTo>
                  <a:pt x="389001" y="323850"/>
                  <a:pt x="457200" y="409099"/>
                  <a:pt x="457200" y="514350"/>
                </a:cubicBezTo>
                <a:lnTo>
                  <a:pt x="457200" y="533400"/>
                </a:lnTo>
                <a:cubicBezTo>
                  <a:pt x="457200" y="554474"/>
                  <a:pt x="443579" y="571500"/>
                  <a:pt x="426720" y="571500"/>
                </a:cubicBezTo>
                <a:lnTo>
                  <a:pt x="182880" y="571500"/>
                </a:lnTo>
                <a:cubicBezTo>
                  <a:pt x="166021" y="571500"/>
                  <a:pt x="152400" y="554474"/>
                  <a:pt x="152400" y="533400"/>
                </a:cubicBezTo>
                <a:lnTo>
                  <a:pt x="152400" y="5143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3302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Communities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049000" y="3937000"/>
            <a:ext cx="355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Reddit r/videoediting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Reddit r/photoshop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Figma Community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Discord servers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Stack Exchange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500"/>
              </a:spcBef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Practice Projects: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Recreate a video, design an app UI, produce a podcast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159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 Your Multimedia Toolkit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413000" y="3810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best tool is the one that helps you create. Start with your project, choose your tool, and keep creating.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953000" y="5080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W10 · Introduction &amp; Applications of Multimedia Tools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L19-L20 · 2026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</dc:title>
  <dc:subject>week 10</dc:subject>
  <dc:creator>Kimi</dc:creator>
  <cp:lastModifiedBy>Kimi</cp:lastModifiedBy>
  <cp:revision>1</cp:revision>
  <dcterms:created xsi:type="dcterms:W3CDTF">2026-06-29T08:09:29Z</dcterms:created>
  <dcterms:modified xsi:type="dcterms:W3CDTF">2026-06-29T08:09:29Z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{"Label":"week 10","ContentProducer":"001191110108MACG2KBH8F10000","ProduceID":"19f124f8-d322-8619-8000-00009ae9526b","ReservedCode1":"","ContentPropagator":"001191110108MACG2KBH8F20000","PropagateID":"19f124bd-1532-86e1-8000-0915e35fed1a","ReservedCode2":""}</vt:lpwstr>
  </property>
</Properties>
</file>