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%</c:v>
                </c:pt>
              </c:strCache>
            </c:strRef>
          </c:tx>
          <c:spPr>
            <a:solidFill>
              <a:srgbClr val="E891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Text Only</c:v>
                  </c:pt>
                  <c:pt idx="1">
                    <c:v>With Image</c:v>
                  </c:pt>
                  <c:pt idx="2">
                    <c:v>With Video</c:v>
                  </c:pt>
                  <c:pt idx="3">
                    <c:v>Interactive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65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nhjb3yt32yam/mnt/agents/output/multimedia_lecture/images/1_Free_Creative_Design_Studio_Image.png">    </p:cNvPr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6B5C">
                  <a:alpha val="95000"/>
                </a:srgbClr>
              </a:gs>
              <a:gs pos="60000">
                <a:srgbClr val="1B6B5C">
                  <a:alpha val="85000"/>
                </a:srgbClr>
              </a:gs>
              <a:gs pos="100000">
                <a:srgbClr val="1B6B5C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28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spc="3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4 — LECTURE 7 &amp; 8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778000" y="2794000"/>
            <a:ext cx="1016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Production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Functions of Graphics and Multimedia Learning Improvement Techniques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1778000" y="5080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8" name="Text 5"/>
          <p:cNvSpPr/>
          <p:nvPr/>
        </p:nvSpPr>
        <p:spPr>
          <a:xfrm>
            <a:off x="1778000" y="5334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How Visuals Improve Learning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78000" y="762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Production Course | 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Do We Need Visuals in Learning?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brain processes images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60,000x faster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text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65%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people are visual learners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Visuals help us remember information better and longer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visuals, learning becomes harder and less engaging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lecture explores how graphics improve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YouTube educational videos with animations get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3x more engagement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text-only content.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ABOUT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did you last learn something quickly — was a visual involved?</a:t>
            </a:r>
            <a:endParaRPr lang="en-US" sz="1800" dirty="0"/>
          </a:p>
        </p:txBody>
      </p:sp>
      <p:pic>
        <p:nvPicPr>
          <p:cNvPr id="16" name="Image 0" descr="https://kimi-img.moonshot.cn/pub/slides/okc/onhjb3yt32yam/mnt/agents/output/multimedia_lecture/images/2_Enhancing_Online_Learning_in_India.png">    </p:cNvPr>
          <p:cNvPicPr>
            <a:picLocks noChangeAspect="1"/>
          </p:cNvPicPr>
          <p:nvPr/>
        </p:nvPicPr>
        <p:blipFill>
          <a:blip r:embed="rId1"/>
          <a:srcRect l="18421" r="18421" t="0" b="0"/>
          <a:stretch/>
        </p:blipFill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</p:spPr>
      </p:pic>
      <p:sp>
        <p:nvSpPr>
          <p:cNvPr id="17" name="Text 14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learning in action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Are Graphics?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787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are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elements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communicate information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include images, drawings, charts, icons, and diagrams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turn complex ideas into simple pictures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make abstract concepts easy to understand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graphics speak louder than words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7874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36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road sign with a simple icon tells drivers what to do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any text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7874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ACTIVITY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36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 3 graphics you see every day in your environment.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0" y="1714500"/>
            <a:ext cx="6350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56800" y="2286000"/>
            <a:ext cx="711200" cy="812800"/>
          </a:xfrm>
          <a:custGeom>
            <a:avLst/>
            <a:gdLst/>
            <a:ahLst/>
            <a:cxnLst/>
            <a:rect l="l" t="t" r="r" b="b"/>
            <a:pathLst>
              <a:path w="711200" h="812800">
                <a:moveTo>
                  <a:pt x="101600" y="50800"/>
                </a:moveTo>
                <a:cubicBezTo>
                  <a:pt x="45561" y="50800"/>
                  <a:pt x="0" y="96361"/>
                  <a:pt x="0" y="152400"/>
                </a:cubicBezTo>
                <a:lnTo>
                  <a:pt x="0" y="660400"/>
                </a:lnTo>
                <a:cubicBezTo>
                  <a:pt x="0" y="716439"/>
                  <a:pt x="45561" y="762000"/>
                  <a:pt x="101600" y="762000"/>
                </a:cubicBezTo>
                <a:lnTo>
                  <a:pt x="609600" y="762000"/>
                </a:lnTo>
                <a:cubicBezTo>
                  <a:pt x="665639" y="762000"/>
                  <a:pt x="711200" y="716439"/>
                  <a:pt x="711200" y="660400"/>
                </a:cubicBezTo>
                <a:lnTo>
                  <a:pt x="711200" y="152400"/>
                </a:lnTo>
                <a:cubicBezTo>
                  <a:pt x="711200" y="96361"/>
                  <a:pt x="665639" y="50800"/>
                  <a:pt x="609600" y="50800"/>
                </a:cubicBezTo>
                <a:lnTo>
                  <a:pt x="101600" y="50800"/>
                </a:lnTo>
                <a:close/>
                <a:moveTo>
                  <a:pt x="203200" y="177800"/>
                </a:moveTo>
                <a:cubicBezTo>
                  <a:pt x="245256" y="177800"/>
                  <a:pt x="279400" y="211944"/>
                  <a:pt x="279400" y="254000"/>
                </a:cubicBezTo>
                <a:cubicBezTo>
                  <a:pt x="279400" y="296056"/>
                  <a:pt x="245256" y="330200"/>
                  <a:pt x="203200" y="330200"/>
                </a:cubicBezTo>
                <a:cubicBezTo>
                  <a:pt x="161144" y="330200"/>
                  <a:pt x="127000" y="296056"/>
                  <a:pt x="127000" y="254000"/>
                </a:cubicBezTo>
                <a:cubicBezTo>
                  <a:pt x="127000" y="211944"/>
                  <a:pt x="161144" y="177800"/>
                  <a:pt x="203200" y="177800"/>
                </a:cubicBezTo>
                <a:close/>
                <a:moveTo>
                  <a:pt x="431800" y="355600"/>
                </a:moveTo>
                <a:cubicBezTo>
                  <a:pt x="445135" y="355600"/>
                  <a:pt x="457359" y="362585"/>
                  <a:pt x="464344" y="373856"/>
                </a:cubicBezTo>
                <a:lnTo>
                  <a:pt x="604044" y="602456"/>
                </a:lnTo>
                <a:cubicBezTo>
                  <a:pt x="611188" y="614204"/>
                  <a:pt x="611505" y="628968"/>
                  <a:pt x="604838" y="641033"/>
                </a:cubicBezTo>
                <a:cubicBezTo>
                  <a:pt x="598170" y="653098"/>
                  <a:pt x="585311" y="660400"/>
                  <a:pt x="571500" y="660400"/>
                </a:cubicBezTo>
                <a:lnTo>
                  <a:pt x="139700" y="660400"/>
                </a:lnTo>
                <a:cubicBezTo>
                  <a:pt x="125571" y="660400"/>
                  <a:pt x="112395" y="652463"/>
                  <a:pt x="105886" y="639921"/>
                </a:cubicBezTo>
                <a:cubicBezTo>
                  <a:pt x="99378" y="627380"/>
                  <a:pt x="100330" y="612140"/>
                  <a:pt x="108426" y="600551"/>
                </a:cubicBezTo>
                <a:lnTo>
                  <a:pt x="197326" y="473551"/>
                </a:lnTo>
                <a:cubicBezTo>
                  <a:pt x="204470" y="463391"/>
                  <a:pt x="216059" y="457359"/>
                  <a:pt x="228600" y="457359"/>
                </a:cubicBezTo>
                <a:cubicBezTo>
                  <a:pt x="241141" y="457359"/>
                  <a:pt x="252730" y="463391"/>
                  <a:pt x="259874" y="473551"/>
                </a:cubicBezTo>
                <a:lnTo>
                  <a:pt x="301784" y="533559"/>
                </a:lnTo>
                <a:lnTo>
                  <a:pt x="399256" y="374015"/>
                </a:lnTo>
                <a:cubicBezTo>
                  <a:pt x="406241" y="362744"/>
                  <a:pt x="418465" y="355759"/>
                  <a:pt x="431800" y="355759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0" y="3225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61800" y="2286000"/>
            <a:ext cx="914400" cy="812800"/>
          </a:xfrm>
          <a:custGeom>
            <a:avLst/>
            <a:gdLst/>
            <a:ahLst/>
            <a:cxnLst/>
            <a:rect l="l" t="t" r="r" b="b"/>
            <a:pathLst>
              <a:path w="914400" h="812800">
                <a:moveTo>
                  <a:pt x="813435" y="381000"/>
                </a:moveTo>
                <a:lnTo>
                  <a:pt x="534035" y="381000"/>
                </a:lnTo>
                <a:cubicBezTo>
                  <a:pt x="505936" y="381000"/>
                  <a:pt x="483235" y="358299"/>
                  <a:pt x="483235" y="330200"/>
                </a:cubicBezTo>
                <a:lnTo>
                  <a:pt x="483235" y="50800"/>
                </a:lnTo>
                <a:cubicBezTo>
                  <a:pt x="483235" y="22701"/>
                  <a:pt x="506095" y="-318"/>
                  <a:pt x="533876" y="3334"/>
                </a:cubicBezTo>
                <a:cubicBezTo>
                  <a:pt x="703739" y="25876"/>
                  <a:pt x="838359" y="160496"/>
                  <a:pt x="860901" y="330359"/>
                </a:cubicBezTo>
                <a:cubicBezTo>
                  <a:pt x="864552" y="358140"/>
                  <a:pt x="841534" y="381000"/>
                  <a:pt x="813435" y="381000"/>
                </a:cubicBezTo>
                <a:close/>
                <a:moveTo>
                  <a:pt x="353378" y="59055"/>
                </a:moveTo>
                <a:cubicBezTo>
                  <a:pt x="382111" y="53023"/>
                  <a:pt x="407035" y="76518"/>
                  <a:pt x="407035" y="105886"/>
                </a:cubicBezTo>
                <a:lnTo>
                  <a:pt x="407035" y="419100"/>
                </a:lnTo>
                <a:cubicBezTo>
                  <a:pt x="407035" y="427990"/>
                  <a:pt x="410210" y="436563"/>
                  <a:pt x="415766" y="443389"/>
                </a:cubicBezTo>
                <a:lnTo>
                  <a:pt x="625475" y="696436"/>
                </a:lnTo>
                <a:cubicBezTo>
                  <a:pt x="644049" y="718820"/>
                  <a:pt x="640080" y="752634"/>
                  <a:pt x="614521" y="766445"/>
                </a:cubicBezTo>
                <a:cubicBezTo>
                  <a:pt x="560388" y="795973"/>
                  <a:pt x="498316" y="812800"/>
                  <a:pt x="432435" y="812800"/>
                </a:cubicBezTo>
                <a:cubicBezTo>
                  <a:pt x="222091" y="812800"/>
                  <a:pt x="51435" y="642144"/>
                  <a:pt x="51435" y="431800"/>
                </a:cubicBezTo>
                <a:cubicBezTo>
                  <a:pt x="51435" y="248444"/>
                  <a:pt x="180816" y="95409"/>
                  <a:pt x="353378" y="59055"/>
                </a:cubicBezTo>
                <a:close/>
                <a:moveTo>
                  <a:pt x="758508" y="457200"/>
                </a:moveTo>
                <a:lnTo>
                  <a:pt x="860107" y="457200"/>
                </a:lnTo>
                <a:cubicBezTo>
                  <a:pt x="889476" y="457200"/>
                  <a:pt x="912971" y="482124"/>
                  <a:pt x="906939" y="510858"/>
                </a:cubicBezTo>
                <a:cubicBezTo>
                  <a:pt x="890746" y="587693"/>
                  <a:pt x="851376" y="655955"/>
                  <a:pt x="796449" y="708025"/>
                </a:cubicBezTo>
                <a:cubicBezTo>
                  <a:pt x="776922" y="726599"/>
                  <a:pt x="746284" y="722630"/>
                  <a:pt x="729139" y="701834"/>
                </a:cubicBezTo>
                <a:lnTo>
                  <a:pt x="595154" y="540385"/>
                </a:lnTo>
                <a:cubicBezTo>
                  <a:pt x="567690" y="507206"/>
                  <a:pt x="591344" y="457200"/>
                  <a:pt x="634206" y="457200"/>
                </a:cubicBezTo>
                <a:lnTo>
                  <a:pt x="758349" y="457200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531600" y="3225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919200" y="228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277654" y="431800"/>
                </a:moveTo>
                <a:cubicBezTo>
                  <a:pt x="294640" y="431800"/>
                  <a:pt x="310515" y="440214"/>
                  <a:pt x="319881" y="454342"/>
                </a:cubicBezTo>
                <a:lnTo>
                  <a:pt x="338614" y="482600"/>
                </a:lnTo>
                <a:lnTo>
                  <a:pt x="381000" y="482600"/>
                </a:lnTo>
                <a:cubicBezTo>
                  <a:pt x="423069" y="482600"/>
                  <a:pt x="457200" y="516731"/>
                  <a:pt x="457200" y="558800"/>
                </a:cubicBezTo>
                <a:lnTo>
                  <a:pt x="457200" y="736600"/>
                </a:lnTo>
                <a:cubicBezTo>
                  <a:pt x="457200" y="778669"/>
                  <a:pt x="423069" y="812800"/>
                  <a:pt x="381000" y="812800"/>
                </a:cubicBezTo>
                <a:lnTo>
                  <a:pt x="76200" y="812800"/>
                </a:lnTo>
                <a:cubicBezTo>
                  <a:pt x="34131" y="812800"/>
                  <a:pt x="0" y="778669"/>
                  <a:pt x="0" y="736600"/>
                </a:cubicBezTo>
                <a:lnTo>
                  <a:pt x="0" y="558800"/>
                </a:lnTo>
                <a:cubicBezTo>
                  <a:pt x="0" y="516731"/>
                  <a:pt x="34131" y="482600"/>
                  <a:pt x="76200" y="482600"/>
                </a:cubicBezTo>
                <a:lnTo>
                  <a:pt x="118586" y="482600"/>
                </a:lnTo>
                <a:lnTo>
                  <a:pt x="137319" y="454342"/>
                </a:lnTo>
                <a:cubicBezTo>
                  <a:pt x="146685" y="440214"/>
                  <a:pt x="162560" y="431800"/>
                  <a:pt x="179546" y="431800"/>
                </a:cubicBezTo>
                <a:lnTo>
                  <a:pt x="277495" y="431800"/>
                </a:lnTo>
                <a:close/>
                <a:moveTo>
                  <a:pt x="719931" y="412750"/>
                </a:moveTo>
                <a:cubicBezTo>
                  <a:pt x="728821" y="404971"/>
                  <a:pt x="741998" y="404336"/>
                  <a:pt x="751522" y="411321"/>
                </a:cubicBezTo>
                <a:cubicBezTo>
                  <a:pt x="761048" y="418306"/>
                  <a:pt x="764699" y="431006"/>
                  <a:pt x="759936" y="441960"/>
                </a:cubicBezTo>
                <a:lnTo>
                  <a:pt x="698976" y="584200"/>
                </a:lnTo>
                <a:lnTo>
                  <a:pt x="787400" y="584200"/>
                </a:lnTo>
                <a:cubicBezTo>
                  <a:pt x="798036" y="584200"/>
                  <a:pt x="807403" y="590709"/>
                  <a:pt x="811213" y="600710"/>
                </a:cubicBezTo>
                <a:cubicBezTo>
                  <a:pt x="815023" y="610711"/>
                  <a:pt x="812165" y="621824"/>
                  <a:pt x="804228" y="628809"/>
                </a:cubicBezTo>
                <a:lnTo>
                  <a:pt x="601028" y="806609"/>
                </a:lnTo>
                <a:cubicBezTo>
                  <a:pt x="592138" y="814388"/>
                  <a:pt x="578961" y="815023"/>
                  <a:pt x="569436" y="808037"/>
                </a:cubicBezTo>
                <a:cubicBezTo>
                  <a:pt x="559911" y="801052"/>
                  <a:pt x="556260" y="788353"/>
                  <a:pt x="561023" y="777399"/>
                </a:cubicBezTo>
                <a:lnTo>
                  <a:pt x="622141" y="635000"/>
                </a:lnTo>
                <a:lnTo>
                  <a:pt x="533559" y="635000"/>
                </a:lnTo>
                <a:cubicBezTo>
                  <a:pt x="522923" y="635000"/>
                  <a:pt x="513556" y="628491"/>
                  <a:pt x="509746" y="618490"/>
                </a:cubicBezTo>
                <a:cubicBezTo>
                  <a:pt x="505936" y="608489"/>
                  <a:pt x="508794" y="597376"/>
                  <a:pt x="516731" y="590391"/>
                </a:cubicBezTo>
                <a:lnTo>
                  <a:pt x="719931" y="412591"/>
                </a:lnTo>
                <a:close/>
                <a:moveTo>
                  <a:pt x="228600" y="571500"/>
                </a:moveTo>
                <a:cubicBezTo>
                  <a:pt x="186544" y="571500"/>
                  <a:pt x="152400" y="605644"/>
                  <a:pt x="152400" y="647700"/>
                </a:cubicBezTo>
                <a:cubicBezTo>
                  <a:pt x="152400" y="689756"/>
                  <a:pt x="186544" y="723900"/>
                  <a:pt x="228600" y="723900"/>
                </a:cubicBezTo>
                <a:cubicBezTo>
                  <a:pt x="270656" y="723900"/>
                  <a:pt x="304800" y="689756"/>
                  <a:pt x="304800" y="647700"/>
                </a:cubicBezTo>
                <a:cubicBezTo>
                  <a:pt x="304800" y="605644"/>
                  <a:pt x="270656" y="571500"/>
                  <a:pt x="228600" y="571500"/>
                </a:cubicBezTo>
                <a:close/>
                <a:moveTo>
                  <a:pt x="768033" y="635"/>
                </a:moveTo>
                <a:cubicBezTo>
                  <a:pt x="778351" y="-1111"/>
                  <a:pt x="788829" y="1270"/>
                  <a:pt x="797401" y="7620"/>
                </a:cubicBezTo>
                <a:cubicBezTo>
                  <a:pt x="807085" y="14764"/>
                  <a:pt x="812800" y="26194"/>
                  <a:pt x="812800" y="38100"/>
                </a:cubicBezTo>
                <a:lnTo>
                  <a:pt x="812800" y="279400"/>
                </a:lnTo>
                <a:lnTo>
                  <a:pt x="812324" y="287179"/>
                </a:lnTo>
                <a:cubicBezTo>
                  <a:pt x="807085" y="325596"/>
                  <a:pt x="763905" y="355600"/>
                  <a:pt x="711200" y="355600"/>
                </a:cubicBezTo>
                <a:cubicBezTo>
                  <a:pt x="655161" y="355600"/>
                  <a:pt x="609600" y="321469"/>
                  <a:pt x="609600" y="279400"/>
                </a:cubicBezTo>
                <a:cubicBezTo>
                  <a:pt x="609600" y="237331"/>
                  <a:pt x="655161" y="203200"/>
                  <a:pt x="711200" y="203200"/>
                </a:cubicBezTo>
                <a:cubicBezTo>
                  <a:pt x="719931" y="203200"/>
                  <a:pt x="728504" y="204152"/>
                  <a:pt x="736600" y="205740"/>
                </a:cubicBezTo>
                <a:lnTo>
                  <a:pt x="736600" y="127476"/>
                </a:lnTo>
                <a:lnTo>
                  <a:pt x="558800" y="180816"/>
                </a:lnTo>
                <a:lnTo>
                  <a:pt x="558800" y="355759"/>
                </a:lnTo>
                <a:lnTo>
                  <a:pt x="558324" y="363538"/>
                </a:lnTo>
                <a:cubicBezTo>
                  <a:pt x="553085" y="401955"/>
                  <a:pt x="509905" y="431959"/>
                  <a:pt x="457200" y="431959"/>
                </a:cubicBezTo>
                <a:cubicBezTo>
                  <a:pt x="401161" y="431959"/>
                  <a:pt x="355600" y="397828"/>
                  <a:pt x="355600" y="355759"/>
                </a:cubicBezTo>
                <a:cubicBezTo>
                  <a:pt x="355600" y="313690"/>
                  <a:pt x="401161" y="279559"/>
                  <a:pt x="457200" y="279559"/>
                </a:cubicBezTo>
                <a:cubicBezTo>
                  <a:pt x="465931" y="279559"/>
                  <a:pt x="474504" y="280511"/>
                  <a:pt x="482600" y="282099"/>
                </a:cubicBezTo>
                <a:lnTo>
                  <a:pt x="482600" y="114300"/>
                </a:lnTo>
                <a:cubicBezTo>
                  <a:pt x="482600" y="97473"/>
                  <a:pt x="493713" y="82550"/>
                  <a:pt x="509746" y="77788"/>
                </a:cubicBezTo>
                <a:lnTo>
                  <a:pt x="763746" y="1588"/>
                </a:lnTo>
                <a:lnTo>
                  <a:pt x="768033" y="635"/>
                </a:lnTo>
                <a:close/>
                <a:moveTo>
                  <a:pt x="299879" y="0"/>
                </a:moveTo>
                <a:cubicBezTo>
                  <a:pt x="358775" y="0"/>
                  <a:pt x="406400" y="47625"/>
                  <a:pt x="406400" y="106521"/>
                </a:cubicBezTo>
                <a:lnTo>
                  <a:pt x="406400" y="116205"/>
                </a:lnTo>
                <a:cubicBezTo>
                  <a:pt x="406400" y="205264"/>
                  <a:pt x="287020" y="294164"/>
                  <a:pt x="231299" y="330994"/>
                </a:cubicBezTo>
                <a:cubicBezTo>
                  <a:pt x="214154" y="342265"/>
                  <a:pt x="192246" y="342265"/>
                  <a:pt x="175101" y="330994"/>
                </a:cubicBezTo>
                <a:cubicBezTo>
                  <a:pt x="119380" y="294323"/>
                  <a:pt x="0" y="205264"/>
                  <a:pt x="0" y="116205"/>
                </a:cubicBezTo>
                <a:lnTo>
                  <a:pt x="0" y="106521"/>
                </a:lnTo>
                <a:cubicBezTo>
                  <a:pt x="0" y="47625"/>
                  <a:pt x="47625" y="0"/>
                  <a:pt x="106521" y="0"/>
                </a:cubicBezTo>
                <a:cubicBezTo>
                  <a:pt x="140018" y="0"/>
                  <a:pt x="171450" y="15716"/>
                  <a:pt x="191611" y="42545"/>
                </a:cubicBezTo>
                <a:lnTo>
                  <a:pt x="203200" y="58103"/>
                </a:lnTo>
                <a:lnTo>
                  <a:pt x="214789" y="42545"/>
                </a:lnTo>
                <a:cubicBezTo>
                  <a:pt x="234950" y="15716"/>
                  <a:pt x="266383" y="0"/>
                  <a:pt x="299879" y="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2" name="Text 20"/>
          <p:cNvSpPr/>
          <p:nvPr/>
        </p:nvSpPr>
        <p:spPr>
          <a:xfrm>
            <a:off x="13538200" y="3225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06000" y="4064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304800" y="101600"/>
                </a:moveTo>
                <a:cubicBezTo>
                  <a:pt x="304800" y="73501"/>
                  <a:pt x="327501" y="50800"/>
                  <a:pt x="355600" y="50800"/>
                </a:cubicBezTo>
                <a:lnTo>
                  <a:pt x="457200" y="50800"/>
                </a:lnTo>
                <a:cubicBezTo>
                  <a:pt x="485299" y="50800"/>
                  <a:pt x="508000" y="73501"/>
                  <a:pt x="508000" y="101600"/>
                </a:cubicBezTo>
                <a:lnTo>
                  <a:pt x="508000" y="203200"/>
                </a:lnTo>
                <a:cubicBezTo>
                  <a:pt x="508000" y="231299"/>
                  <a:pt x="485299" y="254000"/>
                  <a:pt x="457200" y="254000"/>
                </a:cubicBezTo>
                <a:lnTo>
                  <a:pt x="444500" y="254000"/>
                </a:lnTo>
                <a:lnTo>
                  <a:pt x="444500" y="355600"/>
                </a:lnTo>
                <a:lnTo>
                  <a:pt x="635000" y="355600"/>
                </a:lnTo>
                <a:cubicBezTo>
                  <a:pt x="698183" y="355600"/>
                  <a:pt x="749300" y="406718"/>
                  <a:pt x="749300" y="469900"/>
                </a:cubicBezTo>
                <a:lnTo>
                  <a:pt x="749300" y="558800"/>
                </a:lnTo>
                <a:lnTo>
                  <a:pt x="762000" y="558800"/>
                </a:lnTo>
                <a:cubicBezTo>
                  <a:pt x="790099" y="558800"/>
                  <a:pt x="812800" y="581501"/>
                  <a:pt x="812800" y="609600"/>
                </a:cubicBezTo>
                <a:lnTo>
                  <a:pt x="812800" y="711200"/>
                </a:lnTo>
                <a:cubicBezTo>
                  <a:pt x="812800" y="739299"/>
                  <a:pt x="790099" y="762000"/>
                  <a:pt x="762000" y="762000"/>
                </a:cubicBezTo>
                <a:lnTo>
                  <a:pt x="660400" y="762000"/>
                </a:lnTo>
                <a:cubicBezTo>
                  <a:pt x="632301" y="762000"/>
                  <a:pt x="609600" y="739299"/>
                  <a:pt x="609600" y="711200"/>
                </a:cubicBezTo>
                <a:lnTo>
                  <a:pt x="609600" y="609600"/>
                </a:lnTo>
                <a:cubicBezTo>
                  <a:pt x="609600" y="581501"/>
                  <a:pt x="632301" y="558800"/>
                  <a:pt x="660400" y="558800"/>
                </a:cubicBezTo>
                <a:lnTo>
                  <a:pt x="673100" y="558800"/>
                </a:lnTo>
                <a:lnTo>
                  <a:pt x="673100" y="469900"/>
                </a:lnTo>
                <a:cubicBezTo>
                  <a:pt x="673100" y="448786"/>
                  <a:pt x="656114" y="431800"/>
                  <a:pt x="635000" y="431800"/>
                </a:cubicBezTo>
                <a:lnTo>
                  <a:pt x="444500" y="431800"/>
                </a:lnTo>
                <a:lnTo>
                  <a:pt x="444500" y="558800"/>
                </a:lnTo>
                <a:lnTo>
                  <a:pt x="457200" y="558800"/>
                </a:lnTo>
                <a:cubicBezTo>
                  <a:pt x="485299" y="558800"/>
                  <a:pt x="508000" y="581501"/>
                  <a:pt x="508000" y="609600"/>
                </a:cubicBezTo>
                <a:lnTo>
                  <a:pt x="508000" y="711200"/>
                </a:lnTo>
                <a:cubicBezTo>
                  <a:pt x="508000" y="739299"/>
                  <a:pt x="485299" y="762000"/>
                  <a:pt x="457200" y="762000"/>
                </a:cubicBezTo>
                <a:lnTo>
                  <a:pt x="355600" y="762000"/>
                </a:lnTo>
                <a:cubicBezTo>
                  <a:pt x="327501" y="762000"/>
                  <a:pt x="304800" y="739299"/>
                  <a:pt x="304800" y="711200"/>
                </a:cubicBezTo>
                <a:lnTo>
                  <a:pt x="304800" y="609600"/>
                </a:lnTo>
                <a:cubicBezTo>
                  <a:pt x="304800" y="581501"/>
                  <a:pt x="327501" y="558800"/>
                  <a:pt x="355600" y="558800"/>
                </a:cubicBezTo>
                <a:lnTo>
                  <a:pt x="368300" y="558800"/>
                </a:lnTo>
                <a:lnTo>
                  <a:pt x="368300" y="431800"/>
                </a:lnTo>
                <a:lnTo>
                  <a:pt x="177800" y="431800"/>
                </a:lnTo>
                <a:cubicBezTo>
                  <a:pt x="156686" y="431800"/>
                  <a:pt x="139700" y="448786"/>
                  <a:pt x="139700" y="469900"/>
                </a:cubicBezTo>
                <a:lnTo>
                  <a:pt x="139700" y="558800"/>
                </a:lnTo>
                <a:lnTo>
                  <a:pt x="152400" y="558800"/>
                </a:lnTo>
                <a:cubicBezTo>
                  <a:pt x="180499" y="558800"/>
                  <a:pt x="203200" y="581501"/>
                  <a:pt x="203200" y="609600"/>
                </a:cubicBezTo>
                <a:lnTo>
                  <a:pt x="203200" y="711200"/>
                </a:lnTo>
                <a:cubicBezTo>
                  <a:pt x="203200" y="739299"/>
                  <a:pt x="180499" y="762000"/>
                  <a:pt x="152400" y="762000"/>
                </a:cubicBezTo>
                <a:lnTo>
                  <a:pt x="50800" y="762000"/>
                </a:lnTo>
                <a:cubicBezTo>
                  <a:pt x="22701" y="762000"/>
                  <a:pt x="0" y="739299"/>
                  <a:pt x="0" y="711200"/>
                </a:cubicBezTo>
                <a:lnTo>
                  <a:pt x="0" y="609600"/>
                </a:lnTo>
                <a:cubicBezTo>
                  <a:pt x="0" y="581501"/>
                  <a:pt x="22701" y="558800"/>
                  <a:pt x="50800" y="558800"/>
                </a:cubicBezTo>
                <a:lnTo>
                  <a:pt x="63500" y="558800"/>
                </a:lnTo>
                <a:lnTo>
                  <a:pt x="63500" y="469900"/>
                </a:lnTo>
                <a:cubicBezTo>
                  <a:pt x="63500" y="406718"/>
                  <a:pt x="114618" y="355600"/>
                  <a:pt x="177800" y="355600"/>
                </a:cubicBezTo>
                <a:lnTo>
                  <a:pt x="368300" y="355600"/>
                </a:lnTo>
                <a:lnTo>
                  <a:pt x="368300" y="254000"/>
                </a:lnTo>
                <a:lnTo>
                  <a:pt x="355600" y="254000"/>
                </a:lnTo>
                <a:cubicBezTo>
                  <a:pt x="327501" y="254000"/>
                  <a:pt x="304800" y="231299"/>
                  <a:pt x="304800" y="203200"/>
                </a:cubicBezTo>
                <a:lnTo>
                  <a:pt x="304800" y="101600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0" y="5003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065000" y="4064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812800"/>
                </a:moveTo>
                <a:cubicBezTo>
                  <a:pt x="630698" y="812800"/>
                  <a:pt x="812800" y="630698"/>
                  <a:pt x="812800" y="406400"/>
                </a:cubicBezTo>
                <a:cubicBezTo>
                  <a:pt x="812800" y="182102"/>
                  <a:pt x="630698" y="0"/>
                  <a:pt x="406400" y="0"/>
                </a:cubicBezTo>
                <a:cubicBezTo>
                  <a:pt x="182102" y="0"/>
                  <a:pt x="0" y="182102"/>
                  <a:pt x="0" y="406400"/>
                </a:cubicBezTo>
                <a:cubicBezTo>
                  <a:pt x="0" y="630698"/>
                  <a:pt x="182102" y="812800"/>
                  <a:pt x="406400" y="812800"/>
                </a:cubicBezTo>
                <a:close/>
                <a:moveTo>
                  <a:pt x="355600" y="254000"/>
                </a:moveTo>
                <a:cubicBezTo>
                  <a:pt x="355600" y="225963"/>
                  <a:pt x="378363" y="203200"/>
                  <a:pt x="406400" y="203200"/>
                </a:cubicBezTo>
                <a:cubicBezTo>
                  <a:pt x="434437" y="203200"/>
                  <a:pt x="457200" y="225963"/>
                  <a:pt x="457200" y="254000"/>
                </a:cubicBezTo>
                <a:cubicBezTo>
                  <a:pt x="457200" y="282037"/>
                  <a:pt x="434437" y="304800"/>
                  <a:pt x="406400" y="304800"/>
                </a:cubicBezTo>
                <a:cubicBezTo>
                  <a:pt x="378363" y="304800"/>
                  <a:pt x="355600" y="282037"/>
                  <a:pt x="355600" y="254000"/>
                </a:cubicBezTo>
                <a:close/>
                <a:moveTo>
                  <a:pt x="342900" y="355600"/>
                </a:moveTo>
                <a:lnTo>
                  <a:pt x="419100" y="355600"/>
                </a:lnTo>
                <a:cubicBezTo>
                  <a:pt x="440214" y="355600"/>
                  <a:pt x="457200" y="372586"/>
                  <a:pt x="457200" y="393700"/>
                </a:cubicBezTo>
                <a:lnTo>
                  <a:pt x="457200" y="533400"/>
                </a:lnTo>
                <a:lnTo>
                  <a:pt x="469900" y="533400"/>
                </a:lnTo>
                <a:cubicBezTo>
                  <a:pt x="491014" y="533400"/>
                  <a:pt x="508000" y="550386"/>
                  <a:pt x="508000" y="571500"/>
                </a:cubicBezTo>
                <a:cubicBezTo>
                  <a:pt x="508000" y="592614"/>
                  <a:pt x="491014" y="609600"/>
                  <a:pt x="469900" y="609600"/>
                </a:cubicBezTo>
                <a:lnTo>
                  <a:pt x="342900" y="609600"/>
                </a:lnTo>
                <a:cubicBezTo>
                  <a:pt x="321786" y="609600"/>
                  <a:pt x="304800" y="592614"/>
                  <a:pt x="304800" y="571500"/>
                </a:cubicBezTo>
                <a:cubicBezTo>
                  <a:pt x="304800" y="550386"/>
                  <a:pt x="321786" y="533400"/>
                  <a:pt x="342900" y="533400"/>
                </a:cubicBezTo>
                <a:lnTo>
                  <a:pt x="381000" y="533400"/>
                </a:lnTo>
                <a:lnTo>
                  <a:pt x="381000" y="431800"/>
                </a:lnTo>
                <a:lnTo>
                  <a:pt x="342900" y="431800"/>
                </a:lnTo>
                <a:cubicBezTo>
                  <a:pt x="321786" y="431800"/>
                  <a:pt x="304800" y="414814"/>
                  <a:pt x="304800" y="393700"/>
                </a:cubicBezTo>
                <a:cubicBezTo>
                  <a:pt x="304800" y="372586"/>
                  <a:pt x="321786" y="355600"/>
                  <a:pt x="342900" y="35560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0" y="5003800"/>
            <a:ext cx="187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Infographics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6731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main types of graphics used in multimedia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Graphics Improve Communication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break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language barriers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understood worldwide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save time by showing information instantly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reduce confusion by making ideas clear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create emotional connections through colors and images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make content more memorable and shareable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IKEA assembly instructions use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pictures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text needed, understood globally.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recipe vs. video cooking tutorial — which is easier to follow?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6000" y="2159000"/>
            <a:ext cx="2032000" cy="762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2159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938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446000" y="2159000"/>
            <a:ext cx="2032000" cy="762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12446000" y="2159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462000" y="2921000"/>
            <a:ext cx="0" cy="5080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2446000" y="3429000"/>
            <a:ext cx="2032000" cy="762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12446000" y="3429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938000" y="3746500"/>
            <a:ext cx="5080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arrow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906000" y="3429000"/>
            <a:ext cx="2032000" cy="762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0" y="3429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922000" y="2921000"/>
            <a:ext cx="0" cy="5080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arrow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9398000" y="4826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communication flow: Message becomes a graphic, leading to understanding and action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Power of Visual Storytelling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Stories with visuals are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22x more memorable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facts alone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storytelling combines images, text, and design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creates an emotional bond with the audience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helps learners follow a logical flow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great presentation tells a visual story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National Geographic uses stunning photos with short captions to tell powerful stories.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ACTIVITY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Describe your morning routine using only 3 pictures.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6000" y="2159000"/>
            <a:ext cx="5080000" cy="1016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0" y="2159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Beginning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Hook the audience with a strong visual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19000" y="3175000"/>
            <a:ext cx="0" cy="3810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906000" y="3556000"/>
            <a:ext cx="5080000" cy="1016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0" y="3556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Middle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Build the story with supporting visuals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19000" y="4572000"/>
            <a:ext cx="0" cy="3810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9906000" y="4953000"/>
            <a:ext cx="5080000" cy="1016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0" y="4953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End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Conclude with a memorable takeaway image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storytelling structure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0"/>
            <a:ext cx="4572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3048000"/>
            <a:ext cx="863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Functions of Graphics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0" y="3937000"/>
            <a:ext cx="863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Five Key Roles Graphics Play in Communication and Learning</a:t>
            </a:r>
            <a:endParaRPr lang="en-US" sz="2000" dirty="0"/>
          </a:p>
        </p:txBody>
      </p:sp>
      <p:pic>
        <p:nvPicPr>
          <p:cNvPr id="7" name="Image 0" descr="https://kimi-img.moonshot.cn/pub/slides/okc/onhjb3yt32yam/mnt/agents/output/multimedia_lecture/images/4_Illustration_of_online_learning_one.png">    </p:cNvPr>
          <p:cNvPicPr>
            <a:picLocks noChangeAspect="1"/>
          </p:cNvPicPr>
          <p:nvPr/>
        </p:nvPicPr>
        <p:blipFill>
          <a:blip r:embed="rId1"/>
          <a:srcRect l="0" r="0" t="23508" b="23508"/>
          <a:stretch/>
        </p:blipFill>
        <p:spPr>
          <a:xfrm>
            <a:off x="6858000" y="5334000"/>
            <a:ext cx="8636000" cy="3048000"/>
          </a:xfrm>
          <a:prstGeom prst="roundRect">
            <a:avLst>
              <a:gd name="adj" fmla="val 60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E891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as Communication Tools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replace long paragraphs with simple visuals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single infographic can explain a whole process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Icons guide users through apps and websites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Color-coded maps show information at a glance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speak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universal language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everyone understands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Airport signage uses icons (restroom, exit, baggage) that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traveler understands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a simple icon for "quiet zone" without using any words.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16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6156" y="0"/>
                </a:moveTo>
                <a:cubicBezTo>
                  <a:pt x="331569" y="0"/>
                  <a:pt x="311706" y="19864"/>
                  <a:pt x="311706" y="44450"/>
                </a:cubicBezTo>
                <a:lnTo>
                  <a:pt x="311706" y="88900"/>
                </a:lnTo>
                <a:lnTo>
                  <a:pt x="89456" y="88900"/>
                </a:lnTo>
                <a:cubicBezTo>
                  <a:pt x="64869" y="88900"/>
                  <a:pt x="45006" y="108764"/>
                  <a:pt x="45006" y="133350"/>
                </a:cubicBezTo>
                <a:lnTo>
                  <a:pt x="45006" y="222250"/>
                </a:lnTo>
                <a:cubicBezTo>
                  <a:pt x="45006" y="246836"/>
                  <a:pt x="64869" y="266700"/>
                  <a:pt x="89456" y="266700"/>
                </a:cubicBezTo>
                <a:lnTo>
                  <a:pt x="311706" y="266700"/>
                </a:lnTo>
                <a:lnTo>
                  <a:pt x="311706" y="355600"/>
                </a:lnTo>
                <a:lnTo>
                  <a:pt x="98623" y="355600"/>
                </a:lnTo>
                <a:cubicBezTo>
                  <a:pt x="92789" y="355600"/>
                  <a:pt x="87094" y="357961"/>
                  <a:pt x="82927" y="362129"/>
                </a:cubicBezTo>
                <a:lnTo>
                  <a:pt x="16252" y="428804"/>
                </a:lnTo>
                <a:cubicBezTo>
                  <a:pt x="7640" y="437416"/>
                  <a:pt x="7640" y="451584"/>
                  <a:pt x="16252" y="460196"/>
                </a:cubicBezTo>
                <a:lnTo>
                  <a:pt x="82927" y="526871"/>
                </a:lnTo>
                <a:cubicBezTo>
                  <a:pt x="87094" y="531039"/>
                  <a:pt x="92789" y="533400"/>
                  <a:pt x="98623" y="533400"/>
                </a:cubicBezTo>
                <a:lnTo>
                  <a:pt x="311706" y="533400"/>
                </a:lnTo>
                <a:lnTo>
                  <a:pt x="311706" y="666750"/>
                </a:lnTo>
                <a:cubicBezTo>
                  <a:pt x="311706" y="691336"/>
                  <a:pt x="331569" y="711200"/>
                  <a:pt x="356156" y="711200"/>
                </a:cubicBezTo>
                <a:cubicBezTo>
                  <a:pt x="380742" y="711200"/>
                  <a:pt x="400606" y="691336"/>
                  <a:pt x="400606" y="666750"/>
                </a:cubicBezTo>
                <a:lnTo>
                  <a:pt x="400606" y="533400"/>
                </a:lnTo>
                <a:lnTo>
                  <a:pt x="622856" y="533400"/>
                </a:lnTo>
                <a:cubicBezTo>
                  <a:pt x="647442" y="533400"/>
                  <a:pt x="667306" y="513536"/>
                  <a:pt x="667306" y="488950"/>
                </a:cubicBezTo>
                <a:lnTo>
                  <a:pt x="667306" y="400050"/>
                </a:lnTo>
                <a:cubicBezTo>
                  <a:pt x="667306" y="375464"/>
                  <a:pt x="647442" y="355600"/>
                  <a:pt x="622856" y="355600"/>
                </a:cubicBezTo>
                <a:lnTo>
                  <a:pt x="400606" y="355600"/>
                </a:lnTo>
                <a:lnTo>
                  <a:pt x="400606" y="266700"/>
                </a:lnTo>
                <a:lnTo>
                  <a:pt x="613688" y="266700"/>
                </a:lnTo>
                <a:cubicBezTo>
                  <a:pt x="619522" y="266700"/>
                  <a:pt x="625217" y="264339"/>
                  <a:pt x="629384" y="260171"/>
                </a:cubicBezTo>
                <a:lnTo>
                  <a:pt x="696059" y="193496"/>
                </a:lnTo>
                <a:cubicBezTo>
                  <a:pt x="704671" y="184884"/>
                  <a:pt x="704671" y="170716"/>
                  <a:pt x="696059" y="162104"/>
                </a:cubicBezTo>
                <a:lnTo>
                  <a:pt x="629384" y="95429"/>
                </a:lnTo>
                <a:cubicBezTo>
                  <a:pt x="625217" y="91261"/>
                  <a:pt x="619522" y="88900"/>
                  <a:pt x="613688" y="88900"/>
                </a:cubicBezTo>
                <a:lnTo>
                  <a:pt x="400606" y="88900"/>
                </a:lnTo>
                <a:lnTo>
                  <a:pt x="400606" y="44450"/>
                </a:lnTo>
                <a:cubicBezTo>
                  <a:pt x="400606" y="19864"/>
                  <a:pt x="380742" y="0"/>
                  <a:pt x="356156" y="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2413000"/>
            <a:ext cx="393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Signs &amp; Symbols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0" y="355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711200" y="66675"/>
                </a:moveTo>
                <a:cubicBezTo>
                  <a:pt x="711200" y="51256"/>
                  <a:pt x="703282" y="36949"/>
                  <a:pt x="690086" y="28893"/>
                </a:cubicBezTo>
                <a:cubicBezTo>
                  <a:pt x="676890" y="20836"/>
                  <a:pt x="660638" y="20003"/>
                  <a:pt x="646886" y="26948"/>
                </a:cubicBezTo>
                <a:lnTo>
                  <a:pt x="485477" y="107652"/>
                </a:lnTo>
                <a:lnTo>
                  <a:pt x="236280" y="24448"/>
                </a:lnTo>
                <a:cubicBezTo>
                  <a:pt x="225028" y="20697"/>
                  <a:pt x="212943" y="21530"/>
                  <a:pt x="202386" y="26809"/>
                </a:cubicBezTo>
                <a:lnTo>
                  <a:pt x="24586" y="115709"/>
                </a:lnTo>
                <a:cubicBezTo>
                  <a:pt x="9446" y="123349"/>
                  <a:pt x="0" y="138767"/>
                  <a:pt x="0" y="155575"/>
                </a:cubicBezTo>
                <a:lnTo>
                  <a:pt x="0" y="644525"/>
                </a:lnTo>
                <a:cubicBezTo>
                  <a:pt x="0" y="659944"/>
                  <a:pt x="7918" y="674251"/>
                  <a:pt x="21114" y="682308"/>
                </a:cubicBezTo>
                <a:cubicBezTo>
                  <a:pt x="34310" y="690364"/>
                  <a:pt x="50562" y="691197"/>
                  <a:pt x="64314" y="684252"/>
                </a:cubicBezTo>
                <a:lnTo>
                  <a:pt x="225584" y="603548"/>
                </a:lnTo>
                <a:lnTo>
                  <a:pt x="474782" y="686614"/>
                </a:lnTo>
                <a:cubicBezTo>
                  <a:pt x="486033" y="690364"/>
                  <a:pt x="498118" y="689531"/>
                  <a:pt x="508675" y="684252"/>
                </a:cubicBezTo>
                <a:lnTo>
                  <a:pt x="686475" y="595352"/>
                </a:lnTo>
                <a:cubicBezTo>
                  <a:pt x="701477" y="587851"/>
                  <a:pt x="711061" y="572433"/>
                  <a:pt x="711061" y="555625"/>
                </a:cubicBezTo>
                <a:lnTo>
                  <a:pt x="711061" y="66675"/>
                </a:lnTo>
                <a:close/>
                <a:moveTo>
                  <a:pt x="266700" y="523538"/>
                </a:moveTo>
                <a:lnTo>
                  <a:pt x="266700" y="128349"/>
                </a:lnTo>
                <a:lnTo>
                  <a:pt x="444500" y="187662"/>
                </a:lnTo>
                <a:lnTo>
                  <a:pt x="444500" y="582851"/>
                </a:lnTo>
                <a:lnTo>
                  <a:pt x="266700" y="523538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3556000"/>
            <a:ext cx="393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&amp; Wayfinding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248900" y="4699000"/>
            <a:ext cx="533400" cy="711200"/>
          </a:xfrm>
          <a:custGeom>
            <a:avLst/>
            <a:gdLst/>
            <a:ahLst/>
            <a:cxnLst/>
            <a:rect l="l" t="t" r="r" b="b"/>
            <a:pathLst>
              <a:path w="533400" h="711200">
                <a:moveTo>
                  <a:pt x="22225" y="88900"/>
                </a:moveTo>
                <a:cubicBezTo>
                  <a:pt x="22225" y="39866"/>
                  <a:pt x="62091" y="0"/>
                  <a:pt x="111125" y="0"/>
                </a:cubicBezTo>
                <a:lnTo>
                  <a:pt x="422275" y="0"/>
                </a:lnTo>
                <a:cubicBezTo>
                  <a:pt x="471309" y="0"/>
                  <a:pt x="511175" y="39866"/>
                  <a:pt x="511175" y="88900"/>
                </a:cubicBezTo>
                <a:lnTo>
                  <a:pt x="511175" y="622300"/>
                </a:lnTo>
                <a:cubicBezTo>
                  <a:pt x="511175" y="671334"/>
                  <a:pt x="471309" y="711200"/>
                  <a:pt x="422275" y="711200"/>
                </a:cubicBezTo>
                <a:lnTo>
                  <a:pt x="111125" y="711200"/>
                </a:lnTo>
                <a:cubicBezTo>
                  <a:pt x="62091" y="711200"/>
                  <a:pt x="22225" y="671334"/>
                  <a:pt x="22225" y="622300"/>
                </a:cubicBezTo>
                <a:lnTo>
                  <a:pt x="22225" y="88900"/>
                </a:lnTo>
                <a:close/>
                <a:moveTo>
                  <a:pt x="177800" y="611187"/>
                </a:moveTo>
                <a:cubicBezTo>
                  <a:pt x="177800" y="629662"/>
                  <a:pt x="192663" y="644525"/>
                  <a:pt x="211138" y="644525"/>
                </a:cubicBezTo>
                <a:lnTo>
                  <a:pt x="322263" y="644525"/>
                </a:lnTo>
                <a:cubicBezTo>
                  <a:pt x="340737" y="644525"/>
                  <a:pt x="355600" y="629662"/>
                  <a:pt x="355600" y="611187"/>
                </a:cubicBezTo>
                <a:cubicBezTo>
                  <a:pt x="355600" y="592713"/>
                  <a:pt x="340737" y="577850"/>
                  <a:pt x="322263" y="577850"/>
                </a:cubicBezTo>
                <a:lnTo>
                  <a:pt x="211138" y="577850"/>
                </a:lnTo>
                <a:cubicBezTo>
                  <a:pt x="192663" y="577850"/>
                  <a:pt x="177800" y="592713"/>
                  <a:pt x="177800" y="611187"/>
                </a:cubicBezTo>
                <a:close/>
                <a:moveTo>
                  <a:pt x="422275" y="88900"/>
                </a:moveTo>
                <a:lnTo>
                  <a:pt x="111125" y="88900"/>
                </a:lnTo>
                <a:lnTo>
                  <a:pt x="111125" y="511175"/>
                </a:lnTo>
                <a:lnTo>
                  <a:pt x="422275" y="511175"/>
                </a:lnTo>
                <a:lnTo>
                  <a:pt x="422275" y="88900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4699000"/>
            <a:ext cx="393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Interface Icons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8000" y="584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communicate without words across all platforms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for Attention and Engagement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Bright colors and bold images catch our eyes immediately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Visuals make us stop scrolling and pay attention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Movement and animation increase engagement by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80%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Well-designed slides keep students focused longer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Boring text walls make learners lose interest quickly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Social media posts with images get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650% more engagement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text-only posts.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YOURSELF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Look at two slides — text-only vs. with images. Which grabs attention first?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98000" y="2286000"/>
            <a:ext cx="609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98000" y="3556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Engagement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0" y="4191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Social media posts with images outperform text-only content significantly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74500" y="5461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571500" y="63500"/>
                </a:moveTo>
                <a:cubicBezTo>
                  <a:pt x="411163" y="63500"/>
                  <a:pt x="282773" y="136525"/>
                  <a:pt x="189309" y="223441"/>
                </a:cubicBezTo>
                <a:cubicBezTo>
                  <a:pt x="96441" y="309761"/>
                  <a:pt x="34330" y="412750"/>
                  <a:pt x="4763" y="483592"/>
                </a:cubicBezTo>
                <a:cubicBezTo>
                  <a:pt x="-1786" y="499269"/>
                  <a:pt x="-1786" y="516731"/>
                  <a:pt x="4763" y="532408"/>
                </a:cubicBezTo>
                <a:cubicBezTo>
                  <a:pt x="34330" y="603250"/>
                  <a:pt x="96441" y="706438"/>
                  <a:pt x="189309" y="792559"/>
                </a:cubicBezTo>
                <a:cubicBezTo>
                  <a:pt x="282773" y="879277"/>
                  <a:pt x="411163" y="952500"/>
                  <a:pt x="571500" y="952500"/>
                </a:cubicBezTo>
                <a:cubicBezTo>
                  <a:pt x="731838" y="952500"/>
                  <a:pt x="860227" y="879475"/>
                  <a:pt x="953691" y="792559"/>
                </a:cubicBezTo>
                <a:cubicBezTo>
                  <a:pt x="1046559" y="706239"/>
                  <a:pt x="1108670" y="603250"/>
                  <a:pt x="1138238" y="532408"/>
                </a:cubicBezTo>
                <a:cubicBezTo>
                  <a:pt x="1144786" y="516731"/>
                  <a:pt x="1144786" y="499269"/>
                  <a:pt x="1138238" y="483592"/>
                </a:cubicBezTo>
                <a:cubicBezTo>
                  <a:pt x="1108670" y="412750"/>
                  <a:pt x="1046559" y="309562"/>
                  <a:pt x="953691" y="223441"/>
                </a:cubicBezTo>
                <a:cubicBezTo>
                  <a:pt x="860227" y="136723"/>
                  <a:pt x="731838" y="63500"/>
                  <a:pt x="571500" y="63500"/>
                </a:cubicBezTo>
                <a:close/>
                <a:moveTo>
                  <a:pt x="285750" y="508000"/>
                </a:moveTo>
                <a:cubicBezTo>
                  <a:pt x="285750" y="350290"/>
                  <a:pt x="413790" y="222250"/>
                  <a:pt x="571500" y="222250"/>
                </a:cubicBezTo>
                <a:cubicBezTo>
                  <a:pt x="729210" y="222250"/>
                  <a:pt x="857250" y="350290"/>
                  <a:pt x="857250" y="508000"/>
                </a:cubicBezTo>
                <a:cubicBezTo>
                  <a:pt x="857250" y="665710"/>
                  <a:pt x="729210" y="793750"/>
                  <a:pt x="571500" y="793750"/>
                </a:cubicBezTo>
                <a:cubicBezTo>
                  <a:pt x="413790" y="793750"/>
                  <a:pt x="285750" y="665710"/>
                  <a:pt x="285750" y="508000"/>
                </a:cubicBezTo>
                <a:close/>
                <a:moveTo>
                  <a:pt x="571500" y="381000"/>
                </a:moveTo>
                <a:cubicBezTo>
                  <a:pt x="571500" y="451048"/>
                  <a:pt x="514548" y="508000"/>
                  <a:pt x="444500" y="508000"/>
                </a:cubicBezTo>
                <a:cubicBezTo>
                  <a:pt x="421680" y="508000"/>
                  <a:pt x="400248" y="502047"/>
                  <a:pt x="381595" y="491331"/>
                </a:cubicBezTo>
                <a:cubicBezTo>
                  <a:pt x="379611" y="512961"/>
                  <a:pt x="381397" y="535186"/>
                  <a:pt x="387350" y="557213"/>
                </a:cubicBezTo>
                <a:cubicBezTo>
                  <a:pt x="414536" y="658813"/>
                  <a:pt x="519113" y="719137"/>
                  <a:pt x="620713" y="691952"/>
                </a:cubicBezTo>
                <a:cubicBezTo>
                  <a:pt x="722313" y="664766"/>
                  <a:pt x="782638" y="560189"/>
                  <a:pt x="755452" y="458589"/>
                </a:cubicBezTo>
                <a:cubicBezTo>
                  <a:pt x="731242" y="367903"/>
                  <a:pt x="645319" y="310158"/>
                  <a:pt x="554831" y="318095"/>
                </a:cubicBezTo>
                <a:cubicBezTo>
                  <a:pt x="565348" y="336550"/>
                  <a:pt x="571500" y="357981"/>
                  <a:pt x="571500" y="381000"/>
                </a:cubicBezTo>
                <a:close/>
              </a:path>
            </a:pathLst>
          </a:custGeom>
          <a:solidFill>
            <a:srgbClr val="1B6B5C">
              <a:alpha val="12549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Visuals drive attention and engagement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for Explanation and Storytelling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Step-by-step diagrams show how things work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Timelines help us understand history and sequences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Flowcharts make complex processes simple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Comics and storyboards tell stories visually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metaphors help explain difficult concepts easily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TED-Ed animations explain complex science topics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under 5 minutes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ACTIVITY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Draw a simple 4-step flowchart of how to make a sandwich.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6000" y="2159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2159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Input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Receive information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19000" y="2794000"/>
            <a:ext cx="0" cy="3175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906000" y="31115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3111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Process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Visualize the concept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19000" y="3746500"/>
            <a:ext cx="0" cy="3175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9906000" y="4064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0" y="4064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Output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Create the graphic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19000" y="4699000"/>
            <a:ext cx="0" cy="3175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9906000" y="50165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0" y="5016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Result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Learner understands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98000" y="584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a message becomes a visual explanation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for Data Visualization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Charts turn numbers into easy-to-read pictures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Bar charts compare values at a glance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Pie charts show parts of a whole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Line charts display trends over time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Infographics combine data with design for impact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COVID-19 dashboards used charts and maps to show data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worldwide in real-time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Spreadsheet of numbers vs. a chart of the same data — which is clearer?</a:t>
            </a:r>
            <a:endParaRPr lang="en-US" sz="18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9398000" y="1714500"/>
          <a:ext cx="6096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content drives higher engagement rates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for Branding and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Logos create instant brand recognition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 schemes build emotional connections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Consistent design creates trust and professionalism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Typography sets the tone and personality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branding makes content memorable and unique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Coca-Cola's red color and script font are recognized by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94% of the world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QUIZ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 5 brands just by looking at their colors and logos.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160000" y="2286000"/>
            <a:ext cx="1016000" cy="1016000"/>
          </a:xfrm>
          <a:prstGeom prst="ellipse">
            <a:avLst/>
          </a:prstGeom>
          <a:solidFill>
            <a:srgbClr val="E60012"/>
          </a:solidFill>
          <a:ln/>
        </p:spPr>
      </p:sp>
      <p:sp>
        <p:nvSpPr>
          <p:cNvPr id="18" name="Shape 16"/>
          <p:cNvSpPr/>
          <p:nvPr/>
        </p:nvSpPr>
        <p:spPr>
          <a:xfrm>
            <a:off x="11938000" y="2286000"/>
            <a:ext cx="1016000" cy="1016000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0" y="3810000"/>
            <a:ext cx="1016000" cy="1016000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38000" y="3810000"/>
            <a:ext cx="1016000" cy="10160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9398000" y="5334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Brand colors create instant recognition — no names needed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Color-based brand recognition exercise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Design vs. Poor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design is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clean, simple, and purposeful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Poor design is cluttered, confusing, and distracting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design guides the viewer's eye naturally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Poor design overwhelms with too much information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design makes learning effortless and enjoyable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Compare a messy slide (12 colors, 8 fonts) vs. Apple presentations (minimal, focused).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SPOT THE PROBLEMS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Identify 3 problems in a poorly designed slide and suggest fixes.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2921000" cy="482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0" y="184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88500" y="2349500"/>
            <a:ext cx="254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Much Text!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has way too many words and no visual hierarchy at all. Everything is the same size.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text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 text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0000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 text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Tiny text nobody can read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images, no icons, no structure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573000" y="1714500"/>
            <a:ext cx="2921000" cy="482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73000" y="184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63500" y="2349500"/>
            <a:ext cx="254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Layout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main idea per slide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Clear visual hierarchy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2-3 colors max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Purposeful images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Easy to scan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vs. After design comparison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and After: Slide Makeover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200 words, no images, 6 different colors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5 bullet points, 1 clear image, 2-color scheme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Confusing layout, no visual hierarchy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Clean grid, clear headings, visual flow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same content can look completely different with good design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sales report transformed from a text document to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dashboard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MAKEOVER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Redesign a text-heavy slide using only visuals and 5 words.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2413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2000" y="1841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0" y="2222500"/>
            <a:ext cx="558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Company Sales Report Q4 2025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 was $1.2M which is a 15% increase from Q3 and a 22% increase year-over-year. The top performing region was North America with $450K in sales followed by Europe with $380K and Asia-Pacific with $370K. Customer satisfaction improved to 4.6/5.0...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98000" y="4127500"/>
            <a:ext cx="6096000" cy="2540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2000" y="4254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52000" y="4635500"/>
            <a:ext cx="558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Sales: $1.2M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6BB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▲ 22% YoY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North America: $450K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Europe: $380K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Asia-Pacific: $370K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 Satisfaction: 4.6/5.0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98000" y="67945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information, completely different impact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Takeaways – Functions of Graphics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communicate faster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text alone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grab attention and keep learners engaged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explain complex ideas through simple visuals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turn data into understandable charts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build brand identity and professional design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design with purpose — every visual should serve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Khan Academy combines all 5 functions in every lesson video.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Review the 5 functions — can you give one example for each?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52000" y="1968500"/>
            <a:ext cx="2667000" cy="1143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18" name="Shape 16"/>
          <p:cNvSpPr/>
          <p:nvPr/>
        </p:nvSpPr>
        <p:spPr>
          <a:xfrm>
            <a:off x="9820275" y="222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0" y="2095500"/>
            <a:ext cx="1841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 ideas visually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573000" y="1968500"/>
            <a:ext cx="2667000" cy="1143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1" name="Shape 19"/>
          <p:cNvSpPr/>
          <p:nvPr/>
        </p:nvSpPr>
        <p:spPr>
          <a:xfrm>
            <a:off x="12741275" y="222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3208000" y="2095500"/>
            <a:ext cx="1841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Grab and hold focus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52000" y="3302000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4" name="Shape 22"/>
          <p:cNvSpPr/>
          <p:nvPr/>
        </p:nvSpPr>
        <p:spPr>
          <a:xfrm>
            <a:off x="9886950" y="3556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7000" y="3429000"/>
            <a:ext cx="1841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Explanation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Simplify complex ideas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573000" y="3302000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741275" y="3556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3208000" y="3429000"/>
            <a:ext cx="1841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Viz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numbers clearly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112500" y="4762500"/>
            <a:ext cx="2667000" cy="1143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58550" y="5016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0725" y="76537"/>
                </a:moveTo>
                <a:cubicBezTo>
                  <a:pt x="235307" y="68411"/>
                  <a:pt x="225167" y="64730"/>
                  <a:pt x="215791" y="67578"/>
                </a:cubicBezTo>
                <a:cubicBezTo>
                  <a:pt x="206415" y="70425"/>
                  <a:pt x="200025" y="79107"/>
                  <a:pt x="200025" y="88900"/>
                </a:cubicBezTo>
                <a:lnTo>
                  <a:pt x="200025" y="266700"/>
                </a:lnTo>
                <a:cubicBezTo>
                  <a:pt x="200025" y="278993"/>
                  <a:pt x="209957" y="288925"/>
                  <a:pt x="222250" y="288925"/>
                </a:cubicBezTo>
                <a:cubicBezTo>
                  <a:pt x="234543" y="288925"/>
                  <a:pt x="244475" y="278993"/>
                  <a:pt x="244475" y="266700"/>
                </a:cubicBezTo>
                <a:lnTo>
                  <a:pt x="244475" y="162312"/>
                </a:lnTo>
                <a:lnTo>
                  <a:pt x="292675" y="234613"/>
                </a:lnTo>
                <a:cubicBezTo>
                  <a:pt x="296773" y="240794"/>
                  <a:pt x="303719" y="244475"/>
                  <a:pt x="311150" y="244475"/>
                </a:cubicBezTo>
                <a:cubicBezTo>
                  <a:pt x="318581" y="244475"/>
                  <a:pt x="325527" y="240794"/>
                  <a:pt x="329625" y="234613"/>
                </a:cubicBezTo>
                <a:lnTo>
                  <a:pt x="377825" y="162312"/>
                </a:lnTo>
                <a:lnTo>
                  <a:pt x="377825" y="266700"/>
                </a:lnTo>
                <a:cubicBezTo>
                  <a:pt x="377825" y="278993"/>
                  <a:pt x="387757" y="288925"/>
                  <a:pt x="400050" y="288925"/>
                </a:cubicBezTo>
                <a:cubicBezTo>
                  <a:pt x="412343" y="288925"/>
                  <a:pt x="422275" y="278993"/>
                  <a:pt x="422275" y="266700"/>
                </a:cubicBezTo>
                <a:lnTo>
                  <a:pt x="422275" y="88900"/>
                </a:lnTo>
                <a:cubicBezTo>
                  <a:pt x="422275" y="79107"/>
                  <a:pt x="415885" y="70495"/>
                  <a:pt x="406509" y="67647"/>
                </a:cubicBezTo>
                <a:cubicBezTo>
                  <a:pt x="397133" y="64800"/>
                  <a:pt x="386993" y="68411"/>
                  <a:pt x="381575" y="76607"/>
                </a:cubicBezTo>
                <a:lnTo>
                  <a:pt x="311150" y="182176"/>
                </a:lnTo>
                <a:lnTo>
                  <a:pt x="240725" y="76537"/>
                </a:lnTo>
                <a:close/>
                <a:moveTo>
                  <a:pt x="22225" y="66675"/>
                </a:moveTo>
                <a:cubicBezTo>
                  <a:pt x="9932" y="66675"/>
                  <a:pt x="0" y="76607"/>
                  <a:pt x="0" y="88900"/>
                </a:cubicBezTo>
                <a:cubicBezTo>
                  <a:pt x="0" y="101193"/>
                  <a:pt x="9932" y="111125"/>
                  <a:pt x="22225" y="111125"/>
                </a:cubicBezTo>
                <a:lnTo>
                  <a:pt x="66675" y="111125"/>
                </a:lnTo>
                <a:lnTo>
                  <a:pt x="66675" y="266700"/>
                </a:lnTo>
                <a:cubicBezTo>
                  <a:pt x="66675" y="278993"/>
                  <a:pt x="76607" y="288925"/>
                  <a:pt x="88900" y="288925"/>
                </a:cubicBezTo>
                <a:cubicBezTo>
                  <a:pt x="101193" y="288925"/>
                  <a:pt x="111125" y="278993"/>
                  <a:pt x="111125" y="266700"/>
                </a:cubicBezTo>
                <a:lnTo>
                  <a:pt x="111125" y="111125"/>
                </a:lnTo>
                <a:lnTo>
                  <a:pt x="155575" y="111125"/>
                </a:lnTo>
                <a:cubicBezTo>
                  <a:pt x="167868" y="111125"/>
                  <a:pt x="177800" y="101193"/>
                  <a:pt x="177800" y="88900"/>
                </a:cubicBezTo>
                <a:cubicBezTo>
                  <a:pt x="177800" y="76607"/>
                  <a:pt x="167868" y="66675"/>
                  <a:pt x="155575" y="66675"/>
                </a:cubicBezTo>
                <a:lnTo>
                  <a:pt x="22225" y="666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747500" y="4889500"/>
            <a:ext cx="1841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recognition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98000" y="6096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functions of graphics at a glance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0"/>
            <a:ext cx="4572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3048000"/>
            <a:ext cx="863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Types of Graphics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0" y="3937000"/>
            <a:ext cx="863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Exploring Images, Icons, Charts, Diagrams, and Infographics</a:t>
            </a:r>
            <a:endParaRPr lang="en-US" sz="2000" dirty="0"/>
          </a:p>
        </p:txBody>
      </p:sp>
      <p:pic>
        <p:nvPicPr>
          <p:cNvPr id="7" name="Image 0" descr="https://kimi-img.moonshot.cn/pub/slides/okc/onhjb3yt32yam/mnt/agents/output/multimedia_lecture/images/8_Chart_Design_Graph_Modern_Images.png">    </p:cNvPr>
          <p:cNvPicPr>
            <a:picLocks noChangeAspect="1"/>
          </p:cNvPicPr>
          <p:nvPr/>
        </p:nvPicPr>
        <p:blipFill>
          <a:blip r:embed="rId1"/>
          <a:srcRect l="0" r="0" t="10784" b="10784"/>
          <a:stretch/>
        </p:blipFill>
        <p:spPr>
          <a:xfrm>
            <a:off x="6858000" y="5334000"/>
            <a:ext cx="8636000" cy="3048000"/>
          </a:xfrm>
          <a:prstGeom prst="roundRect">
            <a:avLst>
              <a:gd name="adj" fmla="val 60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E891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524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Images and Photographs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Photos show real-world examples and situations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create emotional connections with viewers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High-quality images make content look professional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Relevant images support and enhance the message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Stock photos, original photos, and illustrations serve different purposes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National Geographic uses powerful wildlife photos to teach about conservation.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ACTIVITY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 an image that represents "learning" — discuss why you chose it.</a:t>
            </a:r>
            <a:endParaRPr lang="en-US" sz="1800" dirty="0"/>
          </a:p>
        </p:txBody>
      </p:sp>
      <p:pic>
        <p:nvPicPr>
          <p:cNvPr id="16" name="Image 0" descr="https://kimi-img.moonshot.cn/pub/slides/okc/onhjb3yt32yam/mnt/agents/output/multimedia_lecture/images/6_Free_Creative_Office_Space_Image.png">    </p:cNvPr>
          <p:cNvPicPr>
            <a:picLocks noChangeAspect="1"/>
          </p:cNvPicPr>
          <p:nvPr/>
        </p:nvPicPr>
        <p:blipFill>
          <a:blip r:embed="rId1"/>
          <a:srcRect l="0" r="0" t="10417" b="10417"/>
          <a:stretch/>
        </p:blipFill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</p:spPr>
      </p:pic>
      <p:sp>
        <p:nvSpPr>
          <p:cNvPr id="17" name="Text 14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High-quality images create professional, engaging content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524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Icons and Symbols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Icons are simple visual representations of ideas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save space and communicate instantly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Universal icons (heart, star, home) are understood globally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 icons add personality to designs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Icon sets create visual consistency across content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Smartphone apps use icons — we recognize Instagram, YouTube, and WhatsApp by their icons.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Draw 3 icons for: Save, Share, and Delete. Compare with classmates.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330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34764" y="120987"/>
                </a:moveTo>
                <a:lnTo>
                  <a:pt x="355600" y="149741"/>
                </a:lnTo>
                <a:lnTo>
                  <a:pt x="376436" y="120987"/>
                </a:lnTo>
                <a:cubicBezTo>
                  <a:pt x="411162" y="72926"/>
                  <a:pt x="467003" y="44450"/>
                  <a:pt x="526316" y="44450"/>
                </a:cubicBezTo>
                <a:cubicBezTo>
                  <a:pt x="628412" y="44450"/>
                  <a:pt x="711200" y="127238"/>
                  <a:pt x="711200" y="229334"/>
                </a:cubicBezTo>
                <a:lnTo>
                  <a:pt x="711200" y="232946"/>
                </a:lnTo>
                <a:cubicBezTo>
                  <a:pt x="711200" y="388799"/>
                  <a:pt x="516870" y="569793"/>
                  <a:pt x="415469" y="647164"/>
                </a:cubicBezTo>
                <a:cubicBezTo>
                  <a:pt x="398244" y="660221"/>
                  <a:pt x="377130" y="666750"/>
                  <a:pt x="355600" y="666750"/>
                </a:cubicBezTo>
                <a:cubicBezTo>
                  <a:pt x="334070" y="666750"/>
                  <a:pt x="312817" y="660360"/>
                  <a:pt x="295731" y="647164"/>
                </a:cubicBezTo>
                <a:cubicBezTo>
                  <a:pt x="194330" y="569793"/>
                  <a:pt x="0" y="388799"/>
                  <a:pt x="0" y="232946"/>
                </a:cubicBezTo>
                <a:lnTo>
                  <a:pt x="0" y="229334"/>
                </a:lnTo>
                <a:cubicBezTo>
                  <a:pt x="0" y="127238"/>
                  <a:pt x="82788" y="44450"/>
                  <a:pt x="184884" y="44450"/>
                </a:cubicBezTo>
                <a:cubicBezTo>
                  <a:pt x="244197" y="44450"/>
                  <a:pt x="300038" y="72926"/>
                  <a:pt x="334764" y="120987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04550" y="2286000"/>
            <a:ext cx="800100" cy="711200"/>
          </a:xfrm>
          <a:custGeom>
            <a:avLst/>
            <a:gdLst/>
            <a:ahLst/>
            <a:cxnLst/>
            <a:rect l="l" t="t" r="r" b="b"/>
            <a:pathLst>
              <a:path w="800100" h="711200">
                <a:moveTo>
                  <a:pt x="429915" y="-26253"/>
                </a:moveTo>
                <a:cubicBezTo>
                  <a:pt x="424220" y="-37366"/>
                  <a:pt x="412690" y="-44450"/>
                  <a:pt x="400189" y="-44450"/>
                </a:cubicBezTo>
                <a:cubicBezTo>
                  <a:pt x="387687" y="-44450"/>
                  <a:pt x="376158" y="-37366"/>
                  <a:pt x="370463" y="-26253"/>
                </a:cubicBezTo>
                <a:lnTo>
                  <a:pt x="268228" y="174050"/>
                </a:lnTo>
                <a:lnTo>
                  <a:pt x="46117" y="209332"/>
                </a:lnTo>
                <a:cubicBezTo>
                  <a:pt x="33754" y="211276"/>
                  <a:pt x="23475" y="220027"/>
                  <a:pt x="19586" y="231973"/>
                </a:cubicBezTo>
                <a:cubicBezTo>
                  <a:pt x="15696" y="243919"/>
                  <a:pt x="18891" y="256977"/>
                  <a:pt x="27642" y="265867"/>
                </a:cubicBezTo>
                <a:lnTo>
                  <a:pt x="186551" y="424914"/>
                </a:lnTo>
                <a:lnTo>
                  <a:pt x="151547" y="647025"/>
                </a:lnTo>
                <a:cubicBezTo>
                  <a:pt x="149602" y="659388"/>
                  <a:pt x="154742" y="671890"/>
                  <a:pt x="164882" y="679252"/>
                </a:cubicBezTo>
                <a:cubicBezTo>
                  <a:pt x="175022" y="686614"/>
                  <a:pt x="188357" y="687725"/>
                  <a:pt x="199608" y="682030"/>
                </a:cubicBezTo>
                <a:lnTo>
                  <a:pt x="400189" y="580073"/>
                </a:lnTo>
                <a:lnTo>
                  <a:pt x="600631" y="682030"/>
                </a:lnTo>
                <a:cubicBezTo>
                  <a:pt x="611743" y="687725"/>
                  <a:pt x="625217" y="686614"/>
                  <a:pt x="635357" y="679252"/>
                </a:cubicBezTo>
                <a:cubicBezTo>
                  <a:pt x="645497" y="671890"/>
                  <a:pt x="650637" y="659527"/>
                  <a:pt x="648692" y="647025"/>
                </a:cubicBezTo>
                <a:lnTo>
                  <a:pt x="613549" y="424914"/>
                </a:lnTo>
                <a:lnTo>
                  <a:pt x="772458" y="265867"/>
                </a:lnTo>
                <a:cubicBezTo>
                  <a:pt x="781348" y="256977"/>
                  <a:pt x="784404" y="243919"/>
                  <a:pt x="780514" y="231973"/>
                </a:cubicBezTo>
                <a:cubicBezTo>
                  <a:pt x="776625" y="220028"/>
                  <a:pt x="766485" y="211276"/>
                  <a:pt x="753983" y="209332"/>
                </a:cubicBezTo>
                <a:lnTo>
                  <a:pt x="532011" y="174050"/>
                </a:lnTo>
                <a:lnTo>
                  <a:pt x="429915" y="-26253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650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85882" y="11946"/>
                </a:moveTo>
                <a:cubicBezTo>
                  <a:pt x="368796" y="-3889"/>
                  <a:pt x="342404" y="-3889"/>
                  <a:pt x="325457" y="11946"/>
                </a:cubicBezTo>
                <a:lnTo>
                  <a:pt x="14307" y="300871"/>
                </a:lnTo>
                <a:cubicBezTo>
                  <a:pt x="972" y="313373"/>
                  <a:pt x="-3473" y="332680"/>
                  <a:pt x="3195" y="349627"/>
                </a:cubicBezTo>
                <a:cubicBezTo>
                  <a:pt x="9862" y="366574"/>
                  <a:pt x="26114" y="377825"/>
                  <a:pt x="44450" y="377825"/>
                </a:cubicBezTo>
                <a:lnTo>
                  <a:pt x="66675" y="377825"/>
                </a:lnTo>
                <a:lnTo>
                  <a:pt x="66675" y="622300"/>
                </a:lnTo>
                <a:cubicBezTo>
                  <a:pt x="66675" y="671334"/>
                  <a:pt x="106541" y="711200"/>
                  <a:pt x="155575" y="711200"/>
                </a:cubicBezTo>
                <a:lnTo>
                  <a:pt x="555625" y="711200"/>
                </a:lnTo>
                <a:cubicBezTo>
                  <a:pt x="604659" y="711200"/>
                  <a:pt x="644525" y="671334"/>
                  <a:pt x="644525" y="622300"/>
                </a:cubicBezTo>
                <a:lnTo>
                  <a:pt x="644525" y="377825"/>
                </a:lnTo>
                <a:lnTo>
                  <a:pt x="666750" y="377825"/>
                </a:lnTo>
                <a:cubicBezTo>
                  <a:pt x="685086" y="377825"/>
                  <a:pt x="701477" y="366574"/>
                  <a:pt x="708144" y="349627"/>
                </a:cubicBezTo>
                <a:cubicBezTo>
                  <a:pt x="714812" y="332680"/>
                  <a:pt x="710367" y="313234"/>
                  <a:pt x="697032" y="300871"/>
                </a:cubicBezTo>
                <a:lnTo>
                  <a:pt x="385882" y="11946"/>
                </a:lnTo>
                <a:close/>
                <a:moveTo>
                  <a:pt x="333375" y="444500"/>
                </a:moveTo>
                <a:lnTo>
                  <a:pt x="377825" y="444500"/>
                </a:lnTo>
                <a:cubicBezTo>
                  <a:pt x="414635" y="444500"/>
                  <a:pt x="444500" y="474365"/>
                  <a:pt x="444500" y="511175"/>
                </a:cubicBezTo>
                <a:lnTo>
                  <a:pt x="444500" y="644525"/>
                </a:lnTo>
                <a:lnTo>
                  <a:pt x="266700" y="644525"/>
                </a:lnTo>
                <a:lnTo>
                  <a:pt x="266700" y="511175"/>
                </a:lnTo>
                <a:cubicBezTo>
                  <a:pt x="266700" y="474365"/>
                  <a:pt x="296565" y="444500"/>
                  <a:pt x="333375" y="44450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125450" y="2286000"/>
            <a:ext cx="622300" cy="711200"/>
          </a:xfrm>
          <a:custGeom>
            <a:avLst/>
            <a:gdLst/>
            <a:ahLst/>
            <a:cxnLst/>
            <a:rect l="l" t="t" r="r" b="b"/>
            <a:pathLst>
              <a:path w="622300" h="711200">
                <a:moveTo>
                  <a:pt x="311150" y="0"/>
                </a:moveTo>
                <a:cubicBezTo>
                  <a:pt x="286564" y="0"/>
                  <a:pt x="266700" y="19864"/>
                  <a:pt x="266700" y="44450"/>
                </a:cubicBezTo>
                <a:lnTo>
                  <a:pt x="266700" y="48895"/>
                </a:lnTo>
                <a:cubicBezTo>
                  <a:pt x="165298" y="69453"/>
                  <a:pt x="88900" y="159187"/>
                  <a:pt x="88900" y="266700"/>
                </a:cubicBezTo>
                <a:lnTo>
                  <a:pt x="88900" y="296843"/>
                </a:lnTo>
                <a:cubicBezTo>
                  <a:pt x="88900" y="363657"/>
                  <a:pt x="66119" y="428526"/>
                  <a:pt x="24448" y="480755"/>
                </a:cubicBezTo>
                <a:lnTo>
                  <a:pt x="10835" y="497701"/>
                </a:lnTo>
                <a:cubicBezTo>
                  <a:pt x="3750" y="506452"/>
                  <a:pt x="0" y="517287"/>
                  <a:pt x="0" y="528538"/>
                </a:cubicBezTo>
                <a:cubicBezTo>
                  <a:pt x="0" y="555764"/>
                  <a:pt x="22086" y="577850"/>
                  <a:pt x="49312" y="577850"/>
                </a:cubicBezTo>
                <a:lnTo>
                  <a:pt x="572849" y="577850"/>
                </a:lnTo>
                <a:cubicBezTo>
                  <a:pt x="600075" y="577850"/>
                  <a:pt x="622161" y="555764"/>
                  <a:pt x="622161" y="528538"/>
                </a:cubicBezTo>
                <a:cubicBezTo>
                  <a:pt x="622161" y="517287"/>
                  <a:pt x="618411" y="506452"/>
                  <a:pt x="611326" y="497701"/>
                </a:cubicBezTo>
                <a:lnTo>
                  <a:pt x="597714" y="480755"/>
                </a:lnTo>
                <a:cubicBezTo>
                  <a:pt x="556181" y="428526"/>
                  <a:pt x="533400" y="363657"/>
                  <a:pt x="533400" y="296843"/>
                </a:cubicBezTo>
                <a:lnTo>
                  <a:pt x="533400" y="266700"/>
                </a:lnTo>
                <a:cubicBezTo>
                  <a:pt x="533400" y="159187"/>
                  <a:pt x="457002" y="69453"/>
                  <a:pt x="355600" y="48895"/>
                </a:cubicBezTo>
                <a:lnTo>
                  <a:pt x="355600" y="44450"/>
                </a:lnTo>
                <a:cubicBezTo>
                  <a:pt x="355600" y="19864"/>
                  <a:pt x="335736" y="0"/>
                  <a:pt x="311150" y="0"/>
                </a:cubicBezTo>
                <a:close/>
                <a:moveTo>
                  <a:pt x="225028" y="644525"/>
                </a:moveTo>
                <a:cubicBezTo>
                  <a:pt x="234890" y="682863"/>
                  <a:pt x="269756" y="711200"/>
                  <a:pt x="311150" y="711200"/>
                </a:cubicBezTo>
                <a:cubicBezTo>
                  <a:pt x="352544" y="711200"/>
                  <a:pt x="387410" y="682863"/>
                  <a:pt x="397272" y="644525"/>
                </a:cubicBezTo>
                <a:lnTo>
                  <a:pt x="225028" y="64452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40970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71006" y="13196"/>
                </a:moveTo>
                <a:cubicBezTo>
                  <a:pt x="275173" y="-7362"/>
                  <a:pt x="293370" y="-22225"/>
                  <a:pt x="314484" y="-22225"/>
                </a:cubicBezTo>
                <a:lnTo>
                  <a:pt x="397550" y="-22225"/>
                </a:lnTo>
                <a:cubicBezTo>
                  <a:pt x="418663" y="-22225"/>
                  <a:pt x="436860" y="-7362"/>
                  <a:pt x="441027" y="13196"/>
                </a:cubicBezTo>
                <a:lnTo>
                  <a:pt x="461169" y="110430"/>
                </a:lnTo>
                <a:cubicBezTo>
                  <a:pt x="480755" y="118765"/>
                  <a:pt x="499090" y="129461"/>
                  <a:pt x="515759" y="142101"/>
                </a:cubicBezTo>
                <a:lnTo>
                  <a:pt x="609937" y="110847"/>
                </a:lnTo>
                <a:cubicBezTo>
                  <a:pt x="629940" y="104180"/>
                  <a:pt x="651887" y="112514"/>
                  <a:pt x="662444" y="130850"/>
                </a:cubicBezTo>
                <a:lnTo>
                  <a:pt x="703977" y="202803"/>
                </a:lnTo>
                <a:cubicBezTo>
                  <a:pt x="714534" y="221139"/>
                  <a:pt x="710783" y="244197"/>
                  <a:pt x="694948" y="258227"/>
                </a:cubicBezTo>
                <a:lnTo>
                  <a:pt x="620911" y="324068"/>
                </a:lnTo>
                <a:cubicBezTo>
                  <a:pt x="622161" y="334347"/>
                  <a:pt x="622717" y="344904"/>
                  <a:pt x="622717" y="355600"/>
                </a:cubicBezTo>
                <a:cubicBezTo>
                  <a:pt x="622717" y="366296"/>
                  <a:pt x="622022" y="376853"/>
                  <a:pt x="620911" y="387132"/>
                </a:cubicBezTo>
                <a:lnTo>
                  <a:pt x="695087" y="453112"/>
                </a:lnTo>
                <a:cubicBezTo>
                  <a:pt x="710922" y="467142"/>
                  <a:pt x="714534" y="490339"/>
                  <a:pt x="704116" y="508536"/>
                </a:cubicBezTo>
                <a:lnTo>
                  <a:pt x="662583" y="580489"/>
                </a:lnTo>
                <a:cubicBezTo>
                  <a:pt x="652026" y="598686"/>
                  <a:pt x="630079" y="607159"/>
                  <a:pt x="610076" y="600492"/>
                </a:cubicBezTo>
                <a:lnTo>
                  <a:pt x="515898" y="569238"/>
                </a:lnTo>
                <a:cubicBezTo>
                  <a:pt x="499090" y="581878"/>
                  <a:pt x="480755" y="592435"/>
                  <a:pt x="461308" y="600908"/>
                </a:cubicBezTo>
                <a:lnTo>
                  <a:pt x="441305" y="698004"/>
                </a:lnTo>
                <a:cubicBezTo>
                  <a:pt x="436999" y="718701"/>
                  <a:pt x="418802" y="733425"/>
                  <a:pt x="397827" y="733425"/>
                </a:cubicBezTo>
                <a:lnTo>
                  <a:pt x="314762" y="733425"/>
                </a:lnTo>
                <a:cubicBezTo>
                  <a:pt x="293648" y="733425"/>
                  <a:pt x="275451" y="718562"/>
                  <a:pt x="271284" y="698004"/>
                </a:cubicBezTo>
                <a:lnTo>
                  <a:pt x="251281" y="600908"/>
                </a:lnTo>
                <a:cubicBezTo>
                  <a:pt x="231696" y="592574"/>
                  <a:pt x="213499" y="581878"/>
                  <a:pt x="196691" y="569238"/>
                </a:cubicBezTo>
                <a:lnTo>
                  <a:pt x="102096" y="600492"/>
                </a:lnTo>
                <a:cubicBezTo>
                  <a:pt x="82094" y="607159"/>
                  <a:pt x="60146" y="598825"/>
                  <a:pt x="49590" y="580489"/>
                </a:cubicBezTo>
                <a:lnTo>
                  <a:pt x="8057" y="508536"/>
                </a:lnTo>
                <a:cubicBezTo>
                  <a:pt x="-2500" y="490200"/>
                  <a:pt x="1250" y="467142"/>
                  <a:pt x="17085" y="453112"/>
                </a:cubicBezTo>
                <a:lnTo>
                  <a:pt x="91261" y="387132"/>
                </a:lnTo>
                <a:cubicBezTo>
                  <a:pt x="90011" y="376853"/>
                  <a:pt x="89456" y="366296"/>
                  <a:pt x="89456" y="355600"/>
                </a:cubicBezTo>
                <a:cubicBezTo>
                  <a:pt x="89456" y="344904"/>
                  <a:pt x="90150" y="334347"/>
                  <a:pt x="91261" y="324068"/>
                </a:cubicBezTo>
                <a:lnTo>
                  <a:pt x="17085" y="258088"/>
                </a:lnTo>
                <a:cubicBezTo>
                  <a:pt x="1250" y="244058"/>
                  <a:pt x="-2361" y="220861"/>
                  <a:pt x="8057" y="202664"/>
                </a:cubicBezTo>
                <a:lnTo>
                  <a:pt x="49590" y="130711"/>
                </a:lnTo>
                <a:cubicBezTo>
                  <a:pt x="60146" y="112375"/>
                  <a:pt x="82094" y="104041"/>
                  <a:pt x="102096" y="110708"/>
                </a:cubicBezTo>
                <a:lnTo>
                  <a:pt x="196275" y="141962"/>
                </a:lnTo>
                <a:cubicBezTo>
                  <a:pt x="213082" y="129322"/>
                  <a:pt x="231418" y="118765"/>
                  <a:pt x="250865" y="110292"/>
                </a:cubicBezTo>
                <a:lnTo>
                  <a:pt x="271006" y="13196"/>
                </a:lnTo>
                <a:close/>
                <a:moveTo>
                  <a:pt x="356017" y="466725"/>
                </a:moveTo>
                <a:cubicBezTo>
                  <a:pt x="395718" y="466576"/>
                  <a:pt x="432324" y="445258"/>
                  <a:pt x="452045" y="410802"/>
                </a:cubicBezTo>
                <a:cubicBezTo>
                  <a:pt x="471767" y="376345"/>
                  <a:pt x="471608" y="333984"/>
                  <a:pt x="451629" y="299677"/>
                </a:cubicBezTo>
                <a:cubicBezTo>
                  <a:pt x="431649" y="265369"/>
                  <a:pt x="394884" y="244326"/>
                  <a:pt x="355183" y="244475"/>
                </a:cubicBezTo>
                <a:cubicBezTo>
                  <a:pt x="315482" y="244624"/>
                  <a:pt x="278876" y="265942"/>
                  <a:pt x="259155" y="300398"/>
                </a:cubicBezTo>
                <a:cubicBezTo>
                  <a:pt x="239433" y="334855"/>
                  <a:pt x="239592" y="377216"/>
                  <a:pt x="259571" y="411523"/>
                </a:cubicBezTo>
                <a:cubicBezTo>
                  <a:pt x="279551" y="445831"/>
                  <a:pt x="316316" y="466874"/>
                  <a:pt x="356017" y="466725"/>
                </a:cubicBezTo>
                <a:close/>
              </a:path>
            </a:pathLst>
          </a:custGeom>
          <a:solidFill>
            <a:srgbClr val="8A8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77450" y="3556000"/>
            <a:ext cx="622300" cy="711200"/>
          </a:xfrm>
          <a:custGeom>
            <a:avLst/>
            <a:gdLst/>
            <a:ahLst/>
            <a:cxnLst/>
            <a:rect l="l" t="t" r="r" b="b"/>
            <a:pathLst>
              <a:path w="622300" h="711200">
                <a:moveTo>
                  <a:pt x="311150" y="344488"/>
                </a:moveTo>
                <a:cubicBezTo>
                  <a:pt x="403147" y="344488"/>
                  <a:pt x="477838" y="269797"/>
                  <a:pt x="477838" y="177800"/>
                </a:cubicBezTo>
                <a:cubicBezTo>
                  <a:pt x="477838" y="85803"/>
                  <a:pt x="403147" y="11112"/>
                  <a:pt x="311150" y="11112"/>
                </a:cubicBezTo>
                <a:cubicBezTo>
                  <a:pt x="219153" y="11112"/>
                  <a:pt x="144463" y="85803"/>
                  <a:pt x="144463" y="177800"/>
                </a:cubicBezTo>
                <a:cubicBezTo>
                  <a:pt x="144463" y="269797"/>
                  <a:pt x="219153" y="344488"/>
                  <a:pt x="311150" y="344488"/>
                </a:cubicBezTo>
                <a:close/>
                <a:moveTo>
                  <a:pt x="269895" y="422275"/>
                </a:moveTo>
                <a:cubicBezTo>
                  <a:pt x="133072" y="422275"/>
                  <a:pt x="22225" y="533122"/>
                  <a:pt x="22225" y="669945"/>
                </a:cubicBezTo>
                <a:cubicBezTo>
                  <a:pt x="22225" y="692725"/>
                  <a:pt x="40700" y="711200"/>
                  <a:pt x="63480" y="711200"/>
                </a:cubicBezTo>
                <a:lnTo>
                  <a:pt x="558820" y="711200"/>
                </a:lnTo>
                <a:cubicBezTo>
                  <a:pt x="581600" y="711200"/>
                  <a:pt x="600075" y="692725"/>
                  <a:pt x="600075" y="669945"/>
                </a:cubicBezTo>
                <a:cubicBezTo>
                  <a:pt x="600075" y="533122"/>
                  <a:pt x="489228" y="422275"/>
                  <a:pt x="352405" y="422275"/>
                </a:cubicBezTo>
                <a:lnTo>
                  <a:pt x="269895" y="42227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49000" y="355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77850" y="288925"/>
                </a:moveTo>
                <a:cubicBezTo>
                  <a:pt x="577850" y="352683"/>
                  <a:pt x="557153" y="411579"/>
                  <a:pt x="522288" y="459363"/>
                </a:cubicBezTo>
                <a:lnTo>
                  <a:pt x="698143" y="635357"/>
                </a:lnTo>
                <a:cubicBezTo>
                  <a:pt x="715506" y="652720"/>
                  <a:pt x="715506" y="680918"/>
                  <a:pt x="698143" y="698282"/>
                </a:cubicBezTo>
                <a:cubicBezTo>
                  <a:pt x="680780" y="715645"/>
                  <a:pt x="652582" y="715645"/>
                  <a:pt x="635218" y="698282"/>
                </a:cubicBezTo>
                <a:lnTo>
                  <a:pt x="459363" y="522288"/>
                </a:lnTo>
                <a:cubicBezTo>
                  <a:pt x="411579" y="557153"/>
                  <a:pt x="352683" y="577850"/>
                  <a:pt x="288925" y="577850"/>
                </a:cubicBezTo>
                <a:cubicBezTo>
                  <a:pt x="129322" y="577850"/>
                  <a:pt x="0" y="448528"/>
                  <a:pt x="0" y="288925"/>
                </a:cubicBezTo>
                <a:cubicBezTo>
                  <a:pt x="0" y="129322"/>
                  <a:pt x="129322" y="0"/>
                  <a:pt x="288925" y="0"/>
                </a:cubicBezTo>
                <a:cubicBezTo>
                  <a:pt x="448528" y="0"/>
                  <a:pt x="577850" y="129322"/>
                  <a:pt x="577850" y="288925"/>
                </a:cubicBezTo>
                <a:close/>
                <a:moveTo>
                  <a:pt x="288925" y="488950"/>
                </a:moveTo>
                <a:cubicBezTo>
                  <a:pt x="399322" y="488950"/>
                  <a:pt x="488950" y="399322"/>
                  <a:pt x="488950" y="288925"/>
                </a:cubicBezTo>
                <a:cubicBezTo>
                  <a:pt x="488950" y="178528"/>
                  <a:pt x="399322" y="88900"/>
                  <a:pt x="288925" y="88900"/>
                </a:cubicBezTo>
                <a:cubicBezTo>
                  <a:pt x="178528" y="88900"/>
                  <a:pt x="88900" y="178528"/>
                  <a:pt x="88900" y="288925"/>
                </a:cubicBezTo>
                <a:cubicBezTo>
                  <a:pt x="88900" y="399322"/>
                  <a:pt x="178528" y="488950"/>
                  <a:pt x="288925" y="4889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5000" y="355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33400" y="266700"/>
                </a:moveTo>
                <a:cubicBezTo>
                  <a:pt x="607020" y="266700"/>
                  <a:pt x="666750" y="206970"/>
                  <a:pt x="666750" y="133350"/>
                </a:cubicBezTo>
                <a:cubicBezTo>
                  <a:pt x="666750" y="59730"/>
                  <a:pt x="607020" y="0"/>
                  <a:pt x="533400" y="0"/>
                </a:cubicBezTo>
                <a:cubicBezTo>
                  <a:pt x="459780" y="0"/>
                  <a:pt x="400050" y="59730"/>
                  <a:pt x="400050" y="133350"/>
                </a:cubicBezTo>
                <a:cubicBezTo>
                  <a:pt x="400050" y="140851"/>
                  <a:pt x="400745" y="148352"/>
                  <a:pt x="401856" y="155575"/>
                </a:cubicBezTo>
                <a:lnTo>
                  <a:pt x="221694" y="255726"/>
                </a:lnTo>
                <a:cubicBezTo>
                  <a:pt x="198219" y="234890"/>
                  <a:pt x="167243" y="222250"/>
                  <a:pt x="133350" y="222250"/>
                </a:cubicBezTo>
                <a:cubicBezTo>
                  <a:pt x="59730" y="222250"/>
                  <a:pt x="0" y="281980"/>
                  <a:pt x="0" y="355600"/>
                </a:cubicBezTo>
                <a:cubicBezTo>
                  <a:pt x="0" y="429220"/>
                  <a:pt x="59730" y="488950"/>
                  <a:pt x="133350" y="488950"/>
                </a:cubicBezTo>
                <a:cubicBezTo>
                  <a:pt x="167243" y="488950"/>
                  <a:pt x="198080" y="476310"/>
                  <a:pt x="221694" y="455474"/>
                </a:cubicBezTo>
                <a:lnTo>
                  <a:pt x="401856" y="555625"/>
                </a:lnTo>
                <a:cubicBezTo>
                  <a:pt x="400606" y="562848"/>
                  <a:pt x="400050" y="570210"/>
                  <a:pt x="400050" y="577850"/>
                </a:cubicBezTo>
                <a:cubicBezTo>
                  <a:pt x="400050" y="651470"/>
                  <a:pt x="459780" y="711200"/>
                  <a:pt x="533400" y="711200"/>
                </a:cubicBezTo>
                <a:cubicBezTo>
                  <a:pt x="607020" y="711200"/>
                  <a:pt x="666750" y="651470"/>
                  <a:pt x="666750" y="577850"/>
                </a:cubicBezTo>
                <a:cubicBezTo>
                  <a:pt x="666750" y="504230"/>
                  <a:pt x="607020" y="444500"/>
                  <a:pt x="533400" y="444500"/>
                </a:cubicBezTo>
                <a:cubicBezTo>
                  <a:pt x="499507" y="444500"/>
                  <a:pt x="468670" y="457140"/>
                  <a:pt x="445056" y="477976"/>
                </a:cubicBezTo>
                <a:lnTo>
                  <a:pt x="264894" y="377825"/>
                </a:lnTo>
                <a:cubicBezTo>
                  <a:pt x="266144" y="370602"/>
                  <a:pt x="266700" y="363240"/>
                  <a:pt x="266700" y="355600"/>
                </a:cubicBezTo>
                <a:cubicBezTo>
                  <a:pt x="266700" y="347960"/>
                  <a:pt x="266005" y="340598"/>
                  <a:pt x="264894" y="333375"/>
                </a:cubicBezTo>
                <a:lnTo>
                  <a:pt x="445056" y="233224"/>
                </a:lnTo>
                <a:cubicBezTo>
                  <a:pt x="468531" y="254060"/>
                  <a:pt x="499507" y="266700"/>
                  <a:pt x="533400" y="2667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25450" y="3556000"/>
            <a:ext cx="622300" cy="711200"/>
          </a:xfrm>
          <a:custGeom>
            <a:avLst/>
            <a:gdLst/>
            <a:ahLst/>
            <a:cxnLst/>
            <a:rect l="l" t="t" r="r" b="b"/>
            <a:pathLst>
              <a:path w="622300" h="711200">
                <a:moveTo>
                  <a:pt x="355600" y="44450"/>
                </a:moveTo>
                <a:cubicBezTo>
                  <a:pt x="355600" y="19864"/>
                  <a:pt x="335736" y="0"/>
                  <a:pt x="311150" y="0"/>
                </a:cubicBezTo>
                <a:cubicBezTo>
                  <a:pt x="286564" y="0"/>
                  <a:pt x="266700" y="19864"/>
                  <a:pt x="266700" y="44450"/>
                </a:cubicBezTo>
                <a:lnTo>
                  <a:pt x="266700" y="337125"/>
                </a:lnTo>
                <a:lnTo>
                  <a:pt x="209193" y="279618"/>
                </a:lnTo>
                <a:cubicBezTo>
                  <a:pt x="191830" y="262255"/>
                  <a:pt x="163632" y="262255"/>
                  <a:pt x="146268" y="279618"/>
                </a:cubicBezTo>
                <a:cubicBezTo>
                  <a:pt x="128905" y="296982"/>
                  <a:pt x="128905" y="325180"/>
                  <a:pt x="146268" y="342543"/>
                </a:cubicBezTo>
                <a:lnTo>
                  <a:pt x="279618" y="475893"/>
                </a:lnTo>
                <a:cubicBezTo>
                  <a:pt x="296982" y="493256"/>
                  <a:pt x="325180" y="493256"/>
                  <a:pt x="342543" y="475893"/>
                </a:cubicBezTo>
                <a:lnTo>
                  <a:pt x="475893" y="342543"/>
                </a:lnTo>
                <a:cubicBezTo>
                  <a:pt x="493256" y="325180"/>
                  <a:pt x="493256" y="296982"/>
                  <a:pt x="475893" y="279618"/>
                </a:cubicBezTo>
                <a:cubicBezTo>
                  <a:pt x="458530" y="262255"/>
                  <a:pt x="430332" y="262255"/>
                  <a:pt x="412968" y="279618"/>
                </a:cubicBezTo>
                <a:lnTo>
                  <a:pt x="355600" y="337125"/>
                </a:lnTo>
                <a:lnTo>
                  <a:pt x="355600" y="44450"/>
                </a:lnTo>
                <a:close/>
                <a:moveTo>
                  <a:pt x="88900" y="444500"/>
                </a:moveTo>
                <a:cubicBezTo>
                  <a:pt x="39866" y="444500"/>
                  <a:pt x="0" y="484366"/>
                  <a:pt x="0" y="533400"/>
                </a:cubicBezTo>
                <a:lnTo>
                  <a:pt x="0" y="577850"/>
                </a:lnTo>
                <a:cubicBezTo>
                  <a:pt x="0" y="626884"/>
                  <a:pt x="39866" y="666750"/>
                  <a:pt x="88900" y="666750"/>
                </a:cubicBezTo>
                <a:lnTo>
                  <a:pt x="533400" y="666750"/>
                </a:lnTo>
                <a:cubicBezTo>
                  <a:pt x="582434" y="666750"/>
                  <a:pt x="622300" y="626884"/>
                  <a:pt x="622300" y="577850"/>
                </a:cubicBezTo>
                <a:lnTo>
                  <a:pt x="622300" y="533400"/>
                </a:lnTo>
                <a:cubicBezTo>
                  <a:pt x="622300" y="484366"/>
                  <a:pt x="582434" y="444500"/>
                  <a:pt x="533400" y="444500"/>
                </a:cubicBezTo>
                <a:lnTo>
                  <a:pt x="468253" y="444500"/>
                </a:lnTo>
                <a:lnTo>
                  <a:pt x="389632" y="523121"/>
                </a:lnTo>
                <a:cubicBezTo>
                  <a:pt x="346293" y="566460"/>
                  <a:pt x="275868" y="566460"/>
                  <a:pt x="232529" y="523121"/>
                </a:cubicBezTo>
                <a:lnTo>
                  <a:pt x="154047" y="444500"/>
                </a:lnTo>
                <a:lnTo>
                  <a:pt x="88900" y="444500"/>
                </a:lnTo>
                <a:close/>
                <a:moveTo>
                  <a:pt x="511175" y="522288"/>
                </a:moveTo>
                <a:cubicBezTo>
                  <a:pt x="529574" y="522288"/>
                  <a:pt x="544513" y="537226"/>
                  <a:pt x="544513" y="555625"/>
                </a:cubicBezTo>
                <a:cubicBezTo>
                  <a:pt x="544513" y="574024"/>
                  <a:pt x="529574" y="588963"/>
                  <a:pt x="511175" y="588963"/>
                </a:cubicBezTo>
                <a:cubicBezTo>
                  <a:pt x="492776" y="588963"/>
                  <a:pt x="477838" y="574024"/>
                  <a:pt x="477838" y="555625"/>
                </a:cubicBezTo>
                <a:cubicBezTo>
                  <a:pt x="477838" y="537226"/>
                  <a:pt x="492776" y="522288"/>
                  <a:pt x="511175" y="5222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4141450" y="3556000"/>
            <a:ext cx="622300" cy="711200"/>
          </a:xfrm>
          <a:custGeom>
            <a:avLst/>
            <a:gdLst/>
            <a:ahLst/>
            <a:cxnLst/>
            <a:rect l="l" t="t" r="r" b="b"/>
            <a:pathLst>
              <a:path w="622300" h="711200">
                <a:moveTo>
                  <a:pt x="189885" y="8195"/>
                </a:moveTo>
                <a:lnTo>
                  <a:pt x="177800" y="44450"/>
                </a:lnTo>
                <a:lnTo>
                  <a:pt x="44450" y="44450"/>
                </a:lnTo>
                <a:cubicBezTo>
                  <a:pt x="19864" y="44450"/>
                  <a:pt x="0" y="64314"/>
                  <a:pt x="0" y="88900"/>
                </a:cubicBezTo>
                <a:cubicBezTo>
                  <a:pt x="0" y="113486"/>
                  <a:pt x="19864" y="133350"/>
                  <a:pt x="44450" y="133350"/>
                </a:cubicBezTo>
                <a:lnTo>
                  <a:pt x="577850" y="133350"/>
                </a:lnTo>
                <a:cubicBezTo>
                  <a:pt x="602436" y="133350"/>
                  <a:pt x="622300" y="113486"/>
                  <a:pt x="622300" y="88900"/>
                </a:cubicBezTo>
                <a:cubicBezTo>
                  <a:pt x="622300" y="64314"/>
                  <a:pt x="602436" y="44450"/>
                  <a:pt x="577850" y="44450"/>
                </a:cubicBezTo>
                <a:lnTo>
                  <a:pt x="444500" y="44450"/>
                </a:lnTo>
                <a:lnTo>
                  <a:pt x="432415" y="8195"/>
                </a:lnTo>
                <a:cubicBezTo>
                  <a:pt x="426303" y="-10001"/>
                  <a:pt x="409357" y="-22225"/>
                  <a:pt x="390188" y="-22225"/>
                </a:cubicBezTo>
                <a:lnTo>
                  <a:pt x="232112" y="-22225"/>
                </a:lnTo>
                <a:cubicBezTo>
                  <a:pt x="212943" y="-22225"/>
                  <a:pt x="195997" y="-10001"/>
                  <a:pt x="189885" y="8195"/>
                </a:cubicBezTo>
                <a:close/>
                <a:moveTo>
                  <a:pt x="577850" y="200025"/>
                </a:moveTo>
                <a:lnTo>
                  <a:pt x="44450" y="200025"/>
                </a:lnTo>
                <a:lnTo>
                  <a:pt x="73759" y="648831"/>
                </a:lnTo>
                <a:cubicBezTo>
                  <a:pt x="75982" y="683974"/>
                  <a:pt x="105152" y="711200"/>
                  <a:pt x="140295" y="711200"/>
                </a:cubicBezTo>
                <a:lnTo>
                  <a:pt x="482005" y="711200"/>
                </a:lnTo>
                <a:cubicBezTo>
                  <a:pt x="517148" y="711200"/>
                  <a:pt x="546318" y="683974"/>
                  <a:pt x="548541" y="648831"/>
                </a:cubicBezTo>
                <a:lnTo>
                  <a:pt x="577850" y="200025"/>
                </a:lnTo>
                <a:close/>
              </a:path>
            </a:pathLst>
          </a:custGeom>
          <a:solidFill>
            <a:srgbClr val="8A8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77450" y="4826000"/>
            <a:ext cx="622300" cy="711200"/>
          </a:xfrm>
          <a:custGeom>
            <a:avLst/>
            <a:gdLst/>
            <a:ahLst/>
            <a:cxnLst/>
            <a:rect l="l" t="t" r="r" b="b"/>
            <a:pathLst>
              <a:path w="622300" h="711200">
                <a:moveTo>
                  <a:pt x="126683" y="51256"/>
                </a:moveTo>
                <a:cubicBezTo>
                  <a:pt x="109458" y="41811"/>
                  <a:pt x="88622" y="42228"/>
                  <a:pt x="71676" y="52229"/>
                </a:cubicBezTo>
                <a:cubicBezTo>
                  <a:pt x="54729" y="62230"/>
                  <a:pt x="44450" y="80427"/>
                  <a:pt x="44450" y="100013"/>
                </a:cubicBezTo>
                <a:lnTo>
                  <a:pt x="44450" y="611187"/>
                </a:lnTo>
                <a:cubicBezTo>
                  <a:pt x="44450" y="630773"/>
                  <a:pt x="54868" y="648970"/>
                  <a:pt x="71676" y="658971"/>
                </a:cubicBezTo>
                <a:cubicBezTo>
                  <a:pt x="88483" y="668972"/>
                  <a:pt x="109458" y="669389"/>
                  <a:pt x="126683" y="659944"/>
                </a:cubicBezTo>
                <a:lnTo>
                  <a:pt x="593408" y="404356"/>
                </a:lnTo>
                <a:cubicBezTo>
                  <a:pt x="611187" y="394633"/>
                  <a:pt x="622300" y="375880"/>
                  <a:pt x="622300" y="355600"/>
                </a:cubicBezTo>
                <a:cubicBezTo>
                  <a:pt x="622300" y="335320"/>
                  <a:pt x="611187" y="316567"/>
                  <a:pt x="593408" y="306844"/>
                </a:cubicBezTo>
                <a:lnTo>
                  <a:pt x="126683" y="51256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37900" y="4826000"/>
            <a:ext cx="533400" cy="711200"/>
          </a:xfrm>
          <a:custGeom>
            <a:avLst/>
            <a:gdLst/>
            <a:ahLst/>
            <a:cxnLst/>
            <a:rect l="l" t="t" r="r" b="b"/>
            <a:pathLst>
              <a:path w="533400" h="711200">
                <a:moveTo>
                  <a:pt x="88900" y="0"/>
                </a:moveTo>
                <a:cubicBezTo>
                  <a:pt x="39866" y="0"/>
                  <a:pt x="0" y="39866"/>
                  <a:pt x="0" y="88900"/>
                </a:cubicBezTo>
                <a:lnTo>
                  <a:pt x="0" y="666750"/>
                </a:lnTo>
                <a:cubicBezTo>
                  <a:pt x="0" y="682724"/>
                  <a:pt x="8612" y="697587"/>
                  <a:pt x="22503" y="705366"/>
                </a:cubicBezTo>
                <a:cubicBezTo>
                  <a:pt x="36393" y="713145"/>
                  <a:pt x="53479" y="713006"/>
                  <a:pt x="67231" y="704810"/>
                </a:cubicBezTo>
                <a:lnTo>
                  <a:pt x="266700" y="585212"/>
                </a:lnTo>
                <a:lnTo>
                  <a:pt x="466030" y="704810"/>
                </a:lnTo>
                <a:cubicBezTo>
                  <a:pt x="479782" y="713006"/>
                  <a:pt x="496868" y="713284"/>
                  <a:pt x="510758" y="705366"/>
                </a:cubicBezTo>
                <a:cubicBezTo>
                  <a:pt x="524649" y="697448"/>
                  <a:pt x="533400" y="682724"/>
                  <a:pt x="533400" y="666750"/>
                </a:cubicBezTo>
                <a:lnTo>
                  <a:pt x="533400" y="88900"/>
                </a:lnTo>
                <a:cubicBezTo>
                  <a:pt x="533400" y="39866"/>
                  <a:pt x="493534" y="0"/>
                  <a:pt x="444500" y="0"/>
                </a:cubicBezTo>
                <a:lnTo>
                  <a:pt x="88900" y="0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53900" y="4826000"/>
            <a:ext cx="533400" cy="711200"/>
          </a:xfrm>
          <a:custGeom>
            <a:avLst/>
            <a:gdLst/>
            <a:ahLst/>
            <a:cxnLst/>
            <a:rect l="l" t="t" r="r" b="b"/>
            <a:pathLst>
              <a:path w="533400" h="711200">
                <a:moveTo>
                  <a:pt x="0" y="261977"/>
                </a:moveTo>
                <a:cubicBezTo>
                  <a:pt x="0" y="117237"/>
                  <a:pt x="119459" y="0"/>
                  <a:pt x="266700" y="0"/>
                </a:cubicBezTo>
                <a:cubicBezTo>
                  <a:pt x="413941" y="0"/>
                  <a:pt x="533400" y="117237"/>
                  <a:pt x="533400" y="261977"/>
                </a:cubicBezTo>
                <a:cubicBezTo>
                  <a:pt x="533400" y="427692"/>
                  <a:pt x="366435" y="626328"/>
                  <a:pt x="296704" y="702032"/>
                </a:cubicBezTo>
                <a:cubicBezTo>
                  <a:pt x="280313" y="719812"/>
                  <a:pt x="252948" y="719812"/>
                  <a:pt x="236557" y="702032"/>
                </a:cubicBezTo>
                <a:cubicBezTo>
                  <a:pt x="166826" y="626328"/>
                  <a:pt x="-139" y="427692"/>
                  <a:pt x="-139" y="261977"/>
                </a:cubicBezTo>
                <a:close/>
                <a:moveTo>
                  <a:pt x="266700" y="355600"/>
                </a:moveTo>
                <a:cubicBezTo>
                  <a:pt x="315765" y="355600"/>
                  <a:pt x="355600" y="315765"/>
                  <a:pt x="355600" y="266700"/>
                </a:cubicBezTo>
                <a:cubicBezTo>
                  <a:pt x="355600" y="217635"/>
                  <a:pt x="315765" y="177800"/>
                  <a:pt x="266700" y="177800"/>
                </a:cubicBezTo>
                <a:cubicBezTo>
                  <a:pt x="217635" y="177800"/>
                  <a:pt x="177800" y="217635"/>
                  <a:pt x="177800" y="266700"/>
                </a:cubicBezTo>
                <a:cubicBezTo>
                  <a:pt x="177800" y="315765"/>
                  <a:pt x="217635" y="355600"/>
                  <a:pt x="266700" y="35560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081000" y="482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66675" y="88900"/>
                </a:moveTo>
                <a:cubicBezTo>
                  <a:pt x="29865" y="88900"/>
                  <a:pt x="0" y="118765"/>
                  <a:pt x="0" y="155575"/>
                </a:cubicBezTo>
                <a:cubicBezTo>
                  <a:pt x="0" y="176550"/>
                  <a:pt x="9862" y="196275"/>
                  <a:pt x="26670" y="208915"/>
                </a:cubicBezTo>
                <a:lnTo>
                  <a:pt x="315595" y="425609"/>
                </a:lnTo>
                <a:cubicBezTo>
                  <a:pt x="339348" y="443389"/>
                  <a:pt x="371852" y="443389"/>
                  <a:pt x="395605" y="425609"/>
                </a:cubicBezTo>
                <a:lnTo>
                  <a:pt x="684530" y="208915"/>
                </a:lnTo>
                <a:cubicBezTo>
                  <a:pt x="701338" y="196275"/>
                  <a:pt x="711200" y="176550"/>
                  <a:pt x="711200" y="155575"/>
                </a:cubicBezTo>
                <a:cubicBezTo>
                  <a:pt x="711200" y="118765"/>
                  <a:pt x="681335" y="88900"/>
                  <a:pt x="644525" y="88900"/>
                </a:cubicBezTo>
                <a:lnTo>
                  <a:pt x="66675" y="88900"/>
                </a:lnTo>
                <a:close/>
                <a:moveTo>
                  <a:pt x="0" y="272256"/>
                </a:moveTo>
                <a:lnTo>
                  <a:pt x="0" y="533400"/>
                </a:lnTo>
                <a:cubicBezTo>
                  <a:pt x="0" y="582434"/>
                  <a:pt x="39866" y="622300"/>
                  <a:pt x="88900" y="622300"/>
                </a:cubicBezTo>
                <a:lnTo>
                  <a:pt x="622300" y="622300"/>
                </a:lnTo>
                <a:cubicBezTo>
                  <a:pt x="671334" y="622300"/>
                  <a:pt x="711200" y="582434"/>
                  <a:pt x="711200" y="533400"/>
                </a:cubicBezTo>
                <a:lnTo>
                  <a:pt x="711200" y="272256"/>
                </a:lnTo>
                <a:lnTo>
                  <a:pt x="435610" y="478949"/>
                </a:lnTo>
                <a:cubicBezTo>
                  <a:pt x="388243" y="514509"/>
                  <a:pt x="322957" y="514509"/>
                  <a:pt x="275590" y="478949"/>
                </a:cubicBezTo>
                <a:lnTo>
                  <a:pt x="0" y="272256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31" name="Shape 29"/>
          <p:cNvSpPr/>
          <p:nvPr/>
        </p:nvSpPr>
        <p:spPr>
          <a:xfrm>
            <a:off x="14185900" y="4826000"/>
            <a:ext cx="533400" cy="711200"/>
          </a:xfrm>
          <a:custGeom>
            <a:avLst/>
            <a:gdLst/>
            <a:ahLst/>
            <a:cxnLst/>
            <a:rect l="l" t="t" r="r" b="b"/>
            <a:pathLst>
              <a:path w="533400" h="711200">
                <a:moveTo>
                  <a:pt x="177800" y="133350"/>
                </a:moveTo>
                <a:lnTo>
                  <a:pt x="177800" y="222250"/>
                </a:lnTo>
                <a:lnTo>
                  <a:pt x="355600" y="222250"/>
                </a:lnTo>
                <a:lnTo>
                  <a:pt x="355600" y="133350"/>
                </a:lnTo>
                <a:cubicBezTo>
                  <a:pt x="355600" y="84316"/>
                  <a:pt x="315734" y="44450"/>
                  <a:pt x="266700" y="44450"/>
                </a:cubicBezTo>
                <a:cubicBezTo>
                  <a:pt x="217666" y="44450"/>
                  <a:pt x="177800" y="84316"/>
                  <a:pt x="177800" y="133350"/>
                </a:cubicBezTo>
                <a:close/>
                <a:moveTo>
                  <a:pt x="88900" y="222250"/>
                </a:moveTo>
                <a:lnTo>
                  <a:pt x="88900" y="133350"/>
                </a:lnTo>
                <a:cubicBezTo>
                  <a:pt x="88900" y="35143"/>
                  <a:pt x="168493" y="-44450"/>
                  <a:pt x="266700" y="-44450"/>
                </a:cubicBezTo>
                <a:cubicBezTo>
                  <a:pt x="364907" y="-44450"/>
                  <a:pt x="444500" y="35143"/>
                  <a:pt x="444500" y="133350"/>
                </a:cubicBezTo>
                <a:lnTo>
                  <a:pt x="444500" y="222250"/>
                </a:lnTo>
                <a:cubicBezTo>
                  <a:pt x="493534" y="222250"/>
                  <a:pt x="533400" y="262116"/>
                  <a:pt x="533400" y="311150"/>
                </a:cubicBezTo>
                <a:lnTo>
                  <a:pt x="533400" y="622300"/>
                </a:lnTo>
                <a:cubicBezTo>
                  <a:pt x="533400" y="671334"/>
                  <a:pt x="493534" y="711200"/>
                  <a:pt x="444500" y="711200"/>
                </a:cubicBezTo>
                <a:lnTo>
                  <a:pt x="88900" y="711200"/>
                </a:lnTo>
                <a:cubicBezTo>
                  <a:pt x="39866" y="711200"/>
                  <a:pt x="0" y="671334"/>
                  <a:pt x="0" y="622300"/>
                </a:cubicBezTo>
                <a:lnTo>
                  <a:pt x="0" y="311150"/>
                </a:lnTo>
                <a:cubicBezTo>
                  <a:pt x="0" y="262116"/>
                  <a:pt x="39866" y="222250"/>
                  <a:pt x="88900" y="222250"/>
                </a:cubicBezTo>
                <a:close/>
              </a:path>
            </a:pathLst>
          </a:custGeom>
          <a:solidFill>
            <a:srgbClr val="8A8580"/>
          </a:solidFill>
          <a:ln/>
        </p:spPr>
      </p:sp>
      <p:sp>
        <p:nvSpPr>
          <p:cNvPr id="32" name="Text 30"/>
          <p:cNvSpPr/>
          <p:nvPr/>
        </p:nvSpPr>
        <p:spPr>
          <a:xfrm>
            <a:off x="9398000" y="584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universal icons — recognized across languages and cultures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524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Charts, Diagrams, and Infographics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Charts display numerical data visually (bar, line, pie)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Diagrams show relationships and processes (flowcharts, mind maps)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Infographics combine text, images, and data in one design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type serves a different communication purpose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Choosing the right type makes information clearer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"History of the Internet" infographic tells 30 years of story in one image.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Given student hobby data, which graphic type would you choose?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1905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949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44450" y="44450"/>
                </a:moveTo>
                <a:cubicBezTo>
                  <a:pt x="69036" y="44450"/>
                  <a:pt x="88900" y="64314"/>
                  <a:pt x="88900" y="88900"/>
                </a:cubicBezTo>
                <a:lnTo>
                  <a:pt x="88900" y="555625"/>
                </a:lnTo>
                <a:cubicBezTo>
                  <a:pt x="88900" y="567849"/>
                  <a:pt x="98901" y="577850"/>
                  <a:pt x="111125" y="577850"/>
                </a:cubicBezTo>
                <a:lnTo>
                  <a:pt x="666750" y="577850"/>
                </a:lnTo>
                <a:cubicBezTo>
                  <a:pt x="691336" y="577850"/>
                  <a:pt x="711200" y="597714"/>
                  <a:pt x="711200" y="622300"/>
                </a:cubicBezTo>
                <a:cubicBezTo>
                  <a:pt x="711200" y="646886"/>
                  <a:pt x="691336" y="666750"/>
                  <a:pt x="666750" y="666750"/>
                </a:cubicBezTo>
                <a:lnTo>
                  <a:pt x="111125" y="666750"/>
                </a:lnTo>
                <a:cubicBezTo>
                  <a:pt x="49728" y="666750"/>
                  <a:pt x="0" y="617022"/>
                  <a:pt x="0" y="555625"/>
                </a:cubicBezTo>
                <a:lnTo>
                  <a:pt x="0" y="88900"/>
                </a:lnTo>
                <a:cubicBezTo>
                  <a:pt x="0" y="64314"/>
                  <a:pt x="19864" y="44450"/>
                  <a:pt x="44450" y="44450"/>
                </a:cubicBezTo>
                <a:close/>
                <a:moveTo>
                  <a:pt x="200025" y="311150"/>
                </a:moveTo>
                <a:cubicBezTo>
                  <a:pt x="224611" y="311150"/>
                  <a:pt x="244475" y="331014"/>
                  <a:pt x="244475" y="355600"/>
                </a:cubicBezTo>
                <a:lnTo>
                  <a:pt x="244475" y="444500"/>
                </a:lnTo>
                <a:cubicBezTo>
                  <a:pt x="244475" y="469086"/>
                  <a:pt x="224611" y="488950"/>
                  <a:pt x="200025" y="488950"/>
                </a:cubicBezTo>
                <a:cubicBezTo>
                  <a:pt x="175439" y="488950"/>
                  <a:pt x="155575" y="469086"/>
                  <a:pt x="155575" y="444500"/>
                </a:cubicBezTo>
                <a:lnTo>
                  <a:pt x="155575" y="355600"/>
                </a:lnTo>
                <a:cubicBezTo>
                  <a:pt x="155575" y="331014"/>
                  <a:pt x="175439" y="311150"/>
                  <a:pt x="200025" y="311150"/>
                </a:cubicBezTo>
                <a:close/>
                <a:moveTo>
                  <a:pt x="400050" y="222250"/>
                </a:moveTo>
                <a:lnTo>
                  <a:pt x="400050" y="444500"/>
                </a:lnTo>
                <a:cubicBezTo>
                  <a:pt x="400050" y="469086"/>
                  <a:pt x="380186" y="488950"/>
                  <a:pt x="355600" y="488950"/>
                </a:cubicBezTo>
                <a:cubicBezTo>
                  <a:pt x="331014" y="488950"/>
                  <a:pt x="311150" y="469086"/>
                  <a:pt x="311150" y="444500"/>
                </a:cubicBezTo>
                <a:lnTo>
                  <a:pt x="311150" y="222250"/>
                </a:lnTo>
                <a:cubicBezTo>
                  <a:pt x="311150" y="197664"/>
                  <a:pt x="331014" y="177800"/>
                  <a:pt x="355600" y="177800"/>
                </a:cubicBezTo>
                <a:cubicBezTo>
                  <a:pt x="380186" y="177800"/>
                  <a:pt x="400050" y="197664"/>
                  <a:pt x="400050" y="222250"/>
                </a:cubicBezTo>
                <a:close/>
                <a:moveTo>
                  <a:pt x="511175" y="266700"/>
                </a:moveTo>
                <a:cubicBezTo>
                  <a:pt x="535761" y="266700"/>
                  <a:pt x="555625" y="286564"/>
                  <a:pt x="555625" y="311150"/>
                </a:cubicBezTo>
                <a:lnTo>
                  <a:pt x="555625" y="444500"/>
                </a:lnTo>
                <a:cubicBezTo>
                  <a:pt x="555625" y="469086"/>
                  <a:pt x="535761" y="488950"/>
                  <a:pt x="511175" y="488950"/>
                </a:cubicBezTo>
                <a:cubicBezTo>
                  <a:pt x="486589" y="488950"/>
                  <a:pt x="466725" y="469086"/>
                  <a:pt x="466725" y="444500"/>
                </a:cubicBezTo>
                <a:lnTo>
                  <a:pt x="466725" y="311150"/>
                </a:lnTo>
                <a:cubicBezTo>
                  <a:pt x="466725" y="286564"/>
                  <a:pt x="486589" y="266700"/>
                  <a:pt x="511175" y="266700"/>
                </a:cubicBezTo>
                <a:close/>
                <a:moveTo>
                  <a:pt x="711200" y="133350"/>
                </a:moveTo>
                <a:lnTo>
                  <a:pt x="711200" y="444500"/>
                </a:lnTo>
                <a:cubicBezTo>
                  <a:pt x="711200" y="469086"/>
                  <a:pt x="691336" y="488950"/>
                  <a:pt x="666750" y="488950"/>
                </a:cubicBezTo>
                <a:cubicBezTo>
                  <a:pt x="642164" y="488950"/>
                  <a:pt x="622300" y="469086"/>
                  <a:pt x="622300" y="444500"/>
                </a:cubicBezTo>
                <a:lnTo>
                  <a:pt x="622300" y="133350"/>
                </a:lnTo>
                <a:cubicBezTo>
                  <a:pt x="622300" y="108764"/>
                  <a:pt x="642164" y="88900"/>
                  <a:pt x="666750" y="88900"/>
                </a:cubicBezTo>
                <a:cubicBezTo>
                  <a:pt x="691336" y="88900"/>
                  <a:pt x="711200" y="108764"/>
                  <a:pt x="711200" y="1333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0" y="31750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88500" y="3619500"/>
            <a:ext cx="15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numbers and data comparison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88500" y="5080000"/>
            <a:ext cx="15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Bar, Line, Pie, Area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93500" y="1714500"/>
            <a:ext cx="1905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275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0904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66700" y="88900"/>
                </a:moveTo>
                <a:cubicBezTo>
                  <a:pt x="266700" y="64314"/>
                  <a:pt x="286564" y="44450"/>
                  <a:pt x="311150" y="44450"/>
                </a:cubicBezTo>
                <a:lnTo>
                  <a:pt x="400050" y="44450"/>
                </a:lnTo>
                <a:cubicBezTo>
                  <a:pt x="424636" y="44450"/>
                  <a:pt x="444500" y="64314"/>
                  <a:pt x="444500" y="88900"/>
                </a:cubicBezTo>
                <a:lnTo>
                  <a:pt x="444500" y="177800"/>
                </a:lnTo>
                <a:cubicBezTo>
                  <a:pt x="444500" y="202386"/>
                  <a:pt x="424636" y="222250"/>
                  <a:pt x="400050" y="222250"/>
                </a:cubicBezTo>
                <a:lnTo>
                  <a:pt x="388938" y="222250"/>
                </a:lnTo>
                <a:lnTo>
                  <a:pt x="388938" y="311150"/>
                </a:lnTo>
                <a:lnTo>
                  <a:pt x="555625" y="311150"/>
                </a:lnTo>
                <a:cubicBezTo>
                  <a:pt x="610910" y="311150"/>
                  <a:pt x="655638" y="355878"/>
                  <a:pt x="655638" y="411162"/>
                </a:cubicBezTo>
                <a:lnTo>
                  <a:pt x="655638" y="488950"/>
                </a:lnTo>
                <a:lnTo>
                  <a:pt x="666750" y="488950"/>
                </a:lnTo>
                <a:cubicBezTo>
                  <a:pt x="691336" y="488950"/>
                  <a:pt x="711200" y="508814"/>
                  <a:pt x="711200" y="533400"/>
                </a:cubicBezTo>
                <a:lnTo>
                  <a:pt x="711200" y="622300"/>
                </a:lnTo>
                <a:cubicBezTo>
                  <a:pt x="711200" y="646886"/>
                  <a:pt x="691336" y="666750"/>
                  <a:pt x="666750" y="666750"/>
                </a:cubicBezTo>
                <a:lnTo>
                  <a:pt x="577850" y="666750"/>
                </a:lnTo>
                <a:cubicBezTo>
                  <a:pt x="553264" y="666750"/>
                  <a:pt x="533400" y="646886"/>
                  <a:pt x="533400" y="622300"/>
                </a:cubicBezTo>
                <a:lnTo>
                  <a:pt x="533400" y="533400"/>
                </a:lnTo>
                <a:cubicBezTo>
                  <a:pt x="533400" y="508814"/>
                  <a:pt x="553264" y="488950"/>
                  <a:pt x="577850" y="488950"/>
                </a:cubicBezTo>
                <a:lnTo>
                  <a:pt x="588963" y="488950"/>
                </a:lnTo>
                <a:lnTo>
                  <a:pt x="588963" y="411162"/>
                </a:lnTo>
                <a:cubicBezTo>
                  <a:pt x="588963" y="392688"/>
                  <a:pt x="574100" y="377825"/>
                  <a:pt x="555625" y="377825"/>
                </a:cubicBezTo>
                <a:lnTo>
                  <a:pt x="388938" y="377825"/>
                </a:lnTo>
                <a:lnTo>
                  <a:pt x="388938" y="488950"/>
                </a:lnTo>
                <a:lnTo>
                  <a:pt x="400050" y="488950"/>
                </a:lnTo>
                <a:cubicBezTo>
                  <a:pt x="424636" y="488950"/>
                  <a:pt x="444500" y="508814"/>
                  <a:pt x="444500" y="533400"/>
                </a:cubicBezTo>
                <a:lnTo>
                  <a:pt x="444500" y="622300"/>
                </a:lnTo>
                <a:cubicBezTo>
                  <a:pt x="444500" y="646886"/>
                  <a:pt x="424636" y="666750"/>
                  <a:pt x="400050" y="666750"/>
                </a:cubicBezTo>
                <a:lnTo>
                  <a:pt x="311150" y="666750"/>
                </a:lnTo>
                <a:cubicBezTo>
                  <a:pt x="286564" y="666750"/>
                  <a:pt x="266700" y="646886"/>
                  <a:pt x="266700" y="622300"/>
                </a:cubicBezTo>
                <a:lnTo>
                  <a:pt x="266700" y="533400"/>
                </a:lnTo>
                <a:cubicBezTo>
                  <a:pt x="266700" y="508814"/>
                  <a:pt x="286564" y="488950"/>
                  <a:pt x="311150" y="488950"/>
                </a:cubicBezTo>
                <a:lnTo>
                  <a:pt x="322263" y="488950"/>
                </a:lnTo>
                <a:lnTo>
                  <a:pt x="322263" y="377825"/>
                </a:lnTo>
                <a:lnTo>
                  <a:pt x="155575" y="377825"/>
                </a:lnTo>
                <a:cubicBezTo>
                  <a:pt x="137100" y="377825"/>
                  <a:pt x="122238" y="392688"/>
                  <a:pt x="122238" y="411162"/>
                </a:cubicBezTo>
                <a:lnTo>
                  <a:pt x="122238" y="488950"/>
                </a:lnTo>
                <a:lnTo>
                  <a:pt x="133350" y="488950"/>
                </a:lnTo>
                <a:cubicBezTo>
                  <a:pt x="157936" y="488950"/>
                  <a:pt x="177800" y="508814"/>
                  <a:pt x="177800" y="533400"/>
                </a:cubicBezTo>
                <a:lnTo>
                  <a:pt x="177800" y="622300"/>
                </a:lnTo>
                <a:cubicBezTo>
                  <a:pt x="177800" y="646886"/>
                  <a:pt x="157936" y="666750"/>
                  <a:pt x="133350" y="666750"/>
                </a:cubicBezTo>
                <a:lnTo>
                  <a:pt x="44450" y="666750"/>
                </a:lnTo>
                <a:cubicBezTo>
                  <a:pt x="19864" y="666750"/>
                  <a:pt x="0" y="646886"/>
                  <a:pt x="0" y="622300"/>
                </a:cubicBezTo>
                <a:lnTo>
                  <a:pt x="0" y="533400"/>
                </a:lnTo>
                <a:cubicBezTo>
                  <a:pt x="0" y="508814"/>
                  <a:pt x="19864" y="488950"/>
                  <a:pt x="44450" y="488950"/>
                </a:cubicBezTo>
                <a:lnTo>
                  <a:pt x="55563" y="488950"/>
                </a:lnTo>
                <a:lnTo>
                  <a:pt x="55563" y="411162"/>
                </a:lnTo>
                <a:cubicBezTo>
                  <a:pt x="55563" y="355878"/>
                  <a:pt x="100290" y="311150"/>
                  <a:pt x="155575" y="311150"/>
                </a:cubicBezTo>
                <a:lnTo>
                  <a:pt x="322263" y="311150"/>
                </a:lnTo>
                <a:lnTo>
                  <a:pt x="322263" y="222250"/>
                </a:lnTo>
                <a:lnTo>
                  <a:pt x="311150" y="222250"/>
                </a:lnTo>
                <a:cubicBezTo>
                  <a:pt x="286564" y="222250"/>
                  <a:pt x="266700" y="202386"/>
                  <a:pt x="266700" y="177800"/>
                </a:cubicBezTo>
                <a:lnTo>
                  <a:pt x="266700" y="88900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620500" y="31750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84000" y="3619500"/>
            <a:ext cx="15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processes and relationships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84000" y="5080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Flowchart, Mind Map, Venn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589000" y="1714500"/>
            <a:ext cx="1905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275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4274800" y="2286000"/>
            <a:ext cx="533400" cy="711200"/>
          </a:xfrm>
          <a:custGeom>
            <a:avLst/>
            <a:gdLst/>
            <a:ahLst/>
            <a:cxnLst/>
            <a:rect l="l" t="t" r="r" b="b"/>
            <a:pathLst>
              <a:path w="533400" h="711200">
                <a:moveTo>
                  <a:pt x="0" y="88900"/>
                </a:moveTo>
                <a:cubicBezTo>
                  <a:pt x="0" y="39866"/>
                  <a:pt x="39866" y="0"/>
                  <a:pt x="88900" y="0"/>
                </a:cubicBezTo>
                <a:lnTo>
                  <a:pt x="296565" y="0"/>
                </a:lnTo>
                <a:cubicBezTo>
                  <a:pt x="320179" y="0"/>
                  <a:pt x="342821" y="9307"/>
                  <a:pt x="359489" y="25975"/>
                </a:cubicBezTo>
                <a:lnTo>
                  <a:pt x="507425" y="174050"/>
                </a:lnTo>
                <a:cubicBezTo>
                  <a:pt x="524093" y="190718"/>
                  <a:pt x="533400" y="213360"/>
                  <a:pt x="533400" y="236974"/>
                </a:cubicBezTo>
                <a:lnTo>
                  <a:pt x="533400" y="622300"/>
                </a:lnTo>
                <a:cubicBezTo>
                  <a:pt x="533400" y="671334"/>
                  <a:pt x="493534" y="711200"/>
                  <a:pt x="444500" y="711200"/>
                </a:cubicBezTo>
                <a:lnTo>
                  <a:pt x="88900" y="711200"/>
                </a:lnTo>
                <a:cubicBezTo>
                  <a:pt x="39866" y="711200"/>
                  <a:pt x="0" y="671334"/>
                  <a:pt x="0" y="622300"/>
                </a:cubicBezTo>
                <a:lnTo>
                  <a:pt x="0" y="88900"/>
                </a:lnTo>
                <a:close/>
                <a:moveTo>
                  <a:pt x="288925" y="81260"/>
                </a:moveTo>
                <a:lnTo>
                  <a:pt x="288925" y="211138"/>
                </a:lnTo>
                <a:cubicBezTo>
                  <a:pt x="288925" y="229612"/>
                  <a:pt x="303788" y="244475"/>
                  <a:pt x="322263" y="244475"/>
                </a:cubicBezTo>
                <a:lnTo>
                  <a:pt x="452140" y="244475"/>
                </a:lnTo>
                <a:lnTo>
                  <a:pt x="288925" y="81260"/>
                </a:lnTo>
                <a:close/>
                <a:moveTo>
                  <a:pt x="166688" y="355600"/>
                </a:moveTo>
                <a:cubicBezTo>
                  <a:pt x="148213" y="355600"/>
                  <a:pt x="133350" y="370463"/>
                  <a:pt x="133350" y="388938"/>
                </a:cubicBezTo>
                <a:cubicBezTo>
                  <a:pt x="133350" y="407412"/>
                  <a:pt x="148213" y="422275"/>
                  <a:pt x="166688" y="422275"/>
                </a:cubicBezTo>
                <a:lnTo>
                  <a:pt x="366712" y="422275"/>
                </a:lnTo>
                <a:cubicBezTo>
                  <a:pt x="385187" y="422275"/>
                  <a:pt x="400050" y="407412"/>
                  <a:pt x="400050" y="388938"/>
                </a:cubicBezTo>
                <a:cubicBezTo>
                  <a:pt x="400050" y="370463"/>
                  <a:pt x="385187" y="355600"/>
                  <a:pt x="366712" y="355600"/>
                </a:cubicBezTo>
                <a:lnTo>
                  <a:pt x="166688" y="355600"/>
                </a:lnTo>
                <a:close/>
                <a:moveTo>
                  <a:pt x="166688" y="488950"/>
                </a:moveTo>
                <a:cubicBezTo>
                  <a:pt x="148213" y="488950"/>
                  <a:pt x="133350" y="503813"/>
                  <a:pt x="133350" y="522288"/>
                </a:cubicBezTo>
                <a:cubicBezTo>
                  <a:pt x="133350" y="540762"/>
                  <a:pt x="148213" y="555625"/>
                  <a:pt x="166688" y="555625"/>
                </a:cubicBezTo>
                <a:lnTo>
                  <a:pt x="366712" y="555625"/>
                </a:lnTo>
                <a:cubicBezTo>
                  <a:pt x="385187" y="555625"/>
                  <a:pt x="400050" y="540762"/>
                  <a:pt x="400050" y="522288"/>
                </a:cubicBezTo>
                <a:cubicBezTo>
                  <a:pt x="400050" y="503813"/>
                  <a:pt x="385187" y="488950"/>
                  <a:pt x="366712" y="488950"/>
                </a:cubicBezTo>
                <a:lnTo>
                  <a:pt x="166688" y="488950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0" y="31750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Infographics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79500" y="3619500"/>
            <a:ext cx="15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combined storytelling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79500" y="5080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Timeline, Process, Data Story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types of graphics for different purposes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0"/>
            <a:ext cx="4572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2794000"/>
            <a:ext cx="939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Learning Improvement Techniques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0" y="4318000"/>
            <a:ext cx="863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Strategies to Create More Effective Learning Content</a:t>
            </a:r>
            <a:endParaRPr lang="en-US" sz="2000" dirty="0"/>
          </a:p>
        </p:txBody>
      </p:sp>
      <p:pic>
        <p:nvPicPr>
          <p:cNvPr id="7" name="Image 0" descr="https://kimi-img.moonshot.cn/pub/slides/okc/onhjb3yt32yam/mnt/agents/output/multimedia_lecture/images/10_Free_Creative_studio_workspace_Image.png">    </p:cNvPr>
          <p:cNvPicPr>
            <a:picLocks noChangeAspect="1"/>
          </p:cNvPicPr>
          <p:nvPr/>
        </p:nvPicPr>
        <p:blipFill>
          <a:blip r:embed="rId1"/>
          <a:srcRect l="0" r="0" t="32353" b="32353"/>
          <a:stretch/>
        </p:blipFill>
        <p:spPr>
          <a:xfrm>
            <a:off x="6858000" y="5334000"/>
            <a:ext cx="8636000" cy="3048000"/>
          </a:xfrm>
          <a:prstGeom prst="roundRect">
            <a:avLst>
              <a:gd name="adj" fmla="val 60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E891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Simple and Clear Visuals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Choose visuals that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directly support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your message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Avoid decorative images that don't add value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clear image is better than five confusing ones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high-quality, relevant visuals only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 visuals reduce cognitive load and improve understanding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Duolingo uses simple, clean illustrations that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directly match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lesson word.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SIMPLIFY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 a complex diagram online — how would you simplify it?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2921000" cy="482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0" y="184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47350" y="2794000"/>
            <a:ext cx="622300" cy="711200"/>
          </a:xfrm>
          <a:custGeom>
            <a:avLst/>
            <a:gdLst/>
            <a:ahLst/>
            <a:cxnLst/>
            <a:rect l="l" t="t" r="r" b="b"/>
            <a:pathLst>
              <a:path w="622300" h="711200">
                <a:moveTo>
                  <a:pt x="311150" y="155575"/>
                </a:moveTo>
                <a:cubicBezTo>
                  <a:pt x="298926" y="155575"/>
                  <a:pt x="288925" y="145574"/>
                  <a:pt x="288925" y="133350"/>
                </a:cubicBezTo>
                <a:lnTo>
                  <a:pt x="288925" y="111125"/>
                </a:lnTo>
                <a:cubicBezTo>
                  <a:pt x="288925" y="49728"/>
                  <a:pt x="338653" y="0"/>
                  <a:pt x="400050" y="0"/>
                </a:cubicBezTo>
                <a:lnTo>
                  <a:pt x="422275" y="0"/>
                </a:lnTo>
                <a:cubicBezTo>
                  <a:pt x="434499" y="0"/>
                  <a:pt x="444500" y="10001"/>
                  <a:pt x="444500" y="22225"/>
                </a:cubicBezTo>
                <a:lnTo>
                  <a:pt x="444500" y="44450"/>
                </a:lnTo>
                <a:cubicBezTo>
                  <a:pt x="444500" y="105847"/>
                  <a:pt x="394772" y="155575"/>
                  <a:pt x="333375" y="155575"/>
                </a:cubicBezTo>
                <a:lnTo>
                  <a:pt x="311150" y="155575"/>
                </a:lnTo>
                <a:close/>
                <a:moveTo>
                  <a:pt x="0" y="400050"/>
                </a:moveTo>
                <a:cubicBezTo>
                  <a:pt x="0" y="294065"/>
                  <a:pt x="49590" y="177800"/>
                  <a:pt x="155575" y="177800"/>
                </a:cubicBezTo>
                <a:cubicBezTo>
                  <a:pt x="193496" y="177800"/>
                  <a:pt x="238502" y="192107"/>
                  <a:pt x="270450" y="204609"/>
                </a:cubicBezTo>
                <a:cubicBezTo>
                  <a:pt x="296565" y="214749"/>
                  <a:pt x="325874" y="214749"/>
                  <a:pt x="351988" y="204609"/>
                </a:cubicBezTo>
                <a:cubicBezTo>
                  <a:pt x="383798" y="192246"/>
                  <a:pt x="428942" y="177800"/>
                  <a:pt x="466864" y="177800"/>
                </a:cubicBezTo>
                <a:cubicBezTo>
                  <a:pt x="572849" y="177800"/>
                  <a:pt x="622439" y="294065"/>
                  <a:pt x="622439" y="400050"/>
                </a:cubicBezTo>
                <a:cubicBezTo>
                  <a:pt x="622439" y="577850"/>
                  <a:pt x="511314" y="711200"/>
                  <a:pt x="400189" y="711200"/>
                </a:cubicBezTo>
                <a:cubicBezTo>
                  <a:pt x="377269" y="711200"/>
                  <a:pt x="347266" y="702032"/>
                  <a:pt x="328652" y="695504"/>
                </a:cubicBezTo>
                <a:cubicBezTo>
                  <a:pt x="317401" y="691614"/>
                  <a:pt x="305177" y="691614"/>
                  <a:pt x="293926" y="695504"/>
                </a:cubicBezTo>
                <a:cubicBezTo>
                  <a:pt x="275312" y="702032"/>
                  <a:pt x="245308" y="711200"/>
                  <a:pt x="222389" y="711200"/>
                </a:cubicBezTo>
                <a:cubicBezTo>
                  <a:pt x="111264" y="711200"/>
                  <a:pt x="139" y="577850"/>
                  <a:pt x="139" y="400050"/>
                </a:cubicBez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0" y="38100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clear image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Instantly understood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573000" y="1714500"/>
            <a:ext cx="2921000" cy="482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73000" y="184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✗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22350" y="2794000"/>
            <a:ext cx="622300" cy="711200"/>
          </a:xfrm>
          <a:custGeom>
            <a:avLst/>
            <a:gdLst/>
            <a:ahLst/>
            <a:cxnLst/>
            <a:rect l="l" t="t" r="r" b="b"/>
            <a:pathLst>
              <a:path w="622300" h="711200">
                <a:moveTo>
                  <a:pt x="311150" y="155575"/>
                </a:moveTo>
                <a:cubicBezTo>
                  <a:pt x="298926" y="155575"/>
                  <a:pt x="288925" y="145574"/>
                  <a:pt x="288925" y="133350"/>
                </a:cubicBezTo>
                <a:lnTo>
                  <a:pt x="288925" y="111125"/>
                </a:lnTo>
                <a:cubicBezTo>
                  <a:pt x="288925" y="49728"/>
                  <a:pt x="338653" y="0"/>
                  <a:pt x="400050" y="0"/>
                </a:cubicBezTo>
                <a:lnTo>
                  <a:pt x="422275" y="0"/>
                </a:lnTo>
                <a:cubicBezTo>
                  <a:pt x="434499" y="0"/>
                  <a:pt x="444500" y="10001"/>
                  <a:pt x="444500" y="22225"/>
                </a:cubicBezTo>
                <a:lnTo>
                  <a:pt x="444500" y="44450"/>
                </a:lnTo>
                <a:cubicBezTo>
                  <a:pt x="444500" y="105847"/>
                  <a:pt x="394772" y="155575"/>
                  <a:pt x="333375" y="155575"/>
                </a:cubicBezTo>
                <a:lnTo>
                  <a:pt x="311150" y="155575"/>
                </a:lnTo>
                <a:close/>
                <a:moveTo>
                  <a:pt x="0" y="400050"/>
                </a:moveTo>
                <a:cubicBezTo>
                  <a:pt x="0" y="294065"/>
                  <a:pt x="49590" y="177800"/>
                  <a:pt x="155575" y="177800"/>
                </a:cubicBezTo>
                <a:cubicBezTo>
                  <a:pt x="193496" y="177800"/>
                  <a:pt x="238502" y="192107"/>
                  <a:pt x="270450" y="204609"/>
                </a:cubicBezTo>
                <a:cubicBezTo>
                  <a:pt x="296565" y="214749"/>
                  <a:pt x="325874" y="214749"/>
                  <a:pt x="351988" y="204609"/>
                </a:cubicBezTo>
                <a:cubicBezTo>
                  <a:pt x="383798" y="192246"/>
                  <a:pt x="428942" y="177800"/>
                  <a:pt x="466864" y="177800"/>
                </a:cubicBezTo>
                <a:cubicBezTo>
                  <a:pt x="572849" y="177800"/>
                  <a:pt x="622439" y="294065"/>
                  <a:pt x="622439" y="400050"/>
                </a:cubicBezTo>
                <a:cubicBezTo>
                  <a:pt x="622439" y="577850"/>
                  <a:pt x="511314" y="711200"/>
                  <a:pt x="400189" y="711200"/>
                </a:cubicBezTo>
                <a:cubicBezTo>
                  <a:pt x="377269" y="711200"/>
                  <a:pt x="347266" y="702032"/>
                  <a:pt x="328652" y="695504"/>
                </a:cubicBezTo>
                <a:cubicBezTo>
                  <a:pt x="317401" y="691614"/>
                  <a:pt x="305177" y="691614"/>
                  <a:pt x="293926" y="695504"/>
                </a:cubicBezTo>
                <a:cubicBezTo>
                  <a:pt x="275312" y="702032"/>
                  <a:pt x="245308" y="711200"/>
                  <a:pt x="222389" y="711200"/>
                </a:cubicBezTo>
                <a:cubicBezTo>
                  <a:pt x="111264" y="711200"/>
                  <a:pt x="139" y="577850"/>
                  <a:pt x="139" y="400050"/>
                </a:cubicBez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993813" y="3175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83344"/>
                </a:moveTo>
                <a:cubicBezTo>
                  <a:pt x="160139" y="83344"/>
                  <a:pt x="154781" y="77986"/>
                  <a:pt x="154781" y="71438"/>
                </a:cubicBezTo>
                <a:lnTo>
                  <a:pt x="154781" y="59531"/>
                </a:lnTo>
                <a:cubicBezTo>
                  <a:pt x="154781" y="26640"/>
                  <a:pt x="181421" y="0"/>
                  <a:pt x="214313" y="0"/>
                </a:cubicBezTo>
                <a:lnTo>
                  <a:pt x="226219" y="0"/>
                </a:lnTo>
                <a:cubicBezTo>
                  <a:pt x="232767" y="0"/>
                  <a:pt x="238125" y="5358"/>
                  <a:pt x="238125" y="11906"/>
                </a:cubicBezTo>
                <a:lnTo>
                  <a:pt x="238125" y="23812"/>
                </a:lnTo>
                <a:cubicBezTo>
                  <a:pt x="238125" y="56704"/>
                  <a:pt x="211485" y="83344"/>
                  <a:pt x="178594" y="83344"/>
                </a:cubicBezTo>
                <a:lnTo>
                  <a:pt x="166688" y="83344"/>
                </a:lnTo>
                <a:close/>
                <a:moveTo>
                  <a:pt x="0" y="214313"/>
                </a:moveTo>
                <a:cubicBezTo>
                  <a:pt x="0" y="157535"/>
                  <a:pt x="26566" y="95250"/>
                  <a:pt x="83344" y="95250"/>
                </a:cubicBezTo>
                <a:cubicBezTo>
                  <a:pt x="103659" y="95250"/>
                  <a:pt x="127769" y="102915"/>
                  <a:pt x="144884" y="109612"/>
                </a:cubicBezTo>
                <a:cubicBezTo>
                  <a:pt x="158874" y="115044"/>
                  <a:pt x="174575" y="115044"/>
                  <a:pt x="188565" y="109612"/>
                </a:cubicBezTo>
                <a:cubicBezTo>
                  <a:pt x="205606" y="102989"/>
                  <a:pt x="229791" y="95250"/>
                  <a:pt x="250106" y="95250"/>
                </a:cubicBezTo>
                <a:cubicBezTo>
                  <a:pt x="306884" y="95250"/>
                  <a:pt x="333449" y="157535"/>
                  <a:pt x="333449" y="214313"/>
                </a:cubicBezTo>
                <a:cubicBezTo>
                  <a:pt x="333449" y="309563"/>
                  <a:pt x="273918" y="381000"/>
                  <a:pt x="214387" y="381000"/>
                </a:cubicBezTo>
                <a:cubicBezTo>
                  <a:pt x="202109" y="381000"/>
                  <a:pt x="186035" y="376089"/>
                  <a:pt x="176064" y="372591"/>
                </a:cubicBezTo>
                <a:cubicBezTo>
                  <a:pt x="170036" y="370508"/>
                  <a:pt x="163488" y="370508"/>
                  <a:pt x="157460" y="372591"/>
                </a:cubicBezTo>
                <a:cubicBezTo>
                  <a:pt x="147489" y="376089"/>
                  <a:pt x="131415" y="381000"/>
                  <a:pt x="119137" y="381000"/>
                </a:cubicBezTo>
                <a:cubicBezTo>
                  <a:pt x="59606" y="381000"/>
                  <a:pt x="74" y="309563"/>
                  <a:pt x="74" y="214313"/>
                </a:cubicBezTo>
                <a:close/>
              </a:path>
            </a:pathLst>
          </a:custGeom>
          <a:solidFill>
            <a:srgbClr val="FF8A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354844" y="2921000"/>
            <a:ext cx="277813" cy="317500"/>
          </a:xfrm>
          <a:custGeom>
            <a:avLst/>
            <a:gdLst/>
            <a:ahLst/>
            <a:cxnLst/>
            <a:rect l="l" t="t" r="r" b="b"/>
            <a:pathLst>
              <a:path w="277813" h="317500">
                <a:moveTo>
                  <a:pt x="138906" y="69453"/>
                </a:moveTo>
                <a:cubicBezTo>
                  <a:pt x="133449" y="69453"/>
                  <a:pt x="128984" y="64988"/>
                  <a:pt x="128984" y="59531"/>
                </a:cubicBezTo>
                <a:lnTo>
                  <a:pt x="128984" y="49609"/>
                </a:lnTo>
                <a:cubicBezTo>
                  <a:pt x="128984" y="22200"/>
                  <a:pt x="151185" y="0"/>
                  <a:pt x="178594" y="0"/>
                </a:cubicBezTo>
                <a:lnTo>
                  <a:pt x="188516" y="0"/>
                </a:lnTo>
                <a:cubicBezTo>
                  <a:pt x="193973" y="0"/>
                  <a:pt x="198438" y="4465"/>
                  <a:pt x="198438" y="9922"/>
                </a:cubicBezTo>
                <a:lnTo>
                  <a:pt x="198438" y="19844"/>
                </a:lnTo>
                <a:cubicBezTo>
                  <a:pt x="198438" y="47253"/>
                  <a:pt x="176237" y="69453"/>
                  <a:pt x="148828" y="69453"/>
                </a:cubicBezTo>
                <a:lnTo>
                  <a:pt x="138906" y="69453"/>
                </a:lnTo>
                <a:close/>
                <a:moveTo>
                  <a:pt x="0" y="178594"/>
                </a:moveTo>
                <a:cubicBezTo>
                  <a:pt x="0" y="131279"/>
                  <a:pt x="22138" y="79375"/>
                  <a:pt x="69453" y="79375"/>
                </a:cubicBezTo>
                <a:cubicBezTo>
                  <a:pt x="86382" y="79375"/>
                  <a:pt x="106474" y="85762"/>
                  <a:pt x="120737" y="91343"/>
                </a:cubicBezTo>
                <a:cubicBezTo>
                  <a:pt x="132395" y="95870"/>
                  <a:pt x="145479" y="95870"/>
                  <a:pt x="157138" y="91343"/>
                </a:cubicBezTo>
                <a:cubicBezTo>
                  <a:pt x="171338" y="85824"/>
                  <a:pt x="191492" y="79375"/>
                  <a:pt x="208421" y="79375"/>
                </a:cubicBezTo>
                <a:cubicBezTo>
                  <a:pt x="255736" y="79375"/>
                  <a:pt x="277875" y="131279"/>
                  <a:pt x="277875" y="178594"/>
                </a:cubicBezTo>
                <a:cubicBezTo>
                  <a:pt x="277875" y="257969"/>
                  <a:pt x="228265" y="317500"/>
                  <a:pt x="178656" y="317500"/>
                </a:cubicBezTo>
                <a:cubicBezTo>
                  <a:pt x="168424" y="317500"/>
                  <a:pt x="155029" y="313407"/>
                  <a:pt x="146720" y="310493"/>
                </a:cubicBezTo>
                <a:cubicBezTo>
                  <a:pt x="141697" y="308756"/>
                  <a:pt x="136240" y="308756"/>
                  <a:pt x="131217" y="310493"/>
                </a:cubicBezTo>
                <a:cubicBezTo>
                  <a:pt x="122907" y="313407"/>
                  <a:pt x="109513" y="317500"/>
                  <a:pt x="99281" y="317500"/>
                </a:cubicBezTo>
                <a:cubicBezTo>
                  <a:pt x="49671" y="317500"/>
                  <a:pt x="62" y="257969"/>
                  <a:pt x="62" y="178594"/>
                </a:cubicBezTo>
                <a:close/>
              </a:path>
            </a:pathLst>
          </a:custGeom>
          <a:solidFill>
            <a:srgbClr val="EF9A9A"/>
          </a:solidFill>
          <a:ln/>
        </p:spPr>
      </p:sp>
      <p:sp>
        <p:nvSpPr>
          <p:cNvPr id="25" name="Text 23"/>
          <p:cNvSpPr/>
          <p:nvPr/>
        </p:nvSpPr>
        <p:spPr>
          <a:xfrm>
            <a:off x="12827000" y="38100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Confusing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many overlapping images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 is unclear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 vs. Complex visual comparison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 Unnecessary Text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 text means more attention to key points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bullet points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paragraphs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slide = one main idea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Replace words with visuals whenever possible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Your audience reads AND listens — don't make them choose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Steve Jobs used single words on slides: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"Revolutionary." "Thin." "Beautiful."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REDUCTION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Rewrite 50 words into 5 bullet points of 5 words each.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6000" y="2159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0" y="22606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words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Paragraph form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19000" y="2794000"/>
            <a:ext cx="0" cy="3175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906000" y="31115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0" y="32131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words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Key points only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19000" y="3746500"/>
            <a:ext cx="0" cy="3175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9906000" y="4064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0" y="41656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words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powerful phrase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19000" y="4699000"/>
            <a:ext cx="0" cy="3175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9906000" y="50165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0" y="51181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icon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Visual only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98000" y="584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reduction process: from 100 words to 1 icon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 Text and Images Properly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 images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near the text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they explain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captions to connect visuals to concepts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Don't separate related text and images across slides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image should reinforce, not repeat, the text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Follow the "picture superiority effect" — visuals + words = better memory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Textbooks place diagrams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right next to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explaining paragraph.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LAYOUT PRACTICE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Arrange a photo and 3 bullet points in the best layout on a slide.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2921000" cy="482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0" y="184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 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53625" y="2540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619125"/>
                </a:lnTo>
                <a:cubicBezTo>
                  <a:pt x="0" y="671661"/>
                  <a:pt x="42714" y="714375"/>
                  <a:pt x="95250" y="714375"/>
                </a:cubicBezTo>
                <a:lnTo>
                  <a:pt x="571500" y="714375"/>
                </a:lnTo>
                <a:cubicBezTo>
                  <a:pt x="624036" y="714375"/>
                  <a:pt x="666750" y="671661"/>
                  <a:pt x="666750" y="619125"/>
                </a:cubicBezTo>
                <a:lnTo>
                  <a:pt x="666750" y="142875"/>
                </a:lnTo>
                <a:cubicBezTo>
                  <a:pt x="666750" y="90339"/>
                  <a:pt x="624036" y="47625"/>
                  <a:pt x="571500" y="47625"/>
                </a:cubicBezTo>
                <a:lnTo>
                  <a:pt x="95250" y="47625"/>
                </a:lnTo>
                <a:close/>
                <a:moveTo>
                  <a:pt x="190500" y="166688"/>
                </a:moveTo>
                <a:cubicBezTo>
                  <a:pt x="229927" y="166688"/>
                  <a:pt x="261938" y="198698"/>
                  <a:pt x="261938" y="238125"/>
                </a:cubicBezTo>
                <a:cubicBezTo>
                  <a:pt x="261938" y="277552"/>
                  <a:pt x="229927" y="309563"/>
                  <a:pt x="190500" y="309563"/>
                </a:cubicBezTo>
                <a:cubicBezTo>
                  <a:pt x="151073" y="309563"/>
                  <a:pt x="119063" y="277552"/>
                  <a:pt x="119063" y="238125"/>
                </a:cubicBezTo>
                <a:cubicBezTo>
                  <a:pt x="119063" y="198698"/>
                  <a:pt x="151073" y="166688"/>
                  <a:pt x="190500" y="166688"/>
                </a:cubicBezTo>
                <a:close/>
                <a:moveTo>
                  <a:pt x="404813" y="333375"/>
                </a:moveTo>
                <a:cubicBezTo>
                  <a:pt x="417314" y="333375"/>
                  <a:pt x="428774" y="339923"/>
                  <a:pt x="435322" y="350490"/>
                </a:cubicBezTo>
                <a:lnTo>
                  <a:pt x="566291" y="564803"/>
                </a:lnTo>
                <a:cubicBezTo>
                  <a:pt x="572988" y="575816"/>
                  <a:pt x="573286" y="589657"/>
                  <a:pt x="567035" y="600968"/>
                </a:cubicBezTo>
                <a:cubicBezTo>
                  <a:pt x="560784" y="612279"/>
                  <a:pt x="548729" y="619125"/>
                  <a:pt x="535781" y="619125"/>
                </a:cubicBezTo>
                <a:lnTo>
                  <a:pt x="130969" y="619125"/>
                </a:lnTo>
                <a:cubicBezTo>
                  <a:pt x="117723" y="619125"/>
                  <a:pt x="105370" y="611684"/>
                  <a:pt x="99268" y="599926"/>
                </a:cubicBezTo>
                <a:cubicBezTo>
                  <a:pt x="93166" y="588169"/>
                  <a:pt x="94059" y="573881"/>
                  <a:pt x="101650" y="563017"/>
                </a:cubicBezTo>
                <a:lnTo>
                  <a:pt x="184993" y="443954"/>
                </a:lnTo>
                <a:cubicBezTo>
                  <a:pt x="191691" y="434429"/>
                  <a:pt x="202555" y="428774"/>
                  <a:pt x="214313" y="428774"/>
                </a:cubicBezTo>
                <a:cubicBezTo>
                  <a:pt x="226070" y="428774"/>
                  <a:pt x="236934" y="434429"/>
                  <a:pt x="243632" y="443954"/>
                </a:cubicBezTo>
                <a:lnTo>
                  <a:pt x="282922" y="500211"/>
                </a:lnTo>
                <a:lnTo>
                  <a:pt x="374303" y="350639"/>
                </a:lnTo>
                <a:cubicBezTo>
                  <a:pt x="380851" y="340072"/>
                  <a:pt x="392311" y="333524"/>
                  <a:pt x="404813" y="333524"/>
                </a:cubicBez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19" name="Text 17"/>
          <p:cNvSpPr/>
          <p:nvPr/>
        </p:nvSpPr>
        <p:spPr>
          <a:xfrm>
            <a:off x="10858500" y="2540000"/>
            <a:ext cx="12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+ text together on same slide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58500" y="2476500"/>
            <a:ext cx="762000" cy="0"/>
          </a:xfrm>
          <a:prstGeom prst="straightConnector1">
            <a:avLst/>
          </a:prstGeom>
          <a:noFill/>
          <a:ln w="25400">
            <a:solidFill>
              <a:srgbClr val="66BB6A"/>
            </a:solidFill>
            <a:prstDash val="solid"/>
            <a:headEnd type="arrow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652000" y="35306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reinforces text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understanding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573000" y="1714500"/>
            <a:ext cx="2921000" cy="482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73000" y="184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128625" y="2540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619125"/>
                </a:lnTo>
                <a:cubicBezTo>
                  <a:pt x="0" y="671661"/>
                  <a:pt x="42714" y="714375"/>
                  <a:pt x="95250" y="714375"/>
                </a:cubicBezTo>
                <a:lnTo>
                  <a:pt x="571500" y="714375"/>
                </a:lnTo>
                <a:cubicBezTo>
                  <a:pt x="624036" y="714375"/>
                  <a:pt x="666750" y="671661"/>
                  <a:pt x="666750" y="619125"/>
                </a:cubicBezTo>
                <a:lnTo>
                  <a:pt x="666750" y="142875"/>
                </a:lnTo>
                <a:cubicBezTo>
                  <a:pt x="666750" y="90339"/>
                  <a:pt x="624036" y="47625"/>
                  <a:pt x="571500" y="47625"/>
                </a:cubicBezTo>
                <a:lnTo>
                  <a:pt x="95250" y="47625"/>
                </a:lnTo>
                <a:close/>
                <a:moveTo>
                  <a:pt x="190500" y="166688"/>
                </a:moveTo>
                <a:cubicBezTo>
                  <a:pt x="229927" y="166688"/>
                  <a:pt x="261938" y="198698"/>
                  <a:pt x="261938" y="238125"/>
                </a:cubicBezTo>
                <a:cubicBezTo>
                  <a:pt x="261938" y="277552"/>
                  <a:pt x="229927" y="309563"/>
                  <a:pt x="190500" y="309563"/>
                </a:cubicBezTo>
                <a:cubicBezTo>
                  <a:pt x="151073" y="309563"/>
                  <a:pt x="119063" y="277552"/>
                  <a:pt x="119063" y="238125"/>
                </a:cubicBezTo>
                <a:cubicBezTo>
                  <a:pt x="119063" y="198698"/>
                  <a:pt x="151073" y="166688"/>
                  <a:pt x="190500" y="166688"/>
                </a:cubicBezTo>
                <a:close/>
                <a:moveTo>
                  <a:pt x="404813" y="333375"/>
                </a:moveTo>
                <a:cubicBezTo>
                  <a:pt x="417314" y="333375"/>
                  <a:pt x="428774" y="339923"/>
                  <a:pt x="435322" y="350490"/>
                </a:cubicBezTo>
                <a:lnTo>
                  <a:pt x="566291" y="564803"/>
                </a:lnTo>
                <a:cubicBezTo>
                  <a:pt x="572988" y="575816"/>
                  <a:pt x="573286" y="589657"/>
                  <a:pt x="567035" y="600968"/>
                </a:cubicBezTo>
                <a:cubicBezTo>
                  <a:pt x="560784" y="612279"/>
                  <a:pt x="548729" y="619125"/>
                  <a:pt x="535781" y="619125"/>
                </a:cubicBezTo>
                <a:lnTo>
                  <a:pt x="130969" y="619125"/>
                </a:lnTo>
                <a:cubicBezTo>
                  <a:pt x="117723" y="619125"/>
                  <a:pt x="105370" y="611684"/>
                  <a:pt x="99268" y="599926"/>
                </a:cubicBezTo>
                <a:cubicBezTo>
                  <a:pt x="93166" y="588169"/>
                  <a:pt x="94059" y="573881"/>
                  <a:pt x="101650" y="563017"/>
                </a:cubicBezTo>
                <a:lnTo>
                  <a:pt x="184993" y="443954"/>
                </a:lnTo>
                <a:cubicBezTo>
                  <a:pt x="191691" y="434429"/>
                  <a:pt x="202555" y="428774"/>
                  <a:pt x="214313" y="428774"/>
                </a:cubicBezTo>
                <a:cubicBezTo>
                  <a:pt x="226070" y="428774"/>
                  <a:pt x="236934" y="434429"/>
                  <a:pt x="243632" y="443954"/>
                </a:cubicBezTo>
                <a:lnTo>
                  <a:pt x="282922" y="500211"/>
                </a:lnTo>
                <a:lnTo>
                  <a:pt x="374303" y="350639"/>
                </a:lnTo>
                <a:cubicBezTo>
                  <a:pt x="380851" y="340072"/>
                  <a:pt x="392311" y="333524"/>
                  <a:pt x="404813" y="333524"/>
                </a:cubicBez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25" name="Text 23"/>
          <p:cNvSpPr/>
          <p:nvPr/>
        </p:nvSpPr>
        <p:spPr>
          <a:xfrm>
            <a:off x="14033500" y="2540000"/>
            <a:ext cx="12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on Slide 1, text on Slide 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4033500" y="2476500"/>
            <a:ext cx="762000" cy="0"/>
          </a:xfrm>
          <a:prstGeom prst="straightConnector1">
            <a:avLst/>
          </a:prstGeom>
          <a:noFill/>
          <a:ln w="25400">
            <a:solidFill>
              <a:srgbClr val="EF5350"/>
            </a:solidFill>
            <a:prstDash val="solid"/>
            <a:headEnd type="arrow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2827000" y="35306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Disconnected content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understanding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Correct vs. Incorrect text-image placement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Colors Effectively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2-3 main colors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maximum for a clean look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Warm colors (red, orange) create energy and urgency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Cool colors (blue, green) create calm and trust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contrast between text and background is essential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Color-code related information for easy recognition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Google uses blue, red, yellow, and green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consistently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all products.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a color scheme for a meditation app vs. a fitness app.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6000" y="2159000"/>
            <a:ext cx="1016000" cy="10160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0" y="3302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176000" y="2159000"/>
            <a:ext cx="1016000" cy="1016000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3302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Creativity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446000" y="2159000"/>
            <a:ext cx="1016000" cy="101600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22" name="Text 20"/>
          <p:cNvSpPr/>
          <p:nvPr/>
        </p:nvSpPr>
        <p:spPr>
          <a:xfrm>
            <a:off x="12319000" y="3302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Happiness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716000" y="2159000"/>
            <a:ext cx="1016000" cy="101600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4" name="Text 22"/>
          <p:cNvSpPr/>
          <p:nvPr/>
        </p:nvSpPr>
        <p:spPr>
          <a:xfrm>
            <a:off x="13589000" y="3302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541000" y="3810000"/>
            <a:ext cx="1016000" cy="101600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6" name="Text 24"/>
          <p:cNvSpPr/>
          <p:nvPr/>
        </p:nvSpPr>
        <p:spPr>
          <a:xfrm>
            <a:off x="10414000" y="4953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11000" y="3810000"/>
            <a:ext cx="1016000" cy="1016000"/>
          </a:xfrm>
          <a:prstGeom prst="ellipse">
            <a:avLst/>
          </a:prstGeom>
          <a:solidFill>
            <a:srgbClr val="8E24AA"/>
          </a:solidFill>
          <a:ln/>
        </p:spPr>
      </p:sp>
      <p:sp>
        <p:nvSpPr>
          <p:cNvPr id="28" name="Text 26"/>
          <p:cNvSpPr/>
          <p:nvPr/>
        </p:nvSpPr>
        <p:spPr>
          <a:xfrm>
            <a:off x="11684000" y="4953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Wisdom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081000" y="3810000"/>
            <a:ext cx="1016000" cy="1016000"/>
          </a:xfrm>
          <a:prstGeom prst="ellipse">
            <a:avLst/>
          </a:prstGeom>
          <a:solidFill>
            <a:srgbClr val="D81B60"/>
          </a:solidFill>
          <a:ln/>
        </p:spPr>
      </p:sp>
      <p:sp>
        <p:nvSpPr>
          <p:cNvPr id="30" name="Text 28"/>
          <p:cNvSpPr/>
          <p:nvPr/>
        </p:nvSpPr>
        <p:spPr>
          <a:xfrm>
            <a:off x="12954000" y="4953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98000" y="5461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 psychology: each color evokes a different emotion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Organize Content Clearly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headings and subheadings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structure information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Group related items together visually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Leave white space — it helps content breathe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Align elements for a professional look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visual hierarchy: most important = biggest and boldest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News websites use clear sections and headings so readers can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scan quickly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 messy content and organize it using headings, groups, and white space.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6000" y="2159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2159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HEADING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(largest, boldest)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0" y="3048000"/>
            <a:ext cx="4572000" cy="508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0" y="3048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Subheading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(medium size)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414000" y="3810000"/>
            <a:ext cx="4064000" cy="444500"/>
          </a:xfrm>
          <a:prstGeom prst="roundRect">
            <a:avLst>
              <a:gd name="adj" fmla="val 8000"/>
            </a:avLst>
          </a:prstGeom>
          <a:solidFill>
            <a:srgbClr val="8A8580">
              <a:alpha val="25098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414000" y="3810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text (regular size)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8000" y="4508500"/>
            <a:ext cx="3556000" cy="381000"/>
          </a:xfrm>
          <a:prstGeom prst="roundRect">
            <a:avLst>
              <a:gd name="adj" fmla="val 8000"/>
            </a:avLst>
          </a:prstGeom>
          <a:solidFill>
            <a:srgbClr val="8A8580">
              <a:alpha val="12549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0" y="4508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Caption (smallest)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0" y="5080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 space separates each level clearly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98000" y="584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hierarchy: guide the eye from most to least important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Audio and Video Support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Short videos (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 3 minutes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maintain attention best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 music should not distract from the content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Clear audio quality is more important than fancy visuals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Transcripts and captions make content accessible to all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Multi-sensory learning (see + hear) improves retention by 50%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CrashCourse uses 10-min videos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animations + narration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complex topics.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Watch a video with sound, then muted — which version taught you more?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874375" y="2286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428625" y="47625"/>
                </a:moveTo>
                <a:cubicBezTo>
                  <a:pt x="308372" y="47625"/>
                  <a:pt x="212080" y="102394"/>
                  <a:pt x="141982" y="167580"/>
                </a:cubicBezTo>
                <a:cubicBezTo>
                  <a:pt x="72330" y="232321"/>
                  <a:pt x="25747" y="309563"/>
                  <a:pt x="3572" y="362694"/>
                </a:cubicBezTo>
                <a:cubicBezTo>
                  <a:pt x="-1339" y="374452"/>
                  <a:pt x="-1339" y="387548"/>
                  <a:pt x="3572" y="399306"/>
                </a:cubicBezTo>
                <a:cubicBezTo>
                  <a:pt x="25747" y="452438"/>
                  <a:pt x="72330" y="529828"/>
                  <a:pt x="141982" y="594420"/>
                </a:cubicBezTo>
                <a:cubicBezTo>
                  <a:pt x="212080" y="659457"/>
                  <a:pt x="308372" y="714375"/>
                  <a:pt x="428625" y="714375"/>
                </a:cubicBezTo>
                <a:cubicBezTo>
                  <a:pt x="548878" y="714375"/>
                  <a:pt x="645170" y="659606"/>
                  <a:pt x="715268" y="594420"/>
                </a:cubicBezTo>
                <a:cubicBezTo>
                  <a:pt x="784920" y="529679"/>
                  <a:pt x="831503" y="452438"/>
                  <a:pt x="853678" y="399306"/>
                </a:cubicBezTo>
                <a:cubicBezTo>
                  <a:pt x="858589" y="387548"/>
                  <a:pt x="858589" y="374452"/>
                  <a:pt x="853678" y="362694"/>
                </a:cubicBezTo>
                <a:cubicBezTo>
                  <a:pt x="831503" y="309562"/>
                  <a:pt x="784920" y="232172"/>
                  <a:pt x="715268" y="167580"/>
                </a:cubicBezTo>
                <a:cubicBezTo>
                  <a:pt x="645170" y="102543"/>
                  <a:pt x="548878" y="47625"/>
                  <a:pt x="428625" y="47625"/>
                </a:cubicBezTo>
                <a:close/>
                <a:moveTo>
                  <a:pt x="214313" y="381000"/>
                </a:moveTo>
                <a:cubicBezTo>
                  <a:pt x="214313" y="262718"/>
                  <a:pt x="310343" y="166688"/>
                  <a:pt x="428625" y="166688"/>
                </a:cubicBezTo>
                <a:cubicBezTo>
                  <a:pt x="546907" y="166688"/>
                  <a:pt x="642938" y="262718"/>
                  <a:pt x="642938" y="381000"/>
                </a:cubicBezTo>
                <a:cubicBezTo>
                  <a:pt x="642938" y="499282"/>
                  <a:pt x="546907" y="595313"/>
                  <a:pt x="428625" y="595313"/>
                </a:cubicBezTo>
                <a:cubicBezTo>
                  <a:pt x="310343" y="595313"/>
                  <a:pt x="214313" y="499282"/>
                  <a:pt x="214313" y="381000"/>
                </a:cubicBezTo>
                <a:close/>
                <a:moveTo>
                  <a:pt x="428625" y="285750"/>
                </a:moveTo>
                <a:cubicBezTo>
                  <a:pt x="428625" y="338286"/>
                  <a:pt x="385911" y="381000"/>
                  <a:pt x="333375" y="381000"/>
                </a:cubicBezTo>
                <a:cubicBezTo>
                  <a:pt x="316260" y="381000"/>
                  <a:pt x="300186" y="376535"/>
                  <a:pt x="286196" y="368498"/>
                </a:cubicBezTo>
                <a:cubicBezTo>
                  <a:pt x="284708" y="384721"/>
                  <a:pt x="286048" y="401389"/>
                  <a:pt x="290513" y="417909"/>
                </a:cubicBezTo>
                <a:cubicBezTo>
                  <a:pt x="310902" y="494109"/>
                  <a:pt x="389334" y="539353"/>
                  <a:pt x="465534" y="518964"/>
                </a:cubicBezTo>
                <a:cubicBezTo>
                  <a:pt x="541734" y="498574"/>
                  <a:pt x="586978" y="420142"/>
                  <a:pt x="566589" y="343942"/>
                </a:cubicBezTo>
                <a:cubicBezTo>
                  <a:pt x="548432" y="275927"/>
                  <a:pt x="483989" y="232618"/>
                  <a:pt x="416123" y="238571"/>
                </a:cubicBezTo>
                <a:cubicBezTo>
                  <a:pt x="424011" y="252413"/>
                  <a:pt x="428625" y="268486"/>
                  <a:pt x="428625" y="2857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414000" y="3175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255625" y="2286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333375"/>
                </a:moveTo>
                <a:cubicBezTo>
                  <a:pt x="95250" y="201811"/>
                  <a:pt x="201811" y="95250"/>
                  <a:pt x="333375" y="95250"/>
                </a:cubicBezTo>
                <a:cubicBezTo>
                  <a:pt x="464939" y="95250"/>
                  <a:pt x="571500" y="201811"/>
                  <a:pt x="571500" y="333375"/>
                </a:cubicBezTo>
                <a:lnTo>
                  <a:pt x="571500" y="389186"/>
                </a:lnTo>
                <a:cubicBezTo>
                  <a:pt x="556617" y="383977"/>
                  <a:pt x="540544" y="381000"/>
                  <a:pt x="523875" y="381000"/>
                </a:cubicBezTo>
                <a:lnTo>
                  <a:pt x="500063" y="381000"/>
                </a:lnTo>
                <a:cubicBezTo>
                  <a:pt x="460623" y="381000"/>
                  <a:pt x="428625" y="412998"/>
                  <a:pt x="428625" y="452438"/>
                </a:cubicBezTo>
                <a:lnTo>
                  <a:pt x="428625" y="642938"/>
                </a:lnTo>
                <a:cubicBezTo>
                  <a:pt x="428625" y="682377"/>
                  <a:pt x="460623" y="714375"/>
                  <a:pt x="500063" y="714375"/>
                </a:cubicBezTo>
                <a:lnTo>
                  <a:pt x="523875" y="714375"/>
                </a:lnTo>
                <a:cubicBezTo>
                  <a:pt x="602754" y="714375"/>
                  <a:pt x="666750" y="650379"/>
                  <a:pt x="666750" y="571500"/>
                </a:cubicBezTo>
                <a:lnTo>
                  <a:pt x="666750" y="333375"/>
                </a:lnTo>
                <a:cubicBezTo>
                  <a:pt x="666750" y="149275"/>
                  <a:pt x="517475" y="0"/>
                  <a:pt x="333375" y="0"/>
                </a:cubicBezTo>
                <a:cubicBezTo>
                  <a:pt x="149275" y="0"/>
                  <a:pt x="0" y="149275"/>
                  <a:pt x="0" y="333375"/>
                </a:cubicBezTo>
                <a:lnTo>
                  <a:pt x="0" y="571500"/>
                </a:lnTo>
                <a:cubicBezTo>
                  <a:pt x="0" y="650379"/>
                  <a:pt x="63996" y="714375"/>
                  <a:pt x="142875" y="714375"/>
                </a:cubicBezTo>
                <a:lnTo>
                  <a:pt x="166688" y="714375"/>
                </a:lnTo>
                <a:cubicBezTo>
                  <a:pt x="206127" y="714375"/>
                  <a:pt x="238125" y="682377"/>
                  <a:pt x="238125" y="642938"/>
                </a:cubicBezTo>
                <a:lnTo>
                  <a:pt x="238125" y="452438"/>
                </a:lnTo>
                <a:cubicBezTo>
                  <a:pt x="238125" y="412998"/>
                  <a:pt x="206127" y="381000"/>
                  <a:pt x="166688" y="381000"/>
                </a:cubicBezTo>
                <a:lnTo>
                  <a:pt x="142875" y="381000"/>
                </a:lnTo>
                <a:cubicBezTo>
                  <a:pt x="126206" y="381000"/>
                  <a:pt x="110133" y="383828"/>
                  <a:pt x="95250" y="389186"/>
                </a:cubicBezTo>
                <a:lnTo>
                  <a:pt x="95250" y="333375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0" y="3175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38000" y="2413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14000" y="3810000"/>
            <a:ext cx="4064000" cy="0"/>
          </a:xfrm>
          <a:prstGeom prst="straightConnector1">
            <a:avLst/>
          </a:prstGeom>
          <a:noFill/>
          <a:ln w="25400">
            <a:solidFill>
              <a:srgbClr val="E0DDD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414000" y="4064000"/>
            <a:ext cx="4064000" cy="762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414000" y="4064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 Better Retention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0" y="5080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Dual-channel learning: seeing + hearing together improves memory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98000" y="584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learning model: visual + audio channels working together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Interactive Learning Methods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Quizzes and polls keep learners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actively involved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Drag-and-drop activities improve engagement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Clickable hotspots reveal information progressively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Gamification (points, badges) motivates learners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Interactive content is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2x more engaging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passive content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Kahoot! turns quizzes into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competitive games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students love.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QUIZ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one interactive quiz question about graphics functions.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6000" y="2159000"/>
            <a:ext cx="2540000" cy="889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96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731500" y="21590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Quiz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knowledge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0" y="2159000"/>
            <a:ext cx="2540000" cy="889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1" name="Shape 19"/>
          <p:cNvSpPr/>
          <p:nvPr/>
        </p:nvSpPr>
        <p:spPr>
          <a:xfrm>
            <a:off x="12922250" y="2349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127000" y="39688"/>
                </a:moveTo>
                <a:cubicBezTo>
                  <a:pt x="127000" y="17760"/>
                  <a:pt x="144760" y="0"/>
                  <a:pt x="166688" y="0"/>
                </a:cubicBezTo>
                <a:cubicBezTo>
                  <a:pt x="188615" y="0"/>
                  <a:pt x="206375" y="17760"/>
                  <a:pt x="206375" y="39688"/>
                </a:cubicBezTo>
                <a:lnTo>
                  <a:pt x="206375" y="186730"/>
                </a:lnTo>
                <a:cubicBezTo>
                  <a:pt x="214809" y="179189"/>
                  <a:pt x="225921" y="174625"/>
                  <a:pt x="238125" y="174625"/>
                </a:cubicBezTo>
                <a:cubicBezTo>
                  <a:pt x="258564" y="174625"/>
                  <a:pt x="276027" y="187523"/>
                  <a:pt x="282773" y="205581"/>
                </a:cubicBezTo>
                <a:cubicBezTo>
                  <a:pt x="291505" y="196354"/>
                  <a:pt x="303808" y="190500"/>
                  <a:pt x="317500" y="190500"/>
                </a:cubicBezTo>
                <a:cubicBezTo>
                  <a:pt x="342602" y="190500"/>
                  <a:pt x="363141" y="209848"/>
                  <a:pt x="365026" y="234454"/>
                </a:cubicBezTo>
                <a:cubicBezTo>
                  <a:pt x="373459" y="226814"/>
                  <a:pt x="384671" y="222250"/>
                  <a:pt x="396875" y="222250"/>
                </a:cubicBezTo>
                <a:cubicBezTo>
                  <a:pt x="423168" y="222250"/>
                  <a:pt x="444500" y="243582"/>
                  <a:pt x="444500" y="269875"/>
                </a:cubicBezTo>
                <a:lnTo>
                  <a:pt x="444500" y="381000"/>
                </a:lnTo>
                <a:cubicBezTo>
                  <a:pt x="444500" y="451148"/>
                  <a:pt x="387648" y="508000"/>
                  <a:pt x="317500" y="508000"/>
                </a:cubicBezTo>
                <a:lnTo>
                  <a:pt x="232866" y="508000"/>
                </a:lnTo>
                <a:cubicBezTo>
                  <a:pt x="227905" y="508000"/>
                  <a:pt x="223044" y="507702"/>
                  <a:pt x="218281" y="507008"/>
                </a:cubicBezTo>
                <a:cubicBezTo>
                  <a:pt x="163413" y="501452"/>
                  <a:pt x="112911" y="473273"/>
                  <a:pt x="79375" y="428625"/>
                </a:cubicBezTo>
                <a:lnTo>
                  <a:pt x="7938" y="333375"/>
                </a:lnTo>
                <a:cubicBezTo>
                  <a:pt x="-5259" y="315813"/>
                  <a:pt x="-1687" y="291009"/>
                  <a:pt x="15875" y="277813"/>
                </a:cubicBezTo>
                <a:cubicBezTo>
                  <a:pt x="33437" y="264616"/>
                  <a:pt x="58241" y="268188"/>
                  <a:pt x="71438" y="285750"/>
                </a:cubicBezTo>
                <a:lnTo>
                  <a:pt x="127000" y="359866"/>
                </a:lnTo>
                <a:lnTo>
                  <a:pt x="127000" y="39688"/>
                </a:lnTo>
                <a:close/>
                <a:moveTo>
                  <a:pt x="238125" y="301625"/>
                </a:moveTo>
                <a:cubicBezTo>
                  <a:pt x="238125" y="292894"/>
                  <a:pt x="230981" y="285750"/>
                  <a:pt x="222250" y="285750"/>
                </a:cubicBezTo>
                <a:cubicBezTo>
                  <a:pt x="213519" y="285750"/>
                  <a:pt x="206375" y="292894"/>
                  <a:pt x="206375" y="301625"/>
                </a:cubicBezTo>
                <a:lnTo>
                  <a:pt x="206375" y="396875"/>
                </a:lnTo>
                <a:cubicBezTo>
                  <a:pt x="206375" y="405606"/>
                  <a:pt x="213519" y="412750"/>
                  <a:pt x="222250" y="412750"/>
                </a:cubicBezTo>
                <a:cubicBezTo>
                  <a:pt x="230981" y="412750"/>
                  <a:pt x="238125" y="405606"/>
                  <a:pt x="238125" y="396875"/>
                </a:cubicBezTo>
                <a:lnTo>
                  <a:pt x="238125" y="301625"/>
                </a:lnTo>
                <a:close/>
                <a:moveTo>
                  <a:pt x="285750" y="285750"/>
                </a:moveTo>
                <a:cubicBezTo>
                  <a:pt x="277019" y="285750"/>
                  <a:pt x="269875" y="292894"/>
                  <a:pt x="269875" y="301625"/>
                </a:cubicBezTo>
                <a:lnTo>
                  <a:pt x="269875" y="396875"/>
                </a:lnTo>
                <a:cubicBezTo>
                  <a:pt x="269875" y="405606"/>
                  <a:pt x="277019" y="412750"/>
                  <a:pt x="285750" y="412750"/>
                </a:cubicBezTo>
                <a:cubicBezTo>
                  <a:pt x="294481" y="412750"/>
                  <a:pt x="301625" y="405606"/>
                  <a:pt x="301625" y="396875"/>
                </a:cubicBezTo>
                <a:lnTo>
                  <a:pt x="301625" y="301625"/>
                </a:lnTo>
                <a:cubicBezTo>
                  <a:pt x="301625" y="292894"/>
                  <a:pt x="294481" y="285750"/>
                  <a:pt x="285750" y="285750"/>
                </a:cubicBezTo>
                <a:close/>
                <a:moveTo>
                  <a:pt x="365125" y="301625"/>
                </a:moveTo>
                <a:cubicBezTo>
                  <a:pt x="365125" y="292894"/>
                  <a:pt x="357981" y="285750"/>
                  <a:pt x="349250" y="285750"/>
                </a:cubicBezTo>
                <a:cubicBezTo>
                  <a:pt x="340519" y="285750"/>
                  <a:pt x="333375" y="292894"/>
                  <a:pt x="333375" y="301625"/>
                </a:cubicBezTo>
                <a:lnTo>
                  <a:pt x="333375" y="396875"/>
                </a:lnTo>
                <a:cubicBezTo>
                  <a:pt x="333375" y="405606"/>
                  <a:pt x="340519" y="412750"/>
                  <a:pt x="349250" y="412750"/>
                </a:cubicBezTo>
                <a:cubicBezTo>
                  <a:pt x="357981" y="412750"/>
                  <a:pt x="365125" y="405606"/>
                  <a:pt x="365125" y="396875"/>
                </a:cubicBezTo>
                <a:lnTo>
                  <a:pt x="365125" y="301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500" y="21590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&amp; Drop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 items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06000" y="3429000"/>
            <a:ext cx="2540000" cy="8890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64750" y="3619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-15875"/>
                </a:moveTo>
                <a:cubicBezTo>
                  <a:pt x="303312" y="-15875"/>
                  <a:pt x="317500" y="-1687"/>
                  <a:pt x="317500" y="15875"/>
                </a:cubicBezTo>
                <a:lnTo>
                  <a:pt x="317500" y="34032"/>
                </a:lnTo>
                <a:cubicBezTo>
                  <a:pt x="414834" y="47923"/>
                  <a:pt x="491827" y="124916"/>
                  <a:pt x="505718" y="222250"/>
                </a:cubicBezTo>
                <a:lnTo>
                  <a:pt x="523875" y="222250"/>
                </a:lnTo>
                <a:cubicBezTo>
                  <a:pt x="541437" y="222250"/>
                  <a:pt x="555625" y="236438"/>
                  <a:pt x="555625" y="254000"/>
                </a:cubicBezTo>
                <a:cubicBezTo>
                  <a:pt x="555625" y="271562"/>
                  <a:pt x="541437" y="285750"/>
                  <a:pt x="523875" y="285750"/>
                </a:cubicBezTo>
                <a:lnTo>
                  <a:pt x="505718" y="285750"/>
                </a:lnTo>
                <a:cubicBezTo>
                  <a:pt x="491827" y="383084"/>
                  <a:pt x="414834" y="460077"/>
                  <a:pt x="317500" y="473968"/>
                </a:cubicBezTo>
                <a:lnTo>
                  <a:pt x="317500" y="492125"/>
                </a:lnTo>
                <a:cubicBezTo>
                  <a:pt x="317500" y="509687"/>
                  <a:pt x="303312" y="523875"/>
                  <a:pt x="285750" y="523875"/>
                </a:cubicBezTo>
                <a:cubicBezTo>
                  <a:pt x="268188" y="523875"/>
                  <a:pt x="254000" y="509687"/>
                  <a:pt x="254000" y="492125"/>
                </a:cubicBezTo>
                <a:lnTo>
                  <a:pt x="254000" y="473968"/>
                </a:lnTo>
                <a:cubicBezTo>
                  <a:pt x="156666" y="460077"/>
                  <a:pt x="79673" y="383084"/>
                  <a:pt x="65782" y="285750"/>
                </a:cubicBezTo>
                <a:lnTo>
                  <a:pt x="47625" y="285750"/>
                </a:lnTo>
                <a:cubicBezTo>
                  <a:pt x="30063" y="285750"/>
                  <a:pt x="15875" y="271562"/>
                  <a:pt x="15875" y="254000"/>
                </a:cubicBezTo>
                <a:cubicBezTo>
                  <a:pt x="15875" y="236438"/>
                  <a:pt x="30063" y="222250"/>
                  <a:pt x="47625" y="222250"/>
                </a:cubicBezTo>
                <a:lnTo>
                  <a:pt x="65782" y="222250"/>
                </a:lnTo>
                <a:cubicBezTo>
                  <a:pt x="79673" y="124916"/>
                  <a:pt x="156666" y="47923"/>
                  <a:pt x="254000" y="34032"/>
                </a:cubicBezTo>
                <a:lnTo>
                  <a:pt x="254000" y="15875"/>
                </a:lnTo>
                <a:cubicBezTo>
                  <a:pt x="254000" y="-1687"/>
                  <a:pt x="268188" y="-15875"/>
                  <a:pt x="285750" y="-15875"/>
                </a:cubicBezTo>
                <a:close/>
                <a:moveTo>
                  <a:pt x="130175" y="285750"/>
                </a:moveTo>
                <a:cubicBezTo>
                  <a:pt x="142776" y="347960"/>
                  <a:pt x="191790" y="396974"/>
                  <a:pt x="254000" y="409575"/>
                </a:cubicBezTo>
                <a:lnTo>
                  <a:pt x="254000" y="396875"/>
                </a:lnTo>
                <a:cubicBezTo>
                  <a:pt x="254000" y="379313"/>
                  <a:pt x="268188" y="365125"/>
                  <a:pt x="285750" y="365125"/>
                </a:cubicBezTo>
                <a:cubicBezTo>
                  <a:pt x="303312" y="365125"/>
                  <a:pt x="317500" y="379313"/>
                  <a:pt x="317500" y="396875"/>
                </a:cubicBezTo>
                <a:lnTo>
                  <a:pt x="317500" y="409575"/>
                </a:lnTo>
                <a:cubicBezTo>
                  <a:pt x="379710" y="396974"/>
                  <a:pt x="428724" y="347960"/>
                  <a:pt x="441325" y="285750"/>
                </a:cubicBezTo>
                <a:lnTo>
                  <a:pt x="428625" y="285750"/>
                </a:lnTo>
                <a:cubicBezTo>
                  <a:pt x="411063" y="285750"/>
                  <a:pt x="396875" y="271562"/>
                  <a:pt x="396875" y="254000"/>
                </a:cubicBezTo>
                <a:cubicBezTo>
                  <a:pt x="396875" y="236438"/>
                  <a:pt x="411063" y="222250"/>
                  <a:pt x="428625" y="222250"/>
                </a:cubicBezTo>
                <a:lnTo>
                  <a:pt x="441325" y="222250"/>
                </a:lnTo>
                <a:cubicBezTo>
                  <a:pt x="428724" y="160040"/>
                  <a:pt x="379710" y="111026"/>
                  <a:pt x="317500" y="98425"/>
                </a:cubicBezTo>
                <a:lnTo>
                  <a:pt x="317500" y="111125"/>
                </a:lnTo>
                <a:cubicBezTo>
                  <a:pt x="317500" y="128687"/>
                  <a:pt x="303312" y="142875"/>
                  <a:pt x="285750" y="142875"/>
                </a:cubicBezTo>
                <a:cubicBezTo>
                  <a:pt x="268188" y="142875"/>
                  <a:pt x="254000" y="128687"/>
                  <a:pt x="254000" y="111125"/>
                </a:cubicBezTo>
                <a:lnTo>
                  <a:pt x="254000" y="98425"/>
                </a:lnTo>
                <a:cubicBezTo>
                  <a:pt x="191790" y="111026"/>
                  <a:pt x="142776" y="160040"/>
                  <a:pt x="130175" y="222250"/>
                </a:cubicBezTo>
                <a:lnTo>
                  <a:pt x="142875" y="222250"/>
                </a:lnTo>
                <a:cubicBezTo>
                  <a:pt x="160437" y="222250"/>
                  <a:pt x="174625" y="236438"/>
                  <a:pt x="174625" y="254000"/>
                </a:cubicBezTo>
                <a:cubicBezTo>
                  <a:pt x="174625" y="271562"/>
                  <a:pt x="160437" y="285750"/>
                  <a:pt x="142875" y="285750"/>
                </a:cubicBezTo>
                <a:lnTo>
                  <a:pt x="130175" y="285750"/>
                </a:lnTo>
                <a:close/>
                <a:moveTo>
                  <a:pt x="285750" y="206375"/>
                </a:moveTo>
                <a:cubicBezTo>
                  <a:pt x="312035" y="206375"/>
                  <a:pt x="333375" y="227715"/>
                  <a:pt x="333375" y="254000"/>
                </a:cubicBezTo>
                <a:cubicBezTo>
                  <a:pt x="333375" y="280285"/>
                  <a:pt x="312035" y="301625"/>
                  <a:pt x="285750" y="301625"/>
                </a:cubicBezTo>
                <a:cubicBezTo>
                  <a:pt x="259465" y="301625"/>
                  <a:pt x="238125" y="280285"/>
                  <a:pt x="238125" y="254000"/>
                </a:cubicBezTo>
                <a:cubicBezTo>
                  <a:pt x="238125" y="227715"/>
                  <a:pt x="259465" y="206375"/>
                  <a:pt x="285750" y="206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731500" y="34290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Hotspot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Reveal info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700000" y="3429000"/>
            <a:ext cx="2540000" cy="889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890500" y="361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3173" y="0"/>
                </a:moveTo>
                <a:lnTo>
                  <a:pt x="365423" y="0"/>
                </a:lnTo>
                <a:cubicBezTo>
                  <a:pt x="391716" y="0"/>
                  <a:pt x="413147" y="21630"/>
                  <a:pt x="412155" y="47823"/>
                </a:cubicBezTo>
                <a:cubicBezTo>
                  <a:pt x="411956" y="53082"/>
                  <a:pt x="411758" y="58341"/>
                  <a:pt x="411460" y="63500"/>
                </a:cubicBezTo>
                <a:lnTo>
                  <a:pt x="460673" y="63500"/>
                </a:lnTo>
                <a:cubicBezTo>
                  <a:pt x="486569" y="63500"/>
                  <a:pt x="509389" y="84931"/>
                  <a:pt x="507405" y="112911"/>
                </a:cubicBezTo>
                <a:cubicBezTo>
                  <a:pt x="499963" y="215801"/>
                  <a:pt x="447377" y="272355"/>
                  <a:pt x="390327" y="301923"/>
                </a:cubicBezTo>
                <a:cubicBezTo>
                  <a:pt x="374650" y="310059"/>
                  <a:pt x="358676" y="316111"/>
                  <a:pt x="343495" y="320576"/>
                </a:cubicBezTo>
                <a:cubicBezTo>
                  <a:pt x="323453" y="348952"/>
                  <a:pt x="302617" y="363934"/>
                  <a:pt x="286048" y="371971"/>
                </a:cubicBezTo>
                <a:lnTo>
                  <a:pt x="286048" y="444500"/>
                </a:lnTo>
                <a:lnTo>
                  <a:pt x="349548" y="444500"/>
                </a:lnTo>
                <a:cubicBezTo>
                  <a:pt x="367109" y="444500"/>
                  <a:pt x="381298" y="458688"/>
                  <a:pt x="381298" y="476250"/>
                </a:cubicBezTo>
                <a:cubicBezTo>
                  <a:pt x="381298" y="493812"/>
                  <a:pt x="367109" y="508000"/>
                  <a:pt x="349548" y="508000"/>
                </a:cubicBezTo>
                <a:lnTo>
                  <a:pt x="159048" y="508000"/>
                </a:lnTo>
                <a:cubicBezTo>
                  <a:pt x="141486" y="508000"/>
                  <a:pt x="127298" y="493812"/>
                  <a:pt x="127298" y="476250"/>
                </a:cubicBezTo>
                <a:cubicBezTo>
                  <a:pt x="127298" y="458688"/>
                  <a:pt x="141486" y="444500"/>
                  <a:pt x="159048" y="444500"/>
                </a:cubicBezTo>
                <a:lnTo>
                  <a:pt x="222548" y="444500"/>
                </a:lnTo>
                <a:lnTo>
                  <a:pt x="222548" y="371971"/>
                </a:lnTo>
                <a:cubicBezTo>
                  <a:pt x="206673" y="364331"/>
                  <a:pt x="186928" y="350143"/>
                  <a:pt x="167680" y="324048"/>
                </a:cubicBezTo>
                <a:cubicBezTo>
                  <a:pt x="149423" y="319286"/>
                  <a:pt x="129580" y="312043"/>
                  <a:pt x="110232" y="301129"/>
                </a:cubicBezTo>
                <a:cubicBezTo>
                  <a:pt x="56555" y="271066"/>
                  <a:pt x="8136" y="214412"/>
                  <a:pt x="1191" y="112712"/>
                </a:cubicBezTo>
                <a:cubicBezTo>
                  <a:pt x="-695" y="84832"/>
                  <a:pt x="22027" y="63401"/>
                  <a:pt x="47923" y="63401"/>
                </a:cubicBezTo>
                <a:lnTo>
                  <a:pt x="97135" y="63401"/>
                </a:lnTo>
                <a:cubicBezTo>
                  <a:pt x="96838" y="58241"/>
                  <a:pt x="96639" y="53082"/>
                  <a:pt x="96441" y="47724"/>
                </a:cubicBezTo>
                <a:cubicBezTo>
                  <a:pt x="95448" y="21431"/>
                  <a:pt x="116880" y="-99"/>
                  <a:pt x="143173" y="-99"/>
                </a:cubicBezTo>
                <a:close/>
                <a:moveTo>
                  <a:pt x="100707" y="111125"/>
                </a:moveTo>
                <a:lnTo>
                  <a:pt x="48716" y="111125"/>
                </a:lnTo>
                <a:cubicBezTo>
                  <a:pt x="54868" y="195163"/>
                  <a:pt x="93464" y="237232"/>
                  <a:pt x="133251" y="259556"/>
                </a:cubicBezTo>
                <a:cubicBezTo>
                  <a:pt x="118963" y="222548"/>
                  <a:pt x="107156" y="174228"/>
                  <a:pt x="100707" y="111125"/>
                </a:cubicBezTo>
                <a:close/>
                <a:moveTo>
                  <a:pt x="377031" y="254794"/>
                </a:moveTo>
                <a:cubicBezTo>
                  <a:pt x="417215" y="231180"/>
                  <a:pt x="453529" y="189210"/>
                  <a:pt x="459680" y="111125"/>
                </a:cubicBezTo>
                <a:lnTo>
                  <a:pt x="407789" y="111125"/>
                </a:lnTo>
                <a:cubicBezTo>
                  <a:pt x="401638" y="171549"/>
                  <a:pt x="390525" y="218480"/>
                  <a:pt x="377031" y="2547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3525500" y="34290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Gamify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&amp; badges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06000" y="4699000"/>
            <a:ext cx="533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 More Engaging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98000" y="584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Interactive elements keep learners actively participating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vs. Bad Multimedia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Clean layout, readable fonts, purposeful visuals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Bad: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Cluttered slides, tiny text, random clip art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Consistent colors, clear hierarchy, simple animations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Bad: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Rainbow colors, equal-sized text, distracting transitions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design helps learning; bad design hurts 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524500"/>
            <a:ext cx="8128000" cy="1587500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5778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spc="200" kern="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6159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Compare Coursera (professional e-learning) vs. a poorly made slideshow.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7175500"/>
            <a:ext cx="812800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0" y="57150"/>
                </a:moveTo>
                <a:cubicBezTo>
                  <a:pt x="296287" y="57150"/>
                  <a:pt x="304800" y="65663"/>
                  <a:pt x="304800" y="76200"/>
                </a:cubicBezTo>
                <a:cubicBezTo>
                  <a:pt x="304800" y="86737"/>
                  <a:pt x="296287" y="95250"/>
                  <a:pt x="285750" y="95250"/>
                </a:cubicBezTo>
                <a:lnTo>
                  <a:pt x="161925" y="95250"/>
                </a:lnTo>
                <a:lnTo>
                  <a:pt x="161925" y="57150"/>
                </a:lnTo>
                <a:lnTo>
                  <a:pt x="285750" y="57150"/>
                </a:lnTo>
                <a:close/>
                <a:moveTo>
                  <a:pt x="190500" y="171450"/>
                </a:moveTo>
                <a:cubicBezTo>
                  <a:pt x="201037" y="171450"/>
                  <a:pt x="209550" y="179963"/>
                  <a:pt x="209550" y="190500"/>
                </a:cubicBezTo>
                <a:cubicBezTo>
                  <a:pt x="209550" y="201037"/>
                  <a:pt x="201037" y="209550"/>
                  <a:pt x="190500" y="209550"/>
                </a:cubicBezTo>
                <a:lnTo>
                  <a:pt x="152400" y="209550"/>
                </a:lnTo>
                <a:cubicBezTo>
                  <a:pt x="141863" y="209550"/>
                  <a:pt x="133350" y="201037"/>
                  <a:pt x="133350" y="190500"/>
                </a:cubicBezTo>
                <a:cubicBezTo>
                  <a:pt x="133350" y="179963"/>
                  <a:pt x="141863" y="171450"/>
                  <a:pt x="152400" y="171450"/>
                </a:cubicBezTo>
                <a:lnTo>
                  <a:pt x="190500" y="171450"/>
                </a:lnTo>
                <a:close/>
                <a:moveTo>
                  <a:pt x="228600" y="133350"/>
                </a:moveTo>
                <a:cubicBezTo>
                  <a:pt x="228600" y="143887"/>
                  <a:pt x="220087" y="152400"/>
                  <a:pt x="209550" y="152400"/>
                </a:cubicBezTo>
                <a:lnTo>
                  <a:pt x="180975" y="152400"/>
                </a:lnTo>
                <a:cubicBezTo>
                  <a:pt x="170438" y="152400"/>
                  <a:pt x="161925" y="143887"/>
                  <a:pt x="161925" y="133350"/>
                </a:cubicBezTo>
                <a:cubicBezTo>
                  <a:pt x="161925" y="122813"/>
                  <a:pt x="170438" y="114300"/>
                  <a:pt x="180975" y="114300"/>
                </a:cubicBezTo>
                <a:lnTo>
                  <a:pt x="209550" y="114300"/>
                </a:lnTo>
                <a:cubicBezTo>
                  <a:pt x="220087" y="114300"/>
                  <a:pt x="228600" y="122813"/>
                  <a:pt x="228600" y="133350"/>
                </a:cubicBezTo>
                <a:close/>
                <a:moveTo>
                  <a:pt x="171450" y="228600"/>
                </a:moveTo>
                <a:cubicBezTo>
                  <a:pt x="181987" y="228600"/>
                  <a:pt x="190500" y="237113"/>
                  <a:pt x="190500" y="247650"/>
                </a:cubicBezTo>
                <a:cubicBezTo>
                  <a:pt x="190500" y="258187"/>
                  <a:pt x="181987" y="266700"/>
                  <a:pt x="1714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lnTo>
                  <a:pt x="171450" y="228600"/>
                </a:lnTo>
                <a:close/>
                <a:moveTo>
                  <a:pt x="119062" y="171450"/>
                </a:moveTo>
                <a:lnTo>
                  <a:pt x="119420" y="171450"/>
                </a:lnTo>
                <a:cubicBezTo>
                  <a:pt x="116205" y="177046"/>
                  <a:pt x="114300" y="183535"/>
                  <a:pt x="114300" y="190500"/>
                </a:cubicBezTo>
                <a:cubicBezTo>
                  <a:pt x="114300" y="198358"/>
                  <a:pt x="116681" y="205621"/>
                  <a:pt x="120729" y="211693"/>
                </a:cubicBezTo>
                <a:cubicBezTo>
                  <a:pt x="105906" y="216872"/>
                  <a:pt x="95250" y="231041"/>
                  <a:pt x="95250" y="247650"/>
                </a:cubicBezTo>
                <a:cubicBezTo>
                  <a:pt x="95250" y="254615"/>
                  <a:pt x="97095" y="261104"/>
                  <a:pt x="100370" y="266700"/>
                </a:cubicBezTo>
                <a:lnTo>
                  <a:pt x="95250" y="266700"/>
                </a:lnTo>
                <a:cubicBezTo>
                  <a:pt x="42624" y="266700"/>
                  <a:pt x="0" y="224076"/>
                  <a:pt x="0" y="171450"/>
                </a:cubicBezTo>
                <a:lnTo>
                  <a:pt x="0" y="134719"/>
                </a:lnTo>
                <a:cubicBezTo>
                  <a:pt x="0" y="109478"/>
                  <a:pt x="10061" y="85249"/>
                  <a:pt x="27920" y="67389"/>
                </a:cubicBezTo>
                <a:lnTo>
                  <a:pt x="34826" y="60484"/>
                </a:lnTo>
                <a:cubicBezTo>
                  <a:pt x="49113" y="46137"/>
                  <a:pt x="68520" y="38100"/>
                  <a:pt x="88702" y="38100"/>
                </a:cubicBezTo>
                <a:lnTo>
                  <a:pt x="104775" y="38100"/>
                </a:lnTo>
                <a:cubicBezTo>
                  <a:pt x="125790" y="38100"/>
                  <a:pt x="142875" y="55185"/>
                  <a:pt x="142875" y="76200"/>
                </a:cubicBezTo>
                <a:lnTo>
                  <a:pt x="142875" y="128588"/>
                </a:lnTo>
                <a:cubicBezTo>
                  <a:pt x="142875" y="141744"/>
                  <a:pt x="132219" y="152400"/>
                  <a:pt x="119062" y="152400"/>
                </a:cubicBezTo>
                <a:cubicBezTo>
                  <a:pt x="105906" y="152400"/>
                  <a:pt x="95250" y="141744"/>
                  <a:pt x="95250" y="128588"/>
                </a:cubicBezTo>
                <a:lnTo>
                  <a:pt x="95250" y="95250"/>
                </a:lnTo>
                <a:cubicBezTo>
                  <a:pt x="95250" y="90011"/>
                  <a:pt x="90964" y="85725"/>
                  <a:pt x="85725" y="85725"/>
                </a:cubicBezTo>
                <a:cubicBezTo>
                  <a:pt x="80486" y="85725"/>
                  <a:pt x="76200" y="90011"/>
                  <a:pt x="76200" y="95250"/>
                </a:cubicBezTo>
                <a:lnTo>
                  <a:pt x="76200" y="128588"/>
                </a:lnTo>
                <a:cubicBezTo>
                  <a:pt x="76200" y="152281"/>
                  <a:pt x="95369" y="171450"/>
                  <a:pt x="119062" y="1714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7340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77216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Score a sample slide on 5 design criteria (1-5 points each).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1714500"/>
            <a:ext cx="2921000" cy="482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0" y="184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DESIGN 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0" y="2413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Clean layout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0" y="2921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Readable fonts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0" y="3429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Purposeful visuals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52000" y="3937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Consistent colors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52000" y="4445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Clear hierarchy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2000" y="4953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Simple animations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73000" y="1714500"/>
            <a:ext cx="2921000" cy="482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73000" y="184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 DESIGN 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27000" y="2413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Cluttered slides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27000" y="2921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Tiny text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27000" y="3429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Random clip art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27000" y="3937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Rainbow colors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27000" y="4445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Equal-sized text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27000" y="4953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Distracting transitions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98000" y="6731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design checklist vs. common mistakes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Activity 1 — Identify Effective Graphics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14732000" cy="3175000"/>
          </a:xfrm>
          <a:prstGeom prst="roundRect">
            <a:avLst>
              <a:gd name="adj" fmla="val 6000"/>
            </a:avLst>
          </a:prstGeom>
          <a:solidFill>
            <a:srgbClr val="FFF5EB"/>
          </a:solidFill>
          <a:ln w="25400">
            <a:solidFill>
              <a:srgbClr val="E891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800" y="1968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101600" y="203200"/>
                </a:move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ubicBezTo>
                  <a:pt x="90219" y="228600"/>
                  <a:pt x="101600" y="217219"/>
                  <a:pt x="101600" y="203200"/>
                </a:cubicBezTo>
                <a:close/>
                <a:moveTo>
                  <a:pt x="127000" y="203200"/>
                </a:moveTo>
                <a:cubicBezTo>
                  <a:pt x="127000" y="213757"/>
                  <a:pt x="135493" y="222250"/>
                  <a:pt x="146050" y="222250"/>
                </a:cubicBezTo>
                <a:lnTo>
                  <a:pt x="234950" y="222250"/>
                </a:lnTo>
                <a:cubicBezTo>
                  <a:pt x="245507" y="222250"/>
                  <a:pt x="254000" y="213757"/>
                  <a:pt x="254000" y="203200"/>
                </a:cubicBezTo>
                <a:cubicBezTo>
                  <a:pt x="254000" y="192643"/>
                  <a:pt x="245507" y="184150"/>
                  <a:pt x="234950" y="184150"/>
                </a:cubicBezTo>
                <a:lnTo>
                  <a:pt x="146050" y="184150"/>
                </a:lnTo>
                <a:cubicBezTo>
                  <a:pt x="135493" y="184150"/>
                  <a:pt x="127000" y="192643"/>
                  <a:pt x="127000" y="203200"/>
                </a:cubicBezTo>
                <a:close/>
                <a:moveTo>
                  <a:pt x="127000" y="304800"/>
                </a:moveTo>
                <a:cubicBezTo>
                  <a:pt x="127000" y="315357"/>
                  <a:pt x="135493" y="323850"/>
                  <a:pt x="146050" y="323850"/>
                </a:cubicBezTo>
                <a:lnTo>
                  <a:pt x="234950" y="323850"/>
                </a:lnTo>
                <a:cubicBezTo>
                  <a:pt x="245507" y="323850"/>
                  <a:pt x="254000" y="315357"/>
                  <a:pt x="254000" y="304800"/>
                </a:cubicBezTo>
                <a:cubicBezTo>
                  <a:pt x="254000" y="294243"/>
                  <a:pt x="245507" y="285750"/>
                  <a:pt x="234950" y="285750"/>
                </a:cubicBezTo>
                <a:lnTo>
                  <a:pt x="146050" y="285750"/>
                </a:lnTo>
                <a:cubicBezTo>
                  <a:pt x="135493" y="285750"/>
                  <a:pt x="127000" y="294243"/>
                  <a:pt x="127000" y="304800"/>
                </a:cubicBezTo>
                <a:close/>
                <a:moveTo>
                  <a:pt x="76200" y="330200"/>
                </a:moveTo>
                <a:cubicBezTo>
                  <a:pt x="90219" y="330200"/>
                  <a:pt x="101600" y="318819"/>
                  <a:pt x="101600" y="304800"/>
                </a:cubicBezTo>
                <a:cubicBezTo>
                  <a:pt x="101600" y="290781"/>
                  <a:pt x="90219" y="279400"/>
                  <a:pt x="76200" y="279400"/>
                </a:cubicBezTo>
                <a:cubicBezTo>
                  <a:pt x="62181" y="279400"/>
                  <a:pt x="50800" y="290781"/>
                  <a:pt x="50800" y="304800"/>
                </a:cubicBezTo>
                <a:cubicBezTo>
                  <a:pt x="50800" y="318819"/>
                  <a:pt x="62181" y="330200"/>
                  <a:pt x="76200" y="3302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574800" y="196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476500"/>
            <a:ext cx="1422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Look at 5 different graphics and identify which function each serves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it for communication, attention, explanation, data, or branding?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Discuss why some graphics work better than others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the 5 functions of graphics to real examples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 your visual analysis skills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5080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F0E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3" name="Text 11"/>
          <p:cNvSpPr/>
          <p:nvPr/>
        </p:nvSpPr>
        <p:spPr>
          <a:xfrm>
            <a:off x="1574800" y="533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OUTCOME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842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will be able to analyze any graphic and identify its primary function, explaining why it is effective or not.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7945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275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16000" y="6921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GRAPHICS TO ANALYZE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74800" y="7366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12671" y="131207"/>
                </a:moveTo>
                <a:cubicBezTo>
                  <a:pt x="403384" y="117277"/>
                  <a:pt x="386001" y="110966"/>
                  <a:pt x="369927" y="115848"/>
                </a:cubicBezTo>
                <a:cubicBezTo>
                  <a:pt x="353854" y="120729"/>
                  <a:pt x="342900" y="135612"/>
                  <a:pt x="342900" y="152400"/>
                </a:cubicBezTo>
                <a:lnTo>
                  <a:pt x="342900" y="457200"/>
                </a:lnTo>
                <a:cubicBezTo>
                  <a:pt x="342900" y="478274"/>
                  <a:pt x="359926" y="495300"/>
                  <a:pt x="381000" y="495300"/>
                </a:cubicBezTo>
                <a:cubicBezTo>
                  <a:pt x="402074" y="495300"/>
                  <a:pt x="419100" y="478274"/>
                  <a:pt x="419100" y="457200"/>
                </a:cubicBezTo>
                <a:lnTo>
                  <a:pt x="419100" y="278249"/>
                </a:lnTo>
                <a:lnTo>
                  <a:pt x="501729" y="402193"/>
                </a:lnTo>
                <a:cubicBezTo>
                  <a:pt x="508754" y="412790"/>
                  <a:pt x="520660" y="419100"/>
                  <a:pt x="533400" y="419100"/>
                </a:cubicBezTo>
                <a:cubicBezTo>
                  <a:pt x="546140" y="419100"/>
                  <a:pt x="558046" y="412790"/>
                  <a:pt x="565071" y="402193"/>
                </a:cubicBezTo>
                <a:lnTo>
                  <a:pt x="647700" y="278249"/>
                </a:lnTo>
                <a:lnTo>
                  <a:pt x="647700" y="457200"/>
                </a:lnTo>
                <a:cubicBezTo>
                  <a:pt x="647700" y="478274"/>
                  <a:pt x="664726" y="495300"/>
                  <a:pt x="685800" y="495300"/>
                </a:cubicBezTo>
                <a:cubicBezTo>
                  <a:pt x="706874" y="495300"/>
                  <a:pt x="723900" y="478274"/>
                  <a:pt x="723900" y="457200"/>
                </a:cubicBezTo>
                <a:lnTo>
                  <a:pt x="723900" y="152400"/>
                </a:lnTo>
                <a:cubicBezTo>
                  <a:pt x="723900" y="135612"/>
                  <a:pt x="712946" y="120848"/>
                  <a:pt x="696873" y="115967"/>
                </a:cubicBezTo>
                <a:cubicBezTo>
                  <a:pt x="680799" y="111085"/>
                  <a:pt x="663416" y="117277"/>
                  <a:pt x="654129" y="131326"/>
                </a:cubicBezTo>
                <a:lnTo>
                  <a:pt x="533400" y="312301"/>
                </a:lnTo>
                <a:lnTo>
                  <a:pt x="412671" y="131207"/>
                </a:lnTo>
                <a:close/>
                <a:moveTo>
                  <a:pt x="38100" y="114300"/>
                </a:moveTo>
                <a:cubicBezTo>
                  <a:pt x="17026" y="114300"/>
                  <a:pt x="0" y="131326"/>
                  <a:pt x="0" y="152400"/>
                </a:cubicBezTo>
                <a:cubicBezTo>
                  <a:pt x="0" y="173474"/>
                  <a:pt x="17026" y="190500"/>
                  <a:pt x="38100" y="190500"/>
                </a:cubicBezTo>
                <a:lnTo>
                  <a:pt x="114300" y="190500"/>
                </a:lnTo>
                <a:lnTo>
                  <a:pt x="114300" y="457200"/>
                </a:lnTo>
                <a:cubicBezTo>
                  <a:pt x="114300" y="478274"/>
                  <a:pt x="131326" y="495300"/>
                  <a:pt x="152400" y="495300"/>
                </a:cubicBezTo>
                <a:cubicBezTo>
                  <a:pt x="173474" y="495300"/>
                  <a:pt x="190500" y="478274"/>
                  <a:pt x="190500" y="457200"/>
                </a:cubicBezTo>
                <a:lnTo>
                  <a:pt x="190500" y="190500"/>
                </a:lnTo>
                <a:lnTo>
                  <a:pt x="266700" y="190500"/>
                </a:lnTo>
                <a:cubicBezTo>
                  <a:pt x="287774" y="190500"/>
                  <a:pt x="304800" y="173474"/>
                  <a:pt x="304800" y="152400"/>
                </a:cubicBezTo>
                <a:cubicBezTo>
                  <a:pt x="304800" y="131326"/>
                  <a:pt x="287774" y="114300"/>
                  <a:pt x="266700" y="114300"/>
                </a:cubicBezTo>
                <a:lnTo>
                  <a:pt x="38100" y="114300"/>
                </a:lnTo>
                <a:close/>
              </a:path>
            </a:pathLst>
          </a:cu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8064500"/>
            <a:ext cx="13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Logo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18000" y="736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100" y="38100"/>
                </a:moveTo>
                <a:cubicBezTo>
                  <a:pt x="59174" y="38100"/>
                  <a:pt x="76200" y="55126"/>
                  <a:pt x="76200" y="76200"/>
                </a:cubicBezTo>
                <a:lnTo>
                  <a:pt x="76200" y="476250"/>
                </a:lnTo>
                <a:cubicBezTo>
                  <a:pt x="76200" y="486728"/>
                  <a:pt x="84773" y="495300"/>
                  <a:pt x="95250" y="495300"/>
                </a:cubicBezTo>
                <a:lnTo>
                  <a:pt x="571500" y="495300"/>
                </a:lnTo>
                <a:cubicBezTo>
                  <a:pt x="592574" y="495300"/>
                  <a:pt x="609600" y="512326"/>
                  <a:pt x="609600" y="533400"/>
                </a:cubicBezTo>
                <a:cubicBezTo>
                  <a:pt x="609600" y="554474"/>
                  <a:pt x="592574" y="571500"/>
                  <a:pt x="571500" y="571500"/>
                </a:cubicBezTo>
                <a:lnTo>
                  <a:pt x="95250" y="571500"/>
                </a:lnTo>
                <a:cubicBezTo>
                  <a:pt x="42624" y="571500"/>
                  <a:pt x="0" y="528876"/>
                  <a:pt x="0" y="476250"/>
                </a:cubicBezTo>
                <a:lnTo>
                  <a:pt x="0" y="76200"/>
                </a:lnTo>
                <a:cubicBezTo>
                  <a:pt x="0" y="55126"/>
                  <a:pt x="17026" y="38100"/>
                  <a:pt x="38100" y="38100"/>
                </a:cubicBezTo>
                <a:close/>
                <a:moveTo>
                  <a:pt x="152400" y="114300"/>
                </a:moveTo>
                <a:cubicBezTo>
                  <a:pt x="152400" y="93226"/>
                  <a:pt x="169426" y="76200"/>
                  <a:pt x="190500" y="76200"/>
                </a:cubicBezTo>
                <a:lnTo>
                  <a:pt x="419100" y="76200"/>
                </a:lnTo>
                <a:cubicBezTo>
                  <a:pt x="440174" y="76200"/>
                  <a:pt x="457200" y="93226"/>
                  <a:pt x="457200" y="114300"/>
                </a:cubicBezTo>
                <a:cubicBezTo>
                  <a:pt x="457200" y="135374"/>
                  <a:pt x="440174" y="152400"/>
                  <a:pt x="419100" y="152400"/>
                </a:cubicBezTo>
                <a:lnTo>
                  <a:pt x="190500" y="152400"/>
                </a:lnTo>
                <a:cubicBezTo>
                  <a:pt x="169426" y="152400"/>
                  <a:pt x="152400" y="135374"/>
                  <a:pt x="152400" y="114300"/>
                </a:cubicBezTo>
                <a:close/>
                <a:moveTo>
                  <a:pt x="190500" y="209550"/>
                </a:moveTo>
                <a:lnTo>
                  <a:pt x="342900" y="209550"/>
                </a:lnTo>
                <a:cubicBezTo>
                  <a:pt x="363974" y="209550"/>
                  <a:pt x="381000" y="226576"/>
                  <a:pt x="381000" y="247650"/>
                </a:cubicBezTo>
                <a:cubicBezTo>
                  <a:pt x="381000" y="268724"/>
                  <a:pt x="363974" y="285750"/>
                  <a:pt x="342900" y="285750"/>
                </a:cubicBezTo>
                <a:lnTo>
                  <a:pt x="190500" y="285750"/>
                </a:lnTo>
                <a:cubicBezTo>
                  <a:pt x="169426" y="285750"/>
                  <a:pt x="152400" y="268724"/>
                  <a:pt x="152400" y="247650"/>
                </a:cubicBezTo>
                <a:cubicBezTo>
                  <a:pt x="152400" y="226576"/>
                  <a:pt x="169426" y="209550"/>
                  <a:pt x="190500" y="209550"/>
                </a:cubicBezTo>
                <a:close/>
                <a:moveTo>
                  <a:pt x="190500" y="342900"/>
                </a:moveTo>
                <a:lnTo>
                  <a:pt x="495300" y="342900"/>
                </a:lnTo>
                <a:cubicBezTo>
                  <a:pt x="516374" y="342900"/>
                  <a:pt x="533400" y="359926"/>
                  <a:pt x="533400" y="381000"/>
                </a:cubicBezTo>
                <a:cubicBezTo>
                  <a:pt x="533400" y="402074"/>
                  <a:pt x="516374" y="419100"/>
                  <a:pt x="495300" y="419100"/>
                </a:cubicBezTo>
                <a:lnTo>
                  <a:pt x="190500" y="419100"/>
                </a:lnTo>
                <a:cubicBezTo>
                  <a:pt x="169426" y="419100"/>
                  <a:pt x="152400" y="402074"/>
                  <a:pt x="152400" y="381000"/>
                </a:cubicBezTo>
                <a:cubicBezTo>
                  <a:pt x="152400" y="359926"/>
                  <a:pt x="169426" y="342900"/>
                  <a:pt x="190500" y="342900"/>
                </a:cubicBezTo>
                <a:close/>
              </a:path>
            </a:pathLst>
          </a:custGeom>
          <a:solidFill>
            <a:srgbClr val="1E88E5"/>
          </a:solidFill>
          <a:ln/>
        </p:spPr>
      </p:sp>
      <p:sp>
        <p:nvSpPr>
          <p:cNvPr id="20" name="Text 18"/>
          <p:cNvSpPr/>
          <p:nvPr/>
        </p:nvSpPr>
        <p:spPr>
          <a:xfrm>
            <a:off x="3937000" y="8064500"/>
            <a:ext cx="13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Chart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85000" y="736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266700" y="190500"/>
                </a:moveTo>
                <a:cubicBezTo>
                  <a:pt x="266700" y="169472"/>
                  <a:pt x="283772" y="152400"/>
                  <a:pt x="304800" y="152400"/>
                </a:cubicBezTo>
                <a:cubicBezTo>
                  <a:pt x="325828" y="152400"/>
                  <a:pt x="342900" y="169472"/>
                  <a:pt x="342900" y="190500"/>
                </a:cubicBezTo>
                <a:cubicBezTo>
                  <a:pt x="342900" y="211528"/>
                  <a:pt x="325828" y="228600"/>
                  <a:pt x="304800" y="228600"/>
                </a:cubicBezTo>
                <a:cubicBezTo>
                  <a:pt x="283772" y="228600"/>
                  <a:pt x="266700" y="211528"/>
                  <a:pt x="266700" y="190500"/>
                </a:cubicBezTo>
                <a:close/>
                <a:moveTo>
                  <a:pt x="257175" y="266700"/>
                </a:moveTo>
                <a:lnTo>
                  <a:pt x="314325" y="266700"/>
                </a:lnTo>
                <a:cubicBezTo>
                  <a:pt x="330160" y="266700"/>
                  <a:pt x="342900" y="279440"/>
                  <a:pt x="342900" y="295275"/>
                </a:cubicBezTo>
                <a:lnTo>
                  <a:pt x="342900" y="400050"/>
                </a:lnTo>
                <a:lnTo>
                  <a:pt x="352425" y="400050"/>
                </a:lnTo>
                <a:cubicBezTo>
                  <a:pt x="368260" y="400050"/>
                  <a:pt x="381000" y="412790"/>
                  <a:pt x="381000" y="428625"/>
                </a:cubicBezTo>
                <a:cubicBezTo>
                  <a:pt x="381000" y="444460"/>
                  <a:pt x="368260" y="457200"/>
                  <a:pt x="352425" y="457200"/>
                </a:cubicBezTo>
                <a:lnTo>
                  <a:pt x="257175" y="457200"/>
                </a:lnTo>
                <a:cubicBezTo>
                  <a:pt x="241340" y="457200"/>
                  <a:pt x="228600" y="444460"/>
                  <a:pt x="228600" y="428625"/>
                </a:cubicBezTo>
                <a:cubicBezTo>
                  <a:pt x="228600" y="412790"/>
                  <a:pt x="241340" y="400050"/>
                  <a:pt x="257175" y="400050"/>
                </a:cubicBezTo>
                <a:lnTo>
                  <a:pt x="285750" y="400050"/>
                </a:lnTo>
                <a:lnTo>
                  <a:pt x="285750" y="323850"/>
                </a:lnTo>
                <a:lnTo>
                  <a:pt x="257175" y="323850"/>
                </a:lnTo>
                <a:cubicBezTo>
                  <a:pt x="241340" y="323850"/>
                  <a:pt x="228600" y="311110"/>
                  <a:pt x="228600" y="295275"/>
                </a:cubicBezTo>
                <a:cubicBezTo>
                  <a:pt x="228600" y="279440"/>
                  <a:pt x="241340" y="266700"/>
                  <a:pt x="257175" y="266700"/>
                </a:cubicBezTo>
                <a:close/>
              </a:path>
            </a:pathLst>
          </a:custGeom>
          <a:solidFill>
            <a:srgbClr val="43A0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77000" y="80645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Infographic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52000" y="736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8240" y="323850"/>
                </a:moveTo>
                <a:cubicBezTo>
                  <a:pt x="220980" y="323850"/>
                  <a:pt x="232886" y="330160"/>
                  <a:pt x="239911" y="340757"/>
                </a:cubicBezTo>
                <a:lnTo>
                  <a:pt x="253960" y="361950"/>
                </a:lnTo>
                <a:lnTo>
                  <a:pt x="285750" y="361950"/>
                </a:lnTo>
                <a:cubicBezTo>
                  <a:pt x="317302" y="361950"/>
                  <a:pt x="342900" y="387548"/>
                  <a:pt x="342900" y="419100"/>
                </a:cubicBezTo>
                <a:lnTo>
                  <a:pt x="342900" y="552450"/>
                </a:lnTo>
                <a:cubicBezTo>
                  <a:pt x="342900" y="584002"/>
                  <a:pt x="317302" y="609600"/>
                  <a:pt x="285750" y="609600"/>
                </a:cubicBezTo>
                <a:lnTo>
                  <a:pt x="57150" y="609600"/>
                </a:lnTo>
                <a:cubicBezTo>
                  <a:pt x="25598" y="609600"/>
                  <a:pt x="0" y="584002"/>
                  <a:pt x="0" y="552450"/>
                </a:cubicBezTo>
                <a:lnTo>
                  <a:pt x="0" y="419100"/>
                </a:lnTo>
                <a:cubicBezTo>
                  <a:pt x="0" y="387548"/>
                  <a:pt x="25598" y="361950"/>
                  <a:pt x="57150" y="361950"/>
                </a:cubicBezTo>
                <a:lnTo>
                  <a:pt x="88940" y="361950"/>
                </a:lnTo>
                <a:lnTo>
                  <a:pt x="102989" y="340757"/>
                </a:lnTo>
                <a:cubicBezTo>
                  <a:pt x="110014" y="330160"/>
                  <a:pt x="121920" y="323850"/>
                  <a:pt x="134660" y="323850"/>
                </a:cubicBezTo>
                <a:lnTo>
                  <a:pt x="208121" y="323850"/>
                </a:lnTo>
                <a:close/>
                <a:moveTo>
                  <a:pt x="539948" y="309563"/>
                </a:moveTo>
                <a:cubicBezTo>
                  <a:pt x="546616" y="303728"/>
                  <a:pt x="556498" y="303252"/>
                  <a:pt x="563642" y="308491"/>
                </a:cubicBezTo>
                <a:cubicBezTo>
                  <a:pt x="570786" y="313730"/>
                  <a:pt x="573524" y="323255"/>
                  <a:pt x="569952" y="331470"/>
                </a:cubicBezTo>
                <a:lnTo>
                  <a:pt x="524232" y="438150"/>
                </a:lnTo>
                <a:lnTo>
                  <a:pt x="590550" y="438150"/>
                </a:lnTo>
                <a:cubicBezTo>
                  <a:pt x="598527" y="438150"/>
                  <a:pt x="605552" y="443032"/>
                  <a:pt x="608409" y="450533"/>
                </a:cubicBezTo>
                <a:cubicBezTo>
                  <a:pt x="611267" y="458033"/>
                  <a:pt x="609124" y="466368"/>
                  <a:pt x="603171" y="471607"/>
                </a:cubicBezTo>
                <a:lnTo>
                  <a:pt x="450771" y="604957"/>
                </a:lnTo>
                <a:cubicBezTo>
                  <a:pt x="444103" y="610791"/>
                  <a:pt x="434221" y="611267"/>
                  <a:pt x="427077" y="606028"/>
                </a:cubicBezTo>
                <a:cubicBezTo>
                  <a:pt x="419933" y="600789"/>
                  <a:pt x="417195" y="591264"/>
                  <a:pt x="420767" y="583049"/>
                </a:cubicBezTo>
                <a:lnTo>
                  <a:pt x="466606" y="476250"/>
                </a:lnTo>
                <a:lnTo>
                  <a:pt x="400169" y="476250"/>
                </a:lnTo>
                <a:cubicBezTo>
                  <a:pt x="392192" y="476250"/>
                  <a:pt x="385167" y="471368"/>
                  <a:pt x="382310" y="463867"/>
                </a:cubicBezTo>
                <a:cubicBezTo>
                  <a:pt x="379452" y="456367"/>
                  <a:pt x="381595" y="448032"/>
                  <a:pt x="387548" y="442793"/>
                </a:cubicBezTo>
                <a:lnTo>
                  <a:pt x="539948" y="309443"/>
                </a:lnTo>
                <a:close/>
                <a:moveTo>
                  <a:pt x="171450" y="428625"/>
                </a:moveTo>
                <a:cubicBezTo>
                  <a:pt x="139908" y="428625"/>
                  <a:pt x="114300" y="454233"/>
                  <a:pt x="114300" y="485775"/>
                </a:cubicBezTo>
                <a:cubicBezTo>
                  <a:pt x="114300" y="517317"/>
                  <a:pt x="139908" y="542925"/>
                  <a:pt x="171450" y="542925"/>
                </a:cubicBezTo>
                <a:cubicBezTo>
                  <a:pt x="202992" y="542925"/>
                  <a:pt x="228600" y="517317"/>
                  <a:pt x="228600" y="485775"/>
                </a:cubicBezTo>
                <a:cubicBezTo>
                  <a:pt x="228600" y="454233"/>
                  <a:pt x="202992" y="428625"/>
                  <a:pt x="171450" y="428625"/>
                </a:cubicBezTo>
                <a:close/>
                <a:moveTo>
                  <a:pt x="576024" y="476"/>
                </a:moveTo>
                <a:cubicBezTo>
                  <a:pt x="583763" y="-833"/>
                  <a:pt x="591622" y="953"/>
                  <a:pt x="598051" y="5715"/>
                </a:cubicBezTo>
                <a:cubicBezTo>
                  <a:pt x="605314" y="11073"/>
                  <a:pt x="609600" y="19645"/>
                  <a:pt x="609600" y="28575"/>
                </a:cubicBezTo>
                <a:lnTo>
                  <a:pt x="609600" y="209550"/>
                </a:lnTo>
                <a:lnTo>
                  <a:pt x="609243" y="215384"/>
                </a:lnTo>
                <a:cubicBezTo>
                  <a:pt x="605314" y="244197"/>
                  <a:pt x="572929" y="266700"/>
                  <a:pt x="533400" y="266700"/>
                </a:cubicBezTo>
                <a:cubicBezTo>
                  <a:pt x="491371" y="266700"/>
                  <a:pt x="457200" y="241102"/>
                  <a:pt x="457200" y="209550"/>
                </a:cubicBezTo>
                <a:cubicBezTo>
                  <a:pt x="457200" y="177998"/>
                  <a:pt x="491371" y="152400"/>
                  <a:pt x="533400" y="152400"/>
                </a:cubicBezTo>
                <a:cubicBezTo>
                  <a:pt x="539948" y="152400"/>
                  <a:pt x="546378" y="153114"/>
                  <a:pt x="552450" y="154305"/>
                </a:cubicBezTo>
                <a:lnTo>
                  <a:pt x="552450" y="95607"/>
                </a:lnTo>
                <a:lnTo>
                  <a:pt x="419100" y="135612"/>
                </a:lnTo>
                <a:lnTo>
                  <a:pt x="419100" y="266819"/>
                </a:lnTo>
                <a:lnTo>
                  <a:pt x="418743" y="272653"/>
                </a:lnTo>
                <a:cubicBezTo>
                  <a:pt x="414814" y="301466"/>
                  <a:pt x="382429" y="323969"/>
                  <a:pt x="342900" y="323969"/>
                </a:cubicBezTo>
                <a:cubicBezTo>
                  <a:pt x="300871" y="323969"/>
                  <a:pt x="266700" y="298371"/>
                  <a:pt x="266700" y="266819"/>
                </a:cubicBezTo>
                <a:cubicBezTo>
                  <a:pt x="266700" y="235268"/>
                  <a:pt x="300871" y="209669"/>
                  <a:pt x="342900" y="209669"/>
                </a:cubicBezTo>
                <a:cubicBezTo>
                  <a:pt x="349448" y="209669"/>
                  <a:pt x="355878" y="210383"/>
                  <a:pt x="361950" y="211574"/>
                </a:cubicBezTo>
                <a:lnTo>
                  <a:pt x="361950" y="85725"/>
                </a:lnTo>
                <a:cubicBezTo>
                  <a:pt x="361950" y="73104"/>
                  <a:pt x="370284" y="61912"/>
                  <a:pt x="382310" y="58341"/>
                </a:cubicBezTo>
                <a:lnTo>
                  <a:pt x="572810" y="1191"/>
                </a:lnTo>
                <a:lnTo>
                  <a:pt x="576024" y="476"/>
                </a:lnTo>
                <a:close/>
                <a:moveTo>
                  <a:pt x="224909" y="0"/>
                </a:moveTo>
                <a:cubicBezTo>
                  <a:pt x="269081" y="0"/>
                  <a:pt x="304800" y="35719"/>
                  <a:pt x="304800" y="79891"/>
                </a:cubicBezTo>
                <a:lnTo>
                  <a:pt x="304800" y="87154"/>
                </a:lnTo>
                <a:cubicBezTo>
                  <a:pt x="304800" y="153948"/>
                  <a:pt x="215265" y="220623"/>
                  <a:pt x="173474" y="248245"/>
                </a:cubicBezTo>
                <a:cubicBezTo>
                  <a:pt x="160615" y="256699"/>
                  <a:pt x="144185" y="256699"/>
                  <a:pt x="131326" y="248245"/>
                </a:cubicBezTo>
                <a:cubicBezTo>
                  <a:pt x="89535" y="220742"/>
                  <a:pt x="0" y="153948"/>
                  <a:pt x="0" y="87154"/>
                </a:cubicBezTo>
                <a:lnTo>
                  <a:pt x="0" y="79891"/>
                </a:lnTo>
                <a:cubicBezTo>
                  <a:pt x="0" y="35719"/>
                  <a:pt x="35719" y="0"/>
                  <a:pt x="79891" y="0"/>
                </a:cubicBezTo>
                <a:cubicBezTo>
                  <a:pt x="105013" y="0"/>
                  <a:pt x="128588" y="11787"/>
                  <a:pt x="143708" y="31909"/>
                </a:cubicBezTo>
                <a:lnTo>
                  <a:pt x="152400" y="43577"/>
                </a:lnTo>
                <a:lnTo>
                  <a:pt x="161092" y="31909"/>
                </a:lnTo>
                <a:cubicBezTo>
                  <a:pt x="176212" y="11787"/>
                  <a:pt x="199787" y="0"/>
                  <a:pt x="224909" y="0"/>
                </a:cubicBezTo>
                <a:close/>
              </a:path>
            </a:pathLst>
          </a:custGeom>
          <a:solidFill>
            <a:srgbClr val="FB8C00"/>
          </a:solidFill>
          <a:ln/>
        </p:spPr>
      </p:sp>
      <p:sp>
        <p:nvSpPr>
          <p:cNvPr id="24" name="Text 22"/>
          <p:cNvSpPr/>
          <p:nvPr/>
        </p:nvSpPr>
        <p:spPr>
          <a:xfrm>
            <a:off x="9271000" y="8064500"/>
            <a:ext cx="13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Icons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19000" y="736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95250"/>
                </a:moveTo>
                <a:cubicBezTo>
                  <a:pt x="0" y="63698"/>
                  <a:pt x="25598" y="38100"/>
                  <a:pt x="57150" y="38100"/>
                </a:cubicBezTo>
                <a:lnTo>
                  <a:pt x="171450" y="38100"/>
                </a:lnTo>
                <a:cubicBezTo>
                  <a:pt x="203002" y="38100"/>
                  <a:pt x="228600" y="63698"/>
                  <a:pt x="228600" y="95250"/>
                </a:cubicBezTo>
                <a:lnTo>
                  <a:pt x="228600" y="114300"/>
                </a:lnTo>
                <a:lnTo>
                  <a:pt x="381000" y="114300"/>
                </a:lnTo>
                <a:lnTo>
                  <a:pt x="381000" y="95250"/>
                </a:lnTo>
                <a:cubicBezTo>
                  <a:pt x="381000" y="63698"/>
                  <a:pt x="406598" y="38100"/>
                  <a:pt x="43815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209550"/>
                </a:lnTo>
                <a:cubicBezTo>
                  <a:pt x="609600" y="241102"/>
                  <a:pt x="584002" y="266700"/>
                  <a:pt x="552450" y="266700"/>
                </a:cubicBezTo>
                <a:lnTo>
                  <a:pt x="438150" y="266700"/>
                </a:lnTo>
                <a:cubicBezTo>
                  <a:pt x="406598" y="266700"/>
                  <a:pt x="381000" y="241102"/>
                  <a:pt x="381000" y="209550"/>
                </a:cubicBezTo>
                <a:lnTo>
                  <a:pt x="381000" y="190500"/>
                </a:lnTo>
                <a:lnTo>
                  <a:pt x="228600" y="190500"/>
                </a:lnTo>
                <a:lnTo>
                  <a:pt x="228600" y="209550"/>
                </a:lnTo>
                <a:cubicBezTo>
                  <a:pt x="228600" y="218242"/>
                  <a:pt x="226576" y="226576"/>
                  <a:pt x="223123" y="233958"/>
                </a:cubicBezTo>
                <a:lnTo>
                  <a:pt x="304800" y="342900"/>
                </a:lnTo>
                <a:lnTo>
                  <a:pt x="400050" y="342900"/>
                </a:lnTo>
                <a:cubicBezTo>
                  <a:pt x="431602" y="342900"/>
                  <a:pt x="457200" y="368498"/>
                  <a:pt x="457200" y="400050"/>
                </a:cubicBezTo>
                <a:lnTo>
                  <a:pt x="457200" y="514350"/>
                </a:lnTo>
                <a:cubicBezTo>
                  <a:pt x="457200" y="545902"/>
                  <a:pt x="431602" y="571500"/>
                  <a:pt x="400050" y="571500"/>
                </a:cubicBezTo>
                <a:lnTo>
                  <a:pt x="285750" y="571500"/>
                </a:lnTo>
                <a:cubicBezTo>
                  <a:pt x="254198" y="571500"/>
                  <a:pt x="228600" y="545902"/>
                  <a:pt x="228600" y="514350"/>
                </a:cubicBezTo>
                <a:lnTo>
                  <a:pt x="228600" y="400050"/>
                </a:lnTo>
                <a:cubicBezTo>
                  <a:pt x="228600" y="391358"/>
                  <a:pt x="230624" y="383024"/>
                  <a:pt x="234077" y="375642"/>
                </a:cubicBezTo>
                <a:lnTo>
                  <a:pt x="152400" y="266700"/>
                </a:lnTo>
                <a:lnTo>
                  <a:pt x="57150" y="266700"/>
                </a:lnTo>
                <a:cubicBezTo>
                  <a:pt x="25598" y="266700"/>
                  <a:pt x="0" y="241102"/>
                  <a:pt x="0" y="2095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8E24AA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0" y="80645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Flowchart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55600"/>
            <a:ext cx="1778000" cy="330200"/>
          </a:xfrm>
          <a:prstGeom prst="roundRect">
            <a:avLst>
              <a:gd name="adj" fmla="val 8000"/>
            </a:avLst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838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6B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Activity 2 — Improve a Poorly Designed Slide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14732000" cy="3175000"/>
          </a:xfrm>
          <a:prstGeom prst="roundRect">
            <a:avLst>
              <a:gd name="adj" fmla="val 6000"/>
            </a:avLst>
          </a:prstGeom>
          <a:solidFill>
            <a:srgbClr val="FFF5EB"/>
          </a:solidFill>
          <a:ln w="25400">
            <a:solidFill>
              <a:srgbClr val="E891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800" y="1968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101600" y="203200"/>
                </a:move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ubicBezTo>
                  <a:pt x="90219" y="228600"/>
                  <a:pt x="101600" y="217219"/>
                  <a:pt x="101600" y="203200"/>
                </a:cubicBezTo>
                <a:close/>
                <a:moveTo>
                  <a:pt x="127000" y="203200"/>
                </a:moveTo>
                <a:cubicBezTo>
                  <a:pt x="127000" y="213757"/>
                  <a:pt x="135493" y="222250"/>
                  <a:pt x="146050" y="222250"/>
                </a:cubicBezTo>
                <a:lnTo>
                  <a:pt x="234950" y="222250"/>
                </a:lnTo>
                <a:cubicBezTo>
                  <a:pt x="245507" y="222250"/>
                  <a:pt x="254000" y="213757"/>
                  <a:pt x="254000" y="203200"/>
                </a:cubicBezTo>
                <a:cubicBezTo>
                  <a:pt x="254000" y="192643"/>
                  <a:pt x="245507" y="184150"/>
                  <a:pt x="234950" y="184150"/>
                </a:cubicBezTo>
                <a:lnTo>
                  <a:pt x="146050" y="184150"/>
                </a:lnTo>
                <a:cubicBezTo>
                  <a:pt x="135493" y="184150"/>
                  <a:pt x="127000" y="192643"/>
                  <a:pt x="127000" y="203200"/>
                </a:cubicBezTo>
                <a:close/>
                <a:moveTo>
                  <a:pt x="127000" y="304800"/>
                </a:moveTo>
                <a:cubicBezTo>
                  <a:pt x="127000" y="315357"/>
                  <a:pt x="135493" y="323850"/>
                  <a:pt x="146050" y="323850"/>
                </a:cubicBezTo>
                <a:lnTo>
                  <a:pt x="234950" y="323850"/>
                </a:lnTo>
                <a:cubicBezTo>
                  <a:pt x="245507" y="323850"/>
                  <a:pt x="254000" y="315357"/>
                  <a:pt x="254000" y="304800"/>
                </a:cubicBezTo>
                <a:cubicBezTo>
                  <a:pt x="254000" y="294243"/>
                  <a:pt x="245507" y="285750"/>
                  <a:pt x="234950" y="285750"/>
                </a:cubicBezTo>
                <a:lnTo>
                  <a:pt x="146050" y="285750"/>
                </a:lnTo>
                <a:cubicBezTo>
                  <a:pt x="135493" y="285750"/>
                  <a:pt x="127000" y="294243"/>
                  <a:pt x="127000" y="304800"/>
                </a:cubicBezTo>
                <a:close/>
                <a:moveTo>
                  <a:pt x="76200" y="330200"/>
                </a:moveTo>
                <a:cubicBezTo>
                  <a:pt x="90219" y="330200"/>
                  <a:pt x="101600" y="318819"/>
                  <a:pt x="101600" y="304800"/>
                </a:cubicBezTo>
                <a:cubicBezTo>
                  <a:pt x="101600" y="290781"/>
                  <a:pt x="90219" y="279400"/>
                  <a:pt x="76200" y="279400"/>
                </a:cubicBezTo>
                <a:cubicBezTo>
                  <a:pt x="62181" y="279400"/>
                  <a:pt x="50800" y="290781"/>
                  <a:pt x="50800" y="304800"/>
                </a:cubicBezTo>
                <a:cubicBezTo>
                  <a:pt x="50800" y="318819"/>
                  <a:pt x="62181" y="330200"/>
                  <a:pt x="76200" y="3302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574800" y="196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476500"/>
            <a:ext cx="1422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 a cluttered, text-heavy slide and redesign it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what you learned: reduce text, add visuals, use colors wisely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Keep the same information but make it clearer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the improvement techniques from this lecture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 your redesigned slide to the class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5080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F0E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3" name="Text 11"/>
          <p:cNvSpPr/>
          <p:nvPr/>
        </p:nvSpPr>
        <p:spPr>
          <a:xfrm>
            <a:off x="1574800" y="533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OUTCOME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842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will apply all 7 improvement techniques to transform a poor slide into an effective, engaging learning visual.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477000"/>
            <a:ext cx="7112000" cy="196850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6604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6985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Company Results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had a great year with revenue of $5M which is up 20% from last year and our customer base grew to 10,000 users across 12 countries with a satisfaction rating of 4.8 out of 5 stars...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01000" y="7175500"/>
            <a:ext cx="762000" cy="0"/>
          </a:xfrm>
          <a:prstGeom prst="straightConnector1">
            <a:avLst/>
          </a:prstGeom>
          <a:noFill/>
          <a:ln w="381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890000" y="6477000"/>
            <a:ext cx="6604000" cy="19685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6604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6985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$5M Revenue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6BB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▲ 20%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10,000 users | 12 countries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Satisfaction: 4.8/5.0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nhjb3yt32yam/mnt/agents/output/multimedia_lecture/images/6_Free_Creative_Office_Space_Image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6B5C">
                  <a:alpha val="94000"/>
                </a:srgbClr>
              </a:gs>
              <a:gs pos="50000">
                <a:srgbClr val="1B6B5C">
                  <a:alpha val="82000"/>
                </a:srgbClr>
              </a:gs>
              <a:gs pos="100000">
                <a:srgbClr val="1B6B5C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spc="3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4 — LECTURE 7 &amp; 8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778000" y="228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Better Learning Content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1778000" y="3302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8" name="Text 5"/>
          <p:cNvSpPr/>
          <p:nvPr/>
        </p:nvSpPr>
        <p:spPr>
          <a:xfrm>
            <a:off x="1778000" y="3683000"/>
            <a:ext cx="1016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Graphics are powerful communication tools that improve learning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the 5 functions: communication, attention, explanation, data, branding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the right type: images, icons, charts, diagrams, infographics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7 improvement techniques for better multimedia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remember: </a:t>
            </a:r>
            <a:pPr>
              <a:lnSpc>
                <a:spcPct val="18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for the learner, not for decoration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78000" y="736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attention. Now go create amazing learning content!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E8913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Production – Functions of Graphics and Multimedia Learning Improvement Techniques</dc:title>
  <dc:subject>Multimedia Production – Functions of Graphics and Multimedia Learning Improvement Techniques</dc:subject>
  <dc:creator>Kimi</dc:creator>
  <cp:lastModifiedBy>Kimi</cp:lastModifiedBy>
  <cp:revision>1</cp:revision>
  <dcterms:created xsi:type="dcterms:W3CDTF">2026-05-11T11:13:24Z</dcterms:created>
  <dcterms:modified xsi:type="dcterms:W3CDTF">2026-05-11T11:13:24Z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{"Label":"Multimedia Production – Functions of Graphics and Multimedia Learning Improvement Techniques","ContentProducer":"001191110108MACG2KBH8F10000","ProduceID":"19e16b61-add2-87e6-8000-0000114c64c5","ReservedCode1":"","ContentPropagator":"001191110108MACG2KBH8F20000","PropagateID":"19e16b61-add2-87e6-8000-0000114c64c5","ReservedCode2":""}</vt:lpwstr>
  </property>
</Properties>
</file>