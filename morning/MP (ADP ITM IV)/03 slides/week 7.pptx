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Oranienbaum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 Size</c:v>
                </c:pt>
              </c:strCache>
            </c:strRef>
          </c:tx>
          <c:spPr>
            <a:solidFill>
              <a:srgbClr val="C17F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Small</c:v>
                  </c:pt>
                  <c:pt idx="1">
                    <c:v>Medium</c:v>
                  </c:pt>
                  <c:pt idx="2">
                    <c:v>Large</c:v>
                  </c:pt>
                  <c:pt idx="3">
                    <c:v>Segmenting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  <c:pt idx="3">
                  <c:v>1.13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4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 Size</c:v>
                </c:pt>
              </c:strCache>
            </c:strRef>
          </c:tx>
          <c:spPr>
            <a:solidFill>
              <a:srgbClr val="C17F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Small</c:v>
                  </c:pt>
                  <c:pt idx="1">
                    <c:v>Medium</c:v>
                  </c:pt>
                  <c:pt idx="2">
                    <c:v>Large</c:v>
                  </c:pt>
                  <c:pt idx="3">
                    <c:v>Pre-training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  <c:pt idx="3">
                  <c:v>0.85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D34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wiyn6q6jv7i4/mnt/agents/output/multimedia_production/images/4_Online_Learning_Trends_Aesthetic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0"/>
                </a:srgbClr>
              </a:gs>
              <a:gs pos="35000">
                <a:srgbClr val="2D3436">
                  <a:alpha val="25000"/>
                </a:srgbClr>
              </a:gs>
              <a:gs pos="70000">
                <a:srgbClr val="2D3436">
                  <a:alpha val="80000"/>
                </a:srgbClr>
              </a:gs>
              <a:gs pos="100000">
                <a:srgbClr val="2D3436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70000" y="4064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PRINCIPLES &amp; TECHNIQUES FOR FOSTERING GENERATIVE PROCESSING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0" y="5778500"/>
            <a:ext cx="2540000" cy="254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6" name="Text 3"/>
          <p:cNvSpPr/>
          <p:nvPr/>
        </p:nvSpPr>
        <p:spPr>
          <a:xfrm>
            <a:off x="2540000" y="60325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Production — Week 7 | Lessons 13 &amp; 14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810000" y="8128000"/>
            <a:ext cx="863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6471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Richard E. Mayer's Cognitive Theory of Multimedia Learning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JOURNEY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1016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28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2311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Understanding Generative 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692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theory foundations and the three principles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3020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68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78000" y="3708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Segmenting Principle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4089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Breaking content into learner-controlled segments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508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5105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Pre-training Principle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5486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Familiarizing learners with key concepts first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0960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47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6502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Modality Principle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6883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narration with graphics for deeper learning</a:t>
            </a:r>
            <a:endParaRPr lang="en-US" sz="1600" dirty="0"/>
          </a:p>
        </p:txBody>
      </p:sp>
      <p:pic>
        <p:nvPicPr>
          <p:cNvPr id="20" name="Image 0" descr="https://kimi-img.moonshot.cn/pub/slides/okc/hwiyn6q6jv7i4/mnt/agents/output/multimedia_production/images/1_Neutral_Embroidered_Brain_in_Warm.png">    </p:cNvPr>
          <p:cNvPicPr>
            <a:picLocks noChangeAspect="1"/>
          </p:cNvPicPr>
          <p:nvPr/>
        </p:nvPicPr>
        <p:blipFill>
          <a:blip r:embed="rId1"/>
          <a:srcRect l="6452" r="6452" t="0" b="0"/>
          <a:stretch/>
        </p:blipFill>
        <p:spPr>
          <a:xfrm>
            <a:off x="8636000" y="635000"/>
            <a:ext cx="6858000" cy="7874000"/>
          </a:xfrm>
          <a:prstGeom prst="roundRect">
            <a:avLst>
              <a:gd name="adj" fmla="val 8000"/>
            </a:avLst>
          </a:prstGeom>
        </p:spPr>
      </p:pic>
      <p:sp>
        <p:nvSpPr>
          <p:cNvPr id="21" name="Shape 18"/>
          <p:cNvSpPr/>
          <p:nvPr/>
        </p:nvSpPr>
        <p:spPr>
          <a:xfrm>
            <a:off x="762000" y="85979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Generative Processing?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12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Generative processing is the cognitive effort learners expend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make sense of material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organizing, integrating, and constructing mental models.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Three Types of Cognitive 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8128000" cy="127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3048000"/>
            <a:ext cx="63500" cy="1270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330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73248" y="306958"/>
                </a:moveTo>
                <a:lnTo>
                  <a:pt x="74042" y="107752"/>
                </a:lnTo>
                <a:cubicBezTo>
                  <a:pt x="57373" y="131118"/>
                  <a:pt x="47625" y="159693"/>
                  <a:pt x="47625" y="190500"/>
                </a:cubicBezTo>
                <a:cubicBezTo>
                  <a:pt x="47625" y="269379"/>
                  <a:pt x="111621" y="333375"/>
                  <a:pt x="190500" y="333375"/>
                </a:cubicBezTo>
                <a:cubicBezTo>
                  <a:pt x="221382" y="333375"/>
                  <a:pt x="249957" y="323627"/>
                  <a:pt x="273248" y="306958"/>
                </a:cubicBezTo>
                <a:close/>
                <a:moveTo>
                  <a:pt x="306958" y="273248"/>
                </a:moveTo>
                <a:cubicBezTo>
                  <a:pt x="323627" y="249882"/>
                  <a:pt x="333375" y="221307"/>
                  <a:pt x="333375" y="190500"/>
                </a:cubicBezTo>
                <a:cubicBezTo>
                  <a:pt x="333375" y="111621"/>
                  <a:pt x="269379" y="47625"/>
                  <a:pt x="190500" y="47625"/>
                </a:cubicBezTo>
                <a:cubicBezTo>
                  <a:pt x="159618" y="47625"/>
                  <a:pt x="131043" y="57373"/>
                  <a:pt x="107752" y="74042"/>
                </a:cubicBezTo>
                <a:lnTo>
                  <a:pt x="306958" y="273248"/>
                </a:ln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323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7500" y="3619500"/>
            <a:ext cx="704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Caused by poor design — irrelevant material that wastes cognitive capacity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508500"/>
            <a:ext cx="8128000" cy="127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4508500"/>
            <a:ext cx="63500" cy="12700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13" name="Shape 11"/>
          <p:cNvSpPr/>
          <p:nvPr/>
        </p:nvSpPr>
        <p:spPr>
          <a:xfrm>
            <a:off x="993775" y="4762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469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7500" y="5080000"/>
            <a:ext cx="7048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to represent the material — understanding key concepts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969000"/>
            <a:ext cx="8128000" cy="127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969000"/>
            <a:ext cx="63500" cy="1270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025" y="6223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" y="615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Processing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87500" y="6540500"/>
            <a:ext cx="704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Deeper sense-making effort — organizing and integrating new knowledge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98000" y="1397000"/>
            <a:ext cx="6096000" cy="5842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2" name="Text 20"/>
          <p:cNvSpPr/>
          <p:nvPr/>
        </p:nvSpPr>
        <p:spPr>
          <a:xfrm>
            <a:off x="9779000" y="1651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This Lesson Focuses 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79000" y="2095500"/>
            <a:ext cx="5334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24" name="Text 22"/>
          <p:cNvSpPr/>
          <p:nvPr/>
        </p:nvSpPr>
        <p:spPr>
          <a:xfrm>
            <a:off x="9779000" y="2286000"/>
            <a:ext cx="533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principles in this lesson —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are designed to: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 essential cognitive processing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Free up working memory capacity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optimal conditions for generative processing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applying these evidence-based principles, multimedia designers can help learners construct deeper understanding rather than just receiving information.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62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Mayer, R. E. (2009). Multimedia Learning. Cambridge University Press.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462000" y="87630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Three Principles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5598160"/>
                <a:gridCol w="5892800"/>
              </a:tblGrid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Principle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 Idea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Technique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Segmenting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Break lessons into learner-paced segments rather than continuous delivery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Chunk content into 10-15 min segments with learner control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Pre-training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Teach key concepts, names, and characteristics before the main lesson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Introduce terminology and components in a preparatory module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1206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spoken narration with graphics instead of on-screen text with graphics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Voiceover explanations paired with clean visual diagrams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622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Strong Empirical Support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66294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6858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three principles fall under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"Managing Essential Processing"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Mayer's Cognitive Theory of Multimedia Learning framework. Each principle has been validated through extensive research with effect sizes ranging from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C17F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 = 0.85 to d = 1.13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indicating strong practical significance for instructional design.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825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Hartford Faculty Center for Learning Development — 12 Principles of Multimedia Learning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462000" y="87630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wiyn6q6jv7i4/mnt/agents/output/multimedia_production/images/3_Modular_structure_in_neutral_tones.png">    </p:cNvPr>
          <p:cNvPicPr>
            <a:picLocks noChangeAspect="1"/>
          </p:cNvPicPr>
          <p:nvPr/>
        </p:nvPicPr>
        <p:blipFill>
          <a:blip r:embed="rId1"/>
          <a:srcRect l="0" r="0" t="27500" b="275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91000"/>
                </a:srgbClr>
              </a:gs>
              <a:gs pos="50000">
                <a:srgbClr val="2D3436">
                  <a:alpha val="75000"/>
                </a:srgbClr>
              </a:gs>
              <a:gs pos="100000">
                <a:srgbClr val="2D3436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Segmenting Principle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016000" y="4635500"/>
            <a:ext cx="1524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889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Breaking content into learner-controlled segments for deeper understanding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the Segmenting Principle?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128000" cy="1397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13970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587500"/>
            <a:ext cx="7594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when a multimedia message is presented in </a:t>
            </a:r>
            <a:pPr>
              <a:lnSpc>
                <a:spcPct val="150000"/>
              </a:lnSpc>
            </a:pPr>
            <a:r>
              <a:rPr lang="en-US" sz="1800" b="1" i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learner-paced segments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as a continuous unit."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812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Segmenting Principle recognizes that learners need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 to process information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moving forward.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content is presented all at once, learners may experience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C17F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overload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their cognitive capacity is exceeded by the amount of processing required.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Segmenting allows learners to fully process one "chunk" of content before moving to the next, giving them control over their learning pace.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98000" y="1460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98000" y="1905000"/>
            <a:ext cx="6096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0" name="Shape 8"/>
          <p:cNvSpPr/>
          <p:nvPr/>
        </p:nvSpPr>
        <p:spPr>
          <a:xfrm>
            <a:off x="9398000" y="21590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1" name="Shape 9"/>
          <p:cNvSpPr/>
          <p:nvPr/>
        </p:nvSpPr>
        <p:spPr>
          <a:xfrm>
            <a:off x="96520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0" y="2349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memory has limited capacity — segmenting prevents overload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34925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225" y="381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27781"/>
                </a:moveTo>
                <a:cubicBezTo>
                  <a:pt x="88900" y="12432"/>
                  <a:pt x="101332" y="0"/>
                  <a:pt x="116681" y="0"/>
                </a:cubicBezTo>
                <a:cubicBezTo>
                  <a:pt x="132030" y="0"/>
                  <a:pt x="144463" y="12432"/>
                  <a:pt x="144463" y="27781"/>
                </a:cubicBezTo>
                <a:lnTo>
                  <a:pt x="144463" y="130711"/>
                </a:lnTo>
                <a:cubicBezTo>
                  <a:pt x="150366" y="125432"/>
                  <a:pt x="158145" y="122238"/>
                  <a:pt x="166688" y="122238"/>
                </a:cubicBezTo>
                <a:cubicBezTo>
                  <a:pt x="180995" y="122238"/>
                  <a:pt x="193219" y="131266"/>
                  <a:pt x="197941" y="143907"/>
                </a:cubicBezTo>
                <a:cubicBezTo>
                  <a:pt x="204053" y="137448"/>
                  <a:pt x="212665" y="133350"/>
                  <a:pt x="222250" y="133350"/>
                </a:cubicBezTo>
                <a:cubicBezTo>
                  <a:pt x="239822" y="133350"/>
                  <a:pt x="254198" y="146893"/>
                  <a:pt x="255518" y="164118"/>
                </a:cubicBezTo>
                <a:cubicBezTo>
                  <a:pt x="261422" y="158770"/>
                  <a:pt x="269270" y="155575"/>
                  <a:pt x="277813" y="155575"/>
                </a:cubicBezTo>
                <a:cubicBezTo>
                  <a:pt x="296218" y="155575"/>
                  <a:pt x="311150" y="170507"/>
                  <a:pt x="311150" y="188913"/>
                </a:cubicBezTo>
                <a:lnTo>
                  <a:pt x="311150" y="266700"/>
                </a:lnTo>
                <a:cubicBezTo>
                  <a:pt x="311150" y="315803"/>
                  <a:pt x="271353" y="355600"/>
                  <a:pt x="222250" y="355600"/>
                </a:cubicBezTo>
                <a:lnTo>
                  <a:pt x="163006" y="355600"/>
                </a:lnTo>
                <a:cubicBezTo>
                  <a:pt x="159534" y="355600"/>
                  <a:pt x="156131" y="355392"/>
                  <a:pt x="152797" y="354905"/>
                </a:cubicBezTo>
                <a:cubicBezTo>
                  <a:pt x="114389" y="351016"/>
                  <a:pt x="79038" y="331291"/>
                  <a:pt x="55563" y="300038"/>
                </a:cubicBezTo>
                <a:lnTo>
                  <a:pt x="5556" y="233363"/>
                </a:lnTo>
                <a:cubicBezTo>
                  <a:pt x="-3681" y="221069"/>
                  <a:pt x="-1181" y="203706"/>
                  <a:pt x="11112" y="194469"/>
                </a:cubicBezTo>
                <a:cubicBezTo>
                  <a:pt x="23406" y="185231"/>
                  <a:pt x="40769" y="187732"/>
                  <a:pt x="50006" y="200025"/>
                </a:cubicBezTo>
                <a:lnTo>
                  <a:pt x="88900" y="251906"/>
                </a:lnTo>
                <a:lnTo>
                  <a:pt x="88900" y="27781"/>
                </a:lnTo>
                <a:close/>
                <a:moveTo>
                  <a:pt x="166688" y="211138"/>
                </a:moveTo>
                <a:cubicBezTo>
                  <a:pt x="166688" y="205026"/>
                  <a:pt x="161687" y="200025"/>
                  <a:pt x="155575" y="200025"/>
                </a:cubicBezTo>
                <a:cubicBezTo>
                  <a:pt x="149463" y="200025"/>
                  <a:pt x="144463" y="205026"/>
                  <a:pt x="144463" y="211138"/>
                </a:cubicBezTo>
                <a:lnTo>
                  <a:pt x="144463" y="277813"/>
                </a:lnTo>
                <a:cubicBezTo>
                  <a:pt x="144463" y="283924"/>
                  <a:pt x="149463" y="288925"/>
                  <a:pt x="155575" y="288925"/>
                </a:cubicBezTo>
                <a:cubicBezTo>
                  <a:pt x="161687" y="288925"/>
                  <a:pt x="166688" y="283924"/>
                  <a:pt x="166688" y="277813"/>
                </a:cubicBezTo>
                <a:lnTo>
                  <a:pt x="166688" y="211138"/>
                </a:lnTo>
                <a:close/>
                <a:moveTo>
                  <a:pt x="200025" y="200025"/>
                </a:moveTo>
                <a:cubicBezTo>
                  <a:pt x="193913" y="200025"/>
                  <a:pt x="188913" y="205026"/>
                  <a:pt x="188913" y="211138"/>
                </a:cubicBezTo>
                <a:lnTo>
                  <a:pt x="188913" y="277813"/>
                </a:lnTo>
                <a:cubicBezTo>
                  <a:pt x="188913" y="283924"/>
                  <a:pt x="193913" y="288925"/>
                  <a:pt x="200025" y="288925"/>
                </a:cubicBezTo>
                <a:cubicBezTo>
                  <a:pt x="206137" y="288925"/>
                  <a:pt x="211138" y="283924"/>
                  <a:pt x="211138" y="277813"/>
                </a:cubicBezTo>
                <a:lnTo>
                  <a:pt x="211138" y="211138"/>
                </a:lnTo>
                <a:cubicBezTo>
                  <a:pt x="211138" y="205026"/>
                  <a:pt x="206137" y="200025"/>
                  <a:pt x="200025" y="200025"/>
                </a:cubicBezTo>
                <a:close/>
                <a:moveTo>
                  <a:pt x="255587" y="211138"/>
                </a:moveTo>
                <a:cubicBezTo>
                  <a:pt x="255587" y="205026"/>
                  <a:pt x="250587" y="200025"/>
                  <a:pt x="244475" y="200025"/>
                </a:cubicBezTo>
                <a:cubicBezTo>
                  <a:pt x="238363" y="200025"/>
                  <a:pt x="233363" y="205026"/>
                  <a:pt x="233363" y="211138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cubicBezTo>
                  <a:pt x="250587" y="288925"/>
                  <a:pt x="255587" y="283924"/>
                  <a:pt x="255587" y="277813"/>
                </a:cubicBezTo>
                <a:lnTo>
                  <a:pt x="255587" y="211138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0" y="3683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 control over pace improves engagement and comprehension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98000" y="48260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2000" y="514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0" y="5016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segment focuses on one concept for deeper processing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98000" y="61595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52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0" y="6350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effect size of d = 1.13 across 8 research studies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 PRINCIPLE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Theory Behind Segmenting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Based 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Load Theory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working memory has limited capacity. When learners view a fast-paced continuous lesson, they face a dual cognitive demand: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6858000" cy="2159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251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Build Component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the behavior, location, and name of each individual part in the system. Learners must identify and label components.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2349500"/>
            <a:ext cx="7366000" cy="2159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80500" y="251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Build a Causal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3048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the cause-and-effect chain — how a change in one part affects another. This requires seeing relationships between components.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0" y="4699000"/>
            <a:ext cx="1016000" cy="508000"/>
          </a:xfrm>
          <a:prstGeom prst="straightConnector1">
            <a:avLst/>
          </a:prstGeom>
          <a:noFill/>
          <a:ln w="25400">
            <a:solidFill>
              <a:srgbClr val="C17F3E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62000" y="5397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74C3C">
              <a:alpha val="823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1651000" y="5524500"/>
            <a:ext cx="134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continuous lesson, learners must build BOTH simultaneously — this dual demand can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overload working memory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667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7AE60">
              <a:alpha val="8235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692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6731000"/>
            <a:ext cx="1346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Segmenting distributes these demands across time — learners process components in one segment before seeing how they connect.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79375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Mayer, R. E. Multimedia Learning. Cambridge University Press.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 PRINCIPLE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Segmenting in Practice — Key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222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416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lengthy material into concise, digestible segments of 10-15 minutes each. Each chunk should focus on one main concept or skill.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24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9" name="Text 7"/>
          <p:cNvSpPr/>
          <p:nvPr/>
        </p:nvSpPr>
        <p:spPr>
          <a:xfrm>
            <a:off x="5969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69000" y="2222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 Control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6416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users to set their own pace with next/previous buttons and speed controls. Let learners decide when they're ready to move 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524000"/>
            <a:ext cx="4826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22000" y="22225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Indicators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6416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learners where they are in the overall structure. Visual progress bars or section markers help learners track their journey.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207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71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Pause Points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1341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in natural stopping points for reflection. Ask a question or prompt learners to think before continuing to the next segment.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50165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0" y="5207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9000" y="571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Microlearning Modules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61341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segment becomes a self-contained microlearning module. Learners can complete one module per session without overwhelm.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5016500"/>
            <a:ext cx="4826000" cy="3175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25188" y="5334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5842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6286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benefit comes from both the physical break AND the learner's sense of control over their learning experience.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 PRINCIPLE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Segmenting — Before vs.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 Teaching photosynthesis using a multimedia lesson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7048500" cy="4826000"/>
          </a:xfrm>
          <a:prstGeom prst="roundRect">
            <a:avLst>
              <a:gd name="adj" fmla="val 8000"/>
            </a:avLst>
          </a:prstGeom>
          <a:solidFill>
            <a:srgbClr val="E74C3C">
              <a:alpha val="6275"/>
            </a:srgbClr>
          </a:solidFill>
          <a:ln w="12700">
            <a:solidFill>
              <a:srgbClr val="E74C3C">
                <a:alpha val="18824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1590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5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6540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Continuous 45-Minute Video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238500"/>
            <a:ext cx="6540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uninterrupted video explaining photosynthesis from start to finish: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Learners must track all stages simultaneously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control over pacing — content moves forward regardless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Working memory overloaded by simultaneous demands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Difficult to review specific sections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500" y="1968500"/>
            <a:ext cx="7302500" cy="4826000"/>
          </a:xfrm>
          <a:prstGeom prst="roundRect">
            <a:avLst>
              <a:gd name="adj" fmla="val 8000"/>
            </a:avLst>
          </a:prstGeom>
          <a:solidFill>
            <a:srgbClr val="27AE60">
              <a:alpha val="6275"/>
            </a:srgbClr>
          </a:solidFill>
          <a:ln w="12700">
            <a:solidFill>
              <a:srgbClr val="27AE60">
                <a:alpha val="18824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5500" y="21590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215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45500" y="2730500"/>
            <a:ext cx="679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 Segmented Modules (8-10 min each)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3238500"/>
            <a:ext cx="6794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Breaking photosynthesis into learner-paced segments: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Module 1: Light absorption overview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Module 2: Chloroplast structure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Module 3: Light-dependent reactions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Module 4: Calvin cycle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Module 5: Summary &amp; integration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7112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730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71120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Learners master each stage individually before seeing the complete process — leading to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deeper understanding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better problem-solving transfer.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 PRINCIPLE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Evidence for Segmenting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 /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73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tests showing better transfer with segmented content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8" name="Text 6"/>
          <p:cNvSpPr/>
          <p:nvPr/>
        </p:nvSpPr>
        <p:spPr>
          <a:xfrm>
            <a:off x="5969000" y="1714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 = 1.13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73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effect size — a strong practical impact on learning outcomes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0" y="1524000"/>
            <a:ext cx="4826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0" y="1714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Effect Size Interpretation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10922000" y="2095500"/>
          <a:ext cx="4318000" cy="177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444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Research Findings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48514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5" name="Shape 12"/>
          <p:cNvSpPr/>
          <p:nvPr/>
        </p:nvSpPr>
        <p:spPr>
          <a:xfrm>
            <a:off x="1035050" y="5143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1460500" y="5016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with pace control outperformed those with continuous presentation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35050" y="596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1460500" y="590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effect is strongest for complex, multi-step processes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55050" y="5143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0" name="Text 17"/>
          <p:cNvSpPr/>
          <p:nvPr/>
        </p:nvSpPr>
        <p:spPr>
          <a:xfrm>
            <a:off x="9080500" y="5016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benefit comes from both the physical break AND learner control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655050" y="596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9080500" y="5905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results across different domains and learner populations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698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Hartford Faculty Center for Learning Development — 12 Principles of Multimedia Learning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 PRINCIPLE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Applying the Segmenting Principle —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048500" cy="6731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77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79500" y="21844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7" name="Shape 5"/>
          <p:cNvSpPr/>
          <p:nvPr/>
        </p:nvSpPr>
        <p:spPr>
          <a:xfrm>
            <a:off x="1160463" y="2476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2349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broken the lesson into logical, self-contained segments?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60463" y="330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0" name="Text 8"/>
          <p:cNvSpPr/>
          <p:nvPr/>
        </p:nvSpPr>
        <p:spPr>
          <a:xfrm>
            <a:off x="1549400" y="32385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each segment focus on one main concept or step?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0463" y="4127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2" name="Text 10"/>
          <p:cNvSpPr/>
          <p:nvPr/>
        </p:nvSpPr>
        <p:spPr>
          <a:xfrm>
            <a:off x="1549400" y="4000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segments short enough to process in one sitting (under 15 min)?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04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49400" y="48895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there a clear structure showing how segments connect?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91500" y="1524000"/>
            <a:ext cx="7302500" cy="6731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177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Learner Experience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9000" y="2184400"/>
            <a:ext cx="66675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589963" y="2476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9" name="Text 17"/>
          <p:cNvSpPr/>
          <p:nvPr/>
        </p:nvSpPr>
        <p:spPr>
          <a:xfrm>
            <a:off x="8978900" y="2413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learners control when to move to the next segment?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89963" y="330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1" name="Text 19"/>
          <p:cNvSpPr/>
          <p:nvPr/>
        </p:nvSpPr>
        <p:spPr>
          <a:xfrm>
            <a:off x="8978900" y="31750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included brief summaries at the end of each segment?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89963" y="4127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3" name="Text 21"/>
          <p:cNvSpPr/>
          <p:nvPr/>
        </p:nvSpPr>
        <p:spPr>
          <a:xfrm>
            <a:off x="8978900" y="4064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there opportunities for practice between segments?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899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5" name="Text 23"/>
          <p:cNvSpPr/>
          <p:nvPr/>
        </p:nvSpPr>
        <p:spPr>
          <a:xfrm>
            <a:off x="8978900" y="4889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pause points allow for reflection and processing?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SEGMENTING PRINCIPLE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wiyn6q6jv7i4/mnt/agents/output/multimedia_production/images/1_36_968_Building_Block_Foundation.png">    </p:cNvPr>
          <p:cNvPicPr>
            <a:picLocks noChangeAspect="1"/>
          </p:cNvPicPr>
          <p:nvPr/>
        </p:nvPicPr>
        <p:blipFill>
          <a:blip r:embed="rId1"/>
          <a:srcRect l="0" r="0" t="6508" b="650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91000"/>
                </a:srgbClr>
              </a:gs>
              <a:gs pos="50000">
                <a:srgbClr val="2D3436">
                  <a:alpha val="75000"/>
                </a:srgbClr>
              </a:gs>
              <a:gs pos="100000">
                <a:srgbClr val="2D3436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Pre-training Principle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016000" y="4635500"/>
            <a:ext cx="1524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889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Familiarizing learners with key concepts before the main lesson begins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the Pre-training Principle?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128000" cy="1397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13970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587500"/>
            <a:ext cx="7594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from a multimedia message when they have learned the </a:t>
            </a:r>
            <a:pPr>
              <a:lnSpc>
                <a:spcPct val="150000"/>
              </a:lnSpc>
            </a:pPr>
            <a:r>
              <a:rPr lang="en-US" sz="1800" b="1" i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 and characteristics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main concepts."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812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Pre-training provides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foundational knowledge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learners encounter complex material.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activates prior knowledge and primes learners to better understand and retain new information.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pre-training, learners must simultaneously learn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C17F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 names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understand how components interact — a dual demand that overwhelms working memory.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98000" y="1460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Benefits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98000" y="1905000"/>
            <a:ext cx="6096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0" name="Shape 8"/>
          <p:cNvSpPr/>
          <p:nvPr/>
        </p:nvSpPr>
        <p:spPr>
          <a:xfrm>
            <a:off x="9398000" y="21590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1" name="Shape 9"/>
          <p:cNvSpPr/>
          <p:nvPr/>
        </p:nvSpPr>
        <p:spPr>
          <a:xfrm>
            <a:off x="96520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0" y="2349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prior knowledge so new information connects to existing schema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34925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2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0" y="3683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cognitive load during the main lesson by pre-teaching terminology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98000" y="48260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2000" y="514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0" y="5016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learners to focus on understanding relationships, not just labels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98000" y="61595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52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0" y="6350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effect size of d = 0.85 across 3 research studies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Theory Behind Pre-training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Mayer's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two-stage theory of mental model construction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explains why pre-training works: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6858000" cy="2159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349500"/>
            <a:ext cx="63500" cy="21590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4500" y="2514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Build Component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each part's behavior, location, and name. Learn what each component is and what it does independently.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47000" y="3111500"/>
            <a:ext cx="508000" cy="0"/>
          </a:xfrm>
          <a:prstGeom prst="straightConnector1">
            <a:avLst/>
          </a:prstGeom>
          <a:noFill/>
          <a:ln w="25400">
            <a:solidFill>
              <a:srgbClr val="C17F3E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382000" y="23495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2349500"/>
            <a:ext cx="63500" cy="2159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27AE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34500" y="2514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Build a Causal 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3048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the cause-and-effect chain — how changes in one part affect others. This is where deep learning happens.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889500"/>
            <a:ext cx="7048500" cy="1651000"/>
          </a:xfrm>
          <a:prstGeom prst="roundRect">
            <a:avLst>
              <a:gd name="adj" fmla="val 6000"/>
            </a:avLst>
          </a:prstGeom>
          <a:solidFill>
            <a:srgbClr val="E74C3C">
              <a:alpha val="6275"/>
            </a:srgbClr>
          </a:solidFill>
          <a:ln w="12700">
            <a:solidFill>
              <a:srgbClr val="E74C3C">
                <a:alpha val="18824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3950" y="514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1587500" y="508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74C3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Without Pre-training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55880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must build BOTH stages simultaneously during the main lesson — overloading working memory.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91500" y="4889500"/>
            <a:ext cx="7302500" cy="1651000"/>
          </a:xfrm>
          <a:prstGeom prst="roundRect">
            <a:avLst>
              <a:gd name="adj" fmla="val 6000"/>
            </a:avLst>
          </a:prstGeom>
          <a:solidFill>
            <a:srgbClr val="27AE60">
              <a:alpha val="6275"/>
            </a:srgbClr>
          </a:solidFill>
          <a:ln w="12700">
            <a:solidFill>
              <a:srgbClr val="27AE60">
                <a:alpha val="18824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1225" y="5143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01982" y="48687"/>
                </a:moveTo>
                <a:cubicBezTo>
                  <a:pt x="311914" y="55910"/>
                  <a:pt x="314136" y="69800"/>
                  <a:pt x="306913" y="79732"/>
                </a:cubicBezTo>
                <a:lnTo>
                  <a:pt x="129113" y="324207"/>
                </a:lnTo>
                <a:cubicBezTo>
                  <a:pt x="125293" y="329486"/>
                  <a:pt x="119390" y="332750"/>
                  <a:pt x="112861" y="333306"/>
                </a:cubicBezTo>
                <a:cubicBezTo>
                  <a:pt x="106333" y="333861"/>
                  <a:pt x="100013" y="331430"/>
                  <a:pt x="95429" y="326846"/>
                </a:cubicBezTo>
                <a:lnTo>
                  <a:pt x="6529" y="237946"/>
                </a:lnTo>
                <a:cubicBezTo>
                  <a:pt x="-2153" y="229265"/>
                  <a:pt x="-2153" y="215166"/>
                  <a:pt x="6529" y="206484"/>
                </a:cubicBezTo>
                <a:cubicBezTo>
                  <a:pt x="15210" y="197803"/>
                  <a:pt x="29309" y="197803"/>
                  <a:pt x="37991" y="206484"/>
                </a:cubicBezTo>
                <a:lnTo>
                  <a:pt x="108486" y="276979"/>
                </a:lnTo>
                <a:lnTo>
                  <a:pt x="271006" y="53548"/>
                </a:lnTo>
                <a:cubicBezTo>
                  <a:pt x="278229" y="43617"/>
                  <a:pt x="292120" y="41394"/>
                  <a:pt x="302052" y="48617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9017000" y="508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7AE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 Pre-training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9000" y="55880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1 happens BEFORE the lesson. During the lesson, learners focus entirely on Stage 2 — building causal understanding.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6921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Pre-trained learners devote their full attention to understanding relationships between components, leading to significantly deeper learning and better problem-solving transfer.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001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Mayer, R. E. Multimedia Learning. Cambridge University Press.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Pre-training in Practice — Key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222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416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key terms, definitions, and names before the main content. A brief glossary at the start primes learners for what's ahead.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24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9" name="Text 7"/>
          <p:cNvSpPr/>
          <p:nvPr/>
        </p:nvSpPr>
        <p:spPr>
          <a:xfrm>
            <a:off x="5969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69000" y="2222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Familiarization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6416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each part individually with its name and characteristics before showing the whole system in 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524000"/>
            <a:ext cx="4826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22000" y="22225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Preparatory Handouts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6416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cheat sheets, glossaries, or reference guides learners can review before the lesson begins.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207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71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Prerequisite Modules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1341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separate introductory module for fundamentals. Learners complete it before accessing the main content.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50165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0" y="5207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9000" y="571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Familiarization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61341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learners know how to use required tools (e.g., Excel, software) before asking them to complete tasks.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5016500"/>
            <a:ext cx="4826000" cy="3175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25188" y="5334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5842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6286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doesn't mean teaching everything upfront — only the essential names and characteristics learners need to understand the main lesson.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Pre-training — Before vs.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 Teaching how a car's braking system works using a narrated animation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7048500" cy="4826000"/>
          </a:xfrm>
          <a:prstGeom prst="roundRect">
            <a:avLst>
              <a:gd name="adj" fmla="val 8000"/>
            </a:avLst>
          </a:prstGeom>
          <a:solidFill>
            <a:srgbClr val="E74C3C">
              <a:alpha val="6275"/>
            </a:srgbClr>
          </a:solidFill>
          <a:ln w="12700">
            <a:solidFill>
              <a:srgbClr val="E74C3C">
                <a:alpha val="18824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1590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5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6540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No Pre-training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238500"/>
            <a:ext cx="6540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watch the full animation showing all parts in motion: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learn part names while watching them move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understand interactions while still identifying components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Working memory split between labeling and relating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Misses causal relationships due to cognitive overload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500" y="1968500"/>
            <a:ext cx="7302500" cy="4826000"/>
          </a:xfrm>
          <a:prstGeom prst="roundRect">
            <a:avLst>
              <a:gd name="adj" fmla="val 8000"/>
            </a:avLst>
          </a:prstGeom>
          <a:solidFill>
            <a:srgbClr val="27AE60">
              <a:alpha val="6275"/>
            </a:srgbClr>
          </a:solidFill>
          <a:ln w="12700">
            <a:solidFill>
              <a:srgbClr val="27AE60">
                <a:alpha val="18824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5500" y="21590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215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45500" y="2730500"/>
            <a:ext cx="679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 Pre-training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3238500"/>
            <a:ext cx="6794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First, learners see each component introduced: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Piston in the master cylinder — name, location, states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Brake tube — name, location, states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Wheel cylinders — name, location, states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 they watch the full animation, already knowing each part, and can focus entirely on how the system works.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7112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730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71120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Pre-trained learners scored significantly higher on problem-solving transfer tests — they understood not just </a:t>
            </a:r>
            <a:pPr>
              <a:lnSpc>
                <a:spcPct val="14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happens, but </a:t>
            </a:r>
            <a:pPr>
              <a:lnSpc>
                <a:spcPct val="14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happens.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Evidence for Pre-training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 /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73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tests showing better transfer with pre-training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8" name="Text 6"/>
          <p:cNvSpPr/>
          <p:nvPr/>
        </p:nvSpPr>
        <p:spPr>
          <a:xfrm>
            <a:off x="5969000" y="1714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 = 0.85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73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effect size — a strong practical impact on learning outcomes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0" y="1524000"/>
            <a:ext cx="4826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0" y="1714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Effect Size Comparison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10922000" y="2095500"/>
          <a:ext cx="4318000" cy="177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444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When Pre-training is Most Effective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48514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51435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38225" y="539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7" name="Text 14"/>
          <p:cNvSpPr/>
          <p:nvPr/>
        </p:nvSpPr>
        <p:spPr>
          <a:xfrm>
            <a:off x="1524000" y="53721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Unfamiliar Terms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16000" y="5842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 contains many technical terms learners haven't seen before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715000" y="51435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0" name="Shape 17"/>
          <p:cNvSpPr/>
          <p:nvPr/>
        </p:nvSpPr>
        <p:spPr>
          <a:xfrm>
            <a:off x="5969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1" name="Text 18"/>
          <p:cNvSpPr/>
          <p:nvPr/>
        </p:nvSpPr>
        <p:spPr>
          <a:xfrm>
            <a:off x="6477000" y="53721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Components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969000" y="5842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has many interacting parts that must be understood together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668000" y="51435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4" name="Shape 21"/>
          <p:cNvSpPr/>
          <p:nvPr/>
        </p:nvSpPr>
        <p:spPr>
          <a:xfrm>
            <a:off x="10944225" y="539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67590" y="-9029"/>
                </a:moveTo>
                <a:cubicBezTo>
                  <a:pt x="159673" y="-10626"/>
                  <a:pt x="151547" y="-10626"/>
                  <a:pt x="143629" y="-9029"/>
                </a:cubicBezTo>
                <a:lnTo>
                  <a:pt x="13404" y="17016"/>
                </a:lnTo>
                <a:cubicBezTo>
                  <a:pt x="5626" y="18544"/>
                  <a:pt x="0" y="25420"/>
                  <a:pt x="0" y="33337"/>
                </a:cubicBezTo>
                <a:cubicBezTo>
                  <a:pt x="0" y="40491"/>
                  <a:pt x="4514" y="46742"/>
                  <a:pt x="11112" y="49034"/>
                </a:cubicBezTo>
                <a:lnTo>
                  <a:pt x="11112" y="100013"/>
                </a:lnTo>
                <a:lnTo>
                  <a:pt x="208" y="154603"/>
                </a:lnTo>
                <a:cubicBezTo>
                  <a:pt x="69" y="155228"/>
                  <a:pt x="0" y="155922"/>
                  <a:pt x="0" y="156617"/>
                </a:cubicBezTo>
                <a:cubicBezTo>
                  <a:pt x="0" y="162173"/>
                  <a:pt x="4514" y="166757"/>
                  <a:pt x="10140" y="166757"/>
                </a:cubicBezTo>
                <a:lnTo>
                  <a:pt x="34379" y="166757"/>
                </a:lnTo>
                <a:cubicBezTo>
                  <a:pt x="39936" y="166757"/>
                  <a:pt x="44519" y="162243"/>
                  <a:pt x="44519" y="156617"/>
                </a:cubicBezTo>
                <a:cubicBezTo>
                  <a:pt x="44519" y="155922"/>
                  <a:pt x="44450" y="155297"/>
                  <a:pt x="44311" y="154603"/>
                </a:cubicBezTo>
                <a:lnTo>
                  <a:pt x="33337" y="100013"/>
                </a:lnTo>
                <a:lnTo>
                  <a:pt x="33337" y="53687"/>
                </a:lnTo>
                <a:lnTo>
                  <a:pt x="66675" y="60355"/>
                </a:lnTo>
                <a:lnTo>
                  <a:pt x="66675" y="100013"/>
                </a:lnTo>
                <a:cubicBezTo>
                  <a:pt x="66675" y="149116"/>
                  <a:pt x="106472" y="188913"/>
                  <a:pt x="155575" y="188913"/>
                </a:cubicBezTo>
                <a:cubicBezTo>
                  <a:pt x="204678" y="188913"/>
                  <a:pt x="244475" y="149116"/>
                  <a:pt x="244475" y="100013"/>
                </a:cubicBezTo>
                <a:lnTo>
                  <a:pt x="244475" y="60355"/>
                </a:lnTo>
                <a:lnTo>
                  <a:pt x="297746" y="49728"/>
                </a:lnTo>
                <a:cubicBezTo>
                  <a:pt x="305524" y="48131"/>
                  <a:pt x="311150" y="41255"/>
                  <a:pt x="311150" y="33337"/>
                </a:cubicBezTo>
                <a:cubicBezTo>
                  <a:pt x="311150" y="25420"/>
                  <a:pt x="305524" y="18544"/>
                  <a:pt x="297746" y="17016"/>
                </a:cubicBezTo>
                <a:lnTo>
                  <a:pt x="167590" y="-9029"/>
                </a:lnTo>
                <a:close/>
                <a:moveTo>
                  <a:pt x="155575" y="155575"/>
                </a:moveTo>
                <a:cubicBezTo>
                  <a:pt x="124877" y="155575"/>
                  <a:pt x="100013" y="130711"/>
                  <a:pt x="100013" y="100013"/>
                </a:cubicBezTo>
                <a:lnTo>
                  <a:pt x="211138" y="100013"/>
                </a:lnTo>
                <a:cubicBezTo>
                  <a:pt x="211138" y="130711"/>
                  <a:pt x="186273" y="155575"/>
                  <a:pt x="155575" y="155575"/>
                </a:cubicBezTo>
                <a:close/>
                <a:moveTo>
                  <a:pt x="83413" y="222319"/>
                </a:moveTo>
                <a:cubicBezTo>
                  <a:pt x="40769" y="241905"/>
                  <a:pt x="11112" y="284966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138906" y="355600"/>
                </a:lnTo>
                <a:lnTo>
                  <a:pt x="138906" y="254198"/>
                </a:lnTo>
                <a:lnTo>
                  <a:pt x="99040" y="224334"/>
                </a:lnTo>
                <a:cubicBezTo>
                  <a:pt x="94526" y="220930"/>
                  <a:pt x="88483" y="220028"/>
                  <a:pt x="83344" y="222389"/>
                </a:cubicBezTo>
                <a:close/>
                <a:moveTo>
                  <a:pt x="172244" y="355600"/>
                </a:move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84966"/>
                  <a:pt x="270381" y="241905"/>
                  <a:pt x="227737" y="222389"/>
                </a:cubicBezTo>
                <a:cubicBezTo>
                  <a:pt x="222597" y="220028"/>
                  <a:pt x="216555" y="220930"/>
                  <a:pt x="212040" y="224334"/>
                </a:cubicBezTo>
                <a:lnTo>
                  <a:pt x="172174" y="254198"/>
                </a:lnTo>
                <a:lnTo>
                  <a:pt x="172174" y="355600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5" name="Text 22"/>
          <p:cNvSpPr/>
          <p:nvPr/>
        </p:nvSpPr>
        <p:spPr>
          <a:xfrm>
            <a:off x="11430000" y="5372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Novice Learners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922000" y="5842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Learners are new to the subject and lack relevant prior knowledge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6985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Hartford Faculty Center for Learning Development — 12 Principles of Multimedia Learning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Applying the Pre-training Principle —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048500" cy="6731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77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 Preparation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79500" y="21844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7" name="Shape 5"/>
          <p:cNvSpPr/>
          <p:nvPr/>
        </p:nvSpPr>
        <p:spPr>
          <a:xfrm>
            <a:off x="1160463" y="2476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2349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identified all key concepts, terms, and components?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60463" y="330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0" name="Text 8"/>
          <p:cNvSpPr/>
          <p:nvPr/>
        </p:nvSpPr>
        <p:spPr>
          <a:xfrm>
            <a:off x="1549400" y="31750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there a brief introduction explaining concepts before the lesson?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0463" y="4127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2" name="Text 10"/>
          <p:cNvSpPr/>
          <p:nvPr/>
        </p:nvSpPr>
        <p:spPr>
          <a:xfrm>
            <a:off x="1549400" y="4000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provided a glossary, cheat sheet, or reference handout?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04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49400" y="48260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components presented separately from how they interact?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91500" y="1524000"/>
            <a:ext cx="7302500" cy="6731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177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Learner Readiness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9000" y="2184400"/>
            <a:ext cx="66675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589963" y="2476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9" name="Text 17"/>
          <p:cNvSpPr/>
          <p:nvPr/>
        </p:nvSpPr>
        <p:spPr>
          <a:xfrm>
            <a:off x="8978900" y="2413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learners know how to use any tools required for the lesson?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89963" y="330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1" name="Text 19"/>
          <p:cNvSpPr/>
          <p:nvPr/>
        </p:nvSpPr>
        <p:spPr>
          <a:xfrm>
            <a:off x="8978900" y="3238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assessed learners' prerequisite knowledge?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89963" y="4127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3" name="Text 21"/>
          <p:cNvSpPr/>
          <p:nvPr/>
        </p:nvSpPr>
        <p:spPr>
          <a:xfrm>
            <a:off x="8978900" y="40640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pre-training concise and focused on essentials only?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899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5" name="Text 23"/>
          <p:cNvSpPr/>
          <p:nvPr/>
        </p:nvSpPr>
        <p:spPr>
          <a:xfrm>
            <a:off x="8978900" y="48895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the pre-training connect clearly to the main lesson?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PRE-TRAINING PRINCIPLE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wiyn6q6jv7i4/mnt/agents/output/multimedia_production/images/10_Male_student_wearing_headphones_taking.png">    </p:cNvPr>
          <p:cNvPicPr>
            <a:picLocks noChangeAspect="1"/>
          </p:cNvPicPr>
          <p:nvPr/>
        </p:nvPicPr>
        <p:blipFill>
          <a:blip r:embed="rId1"/>
          <a:srcRect l="0" r="0" t="7834" b="783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91000"/>
                </a:srgbClr>
              </a:gs>
              <a:gs pos="50000">
                <a:srgbClr val="2D3436">
                  <a:alpha val="75000"/>
                </a:srgbClr>
              </a:gs>
              <a:gs pos="100000">
                <a:srgbClr val="2D3436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Modality Principle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016000" y="4635500"/>
            <a:ext cx="1524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889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narration with graphics for more effective learning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the Modality Principle?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128000" cy="1397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13970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1587500"/>
            <a:ext cx="7594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"People learn more deeply from a multimedia message when the words are </a:t>
            </a:r>
            <a:pPr>
              <a:lnSpc>
                <a:spcPct val="150000"/>
              </a:lnSpc>
            </a:pPr>
            <a:r>
              <a:rPr lang="en-US" sz="1800" b="1" i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spoken rather than printed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812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Graphics + spoken narration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more effective than graphics + on-screen text.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principle leverages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C17F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dual-channel processing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the visual channel processes graphics while the verbal channel processes spoken words.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both text and graphics are visual, they compete for the same limited visual attention resource — causing cognitive overload.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98000" y="1460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98000" y="1905000"/>
            <a:ext cx="6096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0" name="Shape 8"/>
          <p:cNvSpPr/>
          <p:nvPr/>
        </p:nvSpPr>
        <p:spPr>
          <a:xfrm>
            <a:off x="9398000" y="21590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1" name="Shape 9"/>
          <p:cNvSpPr/>
          <p:nvPr/>
        </p:nvSpPr>
        <p:spPr>
          <a:xfrm>
            <a:off x="9629775" y="247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0" y="2349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channel processes the diagram or animation without distraction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34925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2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3644" y="208"/>
                </a:moveTo>
                <a:cubicBezTo>
                  <a:pt x="257463" y="1042"/>
                  <a:pt x="251698" y="4514"/>
                  <a:pt x="248087" y="10001"/>
                </a:cubicBezTo>
                <a:cubicBezTo>
                  <a:pt x="243364" y="17224"/>
                  <a:pt x="243225" y="26739"/>
                  <a:pt x="247809" y="34032"/>
                </a:cubicBezTo>
                <a:cubicBezTo>
                  <a:pt x="251698" y="40213"/>
                  <a:pt x="258574" y="42853"/>
                  <a:pt x="264339" y="46881"/>
                </a:cubicBezTo>
                <a:cubicBezTo>
                  <a:pt x="269548" y="50492"/>
                  <a:pt x="276562" y="56049"/>
                  <a:pt x="283577" y="63689"/>
                </a:cubicBezTo>
                <a:cubicBezTo>
                  <a:pt x="297468" y="78760"/>
                  <a:pt x="311011" y="101402"/>
                  <a:pt x="311011" y="133350"/>
                </a:cubicBezTo>
                <a:cubicBezTo>
                  <a:pt x="311011" y="145643"/>
                  <a:pt x="320943" y="155575"/>
                  <a:pt x="333236" y="155575"/>
                </a:cubicBezTo>
                <a:cubicBezTo>
                  <a:pt x="345529" y="155575"/>
                  <a:pt x="355461" y="145643"/>
                  <a:pt x="355461" y="133350"/>
                </a:cubicBezTo>
                <a:cubicBezTo>
                  <a:pt x="355461" y="87511"/>
                  <a:pt x="335667" y="54590"/>
                  <a:pt x="316220" y="33546"/>
                </a:cubicBezTo>
                <a:cubicBezTo>
                  <a:pt x="306566" y="23058"/>
                  <a:pt x="296912" y="15419"/>
                  <a:pt x="289620" y="10418"/>
                </a:cubicBezTo>
                <a:cubicBezTo>
                  <a:pt x="281980" y="5140"/>
                  <a:pt x="273298" y="-1111"/>
                  <a:pt x="263505" y="208"/>
                </a:cubicBezTo>
                <a:close/>
                <a:moveTo>
                  <a:pt x="166688" y="88900"/>
                </a:moveTo>
                <a:cubicBezTo>
                  <a:pt x="126683" y="88900"/>
                  <a:pt x="93692" y="119182"/>
                  <a:pt x="89386" y="158006"/>
                </a:cubicBezTo>
                <a:cubicBezTo>
                  <a:pt x="88067" y="170230"/>
                  <a:pt x="77024" y="178981"/>
                  <a:pt x="64869" y="177661"/>
                </a:cubicBezTo>
                <a:cubicBezTo>
                  <a:pt x="52715" y="176341"/>
                  <a:pt x="43894" y="165298"/>
                  <a:pt x="45214" y="153144"/>
                </a:cubicBezTo>
                <a:cubicBezTo>
                  <a:pt x="51951" y="92025"/>
                  <a:pt x="103763" y="44450"/>
                  <a:pt x="166688" y="44450"/>
                </a:cubicBezTo>
                <a:cubicBezTo>
                  <a:pt x="234196" y="44450"/>
                  <a:pt x="288925" y="99179"/>
                  <a:pt x="288925" y="166688"/>
                </a:cubicBezTo>
                <a:cubicBezTo>
                  <a:pt x="288925" y="198636"/>
                  <a:pt x="276632" y="227737"/>
                  <a:pt x="256560" y="249545"/>
                </a:cubicBezTo>
                <a:cubicBezTo>
                  <a:pt x="248225" y="258574"/>
                  <a:pt x="244475" y="266769"/>
                  <a:pt x="244475" y="273645"/>
                </a:cubicBezTo>
                <a:lnTo>
                  <a:pt x="244475" y="277882"/>
                </a:lnTo>
                <a:cubicBezTo>
                  <a:pt x="244475" y="320873"/>
                  <a:pt x="209679" y="355669"/>
                  <a:pt x="166688" y="355669"/>
                </a:cubicBezTo>
                <a:cubicBezTo>
                  <a:pt x="154394" y="355669"/>
                  <a:pt x="144463" y="345738"/>
                  <a:pt x="144463" y="333444"/>
                </a:cubicBezTo>
                <a:cubicBezTo>
                  <a:pt x="144463" y="321151"/>
                  <a:pt x="154394" y="311219"/>
                  <a:pt x="166688" y="311219"/>
                </a:cubicBezTo>
                <a:cubicBezTo>
                  <a:pt x="185093" y="311219"/>
                  <a:pt x="200025" y="296287"/>
                  <a:pt x="200025" y="277882"/>
                </a:cubicBezTo>
                <a:lnTo>
                  <a:pt x="200025" y="273645"/>
                </a:lnTo>
                <a:cubicBezTo>
                  <a:pt x="200025" y="250795"/>
                  <a:pt x="212110" y="232251"/>
                  <a:pt x="223917" y="219472"/>
                </a:cubicBezTo>
                <a:cubicBezTo>
                  <a:pt x="236696" y="205581"/>
                  <a:pt x="244475" y="187107"/>
                  <a:pt x="244475" y="166757"/>
                </a:cubicBezTo>
                <a:cubicBezTo>
                  <a:pt x="244475" y="123765"/>
                  <a:pt x="209679" y="88969"/>
                  <a:pt x="166688" y="88969"/>
                </a:cubicBezTo>
                <a:close/>
                <a:moveTo>
                  <a:pt x="0" y="333375"/>
                </a:moveTo>
                <a:cubicBezTo>
                  <a:pt x="0" y="321109"/>
                  <a:pt x="9959" y="311150"/>
                  <a:pt x="22225" y="311150"/>
                </a:cubicBezTo>
                <a:cubicBezTo>
                  <a:pt x="34491" y="311150"/>
                  <a:pt x="44450" y="321109"/>
                  <a:pt x="44450" y="333375"/>
                </a:cubicBezTo>
                <a:cubicBezTo>
                  <a:pt x="44450" y="345641"/>
                  <a:pt x="34491" y="355600"/>
                  <a:pt x="22225" y="355600"/>
                </a:cubicBezTo>
                <a:cubicBezTo>
                  <a:pt x="9959" y="355600"/>
                  <a:pt x="0" y="345641"/>
                  <a:pt x="0" y="333375"/>
                </a:cubicBezTo>
                <a:close/>
                <a:moveTo>
                  <a:pt x="111125" y="266700"/>
                </a:moveTo>
                <a:cubicBezTo>
                  <a:pt x="123391" y="266700"/>
                  <a:pt x="133350" y="256741"/>
                  <a:pt x="133350" y="244475"/>
                </a:cubicBezTo>
                <a:cubicBezTo>
                  <a:pt x="133350" y="232209"/>
                  <a:pt x="123391" y="222250"/>
                  <a:pt x="111125" y="222250"/>
                </a:cubicBezTo>
                <a:cubicBezTo>
                  <a:pt x="98859" y="222250"/>
                  <a:pt x="88900" y="232209"/>
                  <a:pt x="88900" y="244475"/>
                </a:cubicBezTo>
                <a:cubicBezTo>
                  <a:pt x="88900" y="256741"/>
                  <a:pt x="98859" y="266700"/>
                  <a:pt x="111125" y="266700"/>
                </a:cubicBezTo>
                <a:close/>
                <a:moveTo>
                  <a:pt x="60146" y="251004"/>
                </a:moveTo>
                <a:cubicBezTo>
                  <a:pt x="51465" y="242322"/>
                  <a:pt x="37366" y="242322"/>
                  <a:pt x="28684" y="251004"/>
                </a:cubicBezTo>
                <a:cubicBezTo>
                  <a:pt x="20003" y="259685"/>
                  <a:pt x="20003" y="273784"/>
                  <a:pt x="28684" y="282466"/>
                </a:cubicBezTo>
                <a:lnTo>
                  <a:pt x="73134" y="326916"/>
                </a:lnTo>
                <a:cubicBezTo>
                  <a:pt x="81816" y="335598"/>
                  <a:pt x="95915" y="335598"/>
                  <a:pt x="104596" y="326916"/>
                </a:cubicBezTo>
                <a:cubicBezTo>
                  <a:pt x="113278" y="318234"/>
                  <a:pt x="113278" y="304135"/>
                  <a:pt x="104596" y="295454"/>
                </a:cubicBezTo>
                <a:lnTo>
                  <a:pt x="60146" y="251004"/>
                </a:lnTo>
                <a:close/>
                <a:moveTo>
                  <a:pt x="166688" y="144463"/>
                </a:moveTo>
                <a:cubicBezTo>
                  <a:pt x="154394" y="144463"/>
                  <a:pt x="144463" y="154394"/>
                  <a:pt x="144463" y="166688"/>
                </a:cubicBezTo>
                <a:cubicBezTo>
                  <a:pt x="144463" y="175925"/>
                  <a:pt x="137031" y="183356"/>
                  <a:pt x="127794" y="183356"/>
                </a:cubicBezTo>
                <a:cubicBezTo>
                  <a:pt x="118556" y="183356"/>
                  <a:pt x="111125" y="175925"/>
                  <a:pt x="111125" y="166688"/>
                </a:cubicBezTo>
                <a:cubicBezTo>
                  <a:pt x="111125" y="135989"/>
                  <a:pt x="135989" y="111125"/>
                  <a:pt x="166688" y="111125"/>
                </a:cubicBezTo>
                <a:cubicBezTo>
                  <a:pt x="197386" y="111125"/>
                  <a:pt x="222250" y="135989"/>
                  <a:pt x="222250" y="166688"/>
                </a:cubicBezTo>
                <a:cubicBezTo>
                  <a:pt x="222250" y="175925"/>
                  <a:pt x="214819" y="183356"/>
                  <a:pt x="205581" y="183356"/>
                </a:cubicBezTo>
                <a:cubicBezTo>
                  <a:pt x="196344" y="183356"/>
                  <a:pt x="188913" y="175925"/>
                  <a:pt x="188913" y="166688"/>
                </a:cubicBezTo>
                <a:cubicBezTo>
                  <a:pt x="188913" y="154394"/>
                  <a:pt x="178981" y="144463"/>
                  <a:pt x="166688" y="144463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0" y="3683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Auditory channel processes the narration — two channels work together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98000" y="48260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2000" y="514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0" y="50165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Spreading information across both channels is more efficient than one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98000" y="6159500"/>
            <a:ext cx="6096000" cy="1143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520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0" y="6350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effect size of d = 1.13 across 12 research studies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Theory Behind Modality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Based 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Paivio's Dual-Coding Theory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Baddeley's Working Memory Model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humans have separate information processing channels: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6858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349500"/>
            <a:ext cx="63500" cy="25400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7" name="Shape 5"/>
          <p:cNvSpPr/>
          <p:nvPr/>
        </p:nvSpPr>
        <p:spPr>
          <a:xfrm>
            <a:off x="1050925" y="2540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54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 / Pictorial Channel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111500"/>
            <a:ext cx="622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images, animations, diagrams, and video. Has limited capacity — when both text and graphics are visual, they compete for this single resource.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2349500"/>
            <a:ext cx="7366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1" name="Shape 9"/>
          <p:cNvSpPr/>
          <p:nvPr/>
        </p:nvSpPr>
        <p:spPr>
          <a:xfrm>
            <a:off x="8128000" y="2349500"/>
            <a:ext cx="63500" cy="2540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0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8971" y="268"/>
                </a:moveTo>
                <a:cubicBezTo>
                  <a:pt x="331024" y="1339"/>
                  <a:pt x="323612" y="5804"/>
                  <a:pt x="318968" y="12859"/>
                </a:cubicBezTo>
                <a:cubicBezTo>
                  <a:pt x="312896" y="22146"/>
                  <a:pt x="312718" y="34379"/>
                  <a:pt x="318611" y="43755"/>
                </a:cubicBezTo>
                <a:cubicBezTo>
                  <a:pt x="323612" y="51703"/>
                  <a:pt x="332452" y="55096"/>
                  <a:pt x="339864" y="60275"/>
                </a:cubicBezTo>
                <a:cubicBezTo>
                  <a:pt x="346561" y="64919"/>
                  <a:pt x="355580" y="72063"/>
                  <a:pt x="364599" y="81885"/>
                </a:cubicBezTo>
                <a:cubicBezTo>
                  <a:pt x="382459" y="101263"/>
                  <a:pt x="399871" y="130373"/>
                  <a:pt x="399871" y="171450"/>
                </a:cubicBezTo>
                <a:cubicBezTo>
                  <a:pt x="399871" y="187256"/>
                  <a:pt x="412641" y="200025"/>
                  <a:pt x="428446" y="200025"/>
                </a:cubicBezTo>
                <a:cubicBezTo>
                  <a:pt x="444252" y="200025"/>
                  <a:pt x="457021" y="187256"/>
                  <a:pt x="457021" y="171450"/>
                </a:cubicBezTo>
                <a:cubicBezTo>
                  <a:pt x="457021" y="112514"/>
                  <a:pt x="431572" y="70187"/>
                  <a:pt x="406569" y="43130"/>
                </a:cubicBezTo>
                <a:cubicBezTo>
                  <a:pt x="394156" y="29647"/>
                  <a:pt x="381744" y="19824"/>
                  <a:pt x="372368" y="13395"/>
                </a:cubicBezTo>
                <a:cubicBezTo>
                  <a:pt x="362545" y="6608"/>
                  <a:pt x="351383" y="-1429"/>
                  <a:pt x="338792" y="268"/>
                </a:cubicBezTo>
                <a:close/>
                <a:moveTo>
                  <a:pt x="214313" y="114300"/>
                </a:moveTo>
                <a:cubicBezTo>
                  <a:pt x="162877" y="114300"/>
                  <a:pt x="120461" y="153233"/>
                  <a:pt x="114925" y="203150"/>
                </a:cubicBezTo>
                <a:cubicBezTo>
                  <a:pt x="113228" y="218867"/>
                  <a:pt x="99030" y="230118"/>
                  <a:pt x="83403" y="228421"/>
                </a:cubicBezTo>
                <a:cubicBezTo>
                  <a:pt x="67776" y="226725"/>
                  <a:pt x="56436" y="212527"/>
                  <a:pt x="58132" y="196900"/>
                </a:cubicBezTo>
                <a:cubicBezTo>
                  <a:pt x="66794" y="118318"/>
                  <a:pt x="133410" y="57150"/>
                  <a:pt x="214313" y="57150"/>
                </a:cubicBezTo>
                <a:cubicBezTo>
                  <a:pt x="301109" y="57150"/>
                  <a:pt x="371475" y="127516"/>
                  <a:pt x="371475" y="214313"/>
                </a:cubicBezTo>
                <a:cubicBezTo>
                  <a:pt x="371475" y="255389"/>
                  <a:pt x="355669" y="292804"/>
                  <a:pt x="329863" y="320844"/>
                </a:cubicBezTo>
                <a:cubicBezTo>
                  <a:pt x="319147" y="332452"/>
                  <a:pt x="314325" y="342989"/>
                  <a:pt x="314325" y="351830"/>
                </a:cubicBezTo>
                <a:lnTo>
                  <a:pt x="314325" y="357277"/>
                </a:lnTo>
                <a:cubicBezTo>
                  <a:pt x="314325" y="412552"/>
                  <a:pt x="269587" y="457289"/>
                  <a:pt x="214313" y="457289"/>
                </a:cubicBezTo>
                <a:cubicBezTo>
                  <a:pt x="198507" y="457289"/>
                  <a:pt x="185738" y="444520"/>
                  <a:pt x="185738" y="428714"/>
                </a:cubicBezTo>
                <a:cubicBezTo>
                  <a:pt x="185738" y="412909"/>
                  <a:pt x="198507" y="400139"/>
                  <a:pt x="214313" y="400139"/>
                </a:cubicBezTo>
                <a:cubicBezTo>
                  <a:pt x="237976" y="400139"/>
                  <a:pt x="257175" y="380940"/>
                  <a:pt x="257175" y="357277"/>
                </a:cubicBezTo>
                <a:lnTo>
                  <a:pt x="257175" y="351830"/>
                </a:lnTo>
                <a:cubicBezTo>
                  <a:pt x="257175" y="322451"/>
                  <a:pt x="272713" y="298609"/>
                  <a:pt x="287893" y="282178"/>
                </a:cubicBezTo>
                <a:cubicBezTo>
                  <a:pt x="304324" y="264319"/>
                  <a:pt x="314325" y="240566"/>
                  <a:pt x="314325" y="214402"/>
                </a:cubicBezTo>
                <a:cubicBezTo>
                  <a:pt x="314325" y="159127"/>
                  <a:pt x="269587" y="114389"/>
                  <a:pt x="214313" y="114389"/>
                </a:cubicBezTo>
                <a:close/>
                <a:moveTo>
                  <a:pt x="0" y="428625"/>
                </a:moveTo>
                <a:cubicBezTo>
                  <a:pt x="0" y="412854"/>
                  <a:pt x="12804" y="400050"/>
                  <a:pt x="28575" y="400050"/>
                </a:cubicBezTo>
                <a:cubicBezTo>
                  <a:pt x="44346" y="400050"/>
                  <a:pt x="57150" y="412854"/>
                  <a:pt x="57150" y="428625"/>
                </a:cubicBezTo>
                <a:cubicBezTo>
                  <a:pt x="57150" y="444396"/>
                  <a:pt x="44346" y="457200"/>
                  <a:pt x="28575" y="457200"/>
                </a:cubicBezTo>
                <a:cubicBezTo>
                  <a:pt x="12804" y="457200"/>
                  <a:pt x="0" y="444396"/>
                  <a:pt x="0" y="428625"/>
                </a:cubicBezTo>
                <a:close/>
                <a:moveTo>
                  <a:pt x="142875" y="342900"/>
                </a:moveTo>
                <a:cubicBezTo>
                  <a:pt x="158646" y="342900"/>
                  <a:pt x="171450" y="330096"/>
                  <a:pt x="171450" y="314325"/>
                </a:cubicBezTo>
                <a:cubicBezTo>
                  <a:pt x="171450" y="298554"/>
                  <a:pt x="158646" y="285750"/>
                  <a:pt x="142875" y="285750"/>
                </a:cubicBezTo>
                <a:cubicBezTo>
                  <a:pt x="127104" y="285750"/>
                  <a:pt x="114300" y="298554"/>
                  <a:pt x="114300" y="314325"/>
                </a:cubicBezTo>
                <a:cubicBezTo>
                  <a:pt x="114300" y="330096"/>
                  <a:pt x="127104" y="342900"/>
                  <a:pt x="142875" y="342900"/>
                </a:cubicBezTo>
                <a:close/>
                <a:moveTo>
                  <a:pt x="77331" y="322719"/>
                </a:moveTo>
                <a:cubicBezTo>
                  <a:pt x="66169" y="311557"/>
                  <a:pt x="48042" y="311557"/>
                  <a:pt x="36880" y="322719"/>
                </a:cubicBezTo>
                <a:cubicBezTo>
                  <a:pt x="25717" y="333881"/>
                  <a:pt x="25717" y="352008"/>
                  <a:pt x="36880" y="363170"/>
                </a:cubicBezTo>
                <a:lnTo>
                  <a:pt x="94030" y="420320"/>
                </a:lnTo>
                <a:cubicBezTo>
                  <a:pt x="105192" y="431483"/>
                  <a:pt x="123319" y="431483"/>
                  <a:pt x="134481" y="420320"/>
                </a:cubicBezTo>
                <a:cubicBezTo>
                  <a:pt x="145643" y="409158"/>
                  <a:pt x="145643" y="391031"/>
                  <a:pt x="134481" y="379869"/>
                </a:cubicBezTo>
                <a:lnTo>
                  <a:pt x="77331" y="322719"/>
                </a:lnTo>
                <a:close/>
                <a:moveTo>
                  <a:pt x="214313" y="185738"/>
                </a:moveTo>
                <a:cubicBezTo>
                  <a:pt x="198507" y="185738"/>
                  <a:pt x="185738" y="198507"/>
                  <a:pt x="185738" y="214313"/>
                </a:cubicBezTo>
                <a:cubicBezTo>
                  <a:pt x="185738" y="226189"/>
                  <a:pt x="176183" y="235744"/>
                  <a:pt x="164306" y="235744"/>
                </a:cubicBezTo>
                <a:cubicBezTo>
                  <a:pt x="152430" y="235744"/>
                  <a:pt x="142875" y="226189"/>
                  <a:pt x="142875" y="214313"/>
                </a:cubicBezTo>
                <a:cubicBezTo>
                  <a:pt x="142875" y="174843"/>
                  <a:pt x="174843" y="142875"/>
                  <a:pt x="214313" y="142875"/>
                </a:cubicBezTo>
                <a:cubicBezTo>
                  <a:pt x="253782" y="142875"/>
                  <a:pt x="285750" y="174843"/>
                  <a:pt x="285750" y="214313"/>
                </a:cubicBezTo>
                <a:cubicBezTo>
                  <a:pt x="285750" y="226189"/>
                  <a:pt x="276195" y="235744"/>
                  <a:pt x="264319" y="235744"/>
                </a:cubicBezTo>
                <a:cubicBezTo>
                  <a:pt x="252442" y="235744"/>
                  <a:pt x="242888" y="226189"/>
                  <a:pt x="242888" y="214313"/>
                </a:cubicBezTo>
                <a:cubicBezTo>
                  <a:pt x="242888" y="198507"/>
                  <a:pt x="230118" y="185738"/>
                  <a:pt x="214313" y="185738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9080500" y="2540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Auditory / Verbal Channel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31115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spoken words and sounds. When narration is used, this channel handles verbal information while the visual channel handles graphics — balanced load.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27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 Load Comparison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6769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969000"/>
            <a:ext cx="7048500" cy="1651000"/>
          </a:xfrm>
          <a:prstGeom prst="roundRect">
            <a:avLst>
              <a:gd name="adj" fmla="val 6000"/>
            </a:avLst>
          </a:prstGeom>
          <a:solidFill>
            <a:srgbClr val="E74C3C">
              <a:alpha val="6275"/>
            </a:srgbClr>
          </a:solidFill>
          <a:ln w="12700">
            <a:solidFill>
              <a:srgbClr val="E74C3C">
                <a:alpha val="18824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" y="609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E74C3C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Text + Graphics (Overload)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477000"/>
            <a:ext cx="654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text and graphics compete for the visual channel. The verbal channel sits unused. Result: cognitive overload in one channel.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91500" y="5969000"/>
            <a:ext cx="7302500" cy="1651000"/>
          </a:xfrm>
          <a:prstGeom prst="roundRect">
            <a:avLst>
              <a:gd name="adj" fmla="val 6000"/>
            </a:avLst>
          </a:prstGeom>
          <a:solidFill>
            <a:srgbClr val="27AE60">
              <a:alpha val="6275"/>
            </a:srgbClr>
          </a:solidFill>
          <a:ln w="12700">
            <a:solidFill>
              <a:srgbClr val="27AE60">
                <a:alpha val="18824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5500" y="60960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7AE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Narration + Graphics (Balanced)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5500" y="6477000"/>
            <a:ext cx="679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Graphics go to visual channel, narration goes to auditory channel. Both channels work in parallel. Result: optimal processing.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79375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Moreno &amp; Mayer (1999). Cognitive principles of multimedia learning. Journal of Educational Psychology.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Modality in Practice — Key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222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Narrated Animations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416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voiceover to explain graphics rather than on-screen text captions. Let the visuals speak while narration guides understanding.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24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9" name="Text 7"/>
          <p:cNvSpPr/>
          <p:nvPr/>
        </p:nvSpPr>
        <p:spPr>
          <a:xfrm>
            <a:off x="5969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69000" y="2222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Text 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6416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use on-screen text for: summarizing key steps, offering guidance, providing references, or emphasizing crucial information.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524000"/>
            <a:ext cx="4826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0" y="1714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22000" y="22225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Synchronize Audio-Visual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6416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narration aligns with corresponding visuals in real-time. Mismatched audio and visuals break the dual-channel advantage.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5207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71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Alternatives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1341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subtitles or closed captions for accessibility. But avoid making them redundant with the narration — keep them concise.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50165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0" y="5207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69000" y="571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Audio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61341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 clear, friendly human voice rather than machine-generated voice. The Voice Principle confirms human voices enhance learning.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5016500"/>
            <a:ext cx="4826000" cy="3175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25188" y="5334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5842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6286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Modality Principle doesn't mean eliminating all text — it means using narration as the primary channel, with text as strategic support.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Modality — Before vs.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 Teaching photography techniques with an interactive tutorial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7048500" cy="4826000"/>
          </a:xfrm>
          <a:prstGeom prst="roundRect">
            <a:avLst>
              <a:gd name="adj" fmla="val 8000"/>
            </a:avLst>
          </a:prstGeom>
          <a:solidFill>
            <a:srgbClr val="E74C3C">
              <a:alpha val="6275"/>
            </a:srgbClr>
          </a:solidFill>
          <a:ln w="12700">
            <a:solidFill>
              <a:srgbClr val="E74C3C">
                <a:alpha val="18824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1590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5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30500"/>
            <a:ext cx="6540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Text + Graphics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238500"/>
            <a:ext cx="6540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 shows camera settings diagram with lengthy text labels: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Learners must read text while examining the diagram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text and graphics compete for visual attention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Auditory channel remains unused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 channel overloaded with dual 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500" y="1968500"/>
            <a:ext cx="7302500" cy="4826000"/>
          </a:xfrm>
          <a:prstGeom prst="roundRect">
            <a:avLst>
              <a:gd name="adj" fmla="val 8000"/>
            </a:avLst>
          </a:prstGeom>
          <a:solidFill>
            <a:srgbClr val="27AE60">
              <a:alpha val="6275"/>
            </a:srgbClr>
          </a:solidFill>
          <a:ln w="12700">
            <a:solidFill>
              <a:srgbClr val="27AE60">
                <a:alpha val="18824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45500" y="21590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0" y="215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45500" y="2730500"/>
            <a:ext cx="679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Narration + Graphics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5500" y="3238500"/>
            <a:ext cx="6794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diagram with minimal labels + voiceover explanation: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 channel processes the diagram freely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Auditory channel processes the narration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channels work in parallel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Balanced cognitive load across channels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7112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730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71120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Learners in the narration condition demonstrated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deeper understanding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better transfer — they could apply photography concepts more effectively.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 Evidence for Modality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4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 /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73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tests showing better transfer with narration over 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8" name="Text 6"/>
          <p:cNvSpPr/>
          <p:nvPr/>
        </p:nvSpPr>
        <p:spPr>
          <a:xfrm>
            <a:off x="5969000" y="17145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 = 1.13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69000" y="27305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effect size — one of the strongest effects in multimedia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0" y="1524000"/>
            <a:ext cx="4826000" cy="2540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0" y="1714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Moreno &amp; Mayer (1999)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22000" y="2159000"/>
            <a:ext cx="431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scored higher when narration was present on retention, transfer, and matching tests.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44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Generalizability of Findings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8514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0800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modality effect has been consistently replicated across: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Content domains: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Science education, technical training, medical instruction, language learning, and software tutorials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Learner populations: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K-12 students, university students, adult learners, and professional trainees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Presentation formats: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Computer-based instruction, video lectures, animated tutorials, and interactive simulations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7493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7E7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Hartford Faculty Center for Learning Development — 12 Principles of Multimedia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When to Use On-Screen Text (Exceptions)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Modality Principle does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 eliminating all on-screen text. Text is appropriate and even necessary in these situations: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3495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0226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Summarizing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4036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procedures or steps learners need to reference later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3495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13013" y="225792"/>
                </a:moveTo>
                <a:lnTo>
                  <a:pt x="112792" y="264339"/>
                </a:lnTo>
                <a:cubicBezTo>
                  <a:pt x="99318" y="269548"/>
                  <a:pt x="86052" y="256282"/>
                  <a:pt x="91261" y="242808"/>
                </a:cubicBezTo>
                <a:lnTo>
                  <a:pt x="129808" y="142587"/>
                </a:lnTo>
                <a:cubicBezTo>
                  <a:pt x="132100" y="136684"/>
                  <a:pt x="136684" y="132100"/>
                  <a:pt x="142587" y="129808"/>
                </a:cubicBezTo>
                <a:lnTo>
                  <a:pt x="242808" y="91261"/>
                </a:lnTo>
                <a:cubicBezTo>
                  <a:pt x="256282" y="86052"/>
                  <a:pt x="269548" y="99318"/>
                  <a:pt x="264339" y="112792"/>
                </a:cubicBezTo>
                <a:lnTo>
                  <a:pt x="225792" y="213013"/>
                </a:lnTo>
                <a:cubicBezTo>
                  <a:pt x="223570" y="218916"/>
                  <a:pt x="218916" y="223500"/>
                  <a:pt x="213013" y="225792"/>
                </a:cubicBezTo>
                <a:close/>
                <a:moveTo>
                  <a:pt x="200025" y="177800"/>
                </a:moveTo>
                <a:cubicBezTo>
                  <a:pt x="200025" y="165534"/>
                  <a:pt x="190066" y="155575"/>
                  <a:pt x="177800" y="155575"/>
                </a:cubicBezTo>
                <a:cubicBezTo>
                  <a:pt x="165534" y="155575"/>
                  <a:pt x="155575" y="165534"/>
                  <a:pt x="155575" y="177800"/>
                </a:cubicBezTo>
                <a:cubicBezTo>
                  <a:pt x="155575" y="190066"/>
                  <a:pt x="165534" y="200025"/>
                  <a:pt x="177800" y="200025"/>
                </a:cubicBezTo>
                <a:cubicBezTo>
                  <a:pt x="190066" y="200025"/>
                  <a:pt x="200025" y="190066"/>
                  <a:pt x="200025" y="177800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30226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Directions &amp; Guidance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34036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 instructions or guidance on what to do next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2349500"/>
            <a:ext cx="4826000" cy="2032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44225" y="254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30226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 &amp; Citations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3403600"/>
            <a:ext cx="431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Sources, further reading, or citations for the content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6990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18" name="Shape 16"/>
          <p:cNvSpPr/>
          <p:nvPr/>
        </p:nvSpPr>
        <p:spPr>
          <a:xfrm>
            <a:off x="993775" y="488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11125" y="0"/>
                </a:moveTo>
                <a:cubicBezTo>
                  <a:pt x="123418" y="0"/>
                  <a:pt x="133350" y="9932"/>
                  <a:pt x="133350" y="22225"/>
                </a:cubicBezTo>
                <a:lnTo>
                  <a:pt x="133350" y="44450"/>
                </a:lnTo>
                <a:lnTo>
                  <a:pt x="222250" y="44450"/>
                </a:lnTo>
                <a:cubicBezTo>
                  <a:pt x="234543" y="44450"/>
                  <a:pt x="244475" y="54382"/>
                  <a:pt x="244475" y="66675"/>
                </a:cubicBezTo>
                <a:cubicBezTo>
                  <a:pt x="244475" y="78968"/>
                  <a:pt x="234543" y="88900"/>
                  <a:pt x="222250" y="88900"/>
                </a:cubicBezTo>
                <a:lnTo>
                  <a:pt x="215583" y="88900"/>
                </a:lnTo>
                <a:lnTo>
                  <a:pt x="209748" y="104944"/>
                </a:lnTo>
                <a:cubicBezTo>
                  <a:pt x="198358" y="136336"/>
                  <a:pt x="181203" y="165021"/>
                  <a:pt x="159603" y="189676"/>
                </a:cubicBezTo>
                <a:cubicBezTo>
                  <a:pt x="169466" y="195788"/>
                  <a:pt x="179745" y="201206"/>
                  <a:pt x="190440" y="205998"/>
                </a:cubicBezTo>
                <a:lnTo>
                  <a:pt x="225445" y="221555"/>
                </a:lnTo>
                <a:lnTo>
                  <a:pt x="268645" y="124321"/>
                </a:lnTo>
                <a:cubicBezTo>
                  <a:pt x="272187" y="116265"/>
                  <a:pt x="280174" y="111125"/>
                  <a:pt x="288925" y="111125"/>
                </a:cubicBezTo>
                <a:cubicBezTo>
                  <a:pt x="297676" y="111125"/>
                  <a:pt x="305663" y="116265"/>
                  <a:pt x="309205" y="124321"/>
                </a:cubicBezTo>
                <a:lnTo>
                  <a:pt x="398105" y="324346"/>
                </a:lnTo>
                <a:cubicBezTo>
                  <a:pt x="403106" y="335598"/>
                  <a:pt x="398036" y="348724"/>
                  <a:pt x="386854" y="353655"/>
                </a:cubicBezTo>
                <a:cubicBezTo>
                  <a:pt x="375672" y="358586"/>
                  <a:pt x="362476" y="353586"/>
                  <a:pt x="357545" y="342404"/>
                </a:cubicBezTo>
                <a:lnTo>
                  <a:pt x="343654" y="311150"/>
                </a:lnTo>
                <a:lnTo>
                  <a:pt x="234265" y="311150"/>
                </a:lnTo>
                <a:lnTo>
                  <a:pt x="220375" y="342404"/>
                </a:lnTo>
                <a:cubicBezTo>
                  <a:pt x="215374" y="353655"/>
                  <a:pt x="202247" y="358656"/>
                  <a:pt x="191066" y="353655"/>
                </a:cubicBezTo>
                <a:cubicBezTo>
                  <a:pt x="179884" y="348655"/>
                  <a:pt x="174814" y="335528"/>
                  <a:pt x="179814" y="324346"/>
                </a:cubicBezTo>
                <a:lnTo>
                  <a:pt x="207456" y="262186"/>
                </a:lnTo>
                <a:lnTo>
                  <a:pt x="172452" y="246628"/>
                </a:lnTo>
                <a:cubicBezTo>
                  <a:pt x="156478" y="239544"/>
                  <a:pt x="141198" y="231071"/>
                  <a:pt x="126752" y="221347"/>
                </a:cubicBezTo>
                <a:cubicBezTo>
                  <a:pt x="111958" y="233293"/>
                  <a:pt x="95776" y="243711"/>
                  <a:pt x="78482" y="252393"/>
                </a:cubicBezTo>
                <a:lnTo>
                  <a:pt x="54382" y="264339"/>
                </a:lnTo>
                <a:cubicBezTo>
                  <a:pt x="43408" y="269825"/>
                  <a:pt x="30073" y="265380"/>
                  <a:pt x="24586" y="254407"/>
                </a:cubicBezTo>
                <a:cubicBezTo>
                  <a:pt x="19100" y="243433"/>
                  <a:pt x="23545" y="230098"/>
                  <a:pt x="34518" y="224611"/>
                </a:cubicBezTo>
                <a:lnTo>
                  <a:pt x="58480" y="212596"/>
                </a:lnTo>
                <a:cubicBezTo>
                  <a:pt x="69800" y="206901"/>
                  <a:pt x="80566" y="200303"/>
                  <a:pt x="90706" y="192941"/>
                </a:cubicBezTo>
                <a:cubicBezTo>
                  <a:pt x="81121" y="184120"/>
                  <a:pt x="72092" y="174605"/>
                  <a:pt x="63689" y="164534"/>
                </a:cubicBezTo>
                <a:lnTo>
                  <a:pt x="56674" y="156061"/>
                </a:lnTo>
                <a:cubicBezTo>
                  <a:pt x="48826" y="146616"/>
                  <a:pt x="50076" y="132586"/>
                  <a:pt x="59521" y="124738"/>
                </a:cubicBezTo>
                <a:cubicBezTo>
                  <a:pt x="68967" y="116890"/>
                  <a:pt x="82996" y="118140"/>
                  <a:pt x="90845" y="127585"/>
                </a:cubicBezTo>
                <a:lnTo>
                  <a:pt x="97929" y="136059"/>
                </a:lnTo>
                <a:cubicBezTo>
                  <a:pt x="105916" y="145713"/>
                  <a:pt x="114667" y="154672"/>
                  <a:pt x="123904" y="162937"/>
                </a:cubicBezTo>
                <a:cubicBezTo>
                  <a:pt x="143004" y="141823"/>
                  <a:pt x="158075" y="117029"/>
                  <a:pt x="168007" y="89733"/>
                </a:cubicBezTo>
                <a:lnTo>
                  <a:pt x="168354" y="88900"/>
                </a:lnTo>
                <a:lnTo>
                  <a:pt x="22294" y="88900"/>
                </a:lnTo>
                <a:cubicBezTo>
                  <a:pt x="9932" y="88900"/>
                  <a:pt x="0" y="78968"/>
                  <a:pt x="0" y="66675"/>
                </a:cubicBezTo>
                <a:cubicBezTo>
                  <a:pt x="0" y="54382"/>
                  <a:pt x="9932" y="44450"/>
                  <a:pt x="22225" y="44450"/>
                </a:cubicBezTo>
                <a:lnTo>
                  <a:pt x="88900" y="44450"/>
                </a:lnTo>
                <a:lnTo>
                  <a:pt x="88900" y="22225"/>
                </a:lnTo>
                <a:cubicBezTo>
                  <a:pt x="88900" y="9932"/>
                  <a:pt x="98832" y="0"/>
                  <a:pt x="111125" y="0"/>
                </a:cubicBezTo>
                <a:close/>
                <a:moveTo>
                  <a:pt x="288925" y="188079"/>
                </a:moveTo>
                <a:lnTo>
                  <a:pt x="253990" y="266700"/>
                </a:lnTo>
                <a:lnTo>
                  <a:pt x="323860" y="266700"/>
                </a:lnTo>
                <a:lnTo>
                  <a:pt x="288925" y="188079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3721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Non-Native Speakers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7531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learners with hearing difficulties or language barriers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46990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EDE8E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69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3" name="Text 21"/>
          <p:cNvSpPr/>
          <p:nvPr/>
        </p:nvSpPr>
        <p:spPr>
          <a:xfrm>
            <a:off x="5969000" y="53721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Self-Paced 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57531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learners need to review at their own pace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4699000"/>
            <a:ext cx="4826000" cy="2032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25188" y="5016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30312" y="-14064"/>
                </a:moveTo>
                <a:cubicBezTo>
                  <a:pt x="227261" y="-20017"/>
                  <a:pt x="221084" y="-23812"/>
                  <a:pt x="214387" y="-23812"/>
                </a:cubicBezTo>
                <a:cubicBezTo>
                  <a:pt x="207690" y="-23812"/>
                  <a:pt x="201513" y="-20017"/>
                  <a:pt x="198462" y="-14064"/>
                </a:cubicBezTo>
                <a:lnTo>
                  <a:pt x="143694" y="93241"/>
                </a:lnTo>
                <a:lnTo>
                  <a:pt x="24705" y="112142"/>
                </a:lnTo>
                <a:cubicBezTo>
                  <a:pt x="18083" y="113184"/>
                  <a:pt x="12576" y="117872"/>
                  <a:pt x="10492" y="124271"/>
                </a:cubicBezTo>
                <a:cubicBezTo>
                  <a:pt x="8409" y="130671"/>
                  <a:pt x="10120" y="137666"/>
                  <a:pt x="14808" y="142429"/>
                </a:cubicBezTo>
                <a:lnTo>
                  <a:pt x="99938" y="227633"/>
                </a:lnTo>
                <a:lnTo>
                  <a:pt x="81186" y="346621"/>
                </a:lnTo>
                <a:cubicBezTo>
                  <a:pt x="80144" y="353244"/>
                  <a:pt x="82897" y="359941"/>
                  <a:pt x="88329" y="363885"/>
                </a:cubicBezTo>
                <a:cubicBezTo>
                  <a:pt x="93762" y="367829"/>
                  <a:pt x="100905" y="368424"/>
                  <a:pt x="106933" y="365373"/>
                </a:cubicBezTo>
                <a:lnTo>
                  <a:pt x="214387" y="310753"/>
                </a:lnTo>
                <a:lnTo>
                  <a:pt x="321766" y="365373"/>
                </a:lnTo>
                <a:cubicBezTo>
                  <a:pt x="327720" y="368424"/>
                  <a:pt x="334938" y="367829"/>
                  <a:pt x="340370" y="363885"/>
                </a:cubicBezTo>
                <a:cubicBezTo>
                  <a:pt x="345802" y="359941"/>
                  <a:pt x="348555" y="353318"/>
                  <a:pt x="347514" y="346621"/>
                </a:cubicBezTo>
                <a:lnTo>
                  <a:pt x="328687" y="227633"/>
                </a:lnTo>
                <a:lnTo>
                  <a:pt x="413817" y="142429"/>
                </a:lnTo>
                <a:cubicBezTo>
                  <a:pt x="418579" y="137666"/>
                  <a:pt x="420216" y="130671"/>
                  <a:pt x="418133" y="124271"/>
                </a:cubicBezTo>
                <a:cubicBezTo>
                  <a:pt x="416049" y="117872"/>
                  <a:pt x="410617" y="113184"/>
                  <a:pt x="403920" y="112142"/>
                </a:cubicBezTo>
                <a:lnTo>
                  <a:pt x="285006" y="93241"/>
                </a:lnTo>
                <a:lnTo>
                  <a:pt x="230312" y="-14064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0" y="5524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Key Balance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5943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narration as primary channel, with text as supplementary support.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112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 note: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ensure subtitles or captions are available for learners who are deaf or hard of hearing. Accessibility is not redundant — it's essential.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Applying the Modality Principle —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048500" cy="6731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77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Audio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79500" y="2184400"/>
            <a:ext cx="6350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7" name="Shape 5"/>
          <p:cNvSpPr/>
          <p:nvPr/>
        </p:nvSpPr>
        <p:spPr>
          <a:xfrm>
            <a:off x="1160463" y="2476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2349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narration used as the primary means of explaining graphics?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60463" y="330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0" name="Text 8"/>
          <p:cNvSpPr/>
          <p:nvPr/>
        </p:nvSpPr>
        <p:spPr>
          <a:xfrm>
            <a:off x="1549400" y="32385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voice clear, friendly, and at an appropriate pace?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0463" y="4127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2" name="Text 10"/>
          <p:cNvSpPr/>
          <p:nvPr/>
        </p:nvSpPr>
        <p:spPr>
          <a:xfrm>
            <a:off x="1549400" y="40640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narration synchronized with corresponding visuals?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04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4" name="Text 12"/>
          <p:cNvSpPr/>
          <p:nvPr/>
        </p:nvSpPr>
        <p:spPr>
          <a:xfrm>
            <a:off x="1549400" y="48260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avoided redundancy (same words in narration AND on screen)?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91500" y="1524000"/>
            <a:ext cx="7302500" cy="6731000"/>
          </a:xfrm>
          <a:prstGeom prst="roundRect">
            <a:avLst>
              <a:gd name="adj" fmla="val 6000"/>
            </a:avLst>
          </a:prstGeom>
          <a:solidFill>
            <a:srgbClr val="EDE8E0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177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Visual Design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9000" y="2184400"/>
            <a:ext cx="66675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8" name="Shape 16"/>
          <p:cNvSpPr/>
          <p:nvPr/>
        </p:nvSpPr>
        <p:spPr>
          <a:xfrm>
            <a:off x="8589963" y="2476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19" name="Text 17"/>
          <p:cNvSpPr/>
          <p:nvPr/>
        </p:nvSpPr>
        <p:spPr>
          <a:xfrm>
            <a:off x="8978900" y="2349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Have you minimized on-screen text during narrated segments?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89963" y="330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1" name="Text 19"/>
          <p:cNvSpPr/>
          <p:nvPr/>
        </p:nvSpPr>
        <p:spPr>
          <a:xfrm>
            <a:off x="8978900" y="31750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any on-screen text limited to summaries, directions, or highlights?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89963" y="4127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3" name="Text 21"/>
          <p:cNvSpPr/>
          <p:nvPr/>
        </p:nvSpPr>
        <p:spPr>
          <a:xfrm>
            <a:off x="8978900" y="4000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subtitles/captions available for accessibility?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89963" y="4953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43656"/>
                </a:moveTo>
                <a:cubicBezTo>
                  <a:pt x="214352" y="43656"/>
                  <a:pt x="218281" y="47585"/>
                  <a:pt x="218281" y="52388"/>
                </a:cubicBezTo>
                <a:lnTo>
                  <a:pt x="218281" y="227013"/>
                </a:lnTo>
                <a:cubicBezTo>
                  <a:pt x="218281" y="231815"/>
                  <a:pt x="214352" y="235744"/>
                  <a:pt x="209550" y="235744"/>
                </a:cubicBezTo>
                <a:lnTo>
                  <a:pt x="34925" y="235744"/>
                </a:lnTo>
                <a:cubicBezTo>
                  <a:pt x="30123" y="235744"/>
                  <a:pt x="26194" y="231815"/>
                  <a:pt x="26194" y="227013"/>
                </a:cubicBezTo>
                <a:lnTo>
                  <a:pt x="26194" y="52388"/>
                </a:lnTo>
                <a:cubicBezTo>
                  <a:pt x="26194" y="47585"/>
                  <a:pt x="30123" y="43656"/>
                  <a:pt x="34925" y="43656"/>
                </a:cubicBezTo>
                <a:lnTo>
                  <a:pt x="209550" y="43656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25" name="Text 23"/>
          <p:cNvSpPr/>
          <p:nvPr/>
        </p:nvSpPr>
        <p:spPr>
          <a:xfrm>
            <a:off x="8978900" y="48260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graphics clean and uncluttered to support visual processing?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0" y="87630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MODALITY PRINCIPLE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Three Principles —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17F3E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651760"/>
                <a:gridCol w="3977640"/>
                <a:gridCol w="3977640"/>
                <a:gridCol w="4124960"/>
              </a:tblGrid>
              <a:tr h="78486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Principle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How It 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Distributes Load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Strategy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10633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Segmenting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Breaks content into learner-paced chunks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Across 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10-15 min segments with learner control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10633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Pre-training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Teaches basics before complex material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Across STAGES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Introduce concepts, then main lesson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</a:tr>
              <a:tr h="1025392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narration + graphics together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Across CHANNELS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Voiceover with clean visuals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778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Shared Goal &amp; Combined Effect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61849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413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666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C17F3E"/>
          </a:solidFill>
          <a:ln/>
        </p:spPr>
      </p:sp>
      <p:sp>
        <p:nvSpPr>
          <p:cNvPr id="9" name="Text 6"/>
          <p:cNvSpPr/>
          <p:nvPr/>
        </p:nvSpPr>
        <p:spPr>
          <a:xfrm>
            <a:off x="1714500" y="6477000"/>
            <a:ext cx="1346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Goal: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three principles reduce essential cognitive overload to free capacity for generative processing — enabling deeper learning.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683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 Effect: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all three principles together creates optimal conditions for deep learning — content is chunked, concepts are pre-taught, and dual channels are leveraged.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462000" y="87630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8B7E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801100"/>
            <a:ext cx="762000" cy="38100"/>
          </a:xfrm>
          <a:prstGeom prst="rect">
            <a:avLst/>
          </a:prstGeom>
          <a:solidFill>
            <a:srgbClr val="C17F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We Learned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2159000"/>
            <a:ext cx="1016000" cy="38100"/>
          </a:xfrm>
          <a:prstGeom prst="rect">
            <a:avLst/>
          </a:prstGeom>
          <a:solidFill>
            <a:srgbClr val="C17F3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667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79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365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Segmenting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810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lessons into learner-paced chunks — let learners control their pace for deeper understanding.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667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279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3365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Pre-training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3810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 the basics first — names, concepts, and components before complex material.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2667000"/>
            <a:ext cx="4826000" cy="2540000"/>
          </a:xfrm>
          <a:prstGeom prst="roundRect">
            <a:avLst>
              <a:gd name="adj" fmla="val 8000"/>
            </a:avLst>
          </a:prstGeom>
          <a:solidFill>
            <a:srgbClr val="FFFFFF">
              <a:alpha val="7059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79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17F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33655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Modality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3810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narration with graphics — leverage dual channels for optimal cognitive processing.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6223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"The goal of instructional design is not to present information,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but to facilitate understanding."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73660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C17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Richard E. Mayer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10000" y="8128000"/>
            <a:ext cx="863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 — Week 7 | Lessons 13 &amp; 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&amp; Techniques for Fostering Generative Processing</dc:title>
  <dc:subject>Principles &amp; Techniques for Fostering Generative Processing</dc:subject>
  <dc:creator>Kimi</dc:creator>
  <cp:lastModifiedBy>Kimi</cp:lastModifiedBy>
  <cp:revision>1</cp:revision>
  <dcterms:created xsi:type="dcterms:W3CDTF">2026-05-26T11:32:19Z</dcterms:created>
  <dcterms:modified xsi:type="dcterms:W3CDTF">2026-05-26T11:32:19Z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{"Label":"Principles &amp; Techniques for Fostering Generative Processing","ContentProducer":"001191110108MACG2KBH8F10000","ProduceID":"19e63fb4-38a2-8d64-8000-000005f9d487","ReservedCode1":"","ContentPropagator":"001191110108MACG2KBH8F20000","PropagateID":"19e63fb4-38a2-8d64-8000-000005f9d487","ReservedCode2":""}</vt:lpwstr>
  </property>
</Properties>
</file>