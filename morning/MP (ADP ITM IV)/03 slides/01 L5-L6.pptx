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Quattrocento Sans" charset="-122" pitchFamily="34"/>
      <p:regular r:id="rId37"/>
    </p:embeddedFont>
    <p:embeddedFont>
      <p:font typeface="Liter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74bepel63lr2/mnt/agents/output/multimedia-learning-theories/images/1_Free_Cozy_study_moment_Image_Woman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34A40">
                  <a:alpha val="90000"/>
                </a:srgbClr>
              </a:gs>
              <a:gs pos="50000">
                <a:srgbClr val="134A40">
                  <a:alpha val="80000"/>
                </a:srgbClr>
              </a:gs>
              <a:gs pos="100000">
                <a:srgbClr val="134A40">
                  <a:alpha val="7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2794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>
                    <a:alpha val="6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LECTURES 5 &amp; 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778000" y="33020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MULTIMEDIA PRODUCTION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858000" y="50165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4"/>
          <p:cNvSpPr/>
          <p:nvPr/>
        </p:nvSpPr>
        <p:spPr>
          <a:xfrm>
            <a:off x="2413000" y="52705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Implications of Learning Theories and Integrated Models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18000" y="8128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Cognitive Load Theory · Integrated Models · 4C/ID Model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8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Will Learn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498600"/>
            <a:ext cx="1016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032000"/>
            <a:ext cx="4572000" cy="60960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413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17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A2A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Theories Matter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3683000"/>
            <a:ext cx="3810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learning problems and why we need theories to design better multimedia.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206500" y="7112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290612" y="381000"/>
                </a:moveTo>
                <a:cubicBezTo>
                  <a:pt x="297855" y="358874"/>
                  <a:pt x="312341" y="338832"/>
                  <a:pt x="328712" y="321568"/>
                </a:cubicBezTo>
                <a:cubicBezTo>
                  <a:pt x="361156" y="287437"/>
                  <a:pt x="381000" y="241300"/>
                  <a:pt x="381000" y="190500"/>
                </a:cubicBezTo>
                <a:cubicBezTo>
                  <a:pt x="381000" y="85328"/>
                  <a:pt x="295672" y="0"/>
                  <a:pt x="190500" y="0"/>
                </a:cubicBezTo>
                <a:cubicBezTo>
                  <a:pt x="85328" y="0"/>
                  <a:pt x="0" y="85328"/>
                  <a:pt x="0" y="190500"/>
                </a:cubicBezTo>
                <a:cubicBezTo>
                  <a:pt x="0" y="241300"/>
                  <a:pt x="19844" y="287437"/>
                  <a:pt x="52288" y="321568"/>
                </a:cubicBezTo>
                <a:cubicBezTo>
                  <a:pt x="68659" y="338832"/>
                  <a:pt x="83245" y="358874"/>
                  <a:pt x="90388" y="381000"/>
                </a:cubicBezTo>
                <a:lnTo>
                  <a:pt x="290513" y="381000"/>
                </a:lnTo>
                <a:close/>
                <a:moveTo>
                  <a:pt x="285750" y="428625"/>
                </a:moveTo>
                <a:lnTo>
                  <a:pt x="95250" y="428625"/>
                </a:lnTo>
                <a:lnTo>
                  <a:pt x="95250" y="444500"/>
                </a:lnTo>
                <a:cubicBezTo>
                  <a:pt x="95250" y="488355"/>
                  <a:pt x="130770" y="523875"/>
                  <a:pt x="174625" y="523875"/>
                </a:cubicBezTo>
                <a:lnTo>
                  <a:pt x="206375" y="523875"/>
                </a:lnTo>
                <a:cubicBezTo>
                  <a:pt x="250230" y="523875"/>
                  <a:pt x="285750" y="488355"/>
                  <a:pt x="285750" y="444500"/>
                </a:cubicBezTo>
                <a:lnTo>
                  <a:pt x="285750" y="428625"/>
                </a:lnTo>
                <a:close/>
                <a:moveTo>
                  <a:pt x="182563" y="111125"/>
                </a:moveTo>
                <a:cubicBezTo>
                  <a:pt x="143073" y="111125"/>
                  <a:pt x="111125" y="143073"/>
                  <a:pt x="111125" y="182563"/>
                </a:cubicBezTo>
                <a:cubicBezTo>
                  <a:pt x="111125" y="195759"/>
                  <a:pt x="100509" y="206375"/>
                  <a:pt x="87313" y="206375"/>
                </a:cubicBezTo>
                <a:cubicBezTo>
                  <a:pt x="74116" y="206375"/>
                  <a:pt x="63500" y="195759"/>
                  <a:pt x="63500" y="182563"/>
                </a:cubicBezTo>
                <a:cubicBezTo>
                  <a:pt x="63500" y="116780"/>
                  <a:pt x="116780" y="63500"/>
                  <a:pt x="182563" y="63500"/>
                </a:cubicBezTo>
                <a:cubicBezTo>
                  <a:pt x="195759" y="63500"/>
                  <a:pt x="206375" y="74116"/>
                  <a:pt x="206375" y="87313"/>
                </a:cubicBezTo>
                <a:cubicBezTo>
                  <a:pt x="206375" y="100509"/>
                  <a:pt x="195759" y="111125"/>
                  <a:pt x="182563" y="111125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0" name="Shape 8"/>
          <p:cNvSpPr/>
          <p:nvPr/>
        </p:nvSpPr>
        <p:spPr>
          <a:xfrm>
            <a:off x="5842000" y="2032000"/>
            <a:ext cx="4572000" cy="6096000"/>
          </a:xfrm>
          <a:prstGeom prst="roundRect">
            <a:avLst>
              <a:gd name="adj" fmla="val 8000"/>
            </a:avLst>
          </a:prstGeom>
          <a:solidFill>
            <a:srgbClr val="F0EBE3"/>
          </a:solidFill>
          <a:ln/>
        </p:spPr>
      </p:sp>
      <p:sp>
        <p:nvSpPr>
          <p:cNvPr id="11" name="Text 9"/>
          <p:cNvSpPr/>
          <p:nvPr/>
        </p:nvSpPr>
        <p:spPr>
          <a:xfrm>
            <a:off x="6223000" y="2413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23000" y="317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A2A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Load Theory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23000" y="3683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the brain processes information and three types of cognitive load.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23000" y="711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22000" y="2032000"/>
            <a:ext cx="4572000" cy="60960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6" name="Text 14"/>
          <p:cNvSpPr/>
          <p:nvPr/>
        </p:nvSpPr>
        <p:spPr>
          <a:xfrm>
            <a:off x="11303000" y="2413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03000" y="317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2A2A2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Models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03000" y="3683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text and pictures work together to create stronger learning.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271250" y="7112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95250" y="95250"/>
                </a:moveTo>
                <a:cubicBezTo>
                  <a:pt x="95250" y="60226"/>
                  <a:pt x="123726" y="31750"/>
                  <a:pt x="158750" y="31750"/>
                </a:cubicBezTo>
                <a:lnTo>
                  <a:pt x="476250" y="31750"/>
                </a:lnTo>
                <a:cubicBezTo>
                  <a:pt x="511274" y="31750"/>
                  <a:pt x="539750" y="60226"/>
                  <a:pt x="539750" y="95250"/>
                </a:cubicBezTo>
                <a:lnTo>
                  <a:pt x="539750" y="349250"/>
                </a:lnTo>
                <a:cubicBezTo>
                  <a:pt x="539750" y="384274"/>
                  <a:pt x="511274" y="412750"/>
                  <a:pt x="476250" y="412750"/>
                </a:cubicBezTo>
                <a:lnTo>
                  <a:pt x="158750" y="412750"/>
                </a:lnTo>
                <a:cubicBezTo>
                  <a:pt x="123726" y="412750"/>
                  <a:pt x="95250" y="384274"/>
                  <a:pt x="95250" y="349250"/>
                </a:cubicBezTo>
                <a:lnTo>
                  <a:pt x="95250" y="95250"/>
                </a:lnTo>
                <a:close/>
                <a:moveTo>
                  <a:pt x="23812" y="127000"/>
                </a:moveTo>
                <a:cubicBezTo>
                  <a:pt x="37009" y="127000"/>
                  <a:pt x="47625" y="137616"/>
                  <a:pt x="47625" y="150813"/>
                </a:cubicBezTo>
                <a:lnTo>
                  <a:pt x="47625" y="444500"/>
                </a:lnTo>
                <a:cubicBezTo>
                  <a:pt x="47625" y="453231"/>
                  <a:pt x="54769" y="460375"/>
                  <a:pt x="63500" y="460375"/>
                </a:cubicBezTo>
                <a:lnTo>
                  <a:pt x="420688" y="460375"/>
                </a:lnTo>
                <a:cubicBezTo>
                  <a:pt x="433884" y="460375"/>
                  <a:pt x="444500" y="470991"/>
                  <a:pt x="444500" y="484187"/>
                </a:cubicBezTo>
                <a:cubicBezTo>
                  <a:pt x="444500" y="497384"/>
                  <a:pt x="433884" y="508000"/>
                  <a:pt x="420688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150813"/>
                </a:lnTo>
                <a:cubicBezTo>
                  <a:pt x="0" y="137616"/>
                  <a:pt x="10616" y="127000"/>
                  <a:pt x="23812" y="127000"/>
                </a:cubicBezTo>
                <a:close/>
                <a:moveTo>
                  <a:pt x="190500" y="158750"/>
                </a:moveTo>
                <a:cubicBezTo>
                  <a:pt x="208023" y="158750"/>
                  <a:pt x="222250" y="144523"/>
                  <a:pt x="222250" y="127000"/>
                </a:cubicBezTo>
                <a:cubicBezTo>
                  <a:pt x="222250" y="109477"/>
                  <a:pt x="208023" y="95250"/>
                  <a:pt x="190500" y="95250"/>
                </a:cubicBezTo>
                <a:cubicBezTo>
                  <a:pt x="172977" y="95250"/>
                  <a:pt x="158750" y="109477"/>
                  <a:pt x="158750" y="127000"/>
                </a:cubicBezTo>
                <a:cubicBezTo>
                  <a:pt x="158750" y="144523"/>
                  <a:pt x="172977" y="158750"/>
                  <a:pt x="190500" y="158750"/>
                </a:cubicBezTo>
                <a:close/>
                <a:moveTo>
                  <a:pt x="385465" y="170160"/>
                </a:moveTo>
                <a:cubicBezTo>
                  <a:pt x="381099" y="163116"/>
                  <a:pt x="373459" y="158750"/>
                  <a:pt x="365125" y="158750"/>
                </a:cubicBezTo>
                <a:cubicBezTo>
                  <a:pt x="356791" y="158750"/>
                  <a:pt x="349151" y="163116"/>
                  <a:pt x="344785" y="170160"/>
                </a:cubicBezTo>
                <a:lnTo>
                  <a:pt x="288925" y="261541"/>
                </a:lnTo>
                <a:lnTo>
                  <a:pt x="264616" y="231180"/>
                </a:lnTo>
                <a:cubicBezTo>
                  <a:pt x="260052" y="225524"/>
                  <a:pt x="253305" y="222250"/>
                  <a:pt x="246063" y="222250"/>
                </a:cubicBezTo>
                <a:cubicBezTo>
                  <a:pt x="238820" y="222250"/>
                  <a:pt x="231973" y="225524"/>
                  <a:pt x="227509" y="231180"/>
                </a:cubicBezTo>
                <a:lnTo>
                  <a:pt x="164009" y="310555"/>
                </a:lnTo>
                <a:cubicBezTo>
                  <a:pt x="158254" y="317698"/>
                  <a:pt x="157163" y="327521"/>
                  <a:pt x="161131" y="335756"/>
                </a:cubicBezTo>
                <a:cubicBezTo>
                  <a:pt x="165100" y="343991"/>
                  <a:pt x="173434" y="349250"/>
                  <a:pt x="182563" y="349250"/>
                </a:cubicBezTo>
                <a:lnTo>
                  <a:pt x="452437" y="349250"/>
                </a:lnTo>
                <a:cubicBezTo>
                  <a:pt x="461070" y="349250"/>
                  <a:pt x="469007" y="344587"/>
                  <a:pt x="473174" y="337046"/>
                </a:cubicBezTo>
                <a:cubicBezTo>
                  <a:pt x="477341" y="329505"/>
                  <a:pt x="477242" y="320377"/>
                  <a:pt x="472678" y="312936"/>
                </a:cubicBezTo>
                <a:lnTo>
                  <a:pt x="385366" y="170061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0" name="Text 18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Have You Ever Felt Lost in a Lesson?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Too many slides with endless text confuse students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Videos that move too fast leave learners behind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Complicated diagrams without explanation create frustration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content is poorly designed, learning becomes harder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multimedia design starts with understanding the brain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students face poorly designed content, their brain works too hard just to understand the layout instead of focusing on the actual lesson.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734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92033" y="152797"/>
                </a:moveTo>
                <a:lnTo>
                  <a:pt x="87858" y="152797"/>
                </a:lnTo>
                <a:cubicBezTo>
                  <a:pt x="89441" y="187995"/>
                  <a:pt x="97244" y="220409"/>
                  <a:pt x="108322" y="244148"/>
                </a:cubicBezTo>
                <a:cubicBezTo>
                  <a:pt x="114543" y="257517"/>
                  <a:pt x="121255" y="266958"/>
                  <a:pt x="127476" y="272742"/>
                </a:cubicBezTo>
                <a:cubicBezTo>
                  <a:pt x="133588" y="278472"/>
                  <a:pt x="137790" y="279400"/>
                  <a:pt x="139973" y="279400"/>
                </a:cubicBezTo>
                <a:cubicBezTo>
                  <a:pt x="142156" y="279400"/>
                  <a:pt x="146358" y="278472"/>
                  <a:pt x="152469" y="272742"/>
                </a:cubicBezTo>
                <a:cubicBezTo>
                  <a:pt x="158690" y="266958"/>
                  <a:pt x="165403" y="257463"/>
                  <a:pt x="171624" y="244148"/>
                </a:cubicBezTo>
                <a:cubicBezTo>
                  <a:pt x="182701" y="220409"/>
                  <a:pt x="190505" y="187995"/>
                  <a:pt x="192087" y="152797"/>
                </a:cubicBezTo>
                <a:close/>
                <a:moveTo>
                  <a:pt x="87804" y="126603"/>
                </a:moveTo>
                <a:lnTo>
                  <a:pt x="191978" y="126603"/>
                </a:lnTo>
                <a:cubicBezTo>
                  <a:pt x="190450" y="91405"/>
                  <a:pt x="182647" y="58991"/>
                  <a:pt x="171569" y="35252"/>
                </a:cubicBezTo>
                <a:cubicBezTo>
                  <a:pt x="165348" y="21937"/>
                  <a:pt x="158636" y="12442"/>
                  <a:pt x="152415" y="6658"/>
                </a:cubicBezTo>
                <a:cubicBezTo>
                  <a:pt x="146303" y="928"/>
                  <a:pt x="142101" y="0"/>
                  <a:pt x="139918" y="0"/>
                </a:cubicBezTo>
                <a:cubicBezTo>
                  <a:pt x="137735" y="0"/>
                  <a:pt x="133534" y="928"/>
                  <a:pt x="127422" y="6658"/>
                </a:cubicBezTo>
                <a:cubicBezTo>
                  <a:pt x="121201" y="12442"/>
                  <a:pt x="114489" y="21937"/>
                  <a:pt x="108267" y="35252"/>
                </a:cubicBezTo>
                <a:cubicBezTo>
                  <a:pt x="97190" y="58991"/>
                  <a:pt x="89386" y="91405"/>
                  <a:pt x="87804" y="126603"/>
                </a:cubicBezTo>
                <a:close/>
                <a:moveTo>
                  <a:pt x="61610" y="126603"/>
                </a:moveTo>
                <a:cubicBezTo>
                  <a:pt x="63520" y="79891"/>
                  <a:pt x="75580" y="36508"/>
                  <a:pt x="93206" y="8022"/>
                </a:cubicBezTo>
                <a:cubicBezTo>
                  <a:pt x="42947" y="25812"/>
                  <a:pt x="5948" y="71596"/>
                  <a:pt x="819" y="126603"/>
                </a:cubicBezTo>
                <a:lnTo>
                  <a:pt x="61610" y="126603"/>
                </a:lnTo>
                <a:close/>
                <a:moveTo>
                  <a:pt x="819" y="152797"/>
                </a:moveTo>
                <a:cubicBezTo>
                  <a:pt x="5948" y="207804"/>
                  <a:pt x="42947" y="253588"/>
                  <a:pt x="93206" y="271378"/>
                </a:cubicBezTo>
                <a:cubicBezTo>
                  <a:pt x="75580" y="242892"/>
                  <a:pt x="63520" y="199509"/>
                  <a:pt x="61610" y="152797"/>
                </a:cubicBezTo>
                <a:lnTo>
                  <a:pt x="819" y="152797"/>
                </a:lnTo>
                <a:close/>
                <a:moveTo>
                  <a:pt x="218227" y="152797"/>
                </a:moveTo>
                <a:cubicBezTo>
                  <a:pt x="216317" y="199509"/>
                  <a:pt x="204257" y="242892"/>
                  <a:pt x="186630" y="271378"/>
                </a:cubicBezTo>
                <a:cubicBezTo>
                  <a:pt x="236890" y="253534"/>
                  <a:pt x="273888" y="207804"/>
                  <a:pt x="279018" y="152797"/>
                </a:cubicBezTo>
                <a:lnTo>
                  <a:pt x="218227" y="152797"/>
                </a:lnTo>
                <a:close/>
                <a:moveTo>
                  <a:pt x="279018" y="126603"/>
                </a:moveTo>
                <a:cubicBezTo>
                  <a:pt x="273888" y="71596"/>
                  <a:pt x="236890" y="25812"/>
                  <a:pt x="186630" y="8022"/>
                </a:cubicBezTo>
                <a:cubicBezTo>
                  <a:pt x="204257" y="36508"/>
                  <a:pt x="216317" y="79891"/>
                  <a:pt x="218227" y="126603"/>
                </a:cubicBezTo>
                <a:lnTo>
                  <a:pt x="279018" y="12660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YouTube tutorial with 50 slides of text and no images — viewers click away within 30 seconds.</a:t>
            </a:r>
            <a:endParaRPr lang="en-US" sz="1600" dirty="0"/>
          </a:p>
        </p:txBody>
      </p:sp>
      <p:pic>
        <p:nvPicPr>
          <p:cNvPr id="14" name="Image 0" descr="https://kimi-img.moonshot.cn/pub/slides/okc/k74bepel63lr2/mnt/agents/output/multimedia-learning-theories/images/7_Young_Woman_Studies_Home_Laptop_Cozy.png">    </p:cNvPr>
          <p:cNvPicPr>
            <a:picLocks noChangeAspect="1"/>
          </p:cNvPicPr>
          <p:nvPr/>
        </p:nvPicPr>
        <p:blipFill>
          <a:blip r:embed="rId1"/>
          <a:srcRect l="19543" r="19543" t="0" b="0"/>
          <a:stretch/>
        </p:blipFill>
        <p:spPr>
          <a:xfrm>
            <a:off x="9398000" y="1714500"/>
            <a:ext cx="6096000" cy="6667500"/>
          </a:xfrm>
          <a:prstGeom prst="roundRect">
            <a:avLst>
              <a:gd name="adj" fmla="val 8000"/>
            </a:avLst>
          </a:prstGeom>
        </p:spPr>
      </p:pic>
      <p:sp>
        <p:nvSpPr>
          <p:cNvPr id="15" name="Text 12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Brain Has Limited Processing Power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Our brain can only handle a small amount of new info at once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Imagine your brain like a small table — it can only hold a few items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you overload it, things fall off (you forget)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Simple, clear content works better than complex, busy content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this helps us design better multimedia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 like a computer slows down with too many programs open, our brain slows down when given too much information at once.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1050925" y="73406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8731" y="34925"/>
                </a:moveTo>
                <a:cubicBezTo>
                  <a:pt x="8731" y="15662"/>
                  <a:pt x="24393" y="0"/>
                  <a:pt x="43656" y="0"/>
                </a:cubicBezTo>
                <a:lnTo>
                  <a:pt x="165894" y="0"/>
                </a:lnTo>
                <a:cubicBezTo>
                  <a:pt x="185157" y="0"/>
                  <a:pt x="200819" y="15662"/>
                  <a:pt x="200819" y="34925"/>
                </a:cubicBezTo>
                <a:lnTo>
                  <a:pt x="200819" y="244475"/>
                </a:lnTo>
                <a:cubicBezTo>
                  <a:pt x="200819" y="263738"/>
                  <a:pt x="185157" y="279400"/>
                  <a:pt x="165894" y="279400"/>
                </a:cubicBezTo>
                <a:lnTo>
                  <a:pt x="43656" y="279400"/>
                </a:lnTo>
                <a:cubicBezTo>
                  <a:pt x="24393" y="279400"/>
                  <a:pt x="8731" y="263738"/>
                  <a:pt x="8731" y="244475"/>
                </a:cubicBezTo>
                <a:lnTo>
                  <a:pt x="8731" y="34925"/>
                </a:lnTo>
                <a:close/>
                <a:moveTo>
                  <a:pt x="43656" y="34925"/>
                </a:moveTo>
                <a:lnTo>
                  <a:pt x="43656" y="200819"/>
                </a:lnTo>
                <a:lnTo>
                  <a:pt x="165894" y="200819"/>
                </a:lnTo>
                <a:lnTo>
                  <a:pt x="165894" y="34925"/>
                </a:lnTo>
                <a:lnTo>
                  <a:pt x="43656" y="34925"/>
                </a:lnTo>
                <a:close/>
                <a:moveTo>
                  <a:pt x="104775" y="257572"/>
                </a:moveTo>
                <a:cubicBezTo>
                  <a:pt x="114434" y="257572"/>
                  <a:pt x="122238" y="249768"/>
                  <a:pt x="122238" y="240109"/>
                </a:cubicBezTo>
                <a:cubicBezTo>
                  <a:pt x="122238" y="230450"/>
                  <a:pt x="114434" y="222647"/>
                  <a:pt x="104775" y="222647"/>
                </a:cubicBezTo>
                <a:cubicBezTo>
                  <a:pt x="95116" y="222647"/>
                  <a:pt x="87313" y="230450"/>
                  <a:pt x="87313" y="240109"/>
                </a:cubicBezTo>
                <a:cubicBezTo>
                  <a:pt x="87313" y="249768"/>
                  <a:pt x="95116" y="257572"/>
                  <a:pt x="104775" y="25757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mobile learning app with clean, one-concept-per-screen design vs. one that crams everything onto one page.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1905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BRAIN CAPACITY DIAGRAM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938000" y="2540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238125" y="111125"/>
                </a:moveTo>
                <a:cubicBezTo>
                  <a:pt x="238125" y="49808"/>
                  <a:pt x="287933" y="0"/>
                  <a:pt x="349250" y="0"/>
                </a:cubicBezTo>
                <a:lnTo>
                  <a:pt x="396875" y="0"/>
                </a:lnTo>
                <a:cubicBezTo>
                  <a:pt x="431998" y="0"/>
                  <a:pt x="460375" y="28377"/>
                  <a:pt x="460375" y="63500"/>
                </a:cubicBezTo>
                <a:lnTo>
                  <a:pt x="460375" y="952500"/>
                </a:lnTo>
                <a:cubicBezTo>
                  <a:pt x="460375" y="987623"/>
                  <a:pt x="431998" y="1016000"/>
                  <a:pt x="396875" y="1016000"/>
                </a:cubicBezTo>
                <a:lnTo>
                  <a:pt x="333375" y="1016000"/>
                </a:lnTo>
                <a:cubicBezTo>
                  <a:pt x="274241" y="1016000"/>
                  <a:pt x="224433" y="975519"/>
                  <a:pt x="210344" y="920750"/>
                </a:cubicBezTo>
                <a:cubicBezTo>
                  <a:pt x="208955" y="920750"/>
                  <a:pt x="207764" y="920750"/>
                  <a:pt x="206375" y="920750"/>
                </a:cubicBezTo>
                <a:cubicBezTo>
                  <a:pt x="118666" y="920750"/>
                  <a:pt x="47625" y="849709"/>
                  <a:pt x="47625" y="762000"/>
                </a:cubicBezTo>
                <a:cubicBezTo>
                  <a:pt x="47625" y="726281"/>
                  <a:pt x="59531" y="693341"/>
                  <a:pt x="79375" y="666750"/>
                </a:cubicBezTo>
                <a:cubicBezTo>
                  <a:pt x="40878" y="637778"/>
                  <a:pt x="15875" y="591741"/>
                  <a:pt x="15875" y="539750"/>
                </a:cubicBezTo>
                <a:cubicBezTo>
                  <a:pt x="15875" y="478433"/>
                  <a:pt x="50800" y="425053"/>
                  <a:pt x="101600" y="398661"/>
                </a:cubicBezTo>
                <a:cubicBezTo>
                  <a:pt x="87511" y="374848"/>
                  <a:pt x="79375" y="347067"/>
                  <a:pt x="79375" y="317500"/>
                </a:cubicBezTo>
                <a:cubicBezTo>
                  <a:pt x="79375" y="229791"/>
                  <a:pt x="150416" y="158750"/>
                  <a:pt x="238125" y="158750"/>
                </a:cubicBezTo>
                <a:lnTo>
                  <a:pt x="238125" y="111125"/>
                </a:lnTo>
                <a:close/>
                <a:moveTo>
                  <a:pt x="777875" y="111125"/>
                </a:moveTo>
                <a:lnTo>
                  <a:pt x="777875" y="158750"/>
                </a:lnTo>
                <a:cubicBezTo>
                  <a:pt x="865584" y="158750"/>
                  <a:pt x="936625" y="229791"/>
                  <a:pt x="936625" y="317500"/>
                </a:cubicBezTo>
                <a:cubicBezTo>
                  <a:pt x="936625" y="347266"/>
                  <a:pt x="928489" y="375047"/>
                  <a:pt x="914400" y="398661"/>
                </a:cubicBezTo>
                <a:cubicBezTo>
                  <a:pt x="965398" y="425053"/>
                  <a:pt x="1000125" y="478234"/>
                  <a:pt x="1000125" y="539750"/>
                </a:cubicBezTo>
                <a:cubicBezTo>
                  <a:pt x="1000125" y="591741"/>
                  <a:pt x="975122" y="637778"/>
                  <a:pt x="936625" y="666750"/>
                </a:cubicBezTo>
                <a:cubicBezTo>
                  <a:pt x="956469" y="693341"/>
                  <a:pt x="968375" y="726281"/>
                  <a:pt x="968375" y="762000"/>
                </a:cubicBezTo>
                <a:cubicBezTo>
                  <a:pt x="968375" y="849709"/>
                  <a:pt x="897334" y="920750"/>
                  <a:pt x="809625" y="920750"/>
                </a:cubicBezTo>
                <a:cubicBezTo>
                  <a:pt x="808236" y="920750"/>
                  <a:pt x="807045" y="920750"/>
                  <a:pt x="805656" y="920750"/>
                </a:cubicBezTo>
                <a:cubicBezTo>
                  <a:pt x="791567" y="975519"/>
                  <a:pt x="741759" y="1016000"/>
                  <a:pt x="682625" y="1016000"/>
                </a:cubicBezTo>
                <a:lnTo>
                  <a:pt x="619125" y="1016000"/>
                </a:lnTo>
                <a:cubicBezTo>
                  <a:pt x="584002" y="1016000"/>
                  <a:pt x="555625" y="987623"/>
                  <a:pt x="555625" y="952500"/>
                </a:cubicBezTo>
                <a:lnTo>
                  <a:pt x="555625" y="63500"/>
                </a:lnTo>
                <a:cubicBezTo>
                  <a:pt x="555625" y="28377"/>
                  <a:pt x="584002" y="0"/>
                  <a:pt x="619125" y="0"/>
                </a:cubicBezTo>
                <a:lnTo>
                  <a:pt x="666750" y="0"/>
                </a:lnTo>
                <a:cubicBezTo>
                  <a:pt x="728067" y="0"/>
                  <a:pt x="777875" y="49808"/>
                  <a:pt x="777875" y="111125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87000" y="3937000"/>
            <a:ext cx="4318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B6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87000" y="4064000"/>
            <a:ext cx="431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Memory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(Limited Space)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541000" y="4572000"/>
            <a:ext cx="1270000" cy="635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541000" y="4749800"/>
            <a:ext cx="127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Intrinsic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938000" y="4572000"/>
            <a:ext cx="1270000" cy="635000"/>
          </a:xfrm>
          <a:prstGeom prst="roundRect">
            <a:avLst>
              <a:gd name="adj" fmla="val 10000"/>
            </a:avLst>
          </a:prstGeom>
          <a:solidFill>
            <a:srgbClr val="8C7E6F"/>
          </a:solidFill>
          <a:ln/>
        </p:spPr>
      </p:sp>
      <p:sp>
        <p:nvSpPr>
          <p:cNvPr id="22" name="Text 20"/>
          <p:cNvSpPr/>
          <p:nvPr/>
        </p:nvSpPr>
        <p:spPr>
          <a:xfrm>
            <a:off x="11938000" y="4749800"/>
            <a:ext cx="127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Extraneous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335000" y="4572000"/>
            <a:ext cx="1016000" cy="635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4" name="Text 22"/>
          <p:cNvSpPr/>
          <p:nvPr/>
        </p:nvSpPr>
        <p:spPr>
          <a:xfrm>
            <a:off x="13335000" y="4749800"/>
            <a:ext cx="101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Germane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287000" y="5461000"/>
            <a:ext cx="431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full → information is lost!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430125" y="6477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287000" y="7048500"/>
            <a:ext cx="4318000" cy="762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8" name="Text 26"/>
          <p:cNvSpPr/>
          <p:nvPr/>
        </p:nvSpPr>
        <p:spPr>
          <a:xfrm>
            <a:off x="10287000" y="72390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 Memory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(Unlimited Storage)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Big Ideas to Solve Learning Problems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lecture covers three powerful tools for better design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Cognitive Load Theory — how to reduce mental effort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Integrated Models — how text and pictures work together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4C/ID Model — how to design complete learning experiences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These theories help us create content that actually teaches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these theories as a toolbox. Each tool solves a different problem in multimedia design. Together, they help you build lessons that work.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981075" y="7340600"/>
            <a:ext cx="349250" cy="279400"/>
          </a:xfrm>
          <a:custGeom>
            <a:avLst/>
            <a:gdLst/>
            <a:ahLst/>
            <a:cxnLst/>
            <a:rect l="l" t="t" r="r" b="b"/>
            <a:pathLst>
              <a:path w="349250" h="279400">
                <a:moveTo>
                  <a:pt x="69850" y="17463"/>
                </a:moveTo>
                <a:cubicBezTo>
                  <a:pt x="50587" y="17463"/>
                  <a:pt x="34925" y="33124"/>
                  <a:pt x="34925" y="52388"/>
                </a:cubicBezTo>
                <a:lnTo>
                  <a:pt x="34925" y="183356"/>
                </a:lnTo>
                <a:lnTo>
                  <a:pt x="69850" y="183356"/>
                </a:lnTo>
                <a:lnTo>
                  <a:pt x="69850" y="52388"/>
                </a:lnTo>
                <a:lnTo>
                  <a:pt x="279400" y="52388"/>
                </a:lnTo>
                <a:lnTo>
                  <a:pt x="279400" y="183356"/>
                </a:lnTo>
                <a:lnTo>
                  <a:pt x="314325" y="183356"/>
                </a:lnTo>
                <a:lnTo>
                  <a:pt x="314325" y="52388"/>
                </a:lnTo>
                <a:cubicBezTo>
                  <a:pt x="314325" y="33124"/>
                  <a:pt x="298663" y="17463"/>
                  <a:pt x="279400" y="17463"/>
                </a:cubicBezTo>
                <a:lnTo>
                  <a:pt x="69850" y="17463"/>
                </a:lnTo>
                <a:close/>
                <a:moveTo>
                  <a:pt x="10478" y="209550"/>
                </a:moveTo>
                <a:cubicBezTo>
                  <a:pt x="4693" y="209550"/>
                  <a:pt x="0" y="214243"/>
                  <a:pt x="0" y="220027"/>
                </a:cubicBezTo>
                <a:cubicBezTo>
                  <a:pt x="0" y="243165"/>
                  <a:pt x="18772" y="261938"/>
                  <a:pt x="41910" y="261938"/>
                </a:cubicBezTo>
                <a:lnTo>
                  <a:pt x="307340" y="261938"/>
                </a:lnTo>
                <a:cubicBezTo>
                  <a:pt x="330478" y="261938"/>
                  <a:pt x="349250" y="243165"/>
                  <a:pt x="349250" y="220027"/>
                </a:cubicBezTo>
                <a:cubicBezTo>
                  <a:pt x="349250" y="214243"/>
                  <a:pt x="344557" y="209550"/>
                  <a:pt x="338772" y="209550"/>
                </a:cubicBezTo>
                <a:lnTo>
                  <a:pt x="10478" y="20955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E-learning platforms like Coursera and Khan Academy use all three ideas to design their courses.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1968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5" name="Shape 13"/>
          <p:cNvSpPr/>
          <p:nvPr/>
        </p:nvSpPr>
        <p:spPr>
          <a:xfrm>
            <a:off x="9779000" y="209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0" y="20955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Load Theory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477500" y="2514600"/>
            <a:ext cx="469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Manage the brain's limited capacity by reducing unnecessary mental effort in multimedia design.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98000" y="3937000"/>
            <a:ext cx="6096000" cy="1968500"/>
          </a:xfrm>
          <a:prstGeom prst="roundRect">
            <a:avLst>
              <a:gd name="adj" fmla="val 8000"/>
            </a:avLst>
          </a:prstGeom>
          <a:solidFill>
            <a:srgbClr val="F0EBE3"/>
          </a:solidFill>
          <a:ln/>
        </p:spPr>
      </p:sp>
      <p:sp>
        <p:nvSpPr>
          <p:cNvPr id="19" name="Shape 17"/>
          <p:cNvSpPr/>
          <p:nvPr/>
        </p:nvSpPr>
        <p:spPr>
          <a:xfrm>
            <a:off x="9747250" y="4318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95250" y="95250"/>
                </a:moveTo>
                <a:cubicBezTo>
                  <a:pt x="95250" y="60226"/>
                  <a:pt x="123726" y="31750"/>
                  <a:pt x="158750" y="31750"/>
                </a:cubicBezTo>
                <a:lnTo>
                  <a:pt x="476250" y="31750"/>
                </a:lnTo>
                <a:cubicBezTo>
                  <a:pt x="511274" y="31750"/>
                  <a:pt x="539750" y="60226"/>
                  <a:pt x="539750" y="95250"/>
                </a:cubicBezTo>
                <a:lnTo>
                  <a:pt x="539750" y="349250"/>
                </a:lnTo>
                <a:cubicBezTo>
                  <a:pt x="539750" y="384274"/>
                  <a:pt x="511274" y="412750"/>
                  <a:pt x="476250" y="412750"/>
                </a:cubicBezTo>
                <a:lnTo>
                  <a:pt x="158750" y="412750"/>
                </a:lnTo>
                <a:cubicBezTo>
                  <a:pt x="123726" y="412750"/>
                  <a:pt x="95250" y="384274"/>
                  <a:pt x="95250" y="349250"/>
                </a:cubicBezTo>
                <a:lnTo>
                  <a:pt x="95250" y="95250"/>
                </a:lnTo>
                <a:close/>
                <a:moveTo>
                  <a:pt x="23812" y="127000"/>
                </a:moveTo>
                <a:cubicBezTo>
                  <a:pt x="37009" y="127000"/>
                  <a:pt x="47625" y="137616"/>
                  <a:pt x="47625" y="150813"/>
                </a:cubicBezTo>
                <a:lnTo>
                  <a:pt x="47625" y="444500"/>
                </a:lnTo>
                <a:cubicBezTo>
                  <a:pt x="47625" y="453231"/>
                  <a:pt x="54769" y="460375"/>
                  <a:pt x="63500" y="460375"/>
                </a:cubicBezTo>
                <a:lnTo>
                  <a:pt x="420688" y="460375"/>
                </a:lnTo>
                <a:cubicBezTo>
                  <a:pt x="433884" y="460375"/>
                  <a:pt x="444500" y="470991"/>
                  <a:pt x="444500" y="484187"/>
                </a:cubicBezTo>
                <a:cubicBezTo>
                  <a:pt x="444500" y="497384"/>
                  <a:pt x="433884" y="508000"/>
                  <a:pt x="420688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150813"/>
                </a:lnTo>
                <a:cubicBezTo>
                  <a:pt x="0" y="137616"/>
                  <a:pt x="10616" y="127000"/>
                  <a:pt x="23812" y="127000"/>
                </a:cubicBezTo>
                <a:close/>
                <a:moveTo>
                  <a:pt x="190500" y="158750"/>
                </a:moveTo>
                <a:cubicBezTo>
                  <a:pt x="208023" y="158750"/>
                  <a:pt x="222250" y="144523"/>
                  <a:pt x="222250" y="127000"/>
                </a:cubicBezTo>
                <a:cubicBezTo>
                  <a:pt x="222250" y="109477"/>
                  <a:pt x="208023" y="95250"/>
                  <a:pt x="190500" y="95250"/>
                </a:cubicBezTo>
                <a:cubicBezTo>
                  <a:pt x="172977" y="95250"/>
                  <a:pt x="158750" y="109477"/>
                  <a:pt x="158750" y="127000"/>
                </a:cubicBezTo>
                <a:cubicBezTo>
                  <a:pt x="158750" y="144523"/>
                  <a:pt x="172977" y="158750"/>
                  <a:pt x="190500" y="158750"/>
                </a:cubicBezTo>
                <a:close/>
                <a:moveTo>
                  <a:pt x="385465" y="170160"/>
                </a:moveTo>
                <a:cubicBezTo>
                  <a:pt x="381099" y="163116"/>
                  <a:pt x="373459" y="158750"/>
                  <a:pt x="365125" y="158750"/>
                </a:cubicBezTo>
                <a:cubicBezTo>
                  <a:pt x="356791" y="158750"/>
                  <a:pt x="349151" y="163116"/>
                  <a:pt x="344785" y="170160"/>
                </a:cubicBezTo>
                <a:lnTo>
                  <a:pt x="288925" y="261541"/>
                </a:lnTo>
                <a:lnTo>
                  <a:pt x="264616" y="231180"/>
                </a:lnTo>
                <a:cubicBezTo>
                  <a:pt x="260052" y="225524"/>
                  <a:pt x="253305" y="222250"/>
                  <a:pt x="246063" y="222250"/>
                </a:cubicBezTo>
                <a:cubicBezTo>
                  <a:pt x="238820" y="222250"/>
                  <a:pt x="231973" y="225524"/>
                  <a:pt x="227509" y="231180"/>
                </a:cubicBezTo>
                <a:lnTo>
                  <a:pt x="164009" y="310555"/>
                </a:lnTo>
                <a:cubicBezTo>
                  <a:pt x="158254" y="317698"/>
                  <a:pt x="157163" y="327521"/>
                  <a:pt x="161131" y="335756"/>
                </a:cubicBezTo>
                <a:cubicBezTo>
                  <a:pt x="165100" y="343991"/>
                  <a:pt x="173434" y="349250"/>
                  <a:pt x="182563" y="349250"/>
                </a:cubicBezTo>
                <a:lnTo>
                  <a:pt x="452437" y="349250"/>
                </a:lnTo>
                <a:cubicBezTo>
                  <a:pt x="461070" y="349250"/>
                  <a:pt x="469007" y="344587"/>
                  <a:pt x="473174" y="337046"/>
                </a:cubicBezTo>
                <a:cubicBezTo>
                  <a:pt x="477341" y="329505"/>
                  <a:pt x="477242" y="320377"/>
                  <a:pt x="472678" y="312936"/>
                </a:cubicBezTo>
                <a:lnTo>
                  <a:pt x="385366" y="17006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0" y="4318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Models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77500" y="4737100"/>
            <a:ext cx="469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text and visuals effectively so they support each other rather than compete for attention.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398000" y="6159500"/>
            <a:ext cx="6096000" cy="1968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779000" y="6540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0684" y="5159"/>
                </a:moveTo>
                <a:cubicBezTo>
                  <a:pt x="245467" y="-1687"/>
                  <a:pt x="262533" y="-1687"/>
                  <a:pt x="277316" y="5159"/>
                </a:cubicBezTo>
                <a:lnTo>
                  <a:pt x="494209" y="105370"/>
                </a:lnTo>
                <a:cubicBezTo>
                  <a:pt x="502642" y="109240"/>
                  <a:pt x="508000" y="117673"/>
                  <a:pt x="508000" y="127000"/>
                </a:cubicBezTo>
                <a:cubicBezTo>
                  <a:pt x="508000" y="136327"/>
                  <a:pt x="502642" y="144760"/>
                  <a:pt x="494209" y="148630"/>
                </a:cubicBezTo>
                <a:lnTo>
                  <a:pt x="277316" y="248841"/>
                </a:lnTo>
                <a:cubicBezTo>
                  <a:pt x="262533" y="255687"/>
                  <a:pt x="245467" y="255687"/>
                  <a:pt x="230684" y="248841"/>
                </a:cubicBezTo>
                <a:lnTo>
                  <a:pt x="13791" y="148630"/>
                </a:lnTo>
                <a:cubicBezTo>
                  <a:pt x="5358" y="144661"/>
                  <a:pt x="0" y="136227"/>
                  <a:pt x="0" y="127000"/>
                </a:cubicBezTo>
                <a:cubicBezTo>
                  <a:pt x="0" y="117773"/>
                  <a:pt x="5358" y="109240"/>
                  <a:pt x="13791" y="105370"/>
                </a:cubicBezTo>
                <a:lnTo>
                  <a:pt x="230684" y="5159"/>
                </a:lnTo>
                <a:close/>
                <a:moveTo>
                  <a:pt x="47724" y="216694"/>
                </a:moveTo>
                <a:lnTo>
                  <a:pt x="210741" y="292001"/>
                </a:lnTo>
                <a:cubicBezTo>
                  <a:pt x="238224" y="304701"/>
                  <a:pt x="269875" y="304701"/>
                  <a:pt x="297359" y="292001"/>
                </a:cubicBezTo>
                <a:lnTo>
                  <a:pt x="460375" y="216694"/>
                </a:lnTo>
                <a:lnTo>
                  <a:pt x="494209" y="232370"/>
                </a:lnTo>
                <a:cubicBezTo>
                  <a:pt x="502642" y="236240"/>
                  <a:pt x="508000" y="244673"/>
                  <a:pt x="508000" y="254000"/>
                </a:cubicBezTo>
                <a:cubicBezTo>
                  <a:pt x="508000" y="263327"/>
                  <a:pt x="502642" y="271760"/>
                  <a:pt x="494209" y="275630"/>
                </a:cubicBezTo>
                <a:lnTo>
                  <a:pt x="277316" y="375841"/>
                </a:lnTo>
                <a:cubicBezTo>
                  <a:pt x="262533" y="382687"/>
                  <a:pt x="245467" y="382687"/>
                  <a:pt x="230684" y="375841"/>
                </a:cubicBezTo>
                <a:lnTo>
                  <a:pt x="13791" y="275630"/>
                </a:lnTo>
                <a:cubicBezTo>
                  <a:pt x="5358" y="271661"/>
                  <a:pt x="0" y="263227"/>
                  <a:pt x="0" y="254000"/>
                </a:cubicBezTo>
                <a:cubicBezTo>
                  <a:pt x="0" y="244773"/>
                  <a:pt x="5358" y="236240"/>
                  <a:pt x="13791" y="232370"/>
                </a:cubicBezTo>
                <a:lnTo>
                  <a:pt x="47625" y="216694"/>
                </a:lnTo>
                <a:close/>
                <a:moveTo>
                  <a:pt x="13791" y="359370"/>
                </a:moveTo>
                <a:lnTo>
                  <a:pt x="47625" y="343694"/>
                </a:lnTo>
                <a:lnTo>
                  <a:pt x="210641" y="419001"/>
                </a:lnTo>
                <a:cubicBezTo>
                  <a:pt x="238125" y="431701"/>
                  <a:pt x="269776" y="431701"/>
                  <a:pt x="297259" y="419001"/>
                </a:cubicBezTo>
                <a:lnTo>
                  <a:pt x="460276" y="343694"/>
                </a:lnTo>
                <a:lnTo>
                  <a:pt x="494109" y="359370"/>
                </a:lnTo>
                <a:cubicBezTo>
                  <a:pt x="502543" y="363240"/>
                  <a:pt x="507901" y="371673"/>
                  <a:pt x="507901" y="381000"/>
                </a:cubicBezTo>
                <a:cubicBezTo>
                  <a:pt x="507901" y="390327"/>
                  <a:pt x="502543" y="398760"/>
                  <a:pt x="494109" y="402630"/>
                </a:cubicBezTo>
                <a:lnTo>
                  <a:pt x="277217" y="502841"/>
                </a:lnTo>
                <a:cubicBezTo>
                  <a:pt x="262434" y="509687"/>
                  <a:pt x="245368" y="509687"/>
                  <a:pt x="230584" y="502841"/>
                </a:cubicBezTo>
                <a:lnTo>
                  <a:pt x="13791" y="402630"/>
                </a:lnTo>
                <a:cubicBezTo>
                  <a:pt x="5358" y="398661"/>
                  <a:pt x="0" y="390227"/>
                  <a:pt x="0" y="381000"/>
                </a:cubicBezTo>
                <a:cubicBezTo>
                  <a:pt x="0" y="371773"/>
                  <a:pt x="5358" y="363240"/>
                  <a:pt x="13791" y="35937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0" y="65405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4C/ID Model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77500" y="6959600"/>
            <a:ext cx="469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complete learning experiences with real tasks, support, guidance, and repeated practice.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4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74bepel63lr2/mnt/agents/output/multimedia-learning-theories/images/5_127_678_Classroom_Laptop_Royalty.png">    </p:cNvPr>
          <p:cNvPicPr>
            <a:picLocks noChangeAspect="1"/>
          </p:cNvPicPr>
          <p:nvPr/>
        </p:nvPicPr>
        <p:blipFill>
          <a:blip r:embed="rId1"/>
          <a:srcRect l="23148" r="23148" t="0" b="0"/>
          <a:stretch/>
        </p:blipFill>
        <p:spPr>
          <a:xfrm>
            <a:off x="0" y="0"/>
            <a:ext cx="736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66000" cy="9144000"/>
          </a:xfrm>
          <a:prstGeom prst="rect">
            <a:avLst/>
          </a:prstGeom>
          <a:gradFill rotWithShape="1" flip="none">
            <a:gsLst>
              <a:gs pos="0">
                <a:srgbClr val="134A40">
                  <a:alpha val="0"/>
                </a:srgbClr>
              </a:gs>
              <a:gs pos="60000">
                <a:srgbClr val="134A40">
                  <a:alpha val="50000"/>
                </a:srgbClr>
              </a:gs>
              <a:gs pos="100000">
                <a:srgbClr val="134A40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8128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8128000" y="3683000"/>
            <a:ext cx="1016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3"/>
          <p:cNvSpPr/>
          <p:nvPr/>
        </p:nvSpPr>
        <p:spPr>
          <a:xfrm>
            <a:off x="8128000" y="3937000"/>
            <a:ext cx="736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LOAD THEORY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128000" y="4762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How the Brain Processes Information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128000" y="5715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1: Implications for Multimedia Design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FFFFFF">
                    <a:alpha val="3764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Cognitive Load Theory?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Cognitive Load Theory (CLT) says our brain has limited mental space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John Sweller developed this theory in the 1980s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explains why some lessons feel easy and others feel hard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goal is to design content that matches how our brain works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we respect the brain's limits, learning improves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CLT is like knowing the weight limit of a backpack. If you pack too much, you cannot carry it. If you pack smartly, everything fits.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734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34925" y="17463"/>
                </a:moveTo>
                <a:cubicBezTo>
                  <a:pt x="15662" y="17463"/>
                  <a:pt x="0" y="33124"/>
                  <a:pt x="0" y="52388"/>
                </a:cubicBezTo>
                <a:lnTo>
                  <a:pt x="0" y="192088"/>
                </a:lnTo>
                <a:cubicBezTo>
                  <a:pt x="0" y="211351"/>
                  <a:pt x="15662" y="227013"/>
                  <a:pt x="34925" y="227013"/>
                </a:cubicBezTo>
                <a:lnTo>
                  <a:pt x="113506" y="227013"/>
                </a:lnTo>
                <a:lnTo>
                  <a:pt x="104775" y="253206"/>
                </a:lnTo>
                <a:lnTo>
                  <a:pt x="65484" y="253206"/>
                </a:lnTo>
                <a:cubicBezTo>
                  <a:pt x="58227" y="253206"/>
                  <a:pt x="52388" y="259045"/>
                  <a:pt x="52388" y="266303"/>
                </a:cubicBezTo>
                <a:cubicBezTo>
                  <a:pt x="52388" y="273561"/>
                  <a:pt x="58227" y="279400"/>
                  <a:pt x="65484" y="279400"/>
                </a:cubicBezTo>
                <a:lnTo>
                  <a:pt x="213916" y="279400"/>
                </a:lnTo>
                <a:cubicBezTo>
                  <a:pt x="221173" y="279400"/>
                  <a:pt x="227013" y="273561"/>
                  <a:pt x="227013" y="266303"/>
                </a:cubicBezTo>
                <a:cubicBezTo>
                  <a:pt x="227013" y="259045"/>
                  <a:pt x="221173" y="253206"/>
                  <a:pt x="213916" y="253206"/>
                </a:cubicBezTo>
                <a:lnTo>
                  <a:pt x="174625" y="253206"/>
                </a:lnTo>
                <a:lnTo>
                  <a:pt x="165894" y="227013"/>
                </a:lnTo>
                <a:lnTo>
                  <a:pt x="244475" y="227013"/>
                </a:lnTo>
                <a:cubicBezTo>
                  <a:pt x="263738" y="227013"/>
                  <a:pt x="279400" y="211351"/>
                  <a:pt x="279400" y="192088"/>
                </a:cubicBezTo>
                <a:lnTo>
                  <a:pt x="279400" y="52388"/>
                </a:lnTo>
                <a:cubicBezTo>
                  <a:pt x="279400" y="33124"/>
                  <a:pt x="263738" y="17463"/>
                  <a:pt x="244475" y="17463"/>
                </a:cubicBezTo>
                <a:lnTo>
                  <a:pt x="34925" y="17463"/>
                </a:lnTo>
                <a:close/>
                <a:moveTo>
                  <a:pt x="52388" y="52388"/>
                </a:moveTo>
                <a:lnTo>
                  <a:pt x="227013" y="52388"/>
                </a:lnTo>
                <a:cubicBezTo>
                  <a:pt x="236671" y="52388"/>
                  <a:pt x="244475" y="60191"/>
                  <a:pt x="244475" y="69850"/>
                </a:cubicBezTo>
                <a:lnTo>
                  <a:pt x="244475" y="157163"/>
                </a:lnTo>
                <a:cubicBezTo>
                  <a:pt x="244475" y="166821"/>
                  <a:pt x="236671" y="174625"/>
                  <a:pt x="227013" y="174625"/>
                </a:cubicBezTo>
                <a:lnTo>
                  <a:pt x="52388" y="174625"/>
                </a:lnTo>
                <a:cubicBezTo>
                  <a:pt x="42729" y="174625"/>
                  <a:pt x="34925" y="166821"/>
                  <a:pt x="34925" y="157163"/>
                </a:cubicBezTo>
                <a:lnTo>
                  <a:pt x="34925" y="69850"/>
                </a:lnTo>
                <a:cubicBezTo>
                  <a:pt x="34925" y="60191"/>
                  <a:pt x="42729" y="52388"/>
                  <a:pt x="52388" y="5238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PowerPoint with 20 bullet points overwhelms students; the same content split into 4 slides is much easier to learn.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1905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BACKPACK ANALOGY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938000" y="2540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396875" y="95250"/>
                </a:moveTo>
                <a:lnTo>
                  <a:pt x="619125" y="95250"/>
                </a:lnTo>
                <a:cubicBezTo>
                  <a:pt x="627856" y="95250"/>
                  <a:pt x="635000" y="102394"/>
                  <a:pt x="635000" y="111125"/>
                </a:cubicBezTo>
                <a:lnTo>
                  <a:pt x="635000" y="190500"/>
                </a:lnTo>
                <a:lnTo>
                  <a:pt x="381000" y="190500"/>
                </a:lnTo>
                <a:lnTo>
                  <a:pt x="381000" y="111125"/>
                </a:lnTo>
                <a:cubicBezTo>
                  <a:pt x="381000" y="102394"/>
                  <a:pt x="388144" y="95250"/>
                  <a:pt x="396875" y="95250"/>
                </a:cubicBezTo>
                <a:close/>
                <a:moveTo>
                  <a:pt x="285750" y="111125"/>
                </a:moveTo>
                <a:lnTo>
                  <a:pt x="285750" y="952500"/>
                </a:lnTo>
                <a:lnTo>
                  <a:pt x="730250" y="952500"/>
                </a:lnTo>
                <a:lnTo>
                  <a:pt x="730250" y="111125"/>
                </a:lnTo>
                <a:cubicBezTo>
                  <a:pt x="730250" y="49808"/>
                  <a:pt x="680442" y="0"/>
                  <a:pt x="619125" y="0"/>
                </a:cubicBezTo>
                <a:lnTo>
                  <a:pt x="396875" y="0"/>
                </a:lnTo>
                <a:cubicBezTo>
                  <a:pt x="335558" y="0"/>
                  <a:pt x="285750" y="49808"/>
                  <a:pt x="285750" y="111125"/>
                </a:cubicBezTo>
                <a:close/>
                <a:moveTo>
                  <a:pt x="825500" y="190500"/>
                </a:moveTo>
                <a:lnTo>
                  <a:pt x="825500" y="952500"/>
                </a:lnTo>
                <a:lnTo>
                  <a:pt x="889000" y="952500"/>
                </a:lnTo>
                <a:cubicBezTo>
                  <a:pt x="959048" y="952500"/>
                  <a:pt x="1016000" y="895548"/>
                  <a:pt x="1016000" y="825500"/>
                </a:cubicBezTo>
                <a:lnTo>
                  <a:pt x="1016000" y="317500"/>
                </a:lnTo>
                <a:cubicBezTo>
                  <a:pt x="1016000" y="247452"/>
                  <a:pt x="959048" y="190500"/>
                  <a:pt x="889000" y="190500"/>
                </a:cubicBezTo>
                <a:lnTo>
                  <a:pt x="825500" y="190500"/>
                </a:lnTo>
                <a:close/>
                <a:moveTo>
                  <a:pt x="190500" y="952500"/>
                </a:moveTo>
                <a:lnTo>
                  <a:pt x="190500" y="190500"/>
                </a:lnTo>
                <a:lnTo>
                  <a:pt x="127000" y="190500"/>
                </a:lnTo>
                <a:cubicBezTo>
                  <a:pt x="56952" y="190500"/>
                  <a:pt x="0" y="247452"/>
                  <a:pt x="0" y="317500"/>
                </a:cubicBezTo>
                <a:lnTo>
                  <a:pt x="0" y="825500"/>
                </a:lnTo>
                <a:cubicBezTo>
                  <a:pt x="0" y="895548"/>
                  <a:pt x="56952" y="952500"/>
                  <a:pt x="127000" y="952500"/>
                </a:cubicBezTo>
                <a:lnTo>
                  <a:pt x="190500" y="952500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7" name="Text 15"/>
          <p:cNvSpPr/>
          <p:nvPr/>
        </p:nvSpPr>
        <p:spPr>
          <a:xfrm>
            <a:off x="9906000" y="3810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Brain = A Backpack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33000" y="4318000"/>
            <a:ext cx="1778000" cy="5715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33000" y="4381500"/>
            <a:ext cx="177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Hard Topic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938000" y="4318000"/>
            <a:ext cx="1778000" cy="571500"/>
          </a:xfrm>
          <a:prstGeom prst="roundRect">
            <a:avLst>
              <a:gd name="adj" fmla="val 10000"/>
            </a:avLst>
          </a:prstGeom>
          <a:solidFill>
            <a:srgbClr val="8C7E6F"/>
          </a:solidFill>
          <a:ln/>
        </p:spPr>
      </p:sp>
      <p:sp>
        <p:nvSpPr>
          <p:cNvPr id="21" name="Text 19"/>
          <p:cNvSpPr/>
          <p:nvPr/>
        </p:nvSpPr>
        <p:spPr>
          <a:xfrm>
            <a:off x="11938000" y="4381500"/>
            <a:ext cx="177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Bad Design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795000" y="5080000"/>
            <a:ext cx="1778000" cy="5715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0" y="5143500"/>
            <a:ext cx="1778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 Effort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303125" y="5842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33000" y="6413500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6" name="Text 24"/>
          <p:cNvSpPr/>
          <p:nvPr/>
        </p:nvSpPr>
        <p:spPr>
          <a:xfrm>
            <a:off x="10033000" y="66040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Pack Smart = Learn Better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Types of Cognitive Load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Intrinsic Load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comes from the difficulty of the topic itself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Extraneous Load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comes from poor design and distractions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Germane Load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good mental effort that helps learning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design reduces extraneous load and manages intrinsic load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makes room for germane load — the learning that matters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intrinsic as the weight of essential items, extraneous as packing junk you don't need, and germane as organizing everything efficiently.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734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34870" y="7858"/>
                </a:moveTo>
                <a:cubicBezTo>
                  <a:pt x="34434" y="3383"/>
                  <a:pt x="30669" y="0"/>
                  <a:pt x="26194" y="0"/>
                </a:cubicBezTo>
                <a:cubicBezTo>
                  <a:pt x="21719" y="0"/>
                  <a:pt x="17954" y="3383"/>
                  <a:pt x="17463" y="7804"/>
                </a:cubicBezTo>
                <a:lnTo>
                  <a:pt x="9768" y="81692"/>
                </a:lnTo>
                <a:cubicBezTo>
                  <a:pt x="9059" y="84966"/>
                  <a:pt x="8731" y="88295"/>
                  <a:pt x="8731" y="91624"/>
                </a:cubicBezTo>
                <a:cubicBezTo>
                  <a:pt x="8731" y="116671"/>
                  <a:pt x="27885" y="137244"/>
                  <a:pt x="52388" y="139482"/>
                </a:cubicBezTo>
                <a:lnTo>
                  <a:pt x="52388" y="261938"/>
                </a:lnTo>
                <a:cubicBezTo>
                  <a:pt x="52388" y="271596"/>
                  <a:pt x="60191" y="279400"/>
                  <a:pt x="69850" y="279400"/>
                </a:cubicBezTo>
                <a:cubicBezTo>
                  <a:pt x="79509" y="279400"/>
                  <a:pt x="87313" y="271596"/>
                  <a:pt x="87313" y="261938"/>
                </a:cubicBezTo>
                <a:lnTo>
                  <a:pt x="87313" y="139482"/>
                </a:lnTo>
                <a:cubicBezTo>
                  <a:pt x="111815" y="137244"/>
                  <a:pt x="130969" y="116671"/>
                  <a:pt x="130969" y="91624"/>
                </a:cubicBezTo>
                <a:cubicBezTo>
                  <a:pt x="130969" y="88295"/>
                  <a:pt x="130641" y="84966"/>
                  <a:pt x="129932" y="81692"/>
                </a:cubicBezTo>
                <a:lnTo>
                  <a:pt x="122183" y="7804"/>
                </a:lnTo>
                <a:cubicBezTo>
                  <a:pt x="121746" y="3383"/>
                  <a:pt x="117981" y="0"/>
                  <a:pt x="113506" y="0"/>
                </a:cubicBezTo>
                <a:cubicBezTo>
                  <a:pt x="109031" y="0"/>
                  <a:pt x="105266" y="3383"/>
                  <a:pt x="104830" y="7858"/>
                </a:cubicBezTo>
                <a:lnTo>
                  <a:pt x="97408" y="81801"/>
                </a:lnTo>
                <a:cubicBezTo>
                  <a:pt x="97081" y="84911"/>
                  <a:pt x="94461" y="87313"/>
                  <a:pt x="91351" y="87313"/>
                </a:cubicBezTo>
                <a:cubicBezTo>
                  <a:pt x="88186" y="87313"/>
                  <a:pt x="85566" y="84911"/>
                  <a:pt x="85239" y="81746"/>
                </a:cubicBezTo>
                <a:lnTo>
                  <a:pt x="78527" y="7967"/>
                </a:lnTo>
                <a:cubicBezTo>
                  <a:pt x="78145" y="3438"/>
                  <a:pt x="74379" y="0"/>
                  <a:pt x="69850" y="0"/>
                </a:cubicBezTo>
                <a:cubicBezTo>
                  <a:pt x="65321" y="0"/>
                  <a:pt x="61555" y="3438"/>
                  <a:pt x="61173" y="7967"/>
                </a:cubicBezTo>
                <a:lnTo>
                  <a:pt x="54461" y="81746"/>
                </a:lnTo>
                <a:cubicBezTo>
                  <a:pt x="54188" y="84911"/>
                  <a:pt x="51514" y="87313"/>
                  <a:pt x="48349" y="87313"/>
                </a:cubicBezTo>
                <a:cubicBezTo>
                  <a:pt x="45184" y="87313"/>
                  <a:pt x="42565" y="84911"/>
                  <a:pt x="42292" y="81801"/>
                </a:cubicBezTo>
                <a:lnTo>
                  <a:pt x="34870" y="7858"/>
                </a:lnTo>
                <a:close/>
                <a:moveTo>
                  <a:pt x="244475" y="0"/>
                </a:moveTo>
                <a:cubicBezTo>
                  <a:pt x="235744" y="0"/>
                  <a:pt x="174625" y="17463"/>
                  <a:pt x="174625" y="96044"/>
                </a:cubicBezTo>
                <a:lnTo>
                  <a:pt x="174625" y="157163"/>
                </a:lnTo>
                <a:cubicBezTo>
                  <a:pt x="174625" y="176426"/>
                  <a:pt x="190287" y="192088"/>
                  <a:pt x="209550" y="192088"/>
                </a:cubicBezTo>
                <a:lnTo>
                  <a:pt x="227013" y="192088"/>
                </a:lnTo>
                <a:lnTo>
                  <a:pt x="227013" y="261938"/>
                </a:lnTo>
                <a:cubicBezTo>
                  <a:pt x="227013" y="271596"/>
                  <a:pt x="234816" y="279400"/>
                  <a:pt x="244475" y="279400"/>
                </a:cubicBezTo>
                <a:cubicBezTo>
                  <a:pt x="254134" y="279400"/>
                  <a:pt x="261938" y="271596"/>
                  <a:pt x="261938" y="261938"/>
                </a:cubicBezTo>
                <a:lnTo>
                  <a:pt x="261938" y="17463"/>
                </a:lnTo>
                <a:cubicBezTo>
                  <a:pt x="261938" y="7804"/>
                  <a:pt x="254134" y="0"/>
                  <a:pt x="244475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cooking video: intrinsic = recipe complexity, extraneous = loud music, germane = clear step-by-step visuals.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1905000" cy="6667500"/>
          </a:xfrm>
          <a:prstGeom prst="roundRect">
            <a:avLst>
              <a:gd name="adj" fmla="val 6000"/>
            </a:avLst>
          </a:prstGeom>
          <a:solidFill>
            <a:srgbClr val="E07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9969500" y="2095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33375" y="142875"/>
                </a:moveTo>
                <a:cubicBezTo>
                  <a:pt x="333375" y="116590"/>
                  <a:pt x="354715" y="95250"/>
                  <a:pt x="381000" y="95250"/>
                </a:cubicBezTo>
                <a:cubicBezTo>
                  <a:pt x="407285" y="95250"/>
                  <a:pt x="428625" y="116590"/>
                  <a:pt x="428625" y="142875"/>
                </a:cubicBezTo>
                <a:cubicBezTo>
                  <a:pt x="428625" y="169160"/>
                  <a:pt x="407285" y="190500"/>
                  <a:pt x="381000" y="190500"/>
                </a:cubicBezTo>
                <a:cubicBezTo>
                  <a:pt x="354715" y="190500"/>
                  <a:pt x="333375" y="169160"/>
                  <a:pt x="333375" y="142875"/>
                </a:cubicBezTo>
                <a:close/>
                <a:moveTo>
                  <a:pt x="515689" y="190500"/>
                </a:moveTo>
                <a:cubicBezTo>
                  <a:pt x="520898" y="175617"/>
                  <a:pt x="523875" y="159544"/>
                  <a:pt x="523875" y="142875"/>
                </a:cubicBezTo>
                <a:cubicBezTo>
                  <a:pt x="523875" y="63996"/>
                  <a:pt x="459879" y="0"/>
                  <a:pt x="381000" y="0"/>
                </a:cubicBezTo>
                <a:cubicBezTo>
                  <a:pt x="302121" y="0"/>
                  <a:pt x="238125" y="63996"/>
                  <a:pt x="238125" y="142875"/>
                </a:cubicBezTo>
                <a:cubicBezTo>
                  <a:pt x="238125" y="159544"/>
                  <a:pt x="240953" y="175617"/>
                  <a:pt x="246311" y="190500"/>
                </a:cubicBezTo>
                <a:lnTo>
                  <a:pt x="213866" y="190500"/>
                </a:lnTo>
                <a:cubicBezTo>
                  <a:pt x="171748" y="190500"/>
                  <a:pt x="134689" y="218033"/>
                  <a:pt x="122634" y="258366"/>
                </a:cubicBezTo>
                <a:lnTo>
                  <a:pt x="3572" y="655141"/>
                </a:lnTo>
                <a:cubicBezTo>
                  <a:pt x="1191" y="662880"/>
                  <a:pt x="0" y="670917"/>
                  <a:pt x="0" y="678954"/>
                </a:cubicBezTo>
                <a:cubicBezTo>
                  <a:pt x="0" y="724793"/>
                  <a:pt x="37207" y="762000"/>
                  <a:pt x="83046" y="762000"/>
                </a:cubicBezTo>
                <a:lnTo>
                  <a:pt x="678954" y="762000"/>
                </a:lnTo>
                <a:cubicBezTo>
                  <a:pt x="724793" y="762000"/>
                  <a:pt x="762000" y="724793"/>
                  <a:pt x="762000" y="678954"/>
                </a:cubicBezTo>
                <a:cubicBezTo>
                  <a:pt x="762000" y="670917"/>
                  <a:pt x="760809" y="662880"/>
                  <a:pt x="758428" y="655141"/>
                </a:cubicBezTo>
                <a:lnTo>
                  <a:pt x="639366" y="258514"/>
                </a:lnTo>
                <a:cubicBezTo>
                  <a:pt x="627311" y="218182"/>
                  <a:pt x="590252" y="190649"/>
                  <a:pt x="548134" y="190649"/>
                </a:cubicBezTo>
                <a:lnTo>
                  <a:pt x="515689" y="19064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0" y="3200400"/>
            <a:ext cx="165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INTRINSIC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25000" y="3873500"/>
            <a:ext cx="165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Topic difficulty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be removed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Break into parts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25000" y="7112000"/>
            <a:ext cx="165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Essential weight you must carry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493500" y="1714500"/>
            <a:ext cx="1905000" cy="6667500"/>
          </a:xfrm>
          <a:prstGeom prst="roundRect">
            <a:avLst>
              <a:gd name="adj" fmla="val 6000"/>
            </a:avLst>
          </a:prstGeom>
          <a:solidFill>
            <a:srgbClr val="8C7E6F"/>
          </a:solidFill>
          <a:ln/>
        </p:spPr>
      </p:sp>
      <p:sp>
        <p:nvSpPr>
          <p:cNvPr id="20" name="Shape 18"/>
          <p:cNvSpPr/>
          <p:nvPr/>
        </p:nvSpPr>
        <p:spPr>
          <a:xfrm>
            <a:off x="12112625" y="2095500"/>
            <a:ext cx="666750" cy="762000"/>
          </a:xfrm>
          <a:custGeom>
            <a:avLst/>
            <a:gdLst/>
            <a:ahLst/>
            <a:cxnLst/>
            <a:rect l="l" t="t" r="r" b="b"/>
            <a:pathLst>
              <a:path w="666750" h="762000">
                <a:moveTo>
                  <a:pt x="203448" y="8781"/>
                </a:moveTo>
                <a:cubicBezTo>
                  <a:pt x="209996" y="-10716"/>
                  <a:pt x="228154" y="-23812"/>
                  <a:pt x="248692" y="-23812"/>
                </a:cubicBezTo>
                <a:lnTo>
                  <a:pt x="418207" y="-23812"/>
                </a:lnTo>
                <a:cubicBezTo>
                  <a:pt x="438745" y="-23812"/>
                  <a:pt x="456902" y="-10716"/>
                  <a:pt x="463451" y="8781"/>
                </a:cubicBezTo>
                <a:lnTo>
                  <a:pt x="476250" y="47625"/>
                </a:lnTo>
                <a:lnTo>
                  <a:pt x="619125" y="47625"/>
                </a:lnTo>
                <a:cubicBezTo>
                  <a:pt x="645468" y="47625"/>
                  <a:pt x="666750" y="68907"/>
                  <a:pt x="666750" y="95250"/>
                </a:cubicBezTo>
                <a:cubicBezTo>
                  <a:pt x="666750" y="121593"/>
                  <a:pt x="645468" y="142875"/>
                  <a:pt x="619125" y="142875"/>
                </a:cubicBezTo>
                <a:lnTo>
                  <a:pt x="47625" y="142875"/>
                </a:lnTo>
                <a:cubicBezTo>
                  <a:pt x="21282" y="142875"/>
                  <a:pt x="0" y="121593"/>
                  <a:pt x="0" y="95250"/>
                </a:cubicBezTo>
                <a:cubicBezTo>
                  <a:pt x="0" y="68907"/>
                  <a:pt x="21282" y="47625"/>
                  <a:pt x="47625" y="47625"/>
                </a:cubicBezTo>
                <a:lnTo>
                  <a:pt x="190500" y="47625"/>
                </a:lnTo>
                <a:lnTo>
                  <a:pt x="203448" y="8781"/>
                </a:lnTo>
                <a:close/>
                <a:moveTo>
                  <a:pt x="47625" y="214313"/>
                </a:moveTo>
                <a:lnTo>
                  <a:pt x="619125" y="214313"/>
                </a:lnTo>
                <a:lnTo>
                  <a:pt x="619125" y="666750"/>
                </a:lnTo>
                <a:cubicBezTo>
                  <a:pt x="619125" y="719286"/>
                  <a:pt x="576411" y="762000"/>
                  <a:pt x="523875" y="762000"/>
                </a:cubicBezTo>
                <a:lnTo>
                  <a:pt x="142875" y="762000"/>
                </a:lnTo>
                <a:cubicBezTo>
                  <a:pt x="90339" y="762000"/>
                  <a:pt x="47625" y="719286"/>
                  <a:pt x="47625" y="666750"/>
                </a:cubicBezTo>
                <a:lnTo>
                  <a:pt x="47625" y="214313"/>
                </a:lnTo>
                <a:close/>
                <a:moveTo>
                  <a:pt x="178594" y="309563"/>
                </a:moveTo>
                <a:cubicBezTo>
                  <a:pt x="158800" y="309563"/>
                  <a:pt x="142875" y="325487"/>
                  <a:pt x="142875" y="345281"/>
                </a:cubicBezTo>
                <a:lnTo>
                  <a:pt x="142875" y="631031"/>
                </a:lnTo>
                <a:cubicBezTo>
                  <a:pt x="142875" y="650825"/>
                  <a:pt x="158800" y="666750"/>
                  <a:pt x="178594" y="666750"/>
                </a:cubicBezTo>
                <a:cubicBezTo>
                  <a:pt x="198388" y="666750"/>
                  <a:pt x="214313" y="650825"/>
                  <a:pt x="214313" y="631031"/>
                </a:cubicBezTo>
                <a:lnTo>
                  <a:pt x="214313" y="345281"/>
                </a:lnTo>
                <a:cubicBezTo>
                  <a:pt x="214313" y="325487"/>
                  <a:pt x="198388" y="309563"/>
                  <a:pt x="178594" y="309563"/>
                </a:cubicBezTo>
                <a:close/>
                <a:moveTo>
                  <a:pt x="333375" y="309563"/>
                </a:moveTo>
                <a:cubicBezTo>
                  <a:pt x="313581" y="309563"/>
                  <a:pt x="297656" y="325487"/>
                  <a:pt x="297656" y="345281"/>
                </a:cubicBezTo>
                <a:lnTo>
                  <a:pt x="297656" y="631031"/>
                </a:lnTo>
                <a:cubicBezTo>
                  <a:pt x="297656" y="650825"/>
                  <a:pt x="313581" y="666750"/>
                  <a:pt x="333375" y="666750"/>
                </a:cubicBezTo>
                <a:cubicBezTo>
                  <a:pt x="353169" y="666750"/>
                  <a:pt x="369094" y="650825"/>
                  <a:pt x="369094" y="631031"/>
                </a:cubicBezTo>
                <a:lnTo>
                  <a:pt x="369094" y="345281"/>
                </a:lnTo>
                <a:cubicBezTo>
                  <a:pt x="369094" y="325487"/>
                  <a:pt x="353169" y="309563"/>
                  <a:pt x="333375" y="309563"/>
                </a:cubicBezTo>
                <a:close/>
                <a:moveTo>
                  <a:pt x="488156" y="309563"/>
                </a:moveTo>
                <a:cubicBezTo>
                  <a:pt x="468362" y="309563"/>
                  <a:pt x="452438" y="325487"/>
                  <a:pt x="452438" y="345281"/>
                </a:cubicBezTo>
                <a:lnTo>
                  <a:pt x="452438" y="631031"/>
                </a:lnTo>
                <a:cubicBezTo>
                  <a:pt x="452438" y="650825"/>
                  <a:pt x="468362" y="666750"/>
                  <a:pt x="488156" y="666750"/>
                </a:cubicBezTo>
                <a:cubicBezTo>
                  <a:pt x="507950" y="666750"/>
                  <a:pt x="523875" y="650825"/>
                  <a:pt x="523875" y="631031"/>
                </a:cubicBezTo>
                <a:lnTo>
                  <a:pt x="523875" y="345281"/>
                </a:lnTo>
                <a:cubicBezTo>
                  <a:pt x="523875" y="325487"/>
                  <a:pt x="507950" y="309563"/>
                  <a:pt x="488156" y="3095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620500" y="3200400"/>
            <a:ext cx="165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EXTRANEOUS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620500" y="3873500"/>
            <a:ext cx="165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Bad design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be removed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it up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620500" y="7112000"/>
            <a:ext cx="165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Junk that wastes space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589000" y="1714500"/>
            <a:ext cx="1905000" cy="6667500"/>
          </a:xfrm>
          <a:prstGeom prst="roundRect">
            <a:avLst>
              <a:gd name="adj" fmla="val 6000"/>
            </a:avLst>
          </a:prstGeom>
          <a:solidFill>
            <a:srgbClr val="1B6B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4160500" y="2095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762000"/>
                </a:moveTo>
                <a:cubicBezTo>
                  <a:pt x="591280" y="762000"/>
                  <a:pt x="762000" y="591280"/>
                  <a:pt x="762000" y="381000"/>
                </a:cubicBezTo>
                <a:cubicBezTo>
                  <a:pt x="762000" y="170720"/>
                  <a:pt x="591280" y="0"/>
                  <a:pt x="381000" y="0"/>
                </a:cubicBezTo>
                <a:cubicBezTo>
                  <a:pt x="170720" y="0"/>
                  <a:pt x="0" y="170720"/>
                  <a:pt x="0" y="381000"/>
                </a:cubicBezTo>
                <a:cubicBezTo>
                  <a:pt x="0" y="591280"/>
                  <a:pt x="170720" y="762000"/>
                  <a:pt x="381000" y="762000"/>
                </a:cubicBezTo>
                <a:close/>
                <a:moveTo>
                  <a:pt x="506611" y="316557"/>
                </a:moveTo>
                <a:lnTo>
                  <a:pt x="387548" y="507057"/>
                </a:lnTo>
                <a:cubicBezTo>
                  <a:pt x="381298" y="517029"/>
                  <a:pt x="370582" y="523280"/>
                  <a:pt x="358825" y="523875"/>
                </a:cubicBezTo>
                <a:cubicBezTo>
                  <a:pt x="347067" y="524470"/>
                  <a:pt x="335756" y="519113"/>
                  <a:pt x="328761" y="509587"/>
                </a:cubicBezTo>
                <a:lnTo>
                  <a:pt x="257324" y="414337"/>
                </a:lnTo>
                <a:cubicBezTo>
                  <a:pt x="245418" y="398562"/>
                  <a:pt x="248692" y="376238"/>
                  <a:pt x="264468" y="364331"/>
                </a:cubicBezTo>
                <a:cubicBezTo>
                  <a:pt x="280243" y="352425"/>
                  <a:pt x="302568" y="355699"/>
                  <a:pt x="314474" y="371475"/>
                </a:cubicBezTo>
                <a:lnTo>
                  <a:pt x="354657" y="425053"/>
                </a:lnTo>
                <a:lnTo>
                  <a:pt x="446038" y="278755"/>
                </a:lnTo>
                <a:cubicBezTo>
                  <a:pt x="456456" y="262086"/>
                  <a:pt x="478482" y="256877"/>
                  <a:pt x="495300" y="267444"/>
                </a:cubicBezTo>
                <a:cubicBezTo>
                  <a:pt x="512118" y="278011"/>
                  <a:pt x="517178" y="299889"/>
                  <a:pt x="506611" y="3167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3716000" y="3200400"/>
            <a:ext cx="165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GERMANE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0" y="3873500"/>
            <a:ext cx="165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 effort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Helps learning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room for it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716000" y="7112000"/>
            <a:ext cx="165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Effort that builds understanding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Intrinsic Load — The Difficulty of the Content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Some topics are naturally harder than others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Learning quantum physics has higher load than learning colors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cannot make the topic easier, but you can break it into parts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Teach one small piece at a time instead of everything at once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is why good lessons progress from simple to complex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Intrinsic load is like the weight of necessary items in your backpack. You cannot leave them behind, but you can carry them one at a time.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998538" y="73406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26194" y="106849"/>
                </a:moveTo>
                <a:lnTo>
                  <a:pt x="140355" y="153834"/>
                </a:lnTo>
                <a:cubicBezTo>
                  <a:pt x="145703" y="156017"/>
                  <a:pt x="151378" y="157163"/>
                  <a:pt x="157163" y="157163"/>
                </a:cubicBezTo>
                <a:cubicBezTo>
                  <a:pt x="162947" y="157163"/>
                  <a:pt x="168622" y="156017"/>
                  <a:pt x="173970" y="153834"/>
                </a:cubicBezTo>
                <a:lnTo>
                  <a:pt x="306249" y="99373"/>
                </a:lnTo>
                <a:cubicBezTo>
                  <a:pt x="311160" y="97353"/>
                  <a:pt x="314325" y="92606"/>
                  <a:pt x="314325" y="87312"/>
                </a:cubicBezTo>
                <a:cubicBezTo>
                  <a:pt x="314325" y="82019"/>
                  <a:pt x="311160" y="77272"/>
                  <a:pt x="306249" y="75252"/>
                </a:cubicBezTo>
                <a:lnTo>
                  <a:pt x="173970" y="20791"/>
                </a:lnTo>
                <a:cubicBezTo>
                  <a:pt x="168622" y="18608"/>
                  <a:pt x="162947" y="17463"/>
                  <a:pt x="157163" y="17463"/>
                </a:cubicBezTo>
                <a:cubicBezTo>
                  <a:pt x="151378" y="17463"/>
                  <a:pt x="145703" y="18608"/>
                  <a:pt x="140355" y="20791"/>
                </a:cubicBezTo>
                <a:lnTo>
                  <a:pt x="8076" y="75252"/>
                </a:lnTo>
                <a:cubicBezTo>
                  <a:pt x="3165" y="77272"/>
                  <a:pt x="0" y="82019"/>
                  <a:pt x="0" y="87313"/>
                </a:cubicBezTo>
                <a:lnTo>
                  <a:pt x="0" y="248841"/>
                </a:lnTo>
                <a:cubicBezTo>
                  <a:pt x="0" y="256098"/>
                  <a:pt x="5839" y="261938"/>
                  <a:pt x="13097" y="261938"/>
                </a:cubicBezTo>
                <a:cubicBezTo>
                  <a:pt x="20355" y="261938"/>
                  <a:pt x="26194" y="256098"/>
                  <a:pt x="26194" y="248841"/>
                </a:cubicBezTo>
                <a:lnTo>
                  <a:pt x="26194" y="106849"/>
                </a:lnTo>
                <a:close/>
                <a:moveTo>
                  <a:pt x="52388" y="145976"/>
                </a:moveTo>
                <a:lnTo>
                  <a:pt x="52388" y="209550"/>
                </a:lnTo>
                <a:cubicBezTo>
                  <a:pt x="52388" y="238472"/>
                  <a:pt x="99318" y="261938"/>
                  <a:pt x="157163" y="261938"/>
                </a:cubicBezTo>
                <a:cubicBezTo>
                  <a:pt x="215007" y="261938"/>
                  <a:pt x="261938" y="238472"/>
                  <a:pt x="261938" y="209550"/>
                </a:cubicBezTo>
                <a:lnTo>
                  <a:pt x="261938" y="145921"/>
                </a:lnTo>
                <a:lnTo>
                  <a:pt x="183957" y="178063"/>
                </a:lnTo>
                <a:cubicBezTo>
                  <a:pt x="175444" y="181555"/>
                  <a:pt x="166385" y="183356"/>
                  <a:pt x="157163" y="183356"/>
                </a:cubicBezTo>
                <a:cubicBezTo>
                  <a:pt x="147940" y="183356"/>
                  <a:pt x="138881" y="181555"/>
                  <a:pt x="130368" y="178063"/>
                </a:cubicBezTo>
                <a:lnTo>
                  <a:pt x="52388" y="14592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Khan Academy teaches math by breaking complex problems into small, manageable steps with video explanations.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1905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TO COMPLEX PROGRESSION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33000" y="2667000"/>
            <a:ext cx="4826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B6B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60000" y="2730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858500" y="28194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basic concepts first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303125" y="3556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33000" y="4064000"/>
            <a:ext cx="4826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B6B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0000" y="4127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858500" y="42164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with guided examples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303125" y="4953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033000" y="5461000"/>
            <a:ext cx="4826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60000" y="5524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858500" y="56134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Tackle complex problems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303125" y="6350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033000" y="6858000"/>
            <a:ext cx="4826000" cy="762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29" name="Text 27"/>
          <p:cNvSpPr/>
          <p:nvPr/>
        </p:nvSpPr>
        <p:spPr>
          <a:xfrm>
            <a:off x="10160000" y="6921500"/>
            <a:ext cx="63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858500" y="70104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 the full skill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Extraneous Load — Bad Design Wastes Brain Power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Extraneous load comes from how content is presented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Too much text, confusing layouts, and unnecessary animations add load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is the ONLY type of load we can completely remove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Clean design, clear labels, and simple layouts reduce this load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bit of extraneous load removed makes room for learning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Extraneous load is like packing items you don't need. They take up space and make your backpack heavier without adding value. Remove them.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734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91132" y="91132"/>
                </a:moveTo>
                <a:cubicBezTo>
                  <a:pt x="96262" y="86003"/>
                  <a:pt x="104557" y="86003"/>
                  <a:pt x="109632" y="91132"/>
                </a:cubicBezTo>
                <a:lnTo>
                  <a:pt x="139645" y="121146"/>
                </a:lnTo>
                <a:lnTo>
                  <a:pt x="169659" y="91132"/>
                </a:lnTo>
                <a:cubicBezTo>
                  <a:pt x="174789" y="86003"/>
                  <a:pt x="183083" y="86003"/>
                  <a:pt x="188158" y="91132"/>
                </a:cubicBezTo>
                <a:cubicBezTo>
                  <a:pt x="193233" y="96262"/>
                  <a:pt x="193288" y="104557"/>
                  <a:pt x="188158" y="109632"/>
                </a:cubicBezTo>
                <a:lnTo>
                  <a:pt x="158145" y="139645"/>
                </a:lnTo>
                <a:lnTo>
                  <a:pt x="188158" y="169659"/>
                </a:lnTo>
                <a:cubicBezTo>
                  <a:pt x="193288" y="174789"/>
                  <a:pt x="193288" y="183083"/>
                  <a:pt x="188158" y="188158"/>
                </a:cubicBezTo>
                <a:cubicBezTo>
                  <a:pt x="183029" y="193233"/>
                  <a:pt x="174734" y="193288"/>
                  <a:pt x="169659" y="188158"/>
                </a:cubicBezTo>
                <a:lnTo>
                  <a:pt x="139645" y="158145"/>
                </a:lnTo>
                <a:lnTo>
                  <a:pt x="109632" y="188158"/>
                </a:lnTo>
                <a:cubicBezTo>
                  <a:pt x="104502" y="193288"/>
                  <a:pt x="96207" y="193288"/>
                  <a:pt x="91132" y="188158"/>
                </a:cubicBezTo>
                <a:cubicBezTo>
                  <a:pt x="86057" y="183029"/>
                  <a:pt x="86003" y="174734"/>
                  <a:pt x="91132" y="169659"/>
                </a:cubicBezTo>
                <a:lnTo>
                  <a:pt x="121146" y="139645"/>
                </a:lnTo>
                <a:lnTo>
                  <a:pt x="91132" y="109632"/>
                </a:lnTo>
                <a:cubicBezTo>
                  <a:pt x="86003" y="104502"/>
                  <a:pt x="86003" y="96207"/>
                  <a:pt x="91132" y="9113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slide with animated GIFs, 5 different fonts, and a busy background distracts from the actual message.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2921000" cy="666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8500" y="1905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BAD DESIGN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6045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165695" y="165695"/>
                </a:moveTo>
                <a:cubicBezTo>
                  <a:pt x="175022" y="156369"/>
                  <a:pt x="190103" y="156369"/>
                  <a:pt x="199330" y="165695"/>
                </a:cubicBezTo>
                <a:lnTo>
                  <a:pt x="253901" y="220266"/>
                </a:lnTo>
                <a:lnTo>
                  <a:pt x="308471" y="165695"/>
                </a:lnTo>
                <a:cubicBezTo>
                  <a:pt x="317798" y="156369"/>
                  <a:pt x="332879" y="156369"/>
                  <a:pt x="342106" y="165695"/>
                </a:cubicBezTo>
                <a:cubicBezTo>
                  <a:pt x="351334" y="175022"/>
                  <a:pt x="351433" y="190103"/>
                  <a:pt x="342106" y="199330"/>
                </a:cubicBezTo>
                <a:lnTo>
                  <a:pt x="287536" y="253901"/>
                </a:lnTo>
                <a:lnTo>
                  <a:pt x="342106" y="308471"/>
                </a:lnTo>
                <a:cubicBezTo>
                  <a:pt x="351433" y="317798"/>
                  <a:pt x="351433" y="332879"/>
                  <a:pt x="342106" y="342106"/>
                </a:cubicBezTo>
                <a:cubicBezTo>
                  <a:pt x="332780" y="351334"/>
                  <a:pt x="317698" y="351433"/>
                  <a:pt x="308471" y="342106"/>
                </a:cubicBezTo>
                <a:lnTo>
                  <a:pt x="253901" y="287536"/>
                </a:lnTo>
                <a:lnTo>
                  <a:pt x="199330" y="342106"/>
                </a:lnTo>
                <a:cubicBezTo>
                  <a:pt x="190004" y="351433"/>
                  <a:pt x="174923" y="351433"/>
                  <a:pt x="165695" y="342106"/>
                </a:cubicBezTo>
                <a:cubicBezTo>
                  <a:pt x="156468" y="332780"/>
                  <a:pt x="156369" y="317698"/>
                  <a:pt x="165695" y="308471"/>
                </a:cubicBezTo>
                <a:lnTo>
                  <a:pt x="220266" y="253901"/>
                </a:lnTo>
                <a:lnTo>
                  <a:pt x="165695" y="199330"/>
                </a:lnTo>
                <a:cubicBezTo>
                  <a:pt x="156369" y="190004"/>
                  <a:pt x="156369" y="174923"/>
                  <a:pt x="165695" y="16569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9652000" y="3111500"/>
            <a:ext cx="2413000" cy="444500"/>
          </a:xfrm>
          <a:prstGeom prst="roundRect">
            <a:avLst>
              <a:gd name="adj" fmla="val 10000"/>
            </a:avLst>
          </a:prstGeom>
          <a:solidFill>
            <a:srgbClr val="FFE5E5"/>
          </a:solidFill>
          <a:ln/>
        </p:spPr>
      </p:sp>
      <p:sp>
        <p:nvSpPr>
          <p:cNvPr id="18" name="Text 16"/>
          <p:cNvSpPr/>
          <p:nvPr/>
        </p:nvSpPr>
        <p:spPr>
          <a:xfrm>
            <a:off x="9652000" y="31496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 much text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52000" y="3746500"/>
            <a:ext cx="2413000" cy="444500"/>
          </a:xfrm>
          <a:prstGeom prst="roundRect">
            <a:avLst>
              <a:gd name="adj" fmla="val 10000"/>
            </a:avLst>
          </a:prstGeom>
          <a:solidFill>
            <a:srgbClr val="FFE5E5"/>
          </a:solidFill>
          <a:ln/>
        </p:spPr>
      </p:sp>
      <p:sp>
        <p:nvSpPr>
          <p:cNvPr id="20" name="Text 18"/>
          <p:cNvSpPr/>
          <p:nvPr/>
        </p:nvSpPr>
        <p:spPr>
          <a:xfrm>
            <a:off x="9652000" y="37846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Busy background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52000" y="4381500"/>
            <a:ext cx="2413000" cy="444500"/>
          </a:xfrm>
          <a:prstGeom prst="roundRect">
            <a:avLst>
              <a:gd name="adj" fmla="val 10000"/>
            </a:avLst>
          </a:prstGeom>
          <a:solidFill>
            <a:srgbClr val="FFE5E5"/>
          </a:solidFill>
          <a:ln/>
        </p:spPr>
      </p:sp>
      <p:sp>
        <p:nvSpPr>
          <p:cNvPr id="22" name="Text 20"/>
          <p:cNvSpPr/>
          <p:nvPr/>
        </p:nvSpPr>
        <p:spPr>
          <a:xfrm>
            <a:off x="9652000" y="44196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Crazy animations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52000" y="5016500"/>
            <a:ext cx="2413000" cy="444500"/>
          </a:xfrm>
          <a:prstGeom prst="roundRect">
            <a:avLst>
              <a:gd name="adj" fmla="val 10000"/>
            </a:avLst>
          </a:prstGeom>
          <a:solidFill>
            <a:srgbClr val="FFE5E5"/>
          </a:solidFill>
          <a:ln/>
        </p:spPr>
      </p:sp>
      <p:sp>
        <p:nvSpPr>
          <p:cNvPr id="24" name="Text 22"/>
          <p:cNvSpPr/>
          <p:nvPr/>
        </p:nvSpPr>
        <p:spPr>
          <a:xfrm>
            <a:off x="9652000" y="50546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5+ fonts used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52000" y="5651500"/>
            <a:ext cx="2413000" cy="444500"/>
          </a:xfrm>
          <a:prstGeom prst="roundRect">
            <a:avLst>
              <a:gd name="adj" fmla="val 10000"/>
            </a:avLst>
          </a:prstGeom>
          <a:solidFill>
            <a:srgbClr val="FFE5E5"/>
          </a:solidFill>
          <a:ln/>
        </p:spPr>
      </p:sp>
      <p:sp>
        <p:nvSpPr>
          <p:cNvPr id="26" name="Text 24"/>
          <p:cNvSpPr/>
          <p:nvPr/>
        </p:nvSpPr>
        <p:spPr>
          <a:xfrm>
            <a:off x="9652000" y="56896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visual hierarchy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573000" y="1714500"/>
            <a:ext cx="2921000" cy="666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B6B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763500" y="1905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DESIGN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3779500" y="2349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30" name="Shape 28"/>
          <p:cNvSpPr/>
          <p:nvPr/>
        </p:nvSpPr>
        <p:spPr>
          <a:xfrm>
            <a:off x="12827000" y="3111500"/>
            <a:ext cx="2413000" cy="444500"/>
          </a:xfrm>
          <a:prstGeom prst="roundRect">
            <a:avLst>
              <a:gd name="adj" fmla="val 10000"/>
            </a:avLst>
          </a:prstGeom>
          <a:solidFill>
            <a:srgbClr val="E8F0E6"/>
          </a:solidFill>
          <a:ln/>
        </p:spPr>
      </p:sp>
      <p:sp>
        <p:nvSpPr>
          <p:cNvPr id="31" name="Text 29"/>
          <p:cNvSpPr/>
          <p:nvPr/>
        </p:nvSpPr>
        <p:spPr>
          <a:xfrm>
            <a:off x="12827000" y="31496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Short, clear text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827000" y="3746500"/>
            <a:ext cx="2413000" cy="444500"/>
          </a:xfrm>
          <a:prstGeom prst="roundRect">
            <a:avLst>
              <a:gd name="adj" fmla="val 10000"/>
            </a:avLst>
          </a:prstGeom>
          <a:solidFill>
            <a:srgbClr val="E8F0E6"/>
          </a:solidFill>
          <a:ln/>
        </p:spPr>
      </p:sp>
      <p:sp>
        <p:nvSpPr>
          <p:cNvPr id="33" name="Text 31"/>
          <p:cNvSpPr/>
          <p:nvPr/>
        </p:nvSpPr>
        <p:spPr>
          <a:xfrm>
            <a:off x="12827000" y="37846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background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827000" y="4381500"/>
            <a:ext cx="2413000" cy="444500"/>
          </a:xfrm>
          <a:prstGeom prst="roundRect">
            <a:avLst>
              <a:gd name="adj" fmla="val 10000"/>
            </a:avLst>
          </a:prstGeom>
          <a:solidFill>
            <a:srgbClr val="E8F0E6"/>
          </a:solidFill>
          <a:ln/>
        </p:spPr>
      </p:sp>
      <p:sp>
        <p:nvSpPr>
          <p:cNvPr id="35" name="Text 33"/>
          <p:cNvSpPr/>
          <p:nvPr/>
        </p:nvSpPr>
        <p:spPr>
          <a:xfrm>
            <a:off x="12827000" y="44196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Subtle transitions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2827000" y="5016500"/>
            <a:ext cx="2413000" cy="444500"/>
          </a:xfrm>
          <a:prstGeom prst="roundRect">
            <a:avLst>
              <a:gd name="adj" fmla="val 10000"/>
            </a:avLst>
          </a:prstGeom>
          <a:solidFill>
            <a:srgbClr val="E8F0E6"/>
          </a:solidFill>
          <a:ln/>
        </p:spPr>
      </p:sp>
      <p:sp>
        <p:nvSpPr>
          <p:cNvPr id="37" name="Text 35"/>
          <p:cNvSpPr/>
          <p:nvPr/>
        </p:nvSpPr>
        <p:spPr>
          <a:xfrm>
            <a:off x="12827000" y="50546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1-2 fonts max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2827000" y="5651500"/>
            <a:ext cx="2413000" cy="444500"/>
          </a:xfrm>
          <a:prstGeom prst="roundRect">
            <a:avLst>
              <a:gd name="adj" fmla="val 10000"/>
            </a:avLst>
          </a:prstGeom>
          <a:solidFill>
            <a:srgbClr val="E8F0E6"/>
          </a:solidFill>
          <a:ln/>
        </p:spPr>
      </p:sp>
      <p:sp>
        <p:nvSpPr>
          <p:cNvPr id="39" name="Text 37"/>
          <p:cNvSpPr/>
          <p:nvPr/>
        </p:nvSpPr>
        <p:spPr>
          <a:xfrm>
            <a:off x="12827000" y="56896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visual hierarchy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Germane Load — The Good Kind of Mental Effort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Germane load is the mental work that actually helps you learn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happens when you connect new information to what you know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multimedia design creates space for germane load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By reducing extraneous load, we free up mental space for this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is where deep understanding and memory building happen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Germane load is like organizing your backpack efficiently. It takes effort, but it helps you find things later and carry everything better.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734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279400"/>
                </a:moveTo>
                <a:cubicBezTo>
                  <a:pt x="216803" y="279400"/>
                  <a:pt x="279400" y="216803"/>
                  <a:pt x="279400" y="139700"/>
                </a:cubicBezTo>
                <a:cubicBezTo>
                  <a:pt x="279400" y="62597"/>
                  <a:pt x="216803" y="0"/>
                  <a:pt x="139700" y="0"/>
                </a:cubicBezTo>
                <a:cubicBezTo>
                  <a:pt x="62597" y="0"/>
                  <a:pt x="0" y="62597"/>
                  <a:pt x="0" y="139700"/>
                </a:cubicBezTo>
                <a:cubicBezTo>
                  <a:pt x="0" y="216803"/>
                  <a:pt x="62597" y="279400"/>
                  <a:pt x="139700" y="279400"/>
                </a:cubicBezTo>
                <a:close/>
                <a:moveTo>
                  <a:pt x="139700" y="96044"/>
                </a:moveTo>
                <a:cubicBezTo>
                  <a:pt x="130041" y="96044"/>
                  <a:pt x="122238" y="103847"/>
                  <a:pt x="122238" y="113506"/>
                </a:cubicBezTo>
                <a:cubicBezTo>
                  <a:pt x="122238" y="120764"/>
                  <a:pt x="116398" y="126603"/>
                  <a:pt x="109141" y="126603"/>
                </a:cubicBezTo>
                <a:cubicBezTo>
                  <a:pt x="101883" y="126603"/>
                  <a:pt x="96044" y="120764"/>
                  <a:pt x="96044" y="113506"/>
                </a:cubicBezTo>
                <a:cubicBezTo>
                  <a:pt x="96044" y="89386"/>
                  <a:pt x="115580" y="69850"/>
                  <a:pt x="139700" y="69850"/>
                </a:cubicBezTo>
                <a:cubicBezTo>
                  <a:pt x="163820" y="69850"/>
                  <a:pt x="183356" y="89386"/>
                  <a:pt x="183356" y="113506"/>
                </a:cubicBezTo>
                <a:cubicBezTo>
                  <a:pt x="183356" y="139263"/>
                  <a:pt x="163711" y="150178"/>
                  <a:pt x="152797" y="154161"/>
                </a:cubicBezTo>
                <a:lnTo>
                  <a:pt x="152797" y="156235"/>
                </a:lnTo>
                <a:cubicBezTo>
                  <a:pt x="152797" y="163493"/>
                  <a:pt x="146958" y="169332"/>
                  <a:pt x="139700" y="169332"/>
                </a:cubicBezTo>
                <a:cubicBezTo>
                  <a:pt x="132442" y="169332"/>
                  <a:pt x="126603" y="163493"/>
                  <a:pt x="126603" y="156235"/>
                </a:cubicBezTo>
                <a:lnTo>
                  <a:pt x="126603" y="151815"/>
                </a:lnTo>
                <a:cubicBezTo>
                  <a:pt x="126603" y="140628"/>
                  <a:pt x="134680" y="132606"/>
                  <a:pt x="143029" y="129877"/>
                </a:cubicBezTo>
                <a:cubicBezTo>
                  <a:pt x="146521" y="128731"/>
                  <a:pt x="150232" y="126876"/>
                  <a:pt x="152961" y="124257"/>
                </a:cubicBezTo>
                <a:cubicBezTo>
                  <a:pt x="155307" y="121965"/>
                  <a:pt x="157163" y="118800"/>
                  <a:pt x="157163" y="113561"/>
                </a:cubicBezTo>
                <a:cubicBezTo>
                  <a:pt x="157163" y="103902"/>
                  <a:pt x="149359" y="96098"/>
                  <a:pt x="139700" y="96098"/>
                </a:cubicBezTo>
                <a:close/>
                <a:moveTo>
                  <a:pt x="122238" y="200819"/>
                </a:moveTo>
                <a:cubicBezTo>
                  <a:pt x="122238" y="191181"/>
                  <a:pt x="130062" y="183356"/>
                  <a:pt x="139700" y="183356"/>
                </a:cubicBezTo>
                <a:cubicBezTo>
                  <a:pt x="149338" y="183356"/>
                  <a:pt x="157163" y="191181"/>
                  <a:pt x="157163" y="200819"/>
                </a:cubicBezTo>
                <a:cubicBezTo>
                  <a:pt x="157163" y="210457"/>
                  <a:pt x="149338" y="218281"/>
                  <a:pt x="139700" y="218281"/>
                </a:cubicBezTo>
                <a:cubicBezTo>
                  <a:pt x="130062" y="218281"/>
                  <a:pt x="122238" y="210457"/>
                  <a:pt x="122238" y="20081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interactive quiz after a video lesson helps students connect new knowledge to what they already know.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1905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BRAIN CONNECTIONS DIAGRAM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414000" y="2667000"/>
            <a:ext cx="1270000" cy="635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0" y="2755900"/>
            <a:ext cx="127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 Knowledge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208000" y="2667000"/>
            <a:ext cx="1270000" cy="635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19" name="Text 17"/>
          <p:cNvSpPr/>
          <p:nvPr/>
        </p:nvSpPr>
        <p:spPr>
          <a:xfrm>
            <a:off x="13208000" y="2844800"/>
            <a:ext cx="127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Info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684000" y="2984500"/>
            <a:ext cx="1524000" cy="0"/>
          </a:xfrm>
          <a:prstGeom prst="straightConnector1">
            <a:avLst/>
          </a:prstGeom>
          <a:noFill/>
          <a:ln w="25400">
            <a:solidFill>
              <a:srgbClr val="1B6B5C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1811000" y="3937000"/>
            <a:ext cx="1270000" cy="635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2" name="Text 20"/>
          <p:cNvSpPr/>
          <p:nvPr/>
        </p:nvSpPr>
        <p:spPr>
          <a:xfrm>
            <a:off x="11811000" y="4051300"/>
            <a:ext cx="127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049000" y="3302000"/>
            <a:ext cx="1016000" cy="635000"/>
          </a:xfrm>
          <a:prstGeom prst="straightConnector1">
            <a:avLst/>
          </a:prstGeom>
          <a:noFill/>
          <a:ln w="25400">
            <a:solidFill>
              <a:srgbClr val="1B6B5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 flipH="1">
            <a:off x="12446000" y="3302000"/>
            <a:ext cx="1016000" cy="63500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arrow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10414000" y="5207000"/>
            <a:ext cx="1270000" cy="635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6" name="Text 24"/>
          <p:cNvSpPr/>
          <p:nvPr/>
        </p:nvSpPr>
        <p:spPr>
          <a:xfrm>
            <a:off x="10414000" y="5384800"/>
            <a:ext cx="127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208000" y="5207000"/>
            <a:ext cx="1270000" cy="635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13208000" y="5384800"/>
            <a:ext cx="127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049000" y="4572000"/>
            <a:ext cx="1016000" cy="635000"/>
          </a:xfrm>
          <a:prstGeom prst="straightConnector1">
            <a:avLst/>
          </a:prstGeom>
          <a:noFill/>
          <a:ln w="25400">
            <a:solidFill>
              <a:srgbClr val="1B6B5C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 flipH="1">
            <a:off x="12446000" y="4572000"/>
            <a:ext cx="1016000" cy="63500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arrow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1176000" y="6477000"/>
            <a:ext cx="2540000" cy="635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32" name="Text 30"/>
          <p:cNvSpPr/>
          <p:nvPr/>
        </p:nvSpPr>
        <p:spPr>
          <a:xfrm>
            <a:off x="11176000" y="6604000"/>
            <a:ext cx="254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Reduce Cognitive Load in Multimedia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simple layouts with plenty of white space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Present one concept at a time, not multiple ideas together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clear headings and visual hierarchy to guide attention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Replace long text with diagrams and visuals where possible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Always ask: "Does this element help learning or distract?"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element on your slide should earn its place. If it does not help learning, remove it. Simple is always better.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462" y="73406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122238" y="61119"/>
                </a:moveTo>
                <a:cubicBezTo>
                  <a:pt x="117435" y="61119"/>
                  <a:pt x="113506" y="57190"/>
                  <a:pt x="113506" y="52388"/>
                </a:cubicBezTo>
                <a:lnTo>
                  <a:pt x="113506" y="43656"/>
                </a:lnTo>
                <a:cubicBezTo>
                  <a:pt x="113506" y="19536"/>
                  <a:pt x="133042" y="0"/>
                  <a:pt x="157163" y="0"/>
                </a:cubicBezTo>
                <a:lnTo>
                  <a:pt x="165894" y="0"/>
                </a:lnTo>
                <a:cubicBezTo>
                  <a:pt x="170696" y="0"/>
                  <a:pt x="174625" y="3929"/>
                  <a:pt x="174625" y="8731"/>
                </a:cubicBezTo>
                <a:lnTo>
                  <a:pt x="174625" y="17463"/>
                </a:lnTo>
                <a:cubicBezTo>
                  <a:pt x="174625" y="41583"/>
                  <a:pt x="155089" y="61119"/>
                  <a:pt x="130969" y="61119"/>
                </a:cubicBezTo>
                <a:lnTo>
                  <a:pt x="122238" y="61119"/>
                </a:lnTo>
                <a:close/>
                <a:moveTo>
                  <a:pt x="0" y="157163"/>
                </a:moveTo>
                <a:cubicBezTo>
                  <a:pt x="0" y="115525"/>
                  <a:pt x="19482" y="69850"/>
                  <a:pt x="61119" y="69850"/>
                </a:cubicBezTo>
                <a:cubicBezTo>
                  <a:pt x="76016" y="69850"/>
                  <a:pt x="93697" y="75471"/>
                  <a:pt x="106248" y="80382"/>
                </a:cubicBezTo>
                <a:cubicBezTo>
                  <a:pt x="116508" y="84366"/>
                  <a:pt x="128022" y="84366"/>
                  <a:pt x="138281" y="80382"/>
                </a:cubicBezTo>
                <a:cubicBezTo>
                  <a:pt x="150778" y="75525"/>
                  <a:pt x="168513" y="69850"/>
                  <a:pt x="183411" y="69850"/>
                </a:cubicBezTo>
                <a:cubicBezTo>
                  <a:pt x="225048" y="69850"/>
                  <a:pt x="244530" y="115525"/>
                  <a:pt x="244530" y="157163"/>
                </a:cubicBezTo>
                <a:cubicBezTo>
                  <a:pt x="244530" y="227013"/>
                  <a:pt x="200873" y="279400"/>
                  <a:pt x="157217" y="279400"/>
                </a:cubicBezTo>
                <a:cubicBezTo>
                  <a:pt x="148213" y="279400"/>
                  <a:pt x="136426" y="275798"/>
                  <a:pt x="129113" y="273234"/>
                </a:cubicBezTo>
                <a:cubicBezTo>
                  <a:pt x="124693" y="271706"/>
                  <a:pt x="119891" y="271706"/>
                  <a:pt x="115471" y="273234"/>
                </a:cubicBezTo>
                <a:cubicBezTo>
                  <a:pt x="108158" y="275798"/>
                  <a:pt x="96371" y="279400"/>
                  <a:pt x="87367" y="279400"/>
                </a:cubicBezTo>
                <a:cubicBezTo>
                  <a:pt x="43711" y="279400"/>
                  <a:pt x="55" y="227013"/>
                  <a:pt x="55" y="15716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Apple's product presentations use minimal text and large visuals — one idea per slide, maximum impact.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1905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vs AFTER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779000" y="2540000"/>
            <a:ext cx="2540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07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79000" y="2667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969500" y="3175000"/>
            <a:ext cx="2159000" cy="1524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19" name="Shape 17"/>
          <p:cNvSpPr/>
          <p:nvPr/>
        </p:nvSpPr>
        <p:spPr>
          <a:xfrm>
            <a:off x="9969500" y="3492500"/>
            <a:ext cx="2159000" cy="1524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20" name="Shape 18"/>
          <p:cNvSpPr/>
          <p:nvPr/>
        </p:nvSpPr>
        <p:spPr>
          <a:xfrm>
            <a:off x="9969500" y="3810000"/>
            <a:ext cx="2159000" cy="1524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21" name="Shape 19"/>
          <p:cNvSpPr/>
          <p:nvPr/>
        </p:nvSpPr>
        <p:spPr>
          <a:xfrm>
            <a:off x="9969500" y="4127500"/>
            <a:ext cx="2159000" cy="1524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22" name="Shape 20"/>
          <p:cNvSpPr/>
          <p:nvPr/>
        </p:nvSpPr>
        <p:spPr>
          <a:xfrm>
            <a:off x="9969500" y="4445000"/>
            <a:ext cx="2159000" cy="1524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23" name="Shape 21"/>
          <p:cNvSpPr/>
          <p:nvPr/>
        </p:nvSpPr>
        <p:spPr>
          <a:xfrm>
            <a:off x="9969500" y="4762500"/>
            <a:ext cx="2159000" cy="1524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24" name="Shape 22"/>
          <p:cNvSpPr/>
          <p:nvPr/>
        </p:nvSpPr>
        <p:spPr>
          <a:xfrm>
            <a:off x="9969500" y="5080000"/>
            <a:ext cx="1524000" cy="1524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31500" y="5461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635000"/>
                </a:moveTo>
                <a:cubicBezTo>
                  <a:pt x="492733" y="635000"/>
                  <a:pt x="635000" y="492733"/>
                  <a:pt x="635000" y="317500"/>
                </a:cubicBezTo>
                <a:cubicBezTo>
                  <a:pt x="635000" y="142267"/>
                  <a:pt x="492733" y="0"/>
                  <a:pt x="317500" y="0"/>
                </a:cubicBezTo>
                <a:cubicBezTo>
                  <a:pt x="142267" y="0"/>
                  <a:pt x="0" y="142267"/>
                  <a:pt x="0" y="317500"/>
                </a:cubicBezTo>
                <a:cubicBezTo>
                  <a:pt x="0" y="492733"/>
                  <a:pt x="142267" y="635000"/>
                  <a:pt x="317500" y="635000"/>
                </a:cubicBezTo>
                <a:close/>
                <a:moveTo>
                  <a:pt x="207119" y="207119"/>
                </a:moveTo>
                <a:cubicBezTo>
                  <a:pt x="218777" y="195461"/>
                  <a:pt x="237629" y="195461"/>
                  <a:pt x="249163" y="207119"/>
                </a:cubicBezTo>
                <a:lnTo>
                  <a:pt x="317376" y="275332"/>
                </a:lnTo>
                <a:lnTo>
                  <a:pt x="385589" y="207119"/>
                </a:lnTo>
                <a:cubicBezTo>
                  <a:pt x="397247" y="195461"/>
                  <a:pt x="416099" y="195461"/>
                  <a:pt x="427633" y="207119"/>
                </a:cubicBezTo>
                <a:cubicBezTo>
                  <a:pt x="439167" y="218777"/>
                  <a:pt x="439291" y="237629"/>
                  <a:pt x="427633" y="249163"/>
                </a:cubicBezTo>
                <a:lnTo>
                  <a:pt x="359420" y="317376"/>
                </a:lnTo>
                <a:lnTo>
                  <a:pt x="427633" y="385589"/>
                </a:lnTo>
                <a:cubicBezTo>
                  <a:pt x="439291" y="397247"/>
                  <a:pt x="439291" y="416099"/>
                  <a:pt x="427633" y="427633"/>
                </a:cubicBezTo>
                <a:cubicBezTo>
                  <a:pt x="415975" y="439167"/>
                  <a:pt x="397123" y="439291"/>
                  <a:pt x="385589" y="427633"/>
                </a:cubicBezTo>
                <a:lnTo>
                  <a:pt x="317376" y="359420"/>
                </a:lnTo>
                <a:lnTo>
                  <a:pt x="249163" y="427633"/>
                </a:lnTo>
                <a:cubicBezTo>
                  <a:pt x="237505" y="439291"/>
                  <a:pt x="218653" y="439291"/>
                  <a:pt x="207119" y="427633"/>
                </a:cubicBezTo>
                <a:cubicBezTo>
                  <a:pt x="195585" y="415975"/>
                  <a:pt x="195461" y="397123"/>
                  <a:pt x="207119" y="385589"/>
                </a:cubicBezTo>
                <a:lnTo>
                  <a:pt x="275332" y="317376"/>
                </a:lnTo>
                <a:lnTo>
                  <a:pt x="207119" y="249163"/>
                </a:lnTo>
                <a:cubicBezTo>
                  <a:pt x="195461" y="237505"/>
                  <a:pt x="195461" y="218653"/>
                  <a:pt x="207119" y="207119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12382500" y="393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74005" y="207318"/>
                </a:moveTo>
                <a:cubicBezTo>
                  <a:pt x="383307" y="198016"/>
                  <a:pt x="383307" y="182910"/>
                  <a:pt x="374005" y="173608"/>
                </a:cubicBezTo>
                <a:lnTo>
                  <a:pt x="254943" y="54546"/>
                </a:lnTo>
                <a:cubicBezTo>
                  <a:pt x="245641" y="45244"/>
                  <a:pt x="230535" y="45244"/>
                  <a:pt x="221233" y="54546"/>
                </a:cubicBezTo>
                <a:cubicBezTo>
                  <a:pt x="211931" y="63847"/>
                  <a:pt x="211931" y="78953"/>
                  <a:pt x="221233" y="88255"/>
                </a:cubicBezTo>
                <a:lnTo>
                  <a:pt x="299665" y="166688"/>
                </a:lnTo>
                <a:lnTo>
                  <a:pt x="23812" y="166688"/>
                </a:lnTo>
                <a:cubicBezTo>
                  <a:pt x="10641" y="166688"/>
                  <a:pt x="0" y="177329"/>
                  <a:pt x="0" y="190500"/>
                </a:cubicBezTo>
                <a:cubicBezTo>
                  <a:pt x="0" y="203671"/>
                  <a:pt x="10641" y="214313"/>
                  <a:pt x="23812" y="214313"/>
                </a:cubicBezTo>
                <a:lnTo>
                  <a:pt x="299665" y="214313"/>
                </a:lnTo>
                <a:lnTo>
                  <a:pt x="221233" y="292745"/>
                </a:lnTo>
                <a:cubicBezTo>
                  <a:pt x="211931" y="302047"/>
                  <a:pt x="211931" y="317153"/>
                  <a:pt x="221233" y="326454"/>
                </a:cubicBezTo>
                <a:cubicBezTo>
                  <a:pt x="230535" y="335756"/>
                  <a:pt x="245641" y="335756"/>
                  <a:pt x="254943" y="326454"/>
                </a:cubicBezTo>
                <a:lnTo>
                  <a:pt x="374005" y="207392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7" name="Shape 25"/>
          <p:cNvSpPr/>
          <p:nvPr/>
        </p:nvSpPr>
        <p:spPr>
          <a:xfrm>
            <a:off x="12827000" y="2540000"/>
            <a:ext cx="2540000" cy="355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B6B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27000" y="2667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3017500" y="3175000"/>
            <a:ext cx="2159000" cy="1270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30" name="Shape 28"/>
          <p:cNvSpPr/>
          <p:nvPr/>
        </p:nvSpPr>
        <p:spPr>
          <a:xfrm>
            <a:off x="13819188" y="34290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79375" y="39688"/>
                </a:moveTo>
                <a:cubicBezTo>
                  <a:pt x="35595" y="39688"/>
                  <a:pt x="0" y="75282"/>
                  <a:pt x="0" y="119062"/>
                </a:cubicBezTo>
                <a:lnTo>
                  <a:pt x="0" y="515937"/>
                </a:lnTo>
                <a:cubicBezTo>
                  <a:pt x="0" y="559718"/>
                  <a:pt x="35595" y="595313"/>
                  <a:pt x="79375" y="595313"/>
                </a:cubicBezTo>
                <a:lnTo>
                  <a:pt x="476250" y="595313"/>
                </a:lnTo>
                <a:cubicBezTo>
                  <a:pt x="520030" y="595313"/>
                  <a:pt x="555625" y="559718"/>
                  <a:pt x="555625" y="515937"/>
                </a:cubicBezTo>
                <a:lnTo>
                  <a:pt x="555625" y="119062"/>
                </a:lnTo>
                <a:cubicBezTo>
                  <a:pt x="555625" y="75282"/>
                  <a:pt x="520030" y="39688"/>
                  <a:pt x="476250" y="39688"/>
                </a:cubicBezTo>
                <a:lnTo>
                  <a:pt x="79375" y="39688"/>
                </a:lnTo>
                <a:close/>
                <a:moveTo>
                  <a:pt x="158750" y="138906"/>
                </a:moveTo>
                <a:cubicBezTo>
                  <a:pt x="191606" y="138906"/>
                  <a:pt x="218281" y="165581"/>
                  <a:pt x="218281" y="198438"/>
                </a:cubicBezTo>
                <a:cubicBezTo>
                  <a:pt x="218281" y="231294"/>
                  <a:pt x="191606" y="257969"/>
                  <a:pt x="158750" y="257969"/>
                </a:cubicBezTo>
                <a:cubicBezTo>
                  <a:pt x="125894" y="257969"/>
                  <a:pt x="99219" y="231294"/>
                  <a:pt x="99219" y="198438"/>
                </a:cubicBezTo>
                <a:cubicBezTo>
                  <a:pt x="99219" y="165581"/>
                  <a:pt x="125894" y="138906"/>
                  <a:pt x="158750" y="138906"/>
                </a:cubicBezTo>
                <a:close/>
                <a:moveTo>
                  <a:pt x="337344" y="277813"/>
                </a:moveTo>
                <a:cubicBezTo>
                  <a:pt x="347762" y="277813"/>
                  <a:pt x="357312" y="283270"/>
                  <a:pt x="362769" y="292075"/>
                </a:cubicBezTo>
                <a:lnTo>
                  <a:pt x="471909" y="470669"/>
                </a:lnTo>
                <a:cubicBezTo>
                  <a:pt x="477490" y="479847"/>
                  <a:pt x="477738" y="491381"/>
                  <a:pt x="472529" y="500807"/>
                </a:cubicBezTo>
                <a:cubicBezTo>
                  <a:pt x="467320" y="510232"/>
                  <a:pt x="457274" y="515937"/>
                  <a:pt x="446484" y="515937"/>
                </a:cubicBezTo>
                <a:lnTo>
                  <a:pt x="109141" y="515937"/>
                </a:lnTo>
                <a:cubicBezTo>
                  <a:pt x="98103" y="515937"/>
                  <a:pt x="87809" y="509736"/>
                  <a:pt x="82724" y="499938"/>
                </a:cubicBezTo>
                <a:cubicBezTo>
                  <a:pt x="77639" y="490141"/>
                  <a:pt x="78383" y="478234"/>
                  <a:pt x="84708" y="469181"/>
                </a:cubicBezTo>
                <a:lnTo>
                  <a:pt x="154161" y="369962"/>
                </a:lnTo>
                <a:cubicBezTo>
                  <a:pt x="159742" y="362024"/>
                  <a:pt x="168796" y="357312"/>
                  <a:pt x="178594" y="357312"/>
                </a:cubicBezTo>
                <a:cubicBezTo>
                  <a:pt x="188392" y="357312"/>
                  <a:pt x="197445" y="362024"/>
                  <a:pt x="203026" y="369962"/>
                </a:cubicBezTo>
                <a:lnTo>
                  <a:pt x="235769" y="416843"/>
                </a:lnTo>
                <a:lnTo>
                  <a:pt x="311919" y="292199"/>
                </a:lnTo>
                <a:cubicBezTo>
                  <a:pt x="317376" y="283394"/>
                  <a:pt x="326926" y="277937"/>
                  <a:pt x="337344" y="277937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31" name="Shape 29"/>
          <p:cNvSpPr/>
          <p:nvPr/>
        </p:nvSpPr>
        <p:spPr>
          <a:xfrm>
            <a:off x="13017500" y="4699000"/>
            <a:ext cx="2159000" cy="1524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32" name="Shape 30"/>
          <p:cNvSpPr/>
          <p:nvPr/>
        </p:nvSpPr>
        <p:spPr>
          <a:xfrm>
            <a:off x="13017500" y="5016500"/>
            <a:ext cx="1524000" cy="1524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33" name="Shape 31"/>
          <p:cNvSpPr/>
          <p:nvPr/>
        </p:nvSpPr>
        <p:spPr>
          <a:xfrm>
            <a:off x="13779500" y="5461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635000"/>
                </a:moveTo>
                <a:cubicBezTo>
                  <a:pt x="492733" y="635000"/>
                  <a:pt x="635000" y="492733"/>
                  <a:pt x="635000" y="317500"/>
                </a:cubicBezTo>
                <a:cubicBezTo>
                  <a:pt x="635000" y="142267"/>
                  <a:pt x="492733" y="0"/>
                  <a:pt x="317500" y="0"/>
                </a:cubicBezTo>
                <a:cubicBezTo>
                  <a:pt x="142267" y="0"/>
                  <a:pt x="0" y="142267"/>
                  <a:pt x="0" y="317500"/>
                </a:cubicBezTo>
                <a:cubicBezTo>
                  <a:pt x="0" y="492733"/>
                  <a:pt x="142267" y="635000"/>
                  <a:pt x="317500" y="635000"/>
                </a:cubicBezTo>
                <a:close/>
                <a:moveTo>
                  <a:pt x="422176" y="263798"/>
                </a:moveTo>
                <a:lnTo>
                  <a:pt x="322957" y="422548"/>
                </a:lnTo>
                <a:cubicBezTo>
                  <a:pt x="317748" y="430857"/>
                  <a:pt x="308818" y="436066"/>
                  <a:pt x="299021" y="436563"/>
                </a:cubicBezTo>
                <a:cubicBezTo>
                  <a:pt x="289223" y="437059"/>
                  <a:pt x="279797" y="432594"/>
                  <a:pt x="273968" y="424656"/>
                </a:cubicBezTo>
                <a:lnTo>
                  <a:pt x="214437" y="345281"/>
                </a:lnTo>
                <a:cubicBezTo>
                  <a:pt x="204515" y="332135"/>
                  <a:pt x="207243" y="313531"/>
                  <a:pt x="220390" y="303609"/>
                </a:cubicBezTo>
                <a:cubicBezTo>
                  <a:pt x="233536" y="293688"/>
                  <a:pt x="252140" y="296416"/>
                  <a:pt x="262062" y="309563"/>
                </a:cubicBezTo>
                <a:lnTo>
                  <a:pt x="295548" y="354211"/>
                </a:lnTo>
                <a:lnTo>
                  <a:pt x="371698" y="232296"/>
                </a:lnTo>
                <a:cubicBezTo>
                  <a:pt x="380380" y="218405"/>
                  <a:pt x="398735" y="214064"/>
                  <a:pt x="412750" y="222870"/>
                </a:cubicBezTo>
                <a:cubicBezTo>
                  <a:pt x="426765" y="231676"/>
                  <a:pt x="430981" y="249907"/>
                  <a:pt x="422176" y="263922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34" name="Text 32"/>
          <p:cNvSpPr/>
          <p:nvPr/>
        </p:nvSpPr>
        <p:spPr>
          <a:xfrm>
            <a:off x="9779000" y="6477000"/>
            <a:ext cx="558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principle: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Remove anything that does not directly support learning. Less is more.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Replace text walls with visuals and clear hierarchy.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Modality Effect — Use Both Ears and Eyes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People learn better when information comes through eyes AND ears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Instead of reading long text, use narration with visuals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splits the load between visual and auditory channels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Both channels work together, so learning becomes more effective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But do not read exactly what is on screen — that creates redundancy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it as using two lanes on a highway instead of one. Traffic flows better when spread across both visual and auditory channels.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998538" y="73406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52388" y="34925"/>
                </a:moveTo>
                <a:cubicBezTo>
                  <a:pt x="33124" y="34925"/>
                  <a:pt x="17463" y="50587"/>
                  <a:pt x="17463" y="69850"/>
                </a:cubicBezTo>
                <a:lnTo>
                  <a:pt x="17463" y="209550"/>
                </a:lnTo>
                <a:cubicBezTo>
                  <a:pt x="17463" y="228813"/>
                  <a:pt x="33124" y="244475"/>
                  <a:pt x="52388" y="244475"/>
                </a:cubicBezTo>
                <a:lnTo>
                  <a:pt x="192088" y="244475"/>
                </a:lnTo>
                <a:cubicBezTo>
                  <a:pt x="211351" y="244475"/>
                  <a:pt x="227013" y="228813"/>
                  <a:pt x="227013" y="209550"/>
                </a:cubicBezTo>
                <a:lnTo>
                  <a:pt x="227013" y="69850"/>
                </a:lnTo>
                <a:cubicBezTo>
                  <a:pt x="227013" y="50587"/>
                  <a:pt x="211351" y="34925"/>
                  <a:pt x="192088" y="34925"/>
                </a:cubicBezTo>
                <a:lnTo>
                  <a:pt x="52388" y="34925"/>
                </a:lnTo>
                <a:close/>
                <a:moveTo>
                  <a:pt x="253206" y="183356"/>
                </a:moveTo>
                <a:lnTo>
                  <a:pt x="293315" y="215444"/>
                </a:lnTo>
                <a:cubicBezTo>
                  <a:pt x="295607" y="217299"/>
                  <a:pt x="298445" y="218281"/>
                  <a:pt x="301392" y="218281"/>
                </a:cubicBezTo>
                <a:cubicBezTo>
                  <a:pt x="308541" y="218281"/>
                  <a:pt x="314325" y="212497"/>
                  <a:pt x="314325" y="205348"/>
                </a:cubicBezTo>
                <a:lnTo>
                  <a:pt x="314325" y="74052"/>
                </a:lnTo>
                <a:cubicBezTo>
                  <a:pt x="314325" y="66903"/>
                  <a:pt x="308541" y="61119"/>
                  <a:pt x="301392" y="61119"/>
                </a:cubicBezTo>
                <a:cubicBezTo>
                  <a:pt x="298445" y="61119"/>
                  <a:pt x="295607" y="62101"/>
                  <a:pt x="293315" y="63956"/>
                </a:cubicBezTo>
                <a:lnTo>
                  <a:pt x="253206" y="96044"/>
                </a:lnTo>
                <a:lnTo>
                  <a:pt x="253206" y="183356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TED-Ed videos combine animated visuals with voice narration — viewers learn more than reading text alone.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1905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DUAL-CHANNEL PROCESSING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0" y="2540000"/>
            <a:ext cx="2032000" cy="1270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17" name="Shape 15"/>
          <p:cNvSpPr/>
          <p:nvPr/>
        </p:nvSpPr>
        <p:spPr>
          <a:xfrm>
            <a:off x="12065000" y="2667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78594" y="83344"/>
                </a:moveTo>
                <a:cubicBezTo>
                  <a:pt x="178594" y="37356"/>
                  <a:pt x="215950" y="0"/>
                  <a:pt x="261938" y="0"/>
                </a:cubicBezTo>
                <a:lnTo>
                  <a:pt x="297656" y="0"/>
                </a:lnTo>
                <a:cubicBezTo>
                  <a:pt x="323999" y="0"/>
                  <a:pt x="345281" y="21282"/>
                  <a:pt x="345281" y="47625"/>
                </a:cubicBezTo>
                <a:lnTo>
                  <a:pt x="345281" y="714375"/>
                </a:lnTo>
                <a:cubicBezTo>
                  <a:pt x="345281" y="740718"/>
                  <a:pt x="323999" y="762000"/>
                  <a:pt x="297656" y="762000"/>
                </a:cubicBezTo>
                <a:lnTo>
                  <a:pt x="250031" y="762000"/>
                </a:lnTo>
                <a:cubicBezTo>
                  <a:pt x="205680" y="762000"/>
                  <a:pt x="168325" y="731639"/>
                  <a:pt x="157758" y="690563"/>
                </a:cubicBezTo>
                <a:cubicBezTo>
                  <a:pt x="156716" y="690563"/>
                  <a:pt x="155823" y="690563"/>
                  <a:pt x="154781" y="690563"/>
                </a:cubicBezTo>
                <a:cubicBezTo>
                  <a:pt x="88999" y="690563"/>
                  <a:pt x="35719" y="637282"/>
                  <a:pt x="35719" y="571500"/>
                </a:cubicBezTo>
                <a:cubicBezTo>
                  <a:pt x="35719" y="544711"/>
                  <a:pt x="44648" y="520005"/>
                  <a:pt x="59531" y="500063"/>
                </a:cubicBezTo>
                <a:cubicBezTo>
                  <a:pt x="30659" y="478334"/>
                  <a:pt x="11906" y="443805"/>
                  <a:pt x="11906" y="404813"/>
                </a:cubicBezTo>
                <a:cubicBezTo>
                  <a:pt x="11906" y="358825"/>
                  <a:pt x="38100" y="318790"/>
                  <a:pt x="76200" y="298996"/>
                </a:cubicBezTo>
                <a:cubicBezTo>
                  <a:pt x="65633" y="281136"/>
                  <a:pt x="59531" y="260300"/>
                  <a:pt x="59531" y="238125"/>
                </a:cubicBezTo>
                <a:cubicBezTo>
                  <a:pt x="59531" y="172343"/>
                  <a:pt x="112812" y="119063"/>
                  <a:pt x="178594" y="119063"/>
                </a:cubicBezTo>
                <a:lnTo>
                  <a:pt x="178594" y="83344"/>
                </a:lnTo>
                <a:close/>
                <a:moveTo>
                  <a:pt x="583406" y="83344"/>
                </a:moveTo>
                <a:lnTo>
                  <a:pt x="583406" y="119063"/>
                </a:lnTo>
                <a:cubicBezTo>
                  <a:pt x="649188" y="119063"/>
                  <a:pt x="702469" y="172343"/>
                  <a:pt x="702469" y="238125"/>
                </a:cubicBezTo>
                <a:cubicBezTo>
                  <a:pt x="702469" y="260449"/>
                  <a:pt x="696367" y="281285"/>
                  <a:pt x="685800" y="298996"/>
                </a:cubicBezTo>
                <a:cubicBezTo>
                  <a:pt x="724049" y="318790"/>
                  <a:pt x="750094" y="358676"/>
                  <a:pt x="750094" y="404813"/>
                </a:cubicBezTo>
                <a:cubicBezTo>
                  <a:pt x="750094" y="443805"/>
                  <a:pt x="731341" y="478334"/>
                  <a:pt x="702469" y="500063"/>
                </a:cubicBezTo>
                <a:cubicBezTo>
                  <a:pt x="717352" y="520005"/>
                  <a:pt x="726281" y="544711"/>
                  <a:pt x="726281" y="571500"/>
                </a:cubicBezTo>
                <a:cubicBezTo>
                  <a:pt x="726281" y="637282"/>
                  <a:pt x="673001" y="690563"/>
                  <a:pt x="607219" y="690563"/>
                </a:cubicBezTo>
                <a:cubicBezTo>
                  <a:pt x="606177" y="690563"/>
                  <a:pt x="605284" y="690563"/>
                  <a:pt x="604242" y="690563"/>
                </a:cubicBezTo>
                <a:cubicBezTo>
                  <a:pt x="593675" y="731639"/>
                  <a:pt x="556320" y="762000"/>
                  <a:pt x="511969" y="762000"/>
                </a:cubicBezTo>
                <a:lnTo>
                  <a:pt x="464344" y="762000"/>
                </a:lnTo>
                <a:cubicBezTo>
                  <a:pt x="438001" y="762000"/>
                  <a:pt x="416719" y="740718"/>
                  <a:pt x="416719" y="714375"/>
                </a:cubicBezTo>
                <a:lnTo>
                  <a:pt x="416719" y="47625"/>
                </a:lnTo>
                <a:cubicBezTo>
                  <a:pt x="416719" y="21282"/>
                  <a:pt x="438001" y="0"/>
                  <a:pt x="464344" y="0"/>
                </a:cubicBezTo>
                <a:lnTo>
                  <a:pt x="500063" y="0"/>
                </a:lnTo>
                <a:cubicBezTo>
                  <a:pt x="546050" y="0"/>
                  <a:pt x="583406" y="37356"/>
                  <a:pt x="583406" y="833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0" y="3873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06000" y="2540000"/>
            <a:ext cx="1270000" cy="762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55250" y="2667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31750"/>
                </a:moveTo>
                <a:cubicBezTo>
                  <a:pt x="205581" y="31750"/>
                  <a:pt x="141387" y="68263"/>
                  <a:pt x="94655" y="111720"/>
                </a:cubicBezTo>
                <a:cubicBezTo>
                  <a:pt x="48220" y="154880"/>
                  <a:pt x="17165" y="206375"/>
                  <a:pt x="2381" y="241796"/>
                </a:cubicBezTo>
                <a:cubicBezTo>
                  <a:pt x="-893" y="249634"/>
                  <a:pt x="-893" y="258366"/>
                  <a:pt x="2381" y="266204"/>
                </a:cubicBezTo>
                <a:cubicBezTo>
                  <a:pt x="17165" y="301625"/>
                  <a:pt x="48220" y="353219"/>
                  <a:pt x="94655" y="396280"/>
                </a:cubicBezTo>
                <a:cubicBezTo>
                  <a:pt x="141387" y="439638"/>
                  <a:pt x="205581" y="476250"/>
                  <a:pt x="285750" y="476250"/>
                </a:cubicBezTo>
                <a:cubicBezTo>
                  <a:pt x="365919" y="476250"/>
                  <a:pt x="430113" y="439737"/>
                  <a:pt x="476845" y="396280"/>
                </a:cubicBezTo>
                <a:cubicBezTo>
                  <a:pt x="523280" y="353120"/>
                  <a:pt x="554335" y="301625"/>
                  <a:pt x="569119" y="266204"/>
                </a:cubicBezTo>
                <a:cubicBezTo>
                  <a:pt x="572393" y="258366"/>
                  <a:pt x="572393" y="249634"/>
                  <a:pt x="569119" y="241796"/>
                </a:cubicBezTo>
                <a:cubicBezTo>
                  <a:pt x="554335" y="206375"/>
                  <a:pt x="523280" y="154781"/>
                  <a:pt x="476845" y="111720"/>
                </a:cubicBezTo>
                <a:cubicBezTo>
                  <a:pt x="430113" y="68362"/>
                  <a:pt x="365919" y="31750"/>
                  <a:pt x="285750" y="31750"/>
                </a:cubicBezTo>
                <a:close/>
                <a:moveTo>
                  <a:pt x="142875" y="254000"/>
                </a:moveTo>
                <a:cubicBezTo>
                  <a:pt x="142875" y="175145"/>
                  <a:pt x="206895" y="111125"/>
                  <a:pt x="285750" y="111125"/>
                </a:cubicBezTo>
                <a:cubicBezTo>
                  <a:pt x="364605" y="111125"/>
                  <a:pt x="428625" y="175145"/>
                  <a:pt x="428625" y="254000"/>
                </a:cubicBezTo>
                <a:cubicBezTo>
                  <a:pt x="428625" y="332855"/>
                  <a:pt x="364605" y="396875"/>
                  <a:pt x="285750" y="396875"/>
                </a:cubicBezTo>
                <a:cubicBezTo>
                  <a:pt x="206895" y="396875"/>
                  <a:pt x="142875" y="332855"/>
                  <a:pt x="142875" y="254000"/>
                </a:cubicBezTo>
                <a:close/>
                <a:moveTo>
                  <a:pt x="285750" y="190500"/>
                </a:moveTo>
                <a:cubicBezTo>
                  <a:pt x="285750" y="225524"/>
                  <a:pt x="257274" y="254000"/>
                  <a:pt x="222250" y="254000"/>
                </a:cubicBezTo>
                <a:cubicBezTo>
                  <a:pt x="210840" y="254000"/>
                  <a:pt x="200124" y="251023"/>
                  <a:pt x="190798" y="245666"/>
                </a:cubicBezTo>
                <a:cubicBezTo>
                  <a:pt x="189805" y="256480"/>
                  <a:pt x="190698" y="267593"/>
                  <a:pt x="193675" y="278606"/>
                </a:cubicBezTo>
                <a:cubicBezTo>
                  <a:pt x="207268" y="329406"/>
                  <a:pt x="259556" y="359569"/>
                  <a:pt x="310356" y="345976"/>
                </a:cubicBezTo>
                <a:cubicBezTo>
                  <a:pt x="361156" y="332383"/>
                  <a:pt x="391319" y="280095"/>
                  <a:pt x="377726" y="229295"/>
                </a:cubicBezTo>
                <a:cubicBezTo>
                  <a:pt x="365621" y="183952"/>
                  <a:pt x="322659" y="155079"/>
                  <a:pt x="277416" y="159048"/>
                </a:cubicBezTo>
                <a:cubicBezTo>
                  <a:pt x="282674" y="168275"/>
                  <a:pt x="285750" y="178991"/>
                  <a:pt x="285750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0" y="3429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176000" y="2921000"/>
            <a:ext cx="254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3716000" y="2540000"/>
            <a:ext cx="1270000" cy="762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4128750" y="2667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222250"/>
                </a:moveTo>
                <a:cubicBezTo>
                  <a:pt x="63500" y="134541"/>
                  <a:pt x="134541" y="63500"/>
                  <a:pt x="222250" y="63500"/>
                </a:cubicBezTo>
                <a:cubicBezTo>
                  <a:pt x="309959" y="63500"/>
                  <a:pt x="381000" y="134541"/>
                  <a:pt x="381000" y="222250"/>
                </a:cubicBezTo>
                <a:lnTo>
                  <a:pt x="381000" y="259457"/>
                </a:lnTo>
                <a:cubicBezTo>
                  <a:pt x="371078" y="255984"/>
                  <a:pt x="360363" y="254000"/>
                  <a:pt x="349250" y="254000"/>
                </a:cubicBezTo>
                <a:lnTo>
                  <a:pt x="333375" y="254000"/>
                </a:lnTo>
                <a:cubicBezTo>
                  <a:pt x="307082" y="254000"/>
                  <a:pt x="285750" y="275332"/>
                  <a:pt x="285750" y="301625"/>
                </a:cubicBezTo>
                <a:lnTo>
                  <a:pt x="285750" y="428625"/>
                </a:lnTo>
                <a:cubicBezTo>
                  <a:pt x="285750" y="454918"/>
                  <a:pt x="307082" y="476250"/>
                  <a:pt x="333375" y="476250"/>
                </a:cubicBezTo>
                <a:lnTo>
                  <a:pt x="349250" y="476250"/>
                </a:lnTo>
                <a:cubicBezTo>
                  <a:pt x="401836" y="476250"/>
                  <a:pt x="444500" y="433586"/>
                  <a:pt x="444500" y="381000"/>
                </a:cubicBezTo>
                <a:lnTo>
                  <a:pt x="444500" y="222250"/>
                </a:lnTo>
                <a:cubicBezTo>
                  <a:pt x="444500" y="99516"/>
                  <a:pt x="344984" y="0"/>
                  <a:pt x="222250" y="0"/>
                </a:cubicBezTo>
                <a:cubicBezTo>
                  <a:pt x="99516" y="0"/>
                  <a:pt x="0" y="99516"/>
                  <a:pt x="0" y="222250"/>
                </a:cubicBezTo>
                <a:lnTo>
                  <a:pt x="0" y="381000"/>
                </a:lnTo>
                <a:cubicBezTo>
                  <a:pt x="0" y="433586"/>
                  <a:pt x="42664" y="476250"/>
                  <a:pt x="95250" y="476250"/>
                </a:cubicBezTo>
                <a:lnTo>
                  <a:pt x="111125" y="476250"/>
                </a:lnTo>
                <a:cubicBezTo>
                  <a:pt x="137418" y="476250"/>
                  <a:pt x="158750" y="454918"/>
                  <a:pt x="158750" y="428625"/>
                </a:cubicBezTo>
                <a:lnTo>
                  <a:pt x="158750" y="301625"/>
                </a:lnTo>
                <a:cubicBezTo>
                  <a:pt x="158750" y="275332"/>
                  <a:pt x="137418" y="254000"/>
                  <a:pt x="111125" y="254000"/>
                </a:cubicBezTo>
                <a:lnTo>
                  <a:pt x="95250" y="254000"/>
                </a:lnTo>
                <a:cubicBezTo>
                  <a:pt x="84138" y="254000"/>
                  <a:pt x="73422" y="255885"/>
                  <a:pt x="63500" y="259457"/>
                </a:cubicBezTo>
                <a:lnTo>
                  <a:pt x="63500" y="22225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0" y="34290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Auditory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3462000" y="2921000"/>
            <a:ext cx="254000" cy="0"/>
          </a:xfrm>
          <a:prstGeom prst="straightConnector1">
            <a:avLst/>
          </a:prstGeom>
          <a:noFill/>
          <a:ln w="25400">
            <a:solidFill>
              <a:srgbClr val="1B6B5C"/>
            </a:solidFill>
            <a:prstDash val="solid"/>
            <a:headEnd type="arrow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10414000" y="4826000"/>
            <a:ext cx="4064000" cy="762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8" name="Text 26"/>
          <p:cNvSpPr/>
          <p:nvPr/>
        </p:nvSpPr>
        <p:spPr>
          <a:xfrm>
            <a:off x="10414000" y="4953000"/>
            <a:ext cx="406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Learning Together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79000" y="5969000"/>
            <a:ext cx="533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 visuals on screen while narrating explanations. Do NOT put full sentences on screen and read them aloud.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Redundancy Effect — Do Not Repeat Yourself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Reading text while hearing the same words hurts learning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overloads the verbal processing channel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Choose EITHER text on screen OR narration, not both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you use text, keep it short and let narration explain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is one of the most common mistakes in multimedia design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Imagine two people talking to you at the same time saying the same thing. It is confusing and wastes your attention.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981075" y="7340600"/>
            <a:ext cx="349250" cy="279400"/>
          </a:xfrm>
          <a:custGeom>
            <a:avLst/>
            <a:gdLst/>
            <a:ahLst/>
            <a:cxnLst/>
            <a:rect l="l" t="t" r="r" b="b"/>
            <a:pathLst>
              <a:path w="349250" h="279400">
                <a:moveTo>
                  <a:pt x="69850" y="52388"/>
                </a:moveTo>
                <a:cubicBezTo>
                  <a:pt x="69850" y="33124"/>
                  <a:pt x="85512" y="17463"/>
                  <a:pt x="104775" y="17463"/>
                </a:cubicBezTo>
                <a:lnTo>
                  <a:pt x="296863" y="17463"/>
                </a:lnTo>
                <a:cubicBezTo>
                  <a:pt x="316126" y="17463"/>
                  <a:pt x="331788" y="33124"/>
                  <a:pt x="331788" y="52388"/>
                </a:cubicBezTo>
                <a:lnTo>
                  <a:pt x="331788" y="183356"/>
                </a:lnTo>
                <a:lnTo>
                  <a:pt x="279400" y="183356"/>
                </a:lnTo>
                <a:lnTo>
                  <a:pt x="279400" y="174625"/>
                </a:lnTo>
                <a:cubicBezTo>
                  <a:pt x="279400" y="164966"/>
                  <a:pt x="271596" y="157163"/>
                  <a:pt x="261938" y="157163"/>
                </a:cubicBezTo>
                <a:lnTo>
                  <a:pt x="227013" y="157163"/>
                </a:lnTo>
                <a:cubicBezTo>
                  <a:pt x="217354" y="157163"/>
                  <a:pt x="209550" y="164966"/>
                  <a:pt x="209550" y="174625"/>
                </a:cubicBezTo>
                <a:lnTo>
                  <a:pt x="209550" y="183356"/>
                </a:lnTo>
                <a:lnTo>
                  <a:pt x="139100" y="183356"/>
                </a:lnTo>
                <a:cubicBezTo>
                  <a:pt x="145048" y="173097"/>
                  <a:pt x="148431" y="161146"/>
                  <a:pt x="148431" y="148431"/>
                </a:cubicBezTo>
                <a:cubicBezTo>
                  <a:pt x="148431" y="109850"/>
                  <a:pt x="117162" y="78581"/>
                  <a:pt x="78581" y="78581"/>
                </a:cubicBezTo>
                <a:cubicBezTo>
                  <a:pt x="75634" y="78581"/>
                  <a:pt x="72688" y="78745"/>
                  <a:pt x="69850" y="79127"/>
                </a:cubicBezTo>
                <a:lnTo>
                  <a:pt x="69850" y="52388"/>
                </a:lnTo>
                <a:close/>
                <a:moveTo>
                  <a:pt x="181719" y="244475"/>
                </a:moveTo>
                <a:cubicBezTo>
                  <a:pt x="178936" y="231269"/>
                  <a:pt x="172824" y="219318"/>
                  <a:pt x="164202" y="209550"/>
                </a:cubicBezTo>
                <a:lnTo>
                  <a:pt x="331788" y="209550"/>
                </a:lnTo>
                <a:cubicBezTo>
                  <a:pt x="331788" y="228813"/>
                  <a:pt x="316126" y="244475"/>
                  <a:pt x="296863" y="244475"/>
                </a:cubicBezTo>
                <a:lnTo>
                  <a:pt x="181719" y="244475"/>
                </a:lnTo>
                <a:close/>
                <a:moveTo>
                  <a:pt x="34925" y="148431"/>
                </a:moveTo>
                <a:cubicBezTo>
                  <a:pt x="34925" y="124337"/>
                  <a:pt x="54487" y="104775"/>
                  <a:pt x="78581" y="104775"/>
                </a:cubicBezTo>
                <a:cubicBezTo>
                  <a:pt x="102676" y="104775"/>
                  <a:pt x="122238" y="124337"/>
                  <a:pt x="122238" y="148431"/>
                </a:cubicBezTo>
                <a:cubicBezTo>
                  <a:pt x="122238" y="172526"/>
                  <a:pt x="102676" y="192088"/>
                  <a:pt x="78581" y="192088"/>
                </a:cubicBezTo>
                <a:cubicBezTo>
                  <a:pt x="54487" y="192088"/>
                  <a:pt x="34925" y="172526"/>
                  <a:pt x="34925" y="148431"/>
                </a:cubicBezTo>
                <a:close/>
                <a:moveTo>
                  <a:pt x="0" y="261938"/>
                </a:moveTo>
                <a:cubicBezTo>
                  <a:pt x="0" y="233015"/>
                  <a:pt x="23465" y="209550"/>
                  <a:pt x="52388" y="209550"/>
                </a:cubicBezTo>
                <a:lnTo>
                  <a:pt x="104775" y="209550"/>
                </a:lnTo>
                <a:cubicBezTo>
                  <a:pt x="133697" y="209550"/>
                  <a:pt x="157163" y="233015"/>
                  <a:pt x="157163" y="261938"/>
                </a:cubicBezTo>
                <a:cubicBezTo>
                  <a:pt x="157163" y="271596"/>
                  <a:pt x="149359" y="279400"/>
                  <a:pt x="139700" y="279400"/>
                </a:cubicBezTo>
                <a:lnTo>
                  <a:pt x="17463" y="279400"/>
                </a:lnTo>
                <a:cubicBezTo>
                  <a:pt x="7804" y="279400"/>
                  <a:pt x="0" y="271596"/>
                  <a:pt x="0" y="26193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training video that shows keywords on screen while the narrator explains the concept in full sentences works well.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1905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OVERLOADED CHANNEL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33000" y="26670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87000" y="2921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635000"/>
                </a:moveTo>
                <a:cubicBezTo>
                  <a:pt x="492733" y="635000"/>
                  <a:pt x="635000" y="492733"/>
                  <a:pt x="635000" y="317500"/>
                </a:cubicBezTo>
                <a:cubicBezTo>
                  <a:pt x="635000" y="142267"/>
                  <a:pt x="492733" y="0"/>
                  <a:pt x="317500" y="0"/>
                </a:cubicBezTo>
                <a:cubicBezTo>
                  <a:pt x="142267" y="0"/>
                  <a:pt x="0" y="142267"/>
                  <a:pt x="0" y="317500"/>
                </a:cubicBezTo>
                <a:cubicBezTo>
                  <a:pt x="0" y="492733"/>
                  <a:pt x="142267" y="635000"/>
                  <a:pt x="317500" y="635000"/>
                </a:cubicBezTo>
                <a:close/>
                <a:moveTo>
                  <a:pt x="207119" y="207119"/>
                </a:moveTo>
                <a:cubicBezTo>
                  <a:pt x="218777" y="195461"/>
                  <a:pt x="237629" y="195461"/>
                  <a:pt x="249163" y="207119"/>
                </a:cubicBezTo>
                <a:lnTo>
                  <a:pt x="317376" y="275332"/>
                </a:lnTo>
                <a:lnTo>
                  <a:pt x="385589" y="207119"/>
                </a:lnTo>
                <a:cubicBezTo>
                  <a:pt x="397247" y="195461"/>
                  <a:pt x="416099" y="195461"/>
                  <a:pt x="427633" y="207119"/>
                </a:cubicBezTo>
                <a:cubicBezTo>
                  <a:pt x="439167" y="218777"/>
                  <a:pt x="439291" y="237629"/>
                  <a:pt x="427633" y="249163"/>
                </a:cubicBezTo>
                <a:lnTo>
                  <a:pt x="359420" y="317376"/>
                </a:lnTo>
                <a:lnTo>
                  <a:pt x="427633" y="385589"/>
                </a:lnTo>
                <a:cubicBezTo>
                  <a:pt x="439291" y="397247"/>
                  <a:pt x="439291" y="416099"/>
                  <a:pt x="427633" y="427633"/>
                </a:cubicBezTo>
                <a:cubicBezTo>
                  <a:pt x="415975" y="439167"/>
                  <a:pt x="397123" y="439291"/>
                  <a:pt x="385589" y="427633"/>
                </a:cubicBezTo>
                <a:lnTo>
                  <a:pt x="317376" y="359420"/>
                </a:lnTo>
                <a:lnTo>
                  <a:pt x="249163" y="427633"/>
                </a:lnTo>
                <a:cubicBezTo>
                  <a:pt x="237505" y="439291"/>
                  <a:pt x="218653" y="439291"/>
                  <a:pt x="207119" y="427633"/>
                </a:cubicBezTo>
                <a:cubicBezTo>
                  <a:pt x="195585" y="415975"/>
                  <a:pt x="195461" y="397123"/>
                  <a:pt x="207119" y="385589"/>
                </a:cubicBezTo>
                <a:lnTo>
                  <a:pt x="275332" y="317376"/>
                </a:lnTo>
                <a:lnTo>
                  <a:pt x="207119" y="249163"/>
                </a:lnTo>
                <a:cubicBezTo>
                  <a:pt x="195461" y="237505"/>
                  <a:pt x="195461" y="218653"/>
                  <a:pt x="207119" y="20711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28575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BAD: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 text on screen + narrator reading the exact same words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303125" y="4064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668000" y="4635500"/>
            <a:ext cx="3556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E07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68000" y="4762500"/>
            <a:ext cx="355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Verbal Channel Overloaded!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303125" y="5524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33000" y="6096000"/>
            <a:ext cx="4826000" cy="12700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87000" y="63500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317500" y="635000"/>
                </a:moveTo>
                <a:cubicBezTo>
                  <a:pt x="492733" y="635000"/>
                  <a:pt x="635000" y="492733"/>
                  <a:pt x="635000" y="317500"/>
                </a:cubicBezTo>
                <a:cubicBezTo>
                  <a:pt x="635000" y="142267"/>
                  <a:pt x="492733" y="0"/>
                  <a:pt x="317500" y="0"/>
                </a:cubicBezTo>
                <a:cubicBezTo>
                  <a:pt x="142267" y="0"/>
                  <a:pt x="0" y="142267"/>
                  <a:pt x="0" y="317500"/>
                </a:cubicBezTo>
                <a:cubicBezTo>
                  <a:pt x="0" y="492733"/>
                  <a:pt x="142267" y="635000"/>
                  <a:pt x="317500" y="635000"/>
                </a:cubicBezTo>
                <a:close/>
                <a:moveTo>
                  <a:pt x="422176" y="263798"/>
                </a:moveTo>
                <a:lnTo>
                  <a:pt x="322957" y="422548"/>
                </a:lnTo>
                <a:cubicBezTo>
                  <a:pt x="317748" y="430857"/>
                  <a:pt x="308818" y="436066"/>
                  <a:pt x="299021" y="436563"/>
                </a:cubicBezTo>
                <a:cubicBezTo>
                  <a:pt x="289223" y="437059"/>
                  <a:pt x="279797" y="432594"/>
                  <a:pt x="273968" y="424656"/>
                </a:cubicBezTo>
                <a:lnTo>
                  <a:pt x="214437" y="345281"/>
                </a:lnTo>
                <a:cubicBezTo>
                  <a:pt x="204515" y="332135"/>
                  <a:pt x="207243" y="313531"/>
                  <a:pt x="220390" y="303609"/>
                </a:cubicBezTo>
                <a:cubicBezTo>
                  <a:pt x="233536" y="293688"/>
                  <a:pt x="252140" y="296416"/>
                  <a:pt x="262062" y="309563"/>
                </a:cubicBezTo>
                <a:lnTo>
                  <a:pt x="295548" y="354211"/>
                </a:lnTo>
                <a:lnTo>
                  <a:pt x="371698" y="232296"/>
                </a:lnTo>
                <a:cubicBezTo>
                  <a:pt x="380380" y="218405"/>
                  <a:pt x="398735" y="214064"/>
                  <a:pt x="412750" y="222870"/>
                </a:cubicBezTo>
                <a:cubicBezTo>
                  <a:pt x="426765" y="231676"/>
                  <a:pt x="430981" y="249907"/>
                  <a:pt x="422176" y="26392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1049000" y="62865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Keywords on screen + narrator explains in full detail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34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74bepel63lr2/mnt/agents/output/multimedia-learning-theories/images/3_25_Best_Clean_Presentation_Templates.png">    </p:cNvPr>
          <p:cNvPicPr>
            <a:picLocks noChangeAspect="1"/>
          </p:cNvPicPr>
          <p:nvPr/>
        </p:nvPicPr>
        <p:blipFill>
          <a:blip r:embed="rId1"/>
          <a:srcRect l="23185" r="23185" t="0" b="0"/>
          <a:stretch/>
        </p:blipFill>
        <p:spPr>
          <a:xfrm>
            <a:off x="0" y="0"/>
            <a:ext cx="736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66000" cy="9144000"/>
          </a:xfrm>
          <a:prstGeom prst="rect">
            <a:avLst/>
          </a:prstGeom>
          <a:gradFill rotWithShape="1" flip="none">
            <a:gsLst>
              <a:gs pos="0">
                <a:srgbClr val="134A40">
                  <a:alpha val="0"/>
                </a:srgbClr>
              </a:gs>
              <a:gs pos="60000">
                <a:srgbClr val="134A40">
                  <a:alpha val="50000"/>
                </a:srgbClr>
              </a:gs>
              <a:gs pos="100000">
                <a:srgbClr val="134A40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8128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8128000" y="3683000"/>
            <a:ext cx="1016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3"/>
          <p:cNvSpPr/>
          <p:nvPr/>
        </p:nvSpPr>
        <p:spPr>
          <a:xfrm>
            <a:off x="8128000" y="3937000"/>
            <a:ext cx="736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MODELS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128000" y="4762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Text and Pictures Work Together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128000" y="5715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2: Text + Picture Comprehension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FFFFFF">
                    <a:alpha val="3764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Combine Text and Pictures?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People remember pictures better than words alone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Combining text and images creates stronger memory connections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 explains "what" and "why"; pictures show "how"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Together, they create a complete learning experience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is called the Dual-Coding approach to learning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you see a picture AND read about it, your brain stores the information in two places. This makes it easier to remember later.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206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734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34870" y="7858"/>
                </a:moveTo>
                <a:cubicBezTo>
                  <a:pt x="34434" y="3383"/>
                  <a:pt x="30669" y="0"/>
                  <a:pt x="26194" y="0"/>
                </a:cubicBezTo>
                <a:cubicBezTo>
                  <a:pt x="21719" y="0"/>
                  <a:pt x="17954" y="3383"/>
                  <a:pt x="17463" y="7804"/>
                </a:cubicBezTo>
                <a:lnTo>
                  <a:pt x="9768" y="81692"/>
                </a:lnTo>
                <a:cubicBezTo>
                  <a:pt x="9059" y="84966"/>
                  <a:pt x="8731" y="88295"/>
                  <a:pt x="8731" y="91624"/>
                </a:cubicBezTo>
                <a:cubicBezTo>
                  <a:pt x="8731" y="116671"/>
                  <a:pt x="27885" y="137244"/>
                  <a:pt x="52388" y="139482"/>
                </a:cubicBezTo>
                <a:lnTo>
                  <a:pt x="52388" y="261938"/>
                </a:lnTo>
                <a:cubicBezTo>
                  <a:pt x="52388" y="271596"/>
                  <a:pt x="60191" y="279400"/>
                  <a:pt x="69850" y="279400"/>
                </a:cubicBezTo>
                <a:cubicBezTo>
                  <a:pt x="79509" y="279400"/>
                  <a:pt x="87313" y="271596"/>
                  <a:pt x="87313" y="261938"/>
                </a:cubicBezTo>
                <a:lnTo>
                  <a:pt x="87313" y="139482"/>
                </a:lnTo>
                <a:cubicBezTo>
                  <a:pt x="111815" y="137244"/>
                  <a:pt x="130969" y="116671"/>
                  <a:pt x="130969" y="91624"/>
                </a:cubicBezTo>
                <a:cubicBezTo>
                  <a:pt x="130969" y="88295"/>
                  <a:pt x="130641" y="84966"/>
                  <a:pt x="129932" y="81692"/>
                </a:cubicBezTo>
                <a:lnTo>
                  <a:pt x="122183" y="7804"/>
                </a:lnTo>
                <a:cubicBezTo>
                  <a:pt x="121746" y="3383"/>
                  <a:pt x="117981" y="0"/>
                  <a:pt x="113506" y="0"/>
                </a:cubicBezTo>
                <a:cubicBezTo>
                  <a:pt x="109031" y="0"/>
                  <a:pt x="105266" y="3383"/>
                  <a:pt x="104830" y="7858"/>
                </a:cubicBezTo>
                <a:lnTo>
                  <a:pt x="97408" y="81801"/>
                </a:lnTo>
                <a:cubicBezTo>
                  <a:pt x="97081" y="84911"/>
                  <a:pt x="94461" y="87313"/>
                  <a:pt x="91351" y="87313"/>
                </a:cubicBezTo>
                <a:cubicBezTo>
                  <a:pt x="88186" y="87313"/>
                  <a:pt x="85566" y="84911"/>
                  <a:pt x="85239" y="81746"/>
                </a:cubicBezTo>
                <a:lnTo>
                  <a:pt x="78527" y="7967"/>
                </a:lnTo>
                <a:cubicBezTo>
                  <a:pt x="78145" y="3438"/>
                  <a:pt x="74379" y="0"/>
                  <a:pt x="69850" y="0"/>
                </a:cubicBezTo>
                <a:cubicBezTo>
                  <a:pt x="65321" y="0"/>
                  <a:pt x="61555" y="3438"/>
                  <a:pt x="61173" y="7967"/>
                </a:cubicBezTo>
                <a:lnTo>
                  <a:pt x="54461" y="81746"/>
                </a:lnTo>
                <a:cubicBezTo>
                  <a:pt x="54188" y="84911"/>
                  <a:pt x="51514" y="87313"/>
                  <a:pt x="48349" y="87313"/>
                </a:cubicBezTo>
                <a:cubicBezTo>
                  <a:pt x="45184" y="87313"/>
                  <a:pt x="42565" y="84911"/>
                  <a:pt x="42292" y="81801"/>
                </a:cubicBezTo>
                <a:lnTo>
                  <a:pt x="34870" y="7858"/>
                </a:lnTo>
                <a:close/>
                <a:moveTo>
                  <a:pt x="244475" y="0"/>
                </a:moveTo>
                <a:cubicBezTo>
                  <a:pt x="235744" y="0"/>
                  <a:pt x="174625" y="17463"/>
                  <a:pt x="174625" y="96044"/>
                </a:cubicBezTo>
                <a:lnTo>
                  <a:pt x="174625" y="157163"/>
                </a:lnTo>
                <a:cubicBezTo>
                  <a:pt x="174625" y="176426"/>
                  <a:pt x="190287" y="192088"/>
                  <a:pt x="209550" y="192088"/>
                </a:cubicBezTo>
                <a:lnTo>
                  <a:pt x="227013" y="192088"/>
                </a:lnTo>
                <a:lnTo>
                  <a:pt x="227013" y="261938"/>
                </a:lnTo>
                <a:cubicBezTo>
                  <a:pt x="227013" y="271596"/>
                  <a:pt x="234816" y="279400"/>
                  <a:pt x="244475" y="279400"/>
                </a:cubicBezTo>
                <a:cubicBezTo>
                  <a:pt x="254134" y="279400"/>
                  <a:pt x="261938" y="271596"/>
                  <a:pt x="261938" y="261938"/>
                </a:cubicBezTo>
                <a:lnTo>
                  <a:pt x="261938" y="17463"/>
                </a:lnTo>
                <a:cubicBezTo>
                  <a:pt x="261938" y="7804"/>
                  <a:pt x="254134" y="0"/>
                  <a:pt x="244475" y="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recipe with photos of each step is easier to follow than text-only instructions.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1905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DUAL-CODING MODEL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33000" y="2667000"/>
            <a:ext cx="2032000" cy="1016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68000" y="279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2873" y="50304"/>
                </a:moveTo>
                <a:cubicBezTo>
                  <a:pt x="277713" y="38993"/>
                  <a:pt x="266402" y="31750"/>
                  <a:pt x="254000" y="31750"/>
                </a:cubicBezTo>
                <a:cubicBezTo>
                  <a:pt x="241598" y="31750"/>
                  <a:pt x="230287" y="38993"/>
                  <a:pt x="225127" y="50304"/>
                </a:cubicBezTo>
                <a:lnTo>
                  <a:pt x="59035" y="412750"/>
                </a:lnTo>
                <a:lnTo>
                  <a:pt x="47625" y="412750"/>
                </a:lnTo>
                <a:cubicBezTo>
                  <a:pt x="30063" y="412750"/>
                  <a:pt x="15875" y="426938"/>
                  <a:pt x="15875" y="444500"/>
                </a:cubicBezTo>
                <a:cubicBezTo>
                  <a:pt x="15875" y="462062"/>
                  <a:pt x="30063" y="476250"/>
                  <a:pt x="47625" y="476250"/>
                </a:cubicBezTo>
                <a:lnTo>
                  <a:pt x="134938" y="476250"/>
                </a:lnTo>
                <a:cubicBezTo>
                  <a:pt x="152499" y="476250"/>
                  <a:pt x="166688" y="462062"/>
                  <a:pt x="166688" y="444500"/>
                </a:cubicBezTo>
                <a:cubicBezTo>
                  <a:pt x="166688" y="426938"/>
                  <a:pt x="152499" y="412750"/>
                  <a:pt x="134938" y="412750"/>
                </a:cubicBezTo>
                <a:lnTo>
                  <a:pt x="128885" y="412750"/>
                </a:lnTo>
                <a:lnTo>
                  <a:pt x="150713" y="365125"/>
                </a:lnTo>
                <a:lnTo>
                  <a:pt x="357386" y="365125"/>
                </a:lnTo>
                <a:lnTo>
                  <a:pt x="379214" y="412750"/>
                </a:lnTo>
                <a:lnTo>
                  <a:pt x="373162" y="412750"/>
                </a:lnTo>
                <a:cubicBezTo>
                  <a:pt x="355600" y="412750"/>
                  <a:pt x="341412" y="426938"/>
                  <a:pt x="341412" y="444500"/>
                </a:cubicBezTo>
                <a:cubicBezTo>
                  <a:pt x="341412" y="462062"/>
                  <a:pt x="355600" y="476250"/>
                  <a:pt x="373162" y="476250"/>
                </a:cubicBezTo>
                <a:lnTo>
                  <a:pt x="460474" y="476250"/>
                </a:lnTo>
                <a:cubicBezTo>
                  <a:pt x="478036" y="476250"/>
                  <a:pt x="492224" y="462062"/>
                  <a:pt x="492224" y="444500"/>
                </a:cubicBezTo>
                <a:cubicBezTo>
                  <a:pt x="492224" y="426938"/>
                  <a:pt x="478036" y="412750"/>
                  <a:pt x="460474" y="412750"/>
                </a:cubicBezTo>
                <a:lnTo>
                  <a:pt x="449064" y="412750"/>
                </a:lnTo>
                <a:lnTo>
                  <a:pt x="282972" y="50304"/>
                </a:lnTo>
                <a:close/>
                <a:moveTo>
                  <a:pt x="328216" y="301625"/>
                </a:moveTo>
                <a:lnTo>
                  <a:pt x="179784" y="301625"/>
                </a:lnTo>
                <a:lnTo>
                  <a:pt x="254000" y="139700"/>
                </a:lnTo>
                <a:lnTo>
                  <a:pt x="328216" y="30162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33000" y="4127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Input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827000" y="2667000"/>
            <a:ext cx="2032000" cy="1016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3493750" y="2794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31750"/>
                </a:moveTo>
                <a:cubicBezTo>
                  <a:pt x="28476" y="31750"/>
                  <a:pt x="0" y="60226"/>
                  <a:pt x="0" y="95250"/>
                </a:cubicBezTo>
                <a:lnTo>
                  <a:pt x="0" y="412750"/>
                </a:lnTo>
                <a:cubicBezTo>
                  <a:pt x="0" y="447774"/>
                  <a:pt x="28476" y="476250"/>
                  <a:pt x="63500" y="476250"/>
                </a:cubicBezTo>
                <a:lnTo>
                  <a:pt x="381000" y="476250"/>
                </a:lnTo>
                <a:cubicBezTo>
                  <a:pt x="416024" y="476250"/>
                  <a:pt x="444500" y="447774"/>
                  <a:pt x="444500" y="412750"/>
                </a:cubicBezTo>
                <a:lnTo>
                  <a:pt x="444500" y="95250"/>
                </a:lnTo>
                <a:cubicBezTo>
                  <a:pt x="444500" y="60226"/>
                  <a:pt x="416024" y="31750"/>
                  <a:pt x="381000" y="31750"/>
                </a:cubicBezTo>
                <a:lnTo>
                  <a:pt x="63500" y="31750"/>
                </a:lnTo>
                <a:close/>
                <a:moveTo>
                  <a:pt x="127000" y="111125"/>
                </a:moveTo>
                <a:cubicBezTo>
                  <a:pt x="153285" y="111125"/>
                  <a:pt x="174625" y="132465"/>
                  <a:pt x="174625" y="158750"/>
                </a:cubicBezTo>
                <a:cubicBezTo>
                  <a:pt x="174625" y="185035"/>
                  <a:pt x="153285" y="206375"/>
                  <a:pt x="127000" y="206375"/>
                </a:cubicBezTo>
                <a:cubicBezTo>
                  <a:pt x="100715" y="206375"/>
                  <a:pt x="79375" y="185035"/>
                  <a:pt x="79375" y="158750"/>
                </a:cubicBezTo>
                <a:cubicBezTo>
                  <a:pt x="79375" y="132465"/>
                  <a:pt x="100715" y="111125"/>
                  <a:pt x="127000" y="111125"/>
                </a:cubicBezTo>
                <a:close/>
                <a:moveTo>
                  <a:pt x="269875" y="222250"/>
                </a:moveTo>
                <a:cubicBezTo>
                  <a:pt x="278209" y="222250"/>
                  <a:pt x="285849" y="226616"/>
                  <a:pt x="290215" y="233660"/>
                </a:cubicBezTo>
                <a:lnTo>
                  <a:pt x="377527" y="376535"/>
                </a:lnTo>
                <a:cubicBezTo>
                  <a:pt x="381992" y="383877"/>
                  <a:pt x="382191" y="393105"/>
                  <a:pt x="378023" y="400645"/>
                </a:cubicBezTo>
                <a:cubicBezTo>
                  <a:pt x="373856" y="408186"/>
                  <a:pt x="365820" y="412750"/>
                  <a:pt x="357188" y="412750"/>
                </a:cubicBezTo>
                <a:lnTo>
                  <a:pt x="87313" y="412750"/>
                </a:lnTo>
                <a:cubicBezTo>
                  <a:pt x="78482" y="412750"/>
                  <a:pt x="70247" y="407789"/>
                  <a:pt x="66179" y="399951"/>
                </a:cubicBezTo>
                <a:cubicBezTo>
                  <a:pt x="62111" y="392113"/>
                  <a:pt x="62706" y="382588"/>
                  <a:pt x="67766" y="375345"/>
                </a:cubicBezTo>
                <a:lnTo>
                  <a:pt x="123329" y="295970"/>
                </a:lnTo>
                <a:cubicBezTo>
                  <a:pt x="127794" y="289620"/>
                  <a:pt x="135037" y="285849"/>
                  <a:pt x="142875" y="285849"/>
                </a:cubicBezTo>
                <a:cubicBezTo>
                  <a:pt x="150713" y="285849"/>
                  <a:pt x="157956" y="289620"/>
                  <a:pt x="162421" y="295970"/>
                </a:cubicBezTo>
                <a:lnTo>
                  <a:pt x="188615" y="333474"/>
                </a:lnTo>
                <a:lnTo>
                  <a:pt x="249535" y="233759"/>
                </a:lnTo>
                <a:cubicBezTo>
                  <a:pt x="253901" y="226715"/>
                  <a:pt x="261541" y="222349"/>
                  <a:pt x="269875" y="22234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827000" y="4127500"/>
            <a:ext cx="203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Input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049000" y="3683000"/>
            <a:ext cx="1016000" cy="38100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 flipH="1">
            <a:off x="12827000" y="3683000"/>
            <a:ext cx="1016000" cy="381000"/>
          </a:xfrm>
          <a:prstGeom prst="straightConnector1">
            <a:avLst/>
          </a:prstGeom>
          <a:noFill/>
          <a:ln w="25400">
            <a:solidFill>
              <a:srgbClr val="1B6B5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1176000" y="4572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2128500" y="469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176000" y="5651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Brain Processes Both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795000" y="6477000"/>
            <a:ext cx="3302000" cy="762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10795000" y="6604000"/>
            <a:ext cx="33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Stronger Memory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Our Brain Processes Text and Images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 goes through the verbal channel in our brain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Images go through the visual channel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These two channels work independently but also connect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text and image match, learning becomes much stronger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they do not match, the brain gets confused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your brain as having two processors — one for words, one for pictures. When they work on the same task together, they are much more powerful.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1050925" y="73406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92088" y="0"/>
                </a:moveTo>
                <a:cubicBezTo>
                  <a:pt x="201746" y="0"/>
                  <a:pt x="209550" y="7804"/>
                  <a:pt x="209550" y="17463"/>
                </a:cubicBezTo>
                <a:cubicBezTo>
                  <a:pt x="209550" y="49004"/>
                  <a:pt x="196235" y="74652"/>
                  <a:pt x="178227" y="96317"/>
                </a:cubicBezTo>
                <a:cubicBezTo>
                  <a:pt x="165075" y="112087"/>
                  <a:pt x="148868" y="126385"/>
                  <a:pt x="132606" y="139700"/>
                </a:cubicBezTo>
                <a:cubicBezTo>
                  <a:pt x="148868" y="153070"/>
                  <a:pt x="165075" y="167313"/>
                  <a:pt x="178227" y="183083"/>
                </a:cubicBezTo>
                <a:cubicBezTo>
                  <a:pt x="196235" y="204693"/>
                  <a:pt x="209550" y="230396"/>
                  <a:pt x="209550" y="261938"/>
                </a:cubicBezTo>
                <a:cubicBezTo>
                  <a:pt x="209550" y="271596"/>
                  <a:pt x="201746" y="279400"/>
                  <a:pt x="192088" y="279400"/>
                </a:cubicBezTo>
                <a:cubicBezTo>
                  <a:pt x="182429" y="279400"/>
                  <a:pt x="174625" y="271596"/>
                  <a:pt x="174625" y="261938"/>
                </a:cubicBezTo>
                <a:lnTo>
                  <a:pt x="34925" y="261938"/>
                </a:lnTo>
                <a:cubicBezTo>
                  <a:pt x="34925" y="271596"/>
                  <a:pt x="27121" y="279400"/>
                  <a:pt x="17463" y="279400"/>
                </a:cubicBezTo>
                <a:cubicBezTo>
                  <a:pt x="7804" y="279400"/>
                  <a:pt x="0" y="271596"/>
                  <a:pt x="0" y="261938"/>
                </a:cubicBezTo>
                <a:cubicBezTo>
                  <a:pt x="0" y="230396"/>
                  <a:pt x="13315" y="204748"/>
                  <a:pt x="31323" y="183083"/>
                </a:cubicBezTo>
                <a:cubicBezTo>
                  <a:pt x="44475" y="167313"/>
                  <a:pt x="60682" y="153070"/>
                  <a:pt x="76944" y="139700"/>
                </a:cubicBezTo>
                <a:cubicBezTo>
                  <a:pt x="60682" y="126330"/>
                  <a:pt x="44475" y="112087"/>
                  <a:pt x="31323" y="96317"/>
                </a:cubicBezTo>
                <a:cubicBezTo>
                  <a:pt x="13315" y="74652"/>
                  <a:pt x="0" y="49004"/>
                  <a:pt x="0" y="17463"/>
                </a:cubicBezTo>
                <a:cubicBezTo>
                  <a:pt x="0" y="7804"/>
                  <a:pt x="7804" y="0"/>
                  <a:pt x="17463" y="0"/>
                </a:cubicBezTo>
                <a:cubicBezTo>
                  <a:pt x="27121" y="0"/>
                  <a:pt x="34925" y="7804"/>
                  <a:pt x="34925" y="17463"/>
                </a:cubicBezTo>
                <a:lnTo>
                  <a:pt x="174625" y="17463"/>
                </a:lnTo>
                <a:cubicBezTo>
                  <a:pt x="174625" y="7804"/>
                  <a:pt x="182429" y="0"/>
                  <a:pt x="192088" y="0"/>
                </a:cubicBezTo>
                <a:close/>
                <a:moveTo>
                  <a:pt x="154707" y="209550"/>
                </a:moveTo>
                <a:lnTo>
                  <a:pt x="54898" y="209550"/>
                </a:lnTo>
                <a:cubicBezTo>
                  <a:pt x="50423" y="215280"/>
                  <a:pt x="46658" y="221064"/>
                  <a:pt x="43656" y="227013"/>
                </a:cubicBezTo>
                <a:lnTo>
                  <a:pt x="166003" y="227013"/>
                </a:lnTo>
                <a:cubicBezTo>
                  <a:pt x="162947" y="221064"/>
                  <a:pt x="159182" y="215280"/>
                  <a:pt x="154761" y="209550"/>
                </a:cubicBezTo>
                <a:close/>
                <a:moveTo>
                  <a:pt x="129877" y="183356"/>
                </a:moveTo>
                <a:cubicBezTo>
                  <a:pt x="122074" y="176262"/>
                  <a:pt x="113615" y="169277"/>
                  <a:pt x="104775" y="162074"/>
                </a:cubicBezTo>
                <a:cubicBezTo>
                  <a:pt x="95935" y="169223"/>
                  <a:pt x="87476" y="176262"/>
                  <a:pt x="79673" y="183356"/>
                </a:cubicBezTo>
                <a:lnTo>
                  <a:pt x="129877" y="183356"/>
                </a:lnTo>
                <a:close/>
                <a:moveTo>
                  <a:pt x="54843" y="69850"/>
                </a:moveTo>
                <a:lnTo>
                  <a:pt x="154652" y="69850"/>
                </a:lnTo>
                <a:cubicBezTo>
                  <a:pt x="159127" y="64120"/>
                  <a:pt x="162892" y="58336"/>
                  <a:pt x="165894" y="52388"/>
                </a:cubicBezTo>
                <a:lnTo>
                  <a:pt x="43602" y="52388"/>
                </a:lnTo>
                <a:cubicBezTo>
                  <a:pt x="46658" y="58336"/>
                  <a:pt x="50423" y="64120"/>
                  <a:pt x="54843" y="69850"/>
                </a:cubicBezTo>
                <a:close/>
                <a:moveTo>
                  <a:pt x="79673" y="96044"/>
                </a:moveTo>
                <a:cubicBezTo>
                  <a:pt x="87476" y="103138"/>
                  <a:pt x="95935" y="110123"/>
                  <a:pt x="104775" y="117326"/>
                </a:cubicBezTo>
                <a:cubicBezTo>
                  <a:pt x="113615" y="110177"/>
                  <a:pt x="122074" y="103138"/>
                  <a:pt x="129877" y="96044"/>
                </a:cubicBezTo>
                <a:lnTo>
                  <a:pt x="79673" y="96044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biology diagram with clear labels helps students learn faster than reading a paragraph describing the same structure.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1905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TWO-CHANNEL MODEL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33000" y="26670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95000" y="285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349250"/>
                </a:moveTo>
                <a:lnTo>
                  <a:pt x="0" y="127000"/>
                </a:lnTo>
                <a:cubicBezTo>
                  <a:pt x="0" y="74414"/>
                  <a:pt x="42664" y="31750"/>
                  <a:pt x="95250" y="31750"/>
                </a:cubicBezTo>
                <a:lnTo>
                  <a:pt x="412750" y="31750"/>
                </a:lnTo>
                <a:cubicBezTo>
                  <a:pt x="465336" y="31750"/>
                  <a:pt x="508000" y="74414"/>
                  <a:pt x="508000" y="127000"/>
                </a:cubicBezTo>
                <a:lnTo>
                  <a:pt x="508000" y="349250"/>
                </a:lnTo>
                <a:cubicBezTo>
                  <a:pt x="508000" y="401836"/>
                  <a:pt x="465336" y="444500"/>
                  <a:pt x="412750" y="444500"/>
                </a:cubicBezTo>
                <a:lnTo>
                  <a:pt x="293688" y="444500"/>
                </a:lnTo>
                <a:cubicBezTo>
                  <a:pt x="288528" y="444500"/>
                  <a:pt x="283567" y="446187"/>
                  <a:pt x="279400" y="449263"/>
                </a:cubicBezTo>
                <a:lnTo>
                  <a:pt x="165100" y="534988"/>
                </a:lnTo>
                <a:cubicBezTo>
                  <a:pt x="160933" y="538063"/>
                  <a:pt x="155972" y="539750"/>
                  <a:pt x="150813" y="539750"/>
                </a:cubicBezTo>
                <a:cubicBezTo>
                  <a:pt x="137616" y="539750"/>
                  <a:pt x="127000" y="529134"/>
                  <a:pt x="127000" y="515938"/>
                </a:cubicBezTo>
                <a:lnTo>
                  <a:pt x="127000" y="444500"/>
                </a:lnTo>
                <a:lnTo>
                  <a:pt x="95250" y="444500"/>
                </a:lnTo>
                <a:cubicBezTo>
                  <a:pt x="42664" y="444500"/>
                  <a:pt x="0" y="401836"/>
                  <a:pt x="0" y="3492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033000" y="34925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Verbal Channel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573000" y="2667000"/>
            <a:ext cx="2286000" cy="1270000"/>
          </a:xfrm>
          <a:prstGeom prst="roundRect">
            <a:avLst>
              <a:gd name="adj" fmla="val 8000"/>
            </a:avLst>
          </a:prstGeom>
          <a:solidFill>
            <a:srgbClr val="1B6B5C"/>
          </a:solidFill>
          <a:ln/>
        </p:spPr>
      </p:sp>
      <p:sp>
        <p:nvSpPr>
          <p:cNvPr id="20" name="Shape 18"/>
          <p:cNvSpPr/>
          <p:nvPr/>
        </p:nvSpPr>
        <p:spPr>
          <a:xfrm>
            <a:off x="13303250" y="2857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31750"/>
                </a:moveTo>
                <a:cubicBezTo>
                  <a:pt x="205581" y="31750"/>
                  <a:pt x="141387" y="68263"/>
                  <a:pt x="94655" y="111720"/>
                </a:cubicBezTo>
                <a:cubicBezTo>
                  <a:pt x="48220" y="154880"/>
                  <a:pt x="17165" y="206375"/>
                  <a:pt x="2381" y="241796"/>
                </a:cubicBezTo>
                <a:cubicBezTo>
                  <a:pt x="-893" y="249634"/>
                  <a:pt x="-893" y="258366"/>
                  <a:pt x="2381" y="266204"/>
                </a:cubicBezTo>
                <a:cubicBezTo>
                  <a:pt x="17165" y="301625"/>
                  <a:pt x="48220" y="353219"/>
                  <a:pt x="94655" y="396280"/>
                </a:cubicBezTo>
                <a:cubicBezTo>
                  <a:pt x="141387" y="439638"/>
                  <a:pt x="205581" y="476250"/>
                  <a:pt x="285750" y="476250"/>
                </a:cubicBezTo>
                <a:cubicBezTo>
                  <a:pt x="365919" y="476250"/>
                  <a:pt x="430113" y="439737"/>
                  <a:pt x="476845" y="396280"/>
                </a:cubicBezTo>
                <a:cubicBezTo>
                  <a:pt x="523280" y="353120"/>
                  <a:pt x="554335" y="301625"/>
                  <a:pt x="569119" y="266204"/>
                </a:cubicBezTo>
                <a:cubicBezTo>
                  <a:pt x="572393" y="258366"/>
                  <a:pt x="572393" y="249634"/>
                  <a:pt x="569119" y="241796"/>
                </a:cubicBezTo>
                <a:cubicBezTo>
                  <a:pt x="554335" y="206375"/>
                  <a:pt x="523280" y="154781"/>
                  <a:pt x="476845" y="111720"/>
                </a:cubicBezTo>
                <a:cubicBezTo>
                  <a:pt x="430113" y="68362"/>
                  <a:pt x="365919" y="31750"/>
                  <a:pt x="285750" y="31750"/>
                </a:cubicBezTo>
                <a:close/>
                <a:moveTo>
                  <a:pt x="142875" y="254000"/>
                </a:moveTo>
                <a:cubicBezTo>
                  <a:pt x="142875" y="175145"/>
                  <a:pt x="206895" y="111125"/>
                  <a:pt x="285750" y="111125"/>
                </a:cubicBezTo>
                <a:cubicBezTo>
                  <a:pt x="364605" y="111125"/>
                  <a:pt x="428625" y="175145"/>
                  <a:pt x="428625" y="254000"/>
                </a:cubicBezTo>
                <a:cubicBezTo>
                  <a:pt x="428625" y="332855"/>
                  <a:pt x="364605" y="396875"/>
                  <a:pt x="285750" y="396875"/>
                </a:cubicBezTo>
                <a:cubicBezTo>
                  <a:pt x="206895" y="396875"/>
                  <a:pt x="142875" y="332855"/>
                  <a:pt x="142875" y="254000"/>
                </a:cubicBezTo>
                <a:close/>
                <a:moveTo>
                  <a:pt x="285750" y="190500"/>
                </a:moveTo>
                <a:cubicBezTo>
                  <a:pt x="285750" y="225524"/>
                  <a:pt x="257274" y="254000"/>
                  <a:pt x="222250" y="254000"/>
                </a:cubicBezTo>
                <a:cubicBezTo>
                  <a:pt x="210840" y="254000"/>
                  <a:pt x="200124" y="251023"/>
                  <a:pt x="190798" y="245666"/>
                </a:cubicBezTo>
                <a:cubicBezTo>
                  <a:pt x="189805" y="256480"/>
                  <a:pt x="190698" y="267593"/>
                  <a:pt x="193675" y="278606"/>
                </a:cubicBezTo>
                <a:cubicBezTo>
                  <a:pt x="207268" y="329406"/>
                  <a:pt x="259556" y="359569"/>
                  <a:pt x="310356" y="345976"/>
                </a:cubicBezTo>
                <a:cubicBezTo>
                  <a:pt x="361156" y="332383"/>
                  <a:pt x="391319" y="280095"/>
                  <a:pt x="377726" y="229295"/>
                </a:cubicBezTo>
                <a:cubicBezTo>
                  <a:pt x="365621" y="183952"/>
                  <a:pt x="322659" y="155079"/>
                  <a:pt x="277416" y="159048"/>
                </a:cubicBezTo>
                <a:cubicBezTo>
                  <a:pt x="282674" y="168275"/>
                  <a:pt x="285750" y="178991"/>
                  <a:pt x="285750" y="1905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2573000" y="3492500"/>
            <a:ext cx="228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Channel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176000" y="3937000"/>
            <a:ext cx="0" cy="63500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3716000" y="3937000"/>
            <a:ext cx="0" cy="635000"/>
          </a:xfrm>
          <a:prstGeom prst="straightConnector1">
            <a:avLst/>
          </a:prstGeom>
          <a:noFill/>
          <a:ln w="25400">
            <a:solidFill>
              <a:srgbClr val="1B6B5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0414000" y="4699000"/>
            <a:ext cx="4064000" cy="88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1B6B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14000" y="4762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Memory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channels connect here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446000" y="5588000"/>
            <a:ext cx="0" cy="635000"/>
          </a:xfrm>
          <a:prstGeom prst="straightConnector1">
            <a:avLst/>
          </a:prstGeom>
          <a:noFill/>
          <a:ln w="25400">
            <a:solidFill>
              <a:srgbClr val="1B6B5C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10414000" y="6350000"/>
            <a:ext cx="4064000" cy="889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8" name="Text 26"/>
          <p:cNvSpPr/>
          <p:nvPr/>
        </p:nvSpPr>
        <p:spPr>
          <a:xfrm>
            <a:off x="10414000" y="6413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Long-Term Memory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Information is stored here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143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Split-Attention Effect — Keep Text Near Images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text is far from the image it describes, learning suffers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Students waste mental effort trying to match text to pictures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Always place labels and explanations right next to relevant images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Integrated labels work better than separate legends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simple design change makes a big difference in learning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Imagine reading a map where the legend is on a different page. You would constantly flip back and forth, wasting energy. Keep them together.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981075" y="7340600"/>
            <a:ext cx="349250" cy="279400"/>
          </a:xfrm>
          <a:custGeom>
            <a:avLst/>
            <a:gdLst/>
            <a:ahLst/>
            <a:cxnLst/>
            <a:rect l="l" t="t" r="r" b="b"/>
            <a:pathLst>
              <a:path w="349250" h="279400">
                <a:moveTo>
                  <a:pt x="314325" y="26194"/>
                </a:moveTo>
                <a:cubicBezTo>
                  <a:pt x="314325" y="20136"/>
                  <a:pt x="311214" y="14516"/>
                  <a:pt x="306030" y="11351"/>
                </a:cubicBezTo>
                <a:cubicBezTo>
                  <a:pt x="300846" y="8186"/>
                  <a:pt x="294461" y="7858"/>
                  <a:pt x="289059" y="10587"/>
                </a:cubicBezTo>
                <a:lnTo>
                  <a:pt x="225648" y="42292"/>
                </a:lnTo>
                <a:lnTo>
                  <a:pt x="127749" y="9604"/>
                </a:lnTo>
                <a:cubicBezTo>
                  <a:pt x="123329" y="8131"/>
                  <a:pt x="118581" y="8458"/>
                  <a:pt x="114434" y="10532"/>
                </a:cubicBezTo>
                <a:lnTo>
                  <a:pt x="44584" y="45457"/>
                </a:lnTo>
                <a:cubicBezTo>
                  <a:pt x="38636" y="48458"/>
                  <a:pt x="34925" y="54516"/>
                  <a:pt x="34925" y="61119"/>
                </a:cubicBezTo>
                <a:lnTo>
                  <a:pt x="34925" y="253206"/>
                </a:lnTo>
                <a:cubicBezTo>
                  <a:pt x="34925" y="259264"/>
                  <a:pt x="38036" y="264884"/>
                  <a:pt x="43220" y="268049"/>
                </a:cubicBezTo>
                <a:cubicBezTo>
                  <a:pt x="48404" y="271214"/>
                  <a:pt x="54789" y="271542"/>
                  <a:pt x="60191" y="268813"/>
                </a:cubicBezTo>
                <a:lnTo>
                  <a:pt x="123547" y="237108"/>
                </a:lnTo>
                <a:lnTo>
                  <a:pt x="218118" y="268650"/>
                </a:lnTo>
                <a:cubicBezTo>
                  <a:pt x="215771" y="265157"/>
                  <a:pt x="213479" y="261501"/>
                  <a:pt x="211242" y="257790"/>
                </a:cubicBezTo>
                <a:cubicBezTo>
                  <a:pt x="205239" y="247804"/>
                  <a:pt x="199291" y="236344"/>
                  <a:pt x="194871" y="224066"/>
                </a:cubicBezTo>
                <a:lnTo>
                  <a:pt x="139645" y="205676"/>
                </a:lnTo>
                <a:lnTo>
                  <a:pt x="139645" y="50423"/>
                </a:lnTo>
                <a:lnTo>
                  <a:pt x="209495" y="73724"/>
                </a:lnTo>
                <a:lnTo>
                  <a:pt x="209495" y="127913"/>
                </a:lnTo>
                <a:cubicBezTo>
                  <a:pt x="226412" y="108377"/>
                  <a:pt x="251515" y="96044"/>
                  <a:pt x="279345" y="96044"/>
                </a:cubicBezTo>
                <a:cubicBezTo>
                  <a:pt x="291678" y="96044"/>
                  <a:pt x="303466" y="98445"/>
                  <a:pt x="314270" y="102865"/>
                </a:cubicBezTo>
                <a:lnTo>
                  <a:pt x="314325" y="26194"/>
                </a:lnTo>
                <a:close/>
                <a:moveTo>
                  <a:pt x="279400" y="122238"/>
                </a:moveTo>
                <a:cubicBezTo>
                  <a:pt x="243220" y="122238"/>
                  <a:pt x="213916" y="151051"/>
                  <a:pt x="213916" y="186576"/>
                </a:cubicBezTo>
                <a:cubicBezTo>
                  <a:pt x="213916" y="224175"/>
                  <a:pt x="248895" y="268650"/>
                  <a:pt x="267722" y="289878"/>
                </a:cubicBezTo>
                <a:cubicBezTo>
                  <a:pt x="274052" y="296972"/>
                  <a:pt x="284802" y="296972"/>
                  <a:pt x="291133" y="289878"/>
                </a:cubicBezTo>
                <a:cubicBezTo>
                  <a:pt x="309959" y="268650"/>
                  <a:pt x="344939" y="224175"/>
                  <a:pt x="344939" y="186576"/>
                </a:cubicBezTo>
                <a:cubicBezTo>
                  <a:pt x="344939" y="151051"/>
                  <a:pt x="315635" y="122238"/>
                  <a:pt x="279455" y="122238"/>
                </a:cubicBezTo>
                <a:close/>
                <a:moveTo>
                  <a:pt x="257572" y="187722"/>
                </a:moveTo>
                <a:cubicBezTo>
                  <a:pt x="257572" y="175675"/>
                  <a:pt x="267353" y="165894"/>
                  <a:pt x="279400" y="165894"/>
                </a:cubicBezTo>
                <a:cubicBezTo>
                  <a:pt x="291447" y="165894"/>
                  <a:pt x="301228" y="175675"/>
                  <a:pt x="301228" y="187722"/>
                </a:cubicBezTo>
                <a:cubicBezTo>
                  <a:pt x="301228" y="199769"/>
                  <a:pt x="291447" y="209550"/>
                  <a:pt x="279400" y="209550"/>
                </a:cubicBezTo>
                <a:cubicBezTo>
                  <a:pt x="267353" y="209550"/>
                  <a:pt x="257572" y="199769"/>
                  <a:pt x="257572" y="187722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diagram with inline labels (text right on the image) is easier to learn from than one with a separate legend box.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29210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88500" y="190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BAD: SEPARATED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52000" y="2349500"/>
            <a:ext cx="2413000" cy="1270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80688" y="2603500"/>
            <a:ext cx="555625" cy="635000"/>
          </a:xfrm>
          <a:custGeom>
            <a:avLst/>
            <a:gdLst/>
            <a:ahLst/>
            <a:cxnLst/>
            <a:rect l="l" t="t" r="r" b="b"/>
            <a:pathLst>
              <a:path w="555625" h="635000">
                <a:moveTo>
                  <a:pt x="79375" y="39688"/>
                </a:moveTo>
                <a:cubicBezTo>
                  <a:pt x="35595" y="39688"/>
                  <a:pt x="0" y="75282"/>
                  <a:pt x="0" y="119062"/>
                </a:cubicBezTo>
                <a:lnTo>
                  <a:pt x="0" y="515937"/>
                </a:lnTo>
                <a:cubicBezTo>
                  <a:pt x="0" y="559718"/>
                  <a:pt x="35595" y="595313"/>
                  <a:pt x="79375" y="595313"/>
                </a:cubicBezTo>
                <a:lnTo>
                  <a:pt x="476250" y="595313"/>
                </a:lnTo>
                <a:cubicBezTo>
                  <a:pt x="520030" y="595313"/>
                  <a:pt x="555625" y="559718"/>
                  <a:pt x="555625" y="515937"/>
                </a:cubicBezTo>
                <a:lnTo>
                  <a:pt x="555625" y="119062"/>
                </a:lnTo>
                <a:cubicBezTo>
                  <a:pt x="555625" y="75282"/>
                  <a:pt x="520030" y="39688"/>
                  <a:pt x="476250" y="39688"/>
                </a:cubicBezTo>
                <a:lnTo>
                  <a:pt x="79375" y="39688"/>
                </a:lnTo>
                <a:close/>
                <a:moveTo>
                  <a:pt x="158750" y="138906"/>
                </a:moveTo>
                <a:cubicBezTo>
                  <a:pt x="191606" y="138906"/>
                  <a:pt x="218281" y="165581"/>
                  <a:pt x="218281" y="198438"/>
                </a:cubicBezTo>
                <a:cubicBezTo>
                  <a:pt x="218281" y="231294"/>
                  <a:pt x="191606" y="257969"/>
                  <a:pt x="158750" y="257969"/>
                </a:cubicBezTo>
                <a:cubicBezTo>
                  <a:pt x="125894" y="257969"/>
                  <a:pt x="99219" y="231294"/>
                  <a:pt x="99219" y="198438"/>
                </a:cubicBezTo>
                <a:cubicBezTo>
                  <a:pt x="99219" y="165581"/>
                  <a:pt x="125894" y="138906"/>
                  <a:pt x="158750" y="138906"/>
                </a:cubicBezTo>
                <a:close/>
                <a:moveTo>
                  <a:pt x="337344" y="277813"/>
                </a:moveTo>
                <a:cubicBezTo>
                  <a:pt x="347762" y="277813"/>
                  <a:pt x="357312" y="283270"/>
                  <a:pt x="362769" y="292075"/>
                </a:cubicBezTo>
                <a:lnTo>
                  <a:pt x="471909" y="470669"/>
                </a:lnTo>
                <a:cubicBezTo>
                  <a:pt x="477490" y="479847"/>
                  <a:pt x="477738" y="491381"/>
                  <a:pt x="472529" y="500807"/>
                </a:cubicBezTo>
                <a:cubicBezTo>
                  <a:pt x="467320" y="510232"/>
                  <a:pt x="457274" y="515937"/>
                  <a:pt x="446484" y="515937"/>
                </a:cubicBezTo>
                <a:lnTo>
                  <a:pt x="109141" y="515937"/>
                </a:lnTo>
                <a:cubicBezTo>
                  <a:pt x="98103" y="515937"/>
                  <a:pt x="87809" y="509736"/>
                  <a:pt x="82724" y="499938"/>
                </a:cubicBezTo>
                <a:cubicBezTo>
                  <a:pt x="77639" y="490141"/>
                  <a:pt x="78383" y="478234"/>
                  <a:pt x="84708" y="469181"/>
                </a:cubicBezTo>
                <a:lnTo>
                  <a:pt x="154161" y="369962"/>
                </a:lnTo>
                <a:cubicBezTo>
                  <a:pt x="159742" y="362024"/>
                  <a:pt x="168796" y="357312"/>
                  <a:pt x="178594" y="357312"/>
                </a:cubicBezTo>
                <a:cubicBezTo>
                  <a:pt x="188392" y="357312"/>
                  <a:pt x="197445" y="362024"/>
                  <a:pt x="203026" y="369962"/>
                </a:cubicBezTo>
                <a:lnTo>
                  <a:pt x="235769" y="416843"/>
                </a:lnTo>
                <a:lnTo>
                  <a:pt x="311919" y="292199"/>
                </a:lnTo>
                <a:cubicBezTo>
                  <a:pt x="317376" y="283394"/>
                  <a:pt x="326926" y="277937"/>
                  <a:pt x="337344" y="277937"/>
                </a:cubicBezTo>
                <a:close/>
              </a:path>
            </a:pathLst>
          </a:custGeom>
          <a:solidFill>
            <a:srgbClr val="8C7E6F"/>
          </a:solidFill>
          <a:ln/>
        </p:spPr>
      </p:sp>
      <p:sp>
        <p:nvSpPr>
          <p:cNvPr id="18" name="Shape 16"/>
          <p:cNvSpPr/>
          <p:nvPr/>
        </p:nvSpPr>
        <p:spPr>
          <a:xfrm>
            <a:off x="9652000" y="3810000"/>
            <a:ext cx="2413000" cy="7620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9" name="Text 17"/>
          <p:cNvSpPr/>
          <p:nvPr/>
        </p:nvSpPr>
        <p:spPr>
          <a:xfrm>
            <a:off x="9652000" y="4000500"/>
            <a:ext cx="2413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Legend: far away from image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573000" y="1714500"/>
            <a:ext cx="29210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B6B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763500" y="190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GOOD: INTEGRATED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827000" y="2349500"/>
            <a:ext cx="2413000" cy="1270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23" name="Shape 21"/>
          <p:cNvSpPr/>
          <p:nvPr/>
        </p:nvSpPr>
        <p:spPr>
          <a:xfrm>
            <a:off x="12954000" y="2476500"/>
            <a:ext cx="889000" cy="2794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4" name="Text 22"/>
          <p:cNvSpPr/>
          <p:nvPr/>
        </p:nvSpPr>
        <p:spPr>
          <a:xfrm>
            <a:off x="12954000" y="2501900"/>
            <a:ext cx="88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 A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4097000" y="2857500"/>
            <a:ext cx="889000" cy="2794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14097000" y="2882900"/>
            <a:ext cx="88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 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27000" y="3810000"/>
            <a:ext cx="241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Labels directly on the image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98000" y="5207000"/>
            <a:ext cx="6096000" cy="1270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29" name="Shape 27"/>
          <p:cNvSpPr/>
          <p:nvPr/>
        </p:nvSpPr>
        <p:spPr>
          <a:xfrm>
            <a:off x="9779000" y="55245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290612" y="381000"/>
                </a:moveTo>
                <a:cubicBezTo>
                  <a:pt x="297855" y="358874"/>
                  <a:pt x="312341" y="338832"/>
                  <a:pt x="328712" y="321568"/>
                </a:cubicBezTo>
                <a:cubicBezTo>
                  <a:pt x="361156" y="287437"/>
                  <a:pt x="381000" y="241300"/>
                  <a:pt x="381000" y="190500"/>
                </a:cubicBezTo>
                <a:cubicBezTo>
                  <a:pt x="381000" y="85328"/>
                  <a:pt x="295672" y="0"/>
                  <a:pt x="190500" y="0"/>
                </a:cubicBezTo>
                <a:cubicBezTo>
                  <a:pt x="85328" y="0"/>
                  <a:pt x="0" y="85328"/>
                  <a:pt x="0" y="190500"/>
                </a:cubicBezTo>
                <a:cubicBezTo>
                  <a:pt x="0" y="241300"/>
                  <a:pt x="19844" y="287437"/>
                  <a:pt x="52288" y="321568"/>
                </a:cubicBezTo>
                <a:cubicBezTo>
                  <a:pt x="68659" y="338832"/>
                  <a:pt x="83245" y="358874"/>
                  <a:pt x="90388" y="381000"/>
                </a:cubicBezTo>
                <a:lnTo>
                  <a:pt x="290513" y="381000"/>
                </a:lnTo>
                <a:close/>
                <a:moveTo>
                  <a:pt x="285750" y="428625"/>
                </a:moveTo>
                <a:lnTo>
                  <a:pt x="95250" y="428625"/>
                </a:lnTo>
                <a:lnTo>
                  <a:pt x="95250" y="444500"/>
                </a:lnTo>
                <a:cubicBezTo>
                  <a:pt x="95250" y="488355"/>
                  <a:pt x="130770" y="523875"/>
                  <a:pt x="174625" y="523875"/>
                </a:cubicBezTo>
                <a:lnTo>
                  <a:pt x="206375" y="523875"/>
                </a:lnTo>
                <a:cubicBezTo>
                  <a:pt x="250230" y="523875"/>
                  <a:pt x="285750" y="488355"/>
                  <a:pt x="285750" y="444500"/>
                </a:cubicBezTo>
                <a:lnTo>
                  <a:pt x="285750" y="428625"/>
                </a:lnTo>
                <a:close/>
                <a:moveTo>
                  <a:pt x="182563" y="111125"/>
                </a:moveTo>
                <a:cubicBezTo>
                  <a:pt x="143073" y="111125"/>
                  <a:pt x="111125" y="143073"/>
                  <a:pt x="111125" y="182563"/>
                </a:cubicBezTo>
                <a:cubicBezTo>
                  <a:pt x="111125" y="195759"/>
                  <a:pt x="100509" y="206375"/>
                  <a:pt x="87313" y="206375"/>
                </a:cubicBezTo>
                <a:cubicBezTo>
                  <a:pt x="74116" y="206375"/>
                  <a:pt x="63500" y="195759"/>
                  <a:pt x="63500" y="182563"/>
                </a:cubicBezTo>
                <a:cubicBezTo>
                  <a:pt x="63500" y="116780"/>
                  <a:pt x="116780" y="63500"/>
                  <a:pt x="182563" y="63500"/>
                </a:cubicBezTo>
                <a:cubicBezTo>
                  <a:pt x="195759" y="63500"/>
                  <a:pt x="206375" y="74116"/>
                  <a:pt x="206375" y="87313"/>
                </a:cubicBezTo>
                <a:cubicBezTo>
                  <a:pt x="206375" y="100509"/>
                  <a:pt x="195759" y="111125"/>
                  <a:pt x="182563" y="11112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30" name="Text 28"/>
          <p:cNvSpPr/>
          <p:nvPr/>
        </p:nvSpPr>
        <p:spPr>
          <a:xfrm>
            <a:off x="10414000" y="5397500"/>
            <a:ext cx="482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Tip: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Place labels directly on diagrams. Use arrows to connect text to specific parts of images.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Bad Design — Text-Heavy Slides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Slides with only text are hard to remember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Too many words force students to read instead of listen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brain cannot read text and listen to the speaker at once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Text-heavy slides create high cognitive load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Students end up copying notes instead of understanding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a slide is a wall of text, students focus on reading every word instead of understanding the big picture. The speaker's voice becomes background noise.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734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48377" y="11023"/>
                </a:moveTo>
                <a:cubicBezTo>
                  <a:pt x="143029" y="7967"/>
                  <a:pt x="136426" y="7967"/>
                  <a:pt x="131023" y="11023"/>
                </a:cubicBezTo>
                <a:lnTo>
                  <a:pt x="8786" y="80873"/>
                </a:lnTo>
                <a:cubicBezTo>
                  <a:pt x="1910" y="84802"/>
                  <a:pt x="-1473" y="92879"/>
                  <a:pt x="546" y="100519"/>
                </a:cubicBezTo>
                <a:cubicBezTo>
                  <a:pt x="2565" y="108158"/>
                  <a:pt x="9550" y="113506"/>
                  <a:pt x="17463" y="113506"/>
                </a:cubicBezTo>
                <a:lnTo>
                  <a:pt x="34925" y="113506"/>
                </a:lnTo>
                <a:lnTo>
                  <a:pt x="34925" y="227013"/>
                </a:lnTo>
                <a:lnTo>
                  <a:pt x="34925" y="227013"/>
                </a:lnTo>
                <a:lnTo>
                  <a:pt x="6985" y="247967"/>
                </a:lnTo>
                <a:cubicBezTo>
                  <a:pt x="2565" y="251242"/>
                  <a:pt x="0" y="256426"/>
                  <a:pt x="0" y="261938"/>
                </a:cubicBezTo>
                <a:cubicBezTo>
                  <a:pt x="0" y="271596"/>
                  <a:pt x="7804" y="279400"/>
                  <a:pt x="17463" y="279400"/>
                </a:cubicBezTo>
                <a:lnTo>
                  <a:pt x="261938" y="279400"/>
                </a:lnTo>
                <a:cubicBezTo>
                  <a:pt x="271596" y="279400"/>
                  <a:pt x="279400" y="271596"/>
                  <a:pt x="279400" y="261938"/>
                </a:cubicBezTo>
                <a:cubicBezTo>
                  <a:pt x="279400" y="256426"/>
                  <a:pt x="276835" y="251242"/>
                  <a:pt x="272415" y="247967"/>
                </a:cubicBezTo>
                <a:lnTo>
                  <a:pt x="244475" y="227013"/>
                </a:lnTo>
                <a:lnTo>
                  <a:pt x="244475" y="113506"/>
                </a:lnTo>
                <a:lnTo>
                  <a:pt x="261938" y="113506"/>
                </a:lnTo>
                <a:cubicBezTo>
                  <a:pt x="269850" y="113506"/>
                  <a:pt x="276781" y="108158"/>
                  <a:pt x="278800" y="100519"/>
                </a:cubicBezTo>
                <a:cubicBezTo>
                  <a:pt x="280819" y="92879"/>
                  <a:pt x="277435" y="84802"/>
                  <a:pt x="270560" y="80873"/>
                </a:cubicBezTo>
                <a:lnTo>
                  <a:pt x="148322" y="11023"/>
                </a:lnTo>
                <a:close/>
                <a:moveTo>
                  <a:pt x="218281" y="113506"/>
                </a:moveTo>
                <a:lnTo>
                  <a:pt x="218281" y="227013"/>
                </a:lnTo>
                <a:lnTo>
                  <a:pt x="183356" y="227013"/>
                </a:lnTo>
                <a:lnTo>
                  <a:pt x="183356" y="113506"/>
                </a:lnTo>
                <a:lnTo>
                  <a:pt x="218281" y="113506"/>
                </a:lnTo>
                <a:close/>
                <a:moveTo>
                  <a:pt x="157163" y="113506"/>
                </a:moveTo>
                <a:lnTo>
                  <a:pt x="157163" y="227013"/>
                </a:lnTo>
                <a:lnTo>
                  <a:pt x="122238" y="227013"/>
                </a:lnTo>
                <a:lnTo>
                  <a:pt x="122238" y="113506"/>
                </a:lnTo>
                <a:lnTo>
                  <a:pt x="157163" y="113506"/>
                </a:lnTo>
                <a:close/>
                <a:moveTo>
                  <a:pt x="96044" y="113506"/>
                </a:moveTo>
                <a:lnTo>
                  <a:pt x="96044" y="227013"/>
                </a:lnTo>
                <a:lnTo>
                  <a:pt x="61119" y="227013"/>
                </a:lnTo>
                <a:lnTo>
                  <a:pt x="61119" y="113506"/>
                </a:lnTo>
                <a:lnTo>
                  <a:pt x="96044" y="113506"/>
                </a:lnTo>
                <a:close/>
                <a:moveTo>
                  <a:pt x="139700" y="52388"/>
                </a:moveTo>
                <a:cubicBezTo>
                  <a:pt x="149338" y="52388"/>
                  <a:pt x="157163" y="60212"/>
                  <a:pt x="157163" y="69850"/>
                </a:cubicBezTo>
                <a:cubicBezTo>
                  <a:pt x="157163" y="79488"/>
                  <a:pt x="149338" y="87313"/>
                  <a:pt x="139700" y="87313"/>
                </a:cubicBezTo>
                <a:cubicBezTo>
                  <a:pt x="130062" y="87313"/>
                  <a:pt x="122238" y="79488"/>
                  <a:pt x="122238" y="69850"/>
                </a:cubicBezTo>
                <a:cubicBezTo>
                  <a:pt x="122238" y="60212"/>
                  <a:pt x="130062" y="52388"/>
                  <a:pt x="139700" y="5238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university lecture where the professor reads from text-heavy slides — students are bored and retention is low.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07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98000" y="1714500"/>
            <a:ext cx="6096000" cy="508000"/>
          </a:xfrm>
          <a:prstGeom prst="roundRect">
            <a:avLst>
              <a:gd name="adj" fmla="val 6000"/>
            </a:avLst>
          </a:pr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9588500" y="1778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BAD SLIDE EXAMPLE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715500" y="2540000"/>
            <a:ext cx="5461000" cy="1270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18" name="Shape 16"/>
          <p:cNvSpPr/>
          <p:nvPr/>
        </p:nvSpPr>
        <p:spPr>
          <a:xfrm>
            <a:off x="9715500" y="2794000"/>
            <a:ext cx="5461000" cy="1270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19" name="Shape 17"/>
          <p:cNvSpPr/>
          <p:nvPr/>
        </p:nvSpPr>
        <p:spPr>
          <a:xfrm>
            <a:off x="9715500" y="3048000"/>
            <a:ext cx="5461000" cy="1270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20" name="Shape 18"/>
          <p:cNvSpPr/>
          <p:nvPr/>
        </p:nvSpPr>
        <p:spPr>
          <a:xfrm>
            <a:off x="9715500" y="3302000"/>
            <a:ext cx="5461000" cy="1270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21" name="Shape 19"/>
          <p:cNvSpPr/>
          <p:nvPr/>
        </p:nvSpPr>
        <p:spPr>
          <a:xfrm>
            <a:off x="9715500" y="3556000"/>
            <a:ext cx="5461000" cy="1270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22" name="Shape 20"/>
          <p:cNvSpPr/>
          <p:nvPr/>
        </p:nvSpPr>
        <p:spPr>
          <a:xfrm>
            <a:off x="9715500" y="3810000"/>
            <a:ext cx="5461000" cy="1270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23" name="Shape 21"/>
          <p:cNvSpPr/>
          <p:nvPr/>
        </p:nvSpPr>
        <p:spPr>
          <a:xfrm>
            <a:off x="9715500" y="4064000"/>
            <a:ext cx="4445000" cy="1270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24" name="Shape 22"/>
          <p:cNvSpPr/>
          <p:nvPr/>
        </p:nvSpPr>
        <p:spPr>
          <a:xfrm>
            <a:off x="9715500" y="4318000"/>
            <a:ext cx="5461000" cy="1270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25" name="Shape 23"/>
          <p:cNvSpPr/>
          <p:nvPr/>
        </p:nvSpPr>
        <p:spPr>
          <a:xfrm>
            <a:off x="9715500" y="4572000"/>
            <a:ext cx="5461000" cy="1270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26" name="Shape 24"/>
          <p:cNvSpPr/>
          <p:nvPr/>
        </p:nvSpPr>
        <p:spPr>
          <a:xfrm>
            <a:off x="9715500" y="4826000"/>
            <a:ext cx="5461000" cy="1270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27" name="Shape 25"/>
          <p:cNvSpPr/>
          <p:nvPr/>
        </p:nvSpPr>
        <p:spPr>
          <a:xfrm>
            <a:off x="9715500" y="5080000"/>
            <a:ext cx="3810000" cy="127000"/>
          </a:xfrm>
          <a:prstGeom prst="roundRect">
            <a:avLst>
              <a:gd name="adj" fmla="val 10000"/>
            </a:avLst>
          </a:prstGeom>
          <a:solidFill>
            <a:srgbClr val="D5CFC7"/>
          </a:solidFill>
          <a:ln/>
        </p:spPr>
      </p:sp>
      <p:sp>
        <p:nvSpPr>
          <p:cNvPr id="28" name="Shape 26"/>
          <p:cNvSpPr/>
          <p:nvPr/>
        </p:nvSpPr>
        <p:spPr>
          <a:xfrm>
            <a:off x="12001500" y="5588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762000"/>
                </a:moveTo>
                <a:cubicBezTo>
                  <a:pt x="591280" y="762000"/>
                  <a:pt x="762000" y="591280"/>
                  <a:pt x="762000" y="381000"/>
                </a:cubicBezTo>
                <a:cubicBezTo>
                  <a:pt x="762000" y="170720"/>
                  <a:pt x="591280" y="0"/>
                  <a:pt x="381000" y="0"/>
                </a:cubicBezTo>
                <a:cubicBezTo>
                  <a:pt x="170720" y="0"/>
                  <a:pt x="0" y="170720"/>
                  <a:pt x="0" y="381000"/>
                </a:cubicBezTo>
                <a:cubicBezTo>
                  <a:pt x="0" y="591280"/>
                  <a:pt x="170720" y="762000"/>
                  <a:pt x="381000" y="762000"/>
                </a:cubicBezTo>
                <a:close/>
                <a:moveTo>
                  <a:pt x="248543" y="248543"/>
                </a:moveTo>
                <a:cubicBezTo>
                  <a:pt x="262533" y="234553"/>
                  <a:pt x="285155" y="234553"/>
                  <a:pt x="298996" y="248543"/>
                </a:cubicBezTo>
                <a:lnTo>
                  <a:pt x="380851" y="330398"/>
                </a:lnTo>
                <a:lnTo>
                  <a:pt x="462707" y="248543"/>
                </a:lnTo>
                <a:cubicBezTo>
                  <a:pt x="476696" y="234553"/>
                  <a:pt x="499318" y="234553"/>
                  <a:pt x="513159" y="248543"/>
                </a:cubicBezTo>
                <a:cubicBezTo>
                  <a:pt x="527000" y="262533"/>
                  <a:pt x="527149" y="285155"/>
                  <a:pt x="513159" y="298996"/>
                </a:cubicBezTo>
                <a:lnTo>
                  <a:pt x="431304" y="380851"/>
                </a:lnTo>
                <a:lnTo>
                  <a:pt x="513159" y="462707"/>
                </a:lnTo>
                <a:cubicBezTo>
                  <a:pt x="527149" y="476696"/>
                  <a:pt x="527149" y="499318"/>
                  <a:pt x="513159" y="513159"/>
                </a:cubicBezTo>
                <a:cubicBezTo>
                  <a:pt x="499170" y="527000"/>
                  <a:pt x="476548" y="527149"/>
                  <a:pt x="462707" y="513159"/>
                </a:cubicBezTo>
                <a:lnTo>
                  <a:pt x="380851" y="431304"/>
                </a:lnTo>
                <a:lnTo>
                  <a:pt x="298996" y="513159"/>
                </a:lnTo>
                <a:cubicBezTo>
                  <a:pt x="285006" y="527149"/>
                  <a:pt x="262384" y="527149"/>
                  <a:pt x="248543" y="513159"/>
                </a:cubicBezTo>
                <a:cubicBezTo>
                  <a:pt x="234702" y="499170"/>
                  <a:pt x="234553" y="476548"/>
                  <a:pt x="248543" y="462707"/>
                </a:cubicBezTo>
                <a:lnTo>
                  <a:pt x="330398" y="380851"/>
                </a:lnTo>
                <a:lnTo>
                  <a:pt x="248543" y="298996"/>
                </a:lnTo>
                <a:cubicBezTo>
                  <a:pt x="234553" y="285006"/>
                  <a:pt x="234553" y="262384"/>
                  <a:pt x="248543" y="24854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9" name="Text 27"/>
          <p:cNvSpPr/>
          <p:nvPr/>
        </p:nvSpPr>
        <p:spPr>
          <a:xfrm>
            <a:off x="9906000" y="66040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 much text! No visuals!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06000" y="70485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C7E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read instead of listening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Design — Balanced Text and Visuals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images to support and illustrate key points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Keep text short — use keywords and phrases, not full sentences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Let the speaker provide details, not the slide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main visual per slide with minimal supporting text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approach keeps students engaged and improves memory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good slide is like a billboard — you should understand the main idea in 3 seconds. The speaker fills in the details.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1050925" y="7340600"/>
            <a:ext cx="209550" cy="279400"/>
          </a:xfrm>
          <a:custGeom>
            <a:avLst/>
            <a:gdLst/>
            <a:ahLst/>
            <a:cxnLst/>
            <a:rect l="l" t="t" r="r" b="b"/>
            <a:pathLst>
              <a:path w="209550" h="279400">
                <a:moveTo>
                  <a:pt x="104775" y="0"/>
                </a:moveTo>
                <a:cubicBezTo>
                  <a:pt x="75853" y="0"/>
                  <a:pt x="52388" y="23465"/>
                  <a:pt x="52388" y="52388"/>
                </a:cubicBezTo>
                <a:lnTo>
                  <a:pt x="52388" y="122238"/>
                </a:lnTo>
                <a:cubicBezTo>
                  <a:pt x="52388" y="151160"/>
                  <a:pt x="75853" y="174625"/>
                  <a:pt x="104775" y="174625"/>
                </a:cubicBezTo>
                <a:cubicBezTo>
                  <a:pt x="133697" y="174625"/>
                  <a:pt x="157163" y="151160"/>
                  <a:pt x="157163" y="122238"/>
                </a:cubicBezTo>
                <a:lnTo>
                  <a:pt x="157163" y="52388"/>
                </a:lnTo>
                <a:cubicBezTo>
                  <a:pt x="157163" y="23465"/>
                  <a:pt x="133697" y="0"/>
                  <a:pt x="104775" y="0"/>
                </a:cubicBezTo>
                <a:close/>
                <a:moveTo>
                  <a:pt x="26194" y="100409"/>
                </a:moveTo>
                <a:cubicBezTo>
                  <a:pt x="26194" y="93152"/>
                  <a:pt x="20355" y="87313"/>
                  <a:pt x="13097" y="87313"/>
                </a:cubicBezTo>
                <a:cubicBezTo>
                  <a:pt x="5839" y="87313"/>
                  <a:pt x="0" y="93152"/>
                  <a:pt x="0" y="100409"/>
                </a:cubicBezTo>
                <a:lnTo>
                  <a:pt x="0" y="122238"/>
                </a:lnTo>
                <a:cubicBezTo>
                  <a:pt x="0" y="175662"/>
                  <a:pt x="40000" y="219755"/>
                  <a:pt x="91678" y="226194"/>
                </a:cubicBezTo>
                <a:lnTo>
                  <a:pt x="91678" y="253206"/>
                </a:lnTo>
                <a:lnTo>
                  <a:pt x="65484" y="253206"/>
                </a:lnTo>
                <a:cubicBezTo>
                  <a:pt x="58227" y="253206"/>
                  <a:pt x="52388" y="259045"/>
                  <a:pt x="52388" y="266303"/>
                </a:cubicBezTo>
                <a:cubicBezTo>
                  <a:pt x="52388" y="273561"/>
                  <a:pt x="58227" y="279400"/>
                  <a:pt x="65484" y="279400"/>
                </a:cubicBezTo>
                <a:lnTo>
                  <a:pt x="144066" y="279400"/>
                </a:lnTo>
                <a:cubicBezTo>
                  <a:pt x="151323" y="279400"/>
                  <a:pt x="157163" y="273561"/>
                  <a:pt x="157163" y="266303"/>
                </a:cubicBezTo>
                <a:cubicBezTo>
                  <a:pt x="157163" y="259045"/>
                  <a:pt x="151323" y="253206"/>
                  <a:pt x="144066" y="253206"/>
                </a:cubicBezTo>
                <a:lnTo>
                  <a:pt x="117872" y="253206"/>
                </a:lnTo>
                <a:lnTo>
                  <a:pt x="117872" y="226194"/>
                </a:lnTo>
                <a:cubicBezTo>
                  <a:pt x="169550" y="219755"/>
                  <a:pt x="209550" y="175662"/>
                  <a:pt x="209550" y="122238"/>
                </a:cubicBezTo>
                <a:lnTo>
                  <a:pt x="209550" y="100409"/>
                </a:lnTo>
                <a:cubicBezTo>
                  <a:pt x="209550" y="93152"/>
                  <a:pt x="203711" y="87313"/>
                  <a:pt x="196453" y="87313"/>
                </a:cubicBezTo>
                <a:cubicBezTo>
                  <a:pt x="189195" y="87313"/>
                  <a:pt x="183356" y="93152"/>
                  <a:pt x="183356" y="100409"/>
                </a:cubicBezTo>
                <a:lnTo>
                  <a:pt x="183356" y="122238"/>
                </a:lnTo>
                <a:cubicBezTo>
                  <a:pt x="183356" y="165621"/>
                  <a:pt x="148158" y="200819"/>
                  <a:pt x="104775" y="200819"/>
                </a:cubicBezTo>
                <a:cubicBezTo>
                  <a:pt x="61392" y="200819"/>
                  <a:pt x="26194" y="165621"/>
                  <a:pt x="26194" y="122238"/>
                </a:cubicBezTo>
                <a:lnTo>
                  <a:pt x="26194" y="10040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TED Talk slides use large images with just a few words — the speaker tells the story, the slide supports it.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B6B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98000" y="1714500"/>
            <a:ext cx="6096000" cy="508000"/>
          </a:xfrm>
          <a:prstGeom prst="roundRect">
            <a:avLst>
              <a:gd name="adj" fmla="val 6000"/>
            </a:avLst>
          </a:prstGeom>
          <a:solidFill>
            <a:srgbClr val="1B6B5C"/>
          </a:solidFill>
          <a:ln/>
        </p:spPr>
      </p:sp>
      <p:sp>
        <p:nvSpPr>
          <p:cNvPr id="16" name="Text 14"/>
          <p:cNvSpPr/>
          <p:nvPr/>
        </p:nvSpPr>
        <p:spPr>
          <a:xfrm>
            <a:off x="9588500" y="1778000"/>
            <a:ext cx="571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 SLIDE EXAMPLE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715500" y="2476500"/>
            <a:ext cx="5461000" cy="3048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0" y="3429000"/>
            <a:ext cx="889000" cy="1016000"/>
          </a:xfrm>
          <a:custGeom>
            <a:avLst/>
            <a:gdLst/>
            <a:ahLst/>
            <a:cxnLst/>
            <a:rect l="l" t="t" r="r" b="b"/>
            <a:pathLst>
              <a:path w="889000" h="1016000">
                <a:moveTo>
                  <a:pt x="127000" y="63500"/>
                </a:moveTo>
                <a:cubicBezTo>
                  <a:pt x="56952" y="63500"/>
                  <a:pt x="0" y="120452"/>
                  <a:pt x="0" y="190500"/>
                </a:cubicBezTo>
                <a:lnTo>
                  <a:pt x="0" y="825500"/>
                </a:lnTo>
                <a:cubicBezTo>
                  <a:pt x="0" y="895548"/>
                  <a:pt x="56952" y="952500"/>
                  <a:pt x="127000" y="952500"/>
                </a:cubicBezTo>
                <a:lnTo>
                  <a:pt x="762000" y="952500"/>
                </a:lnTo>
                <a:cubicBezTo>
                  <a:pt x="832048" y="952500"/>
                  <a:pt x="889000" y="895548"/>
                  <a:pt x="889000" y="825500"/>
                </a:cubicBezTo>
                <a:lnTo>
                  <a:pt x="889000" y="190500"/>
                </a:lnTo>
                <a:cubicBezTo>
                  <a:pt x="889000" y="120452"/>
                  <a:pt x="832048" y="63500"/>
                  <a:pt x="762000" y="63500"/>
                </a:cubicBezTo>
                <a:lnTo>
                  <a:pt x="127000" y="63500"/>
                </a:lnTo>
                <a:close/>
                <a:moveTo>
                  <a:pt x="254000" y="222250"/>
                </a:moveTo>
                <a:cubicBezTo>
                  <a:pt x="306570" y="222250"/>
                  <a:pt x="349250" y="264930"/>
                  <a:pt x="349250" y="317500"/>
                </a:cubicBezTo>
                <a:cubicBezTo>
                  <a:pt x="349250" y="370070"/>
                  <a:pt x="306570" y="412750"/>
                  <a:pt x="254000" y="412750"/>
                </a:cubicBezTo>
                <a:cubicBezTo>
                  <a:pt x="201430" y="412750"/>
                  <a:pt x="158750" y="370070"/>
                  <a:pt x="158750" y="317500"/>
                </a:cubicBezTo>
                <a:cubicBezTo>
                  <a:pt x="158750" y="264930"/>
                  <a:pt x="201430" y="222250"/>
                  <a:pt x="254000" y="222250"/>
                </a:cubicBezTo>
                <a:close/>
                <a:moveTo>
                  <a:pt x="539750" y="444500"/>
                </a:moveTo>
                <a:cubicBezTo>
                  <a:pt x="556419" y="444500"/>
                  <a:pt x="571698" y="453231"/>
                  <a:pt x="580430" y="467320"/>
                </a:cubicBezTo>
                <a:lnTo>
                  <a:pt x="755055" y="753070"/>
                </a:lnTo>
                <a:cubicBezTo>
                  <a:pt x="763984" y="767755"/>
                  <a:pt x="764381" y="786209"/>
                  <a:pt x="756047" y="801291"/>
                </a:cubicBezTo>
                <a:cubicBezTo>
                  <a:pt x="747713" y="816372"/>
                  <a:pt x="731639" y="825500"/>
                  <a:pt x="714375" y="825500"/>
                </a:cubicBezTo>
                <a:lnTo>
                  <a:pt x="174625" y="825500"/>
                </a:lnTo>
                <a:cubicBezTo>
                  <a:pt x="156964" y="825500"/>
                  <a:pt x="140494" y="815578"/>
                  <a:pt x="132358" y="799902"/>
                </a:cubicBezTo>
                <a:cubicBezTo>
                  <a:pt x="124222" y="784225"/>
                  <a:pt x="125413" y="765175"/>
                  <a:pt x="135533" y="750689"/>
                </a:cubicBezTo>
                <a:lnTo>
                  <a:pt x="246658" y="591939"/>
                </a:lnTo>
                <a:cubicBezTo>
                  <a:pt x="255588" y="579239"/>
                  <a:pt x="270073" y="571698"/>
                  <a:pt x="285750" y="571698"/>
                </a:cubicBezTo>
                <a:cubicBezTo>
                  <a:pt x="301427" y="571698"/>
                  <a:pt x="315912" y="579239"/>
                  <a:pt x="324842" y="591939"/>
                </a:cubicBezTo>
                <a:lnTo>
                  <a:pt x="377230" y="666948"/>
                </a:lnTo>
                <a:lnTo>
                  <a:pt x="499070" y="467519"/>
                </a:lnTo>
                <a:cubicBezTo>
                  <a:pt x="507802" y="453430"/>
                  <a:pt x="523081" y="444698"/>
                  <a:pt x="539750" y="444698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9" name="Shape 17"/>
          <p:cNvSpPr/>
          <p:nvPr/>
        </p:nvSpPr>
        <p:spPr>
          <a:xfrm>
            <a:off x="9715500" y="5778500"/>
            <a:ext cx="2540000" cy="508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0" name="Text 18"/>
          <p:cNvSpPr/>
          <p:nvPr/>
        </p:nvSpPr>
        <p:spPr>
          <a:xfrm>
            <a:off x="9715500" y="5842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Key Idea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509500" y="5778500"/>
            <a:ext cx="2667000" cy="508000"/>
          </a:xfrm>
          <a:prstGeom prst="roundRect">
            <a:avLst>
              <a:gd name="adj" fmla="val 10000"/>
            </a:avLst>
          </a:prstGeom>
          <a:solidFill>
            <a:srgbClr val="E8F0E6"/>
          </a:solidFill>
          <a:ln/>
        </p:spPr>
      </p:sp>
      <p:sp>
        <p:nvSpPr>
          <p:cNvPr id="22" name="Text 20"/>
          <p:cNvSpPr/>
          <p:nvPr/>
        </p:nvSpPr>
        <p:spPr>
          <a:xfrm>
            <a:off x="12509500" y="5842000"/>
            <a:ext cx="266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 supporting text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001500" y="6604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762000"/>
                </a:moveTo>
                <a:cubicBezTo>
                  <a:pt x="591280" y="762000"/>
                  <a:pt x="762000" y="591280"/>
                  <a:pt x="762000" y="381000"/>
                </a:cubicBezTo>
                <a:cubicBezTo>
                  <a:pt x="762000" y="170720"/>
                  <a:pt x="591280" y="0"/>
                  <a:pt x="381000" y="0"/>
                </a:cubicBezTo>
                <a:cubicBezTo>
                  <a:pt x="170720" y="0"/>
                  <a:pt x="0" y="170720"/>
                  <a:pt x="0" y="381000"/>
                </a:cubicBezTo>
                <a:cubicBezTo>
                  <a:pt x="0" y="591280"/>
                  <a:pt x="170720" y="762000"/>
                  <a:pt x="381000" y="762000"/>
                </a:cubicBezTo>
                <a:close/>
                <a:moveTo>
                  <a:pt x="506611" y="316557"/>
                </a:moveTo>
                <a:lnTo>
                  <a:pt x="387548" y="507057"/>
                </a:lnTo>
                <a:cubicBezTo>
                  <a:pt x="381298" y="517029"/>
                  <a:pt x="370582" y="523280"/>
                  <a:pt x="358825" y="523875"/>
                </a:cubicBezTo>
                <a:cubicBezTo>
                  <a:pt x="347067" y="524470"/>
                  <a:pt x="335756" y="519113"/>
                  <a:pt x="328761" y="509587"/>
                </a:cubicBezTo>
                <a:lnTo>
                  <a:pt x="257324" y="414337"/>
                </a:lnTo>
                <a:cubicBezTo>
                  <a:pt x="245418" y="398562"/>
                  <a:pt x="248692" y="376238"/>
                  <a:pt x="264468" y="364331"/>
                </a:cubicBezTo>
                <a:cubicBezTo>
                  <a:pt x="280243" y="352425"/>
                  <a:pt x="302568" y="355699"/>
                  <a:pt x="314474" y="371475"/>
                </a:cubicBezTo>
                <a:lnTo>
                  <a:pt x="354657" y="425053"/>
                </a:lnTo>
                <a:lnTo>
                  <a:pt x="446038" y="278755"/>
                </a:lnTo>
                <a:cubicBezTo>
                  <a:pt x="456456" y="262086"/>
                  <a:pt x="478482" y="256877"/>
                  <a:pt x="495300" y="267444"/>
                </a:cubicBezTo>
                <a:cubicBezTo>
                  <a:pt x="512118" y="278011"/>
                  <a:pt x="517178" y="299889"/>
                  <a:pt x="506611" y="316706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0" y="74930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Visual + minimal text!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06000" y="78740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8C7E6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Speaker provides the details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Tips for Text-Image Integration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Place text close to the image it describes — avoid separation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arrows and labels to connect text to specific image parts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Keep a clean background so text and images stand out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contrasting colors for text over images (or add a text box)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idea per slide — do not crowd multiple concepts together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 text-image integration is like a good infographic. Everything is connected, clear, and easy to follow at a glance.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734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/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Geographic infographics combine stunning visuals with carefully placed labels and short explanations.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2921000" cy="2159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77500" y="1968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98673" y="403423"/>
                </a:moveTo>
                <a:lnTo>
                  <a:pt x="403423" y="498673"/>
                </a:lnTo>
                <a:cubicBezTo>
                  <a:pt x="394295" y="507802"/>
                  <a:pt x="380702" y="510480"/>
                  <a:pt x="368796" y="505520"/>
                </a:cubicBezTo>
                <a:cubicBezTo>
                  <a:pt x="356890" y="500559"/>
                  <a:pt x="349250" y="489049"/>
                  <a:pt x="349250" y="476250"/>
                </a:cubicBezTo>
                <a:lnTo>
                  <a:pt x="349250" y="412750"/>
                </a:lnTo>
                <a:lnTo>
                  <a:pt x="31750" y="412750"/>
                </a:lnTo>
                <a:cubicBezTo>
                  <a:pt x="14188" y="412750"/>
                  <a:pt x="0" y="398562"/>
                  <a:pt x="0" y="381000"/>
                </a:cubicBezTo>
                <a:cubicBezTo>
                  <a:pt x="0" y="363438"/>
                  <a:pt x="14188" y="349250"/>
                  <a:pt x="31750" y="349250"/>
                </a:cubicBezTo>
                <a:lnTo>
                  <a:pt x="349250" y="349250"/>
                </a:lnTo>
                <a:lnTo>
                  <a:pt x="349250" y="285750"/>
                </a:lnTo>
                <a:cubicBezTo>
                  <a:pt x="349250" y="272951"/>
                  <a:pt x="356989" y="261342"/>
                  <a:pt x="368895" y="256381"/>
                </a:cubicBezTo>
                <a:cubicBezTo>
                  <a:pt x="380802" y="251420"/>
                  <a:pt x="394395" y="254198"/>
                  <a:pt x="403523" y="263227"/>
                </a:cubicBezTo>
                <a:lnTo>
                  <a:pt x="498773" y="358477"/>
                </a:lnTo>
                <a:cubicBezTo>
                  <a:pt x="511175" y="370880"/>
                  <a:pt x="511175" y="391021"/>
                  <a:pt x="498773" y="403423"/>
                </a:cubicBezTo>
                <a:close/>
                <a:moveTo>
                  <a:pt x="9327" y="149423"/>
                </a:moveTo>
                <a:cubicBezTo>
                  <a:pt x="-3076" y="137021"/>
                  <a:pt x="-3076" y="116880"/>
                  <a:pt x="9327" y="104477"/>
                </a:cubicBezTo>
                <a:lnTo>
                  <a:pt x="104577" y="9227"/>
                </a:lnTo>
                <a:cubicBezTo>
                  <a:pt x="113705" y="99"/>
                  <a:pt x="127298" y="-2580"/>
                  <a:pt x="139204" y="2381"/>
                </a:cubicBezTo>
                <a:cubicBezTo>
                  <a:pt x="151110" y="7342"/>
                  <a:pt x="158750" y="18951"/>
                  <a:pt x="158750" y="31750"/>
                </a:cubicBezTo>
                <a:lnTo>
                  <a:pt x="158750" y="95250"/>
                </a:lnTo>
                <a:lnTo>
                  <a:pt x="476250" y="95250"/>
                </a:lnTo>
                <a:cubicBezTo>
                  <a:pt x="493812" y="95250"/>
                  <a:pt x="508000" y="109438"/>
                  <a:pt x="508000" y="127000"/>
                </a:cubicBezTo>
                <a:cubicBezTo>
                  <a:pt x="508000" y="144562"/>
                  <a:pt x="493812" y="158750"/>
                  <a:pt x="476250" y="158750"/>
                </a:cubicBezTo>
                <a:lnTo>
                  <a:pt x="158750" y="158750"/>
                </a:lnTo>
                <a:lnTo>
                  <a:pt x="158750" y="222250"/>
                </a:lnTo>
                <a:cubicBezTo>
                  <a:pt x="158750" y="235049"/>
                  <a:pt x="151011" y="246658"/>
                  <a:pt x="139105" y="251619"/>
                </a:cubicBezTo>
                <a:cubicBezTo>
                  <a:pt x="127198" y="256580"/>
                  <a:pt x="113605" y="253802"/>
                  <a:pt x="104477" y="244773"/>
                </a:cubicBezTo>
                <a:lnTo>
                  <a:pt x="9227" y="149523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6" name="Text 14"/>
          <p:cNvSpPr/>
          <p:nvPr/>
        </p:nvSpPr>
        <p:spPr>
          <a:xfrm>
            <a:off x="9588500" y="260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PROXIMITY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588500" y="29591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text near the image it describes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573000" y="1714500"/>
            <a:ext cx="2921000" cy="21590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9" name="Shape 17"/>
          <p:cNvSpPr/>
          <p:nvPr/>
        </p:nvSpPr>
        <p:spPr>
          <a:xfrm>
            <a:off x="13620750" y="1968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562173" y="231577"/>
                </a:moveTo>
                <a:cubicBezTo>
                  <a:pt x="574576" y="243979"/>
                  <a:pt x="574576" y="264120"/>
                  <a:pt x="562173" y="276523"/>
                </a:cubicBezTo>
                <a:lnTo>
                  <a:pt x="435173" y="403523"/>
                </a:lnTo>
                <a:cubicBezTo>
                  <a:pt x="426045" y="412651"/>
                  <a:pt x="412452" y="415330"/>
                  <a:pt x="400546" y="410369"/>
                </a:cubicBezTo>
                <a:cubicBezTo>
                  <a:pt x="388640" y="405408"/>
                  <a:pt x="381000" y="393799"/>
                  <a:pt x="381000" y="381000"/>
                </a:cubicBezTo>
                <a:lnTo>
                  <a:pt x="381000" y="317500"/>
                </a:lnTo>
                <a:lnTo>
                  <a:pt x="47625" y="317500"/>
                </a:lnTo>
                <a:cubicBezTo>
                  <a:pt x="21332" y="317500"/>
                  <a:pt x="0" y="296168"/>
                  <a:pt x="0" y="269875"/>
                </a:cubicBezTo>
                <a:lnTo>
                  <a:pt x="0" y="238125"/>
                </a:lnTo>
                <a:cubicBezTo>
                  <a:pt x="0" y="211832"/>
                  <a:pt x="21332" y="190500"/>
                  <a:pt x="47625" y="190500"/>
                </a:cubicBezTo>
                <a:lnTo>
                  <a:pt x="381000" y="190500"/>
                </a:lnTo>
                <a:lnTo>
                  <a:pt x="381000" y="127000"/>
                </a:lnTo>
                <a:cubicBezTo>
                  <a:pt x="381000" y="114201"/>
                  <a:pt x="388739" y="102592"/>
                  <a:pt x="400645" y="97631"/>
                </a:cubicBezTo>
                <a:cubicBezTo>
                  <a:pt x="412552" y="92670"/>
                  <a:pt x="426145" y="95448"/>
                  <a:pt x="435273" y="104477"/>
                </a:cubicBezTo>
                <a:lnTo>
                  <a:pt x="562273" y="231477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12763500" y="260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ARROWS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63500" y="29591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arrows to connect labels to image parts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398000" y="3937000"/>
            <a:ext cx="2921000" cy="21590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09250" y="4191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63500" y="31750"/>
                </a:moveTo>
                <a:lnTo>
                  <a:pt x="381000" y="31750"/>
                </a:lnTo>
                <a:cubicBezTo>
                  <a:pt x="416024" y="31750"/>
                  <a:pt x="444500" y="60226"/>
                  <a:pt x="444500" y="95250"/>
                </a:cubicBezTo>
                <a:lnTo>
                  <a:pt x="444500" y="412750"/>
                </a:lnTo>
                <a:cubicBezTo>
                  <a:pt x="444500" y="447774"/>
                  <a:pt x="416024" y="476250"/>
                  <a:pt x="381000" y="476250"/>
                </a:cubicBezTo>
                <a:lnTo>
                  <a:pt x="63500" y="476250"/>
                </a:lnTo>
                <a:cubicBezTo>
                  <a:pt x="28476" y="476250"/>
                  <a:pt x="0" y="447774"/>
                  <a:pt x="0" y="412750"/>
                </a:cubicBezTo>
                <a:lnTo>
                  <a:pt x="0" y="95250"/>
                </a:lnTo>
                <a:cubicBezTo>
                  <a:pt x="0" y="60226"/>
                  <a:pt x="28476" y="31750"/>
                  <a:pt x="63500" y="3175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4" name="Text 22"/>
          <p:cNvSpPr/>
          <p:nvPr/>
        </p:nvSpPr>
        <p:spPr>
          <a:xfrm>
            <a:off x="9588500" y="4826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CONTRAST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588500" y="51816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contrasting colors for text over images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573000" y="3937000"/>
            <a:ext cx="2921000" cy="2159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27" name="Shape 25"/>
          <p:cNvSpPr/>
          <p:nvPr/>
        </p:nvSpPr>
        <p:spPr>
          <a:xfrm>
            <a:off x="13684250" y="4191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1750" y="31750"/>
                </a:moveTo>
                <a:cubicBezTo>
                  <a:pt x="14188" y="31750"/>
                  <a:pt x="0" y="45938"/>
                  <a:pt x="0" y="63500"/>
                </a:cubicBezTo>
                <a:lnTo>
                  <a:pt x="0" y="158750"/>
                </a:lnTo>
                <a:cubicBezTo>
                  <a:pt x="0" y="176312"/>
                  <a:pt x="14188" y="190500"/>
                  <a:pt x="31750" y="190500"/>
                </a:cubicBezTo>
                <a:cubicBezTo>
                  <a:pt x="49312" y="190500"/>
                  <a:pt x="63500" y="176312"/>
                  <a:pt x="63500" y="158750"/>
                </a:cubicBezTo>
                <a:lnTo>
                  <a:pt x="63500" y="95250"/>
                </a:lnTo>
                <a:lnTo>
                  <a:pt x="127000" y="95250"/>
                </a:lnTo>
                <a:cubicBezTo>
                  <a:pt x="144562" y="95250"/>
                  <a:pt x="158750" y="81062"/>
                  <a:pt x="158750" y="63500"/>
                </a:cubicBezTo>
                <a:cubicBezTo>
                  <a:pt x="158750" y="45938"/>
                  <a:pt x="144562" y="31750"/>
                  <a:pt x="127000" y="31750"/>
                </a:cubicBezTo>
                <a:lnTo>
                  <a:pt x="31750" y="31750"/>
                </a:lnTo>
                <a:close/>
                <a:moveTo>
                  <a:pt x="63500" y="349250"/>
                </a:moveTo>
                <a:cubicBezTo>
                  <a:pt x="63500" y="331688"/>
                  <a:pt x="49312" y="317500"/>
                  <a:pt x="31750" y="317500"/>
                </a:cubicBezTo>
                <a:cubicBezTo>
                  <a:pt x="14188" y="317500"/>
                  <a:pt x="0" y="331688"/>
                  <a:pt x="0" y="349250"/>
                </a:cubicBezTo>
                <a:lnTo>
                  <a:pt x="0" y="444500"/>
                </a:lnTo>
                <a:cubicBezTo>
                  <a:pt x="0" y="462062"/>
                  <a:pt x="14188" y="476250"/>
                  <a:pt x="31750" y="476250"/>
                </a:cubicBezTo>
                <a:lnTo>
                  <a:pt x="127000" y="476250"/>
                </a:lnTo>
                <a:cubicBezTo>
                  <a:pt x="144562" y="476250"/>
                  <a:pt x="158750" y="462062"/>
                  <a:pt x="158750" y="444500"/>
                </a:cubicBezTo>
                <a:cubicBezTo>
                  <a:pt x="158750" y="426938"/>
                  <a:pt x="144562" y="412750"/>
                  <a:pt x="127000" y="412750"/>
                </a:cubicBezTo>
                <a:lnTo>
                  <a:pt x="63500" y="412750"/>
                </a:lnTo>
                <a:lnTo>
                  <a:pt x="63500" y="349250"/>
                </a:lnTo>
                <a:close/>
                <a:moveTo>
                  <a:pt x="317500" y="31750"/>
                </a:moveTo>
                <a:cubicBezTo>
                  <a:pt x="299938" y="31750"/>
                  <a:pt x="285750" y="45938"/>
                  <a:pt x="285750" y="63500"/>
                </a:cubicBezTo>
                <a:cubicBezTo>
                  <a:pt x="285750" y="81062"/>
                  <a:pt x="299938" y="95250"/>
                  <a:pt x="317500" y="95250"/>
                </a:cubicBezTo>
                <a:lnTo>
                  <a:pt x="381000" y="95250"/>
                </a:lnTo>
                <a:lnTo>
                  <a:pt x="381000" y="158750"/>
                </a:lnTo>
                <a:cubicBezTo>
                  <a:pt x="381000" y="176312"/>
                  <a:pt x="395188" y="190500"/>
                  <a:pt x="412750" y="190500"/>
                </a:cubicBezTo>
                <a:cubicBezTo>
                  <a:pt x="430312" y="190500"/>
                  <a:pt x="444500" y="176312"/>
                  <a:pt x="444500" y="158750"/>
                </a:cubicBezTo>
                <a:lnTo>
                  <a:pt x="444500" y="63500"/>
                </a:lnTo>
                <a:cubicBezTo>
                  <a:pt x="444500" y="45938"/>
                  <a:pt x="430312" y="31750"/>
                  <a:pt x="412750" y="31750"/>
                </a:cubicBezTo>
                <a:lnTo>
                  <a:pt x="317500" y="31750"/>
                </a:lnTo>
                <a:close/>
                <a:moveTo>
                  <a:pt x="444500" y="349250"/>
                </a:moveTo>
                <a:cubicBezTo>
                  <a:pt x="444500" y="331688"/>
                  <a:pt x="430312" y="317500"/>
                  <a:pt x="412750" y="317500"/>
                </a:cubicBezTo>
                <a:cubicBezTo>
                  <a:pt x="395188" y="317500"/>
                  <a:pt x="381000" y="331688"/>
                  <a:pt x="381000" y="349250"/>
                </a:cubicBezTo>
                <a:lnTo>
                  <a:pt x="381000" y="412750"/>
                </a:lnTo>
                <a:lnTo>
                  <a:pt x="317500" y="412750"/>
                </a:lnTo>
                <a:cubicBezTo>
                  <a:pt x="299938" y="412750"/>
                  <a:pt x="285750" y="426938"/>
                  <a:pt x="285750" y="444500"/>
                </a:cubicBezTo>
                <a:cubicBezTo>
                  <a:pt x="285750" y="462062"/>
                  <a:pt x="299938" y="476250"/>
                  <a:pt x="317500" y="476250"/>
                </a:cubicBezTo>
                <a:lnTo>
                  <a:pt x="412750" y="476250"/>
                </a:lnTo>
                <a:cubicBezTo>
                  <a:pt x="430312" y="476250"/>
                  <a:pt x="444500" y="462062"/>
                  <a:pt x="444500" y="444500"/>
                </a:cubicBezTo>
                <a:lnTo>
                  <a:pt x="444500" y="34925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8" name="Text 26"/>
          <p:cNvSpPr/>
          <p:nvPr/>
        </p:nvSpPr>
        <p:spPr>
          <a:xfrm>
            <a:off x="12763500" y="4826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IDEA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763500" y="51816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concept per slide, no crowding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398000" y="6223000"/>
            <a:ext cx="6096000" cy="1016000"/>
          </a:xfrm>
          <a:prstGeom prst="roundRect">
            <a:avLst>
              <a:gd name="adj" fmla="val 6000"/>
            </a:avLst>
          </a:prstGeom>
          <a:solidFill>
            <a:srgbClr val="1B6B5C"/>
          </a:solidFill>
          <a:ln/>
        </p:spPr>
      </p:sp>
      <p:sp>
        <p:nvSpPr>
          <p:cNvPr id="31" name="Shape 29"/>
          <p:cNvSpPr/>
          <p:nvPr/>
        </p:nvSpPr>
        <p:spPr>
          <a:xfrm>
            <a:off x="9683750" y="6477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07082" y="-18752"/>
                </a:moveTo>
                <a:cubicBezTo>
                  <a:pt x="303014" y="-26690"/>
                  <a:pt x="294779" y="-31750"/>
                  <a:pt x="285849" y="-31750"/>
                </a:cubicBezTo>
                <a:cubicBezTo>
                  <a:pt x="276920" y="-31750"/>
                  <a:pt x="268684" y="-26690"/>
                  <a:pt x="264616" y="-18752"/>
                </a:cubicBezTo>
                <a:lnTo>
                  <a:pt x="191591" y="124321"/>
                </a:lnTo>
                <a:lnTo>
                  <a:pt x="32941" y="149523"/>
                </a:lnTo>
                <a:cubicBezTo>
                  <a:pt x="24110" y="150912"/>
                  <a:pt x="16768" y="157162"/>
                  <a:pt x="13990" y="165695"/>
                </a:cubicBezTo>
                <a:cubicBezTo>
                  <a:pt x="11212" y="174228"/>
                  <a:pt x="13494" y="183555"/>
                  <a:pt x="19745" y="189905"/>
                </a:cubicBezTo>
                <a:lnTo>
                  <a:pt x="133251" y="303510"/>
                </a:lnTo>
                <a:lnTo>
                  <a:pt x="108248" y="462161"/>
                </a:lnTo>
                <a:cubicBezTo>
                  <a:pt x="106859" y="470991"/>
                  <a:pt x="110530" y="479921"/>
                  <a:pt x="117773" y="485180"/>
                </a:cubicBezTo>
                <a:cubicBezTo>
                  <a:pt x="125016" y="490438"/>
                  <a:pt x="134541" y="491232"/>
                  <a:pt x="142577" y="487164"/>
                </a:cubicBezTo>
                <a:lnTo>
                  <a:pt x="285849" y="414338"/>
                </a:lnTo>
                <a:lnTo>
                  <a:pt x="429022" y="487164"/>
                </a:lnTo>
                <a:cubicBezTo>
                  <a:pt x="436959" y="491232"/>
                  <a:pt x="446584" y="490438"/>
                  <a:pt x="453827" y="485180"/>
                </a:cubicBezTo>
                <a:cubicBezTo>
                  <a:pt x="461070" y="479921"/>
                  <a:pt x="464741" y="471091"/>
                  <a:pt x="463352" y="462161"/>
                </a:cubicBezTo>
                <a:lnTo>
                  <a:pt x="438249" y="303510"/>
                </a:lnTo>
                <a:lnTo>
                  <a:pt x="551755" y="189905"/>
                </a:lnTo>
                <a:cubicBezTo>
                  <a:pt x="558105" y="183555"/>
                  <a:pt x="560288" y="174228"/>
                  <a:pt x="557510" y="165695"/>
                </a:cubicBezTo>
                <a:cubicBezTo>
                  <a:pt x="554732" y="157163"/>
                  <a:pt x="547489" y="150912"/>
                  <a:pt x="538559" y="149523"/>
                </a:cubicBezTo>
                <a:lnTo>
                  <a:pt x="380008" y="124321"/>
                </a:lnTo>
                <a:lnTo>
                  <a:pt x="307082" y="-187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350500" y="6413500"/>
            <a:ext cx="4889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Text and images should work as a team, not compete for attention.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4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74bepel63lr2/mnt/agents/output/multimedia-learning-theories/images/2_Skills_Up_Workshop_Empowering_ECE.png">    </p:cNvPr>
          <p:cNvPicPr>
            <a:picLocks noChangeAspect="1"/>
          </p:cNvPicPr>
          <p:nvPr/>
        </p:nvPicPr>
        <p:blipFill>
          <a:blip r:embed="rId1"/>
          <a:srcRect l="27344" r="27344" t="0" b="0"/>
          <a:stretch/>
        </p:blipFill>
        <p:spPr>
          <a:xfrm>
            <a:off x="0" y="0"/>
            <a:ext cx="736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366000" cy="9144000"/>
          </a:xfrm>
          <a:prstGeom prst="rect">
            <a:avLst/>
          </a:prstGeom>
          <a:gradFill rotWithShape="1" flip="none">
            <a:gsLst>
              <a:gs pos="0">
                <a:srgbClr val="134A40">
                  <a:alpha val="0"/>
                </a:srgbClr>
              </a:gs>
              <a:gs pos="60000">
                <a:srgbClr val="134A40">
                  <a:alpha val="50000"/>
                </a:srgbClr>
              </a:gs>
              <a:gs pos="100000">
                <a:srgbClr val="134A40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8128000" y="2540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8128000" y="3683000"/>
            <a:ext cx="1016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6" name="Text 3"/>
          <p:cNvSpPr/>
          <p:nvPr/>
        </p:nvSpPr>
        <p:spPr>
          <a:xfrm>
            <a:off x="8128000" y="3937000"/>
            <a:ext cx="736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4C/ID MODEL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128000" y="47625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Four-Component Instructional Design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128000" y="5715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 3: Designing Complete Learning Experiences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FFFFFF">
                    <a:alpha val="3764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the 4C/ID Model?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4C/ID stands for Four-Component Instructional Design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Created by Jeroen van Merriënboer for complex learning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breaks learning into four connected parts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model helps designers create complete educational experiences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is especially useful for skills-based and professional training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4C/ID is like a recipe with four ingredients. Each ingredient is essential, and together they create a complete learning meal.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462" y="7340600"/>
            <a:ext cx="244475" cy="279400"/>
          </a:xfrm>
          <a:custGeom>
            <a:avLst/>
            <a:gdLst/>
            <a:ahLst/>
            <a:cxnLst/>
            <a:rect l="l" t="t" r="r" b="b"/>
            <a:pathLst>
              <a:path w="244475" h="279400">
                <a:moveTo>
                  <a:pt x="122238" y="4366"/>
                </a:moveTo>
                <a:cubicBezTo>
                  <a:pt x="86096" y="4366"/>
                  <a:pt x="56753" y="33708"/>
                  <a:pt x="56753" y="69850"/>
                </a:cubicBezTo>
                <a:cubicBezTo>
                  <a:pt x="56753" y="105992"/>
                  <a:pt x="86096" y="135334"/>
                  <a:pt x="122237" y="135334"/>
                </a:cubicBezTo>
                <a:cubicBezTo>
                  <a:pt x="158379" y="135334"/>
                  <a:pt x="187722" y="105992"/>
                  <a:pt x="187722" y="69850"/>
                </a:cubicBezTo>
                <a:cubicBezTo>
                  <a:pt x="187722" y="33708"/>
                  <a:pt x="158379" y="4366"/>
                  <a:pt x="122238" y="4366"/>
                </a:cubicBezTo>
                <a:close/>
                <a:moveTo>
                  <a:pt x="154980" y="175062"/>
                </a:moveTo>
                <a:cubicBezTo>
                  <a:pt x="152033" y="174789"/>
                  <a:pt x="148977" y="174625"/>
                  <a:pt x="145921" y="174625"/>
                </a:cubicBezTo>
                <a:lnTo>
                  <a:pt x="98499" y="174625"/>
                </a:lnTo>
                <a:cubicBezTo>
                  <a:pt x="95443" y="174625"/>
                  <a:pt x="92442" y="174789"/>
                  <a:pt x="89441" y="175062"/>
                </a:cubicBezTo>
                <a:lnTo>
                  <a:pt x="89441" y="211897"/>
                </a:lnTo>
                <a:cubicBezTo>
                  <a:pt x="98445" y="216044"/>
                  <a:pt x="104720" y="225157"/>
                  <a:pt x="104720" y="235689"/>
                </a:cubicBezTo>
                <a:cubicBezTo>
                  <a:pt x="104720" y="250150"/>
                  <a:pt x="92988" y="261883"/>
                  <a:pt x="78527" y="261883"/>
                </a:cubicBezTo>
                <a:cubicBezTo>
                  <a:pt x="64066" y="261883"/>
                  <a:pt x="52333" y="250150"/>
                  <a:pt x="52333" y="235689"/>
                </a:cubicBezTo>
                <a:cubicBezTo>
                  <a:pt x="52333" y="225103"/>
                  <a:pt x="58609" y="215989"/>
                  <a:pt x="67613" y="211897"/>
                </a:cubicBezTo>
                <a:lnTo>
                  <a:pt x="67613" y="180027"/>
                </a:lnTo>
                <a:cubicBezTo>
                  <a:pt x="33288" y="192633"/>
                  <a:pt x="8731" y="225703"/>
                  <a:pt x="8731" y="264448"/>
                </a:cubicBezTo>
                <a:cubicBezTo>
                  <a:pt x="8731" y="272688"/>
                  <a:pt x="15443" y="279400"/>
                  <a:pt x="23684" y="279400"/>
                </a:cubicBezTo>
                <a:lnTo>
                  <a:pt x="220737" y="279400"/>
                </a:lnTo>
                <a:cubicBezTo>
                  <a:pt x="228977" y="279400"/>
                  <a:pt x="235689" y="272688"/>
                  <a:pt x="235689" y="264448"/>
                </a:cubicBezTo>
                <a:cubicBezTo>
                  <a:pt x="235689" y="225703"/>
                  <a:pt x="211133" y="192688"/>
                  <a:pt x="176753" y="180082"/>
                </a:cubicBezTo>
                <a:lnTo>
                  <a:pt x="176753" y="200491"/>
                </a:lnTo>
                <a:cubicBezTo>
                  <a:pt x="189468" y="204966"/>
                  <a:pt x="198581" y="217135"/>
                  <a:pt x="198581" y="231378"/>
                </a:cubicBezTo>
                <a:lnTo>
                  <a:pt x="198581" y="248841"/>
                </a:lnTo>
                <a:cubicBezTo>
                  <a:pt x="198581" y="254843"/>
                  <a:pt x="193670" y="259755"/>
                  <a:pt x="187667" y="259755"/>
                </a:cubicBezTo>
                <a:cubicBezTo>
                  <a:pt x="181665" y="259755"/>
                  <a:pt x="176753" y="254843"/>
                  <a:pt x="176753" y="248841"/>
                </a:cubicBezTo>
                <a:lnTo>
                  <a:pt x="176753" y="231378"/>
                </a:lnTo>
                <a:cubicBezTo>
                  <a:pt x="176753" y="225375"/>
                  <a:pt x="171842" y="220464"/>
                  <a:pt x="165839" y="220464"/>
                </a:cubicBezTo>
                <a:cubicBezTo>
                  <a:pt x="159836" y="220464"/>
                  <a:pt x="154925" y="225375"/>
                  <a:pt x="154925" y="231378"/>
                </a:cubicBezTo>
                <a:lnTo>
                  <a:pt x="154925" y="248841"/>
                </a:lnTo>
                <a:cubicBezTo>
                  <a:pt x="154925" y="254843"/>
                  <a:pt x="150014" y="259755"/>
                  <a:pt x="144011" y="259755"/>
                </a:cubicBezTo>
                <a:cubicBezTo>
                  <a:pt x="138008" y="259755"/>
                  <a:pt x="133097" y="254843"/>
                  <a:pt x="133097" y="248841"/>
                </a:cubicBezTo>
                <a:lnTo>
                  <a:pt x="133097" y="231378"/>
                </a:lnTo>
                <a:cubicBezTo>
                  <a:pt x="133097" y="217135"/>
                  <a:pt x="142210" y="205021"/>
                  <a:pt x="154925" y="200491"/>
                </a:cubicBezTo>
                <a:lnTo>
                  <a:pt x="154925" y="175062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Medical training programs use 4C/ID to design courses that teach both knowledge and practical skills together.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1905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FOUR COMPONENTS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414000" y="2667000"/>
            <a:ext cx="1778000" cy="1016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0" y="27305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414000" y="31750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Tasks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700000" y="2667000"/>
            <a:ext cx="1778000" cy="1016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0" name="Text 18"/>
          <p:cNvSpPr/>
          <p:nvPr/>
        </p:nvSpPr>
        <p:spPr>
          <a:xfrm>
            <a:off x="12700000" y="27305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00000" y="31750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Supportive Info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414000" y="4064000"/>
            <a:ext cx="1778000" cy="1016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3" name="Text 21"/>
          <p:cNvSpPr/>
          <p:nvPr/>
        </p:nvSpPr>
        <p:spPr>
          <a:xfrm>
            <a:off x="10414000" y="41275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14000" y="45720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Procedural Info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700000" y="4064000"/>
            <a:ext cx="1778000" cy="1016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12700000" y="4127500"/>
            <a:ext cx="177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700000" y="45720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Part-Task Practice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874500" y="3746500"/>
            <a:ext cx="381000" cy="381000"/>
          </a:xfrm>
          <a:prstGeom prst="ellipse">
            <a:avLst/>
          </a:prstGeom>
          <a:solidFill>
            <a:srgbClr val="1B6B5C"/>
          </a:solidFill>
          <a:ln/>
        </p:spPr>
      </p:sp>
      <p:sp>
        <p:nvSpPr>
          <p:cNvPr id="29" name="Shape 27"/>
          <p:cNvSpPr/>
          <p:nvPr/>
        </p:nvSpPr>
        <p:spPr>
          <a:xfrm>
            <a:off x="11923713" y="38227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9906000" y="5461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four components are connected and work together to create a complete learning experience.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160000" y="6731000"/>
            <a:ext cx="4572000" cy="762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0" y="68580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 Learning Design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1 — Learning Tasks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Learning tasks are real-world problems students must solve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They should start simple and become more complex over time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task gives students a chance to practice the whole skill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Tasks must be authentic — like problems in the real world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is the heart of the 4C/ID model — learning by doing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Instead of memorizing facts, students solve real problems. It is like learning to cook by actually cooking, not just reading recipes.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981075" y="7340600"/>
            <a:ext cx="349250" cy="279400"/>
          </a:xfrm>
          <a:custGeom>
            <a:avLst/>
            <a:gdLst/>
            <a:ahLst/>
            <a:cxnLst/>
            <a:rect l="l" t="t" r="r" b="b"/>
            <a:pathLst>
              <a:path w="349250" h="279400">
                <a:moveTo>
                  <a:pt x="34925" y="52388"/>
                </a:moveTo>
                <a:cubicBezTo>
                  <a:pt x="34925" y="33124"/>
                  <a:pt x="50587" y="17463"/>
                  <a:pt x="69850" y="17463"/>
                </a:cubicBezTo>
                <a:lnTo>
                  <a:pt x="279400" y="17463"/>
                </a:lnTo>
                <a:cubicBezTo>
                  <a:pt x="298663" y="17463"/>
                  <a:pt x="314325" y="33124"/>
                  <a:pt x="314325" y="52388"/>
                </a:cubicBezTo>
                <a:lnTo>
                  <a:pt x="314325" y="183356"/>
                </a:lnTo>
                <a:lnTo>
                  <a:pt x="279400" y="183356"/>
                </a:lnTo>
                <a:lnTo>
                  <a:pt x="279400" y="52388"/>
                </a:lnTo>
                <a:lnTo>
                  <a:pt x="69850" y="52388"/>
                </a:lnTo>
                <a:lnTo>
                  <a:pt x="69850" y="183356"/>
                </a:lnTo>
                <a:lnTo>
                  <a:pt x="34925" y="183356"/>
                </a:lnTo>
                <a:lnTo>
                  <a:pt x="34925" y="52388"/>
                </a:lnTo>
                <a:close/>
                <a:moveTo>
                  <a:pt x="0" y="220027"/>
                </a:moveTo>
                <a:cubicBezTo>
                  <a:pt x="0" y="214243"/>
                  <a:pt x="4693" y="209550"/>
                  <a:pt x="10478" y="209550"/>
                </a:cubicBezTo>
                <a:lnTo>
                  <a:pt x="338773" y="209550"/>
                </a:lnTo>
                <a:cubicBezTo>
                  <a:pt x="344557" y="209550"/>
                  <a:pt x="349250" y="214243"/>
                  <a:pt x="349250" y="220027"/>
                </a:cubicBezTo>
                <a:cubicBezTo>
                  <a:pt x="349250" y="243165"/>
                  <a:pt x="330478" y="261938"/>
                  <a:pt x="307340" y="261938"/>
                </a:cubicBezTo>
                <a:lnTo>
                  <a:pt x="41910" y="261938"/>
                </a:lnTo>
                <a:cubicBezTo>
                  <a:pt x="18772" y="261938"/>
                  <a:pt x="0" y="243165"/>
                  <a:pt x="0" y="220027"/>
                </a:cubicBezTo>
                <a:close/>
                <a:moveTo>
                  <a:pt x="153343" y="114052"/>
                </a:moveTo>
                <a:lnTo>
                  <a:pt x="136426" y="130969"/>
                </a:lnTo>
                <a:lnTo>
                  <a:pt x="153343" y="147886"/>
                </a:lnTo>
                <a:cubicBezTo>
                  <a:pt x="158472" y="153015"/>
                  <a:pt x="158472" y="161310"/>
                  <a:pt x="153343" y="166385"/>
                </a:cubicBezTo>
                <a:cubicBezTo>
                  <a:pt x="148213" y="171460"/>
                  <a:pt x="139918" y="171514"/>
                  <a:pt x="134843" y="166385"/>
                </a:cubicBezTo>
                <a:lnTo>
                  <a:pt x="108649" y="140191"/>
                </a:lnTo>
                <a:cubicBezTo>
                  <a:pt x="103520" y="135062"/>
                  <a:pt x="103520" y="126767"/>
                  <a:pt x="108649" y="121692"/>
                </a:cubicBezTo>
                <a:lnTo>
                  <a:pt x="134843" y="95498"/>
                </a:lnTo>
                <a:cubicBezTo>
                  <a:pt x="139973" y="90368"/>
                  <a:pt x="148268" y="90368"/>
                  <a:pt x="153343" y="95498"/>
                </a:cubicBezTo>
                <a:cubicBezTo>
                  <a:pt x="158418" y="100628"/>
                  <a:pt x="158472" y="108922"/>
                  <a:pt x="153343" y="113997"/>
                </a:cubicBezTo>
                <a:close/>
                <a:moveTo>
                  <a:pt x="214461" y="95498"/>
                </a:moveTo>
                <a:lnTo>
                  <a:pt x="240655" y="121692"/>
                </a:lnTo>
                <a:cubicBezTo>
                  <a:pt x="245785" y="126821"/>
                  <a:pt x="245785" y="135116"/>
                  <a:pt x="240655" y="140191"/>
                </a:cubicBezTo>
                <a:lnTo>
                  <a:pt x="214461" y="166385"/>
                </a:lnTo>
                <a:cubicBezTo>
                  <a:pt x="209332" y="171514"/>
                  <a:pt x="201037" y="171514"/>
                  <a:pt x="195962" y="166385"/>
                </a:cubicBezTo>
                <a:cubicBezTo>
                  <a:pt x="190887" y="161255"/>
                  <a:pt x="190832" y="152961"/>
                  <a:pt x="195962" y="147886"/>
                </a:cubicBezTo>
                <a:lnTo>
                  <a:pt x="212879" y="130969"/>
                </a:lnTo>
                <a:lnTo>
                  <a:pt x="195962" y="114052"/>
                </a:lnTo>
                <a:cubicBezTo>
                  <a:pt x="190832" y="108922"/>
                  <a:pt x="190832" y="100628"/>
                  <a:pt x="195962" y="95553"/>
                </a:cubicBezTo>
                <a:cubicBezTo>
                  <a:pt x="201092" y="90478"/>
                  <a:pt x="209386" y="90423"/>
                  <a:pt x="214461" y="9555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coding bootcamp where students build real apps from day one, starting with simple projects and advancing to complex ones.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1905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TASK COMPLEXITY LADDER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922000" y="2667000"/>
            <a:ext cx="3048000" cy="6985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17" name="Text 15"/>
          <p:cNvSpPr/>
          <p:nvPr/>
        </p:nvSpPr>
        <p:spPr>
          <a:xfrm>
            <a:off x="10922000" y="2794000"/>
            <a:ext cx="304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Task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(Guided)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303125" y="3492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68000" y="4000500"/>
            <a:ext cx="3556000" cy="698500"/>
          </a:xfrm>
          <a:prstGeom prst="roundRect">
            <a:avLst>
              <a:gd name="adj" fmla="val 10000"/>
            </a:avLst>
          </a:prstGeom>
          <a:solidFill>
            <a:srgbClr val="2A8B75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0" y="41275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 Task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(Some Help)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303125" y="4826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14000" y="5334000"/>
            <a:ext cx="4064000" cy="6985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10414000" y="5461000"/>
            <a:ext cx="406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Task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(Independent)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303125" y="6159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60000" y="6667500"/>
            <a:ext cx="4572000" cy="6985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0" y="67945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Task</a:t>
            </a:r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(Mastery)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2 — Supportive Information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Supportive information helps students understand HOW to approach tasks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includes concepts, principles, and theories related to the task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information is presented before or during task practice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helps students build a mental model of the subject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supportive information makes problem-solving easier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Supportive information is like a guidebook for a journey. It does not tell you every step, but it helps you understand the landscape and make good decisions.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734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139700" y="58881"/>
                </a:moveTo>
                <a:lnTo>
                  <a:pt x="131514" y="47531"/>
                </a:lnTo>
                <a:cubicBezTo>
                  <a:pt x="117872" y="28649"/>
                  <a:pt x="95989" y="17463"/>
                  <a:pt x="72633" y="17463"/>
                </a:cubicBezTo>
                <a:cubicBezTo>
                  <a:pt x="32524" y="17463"/>
                  <a:pt x="0" y="49986"/>
                  <a:pt x="0" y="90096"/>
                </a:cubicBezTo>
                <a:lnTo>
                  <a:pt x="0" y="91514"/>
                </a:lnTo>
                <a:cubicBezTo>
                  <a:pt x="0" y="104393"/>
                  <a:pt x="3383" y="117708"/>
                  <a:pt x="9059" y="130969"/>
                </a:cubicBezTo>
                <a:lnTo>
                  <a:pt x="66903" y="130969"/>
                </a:lnTo>
                <a:cubicBezTo>
                  <a:pt x="68649" y="130969"/>
                  <a:pt x="70232" y="129932"/>
                  <a:pt x="70941" y="128295"/>
                </a:cubicBezTo>
                <a:lnTo>
                  <a:pt x="88295" y="86658"/>
                </a:lnTo>
                <a:cubicBezTo>
                  <a:pt x="90314" y="81855"/>
                  <a:pt x="95007" y="78690"/>
                  <a:pt x="100191" y="78581"/>
                </a:cubicBezTo>
                <a:cubicBezTo>
                  <a:pt x="105375" y="78472"/>
                  <a:pt x="110177" y="81528"/>
                  <a:pt x="112306" y="86276"/>
                </a:cubicBezTo>
                <a:lnTo>
                  <a:pt x="140300" y="148431"/>
                </a:lnTo>
                <a:lnTo>
                  <a:pt x="162892" y="103247"/>
                </a:lnTo>
                <a:cubicBezTo>
                  <a:pt x="165130" y="98827"/>
                  <a:pt x="169659" y="95989"/>
                  <a:pt x="174625" y="95989"/>
                </a:cubicBezTo>
                <a:cubicBezTo>
                  <a:pt x="179591" y="95989"/>
                  <a:pt x="184120" y="98772"/>
                  <a:pt x="186358" y="103247"/>
                </a:cubicBezTo>
                <a:lnTo>
                  <a:pt x="199018" y="128513"/>
                </a:lnTo>
                <a:cubicBezTo>
                  <a:pt x="199782" y="129986"/>
                  <a:pt x="201255" y="130914"/>
                  <a:pt x="202947" y="130914"/>
                </a:cubicBezTo>
                <a:lnTo>
                  <a:pt x="270396" y="130914"/>
                </a:lnTo>
                <a:cubicBezTo>
                  <a:pt x="276126" y="117654"/>
                  <a:pt x="279455" y="104338"/>
                  <a:pt x="279455" y="91460"/>
                </a:cubicBezTo>
                <a:lnTo>
                  <a:pt x="279455" y="90041"/>
                </a:lnTo>
                <a:cubicBezTo>
                  <a:pt x="279400" y="49986"/>
                  <a:pt x="246876" y="17463"/>
                  <a:pt x="206767" y="17463"/>
                </a:cubicBezTo>
                <a:cubicBezTo>
                  <a:pt x="183465" y="17463"/>
                  <a:pt x="161528" y="28649"/>
                  <a:pt x="147886" y="47531"/>
                </a:cubicBezTo>
                <a:lnTo>
                  <a:pt x="139700" y="58827"/>
                </a:lnTo>
                <a:close/>
                <a:moveTo>
                  <a:pt x="256262" y="157163"/>
                </a:moveTo>
                <a:lnTo>
                  <a:pt x="202892" y="157163"/>
                </a:lnTo>
                <a:cubicBezTo>
                  <a:pt x="191324" y="157163"/>
                  <a:pt x="180737" y="150614"/>
                  <a:pt x="175553" y="140246"/>
                </a:cubicBezTo>
                <a:lnTo>
                  <a:pt x="174625" y="138390"/>
                </a:lnTo>
                <a:lnTo>
                  <a:pt x="151433" y="184830"/>
                </a:lnTo>
                <a:cubicBezTo>
                  <a:pt x="149195" y="189359"/>
                  <a:pt x="144502" y="192197"/>
                  <a:pt x="139427" y="192088"/>
                </a:cubicBezTo>
                <a:cubicBezTo>
                  <a:pt x="134352" y="191978"/>
                  <a:pt x="129823" y="188977"/>
                  <a:pt x="127749" y="184393"/>
                </a:cubicBezTo>
                <a:lnTo>
                  <a:pt x="100846" y="124639"/>
                </a:lnTo>
                <a:lnTo>
                  <a:pt x="95116" y="138390"/>
                </a:lnTo>
                <a:cubicBezTo>
                  <a:pt x="90368" y="149796"/>
                  <a:pt x="79236" y="157217"/>
                  <a:pt x="66903" y="157217"/>
                </a:cubicBezTo>
                <a:lnTo>
                  <a:pt x="23138" y="157217"/>
                </a:lnTo>
                <a:cubicBezTo>
                  <a:pt x="48895" y="197490"/>
                  <a:pt x="90259" y="234543"/>
                  <a:pt x="116126" y="254298"/>
                </a:cubicBezTo>
                <a:cubicBezTo>
                  <a:pt x="122892" y="259427"/>
                  <a:pt x="131187" y="261992"/>
                  <a:pt x="139645" y="261992"/>
                </a:cubicBezTo>
                <a:cubicBezTo>
                  <a:pt x="148104" y="261992"/>
                  <a:pt x="156453" y="259482"/>
                  <a:pt x="163165" y="254298"/>
                </a:cubicBezTo>
                <a:cubicBezTo>
                  <a:pt x="189141" y="234489"/>
                  <a:pt x="230505" y="197435"/>
                  <a:pt x="256262" y="15716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a nursing simulation, students learn about patient care principles and medical theory that will help them during the practice exercise.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1905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GUIDEBOOK ANALOGY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938000" y="2540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508000" y="280392"/>
                </a:moveTo>
                <a:lnTo>
                  <a:pt x="508000" y="894159"/>
                </a:lnTo>
                <a:lnTo>
                  <a:pt x="508992" y="893763"/>
                </a:lnTo>
                <a:cubicBezTo>
                  <a:pt x="617339" y="848717"/>
                  <a:pt x="733623" y="825500"/>
                  <a:pt x="850900" y="825500"/>
                </a:cubicBezTo>
                <a:lnTo>
                  <a:pt x="889000" y="825500"/>
                </a:lnTo>
                <a:lnTo>
                  <a:pt x="889000" y="190500"/>
                </a:lnTo>
                <a:lnTo>
                  <a:pt x="850900" y="190500"/>
                </a:lnTo>
                <a:cubicBezTo>
                  <a:pt x="767159" y="190500"/>
                  <a:pt x="684014" y="207169"/>
                  <a:pt x="606623" y="239316"/>
                </a:cubicBezTo>
                <a:cubicBezTo>
                  <a:pt x="573286" y="253206"/>
                  <a:pt x="540345" y="266898"/>
                  <a:pt x="508000" y="280392"/>
                </a:cubicBezTo>
                <a:close/>
                <a:moveTo>
                  <a:pt x="458192" y="122039"/>
                </a:moveTo>
                <a:lnTo>
                  <a:pt x="508000" y="142875"/>
                </a:lnTo>
                <a:lnTo>
                  <a:pt x="557808" y="122039"/>
                </a:lnTo>
                <a:cubicBezTo>
                  <a:pt x="650677" y="83344"/>
                  <a:pt x="750292" y="63500"/>
                  <a:pt x="850900" y="63500"/>
                </a:cubicBezTo>
                <a:lnTo>
                  <a:pt x="920750" y="63500"/>
                </a:lnTo>
                <a:cubicBezTo>
                  <a:pt x="973336" y="63500"/>
                  <a:pt x="1016000" y="106164"/>
                  <a:pt x="1016000" y="158750"/>
                </a:cubicBezTo>
                <a:lnTo>
                  <a:pt x="1016000" y="857250"/>
                </a:lnTo>
                <a:cubicBezTo>
                  <a:pt x="1016000" y="909836"/>
                  <a:pt x="973336" y="952500"/>
                  <a:pt x="920750" y="952500"/>
                </a:cubicBezTo>
                <a:lnTo>
                  <a:pt x="850900" y="952500"/>
                </a:lnTo>
                <a:cubicBezTo>
                  <a:pt x="750292" y="952500"/>
                  <a:pt x="650677" y="972344"/>
                  <a:pt x="557808" y="1011039"/>
                </a:cubicBezTo>
                <a:lnTo>
                  <a:pt x="532408" y="1021556"/>
                </a:lnTo>
                <a:cubicBezTo>
                  <a:pt x="516731" y="1028105"/>
                  <a:pt x="499269" y="1028105"/>
                  <a:pt x="483592" y="1021556"/>
                </a:cubicBezTo>
                <a:lnTo>
                  <a:pt x="458192" y="1011039"/>
                </a:lnTo>
                <a:cubicBezTo>
                  <a:pt x="365323" y="972344"/>
                  <a:pt x="265708" y="952500"/>
                  <a:pt x="165100" y="952500"/>
                </a:cubicBezTo>
                <a:lnTo>
                  <a:pt x="95250" y="952500"/>
                </a:lnTo>
                <a:cubicBezTo>
                  <a:pt x="42664" y="952500"/>
                  <a:pt x="0" y="909836"/>
                  <a:pt x="0" y="857250"/>
                </a:cubicBezTo>
                <a:lnTo>
                  <a:pt x="0" y="158750"/>
                </a:lnTo>
                <a:cubicBezTo>
                  <a:pt x="0" y="106164"/>
                  <a:pt x="42664" y="63500"/>
                  <a:pt x="95250" y="63500"/>
                </a:cubicBezTo>
                <a:lnTo>
                  <a:pt x="165100" y="63500"/>
                </a:lnTo>
                <a:cubicBezTo>
                  <a:pt x="265708" y="63500"/>
                  <a:pt x="365323" y="83344"/>
                  <a:pt x="458192" y="122039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33000" y="38100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Supportive Info = Guidebook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33000" y="4381500"/>
            <a:ext cx="48260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6B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0000" y="4445000"/>
            <a:ext cx="457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Concepts and theories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33000" y="5080000"/>
            <a:ext cx="48260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6B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60000" y="5143500"/>
            <a:ext cx="457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Principles and frameworks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033000" y="5778500"/>
            <a:ext cx="48260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B6B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60000" y="5842000"/>
            <a:ext cx="457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Mental models for problem-solving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303125" y="64770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87000" y="7048500"/>
            <a:ext cx="4318000" cy="635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6" name="Text 24"/>
          <p:cNvSpPr/>
          <p:nvPr/>
        </p:nvSpPr>
        <p:spPr>
          <a:xfrm>
            <a:off x="10287000" y="7112000"/>
            <a:ext cx="431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Better Problem-Solving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3 — Procedural Information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Procedural information tells students exactly HOW to do something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includes step-by-step instructions, rules, and formulas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information is given just when students need it (just-in-time)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helps students perform tasks correctly without guessing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 students practice, they memorize these procedures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Procedural information is like GPS directions. You get them right when you need to turn, not at the beginning of the trip.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1016000" y="73406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279400" h="279400">
                <a:moveTo>
                  <a:pt x="0" y="227013"/>
                </a:moveTo>
                <a:lnTo>
                  <a:pt x="0" y="113506"/>
                </a:lnTo>
                <a:lnTo>
                  <a:pt x="74325" y="113506"/>
                </a:lnTo>
                <a:cubicBezTo>
                  <a:pt x="81692" y="102483"/>
                  <a:pt x="91787" y="93424"/>
                  <a:pt x="103629" y="87313"/>
                </a:cubicBezTo>
                <a:lnTo>
                  <a:pt x="0" y="87313"/>
                </a:lnTo>
                <a:lnTo>
                  <a:pt x="0" y="68595"/>
                </a:lnTo>
                <a:cubicBezTo>
                  <a:pt x="0" y="49332"/>
                  <a:pt x="15662" y="33670"/>
                  <a:pt x="34925" y="33670"/>
                </a:cubicBezTo>
                <a:lnTo>
                  <a:pt x="34980" y="33670"/>
                </a:lnTo>
                <a:cubicBezTo>
                  <a:pt x="35634" y="24611"/>
                  <a:pt x="43165" y="17463"/>
                  <a:pt x="52388" y="17463"/>
                </a:cubicBezTo>
                <a:lnTo>
                  <a:pt x="69850" y="17463"/>
                </a:lnTo>
                <a:cubicBezTo>
                  <a:pt x="79072" y="17463"/>
                  <a:pt x="86603" y="24611"/>
                  <a:pt x="87258" y="33670"/>
                </a:cubicBezTo>
                <a:lnTo>
                  <a:pt x="104775" y="33670"/>
                </a:lnTo>
                <a:lnTo>
                  <a:pt x="132715" y="20682"/>
                </a:lnTo>
                <a:cubicBezTo>
                  <a:pt x="137299" y="18554"/>
                  <a:pt x="142319" y="17408"/>
                  <a:pt x="147394" y="17408"/>
                </a:cubicBezTo>
                <a:lnTo>
                  <a:pt x="244475" y="17463"/>
                </a:lnTo>
                <a:cubicBezTo>
                  <a:pt x="263738" y="17463"/>
                  <a:pt x="279400" y="33124"/>
                  <a:pt x="279400" y="52388"/>
                </a:cubicBezTo>
                <a:lnTo>
                  <a:pt x="279400" y="87313"/>
                </a:lnTo>
                <a:lnTo>
                  <a:pt x="175716" y="87313"/>
                </a:lnTo>
                <a:cubicBezTo>
                  <a:pt x="187558" y="93424"/>
                  <a:pt x="197654" y="102483"/>
                  <a:pt x="205021" y="113506"/>
                </a:cubicBezTo>
                <a:lnTo>
                  <a:pt x="279345" y="113506"/>
                </a:lnTo>
                <a:lnTo>
                  <a:pt x="279345" y="227013"/>
                </a:lnTo>
                <a:cubicBezTo>
                  <a:pt x="279345" y="246276"/>
                  <a:pt x="263684" y="261938"/>
                  <a:pt x="244420" y="261938"/>
                </a:cubicBezTo>
                <a:lnTo>
                  <a:pt x="34925" y="261938"/>
                </a:lnTo>
                <a:cubicBezTo>
                  <a:pt x="15662" y="261938"/>
                  <a:pt x="0" y="246276"/>
                  <a:pt x="0" y="227013"/>
                </a:cubicBezTo>
                <a:close/>
                <a:moveTo>
                  <a:pt x="139700" y="104775"/>
                </a:moveTo>
                <a:cubicBezTo>
                  <a:pt x="120571" y="104158"/>
                  <a:pt x="102624" y="114011"/>
                  <a:pt x="92877" y="130482"/>
                </a:cubicBezTo>
                <a:cubicBezTo>
                  <a:pt x="83130" y="146953"/>
                  <a:pt x="83130" y="167426"/>
                  <a:pt x="92877" y="183898"/>
                </a:cubicBezTo>
                <a:cubicBezTo>
                  <a:pt x="102624" y="200369"/>
                  <a:pt x="120571" y="210222"/>
                  <a:pt x="139700" y="209605"/>
                </a:cubicBezTo>
                <a:cubicBezTo>
                  <a:pt x="158829" y="210222"/>
                  <a:pt x="176776" y="200369"/>
                  <a:pt x="186523" y="183898"/>
                </a:cubicBezTo>
                <a:cubicBezTo>
                  <a:pt x="196270" y="167426"/>
                  <a:pt x="196270" y="146953"/>
                  <a:pt x="186523" y="130482"/>
                </a:cubicBezTo>
                <a:cubicBezTo>
                  <a:pt x="176776" y="114011"/>
                  <a:pt x="158829" y="104158"/>
                  <a:pt x="139700" y="10477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photo editing tutorial that shows keyboard shortcuts right when the student needs to use that specific tool.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1905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JUST-IN-TIME FLOWCHART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414000" y="2667000"/>
            <a:ext cx="4064000" cy="635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0" y="27305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starts a task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303125" y="34036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14000" y="3873500"/>
            <a:ext cx="4064000" cy="635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414000" y="39370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Needs help? → Show procedure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303125" y="46101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14000" y="5080000"/>
            <a:ext cx="4064000" cy="635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3" name="Text 21"/>
          <p:cNvSpPr/>
          <p:nvPr/>
        </p:nvSpPr>
        <p:spPr>
          <a:xfrm>
            <a:off x="10414000" y="51435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follows the steps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303125" y="58166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14000" y="6286500"/>
            <a:ext cx="4064000" cy="635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10414000" y="6350000"/>
            <a:ext cx="406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Procedure becomes automatic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160000" y="7239000"/>
            <a:ext cx="4572000" cy="508000"/>
          </a:xfrm>
          <a:prstGeom prst="roundRect">
            <a:avLst>
              <a:gd name="adj" fmla="val 10000"/>
            </a:avLst>
          </a:prstGeom>
          <a:solidFill>
            <a:srgbClr val="E8F0E6"/>
          </a:solidFill>
          <a:ln w="12700">
            <a:solidFill>
              <a:srgbClr val="1B6B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60000" y="73025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Just-In-Time Delivery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4 — Part-Task Practice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Part-task practice helps students master difficult sub-skills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Some skills need to be practiced until they become automatic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component gives repeated practice for challenging parts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Once sub-skills are automatic, students can focus on the big picture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Practice should be repeated until the skill feels natural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Part-task practice is like a basketball player practicing free throws over and over. Eventually, it becomes automatic and they can focus on game strategy.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998538" y="73406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87313" y="0"/>
                </a:moveTo>
                <a:cubicBezTo>
                  <a:pt x="96971" y="0"/>
                  <a:pt x="104775" y="7804"/>
                  <a:pt x="104775" y="17463"/>
                </a:cubicBezTo>
                <a:lnTo>
                  <a:pt x="104775" y="34925"/>
                </a:lnTo>
                <a:lnTo>
                  <a:pt x="174625" y="34925"/>
                </a:lnTo>
                <a:cubicBezTo>
                  <a:pt x="184284" y="34925"/>
                  <a:pt x="192088" y="42729"/>
                  <a:pt x="192088" y="52388"/>
                </a:cubicBezTo>
                <a:cubicBezTo>
                  <a:pt x="192088" y="62046"/>
                  <a:pt x="184284" y="69850"/>
                  <a:pt x="174625" y="69850"/>
                </a:cubicBezTo>
                <a:lnTo>
                  <a:pt x="169386" y="69850"/>
                </a:lnTo>
                <a:lnTo>
                  <a:pt x="164802" y="82456"/>
                </a:lnTo>
                <a:cubicBezTo>
                  <a:pt x="155853" y="107122"/>
                  <a:pt x="142374" y="129659"/>
                  <a:pt x="125403" y="149032"/>
                </a:cubicBezTo>
                <a:cubicBezTo>
                  <a:pt x="133152" y="153834"/>
                  <a:pt x="141228" y="158090"/>
                  <a:pt x="149632" y="161856"/>
                </a:cubicBezTo>
                <a:lnTo>
                  <a:pt x="177135" y="174079"/>
                </a:lnTo>
                <a:lnTo>
                  <a:pt x="211078" y="97681"/>
                </a:lnTo>
                <a:cubicBezTo>
                  <a:pt x="213861" y="91351"/>
                  <a:pt x="220137" y="87313"/>
                  <a:pt x="227012" y="87313"/>
                </a:cubicBezTo>
                <a:cubicBezTo>
                  <a:pt x="233888" y="87313"/>
                  <a:pt x="240164" y="91351"/>
                  <a:pt x="242947" y="97681"/>
                </a:cubicBezTo>
                <a:lnTo>
                  <a:pt x="312797" y="254843"/>
                </a:lnTo>
                <a:cubicBezTo>
                  <a:pt x="316726" y="263684"/>
                  <a:pt x="312742" y="273998"/>
                  <a:pt x="303957" y="277872"/>
                </a:cubicBezTo>
                <a:cubicBezTo>
                  <a:pt x="295171" y="281747"/>
                  <a:pt x="284802" y="277817"/>
                  <a:pt x="280928" y="269032"/>
                </a:cubicBezTo>
                <a:lnTo>
                  <a:pt x="270014" y="244475"/>
                </a:lnTo>
                <a:lnTo>
                  <a:pt x="184066" y="244475"/>
                </a:lnTo>
                <a:lnTo>
                  <a:pt x="173152" y="269032"/>
                </a:lnTo>
                <a:cubicBezTo>
                  <a:pt x="169223" y="277872"/>
                  <a:pt x="158909" y="281801"/>
                  <a:pt x="150123" y="277872"/>
                </a:cubicBezTo>
                <a:cubicBezTo>
                  <a:pt x="141337" y="273943"/>
                  <a:pt x="137353" y="263629"/>
                  <a:pt x="141283" y="254843"/>
                </a:cubicBezTo>
                <a:lnTo>
                  <a:pt x="163002" y="206003"/>
                </a:lnTo>
                <a:lnTo>
                  <a:pt x="135498" y="193779"/>
                </a:lnTo>
                <a:cubicBezTo>
                  <a:pt x="122947" y="188213"/>
                  <a:pt x="110941" y="181555"/>
                  <a:pt x="99591" y="173916"/>
                </a:cubicBezTo>
                <a:cubicBezTo>
                  <a:pt x="87967" y="183302"/>
                  <a:pt x="75252" y="191487"/>
                  <a:pt x="61664" y="198309"/>
                </a:cubicBezTo>
                <a:lnTo>
                  <a:pt x="42729" y="207695"/>
                </a:lnTo>
                <a:cubicBezTo>
                  <a:pt x="34106" y="212006"/>
                  <a:pt x="23629" y="208513"/>
                  <a:pt x="19318" y="199891"/>
                </a:cubicBezTo>
                <a:cubicBezTo>
                  <a:pt x="15007" y="191269"/>
                  <a:pt x="18499" y="180791"/>
                  <a:pt x="27121" y="176480"/>
                </a:cubicBezTo>
                <a:lnTo>
                  <a:pt x="45948" y="167040"/>
                </a:lnTo>
                <a:cubicBezTo>
                  <a:pt x="54843" y="162565"/>
                  <a:pt x="63302" y="157381"/>
                  <a:pt x="71269" y="151596"/>
                </a:cubicBezTo>
                <a:cubicBezTo>
                  <a:pt x="63738" y="144666"/>
                  <a:pt x="56644" y="137190"/>
                  <a:pt x="50041" y="129277"/>
                </a:cubicBezTo>
                <a:lnTo>
                  <a:pt x="44529" y="122619"/>
                </a:lnTo>
                <a:cubicBezTo>
                  <a:pt x="38363" y="115198"/>
                  <a:pt x="39345" y="104175"/>
                  <a:pt x="46767" y="98008"/>
                </a:cubicBezTo>
                <a:cubicBezTo>
                  <a:pt x="54188" y="91842"/>
                  <a:pt x="65212" y="92824"/>
                  <a:pt x="71378" y="100246"/>
                </a:cubicBezTo>
                <a:lnTo>
                  <a:pt x="76944" y="106903"/>
                </a:lnTo>
                <a:cubicBezTo>
                  <a:pt x="83220" y="114489"/>
                  <a:pt x="90096" y="121528"/>
                  <a:pt x="97353" y="128022"/>
                </a:cubicBezTo>
                <a:cubicBezTo>
                  <a:pt x="112360" y="111433"/>
                  <a:pt x="124202" y="91951"/>
                  <a:pt x="132006" y="70505"/>
                </a:cubicBezTo>
                <a:lnTo>
                  <a:pt x="132278" y="69850"/>
                </a:lnTo>
                <a:lnTo>
                  <a:pt x="17517" y="69850"/>
                </a:lnTo>
                <a:cubicBezTo>
                  <a:pt x="7804" y="69850"/>
                  <a:pt x="0" y="62046"/>
                  <a:pt x="0" y="52388"/>
                </a:cubicBezTo>
                <a:cubicBezTo>
                  <a:pt x="0" y="42729"/>
                  <a:pt x="7804" y="34925"/>
                  <a:pt x="17463" y="34925"/>
                </a:cubicBezTo>
                <a:lnTo>
                  <a:pt x="69850" y="34925"/>
                </a:lnTo>
                <a:lnTo>
                  <a:pt x="69850" y="17463"/>
                </a:lnTo>
                <a:cubicBezTo>
                  <a:pt x="69850" y="7804"/>
                  <a:pt x="77654" y="0"/>
                  <a:pt x="87313" y="0"/>
                </a:cubicBezTo>
                <a:close/>
                <a:moveTo>
                  <a:pt x="227013" y="147776"/>
                </a:moveTo>
                <a:lnTo>
                  <a:pt x="199564" y="209550"/>
                </a:lnTo>
                <a:lnTo>
                  <a:pt x="254461" y="209550"/>
                </a:lnTo>
                <a:lnTo>
                  <a:pt x="227013" y="147776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Language learning apps like Duolingo repeat vocabulary drills until words are memorized, then move to sentence building.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1905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PRACTICE LOOP DIAGRAM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938000" y="25400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866577" y="148233"/>
                </a:moveTo>
                <a:lnTo>
                  <a:pt x="889000" y="169466"/>
                </a:lnTo>
                <a:lnTo>
                  <a:pt x="889000" y="63500"/>
                </a:lnTo>
                <a:cubicBezTo>
                  <a:pt x="889000" y="28377"/>
                  <a:pt x="917377" y="0"/>
                  <a:pt x="952500" y="0"/>
                </a:cubicBezTo>
                <a:cubicBezTo>
                  <a:pt x="987623" y="0"/>
                  <a:pt x="1016000" y="28377"/>
                  <a:pt x="1016000" y="63500"/>
                </a:cubicBezTo>
                <a:lnTo>
                  <a:pt x="1016000" y="317500"/>
                </a:lnTo>
                <a:cubicBezTo>
                  <a:pt x="1016000" y="352623"/>
                  <a:pt x="987623" y="381000"/>
                  <a:pt x="952500" y="381000"/>
                </a:cubicBezTo>
                <a:lnTo>
                  <a:pt x="698500" y="381000"/>
                </a:lnTo>
                <a:cubicBezTo>
                  <a:pt x="663377" y="381000"/>
                  <a:pt x="635000" y="352623"/>
                  <a:pt x="635000" y="317500"/>
                </a:cubicBezTo>
                <a:cubicBezTo>
                  <a:pt x="635000" y="282377"/>
                  <a:pt x="663377" y="254000"/>
                  <a:pt x="698500" y="254000"/>
                </a:cubicBezTo>
                <a:lnTo>
                  <a:pt x="793552" y="254000"/>
                </a:lnTo>
                <a:lnTo>
                  <a:pt x="778470" y="239713"/>
                </a:lnTo>
                <a:cubicBezTo>
                  <a:pt x="778073" y="239316"/>
                  <a:pt x="777677" y="238919"/>
                  <a:pt x="777280" y="238522"/>
                </a:cubicBezTo>
                <a:cubicBezTo>
                  <a:pt x="628452" y="89694"/>
                  <a:pt x="387350" y="89694"/>
                  <a:pt x="238522" y="238522"/>
                </a:cubicBezTo>
                <a:cubicBezTo>
                  <a:pt x="89694" y="387350"/>
                  <a:pt x="89694" y="628452"/>
                  <a:pt x="238522" y="777280"/>
                </a:cubicBezTo>
                <a:cubicBezTo>
                  <a:pt x="387350" y="926108"/>
                  <a:pt x="628452" y="926108"/>
                  <a:pt x="777280" y="777280"/>
                </a:cubicBezTo>
                <a:cubicBezTo>
                  <a:pt x="793552" y="761008"/>
                  <a:pt x="808037" y="743744"/>
                  <a:pt x="820737" y="725487"/>
                </a:cubicBezTo>
                <a:cubicBezTo>
                  <a:pt x="840780" y="696714"/>
                  <a:pt x="880467" y="689769"/>
                  <a:pt x="909241" y="709811"/>
                </a:cubicBezTo>
                <a:cubicBezTo>
                  <a:pt x="938014" y="729853"/>
                  <a:pt x="944959" y="769541"/>
                  <a:pt x="924917" y="798314"/>
                </a:cubicBezTo>
                <a:cubicBezTo>
                  <a:pt x="908050" y="822523"/>
                  <a:pt x="888802" y="845542"/>
                  <a:pt x="867172" y="867172"/>
                </a:cubicBezTo>
                <a:cubicBezTo>
                  <a:pt x="668734" y="1065609"/>
                  <a:pt x="347067" y="1065609"/>
                  <a:pt x="148828" y="867172"/>
                </a:cubicBezTo>
                <a:cubicBezTo>
                  <a:pt x="-49411" y="668734"/>
                  <a:pt x="-49609" y="347266"/>
                  <a:pt x="148828" y="148828"/>
                </a:cubicBezTo>
                <a:cubicBezTo>
                  <a:pt x="347067" y="-49411"/>
                  <a:pt x="668139" y="-49609"/>
                  <a:pt x="866577" y="148233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33000" y="38100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B6B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Repeat Until Automatic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160000" y="44450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0" y="4572000"/>
            <a:ext cx="177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Sub-Skill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128500" y="4635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311671" y="172765"/>
                </a:moveTo>
                <a:cubicBezTo>
                  <a:pt x="319422" y="165013"/>
                  <a:pt x="319422" y="152425"/>
                  <a:pt x="311671" y="144673"/>
                </a:cubicBezTo>
                <a:lnTo>
                  <a:pt x="212452" y="45455"/>
                </a:lnTo>
                <a:cubicBezTo>
                  <a:pt x="204701" y="37703"/>
                  <a:pt x="192112" y="37703"/>
                  <a:pt x="184361" y="45455"/>
                </a:cubicBezTo>
                <a:cubicBezTo>
                  <a:pt x="176609" y="53206"/>
                  <a:pt x="176609" y="65794"/>
                  <a:pt x="184361" y="73546"/>
                </a:cubicBezTo>
                <a:lnTo>
                  <a:pt x="249721" y="138906"/>
                </a:lnTo>
                <a:lnTo>
                  <a:pt x="19844" y="138906"/>
                </a:lnTo>
                <a:cubicBezTo>
                  <a:pt x="8868" y="138906"/>
                  <a:pt x="0" y="147774"/>
                  <a:pt x="0" y="158750"/>
                </a:cubicBezTo>
                <a:cubicBezTo>
                  <a:pt x="0" y="169726"/>
                  <a:pt x="8868" y="178594"/>
                  <a:pt x="19844" y="178594"/>
                </a:cubicBezTo>
                <a:lnTo>
                  <a:pt x="249721" y="178594"/>
                </a:lnTo>
                <a:lnTo>
                  <a:pt x="184361" y="243954"/>
                </a:lnTo>
                <a:cubicBezTo>
                  <a:pt x="176609" y="251706"/>
                  <a:pt x="176609" y="264294"/>
                  <a:pt x="184361" y="272045"/>
                </a:cubicBezTo>
                <a:cubicBezTo>
                  <a:pt x="192112" y="279797"/>
                  <a:pt x="204701" y="279797"/>
                  <a:pt x="212452" y="272045"/>
                </a:cubicBezTo>
                <a:lnTo>
                  <a:pt x="311671" y="172827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1" name="Shape 19"/>
          <p:cNvSpPr/>
          <p:nvPr/>
        </p:nvSpPr>
        <p:spPr>
          <a:xfrm>
            <a:off x="12700000" y="44450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2" name="Text 20"/>
          <p:cNvSpPr/>
          <p:nvPr/>
        </p:nvSpPr>
        <p:spPr>
          <a:xfrm>
            <a:off x="12700000" y="4572000"/>
            <a:ext cx="177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Accuracy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462000" y="5080000"/>
            <a:ext cx="0" cy="381000"/>
          </a:xfrm>
          <a:prstGeom prst="straightConnector1">
            <a:avLst/>
          </a:prstGeom>
          <a:noFill/>
          <a:ln w="25400">
            <a:solidFill>
              <a:srgbClr val="1B6B5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2700000" y="55245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25" name="Text 23"/>
          <p:cNvSpPr/>
          <p:nvPr/>
        </p:nvSpPr>
        <p:spPr>
          <a:xfrm>
            <a:off x="12700000" y="5651500"/>
            <a:ext cx="177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yet? Retry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128500" y="56515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5829" y="144735"/>
                </a:moveTo>
                <a:cubicBezTo>
                  <a:pt x="-1922" y="152487"/>
                  <a:pt x="-1922" y="165075"/>
                  <a:pt x="5829" y="172827"/>
                </a:cubicBezTo>
                <a:lnTo>
                  <a:pt x="105048" y="272045"/>
                </a:lnTo>
                <a:cubicBezTo>
                  <a:pt x="112799" y="279797"/>
                  <a:pt x="125388" y="279797"/>
                  <a:pt x="133139" y="272045"/>
                </a:cubicBezTo>
                <a:cubicBezTo>
                  <a:pt x="140891" y="264294"/>
                  <a:pt x="140891" y="251706"/>
                  <a:pt x="133139" y="243954"/>
                </a:cubicBezTo>
                <a:lnTo>
                  <a:pt x="67779" y="178594"/>
                </a:lnTo>
                <a:lnTo>
                  <a:pt x="297656" y="178594"/>
                </a:lnTo>
                <a:cubicBezTo>
                  <a:pt x="308632" y="178594"/>
                  <a:pt x="317500" y="169726"/>
                  <a:pt x="317500" y="158750"/>
                </a:cubicBezTo>
                <a:cubicBezTo>
                  <a:pt x="317500" y="147774"/>
                  <a:pt x="308632" y="138906"/>
                  <a:pt x="297656" y="138906"/>
                </a:cubicBezTo>
                <a:lnTo>
                  <a:pt x="67779" y="138906"/>
                </a:lnTo>
                <a:lnTo>
                  <a:pt x="133139" y="73546"/>
                </a:lnTo>
                <a:cubicBezTo>
                  <a:pt x="140891" y="65794"/>
                  <a:pt x="140891" y="53206"/>
                  <a:pt x="133139" y="45455"/>
                </a:cubicBezTo>
                <a:cubicBezTo>
                  <a:pt x="125388" y="37703"/>
                  <a:pt x="112799" y="37703"/>
                  <a:pt x="105048" y="45455"/>
                </a:cubicBezTo>
                <a:lnTo>
                  <a:pt x="5829" y="144673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160000" y="55245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0000" y="5651500"/>
            <a:ext cx="1778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Mastered!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049000" y="5080000"/>
            <a:ext cx="0" cy="381000"/>
          </a:xfrm>
          <a:prstGeom prst="straightConnector1">
            <a:avLst/>
          </a:prstGeom>
          <a:noFill/>
          <a:ln w="25400">
            <a:solidFill>
              <a:srgbClr val="1B6B5C"/>
            </a:solidFill>
            <a:prstDash val="solid"/>
            <a:headEnd type="arrow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0160000" y="6604000"/>
            <a:ext cx="4572000" cy="762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31" name="Text 29"/>
          <p:cNvSpPr/>
          <p:nvPr/>
        </p:nvSpPr>
        <p:spPr>
          <a:xfrm>
            <a:off x="10160000" y="6756400"/>
            <a:ext cx="457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Skill Becomes Automatic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1016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Putting It All Together — The 4C/ID in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four components work together in a complete learning design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Learning tasks provide the main structure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Supportive information helps students understand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Procedural information guides their actions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Part-task practice builds automatic skills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524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524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4C/ID like building a house: tasks are the foundation, supportive info is the blueprint, procedural info is the manual, practice is repeating steps.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998538" y="73406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283766" y="109141"/>
                </a:moveTo>
                <a:cubicBezTo>
                  <a:pt x="300628" y="109141"/>
                  <a:pt x="314325" y="122838"/>
                  <a:pt x="314325" y="139700"/>
                </a:cubicBezTo>
                <a:cubicBezTo>
                  <a:pt x="314325" y="156562"/>
                  <a:pt x="300628" y="170259"/>
                  <a:pt x="283766" y="170259"/>
                </a:cubicBezTo>
                <a:lnTo>
                  <a:pt x="214298" y="170259"/>
                </a:lnTo>
                <a:lnTo>
                  <a:pt x="127422" y="264993"/>
                </a:lnTo>
                <a:cubicBezTo>
                  <a:pt x="124093" y="268595"/>
                  <a:pt x="119454" y="270669"/>
                  <a:pt x="114543" y="270669"/>
                </a:cubicBezTo>
                <a:lnTo>
                  <a:pt x="90696" y="270669"/>
                </a:lnTo>
                <a:cubicBezTo>
                  <a:pt x="84748" y="270669"/>
                  <a:pt x="80546" y="264830"/>
                  <a:pt x="82401" y="259154"/>
                </a:cubicBezTo>
                <a:lnTo>
                  <a:pt x="112033" y="170259"/>
                </a:lnTo>
                <a:lnTo>
                  <a:pt x="57626" y="170259"/>
                </a:lnTo>
                <a:lnTo>
                  <a:pt x="28813" y="206276"/>
                </a:lnTo>
                <a:cubicBezTo>
                  <a:pt x="27176" y="208349"/>
                  <a:pt x="24666" y="209550"/>
                  <a:pt x="21992" y="209550"/>
                </a:cubicBezTo>
                <a:lnTo>
                  <a:pt x="11187" y="209550"/>
                </a:lnTo>
                <a:cubicBezTo>
                  <a:pt x="5512" y="209550"/>
                  <a:pt x="1364" y="204202"/>
                  <a:pt x="2729" y="198691"/>
                </a:cubicBezTo>
                <a:lnTo>
                  <a:pt x="17463" y="139700"/>
                </a:lnTo>
                <a:lnTo>
                  <a:pt x="2729" y="80709"/>
                </a:lnTo>
                <a:cubicBezTo>
                  <a:pt x="1310" y="75198"/>
                  <a:pt x="5512" y="69850"/>
                  <a:pt x="11187" y="69850"/>
                </a:cubicBezTo>
                <a:lnTo>
                  <a:pt x="21992" y="69850"/>
                </a:lnTo>
                <a:cubicBezTo>
                  <a:pt x="24666" y="69850"/>
                  <a:pt x="27176" y="71051"/>
                  <a:pt x="28813" y="73124"/>
                </a:cubicBezTo>
                <a:lnTo>
                  <a:pt x="57626" y="109141"/>
                </a:lnTo>
                <a:lnTo>
                  <a:pt x="112033" y="109141"/>
                </a:lnTo>
                <a:lnTo>
                  <a:pt x="82401" y="20246"/>
                </a:lnTo>
                <a:cubicBezTo>
                  <a:pt x="80546" y="14570"/>
                  <a:pt x="84748" y="8731"/>
                  <a:pt x="90696" y="8731"/>
                </a:cubicBezTo>
                <a:lnTo>
                  <a:pt x="114543" y="8731"/>
                </a:lnTo>
                <a:cubicBezTo>
                  <a:pt x="119454" y="8731"/>
                  <a:pt x="124093" y="10805"/>
                  <a:pt x="127422" y="14407"/>
                </a:cubicBezTo>
                <a:lnTo>
                  <a:pt x="214298" y="109141"/>
                </a:lnTo>
                <a:lnTo>
                  <a:pt x="283766" y="10914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flight simulator training program combines all four: realistic flights (tasks), aviation theory (supportive), checklists (procedural), and emergency drill repetitions (practice).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6667500"/>
          </a:xfrm>
          <a:prstGeom prst="roundRect">
            <a:avLst>
              <a:gd name="adj" fmla="val 8000"/>
            </a:avLst>
          </a:prstGeom>
          <a:solidFill>
            <a:srgbClr val="E8F0E6"/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0" y="1905000"/>
            <a:ext cx="558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4C/ID MODEL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33000" y="2540000"/>
            <a:ext cx="2159000" cy="889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33000" y="2667000"/>
            <a:ext cx="215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Learning Tasks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700000" y="2540000"/>
            <a:ext cx="2159000" cy="889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0" y="2667000"/>
            <a:ext cx="215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Supportive Info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Blueprint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33000" y="3810000"/>
            <a:ext cx="2159000" cy="889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3000" y="3937000"/>
            <a:ext cx="215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Procedural Info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Instructions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700000" y="3810000"/>
            <a:ext cx="2159000" cy="889000"/>
          </a:xfrm>
          <a:prstGeom prst="roundRect">
            <a:avLst>
              <a:gd name="adj" fmla="val 10000"/>
            </a:avLst>
          </a:pr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12700000" y="3937000"/>
            <a:ext cx="215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Part-Task Practice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Repetition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874500" y="3556000"/>
            <a:ext cx="381000" cy="381000"/>
          </a:xfrm>
          <a:prstGeom prst="ellipse">
            <a:avLst/>
          </a:prstGeom>
          <a:solidFill>
            <a:srgbClr val="1B6B5C"/>
          </a:solidFill>
          <a:ln/>
        </p:spPr>
      </p:sp>
      <p:sp>
        <p:nvSpPr>
          <p:cNvPr id="25" name="Shape 23"/>
          <p:cNvSpPr/>
          <p:nvPr/>
        </p:nvSpPr>
        <p:spPr>
          <a:xfrm>
            <a:off x="11923713" y="3632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87300" y="42863"/>
                </a:moveTo>
                <a:cubicBezTo>
                  <a:pt x="179889" y="42863"/>
                  <a:pt x="172700" y="44872"/>
                  <a:pt x="166405" y="48533"/>
                </a:cubicBezTo>
                <a:cubicBezTo>
                  <a:pt x="159350" y="41389"/>
                  <a:pt x="151135" y="35406"/>
                  <a:pt x="142071" y="30897"/>
                </a:cubicBezTo>
                <a:cubicBezTo>
                  <a:pt x="154662" y="20181"/>
                  <a:pt x="170691" y="14288"/>
                  <a:pt x="187300" y="14288"/>
                </a:cubicBezTo>
                <a:cubicBezTo>
                  <a:pt x="225876" y="14288"/>
                  <a:pt x="257175" y="45541"/>
                  <a:pt x="257175" y="84162"/>
                </a:cubicBezTo>
                <a:cubicBezTo>
                  <a:pt x="257175" y="102691"/>
                  <a:pt x="249808" y="120461"/>
                  <a:pt x="236726" y="133543"/>
                </a:cubicBezTo>
                <a:lnTo>
                  <a:pt x="204981" y="165289"/>
                </a:lnTo>
                <a:cubicBezTo>
                  <a:pt x="191899" y="178371"/>
                  <a:pt x="174129" y="185738"/>
                  <a:pt x="155600" y="185738"/>
                </a:cubicBezTo>
                <a:cubicBezTo>
                  <a:pt x="117024" y="185738"/>
                  <a:pt x="85725" y="154484"/>
                  <a:pt x="85725" y="115863"/>
                </a:cubicBezTo>
                <a:cubicBezTo>
                  <a:pt x="85725" y="115193"/>
                  <a:pt x="85725" y="114523"/>
                  <a:pt x="85770" y="113854"/>
                </a:cubicBezTo>
                <a:cubicBezTo>
                  <a:pt x="85993" y="105951"/>
                  <a:pt x="92556" y="99745"/>
                  <a:pt x="100459" y="99968"/>
                </a:cubicBezTo>
                <a:cubicBezTo>
                  <a:pt x="108362" y="100191"/>
                  <a:pt x="114568" y="106754"/>
                  <a:pt x="114345" y="114657"/>
                </a:cubicBezTo>
                <a:cubicBezTo>
                  <a:pt x="114345" y="115059"/>
                  <a:pt x="114345" y="115461"/>
                  <a:pt x="114345" y="115818"/>
                </a:cubicBezTo>
                <a:cubicBezTo>
                  <a:pt x="114345" y="138633"/>
                  <a:pt x="132829" y="157118"/>
                  <a:pt x="155644" y="157118"/>
                </a:cubicBezTo>
                <a:cubicBezTo>
                  <a:pt x="166583" y="157118"/>
                  <a:pt x="177076" y="152787"/>
                  <a:pt x="184845" y="145018"/>
                </a:cubicBezTo>
                <a:lnTo>
                  <a:pt x="216590" y="113273"/>
                </a:lnTo>
                <a:cubicBezTo>
                  <a:pt x="224314" y="105549"/>
                  <a:pt x="228689" y="95012"/>
                  <a:pt x="228689" y="84073"/>
                </a:cubicBezTo>
                <a:cubicBezTo>
                  <a:pt x="228689" y="61258"/>
                  <a:pt x="210205" y="42773"/>
                  <a:pt x="187389" y="42773"/>
                </a:cubicBezTo>
                <a:close/>
                <a:moveTo>
                  <a:pt x="122873" y="77376"/>
                </a:moveTo>
                <a:cubicBezTo>
                  <a:pt x="122024" y="77019"/>
                  <a:pt x="121176" y="76527"/>
                  <a:pt x="120417" y="75992"/>
                </a:cubicBezTo>
                <a:cubicBezTo>
                  <a:pt x="114791" y="73089"/>
                  <a:pt x="108362" y="71438"/>
                  <a:pt x="101620" y="71438"/>
                </a:cubicBezTo>
                <a:cubicBezTo>
                  <a:pt x="90681" y="71438"/>
                  <a:pt x="80189" y="75768"/>
                  <a:pt x="72420" y="83537"/>
                </a:cubicBezTo>
                <a:lnTo>
                  <a:pt x="40675" y="115282"/>
                </a:lnTo>
                <a:cubicBezTo>
                  <a:pt x="32951" y="123006"/>
                  <a:pt x="28575" y="133543"/>
                  <a:pt x="28575" y="144482"/>
                </a:cubicBezTo>
                <a:cubicBezTo>
                  <a:pt x="28575" y="167298"/>
                  <a:pt x="47059" y="185782"/>
                  <a:pt x="69875" y="185782"/>
                </a:cubicBezTo>
                <a:cubicBezTo>
                  <a:pt x="77242" y="185782"/>
                  <a:pt x="84430" y="183818"/>
                  <a:pt x="90726" y="180156"/>
                </a:cubicBezTo>
                <a:cubicBezTo>
                  <a:pt x="97780" y="187300"/>
                  <a:pt x="105995" y="193283"/>
                  <a:pt x="115104" y="197793"/>
                </a:cubicBezTo>
                <a:cubicBezTo>
                  <a:pt x="102513" y="208464"/>
                  <a:pt x="86529" y="214402"/>
                  <a:pt x="69875" y="214402"/>
                </a:cubicBezTo>
                <a:cubicBezTo>
                  <a:pt x="31299" y="214402"/>
                  <a:pt x="0" y="183148"/>
                  <a:pt x="0" y="144527"/>
                </a:cubicBezTo>
                <a:cubicBezTo>
                  <a:pt x="0" y="125998"/>
                  <a:pt x="7367" y="108228"/>
                  <a:pt x="20449" y="95146"/>
                </a:cubicBezTo>
                <a:lnTo>
                  <a:pt x="52194" y="63401"/>
                </a:lnTo>
                <a:cubicBezTo>
                  <a:pt x="65276" y="50319"/>
                  <a:pt x="83046" y="42952"/>
                  <a:pt x="101575" y="42952"/>
                </a:cubicBezTo>
                <a:cubicBezTo>
                  <a:pt x="140241" y="42952"/>
                  <a:pt x="171450" y="74474"/>
                  <a:pt x="171450" y="113005"/>
                </a:cubicBezTo>
                <a:cubicBezTo>
                  <a:pt x="171450" y="113586"/>
                  <a:pt x="171450" y="114166"/>
                  <a:pt x="171450" y="114746"/>
                </a:cubicBezTo>
                <a:cubicBezTo>
                  <a:pt x="171271" y="122649"/>
                  <a:pt x="164708" y="128855"/>
                  <a:pt x="156805" y="128677"/>
                </a:cubicBezTo>
                <a:cubicBezTo>
                  <a:pt x="148903" y="128498"/>
                  <a:pt x="142696" y="121935"/>
                  <a:pt x="142875" y="114032"/>
                </a:cubicBezTo>
                <a:cubicBezTo>
                  <a:pt x="142875" y="113675"/>
                  <a:pt x="142875" y="113362"/>
                  <a:pt x="142875" y="113005"/>
                </a:cubicBezTo>
                <a:cubicBezTo>
                  <a:pt x="142875" y="97959"/>
                  <a:pt x="134838" y="84743"/>
                  <a:pt x="122873" y="7746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2303125" y="48895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26057" y="374005"/>
                </a:moveTo>
                <a:cubicBezTo>
                  <a:pt x="135359" y="383307"/>
                  <a:pt x="150465" y="383307"/>
                  <a:pt x="159767" y="374005"/>
                </a:cubicBezTo>
                <a:lnTo>
                  <a:pt x="278829" y="254943"/>
                </a:lnTo>
                <a:cubicBezTo>
                  <a:pt x="288131" y="245641"/>
                  <a:pt x="288131" y="230535"/>
                  <a:pt x="278829" y="221233"/>
                </a:cubicBezTo>
                <a:cubicBezTo>
                  <a:pt x="269528" y="211931"/>
                  <a:pt x="254422" y="211931"/>
                  <a:pt x="245120" y="221233"/>
                </a:cubicBezTo>
                <a:lnTo>
                  <a:pt x="166688" y="299665"/>
                </a:lnTo>
                <a:lnTo>
                  <a:pt x="166688" y="23812"/>
                </a:lnTo>
                <a:cubicBezTo>
                  <a:pt x="166688" y="10641"/>
                  <a:pt x="156046" y="0"/>
                  <a:pt x="142875" y="0"/>
                </a:cubicBezTo>
                <a:cubicBezTo>
                  <a:pt x="129704" y="0"/>
                  <a:pt x="119063" y="10641"/>
                  <a:pt x="119063" y="23812"/>
                </a:cubicBezTo>
                <a:lnTo>
                  <a:pt x="119063" y="299665"/>
                </a:lnTo>
                <a:lnTo>
                  <a:pt x="40630" y="221233"/>
                </a:lnTo>
                <a:cubicBezTo>
                  <a:pt x="31328" y="211931"/>
                  <a:pt x="16222" y="211931"/>
                  <a:pt x="6921" y="221233"/>
                </a:cubicBezTo>
                <a:cubicBezTo>
                  <a:pt x="-2381" y="230535"/>
                  <a:pt x="-2381" y="245641"/>
                  <a:pt x="6921" y="254943"/>
                </a:cubicBezTo>
                <a:lnTo>
                  <a:pt x="125983" y="374005"/>
                </a:ln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33000" y="5461000"/>
            <a:ext cx="4826000" cy="1016000"/>
          </a:xfrm>
          <a:prstGeom prst="roundRect">
            <a:avLst>
              <a:gd name="adj" fmla="val 10000"/>
            </a:avLst>
          </a:prstGeom>
          <a:solidFill>
            <a:srgbClr val="1B6B5C"/>
          </a:solidFill>
          <a:ln/>
        </p:spPr>
      </p:sp>
      <p:sp>
        <p:nvSpPr>
          <p:cNvPr id="28" name="Text 26"/>
          <p:cNvSpPr/>
          <p:nvPr/>
        </p:nvSpPr>
        <p:spPr>
          <a:xfrm>
            <a:off x="10033000" y="5651500"/>
            <a:ext cx="482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Powerful Learning Experience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79000" y="6731000"/>
            <a:ext cx="533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300" b="1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 Analogy: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Foundation + Blueprint + Manual + Practice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 A Complete, Well-Built House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381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 5 &amp;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6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Recap —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62000" y="1371600"/>
            <a:ext cx="762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14500"/>
            <a:ext cx="812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Cognitive Load Theory: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Keep content simple, remove distractions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Text + Picture Integration: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Combine visuals and text wisely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b="1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4C/ID Model: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real tasks, provide support, practice sub-skills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Always design with the learner's brain in mind</a:t>
            </a:r>
            <a:endParaRPr lang="en-US" sz="1800" dirty="0"/>
          </a:p>
          <a:p>
            <a:pPr marL="285750" indent="-28575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Good multimedia design makes learning easier, not harder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5588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5588000"/>
            <a:ext cx="50800" cy="1397000"/>
          </a:xfrm>
          <a:prstGeom prst="rect">
            <a:avLst/>
          </a:prstGeom>
          <a:solidFill>
            <a:srgbClr val="1B6B5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5689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16000" y="5969000"/>
            <a:ext cx="76200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These three theories are your toolkit for creating multimedia that actually works. Remember: simple, connected, and practice-focused.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7175500"/>
            <a:ext cx="8128000" cy="13335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998538" y="7340600"/>
            <a:ext cx="314325" cy="279400"/>
          </a:xfrm>
          <a:custGeom>
            <a:avLst/>
            <a:gdLst/>
            <a:ahLst/>
            <a:cxnLst/>
            <a:rect l="l" t="t" r="r" b="b"/>
            <a:pathLst>
              <a:path w="314325" h="279400">
                <a:moveTo>
                  <a:pt x="26194" y="106849"/>
                </a:moveTo>
                <a:lnTo>
                  <a:pt x="140355" y="153834"/>
                </a:lnTo>
                <a:cubicBezTo>
                  <a:pt x="145703" y="156017"/>
                  <a:pt x="151378" y="157163"/>
                  <a:pt x="157163" y="157163"/>
                </a:cubicBezTo>
                <a:cubicBezTo>
                  <a:pt x="162947" y="157163"/>
                  <a:pt x="168622" y="156017"/>
                  <a:pt x="173970" y="153834"/>
                </a:cubicBezTo>
                <a:lnTo>
                  <a:pt x="306249" y="99373"/>
                </a:lnTo>
                <a:cubicBezTo>
                  <a:pt x="311160" y="97353"/>
                  <a:pt x="314325" y="92606"/>
                  <a:pt x="314325" y="87312"/>
                </a:cubicBezTo>
                <a:cubicBezTo>
                  <a:pt x="314325" y="82019"/>
                  <a:pt x="311160" y="77272"/>
                  <a:pt x="306249" y="75252"/>
                </a:cubicBezTo>
                <a:lnTo>
                  <a:pt x="173970" y="20791"/>
                </a:lnTo>
                <a:cubicBezTo>
                  <a:pt x="168622" y="18608"/>
                  <a:pt x="162947" y="17463"/>
                  <a:pt x="157163" y="17463"/>
                </a:cubicBezTo>
                <a:cubicBezTo>
                  <a:pt x="151378" y="17463"/>
                  <a:pt x="145703" y="18608"/>
                  <a:pt x="140355" y="20791"/>
                </a:cubicBezTo>
                <a:lnTo>
                  <a:pt x="8076" y="75252"/>
                </a:lnTo>
                <a:cubicBezTo>
                  <a:pt x="3165" y="77272"/>
                  <a:pt x="0" y="82019"/>
                  <a:pt x="0" y="87313"/>
                </a:cubicBezTo>
                <a:lnTo>
                  <a:pt x="0" y="248841"/>
                </a:lnTo>
                <a:cubicBezTo>
                  <a:pt x="0" y="256098"/>
                  <a:pt x="5839" y="261938"/>
                  <a:pt x="13097" y="261938"/>
                </a:cubicBezTo>
                <a:cubicBezTo>
                  <a:pt x="20355" y="261938"/>
                  <a:pt x="26194" y="256098"/>
                  <a:pt x="26194" y="248841"/>
                </a:cubicBezTo>
                <a:lnTo>
                  <a:pt x="26194" y="106849"/>
                </a:lnTo>
                <a:close/>
                <a:moveTo>
                  <a:pt x="52388" y="145976"/>
                </a:moveTo>
                <a:lnTo>
                  <a:pt x="52388" y="209550"/>
                </a:lnTo>
                <a:cubicBezTo>
                  <a:pt x="52388" y="238472"/>
                  <a:pt x="99318" y="261938"/>
                  <a:pt x="157163" y="261938"/>
                </a:cubicBezTo>
                <a:cubicBezTo>
                  <a:pt x="215007" y="261938"/>
                  <a:pt x="261938" y="238472"/>
                  <a:pt x="261938" y="209550"/>
                </a:cubicBezTo>
                <a:lnTo>
                  <a:pt x="261938" y="145921"/>
                </a:lnTo>
                <a:lnTo>
                  <a:pt x="183957" y="178063"/>
                </a:lnTo>
                <a:cubicBezTo>
                  <a:pt x="175444" y="181555"/>
                  <a:pt x="166385" y="183356"/>
                  <a:pt x="157163" y="183356"/>
                </a:cubicBezTo>
                <a:cubicBezTo>
                  <a:pt x="147940" y="183356"/>
                  <a:pt x="138881" y="181555"/>
                  <a:pt x="130368" y="178063"/>
                </a:cubicBezTo>
                <a:lnTo>
                  <a:pt x="52388" y="14592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397000" y="7315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100" kern="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EXAMPLE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6000" y="7620000"/>
            <a:ext cx="762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best online courses (Coursera, LinkedIn Learning) apply all these principles — short videos, clear visuals, real projects, and repeated practice.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8000" y="1714500"/>
            <a:ext cx="6096000" cy="1905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15" name="Shape 13"/>
          <p:cNvSpPr/>
          <p:nvPr/>
        </p:nvSpPr>
        <p:spPr>
          <a:xfrm>
            <a:off x="97790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19063" y="55563"/>
                </a:moveTo>
                <a:cubicBezTo>
                  <a:pt x="119063" y="24904"/>
                  <a:pt x="143966" y="0"/>
                  <a:pt x="174625" y="0"/>
                </a:cubicBezTo>
                <a:lnTo>
                  <a:pt x="198438" y="0"/>
                </a:lnTo>
                <a:cubicBezTo>
                  <a:pt x="215999" y="0"/>
                  <a:pt x="230188" y="14188"/>
                  <a:pt x="230188" y="31750"/>
                </a:cubicBezTo>
                <a:lnTo>
                  <a:pt x="230188" y="476250"/>
                </a:lnTo>
                <a:cubicBezTo>
                  <a:pt x="230188" y="493812"/>
                  <a:pt x="215999" y="508000"/>
                  <a:pt x="198438" y="508000"/>
                </a:cubicBezTo>
                <a:lnTo>
                  <a:pt x="166688" y="508000"/>
                </a:lnTo>
                <a:cubicBezTo>
                  <a:pt x="137120" y="508000"/>
                  <a:pt x="112216" y="487759"/>
                  <a:pt x="105172" y="460375"/>
                </a:cubicBezTo>
                <a:cubicBezTo>
                  <a:pt x="104477" y="460375"/>
                  <a:pt x="103882" y="460375"/>
                  <a:pt x="103188" y="460375"/>
                </a:cubicBezTo>
                <a:cubicBezTo>
                  <a:pt x="59333" y="460375"/>
                  <a:pt x="23812" y="424855"/>
                  <a:pt x="23812" y="381000"/>
                </a:cubicBezTo>
                <a:cubicBezTo>
                  <a:pt x="23812" y="363141"/>
                  <a:pt x="29766" y="346670"/>
                  <a:pt x="39688" y="333375"/>
                </a:cubicBezTo>
                <a:cubicBezTo>
                  <a:pt x="20439" y="318889"/>
                  <a:pt x="7938" y="295870"/>
                  <a:pt x="7938" y="269875"/>
                </a:cubicBezTo>
                <a:cubicBezTo>
                  <a:pt x="7938" y="239216"/>
                  <a:pt x="25400" y="212527"/>
                  <a:pt x="50800" y="199330"/>
                </a:cubicBezTo>
                <a:cubicBezTo>
                  <a:pt x="43755" y="187424"/>
                  <a:pt x="39688" y="173534"/>
                  <a:pt x="39688" y="158750"/>
                </a:cubicBezTo>
                <a:cubicBezTo>
                  <a:pt x="39688" y="114895"/>
                  <a:pt x="75208" y="79375"/>
                  <a:pt x="119063" y="79375"/>
                </a:cubicBezTo>
                <a:lnTo>
                  <a:pt x="119063" y="55563"/>
                </a:lnTo>
                <a:close/>
                <a:moveTo>
                  <a:pt x="388938" y="55563"/>
                </a:moveTo>
                <a:lnTo>
                  <a:pt x="388938" y="79375"/>
                </a:lnTo>
                <a:cubicBezTo>
                  <a:pt x="432792" y="79375"/>
                  <a:pt x="468313" y="114895"/>
                  <a:pt x="468313" y="158750"/>
                </a:cubicBezTo>
                <a:cubicBezTo>
                  <a:pt x="468313" y="173633"/>
                  <a:pt x="464245" y="187523"/>
                  <a:pt x="457200" y="199330"/>
                </a:cubicBezTo>
                <a:cubicBezTo>
                  <a:pt x="482699" y="212527"/>
                  <a:pt x="500063" y="239117"/>
                  <a:pt x="500063" y="269875"/>
                </a:cubicBezTo>
                <a:cubicBezTo>
                  <a:pt x="500063" y="295870"/>
                  <a:pt x="487561" y="318889"/>
                  <a:pt x="468313" y="333375"/>
                </a:cubicBezTo>
                <a:cubicBezTo>
                  <a:pt x="478234" y="346670"/>
                  <a:pt x="484187" y="363141"/>
                  <a:pt x="484187" y="381000"/>
                </a:cubicBezTo>
                <a:cubicBezTo>
                  <a:pt x="484187" y="424855"/>
                  <a:pt x="448667" y="460375"/>
                  <a:pt x="404813" y="460375"/>
                </a:cubicBezTo>
                <a:cubicBezTo>
                  <a:pt x="404118" y="460375"/>
                  <a:pt x="403523" y="460375"/>
                  <a:pt x="402828" y="460375"/>
                </a:cubicBezTo>
                <a:cubicBezTo>
                  <a:pt x="395784" y="487759"/>
                  <a:pt x="370880" y="508000"/>
                  <a:pt x="341313" y="508000"/>
                </a:cubicBezTo>
                <a:lnTo>
                  <a:pt x="309562" y="508000"/>
                </a:lnTo>
                <a:cubicBezTo>
                  <a:pt x="292001" y="508000"/>
                  <a:pt x="277813" y="493812"/>
                  <a:pt x="277813" y="476250"/>
                </a:cubicBezTo>
                <a:lnTo>
                  <a:pt x="277813" y="31750"/>
                </a:lnTo>
                <a:cubicBezTo>
                  <a:pt x="277813" y="14188"/>
                  <a:pt x="292001" y="0"/>
                  <a:pt x="309562" y="0"/>
                </a:cubicBezTo>
                <a:lnTo>
                  <a:pt x="333375" y="0"/>
                </a:lnTo>
                <a:cubicBezTo>
                  <a:pt x="364034" y="0"/>
                  <a:pt x="388938" y="24904"/>
                  <a:pt x="388938" y="55563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0" y="2032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Cognitive Load Theory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477500" y="2476500"/>
            <a:ext cx="469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Respect the brain's limits. Remove distractions. Focus on what matters for learning.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398000" y="3873500"/>
            <a:ext cx="6096000" cy="1905000"/>
          </a:xfrm>
          <a:prstGeom prst="roundRect">
            <a:avLst>
              <a:gd name="adj" fmla="val 6000"/>
            </a:avLst>
          </a:prstGeom>
          <a:solidFill>
            <a:srgbClr val="F0EBE3"/>
          </a:solidFill>
          <a:ln/>
        </p:spPr>
      </p:sp>
      <p:sp>
        <p:nvSpPr>
          <p:cNvPr id="19" name="Shape 17"/>
          <p:cNvSpPr/>
          <p:nvPr/>
        </p:nvSpPr>
        <p:spPr>
          <a:xfrm>
            <a:off x="9747250" y="4191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95250" y="95250"/>
                </a:moveTo>
                <a:cubicBezTo>
                  <a:pt x="95250" y="60226"/>
                  <a:pt x="123726" y="31750"/>
                  <a:pt x="158750" y="31750"/>
                </a:cubicBezTo>
                <a:lnTo>
                  <a:pt x="476250" y="31750"/>
                </a:lnTo>
                <a:cubicBezTo>
                  <a:pt x="511274" y="31750"/>
                  <a:pt x="539750" y="60226"/>
                  <a:pt x="539750" y="95250"/>
                </a:cubicBezTo>
                <a:lnTo>
                  <a:pt x="539750" y="349250"/>
                </a:lnTo>
                <a:cubicBezTo>
                  <a:pt x="539750" y="384274"/>
                  <a:pt x="511274" y="412750"/>
                  <a:pt x="476250" y="412750"/>
                </a:cubicBezTo>
                <a:lnTo>
                  <a:pt x="158750" y="412750"/>
                </a:lnTo>
                <a:cubicBezTo>
                  <a:pt x="123726" y="412750"/>
                  <a:pt x="95250" y="384274"/>
                  <a:pt x="95250" y="349250"/>
                </a:cubicBezTo>
                <a:lnTo>
                  <a:pt x="95250" y="95250"/>
                </a:lnTo>
                <a:close/>
                <a:moveTo>
                  <a:pt x="23812" y="127000"/>
                </a:moveTo>
                <a:cubicBezTo>
                  <a:pt x="37009" y="127000"/>
                  <a:pt x="47625" y="137616"/>
                  <a:pt x="47625" y="150813"/>
                </a:cubicBezTo>
                <a:lnTo>
                  <a:pt x="47625" y="444500"/>
                </a:lnTo>
                <a:cubicBezTo>
                  <a:pt x="47625" y="453231"/>
                  <a:pt x="54769" y="460375"/>
                  <a:pt x="63500" y="460375"/>
                </a:cubicBezTo>
                <a:lnTo>
                  <a:pt x="420688" y="460375"/>
                </a:lnTo>
                <a:cubicBezTo>
                  <a:pt x="433884" y="460375"/>
                  <a:pt x="444500" y="470991"/>
                  <a:pt x="444500" y="484187"/>
                </a:cubicBezTo>
                <a:cubicBezTo>
                  <a:pt x="444500" y="497384"/>
                  <a:pt x="433884" y="508000"/>
                  <a:pt x="420688" y="508000"/>
                </a:cubicBezTo>
                <a:lnTo>
                  <a:pt x="63500" y="508000"/>
                </a:lnTo>
                <a:cubicBezTo>
                  <a:pt x="28476" y="508000"/>
                  <a:pt x="0" y="479524"/>
                  <a:pt x="0" y="444500"/>
                </a:cubicBezTo>
                <a:lnTo>
                  <a:pt x="0" y="150813"/>
                </a:lnTo>
                <a:cubicBezTo>
                  <a:pt x="0" y="137616"/>
                  <a:pt x="10616" y="127000"/>
                  <a:pt x="23812" y="127000"/>
                </a:cubicBezTo>
                <a:close/>
                <a:moveTo>
                  <a:pt x="190500" y="158750"/>
                </a:moveTo>
                <a:cubicBezTo>
                  <a:pt x="208023" y="158750"/>
                  <a:pt x="222250" y="144523"/>
                  <a:pt x="222250" y="127000"/>
                </a:cubicBezTo>
                <a:cubicBezTo>
                  <a:pt x="222250" y="109477"/>
                  <a:pt x="208023" y="95250"/>
                  <a:pt x="190500" y="95250"/>
                </a:cubicBezTo>
                <a:cubicBezTo>
                  <a:pt x="172977" y="95250"/>
                  <a:pt x="158750" y="109477"/>
                  <a:pt x="158750" y="127000"/>
                </a:cubicBezTo>
                <a:cubicBezTo>
                  <a:pt x="158750" y="144523"/>
                  <a:pt x="172977" y="158750"/>
                  <a:pt x="190500" y="158750"/>
                </a:cubicBezTo>
                <a:close/>
                <a:moveTo>
                  <a:pt x="385465" y="170160"/>
                </a:moveTo>
                <a:cubicBezTo>
                  <a:pt x="381099" y="163116"/>
                  <a:pt x="373459" y="158750"/>
                  <a:pt x="365125" y="158750"/>
                </a:cubicBezTo>
                <a:cubicBezTo>
                  <a:pt x="356791" y="158750"/>
                  <a:pt x="349151" y="163116"/>
                  <a:pt x="344785" y="170160"/>
                </a:cubicBezTo>
                <a:lnTo>
                  <a:pt x="288925" y="261541"/>
                </a:lnTo>
                <a:lnTo>
                  <a:pt x="264616" y="231180"/>
                </a:lnTo>
                <a:cubicBezTo>
                  <a:pt x="260052" y="225524"/>
                  <a:pt x="253305" y="222250"/>
                  <a:pt x="246063" y="222250"/>
                </a:cubicBezTo>
                <a:cubicBezTo>
                  <a:pt x="238820" y="222250"/>
                  <a:pt x="231973" y="225524"/>
                  <a:pt x="227509" y="231180"/>
                </a:cubicBezTo>
                <a:lnTo>
                  <a:pt x="164009" y="310555"/>
                </a:lnTo>
                <a:cubicBezTo>
                  <a:pt x="158254" y="317698"/>
                  <a:pt x="157163" y="327521"/>
                  <a:pt x="161131" y="335756"/>
                </a:cubicBezTo>
                <a:cubicBezTo>
                  <a:pt x="165100" y="343991"/>
                  <a:pt x="173434" y="349250"/>
                  <a:pt x="182563" y="349250"/>
                </a:cubicBezTo>
                <a:lnTo>
                  <a:pt x="452437" y="349250"/>
                </a:lnTo>
                <a:cubicBezTo>
                  <a:pt x="461070" y="349250"/>
                  <a:pt x="469007" y="344587"/>
                  <a:pt x="473174" y="337046"/>
                </a:cubicBezTo>
                <a:cubicBezTo>
                  <a:pt x="477341" y="329505"/>
                  <a:pt x="477242" y="320377"/>
                  <a:pt x="472678" y="312936"/>
                </a:cubicBezTo>
                <a:lnTo>
                  <a:pt x="385366" y="170061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0" y="4191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Models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77500" y="4635500"/>
            <a:ext cx="469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and visuals are a team. Keep them close, keep them simple, avoid redundancy.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398000" y="6032500"/>
            <a:ext cx="6096000" cy="1905000"/>
          </a:xfrm>
          <a:prstGeom prst="roundRect">
            <a:avLst>
              <a:gd name="adj" fmla="val 6000"/>
            </a:avLst>
          </a:prstGeom>
          <a:solidFill>
            <a:srgbClr val="E8F0E6"/>
          </a:solidFill>
          <a:ln/>
        </p:spPr>
      </p:sp>
      <p:sp>
        <p:nvSpPr>
          <p:cNvPr id="23" name="Shape 21"/>
          <p:cNvSpPr/>
          <p:nvPr/>
        </p:nvSpPr>
        <p:spPr>
          <a:xfrm>
            <a:off x="9779000" y="6350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0684" y="5159"/>
                </a:moveTo>
                <a:cubicBezTo>
                  <a:pt x="245467" y="-1687"/>
                  <a:pt x="262533" y="-1687"/>
                  <a:pt x="277316" y="5159"/>
                </a:cubicBezTo>
                <a:lnTo>
                  <a:pt x="494209" y="105370"/>
                </a:lnTo>
                <a:cubicBezTo>
                  <a:pt x="502642" y="109240"/>
                  <a:pt x="508000" y="117673"/>
                  <a:pt x="508000" y="127000"/>
                </a:cubicBezTo>
                <a:cubicBezTo>
                  <a:pt x="508000" y="136327"/>
                  <a:pt x="502642" y="144760"/>
                  <a:pt x="494209" y="148630"/>
                </a:cubicBezTo>
                <a:lnTo>
                  <a:pt x="277316" y="248841"/>
                </a:lnTo>
                <a:cubicBezTo>
                  <a:pt x="262533" y="255687"/>
                  <a:pt x="245467" y="255687"/>
                  <a:pt x="230684" y="248841"/>
                </a:cubicBezTo>
                <a:lnTo>
                  <a:pt x="13791" y="148630"/>
                </a:lnTo>
                <a:cubicBezTo>
                  <a:pt x="5358" y="144661"/>
                  <a:pt x="0" y="136227"/>
                  <a:pt x="0" y="127000"/>
                </a:cubicBezTo>
                <a:cubicBezTo>
                  <a:pt x="0" y="117773"/>
                  <a:pt x="5358" y="109240"/>
                  <a:pt x="13791" y="105370"/>
                </a:cubicBezTo>
                <a:lnTo>
                  <a:pt x="230684" y="5159"/>
                </a:lnTo>
                <a:close/>
                <a:moveTo>
                  <a:pt x="47724" y="216694"/>
                </a:moveTo>
                <a:lnTo>
                  <a:pt x="210741" y="292001"/>
                </a:lnTo>
                <a:cubicBezTo>
                  <a:pt x="238224" y="304701"/>
                  <a:pt x="269875" y="304701"/>
                  <a:pt x="297359" y="292001"/>
                </a:cubicBezTo>
                <a:lnTo>
                  <a:pt x="460375" y="216694"/>
                </a:lnTo>
                <a:lnTo>
                  <a:pt x="494209" y="232370"/>
                </a:lnTo>
                <a:cubicBezTo>
                  <a:pt x="502642" y="236240"/>
                  <a:pt x="508000" y="244673"/>
                  <a:pt x="508000" y="254000"/>
                </a:cubicBezTo>
                <a:cubicBezTo>
                  <a:pt x="508000" y="263327"/>
                  <a:pt x="502642" y="271760"/>
                  <a:pt x="494209" y="275630"/>
                </a:cubicBezTo>
                <a:lnTo>
                  <a:pt x="277316" y="375841"/>
                </a:lnTo>
                <a:cubicBezTo>
                  <a:pt x="262533" y="382687"/>
                  <a:pt x="245467" y="382687"/>
                  <a:pt x="230684" y="375841"/>
                </a:cubicBezTo>
                <a:lnTo>
                  <a:pt x="13791" y="275630"/>
                </a:lnTo>
                <a:cubicBezTo>
                  <a:pt x="5358" y="271661"/>
                  <a:pt x="0" y="263227"/>
                  <a:pt x="0" y="254000"/>
                </a:cubicBezTo>
                <a:cubicBezTo>
                  <a:pt x="0" y="244773"/>
                  <a:pt x="5358" y="236240"/>
                  <a:pt x="13791" y="232370"/>
                </a:cubicBezTo>
                <a:lnTo>
                  <a:pt x="47625" y="216694"/>
                </a:lnTo>
                <a:close/>
                <a:moveTo>
                  <a:pt x="13791" y="359370"/>
                </a:moveTo>
                <a:lnTo>
                  <a:pt x="47625" y="343694"/>
                </a:lnTo>
                <a:lnTo>
                  <a:pt x="210641" y="419001"/>
                </a:lnTo>
                <a:cubicBezTo>
                  <a:pt x="238125" y="431701"/>
                  <a:pt x="269776" y="431701"/>
                  <a:pt x="297259" y="419001"/>
                </a:cubicBezTo>
                <a:lnTo>
                  <a:pt x="460276" y="343694"/>
                </a:lnTo>
                <a:lnTo>
                  <a:pt x="494109" y="359370"/>
                </a:lnTo>
                <a:cubicBezTo>
                  <a:pt x="502543" y="363240"/>
                  <a:pt x="507901" y="371673"/>
                  <a:pt x="507901" y="381000"/>
                </a:cubicBezTo>
                <a:cubicBezTo>
                  <a:pt x="507901" y="390327"/>
                  <a:pt x="502543" y="398760"/>
                  <a:pt x="494109" y="402630"/>
                </a:cubicBezTo>
                <a:lnTo>
                  <a:pt x="277217" y="502841"/>
                </a:lnTo>
                <a:cubicBezTo>
                  <a:pt x="262434" y="509687"/>
                  <a:pt x="245368" y="509687"/>
                  <a:pt x="230584" y="502841"/>
                </a:cubicBezTo>
                <a:lnTo>
                  <a:pt x="13791" y="402630"/>
                </a:lnTo>
                <a:cubicBezTo>
                  <a:pt x="5358" y="398661"/>
                  <a:pt x="0" y="390227"/>
                  <a:pt x="0" y="381000"/>
                </a:cubicBezTo>
                <a:cubicBezTo>
                  <a:pt x="0" y="371773"/>
                  <a:pt x="5358" y="363240"/>
                  <a:pt x="13791" y="359370"/>
                </a:cubicBezTo>
                <a:close/>
              </a:path>
            </a:pathLst>
          </a:custGeom>
          <a:solidFill>
            <a:srgbClr val="1B6B5C"/>
          </a:solidFill>
          <a:ln/>
        </p:spPr>
      </p:sp>
      <p:sp>
        <p:nvSpPr>
          <p:cNvPr id="24" name="Text 22"/>
          <p:cNvSpPr/>
          <p:nvPr/>
        </p:nvSpPr>
        <p:spPr>
          <a:xfrm>
            <a:off x="10477500" y="6350000"/>
            <a:ext cx="4699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B6B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4C/ID Model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477500" y="6794500"/>
            <a:ext cx="469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A2A2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tasks, supportive info, just-in-time guidance, and repeated practice.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763000"/>
            <a:ext cx="50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100" spc="100" kern="0" dirty="0">
                <a:solidFill>
                  <a:srgbClr val="8C7E6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2000" y="8763000"/>
            <a:ext cx="762000" cy="38100"/>
          </a:xfrm>
          <a:prstGeom prst="rect">
            <a:avLst/>
          </a:prstGeom>
          <a:solidFill>
            <a:srgbClr val="1B6B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74bepel63lr2/mnt/agents/output/multimedia-learning-theories/images/4_Educational_Journey_Steps_Learn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34A40">
                  <a:alpha val="90000"/>
                </a:srgbClr>
              </a:gs>
              <a:gs pos="50000">
                <a:srgbClr val="134A40">
                  <a:alpha val="80000"/>
                </a:srgbClr>
              </a:gs>
              <a:gs pos="100000">
                <a:srgbClr val="134A40">
                  <a:alpha val="7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2540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spc="100" kern="0" dirty="0">
                <a:solidFill>
                  <a:srgbClr val="FFFFFF">
                    <a:alpha val="50196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03 · LECTURES 5 &amp; 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778000" y="3048000"/>
            <a:ext cx="1270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4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BETTER. TEACH BETTER.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858000" y="4127500"/>
            <a:ext cx="254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4"/>
          <p:cNvSpPr/>
          <p:nvPr/>
        </p:nvSpPr>
        <p:spPr>
          <a:xfrm>
            <a:off x="2413000" y="4381500"/>
            <a:ext cx="1143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Apply these theories to create multimedia that truly helps learners learn.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83000" y="5461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i="1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 Start with the learner, not the content.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0" y="6350000"/>
            <a:ext cx="2286000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>
                <a:alpha val="37647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6413500"/>
            <a:ext cx="228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It Simple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985000" y="6350000"/>
            <a:ext cx="2286000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>
                <a:alpha val="37647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85000" y="6413500"/>
            <a:ext cx="228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Visuals + Text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398000" y="6350000"/>
            <a:ext cx="2286000" cy="571500"/>
          </a:xfrm>
          <a:prstGeom prst="roundRect">
            <a:avLst>
              <a:gd name="adj" fmla="val 10000"/>
            </a:avLst>
          </a:prstGeom>
          <a:solidFill>
            <a:srgbClr val="FFFFFF">
              <a:alpha val="12549"/>
            </a:srgbClr>
          </a:solidFill>
          <a:ln w="12700">
            <a:solidFill>
              <a:srgbClr val="FFFFFF">
                <a:alpha val="37647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98000" y="6413500"/>
            <a:ext cx="228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 for Practice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318000" y="7874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37647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Cognitive Load Theory · Integrated Models · 4C/ID Model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Production – Implications of Learning Theories and Integrated Models</dc:title>
  <dc:subject>Multimedia Production – Implications of Learning Theories and Integrated Models</dc:subject>
  <dc:creator>Kimi</dc:creator>
  <cp:lastModifiedBy>Kimi</cp:lastModifiedBy>
  <cp:revision>1</cp:revision>
  <dcterms:created xsi:type="dcterms:W3CDTF">2026-04-26T18:21:29Z</dcterms:created>
  <dcterms:modified xsi:type="dcterms:W3CDTF">2026-04-26T18:21:29Z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{"Label":"Multimedia Production – Implications of Learning Theories and Integrated Models","ContentProducer":"001191110108MACG2KBH8F10000","ProduceID":"19dcb026-daf2-8b0f-8000-0000aa7f3a68","ReservedCode1":"","ContentPropagator":"001191110108MACG2KBH8F20000","PropagateID":"19dcb026-daf2-8b0f-8000-0000aa7f3a68","ReservedCode2":""}</vt:lpwstr>
  </property>
</Properties>
</file>