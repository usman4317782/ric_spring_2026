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1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Relationship Id="rId4" Type="http://schemas.openxmlformats.org/officeDocument/2006/relationships/custom-properties" Target="docProps/custom.xml" 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notesMasterIdLst>
    <p:notesMasterId r:id="rId30"/>
  </p:notesMasterIdLst>
  <p:sldSz cx="16256000" cy="9144000"/>
  <p:notesSz cx="9144000" cy="16256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notesMaster" Target="notesMasters/notesMaster1.xml"/><Relationship Id="rId31" Type="http://schemas.openxmlformats.org/officeDocument/2006/relationships/presProps" Target="presProps.xml"/><Relationship Id="rId32" Type="http://schemas.openxmlformats.org/officeDocument/2006/relationships/viewProps" Target="viewProps.xml"/><Relationship Id="rId33" Type="http://schemas.openxmlformats.org/officeDocument/2006/relationships/theme" Target="theme/theme1.xml"/><Relationship Id="rId3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File Size (MB)</c:v>
                </c:pt>
              </c:strCache>
            </c:strRef>
          </c:tx>
          <c:spPr>
            <a:solidFill>
              <a:srgbClr val="FF7F5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WAV</c:v>
                  </c:pt>
                  <c:pt idx="1">
                    <c:v>FLAC</c:v>
                  </c:pt>
                  <c:pt idx="2">
                    <c:v>MP3 320</c:v>
                  </c:pt>
                  <c:pt idx="3">
                    <c:v>MP3 128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30</c:v>
                </c:pt>
                <c:pt idx="1">
                  <c:v>18</c:v>
                </c:pt>
                <c:pt idx="2">
                  <c:v>7</c:v>
                </c:pt>
                <c:pt idx="3">
                  <c:v>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0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3C4A5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majorGridlines>
          <c:spPr>
            <a:ln w="12700" cap="flat">
              <a:solidFill>
                <a:srgbClr val="E0E6F1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80000" cy="3810000"/>
          </a:xfrm>
          <a:custGeom>
            <a:avLst/>
            <a:gdLst/>
            <a:ahLst/>
            <a:cxnLst/>
            <a:rect l="l" t="t" r="r" b="b"/>
            <a:pathLst>
              <a:path w="5080000" h="3810000">
                <a:moveTo>
                  <a:pt x="0" y="0"/>
                </a:moveTo>
                <a:lnTo>
                  <a:pt x="5080000" y="0"/>
                </a:lnTo>
                <a:lnTo>
                  <a:pt x="5080000" y="1905000"/>
                </a:lnTo>
                <a:quadBezTo>
                  <a:pt x="4445000" y="2540000"/>
                  <a:pt x="3810000" y="2540000"/>
                </a:quadBezTo>
                <a:lnTo>
                  <a:pt x="1270000" y="2540000"/>
                </a:lnTo>
                <a:quadBezTo>
                  <a:pt x="635000" y="2540000"/>
                  <a:pt x="0" y="1905000"/>
                </a:quadBezTo>
                <a:close/>
              </a:path>
            </a:pathLst>
          </a:custGeom>
          <a:gradFill rotWithShape="1" flip="none">
            <a:gsLst>
              <a:gs pos="0">
                <a:srgbClr val="2E5E8A"/>
              </a:gs>
              <a:gs pos="50000">
                <a:srgbClr val="D0E0E3"/>
              </a:gs>
              <a:gs pos="100000">
                <a:srgbClr val="D0E0E3">
                  <a:alpha val="13000"/>
                </a:srgbClr>
              </a:gs>
            </a:gsLst>
            <a:lin ang="8100000" scaled="1"/>
          </a:gradFill>
          <a:ln/>
        </p:spPr>
      </p:sp>
      <p:sp>
        <p:nvSpPr>
          <p:cNvPr id="3" name="Shape 1"/>
          <p:cNvSpPr/>
          <p:nvPr/>
        </p:nvSpPr>
        <p:spPr>
          <a:xfrm>
            <a:off x="11176000" y="6604000"/>
            <a:ext cx="5080000" cy="2540000"/>
          </a:xfrm>
          <a:custGeom>
            <a:avLst/>
            <a:gdLst/>
            <a:ahLst/>
            <a:cxnLst/>
            <a:rect l="l" t="t" r="r" b="b"/>
            <a:pathLst>
              <a:path w="5080000" h="2540000">
                <a:moveTo>
                  <a:pt x="5080000" y="2540000"/>
                </a:moveTo>
                <a:lnTo>
                  <a:pt x="0" y="2540000"/>
                </a:lnTo>
                <a:lnTo>
                  <a:pt x="0" y="1270000"/>
                </a:lnTo>
                <a:quadBezTo>
                  <a:pt x="635000" y="635000"/>
                  <a:pt x="1270000" y="635000"/>
                </a:quadBezTo>
                <a:lnTo>
                  <a:pt x="3810000" y="635000"/>
                </a:lnTo>
                <a:quadBezTo>
                  <a:pt x="4445000" y="635000"/>
                  <a:pt x="5080000" y="1270000"/>
                </a:quadBezTo>
                <a:close/>
              </a:path>
            </a:pathLst>
          </a:custGeom>
          <a:gradFill rotWithShape="1" flip="none">
            <a:gsLst>
              <a:gs pos="0">
                <a:srgbClr val="D0E0E3">
                  <a:alpha val="25000"/>
                </a:srgbClr>
              </a:gs>
              <a:gs pos="50000">
                <a:srgbClr val="D0E0E3"/>
              </a:gs>
              <a:gs pos="100000">
                <a:srgbClr val="D0D6DC"/>
              </a:gs>
            </a:gsLst>
            <a:lin ang="18900000" scaled="1"/>
          </a:gradFill>
          <a:ln/>
        </p:spPr>
      </p:sp>
      <p:sp>
        <p:nvSpPr>
          <p:cNvPr id="4" name="Text 2"/>
          <p:cNvSpPr/>
          <p:nvPr/>
        </p:nvSpPr>
        <p:spPr>
          <a:xfrm>
            <a:off x="1778000" y="2794000"/>
            <a:ext cx="12700000" cy="1143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6800" b="1" spc="100" kern="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Creating Multimedia Using</a:t>
            </a:r>
            <a:endParaRPr lang="en-US" sz="6800" dirty="0"/>
          </a:p>
        </p:txBody>
      </p:sp>
      <p:sp>
        <p:nvSpPr>
          <p:cNvPr id="5" name="Text 3"/>
          <p:cNvSpPr/>
          <p:nvPr/>
        </p:nvSpPr>
        <p:spPr>
          <a:xfrm>
            <a:off x="1778000" y="3937000"/>
            <a:ext cx="12700000" cy="1143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6800" b="1" spc="100" kern="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Multimedia Tools</a:t>
            </a:r>
            <a:endParaRPr lang="en-US" sz="6800" dirty="0"/>
          </a:p>
        </p:txBody>
      </p:sp>
      <p:sp>
        <p:nvSpPr>
          <p:cNvPr id="6" name="Text 4"/>
          <p:cNvSpPr/>
          <p:nvPr/>
        </p:nvSpPr>
        <p:spPr>
          <a:xfrm>
            <a:off x="3048000" y="5334000"/>
            <a:ext cx="1016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8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 Comprehensive Guide for Professionals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6858000" y="6096000"/>
            <a:ext cx="2540000" cy="25400"/>
          </a:xfrm>
          <a:prstGeom prst="rect">
            <a:avLst/>
          </a:prstGeom>
          <a:solidFill>
            <a:srgbClr val="6B9CBF">
              <a:alpha val="5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4318000" y="6477000"/>
            <a:ext cx="762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L21 &amp; L22 · Multimedia Creation Workshop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70000" y="1016000"/>
            <a:ext cx="5080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Contents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10160000" y="1270000"/>
            <a:ext cx="4826000" cy="6350000"/>
          </a:xfrm>
          <a:custGeom>
            <a:avLst/>
            <a:gdLst/>
            <a:ahLst/>
            <a:cxnLst/>
            <a:rect l="l" t="t" r="r" b="b"/>
            <a:pathLst>
              <a:path w="4826000" h="6350000">
                <a:moveTo>
                  <a:pt x="4826000" y="0"/>
                </a:moveTo>
                <a:lnTo>
                  <a:pt x="4826000" y="6350000"/>
                </a:lnTo>
                <a:lnTo>
                  <a:pt x="2413000" y="6350000"/>
                </a:lnTo>
                <a:quadBezTo>
                  <a:pt x="1778000" y="6350000"/>
                  <a:pt x="1143000" y="5715000"/>
                </a:quadBezTo>
                <a:lnTo>
                  <a:pt x="1143000" y="635000"/>
                </a:lnTo>
                <a:quadBezTo>
                  <a:pt x="1143000" y="0"/>
                  <a:pt x="1778000" y="0"/>
                </a:quadBezTo>
                <a:close/>
              </a:path>
            </a:pathLst>
          </a:custGeom>
          <a:gradFill rotWithShape="1" flip="none">
            <a:gsLst>
              <a:gs pos="0">
                <a:srgbClr val="D0E0E3">
                  <a:alpha val="6000"/>
                </a:srgbClr>
              </a:gs>
              <a:gs pos="70000">
                <a:srgbClr val="D0E0E3"/>
              </a:gs>
              <a:gs pos="100000">
                <a:srgbClr val="2E5E8A">
                  <a:alpha val="8000"/>
                </a:srgbClr>
              </a:gs>
            </a:gsLst>
            <a:lin ang="10800000" scaled="1"/>
          </a:gradFill>
          <a:ln/>
        </p:spPr>
      </p:sp>
      <p:sp>
        <p:nvSpPr>
          <p:cNvPr id="4" name="Shape 2"/>
          <p:cNvSpPr/>
          <p:nvPr/>
        </p:nvSpPr>
        <p:spPr>
          <a:xfrm>
            <a:off x="1524000" y="2286000"/>
            <a:ext cx="508000" cy="508000"/>
          </a:xfrm>
          <a:prstGeom prst="ellipse">
            <a:avLst/>
          </a:prstGeom>
          <a:solidFill>
            <a:srgbClr val="FF7F50"/>
          </a:solidFill>
          <a:ln/>
        </p:spPr>
      </p:sp>
      <p:sp>
        <p:nvSpPr>
          <p:cNvPr id="5" name="Text 3"/>
          <p:cNvSpPr/>
          <p:nvPr/>
        </p:nvSpPr>
        <p:spPr>
          <a:xfrm>
            <a:off x="1524000" y="2286000"/>
            <a:ext cx="508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2286000" y="2286000"/>
            <a:ext cx="635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60000"/>
              </a:lnSpc>
            </a:pPr>
            <a:r>
              <a:rPr lang="en-US" sz="22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Introduction to Multimedia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1524000" y="3175000"/>
            <a:ext cx="508000" cy="508000"/>
          </a:xfrm>
          <a:prstGeom prst="ellipse">
            <a:avLst/>
          </a:prstGeom>
          <a:solidFill>
            <a:srgbClr val="FF7F50"/>
          </a:solidFill>
          <a:ln/>
        </p:spPr>
      </p:sp>
      <p:sp>
        <p:nvSpPr>
          <p:cNvPr id="8" name="Text 6"/>
          <p:cNvSpPr/>
          <p:nvPr/>
        </p:nvSpPr>
        <p:spPr>
          <a:xfrm>
            <a:off x="1460500" y="3175000"/>
            <a:ext cx="635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02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2286000" y="3175000"/>
            <a:ext cx="635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60000"/>
              </a:lnSpc>
            </a:pPr>
            <a:r>
              <a:rPr lang="en-US" sz="22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Creating Multimedia Text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1524000" y="4064000"/>
            <a:ext cx="508000" cy="508000"/>
          </a:xfrm>
          <a:prstGeom prst="ellipse">
            <a:avLst/>
          </a:prstGeom>
          <a:solidFill>
            <a:srgbClr val="FF7F50"/>
          </a:solidFill>
          <a:ln/>
        </p:spPr>
      </p:sp>
      <p:sp>
        <p:nvSpPr>
          <p:cNvPr id="11" name="Text 9"/>
          <p:cNvSpPr/>
          <p:nvPr/>
        </p:nvSpPr>
        <p:spPr>
          <a:xfrm>
            <a:off x="1460500" y="4064000"/>
            <a:ext cx="635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03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2286000" y="4064000"/>
            <a:ext cx="635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60000"/>
              </a:lnSpc>
            </a:pPr>
            <a:r>
              <a:rPr lang="en-US" sz="22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Creating Multimedia Sound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1524000" y="4953000"/>
            <a:ext cx="508000" cy="508000"/>
          </a:xfrm>
          <a:prstGeom prst="ellipse">
            <a:avLst/>
          </a:prstGeom>
          <a:solidFill>
            <a:srgbClr val="FF7F50"/>
          </a:solidFill>
          <a:ln/>
        </p:spPr>
      </p:sp>
      <p:sp>
        <p:nvSpPr>
          <p:cNvPr id="14" name="Text 12"/>
          <p:cNvSpPr/>
          <p:nvPr/>
        </p:nvSpPr>
        <p:spPr>
          <a:xfrm>
            <a:off x="1460500" y="4953000"/>
            <a:ext cx="635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04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2286000" y="4953000"/>
            <a:ext cx="635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60000"/>
              </a:lnSpc>
            </a:pPr>
            <a:r>
              <a:rPr lang="en-US" sz="22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Creating Multimedia Images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1524000" y="5842000"/>
            <a:ext cx="508000" cy="508000"/>
          </a:xfrm>
          <a:prstGeom prst="ellipse">
            <a:avLst/>
          </a:prstGeom>
          <a:solidFill>
            <a:srgbClr val="FF7F50"/>
          </a:solidFill>
          <a:ln/>
        </p:spPr>
      </p:sp>
      <p:sp>
        <p:nvSpPr>
          <p:cNvPr id="17" name="Text 15"/>
          <p:cNvSpPr/>
          <p:nvPr/>
        </p:nvSpPr>
        <p:spPr>
          <a:xfrm>
            <a:off x="1460500" y="5842000"/>
            <a:ext cx="635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05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2286000" y="5842000"/>
            <a:ext cx="635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60000"/>
              </a:lnSpc>
            </a:pPr>
            <a:r>
              <a:rPr lang="en-US" sz="22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Creating Multimedia Video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1524000" y="6731000"/>
            <a:ext cx="508000" cy="508000"/>
          </a:xfrm>
          <a:prstGeom prst="ellipse">
            <a:avLst/>
          </a:prstGeom>
          <a:solidFill>
            <a:srgbClr val="FF7F50"/>
          </a:solidFill>
          <a:ln/>
        </p:spPr>
      </p:sp>
      <p:sp>
        <p:nvSpPr>
          <p:cNvPr id="20" name="Text 18"/>
          <p:cNvSpPr/>
          <p:nvPr/>
        </p:nvSpPr>
        <p:spPr>
          <a:xfrm>
            <a:off x="1460500" y="6731000"/>
            <a:ext cx="635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06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2286000" y="6731000"/>
            <a:ext cx="635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60000"/>
              </a:lnSpc>
            </a:pPr>
            <a:r>
              <a:rPr lang="en-US" sz="22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Creating Multimedia Animation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14986000" y="8509000"/>
            <a:ext cx="101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02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E5E8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540000"/>
            <a:ext cx="16256000" cy="4064000"/>
          </a:xfrm>
          <a:custGeom>
            <a:avLst/>
            <a:gdLst/>
            <a:ahLst/>
            <a:cxnLst/>
            <a:rect l="l" t="t" r="r" b="b"/>
            <a:pathLst>
              <a:path w="16256000" h="4064000">
                <a:moveTo>
                  <a:pt x="0" y="2032000"/>
                </a:moveTo>
                <a:quadBezTo>
                  <a:pt x="4064000" y="0"/>
                  <a:pt x="8128000" y="0"/>
                </a:quadBezTo>
                <a:quadBezTo>
                  <a:pt x="12192000" y="0"/>
                  <a:pt x="16256000" y="2032000"/>
                </a:quadBezTo>
                <a:lnTo>
                  <a:pt x="16256000" y="4064000"/>
                </a:lnTo>
                <a:lnTo>
                  <a:pt x="0" y="4064000"/>
                </a:lnTo>
                <a:close/>
              </a:path>
            </a:pathLst>
          </a:custGeom>
          <a:gradFill rotWithShape="1" flip="none">
            <a:gsLst>
              <a:gs pos="0">
                <a:srgbClr val="D0E0E3"/>
              </a:gs>
              <a:gs pos="50000">
                <a:srgbClr val="D0E0E3">
                  <a:alpha val="31000"/>
                </a:srgbClr>
              </a:gs>
              <a:gs pos="100000">
                <a:srgbClr val="2E5E8A">
                  <a:alpha val="19000"/>
                </a:srgbClr>
              </a:gs>
            </a:gsLst>
            <a:lin ang="5400000" scaled="1"/>
          </a:gradFill>
          <a:ln/>
        </p:spPr>
      </p:sp>
      <p:sp>
        <p:nvSpPr>
          <p:cNvPr id="3" name="Text 1"/>
          <p:cNvSpPr/>
          <p:nvPr/>
        </p:nvSpPr>
        <p:spPr>
          <a:xfrm>
            <a:off x="1270000" y="3175000"/>
            <a:ext cx="2540000" cy="1016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72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01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4318000" y="3048000"/>
            <a:ext cx="10160000" cy="1016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6000" dirty="0">
                <a:solidFill>
                  <a:srgbClr val="FCFDF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Introduction to Multimedia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4318000" y="43180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dirty="0">
                <a:solidFill>
                  <a:srgbClr val="FCFDF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Understanding foundations and the role of multimedia in professional communication</a:t>
            </a:r>
            <a:endParaRPr lang="en-US" sz="2200" dirty="0"/>
          </a:p>
        </p:txBody>
      </p:sp>
    </p:spTree>
  </p:cSld>
  <p:clrMapOvr>
    <a:masterClrMapping/>
  </p:clrMapOvr>
  <p:transition>
    <p:fade/>
    <p:spd val="med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70000" y="762000"/>
            <a:ext cx="1270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What is Multimedia? Definition and Evolution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1270000" y="1524000"/>
            <a:ext cx="13716000" cy="12700"/>
          </a:xfrm>
          <a:prstGeom prst="rect">
            <a:avLst/>
          </a:prstGeom>
          <a:solidFill>
            <a:srgbClr val="D0D6DC"/>
          </a:solidFill>
          <a:ln/>
        </p:spPr>
      </p:sp>
      <p:sp>
        <p:nvSpPr>
          <p:cNvPr id="4" name="Text 2"/>
          <p:cNvSpPr/>
          <p:nvPr/>
        </p:nvSpPr>
        <p:spPr>
          <a:xfrm>
            <a:off x="1270000" y="1714500"/>
            <a:ext cx="6604000" cy="673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20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Multimedia Defined</a:t>
            </a:r>
            <a:endParaRPr lang="en-US" sz="2000" dirty="0"/>
          </a:p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Integration of multiple content forms (text, audio, images, video, animation) into a single cohesive presentation.</a:t>
            </a:r>
            <a:endParaRPr lang="en-US" sz="2000" dirty="0"/>
          </a:p>
          <a:p>
            <a:pPr algn="l">
              <a:lnSpc>
                <a:spcPct val="160000"/>
              </a:lnSpc>
              <a:spcBef>
                <a:spcPts val="1600"/>
              </a:spcBef>
            </a:pPr>
            <a:r>
              <a:rPr lang="en-US" sz="20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Evolution Timeline</a:t>
            </a:r>
            <a:endParaRPr lang="en-US" sz="2000" dirty="0"/>
          </a:p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</a:t>
            </a:r>
            <a:pPr algn="l">
              <a:lnSpc>
                <a:spcPct val="160000"/>
              </a:lnSpc>
            </a:pPr>
            <a:r>
              <a:rPr lang="en-US" sz="20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1990s</a:t>
            </a:r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CD-ROM era — interactive encyclopedias</a:t>
            </a:r>
            <a:endParaRPr lang="en-US" sz="2000" dirty="0"/>
          </a:p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</a:t>
            </a:r>
            <a:pPr algn="l">
              <a:lnSpc>
                <a:spcPct val="160000"/>
              </a:lnSpc>
            </a:pPr>
            <a:r>
              <a:rPr lang="en-US" sz="20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2000s</a:t>
            </a:r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Web 2.0 — Flash, YouTube, streaming</a:t>
            </a:r>
            <a:endParaRPr lang="en-US" sz="2000" dirty="0"/>
          </a:p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</a:t>
            </a:r>
            <a:pPr algn="l">
              <a:lnSpc>
                <a:spcPct val="160000"/>
              </a:lnSpc>
            </a:pPr>
            <a:r>
              <a:rPr lang="en-US" sz="20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2010s</a:t>
            </a:r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Mobile-first — responsive, social media</a:t>
            </a:r>
            <a:endParaRPr lang="en-US" sz="2000" dirty="0"/>
          </a:p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</a:t>
            </a:r>
            <a:pPr algn="l">
              <a:lnSpc>
                <a:spcPct val="160000"/>
              </a:lnSpc>
            </a:pPr>
            <a:r>
              <a:rPr lang="en-US" sz="20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2020s</a:t>
            </a:r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AI-powered — generative content, personalization</a:t>
            </a:r>
            <a:endParaRPr lang="en-US" sz="2000" dirty="0"/>
          </a:p>
          <a:p>
            <a:pPr algn="l">
              <a:lnSpc>
                <a:spcPct val="160000"/>
              </a:lnSpc>
              <a:spcBef>
                <a:spcPts val="1600"/>
              </a:spcBef>
            </a:pPr>
            <a:r>
              <a:rPr lang="en-US" sz="20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Shift</a:t>
            </a:r>
            <a:endParaRPr lang="en-US" sz="2000" dirty="0"/>
          </a:p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From passive consumption to </a:t>
            </a:r>
            <a:pPr algn="l">
              <a:lnSpc>
                <a:spcPct val="160000"/>
              </a:lnSpc>
            </a:pPr>
            <a:r>
              <a:rPr lang="en-US" sz="20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interactive, immersive</a:t>
            </a:r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experiences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8382000" y="1905000"/>
            <a:ext cx="6604000" cy="2794000"/>
          </a:xfrm>
          <a:prstGeom prst="roundRect">
            <a:avLst>
              <a:gd name="adj" fmla="val 12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52400" dist="50800" dir="5400000">
              <a:srgbClr val="000000">
                <a:alpha val="3137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382000" y="2095500"/>
            <a:ext cx="6604000" cy="1016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6000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91%</a:t>
            </a:r>
            <a:endParaRPr lang="en-US" sz="6000" dirty="0"/>
          </a:p>
        </p:txBody>
      </p:sp>
      <p:sp>
        <p:nvSpPr>
          <p:cNvPr id="7" name="Text 5"/>
          <p:cNvSpPr/>
          <p:nvPr/>
        </p:nvSpPr>
        <p:spPr>
          <a:xfrm>
            <a:off x="8382000" y="3175000"/>
            <a:ext cx="6604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of businesses use multimedia in communication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8382000" y="3683000"/>
            <a:ext cx="6604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Marketing, training, and internal communications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8382000" y="5080000"/>
            <a:ext cx="6604000" cy="2921000"/>
          </a:xfrm>
          <a:prstGeom prst="roundRect">
            <a:avLst>
              <a:gd name="adj" fmla="val 12000"/>
            </a:avLst>
          </a:prstGeom>
          <a:gradFill rotWithShape="1" flip="none">
            <a:gsLst>
              <a:gs pos="0">
                <a:srgbClr val="2E5E8A"/>
              </a:gs>
              <a:gs pos="100000">
                <a:srgbClr val="2E5E8A">
                  <a:alpha val="80000"/>
                </a:srgbClr>
              </a:gs>
            </a:gsLst>
            <a:lin ang="8100000" scaled="1"/>
          </a:gradFill>
          <a:ln/>
        </p:spPr>
      </p:sp>
      <p:sp>
        <p:nvSpPr>
          <p:cNvPr id="10" name="Text 8"/>
          <p:cNvSpPr/>
          <p:nvPr/>
        </p:nvSpPr>
        <p:spPr>
          <a:xfrm>
            <a:off x="8763000" y="5270500"/>
            <a:ext cx="5842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Professional Impact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8763000" y="5842000"/>
            <a:ext cx="5842000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Increases engagement by </a:t>
            </a:r>
            <a:pPr algn="l">
              <a:lnSpc>
                <a:spcPct val="160000"/>
              </a:lnSpc>
            </a:pPr>
            <a:r>
              <a:rPr lang="en-US" sz="18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3x</a:t>
            </a:r>
            <a:endParaRPr lang="en-US" sz="1800" dirty="0"/>
          </a:p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Improves information retention by </a:t>
            </a:r>
            <a:pPr algn="l">
              <a:lnSpc>
                <a:spcPct val="160000"/>
              </a:lnSpc>
            </a:pPr>
            <a:r>
              <a:rPr lang="en-US" sz="18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65%</a:t>
            </a:r>
            <a:endParaRPr lang="en-US" sz="1800" dirty="0"/>
          </a:p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Boosts conversion rates by </a:t>
            </a:r>
            <a:pPr algn="l">
              <a:lnSpc>
                <a:spcPct val="160000"/>
              </a:lnSpc>
            </a:pPr>
            <a:r>
              <a:rPr lang="en-US" sz="18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80%</a:t>
            </a:r>
            <a:endParaRPr lang="en-US" sz="1800" dirty="0"/>
          </a:p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Reduces training time by </a:t>
            </a:r>
            <a:pPr algn="l">
              <a:lnSpc>
                <a:spcPct val="160000"/>
              </a:lnSpc>
            </a:pPr>
            <a:r>
              <a:rPr lang="en-US" sz="18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40-60%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4986000" y="8509000"/>
            <a:ext cx="101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04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70000" y="762000"/>
            <a:ext cx="1016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Five Core Multimedia Elements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1270000" y="1524000"/>
            <a:ext cx="13716000" cy="12700"/>
          </a:xfrm>
          <a:prstGeom prst="rect">
            <a:avLst/>
          </a:prstGeom>
          <a:solidFill>
            <a:srgbClr val="D0D6DC"/>
          </a:solidFill>
          <a:ln/>
        </p:spPr>
      </p:sp>
      <p:sp>
        <p:nvSpPr>
          <p:cNvPr id="4" name="Shape 2"/>
          <p:cNvSpPr/>
          <p:nvPr/>
        </p:nvSpPr>
        <p:spPr>
          <a:xfrm>
            <a:off x="1270000" y="1905000"/>
            <a:ext cx="2540000" cy="3302000"/>
          </a:xfrm>
          <a:prstGeom prst="roundRect">
            <a:avLst>
              <a:gd name="adj" fmla="val 10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27000" dist="50800" dir="5400000">
              <a:srgbClr val="000000">
                <a:alpha val="3137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235200" y="21590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39447" y="60365"/>
                </a:moveTo>
                <a:cubicBezTo>
                  <a:pt x="333256" y="46792"/>
                  <a:pt x="319683" y="38100"/>
                  <a:pt x="304800" y="38100"/>
                </a:cubicBezTo>
                <a:cubicBezTo>
                  <a:pt x="289917" y="38100"/>
                  <a:pt x="276344" y="46792"/>
                  <a:pt x="270153" y="60365"/>
                </a:cubicBezTo>
                <a:lnTo>
                  <a:pt x="70842" y="495300"/>
                </a:lnTo>
                <a:lnTo>
                  <a:pt x="57150" y="495300"/>
                </a:lnTo>
                <a:cubicBezTo>
                  <a:pt x="36076" y="495300"/>
                  <a:pt x="19050" y="512326"/>
                  <a:pt x="19050" y="533400"/>
                </a:cubicBezTo>
                <a:cubicBezTo>
                  <a:pt x="19050" y="554474"/>
                  <a:pt x="36076" y="571500"/>
                  <a:pt x="57150" y="571500"/>
                </a:cubicBezTo>
                <a:lnTo>
                  <a:pt x="161925" y="571500"/>
                </a:lnTo>
                <a:cubicBezTo>
                  <a:pt x="182999" y="571500"/>
                  <a:pt x="200025" y="554474"/>
                  <a:pt x="200025" y="533400"/>
                </a:cubicBezTo>
                <a:cubicBezTo>
                  <a:pt x="200025" y="512326"/>
                  <a:pt x="182999" y="495300"/>
                  <a:pt x="161925" y="495300"/>
                </a:cubicBezTo>
                <a:lnTo>
                  <a:pt x="154662" y="495300"/>
                </a:lnTo>
                <a:lnTo>
                  <a:pt x="180856" y="438150"/>
                </a:lnTo>
                <a:lnTo>
                  <a:pt x="428863" y="438150"/>
                </a:lnTo>
                <a:lnTo>
                  <a:pt x="455057" y="495300"/>
                </a:lnTo>
                <a:lnTo>
                  <a:pt x="447794" y="495300"/>
                </a:lnTo>
                <a:cubicBezTo>
                  <a:pt x="426720" y="495300"/>
                  <a:pt x="409694" y="512326"/>
                  <a:pt x="409694" y="533400"/>
                </a:cubicBezTo>
                <a:cubicBezTo>
                  <a:pt x="409694" y="554474"/>
                  <a:pt x="426720" y="571500"/>
                  <a:pt x="447794" y="571500"/>
                </a:cubicBezTo>
                <a:lnTo>
                  <a:pt x="552569" y="571500"/>
                </a:lnTo>
                <a:cubicBezTo>
                  <a:pt x="573643" y="571500"/>
                  <a:pt x="590669" y="554474"/>
                  <a:pt x="590669" y="533400"/>
                </a:cubicBezTo>
                <a:cubicBezTo>
                  <a:pt x="590669" y="512326"/>
                  <a:pt x="573643" y="495300"/>
                  <a:pt x="552569" y="495300"/>
                </a:cubicBezTo>
                <a:lnTo>
                  <a:pt x="538877" y="495300"/>
                </a:lnTo>
                <a:lnTo>
                  <a:pt x="339566" y="60365"/>
                </a:lnTo>
                <a:close/>
                <a:moveTo>
                  <a:pt x="393859" y="361950"/>
                </a:moveTo>
                <a:lnTo>
                  <a:pt x="215741" y="361950"/>
                </a:lnTo>
                <a:lnTo>
                  <a:pt x="304800" y="167640"/>
                </a:lnTo>
                <a:lnTo>
                  <a:pt x="393859" y="361950"/>
                </a:lnTo>
                <a:close/>
              </a:path>
            </a:pathLst>
          </a:custGeom>
          <a:solidFill>
            <a:srgbClr val="2E5E8A"/>
          </a:solidFill>
          <a:ln/>
        </p:spPr>
      </p:sp>
      <p:sp>
        <p:nvSpPr>
          <p:cNvPr id="6" name="Text 4"/>
          <p:cNvSpPr/>
          <p:nvPr/>
        </p:nvSpPr>
        <p:spPr>
          <a:xfrm>
            <a:off x="1397000" y="2921000"/>
            <a:ext cx="228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2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Text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397000" y="3403600"/>
            <a:ext cx="2286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50000"/>
              </a:lnSpc>
            </a:pPr>
            <a:r>
              <a:rPr lang="en-US" sz="16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Titles, body copy, captions, annotations — the foundational element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064000" y="1905000"/>
            <a:ext cx="2540000" cy="3302000"/>
          </a:xfrm>
          <a:prstGeom prst="roundRect">
            <a:avLst>
              <a:gd name="adj" fmla="val 10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27000" dist="50800" dir="5400000">
              <a:srgbClr val="000000">
                <a:alpha val="3137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029200" y="21590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557213" y="8334"/>
                </a:moveTo>
                <a:cubicBezTo>
                  <a:pt x="566261" y="15597"/>
                  <a:pt x="571500" y="26551"/>
                  <a:pt x="571500" y="38100"/>
                </a:cubicBezTo>
                <a:lnTo>
                  <a:pt x="571500" y="400050"/>
                </a:lnTo>
                <a:cubicBezTo>
                  <a:pt x="571500" y="452676"/>
                  <a:pt x="520303" y="495300"/>
                  <a:pt x="457200" y="495300"/>
                </a:cubicBezTo>
                <a:cubicBezTo>
                  <a:pt x="394097" y="495300"/>
                  <a:pt x="342900" y="452676"/>
                  <a:pt x="342900" y="400050"/>
                </a:cubicBezTo>
                <a:cubicBezTo>
                  <a:pt x="342900" y="347424"/>
                  <a:pt x="394097" y="304800"/>
                  <a:pt x="457200" y="304800"/>
                </a:cubicBezTo>
                <a:cubicBezTo>
                  <a:pt x="470535" y="304800"/>
                  <a:pt x="483394" y="306705"/>
                  <a:pt x="495300" y="310277"/>
                </a:cubicBezTo>
                <a:lnTo>
                  <a:pt x="495300" y="171331"/>
                </a:lnTo>
                <a:lnTo>
                  <a:pt x="228600" y="230624"/>
                </a:lnTo>
                <a:lnTo>
                  <a:pt x="228600" y="476250"/>
                </a:lnTo>
                <a:cubicBezTo>
                  <a:pt x="228600" y="528876"/>
                  <a:pt x="177403" y="571500"/>
                  <a:pt x="114300" y="571500"/>
                </a:cubicBezTo>
                <a:cubicBezTo>
                  <a:pt x="51197" y="571500"/>
                  <a:pt x="0" y="528876"/>
                  <a:pt x="0" y="476250"/>
                </a:cubicBezTo>
                <a:cubicBezTo>
                  <a:pt x="0" y="423624"/>
                  <a:pt x="51197" y="381000"/>
                  <a:pt x="114300" y="381000"/>
                </a:cubicBezTo>
                <a:cubicBezTo>
                  <a:pt x="127635" y="381000"/>
                  <a:pt x="140494" y="382905"/>
                  <a:pt x="152400" y="386477"/>
                </a:cubicBezTo>
                <a:lnTo>
                  <a:pt x="152400" y="114300"/>
                </a:lnTo>
                <a:cubicBezTo>
                  <a:pt x="152400" y="96441"/>
                  <a:pt x="164783" y="80962"/>
                  <a:pt x="182285" y="77152"/>
                </a:cubicBezTo>
                <a:lnTo>
                  <a:pt x="525185" y="952"/>
                </a:lnTo>
                <a:cubicBezTo>
                  <a:pt x="536496" y="-1548"/>
                  <a:pt x="548283" y="1191"/>
                  <a:pt x="557332" y="8453"/>
                </a:cubicBezTo>
                <a:close/>
              </a:path>
            </a:pathLst>
          </a:custGeom>
          <a:solidFill>
            <a:srgbClr val="2E5E8A"/>
          </a:solidFill>
          <a:ln/>
        </p:spPr>
      </p:sp>
      <p:sp>
        <p:nvSpPr>
          <p:cNvPr id="10" name="Text 8"/>
          <p:cNvSpPr/>
          <p:nvPr/>
        </p:nvSpPr>
        <p:spPr>
          <a:xfrm>
            <a:off x="4191000" y="2921000"/>
            <a:ext cx="228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2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Sound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4191000" y="3403600"/>
            <a:ext cx="2286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50000"/>
              </a:lnSpc>
            </a:pPr>
            <a:r>
              <a:rPr lang="en-US" sz="16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Voiceovers, music, sound effects, ambient audio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858000" y="1905000"/>
            <a:ext cx="2540000" cy="3302000"/>
          </a:xfrm>
          <a:prstGeom prst="roundRect">
            <a:avLst>
              <a:gd name="adj" fmla="val 10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27000" dist="50800" dir="5400000">
              <a:srgbClr val="000000">
                <a:alpha val="3137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823200" y="21590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87086" y="38100"/>
                </a:moveTo>
                <a:cubicBezTo>
                  <a:pt x="39052" y="38100"/>
                  <a:pt x="0" y="72271"/>
                  <a:pt x="0" y="114300"/>
                </a:cubicBezTo>
                <a:lnTo>
                  <a:pt x="0" y="495300"/>
                </a:lnTo>
                <a:cubicBezTo>
                  <a:pt x="0" y="537329"/>
                  <a:pt x="39052" y="571500"/>
                  <a:pt x="87086" y="571500"/>
                </a:cubicBezTo>
                <a:lnTo>
                  <a:pt x="522514" y="571500"/>
                </a:lnTo>
                <a:cubicBezTo>
                  <a:pt x="570548" y="571500"/>
                  <a:pt x="609600" y="537329"/>
                  <a:pt x="609600" y="495300"/>
                </a:cubicBezTo>
                <a:lnTo>
                  <a:pt x="609600" y="114300"/>
                </a:lnTo>
                <a:cubicBezTo>
                  <a:pt x="609600" y="72271"/>
                  <a:pt x="570548" y="38100"/>
                  <a:pt x="522514" y="38100"/>
                </a:cubicBezTo>
                <a:lnTo>
                  <a:pt x="87086" y="38100"/>
                </a:lnTo>
                <a:close/>
                <a:moveTo>
                  <a:pt x="174171" y="133350"/>
                </a:moveTo>
                <a:cubicBezTo>
                  <a:pt x="210219" y="133350"/>
                  <a:pt x="239486" y="158958"/>
                  <a:pt x="239486" y="190500"/>
                </a:cubicBezTo>
                <a:cubicBezTo>
                  <a:pt x="239486" y="222042"/>
                  <a:pt x="210219" y="247650"/>
                  <a:pt x="174171" y="247650"/>
                </a:cubicBezTo>
                <a:cubicBezTo>
                  <a:pt x="138123" y="247650"/>
                  <a:pt x="108857" y="222042"/>
                  <a:pt x="108857" y="190500"/>
                </a:cubicBezTo>
                <a:cubicBezTo>
                  <a:pt x="108857" y="158958"/>
                  <a:pt x="138123" y="133350"/>
                  <a:pt x="174171" y="133350"/>
                </a:cubicBezTo>
                <a:close/>
                <a:moveTo>
                  <a:pt x="370114" y="266700"/>
                </a:moveTo>
                <a:cubicBezTo>
                  <a:pt x="381544" y="266700"/>
                  <a:pt x="392022" y="271939"/>
                  <a:pt x="398009" y="280392"/>
                </a:cubicBezTo>
                <a:lnTo>
                  <a:pt x="517752" y="451842"/>
                </a:lnTo>
                <a:cubicBezTo>
                  <a:pt x="523875" y="460653"/>
                  <a:pt x="524147" y="471726"/>
                  <a:pt x="518432" y="480774"/>
                </a:cubicBezTo>
                <a:cubicBezTo>
                  <a:pt x="512717" y="489823"/>
                  <a:pt x="501695" y="495300"/>
                  <a:pt x="489857" y="495300"/>
                </a:cubicBezTo>
                <a:lnTo>
                  <a:pt x="119743" y="495300"/>
                </a:lnTo>
                <a:cubicBezTo>
                  <a:pt x="107632" y="495300"/>
                  <a:pt x="96339" y="489347"/>
                  <a:pt x="90760" y="479941"/>
                </a:cubicBezTo>
                <a:cubicBezTo>
                  <a:pt x="85181" y="470535"/>
                  <a:pt x="85997" y="459105"/>
                  <a:pt x="92937" y="450413"/>
                </a:cubicBezTo>
                <a:lnTo>
                  <a:pt x="169137" y="355163"/>
                </a:lnTo>
                <a:cubicBezTo>
                  <a:pt x="175260" y="347543"/>
                  <a:pt x="185193" y="343019"/>
                  <a:pt x="195943" y="343019"/>
                </a:cubicBezTo>
                <a:cubicBezTo>
                  <a:pt x="206693" y="343019"/>
                  <a:pt x="216626" y="347543"/>
                  <a:pt x="222749" y="355163"/>
                </a:cubicBezTo>
                <a:lnTo>
                  <a:pt x="258672" y="400169"/>
                </a:lnTo>
                <a:lnTo>
                  <a:pt x="342220" y="280511"/>
                </a:lnTo>
                <a:cubicBezTo>
                  <a:pt x="348207" y="272058"/>
                  <a:pt x="358684" y="266819"/>
                  <a:pt x="370114" y="266819"/>
                </a:cubicBezTo>
                <a:close/>
              </a:path>
            </a:pathLst>
          </a:custGeom>
          <a:solidFill>
            <a:srgbClr val="2E5E8A"/>
          </a:solidFill>
          <a:ln/>
        </p:spPr>
      </p:sp>
      <p:sp>
        <p:nvSpPr>
          <p:cNvPr id="14" name="Text 12"/>
          <p:cNvSpPr/>
          <p:nvPr/>
        </p:nvSpPr>
        <p:spPr>
          <a:xfrm>
            <a:off x="6985000" y="2921000"/>
            <a:ext cx="228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2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Images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6985000" y="3403600"/>
            <a:ext cx="2286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50000"/>
              </a:lnSpc>
            </a:pPr>
            <a:r>
              <a:rPr lang="en-US" sz="16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Photos, illustrations, diagrams, infographics, icons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9652000" y="1905000"/>
            <a:ext cx="2540000" cy="3302000"/>
          </a:xfrm>
          <a:prstGeom prst="roundRect">
            <a:avLst>
              <a:gd name="adj" fmla="val 10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27000" dist="50800" dir="5400000">
              <a:srgbClr val="000000">
                <a:alpha val="3137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10617200" y="21590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01600" y="76200"/>
                </a:moveTo>
                <a:cubicBezTo>
                  <a:pt x="64241" y="76200"/>
                  <a:pt x="33867" y="110371"/>
                  <a:pt x="33867" y="152400"/>
                </a:cubicBezTo>
                <a:lnTo>
                  <a:pt x="33867" y="457200"/>
                </a:lnTo>
                <a:cubicBezTo>
                  <a:pt x="33867" y="499229"/>
                  <a:pt x="64241" y="533400"/>
                  <a:pt x="101600" y="533400"/>
                </a:cubicBezTo>
                <a:lnTo>
                  <a:pt x="372533" y="533400"/>
                </a:lnTo>
                <a:cubicBezTo>
                  <a:pt x="409892" y="533400"/>
                  <a:pt x="440267" y="499229"/>
                  <a:pt x="440267" y="457200"/>
                </a:cubicBezTo>
                <a:lnTo>
                  <a:pt x="440267" y="152400"/>
                </a:lnTo>
                <a:cubicBezTo>
                  <a:pt x="440267" y="110371"/>
                  <a:pt x="409892" y="76200"/>
                  <a:pt x="372533" y="76200"/>
                </a:cubicBezTo>
                <a:lnTo>
                  <a:pt x="101600" y="76200"/>
                </a:lnTo>
                <a:close/>
                <a:moveTo>
                  <a:pt x="491067" y="400050"/>
                </a:moveTo>
                <a:lnTo>
                  <a:pt x="568854" y="470059"/>
                </a:lnTo>
                <a:cubicBezTo>
                  <a:pt x="573299" y="474107"/>
                  <a:pt x="578802" y="476250"/>
                  <a:pt x="584517" y="476250"/>
                </a:cubicBezTo>
                <a:cubicBezTo>
                  <a:pt x="598382" y="476250"/>
                  <a:pt x="609600" y="463629"/>
                  <a:pt x="609600" y="448032"/>
                </a:cubicBezTo>
                <a:lnTo>
                  <a:pt x="609600" y="161568"/>
                </a:lnTo>
                <a:cubicBezTo>
                  <a:pt x="609600" y="145971"/>
                  <a:pt x="598382" y="133350"/>
                  <a:pt x="584517" y="133350"/>
                </a:cubicBezTo>
                <a:cubicBezTo>
                  <a:pt x="578802" y="133350"/>
                  <a:pt x="573299" y="135493"/>
                  <a:pt x="568854" y="139541"/>
                </a:cubicBezTo>
                <a:lnTo>
                  <a:pt x="491067" y="209550"/>
                </a:lnTo>
                <a:lnTo>
                  <a:pt x="491067" y="400050"/>
                </a:lnTo>
                <a:close/>
              </a:path>
            </a:pathLst>
          </a:custGeom>
          <a:solidFill>
            <a:srgbClr val="2E5E8A"/>
          </a:solidFill>
          <a:ln/>
        </p:spPr>
      </p:sp>
      <p:sp>
        <p:nvSpPr>
          <p:cNvPr id="18" name="Text 16"/>
          <p:cNvSpPr/>
          <p:nvPr/>
        </p:nvSpPr>
        <p:spPr>
          <a:xfrm>
            <a:off x="9779000" y="2921000"/>
            <a:ext cx="228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2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Video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9779000" y="3403600"/>
            <a:ext cx="2286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50000"/>
              </a:lnSpc>
            </a:pPr>
            <a:r>
              <a:rPr lang="en-US" sz="16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Live-action footage, screen recordings, motion graphics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12446000" y="1905000"/>
            <a:ext cx="2540000" cy="3302000"/>
          </a:xfrm>
          <a:prstGeom prst="roundRect">
            <a:avLst>
              <a:gd name="adj" fmla="val 10000"/>
            </a:avLst>
          </a:prstGeom>
          <a:gradFill rotWithShape="1" flip="none">
            <a:gsLst>
              <a:gs pos="0">
                <a:srgbClr val="FF7F50"/>
              </a:gs>
              <a:gs pos="100000">
                <a:srgbClr val="FF7F50">
                  <a:alpha val="80000"/>
                </a:srgbClr>
              </a:gs>
            </a:gsLst>
            <a:lin ang="8100000" scaled="1"/>
          </a:gradFill>
          <a:ln/>
        </p:spPr>
      </p:sp>
      <p:sp>
        <p:nvSpPr>
          <p:cNvPr id="21" name="Shape 19"/>
          <p:cNvSpPr/>
          <p:nvPr/>
        </p:nvSpPr>
        <p:spPr>
          <a:xfrm>
            <a:off x="13411200" y="21590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278765" y="-32147"/>
                </a:moveTo>
                <a:lnTo>
                  <a:pt x="294428" y="11668"/>
                </a:lnTo>
                <a:lnTo>
                  <a:pt x="333375" y="29289"/>
                </a:lnTo>
                <a:cubicBezTo>
                  <a:pt x="336550" y="30718"/>
                  <a:pt x="338667" y="34290"/>
                  <a:pt x="338667" y="38100"/>
                </a:cubicBezTo>
                <a:cubicBezTo>
                  <a:pt x="338667" y="41910"/>
                  <a:pt x="336550" y="45482"/>
                  <a:pt x="333375" y="46911"/>
                </a:cubicBezTo>
                <a:lnTo>
                  <a:pt x="294428" y="64532"/>
                </a:lnTo>
                <a:lnTo>
                  <a:pt x="278765" y="108347"/>
                </a:lnTo>
                <a:cubicBezTo>
                  <a:pt x="277495" y="111919"/>
                  <a:pt x="274320" y="114300"/>
                  <a:pt x="270933" y="114300"/>
                </a:cubicBezTo>
                <a:cubicBezTo>
                  <a:pt x="267547" y="114300"/>
                  <a:pt x="264372" y="111919"/>
                  <a:pt x="263102" y="108347"/>
                </a:cubicBezTo>
                <a:lnTo>
                  <a:pt x="247438" y="64532"/>
                </a:lnTo>
                <a:lnTo>
                  <a:pt x="208492" y="46911"/>
                </a:lnTo>
                <a:cubicBezTo>
                  <a:pt x="205317" y="45482"/>
                  <a:pt x="203200" y="41910"/>
                  <a:pt x="203200" y="38100"/>
                </a:cubicBezTo>
                <a:cubicBezTo>
                  <a:pt x="203200" y="34290"/>
                  <a:pt x="205317" y="30718"/>
                  <a:pt x="208492" y="29289"/>
                </a:cubicBezTo>
                <a:lnTo>
                  <a:pt x="247438" y="11668"/>
                </a:lnTo>
                <a:lnTo>
                  <a:pt x="263102" y="-32147"/>
                </a:lnTo>
                <a:cubicBezTo>
                  <a:pt x="264372" y="-35719"/>
                  <a:pt x="267547" y="-38100"/>
                  <a:pt x="270933" y="-38100"/>
                </a:cubicBezTo>
                <a:cubicBezTo>
                  <a:pt x="274320" y="-38100"/>
                  <a:pt x="277495" y="-35719"/>
                  <a:pt x="278765" y="-32147"/>
                </a:cubicBezTo>
                <a:close/>
                <a:moveTo>
                  <a:pt x="117157" y="49649"/>
                </a:moveTo>
                <a:lnTo>
                  <a:pt x="139912" y="109299"/>
                </a:lnTo>
                <a:lnTo>
                  <a:pt x="192934" y="134898"/>
                </a:lnTo>
                <a:cubicBezTo>
                  <a:pt x="199178" y="137874"/>
                  <a:pt x="203200" y="144780"/>
                  <a:pt x="203200" y="152400"/>
                </a:cubicBezTo>
                <a:cubicBezTo>
                  <a:pt x="203200" y="160020"/>
                  <a:pt x="199178" y="166926"/>
                  <a:pt x="192934" y="169902"/>
                </a:cubicBezTo>
                <a:lnTo>
                  <a:pt x="139912" y="195501"/>
                </a:lnTo>
                <a:lnTo>
                  <a:pt x="117157" y="255151"/>
                </a:lnTo>
                <a:cubicBezTo>
                  <a:pt x="114512" y="262176"/>
                  <a:pt x="108373" y="266700"/>
                  <a:pt x="101600" y="266700"/>
                </a:cubicBezTo>
                <a:cubicBezTo>
                  <a:pt x="94827" y="266700"/>
                  <a:pt x="88688" y="262176"/>
                  <a:pt x="86042" y="255151"/>
                </a:cubicBezTo>
                <a:lnTo>
                  <a:pt x="63288" y="195501"/>
                </a:lnTo>
                <a:lnTo>
                  <a:pt x="10266" y="169902"/>
                </a:lnTo>
                <a:cubicBezTo>
                  <a:pt x="4022" y="166926"/>
                  <a:pt x="0" y="160020"/>
                  <a:pt x="0" y="152400"/>
                </a:cubicBezTo>
                <a:cubicBezTo>
                  <a:pt x="0" y="144780"/>
                  <a:pt x="4022" y="137874"/>
                  <a:pt x="10266" y="134898"/>
                </a:cubicBezTo>
                <a:lnTo>
                  <a:pt x="63288" y="109299"/>
                </a:lnTo>
                <a:lnTo>
                  <a:pt x="86043" y="49649"/>
                </a:lnTo>
                <a:cubicBezTo>
                  <a:pt x="88688" y="42624"/>
                  <a:pt x="94827" y="38100"/>
                  <a:pt x="101600" y="38100"/>
                </a:cubicBezTo>
                <a:cubicBezTo>
                  <a:pt x="108373" y="38100"/>
                  <a:pt x="114512" y="42624"/>
                  <a:pt x="117157" y="49649"/>
                </a:cubicBezTo>
                <a:close/>
                <a:moveTo>
                  <a:pt x="491067" y="361950"/>
                </a:moveTo>
                <a:cubicBezTo>
                  <a:pt x="497840" y="361950"/>
                  <a:pt x="503978" y="366474"/>
                  <a:pt x="506624" y="373499"/>
                </a:cubicBezTo>
                <a:lnTo>
                  <a:pt x="529378" y="433149"/>
                </a:lnTo>
                <a:lnTo>
                  <a:pt x="582401" y="458748"/>
                </a:lnTo>
                <a:cubicBezTo>
                  <a:pt x="588645" y="461724"/>
                  <a:pt x="592667" y="468630"/>
                  <a:pt x="592667" y="476250"/>
                </a:cubicBezTo>
                <a:cubicBezTo>
                  <a:pt x="592667" y="483870"/>
                  <a:pt x="588645" y="490776"/>
                  <a:pt x="582401" y="493752"/>
                </a:cubicBezTo>
                <a:lnTo>
                  <a:pt x="529378" y="519351"/>
                </a:lnTo>
                <a:lnTo>
                  <a:pt x="506624" y="579001"/>
                </a:lnTo>
                <a:cubicBezTo>
                  <a:pt x="503978" y="586026"/>
                  <a:pt x="497840" y="590550"/>
                  <a:pt x="491067" y="590550"/>
                </a:cubicBezTo>
                <a:cubicBezTo>
                  <a:pt x="484293" y="590550"/>
                  <a:pt x="478155" y="586026"/>
                  <a:pt x="475509" y="579001"/>
                </a:cubicBezTo>
                <a:lnTo>
                  <a:pt x="452755" y="519351"/>
                </a:lnTo>
                <a:lnTo>
                  <a:pt x="399732" y="493752"/>
                </a:lnTo>
                <a:cubicBezTo>
                  <a:pt x="393488" y="490776"/>
                  <a:pt x="389467" y="483870"/>
                  <a:pt x="389467" y="476250"/>
                </a:cubicBezTo>
                <a:cubicBezTo>
                  <a:pt x="389467" y="468630"/>
                  <a:pt x="393488" y="461724"/>
                  <a:pt x="399732" y="458748"/>
                </a:cubicBezTo>
                <a:lnTo>
                  <a:pt x="452755" y="433149"/>
                </a:lnTo>
                <a:lnTo>
                  <a:pt x="475509" y="373499"/>
                </a:lnTo>
                <a:cubicBezTo>
                  <a:pt x="478155" y="366474"/>
                  <a:pt x="484293" y="361950"/>
                  <a:pt x="491067" y="361950"/>
                </a:cubicBezTo>
                <a:close/>
                <a:moveTo>
                  <a:pt x="486833" y="0"/>
                </a:moveTo>
                <a:cubicBezTo>
                  <a:pt x="498475" y="0"/>
                  <a:pt x="509693" y="5239"/>
                  <a:pt x="518054" y="14526"/>
                </a:cubicBezTo>
                <a:lnTo>
                  <a:pt x="562822" y="64889"/>
                </a:lnTo>
                <a:cubicBezTo>
                  <a:pt x="571077" y="74295"/>
                  <a:pt x="575733" y="86916"/>
                  <a:pt x="575733" y="100013"/>
                </a:cubicBezTo>
                <a:cubicBezTo>
                  <a:pt x="575733" y="113109"/>
                  <a:pt x="571077" y="125730"/>
                  <a:pt x="562822" y="135136"/>
                </a:cubicBezTo>
                <a:lnTo>
                  <a:pt x="469477" y="240149"/>
                </a:lnTo>
                <a:lnTo>
                  <a:pt x="362268" y="119539"/>
                </a:lnTo>
                <a:lnTo>
                  <a:pt x="455612" y="14526"/>
                </a:lnTo>
                <a:cubicBezTo>
                  <a:pt x="463973" y="5239"/>
                  <a:pt x="475192" y="0"/>
                  <a:pt x="486833" y="0"/>
                </a:cubicBezTo>
                <a:close/>
                <a:moveTo>
                  <a:pt x="46778" y="474464"/>
                </a:moveTo>
                <a:lnTo>
                  <a:pt x="326390" y="159901"/>
                </a:lnTo>
                <a:lnTo>
                  <a:pt x="433599" y="280511"/>
                </a:lnTo>
                <a:lnTo>
                  <a:pt x="153988" y="595074"/>
                </a:lnTo>
                <a:cubicBezTo>
                  <a:pt x="145627" y="604361"/>
                  <a:pt x="134408" y="609600"/>
                  <a:pt x="122767" y="609600"/>
                </a:cubicBezTo>
                <a:cubicBezTo>
                  <a:pt x="111125" y="609600"/>
                  <a:pt x="99907" y="604361"/>
                  <a:pt x="91546" y="595074"/>
                </a:cubicBezTo>
                <a:lnTo>
                  <a:pt x="46778" y="544711"/>
                </a:lnTo>
                <a:cubicBezTo>
                  <a:pt x="38523" y="535305"/>
                  <a:pt x="33867" y="522684"/>
                  <a:pt x="33867" y="509588"/>
                </a:cubicBezTo>
                <a:cubicBezTo>
                  <a:pt x="33867" y="496491"/>
                  <a:pt x="38523" y="483870"/>
                  <a:pt x="46778" y="474464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2" name="Text 20"/>
          <p:cNvSpPr/>
          <p:nvPr/>
        </p:nvSpPr>
        <p:spPr>
          <a:xfrm>
            <a:off x="12573000" y="2921000"/>
            <a:ext cx="228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2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Animation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12573000" y="3403600"/>
            <a:ext cx="2286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50000"/>
              </a:lnSpc>
            </a:pPr>
            <a:r>
              <a:rPr lang="en-US" sz="16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2D/3D motion, transitions, kinetic typography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1270000" y="5715000"/>
            <a:ext cx="13716000" cy="1270000"/>
          </a:xfrm>
          <a:prstGeom prst="roundRect">
            <a:avLst>
              <a:gd name="adj" fmla="val 8000"/>
            </a:avLst>
          </a:prstGeom>
          <a:solidFill>
            <a:srgbClr val="F5F5F0">
              <a:alpha val="6275"/>
            </a:srgbClr>
          </a:solidFill>
          <a:ln w="12700">
            <a:solidFill>
              <a:srgbClr val="D0D6D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778000" y="5842000"/>
            <a:ext cx="12700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Integration Principle:</a:t>
            </a:r>
            <a:pPr algn="ctr">
              <a:lnSpc>
                <a:spcPct val="120000"/>
              </a:lnSpc>
            </a:pPr>
            <a:r>
              <a:rPr lang="en-US" sz="20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Effective multimedia combines elements </a:t>
            </a:r>
            <a:pPr algn="ctr">
              <a:lnSpc>
                <a:spcPct val="120000"/>
              </a:lnSpc>
            </a:pPr>
            <a:r>
              <a:rPr lang="en-US" sz="20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synergistically</a:t>
            </a:r>
            <a:pPr algn="ctr">
              <a:lnSpc>
                <a:spcPct val="120000"/>
              </a:lnSpc>
            </a:pPr>
            <a:r>
              <a:rPr lang="en-US" sz="20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, not additively — each element should enhance the others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14986000" y="8509000"/>
            <a:ext cx="101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05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70000" y="762000"/>
            <a:ext cx="1270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Multimedia Applications in Professional Work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1270000" y="1524000"/>
            <a:ext cx="13716000" cy="12700"/>
          </a:xfrm>
          <a:prstGeom prst="rect">
            <a:avLst/>
          </a:prstGeom>
          <a:solidFill>
            <a:srgbClr val="D0D6DC"/>
          </a:solidFill>
          <a:ln/>
        </p:spPr>
      </p:sp>
      <p:sp>
        <p:nvSpPr>
          <p:cNvPr id="4" name="Shape 2"/>
          <p:cNvSpPr/>
          <p:nvPr/>
        </p:nvSpPr>
        <p:spPr>
          <a:xfrm>
            <a:off x="1270000" y="1905000"/>
            <a:ext cx="6604000" cy="2921000"/>
          </a:xfrm>
          <a:prstGeom prst="roundRect">
            <a:avLst>
              <a:gd name="adj" fmla="val 10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27000" dist="50800" dir="5400000">
              <a:srgbClr val="000000">
                <a:alpha val="3137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651000" y="22225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457597" y="18752"/>
                </a:moveTo>
                <a:cubicBezTo>
                  <a:pt x="469007" y="23812"/>
                  <a:pt x="476250" y="35123"/>
                  <a:pt x="476250" y="47625"/>
                </a:cubicBezTo>
                <a:lnTo>
                  <a:pt x="476250" y="460375"/>
                </a:lnTo>
                <a:cubicBezTo>
                  <a:pt x="476250" y="472877"/>
                  <a:pt x="469007" y="484187"/>
                  <a:pt x="457597" y="489248"/>
                </a:cubicBezTo>
                <a:cubicBezTo>
                  <a:pt x="446187" y="494308"/>
                  <a:pt x="432991" y="492423"/>
                  <a:pt x="423565" y="484187"/>
                </a:cubicBezTo>
                <a:lnTo>
                  <a:pt x="377329" y="443805"/>
                </a:lnTo>
                <a:cubicBezTo>
                  <a:pt x="334070" y="406003"/>
                  <a:pt x="279400" y="383977"/>
                  <a:pt x="222151" y="381298"/>
                </a:cubicBezTo>
                <a:lnTo>
                  <a:pt x="222151" y="476250"/>
                </a:lnTo>
                <a:cubicBezTo>
                  <a:pt x="222151" y="493812"/>
                  <a:pt x="207962" y="508000"/>
                  <a:pt x="190401" y="508000"/>
                </a:cubicBezTo>
                <a:lnTo>
                  <a:pt x="158651" y="508000"/>
                </a:lnTo>
                <a:cubicBezTo>
                  <a:pt x="141089" y="508000"/>
                  <a:pt x="126901" y="493812"/>
                  <a:pt x="126901" y="476250"/>
                </a:cubicBezTo>
                <a:lnTo>
                  <a:pt x="126901" y="381000"/>
                </a:lnTo>
                <a:cubicBezTo>
                  <a:pt x="56852" y="381000"/>
                  <a:pt x="0" y="324148"/>
                  <a:pt x="0" y="254000"/>
                </a:cubicBezTo>
                <a:cubicBezTo>
                  <a:pt x="0" y="183852"/>
                  <a:pt x="56852" y="127000"/>
                  <a:pt x="127000" y="127000"/>
                </a:cubicBezTo>
                <a:lnTo>
                  <a:pt x="210840" y="127000"/>
                </a:lnTo>
                <a:cubicBezTo>
                  <a:pt x="272157" y="126802"/>
                  <a:pt x="331291" y="104477"/>
                  <a:pt x="377428" y="64195"/>
                </a:cubicBezTo>
                <a:lnTo>
                  <a:pt x="423664" y="23812"/>
                </a:lnTo>
                <a:cubicBezTo>
                  <a:pt x="432991" y="15577"/>
                  <a:pt x="446385" y="13692"/>
                  <a:pt x="457696" y="18752"/>
                </a:cubicBezTo>
                <a:close/>
                <a:moveTo>
                  <a:pt x="222250" y="317500"/>
                </a:moveTo>
                <a:lnTo>
                  <a:pt x="222250" y="317698"/>
                </a:lnTo>
                <a:cubicBezTo>
                  <a:pt x="292001" y="320377"/>
                  <a:pt x="358973" y="345976"/>
                  <a:pt x="412750" y="390525"/>
                </a:cubicBezTo>
                <a:lnTo>
                  <a:pt x="412750" y="117376"/>
                </a:lnTo>
                <a:cubicBezTo>
                  <a:pt x="358973" y="161925"/>
                  <a:pt x="292001" y="187523"/>
                  <a:pt x="222250" y="190202"/>
                </a:cubicBezTo>
                <a:lnTo>
                  <a:pt x="222250" y="317500"/>
                </a:lnTo>
                <a:close/>
              </a:path>
            </a:pathLst>
          </a:custGeom>
          <a:solidFill>
            <a:srgbClr val="FF7F50"/>
          </a:solidFill>
          <a:ln/>
        </p:spPr>
      </p:sp>
      <p:sp>
        <p:nvSpPr>
          <p:cNvPr id="6" name="Text 4"/>
          <p:cNvSpPr/>
          <p:nvPr/>
        </p:nvSpPr>
        <p:spPr>
          <a:xfrm>
            <a:off x="2349500" y="2222500"/>
            <a:ext cx="508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Marketing &amp; Advertising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651000" y="2857500"/>
            <a:ext cx="5905500" cy="165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Product demos, brand storytelling, social media campaigns, influencer content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8382000" y="1905000"/>
            <a:ext cx="6604000" cy="2921000"/>
          </a:xfrm>
          <a:prstGeom prst="roundRect">
            <a:avLst>
              <a:gd name="adj" fmla="val 10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27000" dist="50800" dir="5400000">
              <a:srgbClr val="000000">
                <a:alpha val="3137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8763000" y="22225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42333" y="194270"/>
                </a:moveTo>
                <a:lnTo>
                  <a:pt x="226836" y="279698"/>
                </a:lnTo>
                <a:cubicBezTo>
                  <a:pt x="235479" y="283666"/>
                  <a:pt x="244651" y="285750"/>
                  <a:pt x="254000" y="285750"/>
                </a:cubicBezTo>
                <a:cubicBezTo>
                  <a:pt x="263349" y="285750"/>
                  <a:pt x="272521" y="283666"/>
                  <a:pt x="281164" y="279698"/>
                </a:cubicBezTo>
                <a:lnTo>
                  <a:pt x="494947" y="180677"/>
                </a:lnTo>
                <a:cubicBezTo>
                  <a:pt x="502885" y="177006"/>
                  <a:pt x="508000" y="168374"/>
                  <a:pt x="508000" y="158750"/>
                </a:cubicBezTo>
                <a:cubicBezTo>
                  <a:pt x="508000" y="149126"/>
                  <a:pt x="502885" y="140494"/>
                  <a:pt x="494947" y="136823"/>
                </a:cubicBezTo>
                <a:lnTo>
                  <a:pt x="281164" y="37802"/>
                </a:lnTo>
                <a:cubicBezTo>
                  <a:pt x="272521" y="33834"/>
                  <a:pt x="263349" y="31750"/>
                  <a:pt x="254000" y="31750"/>
                </a:cubicBezTo>
                <a:cubicBezTo>
                  <a:pt x="244651" y="31750"/>
                  <a:pt x="235479" y="33834"/>
                  <a:pt x="226836" y="37802"/>
                </a:cubicBezTo>
                <a:lnTo>
                  <a:pt x="13053" y="136823"/>
                </a:lnTo>
                <a:cubicBezTo>
                  <a:pt x="5115" y="140494"/>
                  <a:pt x="0" y="149126"/>
                  <a:pt x="0" y="158750"/>
                </a:cubicBezTo>
                <a:lnTo>
                  <a:pt x="0" y="452437"/>
                </a:lnTo>
                <a:cubicBezTo>
                  <a:pt x="0" y="465634"/>
                  <a:pt x="9437" y="476250"/>
                  <a:pt x="21167" y="476250"/>
                </a:cubicBezTo>
                <a:cubicBezTo>
                  <a:pt x="32897" y="476250"/>
                  <a:pt x="42333" y="465634"/>
                  <a:pt x="42333" y="452437"/>
                </a:cubicBezTo>
                <a:lnTo>
                  <a:pt x="42333" y="194270"/>
                </a:lnTo>
                <a:close/>
                <a:moveTo>
                  <a:pt x="84667" y="265410"/>
                </a:moveTo>
                <a:lnTo>
                  <a:pt x="84667" y="381000"/>
                </a:lnTo>
                <a:cubicBezTo>
                  <a:pt x="84667" y="433586"/>
                  <a:pt x="160514" y="476250"/>
                  <a:pt x="254000" y="476250"/>
                </a:cubicBezTo>
                <a:cubicBezTo>
                  <a:pt x="347486" y="476250"/>
                  <a:pt x="423333" y="433586"/>
                  <a:pt x="423333" y="381000"/>
                </a:cubicBezTo>
                <a:lnTo>
                  <a:pt x="423333" y="265311"/>
                </a:lnTo>
                <a:lnTo>
                  <a:pt x="297303" y="323751"/>
                </a:lnTo>
                <a:cubicBezTo>
                  <a:pt x="283545" y="330101"/>
                  <a:pt x="268905" y="333375"/>
                  <a:pt x="254000" y="333375"/>
                </a:cubicBezTo>
                <a:cubicBezTo>
                  <a:pt x="239095" y="333375"/>
                  <a:pt x="224455" y="330101"/>
                  <a:pt x="210697" y="323751"/>
                </a:cubicBezTo>
                <a:lnTo>
                  <a:pt x="84667" y="265311"/>
                </a:lnTo>
                <a:close/>
              </a:path>
            </a:pathLst>
          </a:custGeom>
          <a:solidFill>
            <a:srgbClr val="FF7F50"/>
          </a:solidFill>
          <a:ln/>
        </p:spPr>
      </p:sp>
      <p:sp>
        <p:nvSpPr>
          <p:cNvPr id="10" name="Text 8"/>
          <p:cNvSpPr/>
          <p:nvPr/>
        </p:nvSpPr>
        <p:spPr>
          <a:xfrm>
            <a:off x="9461500" y="2222500"/>
            <a:ext cx="508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Corporate Training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8763000" y="2857500"/>
            <a:ext cx="5905500" cy="165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E-learning modules, onboarding videos, interactive simulations, compliance training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1270000" y="5207000"/>
            <a:ext cx="6604000" cy="2921000"/>
          </a:xfrm>
          <a:prstGeom prst="roundRect">
            <a:avLst>
              <a:gd name="adj" fmla="val 10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27000" dist="50800" dir="5400000">
              <a:srgbClr val="000000">
                <a:alpha val="3137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1651000" y="55245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63500" y="63500"/>
                </a:moveTo>
                <a:cubicBezTo>
                  <a:pt x="63500" y="45938"/>
                  <a:pt x="49312" y="31750"/>
                  <a:pt x="31750" y="31750"/>
                </a:cubicBezTo>
                <a:cubicBezTo>
                  <a:pt x="14188" y="31750"/>
                  <a:pt x="0" y="45938"/>
                  <a:pt x="0" y="63500"/>
                </a:cubicBezTo>
                <a:lnTo>
                  <a:pt x="0" y="396875"/>
                </a:lnTo>
                <a:cubicBezTo>
                  <a:pt x="0" y="440730"/>
                  <a:pt x="35520" y="476250"/>
                  <a:pt x="79375" y="476250"/>
                </a:cubicBezTo>
                <a:lnTo>
                  <a:pt x="476250" y="476250"/>
                </a:lnTo>
                <a:cubicBezTo>
                  <a:pt x="493812" y="476250"/>
                  <a:pt x="508000" y="462062"/>
                  <a:pt x="508000" y="444500"/>
                </a:cubicBezTo>
                <a:cubicBezTo>
                  <a:pt x="508000" y="426938"/>
                  <a:pt x="493812" y="412750"/>
                  <a:pt x="476250" y="412750"/>
                </a:cubicBezTo>
                <a:lnTo>
                  <a:pt x="79375" y="412750"/>
                </a:lnTo>
                <a:cubicBezTo>
                  <a:pt x="70644" y="412750"/>
                  <a:pt x="63500" y="405606"/>
                  <a:pt x="63500" y="396875"/>
                </a:cubicBezTo>
                <a:lnTo>
                  <a:pt x="63500" y="63500"/>
                </a:lnTo>
                <a:close/>
                <a:moveTo>
                  <a:pt x="466923" y="149423"/>
                </a:moveTo>
                <a:cubicBezTo>
                  <a:pt x="479326" y="137021"/>
                  <a:pt x="479326" y="116880"/>
                  <a:pt x="466923" y="104477"/>
                </a:cubicBezTo>
                <a:cubicBezTo>
                  <a:pt x="454521" y="92075"/>
                  <a:pt x="434380" y="92075"/>
                  <a:pt x="421977" y="104477"/>
                </a:cubicBezTo>
                <a:lnTo>
                  <a:pt x="317500" y="209054"/>
                </a:lnTo>
                <a:lnTo>
                  <a:pt x="260548" y="152202"/>
                </a:lnTo>
                <a:cubicBezTo>
                  <a:pt x="248146" y="139799"/>
                  <a:pt x="228005" y="139799"/>
                  <a:pt x="215602" y="152202"/>
                </a:cubicBezTo>
                <a:lnTo>
                  <a:pt x="120352" y="247452"/>
                </a:lnTo>
                <a:cubicBezTo>
                  <a:pt x="107950" y="259854"/>
                  <a:pt x="107950" y="279995"/>
                  <a:pt x="120352" y="292398"/>
                </a:cubicBezTo>
                <a:cubicBezTo>
                  <a:pt x="132755" y="304800"/>
                  <a:pt x="152896" y="304800"/>
                  <a:pt x="165298" y="292398"/>
                </a:cubicBezTo>
                <a:lnTo>
                  <a:pt x="238125" y="219571"/>
                </a:lnTo>
                <a:lnTo>
                  <a:pt x="295077" y="276523"/>
                </a:lnTo>
                <a:cubicBezTo>
                  <a:pt x="307479" y="288925"/>
                  <a:pt x="327620" y="288925"/>
                  <a:pt x="340023" y="276523"/>
                </a:cubicBezTo>
                <a:lnTo>
                  <a:pt x="467023" y="149523"/>
                </a:lnTo>
                <a:close/>
              </a:path>
            </a:pathLst>
          </a:custGeom>
          <a:solidFill>
            <a:srgbClr val="FF7F50"/>
          </a:solidFill>
          <a:ln/>
        </p:spPr>
      </p:sp>
      <p:sp>
        <p:nvSpPr>
          <p:cNvPr id="14" name="Text 12"/>
          <p:cNvSpPr/>
          <p:nvPr/>
        </p:nvSpPr>
        <p:spPr>
          <a:xfrm>
            <a:off x="2349500" y="5524500"/>
            <a:ext cx="508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Presentations &amp; Pitches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651000" y="6159500"/>
            <a:ext cx="5905500" cy="165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Investor decks, sales presentations, conference talks, webinar content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8382000" y="5207000"/>
            <a:ext cx="6604000" cy="2921000"/>
          </a:xfrm>
          <a:prstGeom prst="roundRect">
            <a:avLst>
              <a:gd name="adj" fmla="val 10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27000" dist="50800" dir="5400000">
              <a:srgbClr val="000000">
                <a:alpha val="3137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763000" y="55245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508000" y="204192"/>
                </a:moveTo>
                <a:cubicBezTo>
                  <a:pt x="491218" y="213916"/>
                  <a:pt x="471941" y="221754"/>
                  <a:pt x="451871" y="228005"/>
                </a:cubicBezTo>
                <a:cubicBezTo>
                  <a:pt x="398576" y="244673"/>
                  <a:pt x="328613" y="254000"/>
                  <a:pt x="254000" y="254000"/>
                </a:cubicBezTo>
                <a:cubicBezTo>
                  <a:pt x="179387" y="254000"/>
                  <a:pt x="109311" y="244574"/>
                  <a:pt x="56129" y="228005"/>
                </a:cubicBezTo>
                <a:cubicBezTo>
                  <a:pt x="36172" y="221754"/>
                  <a:pt x="16782" y="213916"/>
                  <a:pt x="0" y="204192"/>
                </a:cubicBezTo>
                <a:lnTo>
                  <a:pt x="0" y="285750"/>
                </a:lnTo>
                <a:cubicBezTo>
                  <a:pt x="0" y="329605"/>
                  <a:pt x="113733" y="365125"/>
                  <a:pt x="254000" y="365125"/>
                </a:cubicBezTo>
                <a:cubicBezTo>
                  <a:pt x="394267" y="365125"/>
                  <a:pt x="508000" y="329605"/>
                  <a:pt x="508000" y="285750"/>
                </a:cubicBezTo>
                <a:lnTo>
                  <a:pt x="508000" y="204192"/>
                </a:lnTo>
                <a:close/>
                <a:moveTo>
                  <a:pt x="508000" y="127000"/>
                </a:moveTo>
                <a:lnTo>
                  <a:pt x="508000" y="79375"/>
                </a:lnTo>
                <a:cubicBezTo>
                  <a:pt x="508000" y="35520"/>
                  <a:pt x="394267" y="0"/>
                  <a:pt x="254000" y="0"/>
                </a:cubicBezTo>
                <a:cubicBezTo>
                  <a:pt x="113733" y="0"/>
                  <a:pt x="0" y="35520"/>
                  <a:pt x="0" y="79375"/>
                </a:cubicBezTo>
                <a:lnTo>
                  <a:pt x="0" y="127000"/>
                </a:lnTo>
                <a:cubicBezTo>
                  <a:pt x="0" y="170855"/>
                  <a:pt x="113733" y="206375"/>
                  <a:pt x="254000" y="206375"/>
                </a:cubicBezTo>
                <a:cubicBezTo>
                  <a:pt x="394267" y="206375"/>
                  <a:pt x="508000" y="170855"/>
                  <a:pt x="508000" y="127000"/>
                </a:cubicBezTo>
                <a:close/>
                <a:moveTo>
                  <a:pt x="451871" y="386755"/>
                </a:moveTo>
                <a:cubicBezTo>
                  <a:pt x="398689" y="403324"/>
                  <a:pt x="328726" y="412750"/>
                  <a:pt x="254000" y="412750"/>
                </a:cubicBezTo>
                <a:cubicBezTo>
                  <a:pt x="179274" y="412750"/>
                  <a:pt x="109311" y="403324"/>
                  <a:pt x="56129" y="386755"/>
                </a:cubicBezTo>
                <a:cubicBezTo>
                  <a:pt x="36172" y="380504"/>
                  <a:pt x="16782" y="372666"/>
                  <a:pt x="0" y="362942"/>
                </a:cubicBezTo>
                <a:lnTo>
                  <a:pt x="0" y="428625"/>
                </a:lnTo>
                <a:cubicBezTo>
                  <a:pt x="0" y="472480"/>
                  <a:pt x="113733" y="508000"/>
                  <a:pt x="254000" y="508000"/>
                </a:cubicBezTo>
                <a:cubicBezTo>
                  <a:pt x="394267" y="508000"/>
                  <a:pt x="508000" y="472480"/>
                  <a:pt x="508000" y="428625"/>
                </a:cubicBezTo>
                <a:lnTo>
                  <a:pt x="508000" y="362942"/>
                </a:lnTo>
                <a:cubicBezTo>
                  <a:pt x="491218" y="372666"/>
                  <a:pt x="471941" y="380504"/>
                  <a:pt x="451871" y="386755"/>
                </a:cubicBezTo>
                <a:close/>
              </a:path>
            </a:pathLst>
          </a:custGeom>
          <a:solidFill>
            <a:srgbClr val="FF7F50"/>
          </a:solidFill>
          <a:ln/>
        </p:spPr>
      </p:sp>
      <p:sp>
        <p:nvSpPr>
          <p:cNvPr id="18" name="Text 16"/>
          <p:cNvSpPr/>
          <p:nvPr/>
        </p:nvSpPr>
        <p:spPr>
          <a:xfrm>
            <a:off x="9461500" y="5524500"/>
            <a:ext cx="508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Data Visualization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8763000" y="6159500"/>
            <a:ext cx="5905500" cy="165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Dashboards, interactive reports, infographic storytelling, real-time analytics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4986000" y="8509000"/>
            <a:ext cx="101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06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2E5E8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540000"/>
            <a:ext cx="16256000" cy="4064000"/>
          </a:xfrm>
          <a:custGeom>
            <a:avLst/>
            <a:gdLst/>
            <a:ahLst/>
            <a:cxnLst/>
            <a:rect l="l" t="t" r="r" b="b"/>
            <a:pathLst>
              <a:path w="16256000" h="4064000">
                <a:moveTo>
                  <a:pt x="0" y="2032000"/>
                </a:moveTo>
                <a:quadBezTo>
                  <a:pt x="4064000" y="0"/>
                  <a:pt x="8128000" y="0"/>
                </a:quadBezTo>
                <a:quadBezTo>
                  <a:pt x="12192000" y="0"/>
                  <a:pt x="16256000" y="2032000"/>
                </a:quadBezTo>
                <a:lnTo>
                  <a:pt x="16256000" y="4064000"/>
                </a:lnTo>
                <a:lnTo>
                  <a:pt x="0" y="4064000"/>
                </a:lnTo>
                <a:close/>
              </a:path>
            </a:pathLst>
          </a:custGeom>
          <a:gradFill rotWithShape="1" flip="none">
            <a:gsLst>
              <a:gs pos="0">
                <a:srgbClr val="D0E0E3"/>
              </a:gs>
              <a:gs pos="50000">
                <a:srgbClr val="D0E0E3">
                  <a:alpha val="31000"/>
                </a:srgbClr>
              </a:gs>
              <a:gs pos="100000">
                <a:srgbClr val="2E5E8A">
                  <a:alpha val="19000"/>
                </a:srgbClr>
              </a:gs>
            </a:gsLst>
            <a:lin ang="5400000" scaled="1"/>
          </a:gradFill>
          <a:ln/>
        </p:spPr>
      </p:sp>
      <p:sp>
        <p:nvSpPr>
          <p:cNvPr id="3" name="Text 1"/>
          <p:cNvSpPr/>
          <p:nvPr/>
        </p:nvSpPr>
        <p:spPr>
          <a:xfrm>
            <a:off x="1270000" y="3175000"/>
            <a:ext cx="2540000" cy="1016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72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02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4318000" y="3048000"/>
            <a:ext cx="10160000" cy="1016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6000" dirty="0">
                <a:solidFill>
                  <a:srgbClr val="FCFDF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Creating Multimedia Text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4318000" y="4318000"/>
            <a:ext cx="1016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dirty="0">
                <a:solidFill>
                  <a:srgbClr val="FCFDF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Mastering typography, content design, and text-based communication tools</a:t>
            </a:r>
            <a:endParaRPr lang="en-US" sz="2200" dirty="0"/>
          </a:p>
        </p:txBody>
      </p:sp>
    </p:spTree>
  </p:cSld>
  <p:clrMapOvr>
    <a:masterClrMapping/>
  </p:clrMapOvr>
  <p:transition>
    <p:fade/>
    <p:spd val="med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70000" y="762000"/>
            <a:ext cx="1143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Text Design Principles for Multimedia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1270000" y="1524000"/>
            <a:ext cx="13716000" cy="12700"/>
          </a:xfrm>
          <a:prstGeom prst="rect">
            <a:avLst/>
          </a:prstGeom>
          <a:solidFill>
            <a:srgbClr val="D0D6DC"/>
          </a:solidFill>
          <a:ln/>
        </p:spPr>
      </p:sp>
      <p:sp>
        <p:nvSpPr>
          <p:cNvPr id="4" name="Shape 2"/>
          <p:cNvSpPr/>
          <p:nvPr/>
        </p:nvSpPr>
        <p:spPr>
          <a:xfrm>
            <a:off x="1778000" y="2794000"/>
            <a:ext cx="1016000" cy="1016000"/>
          </a:xfrm>
          <a:prstGeom prst="ellipse">
            <a:avLst/>
          </a:prstGeom>
          <a:solidFill>
            <a:srgbClr val="2E5E8A"/>
          </a:solidFill>
          <a:ln/>
        </p:spPr>
      </p:sp>
      <p:sp>
        <p:nvSpPr>
          <p:cNvPr id="5" name="Text 3"/>
          <p:cNvSpPr/>
          <p:nvPr/>
        </p:nvSpPr>
        <p:spPr>
          <a:xfrm>
            <a:off x="1778000" y="2794000"/>
            <a:ext cx="1016000" cy="1016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32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01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1270000" y="4064000"/>
            <a:ext cx="2032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Hierarchy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016000" y="4572000"/>
            <a:ext cx="2540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50000"/>
              </a:lnSpc>
            </a:pPr>
            <a:r>
              <a:rPr lang="en-US" sz="16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Visual hierarchy through font size, weight, and color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2794000" y="3302000"/>
            <a:ext cx="1778000" cy="0"/>
          </a:xfrm>
          <a:prstGeom prst="straightConnector1">
            <a:avLst/>
          </a:prstGeom>
          <a:noFill/>
          <a:ln w="38100">
            <a:solidFill>
              <a:srgbClr val="D0D6DC"/>
            </a:solidFill>
            <a:prstDash val="solid"/>
            <a:headEnd type="none"/>
            <a:tailEnd type="arrow"/>
          </a:ln>
        </p:spPr>
      </p:sp>
      <p:sp>
        <p:nvSpPr>
          <p:cNvPr id="9" name="Shape 7"/>
          <p:cNvSpPr/>
          <p:nvPr/>
        </p:nvSpPr>
        <p:spPr>
          <a:xfrm>
            <a:off x="4572000" y="2794000"/>
            <a:ext cx="1016000" cy="1016000"/>
          </a:xfrm>
          <a:prstGeom prst="ellipse">
            <a:avLst/>
          </a:prstGeom>
          <a:solidFill>
            <a:srgbClr val="2E5E8A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0" y="2794000"/>
            <a:ext cx="1016000" cy="1016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32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02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4064000" y="4064000"/>
            <a:ext cx="2032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Readability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3810000" y="4572000"/>
            <a:ext cx="2540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50000"/>
              </a:lnSpc>
            </a:pPr>
            <a:r>
              <a:rPr lang="en-US" sz="16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50-75 chars per line, 1.5x spacing, WCAG 4.5:1 contrast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588000" y="3302000"/>
            <a:ext cx="1778000" cy="0"/>
          </a:xfrm>
          <a:prstGeom prst="straightConnector1">
            <a:avLst/>
          </a:prstGeom>
          <a:noFill/>
          <a:ln w="38100">
            <a:solidFill>
              <a:srgbClr val="D0D6DC"/>
            </a:solidFill>
            <a:prstDash val="solid"/>
            <a:headEnd type="none"/>
            <a:tailEnd type="arrow"/>
          </a:ln>
        </p:spPr>
      </p:sp>
      <p:sp>
        <p:nvSpPr>
          <p:cNvPr id="14" name="Shape 12"/>
          <p:cNvSpPr/>
          <p:nvPr/>
        </p:nvSpPr>
        <p:spPr>
          <a:xfrm>
            <a:off x="7366000" y="2794000"/>
            <a:ext cx="1016000" cy="1016000"/>
          </a:xfrm>
          <a:prstGeom prst="ellipse">
            <a:avLst/>
          </a:prstGeom>
          <a:solidFill>
            <a:srgbClr val="2E5E8A"/>
          </a:solidFill>
          <a:ln/>
        </p:spPr>
      </p:sp>
      <p:sp>
        <p:nvSpPr>
          <p:cNvPr id="15" name="Text 13"/>
          <p:cNvSpPr/>
          <p:nvPr/>
        </p:nvSpPr>
        <p:spPr>
          <a:xfrm>
            <a:off x="7366000" y="2794000"/>
            <a:ext cx="1016000" cy="1016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32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03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6858000" y="4064000"/>
            <a:ext cx="2032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Consistency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6604000" y="4572000"/>
            <a:ext cx="2540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50000"/>
              </a:lnSpc>
            </a:pPr>
            <a:r>
              <a:rPr lang="en-US" sz="16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Limit to 2-3 font families per project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8382000" y="3302000"/>
            <a:ext cx="1778000" cy="0"/>
          </a:xfrm>
          <a:prstGeom prst="straightConnector1">
            <a:avLst/>
          </a:prstGeom>
          <a:noFill/>
          <a:ln w="38100">
            <a:solidFill>
              <a:srgbClr val="D0D6DC"/>
            </a:solidFill>
            <a:prstDash val="solid"/>
            <a:headEnd type="none"/>
            <a:tailEnd type="arrow"/>
          </a:ln>
        </p:spPr>
      </p:sp>
      <p:sp>
        <p:nvSpPr>
          <p:cNvPr id="19" name="Shape 17"/>
          <p:cNvSpPr/>
          <p:nvPr/>
        </p:nvSpPr>
        <p:spPr>
          <a:xfrm>
            <a:off x="10160000" y="2794000"/>
            <a:ext cx="1016000" cy="1016000"/>
          </a:xfrm>
          <a:prstGeom prst="ellipse">
            <a:avLst/>
          </a:prstGeom>
          <a:solidFill>
            <a:srgbClr val="2E5E8A"/>
          </a:solidFill>
          <a:ln/>
        </p:spPr>
      </p:sp>
      <p:sp>
        <p:nvSpPr>
          <p:cNvPr id="20" name="Text 18"/>
          <p:cNvSpPr/>
          <p:nvPr/>
        </p:nvSpPr>
        <p:spPr>
          <a:xfrm>
            <a:off x="10160000" y="2794000"/>
            <a:ext cx="1016000" cy="1016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32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04</a:t>
            </a:r>
            <a:endParaRPr lang="en-US" sz="3200" dirty="0"/>
          </a:p>
        </p:txBody>
      </p:sp>
      <p:sp>
        <p:nvSpPr>
          <p:cNvPr id="21" name="Text 19"/>
          <p:cNvSpPr/>
          <p:nvPr/>
        </p:nvSpPr>
        <p:spPr>
          <a:xfrm>
            <a:off x="9652000" y="4064000"/>
            <a:ext cx="2032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Purpose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9398000" y="4572000"/>
            <a:ext cx="2540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50000"/>
              </a:lnSpc>
            </a:pPr>
            <a:r>
              <a:rPr lang="en-US" sz="16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Headlines grab, body informs, CTAs convert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11176000" y="3302000"/>
            <a:ext cx="1778000" cy="0"/>
          </a:xfrm>
          <a:prstGeom prst="straightConnector1">
            <a:avLst/>
          </a:prstGeom>
          <a:noFill/>
          <a:ln w="38100">
            <a:solidFill>
              <a:srgbClr val="D0D6DC"/>
            </a:solidFill>
            <a:prstDash val="solid"/>
            <a:headEnd type="none"/>
            <a:tailEnd type="arrow"/>
          </a:ln>
        </p:spPr>
      </p:sp>
      <p:sp>
        <p:nvSpPr>
          <p:cNvPr id="24" name="Shape 22"/>
          <p:cNvSpPr/>
          <p:nvPr/>
        </p:nvSpPr>
        <p:spPr>
          <a:xfrm>
            <a:off x="12954000" y="2794000"/>
            <a:ext cx="1016000" cy="1016000"/>
          </a:xfrm>
          <a:prstGeom prst="ellipse">
            <a:avLst/>
          </a:prstGeom>
          <a:solidFill>
            <a:srgbClr val="FF7F50"/>
          </a:solidFill>
          <a:ln/>
        </p:spPr>
      </p:sp>
      <p:sp>
        <p:nvSpPr>
          <p:cNvPr id="25" name="Text 23"/>
          <p:cNvSpPr/>
          <p:nvPr/>
        </p:nvSpPr>
        <p:spPr>
          <a:xfrm>
            <a:off x="12954000" y="2794000"/>
            <a:ext cx="1016000" cy="1016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32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05</a:t>
            </a:r>
            <a:endParaRPr lang="en-US" sz="3200" dirty="0"/>
          </a:p>
        </p:txBody>
      </p:sp>
      <p:sp>
        <p:nvSpPr>
          <p:cNvPr id="26" name="Text 24"/>
          <p:cNvSpPr/>
          <p:nvPr/>
        </p:nvSpPr>
        <p:spPr>
          <a:xfrm>
            <a:off x="12446000" y="4064000"/>
            <a:ext cx="2032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Accessibility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12192000" y="4572000"/>
            <a:ext cx="2540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50000"/>
              </a:lnSpc>
            </a:pPr>
            <a:r>
              <a:rPr lang="en-US" sz="16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Screen readers, alt text, semantic structure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1270000" y="6350000"/>
            <a:ext cx="13716000" cy="1016000"/>
          </a:xfrm>
          <a:prstGeom prst="roundRect">
            <a:avLst>
              <a:gd name="adj" fmla="val 8000"/>
            </a:avLst>
          </a:prstGeom>
          <a:solidFill>
            <a:srgbClr val="F5F5F0">
              <a:alpha val="6275"/>
            </a:srgbClr>
          </a:solidFill>
          <a:ln w="12700">
            <a:solidFill>
              <a:srgbClr val="D0D6D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778000" y="6477000"/>
            <a:ext cx="12700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The </a:t>
            </a:r>
            <a:pPr algn="ctr">
              <a:lnSpc>
                <a:spcPct val="120000"/>
              </a:lnSpc>
            </a:pPr>
            <a:r>
              <a:rPr lang="en-US" sz="24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3-Second Rule</a:t>
            </a:r>
            <a:pPr algn="ctr">
              <a:lnSpc>
                <a:spcPct val="120000"/>
              </a:lnSpc>
            </a:pPr>
            <a:r>
              <a:rPr lang="en-US" sz="20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: Users decide whether to engage with content within </a:t>
            </a:r>
            <a:pPr algn="ctr">
              <a:lnSpc>
                <a:spcPct val="120000"/>
              </a:lnSpc>
            </a:pPr>
            <a:r>
              <a:rPr lang="en-US" sz="20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3 seconds</a:t>
            </a:r>
            <a:pPr algn="ctr">
              <a:lnSpc>
                <a:spcPct val="120000"/>
              </a:lnSpc>
            </a:pPr>
            <a:r>
              <a:rPr lang="en-US" sz="20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— make every word count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14986000" y="8509000"/>
            <a:ext cx="101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08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70000" y="762000"/>
            <a:ext cx="13716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Typography, Fonts, and Readability Standards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1270000" y="1524000"/>
            <a:ext cx="13716000" cy="12700"/>
          </a:xfrm>
          <a:prstGeom prst="rect">
            <a:avLst/>
          </a:prstGeom>
          <a:solidFill>
            <a:srgbClr val="D0D6DC"/>
          </a:solidFill>
          <a:ln/>
        </p:spPr>
      </p:sp>
      <p:sp>
        <p:nvSpPr>
          <p:cNvPr id="4" name="Text 2"/>
          <p:cNvSpPr/>
          <p:nvPr/>
        </p:nvSpPr>
        <p:spPr>
          <a:xfrm>
            <a:off x="1270000" y="1905000"/>
            <a:ext cx="6604000" cy="63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20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Font Categories</a:t>
            </a:r>
            <a:endParaRPr lang="en-US" sz="2000" dirty="0"/>
          </a:p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</a:t>
            </a:r>
            <a:pPr algn="l">
              <a:lnSpc>
                <a:spcPct val="160000"/>
              </a:lnSpc>
            </a:pPr>
            <a:r>
              <a:rPr lang="en-US" sz="20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Serif</a:t>
            </a:r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Traditional, trustworthy (Times, Georgia)</a:t>
            </a:r>
            <a:endParaRPr lang="en-US" sz="2000" dirty="0"/>
          </a:p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</a:t>
            </a:r>
            <a:pPr algn="l">
              <a:lnSpc>
                <a:spcPct val="160000"/>
              </a:lnSpc>
            </a:pPr>
            <a:r>
              <a:rPr lang="en-US" sz="20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Sans-serif</a:t>
            </a:r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Modern, clean (Helvetica, Roboto)</a:t>
            </a:r>
            <a:endParaRPr lang="en-US" sz="2000" dirty="0"/>
          </a:p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</a:t>
            </a:r>
            <a:pPr algn="l">
              <a:lnSpc>
                <a:spcPct val="160000"/>
              </a:lnSpc>
            </a:pPr>
            <a:r>
              <a:rPr lang="en-US" sz="20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Display</a:t>
            </a:r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Decorative, headlines only</a:t>
            </a:r>
            <a:endParaRPr lang="en-US" sz="2000" dirty="0"/>
          </a:p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</a:t>
            </a:r>
            <a:pPr algn="l">
              <a:lnSpc>
                <a:spcPct val="160000"/>
              </a:lnSpc>
            </a:pPr>
            <a:r>
              <a:rPr lang="en-US" sz="20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Monospace</a:t>
            </a:r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Technical, code (Courier)</a:t>
            </a:r>
            <a:endParaRPr lang="en-US" sz="2000" dirty="0"/>
          </a:p>
          <a:p>
            <a:pPr algn="l">
              <a:lnSpc>
                <a:spcPct val="160000"/>
              </a:lnSpc>
              <a:spcBef>
                <a:spcPts val="2000"/>
              </a:spcBef>
            </a:pPr>
            <a:r>
              <a:rPr lang="en-US" sz="20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Professional Pairings</a:t>
            </a:r>
            <a:endParaRPr lang="en-US" sz="2000" dirty="0"/>
          </a:p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Helvetica + Georgia</a:t>
            </a:r>
            <a:endParaRPr lang="en-US" sz="2000" dirty="0"/>
          </a:p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Roboto + Merriweather</a:t>
            </a:r>
            <a:endParaRPr lang="en-US" sz="2000" dirty="0"/>
          </a:p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Montserrat + Open Sans</a:t>
            </a:r>
            <a:endParaRPr lang="en-US" sz="2000" dirty="0"/>
          </a:p>
          <a:p>
            <a:pPr algn="l">
              <a:lnSpc>
                <a:spcPct val="160000"/>
              </a:lnSpc>
              <a:spcBef>
                <a:spcPts val="2000"/>
              </a:spcBef>
            </a:pPr>
            <a:r>
              <a:rPr lang="en-US" sz="20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Font Licensing</a:t>
            </a:r>
            <a:endParaRPr lang="en-US" sz="2000" dirty="0"/>
          </a:p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Free: Google Fonts (1,400+ families)</a:t>
            </a:r>
            <a:endParaRPr lang="en-US" sz="2000" dirty="0"/>
          </a:p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Commercial: Adobe Fonts (included with CC)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8382000" y="1905000"/>
            <a:ext cx="6604000" cy="6477000"/>
          </a:xfrm>
          <a:prstGeom prst="roundRect">
            <a:avLst>
              <a:gd name="adj" fmla="val 10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27000" dist="50800" dir="5400000">
              <a:srgbClr val="000000">
                <a:alpha val="3137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763000" y="2095500"/>
            <a:ext cx="5842000" cy="577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8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Responsive Typography</a:t>
            </a:r>
            <a:endParaRPr lang="en-US" sz="1800" dirty="0"/>
          </a:p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Fluid scaling across devices</a:t>
            </a:r>
            <a:endParaRPr lang="en-US" sz="1800" dirty="0"/>
          </a:p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Viewport units (vw, vh)</a:t>
            </a:r>
            <a:endParaRPr lang="en-US" sz="1800" dirty="0"/>
          </a:p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CSS clamp() function</a:t>
            </a:r>
            <a:endParaRPr lang="en-US" sz="1800" dirty="0"/>
          </a:p>
          <a:p>
            <a:pPr algn="l">
              <a:lnSpc>
                <a:spcPct val="160000"/>
              </a:lnSpc>
              <a:spcBef>
                <a:spcPts val="2000"/>
              </a:spcBef>
            </a:pPr>
            <a:r>
              <a:rPr lang="en-US" sz="18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Color Contrast</a:t>
            </a:r>
            <a:endParaRPr lang="en-US" sz="1800" dirty="0"/>
          </a:p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</a:t>
            </a:r>
            <a:pPr algn="l">
              <a:lnSpc>
                <a:spcPct val="160000"/>
              </a:lnSpc>
            </a:pPr>
            <a:r>
              <a:rPr lang="en-US" sz="18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AA Standard</a:t>
            </a:r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: 4.5:1 ratio</a:t>
            </a:r>
            <a:endParaRPr lang="en-US" sz="1800" dirty="0"/>
          </a:p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</a:t>
            </a:r>
            <a:pPr algn="l">
              <a:lnSpc>
                <a:spcPct val="160000"/>
              </a:lnSpc>
            </a:pPr>
            <a:r>
              <a:rPr lang="en-US" sz="18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AAA Standard</a:t>
            </a:r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: 7:1 ratio</a:t>
            </a:r>
            <a:endParaRPr lang="en-US" sz="1800" dirty="0"/>
          </a:p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Test with WebAIM Contrast Checker</a:t>
            </a:r>
            <a:endParaRPr lang="en-US" sz="1800" dirty="0"/>
          </a:p>
          <a:p>
            <a:pPr algn="l">
              <a:lnSpc>
                <a:spcPct val="160000"/>
              </a:lnSpc>
              <a:spcBef>
                <a:spcPts val="2000"/>
              </a:spcBef>
            </a:pPr>
            <a:r>
              <a:rPr lang="en-US" sz="18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Global Considerations</a:t>
            </a:r>
            <a:endParaRPr lang="en-US" sz="1800" dirty="0"/>
          </a:p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Unicode support for all languages</a:t>
            </a:r>
            <a:endParaRPr lang="en-US" sz="1800" dirty="0"/>
          </a:p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Right-to-left (RTL) text support</a:t>
            </a:r>
            <a:endParaRPr lang="en-US" sz="1800" dirty="0"/>
          </a:p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Extended character sets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4986000" y="8509000"/>
            <a:ext cx="101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09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70000" y="762000"/>
            <a:ext cx="1143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Text Creation Tools for Professionals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1270000" y="1524000"/>
            <a:ext cx="13716000" cy="12700"/>
          </a:xfrm>
          <a:prstGeom prst="rect">
            <a:avLst/>
          </a:prstGeom>
          <a:solidFill>
            <a:srgbClr val="D0D6DC"/>
          </a:solidFill>
          <a:ln/>
        </p:spPr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270000" y="1905000"/>
          <a:ext cx="13716000" cy="4826000"/>
        </p:xfrm>
        <a:graphic>
          <a:graphicData uri="http://schemas.openxmlformats.org/drawingml/2006/table">
            <a:tbl>
              <a:tblPr/>
              <a:tblGrid>
                <a:gridCol w="2468880"/>
                <a:gridCol w="3017520"/>
                <a:gridCol w="2743200"/>
                <a:gridCol w="2743200"/>
                <a:gridCol w="2743200"/>
              </a:tblGrid>
              <a:tr h="675640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Tool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5E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Best For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5E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Key Strength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5E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Price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5E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Platform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5E8A"/>
                    </a:solidFill>
                  </a:tcPr>
                </a:tc>
              </a:tr>
              <a:tr h="830072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Microsoft Word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Document creation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Industry standard, templates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$6.99/mo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Win, Mac, Web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D"/>
                    </a:solidFill>
                  </a:tcPr>
                </a:tc>
              </a:tr>
              <a:tr h="830072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Google Docs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Collaboration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Real-time editing, free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FF7F50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Free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Web, All devices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830072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Adobe InDesign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Professional publishing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Multi-page layouts, print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$22.99/mo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Win, Mac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D"/>
                    </a:solidFill>
                  </a:tcPr>
                </a:tc>
              </a:tr>
              <a:tr h="830072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Canva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Quick design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5,000+ templates, brand kit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Free / $12.99/mo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Web, All devices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830072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Notion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Knowledge mgmt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Wiki-style, markdown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Free / $8/mo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Web, All devices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D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1270000" y="7112000"/>
            <a:ext cx="13716000" cy="762000"/>
          </a:xfrm>
          <a:prstGeom prst="roundRect">
            <a:avLst>
              <a:gd name="adj" fmla="val 8000"/>
            </a:avLst>
          </a:prstGeom>
          <a:gradFill rotWithShape="1" flip="none">
            <a:gsLst>
              <a:gs pos="0">
                <a:srgbClr val="2E5E8A"/>
              </a:gs>
              <a:gs pos="100000">
                <a:srgbClr val="2E5E8A">
                  <a:alpha val="80000"/>
                </a:srgbClr>
              </a:gs>
            </a:gsLst>
            <a:lin ang="8100000" scaled="1"/>
          </a:gradFill>
          <a:ln/>
        </p:spPr>
      </p:sp>
      <p:sp>
        <p:nvSpPr>
          <p:cNvPr id="6" name="Text 3"/>
          <p:cNvSpPr/>
          <p:nvPr/>
        </p:nvSpPr>
        <p:spPr>
          <a:xfrm>
            <a:off x="1651000" y="7175500"/>
            <a:ext cx="12954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Selection Criteria:</a:t>
            </a:r>
            <a:pPr algn="ctr">
              <a:lnSpc>
                <a:spcPct val="120000"/>
              </a:lnSpc>
            </a:pPr>
            <a:r>
              <a:rPr lang="en-US" sz="18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Team size | Budget | Output format | Collaboration needs | Learning curve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14986000" y="8509000"/>
            <a:ext cx="101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10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2E5E8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540000"/>
            <a:ext cx="16256000" cy="4064000"/>
          </a:xfrm>
          <a:custGeom>
            <a:avLst/>
            <a:gdLst/>
            <a:ahLst/>
            <a:cxnLst/>
            <a:rect l="l" t="t" r="r" b="b"/>
            <a:pathLst>
              <a:path w="16256000" h="4064000">
                <a:moveTo>
                  <a:pt x="0" y="2032000"/>
                </a:moveTo>
                <a:quadBezTo>
                  <a:pt x="4064000" y="0"/>
                  <a:pt x="8128000" y="0"/>
                </a:quadBezTo>
                <a:quadBezTo>
                  <a:pt x="12192000" y="0"/>
                  <a:pt x="16256000" y="2032000"/>
                </a:quadBezTo>
                <a:lnTo>
                  <a:pt x="16256000" y="4064000"/>
                </a:lnTo>
                <a:lnTo>
                  <a:pt x="0" y="4064000"/>
                </a:lnTo>
                <a:close/>
              </a:path>
            </a:pathLst>
          </a:custGeom>
          <a:gradFill rotWithShape="1" flip="none">
            <a:gsLst>
              <a:gs pos="0">
                <a:srgbClr val="D0E0E3"/>
              </a:gs>
              <a:gs pos="50000">
                <a:srgbClr val="D0E0E3">
                  <a:alpha val="31000"/>
                </a:srgbClr>
              </a:gs>
              <a:gs pos="100000">
                <a:srgbClr val="2E5E8A">
                  <a:alpha val="19000"/>
                </a:srgbClr>
              </a:gs>
            </a:gsLst>
            <a:lin ang="5400000" scaled="1"/>
          </a:gradFill>
          <a:ln/>
        </p:spPr>
      </p:sp>
      <p:sp>
        <p:nvSpPr>
          <p:cNvPr id="3" name="Text 1"/>
          <p:cNvSpPr/>
          <p:nvPr/>
        </p:nvSpPr>
        <p:spPr>
          <a:xfrm>
            <a:off x="1270000" y="3175000"/>
            <a:ext cx="2540000" cy="1016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72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03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4318000" y="3048000"/>
            <a:ext cx="10160000" cy="1016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6000" dirty="0">
                <a:solidFill>
                  <a:srgbClr val="FCFDF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Creating Multimedia Sound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4318000" y="4318000"/>
            <a:ext cx="889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dirty="0">
                <a:solidFill>
                  <a:srgbClr val="FCFDF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Recording, editing, and producing professional audio content</a:t>
            </a:r>
            <a:endParaRPr lang="en-US" sz="2200" dirty="0"/>
          </a:p>
        </p:txBody>
      </p:sp>
    </p:spTree>
  </p:cSld>
  <p:clrMapOvr>
    <a:masterClrMapping/>
  </p:clrMapOvr>
  <p:transition>
    <p:fade/>
    <p:spd val="med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70000" y="762000"/>
            <a:ext cx="1143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Digital Audio Fundamentals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1270000" y="1524000"/>
            <a:ext cx="13716000" cy="12700"/>
          </a:xfrm>
          <a:prstGeom prst="rect">
            <a:avLst/>
          </a:prstGeom>
          <a:solidFill>
            <a:srgbClr val="D0D6DC"/>
          </a:solidFill>
          <a:ln/>
        </p:spPr>
      </p:sp>
      <p:sp>
        <p:nvSpPr>
          <p:cNvPr id="4" name="Text 2"/>
          <p:cNvSpPr/>
          <p:nvPr/>
        </p:nvSpPr>
        <p:spPr>
          <a:xfrm>
            <a:off x="1270000" y="1651000"/>
            <a:ext cx="6604000" cy="685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20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Audio Formats</a:t>
            </a:r>
            <a:endParaRPr lang="en-US" sz="2000" dirty="0"/>
          </a:p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</a:t>
            </a:r>
            <a:pPr algn="l">
              <a:lnSpc>
                <a:spcPct val="160000"/>
              </a:lnSpc>
            </a:pPr>
            <a:r>
              <a:rPr lang="en-US" sz="20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WAV</a:t>
            </a:r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Uncompressed, high quality, large files</a:t>
            </a:r>
            <a:endParaRPr lang="en-US" sz="2000" dirty="0"/>
          </a:p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</a:t>
            </a:r>
            <a:pPr algn="l">
              <a:lnSpc>
                <a:spcPct val="160000"/>
              </a:lnSpc>
            </a:pPr>
            <a:r>
              <a:rPr lang="en-US" sz="20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MP3</a:t>
            </a:r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Compressed, universal compatibility</a:t>
            </a:r>
            <a:endParaRPr lang="en-US" sz="2000" dirty="0"/>
          </a:p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</a:t>
            </a:r>
            <a:pPr algn="l">
              <a:lnSpc>
                <a:spcPct val="160000"/>
              </a:lnSpc>
            </a:pPr>
            <a:r>
              <a:rPr lang="en-US" sz="20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AAC</a:t>
            </a:r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Apple ecosystem, better than MP3</a:t>
            </a:r>
            <a:endParaRPr lang="en-US" sz="2000" dirty="0"/>
          </a:p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</a:t>
            </a:r>
            <a:pPr algn="l">
              <a:lnSpc>
                <a:spcPct val="160000"/>
              </a:lnSpc>
            </a:pPr>
            <a:r>
              <a:rPr lang="en-US" sz="20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FLAC</a:t>
            </a:r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Lossless compression, audiophile</a:t>
            </a:r>
            <a:endParaRPr lang="en-US" sz="2000" dirty="0"/>
          </a:p>
          <a:p>
            <a:pPr algn="l">
              <a:lnSpc>
                <a:spcPct val="160000"/>
              </a:lnSpc>
              <a:spcBef>
                <a:spcPts val="2000"/>
              </a:spcBef>
            </a:pPr>
            <a:r>
              <a:rPr lang="en-US" sz="20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Sample Rate &amp; Bit Depth</a:t>
            </a:r>
            <a:endParaRPr lang="en-US" sz="2000" dirty="0"/>
          </a:p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44.1kHz/16-bit — CD quality standard</a:t>
            </a:r>
            <a:endParaRPr lang="en-US" sz="2000" dirty="0"/>
          </a:p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48kHz/24-bit — Professional standard</a:t>
            </a:r>
            <a:endParaRPr lang="en-US" sz="2000" dirty="0"/>
          </a:p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96kHz — High-resolution audio</a:t>
            </a:r>
            <a:endParaRPr lang="en-US" sz="2000" dirty="0"/>
          </a:p>
          <a:p>
            <a:pPr algn="l">
              <a:lnSpc>
                <a:spcPct val="160000"/>
              </a:lnSpc>
              <a:spcBef>
                <a:spcPts val="2000"/>
              </a:spcBef>
            </a:pPr>
            <a:r>
              <a:rPr lang="en-US" sz="20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Channel Configurations</a:t>
            </a:r>
            <a:endParaRPr lang="en-US" sz="2000" dirty="0"/>
          </a:p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Mono — Single channel, voice-focused</a:t>
            </a:r>
            <a:endParaRPr lang="en-US" sz="2000" dirty="0"/>
          </a:p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Stereo — Two channels, music, spatial</a:t>
            </a:r>
            <a:endParaRPr lang="en-US" sz="2000" dirty="0"/>
          </a:p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Surround — 5.1/7.1, immersive content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8382000" y="1905000"/>
            <a:ext cx="6604000" cy="2921000"/>
          </a:xfrm>
          <a:prstGeom prst="roundRect">
            <a:avLst>
              <a:gd name="adj" fmla="val 10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27000" dist="50800" dir="5400000">
              <a:srgbClr val="000000">
                <a:alpha val="3137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763000" y="2095500"/>
            <a:ext cx="5842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File Size Comparison (3 min)</a:t>
            </a:r>
            <a:endParaRPr lang="en-US" sz="22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8636000" y="2603500"/>
          <a:ext cx="6096000" cy="2032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Shape 5"/>
          <p:cNvSpPr/>
          <p:nvPr/>
        </p:nvSpPr>
        <p:spPr>
          <a:xfrm>
            <a:off x="8382000" y="5080000"/>
            <a:ext cx="6604000" cy="1524000"/>
          </a:xfrm>
          <a:prstGeom prst="roundRect">
            <a:avLst>
              <a:gd name="adj" fmla="val 10000"/>
            </a:avLst>
          </a:prstGeom>
          <a:gradFill rotWithShape="1" flip="none">
            <a:gsLst>
              <a:gs pos="0">
                <a:srgbClr val="2E5E8A"/>
              </a:gs>
              <a:gs pos="100000">
                <a:srgbClr val="2E5E8A">
                  <a:alpha val="80000"/>
                </a:srgbClr>
              </a:gs>
            </a:gsLst>
            <a:lin ang="8100000" scaled="1"/>
          </a:gradFill>
          <a:ln/>
        </p:spPr>
      </p:sp>
      <p:sp>
        <p:nvSpPr>
          <p:cNvPr id="9" name="Text 6"/>
          <p:cNvSpPr/>
          <p:nvPr/>
        </p:nvSpPr>
        <p:spPr>
          <a:xfrm>
            <a:off x="8763000" y="5207000"/>
            <a:ext cx="5842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60000"/>
              </a:lnSpc>
            </a:pPr>
            <a:r>
              <a:rPr lang="en-US" sz="18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Pro Tip:</a:t>
            </a:r>
            <a:pPr algn="l">
              <a:lnSpc>
                <a:spcPct val="160000"/>
              </a:lnSpc>
            </a:pPr>
            <a:r>
              <a:rPr lang="en-US" sz="18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Record at 48kHz/24-bit, export at 44.1kHz/16-bit for the best balance of quality and compatibility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14986000" y="8509000"/>
            <a:ext cx="101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12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70000" y="762000"/>
            <a:ext cx="1143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Audio Recording and Editing Techniques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1270000" y="1524000"/>
            <a:ext cx="13716000" cy="12700"/>
          </a:xfrm>
          <a:prstGeom prst="rect">
            <a:avLst/>
          </a:prstGeom>
          <a:solidFill>
            <a:srgbClr val="D0D6DC"/>
          </a:solidFill>
          <a:ln/>
        </p:spPr>
      </p:sp>
      <p:sp>
        <p:nvSpPr>
          <p:cNvPr id="4" name="Shape 2"/>
          <p:cNvSpPr/>
          <p:nvPr/>
        </p:nvSpPr>
        <p:spPr>
          <a:xfrm>
            <a:off x="1270000" y="1905000"/>
            <a:ext cx="6604000" cy="6096000"/>
          </a:xfrm>
          <a:prstGeom prst="roundRect">
            <a:avLst>
              <a:gd name="adj" fmla="val 10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27000" dist="50800" dir="5400000">
              <a:srgbClr val="000000">
                <a:alpha val="3137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651000" y="22225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254000" y="0"/>
                </a:moveTo>
                <a:cubicBezTo>
                  <a:pt x="183885" y="0"/>
                  <a:pt x="127000" y="42664"/>
                  <a:pt x="127000" y="95250"/>
                </a:cubicBezTo>
                <a:lnTo>
                  <a:pt x="127000" y="222250"/>
                </a:lnTo>
                <a:cubicBezTo>
                  <a:pt x="127000" y="274836"/>
                  <a:pt x="183885" y="317500"/>
                  <a:pt x="254000" y="317500"/>
                </a:cubicBezTo>
                <a:cubicBezTo>
                  <a:pt x="324115" y="317500"/>
                  <a:pt x="381000" y="274836"/>
                  <a:pt x="381000" y="222250"/>
                </a:cubicBezTo>
                <a:lnTo>
                  <a:pt x="381000" y="95250"/>
                </a:lnTo>
                <a:cubicBezTo>
                  <a:pt x="381000" y="42664"/>
                  <a:pt x="324115" y="0"/>
                  <a:pt x="254000" y="0"/>
                </a:cubicBezTo>
                <a:close/>
                <a:moveTo>
                  <a:pt x="63500" y="182563"/>
                </a:moveTo>
                <a:cubicBezTo>
                  <a:pt x="63500" y="169366"/>
                  <a:pt x="49345" y="158750"/>
                  <a:pt x="31750" y="158750"/>
                </a:cubicBezTo>
                <a:cubicBezTo>
                  <a:pt x="14155" y="158750"/>
                  <a:pt x="0" y="169366"/>
                  <a:pt x="0" y="182563"/>
                </a:cubicBezTo>
                <a:lnTo>
                  <a:pt x="0" y="222250"/>
                </a:lnTo>
                <a:cubicBezTo>
                  <a:pt x="0" y="319385"/>
                  <a:pt x="96970" y="399554"/>
                  <a:pt x="222250" y="411262"/>
                </a:cubicBezTo>
                <a:lnTo>
                  <a:pt x="222250" y="460375"/>
                </a:lnTo>
                <a:lnTo>
                  <a:pt x="158750" y="460375"/>
                </a:lnTo>
                <a:cubicBezTo>
                  <a:pt x="141155" y="460375"/>
                  <a:pt x="127000" y="470991"/>
                  <a:pt x="127000" y="484187"/>
                </a:cubicBezTo>
                <a:cubicBezTo>
                  <a:pt x="127000" y="497384"/>
                  <a:pt x="141155" y="508000"/>
                  <a:pt x="158750" y="508000"/>
                </a:cubicBezTo>
                <a:lnTo>
                  <a:pt x="349250" y="508000"/>
                </a:lnTo>
                <a:cubicBezTo>
                  <a:pt x="366845" y="508000"/>
                  <a:pt x="381000" y="497384"/>
                  <a:pt x="381000" y="484187"/>
                </a:cubicBezTo>
                <a:cubicBezTo>
                  <a:pt x="381000" y="470991"/>
                  <a:pt x="366845" y="460375"/>
                  <a:pt x="349250" y="460375"/>
                </a:cubicBezTo>
                <a:lnTo>
                  <a:pt x="285750" y="460375"/>
                </a:lnTo>
                <a:lnTo>
                  <a:pt x="285750" y="411262"/>
                </a:lnTo>
                <a:cubicBezTo>
                  <a:pt x="411030" y="399554"/>
                  <a:pt x="508000" y="319385"/>
                  <a:pt x="508000" y="222250"/>
                </a:cubicBezTo>
                <a:lnTo>
                  <a:pt x="508000" y="182563"/>
                </a:lnTo>
                <a:cubicBezTo>
                  <a:pt x="508000" y="169366"/>
                  <a:pt x="493845" y="158750"/>
                  <a:pt x="476250" y="158750"/>
                </a:cubicBezTo>
                <a:cubicBezTo>
                  <a:pt x="458655" y="158750"/>
                  <a:pt x="444500" y="169366"/>
                  <a:pt x="444500" y="182563"/>
                </a:cubicBezTo>
                <a:lnTo>
                  <a:pt x="444500" y="222250"/>
                </a:lnTo>
                <a:cubicBezTo>
                  <a:pt x="444500" y="301129"/>
                  <a:pt x="359172" y="365125"/>
                  <a:pt x="254000" y="365125"/>
                </a:cubicBezTo>
                <a:cubicBezTo>
                  <a:pt x="148828" y="365125"/>
                  <a:pt x="63500" y="301129"/>
                  <a:pt x="63500" y="222250"/>
                </a:cubicBezTo>
                <a:lnTo>
                  <a:pt x="63500" y="182563"/>
                </a:lnTo>
                <a:close/>
              </a:path>
            </a:pathLst>
          </a:custGeom>
          <a:solidFill>
            <a:srgbClr val="FF7F50"/>
          </a:solidFill>
          <a:ln/>
        </p:spPr>
      </p:sp>
      <p:sp>
        <p:nvSpPr>
          <p:cNvPr id="6" name="Text 4"/>
          <p:cNvSpPr/>
          <p:nvPr/>
        </p:nvSpPr>
        <p:spPr>
          <a:xfrm>
            <a:off x="2349500" y="2222500"/>
            <a:ext cx="508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4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Recording Environment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651000" y="2794000"/>
            <a:ext cx="5905500" cy="520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8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Room Setup</a:t>
            </a:r>
            <a:endParaRPr lang="en-US" sz="1800" dirty="0"/>
          </a:p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Acoustic treatment (panels, bass traps)</a:t>
            </a:r>
            <a:endParaRPr lang="en-US" sz="1800" dirty="0"/>
          </a:p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Soundproofing to minimize ambient noise</a:t>
            </a:r>
            <a:endParaRPr lang="en-US" sz="1800" dirty="0"/>
          </a:p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Microphone placement 6-12 inches from source</a:t>
            </a:r>
            <a:endParaRPr lang="en-US" sz="1800" dirty="0"/>
          </a:p>
          <a:p>
            <a:pPr algn="l">
              <a:lnSpc>
                <a:spcPct val="160000"/>
              </a:lnSpc>
              <a:spcBef>
                <a:spcPts val="1600"/>
              </a:spcBef>
            </a:pPr>
            <a:r>
              <a:rPr lang="en-US" sz="18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Microphone Types</a:t>
            </a:r>
            <a:endParaRPr lang="en-US" sz="1800" dirty="0"/>
          </a:p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</a:t>
            </a:r>
            <a:pPr algn="l">
              <a:lnSpc>
                <a:spcPct val="160000"/>
              </a:lnSpc>
            </a:pPr>
            <a:r>
              <a:rPr lang="en-US" sz="18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Dynamic</a:t>
            </a:r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— Live, robust, less sensitive</a:t>
            </a:r>
            <a:endParaRPr lang="en-US" sz="1800" dirty="0"/>
          </a:p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</a:t>
            </a:r>
            <a:pPr algn="l">
              <a:lnSpc>
                <a:spcPct val="160000"/>
              </a:lnSpc>
            </a:pPr>
            <a:r>
              <a:rPr lang="en-US" sz="18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Condenser</a:t>
            </a:r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— Studio, detailed, phantom power</a:t>
            </a:r>
            <a:endParaRPr lang="en-US" sz="1800" dirty="0"/>
          </a:p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</a:t>
            </a:r>
            <a:pPr algn="l">
              <a:lnSpc>
                <a:spcPct val="160000"/>
              </a:lnSpc>
            </a:pPr>
            <a:r>
              <a:rPr lang="en-US" sz="18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Lavalier</a:t>
            </a:r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— Interviews, hands-free</a:t>
            </a:r>
            <a:endParaRPr lang="en-US" sz="1800" dirty="0"/>
          </a:p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</a:t>
            </a:r>
            <a:pPr algn="l">
              <a:lnSpc>
                <a:spcPct val="160000"/>
              </a:lnSpc>
            </a:pPr>
            <a:r>
              <a:rPr lang="en-US" sz="18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USB</a:t>
            </a:r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— Convenient, plug-and-play</a:t>
            </a:r>
            <a:endParaRPr lang="en-US" sz="1800" dirty="0"/>
          </a:p>
          <a:p>
            <a:pPr algn="l">
              <a:lnSpc>
                <a:spcPct val="160000"/>
              </a:lnSpc>
              <a:spcBef>
                <a:spcPts val="1600"/>
              </a:spcBef>
            </a:pPr>
            <a:r>
              <a:rPr lang="en-US" sz="18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Essential Accessories</a:t>
            </a:r>
            <a:endParaRPr lang="en-US" sz="1800" dirty="0"/>
          </a:p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Pop filter, shock mount, boom arm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8382000" y="1905000"/>
            <a:ext cx="6604000" cy="6096000"/>
          </a:xfrm>
          <a:prstGeom prst="roundRect">
            <a:avLst>
              <a:gd name="adj" fmla="val 10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27000" dist="50800" dir="5400000">
              <a:srgbClr val="000000">
                <a:alpha val="3137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8763000" y="22225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31750" y="63500"/>
                </a:moveTo>
                <a:cubicBezTo>
                  <a:pt x="14188" y="63500"/>
                  <a:pt x="0" y="77688"/>
                  <a:pt x="0" y="95250"/>
                </a:cubicBezTo>
                <a:cubicBezTo>
                  <a:pt x="0" y="112812"/>
                  <a:pt x="14188" y="127000"/>
                  <a:pt x="31750" y="127000"/>
                </a:cubicBezTo>
                <a:lnTo>
                  <a:pt x="117773" y="127000"/>
                </a:lnTo>
                <a:cubicBezTo>
                  <a:pt x="129977" y="155079"/>
                  <a:pt x="157956" y="174625"/>
                  <a:pt x="190500" y="174625"/>
                </a:cubicBezTo>
                <a:cubicBezTo>
                  <a:pt x="223044" y="174625"/>
                  <a:pt x="251023" y="155079"/>
                  <a:pt x="263227" y="127000"/>
                </a:cubicBezTo>
                <a:lnTo>
                  <a:pt x="476250" y="127000"/>
                </a:lnTo>
                <a:cubicBezTo>
                  <a:pt x="493812" y="127000"/>
                  <a:pt x="508000" y="112812"/>
                  <a:pt x="508000" y="95250"/>
                </a:cubicBezTo>
                <a:cubicBezTo>
                  <a:pt x="508000" y="77688"/>
                  <a:pt x="493812" y="63500"/>
                  <a:pt x="476250" y="63500"/>
                </a:cubicBezTo>
                <a:lnTo>
                  <a:pt x="263227" y="63500"/>
                </a:lnTo>
                <a:cubicBezTo>
                  <a:pt x="251023" y="35421"/>
                  <a:pt x="223044" y="15875"/>
                  <a:pt x="190500" y="15875"/>
                </a:cubicBezTo>
                <a:cubicBezTo>
                  <a:pt x="157956" y="15875"/>
                  <a:pt x="129977" y="35421"/>
                  <a:pt x="117773" y="63500"/>
                </a:cubicBezTo>
                <a:lnTo>
                  <a:pt x="31750" y="63500"/>
                </a:lnTo>
                <a:close/>
                <a:moveTo>
                  <a:pt x="31750" y="222250"/>
                </a:moveTo>
                <a:cubicBezTo>
                  <a:pt x="14188" y="222250"/>
                  <a:pt x="0" y="236438"/>
                  <a:pt x="0" y="254000"/>
                </a:cubicBezTo>
                <a:cubicBezTo>
                  <a:pt x="0" y="271562"/>
                  <a:pt x="14188" y="285750"/>
                  <a:pt x="31750" y="285750"/>
                </a:cubicBezTo>
                <a:lnTo>
                  <a:pt x="276523" y="285750"/>
                </a:lnTo>
                <a:cubicBezTo>
                  <a:pt x="288727" y="313829"/>
                  <a:pt x="316706" y="333375"/>
                  <a:pt x="349250" y="333375"/>
                </a:cubicBezTo>
                <a:cubicBezTo>
                  <a:pt x="381794" y="333375"/>
                  <a:pt x="409773" y="313829"/>
                  <a:pt x="421977" y="285750"/>
                </a:cubicBezTo>
                <a:lnTo>
                  <a:pt x="476250" y="285750"/>
                </a:lnTo>
                <a:cubicBezTo>
                  <a:pt x="493812" y="285750"/>
                  <a:pt x="508000" y="271562"/>
                  <a:pt x="508000" y="254000"/>
                </a:cubicBezTo>
                <a:cubicBezTo>
                  <a:pt x="508000" y="236438"/>
                  <a:pt x="493812" y="222250"/>
                  <a:pt x="476250" y="222250"/>
                </a:cubicBezTo>
                <a:lnTo>
                  <a:pt x="421977" y="222250"/>
                </a:lnTo>
                <a:cubicBezTo>
                  <a:pt x="409773" y="194171"/>
                  <a:pt x="381794" y="174625"/>
                  <a:pt x="349250" y="174625"/>
                </a:cubicBezTo>
                <a:cubicBezTo>
                  <a:pt x="316706" y="174625"/>
                  <a:pt x="288727" y="194171"/>
                  <a:pt x="276523" y="222250"/>
                </a:cubicBezTo>
                <a:lnTo>
                  <a:pt x="31750" y="222250"/>
                </a:lnTo>
                <a:close/>
                <a:moveTo>
                  <a:pt x="31750" y="381000"/>
                </a:moveTo>
                <a:cubicBezTo>
                  <a:pt x="14188" y="381000"/>
                  <a:pt x="0" y="395188"/>
                  <a:pt x="0" y="412750"/>
                </a:cubicBezTo>
                <a:cubicBezTo>
                  <a:pt x="0" y="430312"/>
                  <a:pt x="14188" y="444500"/>
                  <a:pt x="31750" y="444500"/>
                </a:cubicBezTo>
                <a:lnTo>
                  <a:pt x="86023" y="444500"/>
                </a:lnTo>
                <a:cubicBezTo>
                  <a:pt x="98227" y="472579"/>
                  <a:pt x="126206" y="492125"/>
                  <a:pt x="158750" y="492125"/>
                </a:cubicBezTo>
                <a:cubicBezTo>
                  <a:pt x="191294" y="492125"/>
                  <a:pt x="219273" y="472579"/>
                  <a:pt x="231477" y="444500"/>
                </a:cubicBezTo>
                <a:lnTo>
                  <a:pt x="476250" y="444500"/>
                </a:lnTo>
                <a:cubicBezTo>
                  <a:pt x="493812" y="444500"/>
                  <a:pt x="508000" y="430312"/>
                  <a:pt x="508000" y="412750"/>
                </a:cubicBezTo>
                <a:cubicBezTo>
                  <a:pt x="508000" y="395188"/>
                  <a:pt x="493812" y="381000"/>
                  <a:pt x="476250" y="381000"/>
                </a:cubicBezTo>
                <a:lnTo>
                  <a:pt x="231477" y="381000"/>
                </a:lnTo>
                <a:cubicBezTo>
                  <a:pt x="219273" y="352921"/>
                  <a:pt x="191294" y="333375"/>
                  <a:pt x="158750" y="333375"/>
                </a:cubicBezTo>
                <a:cubicBezTo>
                  <a:pt x="126206" y="333375"/>
                  <a:pt x="98227" y="352921"/>
                  <a:pt x="86023" y="381000"/>
                </a:cubicBezTo>
                <a:lnTo>
                  <a:pt x="31750" y="381000"/>
                </a:lnTo>
                <a:close/>
              </a:path>
            </a:pathLst>
          </a:custGeom>
          <a:solidFill>
            <a:srgbClr val="FF7F50"/>
          </a:solidFill>
          <a:ln/>
        </p:spPr>
      </p:sp>
      <p:sp>
        <p:nvSpPr>
          <p:cNvPr id="10" name="Text 8"/>
          <p:cNvSpPr/>
          <p:nvPr/>
        </p:nvSpPr>
        <p:spPr>
          <a:xfrm>
            <a:off x="9461500" y="2222500"/>
            <a:ext cx="508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4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Editing Workflow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8763000" y="2667000"/>
            <a:ext cx="5905500" cy="552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8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6-Step Process</a:t>
            </a:r>
            <a:endParaRPr lang="en-US" sz="1800" dirty="0"/>
          </a:p>
          <a:p>
            <a:pPr algn="l">
              <a:lnSpc>
                <a:spcPct val="160000"/>
              </a:lnSpc>
            </a:pPr>
            <a:r>
              <a:rPr lang="en-US" sz="18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1.</a:t>
            </a:r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Import — Organize files, set tempo</a:t>
            </a:r>
            <a:endParaRPr lang="en-US" sz="1800" dirty="0"/>
          </a:p>
          <a:p>
            <a:pPr algn="l">
              <a:lnSpc>
                <a:spcPct val="160000"/>
              </a:lnSpc>
            </a:pPr>
            <a:r>
              <a:rPr lang="en-US" sz="18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2.</a:t>
            </a:r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Clean — Noise reduction, de-essing</a:t>
            </a:r>
            <a:endParaRPr lang="en-US" sz="1800" dirty="0"/>
          </a:p>
          <a:p>
            <a:pPr algn="l">
              <a:lnSpc>
                <a:spcPct val="160000"/>
              </a:lnSpc>
            </a:pPr>
            <a:r>
              <a:rPr lang="en-US" sz="18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3.</a:t>
            </a:r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Cut — Remove mistakes, trim silence</a:t>
            </a:r>
            <a:endParaRPr lang="en-US" sz="1800" dirty="0"/>
          </a:p>
          <a:p>
            <a:pPr algn="l">
              <a:lnSpc>
                <a:spcPct val="160000"/>
              </a:lnSpc>
            </a:pPr>
            <a:r>
              <a:rPr lang="en-US" sz="18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4.</a:t>
            </a:r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Arrange — Structure segments</a:t>
            </a:r>
            <a:endParaRPr lang="en-US" sz="1800" dirty="0"/>
          </a:p>
          <a:p>
            <a:pPr algn="l">
              <a:lnSpc>
                <a:spcPct val="160000"/>
              </a:lnSpc>
            </a:pPr>
            <a:r>
              <a:rPr lang="en-US" sz="18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5.</a:t>
            </a:r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Mix — Balance levels, EQ, compression</a:t>
            </a:r>
            <a:endParaRPr lang="en-US" sz="1800" dirty="0"/>
          </a:p>
          <a:p>
            <a:pPr algn="l">
              <a:lnSpc>
                <a:spcPct val="160000"/>
              </a:lnSpc>
            </a:pPr>
            <a:r>
              <a:rPr lang="en-US" sz="18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6.</a:t>
            </a:r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Master — Final polish, normalize, export</a:t>
            </a:r>
            <a:endParaRPr lang="en-US" sz="1800" dirty="0"/>
          </a:p>
          <a:p>
            <a:pPr algn="l">
              <a:lnSpc>
                <a:spcPct val="160000"/>
              </a:lnSpc>
              <a:spcBef>
                <a:spcPts val="1600"/>
              </a:spcBef>
            </a:pPr>
            <a:r>
              <a:rPr lang="en-US" sz="18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Audio Layering</a:t>
            </a:r>
            <a:endParaRPr lang="en-US" sz="1800" dirty="0"/>
          </a:p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Background music (bed)</a:t>
            </a:r>
            <a:endParaRPr lang="en-US" sz="1800" dirty="0"/>
          </a:p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Voiceover (lead)</a:t>
            </a:r>
            <a:endParaRPr lang="en-US" sz="1800" dirty="0"/>
          </a:p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Sound effects (accent)</a:t>
            </a:r>
            <a:endParaRPr lang="en-US" sz="1800" dirty="0"/>
          </a:p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Ambient (atmosphere)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4986000" y="8509000"/>
            <a:ext cx="101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13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70000" y="762000"/>
            <a:ext cx="1143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Professional Audio Tools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1270000" y="1524000"/>
            <a:ext cx="13716000" cy="12700"/>
          </a:xfrm>
          <a:prstGeom prst="rect">
            <a:avLst/>
          </a:prstGeom>
          <a:solidFill>
            <a:srgbClr val="D0D6DC"/>
          </a:solidFill>
          <a:ln/>
        </p:spPr>
      </p:sp>
      <p:sp>
        <p:nvSpPr>
          <p:cNvPr id="4" name="Shape 2"/>
          <p:cNvSpPr/>
          <p:nvPr/>
        </p:nvSpPr>
        <p:spPr>
          <a:xfrm>
            <a:off x="1270000" y="1905000"/>
            <a:ext cx="4318000" cy="2667000"/>
          </a:xfrm>
          <a:prstGeom prst="roundRect">
            <a:avLst>
              <a:gd name="adj" fmla="val 10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27000" dist="50800" dir="5400000">
              <a:srgbClr val="000000">
                <a:alpha val="3137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524000" y="2159000"/>
            <a:ext cx="889000" cy="355600"/>
          </a:xfrm>
          <a:prstGeom prst="roundRect">
            <a:avLst>
              <a:gd name="adj" fmla="val 20000"/>
            </a:avLst>
          </a:prstGeom>
          <a:solidFill>
            <a:srgbClr val="4CAF50"/>
          </a:solidFill>
          <a:ln/>
        </p:spPr>
      </p:sp>
      <p:sp>
        <p:nvSpPr>
          <p:cNvPr id="6" name="Text 4"/>
          <p:cNvSpPr/>
          <p:nvPr/>
        </p:nvSpPr>
        <p:spPr>
          <a:xfrm>
            <a:off x="1524000" y="2159000"/>
            <a:ext cx="889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FREE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540000" y="2133600"/>
            <a:ext cx="2794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Audacity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524000" y="2667000"/>
            <a:ext cx="3810000" cy="187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Open-source, cross-platform. Multi-track editing, extensive effects library, plugin support. Best for beginners and budget-conscious creators.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969000" y="1905000"/>
            <a:ext cx="4318000" cy="2667000"/>
          </a:xfrm>
          <a:prstGeom prst="roundRect">
            <a:avLst>
              <a:gd name="adj" fmla="val 10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27000" dist="50800" dir="5400000">
              <a:srgbClr val="000000">
                <a:alpha val="3137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223000" y="2159000"/>
            <a:ext cx="1270000" cy="355600"/>
          </a:xfrm>
          <a:prstGeom prst="roundRect">
            <a:avLst>
              <a:gd name="adj" fmla="val 20000"/>
            </a:avLst>
          </a:prstGeom>
          <a:solidFill>
            <a:srgbClr val="2E5E8A"/>
          </a:solidFill>
          <a:ln/>
        </p:spPr>
      </p:sp>
      <p:sp>
        <p:nvSpPr>
          <p:cNvPr id="11" name="Text 9"/>
          <p:cNvSpPr/>
          <p:nvPr/>
        </p:nvSpPr>
        <p:spPr>
          <a:xfrm>
            <a:off x="6223000" y="2159000"/>
            <a:ext cx="127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PRO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620000" y="2133600"/>
            <a:ext cx="2413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Adobe Audition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6223000" y="2667000"/>
            <a:ext cx="3810000" cy="187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Professional-grade spectral editing, multitrack mixing, seamless Creative Cloud integration. Industry standard for podcast and broadcast production.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10668000" y="1905000"/>
            <a:ext cx="4318000" cy="2667000"/>
          </a:xfrm>
          <a:prstGeom prst="roundRect">
            <a:avLst>
              <a:gd name="adj" fmla="val 10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27000" dist="50800" dir="5400000">
              <a:srgbClr val="000000">
                <a:alpha val="3137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10922000" y="2159000"/>
            <a:ext cx="1270000" cy="355600"/>
          </a:xfrm>
          <a:prstGeom prst="roundRect">
            <a:avLst>
              <a:gd name="adj" fmla="val 20000"/>
            </a:avLst>
          </a:prstGeom>
          <a:solidFill>
            <a:srgbClr val="FF7F50"/>
          </a:solidFill>
          <a:ln/>
        </p:spPr>
      </p:sp>
      <p:sp>
        <p:nvSpPr>
          <p:cNvPr id="16" name="Text 14"/>
          <p:cNvSpPr/>
          <p:nvPr/>
        </p:nvSpPr>
        <p:spPr>
          <a:xfrm>
            <a:off x="10922000" y="2159000"/>
            <a:ext cx="127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STUDIO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2319000" y="2133600"/>
            <a:ext cx="2413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Pro Tools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0922000" y="2667000"/>
            <a:ext cx="3810000" cy="187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Industry standard for music production. Advanced MIDI, HD audio engine, professional mixing. Used in major recording studios worldwide.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270000" y="4953000"/>
            <a:ext cx="508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Also Consider</a:t>
            </a:r>
            <a:endParaRPr lang="en-US" sz="2200" dirty="0"/>
          </a:p>
        </p:txBody>
      </p:sp>
      <p:sp>
        <p:nvSpPr>
          <p:cNvPr id="20" name="Shape 18"/>
          <p:cNvSpPr/>
          <p:nvPr/>
        </p:nvSpPr>
        <p:spPr>
          <a:xfrm>
            <a:off x="1270000" y="5524500"/>
            <a:ext cx="3238500" cy="1397000"/>
          </a:xfrm>
          <a:prstGeom prst="roundRect">
            <a:avLst>
              <a:gd name="adj" fmla="val 10000"/>
            </a:avLst>
          </a:prstGeom>
          <a:solidFill>
            <a:srgbClr val="FCFDFD"/>
          </a:solidFill>
          <a:ln w="12700">
            <a:solidFill>
              <a:srgbClr val="D0D6D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524000" y="5524500"/>
            <a:ext cx="2730500" cy="146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6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Logic Pro</a:t>
            </a:r>
            <a:endParaRPr lang="en-US" sz="1600" dirty="0"/>
          </a:p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Mac-exclusive, comprehensive virtual instruments, spatial audio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4889500" y="5524500"/>
            <a:ext cx="3238500" cy="1397000"/>
          </a:xfrm>
          <a:prstGeom prst="roundRect">
            <a:avLst>
              <a:gd name="adj" fmla="val 10000"/>
            </a:avLst>
          </a:prstGeom>
          <a:solidFill>
            <a:srgbClr val="FCFDFD"/>
          </a:solidFill>
          <a:ln w="12700">
            <a:solidFill>
              <a:srgbClr val="D0D6D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143500" y="5524500"/>
            <a:ext cx="2730500" cy="146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6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Descript</a:t>
            </a:r>
            <a:endParaRPr lang="en-US" sz="1600" dirty="0"/>
          </a:p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Text-based editing, automatic transcription, Overdub AI voices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8509000" y="5524500"/>
            <a:ext cx="3238500" cy="1397000"/>
          </a:xfrm>
          <a:prstGeom prst="roundRect">
            <a:avLst>
              <a:gd name="adj" fmla="val 10000"/>
            </a:avLst>
          </a:prstGeom>
          <a:solidFill>
            <a:srgbClr val="FCFDFD"/>
          </a:solidFill>
          <a:ln w="12700">
            <a:solidFill>
              <a:srgbClr val="D0D6D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763000" y="5524500"/>
            <a:ext cx="2730500" cy="146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6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Riverside.fm</a:t>
            </a:r>
            <a:endParaRPr lang="en-US" sz="1600" dirty="0"/>
          </a:p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Remote recording, local tracks, 4K video, studio quality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12128500" y="5524500"/>
            <a:ext cx="2857500" cy="1397000"/>
          </a:xfrm>
          <a:prstGeom prst="roundRect">
            <a:avLst>
              <a:gd name="adj" fmla="val 10000"/>
            </a:avLst>
          </a:prstGeom>
          <a:solidFill>
            <a:srgbClr val="FCFDFD"/>
          </a:solidFill>
          <a:ln w="12700">
            <a:solidFill>
              <a:srgbClr val="D0D6D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2382500" y="5524500"/>
            <a:ext cx="2349500" cy="146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6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Cleanvoice</a:t>
            </a:r>
            <a:endParaRPr lang="en-US" sz="1600" dirty="0"/>
          </a:p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AI-powered audio cleanup, filler word removal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1270000" y="7302500"/>
            <a:ext cx="13716000" cy="635000"/>
          </a:xfrm>
          <a:prstGeom prst="roundRect">
            <a:avLst>
              <a:gd name="adj" fmla="val 8000"/>
            </a:avLst>
          </a:prstGeom>
          <a:gradFill rotWithShape="1" flip="none">
            <a:gsLst>
              <a:gs pos="0">
                <a:srgbClr val="2E5E8A"/>
              </a:gs>
              <a:gs pos="100000">
                <a:srgbClr val="2E5E8A">
                  <a:alpha val="80000"/>
                </a:srgbClr>
              </a:gs>
            </a:gsLst>
            <a:lin ang="8100000" scaled="1"/>
          </a:gradFill>
          <a:ln/>
        </p:spPr>
      </p:sp>
      <p:sp>
        <p:nvSpPr>
          <p:cNvPr id="29" name="Text 27"/>
          <p:cNvSpPr/>
          <p:nvPr/>
        </p:nvSpPr>
        <p:spPr>
          <a:xfrm>
            <a:off x="1651000" y="7366000"/>
            <a:ext cx="12954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Budget</a:t>
            </a:r>
            <a:pPr algn="ctr">
              <a:lnSpc>
                <a:spcPct val="120000"/>
              </a:lnSpc>
            </a:pPr>
            <a:r>
              <a:rPr lang="en-US" sz="18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→ Audacity | </a:t>
            </a:r>
            <a:pPr algn="ctr">
              <a:lnSpc>
                <a:spcPct val="120000"/>
              </a:lnSpc>
            </a:pPr>
            <a:r>
              <a:rPr lang="en-US" sz="18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Professional</a:t>
            </a:r>
            <a:pPr algn="ctr">
              <a:lnSpc>
                <a:spcPct val="120000"/>
              </a:lnSpc>
            </a:pPr>
            <a:r>
              <a:rPr lang="en-US" sz="18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→ Audition/Logic | </a:t>
            </a:r>
            <a:pPr algn="ctr">
              <a:lnSpc>
                <a:spcPct val="120000"/>
              </a:lnSpc>
            </a:pPr>
            <a:r>
              <a:rPr lang="en-US" sz="18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Music Production</a:t>
            </a:r>
            <a:pPr algn="ctr">
              <a:lnSpc>
                <a:spcPct val="120000"/>
              </a:lnSpc>
            </a:pPr>
            <a:r>
              <a:rPr lang="en-US" sz="18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→ Pro Tools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14986000" y="8509000"/>
            <a:ext cx="101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14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2E5E8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540000"/>
            <a:ext cx="16256000" cy="4064000"/>
          </a:xfrm>
          <a:custGeom>
            <a:avLst/>
            <a:gdLst/>
            <a:ahLst/>
            <a:cxnLst/>
            <a:rect l="l" t="t" r="r" b="b"/>
            <a:pathLst>
              <a:path w="16256000" h="4064000">
                <a:moveTo>
                  <a:pt x="0" y="2032000"/>
                </a:moveTo>
                <a:quadBezTo>
                  <a:pt x="4064000" y="0"/>
                  <a:pt x="8128000" y="0"/>
                </a:quadBezTo>
                <a:quadBezTo>
                  <a:pt x="12192000" y="0"/>
                  <a:pt x="16256000" y="2032000"/>
                </a:quadBezTo>
                <a:lnTo>
                  <a:pt x="16256000" y="4064000"/>
                </a:lnTo>
                <a:lnTo>
                  <a:pt x="0" y="4064000"/>
                </a:lnTo>
                <a:close/>
              </a:path>
            </a:pathLst>
          </a:custGeom>
          <a:gradFill rotWithShape="1" flip="none">
            <a:gsLst>
              <a:gs pos="0">
                <a:srgbClr val="D0E0E3"/>
              </a:gs>
              <a:gs pos="50000">
                <a:srgbClr val="D0E0E3">
                  <a:alpha val="31000"/>
                </a:srgbClr>
              </a:gs>
              <a:gs pos="100000">
                <a:srgbClr val="2E5E8A">
                  <a:alpha val="19000"/>
                </a:srgbClr>
              </a:gs>
            </a:gsLst>
            <a:lin ang="5400000" scaled="1"/>
          </a:gradFill>
          <a:ln/>
        </p:spPr>
      </p:sp>
      <p:sp>
        <p:nvSpPr>
          <p:cNvPr id="3" name="Text 1"/>
          <p:cNvSpPr/>
          <p:nvPr/>
        </p:nvSpPr>
        <p:spPr>
          <a:xfrm>
            <a:off x="1270000" y="3175000"/>
            <a:ext cx="2540000" cy="1016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72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04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4318000" y="3048000"/>
            <a:ext cx="10160000" cy="1016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6000" dirty="0">
                <a:solidFill>
                  <a:srgbClr val="FCFDF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Creating Multimedia Images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4318000" y="4318000"/>
            <a:ext cx="889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dirty="0">
                <a:solidFill>
                  <a:srgbClr val="FCFDF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Image creation, editing, and optimization for professional use</a:t>
            </a:r>
            <a:endParaRPr lang="en-US" sz="2200" dirty="0"/>
          </a:p>
        </p:txBody>
      </p:sp>
    </p:spTree>
  </p:cSld>
  <p:clrMapOvr>
    <a:masterClrMapping/>
  </p:clrMapOvr>
  <p:transition>
    <p:fade/>
    <p:spd val="med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70000" y="762000"/>
            <a:ext cx="1143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Image Types, Formats, and Resolution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1270000" y="1524000"/>
            <a:ext cx="13716000" cy="12700"/>
          </a:xfrm>
          <a:prstGeom prst="rect">
            <a:avLst/>
          </a:prstGeom>
          <a:solidFill>
            <a:srgbClr val="D0D6DC"/>
          </a:solidFill>
          <a:ln/>
        </p:spPr>
      </p:sp>
      <p:sp>
        <p:nvSpPr>
          <p:cNvPr id="4" name="Shape 2"/>
          <p:cNvSpPr/>
          <p:nvPr/>
        </p:nvSpPr>
        <p:spPr>
          <a:xfrm>
            <a:off x="1270000" y="1905000"/>
            <a:ext cx="6604000" cy="2921000"/>
          </a:xfrm>
          <a:prstGeom prst="roundRect">
            <a:avLst>
              <a:gd name="adj" fmla="val 10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27000" dist="50800" dir="5400000">
              <a:srgbClr val="000000">
                <a:alpha val="3137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651000" y="22225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72571" y="31750"/>
                </a:moveTo>
                <a:cubicBezTo>
                  <a:pt x="32544" y="31750"/>
                  <a:pt x="0" y="60226"/>
                  <a:pt x="0" y="95250"/>
                </a:cubicBezTo>
                <a:lnTo>
                  <a:pt x="0" y="412750"/>
                </a:lnTo>
                <a:cubicBezTo>
                  <a:pt x="0" y="447774"/>
                  <a:pt x="32544" y="476250"/>
                  <a:pt x="72571" y="476250"/>
                </a:cubicBezTo>
                <a:lnTo>
                  <a:pt x="435429" y="476250"/>
                </a:lnTo>
                <a:cubicBezTo>
                  <a:pt x="475456" y="476250"/>
                  <a:pt x="508000" y="447774"/>
                  <a:pt x="508000" y="412750"/>
                </a:cubicBezTo>
                <a:lnTo>
                  <a:pt x="508000" y="95250"/>
                </a:lnTo>
                <a:cubicBezTo>
                  <a:pt x="508000" y="60226"/>
                  <a:pt x="475456" y="31750"/>
                  <a:pt x="435429" y="31750"/>
                </a:cubicBezTo>
                <a:lnTo>
                  <a:pt x="72571" y="31750"/>
                </a:lnTo>
                <a:close/>
                <a:moveTo>
                  <a:pt x="145143" y="111125"/>
                </a:moveTo>
                <a:cubicBezTo>
                  <a:pt x="175183" y="111125"/>
                  <a:pt x="199571" y="132465"/>
                  <a:pt x="199571" y="158750"/>
                </a:cubicBezTo>
                <a:cubicBezTo>
                  <a:pt x="199571" y="185035"/>
                  <a:pt x="175183" y="206375"/>
                  <a:pt x="145143" y="206375"/>
                </a:cubicBezTo>
                <a:cubicBezTo>
                  <a:pt x="115103" y="206375"/>
                  <a:pt x="90714" y="185035"/>
                  <a:pt x="90714" y="158750"/>
                </a:cubicBezTo>
                <a:cubicBezTo>
                  <a:pt x="90714" y="132465"/>
                  <a:pt x="115103" y="111125"/>
                  <a:pt x="145143" y="111125"/>
                </a:cubicBezTo>
                <a:close/>
                <a:moveTo>
                  <a:pt x="308429" y="222250"/>
                </a:moveTo>
                <a:cubicBezTo>
                  <a:pt x="317954" y="222250"/>
                  <a:pt x="326685" y="226616"/>
                  <a:pt x="331674" y="233660"/>
                </a:cubicBezTo>
                <a:lnTo>
                  <a:pt x="431460" y="376535"/>
                </a:lnTo>
                <a:cubicBezTo>
                  <a:pt x="436563" y="383877"/>
                  <a:pt x="436789" y="393105"/>
                  <a:pt x="432027" y="400645"/>
                </a:cubicBezTo>
                <a:cubicBezTo>
                  <a:pt x="427264" y="408186"/>
                  <a:pt x="418079" y="412750"/>
                  <a:pt x="408214" y="412750"/>
                </a:cubicBezTo>
                <a:lnTo>
                  <a:pt x="99786" y="412750"/>
                </a:lnTo>
                <a:cubicBezTo>
                  <a:pt x="89694" y="412750"/>
                  <a:pt x="80282" y="407789"/>
                  <a:pt x="75633" y="399951"/>
                </a:cubicBezTo>
                <a:cubicBezTo>
                  <a:pt x="70984" y="392113"/>
                  <a:pt x="71664" y="382588"/>
                  <a:pt x="77447" y="375345"/>
                </a:cubicBezTo>
                <a:lnTo>
                  <a:pt x="140947" y="295970"/>
                </a:lnTo>
                <a:cubicBezTo>
                  <a:pt x="146050" y="289620"/>
                  <a:pt x="154328" y="285849"/>
                  <a:pt x="163286" y="285849"/>
                </a:cubicBezTo>
                <a:cubicBezTo>
                  <a:pt x="172244" y="285849"/>
                  <a:pt x="180521" y="289620"/>
                  <a:pt x="185624" y="295970"/>
                </a:cubicBezTo>
                <a:lnTo>
                  <a:pt x="215560" y="333474"/>
                </a:lnTo>
                <a:lnTo>
                  <a:pt x="285183" y="233759"/>
                </a:lnTo>
                <a:cubicBezTo>
                  <a:pt x="290172" y="226715"/>
                  <a:pt x="298904" y="222349"/>
                  <a:pt x="308429" y="222349"/>
                </a:cubicBezTo>
                <a:close/>
              </a:path>
            </a:pathLst>
          </a:custGeom>
          <a:solidFill>
            <a:srgbClr val="FF7F50"/>
          </a:solidFill>
          <a:ln/>
        </p:spPr>
      </p:sp>
      <p:sp>
        <p:nvSpPr>
          <p:cNvPr id="6" name="Text 4"/>
          <p:cNvSpPr/>
          <p:nvPr/>
        </p:nvSpPr>
        <p:spPr>
          <a:xfrm>
            <a:off x="2349500" y="2222500"/>
            <a:ext cx="508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4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Raster (Pixel-Based)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651000" y="2857500"/>
            <a:ext cx="5905500" cy="187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</a:t>
            </a:r>
            <a:pPr algn="l">
              <a:lnSpc>
                <a:spcPct val="160000"/>
              </a:lnSpc>
            </a:pPr>
            <a:r>
              <a:rPr lang="en-US" sz="18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JPEG</a:t>
            </a:r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— Photos, lossy compression</a:t>
            </a:r>
            <a:endParaRPr lang="en-US" sz="1800" dirty="0"/>
          </a:p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</a:t>
            </a:r>
            <a:pPr algn="l">
              <a:lnSpc>
                <a:spcPct val="160000"/>
              </a:lnSpc>
            </a:pPr>
            <a:r>
              <a:rPr lang="en-US" sz="18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PNG</a:t>
            </a:r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— Transparency, lossless</a:t>
            </a:r>
            <a:endParaRPr lang="en-US" sz="1800" dirty="0"/>
          </a:p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</a:t>
            </a:r>
            <a:pPr algn="l">
              <a:lnSpc>
                <a:spcPct val="160000"/>
              </a:lnSpc>
            </a:pPr>
            <a:r>
              <a:rPr lang="en-US" sz="18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GIF</a:t>
            </a:r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— Animation, 256 colors</a:t>
            </a:r>
            <a:endParaRPr lang="en-US" sz="1800" dirty="0"/>
          </a:p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</a:t>
            </a:r>
            <a:pPr algn="l">
              <a:lnSpc>
                <a:spcPct val="160000"/>
              </a:lnSpc>
            </a:pPr>
            <a:r>
              <a:rPr lang="en-US" sz="18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WebP</a:t>
            </a:r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— Modern, 30% smaller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8382000" y="1905000"/>
            <a:ext cx="6604000" cy="2921000"/>
          </a:xfrm>
          <a:prstGeom prst="roundRect">
            <a:avLst>
              <a:gd name="adj" fmla="val 10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27000" dist="50800" dir="5400000">
              <a:srgbClr val="000000">
                <a:alpha val="3137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8763000" y="22225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234950" y="134938"/>
                </a:moveTo>
                <a:lnTo>
                  <a:pt x="234950" y="87313"/>
                </a:lnTo>
                <a:lnTo>
                  <a:pt x="273050" y="87313"/>
                </a:lnTo>
                <a:lnTo>
                  <a:pt x="273050" y="134938"/>
                </a:lnTo>
                <a:lnTo>
                  <a:pt x="234950" y="134938"/>
                </a:lnTo>
                <a:close/>
                <a:moveTo>
                  <a:pt x="228600" y="31750"/>
                </a:moveTo>
                <a:cubicBezTo>
                  <a:pt x="207566" y="31750"/>
                  <a:pt x="190500" y="53082"/>
                  <a:pt x="190500" y="79375"/>
                </a:cubicBezTo>
                <a:lnTo>
                  <a:pt x="190500" y="83344"/>
                </a:lnTo>
                <a:lnTo>
                  <a:pt x="96520" y="83344"/>
                </a:lnTo>
                <a:cubicBezTo>
                  <a:pt x="88265" y="62210"/>
                  <a:pt x="70882" y="47625"/>
                  <a:pt x="50800" y="47625"/>
                </a:cubicBezTo>
                <a:cubicBezTo>
                  <a:pt x="22781" y="47625"/>
                  <a:pt x="0" y="76101"/>
                  <a:pt x="0" y="111125"/>
                </a:cubicBezTo>
                <a:cubicBezTo>
                  <a:pt x="0" y="146149"/>
                  <a:pt x="22781" y="174625"/>
                  <a:pt x="50800" y="174625"/>
                </a:cubicBezTo>
                <a:cubicBezTo>
                  <a:pt x="70882" y="174625"/>
                  <a:pt x="88265" y="160040"/>
                  <a:pt x="96520" y="138906"/>
                </a:cubicBezTo>
                <a:lnTo>
                  <a:pt x="149622" y="138906"/>
                </a:lnTo>
                <a:cubicBezTo>
                  <a:pt x="102870" y="178197"/>
                  <a:pt x="71120" y="243086"/>
                  <a:pt x="67072" y="317500"/>
                </a:cubicBezTo>
                <a:lnTo>
                  <a:pt x="63500" y="317500"/>
                </a:lnTo>
                <a:cubicBezTo>
                  <a:pt x="42466" y="317500"/>
                  <a:pt x="25400" y="338832"/>
                  <a:pt x="25400" y="365125"/>
                </a:cubicBezTo>
                <a:lnTo>
                  <a:pt x="25400" y="428625"/>
                </a:lnTo>
                <a:cubicBezTo>
                  <a:pt x="25400" y="454918"/>
                  <a:pt x="42466" y="476250"/>
                  <a:pt x="63500" y="476250"/>
                </a:cubicBezTo>
                <a:lnTo>
                  <a:pt x="114300" y="476250"/>
                </a:lnTo>
                <a:cubicBezTo>
                  <a:pt x="135334" y="476250"/>
                  <a:pt x="152400" y="454918"/>
                  <a:pt x="152400" y="428625"/>
                </a:cubicBezTo>
                <a:lnTo>
                  <a:pt x="152400" y="365125"/>
                </a:lnTo>
                <a:cubicBezTo>
                  <a:pt x="152400" y="338832"/>
                  <a:pt x="135334" y="317500"/>
                  <a:pt x="114300" y="317500"/>
                </a:cubicBezTo>
                <a:lnTo>
                  <a:pt x="111681" y="317500"/>
                </a:lnTo>
                <a:cubicBezTo>
                  <a:pt x="116364" y="251023"/>
                  <a:pt x="150178" y="195064"/>
                  <a:pt x="197009" y="169565"/>
                </a:cubicBezTo>
                <a:cubicBezTo>
                  <a:pt x="203835" y="182166"/>
                  <a:pt x="215424" y="190500"/>
                  <a:pt x="228600" y="190500"/>
                </a:cubicBezTo>
                <a:lnTo>
                  <a:pt x="279400" y="190500"/>
                </a:lnTo>
                <a:cubicBezTo>
                  <a:pt x="292576" y="190500"/>
                  <a:pt x="304086" y="182166"/>
                  <a:pt x="310991" y="169565"/>
                </a:cubicBezTo>
                <a:cubicBezTo>
                  <a:pt x="357823" y="195064"/>
                  <a:pt x="391636" y="251023"/>
                  <a:pt x="396319" y="317500"/>
                </a:cubicBezTo>
                <a:lnTo>
                  <a:pt x="393700" y="317500"/>
                </a:lnTo>
                <a:cubicBezTo>
                  <a:pt x="372666" y="317500"/>
                  <a:pt x="355600" y="338832"/>
                  <a:pt x="355600" y="365125"/>
                </a:cubicBezTo>
                <a:lnTo>
                  <a:pt x="355600" y="428625"/>
                </a:lnTo>
                <a:cubicBezTo>
                  <a:pt x="355600" y="454918"/>
                  <a:pt x="372666" y="476250"/>
                  <a:pt x="393700" y="476250"/>
                </a:cubicBezTo>
                <a:lnTo>
                  <a:pt x="444500" y="476250"/>
                </a:lnTo>
                <a:cubicBezTo>
                  <a:pt x="465534" y="476250"/>
                  <a:pt x="482600" y="454918"/>
                  <a:pt x="482600" y="428625"/>
                </a:cubicBezTo>
                <a:lnTo>
                  <a:pt x="482600" y="365125"/>
                </a:lnTo>
                <a:cubicBezTo>
                  <a:pt x="482600" y="338832"/>
                  <a:pt x="465534" y="317500"/>
                  <a:pt x="444500" y="317500"/>
                </a:cubicBezTo>
                <a:lnTo>
                  <a:pt x="440928" y="317500"/>
                </a:lnTo>
                <a:cubicBezTo>
                  <a:pt x="436959" y="243086"/>
                  <a:pt x="405130" y="178197"/>
                  <a:pt x="358378" y="138906"/>
                </a:cubicBezTo>
                <a:lnTo>
                  <a:pt x="411480" y="138906"/>
                </a:lnTo>
                <a:cubicBezTo>
                  <a:pt x="419735" y="160040"/>
                  <a:pt x="437118" y="174625"/>
                  <a:pt x="457200" y="174625"/>
                </a:cubicBezTo>
                <a:cubicBezTo>
                  <a:pt x="485219" y="174625"/>
                  <a:pt x="508000" y="146149"/>
                  <a:pt x="508000" y="111125"/>
                </a:cubicBezTo>
                <a:cubicBezTo>
                  <a:pt x="508000" y="76101"/>
                  <a:pt x="485219" y="47625"/>
                  <a:pt x="457200" y="47625"/>
                </a:cubicBezTo>
                <a:cubicBezTo>
                  <a:pt x="437118" y="47625"/>
                  <a:pt x="419735" y="62210"/>
                  <a:pt x="411480" y="83344"/>
                </a:cubicBezTo>
                <a:lnTo>
                  <a:pt x="317500" y="83344"/>
                </a:lnTo>
                <a:lnTo>
                  <a:pt x="317500" y="79375"/>
                </a:lnTo>
                <a:cubicBezTo>
                  <a:pt x="317500" y="53082"/>
                  <a:pt x="300434" y="31750"/>
                  <a:pt x="279400" y="31750"/>
                </a:cubicBezTo>
                <a:lnTo>
                  <a:pt x="228600" y="31750"/>
                </a:lnTo>
                <a:close/>
                <a:moveTo>
                  <a:pt x="69850" y="373063"/>
                </a:moveTo>
                <a:lnTo>
                  <a:pt x="107950" y="373063"/>
                </a:lnTo>
                <a:lnTo>
                  <a:pt x="107950" y="420688"/>
                </a:lnTo>
                <a:lnTo>
                  <a:pt x="69850" y="420688"/>
                </a:lnTo>
                <a:lnTo>
                  <a:pt x="69850" y="373063"/>
                </a:lnTo>
                <a:close/>
                <a:moveTo>
                  <a:pt x="400050" y="420688"/>
                </a:moveTo>
                <a:lnTo>
                  <a:pt x="400050" y="373063"/>
                </a:lnTo>
                <a:lnTo>
                  <a:pt x="438150" y="373063"/>
                </a:lnTo>
                <a:lnTo>
                  <a:pt x="438150" y="420688"/>
                </a:lnTo>
                <a:lnTo>
                  <a:pt x="400050" y="420688"/>
                </a:lnTo>
                <a:close/>
              </a:path>
            </a:pathLst>
          </a:custGeom>
          <a:solidFill>
            <a:srgbClr val="FF7F50"/>
          </a:solidFill>
          <a:ln/>
        </p:spPr>
      </p:sp>
      <p:sp>
        <p:nvSpPr>
          <p:cNvPr id="10" name="Text 8"/>
          <p:cNvSpPr/>
          <p:nvPr/>
        </p:nvSpPr>
        <p:spPr>
          <a:xfrm>
            <a:off x="9461500" y="2222500"/>
            <a:ext cx="508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4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Vector (Math-Based)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8763000" y="2857500"/>
            <a:ext cx="5905500" cy="187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</a:t>
            </a:r>
            <a:pPr algn="l">
              <a:lnSpc>
                <a:spcPct val="160000"/>
              </a:lnSpc>
            </a:pPr>
            <a:r>
              <a:rPr lang="en-US" sz="18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SVG</a:t>
            </a:r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— Scalable, web-native</a:t>
            </a:r>
            <a:endParaRPr lang="en-US" sz="1800" dirty="0"/>
          </a:p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</a:t>
            </a:r>
            <a:pPr algn="l">
              <a:lnSpc>
                <a:spcPct val="160000"/>
              </a:lnSpc>
            </a:pPr>
            <a:r>
              <a:rPr lang="en-US" sz="18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EPS</a:t>
            </a:r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— Print industry standard</a:t>
            </a:r>
            <a:endParaRPr lang="en-US" sz="1800" dirty="0"/>
          </a:p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</a:t>
            </a:r>
            <a:pPr algn="l">
              <a:lnSpc>
                <a:spcPct val="160000"/>
              </a:lnSpc>
            </a:pPr>
            <a:r>
              <a:rPr lang="en-US" sz="18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AI</a:t>
            </a:r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— Adobe Illustrator native</a:t>
            </a:r>
            <a:endParaRPr lang="en-US" sz="1800" dirty="0"/>
          </a:p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</a:t>
            </a:r>
            <a:pPr algn="l">
              <a:lnSpc>
                <a:spcPct val="160000"/>
              </a:lnSpc>
            </a:pPr>
            <a:r>
              <a:rPr lang="en-US" sz="18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PDF</a:t>
            </a:r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— Universal, preserves vectors</a:t>
            </a:r>
            <a:endParaRPr lang="en-US" sz="18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270000" y="5270500"/>
          <a:ext cx="13716000" cy="2540000"/>
        </p:xfrm>
        <a:graphic>
          <a:graphicData uri="http://schemas.openxmlformats.org/drawingml/2006/table">
            <a:tbl>
              <a:tblPr/>
              <a:tblGrid>
                <a:gridCol w="3429000"/>
                <a:gridCol w="3429000"/>
                <a:gridCol w="3429000"/>
                <a:gridCol w="3429000"/>
              </a:tblGrid>
              <a:tr h="635000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Use Case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5E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Resolution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5E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Color Mode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5E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Format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5E8A"/>
                    </a:solidFill>
                  </a:tcPr>
                </a:tc>
              </a:tr>
              <a:tr h="63500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Web / Screen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72-96 PPI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RGB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JPEG, PNG, WebP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D"/>
                    </a:solidFill>
                  </a:tcPr>
                </a:tc>
              </a:tr>
              <a:tr h="63500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Print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FF7F50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300 PPI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CMYK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TIFF, PDF, EPS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63500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Large Format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150 PPI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RGB / CMYK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TIFF, PDF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D"/>
                    </a:solidFill>
                  </a:tcPr>
                </a:tc>
              </a:tr>
            </a:tbl>
          </a:graphicData>
        </a:graphic>
      </p:graphicFrame>
      <p:sp>
        <p:nvSpPr>
          <p:cNvPr id="13" name="Text 10"/>
          <p:cNvSpPr/>
          <p:nvPr/>
        </p:nvSpPr>
        <p:spPr>
          <a:xfrm>
            <a:off x="14986000" y="8509000"/>
            <a:ext cx="101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16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70000" y="762000"/>
            <a:ext cx="1270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Image Editing and Graphic Design Principles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1270000" y="1524000"/>
            <a:ext cx="13716000" cy="12700"/>
          </a:xfrm>
          <a:prstGeom prst="rect">
            <a:avLst/>
          </a:prstGeom>
          <a:solidFill>
            <a:srgbClr val="D0D6DC"/>
          </a:solidFill>
          <a:ln/>
        </p:spPr>
      </p:sp>
      <p:sp>
        <p:nvSpPr>
          <p:cNvPr id="4" name="Shape 2"/>
          <p:cNvSpPr/>
          <p:nvPr/>
        </p:nvSpPr>
        <p:spPr>
          <a:xfrm>
            <a:off x="1270000" y="2032000"/>
            <a:ext cx="2032000" cy="2032000"/>
          </a:xfrm>
          <a:prstGeom prst="roundRect">
            <a:avLst>
              <a:gd name="adj" fmla="val 12000"/>
            </a:avLst>
          </a:prstGeom>
          <a:solidFill>
            <a:srgbClr val="2E5E8A"/>
          </a:solidFill>
          <a:ln/>
        </p:spPr>
      </p:sp>
      <p:sp>
        <p:nvSpPr>
          <p:cNvPr id="5" name="Shape 3"/>
          <p:cNvSpPr/>
          <p:nvPr/>
        </p:nvSpPr>
        <p:spPr>
          <a:xfrm>
            <a:off x="1981200" y="22860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65760" y="38100"/>
                </a:moveTo>
                <a:lnTo>
                  <a:pt x="487680" y="38100"/>
                </a:lnTo>
                <a:cubicBezTo>
                  <a:pt x="504539" y="38100"/>
                  <a:pt x="518160" y="55126"/>
                  <a:pt x="518160" y="76200"/>
                </a:cubicBezTo>
                <a:cubicBezTo>
                  <a:pt x="518160" y="97274"/>
                  <a:pt x="504539" y="114300"/>
                  <a:pt x="487680" y="114300"/>
                </a:cubicBezTo>
                <a:lnTo>
                  <a:pt x="379476" y="114300"/>
                </a:lnTo>
                <a:cubicBezTo>
                  <a:pt x="374523" y="145018"/>
                  <a:pt x="357664" y="170378"/>
                  <a:pt x="335280" y="182523"/>
                </a:cubicBezTo>
                <a:lnTo>
                  <a:pt x="335280" y="533400"/>
                </a:lnTo>
                <a:lnTo>
                  <a:pt x="487680" y="533400"/>
                </a:lnTo>
                <a:cubicBezTo>
                  <a:pt x="504539" y="533400"/>
                  <a:pt x="518160" y="550426"/>
                  <a:pt x="518160" y="571500"/>
                </a:cubicBezTo>
                <a:cubicBezTo>
                  <a:pt x="518160" y="592574"/>
                  <a:pt x="504539" y="609600"/>
                  <a:pt x="487680" y="609600"/>
                </a:cubicBezTo>
                <a:lnTo>
                  <a:pt x="121920" y="609600"/>
                </a:lnTo>
                <a:cubicBezTo>
                  <a:pt x="105061" y="609600"/>
                  <a:pt x="91440" y="592574"/>
                  <a:pt x="91440" y="571500"/>
                </a:cubicBezTo>
                <a:cubicBezTo>
                  <a:pt x="91440" y="550426"/>
                  <a:pt x="105061" y="533400"/>
                  <a:pt x="121920" y="533400"/>
                </a:cubicBezTo>
                <a:lnTo>
                  <a:pt x="274320" y="533400"/>
                </a:lnTo>
                <a:lnTo>
                  <a:pt x="274320" y="182523"/>
                </a:lnTo>
                <a:cubicBezTo>
                  <a:pt x="251936" y="170259"/>
                  <a:pt x="235077" y="144899"/>
                  <a:pt x="230124" y="114300"/>
                </a:cubicBezTo>
                <a:lnTo>
                  <a:pt x="121920" y="114300"/>
                </a:lnTo>
                <a:cubicBezTo>
                  <a:pt x="105061" y="114300"/>
                  <a:pt x="91440" y="97274"/>
                  <a:pt x="91440" y="76200"/>
                </a:cubicBezTo>
                <a:cubicBezTo>
                  <a:pt x="91440" y="55126"/>
                  <a:pt x="105061" y="38100"/>
                  <a:pt x="121920" y="38100"/>
                </a:cubicBezTo>
                <a:lnTo>
                  <a:pt x="243840" y="38100"/>
                </a:lnTo>
                <a:cubicBezTo>
                  <a:pt x="257747" y="15002"/>
                  <a:pt x="279845" y="0"/>
                  <a:pt x="304800" y="0"/>
                </a:cubicBezTo>
                <a:cubicBezTo>
                  <a:pt x="329756" y="0"/>
                  <a:pt x="351854" y="15002"/>
                  <a:pt x="365760" y="38100"/>
                </a:cubicBezTo>
                <a:close/>
                <a:moveTo>
                  <a:pt x="418719" y="381000"/>
                </a:moveTo>
                <a:lnTo>
                  <a:pt x="556641" y="381000"/>
                </a:lnTo>
                <a:lnTo>
                  <a:pt x="487680" y="233124"/>
                </a:lnTo>
                <a:lnTo>
                  <a:pt x="418719" y="381000"/>
                </a:lnTo>
                <a:close/>
                <a:moveTo>
                  <a:pt x="487680" y="495300"/>
                </a:moveTo>
                <a:cubicBezTo>
                  <a:pt x="427768" y="495300"/>
                  <a:pt x="377952" y="454819"/>
                  <a:pt x="367665" y="401360"/>
                </a:cubicBezTo>
                <a:cubicBezTo>
                  <a:pt x="365188" y="388263"/>
                  <a:pt x="368618" y="374809"/>
                  <a:pt x="374047" y="363141"/>
                </a:cubicBezTo>
                <a:lnTo>
                  <a:pt x="464725" y="168831"/>
                </a:lnTo>
                <a:cubicBezTo>
                  <a:pt x="469487" y="158591"/>
                  <a:pt x="478250" y="152400"/>
                  <a:pt x="487680" y="152400"/>
                </a:cubicBezTo>
                <a:cubicBezTo>
                  <a:pt x="497110" y="152400"/>
                  <a:pt x="505873" y="158710"/>
                  <a:pt x="510635" y="168831"/>
                </a:cubicBezTo>
                <a:lnTo>
                  <a:pt x="601313" y="363141"/>
                </a:lnTo>
                <a:cubicBezTo>
                  <a:pt x="606743" y="374809"/>
                  <a:pt x="610172" y="388263"/>
                  <a:pt x="607695" y="401360"/>
                </a:cubicBezTo>
                <a:cubicBezTo>
                  <a:pt x="597408" y="454700"/>
                  <a:pt x="547592" y="495300"/>
                  <a:pt x="487680" y="495300"/>
                </a:cubicBezTo>
                <a:close/>
                <a:moveTo>
                  <a:pt x="120777" y="233124"/>
                </a:moveTo>
                <a:lnTo>
                  <a:pt x="51816" y="381000"/>
                </a:lnTo>
                <a:lnTo>
                  <a:pt x="189833" y="381000"/>
                </a:lnTo>
                <a:lnTo>
                  <a:pt x="120777" y="233124"/>
                </a:lnTo>
                <a:close/>
                <a:moveTo>
                  <a:pt x="857" y="401360"/>
                </a:moveTo>
                <a:cubicBezTo>
                  <a:pt x="-1619" y="388263"/>
                  <a:pt x="1810" y="374809"/>
                  <a:pt x="7239" y="363141"/>
                </a:cubicBezTo>
                <a:lnTo>
                  <a:pt x="97917" y="168831"/>
                </a:lnTo>
                <a:cubicBezTo>
                  <a:pt x="102680" y="158591"/>
                  <a:pt x="111443" y="152400"/>
                  <a:pt x="120872" y="152400"/>
                </a:cubicBezTo>
                <a:cubicBezTo>
                  <a:pt x="130302" y="152400"/>
                  <a:pt x="139065" y="158710"/>
                  <a:pt x="143828" y="168831"/>
                </a:cubicBezTo>
                <a:lnTo>
                  <a:pt x="234505" y="363141"/>
                </a:lnTo>
                <a:cubicBezTo>
                  <a:pt x="239935" y="374809"/>
                  <a:pt x="243364" y="388263"/>
                  <a:pt x="240887" y="401360"/>
                </a:cubicBezTo>
                <a:cubicBezTo>
                  <a:pt x="230600" y="454700"/>
                  <a:pt x="180785" y="495300"/>
                  <a:pt x="120872" y="495300"/>
                </a:cubicBezTo>
                <a:cubicBezTo>
                  <a:pt x="60960" y="495300"/>
                  <a:pt x="11144" y="454819"/>
                  <a:pt x="857" y="40136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6" name="Text 4"/>
          <p:cNvSpPr/>
          <p:nvPr/>
        </p:nvSpPr>
        <p:spPr>
          <a:xfrm>
            <a:off x="1270000" y="3048000"/>
            <a:ext cx="2032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Balance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397000" y="3492500"/>
            <a:ext cx="1778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Visual equilibrium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683000" y="2032000"/>
            <a:ext cx="2032000" cy="2032000"/>
          </a:xfrm>
          <a:prstGeom prst="roundRect">
            <a:avLst>
              <a:gd name="adj" fmla="val 12000"/>
            </a:avLst>
          </a:prstGeom>
          <a:solidFill>
            <a:srgbClr val="2E5E8A"/>
          </a:solidFill>
          <a:ln/>
        </p:spPr>
      </p:sp>
      <p:sp>
        <p:nvSpPr>
          <p:cNvPr id="9" name="Shape 7"/>
          <p:cNvSpPr/>
          <p:nvPr/>
        </p:nvSpPr>
        <p:spPr>
          <a:xfrm>
            <a:off x="4394200" y="22860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533400" y="304800"/>
                </a:moveTo>
                <a:cubicBezTo>
                  <a:pt x="533400" y="178594"/>
                  <a:pt x="431006" y="76200"/>
                  <a:pt x="304800" y="76200"/>
                </a:cubicBezTo>
                <a:lnTo>
                  <a:pt x="304800" y="533400"/>
                </a:lnTo>
                <a:cubicBezTo>
                  <a:pt x="431006" y="533400"/>
                  <a:pt x="533400" y="431006"/>
                  <a:pt x="533400" y="304800"/>
                </a:cubicBezTo>
                <a:close/>
                <a:moveTo>
                  <a:pt x="0" y="304800"/>
                </a:moveTo>
                <a:cubicBezTo>
                  <a:pt x="0" y="136576"/>
                  <a:pt x="136576" y="0"/>
                  <a:pt x="304800" y="0"/>
                </a:cubicBezTo>
                <a:cubicBezTo>
                  <a:pt x="473024" y="0"/>
                  <a:pt x="609600" y="136576"/>
                  <a:pt x="609600" y="304800"/>
                </a:cubicBezTo>
                <a:cubicBezTo>
                  <a:pt x="609600" y="473024"/>
                  <a:pt x="473024" y="609600"/>
                  <a:pt x="304800" y="609600"/>
                </a:cubicBezTo>
                <a:cubicBezTo>
                  <a:pt x="136576" y="609600"/>
                  <a:pt x="0" y="473024"/>
                  <a:pt x="0" y="30480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0" name="Text 8"/>
          <p:cNvSpPr/>
          <p:nvPr/>
        </p:nvSpPr>
        <p:spPr>
          <a:xfrm>
            <a:off x="3683000" y="3048000"/>
            <a:ext cx="2032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Contrast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3810000" y="3492500"/>
            <a:ext cx="177800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Highlight differences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096000" y="2032000"/>
            <a:ext cx="2032000" cy="2032000"/>
          </a:xfrm>
          <a:prstGeom prst="roundRect">
            <a:avLst>
              <a:gd name="adj" fmla="val 12000"/>
            </a:avLst>
          </a:prstGeom>
          <a:solidFill>
            <a:srgbClr val="2E5E8A"/>
          </a:solidFill>
          <a:ln/>
        </p:spPr>
      </p:sp>
      <p:sp>
        <p:nvSpPr>
          <p:cNvPr id="13" name="Shape 11"/>
          <p:cNvSpPr/>
          <p:nvPr/>
        </p:nvSpPr>
        <p:spPr>
          <a:xfrm>
            <a:off x="6807200" y="22860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91886" y="76200"/>
                </a:moveTo>
                <a:cubicBezTo>
                  <a:pt x="391886" y="97274"/>
                  <a:pt x="372428" y="114300"/>
                  <a:pt x="348343" y="114300"/>
                </a:cubicBezTo>
                <a:lnTo>
                  <a:pt x="43543" y="114300"/>
                </a:lnTo>
                <a:cubicBezTo>
                  <a:pt x="19458" y="114300"/>
                  <a:pt x="0" y="97274"/>
                  <a:pt x="0" y="76200"/>
                </a:cubicBezTo>
                <a:cubicBezTo>
                  <a:pt x="0" y="55126"/>
                  <a:pt x="19458" y="38100"/>
                  <a:pt x="43543" y="38100"/>
                </a:cubicBezTo>
                <a:lnTo>
                  <a:pt x="348343" y="38100"/>
                </a:lnTo>
                <a:cubicBezTo>
                  <a:pt x="372428" y="38100"/>
                  <a:pt x="391886" y="55126"/>
                  <a:pt x="391886" y="76200"/>
                </a:cubicBezTo>
                <a:close/>
                <a:moveTo>
                  <a:pt x="391886" y="381000"/>
                </a:moveTo>
                <a:cubicBezTo>
                  <a:pt x="391886" y="402074"/>
                  <a:pt x="372428" y="419100"/>
                  <a:pt x="348343" y="419100"/>
                </a:cubicBezTo>
                <a:lnTo>
                  <a:pt x="43543" y="419100"/>
                </a:lnTo>
                <a:cubicBezTo>
                  <a:pt x="19458" y="419100"/>
                  <a:pt x="0" y="402074"/>
                  <a:pt x="0" y="381000"/>
                </a:cubicBezTo>
                <a:cubicBezTo>
                  <a:pt x="0" y="359926"/>
                  <a:pt x="19458" y="342900"/>
                  <a:pt x="43543" y="342900"/>
                </a:cubicBezTo>
                <a:lnTo>
                  <a:pt x="348343" y="342900"/>
                </a:lnTo>
                <a:cubicBezTo>
                  <a:pt x="372428" y="342900"/>
                  <a:pt x="391886" y="359926"/>
                  <a:pt x="391886" y="381000"/>
                </a:cubicBezTo>
                <a:close/>
                <a:moveTo>
                  <a:pt x="0" y="228600"/>
                </a:moveTo>
                <a:cubicBezTo>
                  <a:pt x="0" y="207526"/>
                  <a:pt x="19458" y="190500"/>
                  <a:pt x="43543" y="190500"/>
                </a:cubicBezTo>
                <a:lnTo>
                  <a:pt x="566057" y="190500"/>
                </a:lnTo>
                <a:cubicBezTo>
                  <a:pt x="590142" y="190500"/>
                  <a:pt x="609600" y="207526"/>
                  <a:pt x="609600" y="228600"/>
                </a:cubicBezTo>
                <a:cubicBezTo>
                  <a:pt x="609600" y="249674"/>
                  <a:pt x="590142" y="266700"/>
                  <a:pt x="566057" y="266700"/>
                </a:cubicBezTo>
                <a:lnTo>
                  <a:pt x="43543" y="266700"/>
                </a:lnTo>
                <a:cubicBezTo>
                  <a:pt x="19458" y="266700"/>
                  <a:pt x="0" y="249674"/>
                  <a:pt x="0" y="228600"/>
                </a:cubicBezTo>
                <a:close/>
                <a:moveTo>
                  <a:pt x="609600" y="533400"/>
                </a:moveTo>
                <a:cubicBezTo>
                  <a:pt x="609600" y="554474"/>
                  <a:pt x="590142" y="571500"/>
                  <a:pt x="566057" y="571500"/>
                </a:cubicBezTo>
                <a:lnTo>
                  <a:pt x="43543" y="571500"/>
                </a:lnTo>
                <a:cubicBezTo>
                  <a:pt x="19458" y="571500"/>
                  <a:pt x="0" y="554474"/>
                  <a:pt x="0" y="533400"/>
                </a:cubicBezTo>
                <a:cubicBezTo>
                  <a:pt x="0" y="512326"/>
                  <a:pt x="19458" y="495300"/>
                  <a:pt x="43543" y="495300"/>
                </a:cubicBezTo>
                <a:lnTo>
                  <a:pt x="566057" y="495300"/>
                </a:lnTo>
                <a:cubicBezTo>
                  <a:pt x="590142" y="495300"/>
                  <a:pt x="609600" y="512326"/>
                  <a:pt x="609600" y="53340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4" name="Text 12"/>
          <p:cNvSpPr/>
          <p:nvPr/>
        </p:nvSpPr>
        <p:spPr>
          <a:xfrm>
            <a:off x="6096000" y="3048000"/>
            <a:ext cx="2032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Alignment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223000" y="3492500"/>
            <a:ext cx="177800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Order and structure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509000" y="2032000"/>
            <a:ext cx="2032000" cy="2032000"/>
          </a:xfrm>
          <a:prstGeom prst="roundRect">
            <a:avLst>
              <a:gd name="adj" fmla="val 12000"/>
            </a:avLst>
          </a:prstGeom>
          <a:solidFill>
            <a:srgbClr val="FF7F50"/>
          </a:solidFill>
          <a:ln/>
        </p:spPr>
      </p:sp>
      <p:sp>
        <p:nvSpPr>
          <p:cNvPr id="17" name="Shape 15"/>
          <p:cNvSpPr/>
          <p:nvPr/>
        </p:nvSpPr>
        <p:spPr>
          <a:xfrm>
            <a:off x="9220200" y="22860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560308" y="141208"/>
                </a:moveTo>
                <a:cubicBezTo>
                  <a:pt x="575191" y="126325"/>
                  <a:pt x="575191" y="102156"/>
                  <a:pt x="560308" y="87273"/>
                </a:cubicBezTo>
                <a:lnTo>
                  <a:pt x="484108" y="11073"/>
                </a:lnTo>
                <a:cubicBezTo>
                  <a:pt x="473154" y="119"/>
                  <a:pt x="456843" y="-3096"/>
                  <a:pt x="442555" y="2857"/>
                </a:cubicBezTo>
                <a:cubicBezTo>
                  <a:pt x="428268" y="8811"/>
                  <a:pt x="419100" y="22741"/>
                  <a:pt x="419100" y="38100"/>
                </a:cubicBezTo>
                <a:lnTo>
                  <a:pt x="419100" y="76200"/>
                </a:lnTo>
                <a:lnTo>
                  <a:pt x="228600" y="76200"/>
                </a:lnTo>
                <a:cubicBezTo>
                  <a:pt x="102394" y="76200"/>
                  <a:pt x="0" y="178594"/>
                  <a:pt x="0" y="304800"/>
                </a:cubicBezTo>
                <a:cubicBezTo>
                  <a:pt x="0" y="325874"/>
                  <a:pt x="17026" y="342900"/>
                  <a:pt x="38100" y="342900"/>
                </a:cubicBezTo>
                <a:cubicBezTo>
                  <a:pt x="59174" y="342900"/>
                  <a:pt x="76200" y="325874"/>
                  <a:pt x="76200" y="304800"/>
                </a:cubicBezTo>
                <a:cubicBezTo>
                  <a:pt x="76200" y="220623"/>
                  <a:pt x="144423" y="152400"/>
                  <a:pt x="228600" y="152400"/>
                </a:cubicBezTo>
                <a:lnTo>
                  <a:pt x="419100" y="152400"/>
                </a:lnTo>
                <a:lnTo>
                  <a:pt x="419100" y="190500"/>
                </a:lnTo>
                <a:cubicBezTo>
                  <a:pt x="419100" y="205859"/>
                  <a:pt x="428387" y="219789"/>
                  <a:pt x="442674" y="225743"/>
                </a:cubicBezTo>
                <a:cubicBezTo>
                  <a:pt x="456962" y="231696"/>
                  <a:pt x="473273" y="228362"/>
                  <a:pt x="484227" y="217527"/>
                </a:cubicBezTo>
                <a:lnTo>
                  <a:pt x="560427" y="141327"/>
                </a:lnTo>
                <a:close/>
                <a:moveTo>
                  <a:pt x="49292" y="468392"/>
                </a:moveTo>
                <a:cubicBezTo>
                  <a:pt x="34409" y="483275"/>
                  <a:pt x="34409" y="507444"/>
                  <a:pt x="49292" y="522327"/>
                </a:cubicBezTo>
                <a:lnTo>
                  <a:pt x="125492" y="598527"/>
                </a:lnTo>
                <a:cubicBezTo>
                  <a:pt x="136446" y="609481"/>
                  <a:pt x="152757" y="612696"/>
                  <a:pt x="167045" y="606743"/>
                </a:cubicBezTo>
                <a:cubicBezTo>
                  <a:pt x="181332" y="600789"/>
                  <a:pt x="190500" y="586859"/>
                  <a:pt x="190500" y="571500"/>
                </a:cubicBezTo>
                <a:lnTo>
                  <a:pt x="190500" y="533400"/>
                </a:lnTo>
                <a:lnTo>
                  <a:pt x="381000" y="533400"/>
                </a:lnTo>
                <a:cubicBezTo>
                  <a:pt x="507206" y="533400"/>
                  <a:pt x="609600" y="431006"/>
                  <a:pt x="609600" y="304800"/>
                </a:cubicBezTo>
                <a:cubicBezTo>
                  <a:pt x="609600" y="283726"/>
                  <a:pt x="592574" y="266700"/>
                  <a:pt x="571500" y="266700"/>
                </a:cubicBezTo>
                <a:cubicBezTo>
                  <a:pt x="550426" y="266700"/>
                  <a:pt x="533400" y="283726"/>
                  <a:pt x="533400" y="304800"/>
                </a:cubicBezTo>
                <a:cubicBezTo>
                  <a:pt x="533400" y="388977"/>
                  <a:pt x="465177" y="457200"/>
                  <a:pt x="381000" y="457200"/>
                </a:cubicBezTo>
                <a:lnTo>
                  <a:pt x="190500" y="457200"/>
                </a:lnTo>
                <a:lnTo>
                  <a:pt x="190500" y="419100"/>
                </a:lnTo>
                <a:cubicBezTo>
                  <a:pt x="190500" y="403741"/>
                  <a:pt x="181213" y="389811"/>
                  <a:pt x="166926" y="383858"/>
                </a:cubicBezTo>
                <a:cubicBezTo>
                  <a:pt x="152638" y="377904"/>
                  <a:pt x="136327" y="381238"/>
                  <a:pt x="125373" y="392073"/>
                </a:cubicBezTo>
                <a:lnTo>
                  <a:pt x="49173" y="468273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8" name="Text 16"/>
          <p:cNvSpPr/>
          <p:nvPr/>
        </p:nvSpPr>
        <p:spPr>
          <a:xfrm>
            <a:off x="8509000" y="3048000"/>
            <a:ext cx="2032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Repetition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8636000" y="3492500"/>
            <a:ext cx="177800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Consistency builds trust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10922000" y="2032000"/>
            <a:ext cx="2032000" cy="2032000"/>
          </a:xfrm>
          <a:prstGeom prst="roundRect">
            <a:avLst>
              <a:gd name="adj" fmla="val 12000"/>
            </a:avLst>
          </a:prstGeom>
          <a:solidFill>
            <a:srgbClr val="FF7F50"/>
          </a:solidFill>
          <a:ln/>
        </p:spPr>
      </p:sp>
      <p:sp>
        <p:nvSpPr>
          <p:cNvPr id="21" name="Shape 19"/>
          <p:cNvSpPr/>
          <p:nvPr/>
        </p:nvSpPr>
        <p:spPr>
          <a:xfrm>
            <a:off x="11633200" y="22860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3867" y="142161"/>
                </a:moveTo>
                <a:cubicBezTo>
                  <a:pt x="13652" y="129064"/>
                  <a:pt x="0" y="104418"/>
                  <a:pt x="0" y="76200"/>
                </a:cubicBezTo>
                <a:cubicBezTo>
                  <a:pt x="0" y="34171"/>
                  <a:pt x="30374" y="0"/>
                  <a:pt x="67733" y="0"/>
                </a:cubicBezTo>
                <a:cubicBezTo>
                  <a:pt x="92816" y="0"/>
                  <a:pt x="114723" y="15359"/>
                  <a:pt x="126365" y="38100"/>
                </a:cubicBezTo>
                <a:lnTo>
                  <a:pt x="483129" y="38100"/>
                </a:lnTo>
                <a:cubicBezTo>
                  <a:pt x="494877" y="15359"/>
                  <a:pt x="516678" y="0"/>
                  <a:pt x="541761" y="0"/>
                </a:cubicBezTo>
                <a:cubicBezTo>
                  <a:pt x="579120" y="0"/>
                  <a:pt x="609494" y="34171"/>
                  <a:pt x="609494" y="76200"/>
                </a:cubicBezTo>
                <a:cubicBezTo>
                  <a:pt x="609494" y="104418"/>
                  <a:pt x="595842" y="129064"/>
                  <a:pt x="575627" y="142161"/>
                </a:cubicBezTo>
                <a:lnTo>
                  <a:pt x="575627" y="467320"/>
                </a:lnTo>
                <a:cubicBezTo>
                  <a:pt x="595842" y="480536"/>
                  <a:pt x="609494" y="505063"/>
                  <a:pt x="609494" y="533281"/>
                </a:cubicBezTo>
                <a:cubicBezTo>
                  <a:pt x="609494" y="575310"/>
                  <a:pt x="579120" y="609481"/>
                  <a:pt x="541761" y="609481"/>
                </a:cubicBezTo>
                <a:cubicBezTo>
                  <a:pt x="516678" y="609481"/>
                  <a:pt x="494771" y="594122"/>
                  <a:pt x="483129" y="571381"/>
                </a:cubicBezTo>
                <a:lnTo>
                  <a:pt x="126365" y="571381"/>
                </a:lnTo>
                <a:cubicBezTo>
                  <a:pt x="114617" y="594122"/>
                  <a:pt x="92816" y="609481"/>
                  <a:pt x="67733" y="609481"/>
                </a:cubicBezTo>
                <a:cubicBezTo>
                  <a:pt x="30374" y="609481"/>
                  <a:pt x="0" y="575310"/>
                  <a:pt x="0" y="533281"/>
                </a:cubicBezTo>
                <a:cubicBezTo>
                  <a:pt x="0" y="505063"/>
                  <a:pt x="13652" y="480417"/>
                  <a:pt x="33867" y="467320"/>
                </a:cubicBezTo>
                <a:lnTo>
                  <a:pt x="33867" y="142161"/>
                </a:lnTo>
                <a:close/>
                <a:moveTo>
                  <a:pt x="508000" y="142161"/>
                </a:moveTo>
                <a:cubicBezTo>
                  <a:pt x="497734" y="135493"/>
                  <a:pt x="489162" y="125849"/>
                  <a:pt x="483235" y="114300"/>
                </a:cubicBezTo>
                <a:lnTo>
                  <a:pt x="126365" y="114300"/>
                </a:lnTo>
                <a:cubicBezTo>
                  <a:pt x="120438" y="125849"/>
                  <a:pt x="111866" y="135493"/>
                  <a:pt x="101600" y="142161"/>
                </a:cubicBezTo>
                <a:lnTo>
                  <a:pt x="101600" y="467320"/>
                </a:lnTo>
                <a:cubicBezTo>
                  <a:pt x="111866" y="473988"/>
                  <a:pt x="120438" y="483632"/>
                  <a:pt x="126365" y="495181"/>
                </a:cubicBezTo>
                <a:lnTo>
                  <a:pt x="483129" y="495181"/>
                </a:lnTo>
                <a:cubicBezTo>
                  <a:pt x="489056" y="483632"/>
                  <a:pt x="497628" y="473988"/>
                  <a:pt x="507894" y="467320"/>
                </a:cubicBezTo>
                <a:lnTo>
                  <a:pt x="507894" y="142161"/>
                </a:lnTo>
                <a:close/>
                <a:moveTo>
                  <a:pt x="152400" y="209550"/>
                </a:moveTo>
                <a:cubicBezTo>
                  <a:pt x="152400" y="188476"/>
                  <a:pt x="167534" y="171450"/>
                  <a:pt x="186267" y="171450"/>
                </a:cubicBezTo>
                <a:lnTo>
                  <a:pt x="304800" y="171450"/>
                </a:lnTo>
                <a:cubicBezTo>
                  <a:pt x="323533" y="171450"/>
                  <a:pt x="338667" y="188476"/>
                  <a:pt x="338667" y="209550"/>
                </a:cubicBezTo>
                <a:lnTo>
                  <a:pt x="338667" y="285750"/>
                </a:lnTo>
                <a:cubicBezTo>
                  <a:pt x="338667" y="306824"/>
                  <a:pt x="323533" y="323850"/>
                  <a:pt x="304800" y="323850"/>
                </a:cubicBezTo>
                <a:lnTo>
                  <a:pt x="186267" y="323850"/>
                </a:lnTo>
                <a:cubicBezTo>
                  <a:pt x="167534" y="323850"/>
                  <a:pt x="152400" y="306824"/>
                  <a:pt x="152400" y="285750"/>
                </a:cubicBezTo>
                <a:lnTo>
                  <a:pt x="152400" y="209550"/>
                </a:lnTo>
                <a:close/>
                <a:moveTo>
                  <a:pt x="270933" y="381000"/>
                </a:moveTo>
                <a:lnTo>
                  <a:pt x="304800" y="381000"/>
                </a:lnTo>
                <a:cubicBezTo>
                  <a:pt x="351578" y="381000"/>
                  <a:pt x="389467" y="338376"/>
                  <a:pt x="389467" y="285750"/>
                </a:cubicBezTo>
                <a:lnTo>
                  <a:pt x="423333" y="285750"/>
                </a:lnTo>
                <a:cubicBezTo>
                  <a:pt x="442066" y="285750"/>
                  <a:pt x="457200" y="302776"/>
                  <a:pt x="457200" y="323850"/>
                </a:cubicBezTo>
                <a:lnTo>
                  <a:pt x="457200" y="400050"/>
                </a:lnTo>
                <a:cubicBezTo>
                  <a:pt x="457200" y="421124"/>
                  <a:pt x="442066" y="438150"/>
                  <a:pt x="423333" y="438150"/>
                </a:cubicBezTo>
                <a:lnTo>
                  <a:pt x="304800" y="438150"/>
                </a:lnTo>
                <a:cubicBezTo>
                  <a:pt x="286068" y="438150"/>
                  <a:pt x="270933" y="421124"/>
                  <a:pt x="270933" y="400050"/>
                </a:cubicBezTo>
                <a:lnTo>
                  <a:pt x="270933" y="38100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2" name="Text 20"/>
          <p:cNvSpPr/>
          <p:nvPr/>
        </p:nvSpPr>
        <p:spPr>
          <a:xfrm>
            <a:off x="10922000" y="3048000"/>
            <a:ext cx="2032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Proximity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11049000" y="3492500"/>
            <a:ext cx="177800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Group related items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13335000" y="2032000"/>
            <a:ext cx="1651000" cy="2032000"/>
          </a:xfrm>
          <a:prstGeom prst="roundRect">
            <a:avLst>
              <a:gd name="adj" fmla="val 12000"/>
            </a:avLst>
          </a:prstGeom>
          <a:solidFill>
            <a:srgbClr val="FF7F50"/>
          </a:solidFill>
          <a:ln/>
        </p:spPr>
      </p:sp>
      <p:sp>
        <p:nvSpPr>
          <p:cNvPr id="25" name="Shape 23"/>
          <p:cNvSpPr/>
          <p:nvPr/>
        </p:nvSpPr>
        <p:spPr>
          <a:xfrm>
            <a:off x="13855700" y="22860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87086" y="38100"/>
                </a:moveTo>
                <a:lnTo>
                  <a:pt x="522514" y="38100"/>
                </a:lnTo>
                <a:cubicBezTo>
                  <a:pt x="570548" y="38100"/>
                  <a:pt x="609600" y="72271"/>
                  <a:pt x="609600" y="114300"/>
                </a:cubicBezTo>
                <a:lnTo>
                  <a:pt x="609600" y="495300"/>
                </a:lnTo>
                <a:cubicBezTo>
                  <a:pt x="609600" y="537329"/>
                  <a:pt x="570548" y="571500"/>
                  <a:pt x="522514" y="571500"/>
                </a:cubicBezTo>
                <a:lnTo>
                  <a:pt x="87086" y="571500"/>
                </a:lnTo>
                <a:cubicBezTo>
                  <a:pt x="39053" y="571500"/>
                  <a:pt x="0" y="537329"/>
                  <a:pt x="0" y="495300"/>
                </a:cubicBezTo>
                <a:lnTo>
                  <a:pt x="0" y="114300"/>
                </a:lnTo>
                <a:cubicBezTo>
                  <a:pt x="0" y="72271"/>
                  <a:pt x="39052" y="38100"/>
                  <a:pt x="87086" y="3810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6" name="Text 24"/>
          <p:cNvSpPr/>
          <p:nvPr/>
        </p:nvSpPr>
        <p:spPr>
          <a:xfrm>
            <a:off x="13271500" y="3048000"/>
            <a:ext cx="1778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White Space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13398500" y="3492500"/>
            <a:ext cx="1524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Breathing room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270000" y="4191000"/>
            <a:ext cx="13716000" cy="406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8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Core Editing Techniques</a:t>
            </a:r>
            <a:endParaRPr lang="en-US" sz="1800" dirty="0"/>
          </a:p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Cropping &amp; resizing — Focus attention, optimize for platforms</a:t>
            </a:r>
            <a:endParaRPr lang="en-US" sz="1800" dirty="0"/>
          </a:p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Color correction — White balance, exposure, saturation, curves</a:t>
            </a:r>
            <a:endParaRPr lang="en-US" sz="1800" dirty="0"/>
          </a:p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Retouching — Remove blemishes, clone stamp, healing brush</a:t>
            </a:r>
            <a:endParaRPr lang="en-US" sz="1800" dirty="0"/>
          </a:p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Compositing — Layers, masks, blending modes for complex artwork</a:t>
            </a:r>
            <a:endParaRPr lang="en-US" sz="1800" dirty="0"/>
          </a:p>
          <a:p>
            <a:pPr algn="l">
              <a:lnSpc>
                <a:spcPct val="160000"/>
              </a:lnSpc>
              <a:spcBef>
                <a:spcPts val="1200"/>
              </a:spcBef>
            </a:pPr>
            <a:r>
              <a:rPr lang="en-US" sz="18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Accessibility Essentials</a:t>
            </a:r>
            <a:endParaRPr lang="en-US" sz="1800" dirty="0"/>
          </a:p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Alt text for all images — Descriptive, concise, meaningful</a:t>
            </a:r>
            <a:endParaRPr lang="en-US" sz="1800" dirty="0"/>
          </a:p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Color-blind friendly palettes — Avoid red/green combinations alone</a:t>
            </a:r>
            <a:endParaRPr lang="en-US" sz="1800" dirty="0"/>
          </a:p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Sufficient contrast ratios — WCAG AA minimum 4.5:1 for text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4986000" y="8509000"/>
            <a:ext cx="101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17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70000" y="762000"/>
            <a:ext cx="1143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Image Creation Tools for Professionals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1270000" y="1524000"/>
            <a:ext cx="13716000" cy="12700"/>
          </a:xfrm>
          <a:prstGeom prst="rect">
            <a:avLst/>
          </a:prstGeom>
          <a:solidFill>
            <a:srgbClr val="D0D6DC"/>
          </a:solidFill>
          <a:ln/>
        </p:spPr>
      </p:sp>
      <p:sp>
        <p:nvSpPr>
          <p:cNvPr id="4" name="Shape 2"/>
          <p:cNvSpPr/>
          <p:nvPr/>
        </p:nvSpPr>
        <p:spPr>
          <a:xfrm>
            <a:off x="1270000" y="1905000"/>
            <a:ext cx="4318000" cy="3810000"/>
          </a:xfrm>
          <a:prstGeom prst="roundRect">
            <a:avLst>
              <a:gd name="adj" fmla="val 10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27000" dist="50800" dir="5400000">
              <a:srgbClr val="000000">
                <a:alpha val="3137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651000" y="22225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232304" y="-26789"/>
                </a:moveTo>
                <a:lnTo>
                  <a:pt x="245357" y="9723"/>
                </a:lnTo>
                <a:lnTo>
                  <a:pt x="277813" y="24408"/>
                </a:lnTo>
                <a:cubicBezTo>
                  <a:pt x="280458" y="25598"/>
                  <a:pt x="282222" y="28575"/>
                  <a:pt x="282222" y="31750"/>
                </a:cubicBezTo>
                <a:cubicBezTo>
                  <a:pt x="282222" y="34925"/>
                  <a:pt x="280458" y="37902"/>
                  <a:pt x="277813" y="39092"/>
                </a:cubicBezTo>
                <a:lnTo>
                  <a:pt x="245357" y="53777"/>
                </a:lnTo>
                <a:lnTo>
                  <a:pt x="232304" y="90289"/>
                </a:lnTo>
                <a:cubicBezTo>
                  <a:pt x="231246" y="93266"/>
                  <a:pt x="228600" y="95250"/>
                  <a:pt x="225778" y="95250"/>
                </a:cubicBezTo>
                <a:cubicBezTo>
                  <a:pt x="222956" y="95250"/>
                  <a:pt x="220310" y="93266"/>
                  <a:pt x="219251" y="90289"/>
                </a:cubicBezTo>
                <a:lnTo>
                  <a:pt x="206199" y="53777"/>
                </a:lnTo>
                <a:lnTo>
                  <a:pt x="173743" y="39092"/>
                </a:lnTo>
                <a:cubicBezTo>
                  <a:pt x="171097" y="37902"/>
                  <a:pt x="169333" y="34925"/>
                  <a:pt x="169333" y="31750"/>
                </a:cubicBezTo>
                <a:cubicBezTo>
                  <a:pt x="169333" y="28575"/>
                  <a:pt x="171097" y="25598"/>
                  <a:pt x="173743" y="24408"/>
                </a:cubicBezTo>
                <a:lnTo>
                  <a:pt x="206199" y="9723"/>
                </a:lnTo>
                <a:lnTo>
                  <a:pt x="219251" y="-26789"/>
                </a:lnTo>
                <a:cubicBezTo>
                  <a:pt x="220310" y="-29766"/>
                  <a:pt x="222956" y="-31750"/>
                  <a:pt x="225778" y="-31750"/>
                </a:cubicBezTo>
                <a:cubicBezTo>
                  <a:pt x="228600" y="-31750"/>
                  <a:pt x="231246" y="-29766"/>
                  <a:pt x="232304" y="-26789"/>
                </a:cubicBezTo>
                <a:close/>
                <a:moveTo>
                  <a:pt x="97631" y="41374"/>
                </a:moveTo>
                <a:lnTo>
                  <a:pt x="116593" y="91083"/>
                </a:lnTo>
                <a:lnTo>
                  <a:pt x="160778" y="112415"/>
                </a:lnTo>
                <a:cubicBezTo>
                  <a:pt x="165982" y="114895"/>
                  <a:pt x="169333" y="120650"/>
                  <a:pt x="169333" y="127000"/>
                </a:cubicBezTo>
                <a:cubicBezTo>
                  <a:pt x="169333" y="133350"/>
                  <a:pt x="165982" y="139105"/>
                  <a:pt x="160778" y="141585"/>
                </a:cubicBezTo>
                <a:lnTo>
                  <a:pt x="116593" y="162917"/>
                </a:lnTo>
                <a:lnTo>
                  <a:pt x="97631" y="212626"/>
                </a:lnTo>
                <a:cubicBezTo>
                  <a:pt x="95426" y="218480"/>
                  <a:pt x="90311" y="222250"/>
                  <a:pt x="84667" y="222250"/>
                </a:cubicBezTo>
                <a:cubicBezTo>
                  <a:pt x="79022" y="222250"/>
                  <a:pt x="73907" y="218480"/>
                  <a:pt x="71702" y="212626"/>
                </a:cubicBezTo>
                <a:lnTo>
                  <a:pt x="52740" y="162917"/>
                </a:lnTo>
                <a:lnTo>
                  <a:pt x="8555" y="141585"/>
                </a:lnTo>
                <a:cubicBezTo>
                  <a:pt x="3351" y="139105"/>
                  <a:pt x="0" y="133350"/>
                  <a:pt x="0" y="127000"/>
                </a:cubicBezTo>
                <a:cubicBezTo>
                  <a:pt x="0" y="120650"/>
                  <a:pt x="3351" y="114895"/>
                  <a:pt x="8555" y="112415"/>
                </a:cubicBezTo>
                <a:lnTo>
                  <a:pt x="52740" y="91083"/>
                </a:lnTo>
                <a:lnTo>
                  <a:pt x="71702" y="41374"/>
                </a:lnTo>
                <a:cubicBezTo>
                  <a:pt x="73907" y="35520"/>
                  <a:pt x="79022" y="31750"/>
                  <a:pt x="84667" y="31750"/>
                </a:cubicBezTo>
                <a:cubicBezTo>
                  <a:pt x="90311" y="31750"/>
                  <a:pt x="95426" y="35520"/>
                  <a:pt x="97631" y="41374"/>
                </a:cubicBezTo>
                <a:close/>
                <a:moveTo>
                  <a:pt x="409222" y="301625"/>
                </a:moveTo>
                <a:cubicBezTo>
                  <a:pt x="414867" y="301625"/>
                  <a:pt x="419982" y="305395"/>
                  <a:pt x="422187" y="311249"/>
                </a:cubicBezTo>
                <a:lnTo>
                  <a:pt x="441149" y="360958"/>
                </a:lnTo>
                <a:lnTo>
                  <a:pt x="485334" y="382290"/>
                </a:lnTo>
                <a:cubicBezTo>
                  <a:pt x="490537" y="384770"/>
                  <a:pt x="493889" y="390525"/>
                  <a:pt x="493889" y="396875"/>
                </a:cubicBezTo>
                <a:cubicBezTo>
                  <a:pt x="493889" y="403225"/>
                  <a:pt x="490538" y="408980"/>
                  <a:pt x="485334" y="411460"/>
                </a:cubicBezTo>
                <a:lnTo>
                  <a:pt x="441149" y="432792"/>
                </a:lnTo>
                <a:lnTo>
                  <a:pt x="422187" y="482501"/>
                </a:lnTo>
                <a:cubicBezTo>
                  <a:pt x="419982" y="488355"/>
                  <a:pt x="414867" y="492125"/>
                  <a:pt x="409222" y="492125"/>
                </a:cubicBezTo>
                <a:cubicBezTo>
                  <a:pt x="403578" y="492125"/>
                  <a:pt x="398463" y="488355"/>
                  <a:pt x="396258" y="482501"/>
                </a:cubicBezTo>
                <a:lnTo>
                  <a:pt x="377296" y="432792"/>
                </a:lnTo>
                <a:lnTo>
                  <a:pt x="333110" y="411460"/>
                </a:lnTo>
                <a:cubicBezTo>
                  <a:pt x="327907" y="408980"/>
                  <a:pt x="324556" y="403225"/>
                  <a:pt x="324556" y="396875"/>
                </a:cubicBezTo>
                <a:cubicBezTo>
                  <a:pt x="324556" y="390525"/>
                  <a:pt x="327907" y="384770"/>
                  <a:pt x="333110" y="382290"/>
                </a:cubicBezTo>
                <a:lnTo>
                  <a:pt x="377296" y="360958"/>
                </a:lnTo>
                <a:lnTo>
                  <a:pt x="396258" y="311249"/>
                </a:lnTo>
                <a:cubicBezTo>
                  <a:pt x="398463" y="305395"/>
                  <a:pt x="403578" y="301625"/>
                  <a:pt x="409222" y="301625"/>
                </a:cubicBezTo>
                <a:close/>
                <a:moveTo>
                  <a:pt x="405694" y="0"/>
                </a:moveTo>
                <a:cubicBezTo>
                  <a:pt x="415396" y="0"/>
                  <a:pt x="424744" y="4366"/>
                  <a:pt x="431712" y="12105"/>
                </a:cubicBezTo>
                <a:lnTo>
                  <a:pt x="469018" y="54074"/>
                </a:lnTo>
                <a:cubicBezTo>
                  <a:pt x="475897" y="61913"/>
                  <a:pt x="479778" y="72430"/>
                  <a:pt x="479778" y="83344"/>
                </a:cubicBezTo>
                <a:cubicBezTo>
                  <a:pt x="479778" y="94258"/>
                  <a:pt x="475897" y="104775"/>
                  <a:pt x="469018" y="112613"/>
                </a:cubicBezTo>
                <a:lnTo>
                  <a:pt x="391231" y="200124"/>
                </a:lnTo>
                <a:lnTo>
                  <a:pt x="301890" y="99616"/>
                </a:lnTo>
                <a:lnTo>
                  <a:pt x="379677" y="12105"/>
                </a:lnTo>
                <a:cubicBezTo>
                  <a:pt x="386644" y="4366"/>
                  <a:pt x="395993" y="0"/>
                  <a:pt x="405694" y="0"/>
                </a:cubicBezTo>
                <a:close/>
                <a:moveTo>
                  <a:pt x="38982" y="395387"/>
                </a:moveTo>
                <a:lnTo>
                  <a:pt x="271992" y="133251"/>
                </a:lnTo>
                <a:lnTo>
                  <a:pt x="361333" y="233759"/>
                </a:lnTo>
                <a:lnTo>
                  <a:pt x="128323" y="495895"/>
                </a:lnTo>
                <a:cubicBezTo>
                  <a:pt x="121356" y="503634"/>
                  <a:pt x="112007" y="508000"/>
                  <a:pt x="102306" y="508000"/>
                </a:cubicBezTo>
                <a:cubicBezTo>
                  <a:pt x="92604" y="508000"/>
                  <a:pt x="83256" y="503634"/>
                  <a:pt x="76288" y="495895"/>
                </a:cubicBezTo>
                <a:lnTo>
                  <a:pt x="38982" y="453926"/>
                </a:lnTo>
                <a:cubicBezTo>
                  <a:pt x="32103" y="446088"/>
                  <a:pt x="28222" y="435570"/>
                  <a:pt x="28222" y="424656"/>
                </a:cubicBezTo>
                <a:cubicBezTo>
                  <a:pt x="28222" y="413742"/>
                  <a:pt x="32103" y="403225"/>
                  <a:pt x="38982" y="395387"/>
                </a:cubicBezTo>
                <a:close/>
              </a:path>
            </a:pathLst>
          </a:custGeom>
          <a:solidFill>
            <a:srgbClr val="FF7F50"/>
          </a:solidFill>
          <a:ln/>
        </p:spPr>
      </p:sp>
      <p:sp>
        <p:nvSpPr>
          <p:cNvPr id="6" name="Text 4"/>
          <p:cNvSpPr/>
          <p:nvPr/>
        </p:nvSpPr>
        <p:spPr>
          <a:xfrm>
            <a:off x="2349500" y="2222500"/>
            <a:ext cx="2921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Adobe Photoshop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651000" y="2857500"/>
            <a:ext cx="3619500" cy="279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Industry standard raster editing. Layers, compositing, AI-powered Generative Fill. Essential for photo manipulation and digital art.</a:t>
            </a:r>
            <a:endParaRPr lang="en-US" sz="1800" dirty="0"/>
          </a:p>
          <a:p>
            <a:pPr algn="l">
              <a:lnSpc>
                <a:spcPct val="160000"/>
              </a:lnSpc>
              <a:spcBef>
                <a:spcPts val="1000"/>
              </a:spcBef>
            </a:pPr>
            <a:r>
              <a:rPr lang="en-US" sz="18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$22.99/mo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969000" y="1905000"/>
            <a:ext cx="4318000" cy="3810000"/>
          </a:xfrm>
          <a:prstGeom prst="roundRect">
            <a:avLst>
              <a:gd name="adj" fmla="val 10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27000" dist="50800" dir="5400000">
              <a:srgbClr val="000000">
                <a:alpha val="3137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350000" y="22225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365621" y="18157"/>
                </a:moveTo>
                <a:lnTo>
                  <a:pt x="315912" y="67866"/>
                </a:lnTo>
                <a:lnTo>
                  <a:pt x="440234" y="192187"/>
                </a:lnTo>
                <a:lnTo>
                  <a:pt x="489942" y="142478"/>
                </a:lnTo>
                <a:cubicBezTo>
                  <a:pt x="511671" y="120749"/>
                  <a:pt x="511671" y="85626"/>
                  <a:pt x="489942" y="63897"/>
                </a:cubicBezTo>
                <a:lnTo>
                  <a:pt x="444202" y="18157"/>
                </a:lnTo>
                <a:cubicBezTo>
                  <a:pt x="422473" y="-3572"/>
                  <a:pt x="387350" y="-3572"/>
                  <a:pt x="365621" y="18157"/>
                </a:cubicBezTo>
                <a:close/>
                <a:moveTo>
                  <a:pt x="277118" y="96441"/>
                </a:moveTo>
                <a:lnTo>
                  <a:pt x="276622" y="96540"/>
                </a:lnTo>
                <a:lnTo>
                  <a:pt x="133648" y="139402"/>
                </a:lnTo>
                <a:cubicBezTo>
                  <a:pt x="113903" y="145355"/>
                  <a:pt x="98227" y="160437"/>
                  <a:pt x="91678" y="180082"/>
                </a:cubicBezTo>
                <a:lnTo>
                  <a:pt x="3770" y="442317"/>
                </a:lnTo>
                <a:cubicBezTo>
                  <a:pt x="893" y="450949"/>
                  <a:pt x="1885" y="460375"/>
                  <a:pt x="6251" y="468114"/>
                </a:cubicBezTo>
                <a:lnTo>
                  <a:pt x="160437" y="313928"/>
                </a:lnTo>
                <a:cubicBezTo>
                  <a:pt x="159345" y="309959"/>
                  <a:pt x="158849" y="305891"/>
                  <a:pt x="158849" y="301625"/>
                </a:cubicBezTo>
                <a:cubicBezTo>
                  <a:pt x="158849" y="275332"/>
                  <a:pt x="180181" y="254000"/>
                  <a:pt x="206474" y="254000"/>
                </a:cubicBezTo>
                <a:cubicBezTo>
                  <a:pt x="232767" y="254000"/>
                  <a:pt x="254099" y="275332"/>
                  <a:pt x="254099" y="301625"/>
                </a:cubicBezTo>
                <a:cubicBezTo>
                  <a:pt x="254099" y="327918"/>
                  <a:pt x="232767" y="349250"/>
                  <a:pt x="206474" y="349250"/>
                </a:cubicBezTo>
                <a:cubicBezTo>
                  <a:pt x="202208" y="349250"/>
                  <a:pt x="198041" y="348655"/>
                  <a:pt x="194171" y="347663"/>
                </a:cubicBezTo>
                <a:lnTo>
                  <a:pt x="39985" y="501749"/>
                </a:lnTo>
                <a:cubicBezTo>
                  <a:pt x="47724" y="506115"/>
                  <a:pt x="57051" y="507107"/>
                  <a:pt x="65782" y="504230"/>
                </a:cubicBezTo>
                <a:lnTo>
                  <a:pt x="328017" y="416322"/>
                </a:lnTo>
                <a:cubicBezTo>
                  <a:pt x="347563" y="409773"/>
                  <a:pt x="362744" y="394097"/>
                  <a:pt x="368697" y="374352"/>
                </a:cubicBezTo>
                <a:lnTo>
                  <a:pt x="411559" y="231378"/>
                </a:lnTo>
                <a:lnTo>
                  <a:pt x="411659" y="230882"/>
                </a:lnTo>
                <a:lnTo>
                  <a:pt x="277217" y="96441"/>
                </a:lnTo>
                <a:close/>
              </a:path>
            </a:pathLst>
          </a:custGeom>
          <a:solidFill>
            <a:srgbClr val="FF7F50"/>
          </a:solidFill>
          <a:ln/>
        </p:spPr>
      </p:sp>
      <p:sp>
        <p:nvSpPr>
          <p:cNvPr id="10" name="Text 8"/>
          <p:cNvSpPr/>
          <p:nvPr/>
        </p:nvSpPr>
        <p:spPr>
          <a:xfrm>
            <a:off x="7048500" y="2222500"/>
            <a:ext cx="2921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Adobe Illustrator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6350000" y="2857500"/>
            <a:ext cx="3619500" cy="279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Vector graphics powerhouse. Logo design, typography, scalable artwork. Industry standard for print and digital illustration.</a:t>
            </a:r>
            <a:endParaRPr lang="en-US" sz="1800" dirty="0"/>
          </a:p>
          <a:p>
            <a:pPr algn="l">
              <a:lnSpc>
                <a:spcPct val="160000"/>
              </a:lnSpc>
              <a:spcBef>
                <a:spcPts val="1000"/>
              </a:spcBef>
            </a:pPr>
            <a:r>
              <a:rPr lang="en-US" sz="18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$22.99/mo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10668000" y="1905000"/>
            <a:ext cx="4318000" cy="3810000"/>
          </a:xfrm>
          <a:prstGeom prst="roundRect">
            <a:avLst>
              <a:gd name="adj" fmla="val 10000"/>
            </a:avLst>
          </a:prstGeom>
          <a:gradFill rotWithShape="1" flip="none">
            <a:gsLst>
              <a:gs pos="0">
                <a:srgbClr val="FF7F50"/>
              </a:gs>
              <a:gs pos="100000">
                <a:srgbClr val="FF7F50">
                  <a:alpha val="80000"/>
                </a:srgbClr>
              </a:gs>
            </a:gsLst>
            <a:lin ang="8100000" scaled="1"/>
          </a:gradFill>
          <a:ln/>
        </p:spPr>
      </p:sp>
      <p:sp>
        <p:nvSpPr>
          <p:cNvPr id="13" name="Shape 11"/>
          <p:cNvSpPr/>
          <p:nvPr/>
        </p:nvSpPr>
        <p:spPr>
          <a:xfrm>
            <a:off x="11049000" y="22225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508000" y="254000"/>
                </a:moveTo>
                <a:cubicBezTo>
                  <a:pt x="508000" y="254893"/>
                  <a:pt x="508000" y="255786"/>
                  <a:pt x="508000" y="256679"/>
                </a:cubicBezTo>
                <a:cubicBezTo>
                  <a:pt x="507603" y="292894"/>
                  <a:pt x="474663" y="317500"/>
                  <a:pt x="438448" y="317500"/>
                </a:cubicBezTo>
                <a:lnTo>
                  <a:pt x="341313" y="317500"/>
                </a:lnTo>
                <a:cubicBezTo>
                  <a:pt x="315020" y="317500"/>
                  <a:pt x="293688" y="338832"/>
                  <a:pt x="293688" y="365125"/>
                </a:cubicBezTo>
                <a:cubicBezTo>
                  <a:pt x="293688" y="368498"/>
                  <a:pt x="294084" y="371773"/>
                  <a:pt x="294680" y="374948"/>
                </a:cubicBezTo>
                <a:cubicBezTo>
                  <a:pt x="296763" y="385068"/>
                  <a:pt x="301129" y="394791"/>
                  <a:pt x="305395" y="404614"/>
                </a:cubicBezTo>
                <a:cubicBezTo>
                  <a:pt x="311448" y="418306"/>
                  <a:pt x="317401" y="431899"/>
                  <a:pt x="317401" y="446286"/>
                </a:cubicBezTo>
                <a:cubicBezTo>
                  <a:pt x="317401" y="477838"/>
                  <a:pt x="295970" y="506512"/>
                  <a:pt x="264418" y="507802"/>
                </a:cubicBezTo>
                <a:cubicBezTo>
                  <a:pt x="260945" y="507901"/>
                  <a:pt x="257473" y="508000"/>
                  <a:pt x="253901" y="508000"/>
                </a:cubicBezTo>
                <a:cubicBezTo>
                  <a:pt x="113605" y="508000"/>
                  <a:pt x="-99" y="394295"/>
                  <a:pt x="-99" y="254000"/>
                </a:cubicBezTo>
                <a:cubicBezTo>
                  <a:pt x="-99" y="113705"/>
                  <a:pt x="113705" y="0"/>
                  <a:pt x="254000" y="0"/>
                </a:cubicBezTo>
                <a:cubicBezTo>
                  <a:pt x="394295" y="0"/>
                  <a:pt x="508000" y="113705"/>
                  <a:pt x="508000" y="254000"/>
                </a:cubicBezTo>
                <a:close/>
                <a:moveTo>
                  <a:pt x="127000" y="285750"/>
                </a:moveTo>
                <a:cubicBezTo>
                  <a:pt x="127000" y="268227"/>
                  <a:pt x="112773" y="254000"/>
                  <a:pt x="95250" y="254000"/>
                </a:cubicBezTo>
                <a:cubicBezTo>
                  <a:pt x="77727" y="254000"/>
                  <a:pt x="63500" y="268227"/>
                  <a:pt x="63500" y="285750"/>
                </a:cubicBezTo>
                <a:cubicBezTo>
                  <a:pt x="63500" y="303273"/>
                  <a:pt x="77727" y="317500"/>
                  <a:pt x="95250" y="317500"/>
                </a:cubicBezTo>
                <a:cubicBezTo>
                  <a:pt x="112773" y="317500"/>
                  <a:pt x="127000" y="303273"/>
                  <a:pt x="127000" y="285750"/>
                </a:cubicBezTo>
                <a:close/>
                <a:moveTo>
                  <a:pt x="127000" y="190500"/>
                </a:moveTo>
                <a:cubicBezTo>
                  <a:pt x="144523" y="190500"/>
                  <a:pt x="158750" y="176273"/>
                  <a:pt x="158750" y="158750"/>
                </a:cubicBezTo>
                <a:cubicBezTo>
                  <a:pt x="158750" y="141227"/>
                  <a:pt x="144523" y="127000"/>
                  <a:pt x="127000" y="127000"/>
                </a:cubicBezTo>
                <a:cubicBezTo>
                  <a:pt x="109477" y="127000"/>
                  <a:pt x="95250" y="141227"/>
                  <a:pt x="95250" y="158750"/>
                </a:cubicBezTo>
                <a:cubicBezTo>
                  <a:pt x="95250" y="176273"/>
                  <a:pt x="109477" y="190500"/>
                  <a:pt x="127000" y="190500"/>
                </a:cubicBezTo>
                <a:close/>
                <a:moveTo>
                  <a:pt x="285750" y="95250"/>
                </a:moveTo>
                <a:cubicBezTo>
                  <a:pt x="285750" y="77727"/>
                  <a:pt x="271523" y="63500"/>
                  <a:pt x="254000" y="63500"/>
                </a:cubicBezTo>
                <a:cubicBezTo>
                  <a:pt x="236477" y="63500"/>
                  <a:pt x="222250" y="77727"/>
                  <a:pt x="222250" y="95250"/>
                </a:cubicBezTo>
                <a:cubicBezTo>
                  <a:pt x="222250" y="112773"/>
                  <a:pt x="236477" y="127000"/>
                  <a:pt x="254000" y="127000"/>
                </a:cubicBezTo>
                <a:cubicBezTo>
                  <a:pt x="271523" y="127000"/>
                  <a:pt x="285750" y="112773"/>
                  <a:pt x="285750" y="95250"/>
                </a:cubicBezTo>
                <a:close/>
                <a:moveTo>
                  <a:pt x="381000" y="190500"/>
                </a:moveTo>
                <a:cubicBezTo>
                  <a:pt x="398523" y="190500"/>
                  <a:pt x="412750" y="176273"/>
                  <a:pt x="412750" y="158750"/>
                </a:cubicBezTo>
                <a:cubicBezTo>
                  <a:pt x="412750" y="141227"/>
                  <a:pt x="398523" y="127000"/>
                  <a:pt x="381000" y="127000"/>
                </a:cubicBezTo>
                <a:cubicBezTo>
                  <a:pt x="363477" y="127000"/>
                  <a:pt x="349250" y="141227"/>
                  <a:pt x="349250" y="158750"/>
                </a:cubicBezTo>
                <a:cubicBezTo>
                  <a:pt x="349250" y="176273"/>
                  <a:pt x="363477" y="190500"/>
                  <a:pt x="381000" y="19050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4" name="Text 12"/>
          <p:cNvSpPr/>
          <p:nvPr/>
        </p:nvSpPr>
        <p:spPr>
          <a:xfrm>
            <a:off x="11747500" y="2222500"/>
            <a:ext cx="2921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Canva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1049000" y="2857500"/>
            <a:ext cx="3619500" cy="25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100M+ users. Template-driven design, brand kit, social media optimization. Perfect for non-designers and rapid creation.</a:t>
            </a:r>
            <a:endParaRPr lang="en-US" sz="1800" dirty="0"/>
          </a:p>
          <a:p>
            <a:pPr algn="l">
              <a:lnSpc>
                <a:spcPct val="160000"/>
              </a:lnSpc>
              <a:spcBef>
                <a:spcPts val="1000"/>
              </a:spcBef>
            </a:pPr>
            <a:r>
              <a:rPr lang="en-US" sz="18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Free / $12.99/mo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1270000" y="6096000"/>
            <a:ext cx="13716000" cy="15240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 w="12700">
            <a:solidFill>
              <a:srgbClr val="D0D6D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51000" y="6223000"/>
            <a:ext cx="129540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8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Also Consider:</a:t>
            </a:r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</a:t>
            </a:r>
            <a:pPr algn="l">
              <a:lnSpc>
                <a:spcPct val="160000"/>
              </a:lnSpc>
            </a:pPr>
            <a:r>
              <a:rPr lang="en-US" sz="18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GIMP</a:t>
            </a:r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(free Photoshop alternative) | </a:t>
            </a:r>
            <a:pPr algn="l">
              <a:lnSpc>
                <a:spcPct val="160000"/>
              </a:lnSpc>
            </a:pPr>
            <a:r>
              <a:rPr lang="en-US" sz="18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Figma</a:t>
            </a:r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(UI/UX collaborative design) | </a:t>
            </a:r>
            <a:pPr algn="l">
              <a:lnSpc>
                <a:spcPct val="160000"/>
              </a:lnSpc>
            </a:pPr>
            <a:r>
              <a:rPr lang="en-US" sz="18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Midjourney/DALL-E</a:t>
            </a:r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(AI image generation)</a:t>
            </a:r>
            <a:endParaRPr lang="en-US" sz="1800" dirty="0"/>
          </a:p>
          <a:p>
            <a:pPr algn="l">
              <a:lnSpc>
                <a:spcPct val="160000"/>
              </a:lnSpc>
            </a:pPr>
            <a:r>
              <a:rPr lang="en-US" sz="18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Selection Guide:</a:t>
            </a:r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Advanced editing → Photoshop | Vector work → Illustrator | Quick design → Canva | UI/UX → Figma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4986000" y="8509000"/>
            <a:ext cx="101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18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2E5E8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540000"/>
            <a:ext cx="16256000" cy="4064000"/>
          </a:xfrm>
          <a:custGeom>
            <a:avLst/>
            <a:gdLst/>
            <a:ahLst/>
            <a:cxnLst/>
            <a:rect l="l" t="t" r="r" b="b"/>
            <a:pathLst>
              <a:path w="16256000" h="4064000">
                <a:moveTo>
                  <a:pt x="0" y="2032000"/>
                </a:moveTo>
                <a:quadBezTo>
                  <a:pt x="4064000" y="0"/>
                  <a:pt x="8128000" y="0"/>
                </a:quadBezTo>
                <a:quadBezTo>
                  <a:pt x="12192000" y="0"/>
                  <a:pt x="16256000" y="2032000"/>
                </a:quadBezTo>
                <a:lnTo>
                  <a:pt x="16256000" y="4064000"/>
                </a:lnTo>
                <a:lnTo>
                  <a:pt x="0" y="4064000"/>
                </a:lnTo>
                <a:close/>
              </a:path>
            </a:pathLst>
          </a:custGeom>
          <a:gradFill rotWithShape="1" flip="none">
            <a:gsLst>
              <a:gs pos="0">
                <a:srgbClr val="D0E0E3"/>
              </a:gs>
              <a:gs pos="50000">
                <a:srgbClr val="D0E0E3">
                  <a:alpha val="31000"/>
                </a:srgbClr>
              </a:gs>
              <a:gs pos="100000">
                <a:srgbClr val="2E5E8A">
                  <a:alpha val="19000"/>
                </a:srgbClr>
              </a:gs>
            </a:gsLst>
            <a:lin ang="5400000" scaled="1"/>
          </a:gradFill>
          <a:ln/>
        </p:spPr>
      </p:sp>
      <p:sp>
        <p:nvSpPr>
          <p:cNvPr id="3" name="Text 1"/>
          <p:cNvSpPr/>
          <p:nvPr/>
        </p:nvSpPr>
        <p:spPr>
          <a:xfrm>
            <a:off x="1270000" y="3175000"/>
            <a:ext cx="2540000" cy="1016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72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05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4318000" y="3048000"/>
            <a:ext cx="10160000" cy="1016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6000" dirty="0">
                <a:solidFill>
                  <a:srgbClr val="FCFDF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Creating Multimedia Video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4318000" y="4318000"/>
            <a:ext cx="9144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dirty="0">
                <a:solidFill>
                  <a:srgbClr val="FCFDF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Video production, editing, and distribution for professional outcomes</a:t>
            </a:r>
            <a:endParaRPr lang="en-US" sz="2200" dirty="0"/>
          </a:p>
        </p:txBody>
      </p:sp>
    </p:spTree>
  </p:cSld>
  <p:clrMapOvr>
    <a:masterClrMapping/>
  </p:clrMapOvr>
  <p:transition>
    <p:fade/>
    <p:spd val="med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70000" y="762000"/>
            <a:ext cx="1143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Video Production Pipeline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1270000" y="1524000"/>
            <a:ext cx="13716000" cy="12700"/>
          </a:xfrm>
          <a:prstGeom prst="rect">
            <a:avLst/>
          </a:prstGeom>
          <a:solidFill>
            <a:srgbClr val="D0D6DC"/>
          </a:solidFill>
          <a:ln/>
        </p:spPr>
      </p:sp>
      <p:sp>
        <p:nvSpPr>
          <p:cNvPr id="4" name="Shape 2"/>
          <p:cNvSpPr/>
          <p:nvPr/>
        </p:nvSpPr>
        <p:spPr>
          <a:xfrm>
            <a:off x="1270000" y="2032000"/>
            <a:ext cx="4318000" cy="3556000"/>
          </a:xfrm>
          <a:prstGeom prst="roundRect">
            <a:avLst>
              <a:gd name="adj" fmla="val 10000"/>
            </a:avLst>
          </a:prstGeom>
          <a:solidFill>
            <a:srgbClr val="2E5E8A"/>
          </a:solidFill>
          <a:ln/>
        </p:spPr>
      </p:sp>
      <p:sp>
        <p:nvSpPr>
          <p:cNvPr id="5" name="Text 3"/>
          <p:cNvSpPr/>
          <p:nvPr/>
        </p:nvSpPr>
        <p:spPr>
          <a:xfrm>
            <a:off x="1524000" y="2222500"/>
            <a:ext cx="889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STEP 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524000" y="2667000"/>
            <a:ext cx="381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6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Pre-Production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1524000" y="3238500"/>
            <a:ext cx="3810000" cy="266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Scriptwriting &amp; outlines</a:t>
            </a:r>
            <a:endParaRPr lang="en-US" sz="1800" dirty="0"/>
          </a:p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Storyboarding</a:t>
            </a:r>
            <a:endParaRPr lang="en-US" sz="1800" dirty="0"/>
          </a:p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Location scouting</a:t>
            </a:r>
            <a:endParaRPr lang="en-US" sz="1800" dirty="0"/>
          </a:p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Equipment prep</a:t>
            </a:r>
            <a:endParaRPr lang="en-US" sz="1800" dirty="0"/>
          </a:p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Shot list creation</a:t>
            </a:r>
            <a:endParaRPr lang="en-US" sz="1800" dirty="0"/>
          </a:p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Casting &amp; scheduling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969000" y="2032000"/>
            <a:ext cx="4318000" cy="3556000"/>
          </a:xfrm>
          <a:prstGeom prst="roundRect">
            <a:avLst>
              <a:gd name="adj" fmla="val 10000"/>
            </a:avLst>
          </a:prstGeom>
          <a:solidFill>
            <a:srgbClr val="FF7F50"/>
          </a:solidFill>
          <a:ln/>
        </p:spPr>
      </p:sp>
      <p:sp>
        <p:nvSpPr>
          <p:cNvPr id="9" name="Text 7"/>
          <p:cNvSpPr/>
          <p:nvPr/>
        </p:nvSpPr>
        <p:spPr>
          <a:xfrm>
            <a:off x="6223000" y="2222500"/>
            <a:ext cx="889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STEP 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223000" y="2667000"/>
            <a:ext cx="381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6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Production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6223000" y="3238500"/>
            <a:ext cx="3810000" cy="266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Camera setup &amp; framing</a:t>
            </a:r>
            <a:endParaRPr lang="en-US" sz="1800" dirty="0"/>
          </a:p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Three-point lighting</a:t>
            </a:r>
            <a:endParaRPr lang="en-US" sz="1800" dirty="0"/>
          </a:p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Audio capture</a:t>
            </a:r>
            <a:endParaRPr lang="en-US" sz="1800" dirty="0"/>
          </a:p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Directing talent</a:t>
            </a:r>
            <a:endParaRPr lang="en-US" sz="1800" dirty="0"/>
          </a:p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B-roll footage</a:t>
            </a:r>
            <a:endParaRPr lang="en-US" sz="1800" dirty="0"/>
          </a:p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Monitoring levels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10668000" y="2032000"/>
            <a:ext cx="4318000" cy="3556000"/>
          </a:xfrm>
          <a:prstGeom prst="roundRect">
            <a:avLst>
              <a:gd name="adj" fmla="val 10000"/>
            </a:avLst>
          </a:prstGeom>
          <a:solidFill>
            <a:srgbClr val="2E5E8A"/>
          </a:solidFill>
          <a:ln/>
        </p:spPr>
      </p:sp>
      <p:sp>
        <p:nvSpPr>
          <p:cNvPr id="13" name="Text 11"/>
          <p:cNvSpPr/>
          <p:nvPr/>
        </p:nvSpPr>
        <p:spPr>
          <a:xfrm>
            <a:off x="10922000" y="2222500"/>
            <a:ext cx="889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STEP 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0922000" y="2667000"/>
            <a:ext cx="381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6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Post-Production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10922000" y="3238500"/>
            <a:ext cx="3810000" cy="266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Import &amp; organize</a:t>
            </a:r>
            <a:endParaRPr lang="en-US" sz="1800" dirty="0"/>
          </a:p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Rough cut assembly</a:t>
            </a:r>
            <a:endParaRPr lang="en-US" sz="1800" dirty="0"/>
          </a:p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Fine cut &amp; pacing</a:t>
            </a:r>
            <a:endParaRPr lang="en-US" sz="1800" dirty="0"/>
          </a:p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Color grading</a:t>
            </a:r>
            <a:endParaRPr lang="en-US" sz="1800" dirty="0"/>
          </a:p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Audio mixing</a:t>
            </a:r>
            <a:endParaRPr lang="en-US" sz="1800" dirty="0"/>
          </a:p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Graphics &amp; export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1270000" y="5969000"/>
            <a:ext cx="13716000" cy="19685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 w="12700">
            <a:solidFill>
              <a:srgbClr val="D0D6D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51000" y="6096000"/>
            <a:ext cx="12954000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8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Resolution:</a:t>
            </a:r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1080p (standard) | 4K (professional) | 8K (future-proofing)    </a:t>
            </a:r>
            <a:pPr algn="l">
              <a:lnSpc>
                <a:spcPct val="160000"/>
              </a:lnSpc>
            </a:pPr>
            <a:r>
              <a:rPr lang="en-US" sz="18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Frame Rates:</a:t>
            </a:r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24fps (cinematic) | 30fps (broadcast) | 60fps (smooth) | 120fps (slow-mo)</a:t>
            </a:r>
            <a:endParaRPr lang="en-US" sz="1800" dirty="0"/>
          </a:p>
          <a:p>
            <a:pPr algn="l">
              <a:lnSpc>
                <a:spcPct val="160000"/>
              </a:lnSpc>
            </a:pPr>
            <a:r>
              <a:rPr lang="en-US" sz="18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Codecs:</a:t>
            </a:r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H.264 (universal) | H.265/HEVC (efficient) | ProRes (editing) | AV1 (next-gen)</a:t>
            </a:r>
            <a:endParaRPr lang="en-US" sz="1800" dirty="0"/>
          </a:p>
          <a:p>
            <a:pPr algn="l">
              <a:lnSpc>
                <a:spcPct val="160000"/>
              </a:lnSpc>
            </a:pPr>
            <a:r>
              <a:rPr lang="en-US" sz="18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Golden Rule:</a:t>
            </a:r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Shoot in the highest quality your storage allows — you can always scale down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4986000" y="8509000"/>
            <a:ext cx="101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20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70000" y="762000"/>
            <a:ext cx="1143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Video Editing and Post-Production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1270000" y="1524000"/>
            <a:ext cx="13716000" cy="12700"/>
          </a:xfrm>
          <a:prstGeom prst="rect">
            <a:avLst/>
          </a:prstGeom>
          <a:solidFill>
            <a:srgbClr val="D0D6DC"/>
          </a:solidFill>
          <a:ln/>
        </p:spPr>
      </p:sp>
      <p:sp>
        <p:nvSpPr>
          <p:cNvPr id="4" name="Text 2"/>
          <p:cNvSpPr/>
          <p:nvPr/>
        </p:nvSpPr>
        <p:spPr>
          <a:xfrm>
            <a:off x="1270000" y="1714500"/>
            <a:ext cx="6604000" cy="673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20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Editing Fundamentals</a:t>
            </a:r>
            <a:endParaRPr lang="en-US" sz="2000" dirty="0"/>
          </a:p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</a:t>
            </a:r>
            <a:pPr algn="l">
              <a:lnSpc>
                <a:spcPct val="160000"/>
              </a:lnSpc>
            </a:pPr>
            <a:r>
              <a:rPr lang="en-US" sz="20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J-Cut</a:t>
            </a:r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Audio leads video transition</a:t>
            </a:r>
            <a:endParaRPr lang="en-US" sz="2000" dirty="0"/>
          </a:p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</a:t>
            </a:r>
            <a:pPr algn="l">
              <a:lnSpc>
                <a:spcPct val="160000"/>
              </a:lnSpc>
            </a:pPr>
            <a:r>
              <a:rPr lang="en-US" sz="20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L-Cut</a:t>
            </a:r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Video leads audio transition</a:t>
            </a:r>
            <a:endParaRPr lang="en-US" sz="2000" dirty="0"/>
          </a:p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</a:t>
            </a:r>
            <a:pPr algn="l">
              <a:lnSpc>
                <a:spcPct val="160000"/>
              </a:lnSpc>
            </a:pPr>
            <a:r>
              <a:rPr lang="en-US" sz="20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Match Cut</a:t>
            </a:r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Visual continuity between scenes</a:t>
            </a:r>
            <a:endParaRPr lang="en-US" sz="2000" dirty="0"/>
          </a:p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</a:t>
            </a:r>
            <a:pPr algn="l">
              <a:lnSpc>
                <a:spcPct val="160000"/>
              </a:lnSpc>
            </a:pPr>
            <a:r>
              <a:rPr lang="en-US" sz="20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Jump Cut</a:t>
            </a:r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Time compression technique</a:t>
            </a:r>
            <a:endParaRPr lang="en-US" sz="2000" dirty="0"/>
          </a:p>
          <a:p>
            <a:pPr algn="l">
              <a:lnSpc>
                <a:spcPct val="160000"/>
              </a:lnSpc>
              <a:spcBef>
                <a:spcPts val="1600"/>
              </a:spcBef>
            </a:pPr>
            <a:r>
              <a:rPr lang="en-US" sz="20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Color Grading Pipeline</a:t>
            </a:r>
            <a:endParaRPr lang="en-US" sz="2000" dirty="0"/>
          </a:p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Primary correction — exposure, white balance</a:t>
            </a:r>
            <a:endParaRPr lang="en-US" sz="2000" dirty="0"/>
          </a:p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Secondary correction — selective adjustments</a:t>
            </a:r>
            <a:endParaRPr lang="en-US" sz="2000" dirty="0"/>
          </a:p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Creative LUTs — stylistic color profiles</a:t>
            </a:r>
            <a:endParaRPr lang="en-US" sz="2000" dirty="0"/>
          </a:p>
          <a:p>
            <a:pPr algn="l">
              <a:lnSpc>
                <a:spcPct val="160000"/>
              </a:lnSpc>
              <a:spcBef>
                <a:spcPts val="1600"/>
              </a:spcBef>
            </a:pPr>
            <a:r>
              <a:rPr lang="en-US" sz="20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Audio Post-Production</a:t>
            </a:r>
            <a:endParaRPr lang="en-US" sz="2000" dirty="0"/>
          </a:p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Dialogue cleanup and noise reduction</a:t>
            </a:r>
            <a:endParaRPr lang="en-US" sz="2000" dirty="0"/>
          </a:p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Music licensing and sound design</a:t>
            </a:r>
            <a:endParaRPr lang="en-US" sz="2000" dirty="0"/>
          </a:p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Platform-specific mixing (loudness standards)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8382000" y="1841500"/>
            <a:ext cx="6604000" cy="6477000"/>
          </a:xfrm>
          <a:prstGeom prst="roundRect">
            <a:avLst>
              <a:gd name="adj" fmla="val 10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27000" dist="50800" dir="5400000">
              <a:srgbClr val="000000">
                <a:alpha val="3137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763000" y="2032000"/>
            <a:ext cx="5842000" cy="609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6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Motion Graphics</a:t>
            </a:r>
            <a:endParaRPr lang="en-US" sz="1600" dirty="0"/>
          </a:p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Lower thirds — name/title overlays</a:t>
            </a:r>
            <a:endParaRPr lang="en-US" sz="1600" dirty="0"/>
          </a:p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Title sequences — branded intros</a:t>
            </a:r>
            <a:endParaRPr lang="en-US" sz="1600" dirty="0"/>
          </a:p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Kinetic typography — animated text</a:t>
            </a:r>
            <a:endParaRPr lang="en-US" sz="1600" dirty="0"/>
          </a:p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Logo animations — brand identity</a:t>
            </a:r>
            <a:endParaRPr lang="en-US" sz="1600" dirty="0"/>
          </a:p>
          <a:p>
            <a:pPr algn="l">
              <a:lnSpc>
                <a:spcPct val="150000"/>
              </a:lnSpc>
              <a:spcBef>
                <a:spcPts val="1600"/>
              </a:spcBef>
            </a:pPr>
            <a:r>
              <a:rPr lang="en-US" sz="16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Export Optimization</a:t>
            </a:r>
            <a:endParaRPr lang="en-US" sz="1600" dirty="0"/>
          </a:p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</a:t>
            </a:r>
            <a:pPr algn="l">
              <a:lnSpc>
                <a:spcPct val="150000"/>
              </a:lnSpc>
            </a:pPr>
            <a:r>
              <a:rPr lang="en-US" sz="16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YouTube</a:t>
            </a:r>
            <a:pPr algn="l">
              <a:lnSpc>
                <a:spcPct val="150000"/>
              </a:lnSpc>
            </a:pPr>
            <a:r>
              <a:rPr lang="en-US" sz="16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— 16:9, H.264, 1080p+</a:t>
            </a:r>
            <a:endParaRPr lang="en-US" sz="1600" dirty="0"/>
          </a:p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</a:t>
            </a:r>
            <a:pPr algn="l">
              <a:lnSpc>
                <a:spcPct val="150000"/>
              </a:lnSpc>
            </a:pPr>
            <a:r>
              <a:rPr lang="en-US" sz="16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Instagram</a:t>
            </a:r>
            <a:pPr algn="l">
              <a:lnSpc>
                <a:spcPct val="150000"/>
              </a:lnSpc>
            </a:pPr>
            <a:r>
              <a:rPr lang="en-US" sz="16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— 9:16, 4:5, 1:1 reels</a:t>
            </a:r>
            <a:endParaRPr lang="en-US" sz="1600" dirty="0"/>
          </a:p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</a:t>
            </a:r>
            <a:pPr algn="l">
              <a:lnSpc>
                <a:spcPct val="150000"/>
              </a:lnSpc>
            </a:pPr>
            <a:r>
              <a:rPr lang="en-US" sz="16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LinkedIn</a:t>
            </a:r>
            <a:pPr algn="l">
              <a:lnSpc>
                <a:spcPct val="150000"/>
              </a:lnSpc>
            </a:pPr>
            <a:r>
              <a:rPr lang="en-US" sz="16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— 1:1, 16:9, captions</a:t>
            </a:r>
            <a:endParaRPr lang="en-US" sz="1600" dirty="0"/>
          </a:p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</a:t>
            </a:r>
            <a:pPr algn="l">
              <a:lnSpc>
                <a:spcPct val="150000"/>
              </a:lnSpc>
            </a:pPr>
            <a:r>
              <a:rPr lang="en-US" sz="16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TikTok</a:t>
            </a:r>
            <a:pPr algn="l">
              <a:lnSpc>
                <a:spcPct val="150000"/>
              </a:lnSpc>
            </a:pPr>
            <a:r>
              <a:rPr lang="en-US" sz="16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— 9:16, 1080x1920</a:t>
            </a:r>
            <a:endParaRPr lang="en-US" sz="1600" dirty="0"/>
          </a:p>
          <a:p>
            <a:pPr algn="l">
              <a:lnSpc>
                <a:spcPct val="150000"/>
              </a:lnSpc>
              <a:spcBef>
                <a:spcPts val="1600"/>
              </a:spcBef>
            </a:pPr>
            <a:r>
              <a:rPr lang="en-US" sz="16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Collaboration</a:t>
            </a:r>
            <a:endParaRPr lang="en-US" sz="1600" dirty="0"/>
          </a:p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Project organization and naming</a:t>
            </a:r>
            <a:endParaRPr lang="en-US" sz="1600" dirty="0"/>
          </a:p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Review links and feedback</a:t>
            </a:r>
            <a:endParaRPr lang="en-US" sz="1600" dirty="0"/>
          </a:p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Version control systems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4986000" y="8509000"/>
            <a:ext cx="101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21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70000" y="762000"/>
            <a:ext cx="1143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Professional Video Tools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1270000" y="1524000"/>
            <a:ext cx="13716000" cy="12700"/>
          </a:xfrm>
          <a:prstGeom prst="rect">
            <a:avLst/>
          </a:prstGeom>
          <a:solidFill>
            <a:srgbClr val="D0D6DC"/>
          </a:solidFill>
          <a:ln/>
        </p:spPr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270000" y="1905000"/>
          <a:ext cx="13716000" cy="4572000"/>
        </p:xfrm>
        <a:graphic>
          <a:graphicData uri="http://schemas.openxmlformats.org/drawingml/2006/table">
            <a:tbl>
              <a:tblPr/>
              <a:tblGrid>
                <a:gridCol w="2743200"/>
                <a:gridCol w="3429000"/>
                <a:gridCol w="4114800"/>
                <a:gridCol w="3429000"/>
              </a:tblGrid>
              <a:tr h="594360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Tool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5E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Best For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5E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Key Strengths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5E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Pricing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5E8A"/>
                    </a:solidFill>
                  </a:tcPr>
                </a:tc>
              </a:tr>
              <a:tr h="795528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Premiere Pro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Professional film/video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Creative Cloud integration, extensive plugins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$22.99/mo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D"/>
                    </a:solidFill>
                  </a:tcPr>
                </a:tc>
              </a:tr>
              <a:tr h="795528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Final Cut Pro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Mac professionals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Magnetic timeline, fast rendering, one-time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FF7F50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$299 one-time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795528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DaVinci Resolve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Color grading, VFX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Free tier, professional color, Fairlight audio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Free / $295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D"/>
                    </a:solidFill>
                  </a:tcPr>
                </a:tc>
              </a:tr>
              <a:tr h="795528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Camtasia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Screen recording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E-learning focused, easy-to-use, templates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$249 one-time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795528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CapCut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Social media content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Mobile-first, trending templates, free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FF7F50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Free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D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1270000" y="6858000"/>
            <a:ext cx="13716000" cy="1016000"/>
          </a:xfrm>
          <a:prstGeom prst="roundRect">
            <a:avLst>
              <a:gd name="adj" fmla="val 8000"/>
            </a:avLst>
          </a:prstGeom>
          <a:gradFill rotWithShape="1" flip="none">
            <a:gsLst>
              <a:gs pos="0">
                <a:srgbClr val="2E5E8A"/>
              </a:gs>
              <a:gs pos="100000">
                <a:srgbClr val="2E5E8A">
                  <a:alpha val="80000"/>
                </a:srgbClr>
              </a:gs>
            </a:gsLst>
            <a:lin ang="8100000" scaled="1"/>
          </a:gradFill>
          <a:ln/>
        </p:spPr>
      </p:sp>
      <p:sp>
        <p:nvSpPr>
          <p:cNvPr id="6" name="Text 3"/>
          <p:cNvSpPr/>
          <p:nvPr/>
        </p:nvSpPr>
        <p:spPr>
          <a:xfrm>
            <a:off x="1651000" y="6985000"/>
            <a:ext cx="12954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50000"/>
              </a:lnSpc>
            </a:pPr>
            <a:r>
              <a:rPr lang="en-US" sz="18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Film →</a:t>
            </a:r>
            <a:pPr algn="ctr">
              <a:lnSpc>
                <a:spcPct val="150000"/>
              </a:lnSpc>
            </a:pPr>
            <a:r>
              <a:rPr lang="en-US" sz="18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Premiere/Final Cut | </a:t>
            </a:r>
            <a:pPr algn="ctr">
              <a:lnSpc>
                <a:spcPct val="150000"/>
              </a:lnSpc>
            </a:pPr>
            <a:r>
              <a:rPr lang="en-US" sz="18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Color →</a:t>
            </a:r>
            <a:pPr algn="ctr">
              <a:lnSpc>
                <a:spcPct val="150000"/>
              </a:lnSpc>
            </a:pPr>
            <a:r>
              <a:rPr lang="en-US" sz="18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Resolve | </a:t>
            </a:r>
            <a:pPr algn="ctr">
              <a:lnSpc>
                <a:spcPct val="150000"/>
              </a:lnSpc>
            </a:pPr>
            <a:r>
              <a:rPr lang="en-US" sz="18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Screen Recording →</a:t>
            </a:r>
            <a:pPr algn="ctr">
              <a:lnSpc>
                <a:spcPct val="150000"/>
              </a:lnSpc>
            </a:pPr>
            <a:r>
              <a:rPr lang="en-US" sz="18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Camtasia | </a:t>
            </a:r>
            <a:pPr algn="ctr">
              <a:lnSpc>
                <a:spcPct val="150000"/>
              </a:lnSpc>
            </a:pPr>
            <a:r>
              <a:rPr lang="en-US" sz="18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Social →</a:t>
            </a:r>
            <a:pPr algn="ctr">
              <a:lnSpc>
                <a:spcPct val="150000"/>
              </a:lnSpc>
            </a:pPr>
            <a:r>
              <a:rPr lang="en-US" sz="18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CapCut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14986000" y="8509000"/>
            <a:ext cx="101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22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2E5E8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540000"/>
            <a:ext cx="16256000" cy="4064000"/>
          </a:xfrm>
          <a:custGeom>
            <a:avLst/>
            <a:gdLst/>
            <a:ahLst/>
            <a:cxnLst/>
            <a:rect l="l" t="t" r="r" b="b"/>
            <a:pathLst>
              <a:path w="16256000" h="4064000">
                <a:moveTo>
                  <a:pt x="0" y="2032000"/>
                </a:moveTo>
                <a:quadBezTo>
                  <a:pt x="4064000" y="0"/>
                  <a:pt x="8128000" y="0"/>
                </a:quadBezTo>
                <a:quadBezTo>
                  <a:pt x="12192000" y="0"/>
                  <a:pt x="16256000" y="2032000"/>
                </a:quadBezTo>
                <a:lnTo>
                  <a:pt x="16256000" y="4064000"/>
                </a:lnTo>
                <a:lnTo>
                  <a:pt x="0" y="4064000"/>
                </a:lnTo>
                <a:close/>
              </a:path>
            </a:pathLst>
          </a:custGeom>
          <a:gradFill rotWithShape="1" flip="none">
            <a:gsLst>
              <a:gs pos="0">
                <a:srgbClr val="D0E0E3"/>
              </a:gs>
              <a:gs pos="50000">
                <a:srgbClr val="D0E0E3">
                  <a:alpha val="31000"/>
                </a:srgbClr>
              </a:gs>
              <a:gs pos="100000">
                <a:srgbClr val="2E5E8A">
                  <a:alpha val="19000"/>
                </a:srgbClr>
              </a:gs>
            </a:gsLst>
            <a:lin ang="5400000" scaled="1"/>
          </a:gradFill>
          <a:ln/>
        </p:spPr>
      </p:sp>
      <p:sp>
        <p:nvSpPr>
          <p:cNvPr id="3" name="Text 1"/>
          <p:cNvSpPr/>
          <p:nvPr/>
        </p:nvSpPr>
        <p:spPr>
          <a:xfrm>
            <a:off x="1270000" y="3175000"/>
            <a:ext cx="2540000" cy="1016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72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06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4318000" y="3048000"/>
            <a:ext cx="10922000" cy="1016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6000" dirty="0">
                <a:solidFill>
                  <a:srgbClr val="FCFDF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Creating Multimedia Animation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4318000" y="4318000"/>
            <a:ext cx="889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dirty="0">
                <a:solidFill>
                  <a:srgbClr val="FCFDF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Principles, techniques, and tools for professional animation</a:t>
            </a:r>
            <a:endParaRPr lang="en-US" sz="2200" dirty="0"/>
          </a:p>
        </p:txBody>
      </p:sp>
    </p:spTree>
  </p:cSld>
  <p:clrMapOvr>
    <a:masterClrMapping/>
  </p:clrMapOvr>
  <p:transition>
    <p:fade/>
    <p:spd val="med"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70000" y="762000"/>
            <a:ext cx="1143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Animation Principles and Techniques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1270000" y="1524000"/>
            <a:ext cx="13716000" cy="12700"/>
          </a:xfrm>
          <a:prstGeom prst="rect">
            <a:avLst/>
          </a:prstGeom>
          <a:solidFill>
            <a:srgbClr val="D0D6DC"/>
          </a:solidFill>
          <a:ln/>
        </p:spPr>
      </p:sp>
      <p:sp>
        <p:nvSpPr>
          <p:cNvPr id="4" name="Shape 2"/>
          <p:cNvSpPr/>
          <p:nvPr/>
        </p:nvSpPr>
        <p:spPr>
          <a:xfrm>
            <a:off x="1270000" y="1905000"/>
            <a:ext cx="2159000" cy="1270000"/>
          </a:xfrm>
          <a:prstGeom prst="roundRect">
            <a:avLst>
              <a:gd name="adj" fmla="val 10000"/>
            </a:avLst>
          </a:prstGeom>
          <a:solidFill>
            <a:srgbClr val="2E5E8A"/>
          </a:solidFill>
          <a:ln/>
        </p:spPr>
      </p:sp>
      <p:sp>
        <p:nvSpPr>
          <p:cNvPr id="5" name="Text 3"/>
          <p:cNvSpPr/>
          <p:nvPr/>
        </p:nvSpPr>
        <p:spPr>
          <a:xfrm>
            <a:off x="1397000" y="2032000"/>
            <a:ext cx="1905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Squash &amp; Stretch</a:t>
            </a:r>
            <a:endParaRPr lang="en-US" sz="1600" dirty="0"/>
          </a:p>
          <a:p>
            <a:pPr algn="ctr">
              <a:lnSpc>
                <a:spcPct val="120000"/>
              </a:lnSpc>
              <a:spcBef>
                <a:spcPts val="400"/>
              </a:spcBef>
            </a:pPr>
            <a:r>
              <a:rPr lang="en-US" sz="13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Weight and flexibility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683000" y="1905000"/>
            <a:ext cx="2159000" cy="1270000"/>
          </a:xfrm>
          <a:prstGeom prst="roundRect">
            <a:avLst>
              <a:gd name="adj" fmla="val 10000"/>
            </a:avLst>
          </a:prstGeom>
          <a:solidFill>
            <a:srgbClr val="2E5E8A"/>
          </a:solidFill>
          <a:ln/>
        </p:spPr>
      </p:sp>
      <p:sp>
        <p:nvSpPr>
          <p:cNvPr id="7" name="Text 5"/>
          <p:cNvSpPr/>
          <p:nvPr/>
        </p:nvSpPr>
        <p:spPr>
          <a:xfrm>
            <a:off x="3810000" y="2032000"/>
            <a:ext cx="1905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Anticipation</a:t>
            </a:r>
            <a:endParaRPr lang="en-US" sz="1600" dirty="0"/>
          </a:p>
          <a:p>
            <a:pPr algn="ctr">
              <a:lnSpc>
                <a:spcPct val="120000"/>
              </a:lnSpc>
              <a:spcBef>
                <a:spcPts val="400"/>
              </a:spcBef>
            </a:pPr>
            <a:r>
              <a:rPr lang="en-US" sz="13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Prepare the audience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096000" y="1905000"/>
            <a:ext cx="2159000" cy="1270000"/>
          </a:xfrm>
          <a:prstGeom prst="roundRect">
            <a:avLst>
              <a:gd name="adj" fmla="val 10000"/>
            </a:avLst>
          </a:prstGeom>
          <a:solidFill>
            <a:srgbClr val="2E5E8A"/>
          </a:solidFill>
          <a:ln/>
        </p:spPr>
      </p:sp>
      <p:sp>
        <p:nvSpPr>
          <p:cNvPr id="9" name="Text 7"/>
          <p:cNvSpPr/>
          <p:nvPr/>
        </p:nvSpPr>
        <p:spPr>
          <a:xfrm>
            <a:off x="6223000" y="2032000"/>
            <a:ext cx="1905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Staging</a:t>
            </a:r>
            <a:endParaRPr lang="en-US" sz="1600" dirty="0"/>
          </a:p>
          <a:p>
            <a:pPr algn="ctr">
              <a:lnSpc>
                <a:spcPct val="120000"/>
              </a:lnSpc>
              <a:spcBef>
                <a:spcPts val="400"/>
              </a:spcBef>
            </a:pPr>
            <a:r>
              <a:rPr lang="en-US" sz="13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Clear presentation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509000" y="1905000"/>
            <a:ext cx="2159000" cy="1270000"/>
          </a:xfrm>
          <a:prstGeom prst="roundRect">
            <a:avLst>
              <a:gd name="adj" fmla="val 10000"/>
            </a:avLst>
          </a:prstGeom>
          <a:solidFill>
            <a:srgbClr val="FF7F50"/>
          </a:solidFill>
          <a:ln/>
        </p:spPr>
      </p:sp>
      <p:sp>
        <p:nvSpPr>
          <p:cNvPr id="11" name="Text 9"/>
          <p:cNvSpPr/>
          <p:nvPr/>
        </p:nvSpPr>
        <p:spPr>
          <a:xfrm>
            <a:off x="8636000" y="2032000"/>
            <a:ext cx="1905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Slow In/Out</a:t>
            </a:r>
            <a:endParaRPr lang="en-US" sz="1600" dirty="0"/>
          </a:p>
          <a:p>
            <a:pPr algn="ctr">
              <a:lnSpc>
                <a:spcPct val="120000"/>
              </a:lnSpc>
              <a:spcBef>
                <a:spcPts val="400"/>
              </a:spcBef>
            </a:pPr>
            <a:r>
              <a:rPr lang="en-US" sz="13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Natural acceleration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10922000" y="1905000"/>
            <a:ext cx="2159000" cy="1270000"/>
          </a:xfrm>
          <a:prstGeom prst="roundRect">
            <a:avLst>
              <a:gd name="adj" fmla="val 10000"/>
            </a:avLst>
          </a:prstGeom>
          <a:solidFill>
            <a:srgbClr val="FF7F50"/>
          </a:solidFill>
          <a:ln/>
        </p:spPr>
      </p:sp>
      <p:sp>
        <p:nvSpPr>
          <p:cNvPr id="13" name="Text 11"/>
          <p:cNvSpPr/>
          <p:nvPr/>
        </p:nvSpPr>
        <p:spPr>
          <a:xfrm>
            <a:off x="11049000" y="2032000"/>
            <a:ext cx="1905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Arcs</a:t>
            </a:r>
            <a:endParaRPr lang="en-US" sz="1600" dirty="0"/>
          </a:p>
          <a:p>
            <a:pPr algn="ctr">
              <a:lnSpc>
                <a:spcPct val="120000"/>
              </a:lnSpc>
              <a:spcBef>
                <a:spcPts val="400"/>
              </a:spcBef>
            </a:pPr>
            <a:r>
              <a:rPr lang="en-US" sz="13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Natural movement paths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13335000" y="1905000"/>
            <a:ext cx="1651000" cy="1270000"/>
          </a:xfrm>
          <a:prstGeom prst="roundRect">
            <a:avLst>
              <a:gd name="adj" fmla="val 10000"/>
            </a:avLst>
          </a:prstGeom>
          <a:solidFill>
            <a:srgbClr val="FF7F50"/>
          </a:solidFill>
          <a:ln/>
        </p:spPr>
      </p:sp>
      <p:sp>
        <p:nvSpPr>
          <p:cNvPr id="15" name="Text 13"/>
          <p:cNvSpPr/>
          <p:nvPr/>
        </p:nvSpPr>
        <p:spPr>
          <a:xfrm>
            <a:off x="13398500" y="2032000"/>
            <a:ext cx="1524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Timing</a:t>
            </a:r>
            <a:endParaRPr lang="en-US" sz="1600" dirty="0"/>
          </a:p>
          <a:p>
            <a:pPr algn="ctr">
              <a:lnSpc>
                <a:spcPct val="120000"/>
              </a:lnSpc>
              <a:spcBef>
                <a:spcPts val="400"/>
              </a:spcBef>
            </a:pPr>
            <a:r>
              <a:rPr lang="en-US" sz="13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Speed conveys weight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270000" y="3556000"/>
            <a:ext cx="508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Animation Types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1270000" y="4127500"/>
            <a:ext cx="3238500" cy="1651000"/>
          </a:xfrm>
          <a:prstGeom prst="roundRect">
            <a:avLst>
              <a:gd name="adj" fmla="val 10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01600" dist="25400" dir="5400000">
              <a:srgbClr val="000000">
                <a:alpha val="2353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1651000" y="43815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0" y="76200"/>
                </a:moveTo>
                <a:cubicBezTo>
                  <a:pt x="0" y="48181"/>
                  <a:pt x="26035" y="25400"/>
                  <a:pt x="58057" y="25400"/>
                </a:cubicBezTo>
                <a:lnTo>
                  <a:pt x="348343" y="25400"/>
                </a:lnTo>
                <a:cubicBezTo>
                  <a:pt x="380365" y="25400"/>
                  <a:pt x="406400" y="48181"/>
                  <a:pt x="406400" y="76200"/>
                </a:cubicBezTo>
                <a:lnTo>
                  <a:pt x="406400" y="330200"/>
                </a:lnTo>
                <a:cubicBezTo>
                  <a:pt x="406400" y="358219"/>
                  <a:pt x="380365" y="381000"/>
                  <a:pt x="348343" y="381000"/>
                </a:cubicBezTo>
                <a:lnTo>
                  <a:pt x="58057" y="381000"/>
                </a:lnTo>
                <a:cubicBezTo>
                  <a:pt x="26035" y="381000"/>
                  <a:pt x="0" y="358219"/>
                  <a:pt x="0" y="330200"/>
                </a:cubicBezTo>
                <a:lnTo>
                  <a:pt x="0" y="76200"/>
                </a:lnTo>
                <a:close/>
                <a:moveTo>
                  <a:pt x="43543" y="292100"/>
                </a:moveTo>
                <a:lnTo>
                  <a:pt x="43543" y="317500"/>
                </a:lnTo>
                <a:cubicBezTo>
                  <a:pt x="43543" y="324485"/>
                  <a:pt x="50074" y="330200"/>
                  <a:pt x="58057" y="330200"/>
                </a:cubicBezTo>
                <a:lnTo>
                  <a:pt x="87086" y="330200"/>
                </a:lnTo>
                <a:cubicBezTo>
                  <a:pt x="95069" y="330200"/>
                  <a:pt x="101600" y="324485"/>
                  <a:pt x="101600" y="317500"/>
                </a:cubicBezTo>
                <a:lnTo>
                  <a:pt x="101600" y="292100"/>
                </a:lnTo>
                <a:cubicBezTo>
                  <a:pt x="101600" y="285115"/>
                  <a:pt x="95069" y="279400"/>
                  <a:pt x="87086" y="279400"/>
                </a:cubicBezTo>
                <a:lnTo>
                  <a:pt x="58057" y="279400"/>
                </a:lnTo>
                <a:cubicBezTo>
                  <a:pt x="50074" y="279400"/>
                  <a:pt x="43543" y="285115"/>
                  <a:pt x="43543" y="292100"/>
                </a:cubicBezTo>
                <a:close/>
                <a:moveTo>
                  <a:pt x="319314" y="279400"/>
                </a:moveTo>
                <a:cubicBezTo>
                  <a:pt x="311331" y="279400"/>
                  <a:pt x="304800" y="285115"/>
                  <a:pt x="304800" y="292100"/>
                </a:cubicBezTo>
                <a:lnTo>
                  <a:pt x="304800" y="317500"/>
                </a:lnTo>
                <a:cubicBezTo>
                  <a:pt x="304800" y="324485"/>
                  <a:pt x="311331" y="330200"/>
                  <a:pt x="319314" y="330200"/>
                </a:cubicBezTo>
                <a:lnTo>
                  <a:pt x="348343" y="330200"/>
                </a:lnTo>
                <a:cubicBezTo>
                  <a:pt x="356326" y="330200"/>
                  <a:pt x="362857" y="324485"/>
                  <a:pt x="362857" y="317500"/>
                </a:cubicBezTo>
                <a:lnTo>
                  <a:pt x="362857" y="292100"/>
                </a:lnTo>
                <a:cubicBezTo>
                  <a:pt x="362857" y="285115"/>
                  <a:pt x="356326" y="279400"/>
                  <a:pt x="348343" y="279400"/>
                </a:cubicBezTo>
                <a:lnTo>
                  <a:pt x="319314" y="279400"/>
                </a:lnTo>
                <a:close/>
                <a:moveTo>
                  <a:pt x="43543" y="190500"/>
                </a:moveTo>
                <a:lnTo>
                  <a:pt x="43543" y="215900"/>
                </a:lnTo>
                <a:cubicBezTo>
                  <a:pt x="43543" y="222885"/>
                  <a:pt x="50074" y="228600"/>
                  <a:pt x="58057" y="228600"/>
                </a:cubicBezTo>
                <a:lnTo>
                  <a:pt x="87086" y="228600"/>
                </a:lnTo>
                <a:cubicBezTo>
                  <a:pt x="95069" y="228600"/>
                  <a:pt x="101600" y="222885"/>
                  <a:pt x="101600" y="215900"/>
                </a:cubicBezTo>
                <a:lnTo>
                  <a:pt x="101600" y="190500"/>
                </a:lnTo>
                <a:cubicBezTo>
                  <a:pt x="101600" y="183515"/>
                  <a:pt x="95069" y="177800"/>
                  <a:pt x="87086" y="177800"/>
                </a:cubicBezTo>
                <a:lnTo>
                  <a:pt x="58057" y="177800"/>
                </a:lnTo>
                <a:cubicBezTo>
                  <a:pt x="50074" y="177800"/>
                  <a:pt x="43543" y="183515"/>
                  <a:pt x="43543" y="190500"/>
                </a:cubicBezTo>
                <a:close/>
                <a:moveTo>
                  <a:pt x="319314" y="177800"/>
                </a:moveTo>
                <a:cubicBezTo>
                  <a:pt x="311331" y="177800"/>
                  <a:pt x="304800" y="183515"/>
                  <a:pt x="304800" y="190500"/>
                </a:cubicBezTo>
                <a:lnTo>
                  <a:pt x="304800" y="215900"/>
                </a:lnTo>
                <a:cubicBezTo>
                  <a:pt x="304800" y="222885"/>
                  <a:pt x="311331" y="228600"/>
                  <a:pt x="319314" y="228600"/>
                </a:cubicBezTo>
                <a:lnTo>
                  <a:pt x="348343" y="228600"/>
                </a:lnTo>
                <a:cubicBezTo>
                  <a:pt x="356326" y="228600"/>
                  <a:pt x="362857" y="222885"/>
                  <a:pt x="362857" y="215900"/>
                </a:cubicBezTo>
                <a:lnTo>
                  <a:pt x="362857" y="190500"/>
                </a:lnTo>
                <a:cubicBezTo>
                  <a:pt x="362857" y="183515"/>
                  <a:pt x="356326" y="177800"/>
                  <a:pt x="348343" y="177800"/>
                </a:cubicBezTo>
                <a:lnTo>
                  <a:pt x="319314" y="177800"/>
                </a:lnTo>
                <a:close/>
                <a:moveTo>
                  <a:pt x="43543" y="88900"/>
                </a:moveTo>
                <a:lnTo>
                  <a:pt x="43543" y="114300"/>
                </a:lnTo>
                <a:cubicBezTo>
                  <a:pt x="43543" y="121285"/>
                  <a:pt x="50074" y="127000"/>
                  <a:pt x="58057" y="127000"/>
                </a:cubicBezTo>
                <a:lnTo>
                  <a:pt x="87086" y="127000"/>
                </a:lnTo>
                <a:cubicBezTo>
                  <a:pt x="95069" y="127000"/>
                  <a:pt x="101600" y="121285"/>
                  <a:pt x="101600" y="114300"/>
                </a:cubicBezTo>
                <a:lnTo>
                  <a:pt x="101600" y="88900"/>
                </a:lnTo>
                <a:cubicBezTo>
                  <a:pt x="101600" y="81915"/>
                  <a:pt x="95069" y="76200"/>
                  <a:pt x="87086" y="76200"/>
                </a:cubicBezTo>
                <a:lnTo>
                  <a:pt x="58057" y="76200"/>
                </a:lnTo>
                <a:cubicBezTo>
                  <a:pt x="50074" y="76200"/>
                  <a:pt x="43543" y="81915"/>
                  <a:pt x="43543" y="88900"/>
                </a:cubicBezTo>
                <a:close/>
                <a:moveTo>
                  <a:pt x="319314" y="76200"/>
                </a:moveTo>
                <a:cubicBezTo>
                  <a:pt x="311331" y="76200"/>
                  <a:pt x="304800" y="81915"/>
                  <a:pt x="304800" y="88900"/>
                </a:cubicBezTo>
                <a:lnTo>
                  <a:pt x="304800" y="114300"/>
                </a:lnTo>
                <a:cubicBezTo>
                  <a:pt x="304800" y="121285"/>
                  <a:pt x="311331" y="127000"/>
                  <a:pt x="319314" y="127000"/>
                </a:cubicBezTo>
                <a:lnTo>
                  <a:pt x="348343" y="127000"/>
                </a:lnTo>
                <a:cubicBezTo>
                  <a:pt x="356326" y="127000"/>
                  <a:pt x="362857" y="121285"/>
                  <a:pt x="362857" y="114300"/>
                </a:cubicBezTo>
                <a:lnTo>
                  <a:pt x="362857" y="88900"/>
                </a:lnTo>
                <a:cubicBezTo>
                  <a:pt x="362857" y="81915"/>
                  <a:pt x="356326" y="76200"/>
                  <a:pt x="348343" y="76200"/>
                </a:cubicBezTo>
                <a:lnTo>
                  <a:pt x="319314" y="76200"/>
                </a:lnTo>
                <a:close/>
              </a:path>
            </a:pathLst>
          </a:custGeom>
          <a:solidFill>
            <a:srgbClr val="2E5E8A"/>
          </a:solidFill>
          <a:ln/>
        </p:spPr>
      </p:sp>
      <p:sp>
        <p:nvSpPr>
          <p:cNvPr id="19" name="Text 17"/>
          <p:cNvSpPr/>
          <p:nvPr/>
        </p:nvSpPr>
        <p:spPr>
          <a:xfrm>
            <a:off x="2222500" y="4318000"/>
            <a:ext cx="2032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6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Traditional</a:t>
            </a:r>
            <a:endParaRPr lang="en-US" sz="1600" dirty="0"/>
          </a:p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Frame-by-frame hand drawing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4889500" y="4127500"/>
            <a:ext cx="3238500" cy="1651000"/>
          </a:xfrm>
          <a:prstGeom prst="roundRect">
            <a:avLst>
              <a:gd name="adj" fmla="val 10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01600" dist="25400" dir="5400000">
              <a:srgbClr val="000000">
                <a:alpha val="2353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270500" y="4381500"/>
            <a:ext cx="406400" cy="406400"/>
          </a:xfrm>
          <a:prstGeom prst="ellipse">
            <a:avLst/>
          </a:prstGeom>
          <a:solidFill>
            <a:srgbClr val="2E5E8A"/>
          </a:solidFill>
          <a:ln/>
        </p:spPr>
      </p:sp>
      <p:sp>
        <p:nvSpPr>
          <p:cNvPr id="22" name="Text 20"/>
          <p:cNvSpPr/>
          <p:nvPr/>
        </p:nvSpPr>
        <p:spPr>
          <a:xfrm>
            <a:off x="5842000" y="4318000"/>
            <a:ext cx="2032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6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Motion Graphics</a:t>
            </a:r>
            <a:endParaRPr lang="en-US" sz="1600" dirty="0"/>
          </a:p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Vector-based animated design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8509000" y="4127500"/>
            <a:ext cx="3238500" cy="1651000"/>
          </a:xfrm>
          <a:prstGeom prst="roundRect">
            <a:avLst>
              <a:gd name="adj" fmla="val 10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01600" dist="25400" dir="5400000">
              <a:srgbClr val="000000">
                <a:alpha val="2353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8890000" y="43815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178038" y="-1984"/>
                </a:moveTo>
                <a:cubicBezTo>
                  <a:pt x="193754" y="-11033"/>
                  <a:pt x="213122" y="-11033"/>
                  <a:pt x="228838" y="-1984"/>
                </a:cubicBezTo>
                <a:lnTo>
                  <a:pt x="368459" y="78581"/>
                </a:lnTo>
                <a:cubicBezTo>
                  <a:pt x="384175" y="87630"/>
                  <a:pt x="393859" y="104458"/>
                  <a:pt x="393859" y="122555"/>
                </a:cubicBezTo>
                <a:lnTo>
                  <a:pt x="393859" y="283686"/>
                </a:lnTo>
                <a:cubicBezTo>
                  <a:pt x="393859" y="301863"/>
                  <a:pt x="384175" y="318611"/>
                  <a:pt x="368459" y="327660"/>
                </a:cubicBezTo>
                <a:lnTo>
                  <a:pt x="228838" y="408384"/>
                </a:lnTo>
                <a:cubicBezTo>
                  <a:pt x="213122" y="417433"/>
                  <a:pt x="193754" y="417433"/>
                  <a:pt x="178038" y="408384"/>
                </a:cubicBezTo>
                <a:lnTo>
                  <a:pt x="38497" y="327819"/>
                </a:lnTo>
                <a:cubicBezTo>
                  <a:pt x="22781" y="318770"/>
                  <a:pt x="13097" y="301943"/>
                  <a:pt x="13097" y="283845"/>
                </a:cubicBezTo>
                <a:lnTo>
                  <a:pt x="13097" y="122714"/>
                </a:lnTo>
                <a:cubicBezTo>
                  <a:pt x="13097" y="104537"/>
                  <a:pt x="22781" y="87789"/>
                  <a:pt x="38497" y="78740"/>
                </a:cubicBezTo>
                <a:lnTo>
                  <a:pt x="178038" y="-1984"/>
                </a:lnTo>
                <a:close/>
                <a:moveTo>
                  <a:pt x="342979" y="283766"/>
                </a:moveTo>
                <a:lnTo>
                  <a:pt x="342979" y="151924"/>
                </a:lnTo>
                <a:lnTo>
                  <a:pt x="228838" y="217805"/>
                </a:lnTo>
                <a:lnTo>
                  <a:pt x="228838" y="349647"/>
                </a:lnTo>
                <a:lnTo>
                  <a:pt x="342979" y="283766"/>
                </a:lnTo>
                <a:close/>
              </a:path>
            </a:pathLst>
          </a:custGeom>
          <a:solidFill>
            <a:srgbClr val="FF7F50"/>
          </a:solidFill>
          <a:ln/>
        </p:spPr>
      </p:sp>
      <p:sp>
        <p:nvSpPr>
          <p:cNvPr id="25" name="Text 23"/>
          <p:cNvSpPr/>
          <p:nvPr/>
        </p:nvSpPr>
        <p:spPr>
          <a:xfrm>
            <a:off x="9461500" y="4318000"/>
            <a:ext cx="2032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6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3D Animation</a:t>
            </a:r>
            <a:endParaRPr lang="en-US" sz="1600" dirty="0"/>
          </a:p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Modeled, rigged, rendered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12128500" y="4127500"/>
            <a:ext cx="2857500" cy="1651000"/>
          </a:xfrm>
          <a:prstGeom prst="roundRect">
            <a:avLst>
              <a:gd name="adj" fmla="val 10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01600" dist="25400" dir="5400000">
              <a:srgbClr val="000000">
                <a:alpha val="2353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12509500" y="43815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228600" y="25400"/>
                </a:moveTo>
                <a:cubicBezTo>
                  <a:pt x="228600" y="11351"/>
                  <a:pt x="217249" y="0"/>
                  <a:pt x="203200" y="0"/>
                </a:cubicBezTo>
                <a:cubicBezTo>
                  <a:pt x="189151" y="0"/>
                  <a:pt x="177800" y="11351"/>
                  <a:pt x="177800" y="25400"/>
                </a:cubicBezTo>
                <a:lnTo>
                  <a:pt x="177800" y="190500"/>
                </a:lnTo>
                <a:cubicBezTo>
                  <a:pt x="177800" y="197485"/>
                  <a:pt x="172085" y="203200"/>
                  <a:pt x="165100" y="203200"/>
                </a:cubicBezTo>
                <a:cubicBezTo>
                  <a:pt x="158115" y="203200"/>
                  <a:pt x="152400" y="197485"/>
                  <a:pt x="152400" y="190500"/>
                </a:cubicBezTo>
                <a:lnTo>
                  <a:pt x="152400" y="50800"/>
                </a:lnTo>
                <a:cubicBezTo>
                  <a:pt x="152400" y="36751"/>
                  <a:pt x="141049" y="25400"/>
                  <a:pt x="127000" y="25400"/>
                </a:cubicBezTo>
                <a:cubicBezTo>
                  <a:pt x="112951" y="25400"/>
                  <a:pt x="101600" y="36751"/>
                  <a:pt x="101600" y="50800"/>
                </a:cubicBezTo>
                <a:lnTo>
                  <a:pt x="101600" y="266700"/>
                </a:lnTo>
                <a:cubicBezTo>
                  <a:pt x="101600" y="267891"/>
                  <a:pt x="101600" y="269161"/>
                  <a:pt x="101679" y="270351"/>
                </a:cubicBezTo>
                <a:lnTo>
                  <a:pt x="53657" y="224631"/>
                </a:lnTo>
                <a:cubicBezTo>
                  <a:pt x="40957" y="212566"/>
                  <a:pt x="20876" y="213042"/>
                  <a:pt x="8731" y="225742"/>
                </a:cubicBezTo>
                <a:cubicBezTo>
                  <a:pt x="-3413" y="238442"/>
                  <a:pt x="-2857" y="258524"/>
                  <a:pt x="9843" y="270669"/>
                </a:cubicBezTo>
                <a:lnTo>
                  <a:pt x="99060" y="355600"/>
                </a:lnTo>
                <a:cubicBezTo>
                  <a:pt x="133271" y="388223"/>
                  <a:pt x="178753" y="406400"/>
                  <a:pt x="226060" y="406400"/>
                </a:cubicBezTo>
                <a:lnTo>
                  <a:pt x="241300" y="406400"/>
                </a:lnTo>
                <a:cubicBezTo>
                  <a:pt x="318453" y="406400"/>
                  <a:pt x="381000" y="343853"/>
                  <a:pt x="381000" y="266700"/>
                </a:cubicBezTo>
                <a:lnTo>
                  <a:pt x="381000" y="101600"/>
                </a:lnTo>
                <a:cubicBezTo>
                  <a:pt x="381000" y="87551"/>
                  <a:pt x="369649" y="76200"/>
                  <a:pt x="355600" y="76200"/>
                </a:cubicBezTo>
                <a:cubicBezTo>
                  <a:pt x="341551" y="76200"/>
                  <a:pt x="330200" y="87551"/>
                  <a:pt x="330200" y="101600"/>
                </a:cubicBezTo>
                <a:lnTo>
                  <a:pt x="330200" y="190500"/>
                </a:lnTo>
                <a:cubicBezTo>
                  <a:pt x="330200" y="197485"/>
                  <a:pt x="324485" y="203200"/>
                  <a:pt x="317500" y="203200"/>
                </a:cubicBezTo>
                <a:cubicBezTo>
                  <a:pt x="310515" y="203200"/>
                  <a:pt x="304800" y="197485"/>
                  <a:pt x="304800" y="190500"/>
                </a:cubicBezTo>
                <a:lnTo>
                  <a:pt x="304800" y="50800"/>
                </a:lnTo>
                <a:cubicBezTo>
                  <a:pt x="304800" y="36751"/>
                  <a:pt x="293449" y="25400"/>
                  <a:pt x="279400" y="25400"/>
                </a:cubicBezTo>
                <a:cubicBezTo>
                  <a:pt x="265351" y="25400"/>
                  <a:pt x="254000" y="36751"/>
                  <a:pt x="254000" y="50800"/>
                </a:cubicBezTo>
                <a:lnTo>
                  <a:pt x="254000" y="190500"/>
                </a:lnTo>
                <a:cubicBezTo>
                  <a:pt x="254000" y="197485"/>
                  <a:pt x="248285" y="203200"/>
                  <a:pt x="241300" y="203200"/>
                </a:cubicBezTo>
                <a:cubicBezTo>
                  <a:pt x="234315" y="203200"/>
                  <a:pt x="228600" y="197485"/>
                  <a:pt x="228600" y="190500"/>
                </a:cubicBezTo>
                <a:lnTo>
                  <a:pt x="228600" y="25400"/>
                </a:lnTo>
                <a:close/>
              </a:path>
            </a:pathLst>
          </a:custGeom>
          <a:solidFill>
            <a:srgbClr val="FF7F50"/>
          </a:solidFill>
          <a:ln/>
        </p:spPr>
      </p:sp>
      <p:sp>
        <p:nvSpPr>
          <p:cNvPr id="28" name="Text 26"/>
          <p:cNvSpPr/>
          <p:nvPr/>
        </p:nvSpPr>
        <p:spPr>
          <a:xfrm>
            <a:off x="13081000" y="4318000"/>
            <a:ext cx="1651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6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Stop Motion</a:t>
            </a:r>
            <a:endParaRPr lang="en-US" sz="1600" dirty="0"/>
          </a:p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Physical frame-by-frame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1270000" y="6159500"/>
            <a:ext cx="13716000" cy="1460500"/>
          </a:xfrm>
          <a:prstGeom prst="roundRect">
            <a:avLst>
              <a:gd name="adj" fmla="val 8000"/>
            </a:avLst>
          </a:prstGeom>
          <a:solidFill>
            <a:srgbClr val="F5F5F0">
              <a:alpha val="6275"/>
            </a:srgbClr>
          </a:solidFill>
          <a:ln w="12700">
            <a:solidFill>
              <a:srgbClr val="D0D6D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651000" y="6286500"/>
            <a:ext cx="12954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60000"/>
              </a:lnSpc>
            </a:pPr>
            <a:r>
              <a:rPr lang="en-US" sz="18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Export Formats:</a:t>
            </a:r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</a:t>
            </a:r>
            <a:pPr algn="l">
              <a:lnSpc>
                <a:spcPct val="160000"/>
              </a:lnSpc>
            </a:pPr>
            <a:r>
              <a:rPr lang="en-US" sz="18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GIF</a:t>
            </a:r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(simple, limited colors) | </a:t>
            </a:r>
            <a:pPr algn="l">
              <a:lnSpc>
                <a:spcPct val="160000"/>
              </a:lnSpc>
            </a:pPr>
            <a:r>
              <a:rPr lang="en-US" sz="18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SVG</a:t>
            </a:r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(scalable vectors) | </a:t>
            </a:r>
            <a:pPr algn="l">
              <a:lnSpc>
                <a:spcPct val="160000"/>
              </a:lnSpc>
            </a:pPr>
            <a:r>
              <a:rPr lang="en-US" sz="18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Lottie</a:t>
            </a:r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(JSON, interactive) | </a:t>
            </a:r>
            <a:pPr algn="l">
              <a:lnSpc>
                <a:spcPct val="160000"/>
              </a:lnSpc>
            </a:pPr>
            <a:r>
              <a:rPr lang="en-US" sz="18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MP4</a:t>
            </a:r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(universal) | </a:t>
            </a:r>
            <a:pPr algn="l">
              <a:lnSpc>
                <a:spcPct val="160000"/>
              </a:lnSpc>
            </a:pPr>
            <a:r>
              <a:rPr lang="en-US" sz="18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MOV</a:t>
            </a:r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(high quality)</a:t>
            </a:r>
            <a:endParaRPr lang="en-US" sz="1800" dirty="0"/>
          </a:p>
          <a:p>
            <a:pPr algn="l">
              <a:lnSpc>
                <a:spcPct val="160000"/>
              </a:lnSpc>
            </a:pPr>
            <a:r>
              <a:rPr lang="en-US" sz="18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Efficiency Tip:</a:t>
            </a:r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Use motion libraries for common animations; custom animate only unique elements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14986000" y="8509000"/>
            <a:ext cx="101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24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70000" y="762000"/>
            <a:ext cx="1143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2D vs 3D Animation Workflows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1270000" y="1524000"/>
            <a:ext cx="13716000" cy="12700"/>
          </a:xfrm>
          <a:prstGeom prst="rect">
            <a:avLst/>
          </a:prstGeom>
          <a:solidFill>
            <a:srgbClr val="D0D6DC"/>
          </a:solidFill>
          <a:ln/>
        </p:spPr>
      </p:sp>
      <p:sp>
        <p:nvSpPr>
          <p:cNvPr id="4" name="Shape 2"/>
          <p:cNvSpPr/>
          <p:nvPr/>
        </p:nvSpPr>
        <p:spPr>
          <a:xfrm>
            <a:off x="1270000" y="1905000"/>
            <a:ext cx="6604000" cy="4191000"/>
          </a:xfrm>
          <a:prstGeom prst="roundRect">
            <a:avLst>
              <a:gd name="adj" fmla="val 10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27000" dist="50800" dir="5400000">
              <a:srgbClr val="000000">
                <a:alpha val="3137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524000" y="2159000"/>
            <a:ext cx="762000" cy="355600"/>
          </a:xfrm>
          <a:prstGeom prst="roundRect">
            <a:avLst>
              <a:gd name="adj" fmla="val 20000"/>
            </a:avLst>
          </a:prstGeom>
          <a:solidFill>
            <a:srgbClr val="2E5E8A"/>
          </a:solidFill>
          <a:ln/>
        </p:spPr>
      </p:sp>
      <p:sp>
        <p:nvSpPr>
          <p:cNvPr id="6" name="Text 4"/>
          <p:cNvSpPr/>
          <p:nvPr/>
        </p:nvSpPr>
        <p:spPr>
          <a:xfrm>
            <a:off x="1524000" y="2159000"/>
            <a:ext cx="762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2D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476500" y="2133600"/>
            <a:ext cx="5080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4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2D Animation Workflow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524000" y="2730500"/>
            <a:ext cx="6096000" cy="323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8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1.</a:t>
            </a:r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Concept &amp; script</a:t>
            </a:r>
            <a:endParaRPr lang="en-US" sz="1800" dirty="0"/>
          </a:p>
          <a:p>
            <a:pPr algn="l">
              <a:lnSpc>
                <a:spcPct val="160000"/>
              </a:lnSpc>
            </a:pPr>
            <a:r>
              <a:rPr lang="en-US" sz="18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2.</a:t>
            </a:r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Storyboard</a:t>
            </a:r>
            <a:endParaRPr lang="en-US" sz="1800" dirty="0"/>
          </a:p>
          <a:p>
            <a:pPr algn="l">
              <a:lnSpc>
                <a:spcPct val="160000"/>
              </a:lnSpc>
            </a:pPr>
            <a:r>
              <a:rPr lang="en-US" sz="18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3.</a:t>
            </a:r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Asset creation (characters, backgrounds)</a:t>
            </a:r>
            <a:endParaRPr lang="en-US" sz="1800" dirty="0"/>
          </a:p>
          <a:p>
            <a:pPr algn="l">
              <a:lnSpc>
                <a:spcPct val="160000"/>
              </a:lnSpc>
            </a:pPr>
            <a:r>
              <a:rPr lang="en-US" sz="18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4.</a:t>
            </a:r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Rigging (puppet tools)</a:t>
            </a:r>
            <a:endParaRPr lang="en-US" sz="1800" dirty="0"/>
          </a:p>
          <a:p>
            <a:pPr algn="l">
              <a:lnSpc>
                <a:spcPct val="160000"/>
              </a:lnSpc>
            </a:pPr>
            <a:r>
              <a:rPr lang="en-US" sz="18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5.</a:t>
            </a:r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Animation (keyframes, tweening)</a:t>
            </a:r>
            <a:endParaRPr lang="en-US" sz="1800" dirty="0"/>
          </a:p>
          <a:p>
            <a:pPr algn="l">
              <a:lnSpc>
                <a:spcPct val="160000"/>
              </a:lnSpc>
            </a:pPr>
            <a:r>
              <a:rPr lang="en-US" sz="18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6.</a:t>
            </a:r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Compositing &amp; export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8382000" y="1905000"/>
            <a:ext cx="6604000" cy="4191000"/>
          </a:xfrm>
          <a:prstGeom prst="roundRect">
            <a:avLst>
              <a:gd name="adj" fmla="val 10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27000" dist="50800" dir="5400000">
              <a:srgbClr val="000000">
                <a:alpha val="3137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636000" y="2159000"/>
            <a:ext cx="762000" cy="355600"/>
          </a:xfrm>
          <a:prstGeom prst="roundRect">
            <a:avLst>
              <a:gd name="adj" fmla="val 20000"/>
            </a:avLst>
          </a:prstGeom>
          <a:solidFill>
            <a:srgbClr val="FF7F50"/>
          </a:solidFill>
          <a:ln/>
        </p:spPr>
      </p:sp>
      <p:sp>
        <p:nvSpPr>
          <p:cNvPr id="11" name="Text 9"/>
          <p:cNvSpPr/>
          <p:nvPr/>
        </p:nvSpPr>
        <p:spPr>
          <a:xfrm>
            <a:off x="8636000" y="2159000"/>
            <a:ext cx="762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3D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9588500" y="2133600"/>
            <a:ext cx="5080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4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3D Animation Workflow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8636000" y="2730500"/>
            <a:ext cx="6096000" cy="323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8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1.</a:t>
            </a:r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Concept &amp; script</a:t>
            </a:r>
            <a:endParaRPr lang="en-US" sz="1800" dirty="0"/>
          </a:p>
          <a:p>
            <a:pPr algn="l">
              <a:lnSpc>
                <a:spcPct val="160000"/>
              </a:lnSpc>
            </a:pPr>
            <a:r>
              <a:rPr lang="en-US" sz="18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2.</a:t>
            </a:r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Modeling (3D mesh creation)</a:t>
            </a:r>
            <a:endParaRPr lang="en-US" sz="1800" dirty="0"/>
          </a:p>
          <a:p>
            <a:pPr algn="l">
              <a:lnSpc>
                <a:spcPct val="160000"/>
              </a:lnSpc>
            </a:pPr>
            <a:r>
              <a:rPr lang="en-US" sz="18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3.</a:t>
            </a:r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Texturing &amp; materials</a:t>
            </a:r>
            <a:endParaRPr lang="en-US" sz="1800" dirty="0"/>
          </a:p>
          <a:p>
            <a:pPr algn="l">
              <a:lnSpc>
                <a:spcPct val="160000"/>
              </a:lnSpc>
            </a:pPr>
            <a:r>
              <a:rPr lang="en-US" sz="18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4.</a:t>
            </a:r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Rigging &amp; skinning</a:t>
            </a:r>
            <a:endParaRPr lang="en-US" sz="1800" dirty="0"/>
          </a:p>
          <a:p>
            <a:pPr algn="l">
              <a:lnSpc>
                <a:spcPct val="160000"/>
              </a:lnSpc>
            </a:pPr>
            <a:r>
              <a:rPr lang="en-US" sz="18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5.</a:t>
            </a:r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Animation</a:t>
            </a:r>
            <a:endParaRPr lang="en-US" sz="1800" dirty="0"/>
          </a:p>
          <a:p>
            <a:pPr algn="l">
              <a:lnSpc>
                <a:spcPct val="160000"/>
              </a:lnSpc>
            </a:pPr>
            <a:r>
              <a:rPr lang="en-US" sz="18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6.</a:t>
            </a:r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Lighting &amp; rendering</a:t>
            </a:r>
            <a:endParaRPr lang="en-US" sz="1800" dirty="0"/>
          </a:p>
          <a:p>
            <a:pPr algn="l">
              <a:lnSpc>
                <a:spcPct val="160000"/>
              </a:lnSpc>
            </a:pPr>
            <a:r>
              <a:rPr lang="en-US" sz="18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7.</a:t>
            </a:r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Compositing &amp; export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1270000" y="6223000"/>
            <a:ext cx="13716000" cy="1524000"/>
          </a:xfrm>
          <a:prstGeom prst="roundRect">
            <a:avLst>
              <a:gd name="adj" fmla="val 8000"/>
            </a:avLst>
          </a:prstGeom>
          <a:solidFill>
            <a:srgbClr val="F5F5F0">
              <a:alpha val="6275"/>
            </a:srgbClr>
          </a:solidFill>
          <a:ln w="12700">
            <a:solidFill>
              <a:srgbClr val="D0D6D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651000" y="6350000"/>
            <a:ext cx="12954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8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2D Advantages:</a:t>
            </a:r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Faster production, lower cost, stylized aesthetic, easier revisions</a:t>
            </a:r>
            <a:endParaRPr lang="en-US" sz="1800" dirty="0"/>
          </a:p>
          <a:p>
            <a:pPr algn="l">
              <a:lnSpc>
                <a:spcPct val="160000"/>
              </a:lnSpc>
            </a:pPr>
            <a:r>
              <a:rPr lang="en-US" sz="18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3D Advantages:</a:t>
            </a:r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Photorealism, camera flexibility, reusable assets, product visualization</a:t>
            </a:r>
            <a:endParaRPr lang="en-US" sz="1800" dirty="0"/>
          </a:p>
          <a:p>
            <a:pPr algn="l">
              <a:lnSpc>
                <a:spcPct val="160000"/>
              </a:lnSpc>
            </a:pPr>
            <a:r>
              <a:rPr lang="en-US" sz="18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Trends:</a:t>
            </a:r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Real-time rendering (Unreal Engine), AI-assisted animation, virtual production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4986000" y="8509000"/>
            <a:ext cx="101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25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70000" y="762000"/>
            <a:ext cx="1143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Animation Tools for Professionals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1270000" y="1524000"/>
            <a:ext cx="13716000" cy="12700"/>
          </a:xfrm>
          <a:prstGeom prst="rect">
            <a:avLst/>
          </a:prstGeom>
          <a:solidFill>
            <a:srgbClr val="D0D6DC"/>
          </a:solidFill>
          <a:ln/>
        </p:spPr>
      </p:sp>
      <p:sp>
        <p:nvSpPr>
          <p:cNvPr id="4" name="Shape 2"/>
          <p:cNvSpPr/>
          <p:nvPr/>
        </p:nvSpPr>
        <p:spPr>
          <a:xfrm>
            <a:off x="1270000" y="1905000"/>
            <a:ext cx="4318000" cy="3429000"/>
          </a:xfrm>
          <a:prstGeom prst="roundRect">
            <a:avLst>
              <a:gd name="adj" fmla="val 10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27000" dist="50800" dir="5400000">
              <a:srgbClr val="000000">
                <a:alpha val="3137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651000" y="22225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444500" y="63500"/>
                </a:moveTo>
                <a:cubicBezTo>
                  <a:pt x="446484" y="63500"/>
                  <a:pt x="448370" y="63599"/>
                  <a:pt x="450255" y="63798"/>
                </a:cubicBezTo>
                <a:lnTo>
                  <a:pt x="355302" y="158750"/>
                </a:lnTo>
                <a:lnTo>
                  <a:pt x="422672" y="158750"/>
                </a:lnTo>
                <a:lnTo>
                  <a:pt x="494109" y="87313"/>
                </a:lnTo>
                <a:cubicBezTo>
                  <a:pt x="502841" y="98227"/>
                  <a:pt x="508000" y="112018"/>
                  <a:pt x="508000" y="127000"/>
                </a:cubicBezTo>
                <a:lnTo>
                  <a:pt x="508000" y="381000"/>
                </a:lnTo>
                <a:cubicBezTo>
                  <a:pt x="508000" y="416024"/>
                  <a:pt x="479524" y="444500"/>
                  <a:pt x="444500" y="444500"/>
                </a:cubicBezTo>
                <a:lnTo>
                  <a:pt x="63500" y="444500"/>
                </a:lnTo>
                <a:cubicBezTo>
                  <a:pt x="28476" y="444500"/>
                  <a:pt x="0" y="416024"/>
                  <a:pt x="0" y="381000"/>
                </a:cubicBezTo>
                <a:lnTo>
                  <a:pt x="0" y="127000"/>
                </a:lnTo>
                <a:cubicBezTo>
                  <a:pt x="0" y="91976"/>
                  <a:pt x="28476" y="63500"/>
                  <a:pt x="63500" y="63500"/>
                </a:cubicBezTo>
                <a:lnTo>
                  <a:pt x="133052" y="63500"/>
                </a:lnTo>
                <a:lnTo>
                  <a:pt x="37802" y="158750"/>
                </a:lnTo>
                <a:lnTo>
                  <a:pt x="105172" y="158750"/>
                </a:lnTo>
                <a:lnTo>
                  <a:pt x="199430" y="64492"/>
                </a:lnTo>
                <a:lnTo>
                  <a:pt x="200422" y="63500"/>
                </a:lnTo>
                <a:lnTo>
                  <a:pt x="291802" y="63500"/>
                </a:lnTo>
                <a:lnTo>
                  <a:pt x="196552" y="158750"/>
                </a:lnTo>
                <a:lnTo>
                  <a:pt x="263922" y="158750"/>
                </a:lnTo>
                <a:lnTo>
                  <a:pt x="358180" y="64492"/>
                </a:lnTo>
                <a:lnTo>
                  <a:pt x="359172" y="63500"/>
                </a:lnTo>
                <a:lnTo>
                  <a:pt x="444599" y="63500"/>
                </a:lnTo>
                <a:close/>
              </a:path>
            </a:pathLst>
          </a:custGeom>
          <a:solidFill>
            <a:srgbClr val="FF7F50"/>
          </a:solidFill>
          <a:ln/>
        </p:spPr>
      </p:sp>
      <p:sp>
        <p:nvSpPr>
          <p:cNvPr id="6" name="Text 4"/>
          <p:cNvSpPr/>
          <p:nvPr/>
        </p:nvSpPr>
        <p:spPr>
          <a:xfrm>
            <a:off x="2349500" y="2222500"/>
            <a:ext cx="2921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After Effects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651000" y="2857500"/>
            <a:ext cx="3619500" cy="241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Industry standard motion graphics and compositing. Extensive plugin library, seamless Premiere integration.</a:t>
            </a:r>
            <a:endParaRPr lang="en-US" sz="1800" dirty="0"/>
          </a:p>
          <a:p>
            <a:pPr algn="l">
              <a:lnSpc>
                <a:spcPct val="160000"/>
              </a:lnSpc>
              <a:spcBef>
                <a:spcPts val="1000"/>
              </a:spcBef>
            </a:pPr>
            <a:r>
              <a:rPr lang="en-US" sz="18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Best for:</a:t>
            </a:r>
            <a:pPr algn="l">
              <a:lnSpc>
                <a:spcPct val="160000"/>
              </a:lnSpc>
              <a:spcBef>
                <a:spcPts val="1000"/>
              </a:spcBef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Motion graphics, VFX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969000" y="1905000"/>
            <a:ext cx="4318000" cy="3429000"/>
          </a:xfrm>
          <a:prstGeom prst="roundRect">
            <a:avLst>
              <a:gd name="adj" fmla="val 10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27000" dist="50800" dir="5400000">
              <a:srgbClr val="000000">
                <a:alpha val="3137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223000" y="2159000"/>
            <a:ext cx="889000" cy="355600"/>
          </a:xfrm>
          <a:prstGeom prst="roundRect">
            <a:avLst>
              <a:gd name="adj" fmla="val 20000"/>
            </a:avLst>
          </a:prstGeom>
          <a:solidFill>
            <a:srgbClr val="4CAF50"/>
          </a:solidFill>
          <a:ln/>
        </p:spPr>
      </p:sp>
      <p:sp>
        <p:nvSpPr>
          <p:cNvPr id="10" name="Text 8"/>
          <p:cNvSpPr/>
          <p:nvPr/>
        </p:nvSpPr>
        <p:spPr>
          <a:xfrm>
            <a:off x="6223000" y="2159000"/>
            <a:ext cx="889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FREE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239000" y="2222500"/>
            <a:ext cx="2667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Blender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6350000" y="2857500"/>
            <a:ext cx="3619500" cy="25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Open-source 3D suite. Modeling, sculpting, animation, rendering, video editing — all in one.</a:t>
            </a:r>
            <a:endParaRPr lang="en-US" sz="1600" dirty="0"/>
          </a:p>
          <a:p>
            <a:pPr algn="l">
              <a:lnSpc>
                <a:spcPct val="150000"/>
              </a:lnSpc>
              <a:spcBef>
                <a:spcPts val="1000"/>
              </a:spcBef>
            </a:pPr>
            <a:r>
              <a:rPr lang="en-US" sz="16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Best for:</a:t>
            </a:r>
            <a:pPr algn="l">
              <a:lnSpc>
                <a:spcPct val="150000"/>
              </a:lnSpc>
              <a:spcBef>
                <a:spcPts val="1000"/>
              </a:spcBef>
            </a:pPr>
            <a:r>
              <a:rPr lang="en-US" sz="16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3D animation, rendering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10668000" y="1905000"/>
            <a:ext cx="4318000" cy="3429000"/>
          </a:xfrm>
          <a:prstGeom prst="roundRect">
            <a:avLst>
              <a:gd name="adj" fmla="val 10000"/>
            </a:avLst>
          </a:prstGeom>
          <a:gradFill rotWithShape="1" flip="none">
            <a:gsLst>
              <a:gs pos="0">
                <a:srgbClr val="FF7F50"/>
              </a:gs>
              <a:gs pos="100000">
                <a:srgbClr val="FF7F50">
                  <a:alpha val="80000"/>
                </a:srgbClr>
              </a:gs>
            </a:gsLst>
            <a:lin ang="8100000" scaled="1"/>
          </a:gradFill>
          <a:ln/>
        </p:spPr>
      </p:sp>
      <p:sp>
        <p:nvSpPr>
          <p:cNvPr id="14" name="Shape 12"/>
          <p:cNvSpPr/>
          <p:nvPr/>
        </p:nvSpPr>
        <p:spPr>
          <a:xfrm>
            <a:off x="11049000" y="22225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36116" y="350441"/>
                </a:moveTo>
                <a:cubicBezTo>
                  <a:pt x="40184" y="335955"/>
                  <a:pt x="47823" y="322759"/>
                  <a:pt x="58539" y="312043"/>
                </a:cubicBezTo>
                <a:lnTo>
                  <a:pt x="238323" y="132259"/>
                </a:lnTo>
                <a:lnTo>
                  <a:pt x="271959" y="98623"/>
                </a:lnTo>
                <a:cubicBezTo>
                  <a:pt x="288429" y="115094"/>
                  <a:pt x="322858" y="149523"/>
                  <a:pt x="375146" y="201811"/>
                </a:cubicBezTo>
                <a:lnTo>
                  <a:pt x="408781" y="235446"/>
                </a:lnTo>
                <a:lnTo>
                  <a:pt x="375146" y="269081"/>
                </a:lnTo>
                <a:lnTo>
                  <a:pt x="195362" y="448866"/>
                </a:lnTo>
                <a:cubicBezTo>
                  <a:pt x="184745" y="459482"/>
                  <a:pt x="171450" y="467221"/>
                  <a:pt x="156964" y="471289"/>
                </a:cubicBezTo>
                <a:lnTo>
                  <a:pt x="30163" y="506611"/>
                </a:lnTo>
                <a:cubicBezTo>
                  <a:pt x="21927" y="508893"/>
                  <a:pt x="12998" y="506611"/>
                  <a:pt x="6945" y="500459"/>
                </a:cubicBezTo>
                <a:cubicBezTo>
                  <a:pt x="893" y="494308"/>
                  <a:pt x="-1389" y="485477"/>
                  <a:pt x="893" y="477242"/>
                </a:cubicBezTo>
                <a:lnTo>
                  <a:pt x="36116" y="350441"/>
                </a:lnTo>
                <a:close/>
                <a:moveTo>
                  <a:pt x="91281" y="346770"/>
                </a:moveTo>
                <a:cubicBezTo>
                  <a:pt x="86916" y="351433"/>
                  <a:pt x="83741" y="357088"/>
                  <a:pt x="82054" y="363240"/>
                </a:cubicBezTo>
                <a:lnTo>
                  <a:pt x="58142" y="449461"/>
                </a:lnTo>
                <a:lnTo>
                  <a:pt x="144363" y="425549"/>
                </a:lnTo>
                <a:cubicBezTo>
                  <a:pt x="150713" y="423763"/>
                  <a:pt x="156468" y="420489"/>
                  <a:pt x="161230" y="415925"/>
                </a:cubicBezTo>
                <a:lnTo>
                  <a:pt x="91182" y="346770"/>
                </a:lnTo>
                <a:close/>
                <a:moveTo>
                  <a:pt x="442516" y="201811"/>
                </a:moveTo>
                <a:cubicBezTo>
                  <a:pt x="426045" y="185341"/>
                  <a:pt x="391616" y="150912"/>
                  <a:pt x="339328" y="98623"/>
                </a:cubicBezTo>
                <a:lnTo>
                  <a:pt x="305594" y="64988"/>
                </a:lnTo>
                <a:cubicBezTo>
                  <a:pt x="331887" y="38695"/>
                  <a:pt x="346670" y="23912"/>
                  <a:pt x="350143" y="20439"/>
                </a:cubicBezTo>
                <a:cubicBezTo>
                  <a:pt x="363538" y="6945"/>
                  <a:pt x="381794" y="-595"/>
                  <a:pt x="400844" y="-595"/>
                </a:cubicBezTo>
                <a:cubicBezTo>
                  <a:pt x="419894" y="-595"/>
                  <a:pt x="438150" y="6945"/>
                  <a:pt x="451545" y="20439"/>
                </a:cubicBezTo>
                <a:lnTo>
                  <a:pt x="486966" y="55860"/>
                </a:lnTo>
                <a:cubicBezTo>
                  <a:pt x="500459" y="69354"/>
                  <a:pt x="508000" y="87610"/>
                  <a:pt x="508000" y="106561"/>
                </a:cubicBezTo>
                <a:cubicBezTo>
                  <a:pt x="508000" y="125512"/>
                  <a:pt x="500459" y="143867"/>
                  <a:pt x="486966" y="157262"/>
                </a:cubicBezTo>
                <a:cubicBezTo>
                  <a:pt x="483493" y="160734"/>
                  <a:pt x="468709" y="175518"/>
                  <a:pt x="442416" y="201811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5" name="Text 13"/>
          <p:cNvSpPr/>
          <p:nvPr/>
        </p:nvSpPr>
        <p:spPr>
          <a:xfrm>
            <a:off x="11747500" y="2222500"/>
            <a:ext cx="2921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Animate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11049000" y="2857500"/>
            <a:ext cx="3619500" cy="241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2D vector animation with HTML5 Canvas export. Character rigging, interactive content.</a:t>
            </a:r>
            <a:endParaRPr lang="en-US" sz="1800" dirty="0"/>
          </a:p>
          <a:p>
            <a:pPr algn="l">
              <a:lnSpc>
                <a:spcPct val="160000"/>
              </a:lnSpc>
              <a:spcBef>
                <a:spcPts val="1000"/>
              </a:spcBef>
            </a:pPr>
            <a:r>
              <a:rPr lang="en-US" sz="18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Best for:</a:t>
            </a:r>
            <a:pPr algn="l">
              <a:lnSpc>
                <a:spcPct val="160000"/>
              </a:lnSpc>
              <a:spcBef>
                <a:spcPts val="1000"/>
              </a:spcBef>
            </a:pPr>
            <a:r>
              <a:rPr lang="en-US" sz="18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2D character, web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270000" y="5715000"/>
            <a:ext cx="508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Also Consider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1270000" y="6286500"/>
            <a:ext cx="3238500" cy="1270000"/>
          </a:xfrm>
          <a:prstGeom prst="roundRect">
            <a:avLst>
              <a:gd name="adj" fmla="val 10000"/>
            </a:avLst>
          </a:prstGeom>
          <a:solidFill>
            <a:srgbClr val="FCFDFD"/>
          </a:solidFill>
          <a:ln w="12700">
            <a:solidFill>
              <a:srgbClr val="D0D6D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524000" y="6350000"/>
            <a:ext cx="2730500" cy="1206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6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Cinema 4D</a:t>
            </a:r>
            <a:endParaRPr lang="en-US" sz="1600" dirty="0"/>
          </a:p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Motion graphics 3D, MoGraph, AE integration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4889500" y="6286500"/>
            <a:ext cx="3238500" cy="1270000"/>
          </a:xfrm>
          <a:prstGeom prst="roundRect">
            <a:avLst>
              <a:gd name="adj" fmla="val 10000"/>
            </a:avLst>
          </a:prstGeom>
          <a:solidFill>
            <a:srgbClr val="FCFDFD"/>
          </a:solidFill>
          <a:ln w="12700">
            <a:solidFill>
              <a:srgbClr val="D0D6D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143500" y="6350000"/>
            <a:ext cx="2730500" cy="1206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6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Toon Boom</a:t>
            </a:r>
            <a:endParaRPr lang="en-US" sz="1600" dirty="0"/>
          </a:p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Studio-grade 2D, advanced rigging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8509000" y="6286500"/>
            <a:ext cx="3238500" cy="1270000"/>
          </a:xfrm>
          <a:prstGeom prst="roundRect">
            <a:avLst>
              <a:gd name="adj" fmla="val 10000"/>
            </a:avLst>
          </a:prstGeom>
          <a:solidFill>
            <a:srgbClr val="FCFDFD"/>
          </a:solidFill>
          <a:ln w="12700">
            <a:solidFill>
              <a:srgbClr val="D0D6D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763000" y="6350000"/>
            <a:ext cx="2730500" cy="1206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6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Rive</a:t>
            </a:r>
            <a:endParaRPr lang="en-US" sz="1600" dirty="0"/>
          </a:p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Interactive, runtime animations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12128500" y="6286500"/>
            <a:ext cx="2857500" cy="1270000"/>
          </a:xfrm>
          <a:prstGeom prst="roundRect">
            <a:avLst>
              <a:gd name="adj" fmla="val 10000"/>
            </a:avLst>
          </a:prstGeom>
          <a:solidFill>
            <a:srgbClr val="FCFDFD"/>
          </a:solidFill>
          <a:ln w="12700">
            <a:solidFill>
              <a:srgbClr val="D0D6D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2382500" y="6350000"/>
            <a:ext cx="2349500" cy="1206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6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Runway</a:t>
            </a:r>
            <a:endParaRPr lang="en-US" sz="1600" dirty="0"/>
          </a:p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AI-powered animation tools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270000" y="7874000"/>
            <a:ext cx="1371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b="1" dirty="0">
                <a:solidFill>
                  <a:srgbClr val="6B9CB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Motion Graphics →</a:t>
            </a:r>
            <a:pPr algn="ctr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After Effects | </a:t>
            </a:r>
            <a:pPr algn="ctr">
              <a:lnSpc>
                <a:spcPct val="120000"/>
              </a:lnSpc>
            </a:pPr>
            <a:r>
              <a:rPr lang="en-US" sz="1600" b="1" dirty="0">
                <a:solidFill>
                  <a:srgbClr val="6B9CB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3D →</a:t>
            </a:r>
            <a:pPr algn="ctr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Blender/Cinema 4D | </a:t>
            </a:r>
            <a:pPr algn="ctr">
              <a:lnSpc>
                <a:spcPct val="120000"/>
              </a:lnSpc>
            </a:pPr>
            <a:r>
              <a:rPr lang="en-US" sz="1600" b="1" dirty="0">
                <a:solidFill>
                  <a:srgbClr val="6B9CB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2D Character →</a:t>
            </a:r>
            <a:pPr algn="ctr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Animate/Toon Boom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4986000" y="8509000"/>
            <a:ext cx="101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26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70000" y="762000"/>
            <a:ext cx="1143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Best Practices for Multimedia Integration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1270000" y="1524000"/>
            <a:ext cx="13716000" cy="12700"/>
          </a:xfrm>
          <a:prstGeom prst="rect">
            <a:avLst/>
          </a:prstGeom>
          <a:solidFill>
            <a:srgbClr val="D0D6DC"/>
          </a:solidFill>
          <a:ln/>
        </p:spPr>
      </p:sp>
      <p:sp>
        <p:nvSpPr>
          <p:cNvPr id="4" name="Shape 2"/>
          <p:cNvSpPr/>
          <p:nvPr/>
        </p:nvSpPr>
        <p:spPr>
          <a:xfrm>
            <a:off x="1270000" y="1905000"/>
            <a:ext cx="4445000" cy="1651000"/>
          </a:xfrm>
          <a:prstGeom prst="roundRect">
            <a:avLst>
              <a:gd name="adj" fmla="val 10000"/>
            </a:avLst>
          </a:prstGeom>
          <a:solidFill>
            <a:srgbClr val="2E5E8A"/>
          </a:solidFill>
          <a:ln/>
        </p:spPr>
      </p:sp>
      <p:sp>
        <p:nvSpPr>
          <p:cNvPr id="5" name="Shape 3"/>
          <p:cNvSpPr/>
          <p:nvPr/>
        </p:nvSpPr>
        <p:spPr>
          <a:xfrm>
            <a:off x="1587500" y="22225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-14287"/>
                </a:moveTo>
                <a:cubicBezTo>
                  <a:pt x="242649" y="-14287"/>
                  <a:pt x="254000" y="-1518"/>
                  <a:pt x="254000" y="14288"/>
                </a:cubicBezTo>
                <a:lnTo>
                  <a:pt x="254000" y="30629"/>
                </a:lnTo>
                <a:cubicBezTo>
                  <a:pt x="331867" y="43130"/>
                  <a:pt x="393462" y="112425"/>
                  <a:pt x="404574" y="200025"/>
                </a:cubicBezTo>
                <a:lnTo>
                  <a:pt x="419100" y="200025"/>
                </a:lnTo>
                <a:cubicBezTo>
                  <a:pt x="433149" y="200025"/>
                  <a:pt x="444500" y="212794"/>
                  <a:pt x="444500" y="228600"/>
                </a:cubicBezTo>
                <a:cubicBezTo>
                  <a:pt x="444500" y="244406"/>
                  <a:pt x="433149" y="257175"/>
                  <a:pt x="419100" y="257175"/>
                </a:cubicBezTo>
                <a:lnTo>
                  <a:pt x="404574" y="257175"/>
                </a:lnTo>
                <a:cubicBezTo>
                  <a:pt x="393462" y="344775"/>
                  <a:pt x="331867" y="414070"/>
                  <a:pt x="254000" y="426571"/>
                </a:cubicBezTo>
                <a:lnTo>
                  <a:pt x="254000" y="442913"/>
                </a:lnTo>
                <a:cubicBezTo>
                  <a:pt x="254000" y="458718"/>
                  <a:pt x="242649" y="471488"/>
                  <a:pt x="228600" y="471488"/>
                </a:cubicBezTo>
                <a:cubicBezTo>
                  <a:pt x="214551" y="471488"/>
                  <a:pt x="203200" y="458718"/>
                  <a:pt x="203200" y="442913"/>
                </a:cubicBezTo>
                <a:lnTo>
                  <a:pt x="203200" y="426571"/>
                </a:lnTo>
                <a:cubicBezTo>
                  <a:pt x="125333" y="414070"/>
                  <a:pt x="63738" y="344775"/>
                  <a:pt x="52626" y="257175"/>
                </a:cubicBezTo>
                <a:lnTo>
                  <a:pt x="38100" y="257175"/>
                </a:lnTo>
                <a:cubicBezTo>
                  <a:pt x="24051" y="257175"/>
                  <a:pt x="12700" y="244406"/>
                  <a:pt x="12700" y="228600"/>
                </a:cubicBezTo>
                <a:cubicBezTo>
                  <a:pt x="12700" y="212794"/>
                  <a:pt x="24051" y="200025"/>
                  <a:pt x="38100" y="200025"/>
                </a:cubicBezTo>
                <a:lnTo>
                  <a:pt x="52626" y="200025"/>
                </a:lnTo>
                <a:cubicBezTo>
                  <a:pt x="63738" y="112425"/>
                  <a:pt x="125333" y="43130"/>
                  <a:pt x="203200" y="30629"/>
                </a:cubicBezTo>
                <a:lnTo>
                  <a:pt x="203200" y="14288"/>
                </a:lnTo>
                <a:cubicBezTo>
                  <a:pt x="203200" y="-1518"/>
                  <a:pt x="214551" y="-14287"/>
                  <a:pt x="228600" y="-14287"/>
                </a:cubicBezTo>
                <a:close/>
                <a:moveTo>
                  <a:pt x="104140" y="257175"/>
                </a:moveTo>
                <a:cubicBezTo>
                  <a:pt x="114221" y="313164"/>
                  <a:pt x="153432" y="357277"/>
                  <a:pt x="203200" y="368618"/>
                </a:cubicBezTo>
                <a:lnTo>
                  <a:pt x="203200" y="357188"/>
                </a:lnTo>
                <a:cubicBezTo>
                  <a:pt x="203200" y="341382"/>
                  <a:pt x="214551" y="328613"/>
                  <a:pt x="228600" y="328613"/>
                </a:cubicBezTo>
                <a:cubicBezTo>
                  <a:pt x="242649" y="328613"/>
                  <a:pt x="254000" y="341382"/>
                  <a:pt x="254000" y="357188"/>
                </a:cubicBezTo>
                <a:lnTo>
                  <a:pt x="254000" y="368618"/>
                </a:lnTo>
                <a:cubicBezTo>
                  <a:pt x="303768" y="357277"/>
                  <a:pt x="342979" y="313164"/>
                  <a:pt x="353060" y="257175"/>
                </a:cubicBezTo>
                <a:lnTo>
                  <a:pt x="342900" y="257175"/>
                </a:lnTo>
                <a:cubicBezTo>
                  <a:pt x="328851" y="257175"/>
                  <a:pt x="317500" y="244406"/>
                  <a:pt x="317500" y="228600"/>
                </a:cubicBezTo>
                <a:cubicBezTo>
                  <a:pt x="317500" y="212794"/>
                  <a:pt x="328851" y="200025"/>
                  <a:pt x="342900" y="200025"/>
                </a:cubicBezTo>
                <a:lnTo>
                  <a:pt x="353060" y="200025"/>
                </a:lnTo>
                <a:cubicBezTo>
                  <a:pt x="342979" y="144036"/>
                  <a:pt x="303768" y="99923"/>
                  <a:pt x="254000" y="88583"/>
                </a:cubicBezTo>
                <a:lnTo>
                  <a:pt x="254000" y="100013"/>
                </a:lnTo>
                <a:cubicBezTo>
                  <a:pt x="254000" y="115818"/>
                  <a:pt x="242649" y="128588"/>
                  <a:pt x="228600" y="128588"/>
                </a:cubicBezTo>
                <a:cubicBezTo>
                  <a:pt x="214551" y="128588"/>
                  <a:pt x="203200" y="115818"/>
                  <a:pt x="203200" y="100013"/>
                </a:cubicBezTo>
                <a:lnTo>
                  <a:pt x="203200" y="88583"/>
                </a:lnTo>
                <a:cubicBezTo>
                  <a:pt x="153432" y="99923"/>
                  <a:pt x="114221" y="144036"/>
                  <a:pt x="104140" y="200025"/>
                </a:cubicBezTo>
                <a:lnTo>
                  <a:pt x="114300" y="200025"/>
                </a:lnTo>
                <a:cubicBezTo>
                  <a:pt x="128349" y="200025"/>
                  <a:pt x="139700" y="212794"/>
                  <a:pt x="139700" y="228600"/>
                </a:cubicBezTo>
                <a:cubicBezTo>
                  <a:pt x="139700" y="244406"/>
                  <a:pt x="128349" y="257175"/>
                  <a:pt x="114300" y="257175"/>
                </a:cubicBezTo>
                <a:lnTo>
                  <a:pt x="104140" y="257175"/>
                </a:lnTo>
                <a:close/>
                <a:moveTo>
                  <a:pt x="228600" y="185738"/>
                </a:moveTo>
                <a:cubicBezTo>
                  <a:pt x="249628" y="185738"/>
                  <a:pt x="266700" y="204944"/>
                  <a:pt x="266700" y="228600"/>
                </a:cubicBezTo>
                <a:cubicBezTo>
                  <a:pt x="266700" y="252256"/>
                  <a:pt x="249628" y="271463"/>
                  <a:pt x="228600" y="271463"/>
                </a:cubicBezTo>
                <a:cubicBezTo>
                  <a:pt x="207572" y="271463"/>
                  <a:pt x="190500" y="252256"/>
                  <a:pt x="190500" y="228600"/>
                </a:cubicBezTo>
                <a:cubicBezTo>
                  <a:pt x="190500" y="204944"/>
                  <a:pt x="207572" y="185738"/>
                  <a:pt x="228600" y="185738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6" name="Text 4"/>
          <p:cNvSpPr/>
          <p:nvPr/>
        </p:nvSpPr>
        <p:spPr>
          <a:xfrm>
            <a:off x="2222500" y="2159000"/>
            <a:ext cx="3175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Content-First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587500" y="2667000"/>
            <a:ext cx="3810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6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Define message before selecting media types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096000" y="1905000"/>
            <a:ext cx="4445000" cy="1651000"/>
          </a:xfrm>
          <a:prstGeom prst="roundRect">
            <a:avLst>
              <a:gd name="adj" fmla="val 10000"/>
            </a:avLst>
          </a:prstGeom>
          <a:solidFill>
            <a:srgbClr val="2E5E8A"/>
          </a:solidFill>
          <a:ln/>
        </p:spPr>
      </p:sp>
      <p:sp>
        <p:nvSpPr>
          <p:cNvPr id="9" name="Shape 7"/>
          <p:cNvSpPr/>
          <p:nvPr/>
        </p:nvSpPr>
        <p:spPr>
          <a:xfrm>
            <a:off x="6413500" y="22225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9050" y="57150"/>
                </a:moveTo>
                <a:cubicBezTo>
                  <a:pt x="19050" y="25628"/>
                  <a:pt x="53221" y="0"/>
                  <a:pt x="95250" y="0"/>
                </a:cubicBezTo>
                <a:lnTo>
                  <a:pt x="361950" y="0"/>
                </a:lnTo>
                <a:cubicBezTo>
                  <a:pt x="403979" y="0"/>
                  <a:pt x="438150" y="25628"/>
                  <a:pt x="438150" y="57150"/>
                </a:cubicBezTo>
                <a:lnTo>
                  <a:pt x="438150" y="400050"/>
                </a:lnTo>
                <a:cubicBezTo>
                  <a:pt x="438150" y="431572"/>
                  <a:pt x="403979" y="457200"/>
                  <a:pt x="361950" y="457200"/>
                </a:cubicBezTo>
                <a:lnTo>
                  <a:pt x="95250" y="457200"/>
                </a:lnTo>
                <a:cubicBezTo>
                  <a:pt x="53221" y="457200"/>
                  <a:pt x="19050" y="431572"/>
                  <a:pt x="19050" y="400050"/>
                </a:cubicBezTo>
                <a:lnTo>
                  <a:pt x="19050" y="57150"/>
                </a:lnTo>
                <a:close/>
                <a:moveTo>
                  <a:pt x="152400" y="392906"/>
                </a:moveTo>
                <a:cubicBezTo>
                  <a:pt x="152400" y="404783"/>
                  <a:pt x="165140" y="414338"/>
                  <a:pt x="180975" y="414338"/>
                </a:cubicBezTo>
                <a:lnTo>
                  <a:pt x="276225" y="414338"/>
                </a:lnTo>
                <a:cubicBezTo>
                  <a:pt x="292060" y="414338"/>
                  <a:pt x="304800" y="404783"/>
                  <a:pt x="304800" y="392906"/>
                </a:cubicBezTo>
                <a:cubicBezTo>
                  <a:pt x="304800" y="381030"/>
                  <a:pt x="292060" y="371475"/>
                  <a:pt x="276225" y="371475"/>
                </a:cubicBezTo>
                <a:lnTo>
                  <a:pt x="180975" y="371475"/>
                </a:lnTo>
                <a:cubicBezTo>
                  <a:pt x="165140" y="371475"/>
                  <a:pt x="152400" y="381030"/>
                  <a:pt x="152400" y="392906"/>
                </a:cubicBezTo>
                <a:close/>
                <a:moveTo>
                  <a:pt x="361950" y="57150"/>
                </a:moveTo>
                <a:lnTo>
                  <a:pt x="95250" y="57150"/>
                </a:lnTo>
                <a:lnTo>
                  <a:pt x="95250" y="328613"/>
                </a:lnTo>
                <a:lnTo>
                  <a:pt x="361950" y="328613"/>
                </a:lnTo>
                <a:lnTo>
                  <a:pt x="361950" y="5715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0" name="Text 8"/>
          <p:cNvSpPr/>
          <p:nvPr/>
        </p:nvSpPr>
        <p:spPr>
          <a:xfrm>
            <a:off x="7048500" y="2159000"/>
            <a:ext cx="3175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Platform Optimization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6413500" y="2667000"/>
            <a:ext cx="3810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6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Adapt format, length, and style per channel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10922000" y="1905000"/>
            <a:ext cx="4064000" cy="1651000"/>
          </a:xfrm>
          <a:prstGeom prst="roundRect">
            <a:avLst>
              <a:gd name="adj" fmla="val 10000"/>
            </a:avLst>
          </a:prstGeom>
          <a:solidFill>
            <a:srgbClr val="FF7F50"/>
          </a:solidFill>
          <a:ln/>
        </p:spPr>
      </p:sp>
      <p:sp>
        <p:nvSpPr>
          <p:cNvPr id="13" name="Shape 11"/>
          <p:cNvSpPr/>
          <p:nvPr/>
        </p:nvSpPr>
        <p:spPr>
          <a:xfrm>
            <a:off x="11239500" y="22225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0" y="228600"/>
                </a:moveTo>
                <a:cubicBezTo>
                  <a:pt x="0" y="102432"/>
                  <a:pt x="102432" y="0"/>
                  <a:pt x="228600" y="0"/>
                </a:cubicBezTo>
                <a:cubicBezTo>
                  <a:pt x="354768" y="0"/>
                  <a:pt x="457200" y="102432"/>
                  <a:pt x="457200" y="228600"/>
                </a:cubicBezTo>
                <a:cubicBezTo>
                  <a:pt x="457200" y="354768"/>
                  <a:pt x="354768" y="457200"/>
                  <a:pt x="228600" y="457200"/>
                </a:cubicBezTo>
                <a:cubicBezTo>
                  <a:pt x="102432" y="457200"/>
                  <a:pt x="0" y="354768"/>
                  <a:pt x="0" y="228600"/>
                </a:cubicBezTo>
                <a:close/>
                <a:moveTo>
                  <a:pt x="257175" y="85725"/>
                </a:moveTo>
                <a:cubicBezTo>
                  <a:pt x="257175" y="69954"/>
                  <a:pt x="244371" y="57150"/>
                  <a:pt x="228600" y="57150"/>
                </a:cubicBezTo>
                <a:cubicBezTo>
                  <a:pt x="212829" y="57150"/>
                  <a:pt x="200025" y="69954"/>
                  <a:pt x="200025" y="85725"/>
                </a:cubicBezTo>
                <a:cubicBezTo>
                  <a:pt x="200025" y="101496"/>
                  <a:pt x="212829" y="114300"/>
                  <a:pt x="228600" y="114300"/>
                </a:cubicBezTo>
                <a:cubicBezTo>
                  <a:pt x="244371" y="114300"/>
                  <a:pt x="257175" y="101496"/>
                  <a:pt x="257175" y="85725"/>
                </a:cubicBezTo>
                <a:close/>
                <a:moveTo>
                  <a:pt x="228600" y="371475"/>
                </a:moveTo>
                <a:cubicBezTo>
                  <a:pt x="260122" y="371475"/>
                  <a:pt x="285750" y="345847"/>
                  <a:pt x="285750" y="314325"/>
                </a:cubicBezTo>
                <a:cubicBezTo>
                  <a:pt x="285750" y="299859"/>
                  <a:pt x="280392" y="286554"/>
                  <a:pt x="271463" y="276552"/>
                </a:cubicBezTo>
                <a:lnTo>
                  <a:pt x="333524" y="152519"/>
                </a:lnTo>
                <a:cubicBezTo>
                  <a:pt x="338792" y="141893"/>
                  <a:pt x="334506" y="129034"/>
                  <a:pt x="323969" y="123765"/>
                </a:cubicBezTo>
                <a:cubicBezTo>
                  <a:pt x="313432" y="118497"/>
                  <a:pt x="300484" y="122783"/>
                  <a:pt x="295215" y="133320"/>
                </a:cubicBezTo>
                <a:lnTo>
                  <a:pt x="233154" y="257354"/>
                </a:lnTo>
                <a:cubicBezTo>
                  <a:pt x="231636" y="257264"/>
                  <a:pt x="230118" y="257175"/>
                  <a:pt x="228600" y="257175"/>
                </a:cubicBezTo>
                <a:cubicBezTo>
                  <a:pt x="197078" y="257175"/>
                  <a:pt x="171450" y="282803"/>
                  <a:pt x="171450" y="314325"/>
                </a:cubicBezTo>
                <a:cubicBezTo>
                  <a:pt x="171450" y="345847"/>
                  <a:pt x="197078" y="371475"/>
                  <a:pt x="228600" y="371475"/>
                </a:cubicBezTo>
                <a:close/>
                <a:moveTo>
                  <a:pt x="157163" y="128588"/>
                </a:moveTo>
                <a:cubicBezTo>
                  <a:pt x="157163" y="112817"/>
                  <a:pt x="144358" y="100013"/>
                  <a:pt x="128588" y="100013"/>
                </a:cubicBezTo>
                <a:cubicBezTo>
                  <a:pt x="112817" y="100013"/>
                  <a:pt x="100013" y="112817"/>
                  <a:pt x="100013" y="128588"/>
                </a:cubicBezTo>
                <a:cubicBezTo>
                  <a:pt x="100013" y="144358"/>
                  <a:pt x="112817" y="157163"/>
                  <a:pt x="128588" y="157163"/>
                </a:cubicBezTo>
                <a:cubicBezTo>
                  <a:pt x="144358" y="157163"/>
                  <a:pt x="157163" y="144358"/>
                  <a:pt x="157163" y="128588"/>
                </a:cubicBezTo>
                <a:close/>
                <a:moveTo>
                  <a:pt x="85725" y="257175"/>
                </a:moveTo>
                <a:cubicBezTo>
                  <a:pt x="101496" y="257175"/>
                  <a:pt x="114300" y="244371"/>
                  <a:pt x="114300" y="228600"/>
                </a:cubicBezTo>
                <a:cubicBezTo>
                  <a:pt x="114300" y="212829"/>
                  <a:pt x="101496" y="200025"/>
                  <a:pt x="85725" y="200025"/>
                </a:cubicBezTo>
                <a:cubicBezTo>
                  <a:pt x="69954" y="200025"/>
                  <a:pt x="57150" y="212829"/>
                  <a:pt x="57150" y="228600"/>
                </a:cubicBezTo>
                <a:cubicBezTo>
                  <a:pt x="57150" y="244371"/>
                  <a:pt x="69954" y="257175"/>
                  <a:pt x="85725" y="257175"/>
                </a:cubicBezTo>
                <a:close/>
                <a:moveTo>
                  <a:pt x="400050" y="228600"/>
                </a:moveTo>
                <a:cubicBezTo>
                  <a:pt x="400050" y="212829"/>
                  <a:pt x="387246" y="200025"/>
                  <a:pt x="371475" y="200025"/>
                </a:cubicBezTo>
                <a:cubicBezTo>
                  <a:pt x="355704" y="200025"/>
                  <a:pt x="342900" y="212829"/>
                  <a:pt x="342900" y="228600"/>
                </a:cubicBezTo>
                <a:cubicBezTo>
                  <a:pt x="342900" y="244371"/>
                  <a:pt x="355704" y="257175"/>
                  <a:pt x="371475" y="257175"/>
                </a:cubicBezTo>
                <a:cubicBezTo>
                  <a:pt x="387246" y="257175"/>
                  <a:pt x="400050" y="244371"/>
                  <a:pt x="400050" y="22860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4" name="Text 12"/>
          <p:cNvSpPr/>
          <p:nvPr/>
        </p:nvSpPr>
        <p:spPr>
          <a:xfrm>
            <a:off x="11874500" y="2159000"/>
            <a:ext cx="2794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Performance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1239500" y="2667000"/>
            <a:ext cx="34925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6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Compress assets, lazy loading, CDN delivery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1270000" y="3937000"/>
            <a:ext cx="4445000" cy="1651000"/>
          </a:xfrm>
          <a:prstGeom prst="roundRect">
            <a:avLst>
              <a:gd name="adj" fmla="val 10000"/>
            </a:avLst>
          </a:prstGeom>
          <a:solidFill>
            <a:srgbClr val="FF7F50"/>
          </a:solidFill>
          <a:ln/>
        </p:spPr>
      </p:sp>
      <p:sp>
        <p:nvSpPr>
          <p:cNvPr id="17" name="Shape 15"/>
          <p:cNvSpPr/>
          <p:nvPr/>
        </p:nvSpPr>
        <p:spPr>
          <a:xfrm>
            <a:off x="1587500" y="42545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0" y="228600"/>
                </a:moveTo>
                <a:cubicBezTo>
                  <a:pt x="0" y="102432"/>
                  <a:pt x="102432" y="0"/>
                  <a:pt x="228600" y="0"/>
                </a:cubicBezTo>
                <a:cubicBezTo>
                  <a:pt x="354768" y="0"/>
                  <a:pt x="457200" y="102432"/>
                  <a:pt x="457200" y="228600"/>
                </a:cubicBezTo>
                <a:cubicBezTo>
                  <a:pt x="457200" y="354768"/>
                  <a:pt x="354768" y="457200"/>
                  <a:pt x="228600" y="457200"/>
                </a:cubicBezTo>
                <a:cubicBezTo>
                  <a:pt x="102432" y="457200"/>
                  <a:pt x="0" y="354768"/>
                  <a:pt x="0" y="228600"/>
                </a:cubicBezTo>
                <a:close/>
                <a:moveTo>
                  <a:pt x="144214" y="151715"/>
                </a:moveTo>
                <a:cubicBezTo>
                  <a:pt x="133320" y="147072"/>
                  <a:pt x="120729" y="152073"/>
                  <a:pt x="116086" y="162967"/>
                </a:cubicBezTo>
                <a:cubicBezTo>
                  <a:pt x="111443" y="173861"/>
                  <a:pt x="116443" y="186452"/>
                  <a:pt x="127337" y="191095"/>
                </a:cubicBezTo>
                <a:lnTo>
                  <a:pt x="137964" y="195649"/>
                </a:lnTo>
                <a:cubicBezTo>
                  <a:pt x="153412" y="202257"/>
                  <a:pt x="169396" y="207169"/>
                  <a:pt x="185827" y="210205"/>
                </a:cubicBezTo>
                <a:lnTo>
                  <a:pt x="185827" y="254943"/>
                </a:lnTo>
                <a:cubicBezTo>
                  <a:pt x="185827" y="258782"/>
                  <a:pt x="185202" y="262622"/>
                  <a:pt x="183952" y="266194"/>
                </a:cubicBezTo>
                <a:lnTo>
                  <a:pt x="158323" y="343079"/>
                </a:lnTo>
                <a:cubicBezTo>
                  <a:pt x="154573" y="354330"/>
                  <a:pt x="160645" y="366474"/>
                  <a:pt x="171896" y="370225"/>
                </a:cubicBezTo>
                <a:cubicBezTo>
                  <a:pt x="183148" y="373975"/>
                  <a:pt x="195292" y="367903"/>
                  <a:pt x="199043" y="356652"/>
                </a:cubicBezTo>
                <a:lnTo>
                  <a:pt x="220831" y="291286"/>
                </a:lnTo>
                <a:cubicBezTo>
                  <a:pt x="221992" y="287893"/>
                  <a:pt x="225117" y="285571"/>
                  <a:pt x="228689" y="285571"/>
                </a:cubicBezTo>
                <a:cubicBezTo>
                  <a:pt x="232261" y="285571"/>
                  <a:pt x="235476" y="287893"/>
                  <a:pt x="236547" y="291286"/>
                </a:cubicBezTo>
                <a:lnTo>
                  <a:pt x="258336" y="356652"/>
                </a:lnTo>
                <a:cubicBezTo>
                  <a:pt x="262086" y="367903"/>
                  <a:pt x="274231" y="373975"/>
                  <a:pt x="285482" y="370225"/>
                </a:cubicBezTo>
                <a:cubicBezTo>
                  <a:pt x="296734" y="366474"/>
                  <a:pt x="302716" y="354509"/>
                  <a:pt x="298966" y="343257"/>
                </a:cubicBezTo>
                <a:lnTo>
                  <a:pt x="273338" y="266373"/>
                </a:lnTo>
                <a:cubicBezTo>
                  <a:pt x="272088" y="262711"/>
                  <a:pt x="271463" y="258961"/>
                  <a:pt x="271463" y="255121"/>
                </a:cubicBezTo>
                <a:lnTo>
                  <a:pt x="271463" y="210383"/>
                </a:lnTo>
                <a:cubicBezTo>
                  <a:pt x="287893" y="207258"/>
                  <a:pt x="303877" y="202436"/>
                  <a:pt x="319326" y="195828"/>
                </a:cubicBezTo>
                <a:lnTo>
                  <a:pt x="329952" y="191274"/>
                </a:lnTo>
                <a:cubicBezTo>
                  <a:pt x="340846" y="186630"/>
                  <a:pt x="345847" y="174040"/>
                  <a:pt x="341203" y="163145"/>
                </a:cubicBezTo>
                <a:cubicBezTo>
                  <a:pt x="336560" y="152251"/>
                  <a:pt x="323969" y="147251"/>
                  <a:pt x="313075" y="151894"/>
                </a:cubicBezTo>
                <a:lnTo>
                  <a:pt x="302449" y="156270"/>
                </a:lnTo>
                <a:cubicBezTo>
                  <a:pt x="279142" y="166271"/>
                  <a:pt x="254050" y="171450"/>
                  <a:pt x="228600" y="171450"/>
                </a:cubicBezTo>
                <a:cubicBezTo>
                  <a:pt x="203150" y="171450"/>
                  <a:pt x="178147" y="166271"/>
                  <a:pt x="154751" y="156270"/>
                </a:cubicBezTo>
                <a:lnTo>
                  <a:pt x="144125" y="151715"/>
                </a:lnTo>
                <a:close/>
                <a:moveTo>
                  <a:pt x="228600" y="142875"/>
                </a:moveTo>
                <a:cubicBezTo>
                  <a:pt x="248314" y="142875"/>
                  <a:pt x="264319" y="126870"/>
                  <a:pt x="264319" y="107156"/>
                </a:cubicBezTo>
                <a:cubicBezTo>
                  <a:pt x="264319" y="87443"/>
                  <a:pt x="248314" y="71438"/>
                  <a:pt x="228600" y="71438"/>
                </a:cubicBezTo>
                <a:cubicBezTo>
                  <a:pt x="208886" y="71438"/>
                  <a:pt x="192881" y="87443"/>
                  <a:pt x="192881" y="107156"/>
                </a:cubicBezTo>
                <a:cubicBezTo>
                  <a:pt x="192881" y="126870"/>
                  <a:pt x="208886" y="142875"/>
                  <a:pt x="228600" y="142875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8" name="Text 16"/>
          <p:cNvSpPr/>
          <p:nvPr/>
        </p:nvSpPr>
        <p:spPr>
          <a:xfrm>
            <a:off x="2222500" y="4191000"/>
            <a:ext cx="3175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Accessibility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587500" y="4699000"/>
            <a:ext cx="3810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6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Captions, transcripts, alt text, keyboard nav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096000" y="3937000"/>
            <a:ext cx="4445000" cy="1651000"/>
          </a:xfrm>
          <a:prstGeom prst="roundRect">
            <a:avLst>
              <a:gd name="adj" fmla="val 10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27000" dist="50800" dir="5400000">
              <a:srgbClr val="000000">
                <a:alpha val="3137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413500" y="42545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457200" y="228600"/>
                </a:moveTo>
                <a:cubicBezTo>
                  <a:pt x="457200" y="229404"/>
                  <a:pt x="457200" y="230207"/>
                  <a:pt x="457200" y="231011"/>
                </a:cubicBezTo>
                <a:cubicBezTo>
                  <a:pt x="456843" y="263604"/>
                  <a:pt x="427196" y="285750"/>
                  <a:pt x="394603" y="285750"/>
                </a:cubicBezTo>
                <a:lnTo>
                  <a:pt x="307181" y="285750"/>
                </a:lnTo>
                <a:cubicBezTo>
                  <a:pt x="283518" y="285750"/>
                  <a:pt x="264319" y="304949"/>
                  <a:pt x="264319" y="328613"/>
                </a:cubicBezTo>
                <a:cubicBezTo>
                  <a:pt x="264319" y="331649"/>
                  <a:pt x="264676" y="334595"/>
                  <a:pt x="265212" y="337453"/>
                </a:cubicBezTo>
                <a:cubicBezTo>
                  <a:pt x="267087" y="346561"/>
                  <a:pt x="271016" y="355312"/>
                  <a:pt x="274856" y="364153"/>
                </a:cubicBezTo>
                <a:cubicBezTo>
                  <a:pt x="280303" y="376476"/>
                  <a:pt x="285661" y="388709"/>
                  <a:pt x="285661" y="401657"/>
                </a:cubicBezTo>
                <a:cubicBezTo>
                  <a:pt x="285661" y="430054"/>
                  <a:pt x="266373" y="455861"/>
                  <a:pt x="237976" y="457021"/>
                </a:cubicBezTo>
                <a:cubicBezTo>
                  <a:pt x="234851" y="457111"/>
                  <a:pt x="231725" y="457200"/>
                  <a:pt x="228511" y="457200"/>
                </a:cubicBezTo>
                <a:cubicBezTo>
                  <a:pt x="102245" y="457200"/>
                  <a:pt x="-89" y="354866"/>
                  <a:pt x="-89" y="228600"/>
                </a:cubicBezTo>
                <a:cubicBezTo>
                  <a:pt x="-89" y="102334"/>
                  <a:pt x="102334" y="0"/>
                  <a:pt x="228600" y="0"/>
                </a:cubicBezTo>
                <a:cubicBezTo>
                  <a:pt x="354866" y="0"/>
                  <a:pt x="457200" y="102334"/>
                  <a:pt x="457200" y="228600"/>
                </a:cubicBezTo>
                <a:close/>
                <a:moveTo>
                  <a:pt x="114300" y="257175"/>
                </a:moveTo>
                <a:cubicBezTo>
                  <a:pt x="114300" y="241404"/>
                  <a:pt x="101496" y="228600"/>
                  <a:pt x="85725" y="228600"/>
                </a:cubicBezTo>
                <a:cubicBezTo>
                  <a:pt x="69954" y="228600"/>
                  <a:pt x="57150" y="241404"/>
                  <a:pt x="57150" y="257175"/>
                </a:cubicBezTo>
                <a:cubicBezTo>
                  <a:pt x="57150" y="272946"/>
                  <a:pt x="69954" y="285750"/>
                  <a:pt x="85725" y="285750"/>
                </a:cubicBezTo>
                <a:cubicBezTo>
                  <a:pt x="101496" y="285750"/>
                  <a:pt x="114300" y="272946"/>
                  <a:pt x="114300" y="257175"/>
                </a:cubicBezTo>
                <a:close/>
                <a:moveTo>
                  <a:pt x="114300" y="171450"/>
                </a:moveTo>
                <a:cubicBezTo>
                  <a:pt x="130071" y="171450"/>
                  <a:pt x="142875" y="158646"/>
                  <a:pt x="142875" y="142875"/>
                </a:cubicBezTo>
                <a:cubicBezTo>
                  <a:pt x="142875" y="127104"/>
                  <a:pt x="130071" y="114300"/>
                  <a:pt x="114300" y="114300"/>
                </a:cubicBezTo>
                <a:cubicBezTo>
                  <a:pt x="98529" y="114300"/>
                  <a:pt x="85725" y="127104"/>
                  <a:pt x="85725" y="142875"/>
                </a:cubicBezTo>
                <a:cubicBezTo>
                  <a:pt x="85725" y="158646"/>
                  <a:pt x="98529" y="171450"/>
                  <a:pt x="114300" y="171450"/>
                </a:cubicBezTo>
                <a:close/>
                <a:moveTo>
                  <a:pt x="257175" y="85725"/>
                </a:moveTo>
                <a:cubicBezTo>
                  <a:pt x="257175" y="69954"/>
                  <a:pt x="244371" y="57150"/>
                  <a:pt x="228600" y="57150"/>
                </a:cubicBezTo>
                <a:cubicBezTo>
                  <a:pt x="212829" y="57150"/>
                  <a:pt x="200025" y="69954"/>
                  <a:pt x="200025" y="85725"/>
                </a:cubicBezTo>
                <a:cubicBezTo>
                  <a:pt x="200025" y="101496"/>
                  <a:pt x="212829" y="114300"/>
                  <a:pt x="228600" y="114300"/>
                </a:cubicBezTo>
                <a:cubicBezTo>
                  <a:pt x="244371" y="114300"/>
                  <a:pt x="257175" y="101496"/>
                  <a:pt x="257175" y="85725"/>
                </a:cubicBezTo>
                <a:close/>
                <a:moveTo>
                  <a:pt x="342900" y="171450"/>
                </a:moveTo>
                <a:cubicBezTo>
                  <a:pt x="358671" y="171450"/>
                  <a:pt x="371475" y="158646"/>
                  <a:pt x="371475" y="142875"/>
                </a:cubicBezTo>
                <a:cubicBezTo>
                  <a:pt x="371475" y="127104"/>
                  <a:pt x="358671" y="114300"/>
                  <a:pt x="342900" y="114300"/>
                </a:cubicBezTo>
                <a:cubicBezTo>
                  <a:pt x="327129" y="114300"/>
                  <a:pt x="314325" y="127104"/>
                  <a:pt x="314325" y="142875"/>
                </a:cubicBezTo>
                <a:cubicBezTo>
                  <a:pt x="314325" y="158646"/>
                  <a:pt x="327129" y="171450"/>
                  <a:pt x="342900" y="171450"/>
                </a:cubicBezTo>
                <a:close/>
              </a:path>
            </a:pathLst>
          </a:custGeom>
          <a:solidFill>
            <a:srgbClr val="2E5E8A"/>
          </a:solidFill>
          <a:ln/>
        </p:spPr>
      </p:sp>
      <p:sp>
        <p:nvSpPr>
          <p:cNvPr id="22" name="Text 20"/>
          <p:cNvSpPr/>
          <p:nvPr/>
        </p:nvSpPr>
        <p:spPr>
          <a:xfrm>
            <a:off x="7048500" y="4191000"/>
            <a:ext cx="3175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Brand Consistency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6413500" y="4699000"/>
            <a:ext cx="3810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6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Unified colors, typography, tone across media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10922000" y="3937000"/>
            <a:ext cx="4064000" cy="1651000"/>
          </a:xfrm>
          <a:prstGeom prst="roundRect">
            <a:avLst>
              <a:gd name="adj" fmla="val 10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27000" dist="50800" dir="5400000">
              <a:srgbClr val="000000">
                <a:alpha val="3137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11239500" y="42545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8575" y="28575"/>
                </a:moveTo>
                <a:cubicBezTo>
                  <a:pt x="44381" y="28575"/>
                  <a:pt x="57150" y="41344"/>
                  <a:pt x="57150" y="57150"/>
                </a:cubicBezTo>
                <a:lnTo>
                  <a:pt x="57150" y="357188"/>
                </a:lnTo>
                <a:cubicBezTo>
                  <a:pt x="57150" y="365046"/>
                  <a:pt x="63579" y="371475"/>
                  <a:pt x="71438" y="371475"/>
                </a:cubicBezTo>
                <a:lnTo>
                  <a:pt x="428625" y="371475"/>
                </a:lnTo>
                <a:cubicBezTo>
                  <a:pt x="444431" y="371475"/>
                  <a:pt x="457200" y="384244"/>
                  <a:pt x="457200" y="400050"/>
                </a:cubicBezTo>
                <a:cubicBezTo>
                  <a:pt x="457200" y="415856"/>
                  <a:pt x="444431" y="428625"/>
                  <a:pt x="428625" y="428625"/>
                </a:cubicBezTo>
                <a:lnTo>
                  <a:pt x="71438" y="428625"/>
                </a:lnTo>
                <a:cubicBezTo>
                  <a:pt x="31968" y="428625"/>
                  <a:pt x="0" y="396657"/>
                  <a:pt x="0" y="357188"/>
                </a:cubicBezTo>
                <a:lnTo>
                  <a:pt x="0" y="57150"/>
                </a:lnTo>
                <a:cubicBezTo>
                  <a:pt x="0" y="41344"/>
                  <a:pt x="12769" y="28575"/>
                  <a:pt x="28575" y="28575"/>
                </a:cubicBezTo>
                <a:close/>
                <a:moveTo>
                  <a:pt x="114300" y="85725"/>
                </a:moveTo>
                <a:cubicBezTo>
                  <a:pt x="114300" y="69919"/>
                  <a:pt x="127069" y="57150"/>
                  <a:pt x="142875" y="57150"/>
                </a:cubicBezTo>
                <a:lnTo>
                  <a:pt x="314325" y="57150"/>
                </a:lnTo>
                <a:cubicBezTo>
                  <a:pt x="330131" y="57150"/>
                  <a:pt x="342900" y="69919"/>
                  <a:pt x="342900" y="85725"/>
                </a:cubicBezTo>
                <a:cubicBezTo>
                  <a:pt x="342900" y="101531"/>
                  <a:pt x="330131" y="114300"/>
                  <a:pt x="314325" y="114300"/>
                </a:cubicBezTo>
                <a:lnTo>
                  <a:pt x="142875" y="114300"/>
                </a:lnTo>
                <a:cubicBezTo>
                  <a:pt x="127069" y="114300"/>
                  <a:pt x="114300" y="101531"/>
                  <a:pt x="114300" y="85725"/>
                </a:cubicBezTo>
                <a:close/>
                <a:moveTo>
                  <a:pt x="142875" y="157163"/>
                </a:moveTo>
                <a:lnTo>
                  <a:pt x="257175" y="157163"/>
                </a:lnTo>
                <a:cubicBezTo>
                  <a:pt x="272981" y="157163"/>
                  <a:pt x="285750" y="169932"/>
                  <a:pt x="285750" y="185738"/>
                </a:cubicBezTo>
                <a:cubicBezTo>
                  <a:pt x="285750" y="201543"/>
                  <a:pt x="272981" y="214313"/>
                  <a:pt x="257175" y="214313"/>
                </a:cubicBezTo>
                <a:lnTo>
                  <a:pt x="142875" y="214313"/>
                </a:lnTo>
                <a:cubicBezTo>
                  <a:pt x="127069" y="214313"/>
                  <a:pt x="114300" y="201543"/>
                  <a:pt x="114300" y="185738"/>
                </a:cubicBezTo>
                <a:cubicBezTo>
                  <a:pt x="114300" y="169932"/>
                  <a:pt x="127069" y="157163"/>
                  <a:pt x="142875" y="157163"/>
                </a:cubicBezTo>
                <a:close/>
                <a:moveTo>
                  <a:pt x="142875" y="257175"/>
                </a:moveTo>
                <a:lnTo>
                  <a:pt x="371475" y="257175"/>
                </a:lnTo>
                <a:cubicBezTo>
                  <a:pt x="387281" y="257175"/>
                  <a:pt x="400050" y="269944"/>
                  <a:pt x="400050" y="285750"/>
                </a:cubicBezTo>
                <a:cubicBezTo>
                  <a:pt x="400050" y="301556"/>
                  <a:pt x="387281" y="314325"/>
                  <a:pt x="371475" y="314325"/>
                </a:cubicBezTo>
                <a:lnTo>
                  <a:pt x="142875" y="314325"/>
                </a:lnTo>
                <a:cubicBezTo>
                  <a:pt x="127069" y="314325"/>
                  <a:pt x="114300" y="301556"/>
                  <a:pt x="114300" y="285750"/>
                </a:cubicBezTo>
                <a:cubicBezTo>
                  <a:pt x="114300" y="269944"/>
                  <a:pt x="127069" y="257175"/>
                  <a:pt x="142875" y="257175"/>
                </a:cubicBezTo>
                <a:close/>
              </a:path>
            </a:pathLst>
          </a:custGeom>
          <a:solidFill>
            <a:srgbClr val="2E5E8A"/>
          </a:solidFill>
          <a:ln/>
        </p:spPr>
      </p:sp>
      <p:sp>
        <p:nvSpPr>
          <p:cNvPr id="26" name="Text 24"/>
          <p:cNvSpPr/>
          <p:nvPr/>
        </p:nvSpPr>
        <p:spPr>
          <a:xfrm>
            <a:off x="11874500" y="4191000"/>
            <a:ext cx="2794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Measurement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11239500" y="4699000"/>
            <a:ext cx="34925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6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Track engagement, A/B test, iterate on data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1270000" y="5969000"/>
            <a:ext cx="13716000" cy="1270000"/>
          </a:xfrm>
          <a:prstGeom prst="roundRect">
            <a:avLst>
              <a:gd name="adj" fmla="val 8000"/>
            </a:avLst>
          </a:prstGeom>
          <a:gradFill rotWithShape="1" flip="none">
            <a:gsLst>
              <a:gs pos="0">
                <a:srgbClr val="2E5E8A"/>
              </a:gs>
              <a:gs pos="100000">
                <a:srgbClr val="2E5E8A">
                  <a:alpha val="80000"/>
                </a:srgbClr>
              </a:gs>
            </a:gsLst>
            <a:lin ang="8100000" scaled="1"/>
          </a:gradFill>
          <a:ln/>
        </p:spPr>
      </p:sp>
      <p:sp>
        <p:nvSpPr>
          <p:cNvPr id="29" name="Shape 27"/>
          <p:cNvSpPr/>
          <p:nvPr/>
        </p:nvSpPr>
        <p:spPr>
          <a:xfrm>
            <a:off x="1651000" y="62865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97109" y="187970"/>
                </a:moveTo>
                <a:cubicBezTo>
                  <a:pt x="305824" y="185023"/>
                  <a:pt x="314968" y="190202"/>
                  <a:pt x="318897" y="200293"/>
                </a:cubicBezTo>
                <a:lnTo>
                  <a:pt x="332184" y="233869"/>
                </a:lnTo>
                <a:cubicBezTo>
                  <a:pt x="339542" y="235119"/>
                  <a:pt x="346758" y="237619"/>
                  <a:pt x="353544" y="241102"/>
                </a:cubicBezTo>
                <a:lnTo>
                  <a:pt x="378547" y="220295"/>
                </a:lnTo>
                <a:cubicBezTo>
                  <a:pt x="386048" y="214045"/>
                  <a:pt x="395978" y="215295"/>
                  <a:pt x="402336" y="223242"/>
                </a:cubicBezTo>
                <a:lnTo>
                  <a:pt x="416052" y="240387"/>
                </a:lnTo>
                <a:cubicBezTo>
                  <a:pt x="422410" y="248335"/>
                  <a:pt x="423410" y="260836"/>
                  <a:pt x="418409" y="270123"/>
                </a:cubicBezTo>
                <a:lnTo>
                  <a:pt x="401765" y="301288"/>
                </a:lnTo>
                <a:cubicBezTo>
                  <a:pt x="403122" y="305485"/>
                  <a:pt x="404336" y="309860"/>
                  <a:pt x="405336" y="314414"/>
                </a:cubicBezTo>
                <a:cubicBezTo>
                  <a:pt x="406336" y="318968"/>
                  <a:pt x="406979" y="323433"/>
                  <a:pt x="407480" y="327987"/>
                </a:cubicBezTo>
                <a:lnTo>
                  <a:pt x="434411" y="344597"/>
                </a:lnTo>
                <a:cubicBezTo>
                  <a:pt x="442484" y="349597"/>
                  <a:pt x="446627" y="361027"/>
                  <a:pt x="444270" y="371832"/>
                </a:cubicBezTo>
                <a:lnTo>
                  <a:pt x="439269" y="395228"/>
                </a:lnTo>
                <a:cubicBezTo>
                  <a:pt x="436912" y="406033"/>
                  <a:pt x="428839" y="413355"/>
                  <a:pt x="419838" y="412641"/>
                </a:cubicBezTo>
                <a:lnTo>
                  <a:pt x="389834" y="410230"/>
                </a:lnTo>
                <a:cubicBezTo>
                  <a:pt x="385334" y="417463"/>
                  <a:pt x="380119" y="424160"/>
                  <a:pt x="374190" y="429875"/>
                </a:cubicBezTo>
                <a:lnTo>
                  <a:pt x="376118" y="467291"/>
                </a:lnTo>
                <a:cubicBezTo>
                  <a:pt x="376690" y="478542"/>
                  <a:pt x="370832" y="488722"/>
                  <a:pt x="362188" y="491579"/>
                </a:cubicBezTo>
                <a:lnTo>
                  <a:pt x="343472" y="497830"/>
                </a:lnTo>
                <a:cubicBezTo>
                  <a:pt x="334756" y="500777"/>
                  <a:pt x="325684" y="495598"/>
                  <a:pt x="321683" y="485507"/>
                </a:cubicBezTo>
                <a:lnTo>
                  <a:pt x="308396" y="451931"/>
                </a:lnTo>
                <a:cubicBezTo>
                  <a:pt x="301038" y="450681"/>
                  <a:pt x="293822" y="448181"/>
                  <a:pt x="287036" y="444698"/>
                </a:cubicBezTo>
                <a:lnTo>
                  <a:pt x="262033" y="465505"/>
                </a:lnTo>
                <a:cubicBezTo>
                  <a:pt x="254532" y="471755"/>
                  <a:pt x="244602" y="470505"/>
                  <a:pt x="238244" y="462558"/>
                </a:cubicBezTo>
                <a:lnTo>
                  <a:pt x="224528" y="445413"/>
                </a:lnTo>
                <a:cubicBezTo>
                  <a:pt x="218170" y="437465"/>
                  <a:pt x="217170" y="425053"/>
                  <a:pt x="222171" y="415677"/>
                </a:cubicBezTo>
                <a:lnTo>
                  <a:pt x="238816" y="384423"/>
                </a:lnTo>
                <a:cubicBezTo>
                  <a:pt x="237458" y="380226"/>
                  <a:pt x="236244" y="375851"/>
                  <a:pt x="235244" y="371296"/>
                </a:cubicBezTo>
                <a:cubicBezTo>
                  <a:pt x="234244" y="366742"/>
                  <a:pt x="233601" y="362188"/>
                  <a:pt x="233101" y="357723"/>
                </a:cubicBezTo>
                <a:lnTo>
                  <a:pt x="206169" y="341114"/>
                </a:lnTo>
                <a:cubicBezTo>
                  <a:pt x="198096" y="336113"/>
                  <a:pt x="194024" y="324683"/>
                  <a:pt x="196310" y="313879"/>
                </a:cubicBezTo>
                <a:lnTo>
                  <a:pt x="201311" y="290483"/>
                </a:lnTo>
                <a:cubicBezTo>
                  <a:pt x="203668" y="279678"/>
                  <a:pt x="211741" y="272355"/>
                  <a:pt x="220742" y="273070"/>
                </a:cubicBezTo>
                <a:lnTo>
                  <a:pt x="250674" y="275481"/>
                </a:lnTo>
                <a:cubicBezTo>
                  <a:pt x="255175" y="268248"/>
                  <a:pt x="260390" y="261551"/>
                  <a:pt x="266319" y="255836"/>
                </a:cubicBezTo>
                <a:lnTo>
                  <a:pt x="264390" y="218509"/>
                </a:lnTo>
                <a:cubicBezTo>
                  <a:pt x="263819" y="207258"/>
                  <a:pt x="269677" y="197078"/>
                  <a:pt x="278320" y="194221"/>
                </a:cubicBezTo>
                <a:lnTo>
                  <a:pt x="297037" y="187970"/>
                </a:lnTo>
                <a:close/>
                <a:moveTo>
                  <a:pt x="320326" y="303609"/>
                </a:moveTo>
                <a:cubicBezTo>
                  <a:pt x="302978" y="303634"/>
                  <a:pt x="288909" y="321260"/>
                  <a:pt x="288929" y="342945"/>
                </a:cubicBezTo>
                <a:cubicBezTo>
                  <a:pt x="288949" y="364630"/>
                  <a:pt x="303049" y="382215"/>
                  <a:pt x="320397" y="382191"/>
                </a:cubicBezTo>
                <a:cubicBezTo>
                  <a:pt x="337745" y="382166"/>
                  <a:pt x="351814" y="364540"/>
                  <a:pt x="351794" y="342855"/>
                </a:cubicBezTo>
                <a:cubicBezTo>
                  <a:pt x="351774" y="321170"/>
                  <a:pt x="337674" y="303585"/>
                  <a:pt x="320326" y="303609"/>
                </a:cubicBezTo>
                <a:close/>
                <a:moveTo>
                  <a:pt x="160663" y="-40630"/>
                </a:moveTo>
                <a:lnTo>
                  <a:pt x="179380" y="-34379"/>
                </a:lnTo>
                <a:cubicBezTo>
                  <a:pt x="188024" y="-31433"/>
                  <a:pt x="193881" y="-21253"/>
                  <a:pt x="193310" y="-10091"/>
                </a:cubicBezTo>
                <a:lnTo>
                  <a:pt x="191381" y="27236"/>
                </a:lnTo>
                <a:cubicBezTo>
                  <a:pt x="197310" y="32951"/>
                  <a:pt x="202525" y="39559"/>
                  <a:pt x="207026" y="46881"/>
                </a:cubicBezTo>
                <a:lnTo>
                  <a:pt x="237030" y="44470"/>
                </a:lnTo>
                <a:cubicBezTo>
                  <a:pt x="245959" y="43755"/>
                  <a:pt x="254103" y="51078"/>
                  <a:pt x="256461" y="61883"/>
                </a:cubicBezTo>
                <a:lnTo>
                  <a:pt x="261461" y="85279"/>
                </a:lnTo>
                <a:cubicBezTo>
                  <a:pt x="263747" y="96083"/>
                  <a:pt x="259675" y="107513"/>
                  <a:pt x="251603" y="112514"/>
                </a:cubicBezTo>
                <a:lnTo>
                  <a:pt x="224671" y="129123"/>
                </a:lnTo>
                <a:cubicBezTo>
                  <a:pt x="224171" y="133677"/>
                  <a:pt x="223457" y="138232"/>
                  <a:pt x="222528" y="142696"/>
                </a:cubicBezTo>
                <a:cubicBezTo>
                  <a:pt x="221599" y="147161"/>
                  <a:pt x="220313" y="151626"/>
                  <a:pt x="218956" y="155823"/>
                </a:cubicBezTo>
                <a:lnTo>
                  <a:pt x="235601" y="187077"/>
                </a:lnTo>
                <a:cubicBezTo>
                  <a:pt x="240602" y="196453"/>
                  <a:pt x="239601" y="208865"/>
                  <a:pt x="233243" y="216813"/>
                </a:cubicBezTo>
                <a:lnTo>
                  <a:pt x="219527" y="233958"/>
                </a:lnTo>
                <a:cubicBezTo>
                  <a:pt x="213170" y="241905"/>
                  <a:pt x="203240" y="243155"/>
                  <a:pt x="195739" y="236905"/>
                </a:cubicBezTo>
                <a:lnTo>
                  <a:pt x="170736" y="216098"/>
                </a:lnTo>
                <a:cubicBezTo>
                  <a:pt x="163949" y="219581"/>
                  <a:pt x="156734" y="222081"/>
                  <a:pt x="149376" y="223331"/>
                </a:cubicBezTo>
                <a:lnTo>
                  <a:pt x="136088" y="256907"/>
                </a:lnTo>
                <a:cubicBezTo>
                  <a:pt x="132088" y="266998"/>
                  <a:pt x="122944" y="272088"/>
                  <a:pt x="114300" y="269230"/>
                </a:cubicBezTo>
                <a:lnTo>
                  <a:pt x="95583" y="262979"/>
                </a:lnTo>
                <a:cubicBezTo>
                  <a:pt x="86868" y="260033"/>
                  <a:pt x="81082" y="249853"/>
                  <a:pt x="81653" y="238691"/>
                </a:cubicBezTo>
                <a:lnTo>
                  <a:pt x="83582" y="201275"/>
                </a:lnTo>
                <a:cubicBezTo>
                  <a:pt x="77653" y="195560"/>
                  <a:pt x="72438" y="188952"/>
                  <a:pt x="67937" y="181630"/>
                </a:cubicBezTo>
                <a:lnTo>
                  <a:pt x="37933" y="184041"/>
                </a:lnTo>
                <a:cubicBezTo>
                  <a:pt x="29004" y="184755"/>
                  <a:pt x="20860" y="177433"/>
                  <a:pt x="18502" y="166628"/>
                </a:cubicBezTo>
                <a:lnTo>
                  <a:pt x="13502" y="143232"/>
                </a:lnTo>
                <a:cubicBezTo>
                  <a:pt x="11216" y="132427"/>
                  <a:pt x="15288" y="120997"/>
                  <a:pt x="23360" y="115997"/>
                </a:cubicBezTo>
                <a:lnTo>
                  <a:pt x="50292" y="99387"/>
                </a:lnTo>
                <a:cubicBezTo>
                  <a:pt x="50792" y="94833"/>
                  <a:pt x="51506" y="90368"/>
                  <a:pt x="52435" y="85814"/>
                </a:cubicBezTo>
                <a:cubicBezTo>
                  <a:pt x="53435" y="81260"/>
                  <a:pt x="54578" y="76885"/>
                  <a:pt x="56007" y="72688"/>
                </a:cubicBezTo>
                <a:lnTo>
                  <a:pt x="39362" y="41523"/>
                </a:lnTo>
                <a:cubicBezTo>
                  <a:pt x="34361" y="32147"/>
                  <a:pt x="35362" y="19735"/>
                  <a:pt x="41720" y="11787"/>
                </a:cubicBezTo>
                <a:lnTo>
                  <a:pt x="55436" y="-5358"/>
                </a:lnTo>
                <a:cubicBezTo>
                  <a:pt x="61793" y="-13305"/>
                  <a:pt x="71723" y="-14555"/>
                  <a:pt x="79224" y="-8305"/>
                </a:cubicBezTo>
                <a:lnTo>
                  <a:pt x="104227" y="12502"/>
                </a:lnTo>
                <a:cubicBezTo>
                  <a:pt x="111014" y="9019"/>
                  <a:pt x="118229" y="6519"/>
                  <a:pt x="125587" y="5269"/>
                </a:cubicBezTo>
                <a:lnTo>
                  <a:pt x="138874" y="-28307"/>
                </a:lnTo>
                <a:cubicBezTo>
                  <a:pt x="142875" y="-38398"/>
                  <a:pt x="151948" y="-43488"/>
                  <a:pt x="160663" y="-40630"/>
                </a:cubicBezTo>
                <a:close/>
                <a:moveTo>
                  <a:pt x="137446" y="75009"/>
                </a:moveTo>
                <a:cubicBezTo>
                  <a:pt x="120098" y="75009"/>
                  <a:pt x="106013" y="92615"/>
                  <a:pt x="106013" y="114300"/>
                </a:cubicBezTo>
                <a:cubicBezTo>
                  <a:pt x="106013" y="135985"/>
                  <a:pt x="120098" y="153591"/>
                  <a:pt x="137446" y="153591"/>
                </a:cubicBezTo>
                <a:cubicBezTo>
                  <a:pt x="154794" y="153591"/>
                  <a:pt x="168878" y="135985"/>
                  <a:pt x="168878" y="114300"/>
                </a:cubicBezTo>
                <a:cubicBezTo>
                  <a:pt x="168878" y="92615"/>
                  <a:pt x="154794" y="75009"/>
                  <a:pt x="137446" y="75009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30" name="Text 28"/>
          <p:cNvSpPr/>
          <p:nvPr/>
        </p:nvSpPr>
        <p:spPr>
          <a:xfrm>
            <a:off x="2286000" y="6223000"/>
            <a:ext cx="381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Workflow Efficiency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2286000" y="6667500"/>
            <a:ext cx="12192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Template systems, asset libraries, automation tools, version control — work smarter, not harder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14986000" y="8509000"/>
            <a:ext cx="101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27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2E5E8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128000" cy="4572000"/>
          </a:xfrm>
          <a:custGeom>
            <a:avLst/>
            <a:gdLst/>
            <a:ahLst/>
            <a:cxnLst/>
            <a:rect l="l" t="t" r="r" b="b"/>
            <a:pathLst>
              <a:path w="8128000" h="4572000">
                <a:moveTo>
                  <a:pt x="0" y="0"/>
                </a:moveTo>
                <a:lnTo>
                  <a:pt x="8128000" y="0"/>
                </a:lnTo>
                <a:lnTo>
                  <a:pt x="8128000" y="2286000"/>
                </a:lnTo>
                <a:quadBezTo>
                  <a:pt x="6096000" y="4572000"/>
                  <a:pt x="4064000" y="4572000"/>
                </a:quadBezTo>
                <a:lnTo>
                  <a:pt x="2032000" y="4572000"/>
                </a:lnTo>
                <a:quadBezTo>
                  <a:pt x="0" y="4572000"/>
                  <a:pt x="0" y="2286000"/>
                </a:quadBezTo>
                <a:close/>
              </a:path>
            </a:pathLst>
          </a:custGeom>
          <a:gradFill rotWithShape="1" flip="none">
            <a:gsLst>
              <a:gs pos="0">
                <a:srgbClr val="2E5E8A">
                  <a:alpha val="25000"/>
                </a:srgbClr>
              </a:gs>
              <a:gs pos="100000">
                <a:srgbClr val="D0E0E3"/>
              </a:gs>
            </a:gsLst>
            <a:lin ang="8100000" scaled="1"/>
          </a:gradFill>
          <a:ln/>
        </p:spPr>
      </p:sp>
      <p:sp>
        <p:nvSpPr>
          <p:cNvPr id="3" name="Shape 1"/>
          <p:cNvSpPr/>
          <p:nvPr/>
        </p:nvSpPr>
        <p:spPr>
          <a:xfrm>
            <a:off x="8128000" y="4572000"/>
            <a:ext cx="8128000" cy="4572000"/>
          </a:xfrm>
          <a:custGeom>
            <a:avLst/>
            <a:gdLst/>
            <a:ahLst/>
            <a:cxnLst/>
            <a:rect l="l" t="t" r="r" b="b"/>
            <a:pathLst>
              <a:path w="8128000" h="4572000">
                <a:moveTo>
                  <a:pt x="8128000" y="4572000"/>
                </a:moveTo>
                <a:lnTo>
                  <a:pt x="0" y="4572000"/>
                </a:lnTo>
                <a:lnTo>
                  <a:pt x="0" y="2286000"/>
                </a:lnTo>
                <a:quadBezTo>
                  <a:pt x="2032000" y="0"/>
                  <a:pt x="4064000" y="0"/>
                </a:quadBezTo>
                <a:lnTo>
                  <a:pt x="6096000" y="0"/>
                </a:lnTo>
                <a:quadBezTo>
                  <a:pt x="8128000" y="0"/>
                  <a:pt x="8128000" y="2286000"/>
                </a:quadBezTo>
                <a:close/>
              </a:path>
            </a:pathLst>
          </a:custGeom>
          <a:gradFill rotWithShape="1" flip="none">
            <a:gsLst>
              <a:gs pos="0">
                <a:srgbClr val="D0E0E3"/>
              </a:gs>
              <a:gs pos="100000">
                <a:srgbClr val="FF7F50">
                  <a:alpha val="13000"/>
                </a:srgbClr>
              </a:gs>
            </a:gsLst>
            <a:lin ang="18900000" scaled="1"/>
          </a:gradFill>
          <a:ln/>
        </p:spPr>
      </p:sp>
      <p:sp>
        <p:nvSpPr>
          <p:cNvPr id="4" name="Text 2"/>
          <p:cNvSpPr/>
          <p:nvPr/>
        </p:nvSpPr>
        <p:spPr>
          <a:xfrm>
            <a:off x="1778000" y="2286000"/>
            <a:ext cx="12700000" cy="1270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56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Master Multimedia.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1778000" y="3556000"/>
            <a:ext cx="12700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48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Amplify Your Message.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2413000" y="4635500"/>
            <a:ext cx="11430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4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The right tools, combined with solid principles, transform ordinary content into extraordinary experiences.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318000" y="5588000"/>
            <a:ext cx="762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2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Start creating today.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6858000" y="6350000"/>
            <a:ext cx="2540000" cy="25400"/>
          </a:xfrm>
          <a:prstGeom prst="rect">
            <a:avLst/>
          </a:prstGeom>
          <a:solidFill>
            <a:srgbClr val="FFFFFF">
              <a:alpha val="25098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4318000" y="6604000"/>
            <a:ext cx="7620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80000"/>
              </a:lnSpc>
            </a:pPr>
            <a:r>
              <a:rPr lang="en-US" sz="18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L21 &amp; L22 · Multimedia Creation Workshop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7493000" y="7493000"/>
            <a:ext cx="1270000" cy="508000"/>
          </a:xfrm>
          <a:prstGeom prst="roundRect">
            <a:avLst>
              <a:gd name="adj" fmla="val 20000"/>
            </a:avLst>
          </a:prstGeom>
          <a:solidFill>
            <a:srgbClr val="FFFFFF">
              <a:alpha val="12549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493000" y="7493000"/>
            <a:ext cx="127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LOGO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week 11</dc:title>
  <dc:subject>week 11</dc:subject>
  <dc:creator>Kimi</dc:creator>
  <cp:lastModifiedBy>Kimi</cp:lastModifiedBy>
  <cp:revision>1</cp:revision>
  <dcterms:created xsi:type="dcterms:W3CDTF">2026-06-29T08:09:48Z</dcterms:created>
  <dcterms:modified xsi:type="dcterms:W3CDTF">2026-06-29T08:09:48Z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4" name="AIGC">
    <vt:lpwstr>{"Label":"week 11","ContentProducer":"001191110108MACG2KBH8F10000","ProduceID":"19f12500-fa92-8444-8000-00007d288bd7","ReservedCode1":"","ContentPropagator":"001191110108MACG2KBH8F20000","PropagateID":"19f124c2-1d92-8501-8000-09151b90063c","ReservedCode2":""}</vt:lpwstr>
  </property>
</Properties>
</file>